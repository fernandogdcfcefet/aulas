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617D19-15F6-44A3-8DB7-A0D41AAE5400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54AFE3-8A88-4883-84DB-4A131EF93694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A495B0-17BB-4354-BA54-4C7A9B4E8CAB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15A4EA-99FA-46D9-A8AD-43D1FBDC53CA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818B22-F544-4A1F-B12B-33111EFB1506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A2D4AE-94A5-43CF-81E8-E67A00BD9A36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FD4107-4E1D-4643-BBD1-07D28F051E1B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0DAA39-C119-438C-B75C-1F7141571CA5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697D31-29DF-4B52-A6D4-99918FDC1233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E02AB3-2550-4BF7-9584-16470322233C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D058F7-EA38-477F-8756-32AC552D963B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Fundamentos de Informática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fernandogdcf@cefetmg.br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Sistemas de Numeração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Sistema Binário ou base 2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Possui apenas dois algarismos distintos para sua  representação, sendo esses o 0 e o 1 (bit).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É amplamente utilizado em sistemas digitais, pois é simples  projetar um circuito eletrônico para operar com apenas dois  níveis de tensão.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 </a:t>
            </a:r>
            <a:r>
              <a:rPr b="0" i="1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algarismos binários pode-se formar 2</a:t>
            </a:r>
            <a:r>
              <a:rPr b="0" lang="pt-BR" sz="3200" strike="noStrike" u="none" baseline="30000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numerais,  onde a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0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é o bit menos significativo (LSB - Least Significant Bit) e a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o bit mais significativo (MSB - Most Significant Bit).  Exemplo: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 algarismo: {0, 1}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 algarismos: {00, 01, 10, 11}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Sistemas de Numeração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conversão de bases (10 → 2 e 2 → 10) é feita utilizando os procedimentos descritos anteriormente.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tângulo 7"/>
          <p:cNvSpPr/>
          <p:nvPr/>
        </p:nvSpPr>
        <p:spPr>
          <a:xfrm>
            <a:off x="608040" y="2406960"/>
            <a:ext cx="4657680" cy="3063240"/>
          </a:xfrm>
          <a:prstGeom prst="rect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11 </a:t>
            </a:r>
            <a:r>
              <a:rPr b="1" lang="pt-BR" sz="36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|2 </a:t>
            </a: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        </a:t>
            </a:r>
            <a:r>
              <a:rPr b="1" lang="pt-BR" sz="3600" strike="noStrike" u="none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3600" strike="noStrike" u="none">
                <a:solidFill>
                  <a:srgbClr val="ff0000"/>
                </a:solidFill>
                <a:effectLst/>
                <a:highlight>
                  <a:srgbClr val="00ff00"/>
                </a:highlight>
                <a:uFillTx/>
                <a:latin typeface="Consolas"/>
              </a:rPr>
              <a:t>1</a:t>
            </a: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5 </a:t>
            </a:r>
            <a:r>
              <a:rPr b="1" lang="pt-BR" sz="36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|2 </a:t>
            </a: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     </a:t>
            </a:r>
            <a:r>
              <a:rPr b="1" lang="pt-BR" sz="3600" strike="noStrike" u="sng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3600" strike="noStrike" u="none">
                <a:solidFill>
                  <a:srgbClr val="ff0000"/>
                </a:solidFill>
                <a:effectLst/>
                <a:highlight>
                  <a:srgbClr val="00ff00"/>
                </a:highlight>
                <a:uFillTx/>
                <a:latin typeface="Consolas"/>
              </a:rPr>
              <a:t>1</a:t>
            </a: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2 </a:t>
            </a:r>
            <a:r>
              <a:rPr b="1" lang="pt-BR" sz="36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|2 </a:t>
            </a: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  </a:t>
            </a:r>
            <a:r>
              <a:rPr b="1" lang="pt-BR" sz="3600" strike="noStrike" u="none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3600" strike="noStrike" u="none">
                <a:solidFill>
                  <a:srgbClr val="ff0000"/>
                </a:solidFill>
                <a:effectLst/>
                <a:highlight>
                  <a:srgbClr val="00ff00"/>
                </a:highlight>
                <a:uFillTx/>
                <a:latin typeface="Consolas"/>
              </a:rPr>
              <a:t>0</a:t>
            </a: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1 </a:t>
            </a:r>
            <a:r>
              <a:rPr b="1" lang="pt-BR" sz="3600" strike="noStrike" u="sng">
                <a:solidFill>
                  <a:schemeClr val="dk1"/>
                </a:solidFill>
                <a:effectLst/>
                <a:uFillTx/>
                <a:latin typeface="Consolas"/>
              </a:rPr>
              <a:t>|2 </a:t>
            </a: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</a:t>
            </a:r>
            <a:r>
              <a:rPr b="1" lang="pt-BR" sz="3600" strike="noStrike" u="sng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pt-BR" sz="3600" strike="noStrike" u="none">
                <a:solidFill>
                  <a:srgbClr val="ff0000"/>
                </a:solidFill>
                <a:effectLst/>
                <a:highlight>
                  <a:srgbClr val="00ff00"/>
                </a:highlight>
                <a:uFillTx/>
                <a:latin typeface="Consolas"/>
              </a:rPr>
              <a:t>1  0</a:t>
            </a: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onsolas"/>
              </a:rPr>
              <a:t>  </a:t>
            </a:r>
            <a:r>
              <a:rPr b="1" lang="pt-BR" sz="3600" strike="noStrike" u="none">
                <a:solidFill>
                  <a:schemeClr val="lt1"/>
                </a:solidFill>
                <a:effectLst/>
                <a:uFillTx/>
                <a:latin typeface="Consolas"/>
              </a:rPr>
              <a:t>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Conector: Curvo 9"/>
          <p:cNvCxnSpPr/>
          <p:nvPr/>
        </p:nvCxnSpPr>
        <p:spPr>
          <a:xfrm rot="10800000">
            <a:off x="847800" y="3954600"/>
            <a:ext cx="3703680" cy="1408320"/>
          </a:xfrm>
          <a:prstGeom prst="curvedConnector3">
            <a:avLst>
              <a:gd name="adj1" fmla="val 52969"/>
            </a:avLst>
          </a:prstGeom>
          <a:ln w="63500">
            <a:solidFill>
              <a:srgbClr val="000000"/>
            </a:solidFill>
            <a:tailEnd len="med" type="triangle" w="med"/>
          </a:ln>
        </p:spPr>
      </p:cxnSp>
      <p:sp>
        <p:nvSpPr>
          <p:cNvPr id="66" name="CaixaDeTexto 10"/>
          <p:cNvSpPr/>
          <p:nvPr/>
        </p:nvSpPr>
        <p:spPr>
          <a:xfrm>
            <a:off x="488520" y="5815080"/>
            <a:ext cx="524988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Restos na ordem inversa: 01203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Logo, 11</a:t>
            </a:r>
            <a:r>
              <a:rPr b="1" lang="pt-BR" sz="30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= 01011</a:t>
            </a:r>
            <a:r>
              <a:rPr b="1" lang="pt-BR" sz="30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CaixaDeTexto 23"/>
          <p:cNvSpPr/>
          <p:nvPr/>
        </p:nvSpPr>
        <p:spPr>
          <a:xfrm>
            <a:off x="6031080" y="3429000"/>
            <a:ext cx="5981400" cy="1477080"/>
          </a:xfrm>
          <a:prstGeom prst="rect">
            <a:avLst/>
          </a:prstGeom>
          <a:noFill/>
          <a:ln w="635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1011</a:t>
            </a:r>
            <a:r>
              <a:rPr b="1" lang="pt-BR" sz="30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 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= 1 x 2³ + 0 x 2² + 1 x 2¹ + 1 x 2</a:t>
            </a:r>
            <a:r>
              <a:rPr b="1" lang="pt-BR" sz="3000" strike="noStrike" u="none" baseline="30000">
                <a:solidFill>
                  <a:schemeClr val="dk1"/>
                </a:solidFill>
                <a:effectLst/>
                <a:uFillTx/>
                <a:latin typeface="Calibri"/>
              </a:rPr>
              <a:t>0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= 8 + 0 + 2 + 1 = 11</a:t>
            </a:r>
            <a:r>
              <a:rPr b="1" lang="pt-BR" sz="30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Sistemas de Numeração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Sistema Binário ou base 2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Pesos associados às posições dos algarismos: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Desse modo, para cada algarismo igual a 1 somamos o  peso relativo à sua posição: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10010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= 1 × 2</a:t>
            </a:r>
            <a:r>
              <a:rPr b="0" lang="pt-BR" sz="3200" strike="noStrike" u="none" baseline="30000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+ 1 × 2</a:t>
            </a:r>
            <a:r>
              <a:rPr b="0" lang="pt-BR" sz="3200" strike="noStrike" u="none" baseline="30000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= 16 + 2 = 18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01101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= 1 × 2</a:t>
            </a:r>
            <a:r>
              <a:rPr b="0" lang="pt-BR" sz="3200" strike="noStrike" u="none" baseline="30000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+ 1 × 2</a:t>
            </a:r>
            <a:r>
              <a:rPr b="0" lang="pt-BR" sz="3200" strike="noStrike" u="none" baseline="30000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+ 1 × 2</a:t>
            </a:r>
            <a:r>
              <a:rPr b="0" lang="pt-BR" sz="3200" strike="noStrike" u="none" baseline="30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+ 1 × 2</a:t>
            </a:r>
            <a:r>
              <a:rPr b="0" lang="pt-BR" sz="3200" strike="noStrike" u="none" baseline="30000">
                <a:solidFill>
                  <a:schemeClr val="dk1"/>
                </a:solidFill>
                <a:effectLst/>
                <a:uFillTx/>
                <a:latin typeface="Calibri"/>
              </a:rPr>
              <a:t>0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= 32 + 8 + 4 + 1 = 45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0" name="Tabela 4"/>
          <p:cNvGraphicFramePr/>
          <p:nvPr/>
        </p:nvGraphicFramePr>
        <p:xfrm>
          <a:off x="1723680" y="2124360"/>
          <a:ext cx="8830440" cy="2160000"/>
        </p:xfrm>
        <a:graphic>
          <a:graphicData uri="http://schemas.openxmlformats.org/drawingml/2006/table">
            <a:tbl>
              <a:tblPr/>
              <a:tblGrid>
                <a:gridCol w="902880"/>
                <a:gridCol w="902880"/>
                <a:gridCol w="902880"/>
                <a:gridCol w="902880"/>
                <a:gridCol w="902880"/>
                <a:gridCol w="902880"/>
                <a:gridCol w="902880"/>
                <a:gridCol w="902880"/>
                <a:gridCol w="1605600"/>
              </a:tblGrid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...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Posição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pt-BR" sz="3000" strike="noStrike" u="non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...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pt-BR" sz="3000" strike="noStrike" u="non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pt-BR" sz="3000" strike="noStrike" u="non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pt-BR" sz="3000" strike="noStrike" u="non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pt-BR" sz="3000" strike="noStrike" u="non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pt-BR" sz="3000" strike="noStrike" u="non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r>
                        <a:rPr b="0" lang="pt-BR" sz="3000" strike="noStrike" u="none" baseline="-25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Numeral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pt-BR" sz="3000" strike="noStrike" u="none" baseline="30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n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...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pt-BR" sz="3000" strike="noStrike" u="none" baseline="30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pt-BR" sz="3000" strike="noStrike" u="none" baseline="30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pt-BR" sz="3000" strike="noStrike" u="none" baseline="30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pt-BR" sz="3000" strike="noStrike" u="none" baseline="30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pt-BR" sz="3000" strike="noStrike" u="none" baseline="30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r>
                        <a:rPr b="0" lang="pt-BR" sz="3000" strike="noStrike" u="none" baseline="30000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Pesos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endParaRPr b="0" lang="pt-BR" sz="30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...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32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pt-BR" sz="3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pt-B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Sistemas de Numeração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591660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Sistema Octal ou base 8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Possui oito algarismos distintos (0, 1, 2, 3, 4, 5, 6, 7) para  sua representação.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Um numeral octal pode ser formado pela justaposição de  três algarismos binários.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tabela ao lado apresenta a correspondência aos sistemas  Decimal e Binário.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3" name="Tabela 5"/>
          <p:cNvGraphicFramePr/>
          <p:nvPr/>
        </p:nvGraphicFramePr>
        <p:xfrm>
          <a:off x="6939000" y="1413720"/>
          <a:ext cx="4643640" cy="4860000"/>
        </p:xfrm>
        <a:graphic>
          <a:graphicData uri="http://schemas.openxmlformats.org/drawingml/2006/table">
            <a:tbl>
              <a:tblPr/>
              <a:tblGrid>
                <a:gridCol w="1548000"/>
                <a:gridCol w="1548000"/>
                <a:gridCol w="1548000"/>
              </a:tblGrid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3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Decimal</a:t>
                      </a:r>
                      <a:endParaRPr b="0" lang="pt-BR" sz="3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3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Binário</a:t>
                      </a:r>
                      <a:endParaRPr b="0" lang="pt-BR" sz="3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3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Octal</a:t>
                      </a:r>
                      <a:endParaRPr b="0" lang="pt-BR" sz="3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000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001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010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011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100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101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110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111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3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pt-BR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Sistemas de Numeração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conversão de bases (2 → 8) é direta, bastando agrupar  os algarismos de 3 em 3 (a partir do LSB).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 11010001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=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011 010 001 =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3     2     1      = 321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 forma análoga, a conversão de bases (8 → 2) também é direta.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 321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      =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3      2       1   =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011  010  001 = 11010001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Sistemas de Numeração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Sistema Hexadecimal ou base 16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Possui dezesseis algarismos distintos (0, 1, 2, 3, 4, 5, 6, 7, 8, 9, A, B, C, D, E, F) para sua representação.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Um numeral hexadecimal pode ser formado pela justaposição de quatro algarismos binários.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8" name="Tabela 5"/>
          <p:cNvGraphicFramePr/>
          <p:nvPr/>
        </p:nvGraphicFramePr>
        <p:xfrm>
          <a:off x="966600" y="3211920"/>
          <a:ext cx="10258200" cy="3564000"/>
        </p:xfrm>
        <a:graphic>
          <a:graphicData uri="http://schemas.openxmlformats.org/drawingml/2006/table">
            <a:tbl>
              <a:tblPr/>
              <a:tblGrid>
                <a:gridCol w="1709640"/>
                <a:gridCol w="1709640"/>
                <a:gridCol w="1709640"/>
                <a:gridCol w="1709640"/>
                <a:gridCol w="1709640"/>
                <a:gridCol w="1709640"/>
              </a:tblGrid>
              <a:tr h="3960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2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Decimal</a:t>
                      </a:r>
                      <a:endParaRPr b="0" lang="pt-BR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2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Binário</a:t>
                      </a:r>
                      <a:endParaRPr b="0" lang="pt-BR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2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Hexadecimal</a:t>
                      </a:r>
                      <a:endParaRPr b="0" lang="pt-BR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2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Decimal</a:t>
                      </a:r>
                      <a:endParaRPr b="0" lang="pt-BR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2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Binário</a:t>
                      </a:r>
                      <a:endParaRPr b="0" lang="pt-BR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24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Hexadecimal</a:t>
                      </a:r>
                      <a:endParaRPr b="0" lang="pt-BR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960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0000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1000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960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0001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1001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60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0010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1010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960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0011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1011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B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60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0100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1100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960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0101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13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1101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D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60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0110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1110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9600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0111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15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1111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2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</a:t>
                      </a:r>
                      <a:endParaRPr b="0" lang="pt-BR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Sistemas de Numeração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conversão de bases (2 → 16) é direta, bastando agrupar  os algarismos de 3 em 4 (a partir do LSB).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 11010001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=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1101 0001 =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D         1     = D1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16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 forma análoga, a conversão de bases (16 → 2) também é direta.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Exemplo: D1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16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  =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D        1      = 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0" algn="just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1101  0001 = 11010001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Exercícios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numCol="2" spcCol="360000" lIns="91440" rIns="91440" tIns="45720" bIns="45720" anchor="t">
            <a:normAutofit lnSpcReduction="9999"/>
          </a:bodyPr>
          <a:p>
            <a:pPr marL="743040" indent="-74304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Converta os seguintes numerais binários em decimal.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101111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100110010001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11110111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1110010111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b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74304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Converta os seguintes numerais decimais em binário.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29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89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215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1023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2133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74304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Converta os seguintes numerais hexadecimais em seu equivalente decimal.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7A4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16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A7FD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1654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16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8FF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Exercícios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743040" indent="-74304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4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Converta os seguintes numerais decimais em seu equivalente hexadecimal.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905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919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701</a:t>
            </a:r>
            <a:r>
              <a:rPr b="0" lang="pt-BR" sz="32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1200240" indent="-74304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lphaLcParenR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65535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74304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4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Converta os numerais binários do Exercício 1 em seu equivalente hexadecimal.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74304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4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Converta os numerais hexadecimais do Exercício 3 em seu equivalente binário.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indent="-74304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4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Converta os numerais hexadecimais do Exercício 3 em seu equivalente octal.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78920" y="27360"/>
            <a:ext cx="11718000" cy="73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4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Agradecimentos</a:t>
            </a:r>
            <a:endParaRPr b="0" lang="pt-BR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78920" y="954000"/>
            <a:ext cx="11867040" cy="566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Prof.ª D.Sc. Gabriella Castro Barbosa Costa Dalpra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Prof. M.Sc. Jeronimo Costa Penha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Prof. D.Sc. Anderson Grandi Pires</a:t>
            </a:r>
            <a:endParaRPr b="0" lang="pt-BR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</TotalTime>
  <Application>LibreOffice/25.2.5.2$Windows_X86_64 LibreOffice_project/03d19516eb2e1dd5d4ccd751a0d6f35f35e08022</Application>
  <AppVersion>15.0000</AppVersion>
  <Words>796</Words>
  <Paragraphs>204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2022-05-22T20:32:53Z</dcterms:created>
  <dc:creator>Luan Soares</dc:creator>
  <dc:description/>
  <dc:language>pt-BR</dc:language>
  <cp:lastModifiedBy/>
  <cp:lastPrinted>2025-09-03T15:13:11Z</cp:lastPrinted>
  <dcterms:modified xsi:type="dcterms:W3CDTF">2025-09-03T15:13:21Z</dcterms:modified>
  <cp:revision>4</cp:revision>
  <dc:subject/>
  <dc:title>Fundamentos de Informática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