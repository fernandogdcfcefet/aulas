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12.xml" ContentType="application/vnd.openxmlformats-officedocument.theme+xml"/>
  <Override PartName="/ppt/notesSlides/_rels/notesSlide10.xml.rels" ContentType="application/vnd.openxmlformats-package.relationships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D575F1E-CDE7-4530-BAB6-CA58E139027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E60A377-A857-4235-9E18-74D367B70D22}" type="slidenum"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9F9E03-B3F7-4D10-BE7C-F68DAA7F5095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D71783-0399-49B9-B04D-D80ABC7C7066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exto e Títul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E5AC34-97C3-4B69-8B20-4CEBE6FF0DA2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78920" y="954000"/>
            <a:ext cx="11867040" cy="566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5C4F74-AF68-4B4D-8154-BD5C8B2F8288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1509C8-FE3C-4748-BDCD-FD0623F445CF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E35C64-9252-4E94-98A7-F2DFE53B1C47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FF84E2-3F95-4E39-B999-8050716858C3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482F12-A4A6-493C-9094-F3046373018B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71618B-77AB-4117-9EB1-F4E20379FE42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63F211-7970-4DDA-AEF1-4C22ED5BB39E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E70EEB-6C5E-4308-9AAC-BE24853E44A8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Fundamentos de Informática</a:t>
            </a:r>
            <a:endParaRPr b="0" lang="pt-BR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fernandogdcf@cefetmg.br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4800" spc="14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Representação</a:t>
            </a: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b="1" lang="pt-BR" sz="4800" spc="14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de</a:t>
            </a:r>
            <a:r>
              <a:rPr b="1" lang="pt-BR" sz="4800" spc="6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b="1" lang="pt-BR" sz="4800" spc="14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Informação</a:t>
            </a:r>
            <a:endParaRPr b="0" lang="pt-BR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178920" y="954000"/>
            <a:ext cx="11867040" cy="566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Representação de números inteiros binários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Uma cadeia de 0s e 1s pode ser interpretada de diversas  maneiras. 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Para ser interpretada como um número, deve-se  decidir se será ou não feito o tratamento do sinal (número  positivo ou negativo).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Números sem sinal: são considerados não negativos e  todos os algarismos são utilizados para definir a magnitude do número. 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Exemplo: 10010000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= 1 × 2</a:t>
            </a:r>
            <a:r>
              <a:rPr b="0" lang="pt-BR" sz="2800" strike="noStrike" u="none" baseline="30000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+ 1 × 2</a:t>
            </a:r>
            <a:r>
              <a:rPr b="0" lang="pt-BR" sz="2800" strike="noStrike" u="none" baseline="30000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= 144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10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Obs.: Como visto anteriormente, com 8 bits podemos  representar 2</a:t>
            </a:r>
            <a:r>
              <a:rPr b="0" lang="pt-BR" sz="3200" strike="noStrike" u="none" baseline="30000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números: {0, 1, 2, . . . , 254, 255}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4800" spc="14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Representação</a:t>
            </a: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b="1" lang="pt-BR" sz="4800" spc="14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de</a:t>
            </a:r>
            <a:r>
              <a:rPr b="1" lang="pt-BR" sz="4800" spc="6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b="1" lang="pt-BR" sz="4800" spc="14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Informação</a:t>
            </a:r>
            <a:endParaRPr b="0" lang="pt-BR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178920" y="954000"/>
            <a:ext cx="11867040" cy="566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Representação de números inteiros binários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Números </a:t>
            </a:r>
            <a:r>
              <a:rPr b="1" lang="pt-BR" sz="32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com sinal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são considerados valores negativos e  positivos. 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Desse modo, </a:t>
            </a:r>
            <a:r>
              <a:rPr b="1" lang="pt-BR" sz="32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parte dos bits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é utilizada para  representar o sinal.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Serão apresentadas três  representações: 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428840" indent="-5144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Sinal e magnitude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428840" indent="-5144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Complemento de 1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428840" indent="-5144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Complemento de 2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mesmo numeral pode representar dois números diferentes, dependendo da representação utilizada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Representação de informação</a:t>
            </a:r>
            <a:endParaRPr b="0" lang="pt-BR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178920" y="954000"/>
            <a:ext cx="11867040" cy="566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Números inteiros binários </a:t>
            </a:r>
            <a:r>
              <a:rPr b="1" lang="pt-BR" sz="36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sem sinal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Aritmética: Adição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Adiciona-se os números normalmente, tal como é feito na aritmética convencional.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 existe um “vai-um” para fora do MSB (overflow), o “vai-um” é desprezado.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Regras: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 + 0 = 0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 + 1 = 1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 + 0 = 1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 + 1 = 0 e “vai-um”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 + 1 + 1 = 1 e “vai-um”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Representação de informação</a:t>
            </a:r>
            <a:endParaRPr b="0" lang="pt-BR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178920" y="954000"/>
            <a:ext cx="11867040" cy="566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Exemplo: numeral com 5 algarismos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 + 0 = 0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 + 1 = 1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 + 0 = 1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 + 1 = 0 e “vai-um”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 + 1 + 1 = 1 e “vai-um”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Retângulo 3"/>
          <p:cNvSpPr/>
          <p:nvPr/>
        </p:nvSpPr>
        <p:spPr>
          <a:xfrm>
            <a:off x="2214360" y="4163040"/>
            <a:ext cx="2696400" cy="2644920"/>
          </a:xfrm>
          <a:prstGeom prst="rect">
            <a:avLst/>
          </a:prstGeom>
          <a:noFill/>
          <a:ln w="635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  </a:t>
            </a:r>
            <a:r>
              <a:rPr b="1" lang="pt-BR" sz="4000" strike="noStrike" u="sng">
                <a:solidFill>
                  <a:srgbClr val="ff0000"/>
                </a:solidFill>
                <a:effectLst/>
                <a:uFillTx/>
                <a:latin typeface="Consolas"/>
              </a:rPr>
              <a:t>1</a:t>
            </a: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   </a:t>
            </a:r>
            <a:r>
              <a:rPr b="1" lang="pt-BR" sz="4000" strike="noStrike" u="none" baseline="-25000">
                <a:solidFill>
                  <a:schemeClr val="lt1"/>
                </a:solidFill>
                <a:effectLst/>
                <a:uFillTx/>
                <a:latin typeface="Consolas"/>
              </a:rPr>
              <a:t>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01010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sng">
                <a:solidFill>
                  <a:schemeClr val="dk1"/>
                </a:solidFill>
                <a:effectLst/>
                <a:uFillTx/>
                <a:latin typeface="Consolas"/>
              </a:rPr>
              <a:t>+ 01001</a:t>
            </a:r>
            <a:r>
              <a:rPr b="1" lang="pt-BR" sz="4000" strike="noStrike" u="sng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10011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tângulo 4"/>
          <p:cNvSpPr/>
          <p:nvPr/>
        </p:nvSpPr>
        <p:spPr>
          <a:xfrm>
            <a:off x="7094880" y="4168800"/>
            <a:ext cx="2934360" cy="2644920"/>
          </a:xfrm>
          <a:prstGeom prst="rect">
            <a:avLst/>
          </a:prstGeom>
          <a:noFill/>
          <a:ln w="635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  </a:t>
            </a:r>
            <a:r>
              <a:rPr b="1" lang="pt-BR" sz="4000" strike="noStrike" u="sng">
                <a:solidFill>
                  <a:srgbClr val="ff0000"/>
                </a:solidFill>
                <a:effectLst/>
                <a:uFillTx/>
                <a:latin typeface="Consolas"/>
              </a:rPr>
              <a:t>11</a:t>
            </a: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   </a:t>
            </a:r>
            <a:r>
              <a:rPr b="1" lang="pt-BR" sz="4000" strike="noStrike" u="none" baseline="-25000">
                <a:solidFill>
                  <a:schemeClr val="lt1"/>
                </a:solidFill>
                <a:effectLst/>
                <a:uFillTx/>
                <a:latin typeface="Consolas"/>
              </a:rPr>
              <a:t>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11010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sng">
                <a:solidFill>
                  <a:schemeClr val="dk1"/>
                </a:solidFill>
                <a:effectLst/>
                <a:uFillTx/>
                <a:latin typeface="Consolas"/>
              </a:rPr>
              <a:t>+ 11001</a:t>
            </a:r>
            <a:r>
              <a:rPr b="1" lang="pt-BR" sz="4000" strike="noStrike" u="sng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sng">
                <a:solidFill>
                  <a:srgbClr val="ff0000"/>
                </a:solidFill>
                <a:effectLst/>
                <a:uFillTx/>
                <a:latin typeface="Consolas"/>
              </a:rPr>
              <a:t>?</a:t>
            </a: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10011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CaixaDeTexto 5"/>
          <p:cNvSpPr/>
          <p:nvPr/>
        </p:nvSpPr>
        <p:spPr>
          <a:xfrm>
            <a:off x="5533200" y="3470040"/>
            <a:ext cx="161532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“Vai um”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7" name="Conector de Seta Reta 6"/>
          <p:cNvCxnSpPr>
            <a:stCxn id="76" idx="1"/>
          </p:cNvCxnSpPr>
          <p:nvPr/>
        </p:nvCxnSpPr>
        <p:spPr>
          <a:xfrm flipH="1">
            <a:off x="3558240" y="3746880"/>
            <a:ext cx="1975320" cy="759240"/>
          </a:xfrm>
          <a:prstGeom prst="straightConnector1">
            <a:avLst/>
          </a:prstGeom>
          <a:ln w="63500">
            <a:solidFill>
              <a:srgbClr val="000000"/>
            </a:solidFill>
            <a:tailEnd len="med" type="triangle" w="med"/>
          </a:ln>
        </p:spPr>
      </p:cxnSp>
      <p:cxnSp>
        <p:nvCxnSpPr>
          <p:cNvPr id="78" name="Conector de Seta Reta 9"/>
          <p:cNvCxnSpPr/>
          <p:nvPr/>
        </p:nvCxnSpPr>
        <p:spPr>
          <a:xfrm>
            <a:off x="7148880" y="3866040"/>
            <a:ext cx="1301400" cy="518760"/>
          </a:xfrm>
          <a:prstGeom prst="straightConnector1">
            <a:avLst/>
          </a:prstGeom>
          <a:ln w="63500">
            <a:solidFill>
              <a:srgbClr val="000000"/>
            </a:solidFill>
            <a:tailEnd len="med" type="triangle" w="med"/>
          </a:ln>
        </p:spPr>
      </p:cxnSp>
      <p:sp>
        <p:nvSpPr>
          <p:cNvPr id="79" name="CaixaDeTexto 15"/>
          <p:cNvSpPr/>
          <p:nvPr/>
        </p:nvSpPr>
        <p:spPr>
          <a:xfrm>
            <a:off x="5063400" y="4315320"/>
            <a:ext cx="200268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“Overflow”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0" name="Conector de Seta Reta 16"/>
          <p:cNvCxnSpPr/>
          <p:nvPr/>
        </p:nvCxnSpPr>
        <p:spPr>
          <a:xfrm>
            <a:off x="6864480" y="4659480"/>
            <a:ext cx="1134000" cy="360"/>
          </a:xfrm>
          <a:prstGeom prst="straightConnector1">
            <a:avLst/>
          </a:prstGeom>
          <a:ln w="63500">
            <a:solidFill>
              <a:srgbClr val="00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Representação de informação</a:t>
            </a:r>
            <a:endParaRPr b="0" lang="pt-BR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178920" y="954000"/>
            <a:ext cx="11867040" cy="566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Números inteiros binários sem sinal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Aritmética: Subtração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Subtrai-se os números normalmente, tal como é feito na aritmética convencional.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Regras: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0 - 0 = 0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0 - 1 = 1 (é necessário “pedir emprestado”)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1 -  0 = 1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1 - 1 = 0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Representação de informação</a:t>
            </a:r>
            <a:endParaRPr b="0" lang="pt-BR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178920" y="954000"/>
            <a:ext cx="11867040" cy="566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Exemplo: numeral com 5 algarismos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0 - 0 = 0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0 - 1 = 1 (é necessário “pedir emprestado”)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1 -  0 = 1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1 - 1 = 0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Retângulo 3"/>
          <p:cNvSpPr/>
          <p:nvPr/>
        </p:nvSpPr>
        <p:spPr>
          <a:xfrm>
            <a:off x="2214360" y="4163040"/>
            <a:ext cx="2696400" cy="2644920"/>
          </a:xfrm>
          <a:prstGeom prst="rect">
            <a:avLst/>
          </a:prstGeom>
          <a:noFill/>
          <a:ln w="635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  </a:t>
            </a:r>
            <a:r>
              <a:rPr b="1" lang="pt-BR" sz="4000" strike="noStrike" u="sng">
                <a:solidFill>
                  <a:srgbClr val="ff0000"/>
                </a:solidFill>
                <a:effectLst/>
                <a:uFillTx/>
                <a:latin typeface="Consolas"/>
              </a:rPr>
              <a:t>02</a:t>
            </a: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 </a:t>
            </a:r>
            <a:r>
              <a:rPr b="1" lang="pt-BR" sz="4000" strike="noStrike" u="none" baseline="-25000">
                <a:solidFill>
                  <a:schemeClr val="lt1"/>
                </a:solidFill>
                <a:effectLst/>
                <a:uFillTx/>
                <a:latin typeface="Consolas"/>
              </a:rPr>
              <a:t>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11010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sng">
                <a:solidFill>
                  <a:schemeClr val="dk1"/>
                </a:solidFill>
                <a:effectLst/>
                <a:uFillTx/>
                <a:latin typeface="Consolas"/>
              </a:rPr>
              <a:t>- 00110</a:t>
            </a:r>
            <a:r>
              <a:rPr b="1" lang="pt-BR" sz="4000" strike="noStrike" u="sng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10100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tângulo 4"/>
          <p:cNvSpPr/>
          <p:nvPr/>
        </p:nvSpPr>
        <p:spPr>
          <a:xfrm>
            <a:off x="7094880" y="4168800"/>
            <a:ext cx="2934360" cy="2644920"/>
          </a:xfrm>
          <a:prstGeom prst="rect">
            <a:avLst/>
          </a:prstGeom>
          <a:noFill/>
          <a:ln w="635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1" lang="pt-BR" sz="4000" strike="noStrike" u="sng">
                <a:solidFill>
                  <a:srgbClr val="ff0000"/>
                </a:solidFill>
                <a:effectLst/>
                <a:uFillTx/>
                <a:latin typeface="Consolas"/>
              </a:rPr>
              <a:t>02</a:t>
            </a:r>
            <a:r>
              <a:rPr b="1" lang="pt-BR" sz="4000" strike="noStrike" u="none" baseline="-25000">
                <a:solidFill>
                  <a:schemeClr val="lt1"/>
                </a:solidFill>
                <a:effectLst/>
                <a:uFillTx/>
                <a:latin typeface="Consolas"/>
              </a:rPr>
              <a:t>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11010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sng">
                <a:solidFill>
                  <a:schemeClr val="dk1"/>
                </a:solidFill>
                <a:effectLst/>
                <a:uFillTx/>
                <a:latin typeface="Consolas"/>
              </a:rPr>
              <a:t>- 11001</a:t>
            </a:r>
            <a:r>
              <a:rPr b="1" lang="pt-BR" sz="4000" strike="noStrike" u="sng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00001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CaixaDeTexto 5"/>
          <p:cNvSpPr/>
          <p:nvPr/>
        </p:nvSpPr>
        <p:spPr>
          <a:xfrm>
            <a:off x="5533200" y="3470040"/>
            <a:ext cx="184680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“Vem um”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8" name="Conector de Seta Reta 6"/>
          <p:cNvCxnSpPr>
            <a:stCxn id="87" idx="1"/>
          </p:cNvCxnSpPr>
          <p:nvPr/>
        </p:nvCxnSpPr>
        <p:spPr>
          <a:xfrm flipH="1">
            <a:off x="3668400" y="3746880"/>
            <a:ext cx="1865160" cy="568440"/>
          </a:xfrm>
          <a:prstGeom prst="straightConnector1">
            <a:avLst/>
          </a:prstGeom>
          <a:ln w="63500">
            <a:solidFill>
              <a:srgbClr val="000000"/>
            </a:solidFill>
            <a:tailEnd len="med" type="triangle" w="med"/>
          </a:ln>
        </p:spPr>
      </p:cxnSp>
      <p:sp>
        <p:nvSpPr>
          <p:cNvPr id="89" name="CaixaDeTexto 15"/>
          <p:cNvSpPr/>
          <p:nvPr/>
        </p:nvSpPr>
        <p:spPr>
          <a:xfrm>
            <a:off x="5063400" y="4315320"/>
            <a:ext cx="174600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“Vale “2” 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 bit 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anterior”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0" name="Conector de Seta Reta 12"/>
          <p:cNvCxnSpPr/>
          <p:nvPr/>
        </p:nvCxnSpPr>
        <p:spPr>
          <a:xfrm flipH="1" flipV="1">
            <a:off x="4039920" y="4625640"/>
            <a:ext cx="1101240" cy="144360"/>
          </a:xfrm>
          <a:prstGeom prst="straightConnector1">
            <a:avLst/>
          </a:prstGeom>
          <a:ln w="63500">
            <a:solidFill>
              <a:srgbClr val="00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" dur="indefinite" restart="never" nodeType="tmRoot">
          <p:childTnLst>
            <p:seq>
              <p:cTn id="22" dur="indefinite" nodeType="mainSeq">
                <p:childTnLst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Representação de informação</a:t>
            </a:r>
            <a:endParaRPr b="0" lang="pt-BR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178920" y="954000"/>
            <a:ext cx="11867040" cy="566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Números inteiros sem sinal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Aritmética: Multiplicação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Multiplica-se os números normalmente, tal como é feito na aritmética convencional.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 existe um “vai-um” para fora do MSB (overflow), o “vai-um” é desprezado.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Regras: 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 x 0 = 0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 x 1 = 1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 x 0 = 0 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 x 1 = 0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1" lang="pt-BR" sz="4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178920" y="954000"/>
            <a:ext cx="11867040" cy="566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Aritmética: Multiplicação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Regras: 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 x 0 = 0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 x 1 = 1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 x 0 = 0 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 x 1 = 0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Retângulo 3"/>
          <p:cNvSpPr/>
          <p:nvPr/>
        </p:nvSpPr>
        <p:spPr>
          <a:xfrm>
            <a:off x="3032280" y="2412720"/>
            <a:ext cx="2913840" cy="4395240"/>
          </a:xfrm>
          <a:prstGeom prst="rect">
            <a:avLst/>
          </a:prstGeom>
          <a:noFill/>
          <a:ln w="635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01010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sng">
                <a:solidFill>
                  <a:schemeClr val="dk1"/>
                </a:solidFill>
                <a:effectLst/>
                <a:uFillTx/>
                <a:latin typeface="Consolas"/>
              </a:rPr>
              <a:t>x 010</a:t>
            </a:r>
            <a:r>
              <a:rPr b="1" lang="pt-BR" sz="4000" strike="noStrike" u="sng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00000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01010 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+</a:t>
            </a:r>
            <a:r>
              <a:rPr b="1" lang="pt-BR" sz="4000" strike="noStrike" u="sng">
                <a:solidFill>
                  <a:schemeClr val="dk1"/>
                </a:solidFill>
                <a:effectLst/>
                <a:uFillTx/>
                <a:latin typeface="Consolas"/>
              </a:rPr>
              <a:t>00000  </a:t>
            </a:r>
            <a:r>
              <a:rPr b="1" lang="pt-BR" sz="4000" strike="noStrike" u="sng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0010100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tângulo 4"/>
          <p:cNvSpPr/>
          <p:nvPr/>
        </p:nvSpPr>
        <p:spPr>
          <a:xfrm>
            <a:off x="8130600" y="2412720"/>
            <a:ext cx="2934360" cy="4401000"/>
          </a:xfrm>
          <a:prstGeom prst="rect">
            <a:avLst/>
          </a:prstGeom>
          <a:noFill/>
          <a:ln w="635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  01010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sng">
                <a:solidFill>
                  <a:schemeClr val="dk1"/>
                </a:solidFill>
                <a:effectLst/>
                <a:uFillTx/>
                <a:latin typeface="Consolas"/>
              </a:rPr>
              <a:t>x 110</a:t>
            </a:r>
            <a:r>
              <a:rPr b="1" lang="pt-BR" sz="4000" strike="noStrike" u="sng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00000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01010 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+</a:t>
            </a:r>
            <a:r>
              <a:rPr b="1" lang="pt-BR" sz="4000" strike="noStrike" u="sng">
                <a:solidFill>
                  <a:schemeClr val="dk1"/>
                </a:solidFill>
                <a:effectLst/>
                <a:uFillTx/>
                <a:latin typeface="Consolas"/>
              </a:rPr>
              <a:t>01010  </a:t>
            </a:r>
            <a:r>
              <a:rPr b="1" lang="pt-BR" sz="4000" strike="noStrike" u="sng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sng">
                <a:solidFill>
                  <a:schemeClr val="dk1"/>
                </a:solidFill>
                <a:effectLst/>
                <a:highlight>
                  <a:srgbClr val="ff0000"/>
                </a:highlight>
                <a:uFillTx/>
                <a:latin typeface="Consolas"/>
              </a:rPr>
              <a:t>01</a:t>
            </a: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11100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7" name="Conector de Seta Reta 7"/>
          <p:cNvCxnSpPr/>
          <p:nvPr/>
        </p:nvCxnSpPr>
        <p:spPr>
          <a:xfrm>
            <a:off x="7085520" y="6065280"/>
            <a:ext cx="1714680" cy="185040"/>
          </a:xfrm>
          <a:prstGeom prst="straightConnector1">
            <a:avLst/>
          </a:prstGeom>
          <a:ln w="63500">
            <a:solidFill>
              <a:srgbClr val="000000"/>
            </a:solidFill>
            <a:tailEnd len="med" type="triangle" w="med"/>
          </a:ln>
        </p:spPr>
      </p:cxnSp>
      <p:sp>
        <p:nvSpPr>
          <p:cNvPr id="98" name="CaixaDeTexto 8"/>
          <p:cNvSpPr/>
          <p:nvPr/>
        </p:nvSpPr>
        <p:spPr>
          <a:xfrm>
            <a:off x="6036840" y="5507280"/>
            <a:ext cx="200268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“Overflow”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7" dur="indefinite" restart="never" nodeType="tmRoot">
          <p:childTnLst>
            <p:seq>
              <p:cTn id="38" dur="indefinite" nodeType="mainSeq">
                <p:childTnLst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1" lang="pt-BR" sz="48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78920" y="954000"/>
            <a:ext cx="11867040" cy="566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Aritmética: Multiplicação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Regras: 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 x 0 = 0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 x 1 = 1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 x 0 = 0 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 x 1 = 0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Retângulo 4"/>
          <p:cNvSpPr/>
          <p:nvPr/>
        </p:nvSpPr>
        <p:spPr>
          <a:xfrm>
            <a:off x="3911040" y="1740600"/>
            <a:ext cx="2934360" cy="4878360"/>
          </a:xfrm>
          <a:prstGeom prst="rect">
            <a:avLst/>
          </a:prstGeom>
          <a:noFill/>
          <a:ln w="635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  01011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sng">
                <a:solidFill>
                  <a:schemeClr val="dk1"/>
                </a:solidFill>
                <a:effectLst/>
                <a:uFillTx/>
                <a:latin typeface="Consolas"/>
              </a:rPr>
              <a:t>x 111</a:t>
            </a:r>
            <a:r>
              <a:rPr b="1" lang="pt-BR" sz="4000" strike="noStrike" u="sng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sng">
                <a:solidFill>
                  <a:srgbClr val="ff0000"/>
                </a:solidFill>
                <a:effectLst/>
                <a:uFillTx/>
                <a:latin typeface="Consolas"/>
              </a:rPr>
              <a:t>11111</a:t>
            </a: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 </a:t>
            </a:r>
            <a:r>
              <a:rPr b="1" lang="pt-BR" sz="4000" strike="noStrike" u="none" baseline="-25000">
                <a:solidFill>
                  <a:schemeClr val="lt1"/>
                </a:solidFill>
                <a:effectLst/>
                <a:uFillTx/>
                <a:latin typeface="Consolas"/>
              </a:rPr>
              <a:t>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01011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01011 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+</a:t>
            </a:r>
            <a:r>
              <a:rPr b="1" lang="pt-BR" sz="4000" strike="noStrike" u="sng">
                <a:solidFill>
                  <a:schemeClr val="dk1"/>
                </a:solidFill>
                <a:effectLst/>
                <a:uFillTx/>
                <a:latin typeface="Consolas"/>
              </a:rPr>
              <a:t>01011  </a:t>
            </a:r>
            <a:r>
              <a:rPr b="1" lang="pt-BR" sz="4000" strike="noStrike" u="sng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sng">
                <a:solidFill>
                  <a:schemeClr val="dk1"/>
                </a:solidFill>
                <a:effectLst/>
                <a:highlight>
                  <a:srgbClr val="ff0000"/>
                </a:highlight>
                <a:uFillTx/>
                <a:latin typeface="Consolas"/>
              </a:rPr>
              <a:t>10</a:t>
            </a: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01101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2" name="Conector de Seta Reta 7"/>
          <p:cNvCxnSpPr/>
          <p:nvPr/>
        </p:nvCxnSpPr>
        <p:spPr>
          <a:xfrm>
            <a:off x="2916360" y="5632560"/>
            <a:ext cx="1479600" cy="271440"/>
          </a:xfrm>
          <a:prstGeom prst="straightConnector1">
            <a:avLst/>
          </a:prstGeom>
          <a:ln w="63500">
            <a:solidFill>
              <a:srgbClr val="000000"/>
            </a:solidFill>
            <a:tailEnd len="med" type="triangle" w="med"/>
          </a:ln>
        </p:spPr>
      </p:cxnSp>
      <p:sp>
        <p:nvSpPr>
          <p:cNvPr id="103" name="CaixaDeTexto 8"/>
          <p:cNvSpPr/>
          <p:nvPr/>
        </p:nvSpPr>
        <p:spPr>
          <a:xfrm>
            <a:off x="1633680" y="5060160"/>
            <a:ext cx="200268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“Overflow”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CaixaDeTexto 9"/>
          <p:cNvSpPr/>
          <p:nvPr/>
        </p:nvSpPr>
        <p:spPr>
          <a:xfrm>
            <a:off x="7101720" y="765360"/>
            <a:ext cx="6097320" cy="32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Aritmética: Multiplicação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Regras: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 + 0 = 0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 + 1 = 1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 + 0 = 1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 + 1 = 0 e “vai-um”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 + 1 + 1 = 1 e “vai-um”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4" dur="indefinite" restart="never" nodeType="tmRoot">
          <p:childTnLst>
            <p:seq>
              <p:cTn id="55" dur="indefinite" nodeType="mainSeq">
                <p:childTnLst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Representação de informação</a:t>
            </a:r>
            <a:endParaRPr b="0" lang="pt-BR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178920" y="954000"/>
            <a:ext cx="11867040" cy="566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Aritmética: Adição na base 16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Adiciona-se os números normalmente, tal como é feito na aritmética convencional.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mais importante para esta operação é ter em mente os valores dos algarismos representados por letras: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 + A = 4 e “vai-um” = 14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 + 1 = 0 e “vai-um” = 10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 + 5 = A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9 + 1 = A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 + F = E e “vai-um” = 1E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Exemplo: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etângulo 5"/>
          <p:cNvSpPr/>
          <p:nvPr/>
        </p:nvSpPr>
        <p:spPr>
          <a:xfrm>
            <a:off x="6489000" y="4109400"/>
            <a:ext cx="2183040" cy="2649240"/>
          </a:xfrm>
          <a:prstGeom prst="rect">
            <a:avLst/>
          </a:prstGeom>
          <a:noFill/>
          <a:ln w="635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rgbClr val="ff0000"/>
                </a:solidFill>
                <a:effectLst/>
                <a:uFillTx/>
                <a:latin typeface="Consolas"/>
              </a:rPr>
              <a:t>1</a:t>
            </a: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  </a:t>
            </a:r>
            <a:r>
              <a:rPr b="1" lang="pt-BR" sz="4000" strike="noStrike" u="none" baseline="-25000">
                <a:solidFill>
                  <a:schemeClr val="lt1"/>
                </a:solidFill>
                <a:effectLst/>
                <a:uFillTx/>
                <a:latin typeface="Consolas"/>
              </a:rPr>
              <a:t>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FA01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h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sng">
                <a:solidFill>
                  <a:schemeClr val="dk1"/>
                </a:solidFill>
                <a:effectLst/>
                <a:uFillTx/>
                <a:latin typeface="Consolas"/>
              </a:rPr>
              <a:t>+1B78</a:t>
            </a:r>
            <a:r>
              <a:rPr b="1" lang="pt-BR" sz="4000" strike="noStrike" u="sng" baseline="-25000">
                <a:solidFill>
                  <a:schemeClr val="dk1"/>
                </a:solidFill>
                <a:effectLst/>
                <a:uFillTx/>
                <a:latin typeface="Consolas"/>
              </a:rPr>
              <a:t>h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11579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h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Representação de informação</a:t>
            </a:r>
            <a:endParaRPr b="0" lang="pt-BR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178920" y="954000"/>
            <a:ext cx="11867040" cy="566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Aritmética: Adição na base 8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Adiciona-se os números normalmente, tal como é feito na aritmética convencional.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mais importante para esta operação é ter em mente que nesta base o maior algarismo é 7: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 + 5 = 2 e “vai-um” = 12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 + 1 = 0 e “vai-um” = 10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 + 7 = 6 e “vai-um” = 16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 + 1 = 5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Exemplo: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" name="Retângulo 5"/>
          <p:cNvSpPr/>
          <p:nvPr/>
        </p:nvSpPr>
        <p:spPr>
          <a:xfrm>
            <a:off x="6489000" y="4175280"/>
            <a:ext cx="2183040" cy="2583000"/>
          </a:xfrm>
          <a:prstGeom prst="rect">
            <a:avLst/>
          </a:prstGeom>
          <a:noFill/>
          <a:ln w="635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rgbClr val="ff0000"/>
                </a:solidFill>
                <a:effectLst/>
                <a:uFillTx/>
                <a:latin typeface="Consolas"/>
              </a:rPr>
              <a:t>11</a:t>
            </a: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</a:t>
            </a:r>
            <a:r>
              <a:rPr b="1" lang="pt-BR" sz="4000" strike="noStrike" u="none" baseline="-25000">
                <a:solidFill>
                  <a:schemeClr val="lt1"/>
                </a:solidFill>
                <a:effectLst/>
                <a:uFillTx/>
                <a:latin typeface="Consolas"/>
              </a:rPr>
              <a:t>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2167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8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sng">
                <a:solidFill>
                  <a:schemeClr val="dk1"/>
                </a:solidFill>
                <a:effectLst/>
                <a:uFillTx/>
                <a:latin typeface="Consolas"/>
              </a:rPr>
              <a:t>+1014</a:t>
            </a:r>
            <a:r>
              <a:rPr b="1" lang="pt-BR" sz="4000" strike="noStrike" u="sng" baseline="-25000">
                <a:solidFill>
                  <a:schemeClr val="dk1"/>
                </a:solidFill>
                <a:effectLst/>
                <a:uFillTx/>
                <a:latin typeface="Consolas"/>
              </a:rPr>
              <a:t>8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3203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8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Representação de informação</a:t>
            </a:r>
            <a:endParaRPr b="0" lang="pt-BR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145800" y="954000"/>
            <a:ext cx="8755560" cy="57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Aritmética: Subtração na base 16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Subtrai-se os números normalmente, tal como é feito na aritmética convencional.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Quando o algarismo do minuendo for menor que o algarismo do subtraendo, pede-se “16” emprestado representado por “10h” com valor equivalente a “16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10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”.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Este “16” emprestado é acrescido ao algarismo do minuendo, assim a subtração poderá ser executada.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Exemplo: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 – 5 = 5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 – A = D, “pedindo” 10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etângulo 5"/>
          <p:cNvSpPr/>
          <p:nvPr/>
        </p:nvSpPr>
        <p:spPr>
          <a:xfrm>
            <a:off x="9210240" y="4351680"/>
            <a:ext cx="2835720" cy="2527920"/>
          </a:xfrm>
          <a:prstGeom prst="rect">
            <a:avLst/>
          </a:prstGeom>
          <a:noFill/>
          <a:ln w="635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1" lang="pt-BR" sz="2000" strike="noStrike" u="none">
                <a:solidFill>
                  <a:srgbClr val="ff0000"/>
                </a:solidFill>
                <a:effectLst/>
                <a:uFillTx/>
                <a:latin typeface="Consolas"/>
              </a:rPr>
              <a:t>   16  16 </a:t>
            </a:r>
            <a:r>
              <a:rPr b="1" lang="pt-BR" sz="2000" strike="noStrike" u="none" baseline="-25000">
                <a:solidFill>
                  <a:srgbClr val="ff0000"/>
                </a:solidFill>
                <a:effectLst/>
                <a:uFillTx/>
                <a:latin typeface="Consolas"/>
              </a:rPr>
              <a:t>  </a:t>
            </a:r>
            <a:r>
              <a:rPr b="1" lang="pt-BR" sz="2000" strike="noStrike" u="none">
                <a:solidFill>
                  <a:srgbClr val="ff0000"/>
                </a:solidFill>
                <a:effectLst/>
                <a:uFillTx/>
                <a:latin typeface="Consolas"/>
              </a:rPr>
              <a:t>16</a:t>
            </a:r>
            <a:r>
              <a:rPr b="1" lang="pt-BR" sz="4000" strike="noStrike" u="none" baseline="-25000">
                <a:solidFill>
                  <a:schemeClr val="lt1"/>
                </a:solidFill>
                <a:effectLst/>
                <a:uFillTx/>
                <a:latin typeface="Consolas"/>
              </a:rPr>
              <a:t>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F A 0 1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h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sng">
                <a:solidFill>
                  <a:schemeClr val="dk1"/>
                </a:solidFill>
                <a:effectLst/>
                <a:uFillTx/>
                <a:latin typeface="Consolas"/>
              </a:rPr>
              <a:t>+1 B 7 8</a:t>
            </a:r>
            <a:r>
              <a:rPr b="1" lang="pt-BR" sz="4000" strike="noStrike" u="sng" baseline="-25000">
                <a:solidFill>
                  <a:schemeClr val="dk1"/>
                </a:solidFill>
                <a:effectLst/>
                <a:uFillTx/>
                <a:latin typeface="Consolas"/>
              </a:rPr>
              <a:t>h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D E 8 9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h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tângulo 4"/>
          <p:cNvSpPr/>
          <p:nvPr/>
        </p:nvSpPr>
        <p:spPr>
          <a:xfrm>
            <a:off x="9210240" y="1410120"/>
            <a:ext cx="2835720" cy="2715120"/>
          </a:xfrm>
          <a:prstGeom prst="rect">
            <a:avLst/>
          </a:prstGeom>
          <a:noFill/>
          <a:ln w="635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1 </a:t>
            </a: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1 + 16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0 </a:t>
            </a: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15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A </a:t>
            </a: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9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A </a:t>
            </a: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9 + 16 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F </a:t>
            </a: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E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Representação de informação</a:t>
            </a:r>
            <a:endParaRPr b="0" lang="pt-BR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145800" y="954000"/>
            <a:ext cx="8755560" cy="57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19999"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Aritmética: Subtração na base 8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Subtrai-se os números normalmente, tal como é feito na aritmética convencional.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Quando o algarismo do minuendo for menor que o algarismo do subtraendo, pede-se “8” emprestado, sendo representado por “10</a:t>
            </a:r>
            <a:r>
              <a:rPr b="0" lang="pt-BR" sz="3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” que possui valor equivalente a “8</a:t>
            </a:r>
            <a:r>
              <a:rPr b="0" lang="pt-BR" sz="36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10</a:t>
            </a: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”.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Este “8” emprestado é acrescido ao algarismo do minuendo. Assim a subtração poderá ser executada .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Exemplo: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5 - 4 = 1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1 - 7 = 2, “pedindo” 10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Retângulo 5"/>
          <p:cNvSpPr/>
          <p:nvPr/>
        </p:nvSpPr>
        <p:spPr>
          <a:xfrm>
            <a:off x="9210240" y="4351680"/>
            <a:ext cx="2835720" cy="2527920"/>
          </a:xfrm>
          <a:prstGeom prst="rect">
            <a:avLst/>
          </a:prstGeom>
          <a:noFill/>
          <a:ln w="635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1" lang="pt-BR" sz="2000" strike="noStrike" u="none">
                <a:solidFill>
                  <a:srgbClr val="ff0000"/>
                </a:solidFill>
                <a:effectLst/>
                <a:uFillTx/>
                <a:latin typeface="Consolas"/>
              </a:rPr>
              <a:t>8  </a:t>
            </a:r>
            <a:r>
              <a:rPr b="1" lang="pt-BR" sz="2000" strike="noStrike" u="none" baseline="-25000">
                <a:solidFill>
                  <a:srgbClr val="ff0000"/>
                </a:solidFill>
                <a:effectLst/>
                <a:uFillTx/>
                <a:latin typeface="Consolas"/>
              </a:rPr>
              <a:t> </a:t>
            </a:r>
            <a:r>
              <a:rPr b="1" lang="pt-BR" sz="2000" strike="noStrike" u="none">
                <a:solidFill>
                  <a:srgbClr val="ff0000"/>
                </a:solidFill>
                <a:effectLst/>
                <a:uFillTx/>
                <a:latin typeface="Consolas"/>
              </a:rPr>
              <a:t>  </a:t>
            </a:r>
            <a:r>
              <a:rPr b="1" lang="pt-BR" sz="4000" strike="noStrike" u="none" baseline="-25000">
                <a:solidFill>
                  <a:schemeClr val="lt1"/>
                </a:solidFill>
                <a:effectLst/>
                <a:uFillTx/>
                <a:latin typeface="Consolas"/>
              </a:rPr>
              <a:t>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2 1 6 7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8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sng">
                <a:solidFill>
                  <a:schemeClr val="dk1"/>
                </a:solidFill>
                <a:effectLst/>
                <a:uFillTx/>
                <a:latin typeface="Consolas"/>
              </a:rPr>
              <a:t>+1 0 7 4</a:t>
            </a:r>
            <a:r>
              <a:rPr b="1" lang="pt-BR" sz="4000" strike="noStrike" u="sng" baseline="-25000">
                <a:solidFill>
                  <a:schemeClr val="dk1"/>
                </a:solidFill>
                <a:effectLst/>
                <a:uFillTx/>
                <a:latin typeface="Consolas"/>
              </a:rPr>
              <a:t>8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1 0 7 3</a:t>
            </a:r>
            <a:r>
              <a:rPr b="1" lang="pt-BR" sz="4000" strike="noStrike" u="none" baseline="-25000">
                <a:solidFill>
                  <a:schemeClr val="dk1"/>
                </a:solidFill>
                <a:effectLst/>
                <a:uFillTx/>
                <a:latin typeface="Consolas"/>
              </a:rPr>
              <a:t>8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etângulo 4"/>
          <p:cNvSpPr/>
          <p:nvPr/>
        </p:nvSpPr>
        <p:spPr>
          <a:xfrm>
            <a:off x="9210240" y="2974680"/>
            <a:ext cx="2835720" cy="1150920"/>
          </a:xfrm>
          <a:prstGeom prst="rect">
            <a:avLst/>
          </a:prstGeom>
          <a:noFill/>
          <a:ln w="635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6 </a:t>
            </a: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6 + 8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1 </a:t>
            </a: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0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Exercícios</a:t>
            </a:r>
            <a:endParaRPr b="0" lang="pt-BR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78920" y="954000"/>
            <a:ext cx="11867040" cy="5664960"/>
          </a:xfrm>
          <a:prstGeom prst="rect">
            <a:avLst/>
          </a:prstGeom>
          <a:noFill/>
          <a:ln w="0">
            <a:noFill/>
          </a:ln>
        </p:spPr>
        <p:txBody>
          <a:bodyPr numCol="2" spcCol="360000" lIns="91440" rIns="91440" tIns="45720" bIns="45720" anchor="t">
            <a:normAutofit lnSpcReduction="9999"/>
          </a:bodyPr>
          <a:p>
            <a:pPr marL="743040" indent="-74304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Escreva os numerais resultantes quando cada um dos seguintes números é incrementado em uma unidade.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1.1 101000</a:t>
            </a:r>
            <a:r>
              <a:rPr b="0" lang="pt-BR" sz="30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b="0" lang="pt-BR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1.2 1110</a:t>
            </a:r>
            <a:r>
              <a:rPr b="0" lang="pt-BR" sz="30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b="0" lang="pt-BR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1.3 7779</a:t>
            </a:r>
            <a:r>
              <a:rPr b="0" lang="pt-BR" sz="30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16</a:t>
            </a:r>
            <a:endParaRPr b="0" lang="pt-BR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1.4 9999</a:t>
            </a:r>
            <a:r>
              <a:rPr b="0" lang="pt-BR" sz="30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16</a:t>
            </a:r>
            <a:endParaRPr b="0" lang="pt-BR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1.5 737</a:t>
            </a:r>
            <a:r>
              <a:rPr b="0" lang="pt-BR" sz="30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endParaRPr b="0" lang="pt-BR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indent="-74304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 startAt="2"/>
              <a:tabLst>
                <a:tab algn="l" pos="0"/>
              </a:tabLst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Efetue as seguintes operações, considerando que os numerais binários representam números inteiros sem sinal.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2.1 0111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+ 0111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2.2 0111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- 0011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2.3 101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x 11011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2.4 11001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-101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2.5 0111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+ 0101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2.6 1111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- 0101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2.7 110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x 11101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2.8 11110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+ 110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Exercícios</a:t>
            </a:r>
            <a:endParaRPr b="0" lang="pt-BR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178920" y="954000"/>
            <a:ext cx="11867040" cy="5664960"/>
          </a:xfrm>
          <a:prstGeom prst="rect">
            <a:avLst/>
          </a:prstGeom>
          <a:noFill/>
          <a:ln w="0">
            <a:noFill/>
          </a:ln>
        </p:spPr>
        <p:txBody>
          <a:bodyPr numCol="2" spcCol="360000" lIns="91440" rIns="91440" tIns="45720" bIns="45720" anchor="t">
            <a:normAutofit/>
          </a:bodyPr>
          <a:p>
            <a:pPr marL="743040" indent="-74304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 startAt="3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Efetue as seguintes operações, considerando que os numerais binários representam números inteiros sem sinal. Os numerais estão limitados a 5 algarismos.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3.1 01111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+ 00111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3.2 101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x 1011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3.3 10111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+ 10101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3.4 110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x 1110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indent="-74304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 startAt="4"/>
              <a:tabLst>
                <a:tab algn="l" pos="0"/>
              </a:tabLst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Efetue as adições e subtrações dos numerais abaixo: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4.1 FACA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16</a:t>
            </a: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+ CA5A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4.2 FA02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- 1015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4.3 7523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+ 10101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4.4 7726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- 5432</a:t>
            </a:r>
            <a:r>
              <a:rPr b="0" lang="pt-BR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Agradecimentos</a:t>
            </a:r>
            <a:endParaRPr b="0" lang="pt-BR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178920" y="954000"/>
            <a:ext cx="11867040" cy="566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Prof.ª D.Sc. Gabriella Castro Barbosa Costa Dalpra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Prof. M.Sc. Jeronimo Costa Penha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Prof. D.Sc. Anderson Grandi Pires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471</TotalTime>
  <Application>LibreOffice/25.2.5.2$Windows_X86_64 LibreOffice_project/03d19516eb2e1dd5d4ccd751a0d6f35f35e08022</Application>
  <AppVersion>15.0000</AppVersion>
  <Words>1227</Words>
  <Paragraphs>213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2022-05-22T20:32:53Z</dcterms:created>
  <dc:creator>Luan Soares</dc:creator>
  <dc:description/>
  <dc:language>pt-BR</dc:language>
  <cp:lastModifiedBy/>
  <dcterms:modified xsi:type="dcterms:W3CDTF">2025-09-15T16:42:52Z</dcterms:modified>
  <cp:revision>10</cp:revision>
  <dc:subject/>
  <dc:title>Fundamentos de Informática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17</vt:i4>
  </property>
</Properties>
</file>