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1" r:id="rId3"/>
    <p:sldId id="302" r:id="rId4"/>
    <p:sldId id="303" r:id="rId5"/>
    <p:sldId id="306" r:id="rId6"/>
    <p:sldId id="307" r:id="rId7"/>
    <p:sldId id="304" r:id="rId8"/>
    <p:sldId id="305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66" autoAdjust="0"/>
  </p:normalViewPr>
  <p:slideViewPr>
    <p:cSldViewPr>
      <p:cViewPr varScale="1">
        <p:scale>
          <a:sx n="86" d="100"/>
          <a:sy n="86" d="100"/>
        </p:scale>
        <p:origin x="-10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D1F0C-26CA-45B0-AA53-D774CF8B2FBC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5D10-1F63-4199-9259-EB0FB5FA98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C5D10-1F63-4199-9259-EB0FB5FA985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52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10/11/2011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Camada de Transporte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Henrique Batista da Silva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88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066800" y="228600"/>
            <a:ext cx="7924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lnSpc>
                <a:spcPct val="140000"/>
              </a:lnSpc>
              <a:defRPr/>
            </a:pPr>
            <a:r>
              <a:rPr lang="pt-BR" sz="4400" dirty="0"/>
              <a:t>Modelo de </a:t>
            </a:r>
            <a:r>
              <a:rPr lang="pt-BR" sz="4400" dirty="0" smtClean="0"/>
              <a:t>referência</a:t>
            </a:r>
            <a:endParaRPr lang="pt-BR" sz="4400" dirty="0">
              <a:latin typeface="+mj-lt"/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3012926" y="26746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rgbClr val="FFFF00"/>
                </a:solidFill>
                <a:latin typeface="Arial" charset="0"/>
              </a:rPr>
              <a:t>Camada de transporte</a:t>
            </a: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3012926" y="2060848"/>
            <a:ext cx="3143250" cy="53340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aplicação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3012926" y="32842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rede</a:t>
            </a: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3012926" y="38938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enlace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3012926" y="450912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</a:t>
            </a:r>
            <a:r>
              <a:rPr lang="pt-BR" dirty="0" smtClean="0">
                <a:solidFill>
                  <a:schemeClr val="bg1"/>
                </a:solidFill>
                <a:latin typeface="Arial" charset="0"/>
              </a:rPr>
              <a:t>Física</a:t>
            </a:r>
            <a:endParaRPr lang="pt-BR" dirty="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60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Dividir os pacotes em unidades menores </a:t>
            </a:r>
            <a:r>
              <a:rPr lang="pt-BR" dirty="0" smtClean="0"/>
              <a:t>e </a:t>
            </a:r>
            <a:r>
              <a:rPr lang="pt-BR" dirty="0"/>
              <a:t>enviá-los para a camada de rede, garantindo o recebimento dos pacotes na outra extremidade.</a:t>
            </a:r>
          </a:p>
          <a:p>
            <a:endParaRPr lang="pt-BR" dirty="0"/>
          </a:p>
          <a:p>
            <a:r>
              <a:rPr lang="pt-BR" dirty="0"/>
              <a:t>Existem dois protocolos fim a fim:</a:t>
            </a:r>
          </a:p>
          <a:p>
            <a:pPr lvl="1"/>
            <a:r>
              <a:rPr lang="pt-BR" dirty="0"/>
              <a:t>TCP (</a:t>
            </a:r>
            <a:r>
              <a:rPr lang="pt-BR" dirty="0" err="1"/>
              <a:t>Transmission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/>
              <a:t>): protocolo confiável orientado a conexão.</a:t>
            </a:r>
          </a:p>
          <a:p>
            <a:pPr lvl="1"/>
            <a:r>
              <a:rPr lang="pt-BR" dirty="0"/>
              <a:t>UDP (</a:t>
            </a:r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Datagrama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/>
              <a:t>): protocolo sem conexão e não confiável.</a:t>
            </a:r>
          </a:p>
        </p:txBody>
      </p:sp>
    </p:spTree>
    <p:extLst>
      <p:ext uri="{BB962C8B-B14F-4D97-AF65-F5344CB8AC3E}">
        <p14:creationId xmlns:p14="http://schemas.microsoft.com/office/powerpoint/2010/main" val="20578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Serviço de transporte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Oferece serviço confiável de transporte a camada superior (aplicação).</a:t>
            </a:r>
          </a:p>
          <a:p>
            <a:r>
              <a:rPr lang="pt-BR" dirty="0" smtClean="0"/>
              <a:t>Os serviços de transporte podem ser:</a:t>
            </a:r>
          </a:p>
          <a:p>
            <a:pPr lvl="1"/>
            <a:r>
              <a:rPr lang="pt-BR" dirty="0" smtClean="0"/>
              <a:t>Orientados a conexão:</a:t>
            </a:r>
          </a:p>
          <a:p>
            <a:pPr lvl="2"/>
            <a:r>
              <a:rPr lang="pt-BR" dirty="0" smtClean="0"/>
              <a:t>3 fases - </a:t>
            </a:r>
            <a:r>
              <a:rPr lang="pt-BR" dirty="0" smtClean="0"/>
              <a:t>estabelecimento</a:t>
            </a:r>
            <a:r>
              <a:rPr lang="pt-BR" dirty="0" smtClean="0"/>
              <a:t>, transferência de dados e encerramento.</a:t>
            </a:r>
          </a:p>
          <a:p>
            <a:pPr lvl="1"/>
            <a:r>
              <a:rPr lang="pt-BR" dirty="0" smtClean="0"/>
              <a:t>Não orientado a conexão:</a:t>
            </a:r>
          </a:p>
          <a:p>
            <a:pPr lvl="2"/>
            <a:r>
              <a:rPr lang="pt-BR" dirty="0" smtClean="0"/>
              <a:t>Semelhante ao serviço sem conexão da camada de rede</a:t>
            </a:r>
          </a:p>
        </p:txBody>
      </p:sp>
    </p:spTree>
    <p:extLst>
      <p:ext uri="{BB962C8B-B14F-4D97-AF65-F5344CB8AC3E}">
        <p14:creationId xmlns:p14="http://schemas.microsoft.com/office/powerpoint/2010/main" val="158481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Serviço de transporte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Muito semelhante a camada de Rede.</a:t>
            </a:r>
          </a:p>
          <a:p>
            <a:endParaRPr lang="pt-BR" dirty="0" smtClean="0"/>
          </a:p>
          <a:p>
            <a:r>
              <a:rPr lang="pt-BR" dirty="0" smtClean="0"/>
              <a:t>Mas há diferenças, pois a camada de rede não é confiável (as redes reais podem perder pacotes).</a:t>
            </a:r>
          </a:p>
          <a:p>
            <a:endParaRPr lang="pt-BR" dirty="0" smtClean="0"/>
          </a:p>
          <a:p>
            <a:r>
              <a:rPr lang="pt-BR" dirty="0" smtClean="0"/>
              <a:t>Em contrapartida, o serviço de transporte (se orientado a conexão) é confiável.</a:t>
            </a:r>
          </a:p>
        </p:txBody>
      </p:sp>
    </p:spTree>
    <p:extLst>
      <p:ext uri="{BB962C8B-B14F-4D97-AF65-F5344CB8AC3E}">
        <p14:creationId xmlns:p14="http://schemas.microsoft.com/office/powerpoint/2010/main" val="224324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Serviço de transporte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redes reais não são infalíveis, </a:t>
            </a:r>
            <a:r>
              <a:rPr lang="pt-BR" dirty="0" smtClean="0"/>
              <a:t>portanto:</a:t>
            </a:r>
          </a:p>
          <a:p>
            <a:pPr lvl="1"/>
            <a:r>
              <a:rPr lang="pt-BR" dirty="0" smtClean="0"/>
              <a:t>A </a:t>
            </a:r>
            <a:r>
              <a:rPr lang="pt-BR" dirty="0"/>
              <a:t>função da camada de transporte é oferecer um serviço confiável sobre </a:t>
            </a:r>
            <a:r>
              <a:rPr lang="pt-BR" dirty="0" smtClean="0"/>
              <a:t>uma </a:t>
            </a:r>
            <a:r>
              <a:rPr lang="pt-BR" dirty="0"/>
              <a:t>rede não confiável</a:t>
            </a:r>
            <a:r>
              <a:rPr lang="pt-BR" dirty="0" smtClean="0"/>
              <a:t>.</a:t>
            </a:r>
          </a:p>
          <a:p>
            <a:r>
              <a:rPr lang="pt-BR" dirty="0" smtClean="0"/>
              <a:t>Exemplo:</a:t>
            </a:r>
          </a:p>
          <a:p>
            <a:pPr lvl="1"/>
            <a:r>
              <a:rPr lang="pt-BR" dirty="0" smtClean="0"/>
              <a:t>O processo A insere dados em um extremidade e o processo B recebe na outra.</a:t>
            </a:r>
          </a:p>
          <a:p>
            <a:pPr lvl="1"/>
            <a:r>
              <a:rPr lang="pt-BR" dirty="0" smtClean="0"/>
              <a:t>O transporte orientado a conexão consiste em ocultar imperfeições do serviço de rede.</a:t>
            </a:r>
          </a:p>
          <a:p>
            <a:pPr lvl="1"/>
            <a:r>
              <a:rPr lang="pt-BR" dirty="0" smtClean="0"/>
              <a:t>A e B se comunicam de forma livre de erros.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003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Somente os campos IP origem e IP destino não são suficientes para identificar uma </a:t>
            </a:r>
            <a:r>
              <a:rPr lang="pt-BR" dirty="0" smtClean="0"/>
              <a:t>conexão.</a:t>
            </a:r>
          </a:p>
          <a:p>
            <a:endParaRPr lang="pt-BR" dirty="0"/>
          </a:p>
          <a:p>
            <a:r>
              <a:rPr lang="pt-BR" dirty="0"/>
              <a:t>É preciso identificar a porta de origem e a porta de destino, bem como qual protocolo esta sendo utilizado (TCP ou UDP</a:t>
            </a:r>
            <a:r>
              <a:rPr lang="pt-BR" dirty="0" smtClean="0"/>
              <a:t>).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18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Primitivas de serviço de transporte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pt-BR" dirty="0"/>
              <a:t>LISTEN: coloca porta em modo de espera;</a:t>
            </a:r>
          </a:p>
          <a:p>
            <a:pPr lvl="1"/>
            <a:r>
              <a:rPr lang="pt-BR" dirty="0"/>
              <a:t>CONNECT: estabelece conexão para uma porta;</a:t>
            </a:r>
          </a:p>
          <a:p>
            <a:pPr lvl="1"/>
            <a:r>
              <a:rPr lang="pt-BR" dirty="0"/>
              <a:t>SEND: envia dados</a:t>
            </a:r>
          </a:p>
          <a:p>
            <a:pPr lvl="1"/>
            <a:r>
              <a:rPr lang="pt-BR" dirty="0"/>
              <a:t>RECEIVE: recebe dados</a:t>
            </a:r>
          </a:p>
          <a:p>
            <a:pPr lvl="1"/>
            <a:r>
              <a:rPr lang="pt-BR" dirty="0" smtClean="0"/>
              <a:t>DISCONNECT</a:t>
            </a:r>
            <a:r>
              <a:rPr lang="pt-BR" dirty="0"/>
              <a:t>: desconecta uma conexão ativa</a:t>
            </a:r>
            <a:r>
              <a:rPr lang="pt-BR" dirty="0" smtClean="0"/>
              <a:t>;</a:t>
            </a:r>
          </a:p>
          <a:p>
            <a:endParaRPr lang="pt-BR" dirty="0"/>
          </a:p>
          <a:p>
            <a:r>
              <a:rPr lang="pt-BR" dirty="0"/>
              <a:t>Transmissões não orientadas a conexão, as </a:t>
            </a:r>
            <a:r>
              <a:rPr lang="pt-BR" dirty="0" smtClean="0"/>
              <a:t>chamadas CONNECT </a:t>
            </a:r>
            <a:r>
              <a:rPr lang="pt-BR" dirty="0"/>
              <a:t>e DISCONNECT não são </a:t>
            </a:r>
            <a:r>
              <a:rPr lang="pt-BR" dirty="0" smtClean="0"/>
              <a:t>usadas.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382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Protocolos de Transporte da Internet: UDP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64903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UDP oferece um meio para as aplicações enviarem </a:t>
            </a:r>
            <a:r>
              <a:rPr lang="pt-BR" dirty="0" err="1" smtClean="0"/>
              <a:t>datagramas</a:t>
            </a:r>
            <a:r>
              <a:rPr lang="pt-BR" dirty="0" smtClean="0"/>
              <a:t> IP encapsulados sem que seja necessário estabelecer conexão.</a:t>
            </a:r>
          </a:p>
          <a:p>
            <a:r>
              <a:rPr lang="pt-BR" dirty="0" smtClean="0"/>
              <a:t>Pacote </a:t>
            </a:r>
            <a:r>
              <a:rPr lang="pt-BR" dirty="0"/>
              <a:t>UDP contém somente as portas de origem </a:t>
            </a:r>
            <a:r>
              <a:rPr lang="pt-BR" dirty="0" smtClean="0"/>
              <a:t>e destino</a:t>
            </a:r>
            <a:r>
              <a:rPr lang="pt-BR" dirty="0"/>
              <a:t>, o tamanho e o </a:t>
            </a:r>
            <a:r>
              <a:rPr lang="pt-BR" i="1" dirty="0" err="1"/>
              <a:t>checksum</a:t>
            </a:r>
            <a:r>
              <a:rPr lang="pt-BR" dirty="0"/>
              <a:t> do </a:t>
            </a:r>
            <a:r>
              <a:rPr lang="pt-BR" dirty="0" smtClean="0"/>
              <a:t>pacote.</a:t>
            </a:r>
            <a:endParaRPr lang="pt-B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4592538"/>
            <a:ext cx="684847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940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UDP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UDP não realiza controle de erros ou retransmissão após a recepção de um segmento incorreto.</a:t>
            </a:r>
          </a:p>
          <a:p>
            <a:endParaRPr lang="pt-BR" dirty="0"/>
          </a:p>
          <a:p>
            <a:r>
              <a:rPr lang="pt-BR" dirty="0"/>
              <a:t>Uso: interações cliente/servidor e multimídia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Cliente envia uma pequena solicitação ao servidor e espera resposta de volta (se a resposta se perder, espera-se o timeout e tentará de novo).</a:t>
            </a:r>
          </a:p>
          <a:p>
            <a:pPr lvl="1"/>
            <a:r>
              <a:rPr lang="pt-BR" dirty="0" smtClean="0"/>
              <a:t>Multimídia: vídeo em tempo real.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02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Protocolos de Transporte da Internet: </a:t>
            </a:r>
            <a:r>
              <a:rPr lang="pt-BR" dirty="0" smtClean="0"/>
              <a:t>TCP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TCP projetado </a:t>
            </a:r>
            <a:r>
              <a:rPr lang="pt-BR" dirty="0" smtClean="0"/>
              <a:t>para </a:t>
            </a:r>
            <a:r>
              <a:rPr lang="pt-BR" dirty="0"/>
              <a:t>oferecer um fluxo confiável de </a:t>
            </a:r>
            <a:r>
              <a:rPr lang="pt-BR" dirty="0" smtClean="0"/>
              <a:t>bytes fim </a:t>
            </a:r>
            <a:r>
              <a:rPr lang="pt-BR" dirty="0"/>
              <a:t>a </a:t>
            </a:r>
            <a:r>
              <a:rPr lang="pt-BR" dirty="0" smtClean="0"/>
              <a:t>fim, </a:t>
            </a:r>
            <a:r>
              <a:rPr lang="pt-BR" dirty="0"/>
              <a:t>confiável em uma </a:t>
            </a:r>
            <a:r>
              <a:rPr lang="pt-BR" dirty="0" smtClean="0"/>
              <a:t>Inter rede </a:t>
            </a:r>
            <a:r>
              <a:rPr lang="pt-BR" dirty="0"/>
              <a:t>não </a:t>
            </a:r>
            <a:r>
              <a:rPr lang="pt-BR" dirty="0" smtClean="0"/>
              <a:t>confiável;</a:t>
            </a:r>
          </a:p>
          <a:p>
            <a:r>
              <a:rPr lang="pt-BR" dirty="0"/>
              <a:t>TCP quebra os blocos de dados do usuário e </a:t>
            </a:r>
            <a:r>
              <a:rPr lang="pt-BR" dirty="0" smtClean="0"/>
              <a:t>transmite em </a:t>
            </a:r>
            <a:r>
              <a:rPr lang="pt-BR" dirty="0"/>
              <a:t>pacotes IP (de tamanho em geral de 1500 bytes</a:t>
            </a:r>
            <a:r>
              <a:rPr lang="pt-BR" dirty="0" smtClean="0"/>
              <a:t>);</a:t>
            </a:r>
          </a:p>
          <a:p>
            <a:r>
              <a:rPr lang="pt-BR" dirty="0"/>
              <a:t>Como a camada IP não garante a entrega </a:t>
            </a:r>
            <a:r>
              <a:rPr lang="pt-BR" dirty="0" smtClean="0"/>
              <a:t>dos </a:t>
            </a:r>
            <a:r>
              <a:rPr lang="pt-BR" dirty="0" err="1" smtClean="0"/>
              <a:t>datagramas</a:t>
            </a:r>
            <a:r>
              <a:rPr lang="pt-BR" dirty="0" smtClean="0"/>
              <a:t> </a:t>
            </a:r>
            <a:r>
              <a:rPr lang="pt-BR" dirty="0"/>
              <a:t>é função do TCP </a:t>
            </a:r>
            <a:r>
              <a:rPr lang="pt-BR" dirty="0" smtClean="0"/>
              <a:t>transformar </a:t>
            </a:r>
            <a:r>
              <a:rPr lang="pt-BR" dirty="0"/>
              <a:t>a conexão confiável.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80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Modelo de Serviço TCP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2896"/>
          </a:xfrm>
        </p:spPr>
        <p:txBody>
          <a:bodyPr>
            <a:normAutofit/>
          </a:bodyPr>
          <a:lstStyle/>
          <a:p>
            <a:r>
              <a:rPr lang="pt-BR" dirty="0" smtClean="0"/>
              <a:t>Consistem </a:t>
            </a:r>
            <a:r>
              <a:rPr lang="pt-BR" dirty="0"/>
              <a:t>em endereços </a:t>
            </a:r>
            <a:r>
              <a:rPr lang="pt-BR" dirty="0" err="1" smtClean="0"/>
              <a:t>IPs</a:t>
            </a:r>
            <a:r>
              <a:rPr lang="pt-BR" dirty="0" smtClean="0"/>
              <a:t> e </a:t>
            </a:r>
            <a:r>
              <a:rPr lang="pt-BR" dirty="0"/>
              <a:t>portas de comunicação do protocolo</a:t>
            </a:r>
            <a:r>
              <a:rPr lang="pt-BR" dirty="0" smtClean="0"/>
              <a:t>;</a:t>
            </a:r>
          </a:p>
          <a:p>
            <a:r>
              <a:rPr lang="pt-BR" dirty="0" smtClean="0"/>
              <a:t>Algumas </a:t>
            </a:r>
            <a:r>
              <a:rPr lang="pt-BR" dirty="0"/>
              <a:t>portas atribuídas: (até 1024 são reservadas</a:t>
            </a:r>
            <a:r>
              <a:rPr lang="pt-BR" dirty="0" smtClean="0"/>
              <a:t>, acima </a:t>
            </a:r>
            <a:r>
              <a:rPr lang="pt-BR" dirty="0"/>
              <a:t>até 65535 uso livre</a:t>
            </a:r>
            <a:r>
              <a:rPr lang="pt-BR" dirty="0" smtClean="0"/>
              <a:t>)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377019" y="4365104"/>
            <a:ext cx="8229600" cy="2304256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dirty="0" smtClean="0"/>
              <a:t>FTP</a:t>
            </a:r>
            <a:r>
              <a:rPr lang="pt-BR" dirty="0"/>
              <a:t>: 21;</a:t>
            </a:r>
          </a:p>
          <a:p>
            <a:pPr lvl="1"/>
            <a:r>
              <a:rPr lang="pt-BR" dirty="0"/>
              <a:t>SSH: 22;</a:t>
            </a:r>
          </a:p>
          <a:p>
            <a:pPr lvl="1"/>
            <a:r>
              <a:rPr lang="pt-BR" dirty="0"/>
              <a:t>Telnet: 23;</a:t>
            </a:r>
          </a:p>
          <a:p>
            <a:pPr lvl="1"/>
            <a:r>
              <a:rPr lang="pt-BR" dirty="0"/>
              <a:t>SMTP: 25;</a:t>
            </a:r>
          </a:p>
          <a:p>
            <a:pPr lvl="1"/>
            <a:r>
              <a:rPr lang="pt-BR" dirty="0"/>
              <a:t>HTTP: 80;</a:t>
            </a:r>
          </a:p>
          <a:p>
            <a:pPr lvl="1"/>
            <a:r>
              <a:rPr lang="pt-BR" dirty="0"/>
              <a:t>POP3: 110;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26498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Diferença básica entre o TCP e o </a:t>
            </a:r>
            <a:r>
              <a:rPr lang="pt-BR" dirty="0" smtClean="0"/>
              <a:t>UDP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TCP </a:t>
            </a:r>
            <a:r>
              <a:rPr lang="pt-BR" dirty="0"/>
              <a:t>garante que o dado vai chegar ao seu destino </a:t>
            </a:r>
            <a:r>
              <a:rPr lang="pt-BR" dirty="0" smtClean="0"/>
              <a:t>corretamente.</a:t>
            </a:r>
          </a:p>
          <a:p>
            <a:r>
              <a:rPr lang="pt-BR" dirty="0" smtClean="0"/>
              <a:t>UDP </a:t>
            </a:r>
            <a:r>
              <a:rPr lang="pt-BR" dirty="0"/>
              <a:t>não tem garantia de entrega de </a:t>
            </a:r>
            <a:r>
              <a:rPr lang="pt-BR" dirty="0" smtClean="0"/>
              <a:t>dados.</a:t>
            </a:r>
            <a:endParaRPr lang="pt-BR" dirty="0"/>
          </a:p>
          <a:p>
            <a:r>
              <a:rPr lang="pt-BR" dirty="0" smtClean="0"/>
              <a:t>O </a:t>
            </a:r>
            <a:r>
              <a:rPr lang="pt-BR" dirty="0"/>
              <a:t>TCP possui diversos controles para garantir que o dado irá chegar corretamente ao destino. Por isso é mais lento que o </a:t>
            </a:r>
            <a:r>
              <a:rPr lang="pt-BR" dirty="0" smtClean="0"/>
              <a:t>UDP.</a:t>
            </a:r>
          </a:p>
          <a:p>
            <a:r>
              <a:rPr lang="pt-BR" dirty="0" smtClean="0"/>
              <a:t>O UDP </a:t>
            </a:r>
            <a:r>
              <a:rPr lang="pt-BR" dirty="0"/>
              <a:t>Você simplesmente envia um dado e </a:t>
            </a:r>
            <a:r>
              <a:rPr lang="pt-BR" i="1" dirty="0"/>
              <a:t>reza</a:t>
            </a:r>
            <a:r>
              <a:rPr lang="pt-BR" dirty="0"/>
              <a:t> para que ele chegue do outro </a:t>
            </a:r>
            <a:r>
              <a:rPr lang="pt-BR" dirty="0" smtClean="0"/>
              <a:t>lado.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273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Exemplo de aplicação Cliente Servidor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Primeiramente é preciso instalar um determinado serviço em um servidor.</a:t>
            </a:r>
          </a:p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O servidor de HTTP (Web Server) do Universo Online - www.uol.com.br (200.241.5.65) é configurado para a porta 80 (default para este serviço)</a:t>
            </a:r>
          </a:p>
        </p:txBody>
      </p:sp>
    </p:spTree>
    <p:extLst>
      <p:ext uri="{BB962C8B-B14F-4D97-AF65-F5344CB8AC3E}">
        <p14:creationId xmlns:p14="http://schemas.microsoft.com/office/powerpoint/2010/main" val="2825211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aplicação Cliente Servidor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o serviço </a:t>
            </a:r>
            <a:r>
              <a:rPr lang="pt-BR" dirty="0" smtClean="0"/>
              <a:t>instalado, </a:t>
            </a:r>
            <a:r>
              <a:rPr lang="pt-BR" dirty="0"/>
              <a:t>um determinado Cliente pode acessar o serviço. </a:t>
            </a:r>
            <a:r>
              <a:rPr lang="pt-BR" dirty="0" err="1"/>
              <a:t>Ex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O usuário da máquina 200.241.16.8 deseja acessar a página do universo online </a:t>
            </a:r>
          </a:p>
          <a:p>
            <a:pPr lvl="1"/>
            <a:r>
              <a:rPr lang="pt-BR" dirty="0"/>
              <a:t>Neste momento o sistema operacional lhe da uma porta escolhida randomicamente para fazer a conexão TCP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9061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aplicação Cliente Servidor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Teremos portanto:</a:t>
            </a:r>
          </a:p>
          <a:p>
            <a:pPr lvl="1"/>
            <a:r>
              <a:rPr lang="pt-BR" dirty="0"/>
              <a:t>IP Origem: 200.241.16.8 (Máquina Local)</a:t>
            </a:r>
          </a:p>
          <a:p>
            <a:pPr lvl="1"/>
            <a:r>
              <a:rPr lang="pt-BR" dirty="0"/>
              <a:t>Porta Origem: 3478 (SO fornece)</a:t>
            </a:r>
          </a:p>
          <a:p>
            <a:pPr lvl="1"/>
            <a:r>
              <a:rPr lang="pt-BR" dirty="0"/>
              <a:t>IP Destino: 200.246.4.65 (Máquina </a:t>
            </a:r>
            <a:r>
              <a:rPr lang="pt-BR" dirty="0" smtClean="0"/>
              <a:t>Remota)</a:t>
            </a:r>
            <a:endParaRPr lang="pt-BR" dirty="0"/>
          </a:p>
          <a:p>
            <a:pPr lvl="1"/>
            <a:r>
              <a:rPr lang="pt-BR" dirty="0"/>
              <a:t>Porta Destino: 80 (Porta Default do serviço de WWW, </a:t>
            </a:r>
            <a:r>
              <a:rPr lang="pt-BR" dirty="0" smtClean="0"/>
              <a:t>não pode </a:t>
            </a:r>
            <a:r>
              <a:rPr lang="pt-BR" dirty="0"/>
              <a:t>ser alterada)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5363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aplicação Cliente Servidor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Suponha que abramos uma outra janela do Browser, teremos então:</a:t>
            </a:r>
          </a:p>
          <a:p>
            <a:pPr lvl="1"/>
            <a:r>
              <a:rPr lang="pt-BR" dirty="0"/>
              <a:t>IP Origem: 200.241.16.8 (Máquina Local)</a:t>
            </a:r>
          </a:p>
          <a:p>
            <a:pPr lvl="1"/>
            <a:r>
              <a:rPr lang="pt-BR" dirty="0"/>
              <a:t>Porta Origem: </a:t>
            </a:r>
            <a:r>
              <a:rPr lang="pt-BR" b="1" dirty="0"/>
              <a:t>4312</a:t>
            </a:r>
            <a:r>
              <a:rPr lang="pt-BR" dirty="0"/>
              <a:t> (SO fornece outra)</a:t>
            </a:r>
          </a:p>
          <a:p>
            <a:pPr lvl="1"/>
            <a:r>
              <a:rPr lang="pt-BR" dirty="0"/>
              <a:t>IP Destino: 200.246.4.65 (Máquina Remota</a:t>
            </a:r>
          </a:p>
          <a:p>
            <a:pPr lvl="1"/>
            <a:r>
              <a:rPr lang="pt-BR" dirty="0"/>
              <a:t>Porta Destino: 80 (Porta Default do serviço de WWW, </a:t>
            </a:r>
            <a:r>
              <a:rPr lang="pt-BR" dirty="0" smtClean="0"/>
              <a:t>não pode </a:t>
            </a:r>
            <a:r>
              <a:rPr lang="pt-BR" dirty="0"/>
              <a:t>ser alterada)</a:t>
            </a:r>
          </a:p>
        </p:txBody>
      </p:sp>
    </p:spTree>
    <p:extLst>
      <p:ext uri="{BB962C8B-B14F-4D97-AF65-F5344CB8AC3E}">
        <p14:creationId xmlns:p14="http://schemas.microsoft.com/office/powerpoint/2010/main" val="233988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de aplicação Cliente Servidor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Suponha que outra pessoa esteja acessando a mesma página:</a:t>
            </a:r>
          </a:p>
          <a:p>
            <a:pPr lvl="1"/>
            <a:r>
              <a:rPr lang="pt-BR" dirty="0"/>
              <a:t>IP Origem: </a:t>
            </a:r>
            <a:r>
              <a:rPr lang="pt-BR" b="1" dirty="0"/>
              <a:t>200.30.20.83</a:t>
            </a:r>
            <a:r>
              <a:rPr lang="pt-BR" dirty="0"/>
              <a:t> (Máquina Local)</a:t>
            </a:r>
          </a:p>
          <a:p>
            <a:pPr lvl="1"/>
            <a:r>
              <a:rPr lang="pt-BR" dirty="0"/>
              <a:t>Porta Origem: </a:t>
            </a:r>
            <a:r>
              <a:rPr lang="pt-BR" b="1" dirty="0"/>
              <a:t>4312</a:t>
            </a:r>
            <a:r>
              <a:rPr lang="pt-BR" dirty="0"/>
              <a:t> (SO fornece pode ser igual a de outra máquina)</a:t>
            </a:r>
          </a:p>
          <a:p>
            <a:pPr lvl="1"/>
            <a:r>
              <a:rPr lang="pt-BR" dirty="0"/>
              <a:t>IP Destino: 200.246.4.65 (Máq. Remota)</a:t>
            </a:r>
          </a:p>
          <a:p>
            <a:pPr lvl="1"/>
            <a:r>
              <a:rPr lang="pt-BR" dirty="0"/>
              <a:t>Porta Destino: 80 (Porta Default  WWW)</a:t>
            </a:r>
          </a:p>
        </p:txBody>
      </p:sp>
    </p:spTree>
    <p:extLst>
      <p:ext uri="{BB962C8B-B14F-4D97-AF65-F5344CB8AC3E}">
        <p14:creationId xmlns:p14="http://schemas.microsoft.com/office/powerpoint/2010/main" val="307357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A Mensagem em Camadas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1066800" y="16820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/>
              <a:t>Remetente</a:t>
            </a: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1066800" y="26726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 sz="2000"/>
              <a:t>Mensagem</a:t>
            </a:r>
          </a:p>
          <a:p>
            <a:pPr algn="ctr" eaLnBrk="1" hangingPunct="1"/>
            <a:r>
              <a:rPr lang="pt-BR" sz="2000"/>
              <a:t>Escrita</a:t>
            </a:r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1066800" y="36632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/>
              <a:t>Envelope</a:t>
            </a:r>
          </a:p>
        </p:txBody>
      </p:sp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1066800" y="46538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/>
              <a:t>Agência</a:t>
            </a:r>
          </a:p>
        </p:txBody>
      </p:sp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914400" y="5568280"/>
            <a:ext cx="7467600" cy="381000"/>
          </a:xfrm>
          <a:prstGeom prst="rect">
            <a:avLst/>
          </a:prstGeom>
          <a:noFill/>
          <a:ln w="3175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pt-BR">
                <a:solidFill>
                  <a:srgbClr val="993300"/>
                </a:solidFill>
              </a:rPr>
              <a:t>Rodovia/Malote</a:t>
            </a:r>
          </a:p>
        </p:txBody>
      </p:sp>
      <p:sp>
        <p:nvSpPr>
          <p:cNvPr id="25608" name="Rectangle 9"/>
          <p:cNvSpPr>
            <a:spLocks noChangeArrowheads="1"/>
          </p:cNvSpPr>
          <p:nvPr/>
        </p:nvSpPr>
        <p:spPr bwMode="auto">
          <a:xfrm>
            <a:off x="6705600" y="36632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/>
              <a:t>Envelope</a:t>
            </a:r>
          </a:p>
        </p:txBody>
      </p:sp>
      <p:sp>
        <p:nvSpPr>
          <p:cNvPr id="25609" name="Rectangle 10"/>
          <p:cNvSpPr>
            <a:spLocks noChangeArrowheads="1"/>
          </p:cNvSpPr>
          <p:nvPr/>
        </p:nvSpPr>
        <p:spPr bwMode="auto">
          <a:xfrm>
            <a:off x="6705600" y="46538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/>
              <a:t>Agência</a:t>
            </a:r>
          </a:p>
        </p:txBody>
      </p:sp>
      <p:sp>
        <p:nvSpPr>
          <p:cNvPr id="25610" name="Rectangle 11"/>
          <p:cNvSpPr>
            <a:spLocks noChangeArrowheads="1"/>
          </p:cNvSpPr>
          <p:nvPr/>
        </p:nvSpPr>
        <p:spPr bwMode="auto">
          <a:xfrm>
            <a:off x="6705600" y="26726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 sz="2000"/>
              <a:t>Mensagem</a:t>
            </a:r>
          </a:p>
          <a:p>
            <a:pPr algn="ctr" eaLnBrk="1" hangingPunct="1"/>
            <a:r>
              <a:rPr lang="pt-BR" sz="2000"/>
              <a:t>Escrita</a:t>
            </a:r>
          </a:p>
        </p:txBody>
      </p:sp>
      <p:sp>
        <p:nvSpPr>
          <p:cNvPr id="25611" name="Rectangle 12"/>
          <p:cNvSpPr>
            <a:spLocks noChangeArrowheads="1"/>
          </p:cNvSpPr>
          <p:nvPr/>
        </p:nvSpPr>
        <p:spPr bwMode="auto">
          <a:xfrm>
            <a:off x="6705600" y="1682080"/>
            <a:ext cx="1447800" cy="533400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pt-BR" sz="2200"/>
              <a:t>Destinatário</a:t>
            </a:r>
          </a:p>
        </p:txBody>
      </p:sp>
      <p:sp>
        <p:nvSpPr>
          <p:cNvPr id="25612" name="Line 13"/>
          <p:cNvSpPr>
            <a:spLocks noChangeShapeType="1"/>
          </p:cNvSpPr>
          <p:nvPr/>
        </p:nvSpPr>
        <p:spPr bwMode="auto">
          <a:xfrm>
            <a:off x="1752600" y="22154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3" name="Line 14"/>
          <p:cNvSpPr>
            <a:spLocks noChangeShapeType="1"/>
          </p:cNvSpPr>
          <p:nvPr/>
        </p:nvSpPr>
        <p:spPr bwMode="auto">
          <a:xfrm>
            <a:off x="1752600" y="32060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4" name="Line 15"/>
          <p:cNvSpPr>
            <a:spLocks noChangeShapeType="1"/>
          </p:cNvSpPr>
          <p:nvPr/>
        </p:nvSpPr>
        <p:spPr bwMode="auto">
          <a:xfrm flipH="1" flipV="1">
            <a:off x="7467600" y="22154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5" name="Line 16"/>
          <p:cNvSpPr>
            <a:spLocks noChangeShapeType="1"/>
          </p:cNvSpPr>
          <p:nvPr/>
        </p:nvSpPr>
        <p:spPr bwMode="auto">
          <a:xfrm>
            <a:off x="1752600" y="51872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6" name="Line 17"/>
          <p:cNvSpPr>
            <a:spLocks noChangeShapeType="1"/>
          </p:cNvSpPr>
          <p:nvPr/>
        </p:nvSpPr>
        <p:spPr bwMode="auto">
          <a:xfrm>
            <a:off x="1752600" y="41966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7" name="Line 18"/>
          <p:cNvSpPr>
            <a:spLocks noChangeShapeType="1"/>
          </p:cNvSpPr>
          <p:nvPr/>
        </p:nvSpPr>
        <p:spPr bwMode="auto">
          <a:xfrm flipH="1" flipV="1">
            <a:off x="7467600" y="32060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8" name="Line 19"/>
          <p:cNvSpPr>
            <a:spLocks noChangeShapeType="1"/>
          </p:cNvSpPr>
          <p:nvPr/>
        </p:nvSpPr>
        <p:spPr bwMode="auto">
          <a:xfrm flipH="1" flipV="1">
            <a:off x="7467600" y="41966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19" name="Line 20"/>
          <p:cNvSpPr>
            <a:spLocks noChangeShapeType="1"/>
          </p:cNvSpPr>
          <p:nvPr/>
        </p:nvSpPr>
        <p:spPr bwMode="auto">
          <a:xfrm flipH="1" flipV="1">
            <a:off x="7467600" y="5187280"/>
            <a:ext cx="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5620" name="Text Box 21"/>
          <p:cNvSpPr txBox="1">
            <a:spLocks noChangeArrowheads="1"/>
          </p:cNvSpPr>
          <p:nvPr/>
        </p:nvSpPr>
        <p:spPr bwMode="auto">
          <a:xfrm>
            <a:off x="2987675" y="1626517"/>
            <a:ext cx="33845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sz="2000" b="1" dirty="0"/>
              <a:t>-Você tem uma </a:t>
            </a:r>
            <a:r>
              <a:rPr lang="pt-BR" sz="2000" b="1" dirty="0" smtClean="0"/>
              <a:t>ideia </a:t>
            </a:r>
            <a:r>
              <a:rPr lang="pt-BR" sz="2000" b="1" dirty="0"/>
              <a:t>e deseja comunica-la a outra pessoa</a:t>
            </a:r>
          </a:p>
          <a:p>
            <a:pPr eaLnBrk="1" hangingPunct="1">
              <a:spcBef>
                <a:spcPct val="50000"/>
              </a:spcBef>
            </a:pPr>
            <a:r>
              <a:rPr lang="pt-BR" sz="2000" b="1" dirty="0"/>
              <a:t>-Tem de escolher a forma de expressar essa </a:t>
            </a:r>
            <a:r>
              <a:rPr lang="pt-BR" sz="2000" b="1" dirty="0" smtClean="0"/>
              <a:t>ideia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66498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TANENBAUM, Andrew S. Redes de Computadores. 4ª Edição: Campus, 2003</a:t>
            </a:r>
          </a:p>
        </p:txBody>
      </p:sp>
    </p:spTree>
    <p:extLst>
      <p:ext uri="{BB962C8B-B14F-4D97-AF65-F5344CB8AC3E}">
        <p14:creationId xmlns:p14="http://schemas.microsoft.com/office/powerpoint/2010/main" val="355296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950</Words>
  <Application>Microsoft Office PowerPoint</Application>
  <PresentationFormat>Apresentação na tela (4:3)</PresentationFormat>
  <Paragraphs>116</Paragraphs>
  <Slides>20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Camada de Transporte</vt:lpstr>
      <vt:lpstr>Apresentação do PowerPoint</vt:lpstr>
      <vt:lpstr>Introdução</vt:lpstr>
      <vt:lpstr>Serviço de transporte</vt:lpstr>
      <vt:lpstr>Serviço de transporte</vt:lpstr>
      <vt:lpstr>Serviço de transporte</vt:lpstr>
      <vt:lpstr>Portas</vt:lpstr>
      <vt:lpstr>Primitivas de serviço de transporte</vt:lpstr>
      <vt:lpstr>Protocolos de Transporte da Internet: UDP</vt:lpstr>
      <vt:lpstr>UDP</vt:lpstr>
      <vt:lpstr>Protocolos de Transporte da Internet: TCP</vt:lpstr>
      <vt:lpstr>O Modelo de Serviço TCP</vt:lpstr>
      <vt:lpstr>Diferença básica entre o TCP e o UDP</vt:lpstr>
      <vt:lpstr>Exemplo de aplicação Cliente Servidor</vt:lpstr>
      <vt:lpstr>Exemplo de aplicação Cliente Servidor</vt:lpstr>
      <vt:lpstr>Exemplo de aplicação Cliente Servidor</vt:lpstr>
      <vt:lpstr>Exemplo de aplicação Cliente Servidor</vt:lpstr>
      <vt:lpstr>Exemplo de aplicação Cliente Servidor</vt:lpstr>
      <vt:lpstr>A Mensagem em Camadas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henrique</cp:lastModifiedBy>
  <cp:revision>227</cp:revision>
  <dcterms:created xsi:type="dcterms:W3CDTF">2010-09-29T10:48:05Z</dcterms:created>
  <dcterms:modified xsi:type="dcterms:W3CDTF">2011-11-10T22:34:25Z</dcterms:modified>
</cp:coreProperties>
</file>