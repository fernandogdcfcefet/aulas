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66" autoAdjust="0"/>
  </p:normalViewPr>
  <p:slideViewPr>
    <p:cSldViewPr>
      <p:cViewPr varScale="1">
        <p:scale>
          <a:sx n="86" d="100"/>
          <a:sy n="86" d="100"/>
        </p:scale>
        <p:origin x="-10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D1F0C-26CA-45B0-AA53-D774CF8B2FBC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5D10-1F63-4199-9259-EB0FB5FA98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C5D10-1F63-4199-9259-EB0FB5FA985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3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01/12/2011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Computação Móvel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88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Motivações</a:t>
            </a:r>
            <a:r>
              <a:rPr lang="pt-BR" dirty="0"/>
              <a:t>: Internet Móvel, mercado promissor, venda </a:t>
            </a:r>
            <a:r>
              <a:rPr lang="pt-BR" dirty="0" smtClean="0"/>
              <a:t>de equipamentos </a:t>
            </a:r>
            <a:r>
              <a:rPr lang="pt-BR" dirty="0"/>
              <a:t>portáteis.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969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Histórico da comunicação sem fio (século XX)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1921</a:t>
            </a:r>
            <a:r>
              <a:rPr lang="pt-BR" dirty="0"/>
              <a:t>: Radiodifusão comercial entra em operação </a:t>
            </a:r>
            <a:r>
              <a:rPr lang="pt-BR" dirty="0" smtClean="0"/>
              <a:t>nos Estados </a:t>
            </a:r>
            <a:r>
              <a:rPr lang="pt-BR" dirty="0"/>
              <a:t>Unidos</a:t>
            </a:r>
          </a:p>
          <a:p>
            <a:r>
              <a:rPr lang="pt-BR" b="1" dirty="0" smtClean="0"/>
              <a:t>1939-1945</a:t>
            </a:r>
            <a:r>
              <a:rPr lang="pt-BR" dirty="0"/>
              <a:t>: Amplo uso de comunicação sem fio</a:t>
            </a:r>
          </a:p>
          <a:p>
            <a:r>
              <a:rPr lang="pt-BR" b="1" dirty="0" smtClean="0"/>
              <a:t>1947</a:t>
            </a:r>
            <a:r>
              <a:rPr lang="pt-BR" dirty="0"/>
              <a:t>: AT&amp; T Bell </a:t>
            </a:r>
            <a:r>
              <a:rPr lang="pt-BR" dirty="0" err="1"/>
              <a:t>Labs</a:t>
            </a:r>
            <a:r>
              <a:rPr lang="pt-BR" dirty="0"/>
              <a:t> propõe o conceito de </a:t>
            </a:r>
            <a:r>
              <a:rPr lang="pt-BR" dirty="0" smtClean="0"/>
              <a:t>sistema celular</a:t>
            </a:r>
            <a:endParaRPr lang="pt-BR" dirty="0"/>
          </a:p>
          <a:p>
            <a:r>
              <a:rPr lang="pt-BR" b="1" dirty="0" smtClean="0"/>
              <a:t>1963</a:t>
            </a:r>
            <a:r>
              <a:rPr lang="pt-BR" dirty="0"/>
              <a:t>: AT&amp; T Bell </a:t>
            </a:r>
            <a:r>
              <a:rPr lang="pt-BR" dirty="0" err="1"/>
              <a:t>Labs</a:t>
            </a:r>
            <a:r>
              <a:rPr lang="pt-BR" dirty="0"/>
              <a:t> demonstra o primeiro </a:t>
            </a:r>
            <a:r>
              <a:rPr lang="pt-BR" dirty="0" smtClean="0"/>
              <a:t>sistema celular</a:t>
            </a:r>
            <a:endParaRPr lang="pt-BR" dirty="0"/>
          </a:p>
          <a:p>
            <a:r>
              <a:rPr lang="pt-BR" b="1" dirty="0" smtClean="0"/>
              <a:t>1983</a:t>
            </a:r>
            <a:r>
              <a:rPr lang="pt-BR" dirty="0"/>
              <a:t>: Primeiro sistema celular comercial começa a </a:t>
            </a:r>
            <a:r>
              <a:rPr lang="pt-BR" dirty="0" smtClean="0"/>
              <a:t>operar nos </a:t>
            </a:r>
            <a:r>
              <a:rPr lang="pt-BR" dirty="0"/>
              <a:t>EUA usando o AMPS </a:t>
            </a:r>
            <a:r>
              <a:rPr lang="pt-BR" dirty="0" smtClean="0"/>
              <a:t>(Sistema avançado de telefonia móvel - 1G) que </a:t>
            </a:r>
            <a:r>
              <a:rPr lang="pt-BR" dirty="0"/>
              <a:t>foi a base de quase todos </a:t>
            </a:r>
            <a:r>
              <a:rPr lang="pt-BR" dirty="0" smtClean="0"/>
              <a:t>os sistemas </a:t>
            </a:r>
            <a:r>
              <a:rPr lang="pt-BR" dirty="0"/>
              <a:t>sem fio usados até 2000</a:t>
            </a:r>
          </a:p>
          <a:p>
            <a:r>
              <a:rPr lang="pt-BR" b="1" dirty="0" smtClean="0"/>
              <a:t>2000'</a:t>
            </a:r>
            <a:r>
              <a:rPr lang="pt-BR" dirty="0" smtClean="0"/>
              <a:t>s</a:t>
            </a:r>
            <a:r>
              <a:rPr lang="pt-BR" dirty="0"/>
              <a:t>: Expansão e criação de novos sistemas.</a:t>
            </a:r>
          </a:p>
        </p:txBody>
      </p:sp>
    </p:spTree>
    <p:extLst>
      <p:ext uri="{BB962C8B-B14F-4D97-AF65-F5344CB8AC3E}">
        <p14:creationId xmlns:p14="http://schemas.microsoft.com/office/powerpoint/2010/main" val="334964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Observações sobre comunicação com/sem 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Comunicação sem fio e com fio são complementares</a:t>
            </a:r>
          </a:p>
          <a:p>
            <a:r>
              <a:rPr lang="pt-BR" dirty="0" smtClean="0"/>
              <a:t>Os </a:t>
            </a:r>
            <a:r>
              <a:rPr lang="pt-BR" dirty="0"/>
              <a:t>dois tipos de comunicação devem continuar a </a:t>
            </a:r>
            <a:r>
              <a:rPr lang="pt-BR" dirty="0" smtClean="0"/>
              <a:t>crescer:</a:t>
            </a:r>
            <a:endParaRPr lang="pt-BR" dirty="0"/>
          </a:p>
          <a:p>
            <a:pPr lvl="1"/>
            <a:r>
              <a:rPr lang="pt-BR" dirty="0" smtClean="0"/>
              <a:t>Com </a:t>
            </a:r>
            <a:r>
              <a:rPr lang="pt-BR" dirty="0"/>
              <a:t>fio: fibra ótica</a:t>
            </a:r>
          </a:p>
          <a:p>
            <a:pPr lvl="1"/>
            <a:r>
              <a:rPr lang="pt-BR" dirty="0" smtClean="0"/>
              <a:t>Sem </a:t>
            </a:r>
            <a:r>
              <a:rPr lang="pt-BR" dirty="0"/>
              <a:t>fio: novos protocolos e velocidades mais altas.</a:t>
            </a:r>
          </a:p>
          <a:p>
            <a:r>
              <a:rPr lang="pt-BR" dirty="0" smtClean="0"/>
              <a:t>Dois cenários:</a:t>
            </a:r>
            <a:endParaRPr lang="pt-BR" dirty="0"/>
          </a:p>
          <a:p>
            <a:pPr lvl="1"/>
            <a:r>
              <a:rPr lang="pt-BR" dirty="0" smtClean="0"/>
              <a:t>Realidade </a:t>
            </a:r>
            <a:r>
              <a:rPr lang="pt-BR" dirty="0"/>
              <a:t>Virtual: Não importa onde o computador esteja</a:t>
            </a:r>
          </a:p>
          <a:p>
            <a:pPr lvl="1"/>
            <a:r>
              <a:rPr lang="pt-BR" dirty="0" smtClean="0"/>
              <a:t>Computação </a:t>
            </a:r>
            <a:r>
              <a:rPr lang="pt-BR" dirty="0"/>
              <a:t>Ubíqua: Não importa onde você esteja.</a:t>
            </a:r>
          </a:p>
        </p:txBody>
      </p:sp>
    </p:spTree>
    <p:extLst>
      <p:ext uri="{BB962C8B-B14F-4D97-AF65-F5344CB8AC3E}">
        <p14:creationId xmlns:p14="http://schemas.microsoft.com/office/powerpoint/2010/main" val="193983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computação móvel?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Mobilidade x </a:t>
            </a:r>
            <a:r>
              <a:rPr lang="pt-BR" dirty="0" smtClean="0"/>
              <a:t>Comunicação: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08920"/>
            <a:ext cx="8784976" cy="261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420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computação móvel?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Definição:</a:t>
            </a:r>
          </a:p>
          <a:p>
            <a:pPr lvl="1"/>
            <a:r>
              <a:rPr lang="pt-BR" dirty="0" smtClean="0"/>
              <a:t>Acesso </a:t>
            </a:r>
            <a:r>
              <a:rPr lang="pt-BR" dirty="0"/>
              <a:t>à </a:t>
            </a:r>
            <a:r>
              <a:rPr lang="pt-BR" dirty="0" smtClean="0"/>
              <a:t>informação em </a:t>
            </a:r>
            <a:r>
              <a:rPr lang="pt-BR" dirty="0"/>
              <a:t>qualquer lugar, a qualquer </a:t>
            </a:r>
            <a:r>
              <a:rPr lang="pt-BR" dirty="0" smtClean="0"/>
              <a:t>momento.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675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Tendências para os próximos anos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Já existem protótipos de casas inteligentes como </a:t>
            </a:r>
            <a:r>
              <a:rPr lang="pt-BR" dirty="0" smtClean="0"/>
              <a:t>a </a:t>
            </a:r>
            <a:r>
              <a:rPr lang="pt-BR" dirty="0" err="1" smtClean="0"/>
              <a:t>Adaptive</a:t>
            </a:r>
            <a:r>
              <a:rPr lang="pt-BR" dirty="0" smtClean="0"/>
              <a:t> </a:t>
            </a:r>
            <a:r>
              <a:rPr lang="pt-BR" dirty="0" err="1"/>
              <a:t>House</a:t>
            </a:r>
            <a:r>
              <a:rPr lang="pt-BR" dirty="0"/>
              <a:t>, projeto da Geórgia </a:t>
            </a:r>
            <a:r>
              <a:rPr lang="pt-BR" dirty="0" err="1"/>
              <a:t>University</a:t>
            </a:r>
            <a:r>
              <a:rPr lang="pt-BR" dirty="0"/>
              <a:t> que é </a:t>
            </a:r>
            <a:r>
              <a:rPr lang="pt-BR" dirty="0" smtClean="0"/>
              <a:t>capaz de </a:t>
            </a:r>
            <a:r>
              <a:rPr lang="pt-BR" dirty="0"/>
              <a:t>identificar sozinha os hábitos dos moradores </a:t>
            </a:r>
            <a:r>
              <a:rPr lang="pt-BR" dirty="0" smtClean="0"/>
              <a:t>e programar </a:t>
            </a:r>
            <a:r>
              <a:rPr lang="pt-BR" dirty="0"/>
              <a:t>a si mesma para manter os sistemas de luz </a:t>
            </a:r>
            <a:r>
              <a:rPr lang="pt-BR" dirty="0" smtClean="0"/>
              <a:t>e temperatura </a:t>
            </a:r>
            <a:r>
              <a:rPr lang="pt-BR" dirty="0"/>
              <a:t>de acordo com as preferências deles.</a:t>
            </a:r>
          </a:p>
        </p:txBody>
      </p:sp>
    </p:spTree>
    <p:extLst>
      <p:ext uri="{BB962C8B-B14F-4D97-AF65-F5344CB8AC3E}">
        <p14:creationId xmlns:p14="http://schemas.microsoft.com/office/powerpoint/2010/main" val="315376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Tendências para os próximos anos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deve chegar primeiro às nossas residências é </a:t>
            </a:r>
            <a:r>
              <a:rPr lang="pt-BR" dirty="0" smtClean="0"/>
              <a:t>a computação </a:t>
            </a:r>
            <a:r>
              <a:rPr lang="pt-BR" dirty="0"/>
              <a:t>adaptada a objetos </a:t>
            </a:r>
            <a:r>
              <a:rPr lang="pt-BR" dirty="0" smtClean="0"/>
              <a:t>cotidianos (</a:t>
            </a:r>
            <a:r>
              <a:rPr lang="pt-BR" dirty="0" err="1" smtClean="0"/>
              <a:t>Smart</a:t>
            </a:r>
            <a:r>
              <a:rPr lang="pt-BR" dirty="0" smtClean="0"/>
              <a:t>-its).</a:t>
            </a:r>
          </a:p>
          <a:p>
            <a:endParaRPr lang="pt-BR" dirty="0"/>
          </a:p>
          <a:p>
            <a:r>
              <a:rPr lang="pt-BR" dirty="0"/>
              <a:t>O termo </a:t>
            </a:r>
            <a:r>
              <a:rPr lang="pt-BR" dirty="0" err="1"/>
              <a:t>smart</a:t>
            </a:r>
            <a:r>
              <a:rPr lang="pt-BR" dirty="0"/>
              <a:t>-its pode ser traduzido como "</a:t>
            </a:r>
            <a:r>
              <a:rPr lang="pt-BR" dirty="0" smtClean="0"/>
              <a:t>coisas inteligentes</a:t>
            </a:r>
            <a:r>
              <a:rPr lang="pt-BR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03427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sem 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Comunicação móvel ou comunicação fixa de difícil acesso;</a:t>
            </a:r>
          </a:p>
          <a:p>
            <a:r>
              <a:rPr lang="pt-BR" dirty="0" smtClean="0"/>
              <a:t>O </a:t>
            </a:r>
            <a:r>
              <a:rPr lang="pt-BR" dirty="0"/>
              <a:t>meio de transmissão é o ar e a transmissão é </a:t>
            </a:r>
            <a:r>
              <a:rPr lang="pt-BR" dirty="0" smtClean="0"/>
              <a:t>feita através </a:t>
            </a:r>
            <a:r>
              <a:rPr lang="pt-BR" dirty="0"/>
              <a:t>do uso de ondas eletromagnéticas em </a:t>
            </a:r>
            <a:r>
              <a:rPr lang="pt-BR" dirty="0" smtClean="0"/>
              <a:t>alguma frequência </a:t>
            </a:r>
            <a:r>
              <a:rPr lang="pt-BR" dirty="0"/>
              <a:t>determinada;</a:t>
            </a:r>
          </a:p>
          <a:p>
            <a:r>
              <a:rPr lang="pt-BR" dirty="0" smtClean="0"/>
              <a:t>O </a:t>
            </a:r>
            <a:r>
              <a:rPr lang="pt-BR" dirty="0"/>
              <a:t>conjunto das </a:t>
            </a:r>
            <a:r>
              <a:rPr lang="pt-BR" dirty="0" smtClean="0"/>
              <a:t>frequências </a:t>
            </a:r>
            <a:r>
              <a:rPr lang="pt-BR" dirty="0"/>
              <a:t>de transmissão é chamado </a:t>
            </a:r>
            <a:r>
              <a:rPr lang="pt-BR" dirty="0" smtClean="0"/>
              <a:t>de espectro </a:t>
            </a:r>
            <a:r>
              <a:rPr lang="pt-BR" dirty="0"/>
              <a:t>eletromagnético;</a:t>
            </a:r>
          </a:p>
        </p:txBody>
      </p:sp>
    </p:spTree>
    <p:extLst>
      <p:ext uri="{BB962C8B-B14F-4D97-AF65-F5344CB8AC3E}">
        <p14:creationId xmlns:p14="http://schemas.microsoft.com/office/powerpoint/2010/main" val="150692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Dispositivos usados na computação móvel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Existem vários, mas os seguintes segmentos podem </a:t>
            </a:r>
            <a:r>
              <a:rPr lang="pt-BR" dirty="0" smtClean="0"/>
              <a:t>ser identificados</a:t>
            </a:r>
            <a:r>
              <a:rPr lang="pt-BR" dirty="0"/>
              <a:t>:</a:t>
            </a:r>
          </a:p>
          <a:p>
            <a:pPr lvl="1"/>
            <a:r>
              <a:rPr lang="pt-BR" dirty="0" smtClean="0"/>
              <a:t>Notebooks</a:t>
            </a:r>
            <a:r>
              <a:rPr lang="pt-BR" dirty="0"/>
              <a:t>;</a:t>
            </a:r>
          </a:p>
          <a:p>
            <a:pPr lvl="1"/>
            <a:r>
              <a:rPr lang="pt-BR" dirty="0" err="1" smtClean="0"/>
              <a:t>PalmTops</a:t>
            </a:r>
            <a:r>
              <a:rPr lang="pt-BR" dirty="0"/>
              <a:t>;</a:t>
            </a:r>
          </a:p>
          <a:p>
            <a:pPr lvl="1"/>
            <a:r>
              <a:rPr lang="pt-BR" dirty="0" smtClean="0"/>
              <a:t>Telefones </a:t>
            </a:r>
            <a:r>
              <a:rPr lang="pt-BR" dirty="0"/>
              <a:t>celulares;</a:t>
            </a:r>
          </a:p>
          <a:p>
            <a:pPr lvl="1"/>
            <a:r>
              <a:rPr lang="pt-BR" dirty="0" smtClean="0"/>
              <a:t>Sensores</a:t>
            </a:r>
            <a:r>
              <a:rPr lang="pt-BR" dirty="0" smtClean="0"/>
              <a:t>.</a:t>
            </a:r>
          </a:p>
          <a:p>
            <a:pPr lvl="1"/>
            <a:r>
              <a:rPr lang="pt-BR" dirty="0" err="1" smtClean="0"/>
              <a:t>Tablets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tamanho do dispositivo é importante.</a:t>
            </a:r>
          </a:p>
        </p:txBody>
      </p:sp>
    </p:spTree>
    <p:extLst>
      <p:ext uri="{BB962C8B-B14F-4D97-AF65-F5344CB8AC3E}">
        <p14:creationId xmlns:p14="http://schemas.microsoft.com/office/powerpoint/2010/main" val="348293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Infraestruturas </a:t>
            </a:r>
            <a:r>
              <a:rPr lang="pt-BR" dirty="0"/>
              <a:t>usadas na computação móvel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Tipos:</a:t>
            </a:r>
          </a:p>
          <a:p>
            <a:pPr lvl="1"/>
            <a:r>
              <a:rPr lang="pt-BR" dirty="0"/>
              <a:t>Interna x </a:t>
            </a:r>
            <a:r>
              <a:rPr lang="pt-BR" dirty="0" smtClean="0"/>
              <a:t>Externa</a:t>
            </a:r>
          </a:p>
          <a:p>
            <a:pPr lvl="1"/>
            <a:endParaRPr lang="pt-BR" dirty="0"/>
          </a:p>
          <a:p>
            <a:r>
              <a:rPr lang="pt-BR" dirty="0" smtClean="0"/>
              <a:t>Internas:</a:t>
            </a:r>
          </a:p>
          <a:p>
            <a:pPr lvl="1"/>
            <a:r>
              <a:rPr lang="pt-BR" dirty="0"/>
              <a:t>Redes</a:t>
            </a:r>
            <a:r>
              <a:rPr lang="pt-BR" dirty="0" smtClean="0"/>
              <a:t>:</a:t>
            </a:r>
            <a:endParaRPr lang="pt-BR" dirty="0"/>
          </a:p>
          <a:p>
            <a:pPr lvl="2"/>
            <a:r>
              <a:rPr lang="pt-BR" dirty="0" smtClean="0"/>
              <a:t>Rede </a:t>
            </a:r>
            <a:r>
              <a:rPr lang="pt-BR" dirty="0"/>
              <a:t>Local Sem Fio (WLAN)</a:t>
            </a:r>
          </a:p>
          <a:p>
            <a:pPr lvl="2"/>
            <a:r>
              <a:rPr lang="pt-BR" dirty="0" smtClean="0"/>
              <a:t>Rede </a:t>
            </a:r>
            <a:r>
              <a:rPr lang="pt-BR" dirty="0" smtClean="0"/>
              <a:t>Pessoal (WPAN –Wireless </a:t>
            </a:r>
            <a:r>
              <a:rPr lang="pt-BR" dirty="0" err="1" smtClean="0"/>
              <a:t>Personal</a:t>
            </a:r>
            <a:r>
              <a:rPr lang="pt-BR" dirty="0" smtClean="0"/>
              <a:t> </a:t>
            </a:r>
            <a:r>
              <a:rPr lang="pt-BR" dirty="0" err="1" smtClean="0"/>
              <a:t>Area</a:t>
            </a:r>
            <a:r>
              <a:rPr lang="pt-BR" dirty="0" smtClean="0"/>
              <a:t> Network)</a:t>
            </a:r>
            <a:endParaRPr lang="pt-BR" dirty="0" smtClean="0"/>
          </a:p>
          <a:p>
            <a:pPr lvl="1"/>
            <a:r>
              <a:rPr lang="pt-BR" dirty="0"/>
              <a:t>Baseada em:</a:t>
            </a:r>
          </a:p>
          <a:p>
            <a:pPr lvl="2"/>
            <a:r>
              <a:rPr lang="pt-BR" dirty="0" smtClean="0"/>
              <a:t>Rádio</a:t>
            </a:r>
            <a:endParaRPr lang="pt-BR" dirty="0"/>
          </a:p>
          <a:p>
            <a:pPr lvl="2"/>
            <a:r>
              <a:rPr lang="pt-BR" dirty="0" smtClean="0"/>
              <a:t>Infravermelho</a:t>
            </a:r>
            <a:endParaRPr lang="pt-BR" dirty="0"/>
          </a:p>
          <a:p>
            <a:pPr lvl="2"/>
            <a:r>
              <a:rPr lang="pt-BR" dirty="0" smtClean="0"/>
              <a:t>Laser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2726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WLAN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Transmissão por ondas eletromagnéticas. </a:t>
            </a:r>
            <a:r>
              <a:rPr lang="pt-BR" dirty="0" smtClean="0"/>
              <a:t>Várias conexões </a:t>
            </a:r>
            <a:r>
              <a:rPr lang="pt-BR" dirty="0"/>
              <a:t>em um mesmo ambiente. </a:t>
            </a:r>
            <a:r>
              <a:rPr lang="pt-BR" dirty="0" smtClean="0"/>
              <a:t>Frequências diferentes.</a:t>
            </a:r>
          </a:p>
          <a:p>
            <a:r>
              <a:rPr lang="pt-BR" dirty="0" smtClean="0"/>
              <a:t>Padrão </a:t>
            </a:r>
            <a:r>
              <a:rPr lang="pt-BR" dirty="0"/>
              <a:t>802.11 definido pelo IEEE para as redes sem fio;</a:t>
            </a:r>
          </a:p>
          <a:p>
            <a:r>
              <a:rPr lang="pt-BR" dirty="0"/>
              <a:t>Á</a:t>
            </a:r>
            <a:r>
              <a:rPr lang="pt-BR" dirty="0" smtClean="0"/>
              <a:t>rea </a:t>
            </a:r>
            <a:r>
              <a:rPr lang="pt-BR" dirty="0"/>
              <a:t>coberta dividida em células, chamadas de BSA (</a:t>
            </a:r>
            <a:r>
              <a:rPr lang="pt-BR" dirty="0" smtClean="0"/>
              <a:t>Basic Service </a:t>
            </a:r>
            <a:r>
              <a:rPr lang="pt-BR" dirty="0" err="1"/>
              <a:t>Area</a:t>
            </a:r>
            <a:r>
              <a:rPr lang="pt-BR" dirty="0"/>
              <a:t>). </a:t>
            </a:r>
            <a:r>
              <a:rPr lang="pt-BR" dirty="0" smtClean="0"/>
              <a:t>Do a ou n.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971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para comunicação externa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Existem diversas possibilidades</a:t>
            </a:r>
          </a:p>
          <a:p>
            <a:pPr lvl="1"/>
            <a:r>
              <a:rPr lang="pt-BR" dirty="0" smtClean="0"/>
              <a:t>Redes </a:t>
            </a:r>
            <a:r>
              <a:rPr lang="pt-BR" dirty="0"/>
              <a:t>locais sem fio</a:t>
            </a:r>
          </a:p>
          <a:p>
            <a:pPr lvl="1"/>
            <a:r>
              <a:rPr lang="pt-BR" dirty="0" smtClean="0"/>
              <a:t>Redes </a:t>
            </a:r>
            <a:r>
              <a:rPr lang="pt-BR" dirty="0"/>
              <a:t>celulares</a:t>
            </a:r>
          </a:p>
          <a:p>
            <a:pPr lvl="1"/>
            <a:r>
              <a:rPr lang="pt-BR" dirty="0" smtClean="0"/>
              <a:t>Satélites</a:t>
            </a:r>
          </a:p>
          <a:p>
            <a:pPr lvl="1"/>
            <a:endParaRPr lang="pt-BR" dirty="0"/>
          </a:p>
          <a:p>
            <a:r>
              <a:rPr lang="pt-BR" dirty="0"/>
              <a:t>O problema da cobertura</a:t>
            </a:r>
          </a:p>
          <a:p>
            <a:pPr lvl="1"/>
            <a:r>
              <a:rPr lang="pt-BR" dirty="0" smtClean="0"/>
              <a:t>Independente </a:t>
            </a:r>
            <a:r>
              <a:rPr lang="pt-BR" dirty="0"/>
              <a:t>da </a:t>
            </a:r>
            <a:r>
              <a:rPr lang="pt-BR" dirty="0" smtClean="0"/>
              <a:t>infraestrutura </a:t>
            </a:r>
            <a:r>
              <a:rPr lang="pt-BR" dirty="0"/>
              <a:t>de comunicação</a:t>
            </a:r>
          </a:p>
          <a:p>
            <a:pPr lvl="1"/>
            <a:r>
              <a:rPr lang="pt-BR" dirty="0" smtClean="0"/>
              <a:t>Satélites </a:t>
            </a:r>
            <a:r>
              <a:rPr lang="pt-BR" dirty="0"/>
              <a:t>tendem a ter uma cobertura maior</a:t>
            </a:r>
          </a:p>
          <a:p>
            <a:pPr lvl="1"/>
            <a:r>
              <a:rPr lang="pt-BR" dirty="0" smtClean="0"/>
              <a:t>Celulares </a:t>
            </a:r>
            <a:r>
              <a:rPr lang="pt-BR" dirty="0"/>
              <a:t>restritos a regiões metropolitanas.</a:t>
            </a:r>
          </a:p>
        </p:txBody>
      </p:sp>
    </p:spTree>
    <p:extLst>
      <p:ext uri="{BB962C8B-B14F-4D97-AF65-F5344CB8AC3E}">
        <p14:creationId xmlns:p14="http://schemas.microsoft.com/office/powerpoint/2010/main" val="2620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Protocolos 802 sem 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Wi-Fi (802.11);</a:t>
            </a:r>
          </a:p>
          <a:p>
            <a:r>
              <a:rPr lang="pt-BR" dirty="0" err="1" smtClean="0"/>
              <a:t>Wi</a:t>
            </a:r>
            <a:r>
              <a:rPr lang="pt-BR" dirty="0" smtClean="0"/>
              <a:t>-Max </a:t>
            </a:r>
            <a:r>
              <a:rPr lang="pt-BR" dirty="0"/>
              <a:t>(802.16);</a:t>
            </a:r>
          </a:p>
          <a:p>
            <a:r>
              <a:rPr lang="pt-BR" dirty="0" smtClean="0"/>
              <a:t>Bluetooth </a:t>
            </a:r>
            <a:r>
              <a:rPr lang="pt-BR" dirty="0"/>
              <a:t>(802.15).</a:t>
            </a:r>
          </a:p>
        </p:txBody>
      </p:sp>
    </p:spTree>
    <p:extLst>
      <p:ext uri="{BB962C8B-B14F-4D97-AF65-F5344CB8AC3E}">
        <p14:creationId xmlns:p14="http://schemas.microsoft.com/office/powerpoint/2010/main" val="101809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802.11 – Wi-Fi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Funciona na presença (a) ou ausência (b) de uma </a:t>
            </a:r>
            <a:r>
              <a:rPr lang="pt-BR" dirty="0" smtClean="0"/>
              <a:t>estação base.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sz="1800" dirty="0" smtClean="0"/>
              <a:t>(a) Rede </a:t>
            </a:r>
            <a:r>
              <a:rPr lang="pt-BR" sz="1800" dirty="0"/>
              <a:t>sem fio com uma estação-base. (b) Rede </a:t>
            </a:r>
            <a:r>
              <a:rPr lang="pt-BR" sz="1800" i="1" dirty="0"/>
              <a:t>ad hoc</a:t>
            </a:r>
            <a:endParaRPr lang="pt-BR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971307" cy="2799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35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Redes sem fio de Banda Larga (802.16)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Wi</a:t>
            </a:r>
            <a:r>
              <a:rPr lang="pt-BR" dirty="0" smtClean="0"/>
              <a:t>-Max</a:t>
            </a:r>
          </a:p>
          <a:p>
            <a:endParaRPr lang="pt-BR" dirty="0" smtClean="0"/>
          </a:p>
          <a:p>
            <a:r>
              <a:rPr lang="pt-BR" dirty="0" smtClean="0"/>
              <a:t>Grande </a:t>
            </a:r>
            <a:r>
              <a:rPr lang="pt-BR" dirty="0"/>
              <a:t>demanda por serviços de alta taxa de </a:t>
            </a:r>
            <a:r>
              <a:rPr lang="pt-BR" dirty="0" smtClean="0"/>
              <a:t>transmissão e </a:t>
            </a:r>
            <a:r>
              <a:rPr lang="pt-BR" dirty="0"/>
              <a:t>os custo de passagem de fios são proibitivos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Atinge grandes distâncias (Km).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281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Bluetooth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Comunicação entre dispositivos de computação </a:t>
            </a:r>
            <a:r>
              <a:rPr lang="pt-BR" dirty="0" smtClean="0"/>
              <a:t>e acessórios </a:t>
            </a:r>
            <a:r>
              <a:rPr lang="pt-BR" dirty="0"/>
              <a:t>sem fio com curto alcance, baixo potência </a:t>
            </a:r>
            <a:r>
              <a:rPr lang="pt-BR" dirty="0" smtClean="0"/>
              <a:t>e baixo </a:t>
            </a:r>
            <a:r>
              <a:rPr lang="pt-BR" dirty="0"/>
              <a:t>custo;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939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 do Bluetooth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Acesso </a:t>
            </a:r>
            <a:r>
              <a:rPr lang="pt-BR" dirty="0"/>
              <a:t>de LAN</a:t>
            </a:r>
          </a:p>
          <a:p>
            <a:r>
              <a:rPr lang="pt-BR" dirty="0" smtClean="0"/>
              <a:t>Fax</a:t>
            </a:r>
            <a:endParaRPr lang="pt-BR" dirty="0"/>
          </a:p>
          <a:p>
            <a:r>
              <a:rPr lang="pt-BR" dirty="0" smtClean="0"/>
              <a:t>Telefonia </a:t>
            </a:r>
            <a:r>
              <a:rPr lang="pt-BR" dirty="0"/>
              <a:t>sem fio</a:t>
            </a:r>
          </a:p>
          <a:p>
            <a:r>
              <a:rPr lang="pt-BR" dirty="0" smtClean="0"/>
              <a:t>Fone </a:t>
            </a:r>
            <a:r>
              <a:rPr lang="pt-BR" dirty="0"/>
              <a:t>de ouvido</a:t>
            </a:r>
          </a:p>
          <a:p>
            <a:r>
              <a:rPr lang="pt-BR" dirty="0" smtClean="0"/>
              <a:t>Transferência </a:t>
            </a:r>
            <a:r>
              <a:rPr lang="pt-BR" dirty="0"/>
              <a:t>de arquivos, etc.</a:t>
            </a:r>
          </a:p>
        </p:txBody>
      </p:sp>
    </p:spTree>
    <p:extLst>
      <p:ext uri="{BB962C8B-B14F-4D97-AF65-F5344CB8AC3E}">
        <p14:creationId xmlns:p14="http://schemas.microsoft.com/office/powerpoint/2010/main" val="4185380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Telefonia Celular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Três gerações distintas:</a:t>
            </a:r>
          </a:p>
          <a:p>
            <a:pPr lvl="1"/>
            <a:r>
              <a:rPr lang="pt-BR" dirty="0" smtClean="0"/>
              <a:t>Voz </a:t>
            </a:r>
            <a:r>
              <a:rPr lang="pt-BR" dirty="0"/>
              <a:t>analógica;</a:t>
            </a:r>
          </a:p>
          <a:p>
            <a:pPr lvl="1"/>
            <a:r>
              <a:rPr lang="pt-BR" dirty="0" smtClean="0"/>
              <a:t>Voz </a:t>
            </a:r>
            <a:r>
              <a:rPr lang="pt-BR" dirty="0"/>
              <a:t>digital</a:t>
            </a:r>
          </a:p>
          <a:p>
            <a:pPr lvl="1"/>
            <a:r>
              <a:rPr lang="pt-BR" dirty="0" smtClean="0"/>
              <a:t>Voz </a:t>
            </a:r>
            <a:r>
              <a:rPr lang="pt-BR" dirty="0"/>
              <a:t>digital e dados (Internet, correio eletrônico etc.);</a:t>
            </a:r>
          </a:p>
        </p:txBody>
      </p:sp>
    </p:spTree>
    <p:extLst>
      <p:ext uri="{BB962C8B-B14F-4D97-AF65-F5344CB8AC3E}">
        <p14:creationId xmlns:p14="http://schemas.microsoft.com/office/powerpoint/2010/main" val="1663632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Telefonia </a:t>
            </a:r>
            <a:r>
              <a:rPr lang="pt-BR" dirty="0" smtClean="0"/>
              <a:t>Celular – 1G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Transmissão de dados analógica</a:t>
            </a:r>
          </a:p>
          <a:p>
            <a:endParaRPr lang="pt-BR" dirty="0" smtClean="0"/>
          </a:p>
          <a:p>
            <a:r>
              <a:rPr lang="pt-BR" dirty="0" smtClean="0"/>
              <a:t>Taxa</a:t>
            </a:r>
            <a:r>
              <a:rPr lang="pt-BR" dirty="0"/>
              <a:t>: 9600 </a:t>
            </a:r>
            <a:r>
              <a:rPr lang="pt-BR" dirty="0" err="1" smtClean="0"/>
              <a:t>bps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Região </a:t>
            </a:r>
            <a:r>
              <a:rPr lang="pt-BR" dirty="0"/>
              <a:t>geográfica dividida em células com 10 a </a:t>
            </a:r>
            <a:r>
              <a:rPr lang="pt-BR" dirty="0" smtClean="0"/>
              <a:t>20km.</a:t>
            </a:r>
          </a:p>
          <a:p>
            <a:endParaRPr lang="pt-BR" dirty="0" smtClean="0"/>
          </a:p>
          <a:p>
            <a:r>
              <a:rPr lang="pt-BR" dirty="0" smtClean="0"/>
              <a:t>Estações </a:t>
            </a:r>
            <a:r>
              <a:rPr lang="pt-BR" dirty="0"/>
              <a:t>base – equipamentos que se comunicam com </a:t>
            </a:r>
            <a:r>
              <a:rPr lang="pt-BR" dirty="0" smtClean="0"/>
              <a:t>as antenas</a:t>
            </a:r>
            <a:r>
              <a:rPr lang="pt-BR" dirty="0"/>
              <a:t>;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39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Telefonia Celular – 1G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Handoff</a:t>
            </a:r>
            <a:r>
              <a:rPr lang="pt-BR" dirty="0"/>
              <a:t> – mudança de uma ligação entre células, dura </a:t>
            </a:r>
            <a:r>
              <a:rPr lang="pt-BR" dirty="0" smtClean="0"/>
              <a:t>300 </a:t>
            </a:r>
            <a:r>
              <a:rPr lang="pt-BR" dirty="0" err="1" smtClean="0"/>
              <a:t>ms</a:t>
            </a:r>
            <a:r>
              <a:rPr lang="pt-BR" dirty="0"/>
              <a:t>, pode ser soft (conecta na outra célula antes </a:t>
            </a:r>
            <a:r>
              <a:rPr lang="pt-BR" dirty="0" smtClean="0"/>
              <a:t>de derrubar </a:t>
            </a:r>
            <a:r>
              <a:rPr lang="pt-BR" dirty="0"/>
              <a:t>conexão anterior) ou hard (desconecta antes </a:t>
            </a:r>
            <a:r>
              <a:rPr lang="pt-BR" dirty="0" smtClean="0"/>
              <a:t>de reconectar</a:t>
            </a:r>
            <a:r>
              <a:rPr lang="pt-BR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1627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Telefones móveis </a:t>
            </a:r>
            <a:r>
              <a:rPr lang="pt-BR" dirty="0" smtClean="0"/>
              <a:t>2G e 2.5G: </a:t>
            </a:r>
            <a:r>
              <a:rPr lang="pt-BR" dirty="0"/>
              <a:t>voz digital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Transmissão de dados digital </a:t>
            </a:r>
          </a:p>
          <a:p>
            <a:r>
              <a:rPr lang="pt-BR" dirty="0"/>
              <a:t>Taxa: 9 600 a 14 400 </a:t>
            </a:r>
            <a:r>
              <a:rPr lang="pt-BR" dirty="0" err="1"/>
              <a:t>bps</a:t>
            </a:r>
            <a:endParaRPr lang="pt-BR" dirty="0"/>
          </a:p>
          <a:p>
            <a:r>
              <a:rPr lang="pt-BR" dirty="0"/>
              <a:t>Objetivo é suportar o padrão </a:t>
            </a:r>
            <a:r>
              <a:rPr lang="pt-BR" dirty="0" smtClean="0"/>
              <a:t>WAP (Protocolo para aplicações sem fio).</a:t>
            </a:r>
            <a:endParaRPr lang="pt-BR" dirty="0" smtClean="0"/>
          </a:p>
          <a:p>
            <a:endParaRPr lang="pt-BR" dirty="0"/>
          </a:p>
          <a:p>
            <a:r>
              <a:rPr lang="pt-BR" dirty="0"/>
              <a:t>Telefonia Móvel </a:t>
            </a:r>
            <a:r>
              <a:rPr lang="pt-BR" dirty="0" smtClean="0"/>
              <a:t>2.5G</a:t>
            </a:r>
          </a:p>
          <a:p>
            <a:pPr lvl="1"/>
            <a:r>
              <a:rPr lang="pt-BR" dirty="0"/>
              <a:t>Solução intermediária para os celulares </a:t>
            </a:r>
            <a:r>
              <a:rPr lang="pt-BR" dirty="0" smtClean="0"/>
              <a:t>3G </a:t>
            </a:r>
            <a:r>
              <a:rPr lang="pt-BR" dirty="0"/>
              <a:t>até 324 </a:t>
            </a:r>
            <a:r>
              <a:rPr lang="pt-BR" dirty="0" err="1"/>
              <a:t>kbps</a:t>
            </a:r>
            <a:r>
              <a:rPr lang="pt-BR" dirty="0"/>
              <a:t> </a:t>
            </a:r>
            <a:r>
              <a:rPr lang="pt-BR" dirty="0" smtClean="0"/>
              <a:t>teórica.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1149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Telefones móveis 3G: voz e dados digitais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Transmissão de voz de alta qualidade;</a:t>
            </a:r>
          </a:p>
          <a:p>
            <a:r>
              <a:rPr lang="pt-BR" dirty="0" smtClean="0"/>
              <a:t>Serviço </a:t>
            </a:r>
            <a:r>
              <a:rPr lang="pt-BR" dirty="0"/>
              <a:t>de mensagens;</a:t>
            </a:r>
          </a:p>
          <a:p>
            <a:r>
              <a:rPr lang="pt-BR" dirty="0" smtClean="0"/>
              <a:t>Multimídia</a:t>
            </a:r>
            <a:endParaRPr lang="pt-BR" dirty="0"/>
          </a:p>
          <a:p>
            <a:r>
              <a:rPr lang="pt-BR" dirty="0" smtClean="0"/>
              <a:t>Acesso </a:t>
            </a:r>
            <a:r>
              <a:rPr lang="pt-BR" dirty="0"/>
              <a:t>à Internet</a:t>
            </a:r>
            <a:r>
              <a:rPr lang="pt-BR" dirty="0" smtClean="0"/>
              <a:t>;</a:t>
            </a:r>
          </a:p>
          <a:p>
            <a:r>
              <a:rPr lang="pt-BR" dirty="0"/>
              <a:t>Disponibilizar aplicações até 2 Mbps </a:t>
            </a:r>
            <a:r>
              <a:rPr lang="pt-BR" dirty="0" smtClean="0"/>
              <a:t>teoricamente.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854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Telefones móveis </a:t>
            </a:r>
            <a:r>
              <a:rPr lang="pt-BR" dirty="0" smtClean="0"/>
              <a:t>4G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pt-BR" sz="3200" dirty="0"/>
              <a:t>Rodar tudo sobre IP</a:t>
            </a:r>
          </a:p>
          <a:p>
            <a:endParaRPr lang="pt-BR" dirty="0" smtClean="0"/>
          </a:p>
          <a:p>
            <a:r>
              <a:rPr lang="pt-BR" dirty="0" smtClean="0"/>
              <a:t>IP móvel:</a:t>
            </a:r>
          </a:p>
          <a:p>
            <a:pPr lvl="1"/>
            <a:r>
              <a:rPr lang="pt-BR" dirty="0"/>
              <a:t>Habilita computadores a manterem conexão com </a:t>
            </a:r>
            <a:r>
              <a:rPr lang="pt-BR" dirty="0" smtClean="0"/>
              <a:t>a Internet </a:t>
            </a:r>
            <a:r>
              <a:rPr lang="pt-BR" dirty="0"/>
              <a:t>quando se movem de um ponto de acesso a </a:t>
            </a:r>
            <a:r>
              <a:rPr lang="pt-BR" dirty="0" smtClean="0"/>
              <a:t>outro.</a:t>
            </a:r>
          </a:p>
          <a:p>
            <a:pPr lvl="1"/>
            <a:r>
              <a:rPr lang="pt-BR" dirty="0"/>
              <a:t>O nó </a:t>
            </a:r>
            <a:r>
              <a:rPr lang="pt-BR" dirty="0" smtClean="0"/>
              <a:t>móvel pode </a:t>
            </a:r>
            <a:r>
              <a:rPr lang="pt-BR" dirty="0"/>
              <a:t>se mover para outra rede – </a:t>
            </a:r>
            <a:r>
              <a:rPr lang="pt-BR" i="1" dirty="0" err="1"/>
              <a:t>foreign</a:t>
            </a:r>
            <a:r>
              <a:rPr lang="pt-BR" i="1" dirty="0"/>
              <a:t> </a:t>
            </a:r>
            <a:r>
              <a:rPr lang="pt-BR" i="1" dirty="0" smtClean="0"/>
              <a:t>network.</a:t>
            </a:r>
          </a:p>
          <a:p>
            <a:pPr lvl="1"/>
            <a:r>
              <a:rPr lang="pt-BR" dirty="0"/>
              <a:t>O nó móvel se registra com um nó da rede visitada </a:t>
            </a:r>
            <a:r>
              <a:rPr lang="pt-BR" dirty="0" smtClean="0"/>
              <a:t>–</a:t>
            </a:r>
            <a:r>
              <a:rPr lang="pt-BR" i="1" dirty="0" err="1" smtClean="0"/>
              <a:t>foreign</a:t>
            </a:r>
            <a:r>
              <a:rPr lang="pt-BR" i="1" dirty="0" smtClean="0"/>
              <a:t> </a:t>
            </a:r>
            <a:r>
              <a:rPr lang="pt-BR" i="1" dirty="0" err="1" smtClean="0"/>
              <a:t>agent</a:t>
            </a:r>
            <a:r>
              <a:rPr lang="pt-BR" i="1" dirty="0" smtClean="0"/>
              <a:t>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82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TANENBAUM, Andrew S. Redes de Computadores. 4ª Edição: Campus, 2003</a:t>
            </a:r>
          </a:p>
        </p:txBody>
      </p:sp>
    </p:spTree>
    <p:extLst>
      <p:ext uri="{BB962C8B-B14F-4D97-AF65-F5344CB8AC3E}">
        <p14:creationId xmlns:p14="http://schemas.microsoft.com/office/powerpoint/2010/main" val="4070736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862</Words>
  <Application>Microsoft Office PowerPoint</Application>
  <PresentationFormat>Apresentação na tela (4:3)</PresentationFormat>
  <Paragraphs>133</Paragraphs>
  <Slides>25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Tema do Office</vt:lpstr>
      <vt:lpstr>Computação Móvel</vt:lpstr>
      <vt:lpstr>Introdução</vt:lpstr>
      <vt:lpstr>Histórico da comunicação sem fio (século XX)</vt:lpstr>
      <vt:lpstr>Observações sobre comunicação com/sem fio</vt:lpstr>
      <vt:lpstr>O que é computação móvel?</vt:lpstr>
      <vt:lpstr>O que é computação móvel?</vt:lpstr>
      <vt:lpstr>Tendências para os próximos anos</vt:lpstr>
      <vt:lpstr>Tendências para os próximos anos</vt:lpstr>
      <vt:lpstr>Transmissão sem Fio</vt:lpstr>
      <vt:lpstr>Dispositivos usados na computação móvel</vt:lpstr>
      <vt:lpstr>Infraestruturas usadas na computação móvel</vt:lpstr>
      <vt:lpstr>WLAN</vt:lpstr>
      <vt:lpstr>Solução para comunicação externa</vt:lpstr>
      <vt:lpstr>Protocolos 802 sem fio</vt:lpstr>
      <vt:lpstr>802.11 – Wi-Fi</vt:lpstr>
      <vt:lpstr>Redes sem fio de Banda Larga (802.16)</vt:lpstr>
      <vt:lpstr>Bluetooth</vt:lpstr>
      <vt:lpstr>Aplicações do Bluetooth</vt:lpstr>
      <vt:lpstr>Telefonia Celular</vt:lpstr>
      <vt:lpstr>Telefonia Celular – 1G</vt:lpstr>
      <vt:lpstr>Telefonia Celular – 1G</vt:lpstr>
      <vt:lpstr>Telefones móveis 2G e 2.5G: voz digital</vt:lpstr>
      <vt:lpstr>Telefones móveis 3G: voz e dados digitais</vt:lpstr>
      <vt:lpstr>Telefones móveis 4G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271</cp:revision>
  <dcterms:created xsi:type="dcterms:W3CDTF">2010-09-29T10:48:05Z</dcterms:created>
  <dcterms:modified xsi:type="dcterms:W3CDTF">2011-12-01T16:20:35Z</dcterms:modified>
</cp:coreProperties>
</file>