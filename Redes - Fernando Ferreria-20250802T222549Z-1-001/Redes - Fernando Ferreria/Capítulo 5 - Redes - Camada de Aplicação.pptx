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01" r:id="rId3"/>
    <p:sldId id="302" r:id="rId4"/>
    <p:sldId id="303" r:id="rId5"/>
    <p:sldId id="304" r:id="rId6"/>
    <p:sldId id="316" r:id="rId7"/>
    <p:sldId id="315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7" r:id="rId19"/>
    <p:sldId id="318" r:id="rId20"/>
    <p:sldId id="320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9" r:id="rId33"/>
    <p:sldId id="333" r:id="rId34"/>
    <p:sldId id="334" r:id="rId35"/>
    <p:sldId id="335" r:id="rId36"/>
    <p:sldId id="336" r:id="rId37"/>
    <p:sldId id="337" r:id="rId38"/>
    <p:sldId id="338" r:id="rId39"/>
    <p:sldId id="340" r:id="rId4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66" autoAdjust="0"/>
  </p:normalViewPr>
  <p:slideViewPr>
    <p:cSldViewPr>
      <p:cViewPr varScale="1">
        <p:scale>
          <a:sx n="86" d="100"/>
          <a:sy n="86" d="100"/>
        </p:scale>
        <p:origin x="-10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D1F0C-26CA-45B0-AA53-D774CF8B2FBC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5D10-1F63-4199-9259-EB0FB5FA98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3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333375"/>
            <a:ext cx="7696200" cy="10668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762000" y="1773238"/>
            <a:ext cx="3771900" cy="475138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86300" y="1773238"/>
            <a:ext cx="3771900" cy="475138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C85FA-21E9-4ED0-8403-D42B0FFE05B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26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Camada de Aplicação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Henrique Batista da Silva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388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066800" y="228600"/>
            <a:ext cx="7924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>
              <a:lnSpc>
                <a:spcPct val="140000"/>
              </a:lnSpc>
              <a:defRPr/>
            </a:pPr>
            <a:r>
              <a:rPr lang="pt-BR" sz="4400" dirty="0"/>
              <a:t>Modelo de </a:t>
            </a:r>
            <a:r>
              <a:rPr lang="pt-BR" sz="4400" dirty="0" smtClean="0"/>
              <a:t>referência</a:t>
            </a:r>
            <a:endParaRPr lang="pt-BR" sz="4400" dirty="0">
              <a:latin typeface="+mj-lt"/>
            </a:endParaRP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3012926" y="267464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transporte</a:t>
            </a:r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3012926" y="2060848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rgbClr val="FFFF00"/>
                </a:solidFill>
                <a:latin typeface="Arial" charset="0"/>
              </a:rPr>
              <a:t>Camada de aplicação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15368" name="Rectangle 9"/>
          <p:cNvSpPr>
            <a:spLocks noChangeArrowheads="1"/>
          </p:cNvSpPr>
          <p:nvPr/>
        </p:nvSpPr>
        <p:spPr bwMode="auto">
          <a:xfrm>
            <a:off x="3012926" y="328424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rede</a:t>
            </a: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3012926" y="389384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enlace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3012926" y="450912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</a:t>
            </a:r>
            <a:r>
              <a:rPr lang="pt-BR" dirty="0" smtClean="0">
                <a:solidFill>
                  <a:schemeClr val="bg1"/>
                </a:solidFill>
                <a:latin typeface="Arial" charset="0"/>
              </a:rPr>
              <a:t>Física</a:t>
            </a:r>
            <a:endParaRPr lang="pt-BR" dirty="0">
              <a:solidFill>
                <a:schemeClr val="bg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760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Utilizada pelos programas (aplicações) para se comunicarem pela rede.</a:t>
            </a:r>
          </a:p>
          <a:p>
            <a:endParaRPr lang="pt-BR" dirty="0"/>
          </a:p>
          <a:p>
            <a:r>
              <a:rPr lang="pt-BR" dirty="0"/>
              <a:t>Acima da camada de transporte. Contém os protocolos de níveis mais </a:t>
            </a:r>
            <a:r>
              <a:rPr lang="pt-BR" dirty="0" smtClean="0"/>
              <a:t>altos: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32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DNS (Domain </a:t>
            </a:r>
            <a:r>
              <a:rPr lang="pt-BR" dirty="0" err="1" smtClean="0"/>
              <a:t>Name</a:t>
            </a:r>
            <a:r>
              <a:rPr lang="pt-BR" dirty="0" smtClean="0"/>
              <a:t> System)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É </a:t>
            </a:r>
            <a:r>
              <a:rPr lang="pt-BR" dirty="0"/>
              <a:t>um sistema de gerenciamento de nomes hierárquicos e </a:t>
            </a:r>
            <a:r>
              <a:rPr lang="pt-BR" dirty="0" smtClean="0"/>
              <a:t>distribuído.</a:t>
            </a:r>
          </a:p>
          <a:p>
            <a:endParaRPr lang="pt-BR" dirty="0"/>
          </a:p>
          <a:p>
            <a:r>
              <a:rPr lang="pt-BR" dirty="0"/>
              <a:t>Toda comunicação entre computadores e demais equipamentos de uma rede baseada no protocolo TCP/IP é realizada através do número IP.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464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9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5875" algn="l"/>
                <a:tab pos="8083550" algn="l"/>
                <a:tab pos="8532813" algn="l"/>
                <a:tab pos="8982075" algn="l"/>
              </a:tabLst>
            </a:pPr>
            <a:r>
              <a:rPr lang="pt-BR" dirty="0" smtClean="0"/>
              <a:t>Não </a:t>
            </a:r>
            <a:r>
              <a:rPr lang="pt-BR" dirty="0"/>
              <a:t>seria nada produtivo se os usuários tivessem que decorar um número IP toda vez que quisessem acessar um recurso da </a:t>
            </a:r>
            <a:r>
              <a:rPr lang="pt-BR" dirty="0" smtClean="0"/>
              <a:t>rede.</a:t>
            </a:r>
          </a:p>
          <a:p>
            <a:pPr>
              <a:lnSpc>
                <a:spcPct val="89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5875" algn="l"/>
                <a:tab pos="8083550" algn="l"/>
                <a:tab pos="8532813" algn="l"/>
                <a:tab pos="8982075" algn="l"/>
              </a:tabLst>
            </a:pPr>
            <a:endParaRPr lang="pt-BR" dirty="0"/>
          </a:p>
          <a:p>
            <a:pPr>
              <a:lnSpc>
                <a:spcPct val="89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5875" algn="l"/>
                <a:tab pos="8083550" algn="l"/>
                <a:tab pos="8532813" algn="l"/>
                <a:tab pos="8982075" algn="l"/>
              </a:tabLst>
            </a:pPr>
            <a:r>
              <a:rPr lang="pt-BR" dirty="0"/>
              <a:t>“Resolver um nome”: descobrir e retornar o número IP associado com o </a:t>
            </a:r>
            <a:r>
              <a:rPr lang="pt-BR" dirty="0" smtClean="0"/>
              <a:t>nome.</a:t>
            </a:r>
            <a:r>
              <a:rPr lang="pt-BR" b="1" dirty="0" smtClean="0"/>
              <a:t> 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042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Existem dois tipos de domínios de nível superior: genéricos e de países.</a:t>
            </a:r>
          </a:p>
          <a:p>
            <a:pPr lvl="1"/>
            <a:r>
              <a:rPr lang="pt-BR" dirty="0" smtClean="0"/>
              <a:t>Genéricos: </a:t>
            </a:r>
            <a:r>
              <a:rPr lang="pt-BR" i="1" dirty="0" smtClean="0"/>
              <a:t>com</a:t>
            </a:r>
            <a:r>
              <a:rPr lang="pt-BR" dirty="0" smtClean="0"/>
              <a:t> (comercial), </a:t>
            </a:r>
            <a:r>
              <a:rPr lang="pt-BR" i="1" dirty="0" err="1" smtClean="0"/>
              <a:t>edu</a:t>
            </a:r>
            <a:r>
              <a:rPr lang="pt-BR" dirty="0" smtClean="0"/>
              <a:t> (instituições educacionais), </a:t>
            </a:r>
            <a:r>
              <a:rPr lang="pt-BR" i="1" dirty="0" err="1" smtClean="0"/>
              <a:t>gov</a:t>
            </a:r>
            <a:r>
              <a:rPr lang="pt-BR" dirty="0" smtClean="0"/>
              <a:t> (instituições governamentais), etc. </a:t>
            </a:r>
          </a:p>
          <a:p>
            <a:pPr lvl="1"/>
            <a:r>
              <a:rPr lang="pt-BR" dirty="0" smtClean="0"/>
              <a:t>Países: incluem uma entrada para cada país, </a:t>
            </a:r>
            <a:r>
              <a:rPr lang="pt-BR" i="1" dirty="0" err="1" smtClean="0"/>
              <a:t>br</a:t>
            </a:r>
            <a:r>
              <a:rPr lang="pt-BR" dirty="0" smtClean="0"/>
              <a:t>, </a:t>
            </a:r>
            <a:r>
              <a:rPr lang="pt-BR" i="1" dirty="0" err="1" smtClean="0"/>
              <a:t>jp</a:t>
            </a:r>
            <a:r>
              <a:rPr lang="pt-BR" dirty="0" smtClean="0"/>
              <a:t>, it, etc.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026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52735"/>
          </a:xfrm>
        </p:spPr>
        <p:txBody>
          <a:bodyPr/>
          <a:lstStyle/>
          <a:p>
            <a:r>
              <a:rPr lang="pt-BR" dirty="0" smtClean="0"/>
              <a:t>O espaço de nomes na Internet.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708920"/>
            <a:ext cx="8458200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381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1908175" y="2349500"/>
          <a:ext cx="4824413" cy="429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VISIO" r:id="rId3" imgW="7111080" imgH="6327360" progId="Visio.Drawing.4">
                  <p:embed/>
                </p:oleObj>
              </mc:Choice>
              <mc:Fallback>
                <p:oleObj name="VISIO" r:id="rId3" imgW="7111080" imgH="632736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49500"/>
                        <a:ext cx="4824413" cy="429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/>
              <a:t>Elementos que compõem o DNS</a:t>
            </a:r>
          </a:p>
        </p:txBody>
      </p:sp>
      <p:sp>
        <p:nvSpPr>
          <p:cNvPr id="1028" name="Oval 4"/>
          <p:cNvSpPr>
            <a:spLocks noChangeArrowheads="1"/>
          </p:cNvSpPr>
          <p:nvPr/>
        </p:nvSpPr>
        <p:spPr bwMode="auto">
          <a:xfrm>
            <a:off x="3851275" y="2133600"/>
            <a:ext cx="1225550" cy="719138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H="1" flipV="1">
            <a:off x="5148263" y="2565400"/>
            <a:ext cx="1655762" cy="16557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795963" y="4221163"/>
            <a:ext cx="208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/>
              <a:t>Domínio “.”</a:t>
            </a:r>
          </a:p>
        </p:txBody>
      </p:sp>
    </p:spTree>
    <p:extLst>
      <p:ext uri="{BB962C8B-B14F-4D97-AF65-F5344CB8AC3E}">
        <p14:creationId xmlns:p14="http://schemas.microsoft.com/office/powerpoint/2010/main" val="81301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Oval 9"/>
          <p:cNvSpPr>
            <a:spLocks noChangeArrowheads="1"/>
          </p:cNvSpPr>
          <p:nvPr/>
        </p:nvSpPr>
        <p:spPr bwMode="auto">
          <a:xfrm>
            <a:off x="2051050" y="2781300"/>
            <a:ext cx="4968875" cy="719138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053" name="Line 10"/>
          <p:cNvSpPr>
            <a:spLocks noChangeShapeType="1"/>
          </p:cNvSpPr>
          <p:nvPr/>
        </p:nvSpPr>
        <p:spPr bwMode="auto">
          <a:xfrm flipH="1" flipV="1">
            <a:off x="5651500" y="3500438"/>
            <a:ext cx="1152525" cy="720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2054" name="Text Box 11"/>
          <p:cNvSpPr txBox="1">
            <a:spLocks noChangeArrowheads="1"/>
          </p:cNvSpPr>
          <p:nvPr/>
        </p:nvSpPr>
        <p:spPr bwMode="auto">
          <a:xfrm>
            <a:off x="5795963" y="4221163"/>
            <a:ext cx="20875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/>
              <a:t>Domínios “top-level”</a:t>
            </a:r>
          </a:p>
        </p:txBody>
      </p:sp>
      <p:graphicFrame>
        <p:nvGraphicFramePr>
          <p:cNvPr id="2050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1908175" y="2349500"/>
          <a:ext cx="4824413" cy="429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VISIO" r:id="rId3" imgW="7111080" imgH="6327360" progId="Visio.Drawing.4">
                  <p:embed/>
                </p:oleObj>
              </mc:Choice>
              <mc:Fallback>
                <p:oleObj name="VISIO" r:id="rId3" imgW="7111080" imgH="632736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49500"/>
                        <a:ext cx="4824413" cy="429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cap="flat" cmpd="sng" algn="ctr">
                            <a:solidFill>
                              <a:srgbClr val="FF0000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Elementos que compõem o DNS</a:t>
            </a:r>
          </a:p>
        </p:txBody>
      </p:sp>
    </p:spTree>
    <p:extLst>
      <p:ext uri="{BB962C8B-B14F-4D97-AF65-F5344CB8AC3E}">
        <p14:creationId xmlns:p14="http://schemas.microsoft.com/office/powerpoint/2010/main" val="223156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8"/>
          <p:cNvGraphicFramePr>
            <a:graphicFrameLocks noChangeAspect="1"/>
          </p:cNvGraphicFramePr>
          <p:nvPr/>
        </p:nvGraphicFramePr>
        <p:xfrm>
          <a:off x="1908175" y="2349500"/>
          <a:ext cx="4824413" cy="429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VISIO" r:id="rId3" imgW="7111080" imgH="6327360" progId="Visio.Drawing.4">
                  <p:embed/>
                </p:oleObj>
              </mc:Choice>
              <mc:Fallback>
                <p:oleObj name="VISIO" r:id="rId3" imgW="7111080" imgH="632736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49500"/>
                        <a:ext cx="4824413" cy="429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/>
              <a:t>Elementos que compõem o DNS</a:t>
            </a:r>
          </a:p>
        </p:txBody>
      </p:sp>
      <p:sp>
        <p:nvSpPr>
          <p:cNvPr id="3076" name="Oval 5"/>
          <p:cNvSpPr>
            <a:spLocks noChangeArrowheads="1"/>
          </p:cNvSpPr>
          <p:nvPr/>
        </p:nvSpPr>
        <p:spPr bwMode="auto">
          <a:xfrm>
            <a:off x="2051050" y="3357563"/>
            <a:ext cx="2449513" cy="719137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3077" name="Line 6"/>
          <p:cNvSpPr>
            <a:spLocks noChangeShapeType="1"/>
          </p:cNvSpPr>
          <p:nvPr/>
        </p:nvSpPr>
        <p:spPr bwMode="auto">
          <a:xfrm flipH="1" flipV="1">
            <a:off x="4500563" y="3860800"/>
            <a:ext cx="1655762" cy="5762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3078" name="Text Box 7"/>
          <p:cNvSpPr txBox="1">
            <a:spLocks noChangeArrowheads="1"/>
          </p:cNvSpPr>
          <p:nvPr/>
        </p:nvSpPr>
        <p:spPr bwMode="auto">
          <a:xfrm>
            <a:off x="4859338" y="4437063"/>
            <a:ext cx="2879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/>
              <a:t>Subdomínios para cada país</a:t>
            </a:r>
          </a:p>
        </p:txBody>
      </p:sp>
    </p:spTree>
    <p:extLst>
      <p:ext uri="{BB962C8B-B14F-4D97-AF65-F5344CB8AC3E}">
        <p14:creationId xmlns:p14="http://schemas.microsoft.com/office/powerpoint/2010/main" val="36065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Oval 5"/>
          <p:cNvSpPr>
            <a:spLocks noChangeArrowheads="1"/>
          </p:cNvSpPr>
          <p:nvPr/>
        </p:nvSpPr>
        <p:spPr bwMode="auto">
          <a:xfrm>
            <a:off x="2916238" y="4076700"/>
            <a:ext cx="1079500" cy="431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4100" name="Line 6"/>
          <p:cNvSpPr>
            <a:spLocks noChangeShapeType="1"/>
          </p:cNvSpPr>
          <p:nvPr/>
        </p:nvSpPr>
        <p:spPr bwMode="auto">
          <a:xfrm flipH="1" flipV="1">
            <a:off x="4140200" y="4221163"/>
            <a:ext cx="2016125" cy="720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4101" name="Text Box 7"/>
          <p:cNvSpPr txBox="1">
            <a:spLocks noChangeArrowheads="1"/>
          </p:cNvSpPr>
          <p:nvPr/>
        </p:nvSpPr>
        <p:spPr bwMode="auto">
          <a:xfrm>
            <a:off x="4787900" y="486886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/>
              <a:t>Empresa abc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908175" y="2349500"/>
          <a:ext cx="4824413" cy="429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VISIO" r:id="rId3" imgW="7111080" imgH="6327360" progId="Visio.Drawing.4">
                  <p:embed/>
                </p:oleObj>
              </mc:Choice>
              <mc:Fallback>
                <p:oleObj name="VISIO" r:id="rId3" imgW="7111080" imgH="632736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49500"/>
                        <a:ext cx="4824413" cy="429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 smtClean="0"/>
              <a:t>Elementos que compõem o DNS</a:t>
            </a:r>
          </a:p>
        </p:txBody>
      </p:sp>
    </p:spTree>
    <p:extLst>
      <p:ext uri="{BB962C8B-B14F-4D97-AF65-F5344CB8AC3E}">
        <p14:creationId xmlns:p14="http://schemas.microsoft.com/office/powerpoint/2010/main" val="104543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8"/>
          <p:cNvGraphicFramePr>
            <a:graphicFrameLocks noChangeAspect="1"/>
          </p:cNvGraphicFramePr>
          <p:nvPr/>
        </p:nvGraphicFramePr>
        <p:xfrm>
          <a:off x="1908175" y="2349500"/>
          <a:ext cx="4824413" cy="429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7" name="VISIO" r:id="rId3" imgW="7111080" imgH="6327360" progId="Visio.Drawing.4">
                  <p:embed/>
                </p:oleObj>
              </mc:Choice>
              <mc:Fallback>
                <p:oleObj name="VISIO" r:id="rId3" imgW="7111080" imgH="632736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49500"/>
                        <a:ext cx="4824413" cy="429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Oval 4"/>
          <p:cNvSpPr>
            <a:spLocks noChangeArrowheads="1"/>
          </p:cNvSpPr>
          <p:nvPr/>
        </p:nvSpPr>
        <p:spPr bwMode="auto">
          <a:xfrm>
            <a:off x="2627313" y="6237288"/>
            <a:ext cx="1223962" cy="431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924300" y="4941888"/>
            <a:ext cx="2232025" cy="14398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5125" name="Text Box 6"/>
          <p:cNvSpPr txBox="1">
            <a:spLocks noChangeArrowheads="1"/>
          </p:cNvSpPr>
          <p:nvPr/>
        </p:nvSpPr>
        <p:spPr bwMode="auto">
          <a:xfrm>
            <a:off x="4859338" y="4076700"/>
            <a:ext cx="2879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/>
              <a:t>Domínio DNS da empresa ABC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/>
              <a:t>Elementos que compõem o DNS</a:t>
            </a:r>
          </a:p>
        </p:txBody>
      </p:sp>
    </p:spTree>
    <p:extLst>
      <p:ext uri="{BB962C8B-B14F-4D97-AF65-F5344CB8AC3E}">
        <p14:creationId xmlns:p14="http://schemas.microsoft.com/office/powerpoint/2010/main" val="187858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908175" y="2349500"/>
          <a:ext cx="4824413" cy="429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name="VISIO" r:id="rId3" imgW="7111080" imgH="6327360" progId="Visio.Drawing.4">
                  <p:embed/>
                </p:oleObj>
              </mc:Choice>
              <mc:Fallback>
                <p:oleObj name="VISIO" r:id="rId3" imgW="7111080" imgH="632736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49500"/>
                        <a:ext cx="4824413" cy="429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Oval 5"/>
          <p:cNvSpPr>
            <a:spLocks noChangeArrowheads="1"/>
          </p:cNvSpPr>
          <p:nvPr/>
        </p:nvSpPr>
        <p:spPr bwMode="auto">
          <a:xfrm>
            <a:off x="2339975" y="5949950"/>
            <a:ext cx="719138" cy="431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148" name="Line 6"/>
          <p:cNvSpPr>
            <a:spLocks noChangeShapeType="1"/>
          </p:cNvSpPr>
          <p:nvPr/>
        </p:nvSpPr>
        <p:spPr bwMode="auto">
          <a:xfrm flipH="1">
            <a:off x="2987675" y="4797425"/>
            <a:ext cx="2232025" cy="11525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149" name="Text Box 7"/>
          <p:cNvSpPr txBox="1">
            <a:spLocks noChangeArrowheads="1"/>
          </p:cNvSpPr>
          <p:nvPr/>
        </p:nvSpPr>
        <p:spPr bwMode="auto">
          <a:xfrm>
            <a:off x="4932363" y="443706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/>
              <a:t>ftp.abc.com.br</a:t>
            </a:r>
          </a:p>
        </p:txBody>
      </p:sp>
      <p:sp>
        <p:nvSpPr>
          <p:cNvPr id="6150" name="Oval 9"/>
          <p:cNvSpPr>
            <a:spLocks noChangeArrowheads="1"/>
          </p:cNvSpPr>
          <p:nvPr/>
        </p:nvSpPr>
        <p:spPr bwMode="auto">
          <a:xfrm>
            <a:off x="3276600" y="5949950"/>
            <a:ext cx="719138" cy="431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151" name="Line 10"/>
          <p:cNvSpPr>
            <a:spLocks noChangeShapeType="1"/>
          </p:cNvSpPr>
          <p:nvPr/>
        </p:nvSpPr>
        <p:spPr bwMode="auto">
          <a:xfrm flipH="1">
            <a:off x="3995738" y="5445125"/>
            <a:ext cx="1728787" cy="5762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152" name="Text Box 11"/>
          <p:cNvSpPr txBox="1">
            <a:spLocks noChangeArrowheads="1"/>
          </p:cNvSpPr>
          <p:nvPr/>
        </p:nvSpPr>
        <p:spPr bwMode="auto">
          <a:xfrm>
            <a:off x="5580063" y="5157788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/>
              <a:t>www.abc.com.br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/>
              <a:t>Elementos que compõem o DNS</a:t>
            </a:r>
          </a:p>
        </p:txBody>
      </p:sp>
    </p:spTree>
    <p:extLst>
      <p:ext uri="{BB962C8B-B14F-4D97-AF65-F5344CB8AC3E}">
        <p14:creationId xmlns:p14="http://schemas.microsoft.com/office/powerpoint/2010/main" val="95140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Subdomínios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Internamente, uma empresa pode criar subdomínios</a:t>
            </a:r>
          </a:p>
          <a:p>
            <a:pPr lvl="1"/>
            <a:r>
              <a:rPr lang="pt-BR" sz="2400" dirty="0" err="1"/>
              <a:t>Ex</a:t>
            </a:r>
            <a:r>
              <a:rPr lang="pt-BR" sz="2400" dirty="0"/>
              <a:t>: empresa abc</a:t>
            </a:r>
          </a:p>
          <a:p>
            <a:pPr lvl="2"/>
            <a:r>
              <a:rPr lang="pt-BR" sz="2800" dirty="0"/>
              <a:t>Domínio: abc.com.br</a:t>
            </a:r>
          </a:p>
          <a:p>
            <a:pPr lvl="2"/>
            <a:r>
              <a:rPr lang="pt-BR" sz="2800" dirty="0"/>
              <a:t>Subdomínios: vendas.abc.com.br, suporte.abc.com.br, pesquisa.abc.com.br</a:t>
            </a:r>
          </a:p>
          <a:p>
            <a:pPr lvl="2"/>
            <a:r>
              <a:rPr lang="pt-BR" sz="2800" dirty="0"/>
              <a:t>Máquinas do subdomínio vendas.abc.com.br: srv01.vendas.abc.com.br, www.vendas.abc.com.br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633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Componentes de um DNS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Espaço de nomes DNS</a:t>
            </a:r>
            <a:r>
              <a:rPr lang="pt-BR" dirty="0"/>
              <a:t>: Espaço de nomes </a:t>
            </a:r>
            <a:r>
              <a:rPr lang="pt-BR" dirty="0" smtClean="0"/>
              <a:t>hierárquico.</a:t>
            </a:r>
            <a:endParaRPr lang="pt-BR" dirty="0"/>
          </a:p>
          <a:p>
            <a:endParaRPr lang="pt-BR" b="1" dirty="0" smtClean="0"/>
          </a:p>
          <a:p>
            <a:r>
              <a:rPr lang="pt-BR" b="1" dirty="0" smtClean="0"/>
              <a:t>Servidores </a:t>
            </a:r>
            <a:r>
              <a:rPr lang="pt-BR" b="1" dirty="0"/>
              <a:t>DNS</a:t>
            </a:r>
            <a:r>
              <a:rPr lang="pt-BR" dirty="0"/>
              <a:t>: contém o banco de dados do DNS com o mapeamento entre os nomes DNS e o respectivo número IP, além das referências para outros servidores DNS autoridades de subdomínios.</a:t>
            </a:r>
          </a:p>
          <a:p>
            <a:pPr lvl="1">
              <a:lnSpc>
                <a:spcPct val="91000"/>
              </a:lnSpc>
            </a:pPr>
            <a:r>
              <a:rPr lang="pt-BR" sz="2400" b="1" dirty="0"/>
              <a:t>Autoridade</a:t>
            </a:r>
            <a:r>
              <a:rPr lang="pt-BR" sz="2400" dirty="0"/>
              <a:t>: servidor DNS responsável por um domínio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3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Processo de resolução de nomes</a:t>
            </a:r>
            <a:endParaRPr lang="pt-BR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475093"/>
              </p:ext>
            </p:extLst>
          </p:nvPr>
        </p:nvGraphicFramePr>
        <p:xfrm>
          <a:off x="323528" y="1443019"/>
          <a:ext cx="8280722" cy="5349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VISIO" r:id="rId3" imgW="10340340" imgH="6682740" progId="Visio.Drawing.4">
                  <p:embed/>
                </p:oleObj>
              </mc:Choice>
              <mc:Fallback>
                <p:oleObj name="VISIO" r:id="rId3" imgW="10340340" imgH="6682740" progId="Visio.Drawing.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443019"/>
                        <a:ext cx="8280722" cy="5349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1497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resolução de nomes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Utiliza pacotes UDP para requisição:</a:t>
            </a:r>
          </a:p>
          <a:p>
            <a:pPr lvl="1"/>
            <a:r>
              <a:rPr lang="pt-BR" dirty="0" smtClean="0"/>
              <a:t>Um programa que precisa pesquisar um endereço IP de algum nome, pode enviar um pacote UDP contendo o nome do host a um servidor DNS.</a:t>
            </a:r>
          </a:p>
          <a:p>
            <a:pPr lvl="1"/>
            <a:r>
              <a:rPr lang="pt-BR" dirty="0" smtClean="0"/>
              <a:t>O servidor responde com um pacote UDP que contém o endereço IP.</a:t>
            </a:r>
          </a:p>
          <a:p>
            <a:pPr lvl="1"/>
            <a:r>
              <a:rPr lang="pt-BR" dirty="0" smtClean="0"/>
              <a:t>Apenas duas mensagens são enviadas.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8893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Correio eletrônico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Conhecido como e-mail.</a:t>
            </a:r>
          </a:p>
          <a:p>
            <a:r>
              <a:rPr lang="pt-BR" dirty="0" smtClean="0"/>
              <a:t>Antes de 1990 era empregado no meio acadêmico.</a:t>
            </a:r>
          </a:p>
          <a:p>
            <a:r>
              <a:rPr lang="pt-BR" dirty="0" smtClean="0"/>
              <a:t>Depois dos anos 90, ficou conhecido do público em geral.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0088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Correio eletrônico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Em geral, consiste de dois subsistemas:</a:t>
            </a:r>
          </a:p>
          <a:p>
            <a:pPr lvl="1"/>
            <a:r>
              <a:rPr lang="pt-BR" dirty="0" smtClean="0"/>
              <a:t>Os agentes de usuários, que permitem que as pessoas leiam e envie mensagens (clientes de e-mail).</a:t>
            </a:r>
          </a:p>
          <a:p>
            <a:pPr lvl="1"/>
            <a:r>
              <a:rPr lang="pt-BR" dirty="0" smtClean="0"/>
              <a:t>Os agentes de transferência de mensagem, que deslocam a mensagem da origem até o destino (processo executados em segundo plano)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271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Transferência de mensagens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Estabelecer conexão de transporte entre a máquina origem e destino e em seguida, transferir a mensagem.</a:t>
            </a:r>
          </a:p>
          <a:p>
            <a:endParaRPr lang="pt-BR" dirty="0" smtClean="0"/>
          </a:p>
          <a:p>
            <a:r>
              <a:rPr lang="pt-BR" dirty="0" smtClean="0"/>
              <a:t>SMTP (</a:t>
            </a:r>
            <a:r>
              <a:rPr lang="pt-BR" dirty="0" err="1" smtClean="0"/>
              <a:t>Simple</a:t>
            </a:r>
            <a:r>
              <a:rPr lang="pt-BR" dirty="0" smtClean="0"/>
              <a:t> Mail </a:t>
            </a:r>
            <a:r>
              <a:rPr lang="pt-BR" dirty="0" err="1" smtClean="0"/>
              <a:t>Transfer</a:t>
            </a:r>
            <a:r>
              <a:rPr lang="pt-BR" dirty="0" smtClean="0"/>
              <a:t> </a:t>
            </a:r>
            <a:r>
              <a:rPr lang="pt-BR" dirty="0" err="1" smtClean="0"/>
              <a:t>Protocol</a:t>
            </a:r>
            <a:r>
              <a:rPr lang="pt-BR" dirty="0" smtClean="0"/>
              <a:t>):</a:t>
            </a:r>
          </a:p>
          <a:p>
            <a:pPr lvl="1"/>
            <a:r>
              <a:rPr lang="pt-BR" dirty="0" smtClean="0"/>
              <a:t>Dentro da Internet, as mensagens são entregues quando a máquina de origem estabelece uma conexão TCP na porta 25 com a máquina de destino.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3048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Entrega Final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Até agora, supomos que todas as máquinas estavam online durante o recebimento e envio de mensagens.</a:t>
            </a:r>
          </a:p>
          <a:p>
            <a:endParaRPr lang="pt-BR" dirty="0"/>
          </a:p>
          <a:p>
            <a:r>
              <a:rPr lang="pt-BR" dirty="0" smtClean="0"/>
              <a:t>O modelo anterior falha se a máquina destino não estiver online.</a:t>
            </a:r>
          </a:p>
          <a:p>
            <a:endParaRPr lang="pt-BR" dirty="0"/>
          </a:p>
          <a:p>
            <a:r>
              <a:rPr lang="pt-BR" dirty="0" smtClean="0"/>
              <a:t>O destinatário não pode estabelecer uma conexão TCP para o receptor, desse modo não pode executar o SMTP.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6740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Entrega Final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POP3 (Post Office </a:t>
            </a:r>
            <a:r>
              <a:rPr lang="pt-BR" dirty="0" err="1" smtClean="0"/>
              <a:t>Protocol</a:t>
            </a:r>
            <a:r>
              <a:rPr lang="pt-BR" dirty="0" smtClean="0"/>
              <a:t> </a:t>
            </a:r>
            <a:r>
              <a:rPr lang="pt-BR" dirty="0" err="1" smtClean="0"/>
              <a:t>Version</a:t>
            </a:r>
            <a:r>
              <a:rPr lang="pt-BR" dirty="0" smtClean="0"/>
              <a:t> 3)</a:t>
            </a:r>
          </a:p>
          <a:p>
            <a:pPr lvl="1"/>
            <a:r>
              <a:rPr lang="pt-B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As mensagens devem ser enviadas para um servidor de e-mail (ao invés de serem enviadas para o usuário diretamente).</a:t>
            </a:r>
          </a:p>
          <a:p>
            <a:pPr lvl="1"/>
            <a:r>
              <a:rPr lang="pt-B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protocolo POP3 controla a conexão entre o cliente de </a:t>
            </a:r>
            <a:r>
              <a:rPr lang="pt-B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e-mail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POP3 de um usuário e o servidor onde o </a:t>
            </a:r>
            <a:r>
              <a:rPr lang="pt-B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e-mail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está </a:t>
            </a:r>
            <a:r>
              <a:rPr lang="pt-B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armazenado.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8093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Entrega Final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756791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Envio e leitura de correio eletrônico quando o receptor tem uma conexão permanente da Internet </a:t>
            </a:r>
            <a:r>
              <a:rPr lang="pt-BR" dirty="0" smtClean="0"/>
              <a:t>e o </a:t>
            </a:r>
            <a:r>
              <a:rPr lang="pt-BR" dirty="0"/>
              <a:t>agente usuário funciona na mesma máquina em que está o agente de transferência de mensagens.</a:t>
            </a:r>
            <a:endParaRPr lang="pt-BR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413" y="3645024"/>
            <a:ext cx="6353175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2867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Entrega Final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pt-BR" dirty="0"/>
              <a:t>Leitura de correio eletrônico quando o receptor tem uma conexão dial-up para um </a:t>
            </a:r>
            <a:r>
              <a:rPr lang="pt-BR" dirty="0" smtClean="0"/>
              <a:t>ISP (serviço de telefonia).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3645024"/>
            <a:ext cx="8964488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4383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P2P (Point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smtClean="0"/>
              <a:t>Point)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Protocolo de transferência de mensagens ponto a ponto.</a:t>
            </a:r>
          </a:p>
          <a:p>
            <a:endParaRPr lang="pt-BR" dirty="0" smtClean="0"/>
          </a:p>
          <a:p>
            <a:r>
              <a:rPr lang="pt-BR" dirty="0" smtClean="0"/>
              <a:t>Definição: </a:t>
            </a:r>
            <a:r>
              <a:rPr lang="pt-BR" dirty="0"/>
              <a:t>Redes virtuais com objetivo de </a:t>
            </a:r>
            <a:r>
              <a:rPr lang="pt-BR" dirty="0" smtClean="0"/>
              <a:t>compartilhar recursos </a:t>
            </a:r>
            <a:r>
              <a:rPr lang="pt-BR" dirty="0"/>
              <a:t>entre participantes, sem </a:t>
            </a:r>
            <a:r>
              <a:rPr lang="pt-BR" dirty="0" smtClean="0"/>
              <a:t>diferencia-los.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9317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P2P (Point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smtClean="0"/>
              <a:t>Point)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Aplicações:</a:t>
            </a:r>
          </a:p>
          <a:p>
            <a:pPr lvl="1"/>
            <a:r>
              <a:rPr lang="pt-BR" dirty="0"/>
              <a:t>Troca de </a:t>
            </a:r>
            <a:r>
              <a:rPr lang="pt-BR" dirty="0" smtClean="0"/>
              <a:t>Mensagens:</a:t>
            </a:r>
          </a:p>
          <a:p>
            <a:pPr lvl="2"/>
            <a:r>
              <a:rPr lang="pt-BR" dirty="0"/>
              <a:t>AIM (AOL </a:t>
            </a:r>
            <a:r>
              <a:rPr lang="pt-BR" dirty="0" err="1"/>
              <a:t>Instant</a:t>
            </a:r>
            <a:r>
              <a:rPr lang="pt-BR" dirty="0"/>
              <a:t> Messenger);</a:t>
            </a:r>
          </a:p>
          <a:p>
            <a:pPr lvl="2"/>
            <a:r>
              <a:rPr lang="pt-BR" dirty="0" smtClean="0"/>
              <a:t>MSN </a:t>
            </a:r>
            <a:r>
              <a:rPr lang="pt-BR" dirty="0"/>
              <a:t>Messenger;</a:t>
            </a:r>
          </a:p>
          <a:p>
            <a:pPr lvl="2"/>
            <a:r>
              <a:rPr lang="pt-BR" dirty="0" smtClean="0"/>
              <a:t>Yahoo</a:t>
            </a:r>
            <a:r>
              <a:rPr lang="pt-BR" dirty="0"/>
              <a:t>! Messenger;</a:t>
            </a:r>
          </a:p>
          <a:p>
            <a:pPr lvl="2"/>
            <a:r>
              <a:rPr lang="pt-BR" dirty="0" err="1" smtClean="0"/>
              <a:t>Gtalk</a:t>
            </a:r>
            <a:r>
              <a:rPr lang="pt-BR" dirty="0" smtClean="0"/>
              <a:t>;</a:t>
            </a:r>
          </a:p>
          <a:p>
            <a:pPr lvl="1"/>
            <a:r>
              <a:rPr lang="pt-BR" dirty="0"/>
              <a:t>Computação Distribuída:</a:t>
            </a:r>
          </a:p>
          <a:p>
            <a:pPr lvl="2"/>
            <a:r>
              <a:rPr lang="pt-BR" dirty="0"/>
              <a:t>NASA;</a:t>
            </a:r>
          </a:p>
          <a:p>
            <a:pPr marL="914400" lvl="2" indent="0">
              <a:buNone/>
            </a:pPr>
            <a:endParaRPr lang="pt-BR" dirty="0" smtClean="0"/>
          </a:p>
          <a:p>
            <a:pPr lvl="1"/>
            <a:endParaRPr lang="pt-BR" dirty="0" smtClean="0"/>
          </a:p>
          <a:p>
            <a:pPr lvl="2"/>
            <a:endParaRPr lang="pt-BR" dirty="0"/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6747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P2P (Point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smtClean="0"/>
              <a:t>Point)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Aplicações:</a:t>
            </a:r>
          </a:p>
          <a:p>
            <a:pPr lvl="1"/>
            <a:r>
              <a:rPr lang="pt-BR" dirty="0"/>
              <a:t>Compartilhamento de Arquivos: </a:t>
            </a:r>
          </a:p>
          <a:p>
            <a:pPr lvl="2"/>
            <a:r>
              <a:rPr lang="pt-BR" dirty="0"/>
              <a:t>Oferece áreas de armazenamento.</a:t>
            </a:r>
          </a:p>
          <a:p>
            <a:pPr lvl="2"/>
            <a:r>
              <a:rPr lang="pt-BR" dirty="0"/>
              <a:t>Alta disponibilidade do conteúdo armazenado</a:t>
            </a:r>
          </a:p>
          <a:p>
            <a:pPr lvl="2"/>
            <a:r>
              <a:rPr lang="pt-BR" dirty="0"/>
              <a:t>Gerenciamento e em alguns casos anonimato</a:t>
            </a:r>
          </a:p>
          <a:p>
            <a:pPr lvl="2"/>
            <a:r>
              <a:rPr lang="pt-BR" dirty="0"/>
              <a:t>Napster, </a:t>
            </a:r>
            <a:r>
              <a:rPr lang="pt-BR" dirty="0" err="1"/>
              <a:t>KaZaA</a:t>
            </a:r>
            <a:r>
              <a:rPr lang="pt-BR" dirty="0"/>
              <a:t>, </a:t>
            </a:r>
            <a:r>
              <a:rPr lang="pt-BR" dirty="0" err="1"/>
              <a:t>eDonkey</a:t>
            </a:r>
            <a:r>
              <a:rPr lang="pt-BR" dirty="0"/>
              <a:t>.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2"/>
            <a:endParaRPr lang="pt-BR" dirty="0"/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7411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P2P (Point </a:t>
            </a:r>
            <a:r>
              <a:rPr lang="pt-BR" dirty="0" err="1"/>
              <a:t>to</a:t>
            </a:r>
            <a:r>
              <a:rPr lang="pt-BR" dirty="0"/>
              <a:t> Point)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BitTorrent</a:t>
            </a:r>
            <a:endParaRPr lang="pt-BR" dirty="0"/>
          </a:p>
          <a:p>
            <a:pPr lvl="1"/>
            <a:r>
              <a:rPr lang="pt-BR" dirty="0" smtClean="0"/>
              <a:t>Uso </a:t>
            </a:r>
            <a:r>
              <a:rPr lang="pt-BR" dirty="0"/>
              <a:t>de meta-arquivos:</a:t>
            </a:r>
          </a:p>
          <a:p>
            <a:pPr lvl="2"/>
            <a:r>
              <a:rPr lang="pt-BR" dirty="0" smtClean="0"/>
              <a:t>Com </a:t>
            </a:r>
            <a:r>
              <a:rPr lang="pt-BR" dirty="0"/>
              <a:t>nome, tamanho e </a:t>
            </a:r>
            <a:r>
              <a:rPr lang="pt-BR" dirty="0" err="1"/>
              <a:t>hash</a:t>
            </a:r>
            <a:r>
              <a:rPr lang="pt-BR" dirty="0"/>
              <a:t> de cada bloco </a:t>
            </a:r>
            <a:r>
              <a:rPr lang="pt-BR" dirty="0" smtClean="0"/>
              <a:t>do arquivo</a:t>
            </a:r>
            <a:r>
              <a:rPr lang="pt-BR" dirty="0"/>
              <a:t>;</a:t>
            </a:r>
          </a:p>
          <a:p>
            <a:pPr lvl="2"/>
            <a:r>
              <a:rPr lang="pt-BR" dirty="0" smtClean="0"/>
              <a:t>Servidor </a:t>
            </a:r>
            <a:r>
              <a:rPr lang="pt-BR" dirty="0" err="1"/>
              <a:t>tracker</a:t>
            </a:r>
            <a:r>
              <a:rPr lang="pt-BR" dirty="0"/>
              <a:t>;</a:t>
            </a:r>
          </a:p>
          <a:p>
            <a:pPr lvl="1"/>
            <a:r>
              <a:rPr lang="pt-BR" dirty="0" smtClean="0"/>
              <a:t>Difícil </a:t>
            </a:r>
            <a:r>
              <a:rPr lang="pt-BR" dirty="0"/>
              <a:t>localização dos meta-arquivos;</a:t>
            </a:r>
          </a:p>
          <a:p>
            <a:pPr lvl="1"/>
            <a:r>
              <a:rPr lang="pt-BR" dirty="0" err="1" smtClean="0"/>
              <a:t>Tracker</a:t>
            </a:r>
            <a:r>
              <a:rPr lang="pt-BR" dirty="0" smtClean="0"/>
              <a:t> </a:t>
            </a:r>
            <a:r>
              <a:rPr lang="pt-BR" dirty="0"/>
              <a:t>mantem informações sobre </a:t>
            </a:r>
            <a:r>
              <a:rPr lang="pt-BR" dirty="0" smtClean="0"/>
              <a:t>os semeados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6610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FTP </a:t>
            </a:r>
            <a:r>
              <a:rPr lang="pt-BR" dirty="0"/>
              <a:t>(File </a:t>
            </a:r>
            <a:r>
              <a:rPr lang="pt-BR" dirty="0" err="1"/>
              <a:t>Transfer</a:t>
            </a:r>
            <a:r>
              <a:rPr lang="pt-BR" dirty="0"/>
              <a:t> </a:t>
            </a:r>
            <a:r>
              <a:rPr lang="pt-BR" dirty="0" err="1"/>
              <a:t>Protocol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Uma das </a:t>
            </a:r>
            <a:r>
              <a:rPr lang="pt-BR" dirty="0"/>
              <a:t>mais antigas formas de interação na </a:t>
            </a:r>
            <a:r>
              <a:rPr lang="pt-BR" dirty="0" smtClean="0"/>
              <a:t>Internet (protocolo de transferência de arquivos na Internet). </a:t>
            </a:r>
          </a:p>
          <a:p>
            <a:endParaRPr lang="pt-BR" dirty="0"/>
          </a:p>
          <a:p>
            <a:r>
              <a:rPr lang="pt-BR" dirty="0" smtClean="0"/>
              <a:t>Com </a:t>
            </a:r>
            <a:r>
              <a:rPr lang="pt-BR" dirty="0"/>
              <a:t>ele, </a:t>
            </a:r>
            <a:r>
              <a:rPr lang="pt-BR" dirty="0" smtClean="0"/>
              <a:t>é possível </a:t>
            </a:r>
            <a:r>
              <a:rPr lang="pt-BR" dirty="0"/>
              <a:t>enviar e receber arquivos para, ou de, computadores que se caracterizam como servidores remotos.</a:t>
            </a:r>
          </a:p>
        </p:txBody>
      </p:sp>
    </p:spTree>
    <p:extLst>
      <p:ext uri="{BB962C8B-B14F-4D97-AF65-F5344CB8AC3E}">
        <p14:creationId xmlns:p14="http://schemas.microsoft.com/office/powerpoint/2010/main" val="1075269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FTP (File </a:t>
            </a:r>
            <a:r>
              <a:rPr lang="pt-BR" dirty="0" err="1"/>
              <a:t>Transfer</a:t>
            </a:r>
            <a:r>
              <a:rPr lang="pt-BR" dirty="0"/>
              <a:t> </a:t>
            </a:r>
            <a:r>
              <a:rPr lang="pt-BR" dirty="0" err="1"/>
              <a:t>Protocol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 servidor FTP é </a:t>
            </a:r>
            <a:r>
              <a:rPr lang="pt-BR" dirty="0"/>
              <a:t>um computador que roda um programa </a:t>
            </a:r>
            <a:r>
              <a:rPr lang="pt-BR" dirty="0" smtClean="0"/>
              <a:t>(chamado </a:t>
            </a:r>
            <a:r>
              <a:rPr lang="pt-BR" dirty="0"/>
              <a:t>de servidor de </a:t>
            </a:r>
            <a:r>
              <a:rPr lang="pt-BR" dirty="0" smtClean="0"/>
              <a:t>FTP) e </a:t>
            </a:r>
            <a:r>
              <a:rPr lang="pt-BR" dirty="0"/>
              <a:t>portanto, é capaz de se comunicar com outro computador na Rede que o esteja acessando através de um cliente FTP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C</a:t>
            </a:r>
            <a:r>
              <a:rPr lang="pt-BR" dirty="0" smtClean="0"/>
              <a:t>onexão </a:t>
            </a:r>
            <a:r>
              <a:rPr lang="pt-BR" dirty="0"/>
              <a:t>aberta pelo servidor </a:t>
            </a:r>
            <a:r>
              <a:rPr lang="pt-BR" dirty="0" smtClean="0"/>
              <a:t>a partir </a:t>
            </a:r>
            <a:r>
              <a:rPr lang="pt-BR" dirty="0"/>
              <a:t>da porta 20 (FTP-Data)</a:t>
            </a:r>
          </a:p>
        </p:txBody>
      </p:sp>
    </p:spTree>
    <p:extLst>
      <p:ext uri="{BB962C8B-B14F-4D97-AF65-F5344CB8AC3E}">
        <p14:creationId xmlns:p14="http://schemas.microsoft.com/office/powerpoint/2010/main" val="3944939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HTTP (</a:t>
            </a:r>
            <a:r>
              <a:rPr lang="pt-BR" dirty="0" err="1"/>
              <a:t>HyperText</a:t>
            </a:r>
            <a:r>
              <a:rPr lang="pt-BR" dirty="0"/>
              <a:t> </a:t>
            </a:r>
            <a:r>
              <a:rPr lang="pt-BR" dirty="0" err="1"/>
              <a:t>Transfer</a:t>
            </a:r>
            <a:r>
              <a:rPr lang="pt-BR" dirty="0"/>
              <a:t> </a:t>
            </a:r>
            <a:r>
              <a:rPr lang="pt-BR" dirty="0" err="1"/>
              <a:t>Protocol</a:t>
            </a:r>
            <a:r>
              <a:rPr lang="pt-B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o protocolo usado para a transmissão de dados no sistema World </a:t>
            </a:r>
            <a:r>
              <a:rPr lang="pt-BR" dirty="0" err="1"/>
              <a:t>Wide</a:t>
            </a:r>
            <a:r>
              <a:rPr lang="pt-BR" dirty="0"/>
              <a:t> </a:t>
            </a:r>
            <a:r>
              <a:rPr lang="pt-BR" dirty="0" smtClean="0"/>
              <a:t>Web (requisição de páginas Web). </a:t>
            </a:r>
          </a:p>
          <a:p>
            <a:endParaRPr lang="pt-BR" dirty="0"/>
          </a:p>
          <a:p>
            <a:r>
              <a:rPr lang="pt-BR" dirty="0" smtClean="0"/>
              <a:t>Cada </a:t>
            </a:r>
            <a:r>
              <a:rPr lang="pt-BR" dirty="0"/>
              <a:t>vez que você aciona um link, seu </a:t>
            </a:r>
            <a:r>
              <a:rPr lang="pt-BR" i="1" dirty="0"/>
              <a:t>browser</a:t>
            </a:r>
            <a:r>
              <a:rPr lang="pt-BR" dirty="0"/>
              <a:t> realiza uma comunicação com um servidor da Web através deste </a:t>
            </a:r>
            <a:r>
              <a:rPr lang="pt-BR" dirty="0" smtClean="0"/>
              <a:t>protocolo.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186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HTTP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modo habitual de um navegador (browser) entrar em contato com um servidor é </a:t>
            </a:r>
            <a:r>
              <a:rPr lang="pt-BR" dirty="0"/>
              <a:t>estabelecer </a:t>
            </a:r>
            <a:r>
              <a:rPr lang="pt-BR" dirty="0" smtClean="0"/>
              <a:t>uma  conexão TCP para a porta 80 da máquina servidora.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12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Firewall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É um (conjunto de) componente(s) que protege(m) a rede </a:t>
            </a:r>
            <a:r>
              <a:rPr lang="pt-BR" dirty="0" smtClean="0"/>
              <a:t>local contra </a:t>
            </a:r>
            <a:r>
              <a:rPr lang="pt-BR" dirty="0"/>
              <a:t>ataques provenientes de redes externas </a:t>
            </a:r>
            <a:r>
              <a:rPr lang="pt-BR" dirty="0" smtClean="0"/>
              <a:t>interligadas (</a:t>
            </a:r>
            <a:r>
              <a:rPr lang="pt-BR" dirty="0"/>
              <a:t>Internet e outras), enquanto proporciona o acesso a </a:t>
            </a:r>
            <a:r>
              <a:rPr lang="pt-BR" dirty="0" smtClean="0"/>
              <a:t>estas redes.</a:t>
            </a:r>
          </a:p>
          <a:p>
            <a:endParaRPr lang="pt-BR" dirty="0"/>
          </a:p>
          <a:p>
            <a:r>
              <a:rPr lang="pt-BR" dirty="0" smtClean="0"/>
              <a:t>É </a:t>
            </a:r>
            <a:r>
              <a:rPr lang="pt-BR" dirty="0"/>
              <a:t>um separador, limitador e analisador do tráfego entre a </a:t>
            </a:r>
            <a:r>
              <a:rPr lang="pt-BR" dirty="0" smtClean="0"/>
              <a:t>rede local </a:t>
            </a:r>
            <a:r>
              <a:rPr lang="pt-BR" dirty="0"/>
              <a:t>e suas redes interligadas.</a:t>
            </a:r>
          </a:p>
        </p:txBody>
      </p:sp>
    </p:spTree>
    <p:extLst>
      <p:ext uri="{BB962C8B-B14F-4D97-AF65-F5344CB8AC3E}">
        <p14:creationId xmlns:p14="http://schemas.microsoft.com/office/powerpoint/2010/main" val="3720760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Firewall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firewall deve ser posicionado entre a rede local e a </a:t>
            </a:r>
            <a:r>
              <a:rPr lang="pt-BR" dirty="0" smtClean="0"/>
              <a:t>rede externa</a:t>
            </a:r>
            <a:r>
              <a:rPr lang="pt-BR" dirty="0"/>
              <a:t>, visando:</a:t>
            </a:r>
          </a:p>
          <a:p>
            <a:pPr lvl="1"/>
            <a:r>
              <a:rPr lang="pt-BR" dirty="0" smtClean="0"/>
              <a:t>estabelecer </a:t>
            </a:r>
            <a:r>
              <a:rPr lang="pt-BR" dirty="0"/>
              <a:t>um enlace controlado;</a:t>
            </a:r>
          </a:p>
          <a:p>
            <a:pPr lvl="1"/>
            <a:r>
              <a:rPr lang="pt-BR" dirty="0" smtClean="0"/>
              <a:t>proteger </a:t>
            </a:r>
            <a:r>
              <a:rPr lang="pt-BR" dirty="0"/>
              <a:t>a rede local contra ataques;</a:t>
            </a:r>
          </a:p>
          <a:p>
            <a:pPr lvl="1"/>
            <a:r>
              <a:rPr lang="pt-BR" dirty="0" smtClean="0"/>
              <a:t>fornecer </a:t>
            </a:r>
            <a:r>
              <a:rPr lang="pt-BR" dirty="0"/>
              <a:t>um único ponto de acesso à rede</a:t>
            </a:r>
            <a:r>
              <a:rPr lang="pt-BR" dirty="0" smtClean="0"/>
              <a:t>.</a:t>
            </a:r>
          </a:p>
          <a:p>
            <a:pPr lvl="1"/>
            <a:endParaRPr lang="pt-BR" dirty="0"/>
          </a:p>
          <a:p>
            <a:r>
              <a:rPr lang="pt-BR" dirty="0" smtClean="0"/>
              <a:t>O firewall deve bloquear </a:t>
            </a:r>
            <a:r>
              <a:rPr lang="pt-BR" dirty="0"/>
              <a:t>(impedir) qualquer tipo de acesso que não </a:t>
            </a:r>
            <a:r>
              <a:rPr lang="pt-BR" dirty="0" smtClean="0"/>
              <a:t>passe por ele.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8817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Firewall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próprio firewall deve ser imune a invasões.</a:t>
            </a:r>
          </a:p>
          <a:p>
            <a:pPr lvl="1"/>
            <a:r>
              <a:rPr lang="pt-BR" dirty="0" smtClean="0"/>
              <a:t>Instalado </a:t>
            </a:r>
            <a:r>
              <a:rPr lang="pt-BR" dirty="0"/>
              <a:t>em um sistema operacional seguro e confiável.</a:t>
            </a:r>
          </a:p>
        </p:txBody>
      </p:sp>
      <p:pic>
        <p:nvPicPr>
          <p:cNvPr id="11266" name="Picture 2" descr="http://net.portalmie.com/wp-content/uploads/2010/08/09/o-que-e-um-firewall/firew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429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245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Proxy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uma solução para redes que visa </a:t>
            </a:r>
            <a:r>
              <a:rPr lang="pt-BR" dirty="0" smtClean="0"/>
              <a:t>compartilhar </a:t>
            </a:r>
            <a:r>
              <a:rPr lang="pt-BR" dirty="0"/>
              <a:t>o acesso a </a:t>
            </a:r>
            <a:r>
              <a:rPr lang="pt-BR" dirty="0" smtClean="0"/>
              <a:t>Internet </a:t>
            </a:r>
            <a:r>
              <a:rPr lang="pt-BR" dirty="0"/>
              <a:t>entre vários usuários, otimizando o acesso através do recurso de </a:t>
            </a:r>
            <a:r>
              <a:rPr lang="pt-BR" dirty="0" smtClean="0"/>
              <a:t>páginas </a:t>
            </a:r>
            <a:r>
              <a:rPr lang="pt-BR" dirty="0"/>
              <a:t>e filtro de conteúdo no acesso à </a:t>
            </a:r>
            <a:r>
              <a:rPr lang="pt-BR" dirty="0" smtClean="0"/>
              <a:t>Internet.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9828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Proxy - Cache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recurso de cache de páginas visa otimizar o acesso à </a:t>
            </a:r>
            <a:r>
              <a:rPr lang="pt-BR" dirty="0" smtClean="0"/>
              <a:t>internet.</a:t>
            </a:r>
          </a:p>
          <a:p>
            <a:r>
              <a:rPr lang="pt-BR" dirty="0" smtClean="0"/>
              <a:t>Melhorando </a:t>
            </a:r>
            <a:r>
              <a:rPr lang="pt-BR" dirty="0"/>
              <a:t>a </a:t>
            </a:r>
            <a:r>
              <a:rPr lang="pt-BR" dirty="0" smtClean="0"/>
              <a:t>performance significativamente</a:t>
            </a:r>
            <a:r>
              <a:rPr lang="pt-BR" dirty="0"/>
              <a:t>, pois as páginas que são acessadas ficam armazenadas em disco (área de </a:t>
            </a:r>
            <a:r>
              <a:rPr lang="pt-BR" dirty="0" smtClean="0"/>
              <a:t>cache).</a:t>
            </a:r>
          </a:p>
          <a:p>
            <a:r>
              <a:rPr lang="pt-BR" dirty="0" smtClean="0"/>
              <a:t>As páginas não </a:t>
            </a:r>
            <a:r>
              <a:rPr lang="pt-BR" dirty="0"/>
              <a:t>necessitam ser baixadas da internet quando o usuário </a:t>
            </a:r>
            <a:r>
              <a:rPr lang="pt-BR" dirty="0" smtClean="0"/>
              <a:t>acessá-las </a:t>
            </a:r>
            <a:r>
              <a:rPr lang="pt-BR" dirty="0"/>
              <a:t>novamente.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5800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Proxy - Cache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46" y="1556792"/>
            <a:ext cx="7358062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7835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TANENBAUM, Andrew S. Redes de Computadores. 4ª Edição: Campus, 2003</a:t>
            </a:r>
          </a:p>
        </p:txBody>
      </p:sp>
    </p:spTree>
    <p:extLst>
      <p:ext uri="{BB962C8B-B14F-4D97-AF65-F5344CB8AC3E}">
        <p14:creationId xmlns:p14="http://schemas.microsoft.com/office/powerpoint/2010/main" val="40707361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4365</TotalTime>
  <Words>1224</Words>
  <Application>Microsoft Office PowerPoint</Application>
  <PresentationFormat>Apresentação na tela (4:3)</PresentationFormat>
  <Paragraphs>151</Paragraphs>
  <Slides>39</Slides>
  <Notes>0</Notes>
  <HiddenSlides>2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1" baseType="lpstr">
      <vt:lpstr>Tema do Office</vt:lpstr>
      <vt:lpstr>VISIO</vt:lpstr>
      <vt:lpstr>Camada de Aplicação</vt:lpstr>
      <vt:lpstr>Apresentação do PowerPoint</vt:lpstr>
      <vt:lpstr>Introdução</vt:lpstr>
      <vt:lpstr>DNS (Domain Name System)</vt:lpstr>
      <vt:lpstr>DNS</vt:lpstr>
      <vt:lpstr>DNS</vt:lpstr>
      <vt:lpstr>DNS</vt:lpstr>
      <vt:lpstr>Elementos que compõem o DNS</vt:lpstr>
      <vt:lpstr>Elementos que compõem o DNS</vt:lpstr>
      <vt:lpstr>Elementos que compõem o DNS</vt:lpstr>
      <vt:lpstr>Elementos que compõem o DNS</vt:lpstr>
      <vt:lpstr>Elementos que compõem o DNS</vt:lpstr>
      <vt:lpstr>Elementos que compõem o DNS</vt:lpstr>
      <vt:lpstr>Subdomínios</vt:lpstr>
      <vt:lpstr>Componentes de um DNS</vt:lpstr>
      <vt:lpstr>Processo de resolução de nomes</vt:lpstr>
      <vt:lpstr>Processo de resolução de nomes</vt:lpstr>
      <vt:lpstr>Correio eletrônico</vt:lpstr>
      <vt:lpstr>Correio eletrônico</vt:lpstr>
      <vt:lpstr>Transferência de mensagens</vt:lpstr>
      <vt:lpstr>Entrega Final</vt:lpstr>
      <vt:lpstr>Entrega Final</vt:lpstr>
      <vt:lpstr>Entrega Final</vt:lpstr>
      <vt:lpstr>Entrega Final</vt:lpstr>
      <vt:lpstr>P2P (Point to Point)</vt:lpstr>
      <vt:lpstr>P2P (Point to Point)</vt:lpstr>
      <vt:lpstr>P2P (Point to Point)</vt:lpstr>
      <vt:lpstr>P2P (Point to Point)</vt:lpstr>
      <vt:lpstr>FTP (File Transfer Protocol)</vt:lpstr>
      <vt:lpstr>FTP (File Transfer Protocol)</vt:lpstr>
      <vt:lpstr>HTTP (HyperText Transfer Protocol) </vt:lpstr>
      <vt:lpstr>HTTP</vt:lpstr>
      <vt:lpstr>Firewall</vt:lpstr>
      <vt:lpstr>Firewall</vt:lpstr>
      <vt:lpstr>Firewall</vt:lpstr>
      <vt:lpstr>Proxy</vt:lpstr>
      <vt:lpstr>Proxy - Cache</vt:lpstr>
      <vt:lpstr>Proxy - Cache</vt:lpstr>
      <vt:lpstr>Referências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</dc:creator>
  <cp:lastModifiedBy>henrique</cp:lastModifiedBy>
  <cp:revision>267</cp:revision>
  <dcterms:created xsi:type="dcterms:W3CDTF">2010-09-29T10:48:05Z</dcterms:created>
  <dcterms:modified xsi:type="dcterms:W3CDTF">2011-12-01T16:26:43Z</dcterms:modified>
</cp:coreProperties>
</file>