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01" r:id="rId3"/>
    <p:sldId id="302" r:id="rId4"/>
    <p:sldId id="303" r:id="rId5"/>
    <p:sldId id="309" r:id="rId6"/>
    <p:sldId id="307" r:id="rId7"/>
    <p:sldId id="308" r:id="rId8"/>
    <p:sldId id="334" r:id="rId9"/>
    <p:sldId id="305" r:id="rId10"/>
    <p:sldId id="306" r:id="rId11"/>
    <p:sldId id="304" r:id="rId12"/>
    <p:sldId id="312" r:id="rId13"/>
    <p:sldId id="313" r:id="rId14"/>
    <p:sldId id="318" r:id="rId15"/>
    <p:sldId id="314" r:id="rId16"/>
    <p:sldId id="319" r:id="rId17"/>
    <p:sldId id="326" r:id="rId18"/>
    <p:sldId id="329" r:id="rId19"/>
    <p:sldId id="328" r:id="rId20"/>
    <p:sldId id="327" r:id="rId21"/>
    <p:sldId id="330" r:id="rId22"/>
    <p:sldId id="331" r:id="rId23"/>
    <p:sldId id="332" r:id="rId24"/>
    <p:sldId id="333" r:id="rId25"/>
    <p:sldId id="335" r:id="rId26"/>
    <p:sldId id="336" r:id="rId27"/>
    <p:sldId id="344" r:id="rId28"/>
    <p:sldId id="337" r:id="rId29"/>
    <p:sldId id="338" r:id="rId30"/>
    <p:sldId id="345" r:id="rId31"/>
    <p:sldId id="339" r:id="rId32"/>
    <p:sldId id="342" r:id="rId33"/>
    <p:sldId id="343" r:id="rId34"/>
    <p:sldId id="340" r:id="rId35"/>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766" autoAdjust="0"/>
  </p:normalViewPr>
  <p:slideViewPr>
    <p:cSldViewPr>
      <p:cViewPr varScale="1">
        <p:scale>
          <a:sx n="86" d="100"/>
          <a:sy n="86" d="100"/>
        </p:scale>
        <p:origin x="-109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ED1F0C-26CA-45B0-AA53-D774CF8B2FBC}" type="datetimeFigureOut">
              <a:rPr lang="pt-BR" smtClean="0"/>
              <a:t>08/11/2011</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7C5D10-1F63-4199-9259-EB0FB5FA9859}" type="slidenum">
              <a:rPr lang="pt-BR" smtClean="0"/>
              <a:t>‹nº›</a:t>
            </a:fld>
            <a:endParaRPr lang="pt-BR"/>
          </a:p>
        </p:txBody>
      </p:sp>
    </p:spTree>
    <p:extLst>
      <p:ext uri="{BB962C8B-B14F-4D97-AF65-F5344CB8AC3E}">
        <p14:creationId xmlns:p14="http://schemas.microsoft.com/office/powerpoint/2010/main" val="1456031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8150132E-F3AD-4D4A-B414-E15C459BEDA0}" type="slidenum">
              <a:rPr lang="en-US" sz="1200" smtClean="0"/>
              <a:pPr/>
              <a:t>6</a:t>
            </a:fld>
            <a:endParaRPr lang="en-US" sz="1200"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t-BR"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0971645C-E972-4853-A531-D8DAF9CDA6E3}" type="slidenum">
              <a:rPr lang="pt-BR" smtClean="0"/>
              <a:pPr/>
              <a:t>9</a:t>
            </a:fld>
            <a:endParaRPr lang="pt-B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0971645C-E972-4853-A531-D8DAF9CDA6E3}" type="slidenum">
              <a:rPr lang="pt-BR" smtClean="0"/>
              <a:pPr/>
              <a:t>10</a:t>
            </a:fld>
            <a:endParaRPr lang="pt-B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t>08/11/2011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t>08/11/2011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t>08/11/2011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2E700DB3-DBF0-4086-B675-117E7A9610B8}" type="datetimeFigureOut">
              <a:rPr lang="pt-BR" smtClean="0"/>
              <a:t>08/11/2011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2E700DB3-DBF0-4086-B675-117E7A9610B8}" type="datetimeFigureOut">
              <a:rPr lang="pt-BR" smtClean="0"/>
              <a:t>08/11/2011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Data 2"/>
          <p:cNvSpPr>
            <a:spLocks noGrp="1"/>
          </p:cNvSpPr>
          <p:nvPr>
            <p:ph type="dt" sz="half" idx="10"/>
          </p:nvPr>
        </p:nvSpPr>
        <p:spPr/>
        <p:txBody>
          <a:bodyPr/>
          <a:lstStyle/>
          <a:p>
            <a:fld id="{2E700DB3-DBF0-4086-B675-117E7A9610B8}" type="datetimeFigureOut">
              <a:rPr lang="pt-BR" smtClean="0"/>
              <a:t>08/11/2011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E700DB3-DBF0-4086-B675-117E7A9610B8}" type="datetimeFigureOut">
              <a:rPr lang="pt-BR" smtClean="0"/>
              <a:t>08/11/2011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t>08/11/2011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t>08/11/2011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t>08/11/2011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E700DB3-DBF0-4086-B675-117E7A9610B8}" type="datetimeFigureOut">
              <a:rPr lang="pt-BR" smtClean="0"/>
              <a:t>08/11/2011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ub Tópicos">
    <p:spTree>
      <p:nvGrpSpPr>
        <p:cNvPr id="1" name=""/>
        <p:cNvGrpSpPr/>
        <p:nvPr/>
      </p:nvGrpSpPr>
      <p:grpSpPr>
        <a:xfrm>
          <a:off x="0" y="0"/>
          <a:ext cx="0" cy="0"/>
          <a:chOff x="0" y="0"/>
          <a:chExt cx="0" cy="0"/>
        </a:xfrm>
      </p:grpSpPr>
      <p:sp>
        <p:nvSpPr>
          <p:cNvPr id="8" name="Título 1"/>
          <p:cNvSpPr>
            <a:spLocks noGrp="1"/>
          </p:cNvSpPr>
          <p:nvPr>
            <p:ph type="title"/>
          </p:nvPr>
        </p:nvSpPr>
        <p:spPr>
          <a:xfrm>
            <a:off x="357158" y="320040"/>
            <a:ext cx="8043890" cy="608630"/>
          </a:xfrm>
        </p:spPr>
        <p:txBody>
          <a:bodyPr>
            <a:noAutofit/>
          </a:bodyPr>
          <a:lstStyle>
            <a:lvl1pPr>
              <a:defRPr sz="3200" u="none">
                <a:solidFill>
                  <a:schemeClr val="bg2">
                    <a:lumMod val="25000"/>
                  </a:schemeClr>
                </a:solidFill>
              </a:defRPr>
            </a:lvl1pPr>
            <a:extLst/>
          </a:lstStyle>
          <a:p>
            <a:r>
              <a:rPr kumimoji="0" lang="pt-BR" dirty="0" smtClean="0"/>
              <a:t>Clique para editar o estilo do título mestre</a:t>
            </a:r>
            <a:endParaRPr kumimoji="0" lang="en-US" dirty="0"/>
          </a:p>
        </p:txBody>
      </p:sp>
      <p:sp>
        <p:nvSpPr>
          <p:cNvPr id="9" name="Espaço Reservado para Conteúdo 2"/>
          <p:cNvSpPr>
            <a:spLocks noGrp="1"/>
          </p:cNvSpPr>
          <p:nvPr>
            <p:ph idx="1"/>
          </p:nvPr>
        </p:nvSpPr>
        <p:spPr>
          <a:xfrm>
            <a:off x="357158" y="1000108"/>
            <a:ext cx="8043890" cy="5455628"/>
          </a:xfrm>
        </p:spPr>
        <p:txBody>
          <a:bodyPr/>
          <a:lstStyle>
            <a:lvl1pPr>
              <a:defRPr u="none">
                <a:latin typeface="Arial" pitchFamily="34" charset="0"/>
                <a:cs typeface="Arial" pitchFamily="34" charset="0"/>
              </a:defRPr>
            </a:lvl1pPr>
            <a:lvl2pPr>
              <a:defRPr u="none">
                <a:solidFill>
                  <a:schemeClr val="tx1">
                    <a:lumMod val="95000"/>
                    <a:lumOff val="5000"/>
                  </a:schemeClr>
                </a:solidFill>
                <a:latin typeface="Arial" pitchFamily="34" charset="0"/>
                <a:cs typeface="Arial" pitchFamily="34" charset="0"/>
              </a:defRPr>
            </a:lvl2pPr>
            <a:lvl3pPr>
              <a:defRPr u="none">
                <a:solidFill>
                  <a:schemeClr val="tx1">
                    <a:lumMod val="95000"/>
                    <a:lumOff val="5000"/>
                  </a:schemeClr>
                </a:solidFill>
                <a:latin typeface="Arial" pitchFamily="34" charset="0"/>
                <a:cs typeface="Arial" pitchFamily="34" charset="0"/>
              </a:defRPr>
            </a:lvl3pPr>
            <a:lvl4pPr>
              <a:defRPr u="none">
                <a:solidFill>
                  <a:schemeClr val="tx1">
                    <a:lumMod val="95000"/>
                    <a:lumOff val="5000"/>
                  </a:schemeClr>
                </a:solidFill>
                <a:latin typeface="Arial" pitchFamily="34" charset="0"/>
                <a:cs typeface="Arial" pitchFamily="34" charset="0"/>
              </a:defRPr>
            </a:lvl4pPr>
            <a:lvl5pPr>
              <a:defRPr u="none">
                <a:solidFill>
                  <a:schemeClr val="tx1">
                    <a:lumMod val="95000"/>
                    <a:lumOff val="5000"/>
                  </a:schemeClr>
                </a:solidFill>
                <a:latin typeface="Arial" pitchFamily="34" charset="0"/>
                <a:cs typeface="Arial" pitchFamily="34" charset="0"/>
              </a:defRPr>
            </a:lvl5pPr>
            <a:extLst/>
          </a:lstStyle>
          <a:p>
            <a:pPr lvl="0" eaLnBrk="1" latinLnBrk="0" hangingPunct="1"/>
            <a:r>
              <a:rPr lang="pt-BR" dirty="0" smtClean="0"/>
              <a:t>Clique para editar os estilos do texto mestre</a:t>
            </a:r>
          </a:p>
          <a:p>
            <a:pPr lvl="1" eaLnBrk="1" latinLnBrk="0" hangingPunct="1"/>
            <a:r>
              <a:rPr lang="pt-BR" dirty="0" smtClean="0"/>
              <a:t>Segundo nível</a:t>
            </a:r>
          </a:p>
          <a:p>
            <a:pPr lvl="2" eaLnBrk="1" latinLnBrk="0" hangingPunct="1"/>
            <a:r>
              <a:rPr lang="pt-BR" dirty="0" smtClean="0"/>
              <a:t>Terceiro nível</a:t>
            </a:r>
          </a:p>
          <a:p>
            <a:pPr lvl="3" eaLnBrk="1" latinLnBrk="0" hangingPunct="1"/>
            <a:r>
              <a:rPr lang="pt-BR" dirty="0" smtClean="0"/>
              <a:t>Quarto nível</a:t>
            </a:r>
          </a:p>
          <a:p>
            <a:pPr lvl="4" eaLnBrk="1" latinLnBrk="0" hangingPunct="1"/>
            <a:r>
              <a:rPr lang="pt-BR" dirty="0" smtClean="0"/>
              <a:t>Quinto nível</a:t>
            </a:r>
            <a:endParaRPr kumimoji="0" lang="en-US" dirty="0"/>
          </a:p>
        </p:txBody>
      </p:sp>
      <p:sp>
        <p:nvSpPr>
          <p:cNvPr id="10" name="Espaço Reservado para Data 3"/>
          <p:cNvSpPr>
            <a:spLocks noGrp="1"/>
          </p:cNvSpPr>
          <p:nvPr>
            <p:ph type="dt" sz="half" idx="10"/>
          </p:nvPr>
        </p:nvSpPr>
        <p:spPr>
          <a:xfrm>
            <a:off x="4245936" y="6557946"/>
            <a:ext cx="2002464" cy="226902"/>
          </a:xfrm>
        </p:spPr>
        <p:txBody>
          <a:bodyPr/>
          <a:lstStyle>
            <a:lvl1pPr>
              <a:defRPr u="none"/>
            </a:lvl1pPr>
            <a:extLst/>
          </a:lstStyle>
          <a:p>
            <a:fld id="{BD0D816C-EB40-471B-A0EA-1AF25D023FCE}" type="datetimeFigureOut">
              <a:rPr lang="pt-BR" smtClean="0"/>
              <a:pPr/>
              <a:t>08/11/2011</a:t>
            </a:fld>
            <a:endParaRPr lang="pt-BR"/>
          </a:p>
        </p:txBody>
      </p:sp>
      <p:sp>
        <p:nvSpPr>
          <p:cNvPr id="11" name="Espaço Reservado para Rodapé 4"/>
          <p:cNvSpPr>
            <a:spLocks noGrp="1"/>
          </p:cNvSpPr>
          <p:nvPr>
            <p:ph type="ftr" sz="quarter" idx="11"/>
          </p:nvPr>
        </p:nvSpPr>
        <p:spPr>
          <a:xfrm>
            <a:off x="457200" y="6557946"/>
            <a:ext cx="3657600" cy="228600"/>
          </a:xfrm>
        </p:spPr>
        <p:txBody>
          <a:bodyPr/>
          <a:lstStyle>
            <a:lvl1pPr>
              <a:defRPr u="none"/>
            </a:lvl1pPr>
            <a:extLst/>
          </a:lstStyle>
          <a:p>
            <a:endParaRPr lang="pt-BR"/>
          </a:p>
        </p:txBody>
      </p:sp>
      <p:sp>
        <p:nvSpPr>
          <p:cNvPr id="12" name="Espaço Reservado para Número de Slide 5"/>
          <p:cNvSpPr>
            <a:spLocks noGrp="1"/>
          </p:cNvSpPr>
          <p:nvPr>
            <p:ph type="sldNum" sz="quarter" idx="12"/>
          </p:nvPr>
        </p:nvSpPr>
        <p:spPr>
          <a:xfrm>
            <a:off x="6251448" y="6556248"/>
            <a:ext cx="588336" cy="228600"/>
          </a:xfrm>
        </p:spPr>
        <p:txBody>
          <a:bodyPr/>
          <a:lstStyle>
            <a:lvl1pPr>
              <a:defRPr u="none"/>
            </a:lvl1pPr>
            <a:extLst/>
          </a:lstStyle>
          <a:p>
            <a:fld id="{98DC3795-F7D9-45F4-A608-0B8ECA5E98F7}" type="slidenum">
              <a:rPr lang="pt-BR" smtClean="0"/>
              <a:pPr/>
              <a:t>‹nº›</a:t>
            </a:fld>
            <a:endParaRPr lang="pt-BR"/>
          </a:p>
        </p:txBody>
      </p:sp>
    </p:spTree>
    <p:extLst>
      <p:ext uri="{BB962C8B-B14F-4D97-AF65-F5344CB8AC3E}">
        <p14:creationId xmlns:p14="http://schemas.microsoft.com/office/powerpoint/2010/main" val="4042884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00DB3-DBF0-4086-B675-117E7A9610B8}" type="datetimeFigureOut">
              <a:rPr lang="pt-BR" smtClean="0"/>
              <a:t>08/11/2011</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9D8CF-8DEC-4D9F-84EE-ADF04DFF3391}"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image" Target="../media/image7.wmf"/><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notesSlide" Target="../notesSlides/notesSlide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4" Type="http://schemas.openxmlformats.org/officeDocument/2006/relationships/slideLayout" Target="../slideLayouts/slideLayout1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image" Target="../media/image6.wmf"/><Relationship Id="rId20" Type="http://schemas.openxmlformats.org/officeDocument/2006/relationships/tags" Target="../tags/tag20.xml"/><Relationship Id="rId41" Type="http://schemas.openxmlformats.org/officeDocument/2006/relationships/tags" Target="../tags/tag4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7.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pt-BR" dirty="0" smtClean="0"/>
              <a:t>Camada de Rede</a:t>
            </a:r>
            <a:endParaRPr lang="pt-BR" dirty="0"/>
          </a:p>
        </p:txBody>
      </p:sp>
      <p:sp>
        <p:nvSpPr>
          <p:cNvPr id="3" name="Subtítulo 2"/>
          <p:cNvSpPr>
            <a:spLocks noGrp="1"/>
          </p:cNvSpPr>
          <p:nvPr>
            <p:ph type="subTitle" idx="1"/>
          </p:nvPr>
        </p:nvSpPr>
        <p:spPr/>
        <p:txBody>
          <a:bodyPr/>
          <a:lstStyle/>
          <a:p>
            <a:r>
              <a:rPr lang="pt-BR" dirty="0" smtClean="0"/>
              <a:t>Henrique Batista da Silva</a:t>
            </a:r>
            <a:endParaRPr lang="pt-BR" dirty="0"/>
          </a:p>
        </p:txBody>
      </p:sp>
    </p:spTree>
    <p:extLst>
      <p:ext uri="{BB962C8B-B14F-4D97-AF65-F5344CB8AC3E}">
        <p14:creationId xmlns:p14="http://schemas.microsoft.com/office/powerpoint/2010/main" val="1893881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1066800" y="228600"/>
            <a:ext cx="7924800" cy="1219200"/>
          </a:xfrm>
          <a:prstGeom prst="rect">
            <a:avLst/>
          </a:prstGeom>
          <a:noFill/>
          <a:ln w="9525">
            <a:noFill/>
            <a:miter lim="800000"/>
            <a:headEnd/>
            <a:tailEnd/>
          </a:ln>
          <a:effectLst/>
        </p:spPr>
        <p:txBody>
          <a:bodyPr lIns="92075" tIns="46038" rIns="92075" bIns="46038" anchor="ctr"/>
          <a:lstStyle/>
          <a:p>
            <a:pPr algn="ctr">
              <a:lnSpc>
                <a:spcPct val="140000"/>
              </a:lnSpc>
              <a:defRPr/>
            </a:pPr>
            <a:r>
              <a:rPr lang="pt-BR" sz="4400" dirty="0"/>
              <a:t>Modelo de </a:t>
            </a:r>
            <a:r>
              <a:rPr lang="pt-BR" sz="4400" dirty="0" smtClean="0"/>
              <a:t>referência</a:t>
            </a:r>
            <a:endParaRPr lang="pt-BR" sz="4400" dirty="0">
              <a:latin typeface="+mj-lt"/>
            </a:endParaRPr>
          </a:p>
        </p:txBody>
      </p:sp>
      <p:sp>
        <p:nvSpPr>
          <p:cNvPr id="15364" name="Rectangle 5"/>
          <p:cNvSpPr>
            <a:spLocks noChangeArrowheads="1"/>
          </p:cNvSpPr>
          <p:nvPr/>
        </p:nvSpPr>
        <p:spPr bwMode="auto">
          <a:xfrm>
            <a:off x="3012926" y="2674640"/>
            <a:ext cx="3143250" cy="533400"/>
          </a:xfrm>
          <a:prstGeom prst="rect">
            <a:avLst/>
          </a:prstGeom>
          <a:solidFill>
            <a:schemeClr val="accent1">
              <a:alpha val="28000"/>
            </a:schemeClr>
          </a:solidFill>
          <a:ln>
            <a:noFill/>
          </a:ln>
          <a:extLst/>
        </p:spPr>
        <p:txBody>
          <a:bodyPr wrap="none" anchor="ctr"/>
          <a:lstStyle/>
          <a:p>
            <a:pPr defTabSz="762000"/>
            <a:r>
              <a:rPr lang="pt-BR">
                <a:solidFill>
                  <a:schemeClr val="bg1"/>
                </a:solidFill>
                <a:latin typeface="Arial" charset="0"/>
              </a:rPr>
              <a:t>Camada de transporte</a:t>
            </a:r>
          </a:p>
        </p:txBody>
      </p:sp>
      <p:sp>
        <p:nvSpPr>
          <p:cNvPr id="15367" name="Rectangle 8"/>
          <p:cNvSpPr>
            <a:spLocks noChangeArrowheads="1"/>
          </p:cNvSpPr>
          <p:nvPr/>
        </p:nvSpPr>
        <p:spPr bwMode="auto">
          <a:xfrm>
            <a:off x="3012926" y="2060848"/>
            <a:ext cx="3143250" cy="533400"/>
          </a:xfrm>
          <a:prstGeom prst="rect">
            <a:avLst/>
          </a:prstGeom>
          <a:solidFill>
            <a:schemeClr val="accent1">
              <a:alpha val="28000"/>
            </a:schemeClr>
          </a:solidFill>
          <a:ln>
            <a:noFill/>
          </a:ln>
          <a:extLst/>
        </p:spPr>
        <p:txBody>
          <a:bodyPr wrap="none" anchor="ctr"/>
          <a:lstStyle/>
          <a:p>
            <a:pPr defTabSz="762000"/>
            <a:r>
              <a:rPr lang="pt-BR" dirty="0">
                <a:solidFill>
                  <a:schemeClr val="bg1"/>
                </a:solidFill>
                <a:latin typeface="Arial" charset="0"/>
              </a:rPr>
              <a:t>Camada de aplicação</a:t>
            </a:r>
            <a:endParaRPr lang="pt-BR" dirty="0">
              <a:solidFill>
                <a:schemeClr val="bg1"/>
              </a:solidFill>
            </a:endParaRPr>
          </a:p>
        </p:txBody>
      </p:sp>
      <p:sp>
        <p:nvSpPr>
          <p:cNvPr id="15368" name="Rectangle 9"/>
          <p:cNvSpPr>
            <a:spLocks noChangeArrowheads="1"/>
          </p:cNvSpPr>
          <p:nvPr/>
        </p:nvSpPr>
        <p:spPr bwMode="auto">
          <a:xfrm>
            <a:off x="3012926" y="3284240"/>
            <a:ext cx="3143250" cy="533400"/>
          </a:xfrm>
          <a:prstGeom prst="rect">
            <a:avLst/>
          </a:prstGeom>
          <a:solidFill>
            <a:schemeClr val="accent1"/>
          </a:solidFill>
          <a:ln>
            <a:noFill/>
          </a:ln>
          <a:extLst/>
        </p:spPr>
        <p:txBody>
          <a:bodyPr wrap="none" anchor="ctr"/>
          <a:lstStyle/>
          <a:p>
            <a:pPr defTabSz="762000"/>
            <a:r>
              <a:rPr lang="pt-BR" dirty="0">
                <a:solidFill>
                  <a:srgbClr val="FFFF00"/>
                </a:solidFill>
                <a:latin typeface="Arial" charset="0"/>
              </a:rPr>
              <a:t>Camada de rede</a:t>
            </a:r>
          </a:p>
        </p:txBody>
      </p:sp>
      <p:sp>
        <p:nvSpPr>
          <p:cNvPr id="15370" name="Rectangle 11"/>
          <p:cNvSpPr>
            <a:spLocks noChangeArrowheads="1"/>
          </p:cNvSpPr>
          <p:nvPr/>
        </p:nvSpPr>
        <p:spPr bwMode="auto">
          <a:xfrm>
            <a:off x="3012926" y="3893840"/>
            <a:ext cx="3143250" cy="533400"/>
          </a:xfrm>
          <a:prstGeom prst="rect">
            <a:avLst/>
          </a:prstGeom>
          <a:solidFill>
            <a:schemeClr val="accent1"/>
          </a:solidFill>
          <a:ln>
            <a:noFill/>
          </a:ln>
          <a:extLst/>
        </p:spPr>
        <p:txBody>
          <a:bodyPr wrap="none" anchor="ctr"/>
          <a:lstStyle/>
          <a:p>
            <a:pPr defTabSz="762000"/>
            <a:r>
              <a:rPr lang="pt-BR" dirty="0">
                <a:solidFill>
                  <a:schemeClr val="bg1"/>
                </a:solidFill>
                <a:latin typeface="Arial" charset="0"/>
              </a:rPr>
              <a:t>Camada de enlace</a:t>
            </a:r>
          </a:p>
        </p:txBody>
      </p:sp>
      <p:sp>
        <p:nvSpPr>
          <p:cNvPr id="8" name="Rectangle 11"/>
          <p:cNvSpPr>
            <a:spLocks noChangeArrowheads="1"/>
          </p:cNvSpPr>
          <p:nvPr/>
        </p:nvSpPr>
        <p:spPr bwMode="auto">
          <a:xfrm>
            <a:off x="3012926" y="4509120"/>
            <a:ext cx="3143250" cy="533400"/>
          </a:xfrm>
          <a:prstGeom prst="rect">
            <a:avLst/>
          </a:prstGeom>
          <a:solidFill>
            <a:schemeClr val="accent1"/>
          </a:solidFill>
          <a:ln>
            <a:noFill/>
          </a:ln>
          <a:extLst/>
        </p:spPr>
        <p:txBody>
          <a:bodyPr wrap="none" anchor="ctr"/>
          <a:lstStyle/>
          <a:p>
            <a:pPr defTabSz="762000"/>
            <a:r>
              <a:rPr lang="pt-BR" dirty="0">
                <a:solidFill>
                  <a:schemeClr val="bg1"/>
                </a:solidFill>
                <a:latin typeface="Arial" charset="0"/>
              </a:rPr>
              <a:t>Camada </a:t>
            </a:r>
            <a:r>
              <a:rPr lang="pt-BR" dirty="0" smtClean="0">
                <a:solidFill>
                  <a:schemeClr val="bg1"/>
                </a:solidFill>
                <a:latin typeface="Arial" charset="0"/>
              </a:rPr>
              <a:t>Física</a:t>
            </a:r>
            <a:endParaRPr lang="pt-BR" dirty="0">
              <a:solidFill>
                <a:schemeClr val="bg1"/>
              </a:solidFill>
              <a:latin typeface="Arial" charset="0"/>
            </a:endParaRPr>
          </a:p>
        </p:txBody>
      </p:sp>
    </p:spTree>
    <p:extLst>
      <p:ext uri="{BB962C8B-B14F-4D97-AF65-F5344CB8AC3E}">
        <p14:creationId xmlns:p14="http://schemas.microsoft.com/office/powerpoint/2010/main" val="303676053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Introdução</a:t>
            </a:r>
            <a:endParaRPr lang="pt-BR" dirty="0"/>
          </a:p>
        </p:txBody>
      </p:sp>
      <p:sp>
        <p:nvSpPr>
          <p:cNvPr id="3" name="Espaço Reservado para Conteúdo 2"/>
          <p:cNvSpPr>
            <a:spLocks noGrp="1"/>
          </p:cNvSpPr>
          <p:nvPr>
            <p:ph idx="1"/>
          </p:nvPr>
        </p:nvSpPr>
        <p:spPr/>
        <p:txBody>
          <a:bodyPr/>
          <a:lstStyle/>
          <a:p>
            <a:r>
              <a:rPr lang="pt-BR" dirty="0"/>
              <a:t>Propósito: trafegar um pacote a partir da origem até o destino, ao invés de frames como a camada de </a:t>
            </a:r>
            <a:r>
              <a:rPr lang="pt-BR" dirty="0" smtClean="0"/>
              <a:t>enlace;</a:t>
            </a:r>
          </a:p>
          <a:p>
            <a:r>
              <a:rPr lang="pt-BR" dirty="0"/>
              <a:t>A camada de redes deve conhecer a topologia da </a:t>
            </a:r>
            <a:r>
              <a:rPr lang="pt-BR" dirty="0" smtClean="0"/>
              <a:t>rede e escolher o caminho mais apropriado;</a:t>
            </a:r>
          </a:p>
          <a:p>
            <a:r>
              <a:rPr lang="pt-BR" dirty="0"/>
              <a:t>Podem ser necessários vários saltos até atingir o </a:t>
            </a:r>
            <a:r>
              <a:rPr lang="pt-BR" dirty="0" smtClean="0"/>
              <a:t>destino.</a:t>
            </a:r>
            <a:endParaRPr lang="pt-BR" dirty="0"/>
          </a:p>
        </p:txBody>
      </p:sp>
    </p:spTree>
    <p:extLst>
      <p:ext uri="{BB962C8B-B14F-4D97-AF65-F5344CB8AC3E}">
        <p14:creationId xmlns:p14="http://schemas.microsoft.com/office/powerpoint/2010/main" val="1116542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lvl="1" algn="ctr" rtl="0">
              <a:spcBef>
                <a:spcPct val="0"/>
              </a:spcBef>
            </a:pPr>
            <a:r>
              <a:rPr lang="pt-BR" sz="3600" kern="1200" dirty="0">
                <a:solidFill>
                  <a:schemeClr val="tx1"/>
                </a:solidFill>
                <a:latin typeface="+mj-lt"/>
                <a:ea typeface="+mj-ea"/>
                <a:cs typeface="+mj-cs"/>
              </a:rPr>
              <a:t>Questões de Projeto da Camada de Rede</a:t>
            </a:r>
          </a:p>
        </p:txBody>
      </p:sp>
      <p:sp>
        <p:nvSpPr>
          <p:cNvPr id="3" name="Espaço Reservado para Conteúdo 2"/>
          <p:cNvSpPr>
            <a:spLocks noGrp="1"/>
          </p:cNvSpPr>
          <p:nvPr>
            <p:ph idx="1"/>
          </p:nvPr>
        </p:nvSpPr>
        <p:spPr>
          <a:xfrm>
            <a:off x="457200" y="1600201"/>
            <a:ext cx="8229600" cy="748680"/>
          </a:xfrm>
        </p:spPr>
        <p:txBody>
          <a:bodyPr/>
          <a:lstStyle/>
          <a:p>
            <a:r>
              <a:rPr lang="pt-BR" dirty="0"/>
              <a:t>Interface entre </a:t>
            </a:r>
            <a:r>
              <a:rPr lang="pt-BR" dirty="0" err="1"/>
              <a:t>backbone</a:t>
            </a:r>
            <a:r>
              <a:rPr lang="pt-BR" dirty="0"/>
              <a:t> e os clientes</a:t>
            </a:r>
          </a:p>
        </p:txBody>
      </p:sp>
      <p:pic>
        <p:nvPicPr>
          <p:cNvPr id="1026" name="Picture 2" descr="5-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607" y="2780928"/>
            <a:ext cx="6395750" cy="241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2711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357188"/>
            <a:ext cx="7772400" cy="633412"/>
          </a:xfrm>
        </p:spPr>
        <p:txBody>
          <a:bodyPr>
            <a:normAutofit fontScale="90000"/>
          </a:bodyPr>
          <a:lstStyle/>
          <a:p>
            <a:pPr eaLnBrk="1" hangingPunct="1">
              <a:defRPr/>
            </a:pPr>
            <a:r>
              <a:rPr lang="en-US" sz="4000" smtClean="0"/>
              <a:t>Placas (rede)</a:t>
            </a:r>
            <a:endParaRPr lang="pt-BR" sz="4000" smtClean="0"/>
          </a:p>
        </p:txBody>
      </p:sp>
      <p:pic>
        <p:nvPicPr>
          <p:cNvPr id="44035" name="Picture 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2362200"/>
            <a:ext cx="3886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4036" name="Text Box 10"/>
          <p:cNvSpPr txBox="1">
            <a:spLocks noChangeArrowheads="1"/>
          </p:cNvSpPr>
          <p:nvPr/>
        </p:nvSpPr>
        <p:spPr bwMode="auto">
          <a:xfrm>
            <a:off x="762000" y="1474788"/>
            <a:ext cx="256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pt-PT" sz="1800" b="1">
                <a:solidFill>
                  <a:srgbClr val="FF3300"/>
                </a:solidFill>
              </a:rPr>
              <a:t>Placas de Rede Ethernet</a:t>
            </a:r>
            <a:endParaRPr lang="pt-BR" sz="1800" b="1">
              <a:solidFill>
                <a:srgbClr val="FF3300"/>
              </a:solidFill>
            </a:endParaRPr>
          </a:p>
        </p:txBody>
      </p:sp>
      <p:sp>
        <p:nvSpPr>
          <p:cNvPr id="44037" name="Rectangle 11"/>
          <p:cNvSpPr>
            <a:spLocks noChangeArrowheads="1"/>
          </p:cNvSpPr>
          <p:nvPr/>
        </p:nvSpPr>
        <p:spPr bwMode="auto">
          <a:xfrm>
            <a:off x="5257800" y="1447800"/>
            <a:ext cx="3100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pt-BR" u="sng">
                <a:solidFill>
                  <a:srgbClr val="008000"/>
                </a:solidFill>
              </a:rPr>
              <a:t>FUNÇÕES BÁSICAS</a:t>
            </a:r>
            <a:r>
              <a:rPr lang="pt-BR">
                <a:solidFill>
                  <a:srgbClr val="008000"/>
                </a:solidFill>
              </a:rPr>
              <a:t> :</a:t>
            </a:r>
          </a:p>
        </p:txBody>
      </p:sp>
      <p:sp>
        <p:nvSpPr>
          <p:cNvPr id="44038" name="Text Box 12"/>
          <p:cNvSpPr txBox="1">
            <a:spLocks noChangeArrowheads="1"/>
          </p:cNvSpPr>
          <p:nvPr/>
        </p:nvSpPr>
        <p:spPr bwMode="auto">
          <a:xfrm>
            <a:off x="5105400" y="1981200"/>
            <a:ext cx="35052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pt-PT"/>
              <a:t>- Preparar dados do computador na Rede </a:t>
            </a:r>
          </a:p>
          <a:p>
            <a:pPr eaLnBrk="1" hangingPunct="1"/>
            <a:r>
              <a:rPr lang="pt-PT"/>
              <a:t>- Enviar e receber dados de outro computador</a:t>
            </a:r>
          </a:p>
          <a:p>
            <a:pPr eaLnBrk="1" hangingPunct="1"/>
            <a:r>
              <a:rPr lang="pt-PT"/>
              <a:t>- Controlar o fluxo de dados entre o comutador e a  mídia de comunicação</a:t>
            </a:r>
            <a:endParaRPr lang="pt-BR"/>
          </a:p>
        </p:txBody>
      </p:sp>
      <p:sp>
        <p:nvSpPr>
          <p:cNvPr id="44039" name="Rectangle 13"/>
          <p:cNvSpPr>
            <a:spLocks noChangeArrowheads="1"/>
          </p:cNvSpPr>
          <p:nvPr/>
        </p:nvSpPr>
        <p:spPr bwMode="auto">
          <a:xfrm>
            <a:off x="457200" y="5540375"/>
            <a:ext cx="820102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Bef>
                <a:spcPct val="50000"/>
              </a:spcBef>
            </a:pPr>
            <a:r>
              <a:rPr lang="pt-PT" sz="2000"/>
              <a:t>- </a:t>
            </a:r>
            <a:r>
              <a:rPr lang="pt-BR" sz="2000"/>
              <a:t>Toda placa de rede possui um único endereço que a identifica na rede</a:t>
            </a:r>
            <a:r>
              <a:rPr lang="pt-PT" sz="2000"/>
              <a:t> (MAC)</a:t>
            </a:r>
          </a:p>
          <a:p>
            <a:pPr eaLnBrk="0" hangingPunct="0">
              <a:spcBef>
                <a:spcPct val="50000"/>
              </a:spcBef>
            </a:pPr>
            <a:r>
              <a:rPr lang="pt-PT" sz="2000"/>
              <a:t>- Trabalha  na velocidade de 10 ou 100Mbps ou 1Gbps (Gigabit Ethernet)</a:t>
            </a:r>
            <a:endParaRPr lang="pt-BR" sz="2000"/>
          </a:p>
        </p:txBody>
      </p:sp>
    </p:spTree>
    <p:extLst>
      <p:ext uri="{BB962C8B-B14F-4D97-AF65-F5344CB8AC3E}">
        <p14:creationId xmlns:p14="http://schemas.microsoft.com/office/powerpoint/2010/main" val="2495050940"/>
      </p:ext>
    </p:extLst>
  </p:cSld>
  <p:clrMapOvr>
    <a:masterClrMapping/>
  </p:clrMapOvr>
  <p:transition spd="med">
    <p:sndAc>
      <p:stSnd>
        <p:snd r:embed="rId2" name="LASER.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5800" y="357188"/>
            <a:ext cx="7772400" cy="633412"/>
          </a:xfrm>
        </p:spPr>
        <p:txBody>
          <a:bodyPr>
            <a:normAutofit fontScale="90000"/>
          </a:bodyPr>
          <a:lstStyle/>
          <a:p>
            <a:pPr eaLnBrk="1" hangingPunct="1">
              <a:defRPr/>
            </a:pPr>
            <a:r>
              <a:rPr lang="en-US" sz="4000" smtClean="0"/>
              <a:t>Hub’s</a:t>
            </a:r>
            <a:endParaRPr lang="pt-BR" sz="4000" smtClean="0"/>
          </a:p>
        </p:txBody>
      </p:sp>
      <p:sp>
        <p:nvSpPr>
          <p:cNvPr id="41987" name="Text Box 5"/>
          <p:cNvSpPr txBox="1">
            <a:spLocks noChangeArrowheads="1"/>
          </p:cNvSpPr>
          <p:nvPr/>
        </p:nvSpPr>
        <p:spPr bwMode="auto">
          <a:xfrm>
            <a:off x="228600" y="1219200"/>
            <a:ext cx="4343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r>
              <a:rPr lang="pt-PT" sz="1800"/>
              <a:t>Os Hubs são basicamente os equipamentos que permitem agrupamentos físicos de vários outros equipamentos ligados em rede,  em  barramento,  através de cabos par trançado.</a:t>
            </a:r>
            <a:endParaRPr lang="pt-BR" sz="1800"/>
          </a:p>
        </p:txBody>
      </p:sp>
      <p:pic>
        <p:nvPicPr>
          <p:cNvPr id="4198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28800"/>
            <a:ext cx="4191000"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1989" name="Rectangle 7"/>
          <p:cNvSpPr>
            <a:spLocks noChangeArrowheads="1"/>
          </p:cNvSpPr>
          <p:nvPr/>
        </p:nvSpPr>
        <p:spPr bwMode="auto">
          <a:xfrm>
            <a:off x="5105400" y="1143000"/>
            <a:ext cx="3581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20000"/>
              </a:spcBef>
            </a:pPr>
            <a:r>
              <a:rPr lang="pt-BR" sz="1800" b="1"/>
              <a:t>Interconexão de Hubs em um rede em Barramento</a:t>
            </a:r>
          </a:p>
        </p:txBody>
      </p:sp>
      <p:sp>
        <p:nvSpPr>
          <p:cNvPr id="41990" name="Text Box 8"/>
          <p:cNvSpPr txBox="1">
            <a:spLocks noChangeArrowheads="1"/>
          </p:cNvSpPr>
          <p:nvPr/>
        </p:nvSpPr>
        <p:spPr bwMode="auto">
          <a:xfrm>
            <a:off x="152400" y="3657600"/>
            <a:ext cx="441960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pt-BR" sz="1800">
                <a:solidFill>
                  <a:srgbClr val="008000"/>
                </a:solidFill>
              </a:rPr>
              <a:t>Desvantagem :</a:t>
            </a:r>
            <a:r>
              <a:rPr lang="en-US" sz="1800">
                <a:solidFill>
                  <a:srgbClr val="008000"/>
                </a:solidFill>
              </a:rPr>
              <a:t> </a:t>
            </a:r>
            <a:br>
              <a:rPr lang="en-US" sz="1800">
                <a:solidFill>
                  <a:srgbClr val="008000"/>
                </a:solidFill>
              </a:rPr>
            </a:br>
            <a:r>
              <a:rPr lang="pt-BR" sz="1800"/>
              <a:t>Em caso de falha do elemento central, </a:t>
            </a:r>
            <a:r>
              <a:rPr lang="en-US" sz="1800"/>
              <a:t> </a:t>
            </a:r>
            <a:r>
              <a:rPr lang="pt-BR" sz="1800"/>
              <a:t>toda a rede</a:t>
            </a:r>
            <a:r>
              <a:rPr lang="en-US" sz="1800"/>
              <a:t> </a:t>
            </a:r>
            <a:r>
              <a:rPr lang="pt-BR" sz="1800"/>
              <a:t>deixa de funcionar</a:t>
            </a:r>
            <a:r>
              <a:rPr lang="en-US" sz="1800"/>
              <a:t>; a</a:t>
            </a:r>
            <a:r>
              <a:rPr lang="pt-PT" sz="1800"/>
              <a:t>ssim como no cabo coaxial, temos uma  alta taxa de colisão de pacotes pois todos  os equipamentos estarão num  mesmo meio físico, sendo que num dado  instante somente um poderá enviar ou receber dados.</a:t>
            </a:r>
            <a:endParaRPr lang="pt-BR" sz="1800"/>
          </a:p>
        </p:txBody>
      </p:sp>
      <p:sp>
        <p:nvSpPr>
          <p:cNvPr id="41991" name="Text Box 11"/>
          <p:cNvSpPr txBox="1">
            <a:spLocks noChangeArrowheads="1"/>
          </p:cNvSpPr>
          <p:nvPr/>
        </p:nvSpPr>
        <p:spPr bwMode="auto">
          <a:xfrm>
            <a:off x="1066800" y="6491288"/>
            <a:ext cx="7848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pt-PT" sz="1800"/>
              <a:t>- </a:t>
            </a:r>
            <a:r>
              <a:rPr lang="pt-BR" sz="1800"/>
              <a:t>Possibilidade de monitoração centralizada de atividade e tráfego da rede</a:t>
            </a:r>
          </a:p>
        </p:txBody>
      </p:sp>
      <p:pic>
        <p:nvPicPr>
          <p:cNvPr id="41992" name="Picture 12" descr="C:\SENAC\2001\figuras\3c16750a_oc_dshub_8.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514600"/>
            <a:ext cx="1905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3" name="Rectangle 13"/>
          <p:cNvSpPr>
            <a:spLocks noChangeArrowheads="1"/>
          </p:cNvSpPr>
          <p:nvPr/>
        </p:nvSpPr>
        <p:spPr bwMode="auto">
          <a:xfrm>
            <a:off x="4572000" y="4648200"/>
            <a:ext cx="43434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pt-BR" sz="1800">
                <a:solidFill>
                  <a:srgbClr val="008000"/>
                </a:solidFill>
              </a:rPr>
              <a:t>Vantagem :</a:t>
            </a:r>
            <a:r>
              <a:rPr lang="en-US" sz="1800">
                <a:solidFill>
                  <a:srgbClr val="008000"/>
                </a:solidFill>
              </a:rPr>
              <a:t>     </a:t>
            </a:r>
            <a:r>
              <a:rPr lang="en-US" sz="1800">
                <a:solidFill>
                  <a:schemeClr val="bg1"/>
                </a:solidFill>
              </a:rPr>
              <a:t/>
            </a:r>
            <a:br>
              <a:rPr lang="en-US" sz="1800">
                <a:solidFill>
                  <a:schemeClr val="bg1"/>
                </a:solidFill>
              </a:rPr>
            </a:br>
            <a:r>
              <a:rPr lang="pt-BR" sz="1800"/>
              <a:t>Em caso de falha de um cabo conectado </a:t>
            </a:r>
            <a:r>
              <a:rPr lang="en-US" sz="1800"/>
              <a:t> </a:t>
            </a:r>
            <a:r>
              <a:rPr lang="pt-BR" sz="1800"/>
              <a:t>a</a:t>
            </a:r>
            <a:r>
              <a:rPr lang="en-US" sz="1800"/>
              <a:t> </a:t>
            </a:r>
            <a:r>
              <a:rPr lang="pt-BR" sz="1800"/>
              <a:t>um</a:t>
            </a:r>
            <a:r>
              <a:rPr lang="en-US" sz="1800"/>
              <a:t> </a:t>
            </a:r>
            <a:r>
              <a:rPr lang="pt-BR" sz="1800"/>
              <a:t>computador,</a:t>
            </a:r>
            <a:r>
              <a:rPr lang="en-US" sz="1800"/>
              <a:t> </a:t>
            </a:r>
            <a:r>
              <a:rPr lang="pt-BR" sz="1800"/>
              <a:t>somente</a:t>
            </a:r>
            <a:r>
              <a:rPr lang="pt-PT" sz="1800"/>
              <a:t>  essa unidade deixará de comunicar-se com as demais. </a:t>
            </a:r>
            <a:r>
              <a:rPr lang="pt-BR" sz="1800"/>
              <a:t>Facilidade de ampliação da rede ou do</a:t>
            </a:r>
            <a:r>
              <a:rPr lang="en-US" sz="1800"/>
              <a:t> </a:t>
            </a:r>
            <a:r>
              <a:rPr lang="pt-BR" sz="1800"/>
              <a:t>cabeamento</a:t>
            </a:r>
            <a:r>
              <a:rPr lang="en-US" sz="1800"/>
              <a:t>.</a:t>
            </a:r>
            <a:endParaRPr lang="pt-BR" sz="1800"/>
          </a:p>
        </p:txBody>
      </p:sp>
    </p:spTree>
    <p:extLst>
      <p:ext uri="{BB962C8B-B14F-4D97-AF65-F5344CB8AC3E}">
        <p14:creationId xmlns:p14="http://schemas.microsoft.com/office/powerpoint/2010/main" val="881439037"/>
      </p:ext>
    </p:extLst>
  </p:cSld>
  <p:clrMapOvr>
    <a:masterClrMapping/>
  </p:clrMapOvr>
  <p:transition spd="med">
    <p:sndAc>
      <p:stSnd>
        <p:snd r:embed="rId3" name="LASER.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285750"/>
            <a:ext cx="7772400" cy="704850"/>
          </a:xfrm>
        </p:spPr>
        <p:txBody>
          <a:bodyPr/>
          <a:lstStyle/>
          <a:p>
            <a:pPr eaLnBrk="1" hangingPunct="1">
              <a:defRPr/>
            </a:pPr>
            <a:r>
              <a:rPr lang="pt-PT" sz="4000" dirty="0" smtClean="0"/>
              <a:t>Switches</a:t>
            </a:r>
            <a:endParaRPr lang="pt-BR" sz="4000" dirty="0" smtClean="0"/>
          </a:p>
        </p:txBody>
      </p:sp>
      <p:sp>
        <p:nvSpPr>
          <p:cNvPr id="43011" name="Text Box 4"/>
          <p:cNvSpPr txBox="1">
            <a:spLocks noChangeArrowheads="1"/>
          </p:cNvSpPr>
          <p:nvPr/>
        </p:nvSpPr>
        <p:spPr bwMode="auto">
          <a:xfrm>
            <a:off x="762000" y="1295400"/>
            <a:ext cx="75438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eaLnBrk="1" hangingPunct="1"/>
            <a:r>
              <a:rPr lang="pt-PT" sz="2000"/>
              <a:t>- Os Switches (chaveadores) são equipamentos que também agregam outros que estão na rede,  porém quando uma máquina envia seus dados para outra máquina, primeiro ela analiza  e depois as envia, fazendo assim um chaveamento de dois em dois de forma a não influenciar a transmissão/comunicação de dados entre outras estações. Atua geralmente na camada 2.</a:t>
            </a:r>
            <a:endParaRPr lang="pt-BR" sz="2000"/>
          </a:p>
        </p:txBody>
      </p:sp>
      <p:grpSp>
        <p:nvGrpSpPr>
          <p:cNvPr id="43012" name="Group 5"/>
          <p:cNvGrpSpPr>
            <a:grpSpLocks/>
          </p:cNvGrpSpPr>
          <p:nvPr/>
        </p:nvGrpSpPr>
        <p:grpSpPr bwMode="auto">
          <a:xfrm>
            <a:off x="7010400" y="5394325"/>
            <a:ext cx="584200" cy="728663"/>
            <a:chOff x="186" y="2861"/>
            <a:chExt cx="608" cy="665"/>
          </a:xfrm>
        </p:grpSpPr>
        <p:sp>
          <p:nvSpPr>
            <p:cNvPr id="43203" name="Rectangle 6"/>
            <p:cNvSpPr>
              <a:spLocks noChangeArrowheads="1"/>
            </p:cNvSpPr>
            <p:nvPr/>
          </p:nvSpPr>
          <p:spPr bwMode="auto">
            <a:xfrm>
              <a:off x="309" y="3183"/>
              <a:ext cx="387" cy="46"/>
            </a:xfrm>
            <a:prstGeom prst="rect">
              <a:avLst/>
            </a:prstGeom>
            <a:solidFill>
              <a:srgbClr val="919191"/>
            </a:solidFill>
            <a:ln w="12700">
              <a:solidFill>
                <a:srgbClr val="232323"/>
              </a:solidFill>
              <a:miter lim="800000"/>
              <a:headEnd/>
              <a:tailEnd/>
            </a:ln>
          </p:spPr>
          <p:txBody>
            <a:bodyPr wrap="none" anchor="ctr"/>
            <a:lstStyle/>
            <a:p>
              <a:endParaRPr lang="pt-BR"/>
            </a:p>
          </p:txBody>
        </p:sp>
        <p:grpSp>
          <p:nvGrpSpPr>
            <p:cNvPr id="43204" name="Group 7"/>
            <p:cNvGrpSpPr>
              <a:grpSpLocks/>
            </p:cNvGrpSpPr>
            <p:nvPr/>
          </p:nvGrpSpPr>
          <p:grpSpPr bwMode="auto">
            <a:xfrm>
              <a:off x="260" y="3221"/>
              <a:ext cx="486" cy="159"/>
              <a:chOff x="260" y="3221"/>
              <a:chExt cx="486" cy="159"/>
            </a:xfrm>
          </p:grpSpPr>
          <p:sp>
            <p:nvSpPr>
              <p:cNvPr id="43222" name="Rectangle 8"/>
              <p:cNvSpPr>
                <a:spLocks noChangeArrowheads="1"/>
              </p:cNvSpPr>
              <p:nvPr/>
            </p:nvSpPr>
            <p:spPr bwMode="auto">
              <a:xfrm>
                <a:off x="266" y="3224"/>
                <a:ext cx="475" cy="152"/>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grpSp>
            <p:nvGrpSpPr>
              <p:cNvPr id="43223" name="Group 9"/>
              <p:cNvGrpSpPr>
                <a:grpSpLocks/>
              </p:cNvGrpSpPr>
              <p:nvPr/>
            </p:nvGrpSpPr>
            <p:grpSpPr bwMode="auto">
              <a:xfrm>
                <a:off x="294" y="3262"/>
                <a:ext cx="105" cy="41"/>
                <a:chOff x="294" y="3262"/>
                <a:chExt cx="105" cy="41"/>
              </a:xfrm>
            </p:grpSpPr>
            <p:sp>
              <p:nvSpPr>
                <p:cNvPr id="43261" name="Oval 10"/>
                <p:cNvSpPr>
                  <a:spLocks noChangeArrowheads="1"/>
                </p:cNvSpPr>
                <p:nvPr/>
              </p:nvSpPr>
              <p:spPr bwMode="auto">
                <a:xfrm>
                  <a:off x="294" y="3262"/>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262" name="Oval 11"/>
                <p:cNvSpPr>
                  <a:spLocks noChangeArrowheads="1"/>
                </p:cNvSpPr>
                <p:nvPr/>
              </p:nvSpPr>
              <p:spPr bwMode="auto">
                <a:xfrm>
                  <a:off x="325" y="3262"/>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263" name="Oval 12"/>
                <p:cNvSpPr>
                  <a:spLocks noChangeArrowheads="1"/>
                </p:cNvSpPr>
                <p:nvPr/>
              </p:nvSpPr>
              <p:spPr bwMode="auto">
                <a:xfrm>
                  <a:off x="357" y="3262"/>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264" name="Oval 13"/>
                <p:cNvSpPr>
                  <a:spLocks noChangeArrowheads="1"/>
                </p:cNvSpPr>
                <p:nvPr/>
              </p:nvSpPr>
              <p:spPr bwMode="auto">
                <a:xfrm>
                  <a:off x="388" y="3262"/>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265" name="Oval 14"/>
                <p:cNvSpPr>
                  <a:spLocks noChangeArrowheads="1"/>
                </p:cNvSpPr>
                <p:nvPr/>
              </p:nvSpPr>
              <p:spPr bwMode="auto">
                <a:xfrm>
                  <a:off x="294" y="3291"/>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266" name="Oval 15"/>
                <p:cNvSpPr>
                  <a:spLocks noChangeArrowheads="1"/>
                </p:cNvSpPr>
                <p:nvPr/>
              </p:nvSpPr>
              <p:spPr bwMode="auto">
                <a:xfrm>
                  <a:off x="325" y="3291"/>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267" name="Oval 16"/>
                <p:cNvSpPr>
                  <a:spLocks noChangeArrowheads="1"/>
                </p:cNvSpPr>
                <p:nvPr/>
              </p:nvSpPr>
              <p:spPr bwMode="auto">
                <a:xfrm>
                  <a:off x="357" y="3291"/>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268" name="Oval 17"/>
                <p:cNvSpPr>
                  <a:spLocks noChangeArrowheads="1"/>
                </p:cNvSpPr>
                <p:nvPr/>
              </p:nvSpPr>
              <p:spPr bwMode="auto">
                <a:xfrm>
                  <a:off x="388" y="3291"/>
                  <a:ext cx="11" cy="12"/>
                </a:xfrm>
                <a:prstGeom prst="ellipse">
                  <a:avLst/>
                </a:prstGeom>
                <a:solidFill>
                  <a:srgbClr val="232323"/>
                </a:solidFill>
                <a:ln w="12700">
                  <a:solidFill>
                    <a:srgbClr val="232323"/>
                  </a:solidFill>
                  <a:round/>
                  <a:headEnd/>
                  <a:tailEnd/>
                </a:ln>
              </p:spPr>
              <p:txBody>
                <a:bodyPr wrap="none" anchor="ctr"/>
                <a:lstStyle/>
                <a:p>
                  <a:endParaRPr lang="pt-BR"/>
                </a:p>
              </p:txBody>
            </p:sp>
          </p:grpSp>
          <p:grpSp>
            <p:nvGrpSpPr>
              <p:cNvPr id="43224" name="Group 18"/>
              <p:cNvGrpSpPr>
                <a:grpSpLocks/>
              </p:cNvGrpSpPr>
              <p:nvPr/>
            </p:nvGrpSpPr>
            <p:grpSpPr bwMode="auto">
              <a:xfrm>
                <a:off x="264" y="3327"/>
                <a:ext cx="477" cy="48"/>
                <a:chOff x="264" y="3327"/>
                <a:chExt cx="477" cy="48"/>
              </a:xfrm>
            </p:grpSpPr>
            <p:sp>
              <p:nvSpPr>
                <p:cNvPr id="43246" name="Line 19"/>
                <p:cNvSpPr>
                  <a:spLocks noChangeShapeType="1"/>
                </p:cNvSpPr>
                <p:nvPr/>
              </p:nvSpPr>
              <p:spPr bwMode="auto">
                <a:xfrm>
                  <a:off x="302"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7" name="Line 20"/>
                <p:cNvSpPr>
                  <a:spLocks noChangeShapeType="1"/>
                </p:cNvSpPr>
                <p:nvPr/>
              </p:nvSpPr>
              <p:spPr bwMode="auto">
                <a:xfrm flipH="1">
                  <a:off x="264" y="3327"/>
                  <a:ext cx="477" cy="0"/>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8" name="Line 21"/>
                <p:cNvSpPr>
                  <a:spLocks noChangeShapeType="1"/>
                </p:cNvSpPr>
                <p:nvPr/>
              </p:nvSpPr>
              <p:spPr bwMode="auto">
                <a:xfrm>
                  <a:off x="334"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9" name="Line 22"/>
                <p:cNvSpPr>
                  <a:spLocks noChangeShapeType="1"/>
                </p:cNvSpPr>
                <p:nvPr/>
              </p:nvSpPr>
              <p:spPr bwMode="auto">
                <a:xfrm>
                  <a:off x="365"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0" name="Line 23"/>
                <p:cNvSpPr>
                  <a:spLocks noChangeShapeType="1"/>
                </p:cNvSpPr>
                <p:nvPr/>
              </p:nvSpPr>
              <p:spPr bwMode="auto">
                <a:xfrm>
                  <a:off x="397"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1" name="Line 24"/>
                <p:cNvSpPr>
                  <a:spLocks noChangeShapeType="1"/>
                </p:cNvSpPr>
                <p:nvPr/>
              </p:nvSpPr>
              <p:spPr bwMode="auto">
                <a:xfrm>
                  <a:off x="428"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2" name="Line 25"/>
                <p:cNvSpPr>
                  <a:spLocks noChangeShapeType="1"/>
                </p:cNvSpPr>
                <p:nvPr/>
              </p:nvSpPr>
              <p:spPr bwMode="auto">
                <a:xfrm>
                  <a:off x="460"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3" name="Line 26"/>
                <p:cNvSpPr>
                  <a:spLocks noChangeShapeType="1"/>
                </p:cNvSpPr>
                <p:nvPr/>
              </p:nvSpPr>
              <p:spPr bwMode="auto">
                <a:xfrm>
                  <a:off x="490"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4" name="Line 27"/>
                <p:cNvSpPr>
                  <a:spLocks noChangeShapeType="1"/>
                </p:cNvSpPr>
                <p:nvPr/>
              </p:nvSpPr>
              <p:spPr bwMode="auto">
                <a:xfrm>
                  <a:off x="522"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5" name="Line 28"/>
                <p:cNvSpPr>
                  <a:spLocks noChangeShapeType="1"/>
                </p:cNvSpPr>
                <p:nvPr/>
              </p:nvSpPr>
              <p:spPr bwMode="auto">
                <a:xfrm>
                  <a:off x="553"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6" name="Line 29"/>
                <p:cNvSpPr>
                  <a:spLocks noChangeShapeType="1"/>
                </p:cNvSpPr>
                <p:nvPr/>
              </p:nvSpPr>
              <p:spPr bwMode="auto">
                <a:xfrm>
                  <a:off x="585"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7" name="Line 30"/>
                <p:cNvSpPr>
                  <a:spLocks noChangeShapeType="1"/>
                </p:cNvSpPr>
                <p:nvPr/>
              </p:nvSpPr>
              <p:spPr bwMode="auto">
                <a:xfrm>
                  <a:off x="616"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8" name="Line 31"/>
                <p:cNvSpPr>
                  <a:spLocks noChangeShapeType="1"/>
                </p:cNvSpPr>
                <p:nvPr/>
              </p:nvSpPr>
              <p:spPr bwMode="auto">
                <a:xfrm>
                  <a:off x="648"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59" name="Line 32"/>
                <p:cNvSpPr>
                  <a:spLocks noChangeShapeType="1"/>
                </p:cNvSpPr>
                <p:nvPr/>
              </p:nvSpPr>
              <p:spPr bwMode="auto">
                <a:xfrm>
                  <a:off x="679"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60" name="Line 33"/>
                <p:cNvSpPr>
                  <a:spLocks noChangeShapeType="1"/>
                </p:cNvSpPr>
                <p:nvPr/>
              </p:nvSpPr>
              <p:spPr bwMode="auto">
                <a:xfrm>
                  <a:off x="711"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43225" name="Group 34"/>
              <p:cNvGrpSpPr>
                <a:grpSpLocks/>
              </p:cNvGrpSpPr>
              <p:nvPr/>
            </p:nvGrpSpPr>
            <p:grpSpPr bwMode="auto">
              <a:xfrm>
                <a:off x="266" y="3335"/>
                <a:ext cx="473" cy="40"/>
                <a:chOff x="266" y="3335"/>
                <a:chExt cx="473" cy="40"/>
              </a:xfrm>
            </p:grpSpPr>
            <p:sp>
              <p:nvSpPr>
                <p:cNvPr id="43231" name="Line 35"/>
                <p:cNvSpPr>
                  <a:spLocks noChangeShapeType="1"/>
                </p:cNvSpPr>
                <p:nvPr/>
              </p:nvSpPr>
              <p:spPr bwMode="auto">
                <a:xfrm>
                  <a:off x="308"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2" name="Line 36"/>
                <p:cNvSpPr>
                  <a:spLocks noChangeShapeType="1"/>
                </p:cNvSpPr>
                <p:nvPr/>
              </p:nvSpPr>
              <p:spPr bwMode="auto">
                <a:xfrm>
                  <a:off x="340"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3" name="Line 37"/>
                <p:cNvSpPr>
                  <a:spLocks noChangeShapeType="1"/>
                </p:cNvSpPr>
                <p:nvPr/>
              </p:nvSpPr>
              <p:spPr bwMode="auto">
                <a:xfrm>
                  <a:off x="371"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4" name="Line 38"/>
                <p:cNvSpPr>
                  <a:spLocks noChangeShapeType="1"/>
                </p:cNvSpPr>
                <p:nvPr/>
              </p:nvSpPr>
              <p:spPr bwMode="auto">
                <a:xfrm>
                  <a:off x="402"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5" name="Line 39"/>
                <p:cNvSpPr>
                  <a:spLocks noChangeShapeType="1"/>
                </p:cNvSpPr>
                <p:nvPr/>
              </p:nvSpPr>
              <p:spPr bwMode="auto">
                <a:xfrm>
                  <a:off x="434"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6" name="Line 40"/>
                <p:cNvSpPr>
                  <a:spLocks noChangeShapeType="1"/>
                </p:cNvSpPr>
                <p:nvPr/>
              </p:nvSpPr>
              <p:spPr bwMode="auto">
                <a:xfrm>
                  <a:off x="465"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7" name="Line 41"/>
                <p:cNvSpPr>
                  <a:spLocks noChangeShapeType="1"/>
                </p:cNvSpPr>
                <p:nvPr/>
              </p:nvSpPr>
              <p:spPr bwMode="auto">
                <a:xfrm>
                  <a:off x="496"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8" name="Line 42"/>
                <p:cNvSpPr>
                  <a:spLocks noChangeShapeType="1"/>
                </p:cNvSpPr>
                <p:nvPr/>
              </p:nvSpPr>
              <p:spPr bwMode="auto">
                <a:xfrm>
                  <a:off x="528"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39" name="Line 43"/>
                <p:cNvSpPr>
                  <a:spLocks noChangeShapeType="1"/>
                </p:cNvSpPr>
                <p:nvPr/>
              </p:nvSpPr>
              <p:spPr bwMode="auto">
                <a:xfrm>
                  <a:off x="559"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0" name="Line 44"/>
                <p:cNvSpPr>
                  <a:spLocks noChangeShapeType="1"/>
                </p:cNvSpPr>
                <p:nvPr/>
              </p:nvSpPr>
              <p:spPr bwMode="auto">
                <a:xfrm>
                  <a:off x="591"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1" name="Line 45"/>
                <p:cNvSpPr>
                  <a:spLocks noChangeShapeType="1"/>
                </p:cNvSpPr>
                <p:nvPr/>
              </p:nvSpPr>
              <p:spPr bwMode="auto">
                <a:xfrm>
                  <a:off x="622"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2" name="Line 46"/>
                <p:cNvSpPr>
                  <a:spLocks noChangeShapeType="1"/>
                </p:cNvSpPr>
                <p:nvPr/>
              </p:nvSpPr>
              <p:spPr bwMode="auto">
                <a:xfrm>
                  <a:off x="653"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3" name="Line 47"/>
                <p:cNvSpPr>
                  <a:spLocks noChangeShapeType="1"/>
                </p:cNvSpPr>
                <p:nvPr/>
              </p:nvSpPr>
              <p:spPr bwMode="auto">
                <a:xfrm>
                  <a:off x="684"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4" name="Line 48"/>
                <p:cNvSpPr>
                  <a:spLocks noChangeShapeType="1"/>
                </p:cNvSpPr>
                <p:nvPr/>
              </p:nvSpPr>
              <p:spPr bwMode="auto">
                <a:xfrm>
                  <a:off x="716"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45" name="Freeform 49"/>
                <p:cNvSpPr>
                  <a:spLocks/>
                </p:cNvSpPr>
                <p:nvPr/>
              </p:nvSpPr>
              <p:spPr bwMode="auto">
                <a:xfrm>
                  <a:off x="266" y="3335"/>
                  <a:ext cx="473" cy="1"/>
                </a:xfrm>
                <a:custGeom>
                  <a:avLst/>
                  <a:gdLst>
                    <a:gd name="T0" fmla="*/ 0 w 473"/>
                    <a:gd name="T1" fmla="*/ 0 h 1"/>
                    <a:gd name="T2" fmla="*/ 472 w 473"/>
                    <a:gd name="T3" fmla="*/ 0 h 1"/>
                    <a:gd name="T4" fmla="*/ 0 60000 65536"/>
                    <a:gd name="T5" fmla="*/ 0 60000 65536"/>
                    <a:gd name="T6" fmla="*/ 0 w 473"/>
                    <a:gd name="T7" fmla="*/ 0 h 1"/>
                    <a:gd name="T8" fmla="*/ 473 w 473"/>
                    <a:gd name="T9" fmla="*/ 1 h 1"/>
                  </a:gdLst>
                  <a:ahLst/>
                  <a:cxnLst>
                    <a:cxn ang="T4">
                      <a:pos x="T0" y="T1"/>
                    </a:cxn>
                    <a:cxn ang="T5">
                      <a:pos x="T2" y="T3"/>
                    </a:cxn>
                  </a:cxnLst>
                  <a:rect l="T6" t="T7" r="T8" b="T9"/>
                  <a:pathLst>
                    <a:path w="473" h="1">
                      <a:moveTo>
                        <a:pt x="0" y="0"/>
                      </a:moveTo>
                      <a:lnTo>
                        <a:pt x="472" y="0"/>
                      </a:lnTo>
                    </a:path>
                  </a:pathLst>
                </a:custGeom>
                <a:noFill/>
                <a:ln w="12700" cap="rnd" cmpd="sng">
                  <a:solidFill>
                    <a:srgbClr val="CECECE"/>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grpSp>
          <p:grpSp>
            <p:nvGrpSpPr>
              <p:cNvPr id="43226" name="Group 50"/>
              <p:cNvGrpSpPr>
                <a:grpSpLocks/>
              </p:cNvGrpSpPr>
              <p:nvPr/>
            </p:nvGrpSpPr>
            <p:grpSpPr bwMode="auto">
              <a:xfrm>
                <a:off x="616" y="3252"/>
                <a:ext cx="98" cy="33"/>
                <a:chOff x="616" y="3252"/>
                <a:chExt cx="98" cy="33"/>
              </a:xfrm>
            </p:grpSpPr>
            <p:sp>
              <p:nvSpPr>
                <p:cNvPr id="43229" name="Rectangle 51"/>
                <p:cNvSpPr>
                  <a:spLocks noChangeArrowheads="1"/>
                </p:cNvSpPr>
                <p:nvPr/>
              </p:nvSpPr>
              <p:spPr bwMode="auto">
                <a:xfrm>
                  <a:off x="644" y="3252"/>
                  <a:ext cx="42" cy="33"/>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230" name="Rectangle 52"/>
                <p:cNvSpPr>
                  <a:spLocks noChangeArrowheads="1"/>
                </p:cNvSpPr>
                <p:nvPr/>
              </p:nvSpPr>
              <p:spPr bwMode="auto">
                <a:xfrm>
                  <a:off x="616" y="3261"/>
                  <a:ext cx="98" cy="15"/>
                </a:xfrm>
                <a:prstGeom prst="rect">
                  <a:avLst/>
                </a:prstGeom>
                <a:solidFill>
                  <a:srgbClr val="23232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grpSp>
          <p:sp>
            <p:nvSpPr>
              <p:cNvPr id="43227" name="Freeform 53"/>
              <p:cNvSpPr>
                <a:spLocks/>
              </p:cNvSpPr>
              <p:nvPr/>
            </p:nvSpPr>
            <p:spPr bwMode="auto">
              <a:xfrm>
                <a:off x="260" y="3221"/>
                <a:ext cx="486" cy="159"/>
              </a:xfrm>
              <a:custGeom>
                <a:avLst/>
                <a:gdLst>
                  <a:gd name="T0" fmla="*/ 485 w 486"/>
                  <a:gd name="T1" fmla="*/ 0 h 159"/>
                  <a:gd name="T2" fmla="*/ 0 w 486"/>
                  <a:gd name="T3" fmla="*/ 0 h 159"/>
                  <a:gd name="T4" fmla="*/ 0 w 486"/>
                  <a:gd name="T5" fmla="*/ 158 h 159"/>
                  <a:gd name="T6" fmla="*/ 7 w 486"/>
                  <a:gd name="T7" fmla="*/ 151 h 159"/>
                  <a:gd name="T8" fmla="*/ 7 w 486"/>
                  <a:gd name="T9" fmla="*/ 7 h 159"/>
                  <a:gd name="T10" fmla="*/ 476 w 486"/>
                  <a:gd name="T11" fmla="*/ 7 h 159"/>
                  <a:gd name="T12" fmla="*/ 0 60000 65536"/>
                  <a:gd name="T13" fmla="*/ 0 60000 65536"/>
                  <a:gd name="T14" fmla="*/ 0 60000 65536"/>
                  <a:gd name="T15" fmla="*/ 0 60000 65536"/>
                  <a:gd name="T16" fmla="*/ 0 60000 65536"/>
                  <a:gd name="T17" fmla="*/ 0 60000 65536"/>
                  <a:gd name="T18" fmla="*/ 0 w 486"/>
                  <a:gd name="T19" fmla="*/ 0 h 159"/>
                  <a:gd name="T20" fmla="*/ 486 w 486"/>
                  <a:gd name="T21" fmla="*/ 159 h 159"/>
                </a:gdLst>
                <a:ahLst/>
                <a:cxnLst>
                  <a:cxn ang="T12">
                    <a:pos x="T0" y="T1"/>
                  </a:cxn>
                  <a:cxn ang="T13">
                    <a:pos x="T2" y="T3"/>
                  </a:cxn>
                  <a:cxn ang="T14">
                    <a:pos x="T4" y="T5"/>
                  </a:cxn>
                  <a:cxn ang="T15">
                    <a:pos x="T6" y="T7"/>
                  </a:cxn>
                  <a:cxn ang="T16">
                    <a:pos x="T8" y="T9"/>
                  </a:cxn>
                  <a:cxn ang="T17">
                    <a:pos x="T10" y="T11"/>
                  </a:cxn>
                </a:cxnLst>
                <a:rect l="T18" t="T19" r="T20" b="T21"/>
                <a:pathLst>
                  <a:path w="486" h="159">
                    <a:moveTo>
                      <a:pt x="485" y="0"/>
                    </a:moveTo>
                    <a:lnTo>
                      <a:pt x="0" y="0"/>
                    </a:lnTo>
                    <a:lnTo>
                      <a:pt x="0" y="158"/>
                    </a:lnTo>
                    <a:lnTo>
                      <a:pt x="7" y="151"/>
                    </a:lnTo>
                    <a:lnTo>
                      <a:pt x="7" y="7"/>
                    </a:lnTo>
                    <a:lnTo>
                      <a:pt x="476" y="7"/>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28" name="Freeform 54"/>
              <p:cNvSpPr>
                <a:spLocks/>
              </p:cNvSpPr>
              <p:nvPr/>
            </p:nvSpPr>
            <p:spPr bwMode="auto">
              <a:xfrm>
                <a:off x="260" y="3221"/>
                <a:ext cx="486" cy="159"/>
              </a:xfrm>
              <a:custGeom>
                <a:avLst/>
                <a:gdLst>
                  <a:gd name="T0" fmla="*/ 0 w 486"/>
                  <a:gd name="T1" fmla="*/ 158 h 159"/>
                  <a:gd name="T2" fmla="*/ 485 w 486"/>
                  <a:gd name="T3" fmla="*/ 158 h 159"/>
                  <a:gd name="T4" fmla="*/ 485 w 486"/>
                  <a:gd name="T5" fmla="*/ 0 h 159"/>
                  <a:gd name="T6" fmla="*/ 478 w 486"/>
                  <a:gd name="T7" fmla="*/ 7 h 159"/>
                  <a:gd name="T8" fmla="*/ 478 w 486"/>
                  <a:gd name="T9" fmla="*/ 151 h 159"/>
                  <a:gd name="T10" fmla="*/ 9 w 486"/>
                  <a:gd name="T11" fmla="*/ 151 h 159"/>
                  <a:gd name="T12" fmla="*/ 0 60000 65536"/>
                  <a:gd name="T13" fmla="*/ 0 60000 65536"/>
                  <a:gd name="T14" fmla="*/ 0 60000 65536"/>
                  <a:gd name="T15" fmla="*/ 0 60000 65536"/>
                  <a:gd name="T16" fmla="*/ 0 60000 65536"/>
                  <a:gd name="T17" fmla="*/ 0 60000 65536"/>
                  <a:gd name="T18" fmla="*/ 0 w 486"/>
                  <a:gd name="T19" fmla="*/ 0 h 159"/>
                  <a:gd name="T20" fmla="*/ 486 w 486"/>
                  <a:gd name="T21" fmla="*/ 159 h 159"/>
                </a:gdLst>
                <a:ahLst/>
                <a:cxnLst>
                  <a:cxn ang="T12">
                    <a:pos x="T0" y="T1"/>
                  </a:cxn>
                  <a:cxn ang="T13">
                    <a:pos x="T2" y="T3"/>
                  </a:cxn>
                  <a:cxn ang="T14">
                    <a:pos x="T4" y="T5"/>
                  </a:cxn>
                  <a:cxn ang="T15">
                    <a:pos x="T6" y="T7"/>
                  </a:cxn>
                  <a:cxn ang="T16">
                    <a:pos x="T8" y="T9"/>
                  </a:cxn>
                  <a:cxn ang="T17">
                    <a:pos x="T10" y="T11"/>
                  </a:cxn>
                </a:cxnLst>
                <a:rect l="T18" t="T19" r="T20" b="T21"/>
                <a:pathLst>
                  <a:path w="486" h="159">
                    <a:moveTo>
                      <a:pt x="0" y="158"/>
                    </a:moveTo>
                    <a:lnTo>
                      <a:pt x="485" y="158"/>
                    </a:lnTo>
                    <a:lnTo>
                      <a:pt x="485" y="0"/>
                    </a:lnTo>
                    <a:lnTo>
                      <a:pt x="478" y="7"/>
                    </a:lnTo>
                    <a:lnTo>
                      <a:pt x="478" y="151"/>
                    </a:lnTo>
                    <a:lnTo>
                      <a:pt x="9" y="151"/>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nvGrpSpPr>
            <p:cNvPr id="43205" name="Group 55"/>
            <p:cNvGrpSpPr>
              <a:grpSpLocks/>
            </p:cNvGrpSpPr>
            <p:nvPr/>
          </p:nvGrpSpPr>
          <p:grpSpPr bwMode="auto">
            <a:xfrm>
              <a:off x="275" y="2861"/>
              <a:ext cx="455" cy="340"/>
              <a:chOff x="275" y="2861"/>
              <a:chExt cx="455" cy="340"/>
            </a:xfrm>
          </p:grpSpPr>
          <p:grpSp>
            <p:nvGrpSpPr>
              <p:cNvPr id="43214" name="Group 56"/>
              <p:cNvGrpSpPr>
                <a:grpSpLocks/>
              </p:cNvGrpSpPr>
              <p:nvPr/>
            </p:nvGrpSpPr>
            <p:grpSpPr bwMode="auto">
              <a:xfrm>
                <a:off x="275" y="2861"/>
                <a:ext cx="455" cy="340"/>
                <a:chOff x="275" y="2861"/>
                <a:chExt cx="455" cy="340"/>
              </a:xfrm>
            </p:grpSpPr>
            <p:sp>
              <p:nvSpPr>
                <p:cNvPr id="43219" name="Rectangle 57"/>
                <p:cNvSpPr>
                  <a:spLocks noChangeArrowheads="1"/>
                </p:cNvSpPr>
                <p:nvPr/>
              </p:nvSpPr>
              <p:spPr bwMode="auto">
                <a:xfrm>
                  <a:off x="279" y="2866"/>
                  <a:ext cx="450" cy="330"/>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220" name="Freeform 58"/>
                <p:cNvSpPr>
                  <a:spLocks/>
                </p:cNvSpPr>
                <p:nvPr/>
              </p:nvSpPr>
              <p:spPr bwMode="auto">
                <a:xfrm>
                  <a:off x="275" y="2861"/>
                  <a:ext cx="455" cy="340"/>
                </a:xfrm>
                <a:custGeom>
                  <a:avLst/>
                  <a:gdLst>
                    <a:gd name="T0" fmla="*/ 0 w 455"/>
                    <a:gd name="T1" fmla="*/ 339 h 340"/>
                    <a:gd name="T2" fmla="*/ 454 w 455"/>
                    <a:gd name="T3" fmla="*/ 339 h 340"/>
                    <a:gd name="T4" fmla="*/ 454 w 455"/>
                    <a:gd name="T5" fmla="*/ 0 h 340"/>
                    <a:gd name="T6" fmla="*/ 447 w 455"/>
                    <a:gd name="T7" fmla="*/ 8 h 340"/>
                    <a:gd name="T8" fmla="*/ 447 w 455"/>
                    <a:gd name="T9" fmla="*/ 332 h 340"/>
                    <a:gd name="T10" fmla="*/ 9 w 455"/>
                    <a:gd name="T11" fmla="*/ 332 h 340"/>
                    <a:gd name="T12" fmla="*/ 0 60000 65536"/>
                    <a:gd name="T13" fmla="*/ 0 60000 65536"/>
                    <a:gd name="T14" fmla="*/ 0 60000 65536"/>
                    <a:gd name="T15" fmla="*/ 0 60000 65536"/>
                    <a:gd name="T16" fmla="*/ 0 60000 65536"/>
                    <a:gd name="T17" fmla="*/ 0 60000 65536"/>
                    <a:gd name="T18" fmla="*/ 0 w 455"/>
                    <a:gd name="T19" fmla="*/ 0 h 340"/>
                    <a:gd name="T20" fmla="*/ 455 w 455"/>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455" h="340">
                      <a:moveTo>
                        <a:pt x="0" y="339"/>
                      </a:moveTo>
                      <a:lnTo>
                        <a:pt x="454" y="339"/>
                      </a:lnTo>
                      <a:lnTo>
                        <a:pt x="454" y="0"/>
                      </a:lnTo>
                      <a:lnTo>
                        <a:pt x="447" y="8"/>
                      </a:lnTo>
                      <a:lnTo>
                        <a:pt x="447" y="332"/>
                      </a:lnTo>
                      <a:lnTo>
                        <a:pt x="9" y="332"/>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21" name="Freeform 59"/>
                <p:cNvSpPr>
                  <a:spLocks/>
                </p:cNvSpPr>
                <p:nvPr/>
              </p:nvSpPr>
              <p:spPr bwMode="auto">
                <a:xfrm>
                  <a:off x="275" y="2861"/>
                  <a:ext cx="455" cy="340"/>
                </a:xfrm>
                <a:custGeom>
                  <a:avLst/>
                  <a:gdLst>
                    <a:gd name="T0" fmla="*/ 454 w 455"/>
                    <a:gd name="T1" fmla="*/ 0 h 340"/>
                    <a:gd name="T2" fmla="*/ 0 w 455"/>
                    <a:gd name="T3" fmla="*/ 0 h 340"/>
                    <a:gd name="T4" fmla="*/ 0 w 455"/>
                    <a:gd name="T5" fmla="*/ 339 h 340"/>
                    <a:gd name="T6" fmla="*/ 8 w 455"/>
                    <a:gd name="T7" fmla="*/ 332 h 340"/>
                    <a:gd name="T8" fmla="*/ 8 w 455"/>
                    <a:gd name="T9" fmla="*/ 8 h 340"/>
                    <a:gd name="T10" fmla="*/ 445 w 455"/>
                    <a:gd name="T11" fmla="*/ 8 h 340"/>
                    <a:gd name="T12" fmla="*/ 0 60000 65536"/>
                    <a:gd name="T13" fmla="*/ 0 60000 65536"/>
                    <a:gd name="T14" fmla="*/ 0 60000 65536"/>
                    <a:gd name="T15" fmla="*/ 0 60000 65536"/>
                    <a:gd name="T16" fmla="*/ 0 60000 65536"/>
                    <a:gd name="T17" fmla="*/ 0 60000 65536"/>
                    <a:gd name="T18" fmla="*/ 0 w 455"/>
                    <a:gd name="T19" fmla="*/ 0 h 340"/>
                    <a:gd name="T20" fmla="*/ 455 w 455"/>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455" h="340">
                      <a:moveTo>
                        <a:pt x="454" y="0"/>
                      </a:moveTo>
                      <a:lnTo>
                        <a:pt x="0" y="0"/>
                      </a:lnTo>
                      <a:lnTo>
                        <a:pt x="0" y="339"/>
                      </a:lnTo>
                      <a:lnTo>
                        <a:pt x="8" y="332"/>
                      </a:lnTo>
                      <a:lnTo>
                        <a:pt x="8" y="8"/>
                      </a:lnTo>
                      <a:lnTo>
                        <a:pt x="445" y="8"/>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nvGrpSpPr>
              <p:cNvPr id="43215" name="Group 60"/>
              <p:cNvGrpSpPr>
                <a:grpSpLocks/>
              </p:cNvGrpSpPr>
              <p:nvPr/>
            </p:nvGrpSpPr>
            <p:grpSpPr bwMode="auto">
              <a:xfrm>
                <a:off x="317" y="2899"/>
                <a:ext cx="371" cy="264"/>
                <a:chOff x="317" y="2899"/>
                <a:chExt cx="371" cy="264"/>
              </a:xfrm>
            </p:grpSpPr>
            <p:sp>
              <p:nvSpPr>
                <p:cNvPr id="43216" name="Rectangle 61"/>
                <p:cNvSpPr>
                  <a:spLocks noChangeArrowheads="1"/>
                </p:cNvSpPr>
                <p:nvPr/>
              </p:nvSpPr>
              <p:spPr bwMode="auto">
                <a:xfrm>
                  <a:off x="318" y="2902"/>
                  <a:ext cx="369" cy="258"/>
                </a:xfrm>
                <a:prstGeom prst="rect">
                  <a:avLst/>
                </a:prstGeom>
                <a:solidFill>
                  <a:srgbClr val="00B7A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217" name="Freeform 62"/>
                <p:cNvSpPr>
                  <a:spLocks/>
                </p:cNvSpPr>
                <p:nvPr/>
              </p:nvSpPr>
              <p:spPr bwMode="auto">
                <a:xfrm>
                  <a:off x="317" y="2899"/>
                  <a:ext cx="371" cy="264"/>
                </a:xfrm>
                <a:custGeom>
                  <a:avLst/>
                  <a:gdLst>
                    <a:gd name="T0" fmla="*/ 370 w 371"/>
                    <a:gd name="T1" fmla="*/ 0 h 264"/>
                    <a:gd name="T2" fmla="*/ 0 w 371"/>
                    <a:gd name="T3" fmla="*/ 0 h 264"/>
                    <a:gd name="T4" fmla="*/ 0 w 371"/>
                    <a:gd name="T5" fmla="*/ 263 h 264"/>
                    <a:gd name="T6" fmla="*/ 8 w 371"/>
                    <a:gd name="T7" fmla="*/ 256 h 264"/>
                    <a:gd name="T8" fmla="*/ 8 w 371"/>
                    <a:gd name="T9" fmla="*/ 7 h 264"/>
                    <a:gd name="T10" fmla="*/ 361 w 371"/>
                    <a:gd name="T11" fmla="*/ 7 h 264"/>
                    <a:gd name="T12" fmla="*/ 0 60000 65536"/>
                    <a:gd name="T13" fmla="*/ 0 60000 65536"/>
                    <a:gd name="T14" fmla="*/ 0 60000 65536"/>
                    <a:gd name="T15" fmla="*/ 0 60000 65536"/>
                    <a:gd name="T16" fmla="*/ 0 60000 65536"/>
                    <a:gd name="T17" fmla="*/ 0 60000 65536"/>
                    <a:gd name="T18" fmla="*/ 0 w 371"/>
                    <a:gd name="T19" fmla="*/ 0 h 264"/>
                    <a:gd name="T20" fmla="*/ 371 w 371"/>
                    <a:gd name="T21" fmla="*/ 264 h 264"/>
                  </a:gdLst>
                  <a:ahLst/>
                  <a:cxnLst>
                    <a:cxn ang="T12">
                      <a:pos x="T0" y="T1"/>
                    </a:cxn>
                    <a:cxn ang="T13">
                      <a:pos x="T2" y="T3"/>
                    </a:cxn>
                    <a:cxn ang="T14">
                      <a:pos x="T4" y="T5"/>
                    </a:cxn>
                    <a:cxn ang="T15">
                      <a:pos x="T6" y="T7"/>
                    </a:cxn>
                    <a:cxn ang="T16">
                      <a:pos x="T8" y="T9"/>
                    </a:cxn>
                    <a:cxn ang="T17">
                      <a:pos x="T10" y="T11"/>
                    </a:cxn>
                  </a:cxnLst>
                  <a:rect l="T18" t="T19" r="T20" b="T21"/>
                  <a:pathLst>
                    <a:path w="371" h="264">
                      <a:moveTo>
                        <a:pt x="370" y="0"/>
                      </a:moveTo>
                      <a:lnTo>
                        <a:pt x="0" y="0"/>
                      </a:lnTo>
                      <a:lnTo>
                        <a:pt x="0" y="263"/>
                      </a:lnTo>
                      <a:lnTo>
                        <a:pt x="8" y="256"/>
                      </a:lnTo>
                      <a:lnTo>
                        <a:pt x="8" y="7"/>
                      </a:lnTo>
                      <a:lnTo>
                        <a:pt x="361" y="7"/>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18" name="Freeform 63"/>
                <p:cNvSpPr>
                  <a:spLocks/>
                </p:cNvSpPr>
                <p:nvPr/>
              </p:nvSpPr>
              <p:spPr bwMode="auto">
                <a:xfrm>
                  <a:off x="317" y="2899"/>
                  <a:ext cx="371" cy="264"/>
                </a:xfrm>
                <a:custGeom>
                  <a:avLst/>
                  <a:gdLst>
                    <a:gd name="T0" fmla="*/ 0 w 371"/>
                    <a:gd name="T1" fmla="*/ 263 h 264"/>
                    <a:gd name="T2" fmla="*/ 370 w 371"/>
                    <a:gd name="T3" fmla="*/ 263 h 264"/>
                    <a:gd name="T4" fmla="*/ 370 w 371"/>
                    <a:gd name="T5" fmla="*/ 0 h 264"/>
                    <a:gd name="T6" fmla="*/ 363 w 371"/>
                    <a:gd name="T7" fmla="*/ 7 h 264"/>
                    <a:gd name="T8" fmla="*/ 363 w 371"/>
                    <a:gd name="T9" fmla="*/ 256 h 264"/>
                    <a:gd name="T10" fmla="*/ 9 w 371"/>
                    <a:gd name="T11" fmla="*/ 256 h 264"/>
                    <a:gd name="T12" fmla="*/ 0 60000 65536"/>
                    <a:gd name="T13" fmla="*/ 0 60000 65536"/>
                    <a:gd name="T14" fmla="*/ 0 60000 65536"/>
                    <a:gd name="T15" fmla="*/ 0 60000 65536"/>
                    <a:gd name="T16" fmla="*/ 0 60000 65536"/>
                    <a:gd name="T17" fmla="*/ 0 60000 65536"/>
                    <a:gd name="T18" fmla="*/ 0 w 371"/>
                    <a:gd name="T19" fmla="*/ 0 h 264"/>
                    <a:gd name="T20" fmla="*/ 371 w 371"/>
                    <a:gd name="T21" fmla="*/ 264 h 264"/>
                  </a:gdLst>
                  <a:ahLst/>
                  <a:cxnLst>
                    <a:cxn ang="T12">
                      <a:pos x="T0" y="T1"/>
                    </a:cxn>
                    <a:cxn ang="T13">
                      <a:pos x="T2" y="T3"/>
                    </a:cxn>
                    <a:cxn ang="T14">
                      <a:pos x="T4" y="T5"/>
                    </a:cxn>
                    <a:cxn ang="T15">
                      <a:pos x="T6" y="T7"/>
                    </a:cxn>
                    <a:cxn ang="T16">
                      <a:pos x="T8" y="T9"/>
                    </a:cxn>
                    <a:cxn ang="T17">
                      <a:pos x="T10" y="T11"/>
                    </a:cxn>
                  </a:cxnLst>
                  <a:rect l="T18" t="T19" r="T20" b="T21"/>
                  <a:pathLst>
                    <a:path w="371" h="264">
                      <a:moveTo>
                        <a:pt x="0" y="263"/>
                      </a:moveTo>
                      <a:lnTo>
                        <a:pt x="370" y="263"/>
                      </a:lnTo>
                      <a:lnTo>
                        <a:pt x="370" y="0"/>
                      </a:lnTo>
                      <a:lnTo>
                        <a:pt x="363" y="7"/>
                      </a:lnTo>
                      <a:lnTo>
                        <a:pt x="363" y="256"/>
                      </a:lnTo>
                      <a:lnTo>
                        <a:pt x="9" y="256"/>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grpSp>
          <p:nvGrpSpPr>
            <p:cNvPr id="43206" name="Group 64"/>
            <p:cNvGrpSpPr>
              <a:grpSpLocks/>
            </p:cNvGrpSpPr>
            <p:nvPr/>
          </p:nvGrpSpPr>
          <p:grpSpPr bwMode="auto">
            <a:xfrm>
              <a:off x="186" y="3371"/>
              <a:ext cx="608" cy="155"/>
              <a:chOff x="186" y="3371"/>
              <a:chExt cx="608" cy="155"/>
            </a:xfrm>
          </p:grpSpPr>
          <p:sp>
            <p:nvSpPr>
              <p:cNvPr id="43207" name="Freeform 65"/>
              <p:cNvSpPr>
                <a:spLocks/>
              </p:cNvSpPr>
              <p:nvPr/>
            </p:nvSpPr>
            <p:spPr bwMode="auto">
              <a:xfrm>
                <a:off x="194" y="3374"/>
                <a:ext cx="591" cy="119"/>
              </a:xfrm>
              <a:custGeom>
                <a:avLst/>
                <a:gdLst>
                  <a:gd name="T0" fmla="*/ 85 w 591"/>
                  <a:gd name="T1" fmla="*/ 2 h 119"/>
                  <a:gd name="T2" fmla="*/ 0 w 591"/>
                  <a:gd name="T3" fmla="*/ 118 h 119"/>
                  <a:gd name="T4" fmla="*/ 590 w 591"/>
                  <a:gd name="T5" fmla="*/ 118 h 119"/>
                  <a:gd name="T6" fmla="*/ 531 w 591"/>
                  <a:gd name="T7" fmla="*/ 0 h 119"/>
                  <a:gd name="T8" fmla="*/ 85 w 591"/>
                  <a:gd name="T9" fmla="*/ 2 h 119"/>
                  <a:gd name="T10" fmla="*/ 0 60000 65536"/>
                  <a:gd name="T11" fmla="*/ 0 60000 65536"/>
                  <a:gd name="T12" fmla="*/ 0 60000 65536"/>
                  <a:gd name="T13" fmla="*/ 0 60000 65536"/>
                  <a:gd name="T14" fmla="*/ 0 60000 65536"/>
                  <a:gd name="T15" fmla="*/ 0 w 591"/>
                  <a:gd name="T16" fmla="*/ 0 h 119"/>
                  <a:gd name="T17" fmla="*/ 591 w 591"/>
                  <a:gd name="T18" fmla="*/ 119 h 119"/>
                </a:gdLst>
                <a:ahLst/>
                <a:cxnLst>
                  <a:cxn ang="T10">
                    <a:pos x="T0" y="T1"/>
                  </a:cxn>
                  <a:cxn ang="T11">
                    <a:pos x="T2" y="T3"/>
                  </a:cxn>
                  <a:cxn ang="T12">
                    <a:pos x="T4" y="T5"/>
                  </a:cxn>
                  <a:cxn ang="T13">
                    <a:pos x="T6" y="T7"/>
                  </a:cxn>
                  <a:cxn ang="T14">
                    <a:pos x="T8" y="T9"/>
                  </a:cxn>
                </a:cxnLst>
                <a:rect l="T15" t="T16" r="T17" b="T18"/>
                <a:pathLst>
                  <a:path w="591" h="119">
                    <a:moveTo>
                      <a:pt x="85" y="2"/>
                    </a:moveTo>
                    <a:lnTo>
                      <a:pt x="0" y="118"/>
                    </a:lnTo>
                    <a:lnTo>
                      <a:pt x="590" y="118"/>
                    </a:lnTo>
                    <a:lnTo>
                      <a:pt x="531" y="0"/>
                    </a:lnTo>
                    <a:lnTo>
                      <a:pt x="85" y="2"/>
                    </a:lnTo>
                  </a:path>
                </a:pathLst>
              </a:custGeom>
              <a:solidFill>
                <a:srgbClr val="919191"/>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08" name="Rectangle 66"/>
              <p:cNvSpPr>
                <a:spLocks noChangeArrowheads="1"/>
              </p:cNvSpPr>
              <p:nvPr/>
            </p:nvSpPr>
            <p:spPr bwMode="auto">
              <a:xfrm>
                <a:off x="192" y="3492"/>
                <a:ext cx="598" cy="30"/>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209" name="Freeform 67"/>
              <p:cNvSpPr>
                <a:spLocks/>
              </p:cNvSpPr>
              <p:nvPr/>
            </p:nvSpPr>
            <p:spPr bwMode="auto">
              <a:xfrm>
                <a:off x="188" y="3371"/>
                <a:ext cx="536" cy="155"/>
              </a:xfrm>
              <a:custGeom>
                <a:avLst/>
                <a:gdLst>
                  <a:gd name="T0" fmla="*/ 535 w 536"/>
                  <a:gd name="T1" fmla="*/ 0 h 155"/>
                  <a:gd name="T2" fmla="*/ 89 w 536"/>
                  <a:gd name="T3" fmla="*/ 0 h 155"/>
                  <a:gd name="T4" fmla="*/ 0 w 536"/>
                  <a:gd name="T5" fmla="*/ 118 h 155"/>
                  <a:gd name="T6" fmla="*/ 0 w 536"/>
                  <a:gd name="T7" fmla="*/ 154 h 155"/>
                  <a:gd name="T8" fmla="*/ 9 w 536"/>
                  <a:gd name="T9" fmla="*/ 145 h 155"/>
                  <a:gd name="T10" fmla="*/ 9 w 536"/>
                  <a:gd name="T11" fmla="*/ 119 h 155"/>
                  <a:gd name="T12" fmla="*/ 98 w 536"/>
                  <a:gd name="T13" fmla="*/ 7 h 155"/>
                  <a:gd name="T14" fmla="*/ 526 w 536"/>
                  <a:gd name="T15" fmla="*/ 7 h 155"/>
                  <a:gd name="T16" fmla="*/ 0 60000 65536"/>
                  <a:gd name="T17" fmla="*/ 0 60000 65536"/>
                  <a:gd name="T18" fmla="*/ 0 60000 65536"/>
                  <a:gd name="T19" fmla="*/ 0 60000 65536"/>
                  <a:gd name="T20" fmla="*/ 0 60000 65536"/>
                  <a:gd name="T21" fmla="*/ 0 60000 65536"/>
                  <a:gd name="T22" fmla="*/ 0 60000 65536"/>
                  <a:gd name="T23" fmla="*/ 0 60000 65536"/>
                  <a:gd name="T24" fmla="*/ 0 w 536"/>
                  <a:gd name="T25" fmla="*/ 0 h 155"/>
                  <a:gd name="T26" fmla="*/ 536 w 536"/>
                  <a:gd name="T27" fmla="*/ 155 h 1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6" h="155">
                    <a:moveTo>
                      <a:pt x="535" y="0"/>
                    </a:moveTo>
                    <a:lnTo>
                      <a:pt x="89" y="0"/>
                    </a:lnTo>
                    <a:lnTo>
                      <a:pt x="0" y="118"/>
                    </a:lnTo>
                    <a:lnTo>
                      <a:pt x="0" y="154"/>
                    </a:lnTo>
                    <a:lnTo>
                      <a:pt x="9" y="145"/>
                    </a:lnTo>
                    <a:lnTo>
                      <a:pt x="9" y="119"/>
                    </a:lnTo>
                    <a:lnTo>
                      <a:pt x="98" y="7"/>
                    </a:lnTo>
                    <a:lnTo>
                      <a:pt x="526" y="7"/>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10" name="Freeform 68"/>
              <p:cNvSpPr>
                <a:spLocks/>
              </p:cNvSpPr>
              <p:nvPr/>
            </p:nvSpPr>
            <p:spPr bwMode="auto">
              <a:xfrm>
                <a:off x="186" y="3371"/>
                <a:ext cx="608" cy="155"/>
              </a:xfrm>
              <a:custGeom>
                <a:avLst/>
                <a:gdLst>
                  <a:gd name="T0" fmla="*/ 8 w 608"/>
                  <a:gd name="T1" fmla="*/ 145 h 155"/>
                  <a:gd name="T2" fmla="*/ 595 w 608"/>
                  <a:gd name="T3" fmla="*/ 145 h 155"/>
                  <a:gd name="T4" fmla="*/ 595 w 608"/>
                  <a:gd name="T5" fmla="*/ 119 h 155"/>
                  <a:gd name="T6" fmla="*/ 532 w 608"/>
                  <a:gd name="T7" fmla="*/ 7 h 155"/>
                  <a:gd name="T8" fmla="*/ 539 w 608"/>
                  <a:gd name="T9" fmla="*/ 0 h 155"/>
                  <a:gd name="T10" fmla="*/ 607 w 608"/>
                  <a:gd name="T11" fmla="*/ 119 h 155"/>
                  <a:gd name="T12" fmla="*/ 607 w 608"/>
                  <a:gd name="T13" fmla="*/ 154 h 155"/>
                  <a:gd name="T14" fmla="*/ 0 w 608"/>
                  <a:gd name="T15" fmla="*/ 154 h 155"/>
                  <a:gd name="T16" fmla="*/ 0 60000 65536"/>
                  <a:gd name="T17" fmla="*/ 0 60000 65536"/>
                  <a:gd name="T18" fmla="*/ 0 60000 65536"/>
                  <a:gd name="T19" fmla="*/ 0 60000 65536"/>
                  <a:gd name="T20" fmla="*/ 0 60000 65536"/>
                  <a:gd name="T21" fmla="*/ 0 60000 65536"/>
                  <a:gd name="T22" fmla="*/ 0 60000 65536"/>
                  <a:gd name="T23" fmla="*/ 0 60000 65536"/>
                  <a:gd name="T24" fmla="*/ 0 w 608"/>
                  <a:gd name="T25" fmla="*/ 0 h 155"/>
                  <a:gd name="T26" fmla="*/ 608 w 608"/>
                  <a:gd name="T27" fmla="*/ 155 h 1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08" h="155">
                    <a:moveTo>
                      <a:pt x="8" y="145"/>
                    </a:moveTo>
                    <a:lnTo>
                      <a:pt x="595" y="145"/>
                    </a:lnTo>
                    <a:lnTo>
                      <a:pt x="595" y="119"/>
                    </a:lnTo>
                    <a:lnTo>
                      <a:pt x="532" y="7"/>
                    </a:lnTo>
                    <a:lnTo>
                      <a:pt x="539" y="0"/>
                    </a:lnTo>
                    <a:lnTo>
                      <a:pt x="607" y="119"/>
                    </a:lnTo>
                    <a:lnTo>
                      <a:pt x="607" y="154"/>
                    </a:lnTo>
                    <a:lnTo>
                      <a:pt x="0" y="154"/>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11" name="Freeform 69"/>
              <p:cNvSpPr>
                <a:spLocks/>
              </p:cNvSpPr>
              <p:nvPr/>
            </p:nvSpPr>
            <p:spPr bwMode="auto">
              <a:xfrm>
                <a:off x="268" y="3402"/>
                <a:ext cx="450" cy="65"/>
              </a:xfrm>
              <a:custGeom>
                <a:avLst/>
                <a:gdLst>
                  <a:gd name="T0" fmla="*/ 29 w 450"/>
                  <a:gd name="T1" fmla="*/ 0 h 65"/>
                  <a:gd name="T2" fmla="*/ 0 w 450"/>
                  <a:gd name="T3" fmla="*/ 64 h 65"/>
                  <a:gd name="T4" fmla="*/ 449 w 450"/>
                  <a:gd name="T5" fmla="*/ 64 h 65"/>
                  <a:gd name="T6" fmla="*/ 428 w 450"/>
                  <a:gd name="T7" fmla="*/ 0 h 65"/>
                  <a:gd name="T8" fmla="*/ 29 w 450"/>
                  <a:gd name="T9" fmla="*/ 0 h 65"/>
                  <a:gd name="T10" fmla="*/ 0 60000 65536"/>
                  <a:gd name="T11" fmla="*/ 0 60000 65536"/>
                  <a:gd name="T12" fmla="*/ 0 60000 65536"/>
                  <a:gd name="T13" fmla="*/ 0 60000 65536"/>
                  <a:gd name="T14" fmla="*/ 0 60000 65536"/>
                  <a:gd name="T15" fmla="*/ 0 w 450"/>
                  <a:gd name="T16" fmla="*/ 0 h 65"/>
                  <a:gd name="T17" fmla="*/ 450 w 450"/>
                  <a:gd name="T18" fmla="*/ 65 h 65"/>
                </a:gdLst>
                <a:ahLst/>
                <a:cxnLst>
                  <a:cxn ang="T10">
                    <a:pos x="T0" y="T1"/>
                  </a:cxn>
                  <a:cxn ang="T11">
                    <a:pos x="T2" y="T3"/>
                  </a:cxn>
                  <a:cxn ang="T12">
                    <a:pos x="T4" y="T5"/>
                  </a:cxn>
                  <a:cxn ang="T13">
                    <a:pos x="T6" y="T7"/>
                  </a:cxn>
                  <a:cxn ang="T14">
                    <a:pos x="T8" y="T9"/>
                  </a:cxn>
                </a:cxnLst>
                <a:rect l="T15" t="T16" r="T17" b="T18"/>
                <a:pathLst>
                  <a:path w="450" h="65">
                    <a:moveTo>
                      <a:pt x="29" y="0"/>
                    </a:moveTo>
                    <a:lnTo>
                      <a:pt x="0" y="64"/>
                    </a:lnTo>
                    <a:lnTo>
                      <a:pt x="449" y="64"/>
                    </a:lnTo>
                    <a:lnTo>
                      <a:pt x="428" y="0"/>
                    </a:lnTo>
                    <a:lnTo>
                      <a:pt x="29" y="0"/>
                    </a:lnTo>
                  </a:path>
                </a:pathLst>
              </a:custGeom>
              <a:solidFill>
                <a:srgbClr val="47474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12" name="Freeform 70"/>
              <p:cNvSpPr>
                <a:spLocks/>
              </p:cNvSpPr>
              <p:nvPr/>
            </p:nvSpPr>
            <p:spPr bwMode="auto">
              <a:xfrm>
                <a:off x="262" y="3400"/>
                <a:ext cx="441" cy="69"/>
              </a:xfrm>
              <a:custGeom>
                <a:avLst/>
                <a:gdLst>
                  <a:gd name="T0" fmla="*/ 440 w 441"/>
                  <a:gd name="T1" fmla="*/ 0 h 69"/>
                  <a:gd name="T2" fmla="*/ 31 w 441"/>
                  <a:gd name="T3" fmla="*/ 0 h 69"/>
                  <a:gd name="T4" fmla="*/ 0 w 441"/>
                  <a:gd name="T5" fmla="*/ 68 h 69"/>
                  <a:gd name="T6" fmla="*/ 11 w 441"/>
                  <a:gd name="T7" fmla="*/ 68 h 69"/>
                  <a:gd name="T8" fmla="*/ 40 w 441"/>
                  <a:gd name="T9" fmla="*/ 9 h 69"/>
                  <a:gd name="T10" fmla="*/ 433 w 441"/>
                  <a:gd name="T11" fmla="*/ 9 h 69"/>
                  <a:gd name="T12" fmla="*/ 0 60000 65536"/>
                  <a:gd name="T13" fmla="*/ 0 60000 65536"/>
                  <a:gd name="T14" fmla="*/ 0 60000 65536"/>
                  <a:gd name="T15" fmla="*/ 0 60000 65536"/>
                  <a:gd name="T16" fmla="*/ 0 60000 65536"/>
                  <a:gd name="T17" fmla="*/ 0 60000 65536"/>
                  <a:gd name="T18" fmla="*/ 0 w 441"/>
                  <a:gd name="T19" fmla="*/ 0 h 69"/>
                  <a:gd name="T20" fmla="*/ 441 w 441"/>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441" h="69">
                    <a:moveTo>
                      <a:pt x="440" y="0"/>
                    </a:moveTo>
                    <a:lnTo>
                      <a:pt x="31" y="0"/>
                    </a:lnTo>
                    <a:lnTo>
                      <a:pt x="0" y="68"/>
                    </a:lnTo>
                    <a:lnTo>
                      <a:pt x="11" y="68"/>
                    </a:lnTo>
                    <a:lnTo>
                      <a:pt x="40" y="9"/>
                    </a:lnTo>
                    <a:lnTo>
                      <a:pt x="433" y="9"/>
                    </a:lnTo>
                  </a:path>
                </a:pathLst>
              </a:custGeom>
              <a:solidFill>
                <a:srgbClr val="67676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213" name="Freeform 71"/>
              <p:cNvSpPr>
                <a:spLocks/>
              </p:cNvSpPr>
              <p:nvPr/>
            </p:nvSpPr>
            <p:spPr bwMode="auto">
              <a:xfrm>
                <a:off x="262" y="3400"/>
                <a:ext cx="469" cy="71"/>
              </a:xfrm>
              <a:custGeom>
                <a:avLst/>
                <a:gdLst>
                  <a:gd name="T0" fmla="*/ 11 w 469"/>
                  <a:gd name="T1" fmla="*/ 63 h 71"/>
                  <a:gd name="T2" fmla="*/ 0 w 469"/>
                  <a:gd name="T3" fmla="*/ 70 h 71"/>
                  <a:gd name="T4" fmla="*/ 468 w 469"/>
                  <a:gd name="T5" fmla="*/ 70 h 71"/>
                  <a:gd name="T6" fmla="*/ 441 w 469"/>
                  <a:gd name="T7" fmla="*/ 0 h 71"/>
                  <a:gd name="T8" fmla="*/ 433 w 469"/>
                  <a:gd name="T9" fmla="*/ 9 h 71"/>
                  <a:gd name="T10" fmla="*/ 454 w 469"/>
                  <a:gd name="T11" fmla="*/ 63 h 71"/>
                  <a:gd name="T12" fmla="*/ 11 w 469"/>
                  <a:gd name="T13" fmla="*/ 63 h 71"/>
                  <a:gd name="T14" fmla="*/ 0 60000 65536"/>
                  <a:gd name="T15" fmla="*/ 0 60000 65536"/>
                  <a:gd name="T16" fmla="*/ 0 60000 65536"/>
                  <a:gd name="T17" fmla="*/ 0 60000 65536"/>
                  <a:gd name="T18" fmla="*/ 0 60000 65536"/>
                  <a:gd name="T19" fmla="*/ 0 60000 65536"/>
                  <a:gd name="T20" fmla="*/ 0 60000 65536"/>
                  <a:gd name="T21" fmla="*/ 0 w 469"/>
                  <a:gd name="T22" fmla="*/ 0 h 71"/>
                  <a:gd name="T23" fmla="*/ 469 w 469"/>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9" h="71">
                    <a:moveTo>
                      <a:pt x="11" y="63"/>
                    </a:moveTo>
                    <a:lnTo>
                      <a:pt x="0" y="70"/>
                    </a:lnTo>
                    <a:lnTo>
                      <a:pt x="468" y="70"/>
                    </a:lnTo>
                    <a:lnTo>
                      <a:pt x="441" y="0"/>
                    </a:lnTo>
                    <a:lnTo>
                      <a:pt x="433" y="9"/>
                    </a:lnTo>
                    <a:lnTo>
                      <a:pt x="454" y="63"/>
                    </a:lnTo>
                    <a:lnTo>
                      <a:pt x="11" y="63"/>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pic>
        <p:nvPicPr>
          <p:cNvPr id="43013" name="Picture 72" descr="C:\SENAC\2001\figuras\prd_lg_3c16980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8550" y="3489325"/>
            <a:ext cx="18669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014" name="Group 73"/>
          <p:cNvGrpSpPr>
            <a:grpSpLocks/>
          </p:cNvGrpSpPr>
          <p:nvPr/>
        </p:nvGrpSpPr>
        <p:grpSpPr bwMode="auto">
          <a:xfrm>
            <a:off x="5924550" y="5407025"/>
            <a:ext cx="615950" cy="676275"/>
            <a:chOff x="1205" y="3426"/>
            <a:chExt cx="532" cy="490"/>
          </a:xfrm>
        </p:grpSpPr>
        <p:sp>
          <p:nvSpPr>
            <p:cNvPr id="43184" name="Rectangle 74"/>
            <p:cNvSpPr>
              <a:spLocks noChangeArrowheads="1"/>
            </p:cNvSpPr>
            <p:nvPr/>
          </p:nvSpPr>
          <p:spPr bwMode="auto">
            <a:xfrm>
              <a:off x="1299" y="3710"/>
              <a:ext cx="344" cy="40"/>
            </a:xfrm>
            <a:prstGeom prst="rect">
              <a:avLst/>
            </a:prstGeom>
            <a:solidFill>
              <a:srgbClr val="919191"/>
            </a:solidFill>
            <a:ln w="12700">
              <a:solidFill>
                <a:srgbClr val="404040"/>
              </a:solidFill>
              <a:miter lim="800000"/>
              <a:headEnd/>
              <a:tailEnd/>
            </a:ln>
          </p:spPr>
          <p:txBody>
            <a:bodyPr wrap="none" anchor="ctr"/>
            <a:lstStyle/>
            <a:p>
              <a:endParaRPr lang="pt-BR"/>
            </a:p>
          </p:txBody>
        </p:sp>
        <p:sp>
          <p:nvSpPr>
            <p:cNvPr id="43185" name="Rectangle 75"/>
            <p:cNvSpPr>
              <a:spLocks noChangeArrowheads="1"/>
            </p:cNvSpPr>
            <p:nvPr/>
          </p:nvSpPr>
          <p:spPr bwMode="auto">
            <a:xfrm>
              <a:off x="1274" y="3432"/>
              <a:ext cx="392" cy="284"/>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186" name="Freeform 76"/>
            <p:cNvSpPr>
              <a:spLocks/>
            </p:cNvSpPr>
            <p:nvPr/>
          </p:nvSpPr>
          <p:spPr bwMode="auto">
            <a:xfrm>
              <a:off x="1274" y="3430"/>
              <a:ext cx="393" cy="289"/>
            </a:xfrm>
            <a:custGeom>
              <a:avLst/>
              <a:gdLst>
                <a:gd name="T0" fmla="*/ 392 w 393"/>
                <a:gd name="T1" fmla="*/ 0 h 289"/>
                <a:gd name="T2" fmla="*/ 0 w 393"/>
                <a:gd name="T3" fmla="*/ 0 h 289"/>
                <a:gd name="T4" fmla="*/ 0 w 393"/>
                <a:gd name="T5" fmla="*/ 288 h 289"/>
                <a:gd name="T6" fmla="*/ 0 60000 65536"/>
                <a:gd name="T7" fmla="*/ 0 60000 65536"/>
                <a:gd name="T8" fmla="*/ 0 60000 65536"/>
                <a:gd name="T9" fmla="*/ 0 w 393"/>
                <a:gd name="T10" fmla="*/ 0 h 289"/>
                <a:gd name="T11" fmla="*/ 393 w 393"/>
                <a:gd name="T12" fmla="*/ 289 h 289"/>
              </a:gdLst>
              <a:ahLst/>
              <a:cxnLst>
                <a:cxn ang="T6">
                  <a:pos x="T0" y="T1"/>
                </a:cxn>
                <a:cxn ang="T7">
                  <a:pos x="T2" y="T3"/>
                </a:cxn>
                <a:cxn ang="T8">
                  <a:pos x="T4" y="T5"/>
                </a:cxn>
              </a:cxnLst>
              <a:rect l="T9" t="T10" r="T11" b="T12"/>
              <a:pathLst>
                <a:path w="393" h="289">
                  <a:moveTo>
                    <a:pt x="392" y="0"/>
                  </a:moveTo>
                  <a:lnTo>
                    <a:pt x="0" y="0"/>
                  </a:lnTo>
                  <a:lnTo>
                    <a:pt x="0" y="288"/>
                  </a:lnTo>
                </a:path>
              </a:pathLst>
            </a:custGeom>
            <a:noFill/>
            <a:ln w="12700" cap="rnd" cmpd="sng">
              <a:solidFill>
                <a:srgbClr val="AAAAAA"/>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3187" name="Freeform 77"/>
            <p:cNvSpPr>
              <a:spLocks/>
            </p:cNvSpPr>
            <p:nvPr/>
          </p:nvSpPr>
          <p:spPr bwMode="auto">
            <a:xfrm>
              <a:off x="1268" y="3426"/>
              <a:ext cx="411" cy="299"/>
            </a:xfrm>
            <a:custGeom>
              <a:avLst/>
              <a:gdLst>
                <a:gd name="T0" fmla="*/ 410 w 411"/>
                <a:gd name="T1" fmla="*/ 0 h 299"/>
                <a:gd name="T2" fmla="*/ 0 w 411"/>
                <a:gd name="T3" fmla="*/ 0 h 299"/>
                <a:gd name="T4" fmla="*/ 0 w 411"/>
                <a:gd name="T5" fmla="*/ 298 h 299"/>
                <a:gd name="T6" fmla="*/ 10 w 411"/>
                <a:gd name="T7" fmla="*/ 288 h 299"/>
                <a:gd name="T8" fmla="*/ 10 w 411"/>
                <a:gd name="T9" fmla="*/ 10 h 299"/>
                <a:gd name="T10" fmla="*/ 394 w 411"/>
                <a:gd name="T11" fmla="*/ 10 h 299"/>
                <a:gd name="T12" fmla="*/ 0 60000 65536"/>
                <a:gd name="T13" fmla="*/ 0 60000 65536"/>
                <a:gd name="T14" fmla="*/ 0 60000 65536"/>
                <a:gd name="T15" fmla="*/ 0 60000 65536"/>
                <a:gd name="T16" fmla="*/ 0 60000 65536"/>
                <a:gd name="T17" fmla="*/ 0 60000 65536"/>
                <a:gd name="T18" fmla="*/ 0 w 411"/>
                <a:gd name="T19" fmla="*/ 0 h 299"/>
                <a:gd name="T20" fmla="*/ 411 w 411"/>
                <a:gd name="T21" fmla="*/ 299 h 299"/>
              </a:gdLst>
              <a:ahLst/>
              <a:cxnLst>
                <a:cxn ang="T12">
                  <a:pos x="T0" y="T1"/>
                </a:cxn>
                <a:cxn ang="T13">
                  <a:pos x="T2" y="T3"/>
                </a:cxn>
                <a:cxn ang="T14">
                  <a:pos x="T4" y="T5"/>
                </a:cxn>
                <a:cxn ang="T15">
                  <a:pos x="T6" y="T7"/>
                </a:cxn>
                <a:cxn ang="T16">
                  <a:pos x="T8" y="T9"/>
                </a:cxn>
                <a:cxn ang="T17">
                  <a:pos x="T10" y="T11"/>
                </a:cxn>
              </a:cxnLst>
              <a:rect l="T18" t="T19" r="T20" b="T21"/>
              <a:pathLst>
                <a:path w="411" h="299">
                  <a:moveTo>
                    <a:pt x="410" y="0"/>
                  </a:moveTo>
                  <a:lnTo>
                    <a:pt x="0" y="0"/>
                  </a:lnTo>
                  <a:lnTo>
                    <a:pt x="0" y="298"/>
                  </a:lnTo>
                  <a:lnTo>
                    <a:pt x="10" y="288"/>
                  </a:lnTo>
                  <a:lnTo>
                    <a:pt x="10" y="10"/>
                  </a:lnTo>
                  <a:lnTo>
                    <a:pt x="394" y="10"/>
                  </a:lnTo>
                </a:path>
              </a:pathLst>
            </a:custGeom>
            <a:solidFill>
              <a:srgbClr val="DADADA"/>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88" name="Freeform 78"/>
            <p:cNvSpPr>
              <a:spLocks/>
            </p:cNvSpPr>
            <p:nvPr/>
          </p:nvSpPr>
          <p:spPr bwMode="auto">
            <a:xfrm>
              <a:off x="1264" y="3426"/>
              <a:ext cx="411" cy="299"/>
            </a:xfrm>
            <a:custGeom>
              <a:avLst/>
              <a:gdLst>
                <a:gd name="T0" fmla="*/ 0 w 411"/>
                <a:gd name="T1" fmla="*/ 298 h 299"/>
                <a:gd name="T2" fmla="*/ 410 w 411"/>
                <a:gd name="T3" fmla="*/ 298 h 299"/>
                <a:gd name="T4" fmla="*/ 410 w 411"/>
                <a:gd name="T5" fmla="*/ 0 h 299"/>
                <a:gd name="T6" fmla="*/ 400 w 411"/>
                <a:gd name="T7" fmla="*/ 10 h 299"/>
                <a:gd name="T8" fmla="*/ 400 w 411"/>
                <a:gd name="T9" fmla="*/ 288 h 299"/>
                <a:gd name="T10" fmla="*/ 16 w 411"/>
                <a:gd name="T11" fmla="*/ 288 h 299"/>
                <a:gd name="T12" fmla="*/ 0 60000 65536"/>
                <a:gd name="T13" fmla="*/ 0 60000 65536"/>
                <a:gd name="T14" fmla="*/ 0 60000 65536"/>
                <a:gd name="T15" fmla="*/ 0 60000 65536"/>
                <a:gd name="T16" fmla="*/ 0 60000 65536"/>
                <a:gd name="T17" fmla="*/ 0 60000 65536"/>
                <a:gd name="T18" fmla="*/ 0 w 411"/>
                <a:gd name="T19" fmla="*/ 0 h 299"/>
                <a:gd name="T20" fmla="*/ 411 w 411"/>
                <a:gd name="T21" fmla="*/ 299 h 299"/>
              </a:gdLst>
              <a:ahLst/>
              <a:cxnLst>
                <a:cxn ang="T12">
                  <a:pos x="T0" y="T1"/>
                </a:cxn>
                <a:cxn ang="T13">
                  <a:pos x="T2" y="T3"/>
                </a:cxn>
                <a:cxn ang="T14">
                  <a:pos x="T4" y="T5"/>
                </a:cxn>
                <a:cxn ang="T15">
                  <a:pos x="T6" y="T7"/>
                </a:cxn>
                <a:cxn ang="T16">
                  <a:pos x="T8" y="T9"/>
                </a:cxn>
                <a:cxn ang="T17">
                  <a:pos x="T10" y="T11"/>
                </a:cxn>
              </a:cxnLst>
              <a:rect l="T18" t="T19" r="T20" b="T21"/>
              <a:pathLst>
                <a:path w="411" h="299">
                  <a:moveTo>
                    <a:pt x="0" y="298"/>
                  </a:moveTo>
                  <a:lnTo>
                    <a:pt x="410" y="298"/>
                  </a:lnTo>
                  <a:lnTo>
                    <a:pt x="410" y="0"/>
                  </a:lnTo>
                  <a:lnTo>
                    <a:pt x="400" y="10"/>
                  </a:lnTo>
                  <a:lnTo>
                    <a:pt x="400" y="288"/>
                  </a:lnTo>
                  <a:lnTo>
                    <a:pt x="16" y="288"/>
                  </a:lnTo>
                </a:path>
              </a:pathLst>
            </a:custGeom>
            <a:solidFill>
              <a:srgbClr val="33333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89" name="Rectangle 79"/>
            <p:cNvSpPr>
              <a:spLocks noChangeArrowheads="1"/>
            </p:cNvSpPr>
            <p:nvPr/>
          </p:nvSpPr>
          <p:spPr bwMode="auto">
            <a:xfrm>
              <a:off x="1311" y="3460"/>
              <a:ext cx="322" cy="231"/>
            </a:xfrm>
            <a:prstGeom prst="rect">
              <a:avLst/>
            </a:prstGeom>
            <a:gradFill rotWithShape="0">
              <a:gsLst>
                <a:gs pos="0">
                  <a:srgbClr val="00FFFF"/>
                </a:gs>
                <a:gs pos="100000">
                  <a:srgbClr val="00B2B2"/>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190" name="Freeform 80"/>
            <p:cNvSpPr>
              <a:spLocks/>
            </p:cNvSpPr>
            <p:nvPr/>
          </p:nvSpPr>
          <p:spPr bwMode="auto">
            <a:xfrm>
              <a:off x="1305" y="3456"/>
              <a:ext cx="335" cy="239"/>
            </a:xfrm>
            <a:custGeom>
              <a:avLst/>
              <a:gdLst>
                <a:gd name="T0" fmla="*/ 334 w 335"/>
                <a:gd name="T1" fmla="*/ 0 h 239"/>
                <a:gd name="T2" fmla="*/ 0 w 335"/>
                <a:gd name="T3" fmla="*/ 0 h 239"/>
                <a:gd name="T4" fmla="*/ 0 w 335"/>
                <a:gd name="T5" fmla="*/ 238 h 239"/>
                <a:gd name="T6" fmla="*/ 10 w 335"/>
                <a:gd name="T7" fmla="*/ 228 h 239"/>
                <a:gd name="T8" fmla="*/ 10 w 335"/>
                <a:gd name="T9" fmla="*/ 8 h 239"/>
                <a:gd name="T10" fmla="*/ 324 w 335"/>
                <a:gd name="T11" fmla="*/ 8 h 239"/>
                <a:gd name="T12" fmla="*/ 324 w 335"/>
                <a:gd name="T13" fmla="*/ 28 h 239"/>
                <a:gd name="T14" fmla="*/ 0 60000 65536"/>
                <a:gd name="T15" fmla="*/ 0 60000 65536"/>
                <a:gd name="T16" fmla="*/ 0 60000 65536"/>
                <a:gd name="T17" fmla="*/ 0 60000 65536"/>
                <a:gd name="T18" fmla="*/ 0 60000 65536"/>
                <a:gd name="T19" fmla="*/ 0 60000 65536"/>
                <a:gd name="T20" fmla="*/ 0 60000 65536"/>
                <a:gd name="T21" fmla="*/ 0 w 335"/>
                <a:gd name="T22" fmla="*/ 0 h 239"/>
                <a:gd name="T23" fmla="*/ 335 w 335"/>
                <a:gd name="T24" fmla="*/ 239 h 2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 h="239">
                  <a:moveTo>
                    <a:pt x="334" y="0"/>
                  </a:moveTo>
                  <a:lnTo>
                    <a:pt x="0" y="0"/>
                  </a:lnTo>
                  <a:lnTo>
                    <a:pt x="0" y="238"/>
                  </a:lnTo>
                  <a:lnTo>
                    <a:pt x="10" y="228"/>
                  </a:lnTo>
                  <a:lnTo>
                    <a:pt x="10" y="8"/>
                  </a:lnTo>
                  <a:lnTo>
                    <a:pt x="324" y="8"/>
                  </a:lnTo>
                  <a:lnTo>
                    <a:pt x="324" y="28"/>
                  </a:lnTo>
                </a:path>
              </a:pathLst>
            </a:custGeom>
            <a:solidFill>
              <a:srgbClr val="000000"/>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91" name="Freeform 81"/>
            <p:cNvSpPr>
              <a:spLocks/>
            </p:cNvSpPr>
            <p:nvPr/>
          </p:nvSpPr>
          <p:spPr bwMode="auto">
            <a:xfrm>
              <a:off x="1303" y="3456"/>
              <a:ext cx="335" cy="239"/>
            </a:xfrm>
            <a:custGeom>
              <a:avLst/>
              <a:gdLst>
                <a:gd name="T0" fmla="*/ 0 w 335"/>
                <a:gd name="T1" fmla="*/ 238 h 239"/>
                <a:gd name="T2" fmla="*/ 334 w 335"/>
                <a:gd name="T3" fmla="*/ 238 h 239"/>
                <a:gd name="T4" fmla="*/ 334 w 335"/>
                <a:gd name="T5" fmla="*/ 0 h 239"/>
                <a:gd name="T6" fmla="*/ 324 w 335"/>
                <a:gd name="T7" fmla="*/ 10 h 239"/>
                <a:gd name="T8" fmla="*/ 324 w 335"/>
                <a:gd name="T9" fmla="*/ 230 h 239"/>
                <a:gd name="T10" fmla="*/ 10 w 335"/>
                <a:gd name="T11" fmla="*/ 230 h 239"/>
                <a:gd name="T12" fmla="*/ 8 w 335"/>
                <a:gd name="T13" fmla="*/ 228 h 239"/>
                <a:gd name="T14" fmla="*/ 0 60000 65536"/>
                <a:gd name="T15" fmla="*/ 0 60000 65536"/>
                <a:gd name="T16" fmla="*/ 0 60000 65536"/>
                <a:gd name="T17" fmla="*/ 0 60000 65536"/>
                <a:gd name="T18" fmla="*/ 0 60000 65536"/>
                <a:gd name="T19" fmla="*/ 0 60000 65536"/>
                <a:gd name="T20" fmla="*/ 0 60000 65536"/>
                <a:gd name="T21" fmla="*/ 0 w 335"/>
                <a:gd name="T22" fmla="*/ 0 h 239"/>
                <a:gd name="T23" fmla="*/ 335 w 335"/>
                <a:gd name="T24" fmla="*/ 239 h 2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 h="239">
                  <a:moveTo>
                    <a:pt x="0" y="238"/>
                  </a:moveTo>
                  <a:lnTo>
                    <a:pt x="334" y="238"/>
                  </a:lnTo>
                  <a:lnTo>
                    <a:pt x="334" y="0"/>
                  </a:lnTo>
                  <a:lnTo>
                    <a:pt x="324" y="10"/>
                  </a:lnTo>
                  <a:lnTo>
                    <a:pt x="324" y="230"/>
                  </a:lnTo>
                  <a:lnTo>
                    <a:pt x="10" y="230"/>
                  </a:lnTo>
                  <a:lnTo>
                    <a:pt x="8" y="228"/>
                  </a:lnTo>
                </a:path>
              </a:pathLst>
            </a:custGeom>
            <a:solidFill>
              <a:srgbClr val="DADADA"/>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92" name="Freeform 82"/>
            <p:cNvSpPr>
              <a:spLocks/>
            </p:cNvSpPr>
            <p:nvPr/>
          </p:nvSpPr>
          <p:spPr bwMode="auto">
            <a:xfrm>
              <a:off x="1205" y="3784"/>
              <a:ext cx="529" cy="105"/>
            </a:xfrm>
            <a:custGeom>
              <a:avLst/>
              <a:gdLst>
                <a:gd name="T0" fmla="*/ 88 w 529"/>
                <a:gd name="T1" fmla="*/ 0 h 105"/>
                <a:gd name="T2" fmla="*/ 0 w 529"/>
                <a:gd name="T3" fmla="*/ 104 h 105"/>
                <a:gd name="T4" fmla="*/ 528 w 529"/>
                <a:gd name="T5" fmla="*/ 104 h 105"/>
                <a:gd name="T6" fmla="*/ 472 w 529"/>
                <a:gd name="T7" fmla="*/ 0 h 105"/>
                <a:gd name="T8" fmla="*/ 88 w 529"/>
                <a:gd name="T9" fmla="*/ 0 h 105"/>
                <a:gd name="T10" fmla="*/ 0 60000 65536"/>
                <a:gd name="T11" fmla="*/ 0 60000 65536"/>
                <a:gd name="T12" fmla="*/ 0 60000 65536"/>
                <a:gd name="T13" fmla="*/ 0 60000 65536"/>
                <a:gd name="T14" fmla="*/ 0 60000 65536"/>
                <a:gd name="T15" fmla="*/ 0 w 529"/>
                <a:gd name="T16" fmla="*/ 0 h 105"/>
                <a:gd name="T17" fmla="*/ 529 w 529"/>
                <a:gd name="T18" fmla="*/ 105 h 105"/>
              </a:gdLst>
              <a:ahLst/>
              <a:cxnLst>
                <a:cxn ang="T10">
                  <a:pos x="T0" y="T1"/>
                </a:cxn>
                <a:cxn ang="T11">
                  <a:pos x="T2" y="T3"/>
                </a:cxn>
                <a:cxn ang="T12">
                  <a:pos x="T4" y="T5"/>
                </a:cxn>
                <a:cxn ang="T13">
                  <a:pos x="T6" y="T7"/>
                </a:cxn>
                <a:cxn ang="T14">
                  <a:pos x="T8" y="T9"/>
                </a:cxn>
              </a:cxnLst>
              <a:rect l="T15" t="T16" r="T17" b="T18"/>
              <a:pathLst>
                <a:path w="529" h="105">
                  <a:moveTo>
                    <a:pt x="88" y="0"/>
                  </a:moveTo>
                  <a:lnTo>
                    <a:pt x="0" y="104"/>
                  </a:lnTo>
                  <a:lnTo>
                    <a:pt x="528" y="104"/>
                  </a:lnTo>
                  <a:lnTo>
                    <a:pt x="472" y="0"/>
                  </a:lnTo>
                  <a:lnTo>
                    <a:pt x="88" y="0"/>
                  </a:lnTo>
                </a:path>
              </a:pathLst>
            </a:custGeom>
            <a:solidFill>
              <a:srgbClr val="919191"/>
            </a:solidFill>
            <a:ln w="12700" cap="rnd" cmpd="sng">
              <a:solidFill>
                <a:srgbClr val="474747"/>
              </a:solidFill>
              <a:prstDash val="solid"/>
              <a:round/>
              <a:headEnd type="none" w="sm" len="sm"/>
              <a:tailEnd type="none" w="sm" len="sm"/>
            </a:ln>
          </p:spPr>
          <p:txBody>
            <a:bodyPr/>
            <a:lstStyle/>
            <a:p>
              <a:endParaRPr lang="pt-BR"/>
            </a:p>
          </p:txBody>
        </p:sp>
        <p:sp>
          <p:nvSpPr>
            <p:cNvPr id="43193" name="Rectangle 83"/>
            <p:cNvSpPr>
              <a:spLocks noChangeArrowheads="1"/>
            </p:cNvSpPr>
            <p:nvPr/>
          </p:nvSpPr>
          <p:spPr bwMode="auto">
            <a:xfrm>
              <a:off x="1205" y="3888"/>
              <a:ext cx="532" cy="28"/>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194" name="Freeform 84"/>
            <p:cNvSpPr>
              <a:spLocks/>
            </p:cNvSpPr>
            <p:nvPr/>
          </p:nvSpPr>
          <p:spPr bwMode="auto">
            <a:xfrm>
              <a:off x="1283" y="3810"/>
              <a:ext cx="405" cy="53"/>
            </a:xfrm>
            <a:custGeom>
              <a:avLst/>
              <a:gdLst>
                <a:gd name="T0" fmla="*/ 0 w 405"/>
                <a:gd name="T1" fmla="*/ 42 h 53"/>
                <a:gd name="T2" fmla="*/ 4 w 405"/>
                <a:gd name="T3" fmla="*/ 52 h 53"/>
                <a:gd name="T4" fmla="*/ 404 w 405"/>
                <a:gd name="T5" fmla="*/ 52 h 53"/>
                <a:gd name="T6" fmla="*/ 382 w 405"/>
                <a:gd name="T7" fmla="*/ 0 h 53"/>
                <a:gd name="T8" fmla="*/ 0 w 405"/>
                <a:gd name="T9" fmla="*/ 42 h 53"/>
                <a:gd name="T10" fmla="*/ 0 60000 65536"/>
                <a:gd name="T11" fmla="*/ 0 60000 65536"/>
                <a:gd name="T12" fmla="*/ 0 60000 65536"/>
                <a:gd name="T13" fmla="*/ 0 60000 65536"/>
                <a:gd name="T14" fmla="*/ 0 60000 65536"/>
                <a:gd name="T15" fmla="*/ 0 w 405"/>
                <a:gd name="T16" fmla="*/ 0 h 53"/>
                <a:gd name="T17" fmla="*/ 405 w 405"/>
                <a:gd name="T18" fmla="*/ 53 h 53"/>
              </a:gdLst>
              <a:ahLst/>
              <a:cxnLst>
                <a:cxn ang="T10">
                  <a:pos x="T0" y="T1"/>
                </a:cxn>
                <a:cxn ang="T11">
                  <a:pos x="T2" y="T3"/>
                </a:cxn>
                <a:cxn ang="T12">
                  <a:pos x="T4" y="T5"/>
                </a:cxn>
                <a:cxn ang="T13">
                  <a:pos x="T6" y="T7"/>
                </a:cxn>
                <a:cxn ang="T14">
                  <a:pos x="T8" y="T9"/>
                </a:cxn>
              </a:cxnLst>
              <a:rect l="T15" t="T16" r="T17" b="T18"/>
              <a:pathLst>
                <a:path w="405" h="53">
                  <a:moveTo>
                    <a:pt x="0" y="42"/>
                  </a:moveTo>
                  <a:lnTo>
                    <a:pt x="4" y="52"/>
                  </a:lnTo>
                  <a:lnTo>
                    <a:pt x="404" y="52"/>
                  </a:lnTo>
                  <a:lnTo>
                    <a:pt x="382" y="0"/>
                  </a:lnTo>
                  <a:lnTo>
                    <a:pt x="0" y="42"/>
                  </a:lnTo>
                </a:path>
              </a:pathLst>
            </a:custGeom>
            <a:solidFill>
              <a:srgbClr val="000000"/>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95" name="Freeform 85"/>
            <p:cNvSpPr>
              <a:spLocks/>
            </p:cNvSpPr>
            <p:nvPr/>
          </p:nvSpPr>
          <p:spPr bwMode="auto">
            <a:xfrm>
              <a:off x="1277" y="3808"/>
              <a:ext cx="401" cy="49"/>
            </a:xfrm>
            <a:custGeom>
              <a:avLst/>
              <a:gdLst>
                <a:gd name="T0" fmla="*/ 24 w 401"/>
                <a:gd name="T1" fmla="*/ 0 h 49"/>
                <a:gd name="T2" fmla="*/ 0 w 401"/>
                <a:gd name="T3" fmla="*/ 48 h 49"/>
                <a:gd name="T4" fmla="*/ 400 w 401"/>
                <a:gd name="T5" fmla="*/ 48 h 49"/>
                <a:gd name="T6" fmla="*/ 384 w 401"/>
                <a:gd name="T7" fmla="*/ 0 h 49"/>
                <a:gd name="T8" fmla="*/ 24 w 401"/>
                <a:gd name="T9" fmla="*/ 0 h 49"/>
                <a:gd name="T10" fmla="*/ 0 60000 65536"/>
                <a:gd name="T11" fmla="*/ 0 60000 65536"/>
                <a:gd name="T12" fmla="*/ 0 60000 65536"/>
                <a:gd name="T13" fmla="*/ 0 60000 65536"/>
                <a:gd name="T14" fmla="*/ 0 60000 65536"/>
                <a:gd name="T15" fmla="*/ 0 w 401"/>
                <a:gd name="T16" fmla="*/ 0 h 49"/>
                <a:gd name="T17" fmla="*/ 401 w 401"/>
                <a:gd name="T18" fmla="*/ 49 h 49"/>
              </a:gdLst>
              <a:ahLst/>
              <a:cxnLst>
                <a:cxn ang="T10">
                  <a:pos x="T0" y="T1"/>
                </a:cxn>
                <a:cxn ang="T11">
                  <a:pos x="T2" y="T3"/>
                </a:cxn>
                <a:cxn ang="T12">
                  <a:pos x="T4" y="T5"/>
                </a:cxn>
                <a:cxn ang="T13">
                  <a:pos x="T6" y="T7"/>
                </a:cxn>
                <a:cxn ang="T14">
                  <a:pos x="T8" y="T9"/>
                </a:cxn>
              </a:cxnLst>
              <a:rect l="T15" t="T16" r="T17" b="T18"/>
              <a:pathLst>
                <a:path w="401" h="49">
                  <a:moveTo>
                    <a:pt x="24" y="0"/>
                  </a:moveTo>
                  <a:lnTo>
                    <a:pt x="0" y="48"/>
                  </a:lnTo>
                  <a:lnTo>
                    <a:pt x="400" y="48"/>
                  </a:lnTo>
                  <a:lnTo>
                    <a:pt x="384" y="0"/>
                  </a:lnTo>
                  <a:lnTo>
                    <a:pt x="24" y="0"/>
                  </a:lnTo>
                </a:path>
              </a:pathLst>
            </a:custGeom>
            <a:solidFill>
              <a:srgbClr val="47474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96" name="Freeform 86"/>
            <p:cNvSpPr>
              <a:spLocks/>
            </p:cNvSpPr>
            <p:nvPr/>
          </p:nvSpPr>
          <p:spPr bwMode="auto">
            <a:xfrm>
              <a:off x="1205" y="3784"/>
              <a:ext cx="473" cy="129"/>
            </a:xfrm>
            <a:custGeom>
              <a:avLst/>
              <a:gdLst>
                <a:gd name="T0" fmla="*/ 472 w 473"/>
                <a:gd name="T1" fmla="*/ 0 h 129"/>
                <a:gd name="T2" fmla="*/ 88 w 473"/>
                <a:gd name="T3" fmla="*/ 0 h 129"/>
                <a:gd name="T4" fmla="*/ 0 w 473"/>
                <a:gd name="T5" fmla="*/ 104 h 129"/>
                <a:gd name="T6" fmla="*/ 0 w 473"/>
                <a:gd name="T7" fmla="*/ 128 h 129"/>
                <a:gd name="T8" fmla="*/ 0 60000 65536"/>
                <a:gd name="T9" fmla="*/ 0 60000 65536"/>
                <a:gd name="T10" fmla="*/ 0 60000 65536"/>
                <a:gd name="T11" fmla="*/ 0 60000 65536"/>
                <a:gd name="T12" fmla="*/ 0 w 473"/>
                <a:gd name="T13" fmla="*/ 0 h 129"/>
                <a:gd name="T14" fmla="*/ 473 w 473"/>
                <a:gd name="T15" fmla="*/ 129 h 129"/>
              </a:gdLst>
              <a:ahLst/>
              <a:cxnLst>
                <a:cxn ang="T8">
                  <a:pos x="T0" y="T1"/>
                </a:cxn>
                <a:cxn ang="T9">
                  <a:pos x="T2" y="T3"/>
                </a:cxn>
                <a:cxn ang="T10">
                  <a:pos x="T4" y="T5"/>
                </a:cxn>
                <a:cxn ang="T11">
                  <a:pos x="T6" y="T7"/>
                </a:cxn>
              </a:cxnLst>
              <a:rect l="T12" t="T13" r="T14" b="T15"/>
              <a:pathLst>
                <a:path w="473" h="129">
                  <a:moveTo>
                    <a:pt x="472" y="0"/>
                  </a:moveTo>
                  <a:lnTo>
                    <a:pt x="88" y="0"/>
                  </a:lnTo>
                  <a:lnTo>
                    <a:pt x="0" y="104"/>
                  </a:lnTo>
                  <a:lnTo>
                    <a:pt x="0" y="128"/>
                  </a:lnTo>
                </a:path>
              </a:pathLst>
            </a:custGeom>
            <a:noFill/>
            <a:ln w="12700" cap="rnd" cmpd="sng">
              <a:solidFill>
                <a:srgbClr val="DADADA"/>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3197" name="Freeform 87"/>
            <p:cNvSpPr>
              <a:spLocks/>
            </p:cNvSpPr>
            <p:nvPr/>
          </p:nvSpPr>
          <p:spPr bwMode="auto">
            <a:xfrm>
              <a:off x="1275" y="3738"/>
              <a:ext cx="393" cy="41"/>
            </a:xfrm>
            <a:custGeom>
              <a:avLst/>
              <a:gdLst>
                <a:gd name="T0" fmla="*/ 0 w 393"/>
                <a:gd name="T1" fmla="*/ 8 h 41"/>
                <a:gd name="T2" fmla="*/ 8 w 393"/>
                <a:gd name="T3" fmla="*/ 0 h 41"/>
                <a:gd name="T4" fmla="*/ 384 w 393"/>
                <a:gd name="T5" fmla="*/ 0 h 41"/>
                <a:gd name="T6" fmla="*/ 392 w 393"/>
                <a:gd name="T7" fmla="*/ 8 h 41"/>
                <a:gd name="T8" fmla="*/ 392 w 393"/>
                <a:gd name="T9" fmla="*/ 32 h 41"/>
                <a:gd name="T10" fmla="*/ 384 w 393"/>
                <a:gd name="T11" fmla="*/ 40 h 41"/>
                <a:gd name="T12" fmla="*/ 8 w 393"/>
                <a:gd name="T13" fmla="*/ 40 h 41"/>
                <a:gd name="T14" fmla="*/ 0 w 393"/>
                <a:gd name="T15" fmla="*/ 32 h 41"/>
                <a:gd name="T16" fmla="*/ 0 w 393"/>
                <a:gd name="T17" fmla="*/ 16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3"/>
                <a:gd name="T28" fmla="*/ 0 h 41"/>
                <a:gd name="T29" fmla="*/ 393 w 393"/>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3" h="41">
                  <a:moveTo>
                    <a:pt x="0" y="8"/>
                  </a:moveTo>
                  <a:lnTo>
                    <a:pt x="8" y="0"/>
                  </a:lnTo>
                  <a:lnTo>
                    <a:pt x="384" y="0"/>
                  </a:lnTo>
                  <a:lnTo>
                    <a:pt x="392" y="8"/>
                  </a:lnTo>
                  <a:lnTo>
                    <a:pt x="392" y="32"/>
                  </a:lnTo>
                  <a:lnTo>
                    <a:pt x="384" y="40"/>
                  </a:lnTo>
                  <a:lnTo>
                    <a:pt x="8" y="40"/>
                  </a:lnTo>
                  <a:lnTo>
                    <a:pt x="0" y="32"/>
                  </a:lnTo>
                  <a:lnTo>
                    <a:pt x="0" y="16"/>
                  </a:lnTo>
                </a:path>
              </a:pathLst>
            </a:custGeom>
            <a:solidFill>
              <a:srgbClr val="919191"/>
            </a:solidFill>
            <a:ln w="12700" cap="rnd" cmpd="sng">
              <a:solidFill>
                <a:srgbClr val="333333"/>
              </a:solidFill>
              <a:prstDash val="solid"/>
              <a:round/>
              <a:headEnd type="none" w="sm" len="sm"/>
              <a:tailEnd type="none" w="sm" len="sm"/>
            </a:ln>
          </p:spPr>
          <p:txBody>
            <a:bodyPr/>
            <a:lstStyle/>
            <a:p>
              <a:endParaRPr lang="pt-BR"/>
            </a:p>
          </p:txBody>
        </p:sp>
        <p:sp>
          <p:nvSpPr>
            <p:cNvPr id="43198" name="Line 88"/>
            <p:cNvSpPr>
              <a:spLocks noChangeShapeType="1"/>
            </p:cNvSpPr>
            <p:nvPr/>
          </p:nvSpPr>
          <p:spPr bwMode="auto">
            <a:xfrm>
              <a:off x="1387" y="3755"/>
              <a:ext cx="0" cy="3"/>
            </a:xfrm>
            <a:prstGeom prst="line">
              <a:avLst/>
            </a:prstGeom>
            <a:noFill/>
            <a:ln w="12700">
              <a:solidFill>
                <a:srgbClr val="3333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99" name="Line 89"/>
            <p:cNvSpPr>
              <a:spLocks noChangeShapeType="1"/>
            </p:cNvSpPr>
            <p:nvPr/>
          </p:nvSpPr>
          <p:spPr bwMode="auto">
            <a:xfrm>
              <a:off x="1547" y="3755"/>
              <a:ext cx="0" cy="3"/>
            </a:xfrm>
            <a:prstGeom prst="line">
              <a:avLst/>
            </a:prstGeom>
            <a:noFill/>
            <a:ln w="12700">
              <a:solidFill>
                <a:srgbClr val="3333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00" name="Line 90"/>
            <p:cNvSpPr>
              <a:spLocks noChangeShapeType="1"/>
            </p:cNvSpPr>
            <p:nvPr/>
          </p:nvSpPr>
          <p:spPr bwMode="auto">
            <a:xfrm>
              <a:off x="1555" y="3755"/>
              <a:ext cx="0" cy="5"/>
            </a:xfrm>
            <a:prstGeom prst="line">
              <a:avLst/>
            </a:prstGeom>
            <a:noFill/>
            <a:ln w="12700">
              <a:solidFill>
                <a:srgbClr val="DADADA"/>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01" name="Line 91"/>
            <p:cNvSpPr>
              <a:spLocks noChangeShapeType="1"/>
            </p:cNvSpPr>
            <p:nvPr/>
          </p:nvSpPr>
          <p:spPr bwMode="auto">
            <a:xfrm>
              <a:off x="1395" y="3755"/>
              <a:ext cx="0" cy="5"/>
            </a:xfrm>
            <a:prstGeom prst="line">
              <a:avLst/>
            </a:prstGeom>
            <a:noFill/>
            <a:ln w="12700">
              <a:solidFill>
                <a:srgbClr val="DADADA"/>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202" name="Freeform 92"/>
            <p:cNvSpPr>
              <a:spLocks/>
            </p:cNvSpPr>
            <p:nvPr/>
          </p:nvSpPr>
          <p:spPr bwMode="auto">
            <a:xfrm>
              <a:off x="1275" y="3738"/>
              <a:ext cx="377" cy="41"/>
            </a:xfrm>
            <a:custGeom>
              <a:avLst/>
              <a:gdLst>
                <a:gd name="T0" fmla="*/ 376 w 377"/>
                <a:gd name="T1" fmla="*/ 0 h 41"/>
                <a:gd name="T2" fmla="*/ 8 w 377"/>
                <a:gd name="T3" fmla="*/ 0 h 41"/>
                <a:gd name="T4" fmla="*/ 0 w 377"/>
                <a:gd name="T5" fmla="*/ 8 h 41"/>
                <a:gd name="T6" fmla="*/ 0 w 377"/>
                <a:gd name="T7" fmla="*/ 32 h 41"/>
                <a:gd name="T8" fmla="*/ 8 w 377"/>
                <a:gd name="T9" fmla="*/ 40 h 41"/>
                <a:gd name="T10" fmla="*/ 0 60000 65536"/>
                <a:gd name="T11" fmla="*/ 0 60000 65536"/>
                <a:gd name="T12" fmla="*/ 0 60000 65536"/>
                <a:gd name="T13" fmla="*/ 0 60000 65536"/>
                <a:gd name="T14" fmla="*/ 0 60000 65536"/>
                <a:gd name="T15" fmla="*/ 0 w 377"/>
                <a:gd name="T16" fmla="*/ 0 h 41"/>
                <a:gd name="T17" fmla="*/ 377 w 377"/>
                <a:gd name="T18" fmla="*/ 41 h 41"/>
              </a:gdLst>
              <a:ahLst/>
              <a:cxnLst>
                <a:cxn ang="T10">
                  <a:pos x="T0" y="T1"/>
                </a:cxn>
                <a:cxn ang="T11">
                  <a:pos x="T2" y="T3"/>
                </a:cxn>
                <a:cxn ang="T12">
                  <a:pos x="T4" y="T5"/>
                </a:cxn>
                <a:cxn ang="T13">
                  <a:pos x="T6" y="T7"/>
                </a:cxn>
                <a:cxn ang="T14">
                  <a:pos x="T8" y="T9"/>
                </a:cxn>
              </a:cxnLst>
              <a:rect l="T15" t="T16" r="T17" b="T18"/>
              <a:pathLst>
                <a:path w="377" h="41">
                  <a:moveTo>
                    <a:pt x="376" y="0"/>
                  </a:moveTo>
                  <a:lnTo>
                    <a:pt x="8" y="0"/>
                  </a:lnTo>
                  <a:lnTo>
                    <a:pt x="0" y="8"/>
                  </a:lnTo>
                  <a:lnTo>
                    <a:pt x="0" y="32"/>
                  </a:lnTo>
                  <a:lnTo>
                    <a:pt x="8" y="40"/>
                  </a:lnTo>
                </a:path>
              </a:pathLst>
            </a:custGeom>
            <a:noFill/>
            <a:ln w="12700" cap="rnd" cmpd="sng">
              <a:solidFill>
                <a:srgbClr val="DADADA"/>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43015" name="Line 93"/>
          <p:cNvSpPr>
            <a:spLocks noChangeShapeType="1"/>
          </p:cNvSpPr>
          <p:nvPr/>
        </p:nvSpPr>
        <p:spPr bwMode="auto">
          <a:xfrm flipV="1">
            <a:off x="2724150" y="4829175"/>
            <a:ext cx="0" cy="577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16" name="Line 94"/>
          <p:cNvSpPr>
            <a:spLocks noChangeShapeType="1"/>
          </p:cNvSpPr>
          <p:nvPr/>
        </p:nvSpPr>
        <p:spPr bwMode="auto">
          <a:xfrm flipV="1">
            <a:off x="7296150" y="5076825"/>
            <a:ext cx="0" cy="33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17" name="Line 95"/>
          <p:cNvSpPr>
            <a:spLocks noChangeShapeType="1"/>
          </p:cNvSpPr>
          <p:nvPr/>
        </p:nvSpPr>
        <p:spPr bwMode="auto">
          <a:xfrm flipV="1">
            <a:off x="2724150" y="4003675"/>
            <a:ext cx="1066800" cy="825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18" name="Line 96"/>
          <p:cNvSpPr>
            <a:spLocks noChangeShapeType="1"/>
          </p:cNvSpPr>
          <p:nvPr/>
        </p:nvSpPr>
        <p:spPr bwMode="auto">
          <a:xfrm flipV="1">
            <a:off x="3790950" y="4911725"/>
            <a:ext cx="0" cy="495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19" name="Line 97"/>
          <p:cNvSpPr>
            <a:spLocks noChangeShapeType="1"/>
          </p:cNvSpPr>
          <p:nvPr/>
        </p:nvSpPr>
        <p:spPr bwMode="auto">
          <a:xfrm flipH="1" flipV="1">
            <a:off x="4248150" y="4251325"/>
            <a:ext cx="1981200" cy="908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20" name="AutoShape 98"/>
          <p:cNvSpPr>
            <a:spLocks noChangeArrowheads="1"/>
          </p:cNvSpPr>
          <p:nvPr/>
        </p:nvSpPr>
        <p:spPr bwMode="auto">
          <a:xfrm>
            <a:off x="2724150" y="4911725"/>
            <a:ext cx="76200" cy="412750"/>
          </a:xfrm>
          <a:prstGeom prst="upArrow">
            <a:avLst>
              <a:gd name="adj1" fmla="val 50000"/>
              <a:gd name="adj2" fmla="val 135417"/>
            </a:avLst>
          </a:prstGeom>
          <a:solidFill>
            <a:srgbClr val="CC3300"/>
          </a:solidFill>
          <a:ln w="9525">
            <a:solidFill>
              <a:schemeClr val="tx1"/>
            </a:solidFill>
            <a:miter lim="800000"/>
            <a:headEnd/>
            <a:tailEnd/>
          </a:ln>
        </p:spPr>
        <p:txBody>
          <a:bodyPr wrap="none" anchor="ctr"/>
          <a:lstStyle/>
          <a:p>
            <a:endParaRPr lang="pt-BR"/>
          </a:p>
        </p:txBody>
      </p:sp>
      <p:sp>
        <p:nvSpPr>
          <p:cNvPr id="43021" name="Line 99"/>
          <p:cNvSpPr>
            <a:spLocks noChangeShapeType="1"/>
          </p:cNvSpPr>
          <p:nvPr/>
        </p:nvSpPr>
        <p:spPr bwMode="auto">
          <a:xfrm flipV="1">
            <a:off x="3105150" y="4086225"/>
            <a:ext cx="609600" cy="49530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43022" name="AutoShape 100"/>
          <p:cNvSpPr>
            <a:spLocks noChangeArrowheads="1"/>
          </p:cNvSpPr>
          <p:nvPr/>
        </p:nvSpPr>
        <p:spPr bwMode="auto">
          <a:xfrm>
            <a:off x="6076950" y="5159375"/>
            <a:ext cx="76200" cy="165100"/>
          </a:xfrm>
          <a:prstGeom prst="downArrow">
            <a:avLst>
              <a:gd name="adj1" fmla="val 50000"/>
              <a:gd name="adj2" fmla="val 54167"/>
            </a:avLst>
          </a:prstGeom>
          <a:solidFill>
            <a:srgbClr val="CC3300"/>
          </a:solidFill>
          <a:ln w="9525">
            <a:solidFill>
              <a:schemeClr val="tx1"/>
            </a:solidFill>
            <a:miter lim="800000"/>
            <a:headEnd/>
            <a:tailEnd/>
          </a:ln>
        </p:spPr>
        <p:txBody>
          <a:bodyPr wrap="none" anchor="ctr"/>
          <a:lstStyle/>
          <a:p>
            <a:endParaRPr lang="pt-BR"/>
          </a:p>
        </p:txBody>
      </p:sp>
      <p:sp>
        <p:nvSpPr>
          <p:cNvPr id="43023" name="Line 101"/>
          <p:cNvSpPr>
            <a:spLocks noChangeShapeType="1"/>
          </p:cNvSpPr>
          <p:nvPr/>
        </p:nvSpPr>
        <p:spPr bwMode="auto">
          <a:xfrm>
            <a:off x="4705350" y="4498975"/>
            <a:ext cx="1219200" cy="57785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grpSp>
        <p:nvGrpSpPr>
          <p:cNvPr id="43024" name="Group 102"/>
          <p:cNvGrpSpPr>
            <a:grpSpLocks/>
          </p:cNvGrpSpPr>
          <p:nvPr/>
        </p:nvGrpSpPr>
        <p:grpSpPr bwMode="auto">
          <a:xfrm>
            <a:off x="3486150" y="5416550"/>
            <a:ext cx="584200" cy="733425"/>
            <a:chOff x="186" y="2861"/>
            <a:chExt cx="608" cy="665"/>
          </a:xfrm>
        </p:grpSpPr>
        <p:sp>
          <p:nvSpPr>
            <p:cNvPr id="43118" name="Rectangle 103"/>
            <p:cNvSpPr>
              <a:spLocks noChangeArrowheads="1"/>
            </p:cNvSpPr>
            <p:nvPr/>
          </p:nvSpPr>
          <p:spPr bwMode="auto">
            <a:xfrm>
              <a:off x="309" y="3183"/>
              <a:ext cx="387" cy="46"/>
            </a:xfrm>
            <a:prstGeom prst="rect">
              <a:avLst/>
            </a:prstGeom>
            <a:solidFill>
              <a:srgbClr val="919191"/>
            </a:solidFill>
            <a:ln w="12700">
              <a:solidFill>
                <a:srgbClr val="232323"/>
              </a:solidFill>
              <a:miter lim="800000"/>
              <a:headEnd/>
              <a:tailEnd/>
            </a:ln>
          </p:spPr>
          <p:txBody>
            <a:bodyPr wrap="none" anchor="ctr"/>
            <a:lstStyle/>
            <a:p>
              <a:endParaRPr lang="pt-BR"/>
            </a:p>
          </p:txBody>
        </p:sp>
        <p:grpSp>
          <p:nvGrpSpPr>
            <p:cNvPr id="43119" name="Group 104"/>
            <p:cNvGrpSpPr>
              <a:grpSpLocks/>
            </p:cNvGrpSpPr>
            <p:nvPr/>
          </p:nvGrpSpPr>
          <p:grpSpPr bwMode="auto">
            <a:xfrm>
              <a:off x="260" y="3221"/>
              <a:ext cx="486" cy="159"/>
              <a:chOff x="260" y="3221"/>
              <a:chExt cx="486" cy="159"/>
            </a:xfrm>
          </p:grpSpPr>
          <p:sp>
            <p:nvSpPr>
              <p:cNvPr id="43137" name="Rectangle 105"/>
              <p:cNvSpPr>
                <a:spLocks noChangeArrowheads="1"/>
              </p:cNvSpPr>
              <p:nvPr/>
            </p:nvSpPr>
            <p:spPr bwMode="auto">
              <a:xfrm>
                <a:off x="266" y="3224"/>
                <a:ext cx="475" cy="152"/>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grpSp>
            <p:nvGrpSpPr>
              <p:cNvPr id="43138" name="Group 106"/>
              <p:cNvGrpSpPr>
                <a:grpSpLocks/>
              </p:cNvGrpSpPr>
              <p:nvPr/>
            </p:nvGrpSpPr>
            <p:grpSpPr bwMode="auto">
              <a:xfrm>
                <a:off x="294" y="3262"/>
                <a:ext cx="105" cy="41"/>
                <a:chOff x="294" y="3262"/>
                <a:chExt cx="105" cy="41"/>
              </a:xfrm>
            </p:grpSpPr>
            <p:sp>
              <p:nvSpPr>
                <p:cNvPr id="43176" name="Oval 107"/>
                <p:cNvSpPr>
                  <a:spLocks noChangeArrowheads="1"/>
                </p:cNvSpPr>
                <p:nvPr/>
              </p:nvSpPr>
              <p:spPr bwMode="auto">
                <a:xfrm>
                  <a:off x="294" y="3262"/>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77" name="Oval 108"/>
                <p:cNvSpPr>
                  <a:spLocks noChangeArrowheads="1"/>
                </p:cNvSpPr>
                <p:nvPr/>
              </p:nvSpPr>
              <p:spPr bwMode="auto">
                <a:xfrm>
                  <a:off x="325" y="3262"/>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78" name="Oval 109"/>
                <p:cNvSpPr>
                  <a:spLocks noChangeArrowheads="1"/>
                </p:cNvSpPr>
                <p:nvPr/>
              </p:nvSpPr>
              <p:spPr bwMode="auto">
                <a:xfrm>
                  <a:off x="357" y="3262"/>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79" name="Oval 110"/>
                <p:cNvSpPr>
                  <a:spLocks noChangeArrowheads="1"/>
                </p:cNvSpPr>
                <p:nvPr/>
              </p:nvSpPr>
              <p:spPr bwMode="auto">
                <a:xfrm>
                  <a:off x="388" y="3262"/>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80" name="Oval 111"/>
                <p:cNvSpPr>
                  <a:spLocks noChangeArrowheads="1"/>
                </p:cNvSpPr>
                <p:nvPr/>
              </p:nvSpPr>
              <p:spPr bwMode="auto">
                <a:xfrm>
                  <a:off x="294" y="3291"/>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81" name="Oval 112"/>
                <p:cNvSpPr>
                  <a:spLocks noChangeArrowheads="1"/>
                </p:cNvSpPr>
                <p:nvPr/>
              </p:nvSpPr>
              <p:spPr bwMode="auto">
                <a:xfrm>
                  <a:off x="325" y="3291"/>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82" name="Oval 113"/>
                <p:cNvSpPr>
                  <a:spLocks noChangeArrowheads="1"/>
                </p:cNvSpPr>
                <p:nvPr/>
              </p:nvSpPr>
              <p:spPr bwMode="auto">
                <a:xfrm>
                  <a:off x="357" y="3291"/>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83" name="Oval 114"/>
                <p:cNvSpPr>
                  <a:spLocks noChangeArrowheads="1"/>
                </p:cNvSpPr>
                <p:nvPr/>
              </p:nvSpPr>
              <p:spPr bwMode="auto">
                <a:xfrm>
                  <a:off x="388" y="3291"/>
                  <a:ext cx="11" cy="12"/>
                </a:xfrm>
                <a:prstGeom prst="ellipse">
                  <a:avLst/>
                </a:prstGeom>
                <a:solidFill>
                  <a:srgbClr val="232323"/>
                </a:solidFill>
                <a:ln w="12700">
                  <a:solidFill>
                    <a:srgbClr val="232323"/>
                  </a:solidFill>
                  <a:round/>
                  <a:headEnd/>
                  <a:tailEnd/>
                </a:ln>
              </p:spPr>
              <p:txBody>
                <a:bodyPr wrap="none" anchor="ctr"/>
                <a:lstStyle/>
                <a:p>
                  <a:endParaRPr lang="pt-BR"/>
                </a:p>
              </p:txBody>
            </p:sp>
          </p:grpSp>
          <p:grpSp>
            <p:nvGrpSpPr>
              <p:cNvPr id="43139" name="Group 115"/>
              <p:cNvGrpSpPr>
                <a:grpSpLocks/>
              </p:cNvGrpSpPr>
              <p:nvPr/>
            </p:nvGrpSpPr>
            <p:grpSpPr bwMode="auto">
              <a:xfrm>
                <a:off x="264" y="3327"/>
                <a:ext cx="477" cy="48"/>
                <a:chOff x="264" y="3327"/>
                <a:chExt cx="477" cy="48"/>
              </a:xfrm>
            </p:grpSpPr>
            <p:sp>
              <p:nvSpPr>
                <p:cNvPr id="43161" name="Line 116"/>
                <p:cNvSpPr>
                  <a:spLocks noChangeShapeType="1"/>
                </p:cNvSpPr>
                <p:nvPr/>
              </p:nvSpPr>
              <p:spPr bwMode="auto">
                <a:xfrm>
                  <a:off x="302"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2" name="Line 117"/>
                <p:cNvSpPr>
                  <a:spLocks noChangeShapeType="1"/>
                </p:cNvSpPr>
                <p:nvPr/>
              </p:nvSpPr>
              <p:spPr bwMode="auto">
                <a:xfrm flipH="1">
                  <a:off x="264" y="3327"/>
                  <a:ext cx="477" cy="0"/>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3" name="Line 118"/>
                <p:cNvSpPr>
                  <a:spLocks noChangeShapeType="1"/>
                </p:cNvSpPr>
                <p:nvPr/>
              </p:nvSpPr>
              <p:spPr bwMode="auto">
                <a:xfrm>
                  <a:off x="334"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4" name="Line 119"/>
                <p:cNvSpPr>
                  <a:spLocks noChangeShapeType="1"/>
                </p:cNvSpPr>
                <p:nvPr/>
              </p:nvSpPr>
              <p:spPr bwMode="auto">
                <a:xfrm>
                  <a:off x="365"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5" name="Line 120"/>
                <p:cNvSpPr>
                  <a:spLocks noChangeShapeType="1"/>
                </p:cNvSpPr>
                <p:nvPr/>
              </p:nvSpPr>
              <p:spPr bwMode="auto">
                <a:xfrm>
                  <a:off x="397"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6" name="Line 121"/>
                <p:cNvSpPr>
                  <a:spLocks noChangeShapeType="1"/>
                </p:cNvSpPr>
                <p:nvPr/>
              </p:nvSpPr>
              <p:spPr bwMode="auto">
                <a:xfrm>
                  <a:off x="428"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7" name="Line 122"/>
                <p:cNvSpPr>
                  <a:spLocks noChangeShapeType="1"/>
                </p:cNvSpPr>
                <p:nvPr/>
              </p:nvSpPr>
              <p:spPr bwMode="auto">
                <a:xfrm>
                  <a:off x="460"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8" name="Line 123"/>
                <p:cNvSpPr>
                  <a:spLocks noChangeShapeType="1"/>
                </p:cNvSpPr>
                <p:nvPr/>
              </p:nvSpPr>
              <p:spPr bwMode="auto">
                <a:xfrm>
                  <a:off x="490"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9" name="Line 124"/>
                <p:cNvSpPr>
                  <a:spLocks noChangeShapeType="1"/>
                </p:cNvSpPr>
                <p:nvPr/>
              </p:nvSpPr>
              <p:spPr bwMode="auto">
                <a:xfrm>
                  <a:off x="522"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70" name="Line 125"/>
                <p:cNvSpPr>
                  <a:spLocks noChangeShapeType="1"/>
                </p:cNvSpPr>
                <p:nvPr/>
              </p:nvSpPr>
              <p:spPr bwMode="auto">
                <a:xfrm>
                  <a:off x="553"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71" name="Line 126"/>
                <p:cNvSpPr>
                  <a:spLocks noChangeShapeType="1"/>
                </p:cNvSpPr>
                <p:nvPr/>
              </p:nvSpPr>
              <p:spPr bwMode="auto">
                <a:xfrm>
                  <a:off x="585"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72" name="Line 127"/>
                <p:cNvSpPr>
                  <a:spLocks noChangeShapeType="1"/>
                </p:cNvSpPr>
                <p:nvPr/>
              </p:nvSpPr>
              <p:spPr bwMode="auto">
                <a:xfrm>
                  <a:off x="616"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73" name="Line 128"/>
                <p:cNvSpPr>
                  <a:spLocks noChangeShapeType="1"/>
                </p:cNvSpPr>
                <p:nvPr/>
              </p:nvSpPr>
              <p:spPr bwMode="auto">
                <a:xfrm>
                  <a:off x="648"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74" name="Line 129"/>
                <p:cNvSpPr>
                  <a:spLocks noChangeShapeType="1"/>
                </p:cNvSpPr>
                <p:nvPr/>
              </p:nvSpPr>
              <p:spPr bwMode="auto">
                <a:xfrm>
                  <a:off x="679"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75" name="Line 130"/>
                <p:cNvSpPr>
                  <a:spLocks noChangeShapeType="1"/>
                </p:cNvSpPr>
                <p:nvPr/>
              </p:nvSpPr>
              <p:spPr bwMode="auto">
                <a:xfrm>
                  <a:off x="711"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43140" name="Group 131"/>
              <p:cNvGrpSpPr>
                <a:grpSpLocks/>
              </p:cNvGrpSpPr>
              <p:nvPr/>
            </p:nvGrpSpPr>
            <p:grpSpPr bwMode="auto">
              <a:xfrm>
                <a:off x="266" y="3335"/>
                <a:ext cx="473" cy="40"/>
                <a:chOff x="266" y="3335"/>
                <a:chExt cx="473" cy="40"/>
              </a:xfrm>
            </p:grpSpPr>
            <p:sp>
              <p:nvSpPr>
                <p:cNvPr id="43146" name="Line 132"/>
                <p:cNvSpPr>
                  <a:spLocks noChangeShapeType="1"/>
                </p:cNvSpPr>
                <p:nvPr/>
              </p:nvSpPr>
              <p:spPr bwMode="auto">
                <a:xfrm>
                  <a:off x="308"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47" name="Line 133"/>
                <p:cNvSpPr>
                  <a:spLocks noChangeShapeType="1"/>
                </p:cNvSpPr>
                <p:nvPr/>
              </p:nvSpPr>
              <p:spPr bwMode="auto">
                <a:xfrm>
                  <a:off x="340"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48" name="Line 134"/>
                <p:cNvSpPr>
                  <a:spLocks noChangeShapeType="1"/>
                </p:cNvSpPr>
                <p:nvPr/>
              </p:nvSpPr>
              <p:spPr bwMode="auto">
                <a:xfrm>
                  <a:off x="371"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49" name="Line 135"/>
                <p:cNvSpPr>
                  <a:spLocks noChangeShapeType="1"/>
                </p:cNvSpPr>
                <p:nvPr/>
              </p:nvSpPr>
              <p:spPr bwMode="auto">
                <a:xfrm>
                  <a:off x="402"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0" name="Line 136"/>
                <p:cNvSpPr>
                  <a:spLocks noChangeShapeType="1"/>
                </p:cNvSpPr>
                <p:nvPr/>
              </p:nvSpPr>
              <p:spPr bwMode="auto">
                <a:xfrm>
                  <a:off x="434"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1" name="Line 137"/>
                <p:cNvSpPr>
                  <a:spLocks noChangeShapeType="1"/>
                </p:cNvSpPr>
                <p:nvPr/>
              </p:nvSpPr>
              <p:spPr bwMode="auto">
                <a:xfrm>
                  <a:off x="465"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2" name="Line 138"/>
                <p:cNvSpPr>
                  <a:spLocks noChangeShapeType="1"/>
                </p:cNvSpPr>
                <p:nvPr/>
              </p:nvSpPr>
              <p:spPr bwMode="auto">
                <a:xfrm>
                  <a:off x="496"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3" name="Line 139"/>
                <p:cNvSpPr>
                  <a:spLocks noChangeShapeType="1"/>
                </p:cNvSpPr>
                <p:nvPr/>
              </p:nvSpPr>
              <p:spPr bwMode="auto">
                <a:xfrm>
                  <a:off x="528"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4" name="Line 140"/>
                <p:cNvSpPr>
                  <a:spLocks noChangeShapeType="1"/>
                </p:cNvSpPr>
                <p:nvPr/>
              </p:nvSpPr>
              <p:spPr bwMode="auto">
                <a:xfrm>
                  <a:off x="559"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5" name="Line 141"/>
                <p:cNvSpPr>
                  <a:spLocks noChangeShapeType="1"/>
                </p:cNvSpPr>
                <p:nvPr/>
              </p:nvSpPr>
              <p:spPr bwMode="auto">
                <a:xfrm>
                  <a:off x="591"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6" name="Line 142"/>
                <p:cNvSpPr>
                  <a:spLocks noChangeShapeType="1"/>
                </p:cNvSpPr>
                <p:nvPr/>
              </p:nvSpPr>
              <p:spPr bwMode="auto">
                <a:xfrm>
                  <a:off x="622"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7" name="Line 143"/>
                <p:cNvSpPr>
                  <a:spLocks noChangeShapeType="1"/>
                </p:cNvSpPr>
                <p:nvPr/>
              </p:nvSpPr>
              <p:spPr bwMode="auto">
                <a:xfrm>
                  <a:off x="653"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8" name="Line 144"/>
                <p:cNvSpPr>
                  <a:spLocks noChangeShapeType="1"/>
                </p:cNvSpPr>
                <p:nvPr/>
              </p:nvSpPr>
              <p:spPr bwMode="auto">
                <a:xfrm>
                  <a:off x="684"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59" name="Line 145"/>
                <p:cNvSpPr>
                  <a:spLocks noChangeShapeType="1"/>
                </p:cNvSpPr>
                <p:nvPr/>
              </p:nvSpPr>
              <p:spPr bwMode="auto">
                <a:xfrm>
                  <a:off x="716"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60" name="Freeform 146"/>
                <p:cNvSpPr>
                  <a:spLocks/>
                </p:cNvSpPr>
                <p:nvPr/>
              </p:nvSpPr>
              <p:spPr bwMode="auto">
                <a:xfrm>
                  <a:off x="266" y="3335"/>
                  <a:ext cx="473" cy="1"/>
                </a:xfrm>
                <a:custGeom>
                  <a:avLst/>
                  <a:gdLst>
                    <a:gd name="T0" fmla="*/ 0 w 473"/>
                    <a:gd name="T1" fmla="*/ 0 h 1"/>
                    <a:gd name="T2" fmla="*/ 472 w 473"/>
                    <a:gd name="T3" fmla="*/ 0 h 1"/>
                    <a:gd name="T4" fmla="*/ 0 60000 65536"/>
                    <a:gd name="T5" fmla="*/ 0 60000 65536"/>
                    <a:gd name="T6" fmla="*/ 0 w 473"/>
                    <a:gd name="T7" fmla="*/ 0 h 1"/>
                    <a:gd name="T8" fmla="*/ 473 w 473"/>
                    <a:gd name="T9" fmla="*/ 1 h 1"/>
                  </a:gdLst>
                  <a:ahLst/>
                  <a:cxnLst>
                    <a:cxn ang="T4">
                      <a:pos x="T0" y="T1"/>
                    </a:cxn>
                    <a:cxn ang="T5">
                      <a:pos x="T2" y="T3"/>
                    </a:cxn>
                  </a:cxnLst>
                  <a:rect l="T6" t="T7" r="T8" b="T9"/>
                  <a:pathLst>
                    <a:path w="473" h="1">
                      <a:moveTo>
                        <a:pt x="0" y="0"/>
                      </a:moveTo>
                      <a:lnTo>
                        <a:pt x="472" y="0"/>
                      </a:lnTo>
                    </a:path>
                  </a:pathLst>
                </a:custGeom>
                <a:noFill/>
                <a:ln w="12700" cap="rnd" cmpd="sng">
                  <a:solidFill>
                    <a:srgbClr val="CECECE"/>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grpSp>
          <p:grpSp>
            <p:nvGrpSpPr>
              <p:cNvPr id="43141" name="Group 147"/>
              <p:cNvGrpSpPr>
                <a:grpSpLocks/>
              </p:cNvGrpSpPr>
              <p:nvPr/>
            </p:nvGrpSpPr>
            <p:grpSpPr bwMode="auto">
              <a:xfrm>
                <a:off x="616" y="3252"/>
                <a:ext cx="98" cy="33"/>
                <a:chOff x="616" y="3252"/>
                <a:chExt cx="98" cy="33"/>
              </a:xfrm>
            </p:grpSpPr>
            <p:sp>
              <p:nvSpPr>
                <p:cNvPr id="43144" name="Rectangle 148"/>
                <p:cNvSpPr>
                  <a:spLocks noChangeArrowheads="1"/>
                </p:cNvSpPr>
                <p:nvPr/>
              </p:nvSpPr>
              <p:spPr bwMode="auto">
                <a:xfrm>
                  <a:off x="644" y="3252"/>
                  <a:ext cx="42" cy="33"/>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145" name="Rectangle 149"/>
                <p:cNvSpPr>
                  <a:spLocks noChangeArrowheads="1"/>
                </p:cNvSpPr>
                <p:nvPr/>
              </p:nvSpPr>
              <p:spPr bwMode="auto">
                <a:xfrm>
                  <a:off x="616" y="3261"/>
                  <a:ext cx="98" cy="15"/>
                </a:xfrm>
                <a:prstGeom prst="rect">
                  <a:avLst/>
                </a:prstGeom>
                <a:solidFill>
                  <a:srgbClr val="23232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grpSp>
          <p:sp>
            <p:nvSpPr>
              <p:cNvPr id="43142" name="Freeform 150"/>
              <p:cNvSpPr>
                <a:spLocks/>
              </p:cNvSpPr>
              <p:nvPr/>
            </p:nvSpPr>
            <p:spPr bwMode="auto">
              <a:xfrm>
                <a:off x="260" y="3221"/>
                <a:ext cx="486" cy="159"/>
              </a:xfrm>
              <a:custGeom>
                <a:avLst/>
                <a:gdLst>
                  <a:gd name="T0" fmla="*/ 485 w 486"/>
                  <a:gd name="T1" fmla="*/ 0 h 159"/>
                  <a:gd name="T2" fmla="*/ 0 w 486"/>
                  <a:gd name="T3" fmla="*/ 0 h 159"/>
                  <a:gd name="T4" fmla="*/ 0 w 486"/>
                  <a:gd name="T5" fmla="*/ 158 h 159"/>
                  <a:gd name="T6" fmla="*/ 7 w 486"/>
                  <a:gd name="T7" fmla="*/ 151 h 159"/>
                  <a:gd name="T8" fmla="*/ 7 w 486"/>
                  <a:gd name="T9" fmla="*/ 7 h 159"/>
                  <a:gd name="T10" fmla="*/ 476 w 486"/>
                  <a:gd name="T11" fmla="*/ 7 h 159"/>
                  <a:gd name="T12" fmla="*/ 0 60000 65536"/>
                  <a:gd name="T13" fmla="*/ 0 60000 65536"/>
                  <a:gd name="T14" fmla="*/ 0 60000 65536"/>
                  <a:gd name="T15" fmla="*/ 0 60000 65536"/>
                  <a:gd name="T16" fmla="*/ 0 60000 65536"/>
                  <a:gd name="T17" fmla="*/ 0 60000 65536"/>
                  <a:gd name="T18" fmla="*/ 0 w 486"/>
                  <a:gd name="T19" fmla="*/ 0 h 159"/>
                  <a:gd name="T20" fmla="*/ 486 w 486"/>
                  <a:gd name="T21" fmla="*/ 159 h 159"/>
                </a:gdLst>
                <a:ahLst/>
                <a:cxnLst>
                  <a:cxn ang="T12">
                    <a:pos x="T0" y="T1"/>
                  </a:cxn>
                  <a:cxn ang="T13">
                    <a:pos x="T2" y="T3"/>
                  </a:cxn>
                  <a:cxn ang="T14">
                    <a:pos x="T4" y="T5"/>
                  </a:cxn>
                  <a:cxn ang="T15">
                    <a:pos x="T6" y="T7"/>
                  </a:cxn>
                  <a:cxn ang="T16">
                    <a:pos x="T8" y="T9"/>
                  </a:cxn>
                  <a:cxn ang="T17">
                    <a:pos x="T10" y="T11"/>
                  </a:cxn>
                </a:cxnLst>
                <a:rect l="T18" t="T19" r="T20" b="T21"/>
                <a:pathLst>
                  <a:path w="486" h="159">
                    <a:moveTo>
                      <a:pt x="485" y="0"/>
                    </a:moveTo>
                    <a:lnTo>
                      <a:pt x="0" y="0"/>
                    </a:lnTo>
                    <a:lnTo>
                      <a:pt x="0" y="158"/>
                    </a:lnTo>
                    <a:lnTo>
                      <a:pt x="7" y="151"/>
                    </a:lnTo>
                    <a:lnTo>
                      <a:pt x="7" y="7"/>
                    </a:lnTo>
                    <a:lnTo>
                      <a:pt x="476" y="7"/>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43" name="Freeform 151"/>
              <p:cNvSpPr>
                <a:spLocks/>
              </p:cNvSpPr>
              <p:nvPr/>
            </p:nvSpPr>
            <p:spPr bwMode="auto">
              <a:xfrm>
                <a:off x="260" y="3221"/>
                <a:ext cx="486" cy="159"/>
              </a:xfrm>
              <a:custGeom>
                <a:avLst/>
                <a:gdLst>
                  <a:gd name="T0" fmla="*/ 0 w 486"/>
                  <a:gd name="T1" fmla="*/ 158 h 159"/>
                  <a:gd name="T2" fmla="*/ 485 w 486"/>
                  <a:gd name="T3" fmla="*/ 158 h 159"/>
                  <a:gd name="T4" fmla="*/ 485 w 486"/>
                  <a:gd name="T5" fmla="*/ 0 h 159"/>
                  <a:gd name="T6" fmla="*/ 478 w 486"/>
                  <a:gd name="T7" fmla="*/ 7 h 159"/>
                  <a:gd name="T8" fmla="*/ 478 w 486"/>
                  <a:gd name="T9" fmla="*/ 151 h 159"/>
                  <a:gd name="T10" fmla="*/ 9 w 486"/>
                  <a:gd name="T11" fmla="*/ 151 h 159"/>
                  <a:gd name="T12" fmla="*/ 0 60000 65536"/>
                  <a:gd name="T13" fmla="*/ 0 60000 65536"/>
                  <a:gd name="T14" fmla="*/ 0 60000 65536"/>
                  <a:gd name="T15" fmla="*/ 0 60000 65536"/>
                  <a:gd name="T16" fmla="*/ 0 60000 65536"/>
                  <a:gd name="T17" fmla="*/ 0 60000 65536"/>
                  <a:gd name="T18" fmla="*/ 0 w 486"/>
                  <a:gd name="T19" fmla="*/ 0 h 159"/>
                  <a:gd name="T20" fmla="*/ 486 w 486"/>
                  <a:gd name="T21" fmla="*/ 159 h 159"/>
                </a:gdLst>
                <a:ahLst/>
                <a:cxnLst>
                  <a:cxn ang="T12">
                    <a:pos x="T0" y="T1"/>
                  </a:cxn>
                  <a:cxn ang="T13">
                    <a:pos x="T2" y="T3"/>
                  </a:cxn>
                  <a:cxn ang="T14">
                    <a:pos x="T4" y="T5"/>
                  </a:cxn>
                  <a:cxn ang="T15">
                    <a:pos x="T6" y="T7"/>
                  </a:cxn>
                  <a:cxn ang="T16">
                    <a:pos x="T8" y="T9"/>
                  </a:cxn>
                  <a:cxn ang="T17">
                    <a:pos x="T10" y="T11"/>
                  </a:cxn>
                </a:cxnLst>
                <a:rect l="T18" t="T19" r="T20" b="T21"/>
                <a:pathLst>
                  <a:path w="486" h="159">
                    <a:moveTo>
                      <a:pt x="0" y="158"/>
                    </a:moveTo>
                    <a:lnTo>
                      <a:pt x="485" y="158"/>
                    </a:lnTo>
                    <a:lnTo>
                      <a:pt x="485" y="0"/>
                    </a:lnTo>
                    <a:lnTo>
                      <a:pt x="478" y="7"/>
                    </a:lnTo>
                    <a:lnTo>
                      <a:pt x="478" y="151"/>
                    </a:lnTo>
                    <a:lnTo>
                      <a:pt x="9" y="151"/>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nvGrpSpPr>
            <p:cNvPr id="43120" name="Group 152"/>
            <p:cNvGrpSpPr>
              <a:grpSpLocks/>
            </p:cNvGrpSpPr>
            <p:nvPr/>
          </p:nvGrpSpPr>
          <p:grpSpPr bwMode="auto">
            <a:xfrm>
              <a:off x="275" y="2861"/>
              <a:ext cx="455" cy="340"/>
              <a:chOff x="275" y="2861"/>
              <a:chExt cx="455" cy="340"/>
            </a:xfrm>
          </p:grpSpPr>
          <p:grpSp>
            <p:nvGrpSpPr>
              <p:cNvPr id="43129" name="Group 153"/>
              <p:cNvGrpSpPr>
                <a:grpSpLocks/>
              </p:cNvGrpSpPr>
              <p:nvPr/>
            </p:nvGrpSpPr>
            <p:grpSpPr bwMode="auto">
              <a:xfrm>
                <a:off x="275" y="2861"/>
                <a:ext cx="455" cy="340"/>
                <a:chOff x="275" y="2861"/>
                <a:chExt cx="455" cy="340"/>
              </a:xfrm>
            </p:grpSpPr>
            <p:sp>
              <p:nvSpPr>
                <p:cNvPr id="43134" name="Rectangle 154"/>
                <p:cNvSpPr>
                  <a:spLocks noChangeArrowheads="1"/>
                </p:cNvSpPr>
                <p:nvPr/>
              </p:nvSpPr>
              <p:spPr bwMode="auto">
                <a:xfrm>
                  <a:off x="279" y="2866"/>
                  <a:ext cx="450" cy="330"/>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135" name="Freeform 155"/>
                <p:cNvSpPr>
                  <a:spLocks/>
                </p:cNvSpPr>
                <p:nvPr/>
              </p:nvSpPr>
              <p:spPr bwMode="auto">
                <a:xfrm>
                  <a:off x="275" y="2861"/>
                  <a:ext cx="455" cy="340"/>
                </a:xfrm>
                <a:custGeom>
                  <a:avLst/>
                  <a:gdLst>
                    <a:gd name="T0" fmla="*/ 0 w 455"/>
                    <a:gd name="T1" fmla="*/ 339 h 340"/>
                    <a:gd name="T2" fmla="*/ 454 w 455"/>
                    <a:gd name="T3" fmla="*/ 339 h 340"/>
                    <a:gd name="T4" fmla="*/ 454 w 455"/>
                    <a:gd name="T5" fmla="*/ 0 h 340"/>
                    <a:gd name="T6" fmla="*/ 447 w 455"/>
                    <a:gd name="T7" fmla="*/ 8 h 340"/>
                    <a:gd name="T8" fmla="*/ 447 w 455"/>
                    <a:gd name="T9" fmla="*/ 332 h 340"/>
                    <a:gd name="T10" fmla="*/ 9 w 455"/>
                    <a:gd name="T11" fmla="*/ 332 h 340"/>
                    <a:gd name="T12" fmla="*/ 0 60000 65536"/>
                    <a:gd name="T13" fmla="*/ 0 60000 65536"/>
                    <a:gd name="T14" fmla="*/ 0 60000 65536"/>
                    <a:gd name="T15" fmla="*/ 0 60000 65536"/>
                    <a:gd name="T16" fmla="*/ 0 60000 65536"/>
                    <a:gd name="T17" fmla="*/ 0 60000 65536"/>
                    <a:gd name="T18" fmla="*/ 0 w 455"/>
                    <a:gd name="T19" fmla="*/ 0 h 340"/>
                    <a:gd name="T20" fmla="*/ 455 w 455"/>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455" h="340">
                      <a:moveTo>
                        <a:pt x="0" y="339"/>
                      </a:moveTo>
                      <a:lnTo>
                        <a:pt x="454" y="339"/>
                      </a:lnTo>
                      <a:lnTo>
                        <a:pt x="454" y="0"/>
                      </a:lnTo>
                      <a:lnTo>
                        <a:pt x="447" y="8"/>
                      </a:lnTo>
                      <a:lnTo>
                        <a:pt x="447" y="332"/>
                      </a:lnTo>
                      <a:lnTo>
                        <a:pt x="9" y="332"/>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36" name="Freeform 156"/>
                <p:cNvSpPr>
                  <a:spLocks/>
                </p:cNvSpPr>
                <p:nvPr/>
              </p:nvSpPr>
              <p:spPr bwMode="auto">
                <a:xfrm>
                  <a:off x="275" y="2861"/>
                  <a:ext cx="455" cy="340"/>
                </a:xfrm>
                <a:custGeom>
                  <a:avLst/>
                  <a:gdLst>
                    <a:gd name="T0" fmla="*/ 454 w 455"/>
                    <a:gd name="T1" fmla="*/ 0 h 340"/>
                    <a:gd name="T2" fmla="*/ 0 w 455"/>
                    <a:gd name="T3" fmla="*/ 0 h 340"/>
                    <a:gd name="T4" fmla="*/ 0 w 455"/>
                    <a:gd name="T5" fmla="*/ 339 h 340"/>
                    <a:gd name="T6" fmla="*/ 8 w 455"/>
                    <a:gd name="T7" fmla="*/ 332 h 340"/>
                    <a:gd name="T8" fmla="*/ 8 w 455"/>
                    <a:gd name="T9" fmla="*/ 8 h 340"/>
                    <a:gd name="T10" fmla="*/ 445 w 455"/>
                    <a:gd name="T11" fmla="*/ 8 h 340"/>
                    <a:gd name="T12" fmla="*/ 0 60000 65536"/>
                    <a:gd name="T13" fmla="*/ 0 60000 65536"/>
                    <a:gd name="T14" fmla="*/ 0 60000 65536"/>
                    <a:gd name="T15" fmla="*/ 0 60000 65536"/>
                    <a:gd name="T16" fmla="*/ 0 60000 65536"/>
                    <a:gd name="T17" fmla="*/ 0 60000 65536"/>
                    <a:gd name="T18" fmla="*/ 0 w 455"/>
                    <a:gd name="T19" fmla="*/ 0 h 340"/>
                    <a:gd name="T20" fmla="*/ 455 w 455"/>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455" h="340">
                      <a:moveTo>
                        <a:pt x="454" y="0"/>
                      </a:moveTo>
                      <a:lnTo>
                        <a:pt x="0" y="0"/>
                      </a:lnTo>
                      <a:lnTo>
                        <a:pt x="0" y="339"/>
                      </a:lnTo>
                      <a:lnTo>
                        <a:pt x="8" y="332"/>
                      </a:lnTo>
                      <a:lnTo>
                        <a:pt x="8" y="8"/>
                      </a:lnTo>
                      <a:lnTo>
                        <a:pt x="445" y="8"/>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nvGrpSpPr>
              <p:cNvPr id="43130" name="Group 157"/>
              <p:cNvGrpSpPr>
                <a:grpSpLocks/>
              </p:cNvGrpSpPr>
              <p:nvPr/>
            </p:nvGrpSpPr>
            <p:grpSpPr bwMode="auto">
              <a:xfrm>
                <a:off x="317" y="2899"/>
                <a:ext cx="371" cy="264"/>
                <a:chOff x="317" y="2899"/>
                <a:chExt cx="371" cy="264"/>
              </a:xfrm>
            </p:grpSpPr>
            <p:sp>
              <p:nvSpPr>
                <p:cNvPr id="43131" name="Rectangle 158"/>
                <p:cNvSpPr>
                  <a:spLocks noChangeArrowheads="1"/>
                </p:cNvSpPr>
                <p:nvPr/>
              </p:nvSpPr>
              <p:spPr bwMode="auto">
                <a:xfrm>
                  <a:off x="318" y="2902"/>
                  <a:ext cx="369" cy="258"/>
                </a:xfrm>
                <a:prstGeom prst="rect">
                  <a:avLst/>
                </a:prstGeom>
                <a:solidFill>
                  <a:srgbClr val="00B7A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132" name="Freeform 159"/>
                <p:cNvSpPr>
                  <a:spLocks/>
                </p:cNvSpPr>
                <p:nvPr/>
              </p:nvSpPr>
              <p:spPr bwMode="auto">
                <a:xfrm>
                  <a:off x="317" y="2899"/>
                  <a:ext cx="371" cy="264"/>
                </a:xfrm>
                <a:custGeom>
                  <a:avLst/>
                  <a:gdLst>
                    <a:gd name="T0" fmla="*/ 370 w 371"/>
                    <a:gd name="T1" fmla="*/ 0 h 264"/>
                    <a:gd name="T2" fmla="*/ 0 w 371"/>
                    <a:gd name="T3" fmla="*/ 0 h 264"/>
                    <a:gd name="T4" fmla="*/ 0 w 371"/>
                    <a:gd name="T5" fmla="*/ 263 h 264"/>
                    <a:gd name="T6" fmla="*/ 8 w 371"/>
                    <a:gd name="T7" fmla="*/ 256 h 264"/>
                    <a:gd name="T8" fmla="*/ 8 w 371"/>
                    <a:gd name="T9" fmla="*/ 7 h 264"/>
                    <a:gd name="T10" fmla="*/ 361 w 371"/>
                    <a:gd name="T11" fmla="*/ 7 h 264"/>
                    <a:gd name="T12" fmla="*/ 0 60000 65536"/>
                    <a:gd name="T13" fmla="*/ 0 60000 65536"/>
                    <a:gd name="T14" fmla="*/ 0 60000 65536"/>
                    <a:gd name="T15" fmla="*/ 0 60000 65536"/>
                    <a:gd name="T16" fmla="*/ 0 60000 65536"/>
                    <a:gd name="T17" fmla="*/ 0 60000 65536"/>
                    <a:gd name="T18" fmla="*/ 0 w 371"/>
                    <a:gd name="T19" fmla="*/ 0 h 264"/>
                    <a:gd name="T20" fmla="*/ 371 w 371"/>
                    <a:gd name="T21" fmla="*/ 264 h 264"/>
                  </a:gdLst>
                  <a:ahLst/>
                  <a:cxnLst>
                    <a:cxn ang="T12">
                      <a:pos x="T0" y="T1"/>
                    </a:cxn>
                    <a:cxn ang="T13">
                      <a:pos x="T2" y="T3"/>
                    </a:cxn>
                    <a:cxn ang="T14">
                      <a:pos x="T4" y="T5"/>
                    </a:cxn>
                    <a:cxn ang="T15">
                      <a:pos x="T6" y="T7"/>
                    </a:cxn>
                    <a:cxn ang="T16">
                      <a:pos x="T8" y="T9"/>
                    </a:cxn>
                    <a:cxn ang="T17">
                      <a:pos x="T10" y="T11"/>
                    </a:cxn>
                  </a:cxnLst>
                  <a:rect l="T18" t="T19" r="T20" b="T21"/>
                  <a:pathLst>
                    <a:path w="371" h="264">
                      <a:moveTo>
                        <a:pt x="370" y="0"/>
                      </a:moveTo>
                      <a:lnTo>
                        <a:pt x="0" y="0"/>
                      </a:lnTo>
                      <a:lnTo>
                        <a:pt x="0" y="263"/>
                      </a:lnTo>
                      <a:lnTo>
                        <a:pt x="8" y="256"/>
                      </a:lnTo>
                      <a:lnTo>
                        <a:pt x="8" y="7"/>
                      </a:lnTo>
                      <a:lnTo>
                        <a:pt x="361" y="7"/>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33" name="Freeform 160"/>
                <p:cNvSpPr>
                  <a:spLocks/>
                </p:cNvSpPr>
                <p:nvPr/>
              </p:nvSpPr>
              <p:spPr bwMode="auto">
                <a:xfrm>
                  <a:off x="317" y="2899"/>
                  <a:ext cx="371" cy="264"/>
                </a:xfrm>
                <a:custGeom>
                  <a:avLst/>
                  <a:gdLst>
                    <a:gd name="T0" fmla="*/ 0 w 371"/>
                    <a:gd name="T1" fmla="*/ 263 h 264"/>
                    <a:gd name="T2" fmla="*/ 370 w 371"/>
                    <a:gd name="T3" fmla="*/ 263 h 264"/>
                    <a:gd name="T4" fmla="*/ 370 w 371"/>
                    <a:gd name="T5" fmla="*/ 0 h 264"/>
                    <a:gd name="T6" fmla="*/ 363 w 371"/>
                    <a:gd name="T7" fmla="*/ 7 h 264"/>
                    <a:gd name="T8" fmla="*/ 363 w 371"/>
                    <a:gd name="T9" fmla="*/ 256 h 264"/>
                    <a:gd name="T10" fmla="*/ 9 w 371"/>
                    <a:gd name="T11" fmla="*/ 256 h 264"/>
                    <a:gd name="T12" fmla="*/ 0 60000 65536"/>
                    <a:gd name="T13" fmla="*/ 0 60000 65536"/>
                    <a:gd name="T14" fmla="*/ 0 60000 65536"/>
                    <a:gd name="T15" fmla="*/ 0 60000 65536"/>
                    <a:gd name="T16" fmla="*/ 0 60000 65536"/>
                    <a:gd name="T17" fmla="*/ 0 60000 65536"/>
                    <a:gd name="T18" fmla="*/ 0 w 371"/>
                    <a:gd name="T19" fmla="*/ 0 h 264"/>
                    <a:gd name="T20" fmla="*/ 371 w 371"/>
                    <a:gd name="T21" fmla="*/ 264 h 264"/>
                  </a:gdLst>
                  <a:ahLst/>
                  <a:cxnLst>
                    <a:cxn ang="T12">
                      <a:pos x="T0" y="T1"/>
                    </a:cxn>
                    <a:cxn ang="T13">
                      <a:pos x="T2" y="T3"/>
                    </a:cxn>
                    <a:cxn ang="T14">
                      <a:pos x="T4" y="T5"/>
                    </a:cxn>
                    <a:cxn ang="T15">
                      <a:pos x="T6" y="T7"/>
                    </a:cxn>
                    <a:cxn ang="T16">
                      <a:pos x="T8" y="T9"/>
                    </a:cxn>
                    <a:cxn ang="T17">
                      <a:pos x="T10" y="T11"/>
                    </a:cxn>
                  </a:cxnLst>
                  <a:rect l="T18" t="T19" r="T20" b="T21"/>
                  <a:pathLst>
                    <a:path w="371" h="264">
                      <a:moveTo>
                        <a:pt x="0" y="263"/>
                      </a:moveTo>
                      <a:lnTo>
                        <a:pt x="370" y="263"/>
                      </a:lnTo>
                      <a:lnTo>
                        <a:pt x="370" y="0"/>
                      </a:lnTo>
                      <a:lnTo>
                        <a:pt x="363" y="7"/>
                      </a:lnTo>
                      <a:lnTo>
                        <a:pt x="363" y="256"/>
                      </a:lnTo>
                      <a:lnTo>
                        <a:pt x="9" y="256"/>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grpSp>
          <p:nvGrpSpPr>
            <p:cNvPr id="43121" name="Group 161"/>
            <p:cNvGrpSpPr>
              <a:grpSpLocks/>
            </p:cNvGrpSpPr>
            <p:nvPr/>
          </p:nvGrpSpPr>
          <p:grpSpPr bwMode="auto">
            <a:xfrm>
              <a:off x="186" y="3371"/>
              <a:ext cx="608" cy="155"/>
              <a:chOff x="186" y="3371"/>
              <a:chExt cx="608" cy="155"/>
            </a:xfrm>
          </p:grpSpPr>
          <p:sp>
            <p:nvSpPr>
              <p:cNvPr id="43122" name="Freeform 162"/>
              <p:cNvSpPr>
                <a:spLocks/>
              </p:cNvSpPr>
              <p:nvPr/>
            </p:nvSpPr>
            <p:spPr bwMode="auto">
              <a:xfrm>
                <a:off x="194" y="3374"/>
                <a:ext cx="591" cy="119"/>
              </a:xfrm>
              <a:custGeom>
                <a:avLst/>
                <a:gdLst>
                  <a:gd name="T0" fmla="*/ 85 w 591"/>
                  <a:gd name="T1" fmla="*/ 2 h 119"/>
                  <a:gd name="T2" fmla="*/ 0 w 591"/>
                  <a:gd name="T3" fmla="*/ 118 h 119"/>
                  <a:gd name="T4" fmla="*/ 590 w 591"/>
                  <a:gd name="T5" fmla="*/ 118 h 119"/>
                  <a:gd name="T6" fmla="*/ 531 w 591"/>
                  <a:gd name="T7" fmla="*/ 0 h 119"/>
                  <a:gd name="T8" fmla="*/ 85 w 591"/>
                  <a:gd name="T9" fmla="*/ 2 h 119"/>
                  <a:gd name="T10" fmla="*/ 0 60000 65536"/>
                  <a:gd name="T11" fmla="*/ 0 60000 65536"/>
                  <a:gd name="T12" fmla="*/ 0 60000 65536"/>
                  <a:gd name="T13" fmla="*/ 0 60000 65536"/>
                  <a:gd name="T14" fmla="*/ 0 60000 65536"/>
                  <a:gd name="T15" fmla="*/ 0 w 591"/>
                  <a:gd name="T16" fmla="*/ 0 h 119"/>
                  <a:gd name="T17" fmla="*/ 591 w 591"/>
                  <a:gd name="T18" fmla="*/ 119 h 119"/>
                </a:gdLst>
                <a:ahLst/>
                <a:cxnLst>
                  <a:cxn ang="T10">
                    <a:pos x="T0" y="T1"/>
                  </a:cxn>
                  <a:cxn ang="T11">
                    <a:pos x="T2" y="T3"/>
                  </a:cxn>
                  <a:cxn ang="T12">
                    <a:pos x="T4" y="T5"/>
                  </a:cxn>
                  <a:cxn ang="T13">
                    <a:pos x="T6" y="T7"/>
                  </a:cxn>
                  <a:cxn ang="T14">
                    <a:pos x="T8" y="T9"/>
                  </a:cxn>
                </a:cxnLst>
                <a:rect l="T15" t="T16" r="T17" b="T18"/>
                <a:pathLst>
                  <a:path w="591" h="119">
                    <a:moveTo>
                      <a:pt x="85" y="2"/>
                    </a:moveTo>
                    <a:lnTo>
                      <a:pt x="0" y="118"/>
                    </a:lnTo>
                    <a:lnTo>
                      <a:pt x="590" y="118"/>
                    </a:lnTo>
                    <a:lnTo>
                      <a:pt x="531" y="0"/>
                    </a:lnTo>
                    <a:lnTo>
                      <a:pt x="85" y="2"/>
                    </a:lnTo>
                  </a:path>
                </a:pathLst>
              </a:custGeom>
              <a:solidFill>
                <a:srgbClr val="919191"/>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23" name="Rectangle 163"/>
              <p:cNvSpPr>
                <a:spLocks noChangeArrowheads="1"/>
              </p:cNvSpPr>
              <p:nvPr/>
            </p:nvSpPr>
            <p:spPr bwMode="auto">
              <a:xfrm>
                <a:off x="192" y="3492"/>
                <a:ext cx="598" cy="30"/>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124" name="Freeform 164"/>
              <p:cNvSpPr>
                <a:spLocks/>
              </p:cNvSpPr>
              <p:nvPr/>
            </p:nvSpPr>
            <p:spPr bwMode="auto">
              <a:xfrm>
                <a:off x="188" y="3371"/>
                <a:ext cx="536" cy="155"/>
              </a:xfrm>
              <a:custGeom>
                <a:avLst/>
                <a:gdLst>
                  <a:gd name="T0" fmla="*/ 535 w 536"/>
                  <a:gd name="T1" fmla="*/ 0 h 155"/>
                  <a:gd name="T2" fmla="*/ 89 w 536"/>
                  <a:gd name="T3" fmla="*/ 0 h 155"/>
                  <a:gd name="T4" fmla="*/ 0 w 536"/>
                  <a:gd name="T5" fmla="*/ 118 h 155"/>
                  <a:gd name="T6" fmla="*/ 0 w 536"/>
                  <a:gd name="T7" fmla="*/ 154 h 155"/>
                  <a:gd name="T8" fmla="*/ 9 w 536"/>
                  <a:gd name="T9" fmla="*/ 145 h 155"/>
                  <a:gd name="T10" fmla="*/ 9 w 536"/>
                  <a:gd name="T11" fmla="*/ 119 h 155"/>
                  <a:gd name="T12" fmla="*/ 98 w 536"/>
                  <a:gd name="T13" fmla="*/ 7 h 155"/>
                  <a:gd name="T14" fmla="*/ 526 w 536"/>
                  <a:gd name="T15" fmla="*/ 7 h 155"/>
                  <a:gd name="T16" fmla="*/ 0 60000 65536"/>
                  <a:gd name="T17" fmla="*/ 0 60000 65536"/>
                  <a:gd name="T18" fmla="*/ 0 60000 65536"/>
                  <a:gd name="T19" fmla="*/ 0 60000 65536"/>
                  <a:gd name="T20" fmla="*/ 0 60000 65536"/>
                  <a:gd name="T21" fmla="*/ 0 60000 65536"/>
                  <a:gd name="T22" fmla="*/ 0 60000 65536"/>
                  <a:gd name="T23" fmla="*/ 0 60000 65536"/>
                  <a:gd name="T24" fmla="*/ 0 w 536"/>
                  <a:gd name="T25" fmla="*/ 0 h 155"/>
                  <a:gd name="T26" fmla="*/ 536 w 536"/>
                  <a:gd name="T27" fmla="*/ 155 h 1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6" h="155">
                    <a:moveTo>
                      <a:pt x="535" y="0"/>
                    </a:moveTo>
                    <a:lnTo>
                      <a:pt x="89" y="0"/>
                    </a:lnTo>
                    <a:lnTo>
                      <a:pt x="0" y="118"/>
                    </a:lnTo>
                    <a:lnTo>
                      <a:pt x="0" y="154"/>
                    </a:lnTo>
                    <a:lnTo>
                      <a:pt x="9" y="145"/>
                    </a:lnTo>
                    <a:lnTo>
                      <a:pt x="9" y="119"/>
                    </a:lnTo>
                    <a:lnTo>
                      <a:pt x="98" y="7"/>
                    </a:lnTo>
                    <a:lnTo>
                      <a:pt x="526" y="7"/>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25" name="Freeform 165"/>
              <p:cNvSpPr>
                <a:spLocks/>
              </p:cNvSpPr>
              <p:nvPr/>
            </p:nvSpPr>
            <p:spPr bwMode="auto">
              <a:xfrm>
                <a:off x="186" y="3371"/>
                <a:ext cx="608" cy="155"/>
              </a:xfrm>
              <a:custGeom>
                <a:avLst/>
                <a:gdLst>
                  <a:gd name="T0" fmla="*/ 8 w 608"/>
                  <a:gd name="T1" fmla="*/ 145 h 155"/>
                  <a:gd name="T2" fmla="*/ 595 w 608"/>
                  <a:gd name="T3" fmla="*/ 145 h 155"/>
                  <a:gd name="T4" fmla="*/ 595 w 608"/>
                  <a:gd name="T5" fmla="*/ 119 h 155"/>
                  <a:gd name="T6" fmla="*/ 532 w 608"/>
                  <a:gd name="T7" fmla="*/ 7 h 155"/>
                  <a:gd name="T8" fmla="*/ 539 w 608"/>
                  <a:gd name="T9" fmla="*/ 0 h 155"/>
                  <a:gd name="T10" fmla="*/ 607 w 608"/>
                  <a:gd name="T11" fmla="*/ 119 h 155"/>
                  <a:gd name="T12" fmla="*/ 607 w 608"/>
                  <a:gd name="T13" fmla="*/ 154 h 155"/>
                  <a:gd name="T14" fmla="*/ 0 w 608"/>
                  <a:gd name="T15" fmla="*/ 154 h 155"/>
                  <a:gd name="T16" fmla="*/ 0 60000 65536"/>
                  <a:gd name="T17" fmla="*/ 0 60000 65536"/>
                  <a:gd name="T18" fmla="*/ 0 60000 65536"/>
                  <a:gd name="T19" fmla="*/ 0 60000 65536"/>
                  <a:gd name="T20" fmla="*/ 0 60000 65536"/>
                  <a:gd name="T21" fmla="*/ 0 60000 65536"/>
                  <a:gd name="T22" fmla="*/ 0 60000 65536"/>
                  <a:gd name="T23" fmla="*/ 0 60000 65536"/>
                  <a:gd name="T24" fmla="*/ 0 w 608"/>
                  <a:gd name="T25" fmla="*/ 0 h 155"/>
                  <a:gd name="T26" fmla="*/ 608 w 608"/>
                  <a:gd name="T27" fmla="*/ 155 h 1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08" h="155">
                    <a:moveTo>
                      <a:pt x="8" y="145"/>
                    </a:moveTo>
                    <a:lnTo>
                      <a:pt x="595" y="145"/>
                    </a:lnTo>
                    <a:lnTo>
                      <a:pt x="595" y="119"/>
                    </a:lnTo>
                    <a:lnTo>
                      <a:pt x="532" y="7"/>
                    </a:lnTo>
                    <a:lnTo>
                      <a:pt x="539" y="0"/>
                    </a:lnTo>
                    <a:lnTo>
                      <a:pt x="607" y="119"/>
                    </a:lnTo>
                    <a:lnTo>
                      <a:pt x="607" y="154"/>
                    </a:lnTo>
                    <a:lnTo>
                      <a:pt x="0" y="154"/>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26" name="Freeform 166"/>
              <p:cNvSpPr>
                <a:spLocks/>
              </p:cNvSpPr>
              <p:nvPr/>
            </p:nvSpPr>
            <p:spPr bwMode="auto">
              <a:xfrm>
                <a:off x="268" y="3402"/>
                <a:ext cx="450" cy="65"/>
              </a:xfrm>
              <a:custGeom>
                <a:avLst/>
                <a:gdLst>
                  <a:gd name="T0" fmla="*/ 29 w 450"/>
                  <a:gd name="T1" fmla="*/ 0 h 65"/>
                  <a:gd name="T2" fmla="*/ 0 w 450"/>
                  <a:gd name="T3" fmla="*/ 64 h 65"/>
                  <a:gd name="T4" fmla="*/ 449 w 450"/>
                  <a:gd name="T5" fmla="*/ 64 h 65"/>
                  <a:gd name="T6" fmla="*/ 428 w 450"/>
                  <a:gd name="T7" fmla="*/ 0 h 65"/>
                  <a:gd name="T8" fmla="*/ 29 w 450"/>
                  <a:gd name="T9" fmla="*/ 0 h 65"/>
                  <a:gd name="T10" fmla="*/ 0 60000 65536"/>
                  <a:gd name="T11" fmla="*/ 0 60000 65536"/>
                  <a:gd name="T12" fmla="*/ 0 60000 65536"/>
                  <a:gd name="T13" fmla="*/ 0 60000 65536"/>
                  <a:gd name="T14" fmla="*/ 0 60000 65536"/>
                  <a:gd name="T15" fmla="*/ 0 w 450"/>
                  <a:gd name="T16" fmla="*/ 0 h 65"/>
                  <a:gd name="T17" fmla="*/ 450 w 450"/>
                  <a:gd name="T18" fmla="*/ 65 h 65"/>
                </a:gdLst>
                <a:ahLst/>
                <a:cxnLst>
                  <a:cxn ang="T10">
                    <a:pos x="T0" y="T1"/>
                  </a:cxn>
                  <a:cxn ang="T11">
                    <a:pos x="T2" y="T3"/>
                  </a:cxn>
                  <a:cxn ang="T12">
                    <a:pos x="T4" y="T5"/>
                  </a:cxn>
                  <a:cxn ang="T13">
                    <a:pos x="T6" y="T7"/>
                  </a:cxn>
                  <a:cxn ang="T14">
                    <a:pos x="T8" y="T9"/>
                  </a:cxn>
                </a:cxnLst>
                <a:rect l="T15" t="T16" r="T17" b="T18"/>
                <a:pathLst>
                  <a:path w="450" h="65">
                    <a:moveTo>
                      <a:pt x="29" y="0"/>
                    </a:moveTo>
                    <a:lnTo>
                      <a:pt x="0" y="64"/>
                    </a:lnTo>
                    <a:lnTo>
                      <a:pt x="449" y="64"/>
                    </a:lnTo>
                    <a:lnTo>
                      <a:pt x="428" y="0"/>
                    </a:lnTo>
                    <a:lnTo>
                      <a:pt x="29" y="0"/>
                    </a:lnTo>
                  </a:path>
                </a:pathLst>
              </a:custGeom>
              <a:solidFill>
                <a:srgbClr val="47474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27" name="Freeform 167"/>
              <p:cNvSpPr>
                <a:spLocks/>
              </p:cNvSpPr>
              <p:nvPr/>
            </p:nvSpPr>
            <p:spPr bwMode="auto">
              <a:xfrm>
                <a:off x="262" y="3400"/>
                <a:ext cx="441" cy="69"/>
              </a:xfrm>
              <a:custGeom>
                <a:avLst/>
                <a:gdLst>
                  <a:gd name="T0" fmla="*/ 440 w 441"/>
                  <a:gd name="T1" fmla="*/ 0 h 69"/>
                  <a:gd name="T2" fmla="*/ 31 w 441"/>
                  <a:gd name="T3" fmla="*/ 0 h 69"/>
                  <a:gd name="T4" fmla="*/ 0 w 441"/>
                  <a:gd name="T5" fmla="*/ 68 h 69"/>
                  <a:gd name="T6" fmla="*/ 11 w 441"/>
                  <a:gd name="T7" fmla="*/ 68 h 69"/>
                  <a:gd name="T8" fmla="*/ 40 w 441"/>
                  <a:gd name="T9" fmla="*/ 9 h 69"/>
                  <a:gd name="T10" fmla="*/ 433 w 441"/>
                  <a:gd name="T11" fmla="*/ 9 h 69"/>
                  <a:gd name="T12" fmla="*/ 0 60000 65536"/>
                  <a:gd name="T13" fmla="*/ 0 60000 65536"/>
                  <a:gd name="T14" fmla="*/ 0 60000 65536"/>
                  <a:gd name="T15" fmla="*/ 0 60000 65536"/>
                  <a:gd name="T16" fmla="*/ 0 60000 65536"/>
                  <a:gd name="T17" fmla="*/ 0 60000 65536"/>
                  <a:gd name="T18" fmla="*/ 0 w 441"/>
                  <a:gd name="T19" fmla="*/ 0 h 69"/>
                  <a:gd name="T20" fmla="*/ 441 w 441"/>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441" h="69">
                    <a:moveTo>
                      <a:pt x="440" y="0"/>
                    </a:moveTo>
                    <a:lnTo>
                      <a:pt x="31" y="0"/>
                    </a:lnTo>
                    <a:lnTo>
                      <a:pt x="0" y="68"/>
                    </a:lnTo>
                    <a:lnTo>
                      <a:pt x="11" y="68"/>
                    </a:lnTo>
                    <a:lnTo>
                      <a:pt x="40" y="9"/>
                    </a:lnTo>
                    <a:lnTo>
                      <a:pt x="433" y="9"/>
                    </a:lnTo>
                  </a:path>
                </a:pathLst>
              </a:custGeom>
              <a:solidFill>
                <a:srgbClr val="67676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128" name="Freeform 168"/>
              <p:cNvSpPr>
                <a:spLocks/>
              </p:cNvSpPr>
              <p:nvPr/>
            </p:nvSpPr>
            <p:spPr bwMode="auto">
              <a:xfrm>
                <a:off x="262" y="3400"/>
                <a:ext cx="469" cy="71"/>
              </a:xfrm>
              <a:custGeom>
                <a:avLst/>
                <a:gdLst>
                  <a:gd name="T0" fmla="*/ 11 w 469"/>
                  <a:gd name="T1" fmla="*/ 63 h 71"/>
                  <a:gd name="T2" fmla="*/ 0 w 469"/>
                  <a:gd name="T3" fmla="*/ 70 h 71"/>
                  <a:gd name="T4" fmla="*/ 468 w 469"/>
                  <a:gd name="T5" fmla="*/ 70 h 71"/>
                  <a:gd name="T6" fmla="*/ 441 w 469"/>
                  <a:gd name="T7" fmla="*/ 0 h 71"/>
                  <a:gd name="T8" fmla="*/ 433 w 469"/>
                  <a:gd name="T9" fmla="*/ 9 h 71"/>
                  <a:gd name="T10" fmla="*/ 454 w 469"/>
                  <a:gd name="T11" fmla="*/ 63 h 71"/>
                  <a:gd name="T12" fmla="*/ 11 w 469"/>
                  <a:gd name="T13" fmla="*/ 63 h 71"/>
                  <a:gd name="T14" fmla="*/ 0 60000 65536"/>
                  <a:gd name="T15" fmla="*/ 0 60000 65536"/>
                  <a:gd name="T16" fmla="*/ 0 60000 65536"/>
                  <a:gd name="T17" fmla="*/ 0 60000 65536"/>
                  <a:gd name="T18" fmla="*/ 0 60000 65536"/>
                  <a:gd name="T19" fmla="*/ 0 60000 65536"/>
                  <a:gd name="T20" fmla="*/ 0 60000 65536"/>
                  <a:gd name="T21" fmla="*/ 0 w 469"/>
                  <a:gd name="T22" fmla="*/ 0 h 71"/>
                  <a:gd name="T23" fmla="*/ 469 w 469"/>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9" h="71">
                    <a:moveTo>
                      <a:pt x="11" y="63"/>
                    </a:moveTo>
                    <a:lnTo>
                      <a:pt x="0" y="70"/>
                    </a:lnTo>
                    <a:lnTo>
                      <a:pt x="468" y="70"/>
                    </a:lnTo>
                    <a:lnTo>
                      <a:pt x="441" y="0"/>
                    </a:lnTo>
                    <a:lnTo>
                      <a:pt x="433" y="9"/>
                    </a:lnTo>
                    <a:lnTo>
                      <a:pt x="454" y="63"/>
                    </a:lnTo>
                    <a:lnTo>
                      <a:pt x="11" y="63"/>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grpSp>
        <p:nvGrpSpPr>
          <p:cNvPr id="43025" name="Group 169"/>
          <p:cNvGrpSpPr>
            <a:grpSpLocks/>
          </p:cNvGrpSpPr>
          <p:nvPr/>
        </p:nvGrpSpPr>
        <p:grpSpPr bwMode="auto">
          <a:xfrm>
            <a:off x="4781550" y="5407025"/>
            <a:ext cx="584200" cy="728663"/>
            <a:chOff x="186" y="2861"/>
            <a:chExt cx="608" cy="665"/>
          </a:xfrm>
        </p:grpSpPr>
        <p:sp>
          <p:nvSpPr>
            <p:cNvPr id="43052" name="Rectangle 170"/>
            <p:cNvSpPr>
              <a:spLocks noChangeArrowheads="1"/>
            </p:cNvSpPr>
            <p:nvPr/>
          </p:nvSpPr>
          <p:spPr bwMode="auto">
            <a:xfrm>
              <a:off x="309" y="3183"/>
              <a:ext cx="387" cy="46"/>
            </a:xfrm>
            <a:prstGeom prst="rect">
              <a:avLst/>
            </a:prstGeom>
            <a:solidFill>
              <a:srgbClr val="919191"/>
            </a:solidFill>
            <a:ln w="12700">
              <a:solidFill>
                <a:srgbClr val="232323"/>
              </a:solidFill>
              <a:miter lim="800000"/>
              <a:headEnd/>
              <a:tailEnd/>
            </a:ln>
          </p:spPr>
          <p:txBody>
            <a:bodyPr wrap="none" anchor="ctr"/>
            <a:lstStyle/>
            <a:p>
              <a:endParaRPr lang="pt-BR"/>
            </a:p>
          </p:txBody>
        </p:sp>
        <p:grpSp>
          <p:nvGrpSpPr>
            <p:cNvPr id="43053" name="Group 171"/>
            <p:cNvGrpSpPr>
              <a:grpSpLocks/>
            </p:cNvGrpSpPr>
            <p:nvPr/>
          </p:nvGrpSpPr>
          <p:grpSpPr bwMode="auto">
            <a:xfrm>
              <a:off x="260" y="3221"/>
              <a:ext cx="486" cy="159"/>
              <a:chOff x="260" y="3221"/>
              <a:chExt cx="486" cy="159"/>
            </a:xfrm>
          </p:grpSpPr>
          <p:sp>
            <p:nvSpPr>
              <p:cNvPr id="43071" name="Rectangle 172"/>
              <p:cNvSpPr>
                <a:spLocks noChangeArrowheads="1"/>
              </p:cNvSpPr>
              <p:nvPr/>
            </p:nvSpPr>
            <p:spPr bwMode="auto">
              <a:xfrm>
                <a:off x="266" y="3224"/>
                <a:ext cx="475" cy="152"/>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grpSp>
            <p:nvGrpSpPr>
              <p:cNvPr id="43072" name="Group 173"/>
              <p:cNvGrpSpPr>
                <a:grpSpLocks/>
              </p:cNvGrpSpPr>
              <p:nvPr/>
            </p:nvGrpSpPr>
            <p:grpSpPr bwMode="auto">
              <a:xfrm>
                <a:off x="294" y="3262"/>
                <a:ext cx="105" cy="41"/>
                <a:chOff x="294" y="3262"/>
                <a:chExt cx="105" cy="41"/>
              </a:xfrm>
            </p:grpSpPr>
            <p:sp>
              <p:nvSpPr>
                <p:cNvPr id="43110" name="Oval 174"/>
                <p:cNvSpPr>
                  <a:spLocks noChangeArrowheads="1"/>
                </p:cNvSpPr>
                <p:nvPr/>
              </p:nvSpPr>
              <p:spPr bwMode="auto">
                <a:xfrm>
                  <a:off x="294" y="3262"/>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11" name="Oval 175"/>
                <p:cNvSpPr>
                  <a:spLocks noChangeArrowheads="1"/>
                </p:cNvSpPr>
                <p:nvPr/>
              </p:nvSpPr>
              <p:spPr bwMode="auto">
                <a:xfrm>
                  <a:off x="325" y="3262"/>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12" name="Oval 176"/>
                <p:cNvSpPr>
                  <a:spLocks noChangeArrowheads="1"/>
                </p:cNvSpPr>
                <p:nvPr/>
              </p:nvSpPr>
              <p:spPr bwMode="auto">
                <a:xfrm>
                  <a:off x="357" y="3262"/>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13" name="Oval 177"/>
                <p:cNvSpPr>
                  <a:spLocks noChangeArrowheads="1"/>
                </p:cNvSpPr>
                <p:nvPr/>
              </p:nvSpPr>
              <p:spPr bwMode="auto">
                <a:xfrm>
                  <a:off x="388" y="3262"/>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14" name="Oval 178"/>
                <p:cNvSpPr>
                  <a:spLocks noChangeArrowheads="1"/>
                </p:cNvSpPr>
                <p:nvPr/>
              </p:nvSpPr>
              <p:spPr bwMode="auto">
                <a:xfrm>
                  <a:off x="294" y="3291"/>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15" name="Oval 179"/>
                <p:cNvSpPr>
                  <a:spLocks noChangeArrowheads="1"/>
                </p:cNvSpPr>
                <p:nvPr/>
              </p:nvSpPr>
              <p:spPr bwMode="auto">
                <a:xfrm>
                  <a:off x="325" y="3291"/>
                  <a:ext cx="12"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16" name="Oval 180"/>
                <p:cNvSpPr>
                  <a:spLocks noChangeArrowheads="1"/>
                </p:cNvSpPr>
                <p:nvPr/>
              </p:nvSpPr>
              <p:spPr bwMode="auto">
                <a:xfrm>
                  <a:off x="357" y="3291"/>
                  <a:ext cx="11" cy="12"/>
                </a:xfrm>
                <a:prstGeom prst="ellipse">
                  <a:avLst/>
                </a:prstGeom>
                <a:solidFill>
                  <a:srgbClr val="232323"/>
                </a:solidFill>
                <a:ln w="12700">
                  <a:solidFill>
                    <a:srgbClr val="232323"/>
                  </a:solidFill>
                  <a:round/>
                  <a:headEnd/>
                  <a:tailEnd/>
                </a:ln>
              </p:spPr>
              <p:txBody>
                <a:bodyPr wrap="none" anchor="ctr"/>
                <a:lstStyle/>
                <a:p>
                  <a:endParaRPr lang="pt-BR"/>
                </a:p>
              </p:txBody>
            </p:sp>
            <p:sp>
              <p:nvSpPr>
                <p:cNvPr id="43117" name="Oval 181"/>
                <p:cNvSpPr>
                  <a:spLocks noChangeArrowheads="1"/>
                </p:cNvSpPr>
                <p:nvPr/>
              </p:nvSpPr>
              <p:spPr bwMode="auto">
                <a:xfrm>
                  <a:off x="388" y="3291"/>
                  <a:ext cx="11" cy="12"/>
                </a:xfrm>
                <a:prstGeom prst="ellipse">
                  <a:avLst/>
                </a:prstGeom>
                <a:solidFill>
                  <a:srgbClr val="232323"/>
                </a:solidFill>
                <a:ln w="12700">
                  <a:solidFill>
                    <a:srgbClr val="232323"/>
                  </a:solidFill>
                  <a:round/>
                  <a:headEnd/>
                  <a:tailEnd/>
                </a:ln>
              </p:spPr>
              <p:txBody>
                <a:bodyPr wrap="none" anchor="ctr"/>
                <a:lstStyle/>
                <a:p>
                  <a:endParaRPr lang="pt-BR"/>
                </a:p>
              </p:txBody>
            </p:sp>
          </p:grpSp>
          <p:grpSp>
            <p:nvGrpSpPr>
              <p:cNvPr id="43073" name="Group 182"/>
              <p:cNvGrpSpPr>
                <a:grpSpLocks/>
              </p:cNvGrpSpPr>
              <p:nvPr/>
            </p:nvGrpSpPr>
            <p:grpSpPr bwMode="auto">
              <a:xfrm>
                <a:off x="264" y="3327"/>
                <a:ext cx="477" cy="48"/>
                <a:chOff x="264" y="3327"/>
                <a:chExt cx="477" cy="48"/>
              </a:xfrm>
            </p:grpSpPr>
            <p:sp>
              <p:nvSpPr>
                <p:cNvPr id="43095" name="Line 183"/>
                <p:cNvSpPr>
                  <a:spLocks noChangeShapeType="1"/>
                </p:cNvSpPr>
                <p:nvPr/>
              </p:nvSpPr>
              <p:spPr bwMode="auto">
                <a:xfrm>
                  <a:off x="302"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6" name="Line 184"/>
                <p:cNvSpPr>
                  <a:spLocks noChangeShapeType="1"/>
                </p:cNvSpPr>
                <p:nvPr/>
              </p:nvSpPr>
              <p:spPr bwMode="auto">
                <a:xfrm flipH="1">
                  <a:off x="264" y="3327"/>
                  <a:ext cx="477" cy="0"/>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7" name="Line 185"/>
                <p:cNvSpPr>
                  <a:spLocks noChangeShapeType="1"/>
                </p:cNvSpPr>
                <p:nvPr/>
              </p:nvSpPr>
              <p:spPr bwMode="auto">
                <a:xfrm>
                  <a:off x="334"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8" name="Line 186"/>
                <p:cNvSpPr>
                  <a:spLocks noChangeShapeType="1"/>
                </p:cNvSpPr>
                <p:nvPr/>
              </p:nvSpPr>
              <p:spPr bwMode="auto">
                <a:xfrm>
                  <a:off x="365"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9" name="Line 187"/>
                <p:cNvSpPr>
                  <a:spLocks noChangeShapeType="1"/>
                </p:cNvSpPr>
                <p:nvPr/>
              </p:nvSpPr>
              <p:spPr bwMode="auto">
                <a:xfrm>
                  <a:off x="397"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0" name="Line 188"/>
                <p:cNvSpPr>
                  <a:spLocks noChangeShapeType="1"/>
                </p:cNvSpPr>
                <p:nvPr/>
              </p:nvSpPr>
              <p:spPr bwMode="auto">
                <a:xfrm>
                  <a:off x="428"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1" name="Line 189"/>
                <p:cNvSpPr>
                  <a:spLocks noChangeShapeType="1"/>
                </p:cNvSpPr>
                <p:nvPr/>
              </p:nvSpPr>
              <p:spPr bwMode="auto">
                <a:xfrm>
                  <a:off x="460"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2" name="Line 190"/>
                <p:cNvSpPr>
                  <a:spLocks noChangeShapeType="1"/>
                </p:cNvSpPr>
                <p:nvPr/>
              </p:nvSpPr>
              <p:spPr bwMode="auto">
                <a:xfrm>
                  <a:off x="490"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3" name="Line 191"/>
                <p:cNvSpPr>
                  <a:spLocks noChangeShapeType="1"/>
                </p:cNvSpPr>
                <p:nvPr/>
              </p:nvSpPr>
              <p:spPr bwMode="auto">
                <a:xfrm>
                  <a:off x="522"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4" name="Line 192"/>
                <p:cNvSpPr>
                  <a:spLocks noChangeShapeType="1"/>
                </p:cNvSpPr>
                <p:nvPr/>
              </p:nvSpPr>
              <p:spPr bwMode="auto">
                <a:xfrm>
                  <a:off x="553"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5" name="Line 193"/>
                <p:cNvSpPr>
                  <a:spLocks noChangeShapeType="1"/>
                </p:cNvSpPr>
                <p:nvPr/>
              </p:nvSpPr>
              <p:spPr bwMode="auto">
                <a:xfrm>
                  <a:off x="585"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6" name="Line 194"/>
                <p:cNvSpPr>
                  <a:spLocks noChangeShapeType="1"/>
                </p:cNvSpPr>
                <p:nvPr/>
              </p:nvSpPr>
              <p:spPr bwMode="auto">
                <a:xfrm>
                  <a:off x="616"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7" name="Line 195"/>
                <p:cNvSpPr>
                  <a:spLocks noChangeShapeType="1"/>
                </p:cNvSpPr>
                <p:nvPr/>
              </p:nvSpPr>
              <p:spPr bwMode="auto">
                <a:xfrm>
                  <a:off x="648"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8" name="Line 196"/>
                <p:cNvSpPr>
                  <a:spLocks noChangeShapeType="1"/>
                </p:cNvSpPr>
                <p:nvPr/>
              </p:nvSpPr>
              <p:spPr bwMode="auto">
                <a:xfrm>
                  <a:off x="679"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109" name="Line 197"/>
                <p:cNvSpPr>
                  <a:spLocks noChangeShapeType="1"/>
                </p:cNvSpPr>
                <p:nvPr/>
              </p:nvSpPr>
              <p:spPr bwMode="auto">
                <a:xfrm>
                  <a:off x="711" y="3336"/>
                  <a:ext cx="0" cy="39"/>
                </a:xfrm>
                <a:prstGeom prst="line">
                  <a:avLst/>
                </a:prstGeom>
                <a:noFill/>
                <a:ln w="12700">
                  <a:solidFill>
                    <a:srgbClr val="23232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grpSp>
          <p:grpSp>
            <p:nvGrpSpPr>
              <p:cNvPr id="43074" name="Group 198"/>
              <p:cNvGrpSpPr>
                <a:grpSpLocks/>
              </p:cNvGrpSpPr>
              <p:nvPr/>
            </p:nvGrpSpPr>
            <p:grpSpPr bwMode="auto">
              <a:xfrm>
                <a:off x="266" y="3335"/>
                <a:ext cx="473" cy="40"/>
                <a:chOff x="266" y="3335"/>
                <a:chExt cx="473" cy="40"/>
              </a:xfrm>
            </p:grpSpPr>
            <p:sp>
              <p:nvSpPr>
                <p:cNvPr id="43080" name="Line 199"/>
                <p:cNvSpPr>
                  <a:spLocks noChangeShapeType="1"/>
                </p:cNvSpPr>
                <p:nvPr/>
              </p:nvSpPr>
              <p:spPr bwMode="auto">
                <a:xfrm>
                  <a:off x="308"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1" name="Line 200"/>
                <p:cNvSpPr>
                  <a:spLocks noChangeShapeType="1"/>
                </p:cNvSpPr>
                <p:nvPr/>
              </p:nvSpPr>
              <p:spPr bwMode="auto">
                <a:xfrm>
                  <a:off x="340"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2" name="Line 201"/>
                <p:cNvSpPr>
                  <a:spLocks noChangeShapeType="1"/>
                </p:cNvSpPr>
                <p:nvPr/>
              </p:nvSpPr>
              <p:spPr bwMode="auto">
                <a:xfrm>
                  <a:off x="371"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3" name="Line 202"/>
                <p:cNvSpPr>
                  <a:spLocks noChangeShapeType="1"/>
                </p:cNvSpPr>
                <p:nvPr/>
              </p:nvSpPr>
              <p:spPr bwMode="auto">
                <a:xfrm>
                  <a:off x="402"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4" name="Line 203"/>
                <p:cNvSpPr>
                  <a:spLocks noChangeShapeType="1"/>
                </p:cNvSpPr>
                <p:nvPr/>
              </p:nvSpPr>
              <p:spPr bwMode="auto">
                <a:xfrm>
                  <a:off x="434"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5" name="Line 204"/>
                <p:cNvSpPr>
                  <a:spLocks noChangeShapeType="1"/>
                </p:cNvSpPr>
                <p:nvPr/>
              </p:nvSpPr>
              <p:spPr bwMode="auto">
                <a:xfrm>
                  <a:off x="465"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6" name="Line 205"/>
                <p:cNvSpPr>
                  <a:spLocks noChangeShapeType="1"/>
                </p:cNvSpPr>
                <p:nvPr/>
              </p:nvSpPr>
              <p:spPr bwMode="auto">
                <a:xfrm>
                  <a:off x="496"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7" name="Line 206"/>
                <p:cNvSpPr>
                  <a:spLocks noChangeShapeType="1"/>
                </p:cNvSpPr>
                <p:nvPr/>
              </p:nvSpPr>
              <p:spPr bwMode="auto">
                <a:xfrm>
                  <a:off x="528"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8" name="Line 207"/>
                <p:cNvSpPr>
                  <a:spLocks noChangeShapeType="1"/>
                </p:cNvSpPr>
                <p:nvPr/>
              </p:nvSpPr>
              <p:spPr bwMode="auto">
                <a:xfrm>
                  <a:off x="559"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89" name="Line 208"/>
                <p:cNvSpPr>
                  <a:spLocks noChangeShapeType="1"/>
                </p:cNvSpPr>
                <p:nvPr/>
              </p:nvSpPr>
              <p:spPr bwMode="auto">
                <a:xfrm>
                  <a:off x="591"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0" name="Line 209"/>
                <p:cNvSpPr>
                  <a:spLocks noChangeShapeType="1"/>
                </p:cNvSpPr>
                <p:nvPr/>
              </p:nvSpPr>
              <p:spPr bwMode="auto">
                <a:xfrm>
                  <a:off x="622"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1" name="Line 210"/>
                <p:cNvSpPr>
                  <a:spLocks noChangeShapeType="1"/>
                </p:cNvSpPr>
                <p:nvPr/>
              </p:nvSpPr>
              <p:spPr bwMode="auto">
                <a:xfrm>
                  <a:off x="653"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2" name="Line 211"/>
                <p:cNvSpPr>
                  <a:spLocks noChangeShapeType="1"/>
                </p:cNvSpPr>
                <p:nvPr/>
              </p:nvSpPr>
              <p:spPr bwMode="auto">
                <a:xfrm>
                  <a:off x="684"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3" name="Line 212"/>
                <p:cNvSpPr>
                  <a:spLocks noChangeShapeType="1"/>
                </p:cNvSpPr>
                <p:nvPr/>
              </p:nvSpPr>
              <p:spPr bwMode="auto">
                <a:xfrm>
                  <a:off x="716" y="3337"/>
                  <a:ext cx="0" cy="38"/>
                </a:xfrm>
                <a:prstGeom prst="line">
                  <a:avLst/>
                </a:prstGeom>
                <a:noFill/>
                <a:ln w="12700">
                  <a:solidFill>
                    <a:srgbClr val="CECECE"/>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94" name="Freeform 213"/>
                <p:cNvSpPr>
                  <a:spLocks/>
                </p:cNvSpPr>
                <p:nvPr/>
              </p:nvSpPr>
              <p:spPr bwMode="auto">
                <a:xfrm>
                  <a:off x="266" y="3335"/>
                  <a:ext cx="473" cy="1"/>
                </a:xfrm>
                <a:custGeom>
                  <a:avLst/>
                  <a:gdLst>
                    <a:gd name="T0" fmla="*/ 0 w 473"/>
                    <a:gd name="T1" fmla="*/ 0 h 1"/>
                    <a:gd name="T2" fmla="*/ 472 w 473"/>
                    <a:gd name="T3" fmla="*/ 0 h 1"/>
                    <a:gd name="T4" fmla="*/ 0 60000 65536"/>
                    <a:gd name="T5" fmla="*/ 0 60000 65536"/>
                    <a:gd name="T6" fmla="*/ 0 w 473"/>
                    <a:gd name="T7" fmla="*/ 0 h 1"/>
                    <a:gd name="T8" fmla="*/ 473 w 473"/>
                    <a:gd name="T9" fmla="*/ 1 h 1"/>
                  </a:gdLst>
                  <a:ahLst/>
                  <a:cxnLst>
                    <a:cxn ang="T4">
                      <a:pos x="T0" y="T1"/>
                    </a:cxn>
                    <a:cxn ang="T5">
                      <a:pos x="T2" y="T3"/>
                    </a:cxn>
                  </a:cxnLst>
                  <a:rect l="T6" t="T7" r="T8" b="T9"/>
                  <a:pathLst>
                    <a:path w="473" h="1">
                      <a:moveTo>
                        <a:pt x="0" y="0"/>
                      </a:moveTo>
                      <a:lnTo>
                        <a:pt x="472" y="0"/>
                      </a:lnTo>
                    </a:path>
                  </a:pathLst>
                </a:custGeom>
                <a:noFill/>
                <a:ln w="12700" cap="rnd" cmpd="sng">
                  <a:solidFill>
                    <a:srgbClr val="CECECE"/>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grpSp>
          <p:grpSp>
            <p:nvGrpSpPr>
              <p:cNvPr id="43075" name="Group 214"/>
              <p:cNvGrpSpPr>
                <a:grpSpLocks/>
              </p:cNvGrpSpPr>
              <p:nvPr/>
            </p:nvGrpSpPr>
            <p:grpSpPr bwMode="auto">
              <a:xfrm>
                <a:off x="616" y="3252"/>
                <a:ext cx="98" cy="33"/>
                <a:chOff x="616" y="3252"/>
                <a:chExt cx="98" cy="33"/>
              </a:xfrm>
            </p:grpSpPr>
            <p:sp>
              <p:nvSpPr>
                <p:cNvPr id="43078" name="Rectangle 215"/>
                <p:cNvSpPr>
                  <a:spLocks noChangeArrowheads="1"/>
                </p:cNvSpPr>
                <p:nvPr/>
              </p:nvSpPr>
              <p:spPr bwMode="auto">
                <a:xfrm>
                  <a:off x="644" y="3252"/>
                  <a:ext cx="42" cy="33"/>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079" name="Rectangle 216"/>
                <p:cNvSpPr>
                  <a:spLocks noChangeArrowheads="1"/>
                </p:cNvSpPr>
                <p:nvPr/>
              </p:nvSpPr>
              <p:spPr bwMode="auto">
                <a:xfrm>
                  <a:off x="616" y="3261"/>
                  <a:ext cx="98" cy="15"/>
                </a:xfrm>
                <a:prstGeom prst="rect">
                  <a:avLst/>
                </a:prstGeom>
                <a:solidFill>
                  <a:srgbClr val="23232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grpSp>
          <p:sp>
            <p:nvSpPr>
              <p:cNvPr id="43076" name="Freeform 217"/>
              <p:cNvSpPr>
                <a:spLocks/>
              </p:cNvSpPr>
              <p:nvPr/>
            </p:nvSpPr>
            <p:spPr bwMode="auto">
              <a:xfrm>
                <a:off x="260" y="3221"/>
                <a:ext cx="486" cy="159"/>
              </a:xfrm>
              <a:custGeom>
                <a:avLst/>
                <a:gdLst>
                  <a:gd name="T0" fmla="*/ 485 w 486"/>
                  <a:gd name="T1" fmla="*/ 0 h 159"/>
                  <a:gd name="T2" fmla="*/ 0 w 486"/>
                  <a:gd name="T3" fmla="*/ 0 h 159"/>
                  <a:gd name="T4" fmla="*/ 0 w 486"/>
                  <a:gd name="T5" fmla="*/ 158 h 159"/>
                  <a:gd name="T6" fmla="*/ 7 w 486"/>
                  <a:gd name="T7" fmla="*/ 151 h 159"/>
                  <a:gd name="T8" fmla="*/ 7 w 486"/>
                  <a:gd name="T9" fmla="*/ 7 h 159"/>
                  <a:gd name="T10" fmla="*/ 476 w 486"/>
                  <a:gd name="T11" fmla="*/ 7 h 159"/>
                  <a:gd name="T12" fmla="*/ 0 60000 65536"/>
                  <a:gd name="T13" fmla="*/ 0 60000 65536"/>
                  <a:gd name="T14" fmla="*/ 0 60000 65536"/>
                  <a:gd name="T15" fmla="*/ 0 60000 65536"/>
                  <a:gd name="T16" fmla="*/ 0 60000 65536"/>
                  <a:gd name="T17" fmla="*/ 0 60000 65536"/>
                  <a:gd name="T18" fmla="*/ 0 w 486"/>
                  <a:gd name="T19" fmla="*/ 0 h 159"/>
                  <a:gd name="T20" fmla="*/ 486 w 486"/>
                  <a:gd name="T21" fmla="*/ 159 h 159"/>
                </a:gdLst>
                <a:ahLst/>
                <a:cxnLst>
                  <a:cxn ang="T12">
                    <a:pos x="T0" y="T1"/>
                  </a:cxn>
                  <a:cxn ang="T13">
                    <a:pos x="T2" y="T3"/>
                  </a:cxn>
                  <a:cxn ang="T14">
                    <a:pos x="T4" y="T5"/>
                  </a:cxn>
                  <a:cxn ang="T15">
                    <a:pos x="T6" y="T7"/>
                  </a:cxn>
                  <a:cxn ang="T16">
                    <a:pos x="T8" y="T9"/>
                  </a:cxn>
                  <a:cxn ang="T17">
                    <a:pos x="T10" y="T11"/>
                  </a:cxn>
                </a:cxnLst>
                <a:rect l="T18" t="T19" r="T20" b="T21"/>
                <a:pathLst>
                  <a:path w="486" h="159">
                    <a:moveTo>
                      <a:pt x="485" y="0"/>
                    </a:moveTo>
                    <a:lnTo>
                      <a:pt x="0" y="0"/>
                    </a:lnTo>
                    <a:lnTo>
                      <a:pt x="0" y="158"/>
                    </a:lnTo>
                    <a:lnTo>
                      <a:pt x="7" y="151"/>
                    </a:lnTo>
                    <a:lnTo>
                      <a:pt x="7" y="7"/>
                    </a:lnTo>
                    <a:lnTo>
                      <a:pt x="476" y="7"/>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77" name="Freeform 218"/>
              <p:cNvSpPr>
                <a:spLocks/>
              </p:cNvSpPr>
              <p:nvPr/>
            </p:nvSpPr>
            <p:spPr bwMode="auto">
              <a:xfrm>
                <a:off x="260" y="3221"/>
                <a:ext cx="486" cy="159"/>
              </a:xfrm>
              <a:custGeom>
                <a:avLst/>
                <a:gdLst>
                  <a:gd name="T0" fmla="*/ 0 w 486"/>
                  <a:gd name="T1" fmla="*/ 158 h 159"/>
                  <a:gd name="T2" fmla="*/ 485 w 486"/>
                  <a:gd name="T3" fmla="*/ 158 h 159"/>
                  <a:gd name="T4" fmla="*/ 485 w 486"/>
                  <a:gd name="T5" fmla="*/ 0 h 159"/>
                  <a:gd name="T6" fmla="*/ 478 w 486"/>
                  <a:gd name="T7" fmla="*/ 7 h 159"/>
                  <a:gd name="T8" fmla="*/ 478 w 486"/>
                  <a:gd name="T9" fmla="*/ 151 h 159"/>
                  <a:gd name="T10" fmla="*/ 9 w 486"/>
                  <a:gd name="T11" fmla="*/ 151 h 159"/>
                  <a:gd name="T12" fmla="*/ 0 60000 65536"/>
                  <a:gd name="T13" fmla="*/ 0 60000 65536"/>
                  <a:gd name="T14" fmla="*/ 0 60000 65536"/>
                  <a:gd name="T15" fmla="*/ 0 60000 65536"/>
                  <a:gd name="T16" fmla="*/ 0 60000 65536"/>
                  <a:gd name="T17" fmla="*/ 0 60000 65536"/>
                  <a:gd name="T18" fmla="*/ 0 w 486"/>
                  <a:gd name="T19" fmla="*/ 0 h 159"/>
                  <a:gd name="T20" fmla="*/ 486 w 486"/>
                  <a:gd name="T21" fmla="*/ 159 h 159"/>
                </a:gdLst>
                <a:ahLst/>
                <a:cxnLst>
                  <a:cxn ang="T12">
                    <a:pos x="T0" y="T1"/>
                  </a:cxn>
                  <a:cxn ang="T13">
                    <a:pos x="T2" y="T3"/>
                  </a:cxn>
                  <a:cxn ang="T14">
                    <a:pos x="T4" y="T5"/>
                  </a:cxn>
                  <a:cxn ang="T15">
                    <a:pos x="T6" y="T7"/>
                  </a:cxn>
                  <a:cxn ang="T16">
                    <a:pos x="T8" y="T9"/>
                  </a:cxn>
                  <a:cxn ang="T17">
                    <a:pos x="T10" y="T11"/>
                  </a:cxn>
                </a:cxnLst>
                <a:rect l="T18" t="T19" r="T20" b="T21"/>
                <a:pathLst>
                  <a:path w="486" h="159">
                    <a:moveTo>
                      <a:pt x="0" y="158"/>
                    </a:moveTo>
                    <a:lnTo>
                      <a:pt x="485" y="158"/>
                    </a:lnTo>
                    <a:lnTo>
                      <a:pt x="485" y="0"/>
                    </a:lnTo>
                    <a:lnTo>
                      <a:pt x="478" y="7"/>
                    </a:lnTo>
                    <a:lnTo>
                      <a:pt x="478" y="151"/>
                    </a:lnTo>
                    <a:lnTo>
                      <a:pt x="9" y="151"/>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nvGrpSpPr>
            <p:cNvPr id="43054" name="Group 219"/>
            <p:cNvGrpSpPr>
              <a:grpSpLocks/>
            </p:cNvGrpSpPr>
            <p:nvPr/>
          </p:nvGrpSpPr>
          <p:grpSpPr bwMode="auto">
            <a:xfrm>
              <a:off x="275" y="2861"/>
              <a:ext cx="455" cy="340"/>
              <a:chOff x="275" y="2861"/>
              <a:chExt cx="455" cy="340"/>
            </a:xfrm>
          </p:grpSpPr>
          <p:grpSp>
            <p:nvGrpSpPr>
              <p:cNvPr id="43063" name="Group 220"/>
              <p:cNvGrpSpPr>
                <a:grpSpLocks/>
              </p:cNvGrpSpPr>
              <p:nvPr/>
            </p:nvGrpSpPr>
            <p:grpSpPr bwMode="auto">
              <a:xfrm>
                <a:off x="275" y="2861"/>
                <a:ext cx="455" cy="340"/>
                <a:chOff x="275" y="2861"/>
                <a:chExt cx="455" cy="340"/>
              </a:xfrm>
            </p:grpSpPr>
            <p:sp>
              <p:nvSpPr>
                <p:cNvPr id="43068" name="Rectangle 221"/>
                <p:cNvSpPr>
                  <a:spLocks noChangeArrowheads="1"/>
                </p:cNvSpPr>
                <p:nvPr/>
              </p:nvSpPr>
              <p:spPr bwMode="auto">
                <a:xfrm>
                  <a:off x="279" y="2866"/>
                  <a:ext cx="450" cy="330"/>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069" name="Freeform 222"/>
                <p:cNvSpPr>
                  <a:spLocks/>
                </p:cNvSpPr>
                <p:nvPr/>
              </p:nvSpPr>
              <p:spPr bwMode="auto">
                <a:xfrm>
                  <a:off x="275" y="2861"/>
                  <a:ext cx="455" cy="340"/>
                </a:xfrm>
                <a:custGeom>
                  <a:avLst/>
                  <a:gdLst>
                    <a:gd name="T0" fmla="*/ 0 w 455"/>
                    <a:gd name="T1" fmla="*/ 339 h 340"/>
                    <a:gd name="T2" fmla="*/ 454 w 455"/>
                    <a:gd name="T3" fmla="*/ 339 h 340"/>
                    <a:gd name="T4" fmla="*/ 454 w 455"/>
                    <a:gd name="T5" fmla="*/ 0 h 340"/>
                    <a:gd name="T6" fmla="*/ 447 w 455"/>
                    <a:gd name="T7" fmla="*/ 8 h 340"/>
                    <a:gd name="T8" fmla="*/ 447 w 455"/>
                    <a:gd name="T9" fmla="*/ 332 h 340"/>
                    <a:gd name="T10" fmla="*/ 9 w 455"/>
                    <a:gd name="T11" fmla="*/ 332 h 340"/>
                    <a:gd name="T12" fmla="*/ 0 60000 65536"/>
                    <a:gd name="T13" fmla="*/ 0 60000 65536"/>
                    <a:gd name="T14" fmla="*/ 0 60000 65536"/>
                    <a:gd name="T15" fmla="*/ 0 60000 65536"/>
                    <a:gd name="T16" fmla="*/ 0 60000 65536"/>
                    <a:gd name="T17" fmla="*/ 0 60000 65536"/>
                    <a:gd name="T18" fmla="*/ 0 w 455"/>
                    <a:gd name="T19" fmla="*/ 0 h 340"/>
                    <a:gd name="T20" fmla="*/ 455 w 455"/>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455" h="340">
                      <a:moveTo>
                        <a:pt x="0" y="339"/>
                      </a:moveTo>
                      <a:lnTo>
                        <a:pt x="454" y="339"/>
                      </a:lnTo>
                      <a:lnTo>
                        <a:pt x="454" y="0"/>
                      </a:lnTo>
                      <a:lnTo>
                        <a:pt x="447" y="8"/>
                      </a:lnTo>
                      <a:lnTo>
                        <a:pt x="447" y="332"/>
                      </a:lnTo>
                      <a:lnTo>
                        <a:pt x="9" y="332"/>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70" name="Freeform 223"/>
                <p:cNvSpPr>
                  <a:spLocks/>
                </p:cNvSpPr>
                <p:nvPr/>
              </p:nvSpPr>
              <p:spPr bwMode="auto">
                <a:xfrm>
                  <a:off x="275" y="2861"/>
                  <a:ext cx="455" cy="340"/>
                </a:xfrm>
                <a:custGeom>
                  <a:avLst/>
                  <a:gdLst>
                    <a:gd name="T0" fmla="*/ 454 w 455"/>
                    <a:gd name="T1" fmla="*/ 0 h 340"/>
                    <a:gd name="T2" fmla="*/ 0 w 455"/>
                    <a:gd name="T3" fmla="*/ 0 h 340"/>
                    <a:gd name="T4" fmla="*/ 0 w 455"/>
                    <a:gd name="T5" fmla="*/ 339 h 340"/>
                    <a:gd name="T6" fmla="*/ 8 w 455"/>
                    <a:gd name="T7" fmla="*/ 332 h 340"/>
                    <a:gd name="T8" fmla="*/ 8 w 455"/>
                    <a:gd name="T9" fmla="*/ 8 h 340"/>
                    <a:gd name="T10" fmla="*/ 445 w 455"/>
                    <a:gd name="T11" fmla="*/ 8 h 340"/>
                    <a:gd name="T12" fmla="*/ 0 60000 65536"/>
                    <a:gd name="T13" fmla="*/ 0 60000 65536"/>
                    <a:gd name="T14" fmla="*/ 0 60000 65536"/>
                    <a:gd name="T15" fmla="*/ 0 60000 65536"/>
                    <a:gd name="T16" fmla="*/ 0 60000 65536"/>
                    <a:gd name="T17" fmla="*/ 0 60000 65536"/>
                    <a:gd name="T18" fmla="*/ 0 w 455"/>
                    <a:gd name="T19" fmla="*/ 0 h 340"/>
                    <a:gd name="T20" fmla="*/ 455 w 455"/>
                    <a:gd name="T21" fmla="*/ 340 h 340"/>
                  </a:gdLst>
                  <a:ahLst/>
                  <a:cxnLst>
                    <a:cxn ang="T12">
                      <a:pos x="T0" y="T1"/>
                    </a:cxn>
                    <a:cxn ang="T13">
                      <a:pos x="T2" y="T3"/>
                    </a:cxn>
                    <a:cxn ang="T14">
                      <a:pos x="T4" y="T5"/>
                    </a:cxn>
                    <a:cxn ang="T15">
                      <a:pos x="T6" y="T7"/>
                    </a:cxn>
                    <a:cxn ang="T16">
                      <a:pos x="T8" y="T9"/>
                    </a:cxn>
                    <a:cxn ang="T17">
                      <a:pos x="T10" y="T11"/>
                    </a:cxn>
                  </a:cxnLst>
                  <a:rect l="T18" t="T19" r="T20" b="T21"/>
                  <a:pathLst>
                    <a:path w="455" h="340">
                      <a:moveTo>
                        <a:pt x="454" y="0"/>
                      </a:moveTo>
                      <a:lnTo>
                        <a:pt x="0" y="0"/>
                      </a:lnTo>
                      <a:lnTo>
                        <a:pt x="0" y="339"/>
                      </a:lnTo>
                      <a:lnTo>
                        <a:pt x="8" y="332"/>
                      </a:lnTo>
                      <a:lnTo>
                        <a:pt x="8" y="8"/>
                      </a:lnTo>
                      <a:lnTo>
                        <a:pt x="445" y="8"/>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nvGrpSpPr>
              <p:cNvPr id="43064" name="Group 224"/>
              <p:cNvGrpSpPr>
                <a:grpSpLocks/>
              </p:cNvGrpSpPr>
              <p:nvPr/>
            </p:nvGrpSpPr>
            <p:grpSpPr bwMode="auto">
              <a:xfrm>
                <a:off x="317" y="2899"/>
                <a:ext cx="371" cy="264"/>
                <a:chOff x="317" y="2899"/>
                <a:chExt cx="371" cy="264"/>
              </a:xfrm>
            </p:grpSpPr>
            <p:sp>
              <p:nvSpPr>
                <p:cNvPr id="43065" name="Rectangle 225"/>
                <p:cNvSpPr>
                  <a:spLocks noChangeArrowheads="1"/>
                </p:cNvSpPr>
                <p:nvPr/>
              </p:nvSpPr>
              <p:spPr bwMode="auto">
                <a:xfrm>
                  <a:off x="318" y="2902"/>
                  <a:ext cx="369" cy="258"/>
                </a:xfrm>
                <a:prstGeom prst="rect">
                  <a:avLst/>
                </a:prstGeom>
                <a:solidFill>
                  <a:srgbClr val="00B7A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066" name="Freeform 226"/>
                <p:cNvSpPr>
                  <a:spLocks/>
                </p:cNvSpPr>
                <p:nvPr/>
              </p:nvSpPr>
              <p:spPr bwMode="auto">
                <a:xfrm>
                  <a:off x="317" y="2899"/>
                  <a:ext cx="371" cy="264"/>
                </a:xfrm>
                <a:custGeom>
                  <a:avLst/>
                  <a:gdLst>
                    <a:gd name="T0" fmla="*/ 370 w 371"/>
                    <a:gd name="T1" fmla="*/ 0 h 264"/>
                    <a:gd name="T2" fmla="*/ 0 w 371"/>
                    <a:gd name="T3" fmla="*/ 0 h 264"/>
                    <a:gd name="T4" fmla="*/ 0 w 371"/>
                    <a:gd name="T5" fmla="*/ 263 h 264"/>
                    <a:gd name="T6" fmla="*/ 8 w 371"/>
                    <a:gd name="T7" fmla="*/ 256 h 264"/>
                    <a:gd name="T8" fmla="*/ 8 w 371"/>
                    <a:gd name="T9" fmla="*/ 7 h 264"/>
                    <a:gd name="T10" fmla="*/ 361 w 371"/>
                    <a:gd name="T11" fmla="*/ 7 h 264"/>
                    <a:gd name="T12" fmla="*/ 0 60000 65536"/>
                    <a:gd name="T13" fmla="*/ 0 60000 65536"/>
                    <a:gd name="T14" fmla="*/ 0 60000 65536"/>
                    <a:gd name="T15" fmla="*/ 0 60000 65536"/>
                    <a:gd name="T16" fmla="*/ 0 60000 65536"/>
                    <a:gd name="T17" fmla="*/ 0 60000 65536"/>
                    <a:gd name="T18" fmla="*/ 0 w 371"/>
                    <a:gd name="T19" fmla="*/ 0 h 264"/>
                    <a:gd name="T20" fmla="*/ 371 w 371"/>
                    <a:gd name="T21" fmla="*/ 264 h 264"/>
                  </a:gdLst>
                  <a:ahLst/>
                  <a:cxnLst>
                    <a:cxn ang="T12">
                      <a:pos x="T0" y="T1"/>
                    </a:cxn>
                    <a:cxn ang="T13">
                      <a:pos x="T2" y="T3"/>
                    </a:cxn>
                    <a:cxn ang="T14">
                      <a:pos x="T4" y="T5"/>
                    </a:cxn>
                    <a:cxn ang="T15">
                      <a:pos x="T6" y="T7"/>
                    </a:cxn>
                    <a:cxn ang="T16">
                      <a:pos x="T8" y="T9"/>
                    </a:cxn>
                    <a:cxn ang="T17">
                      <a:pos x="T10" y="T11"/>
                    </a:cxn>
                  </a:cxnLst>
                  <a:rect l="T18" t="T19" r="T20" b="T21"/>
                  <a:pathLst>
                    <a:path w="371" h="264">
                      <a:moveTo>
                        <a:pt x="370" y="0"/>
                      </a:moveTo>
                      <a:lnTo>
                        <a:pt x="0" y="0"/>
                      </a:lnTo>
                      <a:lnTo>
                        <a:pt x="0" y="263"/>
                      </a:lnTo>
                      <a:lnTo>
                        <a:pt x="8" y="256"/>
                      </a:lnTo>
                      <a:lnTo>
                        <a:pt x="8" y="7"/>
                      </a:lnTo>
                      <a:lnTo>
                        <a:pt x="361" y="7"/>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67" name="Freeform 227"/>
                <p:cNvSpPr>
                  <a:spLocks/>
                </p:cNvSpPr>
                <p:nvPr/>
              </p:nvSpPr>
              <p:spPr bwMode="auto">
                <a:xfrm>
                  <a:off x="317" y="2899"/>
                  <a:ext cx="371" cy="264"/>
                </a:xfrm>
                <a:custGeom>
                  <a:avLst/>
                  <a:gdLst>
                    <a:gd name="T0" fmla="*/ 0 w 371"/>
                    <a:gd name="T1" fmla="*/ 263 h 264"/>
                    <a:gd name="T2" fmla="*/ 370 w 371"/>
                    <a:gd name="T3" fmla="*/ 263 h 264"/>
                    <a:gd name="T4" fmla="*/ 370 w 371"/>
                    <a:gd name="T5" fmla="*/ 0 h 264"/>
                    <a:gd name="T6" fmla="*/ 363 w 371"/>
                    <a:gd name="T7" fmla="*/ 7 h 264"/>
                    <a:gd name="T8" fmla="*/ 363 w 371"/>
                    <a:gd name="T9" fmla="*/ 256 h 264"/>
                    <a:gd name="T10" fmla="*/ 9 w 371"/>
                    <a:gd name="T11" fmla="*/ 256 h 264"/>
                    <a:gd name="T12" fmla="*/ 0 60000 65536"/>
                    <a:gd name="T13" fmla="*/ 0 60000 65536"/>
                    <a:gd name="T14" fmla="*/ 0 60000 65536"/>
                    <a:gd name="T15" fmla="*/ 0 60000 65536"/>
                    <a:gd name="T16" fmla="*/ 0 60000 65536"/>
                    <a:gd name="T17" fmla="*/ 0 60000 65536"/>
                    <a:gd name="T18" fmla="*/ 0 w 371"/>
                    <a:gd name="T19" fmla="*/ 0 h 264"/>
                    <a:gd name="T20" fmla="*/ 371 w 371"/>
                    <a:gd name="T21" fmla="*/ 264 h 264"/>
                  </a:gdLst>
                  <a:ahLst/>
                  <a:cxnLst>
                    <a:cxn ang="T12">
                      <a:pos x="T0" y="T1"/>
                    </a:cxn>
                    <a:cxn ang="T13">
                      <a:pos x="T2" y="T3"/>
                    </a:cxn>
                    <a:cxn ang="T14">
                      <a:pos x="T4" y="T5"/>
                    </a:cxn>
                    <a:cxn ang="T15">
                      <a:pos x="T6" y="T7"/>
                    </a:cxn>
                    <a:cxn ang="T16">
                      <a:pos x="T8" y="T9"/>
                    </a:cxn>
                    <a:cxn ang="T17">
                      <a:pos x="T10" y="T11"/>
                    </a:cxn>
                  </a:cxnLst>
                  <a:rect l="T18" t="T19" r="T20" b="T21"/>
                  <a:pathLst>
                    <a:path w="371" h="264">
                      <a:moveTo>
                        <a:pt x="0" y="263"/>
                      </a:moveTo>
                      <a:lnTo>
                        <a:pt x="370" y="263"/>
                      </a:lnTo>
                      <a:lnTo>
                        <a:pt x="370" y="0"/>
                      </a:lnTo>
                      <a:lnTo>
                        <a:pt x="363" y="7"/>
                      </a:lnTo>
                      <a:lnTo>
                        <a:pt x="363" y="256"/>
                      </a:lnTo>
                      <a:lnTo>
                        <a:pt x="9" y="256"/>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grpSp>
          <p:nvGrpSpPr>
            <p:cNvPr id="43055" name="Group 228"/>
            <p:cNvGrpSpPr>
              <a:grpSpLocks/>
            </p:cNvGrpSpPr>
            <p:nvPr/>
          </p:nvGrpSpPr>
          <p:grpSpPr bwMode="auto">
            <a:xfrm>
              <a:off x="186" y="3371"/>
              <a:ext cx="608" cy="155"/>
              <a:chOff x="186" y="3371"/>
              <a:chExt cx="608" cy="155"/>
            </a:xfrm>
          </p:grpSpPr>
          <p:sp>
            <p:nvSpPr>
              <p:cNvPr id="43056" name="Freeform 229"/>
              <p:cNvSpPr>
                <a:spLocks/>
              </p:cNvSpPr>
              <p:nvPr/>
            </p:nvSpPr>
            <p:spPr bwMode="auto">
              <a:xfrm>
                <a:off x="194" y="3374"/>
                <a:ext cx="591" cy="119"/>
              </a:xfrm>
              <a:custGeom>
                <a:avLst/>
                <a:gdLst>
                  <a:gd name="T0" fmla="*/ 85 w 591"/>
                  <a:gd name="T1" fmla="*/ 2 h 119"/>
                  <a:gd name="T2" fmla="*/ 0 w 591"/>
                  <a:gd name="T3" fmla="*/ 118 h 119"/>
                  <a:gd name="T4" fmla="*/ 590 w 591"/>
                  <a:gd name="T5" fmla="*/ 118 h 119"/>
                  <a:gd name="T6" fmla="*/ 531 w 591"/>
                  <a:gd name="T7" fmla="*/ 0 h 119"/>
                  <a:gd name="T8" fmla="*/ 85 w 591"/>
                  <a:gd name="T9" fmla="*/ 2 h 119"/>
                  <a:gd name="T10" fmla="*/ 0 60000 65536"/>
                  <a:gd name="T11" fmla="*/ 0 60000 65536"/>
                  <a:gd name="T12" fmla="*/ 0 60000 65536"/>
                  <a:gd name="T13" fmla="*/ 0 60000 65536"/>
                  <a:gd name="T14" fmla="*/ 0 60000 65536"/>
                  <a:gd name="T15" fmla="*/ 0 w 591"/>
                  <a:gd name="T16" fmla="*/ 0 h 119"/>
                  <a:gd name="T17" fmla="*/ 591 w 591"/>
                  <a:gd name="T18" fmla="*/ 119 h 119"/>
                </a:gdLst>
                <a:ahLst/>
                <a:cxnLst>
                  <a:cxn ang="T10">
                    <a:pos x="T0" y="T1"/>
                  </a:cxn>
                  <a:cxn ang="T11">
                    <a:pos x="T2" y="T3"/>
                  </a:cxn>
                  <a:cxn ang="T12">
                    <a:pos x="T4" y="T5"/>
                  </a:cxn>
                  <a:cxn ang="T13">
                    <a:pos x="T6" y="T7"/>
                  </a:cxn>
                  <a:cxn ang="T14">
                    <a:pos x="T8" y="T9"/>
                  </a:cxn>
                </a:cxnLst>
                <a:rect l="T15" t="T16" r="T17" b="T18"/>
                <a:pathLst>
                  <a:path w="591" h="119">
                    <a:moveTo>
                      <a:pt x="85" y="2"/>
                    </a:moveTo>
                    <a:lnTo>
                      <a:pt x="0" y="118"/>
                    </a:lnTo>
                    <a:lnTo>
                      <a:pt x="590" y="118"/>
                    </a:lnTo>
                    <a:lnTo>
                      <a:pt x="531" y="0"/>
                    </a:lnTo>
                    <a:lnTo>
                      <a:pt x="85" y="2"/>
                    </a:lnTo>
                  </a:path>
                </a:pathLst>
              </a:custGeom>
              <a:solidFill>
                <a:srgbClr val="919191"/>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57" name="Rectangle 230"/>
              <p:cNvSpPr>
                <a:spLocks noChangeArrowheads="1"/>
              </p:cNvSpPr>
              <p:nvPr/>
            </p:nvSpPr>
            <p:spPr bwMode="auto">
              <a:xfrm>
                <a:off x="192" y="3492"/>
                <a:ext cx="598" cy="30"/>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058" name="Freeform 231"/>
              <p:cNvSpPr>
                <a:spLocks/>
              </p:cNvSpPr>
              <p:nvPr/>
            </p:nvSpPr>
            <p:spPr bwMode="auto">
              <a:xfrm>
                <a:off x="188" y="3371"/>
                <a:ext cx="536" cy="155"/>
              </a:xfrm>
              <a:custGeom>
                <a:avLst/>
                <a:gdLst>
                  <a:gd name="T0" fmla="*/ 535 w 536"/>
                  <a:gd name="T1" fmla="*/ 0 h 155"/>
                  <a:gd name="T2" fmla="*/ 89 w 536"/>
                  <a:gd name="T3" fmla="*/ 0 h 155"/>
                  <a:gd name="T4" fmla="*/ 0 w 536"/>
                  <a:gd name="T5" fmla="*/ 118 h 155"/>
                  <a:gd name="T6" fmla="*/ 0 w 536"/>
                  <a:gd name="T7" fmla="*/ 154 h 155"/>
                  <a:gd name="T8" fmla="*/ 9 w 536"/>
                  <a:gd name="T9" fmla="*/ 145 h 155"/>
                  <a:gd name="T10" fmla="*/ 9 w 536"/>
                  <a:gd name="T11" fmla="*/ 119 h 155"/>
                  <a:gd name="T12" fmla="*/ 98 w 536"/>
                  <a:gd name="T13" fmla="*/ 7 h 155"/>
                  <a:gd name="T14" fmla="*/ 526 w 536"/>
                  <a:gd name="T15" fmla="*/ 7 h 155"/>
                  <a:gd name="T16" fmla="*/ 0 60000 65536"/>
                  <a:gd name="T17" fmla="*/ 0 60000 65536"/>
                  <a:gd name="T18" fmla="*/ 0 60000 65536"/>
                  <a:gd name="T19" fmla="*/ 0 60000 65536"/>
                  <a:gd name="T20" fmla="*/ 0 60000 65536"/>
                  <a:gd name="T21" fmla="*/ 0 60000 65536"/>
                  <a:gd name="T22" fmla="*/ 0 60000 65536"/>
                  <a:gd name="T23" fmla="*/ 0 60000 65536"/>
                  <a:gd name="T24" fmla="*/ 0 w 536"/>
                  <a:gd name="T25" fmla="*/ 0 h 155"/>
                  <a:gd name="T26" fmla="*/ 536 w 536"/>
                  <a:gd name="T27" fmla="*/ 155 h 1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6" h="155">
                    <a:moveTo>
                      <a:pt x="535" y="0"/>
                    </a:moveTo>
                    <a:lnTo>
                      <a:pt x="89" y="0"/>
                    </a:lnTo>
                    <a:lnTo>
                      <a:pt x="0" y="118"/>
                    </a:lnTo>
                    <a:lnTo>
                      <a:pt x="0" y="154"/>
                    </a:lnTo>
                    <a:lnTo>
                      <a:pt x="9" y="145"/>
                    </a:lnTo>
                    <a:lnTo>
                      <a:pt x="9" y="119"/>
                    </a:lnTo>
                    <a:lnTo>
                      <a:pt x="98" y="7"/>
                    </a:lnTo>
                    <a:lnTo>
                      <a:pt x="526" y="7"/>
                    </a:lnTo>
                  </a:path>
                </a:pathLst>
              </a:custGeom>
              <a:solidFill>
                <a:srgbClr val="CECECE"/>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59" name="Freeform 232"/>
              <p:cNvSpPr>
                <a:spLocks/>
              </p:cNvSpPr>
              <p:nvPr/>
            </p:nvSpPr>
            <p:spPr bwMode="auto">
              <a:xfrm>
                <a:off x="186" y="3371"/>
                <a:ext cx="608" cy="155"/>
              </a:xfrm>
              <a:custGeom>
                <a:avLst/>
                <a:gdLst>
                  <a:gd name="T0" fmla="*/ 8 w 608"/>
                  <a:gd name="T1" fmla="*/ 145 h 155"/>
                  <a:gd name="T2" fmla="*/ 595 w 608"/>
                  <a:gd name="T3" fmla="*/ 145 h 155"/>
                  <a:gd name="T4" fmla="*/ 595 w 608"/>
                  <a:gd name="T5" fmla="*/ 119 h 155"/>
                  <a:gd name="T6" fmla="*/ 532 w 608"/>
                  <a:gd name="T7" fmla="*/ 7 h 155"/>
                  <a:gd name="T8" fmla="*/ 539 w 608"/>
                  <a:gd name="T9" fmla="*/ 0 h 155"/>
                  <a:gd name="T10" fmla="*/ 607 w 608"/>
                  <a:gd name="T11" fmla="*/ 119 h 155"/>
                  <a:gd name="T12" fmla="*/ 607 w 608"/>
                  <a:gd name="T13" fmla="*/ 154 h 155"/>
                  <a:gd name="T14" fmla="*/ 0 w 608"/>
                  <a:gd name="T15" fmla="*/ 154 h 155"/>
                  <a:gd name="T16" fmla="*/ 0 60000 65536"/>
                  <a:gd name="T17" fmla="*/ 0 60000 65536"/>
                  <a:gd name="T18" fmla="*/ 0 60000 65536"/>
                  <a:gd name="T19" fmla="*/ 0 60000 65536"/>
                  <a:gd name="T20" fmla="*/ 0 60000 65536"/>
                  <a:gd name="T21" fmla="*/ 0 60000 65536"/>
                  <a:gd name="T22" fmla="*/ 0 60000 65536"/>
                  <a:gd name="T23" fmla="*/ 0 60000 65536"/>
                  <a:gd name="T24" fmla="*/ 0 w 608"/>
                  <a:gd name="T25" fmla="*/ 0 h 155"/>
                  <a:gd name="T26" fmla="*/ 608 w 608"/>
                  <a:gd name="T27" fmla="*/ 155 h 1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08" h="155">
                    <a:moveTo>
                      <a:pt x="8" y="145"/>
                    </a:moveTo>
                    <a:lnTo>
                      <a:pt x="595" y="145"/>
                    </a:lnTo>
                    <a:lnTo>
                      <a:pt x="595" y="119"/>
                    </a:lnTo>
                    <a:lnTo>
                      <a:pt x="532" y="7"/>
                    </a:lnTo>
                    <a:lnTo>
                      <a:pt x="539" y="0"/>
                    </a:lnTo>
                    <a:lnTo>
                      <a:pt x="607" y="119"/>
                    </a:lnTo>
                    <a:lnTo>
                      <a:pt x="607" y="154"/>
                    </a:lnTo>
                    <a:lnTo>
                      <a:pt x="0" y="154"/>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60" name="Freeform 233"/>
              <p:cNvSpPr>
                <a:spLocks/>
              </p:cNvSpPr>
              <p:nvPr/>
            </p:nvSpPr>
            <p:spPr bwMode="auto">
              <a:xfrm>
                <a:off x="268" y="3402"/>
                <a:ext cx="450" cy="65"/>
              </a:xfrm>
              <a:custGeom>
                <a:avLst/>
                <a:gdLst>
                  <a:gd name="T0" fmla="*/ 29 w 450"/>
                  <a:gd name="T1" fmla="*/ 0 h 65"/>
                  <a:gd name="T2" fmla="*/ 0 w 450"/>
                  <a:gd name="T3" fmla="*/ 64 h 65"/>
                  <a:gd name="T4" fmla="*/ 449 w 450"/>
                  <a:gd name="T5" fmla="*/ 64 h 65"/>
                  <a:gd name="T6" fmla="*/ 428 w 450"/>
                  <a:gd name="T7" fmla="*/ 0 h 65"/>
                  <a:gd name="T8" fmla="*/ 29 w 450"/>
                  <a:gd name="T9" fmla="*/ 0 h 65"/>
                  <a:gd name="T10" fmla="*/ 0 60000 65536"/>
                  <a:gd name="T11" fmla="*/ 0 60000 65536"/>
                  <a:gd name="T12" fmla="*/ 0 60000 65536"/>
                  <a:gd name="T13" fmla="*/ 0 60000 65536"/>
                  <a:gd name="T14" fmla="*/ 0 60000 65536"/>
                  <a:gd name="T15" fmla="*/ 0 w 450"/>
                  <a:gd name="T16" fmla="*/ 0 h 65"/>
                  <a:gd name="T17" fmla="*/ 450 w 450"/>
                  <a:gd name="T18" fmla="*/ 65 h 65"/>
                </a:gdLst>
                <a:ahLst/>
                <a:cxnLst>
                  <a:cxn ang="T10">
                    <a:pos x="T0" y="T1"/>
                  </a:cxn>
                  <a:cxn ang="T11">
                    <a:pos x="T2" y="T3"/>
                  </a:cxn>
                  <a:cxn ang="T12">
                    <a:pos x="T4" y="T5"/>
                  </a:cxn>
                  <a:cxn ang="T13">
                    <a:pos x="T6" y="T7"/>
                  </a:cxn>
                  <a:cxn ang="T14">
                    <a:pos x="T8" y="T9"/>
                  </a:cxn>
                </a:cxnLst>
                <a:rect l="T15" t="T16" r="T17" b="T18"/>
                <a:pathLst>
                  <a:path w="450" h="65">
                    <a:moveTo>
                      <a:pt x="29" y="0"/>
                    </a:moveTo>
                    <a:lnTo>
                      <a:pt x="0" y="64"/>
                    </a:lnTo>
                    <a:lnTo>
                      <a:pt x="449" y="64"/>
                    </a:lnTo>
                    <a:lnTo>
                      <a:pt x="428" y="0"/>
                    </a:lnTo>
                    <a:lnTo>
                      <a:pt x="29" y="0"/>
                    </a:lnTo>
                  </a:path>
                </a:pathLst>
              </a:custGeom>
              <a:solidFill>
                <a:srgbClr val="47474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61" name="Freeform 234"/>
              <p:cNvSpPr>
                <a:spLocks/>
              </p:cNvSpPr>
              <p:nvPr/>
            </p:nvSpPr>
            <p:spPr bwMode="auto">
              <a:xfrm>
                <a:off x="262" y="3400"/>
                <a:ext cx="441" cy="69"/>
              </a:xfrm>
              <a:custGeom>
                <a:avLst/>
                <a:gdLst>
                  <a:gd name="T0" fmla="*/ 440 w 441"/>
                  <a:gd name="T1" fmla="*/ 0 h 69"/>
                  <a:gd name="T2" fmla="*/ 31 w 441"/>
                  <a:gd name="T3" fmla="*/ 0 h 69"/>
                  <a:gd name="T4" fmla="*/ 0 w 441"/>
                  <a:gd name="T5" fmla="*/ 68 h 69"/>
                  <a:gd name="T6" fmla="*/ 11 w 441"/>
                  <a:gd name="T7" fmla="*/ 68 h 69"/>
                  <a:gd name="T8" fmla="*/ 40 w 441"/>
                  <a:gd name="T9" fmla="*/ 9 h 69"/>
                  <a:gd name="T10" fmla="*/ 433 w 441"/>
                  <a:gd name="T11" fmla="*/ 9 h 69"/>
                  <a:gd name="T12" fmla="*/ 0 60000 65536"/>
                  <a:gd name="T13" fmla="*/ 0 60000 65536"/>
                  <a:gd name="T14" fmla="*/ 0 60000 65536"/>
                  <a:gd name="T15" fmla="*/ 0 60000 65536"/>
                  <a:gd name="T16" fmla="*/ 0 60000 65536"/>
                  <a:gd name="T17" fmla="*/ 0 60000 65536"/>
                  <a:gd name="T18" fmla="*/ 0 w 441"/>
                  <a:gd name="T19" fmla="*/ 0 h 69"/>
                  <a:gd name="T20" fmla="*/ 441 w 441"/>
                  <a:gd name="T21" fmla="*/ 69 h 69"/>
                </a:gdLst>
                <a:ahLst/>
                <a:cxnLst>
                  <a:cxn ang="T12">
                    <a:pos x="T0" y="T1"/>
                  </a:cxn>
                  <a:cxn ang="T13">
                    <a:pos x="T2" y="T3"/>
                  </a:cxn>
                  <a:cxn ang="T14">
                    <a:pos x="T4" y="T5"/>
                  </a:cxn>
                  <a:cxn ang="T15">
                    <a:pos x="T6" y="T7"/>
                  </a:cxn>
                  <a:cxn ang="T16">
                    <a:pos x="T8" y="T9"/>
                  </a:cxn>
                  <a:cxn ang="T17">
                    <a:pos x="T10" y="T11"/>
                  </a:cxn>
                </a:cxnLst>
                <a:rect l="T18" t="T19" r="T20" b="T21"/>
                <a:pathLst>
                  <a:path w="441" h="69">
                    <a:moveTo>
                      <a:pt x="440" y="0"/>
                    </a:moveTo>
                    <a:lnTo>
                      <a:pt x="31" y="0"/>
                    </a:lnTo>
                    <a:lnTo>
                      <a:pt x="0" y="68"/>
                    </a:lnTo>
                    <a:lnTo>
                      <a:pt x="11" y="68"/>
                    </a:lnTo>
                    <a:lnTo>
                      <a:pt x="40" y="9"/>
                    </a:lnTo>
                    <a:lnTo>
                      <a:pt x="433" y="9"/>
                    </a:lnTo>
                  </a:path>
                </a:pathLst>
              </a:custGeom>
              <a:solidFill>
                <a:srgbClr val="67676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62" name="Freeform 235"/>
              <p:cNvSpPr>
                <a:spLocks/>
              </p:cNvSpPr>
              <p:nvPr/>
            </p:nvSpPr>
            <p:spPr bwMode="auto">
              <a:xfrm>
                <a:off x="262" y="3400"/>
                <a:ext cx="469" cy="71"/>
              </a:xfrm>
              <a:custGeom>
                <a:avLst/>
                <a:gdLst>
                  <a:gd name="T0" fmla="*/ 11 w 469"/>
                  <a:gd name="T1" fmla="*/ 63 h 71"/>
                  <a:gd name="T2" fmla="*/ 0 w 469"/>
                  <a:gd name="T3" fmla="*/ 70 h 71"/>
                  <a:gd name="T4" fmla="*/ 468 w 469"/>
                  <a:gd name="T5" fmla="*/ 70 h 71"/>
                  <a:gd name="T6" fmla="*/ 441 w 469"/>
                  <a:gd name="T7" fmla="*/ 0 h 71"/>
                  <a:gd name="T8" fmla="*/ 433 w 469"/>
                  <a:gd name="T9" fmla="*/ 9 h 71"/>
                  <a:gd name="T10" fmla="*/ 454 w 469"/>
                  <a:gd name="T11" fmla="*/ 63 h 71"/>
                  <a:gd name="T12" fmla="*/ 11 w 469"/>
                  <a:gd name="T13" fmla="*/ 63 h 71"/>
                  <a:gd name="T14" fmla="*/ 0 60000 65536"/>
                  <a:gd name="T15" fmla="*/ 0 60000 65536"/>
                  <a:gd name="T16" fmla="*/ 0 60000 65536"/>
                  <a:gd name="T17" fmla="*/ 0 60000 65536"/>
                  <a:gd name="T18" fmla="*/ 0 60000 65536"/>
                  <a:gd name="T19" fmla="*/ 0 60000 65536"/>
                  <a:gd name="T20" fmla="*/ 0 60000 65536"/>
                  <a:gd name="T21" fmla="*/ 0 w 469"/>
                  <a:gd name="T22" fmla="*/ 0 h 71"/>
                  <a:gd name="T23" fmla="*/ 469 w 469"/>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69" h="71">
                    <a:moveTo>
                      <a:pt x="11" y="63"/>
                    </a:moveTo>
                    <a:lnTo>
                      <a:pt x="0" y="70"/>
                    </a:lnTo>
                    <a:lnTo>
                      <a:pt x="468" y="70"/>
                    </a:lnTo>
                    <a:lnTo>
                      <a:pt x="441" y="0"/>
                    </a:lnTo>
                    <a:lnTo>
                      <a:pt x="433" y="9"/>
                    </a:lnTo>
                    <a:lnTo>
                      <a:pt x="454" y="63"/>
                    </a:lnTo>
                    <a:lnTo>
                      <a:pt x="11" y="63"/>
                    </a:lnTo>
                  </a:path>
                </a:pathLst>
              </a:custGeom>
              <a:solidFill>
                <a:srgbClr val="23232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grpSp>
      </p:grpSp>
      <p:grpSp>
        <p:nvGrpSpPr>
          <p:cNvPr id="43026" name="Group 236"/>
          <p:cNvGrpSpPr>
            <a:grpSpLocks/>
          </p:cNvGrpSpPr>
          <p:nvPr/>
        </p:nvGrpSpPr>
        <p:grpSpPr bwMode="auto">
          <a:xfrm>
            <a:off x="2438400" y="5394325"/>
            <a:ext cx="615950" cy="676275"/>
            <a:chOff x="1205" y="3426"/>
            <a:chExt cx="532" cy="490"/>
          </a:xfrm>
        </p:grpSpPr>
        <p:sp>
          <p:nvSpPr>
            <p:cNvPr id="43033" name="Rectangle 237"/>
            <p:cNvSpPr>
              <a:spLocks noChangeArrowheads="1"/>
            </p:cNvSpPr>
            <p:nvPr/>
          </p:nvSpPr>
          <p:spPr bwMode="auto">
            <a:xfrm>
              <a:off x="1299" y="3710"/>
              <a:ext cx="344" cy="40"/>
            </a:xfrm>
            <a:prstGeom prst="rect">
              <a:avLst/>
            </a:prstGeom>
            <a:solidFill>
              <a:srgbClr val="919191"/>
            </a:solidFill>
            <a:ln w="12700">
              <a:solidFill>
                <a:srgbClr val="404040"/>
              </a:solidFill>
              <a:miter lim="800000"/>
              <a:headEnd/>
              <a:tailEnd/>
            </a:ln>
          </p:spPr>
          <p:txBody>
            <a:bodyPr wrap="none" anchor="ctr"/>
            <a:lstStyle/>
            <a:p>
              <a:endParaRPr lang="pt-BR"/>
            </a:p>
          </p:txBody>
        </p:sp>
        <p:sp>
          <p:nvSpPr>
            <p:cNvPr id="43034" name="Rectangle 238"/>
            <p:cNvSpPr>
              <a:spLocks noChangeArrowheads="1"/>
            </p:cNvSpPr>
            <p:nvPr/>
          </p:nvSpPr>
          <p:spPr bwMode="auto">
            <a:xfrm>
              <a:off x="1274" y="3432"/>
              <a:ext cx="392" cy="284"/>
            </a:xfrm>
            <a:prstGeom prst="rect">
              <a:avLst/>
            </a:prstGeom>
            <a:solidFill>
              <a:srgbClr val="91919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035" name="Freeform 239"/>
            <p:cNvSpPr>
              <a:spLocks/>
            </p:cNvSpPr>
            <p:nvPr/>
          </p:nvSpPr>
          <p:spPr bwMode="auto">
            <a:xfrm>
              <a:off x="1274" y="3430"/>
              <a:ext cx="393" cy="289"/>
            </a:xfrm>
            <a:custGeom>
              <a:avLst/>
              <a:gdLst>
                <a:gd name="T0" fmla="*/ 392 w 393"/>
                <a:gd name="T1" fmla="*/ 0 h 289"/>
                <a:gd name="T2" fmla="*/ 0 w 393"/>
                <a:gd name="T3" fmla="*/ 0 h 289"/>
                <a:gd name="T4" fmla="*/ 0 w 393"/>
                <a:gd name="T5" fmla="*/ 288 h 289"/>
                <a:gd name="T6" fmla="*/ 0 60000 65536"/>
                <a:gd name="T7" fmla="*/ 0 60000 65536"/>
                <a:gd name="T8" fmla="*/ 0 60000 65536"/>
                <a:gd name="T9" fmla="*/ 0 w 393"/>
                <a:gd name="T10" fmla="*/ 0 h 289"/>
                <a:gd name="T11" fmla="*/ 393 w 393"/>
                <a:gd name="T12" fmla="*/ 289 h 289"/>
              </a:gdLst>
              <a:ahLst/>
              <a:cxnLst>
                <a:cxn ang="T6">
                  <a:pos x="T0" y="T1"/>
                </a:cxn>
                <a:cxn ang="T7">
                  <a:pos x="T2" y="T3"/>
                </a:cxn>
                <a:cxn ang="T8">
                  <a:pos x="T4" y="T5"/>
                </a:cxn>
              </a:cxnLst>
              <a:rect l="T9" t="T10" r="T11" b="T12"/>
              <a:pathLst>
                <a:path w="393" h="289">
                  <a:moveTo>
                    <a:pt x="392" y="0"/>
                  </a:moveTo>
                  <a:lnTo>
                    <a:pt x="0" y="0"/>
                  </a:lnTo>
                  <a:lnTo>
                    <a:pt x="0" y="288"/>
                  </a:lnTo>
                </a:path>
              </a:pathLst>
            </a:custGeom>
            <a:noFill/>
            <a:ln w="12700" cap="rnd" cmpd="sng">
              <a:solidFill>
                <a:srgbClr val="AAAAAA"/>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3036" name="Freeform 240"/>
            <p:cNvSpPr>
              <a:spLocks/>
            </p:cNvSpPr>
            <p:nvPr/>
          </p:nvSpPr>
          <p:spPr bwMode="auto">
            <a:xfrm>
              <a:off x="1268" y="3426"/>
              <a:ext cx="411" cy="299"/>
            </a:xfrm>
            <a:custGeom>
              <a:avLst/>
              <a:gdLst>
                <a:gd name="T0" fmla="*/ 410 w 411"/>
                <a:gd name="T1" fmla="*/ 0 h 299"/>
                <a:gd name="T2" fmla="*/ 0 w 411"/>
                <a:gd name="T3" fmla="*/ 0 h 299"/>
                <a:gd name="T4" fmla="*/ 0 w 411"/>
                <a:gd name="T5" fmla="*/ 298 h 299"/>
                <a:gd name="T6" fmla="*/ 10 w 411"/>
                <a:gd name="T7" fmla="*/ 288 h 299"/>
                <a:gd name="T8" fmla="*/ 10 w 411"/>
                <a:gd name="T9" fmla="*/ 10 h 299"/>
                <a:gd name="T10" fmla="*/ 394 w 411"/>
                <a:gd name="T11" fmla="*/ 10 h 299"/>
                <a:gd name="T12" fmla="*/ 0 60000 65536"/>
                <a:gd name="T13" fmla="*/ 0 60000 65536"/>
                <a:gd name="T14" fmla="*/ 0 60000 65536"/>
                <a:gd name="T15" fmla="*/ 0 60000 65536"/>
                <a:gd name="T16" fmla="*/ 0 60000 65536"/>
                <a:gd name="T17" fmla="*/ 0 60000 65536"/>
                <a:gd name="T18" fmla="*/ 0 w 411"/>
                <a:gd name="T19" fmla="*/ 0 h 299"/>
                <a:gd name="T20" fmla="*/ 411 w 411"/>
                <a:gd name="T21" fmla="*/ 299 h 299"/>
              </a:gdLst>
              <a:ahLst/>
              <a:cxnLst>
                <a:cxn ang="T12">
                  <a:pos x="T0" y="T1"/>
                </a:cxn>
                <a:cxn ang="T13">
                  <a:pos x="T2" y="T3"/>
                </a:cxn>
                <a:cxn ang="T14">
                  <a:pos x="T4" y="T5"/>
                </a:cxn>
                <a:cxn ang="T15">
                  <a:pos x="T6" y="T7"/>
                </a:cxn>
                <a:cxn ang="T16">
                  <a:pos x="T8" y="T9"/>
                </a:cxn>
                <a:cxn ang="T17">
                  <a:pos x="T10" y="T11"/>
                </a:cxn>
              </a:cxnLst>
              <a:rect l="T18" t="T19" r="T20" b="T21"/>
              <a:pathLst>
                <a:path w="411" h="299">
                  <a:moveTo>
                    <a:pt x="410" y="0"/>
                  </a:moveTo>
                  <a:lnTo>
                    <a:pt x="0" y="0"/>
                  </a:lnTo>
                  <a:lnTo>
                    <a:pt x="0" y="298"/>
                  </a:lnTo>
                  <a:lnTo>
                    <a:pt x="10" y="288"/>
                  </a:lnTo>
                  <a:lnTo>
                    <a:pt x="10" y="10"/>
                  </a:lnTo>
                  <a:lnTo>
                    <a:pt x="394" y="10"/>
                  </a:lnTo>
                </a:path>
              </a:pathLst>
            </a:custGeom>
            <a:solidFill>
              <a:srgbClr val="DADADA"/>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37" name="Freeform 241"/>
            <p:cNvSpPr>
              <a:spLocks/>
            </p:cNvSpPr>
            <p:nvPr/>
          </p:nvSpPr>
          <p:spPr bwMode="auto">
            <a:xfrm>
              <a:off x="1264" y="3426"/>
              <a:ext cx="411" cy="299"/>
            </a:xfrm>
            <a:custGeom>
              <a:avLst/>
              <a:gdLst>
                <a:gd name="T0" fmla="*/ 0 w 411"/>
                <a:gd name="T1" fmla="*/ 298 h 299"/>
                <a:gd name="T2" fmla="*/ 410 w 411"/>
                <a:gd name="T3" fmla="*/ 298 h 299"/>
                <a:gd name="T4" fmla="*/ 410 w 411"/>
                <a:gd name="T5" fmla="*/ 0 h 299"/>
                <a:gd name="T6" fmla="*/ 400 w 411"/>
                <a:gd name="T7" fmla="*/ 10 h 299"/>
                <a:gd name="T8" fmla="*/ 400 w 411"/>
                <a:gd name="T9" fmla="*/ 288 h 299"/>
                <a:gd name="T10" fmla="*/ 16 w 411"/>
                <a:gd name="T11" fmla="*/ 288 h 299"/>
                <a:gd name="T12" fmla="*/ 0 60000 65536"/>
                <a:gd name="T13" fmla="*/ 0 60000 65536"/>
                <a:gd name="T14" fmla="*/ 0 60000 65536"/>
                <a:gd name="T15" fmla="*/ 0 60000 65536"/>
                <a:gd name="T16" fmla="*/ 0 60000 65536"/>
                <a:gd name="T17" fmla="*/ 0 60000 65536"/>
                <a:gd name="T18" fmla="*/ 0 w 411"/>
                <a:gd name="T19" fmla="*/ 0 h 299"/>
                <a:gd name="T20" fmla="*/ 411 w 411"/>
                <a:gd name="T21" fmla="*/ 299 h 299"/>
              </a:gdLst>
              <a:ahLst/>
              <a:cxnLst>
                <a:cxn ang="T12">
                  <a:pos x="T0" y="T1"/>
                </a:cxn>
                <a:cxn ang="T13">
                  <a:pos x="T2" y="T3"/>
                </a:cxn>
                <a:cxn ang="T14">
                  <a:pos x="T4" y="T5"/>
                </a:cxn>
                <a:cxn ang="T15">
                  <a:pos x="T6" y="T7"/>
                </a:cxn>
                <a:cxn ang="T16">
                  <a:pos x="T8" y="T9"/>
                </a:cxn>
                <a:cxn ang="T17">
                  <a:pos x="T10" y="T11"/>
                </a:cxn>
              </a:cxnLst>
              <a:rect l="T18" t="T19" r="T20" b="T21"/>
              <a:pathLst>
                <a:path w="411" h="299">
                  <a:moveTo>
                    <a:pt x="0" y="298"/>
                  </a:moveTo>
                  <a:lnTo>
                    <a:pt x="410" y="298"/>
                  </a:lnTo>
                  <a:lnTo>
                    <a:pt x="410" y="0"/>
                  </a:lnTo>
                  <a:lnTo>
                    <a:pt x="400" y="10"/>
                  </a:lnTo>
                  <a:lnTo>
                    <a:pt x="400" y="288"/>
                  </a:lnTo>
                  <a:lnTo>
                    <a:pt x="16" y="288"/>
                  </a:lnTo>
                </a:path>
              </a:pathLst>
            </a:custGeom>
            <a:solidFill>
              <a:srgbClr val="333333"/>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38" name="Rectangle 242"/>
            <p:cNvSpPr>
              <a:spLocks noChangeArrowheads="1"/>
            </p:cNvSpPr>
            <p:nvPr/>
          </p:nvSpPr>
          <p:spPr bwMode="auto">
            <a:xfrm>
              <a:off x="1311" y="3460"/>
              <a:ext cx="322" cy="231"/>
            </a:xfrm>
            <a:prstGeom prst="rect">
              <a:avLst/>
            </a:prstGeom>
            <a:gradFill rotWithShape="0">
              <a:gsLst>
                <a:gs pos="0">
                  <a:srgbClr val="00FFFF"/>
                </a:gs>
                <a:gs pos="100000">
                  <a:srgbClr val="00B2B2"/>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039" name="Freeform 243"/>
            <p:cNvSpPr>
              <a:spLocks/>
            </p:cNvSpPr>
            <p:nvPr/>
          </p:nvSpPr>
          <p:spPr bwMode="auto">
            <a:xfrm>
              <a:off x="1305" y="3456"/>
              <a:ext cx="335" cy="239"/>
            </a:xfrm>
            <a:custGeom>
              <a:avLst/>
              <a:gdLst>
                <a:gd name="T0" fmla="*/ 334 w 335"/>
                <a:gd name="T1" fmla="*/ 0 h 239"/>
                <a:gd name="T2" fmla="*/ 0 w 335"/>
                <a:gd name="T3" fmla="*/ 0 h 239"/>
                <a:gd name="T4" fmla="*/ 0 w 335"/>
                <a:gd name="T5" fmla="*/ 238 h 239"/>
                <a:gd name="T6" fmla="*/ 10 w 335"/>
                <a:gd name="T7" fmla="*/ 228 h 239"/>
                <a:gd name="T8" fmla="*/ 10 w 335"/>
                <a:gd name="T9" fmla="*/ 8 h 239"/>
                <a:gd name="T10" fmla="*/ 324 w 335"/>
                <a:gd name="T11" fmla="*/ 8 h 239"/>
                <a:gd name="T12" fmla="*/ 324 w 335"/>
                <a:gd name="T13" fmla="*/ 28 h 239"/>
                <a:gd name="T14" fmla="*/ 0 60000 65536"/>
                <a:gd name="T15" fmla="*/ 0 60000 65536"/>
                <a:gd name="T16" fmla="*/ 0 60000 65536"/>
                <a:gd name="T17" fmla="*/ 0 60000 65536"/>
                <a:gd name="T18" fmla="*/ 0 60000 65536"/>
                <a:gd name="T19" fmla="*/ 0 60000 65536"/>
                <a:gd name="T20" fmla="*/ 0 60000 65536"/>
                <a:gd name="T21" fmla="*/ 0 w 335"/>
                <a:gd name="T22" fmla="*/ 0 h 239"/>
                <a:gd name="T23" fmla="*/ 335 w 335"/>
                <a:gd name="T24" fmla="*/ 239 h 2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 h="239">
                  <a:moveTo>
                    <a:pt x="334" y="0"/>
                  </a:moveTo>
                  <a:lnTo>
                    <a:pt x="0" y="0"/>
                  </a:lnTo>
                  <a:lnTo>
                    <a:pt x="0" y="238"/>
                  </a:lnTo>
                  <a:lnTo>
                    <a:pt x="10" y="228"/>
                  </a:lnTo>
                  <a:lnTo>
                    <a:pt x="10" y="8"/>
                  </a:lnTo>
                  <a:lnTo>
                    <a:pt x="324" y="8"/>
                  </a:lnTo>
                  <a:lnTo>
                    <a:pt x="324" y="28"/>
                  </a:lnTo>
                </a:path>
              </a:pathLst>
            </a:custGeom>
            <a:solidFill>
              <a:srgbClr val="000000"/>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40" name="Freeform 244"/>
            <p:cNvSpPr>
              <a:spLocks/>
            </p:cNvSpPr>
            <p:nvPr/>
          </p:nvSpPr>
          <p:spPr bwMode="auto">
            <a:xfrm>
              <a:off x="1303" y="3456"/>
              <a:ext cx="335" cy="239"/>
            </a:xfrm>
            <a:custGeom>
              <a:avLst/>
              <a:gdLst>
                <a:gd name="T0" fmla="*/ 0 w 335"/>
                <a:gd name="T1" fmla="*/ 238 h 239"/>
                <a:gd name="T2" fmla="*/ 334 w 335"/>
                <a:gd name="T3" fmla="*/ 238 h 239"/>
                <a:gd name="T4" fmla="*/ 334 w 335"/>
                <a:gd name="T5" fmla="*/ 0 h 239"/>
                <a:gd name="T6" fmla="*/ 324 w 335"/>
                <a:gd name="T7" fmla="*/ 10 h 239"/>
                <a:gd name="T8" fmla="*/ 324 w 335"/>
                <a:gd name="T9" fmla="*/ 230 h 239"/>
                <a:gd name="T10" fmla="*/ 10 w 335"/>
                <a:gd name="T11" fmla="*/ 230 h 239"/>
                <a:gd name="T12" fmla="*/ 8 w 335"/>
                <a:gd name="T13" fmla="*/ 228 h 239"/>
                <a:gd name="T14" fmla="*/ 0 60000 65536"/>
                <a:gd name="T15" fmla="*/ 0 60000 65536"/>
                <a:gd name="T16" fmla="*/ 0 60000 65536"/>
                <a:gd name="T17" fmla="*/ 0 60000 65536"/>
                <a:gd name="T18" fmla="*/ 0 60000 65536"/>
                <a:gd name="T19" fmla="*/ 0 60000 65536"/>
                <a:gd name="T20" fmla="*/ 0 60000 65536"/>
                <a:gd name="T21" fmla="*/ 0 w 335"/>
                <a:gd name="T22" fmla="*/ 0 h 239"/>
                <a:gd name="T23" fmla="*/ 335 w 335"/>
                <a:gd name="T24" fmla="*/ 239 h 2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5" h="239">
                  <a:moveTo>
                    <a:pt x="0" y="238"/>
                  </a:moveTo>
                  <a:lnTo>
                    <a:pt x="334" y="238"/>
                  </a:lnTo>
                  <a:lnTo>
                    <a:pt x="334" y="0"/>
                  </a:lnTo>
                  <a:lnTo>
                    <a:pt x="324" y="10"/>
                  </a:lnTo>
                  <a:lnTo>
                    <a:pt x="324" y="230"/>
                  </a:lnTo>
                  <a:lnTo>
                    <a:pt x="10" y="230"/>
                  </a:lnTo>
                  <a:lnTo>
                    <a:pt x="8" y="228"/>
                  </a:lnTo>
                </a:path>
              </a:pathLst>
            </a:custGeom>
            <a:solidFill>
              <a:srgbClr val="DADADA"/>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41" name="Freeform 245"/>
            <p:cNvSpPr>
              <a:spLocks/>
            </p:cNvSpPr>
            <p:nvPr/>
          </p:nvSpPr>
          <p:spPr bwMode="auto">
            <a:xfrm>
              <a:off x="1205" y="3784"/>
              <a:ext cx="529" cy="105"/>
            </a:xfrm>
            <a:custGeom>
              <a:avLst/>
              <a:gdLst>
                <a:gd name="T0" fmla="*/ 88 w 529"/>
                <a:gd name="T1" fmla="*/ 0 h 105"/>
                <a:gd name="T2" fmla="*/ 0 w 529"/>
                <a:gd name="T3" fmla="*/ 104 h 105"/>
                <a:gd name="T4" fmla="*/ 528 w 529"/>
                <a:gd name="T5" fmla="*/ 104 h 105"/>
                <a:gd name="T6" fmla="*/ 472 w 529"/>
                <a:gd name="T7" fmla="*/ 0 h 105"/>
                <a:gd name="T8" fmla="*/ 88 w 529"/>
                <a:gd name="T9" fmla="*/ 0 h 105"/>
                <a:gd name="T10" fmla="*/ 0 60000 65536"/>
                <a:gd name="T11" fmla="*/ 0 60000 65536"/>
                <a:gd name="T12" fmla="*/ 0 60000 65536"/>
                <a:gd name="T13" fmla="*/ 0 60000 65536"/>
                <a:gd name="T14" fmla="*/ 0 60000 65536"/>
                <a:gd name="T15" fmla="*/ 0 w 529"/>
                <a:gd name="T16" fmla="*/ 0 h 105"/>
                <a:gd name="T17" fmla="*/ 529 w 529"/>
                <a:gd name="T18" fmla="*/ 105 h 105"/>
              </a:gdLst>
              <a:ahLst/>
              <a:cxnLst>
                <a:cxn ang="T10">
                  <a:pos x="T0" y="T1"/>
                </a:cxn>
                <a:cxn ang="T11">
                  <a:pos x="T2" y="T3"/>
                </a:cxn>
                <a:cxn ang="T12">
                  <a:pos x="T4" y="T5"/>
                </a:cxn>
                <a:cxn ang="T13">
                  <a:pos x="T6" y="T7"/>
                </a:cxn>
                <a:cxn ang="T14">
                  <a:pos x="T8" y="T9"/>
                </a:cxn>
              </a:cxnLst>
              <a:rect l="T15" t="T16" r="T17" b="T18"/>
              <a:pathLst>
                <a:path w="529" h="105">
                  <a:moveTo>
                    <a:pt x="88" y="0"/>
                  </a:moveTo>
                  <a:lnTo>
                    <a:pt x="0" y="104"/>
                  </a:lnTo>
                  <a:lnTo>
                    <a:pt x="528" y="104"/>
                  </a:lnTo>
                  <a:lnTo>
                    <a:pt x="472" y="0"/>
                  </a:lnTo>
                  <a:lnTo>
                    <a:pt x="88" y="0"/>
                  </a:lnTo>
                </a:path>
              </a:pathLst>
            </a:custGeom>
            <a:solidFill>
              <a:srgbClr val="919191"/>
            </a:solidFill>
            <a:ln w="12700" cap="rnd" cmpd="sng">
              <a:solidFill>
                <a:srgbClr val="474747"/>
              </a:solidFill>
              <a:prstDash val="solid"/>
              <a:round/>
              <a:headEnd type="none" w="sm" len="sm"/>
              <a:tailEnd type="none" w="sm" len="sm"/>
            </a:ln>
          </p:spPr>
          <p:txBody>
            <a:bodyPr/>
            <a:lstStyle/>
            <a:p>
              <a:endParaRPr lang="pt-BR"/>
            </a:p>
          </p:txBody>
        </p:sp>
        <p:sp>
          <p:nvSpPr>
            <p:cNvPr id="43042" name="Rectangle 246"/>
            <p:cNvSpPr>
              <a:spLocks noChangeArrowheads="1"/>
            </p:cNvSpPr>
            <p:nvPr/>
          </p:nvSpPr>
          <p:spPr bwMode="auto">
            <a:xfrm>
              <a:off x="1205" y="3888"/>
              <a:ext cx="532" cy="28"/>
            </a:xfrm>
            <a:prstGeom prst="rect">
              <a:avLst/>
            </a:prstGeom>
            <a:solidFill>
              <a:srgbClr val="47474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pt-BR"/>
            </a:p>
          </p:txBody>
        </p:sp>
        <p:sp>
          <p:nvSpPr>
            <p:cNvPr id="43043" name="Freeform 247"/>
            <p:cNvSpPr>
              <a:spLocks/>
            </p:cNvSpPr>
            <p:nvPr/>
          </p:nvSpPr>
          <p:spPr bwMode="auto">
            <a:xfrm>
              <a:off x="1283" y="3810"/>
              <a:ext cx="405" cy="53"/>
            </a:xfrm>
            <a:custGeom>
              <a:avLst/>
              <a:gdLst>
                <a:gd name="T0" fmla="*/ 0 w 405"/>
                <a:gd name="T1" fmla="*/ 42 h 53"/>
                <a:gd name="T2" fmla="*/ 4 w 405"/>
                <a:gd name="T3" fmla="*/ 52 h 53"/>
                <a:gd name="T4" fmla="*/ 404 w 405"/>
                <a:gd name="T5" fmla="*/ 52 h 53"/>
                <a:gd name="T6" fmla="*/ 382 w 405"/>
                <a:gd name="T7" fmla="*/ 0 h 53"/>
                <a:gd name="T8" fmla="*/ 0 w 405"/>
                <a:gd name="T9" fmla="*/ 42 h 53"/>
                <a:gd name="T10" fmla="*/ 0 60000 65536"/>
                <a:gd name="T11" fmla="*/ 0 60000 65536"/>
                <a:gd name="T12" fmla="*/ 0 60000 65536"/>
                <a:gd name="T13" fmla="*/ 0 60000 65536"/>
                <a:gd name="T14" fmla="*/ 0 60000 65536"/>
                <a:gd name="T15" fmla="*/ 0 w 405"/>
                <a:gd name="T16" fmla="*/ 0 h 53"/>
                <a:gd name="T17" fmla="*/ 405 w 405"/>
                <a:gd name="T18" fmla="*/ 53 h 53"/>
              </a:gdLst>
              <a:ahLst/>
              <a:cxnLst>
                <a:cxn ang="T10">
                  <a:pos x="T0" y="T1"/>
                </a:cxn>
                <a:cxn ang="T11">
                  <a:pos x="T2" y="T3"/>
                </a:cxn>
                <a:cxn ang="T12">
                  <a:pos x="T4" y="T5"/>
                </a:cxn>
                <a:cxn ang="T13">
                  <a:pos x="T6" y="T7"/>
                </a:cxn>
                <a:cxn ang="T14">
                  <a:pos x="T8" y="T9"/>
                </a:cxn>
              </a:cxnLst>
              <a:rect l="T15" t="T16" r="T17" b="T18"/>
              <a:pathLst>
                <a:path w="405" h="53">
                  <a:moveTo>
                    <a:pt x="0" y="42"/>
                  </a:moveTo>
                  <a:lnTo>
                    <a:pt x="4" y="52"/>
                  </a:lnTo>
                  <a:lnTo>
                    <a:pt x="404" y="52"/>
                  </a:lnTo>
                  <a:lnTo>
                    <a:pt x="382" y="0"/>
                  </a:lnTo>
                  <a:lnTo>
                    <a:pt x="0" y="42"/>
                  </a:lnTo>
                </a:path>
              </a:pathLst>
            </a:custGeom>
            <a:solidFill>
              <a:srgbClr val="000000"/>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44" name="Freeform 248"/>
            <p:cNvSpPr>
              <a:spLocks/>
            </p:cNvSpPr>
            <p:nvPr/>
          </p:nvSpPr>
          <p:spPr bwMode="auto">
            <a:xfrm>
              <a:off x="1277" y="3808"/>
              <a:ext cx="401" cy="49"/>
            </a:xfrm>
            <a:custGeom>
              <a:avLst/>
              <a:gdLst>
                <a:gd name="T0" fmla="*/ 24 w 401"/>
                <a:gd name="T1" fmla="*/ 0 h 49"/>
                <a:gd name="T2" fmla="*/ 0 w 401"/>
                <a:gd name="T3" fmla="*/ 48 h 49"/>
                <a:gd name="T4" fmla="*/ 400 w 401"/>
                <a:gd name="T5" fmla="*/ 48 h 49"/>
                <a:gd name="T6" fmla="*/ 384 w 401"/>
                <a:gd name="T7" fmla="*/ 0 h 49"/>
                <a:gd name="T8" fmla="*/ 24 w 401"/>
                <a:gd name="T9" fmla="*/ 0 h 49"/>
                <a:gd name="T10" fmla="*/ 0 60000 65536"/>
                <a:gd name="T11" fmla="*/ 0 60000 65536"/>
                <a:gd name="T12" fmla="*/ 0 60000 65536"/>
                <a:gd name="T13" fmla="*/ 0 60000 65536"/>
                <a:gd name="T14" fmla="*/ 0 60000 65536"/>
                <a:gd name="T15" fmla="*/ 0 w 401"/>
                <a:gd name="T16" fmla="*/ 0 h 49"/>
                <a:gd name="T17" fmla="*/ 401 w 401"/>
                <a:gd name="T18" fmla="*/ 49 h 49"/>
              </a:gdLst>
              <a:ahLst/>
              <a:cxnLst>
                <a:cxn ang="T10">
                  <a:pos x="T0" y="T1"/>
                </a:cxn>
                <a:cxn ang="T11">
                  <a:pos x="T2" y="T3"/>
                </a:cxn>
                <a:cxn ang="T12">
                  <a:pos x="T4" y="T5"/>
                </a:cxn>
                <a:cxn ang="T13">
                  <a:pos x="T6" y="T7"/>
                </a:cxn>
                <a:cxn ang="T14">
                  <a:pos x="T8" y="T9"/>
                </a:cxn>
              </a:cxnLst>
              <a:rect l="T15" t="T16" r="T17" b="T18"/>
              <a:pathLst>
                <a:path w="401" h="49">
                  <a:moveTo>
                    <a:pt x="24" y="0"/>
                  </a:moveTo>
                  <a:lnTo>
                    <a:pt x="0" y="48"/>
                  </a:lnTo>
                  <a:lnTo>
                    <a:pt x="400" y="48"/>
                  </a:lnTo>
                  <a:lnTo>
                    <a:pt x="384" y="0"/>
                  </a:lnTo>
                  <a:lnTo>
                    <a:pt x="24" y="0"/>
                  </a:lnTo>
                </a:path>
              </a:pathLst>
            </a:custGeom>
            <a:solidFill>
              <a:srgbClr val="474747"/>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pt-BR"/>
            </a:p>
          </p:txBody>
        </p:sp>
        <p:sp>
          <p:nvSpPr>
            <p:cNvPr id="43045" name="Freeform 249"/>
            <p:cNvSpPr>
              <a:spLocks/>
            </p:cNvSpPr>
            <p:nvPr/>
          </p:nvSpPr>
          <p:spPr bwMode="auto">
            <a:xfrm>
              <a:off x="1205" y="3784"/>
              <a:ext cx="473" cy="129"/>
            </a:xfrm>
            <a:custGeom>
              <a:avLst/>
              <a:gdLst>
                <a:gd name="T0" fmla="*/ 472 w 473"/>
                <a:gd name="T1" fmla="*/ 0 h 129"/>
                <a:gd name="T2" fmla="*/ 88 w 473"/>
                <a:gd name="T3" fmla="*/ 0 h 129"/>
                <a:gd name="T4" fmla="*/ 0 w 473"/>
                <a:gd name="T5" fmla="*/ 104 h 129"/>
                <a:gd name="T6" fmla="*/ 0 w 473"/>
                <a:gd name="T7" fmla="*/ 128 h 129"/>
                <a:gd name="T8" fmla="*/ 0 60000 65536"/>
                <a:gd name="T9" fmla="*/ 0 60000 65536"/>
                <a:gd name="T10" fmla="*/ 0 60000 65536"/>
                <a:gd name="T11" fmla="*/ 0 60000 65536"/>
                <a:gd name="T12" fmla="*/ 0 w 473"/>
                <a:gd name="T13" fmla="*/ 0 h 129"/>
                <a:gd name="T14" fmla="*/ 473 w 473"/>
                <a:gd name="T15" fmla="*/ 129 h 129"/>
              </a:gdLst>
              <a:ahLst/>
              <a:cxnLst>
                <a:cxn ang="T8">
                  <a:pos x="T0" y="T1"/>
                </a:cxn>
                <a:cxn ang="T9">
                  <a:pos x="T2" y="T3"/>
                </a:cxn>
                <a:cxn ang="T10">
                  <a:pos x="T4" y="T5"/>
                </a:cxn>
                <a:cxn ang="T11">
                  <a:pos x="T6" y="T7"/>
                </a:cxn>
              </a:cxnLst>
              <a:rect l="T12" t="T13" r="T14" b="T15"/>
              <a:pathLst>
                <a:path w="473" h="129">
                  <a:moveTo>
                    <a:pt x="472" y="0"/>
                  </a:moveTo>
                  <a:lnTo>
                    <a:pt x="88" y="0"/>
                  </a:lnTo>
                  <a:lnTo>
                    <a:pt x="0" y="104"/>
                  </a:lnTo>
                  <a:lnTo>
                    <a:pt x="0" y="128"/>
                  </a:lnTo>
                </a:path>
              </a:pathLst>
            </a:custGeom>
            <a:noFill/>
            <a:ln w="12700" cap="rnd" cmpd="sng">
              <a:solidFill>
                <a:srgbClr val="DADADA"/>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43046" name="Freeform 250"/>
            <p:cNvSpPr>
              <a:spLocks/>
            </p:cNvSpPr>
            <p:nvPr/>
          </p:nvSpPr>
          <p:spPr bwMode="auto">
            <a:xfrm>
              <a:off x="1275" y="3738"/>
              <a:ext cx="393" cy="41"/>
            </a:xfrm>
            <a:custGeom>
              <a:avLst/>
              <a:gdLst>
                <a:gd name="T0" fmla="*/ 0 w 393"/>
                <a:gd name="T1" fmla="*/ 8 h 41"/>
                <a:gd name="T2" fmla="*/ 8 w 393"/>
                <a:gd name="T3" fmla="*/ 0 h 41"/>
                <a:gd name="T4" fmla="*/ 384 w 393"/>
                <a:gd name="T5" fmla="*/ 0 h 41"/>
                <a:gd name="T6" fmla="*/ 392 w 393"/>
                <a:gd name="T7" fmla="*/ 8 h 41"/>
                <a:gd name="T8" fmla="*/ 392 w 393"/>
                <a:gd name="T9" fmla="*/ 32 h 41"/>
                <a:gd name="T10" fmla="*/ 384 w 393"/>
                <a:gd name="T11" fmla="*/ 40 h 41"/>
                <a:gd name="T12" fmla="*/ 8 w 393"/>
                <a:gd name="T13" fmla="*/ 40 h 41"/>
                <a:gd name="T14" fmla="*/ 0 w 393"/>
                <a:gd name="T15" fmla="*/ 32 h 41"/>
                <a:gd name="T16" fmla="*/ 0 w 393"/>
                <a:gd name="T17" fmla="*/ 16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3"/>
                <a:gd name="T28" fmla="*/ 0 h 41"/>
                <a:gd name="T29" fmla="*/ 393 w 393"/>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3" h="41">
                  <a:moveTo>
                    <a:pt x="0" y="8"/>
                  </a:moveTo>
                  <a:lnTo>
                    <a:pt x="8" y="0"/>
                  </a:lnTo>
                  <a:lnTo>
                    <a:pt x="384" y="0"/>
                  </a:lnTo>
                  <a:lnTo>
                    <a:pt x="392" y="8"/>
                  </a:lnTo>
                  <a:lnTo>
                    <a:pt x="392" y="32"/>
                  </a:lnTo>
                  <a:lnTo>
                    <a:pt x="384" y="40"/>
                  </a:lnTo>
                  <a:lnTo>
                    <a:pt x="8" y="40"/>
                  </a:lnTo>
                  <a:lnTo>
                    <a:pt x="0" y="32"/>
                  </a:lnTo>
                  <a:lnTo>
                    <a:pt x="0" y="16"/>
                  </a:lnTo>
                </a:path>
              </a:pathLst>
            </a:custGeom>
            <a:solidFill>
              <a:srgbClr val="919191"/>
            </a:solidFill>
            <a:ln w="12700" cap="rnd" cmpd="sng">
              <a:solidFill>
                <a:srgbClr val="333333"/>
              </a:solidFill>
              <a:prstDash val="solid"/>
              <a:round/>
              <a:headEnd type="none" w="sm" len="sm"/>
              <a:tailEnd type="none" w="sm" len="sm"/>
            </a:ln>
          </p:spPr>
          <p:txBody>
            <a:bodyPr/>
            <a:lstStyle/>
            <a:p>
              <a:endParaRPr lang="pt-BR"/>
            </a:p>
          </p:txBody>
        </p:sp>
        <p:sp>
          <p:nvSpPr>
            <p:cNvPr id="43047" name="Line 251"/>
            <p:cNvSpPr>
              <a:spLocks noChangeShapeType="1"/>
            </p:cNvSpPr>
            <p:nvPr/>
          </p:nvSpPr>
          <p:spPr bwMode="auto">
            <a:xfrm>
              <a:off x="1387" y="3755"/>
              <a:ext cx="0" cy="3"/>
            </a:xfrm>
            <a:prstGeom prst="line">
              <a:avLst/>
            </a:prstGeom>
            <a:noFill/>
            <a:ln w="12700">
              <a:solidFill>
                <a:srgbClr val="3333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48" name="Line 252"/>
            <p:cNvSpPr>
              <a:spLocks noChangeShapeType="1"/>
            </p:cNvSpPr>
            <p:nvPr/>
          </p:nvSpPr>
          <p:spPr bwMode="auto">
            <a:xfrm>
              <a:off x="1547" y="3755"/>
              <a:ext cx="0" cy="3"/>
            </a:xfrm>
            <a:prstGeom prst="line">
              <a:avLst/>
            </a:prstGeom>
            <a:noFill/>
            <a:ln w="12700">
              <a:solidFill>
                <a:srgbClr val="3333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49" name="Line 253"/>
            <p:cNvSpPr>
              <a:spLocks noChangeShapeType="1"/>
            </p:cNvSpPr>
            <p:nvPr/>
          </p:nvSpPr>
          <p:spPr bwMode="auto">
            <a:xfrm>
              <a:off x="1555" y="3755"/>
              <a:ext cx="0" cy="5"/>
            </a:xfrm>
            <a:prstGeom prst="line">
              <a:avLst/>
            </a:prstGeom>
            <a:noFill/>
            <a:ln w="12700">
              <a:solidFill>
                <a:srgbClr val="DADADA"/>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50" name="Line 254"/>
            <p:cNvSpPr>
              <a:spLocks noChangeShapeType="1"/>
            </p:cNvSpPr>
            <p:nvPr/>
          </p:nvSpPr>
          <p:spPr bwMode="auto">
            <a:xfrm>
              <a:off x="1395" y="3755"/>
              <a:ext cx="0" cy="5"/>
            </a:xfrm>
            <a:prstGeom prst="line">
              <a:avLst/>
            </a:prstGeom>
            <a:noFill/>
            <a:ln w="12700">
              <a:solidFill>
                <a:srgbClr val="DADADA"/>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pt-BR"/>
            </a:p>
          </p:txBody>
        </p:sp>
        <p:sp>
          <p:nvSpPr>
            <p:cNvPr id="43051" name="Freeform 255"/>
            <p:cNvSpPr>
              <a:spLocks/>
            </p:cNvSpPr>
            <p:nvPr/>
          </p:nvSpPr>
          <p:spPr bwMode="auto">
            <a:xfrm>
              <a:off x="1275" y="3738"/>
              <a:ext cx="377" cy="41"/>
            </a:xfrm>
            <a:custGeom>
              <a:avLst/>
              <a:gdLst>
                <a:gd name="T0" fmla="*/ 376 w 377"/>
                <a:gd name="T1" fmla="*/ 0 h 41"/>
                <a:gd name="T2" fmla="*/ 8 w 377"/>
                <a:gd name="T3" fmla="*/ 0 h 41"/>
                <a:gd name="T4" fmla="*/ 0 w 377"/>
                <a:gd name="T5" fmla="*/ 8 h 41"/>
                <a:gd name="T6" fmla="*/ 0 w 377"/>
                <a:gd name="T7" fmla="*/ 32 h 41"/>
                <a:gd name="T8" fmla="*/ 8 w 377"/>
                <a:gd name="T9" fmla="*/ 40 h 41"/>
                <a:gd name="T10" fmla="*/ 0 60000 65536"/>
                <a:gd name="T11" fmla="*/ 0 60000 65536"/>
                <a:gd name="T12" fmla="*/ 0 60000 65536"/>
                <a:gd name="T13" fmla="*/ 0 60000 65536"/>
                <a:gd name="T14" fmla="*/ 0 60000 65536"/>
                <a:gd name="T15" fmla="*/ 0 w 377"/>
                <a:gd name="T16" fmla="*/ 0 h 41"/>
                <a:gd name="T17" fmla="*/ 377 w 377"/>
                <a:gd name="T18" fmla="*/ 41 h 41"/>
              </a:gdLst>
              <a:ahLst/>
              <a:cxnLst>
                <a:cxn ang="T10">
                  <a:pos x="T0" y="T1"/>
                </a:cxn>
                <a:cxn ang="T11">
                  <a:pos x="T2" y="T3"/>
                </a:cxn>
                <a:cxn ang="T12">
                  <a:pos x="T4" y="T5"/>
                </a:cxn>
                <a:cxn ang="T13">
                  <a:pos x="T6" y="T7"/>
                </a:cxn>
                <a:cxn ang="T14">
                  <a:pos x="T8" y="T9"/>
                </a:cxn>
              </a:cxnLst>
              <a:rect l="T15" t="T16" r="T17" b="T18"/>
              <a:pathLst>
                <a:path w="377" h="41">
                  <a:moveTo>
                    <a:pt x="376" y="0"/>
                  </a:moveTo>
                  <a:lnTo>
                    <a:pt x="8" y="0"/>
                  </a:lnTo>
                  <a:lnTo>
                    <a:pt x="0" y="8"/>
                  </a:lnTo>
                  <a:lnTo>
                    <a:pt x="0" y="32"/>
                  </a:lnTo>
                  <a:lnTo>
                    <a:pt x="8" y="40"/>
                  </a:lnTo>
                </a:path>
              </a:pathLst>
            </a:custGeom>
            <a:noFill/>
            <a:ln w="12700" cap="rnd" cmpd="sng">
              <a:solidFill>
                <a:srgbClr val="DADADA"/>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pt-BR"/>
            </a:p>
          </p:txBody>
        </p:sp>
      </p:grpSp>
      <p:sp>
        <p:nvSpPr>
          <p:cNvPr id="43027" name="Line 256"/>
          <p:cNvSpPr>
            <a:spLocks noChangeShapeType="1"/>
          </p:cNvSpPr>
          <p:nvPr/>
        </p:nvSpPr>
        <p:spPr bwMode="auto">
          <a:xfrm flipV="1">
            <a:off x="5086350" y="5076825"/>
            <a:ext cx="0" cy="33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28" name="Line 257"/>
          <p:cNvSpPr>
            <a:spLocks noChangeShapeType="1"/>
          </p:cNvSpPr>
          <p:nvPr/>
        </p:nvSpPr>
        <p:spPr bwMode="auto">
          <a:xfrm flipV="1">
            <a:off x="6229350" y="5159375"/>
            <a:ext cx="0" cy="247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29" name="Line 258"/>
          <p:cNvSpPr>
            <a:spLocks noChangeShapeType="1"/>
          </p:cNvSpPr>
          <p:nvPr/>
        </p:nvSpPr>
        <p:spPr bwMode="auto">
          <a:xfrm flipH="1" flipV="1">
            <a:off x="4933950" y="4333875"/>
            <a:ext cx="236220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30" name="Line 259"/>
          <p:cNvSpPr>
            <a:spLocks noChangeShapeType="1"/>
          </p:cNvSpPr>
          <p:nvPr/>
        </p:nvSpPr>
        <p:spPr bwMode="auto">
          <a:xfrm flipH="1" flipV="1">
            <a:off x="4171950" y="4333875"/>
            <a:ext cx="91440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31" name="Line 260"/>
          <p:cNvSpPr>
            <a:spLocks noChangeShapeType="1"/>
          </p:cNvSpPr>
          <p:nvPr/>
        </p:nvSpPr>
        <p:spPr bwMode="auto">
          <a:xfrm flipV="1">
            <a:off x="3790950" y="4168775"/>
            <a:ext cx="152400" cy="7429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pt-BR"/>
          </a:p>
        </p:txBody>
      </p:sp>
      <p:sp>
        <p:nvSpPr>
          <p:cNvPr id="43032" name="Text Box 261"/>
          <p:cNvSpPr txBox="1">
            <a:spLocks noChangeArrowheads="1"/>
          </p:cNvSpPr>
          <p:nvPr/>
        </p:nvSpPr>
        <p:spPr bwMode="auto">
          <a:xfrm>
            <a:off x="2209800" y="6386513"/>
            <a:ext cx="4703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pt-PT" sz="1600" b="1"/>
              <a:t>Os equipamentos da Rede se comunicam dois a dois</a:t>
            </a:r>
            <a:endParaRPr lang="pt-BR" sz="1600" b="1"/>
          </a:p>
        </p:txBody>
      </p:sp>
    </p:spTree>
    <p:extLst>
      <p:ext uri="{BB962C8B-B14F-4D97-AF65-F5344CB8AC3E}">
        <p14:creationId xmlns:p14="http://schemas.microsoft.com/office/powerpoint/2010/main" val="3557036449"/>
      </p:ext>
    </p:extLst>
  </p:cSld>
  <p:clrMapOvr>
    <a:masterClrMapping/>
  </p:clrMapOvr>
  <p:transition spd="med">
    <p:sndAc>
      <p:stSnd>
        <p:snd r:embed="rId2" name="LASER.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Roteadores</a:t>
            </a:r>
            <a:endParaRPr lang="pt-BR" dirty="0"/>
          </a:p>
        </p:txBody>
      </p:sp>
      <p:sp>
        <p:nvSpPr>
          <p:cNvPr id="3" name="Espaço Reservado para Conteúdo 2"/>
          <p:cNvSpPr>
            <a:spLocks noGrp="1"/>
          </p:cNvSpPr>
          <p:nvPr>
            <p:ph idx="1"/>
          </p:nvPr>
        </p:nvSpPr>
        <p:spPr/>
        <p:txBody>
          <a:bodyPr/>
          <a:lstStyle/>
          <a:p>
            <a:r>
              <a:rPr lang="pt-BR" dirty="0"/>
              <a:t>Os Roteadores são usados para interligar duas ou mais </a:t>
            </a:r>
            <a:r>
              <a:rPr lang="pt-BR" dirty="0" smtClean="0"/>
              <a:t>redes.</a:t>
            </a:r>
          </a:p>
          <a:p>
            <a:endParaRPr lang="pt-BR" dirty="0" smtClean="0"/>
          </a:p>
          <a:p>
            <a:r>
              <a:rPr lang="pt-BR" dirty="0"/>
              <a:t>O roteador possui pelo menos duas Interfaces de rede.</a:t>
            </a:r>
          </a:p>
          <a:p>
            <a:endParaRPr lang="pt-BR" dirty="0" smtClean="0"/>
          </a:p>
          <a:p>
            <a:r>
              <a:rPr lang="pt-BR" dirty="0" smtClean="0"/>
              <a:t>Cada </a:t>
            </a:r>
            <a:r>
              <a:rPr lang="pt-BR" dirty="0"/>
              <a:t>Interface de rede possui um endereço IP.</a:t>
            </a:r>
          </a:p>
        </p:txBody>
      </p:sp>
    </p:spTree>
    <p:extLst>
      <p:ext uri="{BB962C8B-B14F-4D97-AF65-F5344CB8AC3E}">
        <p14:creationId xmlns:p14="http://schemas.microsoft.com/office/powerpoint/2010/main" val="2334069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sz="4400" dirty="0" smtClean="0">
                <a:solidFill>
                  <a:schemeClr val="tx1"/>
                </a:solidFill>
                <a:latin typeface="+mn-lt"/>
                <a:ea typeface="+mn-ea"/>
                <a:cs typeface="+mn-cs"/>
              </a:rPr>
              <a:t>Roteadores</a:t>
            </a:r>
            <a:endParaRPr lang="pt-BR" sz="4400" dirty="0">
              <a:solidFill>
                <a:schemeClr val="tx1"/>
              </a:solidFill>
              <a:latin typeface="+mn-lt"/>
              <a:ea typeface="+mn-ea"/>
              <a:cs typeface="+mn-cs"/>
            </a:endParaRPr>
          </a:p>
        </p:txBody>
      </p:sp>
      <p:grpSp>
        <p:nvGrpSpPr>
          <p:cNvPr id="60" name="Grupo 3"/>
          <p:cNvGrpSpPr>
            <a:grpSpLocks/>
          </p:cNvGrpSpPr>
          <p:nvPr/>
        </p:nvGrpSpPr>
        <p:grpSpPr bwMode="auto">
          <a:xfrm>
            <a:off x="1000125" y="1285875"/>
            <a:ext cx="6870700" cy="4840288"/>
            <a:chOff x="630238" y="887413"/>
            <a:chExt cx="7920037" cy="5524500"/>
          </a:xfrm>
        </p:grpSpPr>
        <p:sp>
          <p:nvSpPr>
            <p:cNvPr id="61" name="Freeform 151"/>
            <p:cNvSpPr>
              <a:spLocks/>
            </p:cNvSpPr>
            <p:nvPr/>
          </p:nvSpPr>
          <p:spPr bwMode="auto">
            <a:xfrm>
              <a:off x="4994275" y="3789363"/>
              <a:ext cx="1965325" cy="1254125"/>
            </a:xfrm>
            <a:custGeom>
              <a:avLst/>
              <a:gdLst>
                <a:gd name="T0" fmla="*/ 0 w 1076"/>
                <a:gd name="T1" fmla="*/ 0 h 784"/>
                <a:gd name="T2" fmla="*/ 2147483647 w 1076"/>
                <a:gd name="T3" fmla="*/ 0 h 784"/>
                <a:gd name="T4" fmla="*/ 2147483647 w 1076"/>
                <a:gd name="T5" fmla="*/ 2147483647 h 784"/>
                <a:gd name="T6" fmla="*/ 0 60000 65536"/>
                <a:gd name="T7" fmla="*/ 0 60000 65536"/>
                <a:gd name="T8" fmla="*/ 0 60000 65536"/>
                <a:gd name="T9" fmla="*/ 0 w 1076"/>
                <a:gd name="T10" fmla="*/ 0 h 784"/>
                <a:gd name="T11" fmla="*/ 1076 w 1076"/>
                <a:gd name="T12" fmla="*/ 784 h 784"/>
              </a:gdLst>
              <a:ahLst/>
              <a:cxnLst>
                <a:cxn ang="T6">
                  <a:pos x="T0" y="T1"/>
                </a:cxn>
                <a:cxn ang="T7">
                  <a:pos x="T2" y="T3"/>
                </a:cxn>
                <a:cxn ang="T8">
                  <a:pos x="T4" y="T5"/>
                </a:cxn>
              </a:cxnLst>
              <a:rect l="T9" t="T10" r="T11" b="T12"/>
              <a:pathLst>
                <a:path w="1076" h="784">
                  <a:moveTo>
                    <a:pt x="0" y="0"/>
                  </a:moveTo>
                  <a:lnTo>
                    <a:pt x="1076" y="0"/>
                  </a:lnTo>
                  <a:lnTo>
                    <a:pt x="1076" y="784"/>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62" name="Freeform 158"/>
            <p:cNvSpPr>
              <a:spLocks/>
            </p:cNvSpPr>
            <p:nvPr/>
          </p:nvSpPr>
          <p:spPr bwMode="auto">
            <a:xfrm>
              <a:off x="5092700" y="3784600"/>
              <a:ext cx="1855788" cy="1247775"/>
            </a:xfrm>
            <a:custGeom>
              <a:avLst/>
              <a:gdLst>
                <a:gd name="T0" fmla="*/ 0 w 1061"/>
                <a:gd name="T1" fmla="*/ 0 h 754"/>
                <a:gd name="T2" fmla="*/ 2147483647 w 1061"/>
                <a:gd name="T3" fmla="*/ 0 h 754"/>
                <a:gd name="T4" fmla="*/ 2147483647 w 1061"/>
                <a:gd name="T5" fmla="*/ 2147483647 h 754"/>
                <a:gd name="T6" fmla="*/ 0 60000 65536"/>
                <a:gd name="T7" fmla="*/ 0 60000 65536"/>
                <a:gd name="T8" fmla="*/ 0 60000 65536"/>
                <a:gd name="T9" fmla="*/ 0 w 1061"/>
                <a:gd name="T10" fmla="*/ 0 h 754"/>
                <a:gd name="T11" fmla="*/ 1061 w 1061"/>
                <a:gd name="T12" fmla="*/ 754 h 754"/>
              </a:gdLst>
              <a:ahLst/>
              <a:cxnLst>
                <a:cxn ang="T6">
                  <a:pos x="T0" y="T1"/>
                </a:cxn>
                <a:cxn ang="T7">
                  <a:pos x="T2" y="T3"/>
                </a:cxn>
                <a:cxn ang="T8">
                  <a:pos x="T4" y="T5"/>
                </a:cxn>
              </a:cxnLst>
              <a:rect l="T9" t="T10" r="T11" b="T12"/>
              <a:pathLst>
                <a:path w="1061" h="754">
                  <a:moveTo>
                    <a:pt x="0" y="0"/>
                  </a:moveTo>
                  <a:lnTo>
                    <a:pt x="1061" y="0"/>
                  </a:lnTo>
                  <a:lnTo>
                    <a:pt x="1061" y="754"/>
                  </a:lnTo>
                </a:path>
              </a:pathLst>
            </a:custGeom>
            <a:noFill/>
            <a:ln w="76200">
              <a:solidFill>
                <a:srgbClr val="D60093"/>
              </a:solidFill>
              <a:round/>
              <a:headEnd/>
              <a:tailEnd type="triangle" w="med" len="med"/>
            </a:ln>
          </p:spPr>
          <p:txBody>
            <a:bodyPr wrap="none" anchor="ctr"/>
            <a:lstStyle/>
            <a:p>
              <a:endParaRPr lang="pt-BR">
                <a:latin typeface="Calibri" pitchFamily="34" charset="0"/>
              </a:endParaRPr>
            </a:p>
          </p:txBody>
        </p:sp>
        <p:sp>
          <p:nvSpPr>
            <p:cNvPr id="63" name="Freeform 109"/>
            <p:cNvSpPr>
              <a:spLocks/>
            </p:cNvSpPr>
            <p:nvPr>
              <p:custDataLst>
                <p:tags r:id="rId1"/>
              </p:custDataLst>
            </p:nvPr>
          </p:nvSpPr>
          <p:spPr bwMode="auto">
            <a:xfrm flipH="1">
              <a:off x="2235200" y="3789363"/>
              <a:ext cx="1903413" cy="1254125"/>
            </a:xfrm>
            <a:custGeom>
              <a:avLst/>
              <a:gdLst>
                <a:gd name="T0" fmla="*/ 0 w 1076"/>
                <a:gd name="T1" fmla="*/ 0 h 784"/>
                <a:gd name="T2" fmla="*/ 2147483647 w 1076"/>
                <a:gd name="T3" fmla="*/ 0 h 784"/>
                <a:gd name="T4" fmla="*/ 2147483647 w 1076"/>
                <a:gd name="T5" fmla="*/ 2147483647 h 784"/>
                <a:gd name="T6" fmla="*/ 0 60000 65536"/>
                <a:gd name="T7" fmla="*/ 0 60000 65536"/>
                <a:gd name="T8" fmla="*/ 0 60000 65536"/>
                <a:gd name="T9" fmla="*/ 0 w 1076"/>
                <a:gd name="T10" fmla="*/ 0 h 784"/>
                <a:gd name="T11" fmla="*/ 1076 w 1076"/>
                <a:gd name="T12" fmla="*/ 784 h 784"/>
              </a:gdLst>
              <a:ahLst/>
              <a:cxnLst>
                <a:cxn ang="T6">
                  <a:pos x="T0" y="T1"/>
                </a:cxn>
                <a:cxn ang="T7">
                  <a:pos x="T2" y="T3"/>
                </a:cxn>
                <a:cxn ang="T8">
                  <a:pos x="T4" y="T5"/>
                </a:cxn>
              </a:cxnLst>
              <a:rect l="T9" t="T10" r="T11" b="T12"/>
              <a:pathLst>
                <a:path w="1076" h="784">
                  <a:moveTo>
                    <a:pt x="0" y="0"/>
                  </a:moveTo>
                  <a:lnTo>
                    <a:pt x="1076" y="0"/>
                  </a:lnTo>
                  <a:lnTo>
                    <a:pt x="1076" y="784"/>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64" name="AutoShape 172"/>
            <p:cNvSpPr>
              <a:spLocks noChangeArrowheads="1"/>
            </p:cNvSpPr>
            <p:nvPr/>
          </p:nvSpPr>
          <p:spPr bwMode="auto">
            <a:xfrm>
              <a:off x="4114800" y="3487738"/>
              <a:ext cx="1208088" cy="671512"/>
            </a:xfrm>
            <a:prstGeom prst="cube">
              <a:avLst>
                <a:gd name="adj" fmla="val 31505"/>
              </a:avLst>
            </a:prstGeom>
            <a:solidFill>
              <a:srgbClr val="CCFFFF"/>
            </a:solidFill>
            <a:ln w="9525">
              <a:solidFill>
                <a:schemeClr val="tx1"/>
              </a:solidFill>
              <a:miter lim="800000"/>
              <a:headEnd/>
              <a:tailEnd/>
            </a:ln>
          </p:spPr>
          <p:txBody>
            <a:bodyPr wrap="none" anchor="ctr"/>
            <a:lstStyle/>
            <a:p>
              <a:pPr algn="ctr" eaLnBrk="0" hangingPunct="0"/>
              <a:r>
                <a:rPr lang="pt-BR">
                  <a:solidFill>
                    <a:srgbClr val="000000"/>
                  </a:solidFill>
                  <a:latin typeface="Calibri" pitchFamily="34" charset="0"/>
                </a:rPr>
                <a:t>Roteador</a:t>
              </a:r>
              <a:endParaRPr lang="en-US">
                <a:latin typeface="Calibri" pitchFamily="34" charset="0"/>
              </a:endParaRPr>
            </a:p>
          </p:txBody>
        </p:sp>
        <p:sp>
          <p:nvSpPr>
            <p:cNvPr id="65" name="Line 110"/>
            <p:cNvSpPr>
              <a:spLocks noChangeShapeType="1"/>
            </p:cNvSpPr>
            <p:nvPr>
              <p:custDataLst>
                <p:tags r:id="rId2"/>
              </p:custDataLst>
            </p:nvPr>
          </p:nvSpPr>
          <p:spPr bwMode="auto">
            <a:xfrm>
              <a:off x="2478088" y="2112963"/>
              <a:ext cx="4300537" cy="0"/>
            </a:xfrm>
            <a:prstGeom prst="line">
              <a:avLst/>
            </a:prstGeom>
            <a:noFill/>
            <a:ln w="38100">
              <a:solidFill>
                <a:schemeClr val="tx1"/>
              </a:solidFill>
              <a:round/>
              <a:headEnd/>
              <a:tailEnd/>
            </a:ln>
          </p:spPr>
          <p:txBody>
            <a:bodyPr wrap="none" anchor="ctr"/>
            <a:lstStyle/>
            <a:p>
              <a:endParaRPr lang="pt-BR"/>
            </a:p>
          </p:txBody>
        </p:sp>
        <p:sp>
          <p:nvSpPr>
            <p:cNvPr id="66" name="Freeform 112"/>
            <p:cNvSpPr>
              <a:spLocks/>
            </p:cNvSpPr>
            <p:nvPr>
              <p:custDataLst>
                <p:tags r:id="rId3"/>
              </p:custDataLst>
            </p:nvPr>
          </p:nvSpPr>
          <p:spPr bwMode="auto">
            <a:xfrm>
              <a:off x="1241425" y="4741863"/>
              <a:ext cx="763588"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67" name="Freeform 113"/>
            <p:cNvSpPr>
              <a:spLocks/>
            </p:cNvSpPr>
            <p:nvPr>
              <p:custDataLst>
                <p:tags r:id="rId4"/>
              </p:custDataLst>
            </p:nvPr>
          </p:nvSpPr>
          <p:spPr bwMode="auto">
            <a:xfrm flipV="1">
              <a:off x="1241425" y="5422900"/>
              <a:ext cx="763588"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68" name="Freeform 114"/>
            <p:cNvSpPr>
              <a:spLocks/>
            </p:cNvSpPr>
            <p:nvPr>
              <p:custDataLst>
                <p:tags r:id="rId5"/>
              </p:custDataLst>
            </p:nvPr>
          </p:nvSpPr>
          <p:spPr bwMode="auto">
            <a:xfrm flipH="1">
              <a:off x="2462213" y="4741863"/>
              <a:ext cx="762000"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69" name="Freeform 115"/>
            <p:cNvSpPr>
              <a:spLocks/>
            </p:cNvSpPr>
            <p:nvPr>
              <p:custDataLst>
                <p:tags r:id="rId6"/>
              </p:custDataLst>
            </p:nvPr>
          </p:nvSpPr>
          <p:spPr bwMode="auto">
            <a:xfrm flipH="1" flipV="1">
              <a:off x="2462213" y="5422900"/>
              <a:ext cx="762000"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pic>
          <p:nvPicPr>
            <p:cNvPr id="70" name="Picture 117" descr="Computer1"/>
            <p:cNvPicPr>
              <a:picLocks noChangeAspect="1" noChangeArrowheads="1"/>
            </p:cNvPicPr>
            <p:nvPr>
              <p:custDataLst>
                <p:tags r:id="rId7"/>
              </p:custDataLst>
            </p:nvPr>
          </p:nvPicPr>
          <p:blipFill>
            <a:blip r:embed="rId46"/>
            <a:srcRect/>
            <a:stretch>
              <a:fillRect/>
            </a:stretch>
          </p:blipFill>
          <p:spPr bwMode="auto">
            <a:xfrm>
              <a:off x="630238" y="4062413"/>
              <a:ext cx="909637" cy="987425"/>
            </a:xfrm>
            <a:prstGeom prst="rect">
              <a:avLst/>
            </a:prstGeom>
            <a:noFill/>
            <a:ln w="9525">
              <a:noFill/>
              <a:miter lim="800000"/>
              <a:headEnd/>
              <a:tailEnd/>
            </a:ln>
          </p:spPr>
        </p:pic>
        <p:pic>
          <p:nvPicPr>
            <p:cNvPr id="71" name="Picture 118" descr="Computer1"/>
            <p:cNvPicPr>
              <a:picLocks noChangeAspect="1" noChangeArrowheads="1"/>
            </p:cNvPicPr>
            <p:nvPr>
              <p:custDataLst>
                <p:tags r:id="rId8"/>
              </p:custDataLst>
            </p:nvPr>
          </p:nvPicPr>
          <p:blipFill>
            <a:blip r:embed="rId46"/>
            <a:srcRect/>
            <a:stretch>
              <a:fillRect/>
            </a:stretch>
          </p:blipFill>
          <p:spPr bwMode="auto">
            <a:xfrm>
              <a:off x="630238" y="5424488"/>
              <a:ext cx="909637" cy="987425"/>
            </a:xfrm>
            <a:prstGeom prst="rect">
              <a:avLst/>
            </a:prstGeom>
            <a:noFill/>
            <a:ln w="9525">
              <a:noFill/>
              <a:miter lim="800000"/>
              <a:headEnd/>
              <a:tailEnd/>
            </a:ln>
          </p:spPr>
        </p:pic>
        <p:pic>
          <p:nvPicPr>
            <p:cNvPr id="72" name="Picture 119" descr="Computer2"/>
            <p:cNvPicPr>
              <a:picLocks noChangeAspect="1" noChangeArrowheads="1"/>
            </p:cNvPicPr>
            <p:nvPr>
              <p:custDataLst>
                <p:tags r:id="rId9"/>
              </p:custDataLst>
            </p:nvPr>
          </p:nvPicPr>
          <p:blipFill>
            <a:blip r:embed="rId47"/>
            <a:srcRect/>
            <a:stretch>
              <a:fillRect/>
            </a:stretch>
          </p:blipFill>
          <p:spPr bwMode="auto">
            <a:xfrm>
              <a:off x="2919413" y="4098925"/>
              <a:ext cx="882650" cy="950913"/>
            </a:xfrm>
            <a:prstGeom prst="rect">
              <a:avLst/>
            </a:prstGeom>
            <a:noFill/>
            <a:ln w="9525">
              <a:noFill/>
              <a:miter lim="800000"/>
              <a:headEnd/>
              <a:tailEnd/>
            </a:ln>
          </p:spPr>
        </p:pic>
        <p:pic>
          <p:nvPicPr>
            <p:cNvPr id="73" name="Picture 120" descr="Computer2"/>
            <p:cNvPicPr>
              <a:picLocks noChangeAspect="1" noChangeArrowheads="1"/>
            </p:cNvPicPr>
            <p:nvPr>
              <p:custDataLst>
                <p:tags r:id="rId10"/>
              </p:custDataLst>
            </p:nvPr>
          </p:nvPicPr>
          <p:blipFill>
            <a:blip r:embed="rId47"/>
            <a:srcRect/>
            <a:stretch>
              <a:fillRect/>
            </a:stretch>
          </p:blipFill>
          <p:spPr bwMode="auto">
            <a:xfrm>
              <a:off x="2919413" y="5461000"/>
              <a:ext cx="882650" cy="950913"/>
            </a:xfrm>
            <a:prstGeom prst="rect">
              <a:avLst/>
            </a:prstGeom>
            <a:noFill/>
            <a:ln w="9525">
              <a:noFill/>
              <a:miter lim="800000"/>
              <a:headEnd/>
              <a:tailEnd/>
            </a:ln>
          </p:spPr>
        </p:pic>
        <p:sp>
          <p:nvSpPr>
            <p:cNvPr id="74" name="AutoShape 121"/>
            <p:cNvSpPr>
              <a:spLocks noChangeArrowheads="1"/>
            </p:cNvSpPr>
            <p:nvPr>
              <p:custDataLst>
                <p:tags r:id="rId11"/>
              </p:custDataLst>
            </p:nvPr>
          </p:nvSpPr>
          <p:spPr bwMode="auto">
            <a:xfrm>
              <a:off x="1960563" y="5037138"/>
              <a:ext cx="538162" cy="495300"/>
            </a:xfrm>
            <a:prstGeom prst="cube">
              <a:avLst>
                <a:gd name="adj" fmla="val 16208"/>
              </a:avLst>
            </a:prstGeom>
            <a:solidFill>
              <a:srgbClr val="C0C0C0"/>
            </a:solidFill>
            <a:ln w="9525">
              <a:solidFill>
                <a:srgbClr val="808000"/>
              </a:solidFill>
              <a:miter lim="800000"/>
              <a:headEnd/>
              <a:tailEnd/>
            </a:ln>
          </p:spPr>
          <p:txBody>
            <a:bodyPr wrap="none" anchor="ctr"/>
            <a:lstStyle/>
            <a:p>
              <a:pPr algn="ctr" eaLnBrk="0" hangingPunct="0"/>
              <a:endParaRPr lang="pt-BR">
                <a:latin typeface="Calibri" pitchFamily="34" charset="0"/>
              </a:endParaRPr>
            </a:p>
          </p:txBody>
        </p:sp>
        <p:sp>
          <p:nvSpPr>
            <p:cNvPr id="75" name="Freeform 123"/>
            <p:cNvSpPr>
              <a:spLocks/>
            </p:cNvSpPr>
            <p:nvPr>
              <p:custDataLst>
                <p:tags r:id="rId12"/>
              </p:custDataLst>
            </p:nvPr>
          </p:nvSpPr>
          <p:spPr bwMode="auto">
            <a:xfrm>
              <a:off x="5989638" y="1566863"/>
              <a:ext cx="763587"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76" name="Freeform 124"/>
            <p:cNvSpPr>
              <a:spLocks/>
            </p:cNvSpPr>
            <p:nvPr>
              <p:custDataLst>
                <p:tags r:id="rId13"/>
              </p:custDataLst>
            </p:nvPr>
          </p:nvSpPr>
          <p:spPr bwMode="auto">
            <a:xfrm flipV="1">
              <a:off x="5989638" y="2247900"/>
              <a:ext cx="763587"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77" name="Freeform 125"/>
            <p:cNvSpPr>
              <a:spLocks/>
            </p:cNvSpPr>
            <p:nvPr>
              <p:custDataLst>
                <p:tags r:id="rId14"/>
              </p:custDataLst>
            </p:nvPr>
          </p:nvSpPr>
          <p:spPr bwMode="auto">
            <a:xfrm flipH="1">
              <a:off x="7210425" y="1566863"/>
              <a:ext cx="762000"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78" name="Freeform 126"/>
            <p:cNvSpPr>
              <a:spLocks/>
            </p:cNvSpPr>
            <p:nvPr>
              <p:custDataLst>
                <p:tags r:id="rId15"/>
              </p:custDataLst>
            </p:nvPr>
          </p:nvSpPr>
          <p:spPr bwMode="auto">
            <a:xfrm flipH="1" flipV="1">
              <a:off x="7210425" y="2247900"/>
              <a:ext cx="762000" cy="377825"/>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pic>
          <p:nvPicPr>
            <p:cNvPr id="79" name="Picture 128" descr="Computer1"/>
            <p:cNvPicPr>
              <a:picLocks noChangeAspect="1" noChangeArrowheads="1"/>
            </p:cNvPicPr>
            <p:nvPr>
              <p:custDataLst>
                <p:tags r:id="rId16"/>
              </p:custDataLst>
            </p:nvPr>
          </p:nvPicPr>
          <p:blipFill>
            <a:blip r:embed="rId46"/>
            <a:srcRect/>
            <a:stretch>
              <a:fillRect/>
            </a:stretch>
          </p:blipFill>
          <p:spPr bwMode="auto">
            <a:xfrm>
              <a:off x="5378450" y="887413"/>
              <a:ext cx="909638" cy="987425"/>
            </a:xfrm>
            <a:prstGeom prst="rect">
              <a:avLst/>
            </a:prstGeom>
            <a:noFill/>
            <a:ln w="9525">
              <a:noFill/>
              <a:miter lim="800000"/>
              <a:headEnd/>
              <a:tailEnd/>
            </a:ln>
          </p:spPr>
        </p:pic>
        <p:pic>
          <p:nvPicPr>
            <p:cNvPr id="80" name="Picture 129" descr="Computer1"/>
            <p:cNvPicPr>
              <a:picLocks noChangeAspect="1" noChangeArrowheads="1"/>
            </p:cNvPicPr>
            <p:nvPr>
              <p:custDataLst>
                <p:tags r:id="rId17"/>
              </p:custDataLst>
            </p:nvPr>
          </p:nvPicPr>
          <p:blipFill>
            <a:blip r:embed="rId46"/>
            <a:srcRect/>
            <a:stretch>
              <a:fillRect/>
            </a:stretch>
          </p:blipFill>
          <p:spPr bwMode="auto">
            <a:xfrm>
              <a:off x="5378450" y="2249488"/>
              <a:ext cx="909638" cy="987425"/>
            </a:xfrm>
            <a:prstGeom prst="rect">
              <a:avLst/>
            </a:prstGeom>
            <a:noFill/>
            <a:ln w="9525">
              <a:noFill/>
              <a:miter lim="800000"/>
              <a:headEnd/>
              <a:tailEnd/>
            </a:ln>
          </p:spPr>
        </p:pic>
        <p:pic>
          <p:nvPicPr>
            <p:cNvPr id="81" name="Picture 130" descr="Computer2"/>
            <p:cNvPicPr>
              <a:picLocks noChangeAspect="1" noChangeArrowheads="1"/>
            </p:cNvPicPr>
            <p:nvPr>
              <p:custDataLst>
                <p:tags r:id="rId18"/>
              </p:custDataLst>
            </p:nvPr>
          </p:nvPicPr>
          <p:blipFill>
            <a:blip r:embed="rId47"/>
            <a:srcRect/>
            <a:stretch>
              <a:fillRect/>
            </a:stretch>
          </p:blipFill>
          <p:spPr bwMode="auto">
            <a:xfrm>
              <a:off x="7667625" y="923925"/>
              <a:ext cx="882650" cy="950913"/>
            </a:xfrm>
            <a:prstGeom prst="rect">
              <a:avLst/>
            </a:prstGeom>
            <a:noFill/>
            <a:ln w="9525">
              <a:noFill/>
              <a:miter lim="800000"/>
              <a:headEnd/>
              <a:tailEnd/>
            </a:ln>
          </p:spPr>
        </p:pic>
        <p:pic>
          <p:nvPicPr>
            <p:cNvPr id="82" name="Picture 131" descr="Computer2"/>
            <p:cNvPicPr>
              <a:picLocks noChangeAspect="1" noChangeArrowheads="1"/>
            </p:cNvPicPr>
            <p:nvPr>
              <p:custDataLst>
                <p:tags r:id="rId19"/>
              </p:custDataLst>
            </p:nvPr>
          </p:nvPicPr>
          <p:blipFill>
            <a:blip r:embed="rId47"/>
            <a:srcRect/>
            <a:stretch>
              <a:fillRect/>
            </a:stretch>
          </p:blipFill>
          <p:spPr bwMode="auto">
            <a:xfrm>
              <a:off x="7667625" y="2286000"/>
              <a:ext cx="882650" cy="950913"/>
            </a:xfrm>
            <a:prstGeom prst="rect">
              <a:avLst/>
            </a:prstGeom>
            <a:noFill/>
            <a:ln w="9525">
              <a:noFill/>
              <a:miter lim="800000"/>
              <a:headEnd/>
              <a:tailEnd/>
            </a:ln>
          </p:spPr>
        </p:pic>
        <p:sp>
          <p:nvSpPr>
            <p:cNvPr id="83" name="AutoShape 132"/>
            <p:cNvSpPr>
              <a:spLocks noChangeArrowheads="1"/>
            </p:cNvSpPr>
            <p:nvPr>
              <p:custDataLst>
                <p:tags r:id="rId20"/>
              </p:custDataLst>
            </p:nvPr>
          </p:nvSpPr>
          <p:spPr bwMode="auto">
            <a:xfrm>
              <a:off x="6708775" y="1862138"/>
              <a:ext cx="538163" cy="495300"/>
            </a:xfrm>
            <a:prstGeom prst="cube">
              <a:avLst>
                <a:gd name="adj" fmla="val 16208"/>
              </a:avLst>
            </a:prstGeom>
            <a:solidFill>
              <a:srgbClr val="C0C0C0"/>
            </a:solidFill>
            <a:ln w="9525">
              <a:solidFill>
                <a:srgbClr val="808000"/>
              </a:solidFill>
              <a:miter lim="800000"/>
              <a:headEnd/>
              <a:tailEnd/>
            </a:ln>
          </p:spPr>
          <p:txBody>
            <a:bodyPr wrap="none" anchor="ctr"/>
            <a:lstStyle/>
            <a:p>
              <a:pPr algn="ctr" eaLnBrk="0" hangingPunct="0"/>
              <a:endParaRPr lang="pt-BR">
                <a:latin typeface="Calibri" pitchFamily="34" charset="0"/>
              </a:endParaRPr>
            </a:p>
          </p:txBody>
        </p:sp>
        <p:grpSp>
          <p:nvGrpSpPr>
            <p:cNvPr id="84" name="Group 133"/>
            <p:cNvGrpSpPr>
              <a:grpSpLocks/>
            </p:cNvGrpSpPr>
            <p:nvPr>
              <p:custDataLst>
                <p:tags r:id="rId21"/>
              </p:custDataLst>
            </p:nvPr>
          </p:nvGrpSpPr>
          <p:grpSpPr bwMode="auto">
            <a:xfrm>
              <a:off x="630239" y="887413"/>
              <a:ext cx="3170238" cy="2362200"/>
              <a:chOff x="397" y="559"/>
              <a:chExt cx="1997" cy="1488"/>
            </a:xfrm>
          </p:grpSpPr>
          <p:sp>
            <p:nvSpPr>
              <p:cNvPr id="107" name="Freeform 134"/>
              <p:cNvSpPr>
                <a:spLocks/>
              </p:cNvSpPr>
              <p:nvPr>
                <p:custDataLst>
                  <p:tags r:id="rId36"/>
                </p:custDataLst>
              </p:nvPr>
            </p:nvSpPr>
            <p:spPr bwMode="auto">
              <a:xfrm>
                <a:off x="782" y="989"/>
                <a:ext cx="480" cy="240"/>
              </a:xfrm>
              <a:custGeom>
                <a:avLst/>
                <a:gdLst>
                  <a:gd name="T0" fmla="*/ 480 w 480"/>
                  <a:gd name="T1" fmla="*/ 1 h 336"/>
                  <a:gd name="T2" fmla="*/ 336 w 480"/>
                  <a:gd name="T3" fmla="*/ 1 h 336"/>
                  <a:gd name="T4" fmla="*/ 336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108" name="Freeform 135"/>
              <p:cNvSpPr>
                <a:spLocks/>
              </p:cNvSpPr>
              <p:nvPr>
                <p:custDataLst>
                  <p:tags r:id="rId37"/>
                </p:custDataLst>
              </p:nvPr>
            </p:nvSpPr>
            <p:spPr bwMode="auto">
              <a:xfrm flipV="1">
                <a:off x="782" y="1421"/>
                <a:ext cx="480" cy="240"/>
              </a:xfrm>
              <a:custGeom>
                <a:avLst/>
                <a:gdLst>
                  <a:gd name="T0" fmla="*/ 480 w 480"/>
                  <a:gd name="T1" fmla="*/ 1 h 336"/>
                  <a:gd name="T2" fmla="*/ 336 w 480"/>
                  <a:gd name="T3" fmla="*/ 1 h 336"/>
                  <a:gd name="T4" fmla="*/ 336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109" name="Freeform 136"/>
              <p:cNvSpPr>
                <a:spLocks/>
              </p:cNvSpPr>
              <p:nvPr>
                <p:custDataLst>
                  <p:tags r:id="rId38"/>
                </p:custDataLst>
              </p:nvPr>
            </p:nvSpPr>
            <p:spPr bwMode="auto">
              <a:xfrm flipH="1">
                <a:off x="1550" y="989"/>
                <a:ext cx="480" cy="240"/>
              </a:xfrm>
              <a:custGeom>
                <a:avLst/>
                <a:gdLst>
                  <a:gd name="T0" fmla="*/ 480 w 480"/>
                  <a:gd name="T1" fmla="*/ 1 h 336"/>
                  <a:gd name="T2" fmla="*/ 336 w 480"/>
                  <a:gd name="T3" fmla="*/ 1 h 336"/>
                  <a:gd name="T4" fmla="*/ 336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110" name="Freeform 137"/>
              <p:cNvSpPr>
                <a:spLocks/>
              </p:cNvSpPr>
              <p:nvPr>
                <p:custDataLst>
                  <p:tags r:id="rId39"/>
                </p:custDataLst>
              </p:nvPr>
            </p:nvSpPr>
            <p:spPr bwMode="auto">
              <a:xfrm flipH="1" flipV="1">
                <a:off x="1550" y="1421"/>
                <a:ext cx="480" cy="240"/>
              </a:xfrm>
              <a:custGeom>
                <a:avLst/>
                <a:gdLst>
                  <a:gd name="T0" fmla="*/ 480 w 480"/>
                  <a:gd name="T1" fmla="*/ 1 h 336"/>
                  <a:gd name="T2" fmla="*/ 336 w 480"/>
                  <a:gd name="T3" fmla="*/ 1 h 336"/>
                  <a:gd name="T4" fmla="*/ 336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pic>
            <p:nvPicPr>
              <p:cNvPr id="111" name="Picture 138" descr="Computer1"/>
              <p:cNvPicPr>
                <a:picLocks noChangeAspect="1" noChangeArrowheads="1"/>
              </p:cNvPicPr>
              <p:nvPr>
                <p:custDataLst>
                  <p:tags r:id="rId40"/>
                </p:custDataLst>
              </p:nvPr>
            </p:nvPicPr>
            <p:blipFill>
              <a:blip r:embed="rId46"/>
              <a:srcRect/>
              <a:stretch>
                <a:fillRect/>
              </a:stretch>
            </p:blipFill>
            <p:spPr bwMode="auto">
              <a:xfrm>
                <a:off x="397" y="559"/>
                <a:ext cx="573" cy="625"/>
              </a:xfrm>
              <a:prstGeom prst="rect">
                <a:avLst/>
              </a:prstGeom>
              <a:noFill/>
              <a:ln w="9525">
                <a:noFill/>
                <a:miter lim="800000"/>
                <a:headEnd/>
                <a:tailEnd/>
              </a:ln>
            </p:spPr>
          </p:pic>
          <p:pic>
            <p:nvPicPr>
              <p:cNvPr id="112" name="Picture 139" descr="Computer1"/>
              <p:cNvPicPr>
                <a:picLocks noChangeAspect="1" noChangeArrowheads="1"/>
              </p:cNvPicPr>
              <p:nvPr>
                <p:custDataLst>
                  <p:tags r:id="rId41"/>
                </p:custDataLst>
              </p:nvPr>
            </p:nvPicPr>
            <p:blipFill>
              <a:blip r:embed="rId46"/>
              <a:srcRect/>
              <a:stretch>
                <a:fillRect/>
              </a:stretch>
            </p:blipFill>
            <p:spPr bwMode="auto">
              <a:xfrm>
                <a:off x="397" y="1422"/>
                <a:ext cx="573" cy="625"/>
              </a:xfrm>
              <a:prstGeom prst="rect">
                <a:avLst/>
              </a:prstGeom>
              <a:noFill/>
              <a:ln w="9525">
                <a:noFill/>
                <a:miter lim="800000"/>
                <a:headEnd/>
                <a:tailEnd/>
              </a:ln>
            </p:spPr>
          </p:pic>
          <p:pic>
            <p:nvPicPr>
              <p:cNvPr id="113" name="Picture 140" descr="Computer2"/>
              <p:cNvPicPr>
                <a:picLocks noChangeAspect="1" noChangeArrowheads="1"/>
              </p:cNvPicPr>
              <p:nvPr>
                <p:custDataLst>
                  <p:tags r:id="rId42"/>
                </p:custDataLst>
              </p:nvPr>
            </p:nvPicPr>
            <p:blipFill>
              <a:blip r:embed="rId47"/>
              <a:srcRect/>
              <a:stretch>
                <a:fillRect/>
              </a:stretch>
            </p:blipFill>
            <p:spPr bwMode="auto">
              <a:xfrm>
                <a:off x="1838" y="582"/>
                <a:ext cx="556" cy="602"/>
              </a:xfrm>
              <a:prstGeom prst="rect">
                <a:avLst/>
              </a:prstGeom>
              <a:noFill/>
              <a:ln w="9525">
                <a:noFill/>
                <a:miter lim="800000"/>
                <a:headEnd/>
                <a:tailEnd/>
              </a:ln>
            </p:spPr>
          </p:pic>
          <p:pic>
            <p:nvPicPr>
              <p:cNvPr id="114" name="Picture 141" descr="Computer2"/>
              <p:cNvPicPr>
                <a:picLocks noChangeAspect="1" noChangeArrowheads="1"/>
              </p:cNvPicPr>
              <p:nvPr>
                <p:custDataLst>
                  <p:tags r:id="rId43"/>
                </p:custDataLst>
              </p:nvPr>
            </p:nvPicPr>
            <p:blipFill>
              <a:blip r:embed="rId47"/>
              <a:srcRect/>
              <a:stretch>
                <a:fillRect/>
              </a:stretch>
            </p:blipFill>
            <p:spPr bwMode="auto">
              <a:xfrm>
                <a:off x="1838" y="1445"/>
                <a:ext cx="556" cy="602"/>
              </a:xfrm>
              <a:prstGeom prst="rect">
                <a:avLst/>
              </a:prstGeom>
              <a:noFill/>
              <a:ln w="9525">
                <a:noFill/>
                <a:miter lim="800000"/>
                <a:headEnd/>
                <a:tailEnd/>
              </a:ln>
            </p:spPr>
          </p:pic>
        </p:grpSp>
        <p:sp>
          <p:nvSpPr>
            <p:cNvPr id="85" name="Freeform 143"/>
            <p:cNvSpPr>
              <a:spLocks/>
            </p:cNvSpPr>
            <p:nvPr>
              <p:custDataLst>
                <p:tags r:id="rId22"/>
              </p:custDataLst>
            </p:nvPr>
          </p:nvSpPr>
          <p:spPr bwMode="auto">
            <a:xfrm>
              <a:off x="5991225" y="4732338"/>
              <a:ext cx="762000" cy="381000"/>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86" name="Freeform 144"/>
            <p:cNvSpPr>
              <a:spLocks/>
            </p:cNvSpPr>
            <p:nvPr>
              <p:custDataLst>
                <p:tags r:id="rId23"/>
              </p:custDataLst>
            </p:nvPr>
          </p:nvSpPr>
          <p:spPr bwMode="auto">
            <a:xfrm flipV="1">
              <a:off x="5991225" y="5418138"/>
              <a:ext cx="762000" cy="381000"/>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87" name="Freeform 145"/>
            <p:cNvSpPr>
              <a:spLocks/>
            </p:cNvSpPr>
            <p:nvPr>
              <p:custDataLst>
                <p:tags r:id="rId24"/>
              </p:custDataLst>
            </p:nvPr>
          </p:nvSpPr>
          <p:spPr bwMode="auto">
            <a:xfrm flipH="1">
              <a:off x="7210425" y="4732338"/>
              <a:ext cx="762000" cy="381000"/>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sp>
          <p:nvSpPr>
            <p:cNvPr id="88" name="Freeform 146"/>
            <p:cNvSpPr>
              <a:spLocks/>
            </p:cNvSpPr>
            <p:nvPr>
              <p:custDataLst>
                <p:tags r:id="rId25"/>
              </p:custDataLst>
            </p:nvPr>
          </p:nvSpPr>
          <p:spPr bwMode="auto">
            <a:xfrm flipH="1" flipV="1">
              <a:off x="7210425" y="5418138"/>
              <a:ext cx="762000" cy="381000"/>
            </a:xfrm>
            <a:custGeom>
              <a:avLst/>
              <a:gdLst>
                <a:gd name="T0" fmla="*/ 2147483647 w 480"/>
                <a:gd name="T1" fmla="*/ 2147483647 h 336"/>
                <a:gd name="T2" fmla="*/ 2147483647 w 480"/>
                <a:gd name="T3" fmla="*/ 2147483647 h 336"/>
                <a:gd name="T4" fmla="*/ 2147483647 w 480"/>
                <a:gd name="T5" fmla="*/ 0 h 336"/>
                <a:gd name="T6" fmla="*/ 0 w 480"/>
                <a:gd name="T7" fmla="*/ 0 h 336"/>
                <a:gd name="T8" fmla="*/ 0 60000 65536"/>
                <a:gd name="T9" fmla="*/ 0 60000 65536"/>
                <a:gd name="T10" fmla="*/ 0 60000 65536"/>
                <a:gd name="T11" fmla="*/ 0 60000 65536"/>
                <a:gd name="T12" fmla="*/ 0 w 480"/>
                <a:gd name="T13" fmla="*/ 0 h 336"/>
                <a:gd name="T14" fmla="*/ 480 w 480"/>
                <a:gd name="T15" fmla="*/ 336 h 336"/>
              </a:gdLst>
              <a:ahLst/>
              <a:cxnLst>
                <a:cxn ang="T8">
                  <a:pos x="T0" y="T1"/>
                </a:cxn>
                <a:cxn ang="T9">
                  <a:pos x="T2" y="T3"/>
                </a:cxn>
                <a:cxn ang="T10">
                  <a:pos x="T4" y="T5"/>
                </a:cxn>
                <a:cxn ang="T11">
                  <a:pos x="T6" y="T7"/>
                </a:cxn>
              </a:cxnLst>
              <a:rect l="T12" t="T13" r="T14" b="T15"/>
              <a:pathLst>
                <a:path w="480" h="336">
                  <a:moveTo>
                    <a:pt x="480" y="336"/>
                  </a:moveTo>
                  <a:lnTo>
                    <a:pt x="336" y="336"/>
                  </a:lnTo>
                  <a:lnTo>
                    <a:pt x="336" y="0"/>
                  </a:lnTo>
                  <a:lnTo>
                    <a:pt x="0" y="0"/>
                  </a:lnTo>
                </a:path>
              </a:pathLst>
            </a:custGeom>
            <a:noFill/>
            <a:ln w="38100">
              <a:solidFill>
                <a:schemeClr val="tx1"/>
              </a:solidFill>
              <a:round/>
              <a:headEnd/>
              <a:tailEnd/>
            </a:ln>
          </p:spPr>
          <p:txBody>
            <a:bodyPr wrap="none" anchor="ctr"/>
            <a:lstStyle/>
            <a:p>
              <a:endParaRPr lang="pt-BR">
                <a:latin typeface="Calibri" pitchFamily="34" charset="0"/>
              </a:endParaRPr>
            </a:p>
          </p:txBody>
        </p:sp>
        <p:pic>
          <p:nvPicPr>
            <p:cNvPr id="89" name="Picture 147" descr="Computer1"/>
            <p:cNvPicPr>
              <a:picLocks noChangeAspect="1" noChangeArrowheads="1"/>
            </p:cNvPicPr>
            <p:nvPr>
              <p:custDataLst>
                <p:tags r:id="rId26"/>
              </p:custDataLst>
            </p:nvPr>
          </p:nvPicPr>
          <p:blipFill>
            <a:blip r:embed="rId46"/>
            <a:srcRect/>
            <a:stretch>
              <a:fillRect/>
            </a:stretch>
          </p:blipFill>
          <p:spPr bwMode="auto">
            <a:xfrm>
              <a:off x="5380038" y="4049713"/>
              <a:ext cx="909637" cy="992187"/>
            </a:xfrm>
            <a:prstGeom prst="rect">
              <a:avLst/>
            </a:prstGeom>
            <a:noFill/>
            <a:ln w="9525">
              <a:noFill/>
              <a:miter lim="800000"/>
              <a:headEnd/>
              <a:tailEnd/>
            </a:ln>
          </p:spPr>
        </p:pic>
        <p:pic>
          <p:nvPicPr>
            <p:cNvPr id="90" name="Picture 148" descr="Computer1"/>
            <p:cNvPicPr>
              <a:picLocks noChangeAspect="1" noChangeArrowheads="1"/>
            </p:cNvPicPr>
            <p:nvPr>
              <p:custDataLst>
                <p:tags r:id="rId27"/>
              </p:custDataLst>
            </p:nvPr>
          </p:nvPicPr>
          <p:blipFill>
            <a:blip r:embed="rId46"/>
            <a:srcRect/>
            <a:stretch>
              <a:fillRect/>
            </a:stretch>
          </p:blipFill>
          <p:spPr bwMode="auto">
            <a:xfrm>
              <a:off x="5380038" y="5419725"/>
              <a:ext cx="909637" cy="992188"/>
            </a:xfrm>
            <a:prstGeom prst="rect">
              <a:avLst/>
            </a:prstGeom>
            <a:noFill/>
            <a:ln w="9525">
              <a:noFill/>
              <a:miter lim="800000"/>
              <a:headEnd/>
              <a:tailEnd/>
            </a:ln>
          </p:spPr>
        </p:pic>
        <p:pic>
          <p:nvPicPr>
            <p:cNvPr id="91" name="Picture 149" descr="Computer2"/>
            <p:cNvPicPr>
              <a:picLocks noChangeAspect="1" noChangeArrowheads="1"/>
            </p:cNvPicPr>
            <p:nvPr>
              <p:custDataLst>
                <p:tags r:id="rId28"/>
              </p:custDataLst>
            </p:nvPr>
          </p:nvPicPr>
          <p:blipFill>
            <a:blip r:embed="rId47"/>
            <a:srcRect/>
            <a:stretch>
              <a:fillRect/>
            </a:stretch>
          </p:blipFill>
          <p:spPr bwMode="auto">
            <a:xfrm>
              <a:off x="7667625" y="4086225"/>
              <a:ext cx="882650" cy="955675"/>
            </a:xfrm>
            <a:prstGeom prst="rect">
              <a:avLst/>
            </a:prstGeom>
            <a:noFill/>
            <a:ln w="9525">
              <a:noFill/>
              <a:miter lim="800000"/>
              <a:headEnd/>
              <a:tailEnd/>
            </a:ln>
          </p:spPr>
        </p:pic>
        <p:pic>
          <p:nvPicPr>
            <p:cNvPr id="92" name="Picture 150" descr="Computer2"/>
            <p:cNvPicPr>
              <a:picLocks noChangeAspect="1" noChangeArrowheads="1"/>
            </p:cNvPicPr>
            <p:nvPr>
              <p:custDataLst>
                <p:tags r:id="rId29"/>
              </p:custDataLst>
            </p:nvPr>
          </p:nvPicPr>
          <p:blipFill>
            <a:blip r:embed="rId47"/>
            <a:srcRect/>
            <a:stretch>
              <a:fillRect/>
            </a:stretch>
          </p:blipFill>
          <p:spPr bwMode="auto">
            <a:xfrm>
              <a:off x="7667625" y="5456238"/>
              <a:ext cx="882650" cy="955675"/>
            </a:xfrm>
            <a:prstGeom prst="rect">
              <a:avLst/>
            </a:prstGeom>
            <a:noFill/>
            <a:ln w="9525">
              <a:noFill/>
              <a:miter lim="800000"/>
              <a:headEnd/>
              <a:tailEnd/>
            </a:ln>
          </p:spPr>
        </p:pic>
        <p:grpSp>
          <p:nvGrpSpPr>
            <p:cNvPr id="93" name="Group 170"/>
            <p:cNvGrpSpPr>
              <a:grpSpLocks/>
            </p:cNvGrpSpPr>
            <p:nvPr/>
          </p:nvGrpSpPr>
          <p:grpSpPr bwMode="auto">
            <a:xfrm>
              <a:off x="1317625" y="2260600"/>
              <a:ext cx="684213" cy="517525"/>
              <a:chOff x="830" y="1424"/>
              <a:chExt cx="431" cy="326"/>
            </a:xfrm>
          </p:grpSpPr>
          <p:sp>
            <p:nvSpPr>
              <p:cNvPr id="105" name="Freeform 153"/>
              <p:cNvSpPr>
                <a:spLocks/>
              </p:cNvSpPr>
              <p:nvPr>
                <p:custDataLst>
                  <p:tags r:id="rId34"/>
                </p:custDataLst>
              </p:nvPr>
            </p:nvSpPr>
            <p:spPr bwMode="auto">
              <a:xfrm>
                <a:off x="915" y="1424"/>
                <a:ext cx="346" cy="238"/>
              </a:xfrm>
              <a:custGeom>
                <a:avLst/>
                <a:gdLst>
                  <a:gd name="T0" fmla="*/ 0 w 262"/>
                  <a:gd name="T1" fmla="*/ 238 h 238"/>
                  <a:gd name="T2" fmla="*/ 13152 w 262"/>
                  <a:gd name="T3" fmla="*/ 238 h 238"/>
                  <a:gd name="T4" fmla="*/ 13152 w 262"/>
                  <a:gd name="T5" fmla="*/ 0 h 238"/>
                  <a:gd name="T6" fmla="*/ 22454 w 262"/>
                  <a:gd name="T7" fmla="*/ 0 h 238"/>
                  <a:gd name="T8" fmla="*/ 0 60000 65536"/>
                  <a:gd name="T9" fmla="*/ 0 60000 65536"/>
                  <a:gd name="T10" fmla="*/ 0 60000 65536"/>
                  <a:gd name="T11" fmla="*/ 0 60000 65536"/>
                  <a:gd name="T12" fmla="*/ 0 w 262"/>
                  <a:gd name="T13" fmla="*/ 0 h 238"/>
                  <a:gd name="T14" fmla="*/ 262 w 262"/>
                  <a:gd name="T15" fmla="*/ 238 h 238"/>
                </a:gdLst>
                <a:ahLst/>
                <a:cxnLst>
                  <a:cxn ang="T8">
                    <a:pos x="T0" y="T1"/>
                  </a:cxn>
                  <a:cxn ang="T9">
                    <a:pos x="T2" y="T3"/>
                  </a:cxn>
                  <a:cxn ang="T10">
                    <a:pos x="T4" y="T5"/>
                  </a:cxn>
                  <a:cxn ang="T11">
                    <a:pos x="T6" y="T7"/>
                  </a:cxn>
                </a:cxnLst>
                <a:rect l="T12" t="T13" r="T14" b="T15"/>
                <a:pathLst>
                  <a:path w="262" h="238">
                    <a:moveTo>
                      <a:pt x="0" y="238"/>
                    </a:moveTo>
                    <a:lnTo>
                      <a:pt x="154" y="238"/>
                    </a:lnTo>
                    <a:lnTo>
                      <a:pt x="154" y="0"/>
                    </a:lnTo>
                    <a:lnTo>
                      <a:pt x="262" y="0"/>
                    </a:lnTo>
                  </a:path>
                </a:pathLst>
              </a:custGeom>
              <a:noFill/>
              <a:ln w="76200">
                <a:solidFill>
                  <a:srgbClr val="D60093"/>
                </a:solidFill>
                <a:round/>
                <a:headEnd/>
                <a:tailEnd/>
              </a:ln>
            </p:spPr>
            <p:txBody>
              <a:bodyPr wrap="none" anchor="ctr"/>
              <a:lstStyle/>
              <a:p>
                <a:endParaRPr lang="pt-BR">
                  <a:latin typeface="Calibri" pitchFamily="34" charset="0"/>
                </a:endParaRPr>
              </a:p>
            </p:txBody>
          </p:sp>
          <p:sp>
            <p:nvSpPr>
              <p:cNvPr id="106" name="AutoShape 154"/>
              <p:cNvSpPr>
                <a:spLocks noChangeArrowheads="1"/>
              </p:cNvSpPr>
              <p:nvPr>
                <p:custDataLst>
                  <p:tags r:id="rId35"/>
                </p:custDataLst>
              </p:nvPr>
            </p:nvSpPr>
            <p:spPr bwMode="auto">
              <a:xfrm>
                <a:off x="830" y="1550"/>
                <a:ext cx="257" cy="200"/>
              </a:xfrm>
              <a:prstGeom prst="rightArrow">
                <a:avLst>
                  <a:gd name="adj1" fmla="val 49741"/>
                  <a:gd name="adj2" fmla="val 72745"/>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28398" dir="3806097" algn="ctr" rotWithShape="0">
                  <a:srgbClr val="C0C0C0"/>
                </a:outerShdw>
              </a:effectLst>
            </p:spPr>
            <p:txBody>
              <a:bodyPr wrap="none" tIns="27432" bIns="27432" anchor="ctr"/>
              <a:lstStyle/>
              <a:p>
                <a:pPr fontAlgn="auto">
                  <a:spcBef>
                    <a:spcPts val="0"/>
                  </a:spcBef>
                  <a:spcAft>
                    <a:spcPts val="0"/>
                  </a:spcAft>
                  <a:defRPr/>
                </a:pPr>
                <a:endParaRPr lang="pt-BR">
                  <a:latin typeface="+mn-lt"/>
                </a:endParaRPr>
              </a:p>
            </p:txBody>
          </p:sp>
        </p:grpSp>
        <p:sp>
          <p:nvSpPr>
            <p:cNvPr id="94" name="AutoShape 156"/>
            <p:cNvSpPr>
              <a:spLocks noChangeArrowheads="1"/>
            </p:cNvSpPr>
            <p:nvPr>
              <p:custDataLst>
                <p:tags r:id="rId30"/>
              </p:custDataLst>
            </p:nvPr>
          </p:nvSpPr>
          <p:spPr bwMode="auto">
            <a:xfrm>
              <a:off x="1958975" y="1866900"/>
              <a:ext cx="538163" cy="498475"/>
            </a:xfrm>
            <a:prstGeom prst="cube">
              <a:avLst>
                <a:gd name="adj" fmla="val 16208"/>
              </a:avLst>
            </a:prstGeom>
            <a:solidFill>
              <a:srgbClr val="C0C0C0"/>
            </a:solidFill>
            <a:ln w="9525">
              <a:solidFill>
                <a:srgbClr val="808000"/>
              </a:solidFill>
              <a:miter lim="800000"/>
              <a:headEnd/>
              <a:tailEnd/>
            </a:ln>
          </p:spPr>
          <p:txBody>
            <a:bodyPr wrap="none" anchor="ctr"/>
            <a:lstStyle/>
            <a:p>
              <a:pPr algn="ctr" eaLnBrk="0" hangingPunct="0"/>
              <a:endParaRPr lang="pt-BR">
                <a:latin typeface="Calibri" pitchFamily="34" charset="0"/>
              </a:endParaRPr>
            </a:p>
          </p:txBody>
        </p:sp>
        <p:sp>
          <p:nvSpPr>
            <p:cNvPr id="95" name="AutoShape 157"/>
            <p:cNvSpPr>
              <a:spLocks noChangeArrowheads="1"/>
            </p:cNvSpPr>
            <p:nvPr>
              <p:custDataLst>
                <p:tags r:id="rId31"/>
              </p:custDataLst>
            </p:nvPr>
          </p:nvSpPr>
          <p:spPr bwMode="auto">
            <a:xfrm>
              <a:off x="6708775" y="5029200"/>
              <a:ext cx="538163" cy="498475"/>
            </a:xfrm>
            <a:prstGeom prst="cube">
              <a:avLst>
                <a:gd name="adj" fmla="val 16208"/>
              </a:avLst>
            </a:prstGeom>
            <a:solidFill>
              <a:srgbClr val="C0C0C0"/>
            </a:solidFill>
            <a:ln w="9525">
              <a:solidFill>
                <a:srgbClr val="808000"/>
              </a:solidFill>
              <a:miter lim="800000"/>
              <a:headEnd/>
              <a:tailEnd/>
            </a:ln>
          </p:spPr>
          <p:txBody>
            <a:bodyPr wrap="none" anchor="ctr"/>
            <a:lstStyle/>
            <a:p>
              <a:pPr algn="ctr" eaLnBrk="0" hangingPunct="0"/>
              <a:endParaRPr lang="pt-BR">
                <a:latin typeface="Calibri" pitchFamily="34" charset="0"/>
              </a:endParaRPr>
            </a:p>
          </p:txBody>
        </p:sp>
        <p:grpSp>
          <p:nvGrpSpPr>
            <p:cNvPr id="96" name="Group 171"/>
            <p:cNvGrpSpPr>
              <a:grpSpLocks/>
            </p:cNvGrpSpPr>
            <p:nvPr/>
          </p:nvGrpSpPr>
          <p:grpSpPr bwMode="auto">
            <a:xfrm>
              <a:off x="7205663" y="4591050"/>
              <a:ext cx="773112" cy="549275"/>
              <a:chOff x="4539" y="2892"/>
              <a:chExt cx="487" cy="346"/>
            </a:xfrm>
          </p:grpSpPr>
          <p:sp>
            <p:nvSpPr>
              <p:cNvPr id="103" name="Freeform 160"/>
              <p:cNvSpPr>
                <a:spLocks/>
              </p:cNvSpPr>
              <p:nvPr>
                <p:custDataLst>
                  <p:tags r:id="rId32"/>
                </p:custDataLst>
              </p:nvPr>
            </p:nvSpPr>
            <p:spPr bwMode="auto">
              <a:xfrm>
                <a:off x="4539" y="2984"/>
                <a:ext cx="331" cy="254"/>
              </a:xfrm>
              <a:custGeom>
                <a:avLst/>
                <a:gdLst>
                  <a:gd name="T0" fmla="*/ 0 w 300"/>
                  <a:gd name="T1" fmla="*/ 254 h 254"/>
                  <a:gd name="T2" fmla="*/ 624 w 300"/>
                  <a:gd name="T3" fmla="*/ 254 h 254"/>
                  <a:gd name="T4" fmla="*/ 624 w 300"/>
                  <a:gd name="T5" fmla="*/ 0 h 254"/>
                  <a:gd name="T6" fmla="*/ 1449 w 300"/>
                  <a:gd name="T7" fmla="*/ 0 h 254"/>
                  <a:gd name="T8" fmla="*/ 0 60000 65536"/>
                  <a:gd name="T9" fmla="*/ 0 60000 65536"/>
                  <a:gd name="T10" fmla="*/ 0 60000 65536"/>
                  <a:gd name="T11" fmla="*/ 0 60000 65536"/>
                  <a:gd name="T12" fmla="*/ 0 w 300"/>
                  <a:gd name="T13" fmla="*/ 0 h 254"/>
                  <a:gd name="T14" fmla="*/ 300 w 300"/>
                  <a:gd name="T15" fmla="*/ 254 h 254"/>
                </a:gdLst>
                <a:ahLst/>
                <a:cxnLst>
                  <a:cxn ang="T8">
                    <a:pos x="T0" y="T1"/>
                  </a:cxn>
                  <a:cxn ang="T9">
                    <a:pos x="T2" y="T3"/>
                  </a:cxn>
                  <a:cxn ang="T10">
                    <a:pos x="T4" y="T5"/>
                  </a:cxn>
                  <a:cxn ang="T11">
                    <a:pos x="T6" y="T7"/>
                  </a:cxn>
                </a:cxnLst>
                <a:rect l="T12" t="T13" r="T14" b="T15"/>
                <a:pathLst>
                  <a:path w="300" h="254">
                    <a:moveTo>
                      <a:pt x="0" y="254"/>
                    </a:moveTo>
                    <a:lnTo>
                      <a:pt x="130" y="254"/>
                    </a:lnTo>
                    <a:lnTo>
                      <a:pt x="130" y="0"/>
                    </a:lnTo>
                    <a:lnTo>
                      <a:pt x="300" y="0"/>
                    </a:lnTo>
                  </a:path>
                </a:pathLst>
              </a:custGeom>
              <a:noFill/>
              <a:ln w="76200">
                <a:solidFill>
                  <a:srgbClr val="D60093"/>
                </a:solidFill>
                <a:round/>
                <a:headEnd/>
                <a:tailEnd/>
              </a:ln>
            </p:spPr>
            <p:txBody>
              <a:bodyPr wrap="none" anchor="ctr"/>
              <a:lstStyle/>
              <a:p>
                <a:endParaRPr lang="pt-BR">
                  <a:latin typeface="Calibri" pitchFamily="34" charset="0"/>
                </a:endParaRPr>
              </a:p>
            </p:txBody>
          </p:sp>
          <p:sp>
            <p:nvSpPr>
              <p:cNvPr id="104" name="AutoShape 161"/>
              <p:cNvSpPr>
                <a:spLocks noChangeArrowheads="1"/>
              </p:cNvSpPr>
              <p:nvPr>
                <p:custDataLst>
                  <p:tags r:id="rId33"/>
                </p:custDataLst>
              </p:nvPr>
            </p:nvSpPr>
            <p:spPr bwMode="auto">
              <a:xfrm>
                <a:off x="4769" y="2892"/>
                <a:ext cx="257" cy="199"/>
              </a:xfrm>
              <a:prstGeom prst="rightArrow">
                <a:avLst>
                  <a:gd name="adj1" fmla="val 49741"/>
                  <a:gd name="adj2" fmla="val 72745"/>
                </a:avLst>
              </a:prstGeom>
              <a:gradFill rotWithShape="0">
                <a:gsLst>
                  <a:gs pos="0">
                    <a:srgbClr val="D20091"/>
                  </a:gs>
                  <a:gs pos="100000">
                    <a:srgbClr val="D20091">
                      <a:gamma/>
                      <a:tint val="47451"/>
                      <a:invGamma/>
                    </a:srgbClr>
                  </a:gs>
                </a:gsLst>
                <a:lin ang="0" scaled="1"/>
              </a:gradFill>
              <a:ln w="6350">
                <a:solidFill>
                  <a:srgbClr val="800080"/>
                </a:solidFill>
                <a:miter lim="800000"/>
                <a:headEnd/>
                <a:tailEnd/>
              </a:ln>
              <a:effectLst>
                <a:outerShdw dist="45791" dir="3378596" algn="ctr" rotWithShape="0">
                  <a:srgbClr val="C0C0C0"/>
                </a:outerShdw>
              </a:effectLst>
            </p:spPr>
            <p:txBody>
              <a:bodyPr wrap="none" tIns="27432" bIns="27432" anchor="ctr"/>
              <a:lstStyle/>
              <a:p>
                <a:pPr fontAlgn="auto">
                  <a:spcBef>
                    <a:spcPts val="0"/>
                  </a:spcBef>
                  <a:spcAft>
                    <a:spcPts val="0"/>
                  </a:spcAft>
                  <a:defRPr/>
                </a:pPr>
                <a:endParaRPr lang="pt-BR">
                  <a:latin typeface="+mn-lt"/>
                </a:endParaRPr>
              </a:p>
            </p:txBody>
          </p:sp>
        </p:grpSp>
        <p:sp>
          <p:nvSpPr>
            <p:cNvPr id="97" name="Line 162"/>
            <p:cNvSpPr>
              <a:spLocks noChangeShapeType="1"/>
            </p:cNvSpPr>
            <p:nvPr/>
          </p:nvSpPr>
          <p:spPr bwMode="auto">
            <a:xfrm>
              <a:off x="2478088" y="2112963"/>
              <a:ext cx="1636712" cy="0"/>
            </a:xfrm>
            <a:prstGeom prst="line">
              <a:avLst/>
            </a:prstGeom>
            <a:noFill/>
            <a:ln w="76200">
              <a:solidFill>
                <a:srgbClr val="D60093"/>
              </a:solidFill>
              <a:round/>
              <a:headEnd/>
              <a:tailEnd type="triangle" w="med" len="med"/>
            </a:ln>
          </p:spPr>
          <p:txBody>
            <a:bodyPr wrap="none" anchor="ctr"/>
            <a:lstStyle/>
            <a:p>
              <a:endParaRPr lang="pt-BR"/>
            </a:p>
          </p:txBody>
        </p:sp>
        <p:sp>
          <p:nvSpPr>
            <p:cNvPr id="98" name="Line 163"/>
            <p:cNvSpPr>
              <a:spLocks noChangeShapeType="1"/>
            </p:cNvSpPr>
            <p:nvPr/>
          </p:nvSpPr>
          <p:spPr bwMode="auto">
            <a:xfrm>
              <a:off x="4614863" y="2441575"/>
              <a:ext cx="0" cy="1050925"/>
            </a:xfrm>
            <a:prstGeom prst="line">
              <a:avLst/>
            </a:prstGeom>
            <a:noFill/>
            <a:ln w="38100">
              <a:solidFill>
                <a:schemeClr val="tx1"/>
              </a:solidFill>
              <a:round/>
              <a:headEnd/>
              <a:tailEnd/>
            </a:ln>
          </p:spPr>
          <p:txBody>
            <a:bodyPr wrap="none" anchor="ctr"/>
            <a:lstStyle/>
            <a:p>
              <a:endParaRPr lang="pt-BR"/>
            </a:p>
          </p:txBody>
        </p:sp>
        <p:sp>
          <p:nvSpPr>
            <p:cNvPr id="99" name="AutoShape 167"/>
            <p:cNvSpPr>
              <a:spLocks noChangeArrowheads="1"/>
            </p:cNvSpPr>
            <p:nvPr/>
          </p:nvSpPr>
          <p:spPr bwMode="auto">
            <a:xfrm>
              <a:off x="4092575" y="1793875"/>
              <a:ext cx="1208088" cy="671513"/>
            </a:xfrm>
            <a:prstGeom prst="cube">
              <a:avLst>
                <a:gd name="adj" fmla="val 31505"/>
              </a:avLst>
            </a:prstGeom>
            <a:solidFill>
              <a:srgbClr val="CCFFFF"/>
            </a:solidFill>
            <a:ln w="9525">
              <a:solidFill>
                <a:schemeClr val="tx1"/>
              </a:solidFill>
              <a:miter lim="800000"/>
              <a:headEnd/>
              <a:tailEnd/>
            </a:ln>
          </p:spPr>
          <p:txBody>
            <a:bodyPr wrap="none" anchor="ctr"/>
            <a:lstStyle/>
            <a:p>
              <a:pPr algn="ctr" eaLnBrk="0" hangingPunct="0"/>
              <a:r>
                <a:rPr lang="pt-BR">
                  <a:solidFill>
                    <a:srgbClr val="000000"/>
                  </a:solidFill>
                  <a:latin typeface="Calibri" pitchFamily="34" charset="0"/>
                </a:rPr>
                <a:t>Roteador</a:t>
              </a:r>
              <a:endParaRPr lang="en-US">
                <a:latin typeface="Calibri" pitchFamily="34" charset="0"/>
              </a:endParaRPr>
            </a:p>
          </p:txBody>
        </p:sp>
        <p:sp>
          <p:nvSpPr>
            <p:cNvPr id="100" name="AutoShape 168"/>
            <p:cNvSpPr>
              <a:spLocks noChangeArrowheads="1"/>
            </p:cNvSpPr>
            <p:nvPr/>
          </p:nvSpPr>
          <p:spPr bwMode="auto">
            <a:xfrm>
              <a:off x="4089400" y="1797050"/>
              <a:ext cx="1214438" cy="692150"/>
            </a:xfrm>
            <a:prstGeom prst="cube">
              <a:avLst>
                <a:gd name="adj" fmla="val 31505"/>
              </a:avLst>
            </a:prstGeom>
            <a:solidFill>
              <a:srgbClr val="FF99CC"/>
            </a:solidFill>
            <a:ln w="9525">
              <a:solidFill>
                <a:schemeClr val="tx1"/>
              </a:solidFill>
              <a:miter lim="800000"/>
              <a:headEnd/>
              <a:tailEnd/>
            </a:ln>
          </p:spPr>
          <p:txBody>
            <a:bodyPr wrap="none" anchor="ctr"/>
            <a:lstStyle/>
            <a:p>
              <a:pPr algn="ctr" eaLnBrk="0" hangingPunct="0"/>
              <a:r>
                <a:rPr lang="pt-BR">
                  <a:solidFill>
                    <a:srgbClr val="000000"/>
                  </a:solidFill>
                  <a:latin typeface="Calibri" pitchFamily="34" charset="0"/>
                </a:rPr>
                <a:t>Roteador</a:t>
              </a:r>
              <a:endParaRPr lang="en-US">
                <a:latin typeface="Calibri" pitchFamily="34" charset="0"/>
              </a:endParaRPr>
            </a:p>
          </p:txBody>
        </p:sp>
        <p:sp>
          <p:nvSpPr>
            <p:cNvPr id="101" name="AutoShape 173"/>
            <p:cNvSpPr>
              <a:spLocks noChangeArrowheads="1"/>
            </p:cNvSpPr>
            <p:nvPr/>
          </p:nvSpPr>
          <p:spPr bwMode="auto">
            <a:xfrm>
              <a:off x="4113213" y="3470275"/>
              <a:ext cx="1225550" cy="682625"/>
            </a:xfrm>
            <a:prstGeom prst="cube">
              <a:avLst>
                <a:gd name="adj" fmla="val 31505"/>
              </a:avLst>
            </a:prstGeom>
            <a:solidFill>
              <a:srgbClr val="FF99CC"/>
            </a:solidFill>
            <a:ln w="9525">
              <a:solidFill>
                <a:schemeClr val="tx1"/>
              </a:solidFill>
              <a:miter lim="800000"/>
              <a:headEnd/>
              <a:tailEnd/>
            </a:ln>
          </p:spPr>
          <p:txBody>
            <a:bodyPr wrap="none" anchor="ctr"/>
            <a:lstStyle/>
            <a:p>
              <a:pPr algn="ctr" eaLnBrk="0" hangingPunct="0"/>
              <a:r>
                <a:rPr lang="pt-BR">
                  <a:solidFill>
                    <a:srgbClr val="000000"/>
                  </a:solidFill>
                  <a:latin typeface="Calibri" pitchFamily="34" charset="0"/>
                </a:rPr>
                <a:t>Roteador</a:t>
              </a:r>
              <a:endParaRPr lang="en-US">
                <a:latin typeface="Calibri" pitchFamily="34" charset="0"/>
              </a:endParaRPr>
            </a:p>
          </p:txBody>
        </p:sp>
        <p:sp>
          <p:nvSpPr>
            <p:cNvPr id="102" name="Line 166"/>
            <p:cNvSpPr>
              <a:spLocks noChangeShapeType="1"/>
            </p:cNvSpPr>
            <p:nvPr/>
          </p:nvSpPr>
          <p:spPr bwMode="auto">
            <a:xfrm>
              <a:off x="4611688" y="2503488"/>
              <a:ext cx="0" cy="1109662"/>
            </a:xfrm>
            <a:prstGeom prst="line">
              <a:avLst/>
            </a:prstGeom>
            <a:noFill/>
            <a:ln w="76200">
              <a:solidFill>
                <a:srgbClr val="D60093"/>
              </a:solidFill>
              <a:round/>
              <a:headEnd/>
              <a:tailEnd type="triangle" w="med" len="med"/>
            </a:ln>
          </p:spPr>
          <p:txBody>
            <a:bodyPr wrap="none" anchor="ctr"/>
            <a:lstStyle/>
            <a:p>
              <a:endParaRPr lang="pt-BR"/>
            </a:p>
          </p:txBody>
        </p:sp>
      </p:grpSp>
    </p:spTree>
    <p:extLst>
      <p:ext uri="{BB962C8B-B14F-4D97-AF65-F5344CB8AC3E}">
        <p14:creationId xmlns:p14="http://schemas.microsoft.com/office/powerpoint/2010/main" val="20217903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pt-BR" sz="4400" dirty="0">
                <a:solidFill>
                  <a:schemeClr val="tx1"/>
                </a:solidFill>
                <a:latin typeface="+mn-lt"/>
                <a:ea typeface="+mn-ea"/>
                <a:cs typeface="+mn-cs"/>
              </a:rPr>
              <a:t>Equipamentos</a:t>
            </a:r>
          </a:p>
        </p:txBody>
      </p:sp>
      <p:pic>
        <p:nvPicPr>
          <p:cNvPr id="4100" name="Picture 4"/>
          <p:cNvPicPr>
            <a:picLocks noChangeAspect="1" noChangeArrowheads="1"/>
          </p:cNvPicPr>
          <p:nvPr/>
        </p:nvPicPr>
        <p:blipFill>
          <a:blip r:embed="rId3"/>
          <a:srcRect t="35199" b="16064"/>
          <a:stretch>
            <a:fillRect/>
          </a:stretch>
        </p:blipFill>
        <p:spPr bwMode="auto">
          <a:xfrm>
            <a:off x="500034" y="928670"/>
            <a:ext cx="3371321" cy="1643074"/>
          </a:xfrm>
          <a:prstGeom prst="rect">
            <a:avLst/>
          </a:prstGeom>
          <a:noFill/>
          <a:ln>
            <a:noFill/>
          </a:ln>
        </p:spPr>
      </p:pic>
      <p:pic>
        <p:nvPicPr>
          <p:cNvPr id="4101" name="Picture 5"/>
          <p:cNvPicPr>
            <a:picLocks noChangeAspect="1" noChangeArrowheads="1"/>
          </p:cNvPicPr>
          <p:nvPr/>
        </p:nvPicPr>
        <p:blipFill>
          <a:blip r:embed="rId4"/>
          <a:srcRect/>
          <a:stretch>
            <a:fillRect/>
          </a:stretch>
        </p:blipFill>
        <p:spPr bwMode="auto">
          <a:xfrm>
            <a:off x="952486" y="3214686"/>
            <a:ext cx="2119316" cy="2119316"/>
          </a:xfrm>
          <a:prstGeom prst="rect">
            <a:avLst/>
          </a:prstGeom>
          <a:noFill/>
          <a:ln w="9525">
            <a:noFill/>
            <a:miter lim="800000"/>
            <a:headEnd/>
            <a:tailEnd/>
          </a:ln>
          <a:effectLst/>
        </p:spPr>
      </p:pic>
      <p:pic>
        <p:nvPicPr>
          <p:cNvPr id="4102" name="Picture 6"/>
          <p:cNvPicPr>
            <a:picLocks noChangeAspect="1" noChangeArrowheads="1"/>
          </p:cNvPicPr>
          <p:nvPr/>
        </p:nvPicPr>
        <p:blipFill>
          <a:blip r:embed="rId5" cstate="print"/>
          <a:srcRect/>
          <a:stretch>
            <a:fillRect/>
          </a:stretch>
        </p:blipFill>
        <p:spPr bwMode="auto">
          <a:xfrm>
            <a:off x="5076056" y="861542"/>
            <a:ext cx="2567778" cy="1924515"/>
          </a:xfrm>
          <a:prstGeom prst="rect">
            <a:avLst/>
          </a:prstGeom>
          <a:noFill/>
          <a:ln w="9525">
            <a:noFill/>
            <a:miter lim="800000"/>
            <a:headEnd/>
            <a:tailEnd/>
          </a:ln>
          <a:effectLst/>
        </p:spPr>
      </p:pic>
      <p:pic>
        <p:nvPicPr>
          <p:cNvPr id="84" name="Picture 7"/>
          <p:cNvPicPr>
            <a:picLocks noChangeAspect="1" noChangeArrowheads="1"/>
          </p:cNvPicPr>
          <p:nvPr/>
        </p:nvPicPr>
        <p:blipFill>
          <a:blip r:embed="rId6"/>
          <a:srcRect t="29032" b="28387"/>
          <a:stretch>
            <a:fillRect/>
          </a:stretch>
        </p:blipFill>
        <p:spPr bwMode="auto">
          <a:xfrm>
            <a:off x="4429124" y="4000504"/>
            <a:ext cx="3690950" cy="1571636"/>
          </a:xfrm>
          <a:prstGeom prst="rect">
            <a:avLst/>
          </a:prstGeom>
          <a:noFill/>
          <a:ln w="9525">
            <a:noFill/>
            <a:miter lim="800000"/>
            <a:headEnd/>
            <a:tailEnd/>
          </a:ln>
          <a:effectLst/>
        </p:spPr>
      </p:pic>
      <p:sp>
        <p:nvSpPr>
          <p:cNvPr id="96" name="Retângulo de cantos arredondados 95"/>
          <p:cNvSpPr/>
          <p:nvPr/>
        </p:nvSpPr>
        <p:spPr>
          <a:xfrm>
            <a:off x="1071538" y="2571744"/>
            <a:ext cx="1857388" cy="42862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t-BR" b="1" dirty="0" smtClean="0"/>
              <a:t>HUB</a:t>
            </a:r>
            <a:endParaRPr lang="pt-BR" b="1" dirty="0"/>
          </a:p>
        </p:txBody>
      </p:sp>
      <p:sp>
        <p:nvSpPr>
          <p:cNvPr id="115" name="Retângulo de cantos arredondados 114"/>
          <p:cNvSpPr/>
          <p:nvPr/>
        </p:nvSpPr>
        <p:spPr>
          <a:xfrm>
            <a:off x="5429256" y="2571744"/>
            <a:ext cx="1857388" cy="42862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t-BR" b="1" dirty="0" smtClean="0"/>
              <a:t>SWITCH</a:t>
            </a:r>
            <a:endParaRPr lang="pt-BR" b="1" dirty="0"/>
          </a:p>
        </p:txBody>
      </p:sp>
      <p:sp>
        <p:nvSpPr>
          <p:cNvPr id="116" name="Retângulo de cantos arredondados 115"/>
          <p:cNvSpPr/>
          <p:nvPr/>
        </p:nvSpPr>
        <p:spPr>
          <a:xfrm>
            <a:off x="1071538" y="5572140"/>
            <a:ext cx="1857388" cy="42862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t-BR" b="1" dirty="0" smtClean="0"/>
              <a:t>BRIDGE</a:t>
            </a:r>
            <a:endParaRPr lang="pt-BR" b="1" dirty="0"/>
          </a:p>
        </p:txBody>
      </p:sp>
      <p:sp>
        <p:nvSpPr>
          <p:cNvPr id="117" name="Retângulo de cantos arredondados 116"/>
          <p:cNvSpPr/>
          <p:nvPr/>
        </p:nvSpPr>
        <p:spPr>
          <a:xfrm>
            <a:off x="5429256" y="5572140"/>
            <a:ext cx="1857388" cy="42862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t-BR" b="1" dirty="0" smtClean="0"/>
              <a:t>ROTEADOR</a:t>
            </a:r>
            <a:endParaRPr lang="pt-BR" b="1" dirty="0"/>
          </a:p>
        </p:txBody>
      </p:sp>
    </p:spTree>
    <p:extLst>
      <p:ext uri="{BB962C8B-B14F-4D97-AF65-F5344CB8AC3E}">
        <p14:creationId xmlns:p14="http://schemas.microsoft.com/office/powerpoint/2010/main" val="29332605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Algoritmos de Roteamento</a:t>
            </a:r>
            <a:endParaRPr lang="pt-BR" dirty="0"/>
          </a:p>
        </p:txBody>
      </p:sp>
      <p:sp>
        <p:nvSpPr>
          <p:cNvPr id="3" name="Espaço Reservado para Conteúdo 2"/>
          <p:cNvSpPr>
            <a:spLocks noGrp="1"/>
          </p:cNvSpPr>
          <p:nvPr>
            <p:ph idx="1"/>
          </p:nvPr>
        </p:nvSpPr>
        <p:spPr/>
        <p:txBody>
          <a:bodyPr>
            <a:normAutofit/>
          </a:bodyPr>
          <a:lstStyle/>
          <a:p>
            <a:r>
              <a:rPr lang="pt-BR" dirty="0" smtClean="0"/>
              <a:t>A principal função da camada de rede é rotear pacotes da máquina de origem para a máquina de destino.</a:t>
            </a:r>
          </a:p>
          <a:p>
            <a:endParaRPr lang="pt-BR" dirty="0"/>
          </a:p>
          <a:p>
            <a:r>
              <a:rPr lang="pt-BR" dirty="0" smtClean="0"/>
              <a:t>O </a:t>
            </a:r>
            <a:r>
              <a:rPr lang="pt-BR" b="1" dirty="0" smtClean="0"/>
              <a:t>algoritmo de roteamento</a:t>
            </a:r>
            <a:r>
              <a:rPr lang="pt-BR" dirty="0" smtClean="0"/>
              <a:t> é a parte do software da camada de rede responsável pela decisão sobre a linha de saída a ser usada na transmissão do pacote.</a:t>
            </a:r>
          </a:p>
          <a:p>
            <a:endParaRPr lang="pt-BR" dirty="0" smtClean="0"/>
          </a:p>
        </p:txBody>
      </p:sp>
    </p:spTree>
    <p:extLst>
      <p:ext uri="{BB962C8B-B14F-4D97-AF65-F5344CB8AC3E}">
        <p14:creationId xmlns:p14="http://schemas.microsoft.com/office/powerpoint/2010/main" val="2636632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Controle de congestionamento </a:t>
            </a:r>
          </a:p>
        </p:txBody>
      </p:sp>
      <p:sp>
        <p:nvSpPr>
          <p:cNvPr id="3" name="Espaço Reservado para Conteúdo 2"/>
          <p:cNvSpPr>
            <a:spLocks noGrp="1"/>
          </p:cNvSpPr>
          <p:nvPr>
            <p:ph idx="1"/>
          </p:nvPr>
        </p:nvSpPr>
        <p:spPr>
          <a:xfrm>
            <a:off x="457200" y="1600200"/>
            <a:ext cx="8229600" cy="4956101"/>
          </a:xfrm>
        </p:spPr>
        <p:txBody>
          <a:bodyPr>
            <a:normAutofit fontScale="77500" lnSpcReduction="20000"/>
          </a:bodyPr>
          <a:lstStyle/>
          <a:p>
            <a:r>
              <a:rPr lang="pt-BR" dirty="0"/>
              <a:t>Quando é oferecido tráfego demais, há congestionamento e o desempenho diminui </a:t>
            </a:r>
            <a:r>
              <a:rPr lang="pt-BR" dirty="0" smtClean="0"/>
              <a:t>nitidamente.</a:t>
            </a:r>
          </a:p>
          <a:p>
            <a:r>
              <a:rPr lang="pt-BR" dirty="0" smtClean="0"/>
              <a:t>Controle </a:t>
            </a:r>
            <a:r>
              <a:rPr lang="pt-BR" dirty="0"/>
              <a:t>de admissão" (sistema </a:t>
            </a:r>
            <a:r>
              <a:rPr lang="pt-BR" dirty="0" smtClean="0"/>
              <a:t>telefônico).</a:t>
            </a:r>
          </a:p>
          <a:p>
            <a:endParaRPr lang="pt-BR" dirty="0"/>
          </a:p>
          <a:p>
            <a:endParaRPr lang="pt-BR" dirty="0" smtClean="0"/>
          </a:p>
          <a:p>
            <a:endParaRPr lang="pt-BR" dirty="0" smtClean="0"/>
          </a:p>
          <a:p>
            <a:endParaRPr lang="pt-BR" dirty="0" smtClean="0"/>
          </a:p>
          <a:p>
            <a:endParaRPr lang="pt-BR" dirty="0"/>
          </a:p>
          <a:p>
            <a:endParaRPr lang="pt-BR" dirty="0" smtClean="0"/>
          </a:p>
          <a:p>
            <a:endParaRPr lang="pt-BR" dirty="0"/>
          </a:p>
          <a:p>
            <a:r>
              <a:rPr lang="pt-BR" dirty="0" smtClean="0"/>
              <a:t>(</a:t>
            </a:r>
            <a:r>
              <a:rPr lang="pt-BR" dirty="0"/>
              <a:t>a) Uma </a:t>
            </a:r>
            <a:r>
              <a:rPr lang="pt-BR" dirty="0" err="1"/>
              <a:t>sub-rede</a:t>
            </a:r>
            <a:r>
              <a:rPr lang="pt-BR" dirty="0"/>
              <a:t> congestionada. (b) Uma </a:t>
            </a:r>
            <a:r>
              <a:rPr lang="pt-BR" dirty="0" err="1"/>
              <a:t>sub-rede</a:t>
            </a:r>
            <a:r>
              <a:rPr lang="pt-BR" dirty="0"/>
              <a:t> redesenhada que elimina o congestionamento. Também está representado um circuito virtual de A até B.</a:t>
            </a:r>
            <a:endParaRPr lang="pt-BR" dirty="0" smtClean="0"/>
          </a:p>
          <a:p>
            <a:endParaRPr lang="pt-BR" dirty="0"/>
          </a:p>
        </p:txBody>
      </p:sp>
      <p:pic>
        <p:nvPicPr>
          <p:cNvPr id="5" name="Picture 2" descr="5-2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5616" y="2564904"/>
            <a:ext cx="6768752" cy="2881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5923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 Camada de Rede na Internet</a:t>
            </a:r>
          </a:p>
        </p:txBody>
      </p:sp>
      <p:sp>
        <p:nvSpPr>
          <p:cNvPr id="3" name="Espaço Reservado para Conteúdo 2"/>
          <p:cNvSpPr>
            <a:spLocks noGrp="1"/>
          </p:cNvSpPr>
          <p:nvPr>
            <p:ph idx="1"/>
          </p:nvPr>
        </p:nvSpPr>
        <p:spPr/>
        <p:txBody>
          <a:bodyPr>
            <a:normAutofit lnSpcReduction="10000"/>
          </a:bodyPr>
          <a:lstStyle/>
          <a:p>
            <a:r>
              <a:rPr lang="pt-BR" dirty="0" smtClean="0"/>
              <a:t>Protocolo IP</a:t>
            </a:r>
          </a:p>
          <a:p>
            <a:pPr lvl="1"/>
            <a:r>
              <a:rPr lang="pt-BR" dirty="0"/>
              <a:t>O nível de Rede da Arquitetura TCP/IP é exatamente o protocolo IP (Internet </a:t>
            </a:r>
            <a:r>
              <a:rPr lang="pt-BR" dirty="0" err="1"/>
              <a:t>Protocol</a:t>
            </a:r>
            <a:r>
              <a:rPr lang="pt-BR" dirty="0" smtClean="0"/>
              <a:t>).</a:t>
            </a:r>
            <a:endParaRPr lang="pt-BR" dirty="0"/>
          </a:p>
          <a:p>
            <a:pPr lvl="1" algn="just"/>
            <a:r>
              <a:rPr lang="pt-BR" dirty="0"/>
              <a:t>A funcionalidades básica do IP é a de </a:t>
            </a:r>
            <a:r>
              <a:rPr lang="pt-BR" b="1" dirty="0"/>
              <a:t>Rotear Pacotes</a:t>
            </a:r>
            <a:r>
              <a:rPr lang="pt-BR" dirty="0"/>
              <a:t> dentro de uma mesma rede ou entre redes </a:t>
            </a:r>
            <a:r>
              <a:rPr lang="pt-BR" dirty="0" smtClean="0"/>
              <a:t>diferentes.</a:t>
            </a:r>
          </a:p>
          <a:p>
            <a:pPr lvl="1" algn="just"/>
            <a:r>
              <a:rPr lang="pt-BR" dirty="0"/>
              <a:t>Não faz controle de verificação de entrega do pacote. Ficando esta responsabilidade para a camada de nível de transporte (TCP e UDP</a:t>
            </a:r>
            <a:r>
              <a:rPr lang="pt-BR" dirty="0" smtClean="0"/>
              <a:t>).</a:t>
            </a:r>
            <a:endParaRPr lang="pt-BR" dirty="0"/>
          </a:p>
          <a:p>
            <a:pPr lvl="1" algn="just"/>
            <a:r>
              <a:rPr lang="pt-BR" dirty="0"/>
              <a:t>Define o endereço universal da </a:t>
            </a:r>
            <a:r>
              <a:rPr lang="pt-BR" dirty="0" smtClean="0"/>
              <a:t>Internet.</a:t>
            </a:r>
            <a:endParaRPr lang="pt-BR" dirty="0"/>
          </a:p>
          <a:p>
            <a:pPr lvl="1" algn="just"/>
            <a:endParaRPr lang="pt-BR" dirty="0" smtClean="0"/>
          </a:p>
          <a:p>
            <a:endParaRPr lang="pt-BR" dirty="0"/>
          </a:p>
        </p:txBody>
      </p:sp>
    </p:spTree>
    <p:extLst>
      <p:ext uri="{BB962C8B-B14F-4D97-AF65-F5344CB8AC3E}">
        <p14:creationId xmlns:p14="http://schemas.microsoft.com/office/powerpoint/2010/main" val="2732691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r>
              <a:rPr lang="pt-BR" dirty="0"/>
              <a:t>O Que é um Endereço IP?</a:t>
            </a:r>
          </a:p>
        </p:txBody>
      </p:sp>
      <p:sp>
        <p:nvSpPr>
          <p:cNvPr id="29699" name="Rectangle 3"/>
          <p:cNvSpPr>
            <a:spLocks noGrp="1" noChangeArrowheads="1"/>
          </p:cNvSpPr>
          <p:nvPr>
            <p:ph type="body" idx="1"/>
          </p:nvPr>
        </p:nvSpPr>
        <p:spPr>
          <a:xfrm>
            <a:off x="428625" y="1503610"/>
            <a:ext cx="8501063" cy="5237758"/>
          </a:xfrm>
        </p:spPr>
        <p:txBody>
          <a:bodyPr>
            <a:normAutofit/>
          </a:bodyPr>
          <a:lstStyle/>
          <a:p>
            <a:pPr>
              <a:lnSpc>
                <a:spcPct val="90000"/>
              </a:lnSpc>
            </a:pPr>
            <a:r>
              <a:rPr lang="pt-BR" dirty="0" smtClean="0"/>
              <a:t>Um número de 32 bits (4 bytes) composto por quatro partes ou campos de 8 bits, chamados de octetos.</a:t>
            </a:r>
          </a:p>
          <a:p>
            <a:pPr>
              <a:lnSpc>
                <a:spcPct val="90000"/>
              </a:lnSpc>
            </a:pPr>
            <a:endParaRPr lang="pt-BR" dirty="0" smtClean="0"/>
          </a:p>
          <a:p>
            <a:pPr>
              <a:lnSpc>
                <a:spcPct val="90000"/>
              </a:lnSpc>
            </a:pPr>
            <a:r>
              <a:rPr lang="pt-BR" dirty="0" smtClean="0"/>
              <a:t>Para representação, os octetos são separados por um ponto (.).</a:t>
            </a:r>
          </a:p>
          <a:p>
            <a:pPr>
              <a:lnSpc>
                <a:spcPct val="90000"/>
              </a:lnSpc>
            </a:pPr>
            <a:endParaRPr lang="pt-BR" dirty="0" smtClean="0"/>
          </a:p>
          <a:p>
            <a:pPr>
              <a:lnSpc>
                <a:spcPct val="90000"/>
              </a:lnSpc>
            </a:pPr>
            <a:r>
              <a:rPr lang="pt-BR" dirty="0" smtClean="0"/>
              <a:t>Estes endereços são únicos em nível mundial.</a:t>
            </a:r>
          </a:p>
        </p:txBody>
      </p:sp>
    </p:spTree>
    <p:extLst>
      <p:ext uri="{BB962C8B-B14F-4D97-AF65-F5344CB8AC3E}">
        <p14:creationId xmlns:p14="http://schemas.microsoft.com/office/powerpoint/2010/main" val="8344278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Endereço IP</a:t>
            </a:r>
            <a:endParaRPr lang="pt-BR" dirty="0"/>
          </a:p>
        </p:txBody>
      </p:sp>
      <p:sp>
        <p:nvSpPr>
          <p:cNvPr id="3" name="Espaço Reservado para Conteúdo 2"/>
          <p:cNvSpPr>
            <a:spLocks noGrp="1"/>
          </p:cNvSpPr>
          <p:nvPr>
            <p:ph idx="1"/>
          </p:nvPr>
        </p:nvSpPr>
        <p:spPr/>
        <p:txBody>
          <a:bodyPr/>
          <a:lstStyle/>
          <a:p>
            <a:pPr algn="just"/>
            <a:r>
              <a:rPr lang="pt-BR" dirty="0"/>
              <a:t>Para duas máquinas se comunicarem, cada uma precisa de um endereço </a:t>
            </a:r>
            <a:r>
              <a:rPr lang="pt-BR" dirty="0" smtClean="0"/>
              <a:t>IP</a:t>
            </a:r>
          </a:p>
          <a:p>
            <a:pPr algn="just"/>
            <a:endParaRPr lang="pt-BR" dirty="0"/>
          </a:p>
          <a:p>
            <a:pPr algn="just"/>
            <a:r>
              <a:rPr lang="pt-BR" dirty="0"/>
              <a:t>O formato do endereço IP é</a:t>
            </a:r>
            <a:r>
              <a:rPr lang="pt-BR" dirty="0" smtClean="0"/>
              <a:t>: X.X.X.X</a:t>
            </a:r>
            <a:endParaRPr lang="pt-BR" dirty="0"/>
          </a:p>
          <a:p>
            <a:pPr algn="just"/>
            <a:endParaRPr lang="pt-BR" dirty="0" smtClean="0"/>
          </a:p>
          <a:p>
            <a:pPr algn="just"/>
            <a:r>
              <a:rPr lang="pt-BR" dirty="0" smtClean="0"/>
              <a:t>Onde </a:t>
            </a:r>
            <a:r>
              <a:rPr lang="pt-BR" dirty="0"/>
              <a:t>X varia de 0 à 255. Exemplo:</a:t>
            </a:r>
          </a:p>
          <a:p>
            <a:pPr lvl="1" algn="just"/>
            <a:r>
              <a:rPr lang="pt-BR" dirty="0"/>
              <a:t>200.241.16.8, 30.10.90.155, </a:t>
            </a:r>
            <a:r>
              <a:rPr lang="pt-BR" dirty="0" err="1"/>
              <a:t>etc</a:t>
            </a:r>
            <a:endParaRPr lang="pt-BR" dirty="0"/>
          </a:p>
          <a:p>
            <a:endParaRPr lang="pt-BR" dirty="0"/>
          </a:p>
        </p:txBody>
      </p:sp>
    </p:spTree>
    <p:extLst>
      <p:ext uri="{BB962C8B-B14F-4D97-AF65-F5344CB8AC3E}">
        <p14:creationId xmlns:p14="http://schemas.microsoft.com/office/powerpoint/2010/main" val="2523574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 IP</a:t>
            </a:r>
          </a:p>
        </p:txBody>
      </p:sp>
      <p:sp>
        <p:nvSpPr>
          <p:cNvPr id="3" name="Espaço Reservado para Conteúdo 2"/>
          <p:cNvSpPr>
            <a:spLocks noGrp="1"/>
          </p:cNvSpPr>
          <p:nvPr>
            <p:ph idx="1"/>
          </p:nvPr>
        </p:nvSpPr>
        <p:spPr/>
        <p:txBody>
          <a:bodyPr/>
          <a:lstStyle/>
          <a:p>
            <a:pPr>
              <a:lnSpc>
                <a:spcPct val="80000"/>
              </a:lnSpc>
            </a:pPr>
            <a:r>
              <a:rPr lang="pt-BR" sz="2800" dirty="0"/>
              <a:t>É dividido em duas Partes</a:t>
            </a:r>
          </a:p>
          <a:p>
            <a:pPr lvl="1">
              <a:lnSpc>
                <a:spcPct val="80000"/>
              </a:lnSpc>
            </a:pPr>
            <a:r>
              <a:rPr lang="pt-BR" sz="2400" dirty="0"/>
              <a:t>Net Id (endereço de Rede)</a:t>
            </a:r>
          </a:p>
          <a:p>
            <a:pPr lvl="1">
              <a:lnSpc>
                <a:spcPct val="80000"/>
              </a:lnSpc>
            </a:pPr>
            <a:r>
              <a:rPr lang="pt-BR" sz="2400" dirty="0"/>
              <a:t>Host Id (endereço de host (nó))</a:t>
            </a:r>
          </a:p>
          <a:p>
            <a:pPr>
              <a:lnSpc>
                <a:spcPct val="80000"/>
              </a:lnSpc>
            </a:pPr>
            <a:endParaRPr lang="pt-BR" sz="2800" dirty="0"/>
          </a:p>
          <a:p>
            <a:pPr>
              <a:lnSpc>
                <a:spcPct val="80000"/>
              </a:lnSpc>
            </a:pPr>
            <a:r>
              <a:rPr lang="pt-BR" sz="2800" dirty="0"/>
              <a:t>O Net Id identifica uma rede física. Os hosts pertencentes a uma mesma rede possuem o mesmo </a:t>
            </a:r>
            <a:r>
              <a:rPr lang="pt-BR" sz="2800" b="1" dirty="0"/>
              <a:t>Net Id.</a:t>
            </a:r>
          </a:p>
          <a:p>
            <a:pPr>
              <a:lnSpc>
                <a:spcPct val="80000"/>
              </a:lnSpc>
            </a:pPr>
            <a:endParaRPr lang="pt-BR" sz="2800" b="1" dirty="0"/>
          </a:p>
          <a:p>
            <a:pPr>
              <a:lnSpc>
                <a:spcPct val="80000"/>
              </a:lnSpc>
            </a:pPr>
            <a:r>
              <a:rPr lang="pt-BR" sz="2800" dirty="0"/>
              <a:t>O Host Id identifica um nó (host), ou seja uma estação de trabalho, servidor, </a:t>
            </a:r>
            <a:r>
              <a:rPr lang="pt-BR" sz="2800" dirty="0" err="1"/>
              <a:t>router</a:t>
            </a:r>
            <a:r>
              <a:rPr lang="pt-BR" sz="2800" dirty="0"/>
              <a:t>, impressora. O </a:t>
            </a:r>
            <a:r>
              <a:rPr lang="pt-BR" sz="2800" b="1" dirty="0"/>
              <a:t>Host Id</a:t>
            </a:r>
            <a:r>
              <a:rPr lang="pt-BR" sz="2800" dirty="0"/>
              <a:t> deve ser único para o seu </a:t>
            </a:r>
            <a:r>
              <a:rPr lang="pt-BR" sz="2800" b="1" dirty="0"/>
              <a:t>Net Id</a:t>
            </a:r>
            <a:r>
              <a:rPr lang="pt-BR" sz="2800" dirty="0"/>
              <a:t>.</a:t>
            </a:r>
          </a:p>
          <a:p>
            <a:endParaRPr lang="pt-BR" dirty="0"/>
          </a:p>
        </p:txBody>
      </p:sp>
    </p:spTree>
    <p:extLst>
      <p:ext uri="{BB962C8B-B14F-4D97-AF65-F5344CB8AC3E}">
        <p14:creationId xmlns:p14="http://schemas.microsoft.com/office/powerpoint/2010/main" val="931190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 IP</a:t>
            </a:r>
          </a:p>
        </p:txBody>
      </p:sp>
      <p:sp>
        <p:nvSpPr>
          <p:cNvPr id="3" name="Espaço Reservado para Conteúdo 2"/>
          <p:cNvSpPr>
            <a:spLocks noGrp="1"/>
          </p:cNvSpPr>
          <p:nvPr>
            <p:ph idx="1"/>
          </p:nvPr>
        </p:nvSpPr>
        <p:spPr/>
        <p:txBody>
          <a:bodyPr/>
          <a:lstStyle/>
          <a:p>
            <a:r>
              <a:rPr lang="pt-BR" dirty="0"/>
              <a:t>Os endereços IP são divididos em grupos chamados classes.  Cada endereço IP é dividido em uma parte da rede e uma parte do host.</a:t>
            </a:r>
          </a:p>
          <a:p>
            <a:endParaRPr lang="pt-BR" dirty="0"/>
          </a:p>
        </p:txBody>
      </p:sp>
      <p:pic>
        <p:nvPicPr>
          <p:cNvPr id="4" name="Picture 1"/>
          <p:cNvPicPr>
            <a:picLocks noChangeAspect="1" noChangeArrowheads="1"/>
          </p:cNvPicPr>
          <p:nvPr/>
        </p:nvPicPr>
        <p:blipFill>
          <a:blip r:embed="rId2"/>
          <a:srcRect/>
          <a:stretch>
            <a:fillRect/>
          </a:stretch>
        </p:blipFill>
        <p:spPr bwMode="auto">
          <a:xfrm>
            <a:off x="1643042" y="3645024"/>
            <a:ext cx="5724547" cy="3000375"/>
          </a:xfrm>
          <a:prstGeom prst="rect">
            <a:avLst/>
          </a:prstGeom>
          <a:noFill/>
          <a:ln w="9525">
            <a:noFill/>
            <a:miter lim="800000"/>
            <a:headEnd/>
            <a:tailEnd/>
          </a:ln>
          <a:effectLst>
            <a:prstShdw prst="shdw17" dist="17961" dir="13500000">
              <a:schemeClr val="bg2"/>
            </a:prstShdw>
          </a:effectLst>
        </p:spPr>
      </p:pic>
    </p:spTree>
    <p:extLst>
      <p:ext uri="{BB962C8B-B14F-4D97-AF65-F5344CB8AC3E}">
        <p14:creationId xmlns:p14="http://schemas.microsoft.com/office/powerpoint/2010/main" val="3658086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 </a:t>
            </a:r>
            <a:r>
              <a:rPr lang="pt-BR" dirty="0" smtClean="0"/>
              <a:t>IP – Classe A</a:t>
            </a:r>
            <a:endParaRPr lang="pt-BR" dirty="0"/>
          </a:p>
        </p:txBody>
      </p:sp>
      <p:pic>
        <p:nvPicPr>
          <p:cNvPr id="4" name="Picture 8"/>
          <p:cNvPicPr>
            <a:picLocks noChangeAspect="1" noChangeArrowheads="1"/>
          </p:cNvPicPr>
          <p:nvPr/>
        </p:nvPicPr>
        <p:blipFill>
          <a:blip r:embed="rId2"/>
          <a:srcRect/>
          <a:stretch>
            <a:fillRect/>
          </a:stretch>
        </p:blipFill>
        <p:spPr bwMode="auto">
          <a:xfrm>
            <a:off x="1571625" y="1928802"/>
            <a:ext cx="5572125" cy="2171700"/>
          </a:xfrm>
          <a:prstGeom prst="rect">
            <a:avLst/>
          </a:prstGeom>
          <a:noFill/>
          <a:ln w="9525">
            <a:noFill/>
            <a:miter lim="800000"/>
            <a:headEnd/>
            <a:tailEnd/>
          </a:ln>
          <a:effectLst>
            <a:prstShdw prst="shdw17" dist="17961" dir="13500000">
              <a:schemeClr val="bg2"/>
            </a:prstShdw>
          </a:effectLst>
        </p:spPr>
      </p:pic>
      <p:graphicFrame>
        <p:nvGraphicFramePr>
          <p:cNvPr id="5" name="Tabela 4"/>
          <p:cNvGraphicFramePr>
            <a:graphicFrameLocks noGrp="1"/>
          </p:cNvGraphicFramePr>
          <p:nvPr/>
        </p:nvGraphicFramePr>
        <p:xfrm>
          <a:off x="2603828" y="4786322"/>
          <a:ext cx="3682684" cy="741680"/>
        </p:xfrm>
        <a:graphic>
          <a:graphicData uri="http://schemas.openxmlformats.org/drawingml/2006/table">
            <a:tbl>
              <a:tblPr firstRow="1" bandRow="1">
                <a:tableStyleId>{AF606853-7671-496A-8E4F-DF71F8EC918B}</a:tableStyleId>
              </a:tblPr>
              <a:tblGrid>
                <a:gridCol w="879793"/>
                <a:gridCol w="1246505"/>
                <a:gridCol w="730568"/>
                <a:gridCol w="825818"/>
              </a:tblGrid>
              <a:tr h="370840">
                <a:tc>
                  <a:txBody>
                    <a:bodyPr/>
                    <a:lstStyle/>
                    <a:p>
                      <a:r>
                        <a:rPr lang="pt-BR" sz="1600" dirty="0" smtClean="0"/>
                        <a:t>Classe</a:t>
                      </a:r>
                      <a:endParaRPr lang="pt-BR" sz="1600" dirty="0"/>
                    </a:p>
                  </a:txBody>
                  <a:tcPr/>
                </a:tc>
                <a:tc>
                  <a:txBody>
                    <a:bodyPr/>
                    <a:lstStyle/>
                    <a:p>
                      <a:r>
                        <a:rPr lang="pt-BR" sz="1600" dirty="0" smtClean="0"/>
                        <a:t>1º</a:t>
                      </a:r>
                      <a:r>
                        <a:rPr lang="pt-BR" sz="1600" baseline="0" dirty="0" smtClean="0"/>
                        <a:t>  Octeto</a:t>
                      </a:r>
                      <a:endParaRPr lang="pt-BR" sz="1600" dirty="0"/>
                    </a:p>
                  </a:txBody>
                  <a:tcPr/>
                </a:tc>
                <a:tc>
                  <a:txBody>
                    <a:bodyPr/>
                    <a:lstStyle/>
                    <a:p>
                      <a:r>
                        <a:rPr lang="pt-BR" sz="1600" dirty="0" smtClean="0"/>
                        <a:t>Rede</a:t>
                      </a:r>
                      <a:endParaRPr lang="pt-BR" sz="1600" dirty="0"/>
                    </a:p>
                  </a:txBody>
                  <a:tcPr/>
                </a:tc>
                <a:tc>
                  <a:txBody>
                    <a:bodyPr/>
                    <a:lstStyle/>
                    <a:p>
                      <a:r>
                        <a:rPr lang="pt-BR" sz="1600" dirty="0" smtClean="0"/>
                        <a:t>Host</a:t>
                      </a:r>
                      <a:endParaRPr lang="pt-BR" sz="1600" dirty="0"/>
                    </a:p>
                  </a:txBody>
                  <a:tcPr/>
                </a:tc>
              </a:tr>
              <a:tr h="370840">
                <a:tc>
                  <a:txBody>
                    <a:bodyPr/>
                    <a:lstStyle/>
                    <a:p>
                      <a:r>
                        <a:rPr lang="pt-BR" sz="1600" dirty="0" smtClean="0"/>
                        <a:t>A</a:t>
                      </a:r>
                      <a:endParaRPr lang="pt-BR" sz="1600" dirty="0"/>
                    </a:p>
                  </a:txBody>
                  <a:tcPr/>
                </a:tc>
                <a:tc>
                  <a:txBody>
                    <a:bodyPr/>
                    <a:lstStyle/>
                    <a:p>
                      <a:r>
                        <a:rPr lang="pt-BR" sz="1600" dirty="0" smtClean="0"/>
                        <a:t>1-126</a:t>
                      </a:r>
                      <a:endParaRPr lang="pt-BR" sz="1600" dirty="0"/>
                    </a:p>
                  </a:txBody>
                  <a:tcPr/>
                </a:tc>
                <a:tc>
                  <a:txBody>
                    <a:bodyPr/>
                    <a:lstStyle/>
                    <a:p>
                      <a:r>
                        <a:rPr lang="pt-BR" sz="1600" dirty="0" smtClean="0"/>
                        <a:t>N</a:t>
                      </a:r>
                      <a:endParaRPr lang="pt-BR" sz="1600" dirty="0"/>
                    </a:p>
                  </a:txBody>
                  <a:tcPr/>
                </a:tc>
                <a:tc>
                  <a:txBody>
                    <a:bodyPr/>
                    <a:lstStyle/>
                    <a:p>
                      <a:r>
                        <a:rPr lang="pt-BR" sz="1600" dirty="0" err="1" smtClean="0"/>
                        <a:t>H.H.</a:t>
                      </a:r>
                      <a:r>
                        <a:rPr lang="pt-BR" sz="1600" dirty="0" smtClean="0"/>
                        <a:t>H</a:t>
                      </a:r>
                      <a:endParaRPr lang="pt-BR" sz="1600" dirty="0"/>
                    </a:p>
                  </a:txBody>
                  <a:tcPr/>
                </a:tc>
              </a:tr>
            </a:tbl>
          </a:graphicData>
        </a:graphic>
      </p:graphicFrame>
    </p:spTree>
    <p:extLst>
      <p:ext uri="{BB962C8B-B14F-4D97-AF65-F5344CB8AC3E}">
        <p14:creationId xmlns:p14="http://schemas.microsoft.com/office/powerpoint/2010/main" val="1684017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 IP – Classe </a:t>
            </a:r>
            <a:r>
              <a:rPr lang="pt-BR" dirty="0" smtClean="0"/>
              <a:t>B</a:t>
            </a:r>
            <a:endParaRPr lang="pt-BR" dirty="0"/>
          </a:p>
        </p:txBody>
      </p:sp>
      <p:pic>
        <p:nvPicPr>
          <p:cNvPr id="4" name="Picture 1"/>
          <p:cNvPicPr>
            <a:picLocks noChangeAspect="1" noChangeArrowheads="1"/>
          </p:cNvPicPr>
          <p:nvPr/>
        </p:nvPicPr>
        <p:blipFill>
          <a:blip r:embed="rId2"/>
          <a:srcRect/>
          <a:stretch>
            <a:fillRect/>
          </a:stretch>
        </p:blipFill>
        <p:spPr bwMode="auto">
          <a:xfrm>
            <a:off x="1581150" y="1900242"/>
            <a:ext cx="5562600" cy="2171700"/>
          </a:xfrm>
          <a:prstGeom prst="rect">
            <a:avLst/>
          </a:prstGeom>
          <a:noFill/>
          <a:ln w="9525">
            <a:noFill/>
            <a:miter lim="800000"/>
            <a:headEnd/>
            <a:tailEnd/>
          </a:ln>
          <a:effectLst>
            <a:prstShdw prst="shdw17" dist="17961" dir="13500000">
              <a:schemeClr val="bg2"/>
            </a:prstShdw>
          </a:effectLst>
        </p:spPr>
      </p:pic>
      <p:graphicFrame>
        <p:nvGraphicFramePr>
          <p:cNvPr id="5" name="Tabela 4"/>
          <p:cNvGraphicFramePr>
            <a:graphicFrameLocks noGrp="1"/>
          </p:cNvGraphicFramePr>
          <p:nvPr/>
        </p:nvGraphicFramePr>
        <p:xfrm>
          <a:off x="2571736" y="4786322"/>
          <a:ext cx="3682684" cy="741680"/>
        </p:xfrm>
        <a:graphic>
          <a:graphicData uri="http://schemas.openxmlformats.org/drawingml/2006/table">
            <a:tbl>
              <a:tblPr firstRow="1" bandRow="1">
                <a:tableStyleId>{AF606853-7671-496A-8E4F-DF71F8EC918B}</a:tableStyleId>
              </a:tblPr>
              <a:tblGrid>
                <a:gridCol w="879793"/>
                <a:gridCol w="1246505"/>
                <a:gridCol w="730568"/>
                <a:gridCol w="825818"/>
              </a:tblGrid>
              <a:tr h="370840">
                <a:tc>
                  <a:txBody>
                    <a:bodyPr/>
                    <a:lstStyle/>
                    <a:p>
                      <a:r>
                        <a:rPr lang="pt-BR" sz="1600" dirty="0" smtClean="0"/>
                        <a:t>Classe</a:t>
                      </a:r>
                      <a:endParaRPr lang="pt-BR" sz="1600" dirty="0"/>
                    </a:p>
                  </a:txBody>
                  <a:tcPr/>
                </a:tc>
                <a:tc>
                  <a:txBody>
                    <a:bodyPr/>
                    <a:lstStyle/>
                    <a:p>
                      <a:r>
                        <a:rPr lang="pt-BR" sz="1600" dirty="0" smtClean="0"/>
                        <a:t>1º</a:t>
                      </a:r>
                      <a:r>
                        <a:rPr lang="pt-BR" sz="1600" baseline="0" dirty="0" smtClean="0"/>
                        <a:t>  Octeto</a:t>
                      </a:r>
                      <a:endParaRPr lang="pt-BR" sz="1600" dirty="0"/>
                    </a:p>
                  </a:txBody>
                  <a:tcPr/>
                </a:tc>
                <a:tc>
                  <a:txBody>
                    <a:bodyPr/>
                    <a:lstStyle/>
                    <a:p>
                      <a:r>
                        <a:rPr lang="pt-BR" sz="1600" dirty="0" smtClean="0"/>
                        <a:t>Rede</a:t>
                      </a:r>
                      <a:endParaRPr lang="pt-BR" sz="1600" dirty="0"/>
                    </a:p>
                  </a:txBody>
                  <a:tcPr/>
                </a:tc>
                <a:tc>
                  <a:txBody>
                    <a:bodyPr/>
                    <a:lstStyle/>
                    <a:p>
                      <a:r>
                        <a:rPr lang="pt-BR" sz="1600" dirty="0" smtClean="0"/>
                        <a:t>Host</a:t>
                      </a:r>
                      <a:endParaRPr lang="pt-BR" sz="1600" dirty="0"/>
                    </a:p>
                  </a:txBody>
                  <a:tcPr/>
                </a:tc>
              </a:tr>
              <a:tr h="370840">
                <a:tc>
                  <a:txBody>
                    <a:bodyPr/>
                    <a:lstStyle/>
                    <a:p>
                      <a:r>
                        <a:rPr lang="pt-BR" sz="1600" dirty="0" smtClean="0"/>
                        <a:t>B</a:t>
                      </a:r>
                      <a:endParaRPr lang="pt-BR" sz="1600" dirty="0"/>
                    </a:p>
                  </a:txBody>
                  <a:tcPr/>
                </a:tc>
                <a:tc>
                  <a:txBody>
                    <a:bodyPr/>
                    <a:lstStyle/>
                    <a:p>
                      <a:r>
                        <a:rPr lang="pt-BR" sz="1600" dirty="0" smtClean="0"/>
                        <a:t>128-192</a:t>
                      </a:r>
                      <a:endParaRPr lang="pt-BR" sz="1600" dirty="0"/>
                    </a:p>
                  </a:txBody>
                  <a:tcPr/>
                </a:tc>
                <a:tc>
                  <a:txBody>
                    <a:bodyPr/>
                    <a:lstStyle/>
                    <a:p>
                      <a:r>
                        <a:rPr lang="pt-BR" sz="1600" dirty="0" smtClean="0"/>
                        <a:t>N.N</a:t>
                      </a:r>
                      <a:endParaRPr lang="pt-BR" sz="1600" dirty="0"/>
                    </a:p>
                  </a:txBody>
                  <a:tcPr/>
                </a:tc>
                <a:tc>
                  <a:txBody>
                    <a:bodyPr/>
                    <a:lstStyle/>
                    <a:p>
                      <a:r>
                        <a:rPr lang="pt-BR" sz="1600" dirty="0" smtClean="0"/>
                        <a:t>H.H</a:t>
                      </a:r>
                      <a:endParaRPr lang="pt-BR" sz="1600" dirty="0"/>
                    </a:p>
                  </a:txBody>
                  <a:tcPr/>
                </a:tc>
              </a:tr>
            </a:tbl>
          </a:graphicData>
        </a:graphic>
      </p:graphicFrame>
    </p:spTree>
    <p:extLst>
      <p:ext uri="{BB962C8B-B14F-4D97-AF65-F5344CB8AC3E}">
        <p14:creationId xmlns:p14="http://schemas.microsoft.com/office/powerpoint/2010/main" val="2709512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 IP – Classe </a:t>
            </a:r>
            <a:r>
              <a:rPr lang="pt-BR" dirty="0" smtClean="0"/>
              <a:t>C</a:t>
            </a:r>
            <a:endParaRPr lang="pt-BR" dirty="0"/>
          </a:p>
        </p:txBody>
      </p:sp>
      <p:pic>
        <p:nvPicPr>
          <p:cNvPr id="4" name="Picture 1"/>
          <p:cNvPicPr>
            <a:picLocks noChangeAspect="1" noChangeArrowheads="1"/>
          </p:cNvPicPr>
          <p:nvPr/>
        </p:nvPicPr>
        <p:blipFill>
          <a:blip r:embed="rId2"/>
          <a:srcRect/>
          <a:stretch>
            <a:fillRect/>
          </a:stretch>
        </p:blipFill>
        <p:spPr bwMode="auto">
          <a:xfrm>
            <a:off x="1609743" y="1928802"/>
            <a:ext cx="5534025" cy="2200275"/>
          </a:xfrm>
          <a:prstGeom prst="rect">
            <a:avLst/>
          </a:prstGeom>
          <a:noFill/>
          <a:ln w="9525">
            <a:noFill/>
            <a:miter lim="800000"/>
            <a:headEnd/>
            <a:tailEnd/>
          </a:ln>
          <a:effectLst>
            <a:prstShdw prst="shdw17" dist="17961" dir="13500000">
              <a:schemeClr val="bg2"/>
            </a:prstShdw>
          </a:effectLst>
        </p:spPr>
      </p:pic>
      <p:graphicFrame>
        <p:nvGraphicFramePr>
          <p:cNvPr id="5" name="Tabela 4"/>
          <p:cNvGraphicFramePr>
            <a:graphicFrameLocks noGrp="1"/>
          </p:cNvGraphicFramePr>
          <p:nvPr/>
        </p:nvGraphicFramePr>
        <p:xfrm>
          <a:off x="2571736" y="4857760"/>
          <a:ext cx="3782696" cy="741680"/>
        </p:xfrm>
        <a:graphic>
          <a:graphicData uri="http://schemas.openxmlformats.org/drawingml/2006/table">
            <a:tbl>
              <a:tblPr firstRow="1" bandRow="1">
                <a:tableStyleId>{AF606853-7671-496A-8E4F-DF71F8EC918B}</a:tableStyleId>
              </a:tblPr>
              <a:tblGrid>
                <a:gridCol w="879793"/>
                <a:gridCol w="1246505"/>
                <a:gridCol w="830580"/>
                <a:gridCol w="825818"/>
              </a:tblGrid>
              <a:tr h="370840">
                <a:tc>
                  <a:txBody>
                    <a:bodyPr/>
                    <a:lstStyle/>
                    <a:p>
                      <a:r>
                        <a:rPr lang="pt-BR" sz="1600" dirty="0" smtClean="0"/>
                        <a:t>Classe</a:t>
                      </a:r>
                      <a:endParaRPr lang="pt-BR" sz="1600" dirty="0"/>
                    </a:p>
                  </a:txBody>
                  <a:tcPr/>
                </a:tc>
                <a:tc>
                  <a:txBody>
                    <a:bodyPr/>
                    <a:lstStyle/>
                    <a:p>
                      <a:r>
                        <a:rPr lang="pt-BR" sz="1600" dirty="0" smtClean="0"/>
                        <a:t>1º</a:t>
                      </a:r>
                      <a:r>
                        <a:rPr lang="pt-BR" sz="1600" baseline="0" dirty="0" smtClean="0"/>
                        <a:t>  Octeto</a:t>
                      </a:r>
                      <a:endParaRPr lang="pt-BR" sz="1600" dirty="0"/>
                    </a:p>
                  </a:txBody>
                  <a:tcPr/>
                </a:tc>
                <a:tc>
                  <a:txBody>
                    <a:bodyPr/>
                    <a:lstStyle/>
                    <a:p>
                      <a:r>
                        <a:rPr lang="pt-BR" sz="1600" dirty="0" smtClean="0"/>
                        <a:t>Rede</a:t>
                      </a:r>
                      <a:endParaRPr lang="pt-BR" sz="1600" dirty="0"/>
                    </a:p>
                  </a:txBody>
                  <a:tcPr/>
                </a:tc>
                <a:tc>
                  <a:txBody>
                    <a:bodyPr/>
                    <a:lstStyle/>
                    <a:p>
                      <a:r>
                        <a:rPr lang="pt-BR" sz="1600" dirty="0" smtClean="0"/>
                        <a:t>Host</a:t>
                      </a:r>
                      <a:endParaRPr lang="pt-BR" sz="1600" dirty="0"/>
                    </a:p>
                  </a:txBody>
                  <a:tcPr/>
                </a:tc>
              </a:tr>
              <a:tr h="370840">
                <a:tc>
                  <a:txBody>
                    <a:bodyPr/>
                    <a:lstStyle/>
                    <a:p>
                      <a:r>
                        <a:rPr lang="pt-BR" sz="1600" dirty="0" smtClean="0"/>
                        <a:t>C</a:t>
                      </a:r>
                      <a:endParaRPr lang="pt-BR" sz="1600" dirty="0"/>
                    </a:p>
                  </a:txBody>
                  <a:tcPr/>
                </a:tc>
                <a:tc>
                  <a:txBody>
                    <a:bodyPr/>
                    <a:lstStyle/>
                    <a:p>
                      <a:r>
                        <a:rPr lang="pt-BR" sz="1600" dirty="0" smtClean="0"/>
                        <a:t>192-223</a:t>
                      </a:r>
                      <a:endParaRPr lang="pt-BR" sz="1600" dirty="0"/>
                    </a:p>
                  </a:txBody>
                  <a:tcPr/>
                </a:tc>
                <a:tc>
                  <a:txBody>
                    <a:bodyPr/>
                    <a:lstStyle/>
                    <a:p>
                      <a:r>
                        <a:rPr lang="pt-BR" sz="1600" dirty="0" err="1" smtClean="0"/>
                        <a:t>N.N.</a:t>
                      </a:r>
                      <a:r>
                        <a:rPr lang="pt-BR" sz="1600" dirty="0" smtClean="0"/>
                        <a:t>N</a:t>
                      </a:r>
                      <a:endParaRPr lang="pt-BR" sz="1600" dirty="0"/>
                    </a:p>
                  </a:txBody>
                  <a:tcPr/>
                </a:tc>
                <a:tc>
                  <a:txBody>
                    <a:bodyPr/>
                    <a:lstStyle/>
                    <a:p>
                      <a:r>
                        <a:rPr lang="pt-BR" sz="1600" dirty="0" smtClean="0"/>
                        <a:t>H</a:t>
                      </a:r>
                      <a:endParaRPr lang="pt-BR" sz="1600" dirty="0"/>
                    </a:p>
                  </a:txBody>
                  <a:tcPr/>
                </a:tc>
              </a:tr>
            </a:tbl>
          </a:graphicData>
        </a:graphic>
      </p:graphicFrame>
    </p:spTree>
    <p:extLst>
      <p:ext uri="{BB962C8B-B14F-4D97-AF65-F5344CB8AC3E}">
        <p14:creationId xmlns:p14="http://schemas.microsoft.com/office/powerpoint/2010/main" val="546614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Máscara de rede</a:t>
            </a:r>
            <a:endParaRPr lang="pt-BR" dirty="0"/>
          </a:p>
        </p:txBody>
      </p:sp>
      <p:graphicFrame>
        <p:nvGraphicFramePr>
          <p:cNvPr id="7" name="Espaço Reservado para Conteúdo 6"/>
          <p:cNvGraphicFramePr>
            <a:graphicFrameLocks noGrp="1"/>
          </p:cNvGraphicFramePr>
          <p:nvPr>
            <p:ph idx="1"/>
            <p:extLst>
              <p:ext uri="{D42A27DB-BD31-4B8C-83A1-F6EECF244321}">
                <p14:modId xmlns:p14="http://schemas.microsoft.com/office/powerpoint/2010/main" val="1633741152"/>
              </p:ext>
            </p:extLst>
          </p:nvPr>
        </p:nvGraphicFramePr>
        <p:xfrm>
          <a:off x="958850" y="3227809"/>
          <a:ext cx="7226300" cy="1857375"/>
        </p:xfrm>
        <a:graphic>
          <a:graphicData uri="http://schemas.openxmlformats.org/drawingml/2006/table">
            <a:tbl>
              <a:tblPr>
                <a:tableStyleId>{5C22544A-7EE6-4342-B048-85BDC9FD1C3A}</a:tableStyleId>
              </a:tblPr>
              <a:tblGrid>
                <a:gridCol w="2004838"/>
                <a:gridCol w="1969944"/>
                <a:gridCol w="1817678"/>
                <a:gridCol w="1433840"/>
              </a:tblGrid>
              <a:tr h="923925">
                <a:tc>
                  <a:txBody>
                    <a:bodyPr/>
                    <a:lstStyle/>
                    <a:p>
                      <a:pPr algn="ctr" rtl="0" fontAlgn="ctr"/>
                      <a:r>
                        <a:rPr lang="pt-BR" sz="1400" u="none" strike="noStrike" dirty="0">
                          <a:effectLst>
                            <a:outerShdw blurRad="50800" dist="38100" algn="tr" rotWithShape="0">
                              <a:prstClr val="black">
                                <a:alpha val="40000"/>
                              </a:prstClr>
                            </a:outerShdw>
                          </a:effectLst>
                        </a:rPr>
                        <a:t>Classe de Rede</a:t>
                      </a:r>
                      <a:endParaRPr lang="pt-BR" sz="1400" b="1" i="1" u="none" strike="noStrike" dirty="0">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dirty="0">
                          <a:effectLst>
                            <a:outerShdw blurRad="50800" dist="38100" algn="tr" rotWithShape="0">
                              <a:prstClr val="black">
                                <a:alpha val="40000"/>
                              </a:prstClr>
                            </a:outerShdw>
                          </a:effectLst>
                        </a:rPr>
                        <a:t>Máscara Padrão</a:t>
                      </a:r>
                      <a:endParaRPr lang="pt-BR" sz="1400" b="1" i="1" u="none" strike="noStrike" dirty="0">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N° de Hosts</a:t>
                      </a:r>
                      <a:endParaRPr lang="pt-BR" sz="1400" b="1" i="1"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N° de Redes</a:t>
                      </a:r>
                      <a:endParaRPr lang="pt-BR" sz="1400" b="1" i="1"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r>
              <a:tr h="466725">
                <a:tc>
                  <a:txBody>
                    <a:bodyPr/>
                    <a:lstStyle/>
                    <a:p>
                      <a:pPr algn="ctr" rtl="0" fontAlgn="ctr"/>
                      <a:r>
                        <a:rPr lang="pt-BR" sz="1400" u="none" strike="noStrike">
                          <a:effectLst>
                            <a:outerShdw blurRad="50800" dist="38100" algn="tr" rotWithShape="0">
                              <a:prstClr val="black">
                                <a:alpha val="40000"/>
                              </a:prstClr>
                            </a:outerShdw>
                          </a:effectLst>
                        </a:rPr>
                        <a:t>A</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dirty="0">
                          <a:effectLst>
                            <a:outerShdw blurRad="50800" dist="38100" algn="tr" rotWithShape="0">
                              <a:prstClr val="black">
                                <a:alpha val="40000"/>
                              </a:prstClr>
                            </a:outerShdw>
                          </a:effectLst>
                        </a:rPr>
                        <a:t>255.0.0.0</a:t>
                      </a:r>
                      <a:endParaRPr lang="pt-BR" sz="1400" b="1" i="0" u="none" strike="noStrike" dirty="0">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16.777.214</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1</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r>
              <a:tr h="238125">
                <a:tc>
                  <a:txBody>
                    <a:bodyPr/>
                    <a:lstStyle/>
                    <a:p>
                      <a:pPr algn="ctr" rtl="0" fontAlgn="ctr"/>
                      <a:r>
                        <a:rPr lang="pt-BR" sz="1400" u="none" strike="noStrike">
                          <a:effectLst>
                            <a:outerShdw blurRad="50800" dist="38100" algn="tr" rotWithShape="0">
                              <a:prstClr val="black">
                                <a:alpha val="40000"/>
                              </a:prstClr>
                            </a:outerShdw>
                          </a:effectLst>
                        </a:rPr>
                        <a:t>B</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255.255.0.0</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65.534</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256</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r>
              <a:tr h="228600">
                <a:tc>
                  <a:txBody>
                    <a:bodyPr/>
                    <a:lstStyle/>
                    <a:p>
                      <a:pPr algn="ctr" rtl="0" fontAlgn="ctr"/>
                      <a:r>
                        <a:rPr lang="pt-BR" sz="1400" u="none" strike="noStrike" dirty="0">
                          <a:effectLst>
                            <a:outerShdw blurRad="50800" dist="38100" algn="tr" rotWithShape="0">
                              <a:prstClr val="black">
                                <a:alpha val="40000"/>
                              </a:prstClr>
                            </a:outerShdw>
                          </a:effectLst>
                        </a:rPr>
                        <a:t>C</a:t>
                      </a:r>
                      <a:endParaRPr lang="pt-BR" sz="1400" b="1" i="0" u="none" strike="noStrike" dirty="0">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255.255.255.0</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a:effectLst>
                            <a:outerShdw blurRad="50800" dist="38100" algn="tr" rotWithShape="0">
                              <a:prstClr val="black">
                                <a:alpha val="40000"/>
                              </a:prstClr>
                            </a:outerShdw>
                          </a:effectLst>
                        </a:rPr>
                        <a:t>254</a:t>
                      </a:r>
                      <a:endParaRPr lang="pt-BR" sz="1400" b="1" i="0"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400" u="none" strike="noStrike" dirty="0">
                          <a:effectLst>
                            <a:outerShdw blurRad="50800" dist="38100" algn="tr" rotWithShape="0">
                              <a:prstClr val="black">
                                <a:alpha val="40000"/>
                              </a:prstClr>
                            </a:outerShdw>
                          </a:effectLst>
                        </a:rPr>
                        <a:t>65.536</a:t>
                      </a:r>
                      <a:endParaRPr lang="pt-BR" sz="1400" b="1" i="0" u="none" strike="noStrike" dirty="0">
                        <a:solidFill>
                          <a:srgbClr val="19194D"/>
                        </a:solidFill>
                        <a:effectLst>
                          <a:outerShdw blurRad="50800" dist="38100" algn="tr" rotWithShape="0">
                            <a:prstClr val="black">
                              <a:alpha val="40000"/>
                            </a:prstClr>
                          </a:outerShdw>
                        </a:effectLst>
                        <a:latin typeface="Tahoma"/>
                      </a:endParaRPr>
                    </a:p>
                  </a:txBody>
                  <a:tcPr marL="9525" marR="9525" marT="9525" marB="0" anchor="ctr"/>
                </a:tc>
              </a:tr>
            </a:tbl>
          </a:graphicData>
        </a:graphic>
      </p:graphicFrame>
      <p:sp>
        <p:nvSpPr>
          <p:cNvPr id="5" name="Rectangle 3"/>
          <p:cNvSpPr txBox="1">
            <a:spLocks noChangeArrowheads="1"/>
          </p:cNvSpPr>
          <p:nvPr/>
        </p:nvSpPr>
        <p:spPr>
          <a:xfrm>
            <a:off x="428625" y="1503610"/>
            <a:ext cx="8501063" cy="178137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pt-BR" dirty="0" smtClean="0"/>
              <a:t>Para subdividir </a:t>
            </a:r>
            <a:r>
              <a:rPr lang="pt-BR" dirty="0"/>
              <a:t>uma mesma Rede em vários segmentos é preciso calcular a máscara de rede</a:t>
            </a:r>
            <a:r>
              <a:rPr lang="pt-BR" dirty="0" smtClean="0"/>
              <a:t>.</a:t>
            </a:r>
          </a:p>
        </p:txBody>
      </p:sp>
    </p:spTree>
    <p:extLst>
      <p:ext uri="{BB962C8B-B14F-4D97-AF65-F5344CB8AC3E}">
        <p14:creationId xmlns:p14="http://schemas.microsoft.com/office/powerpoint/2010/main" val="3717991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Tabela de endereços privados</a:t>
            </a:r>
            <a:endParaRPr lang="pt-BR" dirty="0"/>
          </a:p>
        </p:txBody>
      </p:sp>
      <p:sp>
        <p:nvSpPr>
          <p:cNvPr id="3" name="Espaço Reservado para Conteúdo 2"/>
          <p:cNvSpPr>
            <a:spLocks noGrp="1"/>
          </p:cNvSpPr>
          <p:nvPr>
            <p:ph idx="1"/>
          </p:nvPr>
        </p:nvSpPr>
        <p:spPr/>
        <p:txBody>
          <a:bodyPr/>
          <a:lstStyle/>
          <a:p>
            <a:r>
              <a:rPr lang="pt-BR" dirty="0" smtClean="0"/>
              <a:t>Estes são os endereços que podem ser utilizados nas redes internas sem interferir no endereçamento de Internet</a:t>
            </a:r>
            <a:endParaRPr lang="pt-BR" dirty="0"/>
          </a:p>
        </p:txBody>
      </p:sp>
      <p:graphicFrame>
        <p:nvGraphicFramePr>
          <p:cNvPr id="4" name="Tabela 3"/>
          <p:cNvGraphicFramePr>
            <a:graphicFrameLocks noGrp="1"/>
          </p:cNvGraphicFramePr>
          <p:nvPr>
            <p:extLst>
              <p:ext uri="{D42A27DB-BD31-4B8C-83A1-F6EECF244321}">
                <p14:modId xmlns:p14="http://schemas.microsoft.com/office/powerpoint/2010/main" val="3945619824"/>
              </p:ext>
            </p:extLst>
          </p:nvPr>
        </p:nvGraphicFramePr>
        <p:xfrm>
          <a:off x="2555776" y="3356992"/>
          <a:ext cx="3975100" cy="2950071"/>
        </p:xfrm>
        <a:graphic>
          <a:graphicData uri="http://schemas.openxmlformats.org/drawingml/2006/table">
            <a:tbl>
              <a:tblPr>
                <a:tableStyleId>{5C22544A-7EE6-4342-B048-85BDC9FD1C3A}</a:tableStyleId>
              </a:tblPr>
              <a:tblGrid>
                <a:gridCol w="2004999"/>
                <a:gridCol w="1970101"/>
              </a:tblGrid>
              <a:tr h="410854">
                <a:tc>
                  <a:txBody>
                    <a:bodyPr/>
                    <a:lstStyle/>
                    <a:p>
                      <a:pPr algn="ctr" rtl="0" fontAlgn="ctr"/>
                      <a:r>
                        <a:rPr lang="pt-BR" sz="1800" u="none" strike="noStrike">
                          <a:effectLst>
                            <a:outerShdw blurRad="50800" dist="38100" algn="tr" rotWithShape="0">
                              <a:prstClr val="black">
                                <a:alpha val="40000"/>
                              </a:prstClr>
                            </a:outerShdw>
                          </a:effectLst>
                        </a:rPr>
                        <a:t>Classe de Rede</a:t>
                      </a:r>
                      <a:endParaRPr lang="pt-BR" sz="1800" b="1" i="1"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c>
                  <a:txBody>
                    <a:bodyPr/>
                    <a:lstStyle/>
                    <a:p>
                      <a:pPr algn="ctr" rtl="0" fontAlgn="ctr"/>
                      <a:r>
                        <a:rPr lang="pt-BR" sz="1800" u="none" strike="noStrike">
                          <a:effectLst>
                            <a:outerShdw blurRad="50800" dist="38100" algn="tr" rotWithShape="0">
                              <a:prstClr val="black">
                                <a:alpha val="40000"/>
                              </a:prstClr>
                            </a:outerShdw>
                          </a:effectLst>
                        </a:rPr>
                        <a:t>Bloco de Endereços</a:t>
                      </a:r>
                      <a:endParaRPr lang="pt-BR" sz="1800" b="1" i="1" u="none" strike="noStrike">
                        <a:solidFill>
                          <a:srgbClr val="19194D"/>
                        </a:solidFill>
                        <a:effectLst>
                          <a:outerShdw blurRad="50800" dist="38100" algn="tr" rotWithShape="0">
                            <a:prstClr val="black">
                              <a:alpha val="40000"/>
                            </a:prstClr>
                          </a:outerShdw>
                        </a:effectLst>
                        <a:latin typeface="Tahoma"/>
                      </a:endParaRPr>
                    </a:p>
                  </a:txBody>
                  <a:tcPr marL="9525" marR="9525" marT="9525" marB="0" anchor="ctr"/>
                </a:tc>
              </a:tr>
              <a:tr h="693739">
                <a:tc>
                  <a:txBody>
                    <a:bodyPr/>
                    <a:lstStyle/>
                    <a:p>
                      <a:pPr algn="ctr" rtl="0" fontAlgn="ctr"/>
                      <a:r>
                        <a:rPr lang="pt-BR" sz="2000" u="none" strike="noStrike">
                          <a:effectLst/>
                        </a:rPr>
                        <a:t>A</a:t>
                      </a:r>
                      <a:endParaRPr lang="pt-BR" sz="2000" b="1" i="0" u="none" strike="noStrike">
                        <a:solidFill>
                          <a:srgbClr val="19194D"/>
                        </a:solidFill>
                        <a:effectLst/>
                        <a:latin typeface="Tahoma"/>
                      </a:endParaRPr>
                    </a:p>
                  </a:txBody>
                  <a:tcPr marL="9525" marR="9525" marT="9525" marB="0" anchor="ctr"/>
                </a:tc>
                <a:tc>
                  <a:txBody>
                    <a:bodyPr/>
                    <a:lstStyle/>
                    <a:p>
                      <a:pPr algn="ctr" rtl="0" fontAlgn="ctr"/>
                      <a:r>
                        <a:rPr lang="pt-BR" sz="2000" u="none" strike="noStrike">
                          <a:effectLst/>
                        </a:rPr>
                        <a:t>10.0.0.0 até 10.255.255.255</a:t>
                      </a:r>
                      <a:endParaRPr lang="pt-BR" sz="2000" b="1" i="0" u="none" strike="noStrike">
                        <a:solidFill>
                          <a:srgbClr val="19194D"/>
                        </a:solidFill>
                        <a:effectLst/>
                        <a:latin typeface="Tahoma"/>
                      </a:endParaRPr>
                    </a:p>
                  </a:txBody>
                  <a:tcPr marL="9525" marR="9525" marT="9525" marB="0" anchor="ctr"/>
                </a:tc>
              </a:tr>
              <a:tr h="922739">
                <a:tc>
                  <a:txBody>
                    <a:bodyPr/>
                    <a:lstStyle/>
                    <a:p>
                      <a:pPr algn="ctr" rtl="0" fontAlgn="ctr"/>
                      <a:r>
                        <a:rPr lang="pt-BR" sz="2000" u="none" strike="noStrike">
                          <a:effectLst/>
                        </a:rPr>
                        <a:t>B</a:t>
                      </a:r>
                      <a:endParaRPr lang="pt-BR" sz="2000" b="1" i="0" u="none" strike="noStrike">
                        <a:solidFill>
                          <a:srgbClr val="19194D"/>
                        </a:solidFill>
                        <a:effectLst/>
                        <a:latin typeface="Tahoma"/>
                      </a:endParaRPr>
                    </a:p>
                  </a:txBody>
                  <a:tcPr marL="9525" marR="9525" marT="9525" marB="0" anchor="ctr"/>
                </a:tc>
                <a:tc>
                  <a:txBody>
                    <a:bodyPr/>
                    <a:lstStyle/>
                    <a:p>
                      <a:pPr algn="ctr" rtl="0" fontAlgn="ctr"/>
                      <a:r>
                        <a:rPr lang="pt-BR" sz="2000" u="none" strike="noStrike">
                          <a:effectLst/>
                        </a:rPr>
                        <a:t>172.16.0.0 até 172.31.255.255</a:t>
                      </a:r>
                      <a:endParaRPr lang="pt-BR" sz="2000" b="1" i="0" u="none" strike="noStrike">
                        <a:solidFill>
                          <a:srgbClr val="19194D"/>
                        </a:solidFill>
                        <a:effectLst/>
                        <a:latin typeface="Tahoma"/>
                      </a:endParaRPr>
                    </a:p>
                  </a:txBody>
                  <a:tcPr marL="9525" marR="9525" marT="9525" marB="0" anchor="ctr"/>
                </a:tc>
              </a:tr>
              <a:tr h="922739">
                <a:tc>
                  <a:txBody>
                    <a:bodyPr/>
                    <a:lstStyle/>
                    <a:p>
                      <a:pPr algn="ctr" rtl="0" fontAlgn="ctr"/>
                      <a:r>
                        <a:rPr lang="pt-BR" sz="2000" u="none" strike="noStrike">
                          <a:effectLst/>
                        </a:rPr>
                        <a:t>C</a:t>
                      </a:r>
                      <a:endParaRPr lang="pt-BR" sz="2000" b="1" i="0" u="none" strike="noStrike">
                        <a:solidFill>
                          <a:srgbClr val="19194D"/>
                        </a:solidFill>
                        <a:effectLst/>
                        <a:latin typeface="Tahoma"/>
                      </a:endParaRPr>
                    </a:p>
                  </a:txBody>
                  <a:tcPr marL="9525" marR="9525" marT="9525" marB="0" anchor="ctr"/>
                </a:tc>
                <a:tc>
                  <a:txBody>
                    <a:bodyPr/>
                    <a:lstStyle/>
                    <a:p>
                      <a:pPr algn="ctr" rtl="0" fontAlgn="ctr"/>
                      <a:r>
                        <a:rPr lang="pt-BR" sz="2000" u="none" strike="noStrike" dirty="0">
                          <a:effectLst/>
                        </a:rPr>
                        <a:t>192.168.0.0 até 192.168.255.255</a:t>
                      </a:r>
                      <a:endParaRPr lang="pt-BR" sz="2000" b="1" i="0" u="none" strike="noStrike" dirty="0">
                        <a:solidFill>
                          <a:srgbClr val="19194D"/>
                        </a:solidFill>
                        <a:effectLst/>
                        <a:latin typeface="Tahoma"/>
                      </a:endParaRPr>
                    </a:p>
                  </a:txBody>
                  <a:tcPr marL="9525" marR="9525" marT="9525" marB="0" anchor="ctr"/>
                </a:tc>
              </a:tr>
            </a:tbl>
          </a:graphicData>
        </a:graphic>
      </p:graphicFrame>
    </p:spTree>
    <p:extLst>
      <p:ext uri="{BB962C8B-B14F-4D97-AF65-F5344CB8AC3E}">
        <p14:creationId xmlns:p14="http://schemas.microsoft.com/office/powerpoint/2010/main" val="1993314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Exemplo</a:t>
            </a:r>
            <a:endParaRPr lang="pt-BR" dirty="0"/>
          </a:p>
        </p:txBody>
      </p:sp>
      <p:sp>
        <p:nvSpPr>
          <p:cNvPr id="3" name="Espaço Reservado para Conteúdo 2"/>
          <p:cNvSpPr>
            <a:spLocks noGrp="1"/>
          </p:cNvSpPr>
          <p:nvPr>
            <p:ph idx="1"/>
          </p:nvPr>
        </p:nvSpPr>
        <p:spPr/>
        <p:txBody>
          <a:bodyPr/>
          <a:lstStyle/>
          <a:p>
            <a:r>
              <a:rPr lang="pt-BR" dirty="0"/>
              <a:t>Uma das máquinas não consegue se comunicar com as demais máquinas de sua rede. </a:t>
            </a:r>
          </a:p>
          <a:p>
            <a:r>
              <a:rPr lang="pt-BR" dirty="0"/>
              <a:t>Outra máquina não consegue acesso à Internet </a:t>
            </a:r>
          </a:p>
          <a:p>
            <a:r>
              <a:rPr lang="pt-BR" dirty="0"/>
              <a:t>Que alterações devem ser feitas para que </a:t>
            </a:r>
            <a:r>
              <a:rPr lang="pt-BR" b="1" dirty="0"/>
              <a:t>todas</a:t>
            </a:r>
            <a:r>
              <a:rPr lang="pt-BR" dirty="0"/>
              <a:t> as máquinas possam se comunicar entre si na rede local, além de acessar a internet? </a:t>
            </a:r>
          </a:p>
          <a:p>
            <a:endParaRPr lang="pt-BR" dirty="0"/>
          </a:p>
        </p:txBody>
      </p:sp>
    </p:spTree>
    <p:extLst>
      <p:ext uri="{BB962C8B-B14F-4D97-AF65-F5344CB8AC3E}">
        <p14:creationId xmlns:p14="http://schemas.microsoft.com/office/powerpoint/2010/main" val="38276142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graphicFrame>
        <p:nvGraphicFramePr>
          <p:cNvPr id="6" name="Object 2"/>
          <p:cNvGraphicFramePr>
            <a:graphicFrameLocks noChangeAspect="1"/>
          </p:cNvGraphicFramePr>
          <p:nvPr/>
        </p:nvGraphicFramePr>
        <p:xfrm>
          <a:off x="0" y="785813"/>
          <a:ext cx="8893175" cy="3130550"/>
        </p:xfrm>
        <a:graphic>
          <a:graphicData uri="http://schemas.openxmlformats.org/presentationml/2006/ole">
            <mc:AlternateContent xmlns:mc="http://schemas.openxmlformats.org/markup-compatibility/2006">
              <mc:Choice xmlns:v="urn:schemas-microsoft-com:vml" Requires="v">
                <p:oleObj spid="_x0000_s14364" name="VISIO" r:id="rId3" imgW="6967728" imgH="2450592" progId="Visio.Drawing.4">
                  <p:embed/>
                </p:oleObj>
              </mc:Choice>
              <mc:Fallback>
                <p:oleObj name="VISIO" r:id="rId3" imgW="6967728" imgH="2450592" progId="Visio.Drawing.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85813"/>
                        <a:ext cx="8893175" cy="313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Group 67"/>
          <p:cNvGraphicFramePr>
            <a:graphicFrameLocks noGrp="1"/>
          </p:cNvGraphicFramePr>
          <p:nvPr>
            <p:ph idx="1"/>
          </p:nvPr>
        </p:nvGraphicFramePr>
        <p:xfrm>
          <a:off x="179388" y="4292600"/>
          <a:ext cx="8785225" cy="2113252"/>
        </p:xfrm>
        <a:graphic>
          <a:graphicData uri="http://schemas.openxmlformats.org/drawingml/2006/table">
            <a:tbl>
              <a:tblPr/>
              <a:tblGrid>
                <a:gridCol w="2520950"/>
                <a:gridCol w="2016125"/>
                <a:gridCol w="2087562"/>
                <a:gridCol w="2160588"/>
              </a:tblGrid>
              <a:tr h="573954">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dirty="0" err="1" smtClean="0">
                          <a:ln>
                            <a:noFill/>
                          </a:ln>
                          <a:solidFill>
                            <a:schemeClr val="tx1"/>
                          </a:solidFill>
                          <a:effectLst/>
                          <a:latin typeface="Arial" charset="0"/>
                          <a:ea typeface="Times New Roman" pitchFamily="18" charset="0"/>
                          <a:cs typeface="Arial" charset="0"/>
                        </a:rPr>
                        <a:t>Computador</a:t>
                      </a:r>
                      <a:endParaRPr kumimoji="0" lang="en-GB" sz="1800" b="0" i="0" u="none" strike="noStrike" cap="none" normalizeH="0" baseline="0" dirty="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maquina01</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dirty="0" smtClean="0">
                          <a:ln>
                            <a:noFill/>
                          </a:ln>
                          <a:solidFill>
                            <a:schemeClr val="tx1"/>
                          </a:solidFill>
                          <a:effectLst/>
                          <a:latin typeface="Arial" charset="0"/>
                          <a:ea typeface="Times New Roman" pitchFamily="18" charset="0"/>
                          <a:cs typeface="Arial" charset="0"/>
                        </a:rPr>
                        <a:t>maquina02</a:t>
                      </a:r>
                      <a:endParaRPr kumimoji="0" lang="en-GB" sz="1800" b="0" i="0" u="none" strike="noStrike" cap="none" normalizeH="0" baseline="0" dirty="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maquina03</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39009">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Número IP</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Máscara de sub-rede</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Gateway</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10.10.10.1</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255.255.255.128</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10.10.10.4</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10.10.10.2</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255.255.255.0</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smtClean="0">
                          <a:ln>
                            <a:noFill/>
                          </a:ln>
                          <a:solidFill>
                            <a:schemeClr val="tx1"/>
                          </a:solidFill>
                          <a:effectLst/>
                          <a:latin typeface="Arial" charset="0"/>
                          <a:ea typeface="Times New Roman" pitchFamily="18" charset="0"/>
                          <a:cs typeface="Arial" charset="0"/>
                        </a:rPr>
                        <a:t>10.10.10.4</a:t>
                      </a:r>
                      <a:endParaRPr kumimoji="0" lang="en-GB" sz="1800" b="0" i="0" u="none" strike="noStrike" cap="none" normalizeH="0" baseline="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dirty="0" smtClean="0">
                          <a:ln>
                            <a:noFill/>
                          </a:ln>
                          <a:solidFill>
                            <a:schemeClr val="tx1"/>
                          </a:solidFill>
                          <a:effectLst/>
                          <a:latin typeface="Arial" charset="0"/>
                          <a:ea typeface="Times New Roman" pitchFamily="18" charset="0"/>
                          <a:cs typeface="Arial" charset="0"/>
                        </a:rPr>
                        <a:t>10.10.10.3</a:t>
                      </a:r>
                      <a:endParaRPr kumimoji="0" lang="en-GB" sz="1800" b="0" i="0" u="none" strike="noStrike" cap="none" normalizeH="0" baseline="0" dirty="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dirty="0" smtClean="0">
                          <a:ln>
                            <a:noFill/>
                          </a:ln>
                          <a:solidFill>
                            <a:schemeClr val="tx1"/>
                          </a:solidFill>
                          <a:effectLst/>
                          <a:latin typeface="Arial" charset="0"/>
                          <a:ea typeface="Times New Roman" pitchFamily="18" charset="0"/>
                          <a:cs typeface="Arial" charset="0"/>
                        </a:rPr>
                        <a:t>255.255.255.0</a:t>
                      </a:r>
                      <a:endParaRPr kumimoji="0" lang="en-GB" sz="1800" b="0" i="0" u="none" strike="noStrike" cap="none" normalizeH="0" baseline="0" dirty="0" smtClean="0">
                        <a:ln>
                          <a:noFill/>
                        </a:ln>
                        <a:solidFill>
                          <a:schemeClr val="tx1"/>
                        </a:solidFill>
                        <a:effectLst/>
                        <a:latin typeface="Tahoma" pitchFamily="34" charset="0"/>
                        <a:ea typeface="Times New Roman" pitchFamily="18" charset="0"/>
                        <a:cs typeface="Arial" charset="0"/>
                      </a:endParaRPr>
                    </a:p>
                    <a:p>
                      <a:pPr marL="342900" marR="0" lvl="0" indent="-342900" algn="ctr" defTabSz="449263" rtl="0" eaLnBrk="0" fontAlgn="base" latinLnBrk="0" hangingPunct="0">
                        <a:lnSpc>
                          <a:spcPts val="3838"/>
                        </a:lnSpc>
                        <a:spcBef>
                          <a:spcPct val="0"/>
                        </a:spcBef>
                        <a:spcAft>
                          <a:spcPct val="0"/>
                        </a:spcAft>
                        <a:buClrTx/>
                        <a:buSzTx/>
                        <a:buFontTx/>
                        <a:buNone/>
                        <a:tabLst/>
                      </a:pPr>
                      <a:r>
                        <a:rPr kumimoji="0" lang="en-GB" sz="1800" b="1" i="0" u="none" strike="noStrike" cap="none" normalizeH="0" baseline="0" dirty="0" smtClean="0">
                          <a:ln>
                            <a:noFill/>
                          </a:ln>
                          <a:solidFill>
                            <a:schemeClr val="tx1"/>
                          </a:solidFill>
                          <a:effectLst/>
                          <a:latin typeface="Arial" charset="0"/>
                          <a:ea typeface="Times New Roman" pitchFamily="18" charset="0"/>
                          <a:cs typeface="Arial" charset="0"/>
                        </a:rPr>
                        <a:t>10.10.10.5</a:t>
                      </a:r>
                      <a:endParaRPr kumimoji="0" lang="en-GB" sz="1800" b="0" i="0" u="none" strike="noStrike" cap="none" normalizeH="0" baseline="0" dirty="0" smtClean="0">
                        <a:ln>
                          <a:noFill/>
                        </a:ln>
                        <a:solidFill>
                          <a:schemeClr val="tx1"/>
                        </a:solidFill>
                        <a:effectLst/>
                        <a:latin typeface="Tahoma" pitchFamily="34" charset="0"/>
                        <a:ea typeface="Times New Roman" pitchFamily="18" charset="0"/>
                        <a:cs typeface="Arial" charset="0"/>
                      </a:endParaRPr>
                    </a:p>
                  </a:txBody>
                  <a:tcPr marT="45713" marB="4571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6343697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lvl="3" algn="ctr" rtl="0">
              <a:spcBef>
                <a:spcPct val="0"/>
              </a:spcBef>
            </a:pPr>
            <a:r>
              <a:rPr lang="pt-BR" sz="4400" kern="1200" dirty="0" smtClean="0">
                <a:solidFill>
                  <a:schemeClr val="tx1"/>
                </a:solidFill>
                <a:latin typeface="+mj-lt"/>
                <a:ea typeface="+mj-ea"/>
                <a:cs typeface="+mj-cs"/>
              </a:rPr>
              <a:t>ARP </a:t>
            </a:r>
            <a:r>
              <a:rPr lang="pt-BR" sz="4400" kern="1200" dirty="0">
                <a:solidFill>
                  <a:schemeClr val="tx1"/>
                </a:solidFill>
                <a:latin typeface="+mj-lt"/>
                <a:ea typeface="+mj-ea"/>
                <a:cs typeface="+mj-cs"/>
              </a:rPr>
              <a:t>(</a:t>
            </a:r>
            <a:r>
              <a:rPr lang="pt-BR" sz="4400" kern="1200" dirty="0" err="1">
                <a:solidFill>
                  <a:schemeClr val="tx1"/>
                </a:solidFill>
                <a:latin typeface="+mj-lt"/>
                <a:ea typeface="+mj-ea"/>
                <a:cs typeface="+mj-cs"/>
              </a:rPr>
              <a:t>Address</a:t>
            </a:r>
            <a:r>
              <a:rPr lang="pt-BR" sz="4400" kern="1200" dirty="0">
                <a:solidFill>
                  <a:schemeClr val="tx1"/>
                </a:solidFill>
                <a:latin typeface="+mj-lt"/>
                <a:ea typeface="+mj-ea"/>
                <a:cs typeface="+mj-cs"/>
              </a:rPr>
              <a:t> </a:t>
            </a:r>
            <a:r>
              <a:rPr lang="pt-BR" sz="4400" kern="1200" dirty="0" err="1" smtClean="0">
                <a:solidFill>
                  <a:schemeClr val="tx1"/>
                </a:solidFill>
                <a:latin typeface="+mj-lt"/>
                <a:ea typeface="+mj-ea"/>
                <a:cs typeface="+mj-cs"/>
              </a:rPr>
              <a:t>Resolution</a:t>
            </a:r>
            <a:r>
              <a:rPr lang="pt-BR" sz="4400" kern="1200" dirty="0" smtClean="0">
                <a:solidFill>
                  <a:schemeClr val="tx1"/>
                </a:solidFill>
                <a:latin typeface="+mj-lt"/>
                <a:ea typeface="+mj-ea"/>
                <a:cs typeface="+mj-cs"/>
              </a:rPr>
              <a:t> </a:t>
            </a:r>
            <a:r>
              <a:rPr lang="pt-BR" sz="4400" kern="1200" dirty="0" err="1">
                <a:solidFill>
                  <a:schemeClr val="tx1"/>
                </a:solidFill>
                <a:latin typeface="+mj-lt"/>
                <a:ea typeface="+mj-ea"/>
                <a:cs typeface="+mj-cs"/>
              </a:rPr>
              <a:t>Protocol</a:t>
            </a:r>
            <a:r>
              <a:rPr lang="pt-BR" sz="4400" kern="1200" dirty="0">
                <a:solidFill>
                  <a:schemeClr val="tx1"/>
                </a:solidFill>
                <a:latin typeface="+mj-lt"/>
                <a:ea typeface="+mj-ea"/>
                <a:cs typeface="+mj-cs"/>
              </a:rPr>
              <a:t>)</a:t>
            </a:r>
          </a:p>
        </p:txBody>
      </p:sp>
      <p:sp>
        <p:nvSpPr>
          <p:cNvPr id="3" name="Espaço Reservado para Conteúdo 2"/>
          <p:cNvSpPr>
            <a:spLocks noGrp="1"/>
          </p:cNvSpPr>
          <p:nvPr>
            <p:ph idx="1"/>
          </p:nvPr>
        </p:nvSpPr>
        <p:spPr/>
        <p:txBody>
          <a:bodyPr/>
          <a:lstStyle/>
          <a:p>
            <a:pPr marL="342900" lvl="1" indent="-342900">
              <a:buFont typeface="Arial" pitchFamily="34" charset="0"/>
              <a:buChar char="•"/>
            </a:pPr>
            <a:r>
              <a:rPr lang="pt-BR" dirty="0"/>
              <a:t>Mesmo tendo cada máquina um IP, o </a:t>
            </a:r>
            <a:r>
              <a:rPr lang="pt-BR" dirty="0" smtClean="0"/>
              <a:t>hardware </a:t>
            </a:r>
            <a:r>
              <a:rPr lang="pt-BR" dirty="0"/>
              <a:t>não consegue se comunicar porque não entende o </a:t>
            </a:r>
            <a:r>
              <a:rPr lang="pt-BR" dirty="0" smtClean="0"/>
              <a:t>endereçamento.</a:t>
            </a:r>
          </a:p>
          <a:p>
            <a:pPr marL="342900" lvl="1" indent="-342900">
              <a:buFont typeface="Arial" pitchFamily="34" charset="0"/>
              <a:buChar char="•"/>
            </a:pPr>
            <a:endParaRPr lang="pt-BR" dirty="0" smtClean="0"/>
          </a:p>
          <a:p>
            <a:pPr marL="342900" lvl="1" indent="-342900">
              <a:buFont typeface="Arial" pitchFamily="34" charset="0"/>
              <a:buChar char="•"/>
            </a:pPr>
            <a:r>
              <a:rPr lang="pt-BR" dirty="0" smtClean="0"/>
              <a:t>Mapear </a:t>
            </a:r>
            <a:r>
              <a:rPr lang="pt-BR" dirty="0"/>
              <a:t>Endereços IP de uma mesma rede </a:t>
            </a:r>
            <a:r>
              <a:rPr lang="pt-BR" dirty="0" smtClean="0"/>
              <a:t>em endereços físicos.</a:t>
            </a:r>
          </a:p>
          <a:p>
            <a:pPr marL="342900" lvl="1" indent="-342900">
              <a:buFont typeface="Arial" pitchFamily="34" charset="0"/>
              <a:buChar char="•"/>
            </a:pPr>
            <a:endParaRPr lang="pt-BR" dirty="0" smtClean="0"/>
          </a:p>
          <a:p>
            <a:pPr marL="342900" lvl="1" indent="-342900">
              <a:buFont typeface="Arial" pitchFamily="34" charset="0"/>
              <a:buChar char="•"/>
            </a:pPr>
            <a:r>
              <a:rPr lang="pt-BR" dirty="0"/>
              <a:t>Envia uma mensagem de broadcasting para todas as estações perguntando quem tem aquele endereço IP.</a:t>
            </a:r>
          </a:p>
          <a:p>
            <a:pPr marL="342900" lvl="1" indent="-342900">
              <a:buFont typeface="Arial" pitchFamily="34" charset="0"/>
              <a:buChar char="•"/>
            </a:pPr>
            <a:endParaRPr lang="pt-BR" dirty="0" smtClean="0"/>
          </a:p>
          <a:p>
            <a:pPr marL="342900" lvl="1" indent="-342900">
              <a:buFont typeface="Arial" pitchFamily="34" charset="0"/>
              <a:buChar char="•"/>
            </a:pPr>
            <a:endParaRPr lang="pt-BR" dirty="0"/>
          </a:p>
          <a:p>
            <a:endParaRPr lang="pt-BR" dirty="0"/>
          </a:p>
        </p:txBody>
      </p:sp>
    </p:spTree>
    <p:extLst>
      <p:ext uri="{BB962C8B-B14F-4D97-AF65-F5344CB8AC3E}">
        <p14:creationId xmlns:p14="http://schemas.microsoft.com/office/powerpoint/2010/main" val="463247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ARP (</a:t>
            </a:r>
            <a:r>
              <a:rPr lang="pt-BR" dirty="0" err="1"/>
              <a:t>Address</a:t>
            </a:r>
            <a:r>
              <a:rPr lang="pt-BR" dirty="0"/>
              <a:t> </a:t>
            </a:r>
            <a:r>
              <a:rPr lang="pt-BR" dirty="0" err="1" smtClean="0"/>
              <a:t>Resolution</a:t>
            </a:r>
            <a:r>
              <a:rPr lang="pt-BR" dirty="0" smtClean="0"/>
              <a:t> </a:t>
            </a:r>
            <a:r>
              <a:rPr lang="pt-BR" dirty="0" err="1"/>
              <a:t>Protocol</a:t>
            </a:r>
            <a:r>
              <a:rPr lang="pt-BR" dirty="0"/>
              <a:t>)</a:t>
            </a:r>
          </a:p>
        </p:txBody>
      </p:sp>
      <p:sp>
        <p:nvSpPr>
          <p:cNvPr id="3" name="Espaço Reservado para Conteúdo 2"/>
          <p:cNvSpPr>
            <a:spLocks noGrp="1"/>
          </p:cNvSpPr>
          <p:nvPr>
            <p:ph idx="1"/>
          </p:nvPr>
        </p:nvSpPr>
        <p:spPr/>
        <p:txBody>
          <a:bodyPr>
            <a:normAutofit lnSpcReduction="10000"/>
          </a:bodyPr>
          <a:lstStyle/>
          <a:p>
            <a:r>
              <a:rPr lang="pt-BR" dirty="0"/>
              <a:t>Uma única máquina </a:t>
            </a:r>
            <a:r>
              <a:rPr lang="pt-BR" dirty="0" smtClean="0"/>
              <a:t>responde.</a:t>
            </a:r>
          </a:p>
          <a:p>
            <a:endParaRPr lang="pt-BR" dirty="0"/>
          </a:p>
          <a:p>
            <a:r>
              <a:rPr lang="pt-BR" dirty="0"/>
              <a:t>A máquina que fez a pergunta guarda o endereço físico no cache para possível uso </a:t>
            </a:r>
            <a:r>
              <a:rPr lang="pt-BR" dirty="0" smtClean="0"/>
              <a:t>posterior.</a:t>
            </a:r>
          </a:p>
          <a:p>
            <a:endParaRPr lang="pt-BR" dirty="0"/>
          </a:p>
          <a:p>
            <a:r>
              <a:rPr lang="pt-BR" dirty="0"/>
              <a:t>Em máquinas Windows o </a:t>
            </a:r>
            <a:r>
              <a:rPr lang="pt-BR" dirty="0" smtClean="0"/>
              <a:t>comando </a:t>
            </a:r>
            <a:r>
              <a:rPr lang="pt-BR" i="1" dirty="0" err="1" smtClean="0"/>
              <a:t>arp</a:t>
            </a:r>
            <a:r>
              <a:rPr lang="pt-BR" i="1" dirty="0" smtClean="0"/>
              <a:t> -a</a:t>
            </a:r>
            <a:r>
              <a:rPr lang="pt-BR" dirty="0" smtClean="0"/>
              <a:t>, traz </a:t>
            </a:r>
            <a:r>
              <a:rPr lang="pt-BR" dirty="0"/>
              <a:t>a relação de todas os endereços </a:t>
            </a:r>
            <a:r>
              <a:rPr lang="pt-BR" dirty="0" err="1"/>
              <a:t>IPs</a:t>
            </a:r>
            <a:r>
              <a:rPr lang="pt-BR" dirty="0"/>
              <a:t> da rede com seus respectivos endereços </a:t>
            </a:r>
            <a:r>
              <a:rPr lang="pt-BR" dirty="0" smtClean="0"/>
              <a:t>físicos.</a:t>
            </a:r>
            <a:endParaRPr lang="pt-BR" dirty="0"/>
          </a:p>
          <a:p>
            <a:endParaRPr lang="pt-BR" dirty="0"/>
          </a:p>
        </p:txBody>
      </p:sp>
    </p:spTree>
    <p:extLst>
      <p:ext uri="{BB962C8B-B14F-4D97-AF65-F5344CB8AC3E}">
        <p14:creationId xmlns:p14="http://schemas.microsoft.com/office/powerpoint/2010/main" val="4163474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ARP (</a:t>
            </a:r>
            <a:r>
              <a:rPr lang="pt-BR" dirty="0" err="1"/>
              <a:t>Address</a:t>
            </a:r>
            <a:r>
              <a:rPr lang="pt-BR" dirty="0"/>
              <a:t> </a:t>
            </a:r>
            <a:r>
              <a:rPr lang="pt-BR" dirty="0" err="1"/>
              <a:t>Resolution</a:t>
            </a:r>
            <a:r>
              <a:rPr lang="pt-BR" dirty="0"/>
              <a:t> </a:t>
            </a:r>
            <a:r>
              <a:rPr lang="pt-BR" dirty="0" err="1"/>
              <a:t>Protocol</a:t>
            </a:r>
            <a:r>
              <a:rPr lang="pt-BR" dirty="0"/>
              <a:t>)</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909" y="1844824"/>
            <a:ext cx="7448183"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8122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ICMP (Internet </a:t>
            </a:r>
            <a:r>
              <a:rPr lang="pt-BR" dirty="0" err="1"/>
              <a:t>Control</a:t>
            </a:r>
            <a:r>
              <a:rPr lang="pt-BR" dirty="0"/>
              <a:t> </a:t>
            </a:r>
            <a:r>
              <a:rPr lang="pt-BR" dirty="0" err="1"/>
              <a:t>Message</a:t>
            </a:r>
            <a:r>
              <a:rPr lang="pt-BR" dirty="0"/>
              <a:t> </a:t>
            </a:r>
            <a:r>
              <a:rPr lang="pt-BR" dirty="0" err="1"/>
              <a:t>Protocol</a:t>
            </a:r>
            <a:r>
              <a:rPr lang="pt-BR" dirty="0"/>
              <a:t>)</a:t>
            </a:r>
          </a:p>
        </p:txBody>
      </p:sp>
      <p:sp>
        <p:nvSpPr>
          <p:cNvPr id="3" name="Espaço Reservado para Conteúdo 2"/>
          <p:cNvSpPr>
            <a:spLocks noGrp="1"/>
          </p:cNvSpPr>
          <p:nvPr>
            <p:ph idx="1"/>
          </p:nvPr>
        </p:nvSpPr>
        <p:spPr/>
        <p:txBody>
          <a:bodyPr/>
          <a:lstStyle/>
          <a:p>
            <a:r>
              <a:rPr lang="pt-BR" dirty="0"/>
              <a:t>Objetivo: Informar à origem de problemas na entrega do pacote IP:</a:t>
            </a:r>
          </a:p>
          <a:p>
            <a:pPr lvl="1"/>
            <a:r>
              <a:rPr lang="pt-BR" dirty="0"/>
              <a:t>Falha nas linhas de </a:t>
            </a:r>
            <a:r>
              <a:rPr lang="pt-BR" dirty="0" smtClean="0"/>
              <a:t>comunicação.</a:t>
            </a:r>
            <a:endParaRPr lang="pt-BR" dirty="0"/>
          </a:p>
          <a:p>
            <a:pPr lvl="1"/>
            <a:r>
              <a:rPr lang="pt-BR" dirty="0"/>
              <a:t>Máquina destino desconectada da </a:t>
            </a:r>
            <a:r>
              <a:rPr lang="pt-BR" dirty="0" smtClean="0"/>
              <a:t>rede.</a:t>
            </a:r>
            <a:endParaRPr lang="pt-BR" dirty="0"/>
          </a:p>
          <a:p>
            <a:pPr lvl="1"/>
            <a:r>
              <a:rPr lang="pt-BR" dirty="0"/>
              <a:t>TTL (Time-</a:t>
            </a:r>
            <a:r>
              <a:rPr lang="pt-BR" dirty="0" err="1"/>
              <a:t>to</a:t>
            </a:r>
            <a:r>
              <a:rPr lang="pt-BR" dirty="0"/>
              <a:t>-Live) do pacote IP </a:t>
            </a:r>
            <a:r>
              <a:rPr lang="pt-BR" dirty="0" smtClean="0"/>
              <a:t>expirar.</a:t>
            </a:r>
            <a:endParaRPr lang="pt-BR" dirty="0"/>
          </a:p>
          <a:p>
            <a:pPr lvl="1"/>
            <a:r>
              <a:rPr lang="pt-BR" dirty="0"/>
              <a:t>Gateway intermediários congestionados entre </a:t>
            </a:r>
            <a:r>
              <a:rPr lang="pt-BR" dirty="0" smtClean="0"/>
              <a:t>outros.</a:t>
            </a:r>
            <a:endParaRPr lang="pt-BR" dirty="0"/>
          </a:p>
        </p:txBody>
      </p:sp>
    </p:spTree>
    <p:extLst>
      <p:ext uri="{BB962C8B-B14F-4D97-AF65-F5344CB8AC3E}">
        <p14:creationId xmlns:p14="http://schemas.microsoft.com/office/powerpoint/2010/main" val="3106185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ICMP</a:t>
            </a:r>
          </a:p>
        </p:txBody>
      </p:sp>
      <p:sp>
        <p:nvSpPr>
          <p:cNvPr id="3" name="Espaço Reservado para Conteúdo 2"/>
          <p:cNvSpPr>
            <a:spLocks noGrp="1"/>
          </p:cNvSpPr>
          <p:nvPr>
            <p:ph idx="1"/>
          </p:nvPr>
        </p:nvSpPr>
        <p:spPr/>
        <p:txBody>
          <a:bodyPr>
            <a:normAutofit/>
          </a:bodyPr>
          <a:lstStyle/>
          <a:p>
            <a:r>
              <a:rPr lang="pt-BR" dirty="0"/>
              <a:t>Algumas mensagens reportadas pelo ICMP são:</a:t>
            </a:r>
          </a:p>
          <a:p>
            <a:pPr lvl="1"/>
            <a:r>
              <a:rPr lang="pt-BR" dirty="0"/>
              <a:t>Network </a:t>
            </a:r>
            <a:r>
              <a:rPr lang="pt-BR" dirty="0" err="1"/>
              <a:t>Unreachable</a:t>
            </a:r>
            <a:r>
              <a:rPr lang="pt-BR" dirty="0"/>
              <a:t> (rede não alcançável)</a:t>
            </a:r>
          </a:p>
          <a:p>
            <a:pPr lvl="1"/>
            <a:r>
              <a:rPr lang="pt-BR" dirty="0"/>
              <a:t>Host </a:t>
            </a:r>
            <a:r>
              <a:rPr lang="pt-BR" dirty="0" err="1"/>
              <a:t>Unreachable</a:t>
            </a:r>
            <a:r>
              <a:rPr lang="pt-BR" dirty="0"/>
              <a:t> (host não alcançável)</a:t>
            </a:r>
          </a:p>
          <a:p>
            <a:pPr lvl="1"/>
            <a:r>
              <a:rPr lang="pt-BR" dirty="0" err="1"/>
              <a:t>Port</a:t>
            </a:r>
            <a:r>
              <a:rPr lang="pt-BR" dirty="0"/>
              <a:t> </a:t>
            </a:r>
            <a:r>
              <a:rPr lang="pt-BR" dirty="0" err="1"/>
              <a:t>Unreachable</a:t>
            </a:r>
            <a:r>
              <a:rPr lang="pt-BR" dirty="0"/>
              <a:t> (</a:t>
            </a:r>
            <a:r>
              <a:rPr lang="pt-BR" dirty="0" smtClean="0"/>
              <a:t>porta </a:t>
            </a:r>
            <a:r>
              <a:rPr lang="pt-BR" dirty="0"/>
              <a:t>não alcançável)</a:t>
            </a:r>
          </a:p>
          <a:p>
            <a:pPr lvl="1"/>
            <a:r>
              <a:rPr lang="pt-BR" dirty="0" err="1"/>
              <a:t>Destination</a:t>
            </a:r>
            <a:r>
              <a:rPr lang="pt-BR" dirty="0"/>
              <a:t> Host </a:t>
            </a:r>
            <a:r>
              <a:rPr lang="pt-BR" dirty="0" err="1"/>
              <a:t>Unknown</a:t>
            </a:r>
            <a:r>
              <a:rPr lang="pt-BR" dirty="0"/>
              <a:t> (Host destino desconhecido)</a:t>
            </a:r>
          </a:p>
          <a:p>
            <a:pPr lvl="1"/>
            <a:r>
              <a:rPr lang="pt-BR" dirty="0" smtClean="0"/>
              <a:t>Entre </a:t>
            </a:r>
            <a:r>
              <a:rPr lang="pt-BR" dirty="0"/>
              <a:t>outros</a:t>
            </a:r>
          </a:p>
          <a:p>
            <a:endParaRPr lang="pt-BR" dirty="0"/>
          </a:p>
        </p:txBody>
      </p:sp>
    </p:spTree>
    <p:extLst>
      <p:ext uri="{BB962C8B-B14F-4D97-AF65-F5344CB8AC3E}">
        <p14:creationId xmlns:p14="http://schemas.microsoft.com/office/powerpoint/2010/main" val="981924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ICMP</a:t>
            </a:r>
          </a:p>
        </p:txBody>
      </p:sp>
      <p:sp>
        <p:nvSpPr>
          <p:cNvPr id="3" name="Espaço Reservado para Conteúdo 2"/>
          <p:cNvSpPr>
            <a:spLocks noGrp="1"/>
          </p:cNvSpPr>
          <p:nvPr>
            <p:ph idx="1"/>
          </p:nvPr>
        </p:nvSpPr>
        <p:spPr/>
        <p:txBody>
          <a:bodyPr/>
          <a:lstStyle/>
          <a:p>
            <a:r>
              <a:rPr lang="pt-BR" dirty="0" smtClean="0"/>
              <a:t>Comando </a:t>
            </a:r>
            <a:r>
              <a:rPr lang="pt-BR" dirty="0" err="1" smtClean="0"/>
              <a:t>ping</a:t>
            </a:r>
            <a:r>
              <a:rPr lang="pt-BR" dirty="0" smtClean="0"/>
              <a:t>:</a:t>
            </a:r>
            <a:endParaRPr lang="pt-BR"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679" y="2420888"/>
            <a:ext cx="7803547"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6385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smtClean="0"/>
              <a:t>DHCP (</a:t>
            </a:r>
            <a:r>
              <a:rPr lang="pt-BR" dirty="0" err="1" smtClean="0"/>
              <a:t>Dynamic</a:t>
            </a:r>
            <a:r>
              <a:rPr lang="pt-BR" dirty="0" smtClean="0"/>
              <a:t> Host </a:t>
            </a:r>
            <a:r>
              <a:rPr lang="pt-BR" dirty="0" err="1" smtClean="0"/>
              <a:t>Configuration</a:t>
            </a:r>
            <a:r>
              <a:rPr lang="pt-BR" dirty="0" smtClean="0"/>
              <a:t> </a:t>
            </a:r>
            <a:r>
              <a:rPr lang="pt-BR" dirty="0" err="1" smtClean="0"/>
              <a:t>Protocol</a:t>
            </a:r>
            <a:r>
              <a:rPr lang="pt-BR" dirty="0" smtClean="0"/>
              <a:t>)</a:t>
            </a:r>
            <a:endParaRPr lang="pt-BR" dirty="0"/>
          </a:p>
        </p:txBody>
      </p:sp>
      <p:sp>
        <p:nvSpPr>
          <p:cNvPr id="3" name="Espaço Reservado para Conteúdo 2"/>
          <p:cNvSpPr>
            <a:spLocks noGrp="1"/>
          </p:cNvSpPr>
          <p:nvPr>
            <p:ph idx="1"/>
          </p:nvPr>
        </p:nvSpPr>
        <p:spPr/>
        <p:txBody>
          <a:bodyPr/>
          <a:lstStyle/>
          <a:p>
            <a:pPr lvl="0"/>
            <a:r>
              <a:rPr lang="pt-BR" dirty="0"/>
              <a:t>D</a:t>
            </a:r>
            <a:r>
              <a:rPr lang="pt-BR" dirty="0" smtClean="0"/>
              <a:t>ado </a:t>
            </a:r>
            <a:r>
              <a:rPr lang="pt-BR" dirty="0"/>
              <a:t>um endereço MAC, qual é o IP </a:t>
            </a:r>
            <a:r>
              <a:rPr lang="pt-BR" dirty="0" smtClean="0"/>
              <a:t>correspondente? (inverso ao ARP).</a:t>
            </a:r>
          </a:p>
          <a:p>
            <a:pPr lvl="0"/>
            <a:endParaRPr lang="pt-BR" dirty="0"/>
          </a:p>
          <a:p>
            <a:pPr lvl="0"/>
            <a:r>
              <a:rPr lang="pt-BR" dirty="0" smtClean="0"/>
              <a:t>Baseia-se na ideia </a:t>
            </a:r>
            <a:r>
              <a:rPr lang="pt-BR" dirty="0"/>
              <a:t>de um servidor especial que atribui endereços IP a hosts que solicitam </a:t>
            </a:r>
            <a:r>
              <a:rPr lang="pt-BR" dirty="0" smtClean="0"/>
              <a:t>endereço. </a:t>
            </a:r>
            <a:endParaRPr lang="pt-BR" dirty="0"/>
          </a:p>
          <a:p>
            <a:endParaRPr lang="pt-BR" dirty="0"/>
          </a:p>
        </p:txBody>
      </p:sp>
    </p:spTree>
    <p:extLst>
      <p:ext uri="{BB962C8B-B14F-4D97-AF65-F5344CB8AC3E}">
        <p14:creationId xmlns:p14="http://schemas.microsoft.com/office/powerpoint/2010/main" val="3200917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DHCP</a:t>
            </a:r>
          </a:p>
        </p:txBody>
      </p:sp>
      <p:sp>
        <p:nvSpPr>
          <p:cNvPr id="3" name="Espaço Reservado para Conteúdo 2"/>
          <p:cNvSpPr>
            <a:spLocks noGrp="1"/>
          </p:cNvSpPr>
          <p:nvPr>
            <p:ph idx="1"/>
          </p:nvPr>
        </p:nvSpPr>
        <p:spPr/>
        <p:txBody>
          <a:bodyPr>
            <a:normAutofit lnSpcReduction="10000"/>
          </a:bodyPr>
          <a:lstStyle/>
          <a:p>
            <a:r>
              <a:rPr lang="pt-BR" dirty="0"/>
              <a:t>Em uma rede com centenas e até mesmo milhares de estações de trabalho, configurar o TCP/IP em cada estação se torna uma tarefa bastante </a:t>
            </a:r>
            <a:r>
              <a:rPr lang="pt-BR" dirty="0" smtClean="0"/>
              <a:t>trabalhosa.</a:t>
            </a:r>
          </a:p>
          <a:p>
            <a:endParaRPr lang="pt-BR" dirty="0"/>
          </a:p>
          <a:p>
            <a:r>
              <a:rPr lang="pt-BR" dirty="0"/>
              <a:t>Sempre que houver mudanças, a reconfiguração terá que ser feita manualmente em todas as estações de </a:t>
            </a:r>
            <a:r>
              <a:rPr lang="pt-BR" dirty="0" smtClean="0"/>
              <a:t>trabalho.</a:t>
            </a:r>
            <a:endParaRPr lang="pt-BR" dirty="0"/>
          </a:p>
          <a:p>
            <a:pPr marL="0" indent="0">
              <a:buNone/>
            </a:pPr>
            <a:endParaRPr lang="pt-BR" dirty="0"/>
          </a:p>
        </p:txBody>
      </p:sp>
    </p:spTree>
    <p:extLst>
      <p:ext uri="{BB962C8B-B14F-4D97-AF65-F5344CB8AC3E}">
        <p14:creationId xmlns:p14="http://schemas.microsoft.com/office/powerpoint/2010/main" val="1910115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DHCP</a:t>
            </a:r>
          </a:p>
        </p:txBody>
      </p:sp>
      <p:sp>
        <p:nvSpPr>
          <p:cNvPr id="3" name="Espaço Reservado para Conteúdo 2"/>
          <p:cNvSpPr>
            <a:spLocks noGrp="1"/>
          </p:cNvSpPr>
          <p:nvPr>
            <p:ph idx="1"/>
          </p:nvPr>
        </p:nvSpPr>
        <p:spPr/>
        <p:txBody>
          <a:bodyPr>
            <a:normAutofit/>
          </a:bodyPr>
          <a:lstStyle/>
          <a:p>
            <a:r>
              <a:rPr lang="pt-BR" dirty="0"/>
              <a:t>Com a instalação de um servidor DHCP é possível fazer com que os computadores e demais dispositivos de uma rede obtenham </a:t>
            </a:r>
            <a:r>
              <a:rPr lang="pt-BR" b="1" dirty="0"/>
              <a:t>automaticamente</a:t>
            </a:r>
            <a:r>
              <a:rPr lang="pt-BR" dirty="0"/>
              <a:t> configurações de </a:t>
            </a:r>
            <a:r>
              <a:rPr lang="pt-BR" dirty="0" smtClean="0"/>
              <a:t>TCP/IP.</a:t>
            </a:r>
          </a:p>
          <a:p>
            <a:endParaRPr lang="pt-BR" dirty="0"/>
          </a:p>
          <a:p>
            <a:endParaRPr lang="pt-BR" dirty="0"/>
          </a:p>
          <a:p>
            <a:endParaRPr lang="pt-BR" dirty="0"/>
          </a:p>
        </p:txBody>
      </p:sp>
    </p:spTree>
    <p:extLst>
      <p:ext uri="{BB962C8B-B14F-4D97-AF65-F5344CB8AC3E}">
        <p14:creationId xmlns:p14="http://schemas.microsoft.com/office/powerpoint/2010/main" val="1199698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DHCP</a:t>
            </a:r>
          </a:p>
        </p:txBody>
      </p:sp>
      <p:graphicFrame>
        <p:nvGraphicFramePr>
          <p:cNvPr id="4" name="Objeto 3"/>
          <p:cNvGraphicFramePr>
            <a:graphicFrameLocks noChangeAspect="1"/>
          </p:cNvGraphicFramePr>
          <p:nvPr>
            <p:extLst>
              <p:ext uri="{D42A27DB-BD31-4B8C-83A1-F6EECF244321}">
                <p14:modId xmlns:p14="http://schemas.microsoft.com/office/powerpoint/2010/main" val="800374898"/>
              </p:ext>
            </p:extLst>
          </p:nvPr>
        </p:nvGraphicFramePr>
        <p:xfrm>
          <a:off x="1571625" y="1628800"/>
          <a:ext cx="5802313" cy="4729138"/>
        </p:xfrm>
        <a:graphic>
          <a:graphicData uri="http://schemas.openxmlformats.org/presentationml/2006/ole">
            <mc:AlternateContent xmlns:mc="http://schemas.openxmlformats.org/markup-compatibility/2006">
              <mc:Choice xmlns:v="urn:schemas-microsoft-com:vml" Requires="v">
                <p:oleObj spid="_x0000_s15378" name="Visio" r:id="rId3" imgW="3300222" imgH="3210242" progId="Visio.Drawing.11">
                  <p:embed/>
                </p:oleObj>
              </mc:Choice>
              <mc:Fallback>
                <p:oleObj name="Visio" r:id="rId3" imgW="3300222" imgH="3210242"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1628800"/>
                        <a:ext cx="5802313" cy="472913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4379056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AGGERGROUP" val="2,9"/>
</p:tagLst>
</file>

<file path=ppt/tags/tag2.xml><?xml version="1.0" encoding="utf-8"?>
<p:tagLst xmlns:a="http://schemas.openxmlformats.org/drawingml/2006/main" xmlns:r="http://schemas.openxmlformats.org/officeDocument/2006/relationships" xmlns:p="http://schemas.openxmlformats.org/presentationml/2006/main">
  <p:tag name="PPTAGGERGROUP" val="2,9"/>
</p:tagLst>
</file>

<file path=ppt/tags/tag3.xml><?xml version="1.0" encoding="utf-8"?>
<p:tagLst xmlns:a="http://schemas.openxmlformats.org/drawingml/2006/main" xmlns:r="http://schemas.openxmlformats.org/officeDocument/2006/relationships" xmlns:p="http://schemas.openxmlformats.org/presentationml/2006/main">
  <p:tag name="PPTAGGERGROUP" val="2,9,10"/>
</p:tagLst>
</file>

<file path=ppt/tags/tag4.xml><?xml version="1.0" encoding="utf-8"?>
<p:tagLst xmlns:a="http://schemas.openxmlformats.org/drawingml/2006/main" xmlns:r="http://schemas.openxmlformats.org/officeDocument/2006/relationships" xmlns:p="http://schemas.openxmlformats.org/presentationml/2006/main">
  <p:tag name="PPTAGGERGROUP" val="2,9,10"/>
</p:tagLst>
</file>

<file path=ppt/tags/tag5.xml><?xml version="1.0" encoding="utf-8"?>
<p:tagLst xmlns:a="http://schemas.openxmlformats.org/drawingml/2006/main" xmlns:r="http://schemas.openxmlformats.org/officeDocument/2006/relationships" xmlns:p="http://schemas.openxmlformats.org/presentationml/2006/main">
  <p:tag name="PPTAGGERGROUP" val="2,9,10"/>
</p:tagLst>
</file>

<file path=ppt/tags/tag6.xml><?xml version="1.0" encoding="utf-8"?>
<p:tagLst xmlns:a="http://schemas.openxmlformats.org/drawingml/2006/main" xmlns:r="http://schemas.openxmlformats.org/officeDocument/2006/relationships" xmlns:p="http://schemas.openxmlformats.org/presentationml/2006/main">
  <p:tag name="PPTAGGERGROUP" val="2,9,10"/>
</p:tagLst>
</file>

<file path=ppt/tags/tag7.xml><?xml version="1.0" encoding="utf-8"?>
<p:tagLst xmlns:a="http://schemas.openxmlformats.org/drawingml/2006/main" xmlns:r="http://schemas.openxmlformats.org/officeDocument/2006/relationships" xmlns:p="http://schemas.openxmlformats.org/presentationml/2006/main">
  <p:tag name="PPTAGGERGROUP" val="2,9,10,11"/>
</p:tagLst>
</file>

<file path=ppt/tags/tag8.xml><?xml version="1.0" encoding="utf-8"?>
<p:tagLst xmlns:a="http://schemas.openxmlformats.org/drawingml/2006/main" xmlns:r="http://schemas.openxmlformats.org/officeDocument/2006/relationships" xmlns:p="http://schemas.openxmlformats.org/presentationml/2006/main">
  <p:tag name="PPTAGGERGROUP" val="2,9,10,11"/>
</p:tagLst>
</file>

<file path=ppt/tags/tag9.xml><?xml version="1.0" encoding="utf-8"?>
<p:tagLst xmlns:a="http://schemas.openxmlformats.org/drawingml/2006/main" xmlns:r="http://schemas.openxmlformats.org/officeDocument/2006/relationships" xmlns:p="http://schemas.openxmlformats.org/presentationml/2006/main">
  <p:tag name="PPTAGGERGROUP" val="2,9,10,11"/>
</p:tagLst>
</file>

<file path=ppt/tags/tag10.xml><?xml version="1.0" encoding="utf-8"?>
<p:tagLst xmlns:a="http://schemas.openxmlformats.org/drawingml/2006/main" xmlns:r="http://schemas.openxmlformats.org/officeDocument/2006/relationships" xmlns:p="http://schemas.openxmlformats.org/presentationml/2006/main">
  <p:tag name="PPTAGGERGROUP" val="2,9,10,11"/>
</p:tagLst>
</file>

<file path=ppt/tags/tag11.xml><?xml version="1.0" encoding="utf-8"?>
<p:tagLst xmlns:a="http://schemas.openxmlformats.org/drawingml/2006/main" xmlns:r="http://schemas.openxmlformats.org/officeDocument/2006/relationships" xmlns:p="http://schemas.openxmlformats.org/presentationml/2006/main">
  <p:tag name="PPTAGGERGROUP" val="2,9,10"/>
</p:tagLst>
</file>

<file path=ppt/tags/tag12.xml><?xml version="1.0" encoding="utf-8"?>
<p:tagLst xmlns:a="http://schemas.openxmlformats.org/drawingml/2006/main" xmlns:r="http://schemas.openxmlformats.org/officeDocument/2006/relationships" xmlns:p="http://schemas.openxmlformats.org/presentationml/2006/main">
  <p:tag name="PPTAGGERGROUP" val="2,9,12"/>
</p:tagLst>
</file>

<file path=ppt/tags/tag13.xml><?xml version="1.0" encoding="utf-8"?>
<p:tagLst xmlns:a="http://schemas.openxmlformats.org/drawingml/2006/main" xmlns:r="http://schemas.openxmlformats.org/officeDocument/2006/relationships" xmlns:p="http://schemas.openxmlformats.org/presentationml/2006/main">
  <p:tag name="PPTAGGERGROUP" val="2,9,12"/>
</p:tagLst>
</file>

<file path=ppt/tags/tag14.xml><?xml version="1.0" encoding="utf-8"?>
<p:tagLst xmlns:a="http://schemas.openxmlformats.org/drawingml/2006/main" xmlns:r="http://schemas.openxmlformats.org/officeDocument/2006/relationships" xmlns:p="http://schemas.openxmlformats.org/presentationml/2006/main">
  <p:tag name="PPTAGGERGROUP" val="2,9,12"/>
</p:tagLst>
</file>

<file path=ppt/tags/tag15.xml><?xml version="1.0" encoding="utf-8"?>
<p:tagLst xmlns:a="http://schemas.openxmlformats.org/drawingml/2006/main" xmlns:r="http://schemas.openxmlformats.org/officeDocument/2006/relationships" xmlns:p="http://schemas.openxmlformats.org/presentationml/2006/main">
  <p:tag name="PPTAGGERGROUP" val="2,9,12"/>
</p:tagLst>
</file>

<file path=ppt/tags/tag16.xml><?xml version="1.0" encoding="utf-8"?>
<p:tagLst xmlns:a="http://schemas.openxmlformats.org/drawingml/2006/main" xmlns:r="http://schemas.openxmlformats.org/officeDocument/2006/relationships" xmlns:p="http://schemas.openxmlformats.org/presentationml/2006/main">
  <p:tag name="PPTAGGERGROUP" val="2,9,12,13"/>
</p:tagLst>
</file>

<file path=ppt/tags/tag17.xml><?xml version="1.0" encoding="utf-8"?>
<p:tagLst xmlns:a="http://schemas.openxmlformats.org/drawingml/2006/main" xmlns:r="http://schemas.openxmlformats.org/officeDocument/2006/relationships" xmlns:p="http://schemas.openxmlformats.org/presentationml/2006/main">
  <p:tag name="PPTAGGERGROUP" val="2,9,12,13"/>
</p:tagLst>
</file>

<file path=ppt/tags/tag18.xml><?xml version="1.0" encoding="utf-8"?>
<p:tagLst xmlns:a="http://schemas.openxmlformats.org/drawingml/2006/main" xmlns:r="http://schemas.openxmlformats.org/officeDocument/2006/relationships" xmlns:p="http://schemas.openxmlformats.org/presentationml/2006/main">
  <p:tag name="PPTAGGERGROUP" val="2,9,12,13"/>
</p:tagLst>
</file>

<file path=ppt/tags/tag19.xml><?xml version="1.0" encoding="utf-8"?>
<p:tagLst xmlns:a="http://schemas.openxmlformats.org/drawingml/2006/main" xmlns:r="http://schemas.openxmlformats.org/officeDocument/2006/relationships" xmlns:p="http://schemas.openxmlformats.org/presentationml/2006/main">
  <p:tag name="PPTAGGERGROUP" val="2,9,12,13"/>
</p:tagLst>
</file>

<file path=ppt/tags/tag20.xml><?xml version="1.0" encoding="utf-8"?>
<p:tagLst xmlns:a="http://schemas.openxmlformats.org/drawingml/2006/main" xmlns:r="http://schemas.openxmlformats.org/officeDocument/2006/relationships" xmlns:p="http://schemas.openxmlformats.org/presentationml/2006/main">
  <p:tag name="PPTAGGERGROUP" val="2,9,12"/>
</p:tagLst>
</file>

<file path=ppt/tags/tag21.xml><?xml version="1.0" encoding="utf-8"?>
<p:tagLst xmlns:a="http://schemas.openxmlformats.org/drawingml/2006/main" xmlns:r="http://schemas.openxmlformats.org/officeDocument/2006/relationships" xmlns:p="http://schemas.openxmlformats.org/presentationml/2006/main">
  <p:tag name="PPTAGGERGROUP" val="2"/>
</p:tagLst>
</file>

<file path=ppt/tags/tag22.xml><?xml version="1.0" encoding="utf-8"?>
<p:tagLst xmlns:a="http://schemas.openxmlformats.org/drawingml/2006/main" xmlns:r="http://schemas.openxmlformats.org/officeDocument/2006/relationships" xmlns:p="http://schemas.openxmlformats.org/presentationml/2006/main">
  <p:tag name="PPTAGGERGROUP" val="2,3"/>
</p:tagLst>
</file>

<file path=ppt/tags/tag23.xml><?xml version="1.0" encoding="utf-8"?>
<p:tagLst xmlns:a="http://schemas.openxmlformats.org/drawingml/2006/main" xmlns:r="http://schemas.openxmlformats.org/officeDocument/2006/relationships" xmlns:p="http://schemas.openxmlformats.org/presentationml/2006/main">
  <p:tag name="PPTAGGERGROUP" val="2,3"/>
</p:tagLst>
</file>

<file path=ppt/tags/tag24.xml><?xml version="1.0" encoding="utf-8"?>
<p:tagLst xmlns:a="http://schemas.openxmlformats.org/drawingml/2006/main" xmlns:r="http://schemas.openxmlformats.org/officeDocument/2006/relationships" xmlns:p="http://schemas.openxmlformats.org/presentationml/2006/main">
  <p:tag name="PPTAGGERGROUP" val="2,3"/>
</p:tagLst>
</file>

<file path=ppt/tags/tag25.xml><?xml version="1.0" encoding="utf-8"?>
<p:tagLst xmlns:a="http://schemas.openxmlformats.org/drawingml/2006/main" xmlns:r="http://schemas.openxmlformats.org/officeDocument/2006/relationships" xmlns:p="http://schemas.openxmlformats.org/presentationml/2006/main">
  <p:tag name="PPTAGGERGROUP" val="2,3"/>
</p:tagLst>
</file>

<file path=ppt/tags/tag26.xml><?xml version="1.0" encoding="utf-8"?>
<p:tagLst xmlns:a="http://schemas.openxmlformats.org/drawingml/2006/main" xmlns:r="http://schemas.openxmlformats.org/officeDocument/2006/relationships" xmlns:p="http://schemas.openxmlformats.org/presentationml/2006/main">
  <p:tag name="PPTAGGERGROUP" val="2,3"/>
</p:tagLst>
</file>

<file path=ppt/tags/tag27.xml><?xml version="1.0" encoding="utf-8"?>
<p:tagLst xmlns:a="http://schemas.openxmlformats.org/drawingml/2006/main" xmlns:r="http://schemas.openxmlformats.org/officeDocument/2006/relationships" xmlns:p="http://schemas.openxmlformats.org/presentationml/2006/main">
  <p:tag name="PPTAGGERGROUP" val="2,3"/>
</p:tagLst>
</file>

<file path=ppt/tags/tag28.xml><?xml version="1.0" encoding="utf-8"?>
<p:tagLst xmlns:a="http://schemas.openxmlformats.org/drawingml/2006/main" xmlns:r="http://schemas.openxmlformats.org/officeDocument/2006/relationships" xmlns:p="http://schemas.openxmlformats.org/presentationml/2006/main">
  <p:tag name="PPTAGGERGROUP" val="2,3"/>
</p:tagLst>
</file>

<file path=ppt/tags/tag29.xml><?xml version="1.0" encoding="utf-8"?>
<p:tagLst xmlns:a="http://schemas.openxmlformats.org/drawingml/2006/main" xmlns:r="http://schemas.openxmlformats.org/officeDocument/2006/relationships" xmlns:p="http://schemas.openxmlformats.org/presentationml/2006/main">
  <p:tag name="PPTAGGERGROUP" val="2,3"/>
</p:tagLst>
</file>

<file path=ppt/tags/tag30.xml><?xml version="1.0" encoding="utf-8"?>
<p:tagLst xmlns:a="http://schemas.openxmlformats.org/drawingml/2006/main" xmlns:r="http://schemas.openxmlformats.org/officeDocument/2006/relationships" xmlns:p="http://schemas.openxmlformats.org/presentationml/2006/main">
  <p:tag name="PPTAGGERGROUP" val="5"/>
</p:tagLst>
</file>

<file path=ppt/tags/tag31.xml><?xml version="1.0" encoding="utf-8"?>
<p:tagLst xmlns:a="http://schemas.openxmlformats.org/drawingml/2006/main" xmlns:r="http://schemas.openxmlformats.org/officeDocument/2006/relationships" xmlns:p="http://schemas.openxmlformats.org/presentationml/2006/main">
  <p:tag name="PPTAGGERGROUP" val="5"/>
</p:tagLst>
</file>

<file path=ppt/tags/tag32.xml><?xml version="1.0" encoding="utf-8"?>
<p:tagLst xmlns:a="http://schemas.openxmlformats.org/drawingml/2006/main" xmlns:r="http://schemas.openxmlformats.org/officeDocument/2006/relationships" xmlns:p="http://schemas.openxmlformats.org/presentationml/2006/main">
  <p:tag name="PPTAGGERGROUP" val="6"/>
</p:tagLst>
</file>

<file path=ppt/tags/tag33.xml><?xml version="1.0" encoding="utf-8"?>
<p:tagLst xmlns:a="http://schemas.openxmlformats.org/drawingml/2006/main" xmlns:r="http://schemas.openxmlformats.org/officeDocument/2006/relationships" xmlns:p="http://schemas.openxmlformats.org/presentationml/2006/main">
  <p:tag name="PPTAGGERGROUP" val="6"/>
</p:tagLst>
</file>

<file path=ppt/tags/tag34.xml><?xml version="1.0" encoding="utf-8"?>
<p:tagLst xmlns:a="http://schemas.openxmlformats.org/drawingml/2006/main" xmlns:r="http://schemas.openxmlformats.org/officeDocument/2006/relationships" xmlns:p="http://schemas.openxmlformats.org/presentationml/2006/main">
  <p:tag name="PPTAGGERGROUP" val="4"/>
</p:tagLst>
</file>

<file path=ppt/tags/tag35.xml><?xml version="1.0" encoding="utf-8"?>
<p:tagLst xmlns:a="http://schemas.openxmlformats.org/drawingml/2006/main" xmlns:r="http://schemas.openxmlformats.org/officeDocument/2006/relationships" xmlns:p="http://schemas.openxmlformats.org/presentationml/2006/main">
  <p:tag name="PPTAGGERGROUP" val="4"/>
</p:tagLst>
</file>

<file path=ppt/tags/tag36.xml><?xml version="1.0" encoding="utf-8"?>
<p:tagLst xmlns:a="http://schemas.openxmlformats.org/drawingml/2006/main" xmlns:r="http://schemas.openxmlformats.org/officeDocument/2006/relationships" xmlns:p="http://schemas.openxmlformats.org/presentationml/2006/main">
  <p:tag name="PPTAGGERGROUP" val="2,14"/>
</p:tagLst>
</file>

<file path=ppt/tags/tag37.xml><?xml version="1.0" encoding="utf-8"?>
<p:tagLst xmlns:a="http://schemas.openxmlformats.org/drawingml/2006/main" xmlns:r="http://schemas.openxmlformats.org/officeDocument/2006/relationships" xmlns:p="http://schemas.openxmlformats.org/presentationml/2006/main">
  <p:tag name="PPTAGGERGROUP" val="2,14"/>
</p:tagLst>
</file>

<file path=ppt/tags/tag38.xml><?xml version="1.0" encoding="utf-8"?>
<p:tagLst xmlns:a="http://schemas.openxmlformats.org/drawingml/2006/main" xmlns:r="http://schemas.openxmlformats.org/officeDocument/2006/relationships" xmlns:p="http://schemas.openxmlformats.org/presentationml/2006/main">
  <p:tag name="PPTAGGERGROUP" val="2,14"/>
</p:tagLst>
</file>

<file path=ppt/tags/tag39.xml><?xml version="1.0" encoding="utf-8"?>
<p:tagLst xmlns:a="http://schemas.openxmlformats.org/drawingml/2006/main" xmlns:r="http://schemas.openxmlformats.org/officeDocument/2006/relationships" xmlns:p="http://schemas.openxmlformats.org/presentationml/2006/main">
  <p:tag name="PPTAGGERGROUP" val="2,14"/>
</p:tagLst>
</file>

<file path=ppt/tags/tag40.xml><?xml version="1.0" encoding="utf-8"?>
<p:tagLst xmlns:a="http://schemas.openxmlformats.org/drawingml/2006/main" xmlns:r="http://schemas.openxmlformats.org/officeDocument/2006/relationships" xmlns:p="http://schemas.openxmlformats.org/presentationml/2006/main">
  <p:tag name="PPTAGGERGROUP" val="2,14"/>
</p:tagLst>
</file>

<file path=ppt/tags/tag41.xml><?xml version="1.0" encoding="utf-8"?>
<p:tagLst xmlns:a="http://schemas.openxmlformats.org/drawingml/2006/main" xmlns:r="http://schemas.openxmlformats.org/officeDocument/2006/relationships" xmlns:p="http://schemas.openxmlformats.org/presentationml/2006/main">
  <p:tag name="PPTAGGERGROUP" val="2,14"/>
</p:tagLst>
</file>

<file path=ppt/tags/tag42.xml><?xml version="1.0" encoding="utf-8"?>
<p:tagLst xmlns:a="http://schemas.openxmlformats.org/drawingml/2006/main" xmlns:r="http://schemas.openxmlformats.org/officeDocument/2006/relationships" xmlns:p="http://schemas.openxmlformats.org/presentationml/2006/main">
  <p:tag name="PPTAGGERGROUP" val="2,14"/>
</p:tagLst>
</file>

<file path=ppt/tags/tag43.xml><?xml version="1.0" encoding="utf-8"?>
<p:tagLst xmlns:a="http://schemas.openxmlformats.org/drawingml/2006/main" xmlns:r="http://schemas.openxmlformats.org/officeDocument/2006/relationships" xmlns:p="http://schemas.openxmlformats.org/presentationml/2006/main">
  <p:tag name="PPTAGGERGROUP" val="2,14"/>
</p:tagLst>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2222</TotalTime>
  <Words>1194</Words>
  <Application>Microsoft Office PowerPoint</Application>
  <PresentationFormat>Apresentação na tela (4:3)</PresentationFormat>
  <Paragraphs>210</Paragraphs>
  <Slides>34</Slides>
  <Notes>3</Notes>
  <HiddenSlides>4</HiddenSlides>
  <MMClips>0</MMClips>
  <ScaleCrop>false</ScaleCrop>
  <HeadingPairs>
    <vt:vector size="6" baseType="variant">
      <vt:variant>
        <vt:lpstr>Tema</vt:lpstr>
      </vt:variant>
      <vt:variant>
        <vt:i4>1</vt:i4>
      </vt:variant>
      <vt:variant>
        <vt:lpstr>Servidores OLE incorporados</vt:lpstr>
      </vt:variant>
      <vt:variant>
        <vt:i4>2</vt:i4>
      </vt:variant>
      <vt:variant>
        <vt:lpstr>Títulos de slides</vt:lpstr>
      </vt:variant>
      <vt:variant>
        <vt:i4>34</vt:i4>
      </vt:variant>
    </vt:vector>
  </HeadingPairs>
  <TitlesOfParts>
    <vt:vector size="37" baseType="lpstr">
      <vt:lpstr>Tema do Office</vt:lpstr>
      <vt:lpstr>VISIO</vt:lpstr>
      <vt:lpstr>Visio</vt:lpstr>
      <vt:lpstr>Camada de Rede</vt:lpstr>
      <vt:lpstr>Apresentação do PowerPoint</vt:lpstr>
      <vt:lpstr>Introdução</vt:lpstr>
      <vt:lpstr>Questões de Projeto da Camada de Rede</vt:lpstr>
      <vt:lpstr>Placas (rede)</vt:lpstr>
      <vt:lpstr>Hub’s</vt:lpstr>
      <vt:lpstr>Switches</vt:lpstr>
      <vt:lpstr>Roteadores</vt:lpstr>
      <vt:lpstr>Roteadores</vt:lpstr>
      <vt:lpstr>Equipamentos</vt:lpstr>
      <vt:lpstr>Algoritmos de Roteamento</vt:lpstr>
      <vt:lpstr>Controle de congestionamento </vt:lpstr>
      <vt:lpstr>A Camada de Rede na Internet</vt:lpstr>
      <vt:lpstr>O Que é um Endereço IP?</vt:lpstr>
      <vt:lpstr>Endereço IP</vt:lpstr>
      <vt:lpstr>Endereço IP</vt:lpstr>
      <vt:lpstr>Endereço IP</vt:lpstr>
      <vt:lpstr>Endereço IP – Classe A</vt:lpstr>
      <vt:lpstr>Endereço IP – Classe B</vt:lpstr>
      <vt:lpstr>Endereço IP – Classe C</vt:lpstr>
      <vt:lpstr>Máscara de rede</vt:lpstr>
      <vt:lpstr>Tabela de endereços privados</vt:lpstr>
      <vt:lpstr>Exemplo</vt:lpstr>
      <vt:lpstr>Apresentação do PowerPoint</vt:lpstr>
      <vt:lpstr>ARP (Address Resolution Protocol)</vt:lpstr>
      <vt:lpstr>ARP (Address Resolution Protocol)</vt:lpstr>
      <vt:lpstr>ARP (Address Resolution Protocol)</vt:lpstr>
      <vt:lpstr>ICMP (Internet Control Message Protocol)</vt:lpstr>
      <vt:lpstr>ICMP</vt:lpstr>
      <vt:lpstr>ICMP</vt:lpstr>
      <vt:lpstr>DHCP (Dynamic Host Configuration Protocol)</vt:lpstr>
      <vt:lpstr>DHCP</vt:lpstr>
      <vt:lpstr>DHCP</vt:lpstr>
      <vt:lpstr>DHCP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henrique</dc:creator>
  <cp:lastModifiedBy>henrique</cp:lastModifiedBy>
  <cp:revision>196</cp:revision>
  <dcterms:created xsi:type="dcterms:W3CDTF">2010-09-29T10:48:05Z</dcterms:created>
  <dcterms:modified xsi:type="dcterms:W3CDTF">2011-11-08T18:25:48Z</dcterms:modified>
</cp:coreProperties>
</file>