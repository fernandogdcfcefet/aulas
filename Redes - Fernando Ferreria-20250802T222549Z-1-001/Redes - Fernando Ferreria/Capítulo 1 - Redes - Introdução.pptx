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282" r:id="rId4"/>
    <p:sldId id="259" r:id="rId5"/>
    <p:sldId id="283" r:id="rId6"/>
    <p:sldId id="260" r:id="rId7"/>
    <p:sldId id="284" r:id="rId8"/>
    <p:sldId id="285" r:id="rId9"/>
    <p:sldId id="261" r:id="rId10"/>
    <p:sldId id="262" r:id="rId11"/>
    <p:sldId id="286" r:id="rId12"/>
    <p:sldId id="288" r:id="rId13"/>
    <p:sldId id="290" r:id="rId14"/>
    <p:sldId id="289" r:id="rId15"/>
    <p:sldId id="287" r:id="rId16"/>
    <p:sldId id="291" r:id="rId17"/>
    <p:sldId id="292" r:id="rId18"/>
    <p:sldId id="263" r:id="rId19"/>
    <p:sldId id="264" r:id="rId20"/>
    <p:sldId id="293" r:id="rId21"/>
    <p:sldId id="265" r:id="rId22"/>
    <p:sldId id="294" r:id="rId23"/>
    <p:sldId id="295" r:id="rId24"/>
    <p:sldId id="266" r:id="rId25"/>
    <p:sldId id="267" r:id="rId26"/>
    <p:sldId id="268" r:id="rId27"/>
    <p:sldId id="269" r:id="rId28"/>
    <p:sldId id="270" r:id="rId29"/>
    <p:sldId id="296" r:id="rId30"/>
    <p:sldId id="297" r:id="rId31"/>
    <p:sldId id="301" r:id="rId32"/>
    <p:sldId id="302" r:id="rId33"/>
    <p:sldId id="273" r:id="rId34"/>
    <p:sldId id="303" r:id="rId35"/>
    <p:sldId id="275" r:id="rId36"/>
    <p:sldId id="304" r:id="rId37"/>
    <p:sldId id="305" r:id="rId38"/>
    <p:sldId id="306" r:id="rId39"/>
    <p:sldId id="307" r:id="rId4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028" autoAdjust="0"/>
  </p:normalViewPr>
  <p:slideViewPr>
    <p:cSldViewPr>
      <p:cViewPr varScale="1">
        <p:scale>
          <a:sx n="90" d="100"/>
          <a:sy n="90" d="100"/>
        </p:scale>
        <p:origin x="-9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D1F0C-26CA-45B0-AA53-D774CF8B2FBC}" type="datetimeFigureOut">
              <a:rPr lang="pt-BR" smtClean="0"/>
              <a:t>18/10/2011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5D10-1F63-4199-9259-EB0FB5FA98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3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C5D10-1F63-4199-9259-EB0FB5FA985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0716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pt-B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arquitectura</a:t>
            </a:r>
            <a:r>
              <a:rPr lang="pt-B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TCP/IP surgiu com a criação de uma rede patrocinada pelo Departamento de Defesa do governo dos USA. A sua tarefa era manter os órgãos do governo e universidades comunicados contra catástrofes que afetassem aquele país. </a:t>
            </a:r>
          </a:p>
          <a:p>
            <a:r>
              <a:rPr lang="pt-B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Dessa necessidade surgiu a ARPANET, uma rede que permaneceria intata caso um dos servidores perdesse ligação. A ARPANET necessitava então de um modelo de protocolos que assegurasse tal funcionalidade esperada, mostrando-se confiável, flexível e de fácil implementação. É então desenvolvida a arquitetura TCP/IP, que se torna um padrão de fato.</a:t>
            </a:r>
          </a:p>
          <a:p>
            <a:endParaRPr lang="pt-B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ARPANET cresceu e tornou-se a rede mundial de computadores – Internet. A utilização (e facilidades) do padrão TCP/IP utilizado pelos fabricantes de outras</a:t>
            </a:r>
          </a:p>
          <a:p>
            <a:r>
              <a:rPr lang="pt-B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redes, com a finalidade da conectividade com a Internet. A normalização do TCP/IP chegou após a sua utilização em massa.</a:t>
            </a:r>
          </a:p>
          <a:p>
            <a:endParaRPr lang="pt-B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Hoje, quando se menciona TCP/IP, vem imediata a associação com a Internet, ocorrendo de modo idêntico o inverso: a Internet está diretamente relacionada à</a:t>
            </a:r>
          </a:p>
          <a:p>
            <a:r>
              <a:rPr lang="pt-B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arquitetura TCP/IP.</a:t>
            </a:r>
            <a:endParaRPr lang="pt-BR" dirty="0" smtClean="0"/>
          </a:p>
          <a:p>
            <a:endParaRPr lang="pt-BR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71645C-E972-4853-A531-D8DAF9CDA6E3}" type="slidenum">
              <a:rPr lang="pt-BR" smtClean="0"/>
              <a:pPr/>
              <a:t>34</a:t>
            </a:fld>
            <a:endParaRPr lang="pt-B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ABA59-32B4-46FB-9A9C-2FF7D14C82C2}" type="datetime1">
              <a:rPr lang="pt-BR" smtClean="0"/>
              <a:t>18/10/2011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3BDE9-7481-480D-B710-81D6A1CDE066}" type="datetime1">
              <a:rPr lang="pt-BR" smtClean="0"/>
              <a:t>18/10/2011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7C01A-86E8-4A92-AFA3-9C0552DF0062}" type="datetime1">
              <a:rPr lang="pt-BR" smtClean="0"/>
              <a:t>18/10/2011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C7386-DFE9-41F4-AB31-708184F475C5}" type="datetime1">
              <a:rPr lang="pt-BR" smtClean="0"/>
              <a:t>18/10/2011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AF0CE-0253-48EE-A3D2-09F7FCE906C3}" type="datetime1">
              <a:rPr lang="pt-BR" smtClean="0"/>
              <a:t>18/10/2011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694E0-D16C-49D8-A749-EFFAD965F01A}" type="datetime1">
              <a:rPr lang="pt-BR" smtClean="0"/>
              <a:t>18/10/2011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C295-B716-41FA-BD00-B2A834B878DA}" type="datetime1">
              <a:rPr lang="pt-BR" smtClean="0"/>
              <a:t>18/10/2011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9F33-B8AB-474C-A321-05DF293C3D2D}" type="datetime1">
              <a:rPr lang="pt-BR" smtClean="0"/>
              <a:t>18/10/2011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AF4F3-27D6-4623-AB04-20D4EFCB9850}" type="datetime1">
              <a:rPr lang="pt-BR" smtClean="0"/>
              <a:t>18/10/2011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7505-A397-4DEB-B577-D62508431E0C}" type="datetime1">
              <a:rPr lang="pt-BR" smtClean="0"/>
              <a:t>18/10/2011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C0C50-079D-4EC9-AE6D-8915CE9E0D8C}" type="datetime1">
              <a:rPr lang="pt-BR" smtClean="0"/>
              <a:t>18/10/2011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 Tóp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357158" y="320040"/>
            <a:ext cx="8043890" cy="608630"/>
          </a:xfrm>
        </p:spPr>
        <p:txBody>
          <a:bodyPr>
            <a:noAutofit/>
          </a:bodyPr>
          <a:lstStyle>
            <a:lvl1pPr>
              <a:defRPr sz="3200" u="none">
                <a:solidFill>
                  <a:schemeClr val="bg2">
                    <a:lumMod val="25000"/>
                  </a:schemeClr>
                </a:solidFill>
              </a:defRPr>
            </a:lvl1pPr>
            <a:extLst/>
          </a:lstStyle>
          <a:p>
            <a:r>
              <a:rPr kumimoji="0" lang="pt-BR" dirty="0" smtClean="0"/>
              <a:t>Clique para editar o estilo do título mestre</a:t>
            </a:r>
            <a:endParaRPr kumimoji="0" lang="en-US" dirty="0"/>
          </a:p>
        </p:txBody>
      </p:sp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357158" y="1000108"/>
            <a:ext cx="8043890" cy="5455628"/>
          </a:xfrm>
        </p:spPr>
        <p:txBody>
          <a:bodyPr/>
          <a:lstStyle>
            <a:lvl1pPr>
              <a:defRPr u="none">
                <a:latin typeface="Arial" pitchFamily="34" charset="0"/>
                <a:cs typeface="Arial" pitchFamily="34" charset="0"/>
              </a:defRPr>
            </a:lvl1pPr>
            <a:lvl2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u="none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 eaLnBrk="1" latinLnBrk="0" hangingPunct="1"/>
            <a:r>
              <a:rPr lang="pt-BR" dirty="0" smtClean="0"/>
              <a:t>Clique para editar os estilos do texto mestre</a:t>
            </a:r>
          </a:p>
          <a:p>
            <a:pPr lvl="1" eaLnBrk="1" latinLnBrk="0" hangingPunct="1"/>
            <a:r>
              <a:rPr lang="pt-BR" dirty="0" smtClean="0"/>
              <a:t>Segundo nível</a:t>
            </a:r>
          </a:p>
          <a:p>
            <a:pPr lvl="2" eaLnBrk="1" latinLnBrk="0" hangingPunct="1"/>
            <a:r>
              <a:rPr lang="pt-BR" dirty="0" smtClean="0"/>
              <a:t>Terceiro nível</a:t>
            </a:r>
          </a:p>
          <a:p>
            <a:pPr lvl="3" eaLnBrk="1" latinLnBrk="0" hangingPunct="1"/>
            <a:r>
              <a:rPr lang="pt-BR" dirty="0" smtClean="0"/>
              <a:t>Quarto nível</a:t>
            </a:r>
          </a:p>
          <a:p>
            <a:pPr lvl="4" eaLnBrk="1" latinLnBrk="0" hangingPunct="1"/>
            <a:r>
              <a:rPr lang="pt-BR" dirty="0" smtClean="0"/>
              <a:t>Quinto nível</a:t>
            </a:r>
            <a:endParaRPr kumimoji="0" lang="en-US" dirty="0"/>
          </a:p>
        </p:txBody>
      </p:sp>
      <p:sp>
        <p:nvSpPr>
          <p:cNvPr id="10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245936" y="6557946"/>
            <a:ext cx="2002464" cy="226902"/>
          </a:xfrm>
        </p:spPr>
        <p:txBody>
          <a:bodyPr/>
          <a:lstStyle>
            <a:lvl1pPr>
              <a:defRPr u="none"/>
            </a:lvl1pPr>
            <a:extLst/>
          </a:lstStyle>
          <a:p>
            <a:fld id="{246485EE-EA33-4AFF-9D7C-49D58FF2685A}" type="datetime1">
              <a:rPr lang="pt-BR" smtClean="0"/>
              <a:t>18/10/2011</a:t>
            </a:fld>
            <a:endParaRPr lang="pt-BR"/>
          </a:p>
        </p:txBody>
      </p:sp>
      <p:sp>
        <p:nvSpPr>
          <p:cNvPr id="11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557946"/>
            <a:ext cx="3657600" cy="228600"/>
          </a:xfrm>
        </p:spPr>
        <p:txBody>
          <a:bodyPr/>
          <a:lstStyle>
            <a:lvl1pPr>
              <a:defRPr u="none"/>
            </a:lvl1pPr>
            <a:extLst/>
          </a:lstStyle>
          <a:p>
            <a:endParaRPr lang="pt-BR"/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251448" y="6556248"/>
            <a:ext cx="588336" cy="228600"/>
          </a:xfrm>
        </p:spPr>
        <p:txBody>
          <a:bodyPr/>
          <a:lstStyle>
            <a:lvl1pPr>
              <a:defRPr u="none"/>
            </a:lvl1pPr>
            <a:extLst/>
          </a:lstStyle>
          <a:p>
            <a:fld id="{98DC3795-F7D9-45F4-A608-0B8ECA5E98F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32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00818-7ACB-48C8-A8DB-DFCE958894BD}" type="datetime1">
              <a:rPr lang="pt-BR" smtClean="0"/>
              <a:t>18/10/2011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.w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" Type="http://schemas.openxmlformats.org/officeDocument/2006/relationships/tags" Target="../tags/tag21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tags" Target="../tags/tag37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Relationship Id="rId22" Type="http://schemas.openxmlformats.org/officeDocument/2006/relationships/image" Target="../media/image1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Redes – Introdução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Henrique Batista da Silva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88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Sistemas computacionais eram altamente centralizados;</a:t>
            </a:r>
          </a:p>
          <a:p>
            <a:r>
              <a:rPr lang="pt-BR" dirty="0" smtClean="0"/>
              <a:t>A fusão dos computadores e das comunicações teve profunda influência na organização dos sistemas computacionais.</a:t>
            </a:r>
          </a:p>
          <a:p>
            <a:r>
              <a:rPr lang="pt-BR" dirty="0" smtClean="0"/>
              <a:t>Modelo de um único computador atendendo todas as necessidade foi substituído pelas chamadas </a:t>
            </a:r>
            <a:r>
              <a:rPr lang="pt-BR" b="1" dirty="0" smtClean="0"/>
              <a:t>redes de computadores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43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 smtClean="0"/>
              <a:t>Redes de computadores: </a:t>
            </a:r>
            <a:r>
              <a:rPr lang="pt-BR" dirty="0" smtClean="0"/>
              <a:t>Um conjunto de computadores autônomos interconectados por uma única tecnologia (</a:t>
            </a:r>
            <a:r>
              <a:rPr lang="pt-BR" dirty="0" err="1" smtClean="0"/>
              <a:t>Tanenbaum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 smtClean="0"/>
              <a:t>Dois computadores estão interconectados quando podem trocar informações.</a:t>
            </a:r>
          </a:p>
          <a:p>
            <a:endParaRPr lang="pt-BR" dirty="0"/>
          </a:p>
          <a:p>
            <a:r>
              <a:rPr lang="pt-BR" dirty="0"/>
              <a:t>Internet: Não é uma única rede, e sim uma rede de redes.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2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Uso de Redes de Computadores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Aplicações comerciais:</a:t>
            </a:r>
          </a:p>
          <a:p>
            <a:pPr lvl="1"/>
            <a:r>
              <a:rPr lang="pt-BR" dirty="0" smtClean="0"/>
              <a:t>Compartilhamento de recurso: tornar todos os dados ao alcance de todas as pessoas na rede, independente da localização física do usuário e do recurso.</a:t>
            </a:r>
          </a:p>
          <a:p>
            <a:pPr lvl="2"/>
            <a:r>
              <a:rPr lang="pt-BR" dirty="0" smtClean="0"/>
              <a:t>Ex.: Compartilhamento de uma impressora.</a:t>
            </a:r>
          </a:p>
          <a:p>
            <a:pPr lvl="1"/>
            <a:endParaRPr lang="pt-BR" dirty="0" smtClean="0"/>
          </a:p>
          <a:p>
            <a:pPr lvl="1"/>
            <a:r>
              <a:rPr lang="pt-BR" dirty="0" smtClean="0"/>
              <a:t>Compartilhamento de informações em uma organização.</a:t>
            </a:r>
            <a:endParaRPr lang="pt-BR" dirty="0"/>
          </a:p>
          <a:p>
            <a:pPr lvl="1"/>
            <a:endParaRPr lang="pt-BR" dirty="0"/>
          </a:p>
          <a:p>
            <a:pPr lvl="1"/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35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Uso de Redes de Computadores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Aplicações comerciais (modelo cliente/servidor):</a:t>
            </a:r>
          </a:p>
          <a:p>
            <a:pPr lvl="1"/>
            <a:r>
              <a:rPr lang="pt-BR" dirty="0" smtClean="0"/>
              <a:t>Servidor: Máquinas centralizadas para acesso remoto (Ex.: Banco de dados)</a:t>
            </a:r>
          </a:p>
          <a:p>
            <a:pPr lvl="1"/>
            <a:r>
              <a:rPr lang="pt-BR" dirty="0" smtClean="0"/>
              <a:t>Cliente: Máquinas nos quais os usuários acessam dados remotos.</a:t>
            </a:r>
          </a:p>
          <a:p>
            <a:pPr lvl="1"/>
            <a:r>
              <a:rPr lang="pt-BR" dirty="0" smtClean="0"/>
              <a:t>Meios de comunicação entre pessoas (e-mail).</a:t>
            </a:r>
            <a:endParaRPr lang="pt-BR" dirty="0"/>
          </a:p>
          <a:p>
            <a:pPr lvl="1"/>
            <a:endParaRPr lang="pt-BR" dirty="0" smtClean="0"/>
          </a:p>
          <a:p>
            <a:endParaRPr lang="pt-BR" dirty="0"/>
          </a:p>
          <a:p>
            <a:pPr lvl="1"/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09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Uso de Redes de Computadores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Aplicações domésticas:</a:t>
            </a:r>
          </a:p>
          <a:p>
            <a:pPr lvl="1"/>
            <a:r>
              <a:rPr lang="pt-BR" i="1" dirty="0" smtClean="0"/>
              <a:t>“Não há nenhuma razão para qualquer indivíduo ter um computador em casa” </a:t>
            </a:r>
            <a:r>
              <a:rPr lang="pt-BR" dirty="0" smtClean="0"/>
              <a:t>(Ken Olsen, Digital </a:t>
            </a:r>
            <a:r>
              <a:rPr lang="pt-BR" dirty="0" err="1" smtClean="0"/>
              <a:t>Equipment</a:t>
            </a:r>
            <a:r>
              <a:rPr lang="pt-BR" dirty="0" smtClean="0"/>
              <a:t> Corporation, </a:t>
            </a:r>
            <a:r>
              <a:rPr lang="pt-BR" dirty="0" smtClean="0"/>
              <a:t>1977</a:t>
            </a:r>
            <a:r>
              <a:rPr lang="pt-BR" dirty="0" smtClean="0"/>
              <a:t>).</a:t>
            </a:r>
          </a:p>
          <a:p>
            <a:pPr lvl="1"/>
            <a:endParaRPr lang="pt-BR" dirty="0" smtClean="0"/>
          </a:p>
          <a:p>
            <a:pPr lvl="1"/>
            <a:r>
              <a:rPr lang="pt-BR" dirty="0" smtClean="0"/>
              <a:t>A história mostrou o contrário e a Digital não existe mais.</a:t>
            </a:r>
          </a:p>
          <a:p>
            <a:pPr marL="457200" lvl="1" indent="0">
              <a:buNone/>
            </a:pPr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000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Uso de Redes de Computadores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Aplicações domésticas:</a:t>
            </a:r>
          </a:p>
          <a:p>
            <a:pPr lvl="1"/>
            <a:r>
              <a:rPr lang="pt-BR" dirty="0" smtClean="0"/>
              <a:t>No início: Processamento de texto, jogos, etc.</a:t>
            </a:r>
          </a:p>
          <a:p>
            <a:pPr lvl="1"/>
            <a:r>
              <a:rPr lang="pt-BR" dirty="0" smtClean="0"/>
              <a:t>Hoje: Internet.</a:t>
            </a:r>
          </a:p>
          <a:p>
            <a:pPr lvl="2"/>
            <a:r>
              <a:rPr lang="pt-BR" dirty="0" smtClean="0"/>
              <a:t>Acesso a informação remota</a:t>
            </a:r>
          </a:p>
          <a:p>
            <a:pPr lvl="2"/>
            <a:r>
              <a:rPr lang="pt-BR" dirty="0" smtClean="0"/>
              <a:t>Comunicação entre pessoas</a:t>
            </a:r>
          </a:p>
          <a:p>
            <a:pPr lvl="2"/>
            <a:r>
              <a:rPr lang="pt-BR" dirty="0" smtClean="0"/>
              <a:t>Entretenimento interativo</a:t>
            </a:r>
          </a:p>
          <a:p>
            <a:pPr lvl="2"/>
            <a:r>
              <a:rPr lang="pt-BR" dirty="0" smtClean="0"/>
              <a:t>Comercio </a:t>
            </a:r>
            <a:r>
              <a:rPr lang="pt-BR" dirty="0" smtClean="0"/>
              <a:t>eletrônico</a:t>
            </a:r>
          </a:p>
          <a:p>
            <a:pPr lvl="2"/>
            <a:r>
              <a:rPr lang="pt-BR" dirty="0" smtClean="0"/>
              <a:t>Computação nas nuvens</a:t>
            </a:r>
            <a:endParaRPr lang="pt-BR" dirty="0" smtClean="0"/>
          </a:p>
          <a:p>
            <a:pPr lvl="2"/>
            <a:endParaRPr lang="pt-BR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1770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Uso de Redes de Computadores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Aplicações domésticas:</a:t>
            </a:r>
          </a:p>
          <a:p>
            <a:pPr lvl="1"/>
            <a:r>
              <a:rPr lang="pt-BR" dirty="0" smtClean="0"/>
              <a:t>Exemplos: </a:t>
            </a:r>
          </a:p>
          <a:p>
            <a:pPr lvl="2"/>
            <a:r>
              <a:rPr lang="pt-BR" dirty="0" smtClean="0"/>
              <a:t>Troca de mensagens instantâneas (derivado do </a:t>
            </a:r>
            <a:r>
              <a:rPr lang="pt-BR" i="1" dirty="0" err="1" smtClean="0"/>
              <a:t>talk</a:t>
            </a:r>
            <a:r>
              <a:rPr lang="pt-BR" dirty="0" smtClean="0"/>
              <a:t> do Unix).</a:t>
            </a:r>
          </a:p>
          <a:p>
            <a:pPr lvl="2"/>
            <a:r>
              <a:rPr lang="pt-BR" dirty="0" smtClean="0"/>
              <a:t>Chamadas telefônicas pela Internet (</a:t>
            </a:r>
            <a:r>
              <a:rPr lang="pt-BR" dirty="0" err="1" smtClean="0"/>
              <a:t>Voip</a:t>
            </a:r>
            <a:r>
              <a:rPr lang="pt-BR" dirty="0" smtClean="0"/>
              <a:t>).</a:t>
            </a:r>
          </a:p>
          <a:p>
            <a:pPr lvl="1"/>
            <a:endParaRPr lang="pt-BR" dirty="0"/>
          </a:p>
          <a:p>
            <a:pPr lvl="1"/>
            <a:r>
              <a:rPr lang="pt-BR" dirty="0" smtClean="0"/>
              <a:t>Comunicação não hierárquica (</a:t>
            </a:r>
            <a:r>
              <a:rPr lang="pt-BR" i="1" dirty="0" err="1" smtClean="0"/>
              <a:t>peer-to-peer</a:t>
            </a:r>
            <a:r>
              <a:rPr lang="pt-BR" i="1" dirty="0" smtClean="0"/>
              <a:t> - p2p</a:t>
            </a:r>
            <a:r>
              <a:rPr lang="pt-BR" dirty="0" smtClean="0"/>
              <a:t>). </a:t>
            </a:r>
          </a:p>
          <a:p>
            <a:pPr lvl="2"/>
            <a:r>
              <a:rPr lang="pt-BR" dirty="0" smtClean="0"/>
              <a:t>Diferente do modelo cliente-servidor.</a:t>
            </a:r>
          </a:p>
          <a:p>
            <a:pPr lvl="2"/>
            <a:r>
              <a:rPr lang="pt-BR" dirty="0" smtClean="0"/>
              <a:t>Exemplos: Napster (2000), </a:t>
            </a:r>
            <a:r>
              <a:rPr lang="pt-BR" dirty="0" err="1" smtClean="0"/>
              <a:t>Torrents</a:t>
            </a:r>
            <a:r>
              <a:rPr lang="pt-BR" dirty="0" smtClean="0"/>
              <a:t>.   </a:t>
            </a:r>
          </a:p>
          <a:p>
            <a:pPr lvl="1"/>
            <a:endParaRPr lang="pt-BR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60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Hardware de rede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Tecnologia de transmissão de dados:</a:t>
            </a:r>
          </a:p>
          <a:p>
            <a:pPr lvl="1"/>
            <a:r>
              <a:rPr lang="pt-BR" dirty="0" smtClean="0"/>
              <a:t>Redes de difusão (</a:t>
            </a:r>
            <a:r>
              <a:rPr lang="pt-BR" i="1" dirty="0" smtClean="0"/>
              <a:t>broadcast</a:t>
            </a:r>
            <a:r>
              <a:rPr lang="pt-BR" dirty="0" smtClean="0"/>
              <a:t>)</a:t>
            </a:r>
          </a:p>
          <a:p>
            <a:pPr lvl="1"/>
            <a:r>
              <a:rPr lang="pt-BR" dirty="0" smtClean="0"/>
              <a:t>Redes ponto a ponto (</a:t>
            </a:r>
            <a:r>
              <a:rPr lang="pt-BR" i="1" dirty="0" err="1" smtClean="0"/>
              <a:t>unicasting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r>
              <a:rPr lang="pt-BR" dirty="0" smtClean="0"/>
              <a:t>Redes de difusão têm apenas um canal de comunicação, compartilhado por todas as máquinas.</a:t>
            </a:r>
          </a:p>
          <a:p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964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de difusão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Mensagens curtas (pacotes) enviadas são recebidas por todas as máquinas.</a:t>
            </a:r>
          </a:p>
          <a:p>
            <a:endParaRPr lang="pt-BR" dirty="0" smtClean="0"/>
          </a:p>
          <a:p>
            <a:r>
              <a:rPr lang="pt-BR" dirty="0" smtClean="0"/>
              <a:t>Quando recebe um pacote a máquina verifica o campo endereço.</a:t>
            </a:r>
          </a:p>
          <a:p>
            <a:endParaRPr lang="pt-BR" dirty="0" smtClean="0"/>
          </a:p>
          <a:p>
            <a:r>
              <a:rPr lang="pt-BR" dirty="0" smtClean="0"/>
              <a:t>Se o endereço for da máquina receptora, ela o processará, caso contrário, ignora o pacote. 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047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de difusão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Também é possível endereçar o pacote para todas as máquinas da rede, para que todas processem o pacote </a:t>
            </a:r>
            <a:r>
              <a:rPr lang="pt-BR" dirty="0" smtClean="0">
                <a:sym typeface="Wingdings" pitchFamily="2" charset="2"/>
              </a:rPr>
              <a:t> </a:t>
            </a:r>
            <a:r>
              <a:rPr lang="pt-BR" b="1" dirty="0" smtClean="0">
                <a:sym typeface="Wingdings" pitchFamily="2" charset="2"/>
              </a:rPr>
              <a:t>Difusão</a:t>
            </a:r>
            <a:r>
              <a:rPr lang="pt-BR" dirty="0" smtClean="0">
                <a:sym typeface="Wingdings" pitchFamily="2" charset="2"/>
              </a:rPr>
              <a:t> (</a:t>
            </a:r>
            <a:r>
              <a:rPr lang="pt-BR" i="1" dirty="0" smtClean="0">
                <a:sym typeface="Wingdings" pitchFamily="2" charset="2"/>
              </a:rPr>
              <a:t>broadcasting</a:t>
            </a:r>
            <a:r>
              <a:rPr lang="pt-BR" dirty="0" smtClean="0">
                <a:sym typeface="Wingdings" pitchFamily="2" charset="2"/>
              </a:rPr>
              <a:t>).</a:t>
            </a:r>
            <a:r>
              <a:rPr lang="pt-BR" dirty="0" smtClean="0"/>
              <a:t> 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Transmissão do pacote para um subconjunto de máquinas </a:t>
            </a:r>
            <a:r>
              <a:rPr lang="pt-BR" dirty="0" smtClean="0">
                <a:sym typeface="Wingdings" pitchFamily="2" charset="2"/>
              </a:rPr>
              <a:t> </a:t>
            </a:r>
            <a:r>
              <a:rPr lang="pt-BR" b="1" dirty="0" err="1" smtClean="0">
                <a:sym typeface="Wingdings" pitchFamily="2" charset="2"/>
              </a:rPr>
              <a:t>Multidifusão</a:t>
            </a:r>
            <a:r>
              <a:rPr lang="pt-BR" dirty="0" smtClean="0">
                <a:sym typeface="Wingdings" pitchFamily="2" charset="2"/>
              </a:rPr>
              <a:t> (</a:t>
            </a:r>
            <a:r>
              <a:rPr lang="pt-BR" i="1" dirty="0" err="1" smtClean="0">
                <a:sym typeface="Wingdings" pitchFamily="2" charset="2"/>
              </a:rPr>
              <a:t>multicasting</a:t>
            </a:r>
            <a:r>
              <a:rPr lang="pt-BR" dirty="0" smtClean="0">
                <a:sym typeface="Wingdings" pitchFamily="2" charset="2"/>
              </a:rPr>
              <a:t>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23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</a:t>
            </a:r>
            <a:r>
              <a:rPr lang="pt-BR" dirty="0" smtClean="0"/>
              <a:t>ponto a ponto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Consistem em muitas conexões entre pares de máquinas individuais.</a:t>
            </a:r>
          </a:p>
          <a:p>
            <a:endParaRPr lang="pt-BR" dirty="0"/>
          </a:p>
          <a:p>
            <a:r>
              <a:rPr lang="pt-BR" dirty="0" smtClean="0"/>
              <a:t>Para chegar ao destino, um pacote talvez tenha que passar uma ou mais máquinas intermediárias.</a:t>
            </a:r>
          </a:p>
          <a:p>
            <a:endParaRPr lang="pt-BR" dirty="0"/>
          </a:p>
          <a:p>
            <a:r>
              <a:rPr lang="pt-BR" dirty="0" smtClean="0"/>
              <a:t>Pode haver várias rotas de diferentes tamanhos, o objetivo é encontrar boas rotas para o pacote.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211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ponto a ponto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Transmissão ponto a ponto com um transmissor e um receptor é chamada de </a:t>
            </a:r>
            <a:r>
              <a:rPr lang="pt-BR" i="1" dirty="0" err="1" smtClean="0"/>
              <a:t>unicast</a:t>
            </a:r>
            <a:r>
              <a:rPr lang="pt-BR" i="1" dirty="0" smtClean="0"/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107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Tecnologias </a:t>
            </a:r>
            <a:r>
              <a:rPr lang="pt-BR" dirty="0"/>
              <a:t>de transmissão</a:t>
            </a:r>
          </a:p>
        </p:txBody>
      </p: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1738719" y="2056288"/>
            <a:ext cx="5499105" cy="4663990"/>
            <a:chOff x="1609725" y="1168400"/>
            <a:chExt cx="6196014" cy="5005388"/>
          </a:xfrm>
        </p:grpSpPr>
        <p:grpSp>
          <p:nvGrpSpPr>
            <p:cNvPr id="5" name="Group 182"/>
            <p:cNvGrpSpPr>
              <a:grpSpLocks/>
            </p:cNvGrpSpPr>
            <p:nvPr>
              <p:custDataLst>
                <p:tags r:id="rId1"/>
              </p:custDataLst>
            </p:nvPr>
          </p:nvGrpSpPr>
          <p:grpSpPr bwMode="auto">
            <a:xfrm>
              <a:off x="4989518" y="1168400"/>
              <a:ext cx="2816226" cy="2428877"/>
              <a:chOff x="3143" y="736"/>
              <a:chExt cx="1774" cy="1530"/>
            </a:xfrm>
          </p:grpSpPr>
          <p:sp>
            <p:nvSpPr>
              <p:cNvPr id="18" name="Freeform 7"/>
              <p:cNvSpPr>
                <a:spLocks/>
              </p:cNvSpPr>
              <p:nvPr>
                <p:custDataLst>
                  <p:tags r:id="rId14"/>
                </p:custDataLst>
              </p:nvPr>
            </p:nvSpPr>
            <p:spPr bwMode="auto">
              <a:xfrm rot="5400000">
                <a:off x="3541" y="1209"/>
                <a:ext cx="529" cy="597"/>
              </a:xfrm>
              <a:custGeom>
                <a:avLst/>
                <a:gdLst/>
                <a:ahLst/>
                <a:cxnLst>
                  <a:cxn ang="0">
                    <a:pos x="557" y="1058"/>
                  </a:cxn>
                  <a:cxn ang="0">
                    <a:pos x="573" y="741"/>
                  </a:cxn>
                  <a:cxn ang="0">
                    <a:pos x="607" y="693"/>
                  </a:cxn>
                  <a:cxn ang="0">
                    <a:pos x="638" y="655"/>
                  </a:cxn>
                  <a:cxn ang="0">
                    <a:pos x="677" y="614"/>
                  </a:cxn>
                  <a:cxn ang="0">
                    <a:pos x="709" y="580"/>
                  </a:cxn>
                  <a:cxn ang="0">
                    <a:pos x="740" y="553"/>
                  </a:cxn>
                  <a:cxn ang="0">
                    <a:pos x="765" y="532"/>
                  </a:cxn>
                  <a:cxn ang="0">
                    <a:pos x="794" y="513"/>
                  </a:cxn>
                  <a:cxn ang="0">
                    <a:pos x="830" y="492"/>
                  </a:cxn>
                  <a:cxn ang="0">
                    <a:pos x="938" y="309"/>
                  </a:cxn>
                  <a:cxn ang="0">
                    <a:pos x="734" y="367"/>
                  </a:cxn>
                  <a:cxn ang="0">
                    <a:pos x="696" y="390"/>
                  </a:cxn>
                  <a:cxn ang="0">
                    <a:pos x="659" y="419"/>
                  </a:cxn>
                  <a:cxn ang="0">
                    <a:pos x="627" y="449"/>
                  </a:cxn>
                  <a:cxn ang="0">
                    <a:pos x="596" y="480"/>
                  </a:cxn>
                  <a:cxn ang="0">
                    <a:pos x="557" y="526"/>
                  </a:cxn>
                  <a:cxn ang="0">
                    <a:pos x="646" y="221"/>
                  </a:cxn>
                  <a:cxn ang="0">
                    <a:pos x="294" y="221"/>
                  </a:cxn>
                  <a:cxn ang="0">
                    <a:pos x="382" y="528"/>
                  </a:cxn>
                  <a:cxn ang="0">
                    <a:pos x="344" y="482"/>
                  </a:cxn>
                  <a:cxn ang="0">
                    <a:pos x="319" y="455"/>
                  </a:cxn>
                  <a:cxn ang="0">
                    <a:pos x="292" y="430"/>
                  </a:cxn>
                  <a:cxn ang="0">
                    <a:pos x="256" y="401"/>
                  </a:cxn>
                  <a:cxn ang="0">
                    <a:pos x="221" y="376"/>
                  </a:cxn>
                  <a:cxn ang="0">
                    <a:pos x="248" y="309"/>
                  </a:cxn>
                  <a:cxn ang="0">
                    <a:pos x="58" y="553"/>
                  </a:cxn>
                  <a:cxn ang="0">
                    <a:pos x="129" y="503"/>
                  </a:cxn>
                  <a:cxn ang="0">
                    <a:pos x="179" y="538"/>
                  </a:cxn>
                  <a:cxn ang="0">
                    <a:pos x="211" y="566"/>
                  </a:cxn>
                  <a:cxn ang="0">
                    <a:pos x="248" y="599"/>
                  </a:cxn>
                  <a:cxn ang="0">
                    <a:pos x="284" y="638"/>
                  </a:cxn>
                  <a:cxn ang="0">
                    <a:pos x="321" y="684"/>
                  </a:cxn>
                  <a:cxn ang="0">
                    <a:pos x="357" y="734"/>
                  </a:cxn>
                  <a:cxn ang="0">
                    <a:pos x="381" y="1058"/>
                  </a:cxn>
                </a:cxnLst>
                <a:rect l="0" t="0" r="r" b="b"/>
                <a:pathLst>
                  <a:path w="938" h="1058">
                    <a:moveTo>
                      <a:pt x="381" y="1058"/>
                    </a:moveTo>
                    <a:lnTo>
                      <a:pt x="557" y="1058"/>
                    </a:lnTo>
                    <a:lnTo>
                      <a:pt x="557" y="766"/>
                    </a:lnTo>
                    <a:lnTo>
                      <a:pt x="573" y="741"/>
                    </a:lnTo>
                    <a:lnTo>
                      <a:pt x="588" y="720"/>
                    </a:lnTo>
                    <a:lnTo>
                      <a:pt x="607" y="693"/>
                    </a:lnTo>
                    <a:lnTo>
                      <a:pt x="623" y="674"/>
                    </a:lnTo>
                    <a:lnTo>
                      <a:pt x="638" y="655"/>
                    </a:lnTo>
                    <a:lnTo>
                      <a:pt x="661" y="630"/>
                    </a:lnTo>
                    <a:lnTo>
                      <a:pt x="677" y="614"/>
                    </a:lnTo>
                    <a:lnTo>
                      <a:pt x="690" y="599"/>
                    </a:lnTo>
                    <a:lnTo>
                      <a:pt x="709" y="580"/>
                    </a:lnTo>
                    <a:lnTo>
                      <a:pt x="729" y="563"/>
                    </a:lnTo>
                    <a:lnTo>
                      <a:pt x="740" y="553"/>
                    </a:lnTo>
                    <a:lnTo>
                      <a:pt x="754" y="541"/>
                    </a:lnTo>
                    <a:lnTo>
                      <a:pt x="765" y="532"/>
                    </a:lnTo>
                    <a:lnTo>
                      <a:pt x="779" y="522"/>
                    </a:lnTo>
                    <a:lnTo>
                      <a:pt x="794" y="513"/>
                    </a:lnTo>
                    <a:lnTo>
                      <a:pt x="809" y="503"/>
                    </a:lnTo>
                    <a:lnTo>
                      <a:pt x="830" y="492"/>
                    </a:lnTo>
                    <a:lnTo>
                      <a:pt x="878" y="551"/>
                    </a:lnTo>
                    <a:lnTo>
                      <a:pt x="938" y="309"/>
                    </a:lnTo>
                    <a:lnTo>
                      <a:pt x="688" y="309"/>
                    </a:lnTo>
                    <a:lnTo>
                      <a:pt x="734" y="367"/>
                    </a:lnTo>
                    <a:lnTo>
                      <a:pt x="715" y="378"/>
                    </a:lnTo>
                    <a:lnTo>
                      <a:pt x="696" y="390"/>
                    </a:lnTo>
                    <a:lnTo>
                      <a:pt x="677" y="405"/>
                    </a:lnTo>
                    <a:lnTo>
                      <a:pt x="659" y="419"/>
                    </a:lnTo>
                    <a:lnTo>
                      <a:pt x="642" y="434"/>
                    </a:lnTo>
                    <a:lnTo>
                      <a:pt x="627" y="449"/>
                    </a:lnTo>
                    <a:lnTo>
                      <a:pt x="611" y="463"/>
                    </a:lnTo>
                    <a:lnTo>
                      <a:pt x="596" y="480"/>
                    </a:lnTo>
                    <a:lnTo>
                      <a:pt x="579" y="499"/>
                    </a:lnTo>
                    <a:lnTo>
                      <a:pt x="557" y="526"/>
                    </a:lnTo>
                    <a:lnTo>
                      <a:pt x="557" y="221"/>
                    </a:lnTo>
                    <a:lnTo>
                      <a:pt x="646" y="221"/>
                    </a:lnTo>
                    <a:lnTo>
                      <a:pt x="469" y="0"/>
                    </a:lnTo>
                    <a:lnTo>
                      <a:pt x="294" y="221"/>
                    </a:lnTo>
                    <a:lnTo>
                      <a:pt x="381" y="221"/>
                    </a:lnTo>
                    <a:lnTo>
                      <a:pt x="382" y="528"/>
                    </a:lnTo>
                    <a:lnTo>
                      <a:pt x="361" y="503"/>
                    </a:lnTo>
                    <a:lnTo>
                      <a:pt x="344" y="482"/>
                    </a:lnTo>
                    <a:lnTo>
                      <a:pt x="331" y="469"/>
                    </a:lnTo>
                    <a:lnTo>
                      <a:pt x="319" y="455"/>
                    </a:lnTo>
                    <a:lnTo>
                      <a:pt x="306" y="442"/>
                    </a:lnTo>
                    <a:lnTo>
                      <a:pt x="292" y="430"/>
                    </a:lnTo>
                    <a:lnTo>
                      <a:pt x="275" y="417"/>
                    </a:lnTo>
                    <a:lnTo>
                      <a:pt x="256" y="401"/>
                    </a:lnTo>
                    <a:lnTo>
                      <a:pt x="238" y="388"/>
                    </a:lnTo>
                    <a:lnTo>
                      <a:pt x="221" y="376"/>
                    </a:lnTo>
                    <a:lnTo>
                      <a:pt x="204" y="367"/>
                    </a:lnTo>
                    <a:lnTo>
                      <a:pt x="248" y="309"/>
                    </a:lnTo>
                    <a:lnTo>
                      <a:pt x="0" y="309"/>
                    </a:lnTo>
                    <a:lnTo>
                      <a:pt x="58" y="553"/>
                    </a:lnTo>
                    <a:lnTo>
                      <a:pt x="106" y="492"/>
                    </a:lnTo>
                    <a:lnTo>
                      <a:pt x="129" y="503"/>
                    </a:lnTo>
                    <a:lnTo>
                      <a:pt x="150" y="517"/>
                    </a:lnTo>
                    <a:lnTo>
                      <a:pt x="179" y="538"/>
                    </a:lnTo>
                    <a:lnTo>
                      <a:pt x="196" y="551"/>
                    </a:lnTo>
                    <a:lnTo>
                      <a:pt x="211" y="566"/>
                    </a:lnTo>
                    <a:lnTo>
                      <a:pt x="227" y="580"/>
                    </a:lnTo>
                    <a:lnTo>
                      <a:pt x="248" y="599"/>
                    </a:lnTo>
                    <a:lnTo>
                      <a:pt x="261" y="614"/>
                    </a:lnTo>
                    <a:lnTo>
                      <a:pt x="284" y="638"/>
                    </a:lnTo>
                    <a:lnTo>
                      <a:pt x="302" y="659"/>
                    </a:lnTo>
                    <a:lnTo>
                      <a:pt x="321" y="684"/>
                    </a:lnTo>
                    <a:lnTo>
                      <a:pt x="340" y="709"/>
                    </a:lnTo>
                    <a:lnTo>
                      <a:pt x="357" y="734"/>
                    </a:lnTo>
                    <a:lnTo>
                      <a:pt x="381" y="766"/>
                    </a:lnTo>
                    <a:lnTo>
                      <a:pt x="381" y="1058"/>
                    </a:lnTo>
                  </a:path>
                </a:pathLst>
              </a:custGeom>
              <a:gradFill rotWithShape="0">
                <a:gsLst>
                  <a:gs pos="0">
                    <a:srgbClr val="D60093"/>
                  </a:gs>
                  <a:gs pos="100000">
                    <a:srgbClr val="D60093">
                      <a:gamma/>
                      <a:tint val="50588"/>
                      <a:invGamma/>
                    </a:srgbClr>
                  </a:gs>
                </a:gsLst>
                <a:lin ang="5400000" scaled="1"/>
              </a:gradFill>
              <a:ln w="9525" cap="flat" cmpd="sng">
                <a:solidFill>
                  <a:srgbClr val="993366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8398" dir="3806097" algn="ctr" rotWithShape="0">
                  <a:srgbClr val="800080"/>
                </a:outerShdw>
              </a:effec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>
                  <a:latin typeface="+mn-lt"/>
                </a:endParaRPr>
              </a:p>
            </p:txBody>
          </p:sp>
          <p:pic>
            <p:nvPicPr>
              <p:cNvPr id="19" name="Picture 166" descr="Computer3"/>
              <p:cNvPicPr>
                <a:picLocks noChangeAspect="1" noChangeArrowheads="1"/>
              </p:cNvPicPr>
              <p:nvPr>
                <p:custDataLst>
                  <p:tags r:id="rId15"/>
                </p:custDataLst>
              </p:nvPr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3143" y="1235"/>
                <a:ext cx="528" cy="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" name="Picture 167" descr="Computer3"/>
              <p:cNvPicPr>
                <a:picLocks noChangeAspect="1" noChangeArrowheads="1"/>
              </p:cNvPicPr>
              <p:nvPr>
                <p:custDataLst>
                  <p:tags r:id="rId16"/>
                </p:custDataLst>
              </p:nvPr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3950" y="736"/>
                <a:ext cx="528" cy="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1" name="Picture 168" descr="Computer3"/>
              <p:cNvPicPr>
                <a:picLocks noChangeAspect="1" noChangeArrowheads="1"/>
              </p:cNvPicPr>
              <p:nvPr>
                <p:custDataLst>
                  <p:tags r:id="rId17"/>
                </p:custDataLst>
              </p:nvPr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3950" y="1690"/>
                <a:ext cx="528" cy="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2" name="Picture 169" descr="Computer3"/>
              <p:cNvPicPr>
                <a:picLocks noChangeAspect="1" noChangeArrowheads="1"/>
              </p:cNvPicPr>
              <p:nvPr>
                <p:custDataLst>
                  <p:tags r:id="rId18"/>
                </p:custDataLst>
              </p:nvPr>
            </p:nvPicPr>
            <p:blipFill>
              <a:blip r:embed="rId20"/>
              <a:srcRect/>
              <a:stretch>
                <a:fillRect/>
              </a:stretch>
            </p:blipFill>
            <p:spPr bwMode="auto">
              <a:xfrm>
                <a:off x="4389" y="1191"/>
                <a:ext cx="528" cy="57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6" name="Picture 172" descr="Computer3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1609725" y="2036763"/>
              <a:ext cx="838200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173" descr="Computer3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2890838" y="1168400"/>
              <a:ext cx="838200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174" descr="Computer3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2865438" y="2682875"/>
              <a:ext cx="838200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75" descr="Computer3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3562350" y="1890713"/>
              <a:ext cx="838200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AutoShape 17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 rot="19800000">
              <a:off x="2505075" y="2022475"/>
              <a:ext cx="658813" cy="379413"/>
            </a:xfrm>
            <a:prstGeom prst="rightArrow">
              <a:avLst>
                <a:gd name="adj1" fmla="val 56481"/>
                <a:gd name="adj2" fmla="val 88701"/>
              </a:avLst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tint val="50588"/>
                    <a:invGamma/>
                  </a:srgbClr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800080"/>
              </a:outerShdw>
            </a:effec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>
                <a:latin typeface="+mn-lt"/>
              </a:endParaRPr>
            </a:p>
          </p:txBody>
        </p:sp>
        <p:sp>
          <p:nvSpPr>
            <p:cNvPr id="11" name="AutoShape 15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311525" y="4824413"/>
              <a:ext cx="658813" cy="379412"/>
            </a:xfrm>
            <a:prstGeom prst="rightArrow">
              <a:avLst>
                <a:gd name="adj1" fmla="val 56481"/>
                <a:gd name="adj2" fmla="val 88701"/>
              </a:avLst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tint val="50588"/>
                    <a:invGamma/>
                  </a:srgbClr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800080"/>
              </a:outerShdw>
            </a:effec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>
                <a:latin typeface="+mn-lt"/>
              </a:endParaRPr>
            </a:p>
          </p:txBody>
        </p:sp>
        <p:pic>
          <p:nvPicPr>
            <p:cNvPr id="12" name="Picture 157" descr="Computer3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2562225" y="4552950"/>
              <a:ext cx="917575" cy="100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161" descr="Computer3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4538663" y="3649663"/>
              <a:ext cx="917575" cy="100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162" descr="Computer3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4538663" y="5173663"/>
              <a:ext cx="917575" cy="100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163" descr="Computer3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5368925" y="4306888"/>
              <a:ext cx="917575" cy="100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AutoShape 16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19800000">
              <a:off x="3948113" y="4591050"/>
              <a:ext cx="658812" cy="379413"/>
            </a:xfrm>
            <a:prstGeom prst="rightArrow">
              <a:avLst>
                <a:gd name="adj1" fmla="val 56481"/>
                <a:gd name="adj2" fmla="val 88701"/>
              </a:avLst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tint val="50588"/>
                    <a:invGamma/>
                  </a:srgbClr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800080"/>
              </a:outerShdw>
            </a:effec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>
                <a:latin typeface="+mn-lt"/>
              </a:endParaRPr>
            </a:p>
          </p:txBody>
        </p:sp>
        <p:sp>
          <p:nvSpPr>
            <p:cNvPr id="17" name="AutoShape 16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 rot="1800000" flipV="1">
              <a:off x="3948113" y="5135563"/>
              <a:ext cx="658812" cy="379412"/>
            </a:xfrm>
            <a:prstGeom prst="rightArrow">
              <a:avLst>
                <a:gd name="adj1" fmla="val 56481"/>
                <a:gd name="adj2" fmla="val 88701"/>
              </a:avLst>
            </a:prstGeom>
            <a:gradFill rotWithShape="0">
              <a:gsLst>
                <a:gs pos="0">
                  <a:srgbClr val="D60093"/>
                </a:gs>
                <a:gs pos="100000">
                  <a:srgbClr val="D60093">
                    <a:gamma/>
                    <a:tint val="50588"/>
                    <a:invGamma/>
                  </a:srgbClr>
                </a:gs>
              </a:gsLst>
              <a:lin ang="5400000" scaled="1"/>
            </a:gradFill>
            <a:ln w="9525">
              <a:solidFill>
                <a:srgbClr val="993366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800080"/>
              </a:outerShdw>
            </a:effec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>
                <a:latin typeface="+mn-lt"/>
              </a:endParaRPr>
            </a:p>
          </p:txBody>
        </p:sp>
      </p:grpSp>
      <p:sp>
        <p:nvSpPr>
          <p:cNvPr id="23" name="Retângulo de cantos arredondados 22"/>
          <p:cNvSpPr/>
          <p:nvPr/>
        </p:nvSpPr>
        <p:spPr>
          <a:xfrm>
            <a:off x="881463" y="2127726"/>
            <a:ext cx="1648475" cy="399393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 smtClean="0"/>
              <a:t>Unicast</a:t>
            </a:r>
            <a:endParaRPr lang="pt-BR" b="1" dirty="0"/>
          </a:p>
        </p:txBody>
      </p:sp>
      <p:sp>
        <p:nvSpPr>
          <p:cNvPr id="24" name="Retângulo de cantos arredondados 23"/>
          <p:cNvSpPr/>
          <p:nvPr/>
        </p:nvSpPr>
        <p:spPr>
          <a:xfrm>
            <a:off x="6667941" y="1484784"/>
            <a:ext cx="1648475" cy="39939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/>
              <a:t>Broadcast</a:t>
            </a:r>
            <a:endParaRPr lang="pt-BR" b="1" dirty="0"/>
          </a:p>
        </p:txBody>
      </p:sp>
      <p:sp>
        <p:nvSpPr>
          <p:cNvPr id="25" name="Retângulo de cantos arredondados 24"/>
          <p:cNvSpPr/>
          <p:nvPr/>
        </p:nvSpPr>
        <p:spPr>
          <a:xfrm>
            <a:off x="881463" y="4985246"/>
            <a:ext cx="1648475" cy="39939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 smtClean="0"/>
              <a:t>Multicast</a:t>
            </a:r>
            <a:endParaRPr lang="pt-BR" b="1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1888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Redes Locais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Redes Locais ou </a:t>
            </a:r>
            <a:r>
              <a:rPr lang="pt-BR" b="1" dirty="0" err="1" smtClean="0"/>
              <a:t>LANs</a:t>
            </a:r>
            <a:r>
              <a:rPr lang="pt-BR" dirty="0" smtClean="0"/>
              <a:t>: Redes privadas contidas em um edifício ou campus com até poucos quilômetros de extensão.</a:t>
            </a:r>
          </a:p>
          <a:p>
            <a:endParaRPr lang="pt-BR" dirty="0"/>
          </a:p>
          <a:p>
            <a:r>
              <a:rPr lang="pt-BR" dirty="0" smtClean="0"/>
              <a:t>Muito usadas para conectar computadores pessoais (em casa ou no trabalho).  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963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Características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Tamanho: as </a:t>
            </a:r>
            <a:r>
              <a:rPr lang="pt-BR" dirty="0" err="1" smtClean="0"/>
              <a:t>LANs</a:t>
            </a:r>
            <a:r>
              <a:rPr lang="pt-BR" dirty="0" smtClean="0"/>
              <a:t> têm um tamanho restrito.</a:t>
            </a:r>
          </a:p>
          <a:p>
            <a:endParaRPr lang="pt-BR" dirty="0" smtClean="0"/>
          </a:p>
          <a:p>
            <a:r>
              <a:rPr lang="pt-BR" dirty="0" smtClean="0"/>
              <a:t>Tecnologia de transmissão: um cabo ao qual todas as máquinas estão conectadas (velocidades de 10Mbps, 100Mbps ou até 10Gbps).</a:t>
            </a:r>
          </a:p>
          <a:p>
            <a:endParaRPr lang="pt-BR" dirty="0"/>
          </a:p>
          <a:p>
            <a:r>
              <a:rPr lang="pt-BR" dirty="0" smtClean="0"/>
              <a:t>Topologia: configuração adotada </a:t>
            </a:r>
            <a:r>
              <a:rPr lang="pt-BR" dirty="0"/>
              <a:t>pelas </a:t>
            </a:r>
            <a:r>
              <a:rPr lang="pt-BR" dirty="0" smtClean="0"/>
              <a:t>máquinas para se </a:t>
            </a:r>
            <a:r>
              <a:rPr lang="pt-BR" dirty="0"/>
              <a:t>interconectar.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776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Topologias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2602185" cy="4525963"/>
          </a:xfrm>
        </p:spPr>
        <p:txBody>
          <a:bodyPr/>
          <a:lstStyle/>
          <a:p>
            <a:r>
              <a:rPr lang="pt-BR" dirty="0" smtClean="0"/>
              <a:t>Anel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Barramento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</p:txBody>
      </p:sp>
      <p:grpSp>
        <p:nvGrpSpPr>
          <p:cNvPr id="4" name="Group 708"/>
          <p:cNvGrpSpPr>
            <a:grpSpLocks/>
          </p:cNvGrpSpPr>
          <p:nvPr/>
        </p:nvGrpSpPr>
        <p:grpSpPr bwMode="auto">
          <a:xfrm>
            <a:off x="3506981" y="1556792"/>
            <a:ext cx="3945339" cy="1994508"/>
            <a:chOff x="845" y="931"/>
            <a:chExt cx="4122" cy="2536"/>
          </a:xfrm>
        </p:grpSpPr>
        <p:sp>
          <p:nvSpPr>
            <p:cNvPr id="5" name="AutoShape 67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45" y="1337"/>
              <a:ext cx="4122" cy="2104"/>
            </a:xfrm>
            <a:custGeom>
              <a:avLst/>
              <a:gdLst>
                <a:gd name="G0" fmla="+- 3388 0 0"/>
                <a:gd name="G1" fmla="+- 21600 0 3388"/>
                <a:gd name="G2" fmla="+- 21600 0 3388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388" y="10800"/>
                  </a:moveTo>
                  <a:cubicBezTo>
                    <a:pt x="3388" y="14894"/>
                    <a:pt x="6706" y="18212"/>
                    <a:pt x="10800" y="18212"/>
                  </a:cubicBezTo>
                  <a:cubicBezTo>
                    <a:pt x="14894" y="18212"/>
                    <a:pt x="18212" y="14894"/>
                    <a:pt x="18212" y="10800"/>
                  </a:cubicBezTo>
                  <a:cubicBezTo>
                    <a:pt x="18212" y="6706"/>
                    <a:pt x="14894" y="3388"/>
                    <a:pt x="10800" y="3388"/>
                  </a:cubicBezTo>
                  <a:cubicBezTo>
                    <a:pt x="6706" y="3388"/>
                    <a:pt x="3388" y="6706"/>
                    <a:pt x="3388" y="10800"/>
                  </a:cubicBezTo>
                  <a:close/>
                </a:path>
              </a:pathLst>
            </a:custGeom>
            <a:solidFill>
              <a:srgbClr val="DDEE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50800" dir="5400000" algn="ctr" rotWithShape="0">
                <a:srgbClr val="C0C0C0"/>
              </a:outerShdw>
            </a:effec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>
                <a:latin typeface="+mn-lt"/>
              </a:endParaRPr>
            </a:p>
          </p:txBody>
        </p:sp>
        <p:sp>
          <p:nvSpPr>
            <p:cNvPr id="6" name="AutoShape 67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227" y="1424"/>
              <a:ext cx="1463" cy="7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0 w 21600"/>
                <a:gd name="T19" fmla="*/ 3157 h 21600"/>
                <a:gd name="T20" fmla="*/ 18440 w 21600"/>
                <a:gd name="T21" fmla="*/ 18443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2696" y="3802"/>
                  </a:moveTo>
                  <a:cubicBezTo>
                    <a:pt x="12078" y="3634"/>
                    <a:pt x="11440" y="3550"/>
                    <a:pt x="10800" y="3550"/>
                  </a:cubicBezTo>
                  <a:cubicBezTo>
                    <a:pt x="9604" y="3549"/>
                    <a:pt x="8427" y="3845"/>
                    <a:pt x="7373" y="4410"/>
                  </a:cubicBezTo>
                  <a:lnTo>
                    <a:pt x="5695" y="1282"/>
                  </a:lnTo>
                  <a:cubicBezTo>
                    <a:pt x="7265" y="440"/>
                    <a:pt x="9018" y="-1"/>
                    <a:pt x="10800" y="0"/>
                  </a:cubicBezTo>
                  <a:cubicBezTo>
                    <a:pt x="11754" y="0"/>
                    <a:pt x="12704" y="126"/>
                    <a:pt x="13625" y="376"/>
                  </a:cubicBezTo>
                  <a:lnTo>
                    <a:pt x="14332" y="-2230"/>
                  </a:lnTo>
                  <a:lnTo>
                    <a:pt x="17480" y="3260"/>
                  </a:lnTo>
                  <a:lnTo>
                    <a:pt x="11990" y="6408"/>
                  </a:lnTo>
                  <a:lnTo>
                    <a:pt x="12696" y="380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7" name="AutoShape 67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 flipH="1" flipV="1">
              <a:off x="2128" y="2609"/>
              <a:ext cx="1463" cy="73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0 w 21600"/>
                <a:gd name="T19" fmla="*/ 3157 h 21600"/>
                <a:gd name="T20" fmla="*/ 18440 w 21600"/>
                <a:gd name="T21" fmla="*/ 18443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2696" y="3802"/>
                  </a:moveTo>
                  <a:cubicBezTo>
                    <a:pt x="12078" y="3634"/>
                    <a:pt x="11440" y="3550"/>
                    <a:pt x="10800" y="3550"/>
                  </a:cubicBezTo>
                  <a:cubicBezTo>
                    <a:pt x="9604" y="3549"/>
                    <a:pt x="8427" y="3845"/>
                    <a:pt x="7373" y="4410"/>
                  </a:cubicBezTo>
                  <a:lnTo>
                    <a:pt x="5695" y="1282"/>
                  </a:lnTo>
                  <a:cubicBezTo>
                    <a:pt x="7265" y="440"/>
                    <a:pt x="9018" y="-1"/>
                    <a:pt x="10800" y="0"/>
                  </a:cubicBezTo>
                  <a:cubicBezTo>
                    <a:pt x="11754" y="0"/>
                    <a:pt x="12704" y="126"/>
                    <a:pt x="13625" y="376"/>
                  </a:cubicBezTo>
                  <a:lnTo>
                    <a:pt x="14332" y="-2230"/>
                  </a:lnTo>
                  <a:lnTo>
                    <a:pt x="17480" y="3260"/>
                  </a:lnTo>
                  <a:lnTo>
                    <a:pt x="11990" y="6408"/>
                  </a:lnTo>
                  <a:lnTo>
                    <a:pt x="12696" y="380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8" name="AutoShape 67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 flipH="1" flipV="1">
              <a:off x="1053" y="1838"/>
              <a:ext cx="1401" cy="9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1 w 21600"/>
                <a:gd name="T19" fmla="*/ 3161 h 21600"/>
                <a:gd name="T20" fmla="*/ 18439 w 21600"/>
                <a:gd name="T21" fmla="*/ 1843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078" y="12977"/>
                  </a:moveTo>
                  <a:cubicBezTo>
                    <a:pt x="17321" y="12277"/>
                    <a:pt x="17446" y="11541"/>
                    <a:pt x="17446" y="10800"/>
                  </a:cubicBezTo>
                  <a:cubicBezTo>
                    <a:pt x="17446" y="8965"/>
                    <a:pt x="16687" y="7212"/>
                    <a:pt x="15350" y="5956"/>
                  </a:cubicBezTo>
                  <a:lnTo>
                    <a:pt x="18194" y="2928"/>
                  </a:lnTo>
                  <a:cubicBezTo>
                    <a:pt x="20367" y="4969"/>
                    <a:pt x="21600" y="7818"/>
                    <a:pt x="21600" y="10800"/>
                  </a:cubicBezTo>
                  <a:cubicBezTo>
                    <a:pt x="21600" y="12004"/>
                    <a:pt x="21398" y="13201"/>
                    <a:pt x="21003" y="14339"/>
                  </a:cubicBezTo>
                  <a:lnTo>
                    <a:pt x="23554" y="15224"/>
                  </a:lnTo>
                  <a:lnTo>
                    <a:pt x="17476" y="18171"/>
                  </a:lnTo>
                  <a:lnTo>
                    <a:pt x="14528" y="12093"/>
                  </a:lnTo>
                  <a:lnTo>
                    <a:pt x="17078" y="12977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9" name="AutoShape 67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408" y="1800"/>
              <a:ext cx="1401" cy="9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1 w 21600"/>
                <a:gd name="T19" fmla="*/ 3161 h 21600"/>
                <a:gd name="T20" fmla="*/ 18439 w 21600"/>
                <a:gd name="T21" fmla="*/ 1843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078" y="12977"/>
                  </a:moveTo>
                  <a:cubicBezTo>
                    <a:pt x="17321" y="12277"/>
                    <a:pt x="17446" y="11541"/>
                    <a:pt x="17446" y="10800"/>
                  </a:cubicBezTo>
                  <a:cubicBezTo>
                    <a:pt x="17446" y="8965"/>
                    <a:pt x="16687" y="7212"/>
                    <a:pt x="15350" y="5956"/>
                  </a:cubicBezTo>
                  <a:lnTo>
                    <a:pt x="18194" y="2928"/>
                  </a:lnTo>
                  <a:cubicBezTo>
                    <a:pt x="20367" y="4969"/>
                    <a:pt x="21600" y="7818"/>
                    <a:pt x="21600" y="10800"/>
                  </a:cubicBezTo>
                  <a:cubicBezTo>
                    <a:pt x="21600" y="12004"/>
                    <a:pt x="21398" y="13201"/>
                    <a:pt x="21003" y="14339"/>
                  </a:cubicBezTo>
                  <a:lnTo>
                    <a:pt x="23554" y="15224"/>
                  </a:lnTo>
                  <a:lnTo>
                    <a:pt x="17476" y="18171"/>
                  </a:lnTo>
                  <a:lnTo>
                    <a:pt x="14528" y="12093"/>
                  </a:lnTo>
                  <a:lnTo>
                    <a:pt x="17078" y="12977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pic>
          <p:nvPicPr>
            <p:cNvPr id="10" name="Picture 696" descr="Computer3"/>
            <p:cNvPicPr>
              <a:picLocks noChangeAspect="1" noChangeArrowheads="1"/>
            </p:cNvPicPr>
            <p:nvPr>
              <p:custDataLst>
                <p:tags r:id="rId16"/>
              </p:custDataLst>
            </p:nvPr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1330" y="931"/>
              <a:ext cx="979" cy="1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703" descr="Computer3"/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3538" y="931"/>
              <a:ext cx="979" cy="1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704" descr="Computer3"/>
            <p:cNvPicPr>
              <a:picLocks noChangeAspect="1" noChangeArrowheads="1"/>
            </p:cNvPicPr>
            <p:nvPr>
              <p:custDataLst>
                <p:tags r:id="rId18"/>
              </p:custDataLst>
            </p:nvPr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1441" y="2401"/>
              <a:ext cx="979" cy="1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705" descr="Computer3"/>
            <p:cNvPicPr>
              <a:picLocks noChangeAspect="1" noChangeArrowheads="1"/>
            </p:cNvPicPr>
            <p:nvPr>
              <p:custDataLst>
                <p:tags r:id="rId19"/>
              </p:custDataLst>
            </p:nvPr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3395" y="2401"/>
              <a:ext cx="979" cy="1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5" name="Group 210"/>
          <p:cNvGrpSpPr>
            <a:grpSpLocks/>
          </p:cNvGrpSpPr>
          <p:nvPr/>
        </p:nvGrpSpPr>
        <p:grpSpPr bwMode="auto">
          <a:xfrm>
            <a:off x="2794133" y="4627157"/>
            <a:ext cx="5234251" cy="1985630"/>
            <a:chOff x="592" y="1437"/>
            <a:chExt cx="4586" cy="1828"/>
          </a:xfrm>
        </p:grpSpPr>
        <p:sp>
          <p:nvSpPr>
            <p:cNvPr id="16" name="AutoShape 196"/>
            <p:cNvSpPr>
              <a:spLocks noChangeArrowheads="1"/>
            </p:cNvSpPr>
            <p:nvPr/>
          </p:nvSpPr>
          <p:spPr bwMode="auto">
            <a:xfrm rot="-5400000">
              <a:off x="785" y="2680"/>
              <a:ext cx="392" cy="778"/>
            </a:xfrm>
            <a:prstGeom prst="homePlate">
              <a:avLst>
                <a:gd name="adj" fmla="val 5178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vert="eaVert" anchor="b"/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" pitchFamily="34" charset="0"/>
                </a:rPr>
                <a:t>Terminador</a:t>
              </a:r>
              <a:endParaRPr lang="en-US" sz="1200" dirty="0">
                <a:latin typeface="Calibri" pitchFamily="34" charset="0"/>
              </a:endParaRPr>
            </a:p>
          </p:txBody>
        </p:sp>
        <p:sp>
          <p:nvSpPr>
            <p:cNvPr id="17" name="AutoShape 3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802" y="2529"/>
              <a:ext cx="323" cy="374"/>
            </a:xfrm>
            <a:prstGeom prst="cube">
              <a:avLst>
                <a:gd name="adj" fmla="val 25000"/>
              </a:avLst>
            </a:prstGeom>
            <a:solidFill>
              <a:srgbClr val="FFCC00"/>
            </a:solidFill>
            <a:ln w="9525">
              <a:solidFill>
                <a:srgbClr val="8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1090" y="2613"/>
              <a:ext cx="3678" cy="243"/>
            </a:xfrm>
            <a:prstGeom prst="rect">
              <a:avLst/>
            </a:prstGeom>
            <a:gradFill rotWithShape="0">
              <a:gsLst>
                <a:gs pos="0">
                  <a:srgbClr val="3366FF">
                    <a:gamma/>
                    <a:shade val="46275"/>
                    <a:invGamma/>
                  </a:srgbClr>
                </a:gs>
                <a:gs pos="50000">
                  <a:srgbClr val="3366FF"/>
                </a:gs>
                <a:gs pos="100000">
                  <a:srgbClr val="3366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pt-BR" sz="24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n-lt"/>
                </a:rPr>
                <a:t>Segmento</a:t>
              </a:r>
              <a:endParaRPr lang="en-US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endParaRPr>
            </a:p>
          </p:txBody>
        </p:sp>
        <p:sp>
          <p:nvSpPr>
            <p:cNvPr id="19" name="AutoShape 19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 rot="5400000">
              <a:off x="1014" y="2324"/>
              <a:ext cx="607" cy="85"/>
            </a:xfrm>
            <a:prstGeom prst="homePlate">
              <a:avLst>
                <a:gd name="adj" fmla="val 71775"/>
              </a:avLst>
            </a:prstGeom>
            <a:gradFill rotWithShape="0">
              <a:gsLst>
                <a:gs pos="0">
                  <a:srgbClr val="000076"/>
                </a:gs>
                <a:gs pos="50000">
                  <a:srgbClr val="0000FF"/>
                </a:gs>
                <a:gs pos="100000">
                  <a:srgbClr val="00007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20" name="AutoShape 20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 rot="5400000">
              <a:off x="4175" y="2324"/>
              <a:ext cx="607" cy="85"/>
            </a:xfrm>
            <a:prstGeom prst="homePlate">
              <a:avLst>
                <a:gd name="adj" fmla="val 71775"/>
              </a:avLst>
            </a:prstGeom>
            <a:gradFill rotWithShape="0">
              <a:gsLst>
                <a:gs pos="0">
                  <a:srgbClr val="000076"/>
                </a:gs>
                <a:gs pos="50000">
                  <a:srgbClr val="0000FF"/>
                </a:gs>
                <a:gs pos="100000">
                  <a:srgbClr val="00007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21" name="AutoShape 20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 rot="5400000">
              <a:off x="2067" y="2324"/>
              <a:ext cx="607" cy="85"/>
            </a:xfrm>
            <a:prstGeom prst="homePlate">
              <a:avLst>
                <a:gd name="adj" fmla="val 71775"/>
              </a:avLst>
            </a:prstGeom>
            <a:gradFill rotWithShape="0">
              <a:gsLst>
                <a:gs pos="0">
                  <a:srgbClr val="000076"/>
                </a:gs>
                <a:gs pos="50000">
                  <a:srgbClr val="0000FF"/>
                </a:gs>
                <a:gs pos="100000">
                  <a:srgbClr val="00007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sp>
          <p:nvSpPr>
            <p:cNvPr id="22" name="AutoShape 20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rot="5400000">
              <a:off x="3121" y="2324"/>
              <a:ext cx="607" cy="85"/>
            </a:xfrm>
            <a:prstGeom prst="homePlate">
              <a:avLst>
                <a:gd name="adj" fmla="val 71775"/>
              </a:avLst>
            </a:prstGeom>
            <a:gradFill rotWithShape="0">
              <a:gsLst>
                <a:gs pos="0">
                  <a:srgbClr val="000076"/>
                </a:gs>
                <a:gs pos="50000">
                  <a:srgbClr val="0000FF"/>
                </a:gs>
                <a:gs pos="100000">
                  <a:srgbClr val="000076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  <p:pic>
          <p:nvPicPr>
            <p:cNvPr id="23" name="Picture 203" descr="Computer3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915" y="1437"/>
              <a:ext cx="818" cy="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204" descr="Computer3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1943" y="1437"/>
              <a:ext cx="818" cy="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205" descr="Computer3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2971" y="1437"/>
              <a:ext cx="818" cy="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Picture 206" descr="Computer3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4000" y="1437"/>
              <a:ext cx="818" cy="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AutoShape 209"/>
            <p:cNvSpPr>
              <a:spLocks noChangeArrowheads="1"/>
            </p:cNvSpPr>
            <p:nvPr/>
          </p:nvSpPr>
          <p:spPr bwMode="auto">
            <a:xfrm rot="-5400000">
              <a:off x="4593" y="2657"/>
              <a:ext cx="392" cy="778"/>
            </a:xfrm>
            <a:prstGeom prst="homePlate">
              <a:avLst>
                <a:gd name="adj" fmla="val 5178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FFCC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vert="eaVert" anchor="b"/>
            <a:lstStyle/>
            <a:p>
              <a:pPr algn="ctr"/>
              <a:r>
                <a:rPr lang="pt-BR" sz="1200" dirty="0">
                  <a:solidFill>
                    <a:srgbClr val="000000"/>
                  </a:solidFill>
                  <a:latin typeface="Calibri" pitchFamily="34" charset="0"/>
                </a:rPr>
                <a:t>Terminador</a:t>
              </a:r>
              <a:endParaRPr lang="en-US" dirty="0">
                <a:latin typeface="Calibri" pitchFamily="34" charset="0"/>
              </a:endParaRPr>
            </a:p>
          </p:txBody>
        </p:sp>
        <p:sp>
          <p:nvSpPr>
            <p:cNvPr id="28" name="AutoShape 208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680" y="2529"/>
              <a:ext cx="323" cy="374"/>
            </a:xfrm>
            <a:prstGeom prst="cube">
              <a:avLst>
                <a:gd name="adj" fmla="val 25000"/>
              </a:avLst>
            </a:prstGeom>
            <a:solidFill>
              <a:srgbClr val="FFCC00"/>
            </a:solidFill>
            <a:ln w="9525">
              <a:solidFill>
                <a:srgbClr val="8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>
                <a:latin typeface="Calibri" pitchFamily="34" charset="0"/>
              </a:endParaRPr>
            </a:p>
          </p:txBody>
        </p:sp>
      </p:grpSp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1212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Redes Metropolitanas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Uma rede Metropolitana, ou </a:t>
            </a:r>
            <a:r>
              <a:rPr lang="pt-BR" b="1" dirty="0" smtClean="0"/>
              <a:t>MAN</a:t>
            </a:r>
            <a:r>
              <a:rPr lang="pt-BR" dirty="0" smtClean="0"/>
              <a:t>, abrange uma cidade. </a:t>
            </a:r>
          </a:p>
          <a:p>
            <a:pPr lvl="1"/>
            <a:r>
              <a:rPr lang="pt-BR" dirty="0" smtClean="0"/>
              <a:t>Ex.: Rede de televisão via cabo.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130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Redes geograficamente distribuídas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Uma </a:t>
            </a:r>
            <a:r>
              <a:rPr lang="pt-BR" b="1" dirty="0" smtClean="0"/>
              <a:t>WAM</a:t>
            </a:r>
            <a:r>
              <a:rPr lang="pt-BR" dirty="0" smtClean="0"/>
              <a:t> (</a:t>
            </a:r>
            <a:r>
              <a:rPr lang="pt-BR" dirty="0" err="1" smtClean="0"/>
              <a:t>Wide</a:t>
            </a:r>
            <a:r>
              <a:rPr lang="pt-BR" dirty="0" smtClean="0"/>
              <a:t> </a:t>
            </a:r>
            <a:r>
              <a:rPr lang="pt-BR" dirty="0" err="1"/>
              <a:t>a</a:t>
            </a:r>
            <a:r>
              <a:rPr lang="pt-BR" dirty="0" err="1" smtClean="0"/>
              <a:t>rea</a:t>
            </a:r>
            <a:r>
              <a:rPr lang="pt-BR" dirty="0" smtClean="0"/>
              <a:t> network), abrange uma grande área geográfica (país ou continente).</a:t>
            </a:r>
          </a:p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169" y="3068960"/>
            <a:ext cx="6686550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3483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Redes geograficamente distribuídas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dirty="0"/>
          </a:p>
          <a:p>
            <a:endParaRPr lang="pt-BR" sz="2400" dirty="0" smtClean="0"/>
          </a:p>
          <a:p>
            <a:endParaRPr lang="pt-BR" sz="2400" dirty="0" smtClean="0"/>
          </a:p>
          <a:p>
            <a:r>
              <a:rPr lang="pt-BR" sz="2400" dirty="0" smtClean="0"/>
              <a:t>Um fluxo de pacotes indo do transmissor até o receptor.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4864"/>
            <a:ext cx="6865590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6912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Redes sem fio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Interconexão de sistemas</a:t>
            </a:r>
          </a:p>
          <a:p>
            <a:pPr lvl="1"/>
            <a:r>
              <a:rPr lang="pt-BR" dirty="0" smtClean="0"/>
              <a:t>Interconectar os componentes de um computador usando ondas de alcance limitado.</a:t>
            </a:r>
          </a:p>
          <a:p>
            <a:pPr lvl="1"/>
            <a:r>
              <a:rPr lang="pt-BR" dirty="0" smtClean="0"/>
              <a:t>Ex.: Bluetooth (paradigma mestre-escravo).</a:t>
            </a:r>
          </a:p>
          <a:p>
            <a:endParaRPr lang="pt-BR" dirty="0" smtClean="0"/>
          </a:p>
          <a:p>
            <a:r>
              <a:rPr lang="pt-BR" dirty="0" err="1" smtClean="0"/>
              <a:t>LANs</a:t>
            </a:r>
            <a:r>
              <a:rPr lang="pt-BR" dirty="0" smtClean="0"/>
              <a:t> sem fio</a:t>
            </a:r>
          </a:p>
          <a:p>
            <a:pPr lvl="1"/>
            <a:r>
              <a:rPr lang="pt-BR" dirty="0" smtClean="0"/>
              <a:t>Sistemas em que todo computador tem um modem de rádio e uma antena para se comunicar</a:t>
            </a:r>
          </a:p>
          <a:p>
            <a:pPr lvl="1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9857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sem fio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LcParenR"/>
            </a:pPr>
            <a:endParaRPr lang="pt-BR" dirty="0" smtClean="0"/>
          </a:p>
          <a:p>
            <a:pPr marL="514350" indent="-514350">
              <a:buFont typeface="+mj-lt"/>
              <a:buAutoNum type="alphaLcParenR"/>
            </a:pPr>
            <a:endParaRPr lang="pt-BR" dirty="0"/>
          </a:p>
          <a:p>
            <a:pPr marL="514350" indent="-514350">
              <a:buFont typeface="+mj-lt"/>
              <a:buAutoNum type="alphaLcParenR"/>
            </a:pPr>
            <a:endParaRPr lang="pt-BR" dirty="0" smtClean="0"/>
          </a:p>
          <a:p>
            <a:pPr marL="514350" indent="-514350">
              <a:buFont typeface="+mj-lt"/>
              <a:buAutoNum type="alphaLcParenR"/>
            </a:pPr>
            <a:endParaRPr lang="pt-BR" dirty="0"/>
          </a:p>
          <a:p>
            <a:pPr marL="514350" indent="-514350">
              <a:buFont typeface="+mj-lt"/>
              <a:buAutoNum type="alphaLcParenR"/>
            </a:pPr>
            <a:endParaRPr lang="pt-BR" dirty="0" smtClean="0"/>
          </a:p>
          <a:p>
            <a:pPr marL="514350" indent="-514350">
              <a:buFont typeface="+mj-lt"/>
              <a:buAutoNum type="alphaLcParenR"/>
            </a:pPr>
            <a:endParaRPr lang="pt-BR" dirty="0"/>
          </a:p>
          <a:p>
            <a:pPr marL="514350" indent="-514350">
              <a:buFont typeface="+mj-lt"/>
              <a:buAutoNum type="alphaLcParenR"/>
            </a:pPr>
            <a:endParaRPr lang="pt-BR" dirty="0" smtClean="0"/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Configuração de Bluetooth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LAN sem fio 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36" y="1628800"/>
            <a:ext cx="655320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93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Redes sem fio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WANs</a:t>
            </a:r>
            <a:r>
              <a:rPr lang="pt-BR" dirty="0" smtClean="0"/>
              <a:t> sem fio</a:t>
            </a:r>
          </a:p>
          <a:p>
            <a:pPr lvl="1"/>
            <a:r>
              <a:rPr lang="pt-BR" dirty="0" smtClean="0"/>
              <a:t>Rede de rádio utilizada em telefonia celular (baixa largura de banda).</a:t>
            </a:r>
          </a:p>
          <a:p>
            <a:pPr lvl="1"/>
            <a:r>
              <a:rPr lang="pt-BR" dirty="0" smtClean="0"/>
              <a:t>As distâncias envolvidas são muito maiores que </a:t>
            </a:r>
            <a:r>
              <a:rPr lang="pt-BR" dirty="0" err="1" smtClean="0"/>
              <a:t>LANs</a:t>
            </a:r>
            <a:r>
              <a:rPr lang="pt-BR" dirty="0" smtClean="0"/>
              <a:t> sem fio, mas taxa de transmissão muito mais baixas.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230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Redes domésticas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Computadores (PC, notebook)</a:t>
            </a:r>
          </a:p>
          <a:p>
            <a:r>
              <a:rPr lang="pt-BR" dirty="0" smtClean="0"/>
              <a:t>Entretenimento (TV, DVD)</a:t>
            </a:r>
          </a:p>
          <a:p>
            <a:r>
              <a:rPr lang="pt-BR" dirty="0" smtClean="0"/>
              <a:t>Telecomunicações (Telefone, celular)</a:t>
            </a:r>
          </a:p>
          <a:p>
            <a:r>
              <a:rPr lang="pt-BR" dirty="0" smtClean="0"/>
              <a:t>Eletrodomésticos (</a:t>
            </a:r>
            <a:r>
              <a:rPr lang="pt-BR" dirty="0" err="1" smtClean="0"/>
              <a:t>Microondas</a:t>
            </a:r>
            <a:r>
              <a:rPr lang="pt-BR" dirty="0" smtClean="0"/>
              <a:t>, refrigerador)</a:t>
            </a:r>
          </a:p>
          <a:p>
            <a:r>
              <a:rPr lang="pt-BR" dirty="0" smtClean="0"/>
              <a:t>Telemetria (Alarme de fumaça/arrombamento, câmeras de monitoramento).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111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Inter redes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 conjunto de redes interconectadas é chamado </a:t>
            </a:r>
            <a:r>
              <a:rPr lang="pt-BR" dirty="0" smtClean="0"/>
              <a:t>Inter rede </a:t>
            </a:r>
            <a:r>
              <a:rPr lang="pt-BR" dirty="0" smtClean="0"/>
              <a:t>ou internet.</a:t>
            </a:r>
          </a:p>
          <a:p>
            <a:endParaRPr lang="pt-BR" dirty="0"/>
          </a:p>
          <a:p>
            <a:r>
              <a:rPr lang="pt-BR" dirty="0" smtClean="0"/>
              <a:t>Internet mundial: uma </a:t>
            </a:r>
            <a:r>
              <a:rPr lang="pt-BR" dirty="0" smtClean="0"/>
              <a:t>Inter rede </a:t>
            </a:r>
            <a:r>
              <a:rPr lang="pt-BR" dirty="0" smtClean="0"/>
              <a:t>específica (inicial maiúscula).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67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Software de rede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As rede são organizadas em camadas ou níveis: Um conjunto de protocolos é chamado de arquitetura de rede.</a:t>
            </a:r>
          </a:p>
          <a:p>
            <a:endParaRPr lang="pt-BR" dirty="0" smtClean="0"/>
          </a:p>
          <a:p>
            <a:r>
              <a:rPr lang="pt-BR" smtClean="0"/>
              <a:t>Protocolo</a:t>
            </a:r>
            <a:r>
              <a:rPr lang="pt-BR" dirty="0" smtClean="0"/>
              <a:t>: conjunto de regras utilizadas para comunicação entre níveis.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02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Hierarquia de protocolos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/>
          </a:p>
          <a:p>
            <a:r>
              <a:rPr lang="pt-BR" sz="2400" dirty="0" smtClean="0"/>
              <a:t>Camadas, protocolos e interfaces</a:t>
            </a:r>
            <a:endParaRPr lang="pt-BR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84784"/>
            <a:ext cx="5218123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045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Serviços orientados a conexão e sem conexão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As camadas podem oferecer dois tipos de serviço as camadas acima:</a:t>
            </a:r>
          </a:p>
          <a:p>
            <a:pPr lvl="1"/>
            <a:r>
              <a:rPr lang="pt-BR" dirty="0" smtClean="0"/>
              <a:t>Com conexão e sem conexão.</a:t>
            </a:r>
          </a:p>
          <a:p>
            <a:endParaRPr lang="pt-BR" dirty="0"/>
          </a:p>
          <a:p>
            <a:r>
              <a:rPr lang="pt-BR" dirty="0" smtClean="0"/>
              <a:t>Serviço orientado a conexão: </a:t>
            </a:r>
          </a:p>
          <a:p>
            <a:pPr lvl="1"/>
            <a:r>
              <a:rPr lang="pt-BR" dirty="0" smtClean="0"/>
              <a:t>Se baseia no sistema telefônico.</a:t>
            </a:r>
          </a:p>
          <a:p>
            <a:pPr lvl="1"/>
            <a:r>
              <a:rPr lang="pt-BR" dirty="0" smtClean="0"/>
              <a:t>Usuário estabelece uma conexão, utiliza a conexão e depois libera a conexão.</a:t>
            </a:r>
          </a:p>
          <a:p>
            <a:pPr lvl="1"/>
            <a:r>
              <a:rPr lang="pt-BR" dirty="0" smtClean="0"/>
              <a:t>Negociação: um lado faz a proposta e o outro aceita</a:t>
            </a:r>
            <a:r>
              <a:rPr lang="pt-BR" dirty="0"/>
              <a:t> </a:t>
            </a:r>
            <a:r>
              <a:rPr lang="pt-BR" dirty="0" smtClean="0"/>
              <a:t>ou rejeita (ex.: transferência de arquivos).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16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Serviços orientados a conexão e sem conexão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Serviço não orientado a conexão:</a:t>
            </a:r>
          </a:p>
          <a:p>
            <a:pPr lvl="1"/>
            <a:r>
              <a:rPr lang="pt-BR" dirty="0" smtClean="0"/>
              <a:t>Se baseia no sistema postal</a:t>
            </a:r>
          </a:p>
          <a:p>
            <a:pPr lvl="1"/>
            <a:r>
              <a:rPr lang="pt-BR" dirty="0" smtClean="0"/>
              <a:t>Não há confirmação sobre o recebimento de mensagens.</a:t>
            </a:r>
          </a:p>
          <a:p>
            <a:pPr lvl="1"/>
            <a:r>
              <a:rPr lang="pt-BR" dirty="0" smtClean="0"/>
              <a:t>Tráfego de voz digital. </a:t>
            </a:r>
          </a:p>
          <a:p>
            <a:pPr lvl="1"/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057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de </a:t>
            </a:r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Nos primeiros anos em que as redes se tornaram um meio importante e imprescindível, começaram os problemas de interoperabilidade entre as redes, 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Cada </a:t>
            </a:r>
            <a:r>
              <a:rPr lang="pt-BR" dirty="0"/>
              <a:t>fabricante desenvolvia seus próprios modelos de redes e protocolos e a comunicação entre elas estava se tornando um grande problema.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55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066800" y="228600"/>
            <a:ext cx="7924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>
              <a:lnSpc>
                <a:spcPct val="140000"/>
              </a:lnSpc>
              <a:defRPr/>
            </a:pPr>
            <a:r>
              <a:rPr lang="pt-BR" sz="4400" dirty="0"/>
              <a:t>Modelo de referência OSI</a:t>
            </a:r>
            <a:endParaRPr lang="pt-BR" sz="4400" dirty="0">
              <a:latin typeface="+mj-lt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23528" y="1676400"/>
            <a:ext cx="5086672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857250" lvl="1" indent="-476250">
              <a:spcBef>
                <a:spcPct val="20000"/>
              </a:spcBef>
              <a:buClr>
                <a:srgbClr val="660066"/>
              </a:buClr>
              <a:buSzPct val="90000"/>
              <a:buFont typeface="Arial" pitchFamily="34" charset="0"/>
              <a:buChar char="•"/>
            </a:pPr>
            <a:r>
              <a:rPr lang="pt-BR" sz="2400" dirty="0">
                <a:latin typeface="Arial" charset="0"/>
              </a:rPr>
              <a:t>Modelo OSI da ISO  - 1984</a:t>
            </a:r>
          </a:p>
          <a:p>
            <a:pPr marL="1314450" lvl="2" indent="-476250">
              <a:spcBef>
                <a:spcPct val="20000"/>
              </a:spcBef>
              <a:buClr>
                <a:srgbClr val="660066"/>
              </a:buClr>
              <a:buSzPct val="90000"/>
              <a:buFont typeface="Arial" pitchFamily="34" charset="0"/>
              <a:buChar char="•"/>
            </a:pPr>
            <a:r>
              <a:rPr lang="pt-BR" sz="2400" dirty="0" smtClean="0">
                <a:solidFill>
                  <a:schemeClr val="tx1"/>
                </a:solidFill>
                <a:latin typeface="+mj-lt"/>
              </a:rPr>
              <a:t>Modelo </a:t>
            </a:r>
            <a:r>
              <a:rPr lang="pt-BR" sz="2400" dirty="0">
                <a:solidFill>
                  <a:schemeClr val="tx1"/>
                </a:solidFill>
                <a:latin typeface="+mj-lt"/>
              </a:rPr>
              <a:t>abstrato que relaciona funções e serviços de </a:t>
            </a:r>
            <a:r>
              <a:rPr lang="pt-BR" sz="2400" dirty="0">
                <a:latin typeface="+mj-lt"/>
              </a:rPr>
              <a:t>comunicação em sete </a:t>
            </a:r>
            <a:r>
              <a:rPr lang="pt-BR" sz="2400" dirty="0" smtClean="0">
                <a:latin typeface="+mj-lt"/>
              </a:rPr>
              <a:t>camadas.</a:t>
            </a:r>
          </a:p>
          <a:p>
            <a:pPr marL="1314450" lvl="2" indent="-476250">
              <a:spcBef>
                <a:spcPct val="20000"/>
              </a:spcBef>
              <a:buClr>
                <a:srgbClr val="660066"/>
              </a:buClr>
              <a:buSzPct val="90000"/>
              <a:buFont typeface="Arial" pitchFamily="34" charset="0"/>
              <a:buChar char="•"/>
            </a:pPr>
            <a:r>
              <a:rPr lang="pt-BR" sz="2400" dirty="0" smtClean="0">
                <a:latin typeface="+mj-lt"/>
              </a:rPr>
              <a:t>Cada </a:t>
            </a:r>
            <a:r>
              <a:rPr lang="pt-BR" sz="2400" dirty="0">
                <a:latin typeface="+mj-lt"/>
              </a:rPr>
              <a:t>camada oferece serviços à camada </a:t>
            </a:r>
            <a:r>
              <a:rPr lang="pt-BR" sz="2400" dirty="0" smtClean="0">
                <a:latin typeface="+mj-lt"/>
              </a:rPr>
              <a:t>superior.</a:t>
            </a:r>
          </a:p>
          <a:p>
            <a:pPr marL="1314450" lvl="2" indent="-476250">
              <a:spcBef>
                <a:spcPct val="20000"/>
              </a:spcBef>
              <a:buClr>
                <a:srgbClr val="660066"/>
              </a:buClr>
              <a:buSzPct val="90000"/>
              <a:buFont typeface="Arial" pitchFamily="34" charset="0"/>
              <a:buChar char="•"/>
            </a:pPr>
            <a:r>
              <a:rPr lang="pt-BR" sz="2400" dirty="0" smtClean="0">
                <a:latin typeface="+mj-lt"/>
              </a:rPr>
              <a:t>Uma </a:t>
            </a:r>
            <a:r>
              <a:rPr lang="pt-BR" sz="2400" dirty="0">
                <a:latin typeface="+mj-lt"/>
              </a:rPr>
              <a:t>camada N “conversa” com seu par no outro lado, através do protocolo da camada N</a:t>
            </a: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5619750" y="3581400"/>
            <a:ext cx="3143250" cy="533400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defTabSz="762000"/>
            <a:r>
              <a:rPr lang="pt-BR">
                <a:solidFill>
                  <a:schemeClr val="bg1"/>
                </a:solidFill>
                <a:latin typeface="Arial" charset="0"/>
              </a:rPr>
              <a:t>Camada de transporte</a:t>
            </a: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5619750" y="2971800"/>
            <a:ext cx="3143250" cy="5334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defTabSz="762000"/>
            <a:r>
              <a:rPr lang="pt-BR">
                <a:solidFill>
                  <a:schemeClr val="bg1"/>
                </a:solidFill>
                <a:latin typeface="Arial" charset="0"/>
              </a:rPr>
              <a:t>Camada de sessão</a:t>
            </a: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5619750" y="2362200"/>
            <a:ext cx="3143250" cy="5334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defTabSz="762000"/>
            <a:r>
              <a:rPr lang="pt-BR">
                <a:solidFill>
                  <a:schemeClr val="bg1"/>
                </a:solidFill>
                <a:latin typeface="Arial" charset="0"/>
              </a:rPr>
              <a:t>Camada de apresentação</a:t>
            </a:r>
            <a:endParaRPr lang="pt-BR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5619750" y="1752600"/>
            <a:ext cx="3143250" cy="5334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defTabSz="762000"/>
            <a:r>
              <a:rPr lang="pt-BR">
                <a:solidFill>
                  <a:schemeClr val="bg1"/>
                </a:solidFill>
                <a:latin typeface="Arial" charset="0"/>
              </a:rPr>
              <a:t>Camada de aplicação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5368" name="Rectangle 9"/>
          <p:cNvSpPr>
            <a:spLocks noChangeArrowheads="1"/>
          </p:cNvSpPr>
          <p:nvPr/>
        </p:nvSpPr>
        <p:spPr bwMode="auto">
          <a:xfrm>
            <a:off x="5619750" y="4191000"/>
            <a:ext cx="3143250" cy="5334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defTabSz="762000"/>
            <a:r>
              <a:rPr lang="pt-BR">
                <a:solidFill>
                  <a:schemeClr val="bg1"/>
                </a:solidFill>
                <a:latin typeface="Arial" charset="0"/>
              </a:rPr>
              <a:t>Camada de rede</a:t>
            </a: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5619750" y="5410200"/>
            <a:ext cx="3143250" cy="5334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defTabSz="762000"/>
            <a:r>
              <a:rPr lang="pt-BR">
                <a:solidFill>
                  <a:srgbClr val="FF0000"/>
                </a:solidFill>
                <a:latin typeface="Arial" charset="0"/>
              </a:rPr>
              <a:t>Camada de física</a:t>
            </a: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5619750" y="4800600"/>
            <a:ext cx="3143250" cy="5334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defTabSz="762000"/>
            <a:r>
              <a:rPr lang="pt-BR">
                <a:solidFill>
                  <a:srgbClr val="FF0000"/>
                </a:solidFill>
                <a:latin typeface="Arial" charset="0"/>
              </a:rPr>
              <a:t>Camada de enlace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676053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ChangeArrowheads="1"/>
          </p:cNvSpPr>
          <p:nvPr/>
        </p:nvSpPr>
        <p:spPr bwMode="auto">
          <a:xfrm>
            <a:off x="1066800" y="228600"/>
            <a:ext cx="7924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>
              <a:lnSpc>
                <a:spcPct val="140000"/>
              </a:lnSpc>
              <a:defRPr/>
            </a:pPr>
            <a:r>
              <a:rPr lang="pt-BR" sz="4400" dirty="0"/>
              <a:t>Modelo de referência OSI</a:t>
            </a:r>
            <a:endParaRPr lang="pt-BR" sz="4400" dirty="0">
              <a:latin typeface="+mj-lt"/>
            </a:endParaRPr>
          </a:p>
        </p:txBody>
      </p:sp>
      <p:graphicFrame>
        <p:nvGraphicFramePr>
          <p:cNvPr id="307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28456"/>
              </p:ext>
            </p:extLst>
          </p:nvPr>
        </p:nvGraphicFramePr>
        <p:xfrm>
          <a:off x="1371600" y="1164480"/>
          <a:ext cx="6538913" cy="557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Imagem de bitmap" r:id="rId3" imgW="4847619" imgH="4133333" progId="Paint.Picture">
                  <p:embed/>
                </p:oleObj>
              </mc:Choice>
              <mc:Fallback>
                <p:oleObj name="Imagem de bitmap" r:id="rId3" imgW="4847619" imgH="413333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164480"/>
                        <a:ext cx="6538913" cy="557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8140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 de referência TCP/IP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Usado na ARPANET, 1974 (rede de pesquisa patrocinada pelo departamento de defesa dos EUA) e em sua sucessora (Internet mundial).</a:t>
            </a:r>
          </a:p>
          <a:p>
            <a:endParaRPr lang="pt-BR" dirty="0"/>
          </a:p>
          <a:p>
            <a:r>
              <a:rPr lang="pt-BR" dirty="0" smtClean="0"/>
              <a:t>Era necessária uma rede em que se mantivesse funcionando mesmo que alguma linha de transmissão deixasse de operar.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054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tx1"/>
                </a:solidFill>
              </a:rPr>
              <a:t>Modelo </a:t>
            </a:r>
            <a:r>
              <a:rPr lang="pt-BR" sz="4400" dirty="0" smtClean="0">
                <a:solidFill>
                  <a:schemeClr val="tx1"/>
                </a:solidFill>
              </a:rPr>
              <a:t>TCP/IP</a:t>
            </a:r>
            <a:endParaRPr lang="pt-BR" sz="4400" dirty="0">
              <a:solidFill>
                <a:schemeClr val="tx1"/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357158" y="1000108"/>
            <a:ext cx="5799018" cy="5455628"/>
          </a:xfrm>
        </p:spPr>
        <p:txBody>
          <a:bodyPr>
            <a:normAutofit/>
          </a:bodyPr>
          <a:lstStyle/>
          <a:p>
            <a:endParaRPr lang="pt-BR" sz="2800" dirty="0" smtClean="0"/>
          </a:p>
          <a:p>
            <a:r>
              <a:rPr lang="pt-BR" sz="2800" dirty="0" smtClean="0"/>
              <a:t>O </a:t>
            </a:r>
            <a:r>
              <a:rPr lang="pt-BR" sz="2800" dirty="0" err="1" smtClean="0"/>
              <a:t>Transmission</a:t>
            </a:r>
            <a:r>
              <a:rPr lang="pt-BR" sz="2800" dirty="0" smtClean="0"/>
              <a:t> </a:t>
            </a:r>
            <a:r>
              <a:rPr lang="pt-BR" sz="2800" dirty="0" err="1" smtClean="0"/>
              <a:t>Control</a:t>
            </a:r>
            <a:r>
              <a:rPr lang="pt-BR" sz="2800" dirty="0" smtClean="0"/>
              <a:t> </a:t>
            </a:r>
            <a:r>
              <a:rPr lang="pt-BR" sz="2800" dirty="0" err="1" smtClean="0"/>
              <a:t>Protocol</a:t>
            </a:r>
            <a:r>
              <a:rPr lang="pt-BR" sz="2800" dirty="0" smtClean="0"/>
              <a:t>/Internet </a:t>
            </a:r>
            <a:r>
              <a:rPr lang="pt-BR" sz="2800" dirty="0" err="1" smtClean="0"/>
              <a:t>Protocol</a:t>
            </a:r>
            <a:r>
              <a:rPr lang="pt-BR" sz="2800" dirty="0" smtClean="0"/>
              <a:t> (TCP/IP) </a:t>
            </a:r>
          </a:p>
          <a:p>
            <a:endParaRPr lang="pt-BR" sz="2800" dirty="0"/>
          </a:p>
          <a:p>
            <a:r>
              <a:rPr lang="pt-BR" sz="2800" dirty="0" smtClean="0"/>
              <a:t>Conjunto de protocolos </a:t>
            </a:r>
            <a:r>
              <a:rPr lang="pt-BR" sz="2800" dirty="0" smtClean="0"/>
              <a:t>desenvolvidos </a:t>
            </a:r>
            <a:r>
              <a:rPr lang="pt-BR" sz="2800" dirty="0" smtClean="0"/>
              <a:t>para a cooperação entre computadores para que compartilhem recursos através de uma rede. 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04248" y="1700808"/>
            <a:ext cx="1743075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C3795-F7D9-45F4-A608-0B8ECA5E98F7}" type="slidenum">
              <a:rPr lang="pt-BR" smtClean="0"/>
              <a:pPr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14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Internet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Internet não é uma rede, e sim um vasto conjunto de redes diferentes que utilizam protocolos comuns e fornecem determinados serviços comuns (</a:t>
            </a:r>
            <a:r>
              <a:rPr lang="pt-BR" dirty="0" err="1" smtClean="0"/>
              <a:t>Tanenbaum</a:t>
            </a:r>
            <a:r>
              <a:rPr lang="pt-BR" dirty="0" smtClean="0"/>
              <a:t>).</a:t>
            </a:r>
          </a:p>
          <a:p>
            <a:endParaRPr lang="pt-BR" dirty="0"/>
          </a:p>
          <a:p>
            <a:r>
              <a:rPr lang="pt-BR" dirty="0"/>
              <a:t>Infraestrutura de rede que provê serviços para aplicações distribuídas (</a:t>
            </a:r>
            <a:r>
              <a:rPr lang="pt-BR" dirty="0" err="1"/>
              <a:t>Kurose</a:t>
            </a:r>
            <a:r>
              <a:rPr lang="pt-BR" dirty="0"/>
              <a:t>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193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TANENBAUM, Andrew S. Redes de Computadores. 4ª Edição: Campus, 2003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332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/>
              <a:t>Transmissão de Dados</a:t>
            </a:r>
            <a:endParaRPr lang="pt-BR" dirty="0"/>
          </a:p>
        </p:txBody>
      </p:sp>
      <p:sp>
        <p:nvSpPr>
          <p:cNvPr id="27651" name="Rectangle 272"/>
          <p:cNvSpPr>
            <a:spLocks noChangeArrowheads="1"/>
          </p:cNvSpPr>
          <p:nvPr/>
        </p:nvSpPr>
        <p:spPr bwMode="auto">
          <a:xfrm>
            <a:off x="533400" y="1752600"/>
            <a:ext cx="815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>
                <a:schemeClr val="accent2"/>
              </a:buClr>
              <a:buSzPct val="80000"/>
              <a:buFontTx/>
              <a:buChar char="-"/>
            </a:pPr>
            <a:r>
              <a:rPr lang="pt-BR" sz="2000">
                <a:solidFill>
                  <a:srgbClr val="003300"/>
                </a:solidFill>
                <a:latin typeface="Arial" charset="0"/>
              </a:rPr>
              <a:t> SIMPLEX; </a:t>
            </a:r>
          </a:p>
        </p:txBody>
      </p:sp>
      <p:sp>
        <p:nvSpPr>
          <p:cNvPr id="27652" name="AutoShape 9" descr="Tecido"/>
          <p:cNvSpPr>
            <a:spLocks noChangeArrowheads="1"/>
          </p:cNvSpPr>
          <p:nvPr/>
        </p:nvSpPr>
        <p:spPr bwMode="auto">
          <a:xfrm>
            <a:off x="3571875" y="3500438"/>
            <a:ext cx="1590675" cy="268287"/>
          </a:xfrm>
          <a:prstGeom prst="rightArrow">
            <a:avLst>
              <a:gd name="adj1" fmla="val 50000"/>
              <a:gd name="adj2" fmla="val 175153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grpSp>
        <p:nvGrpSpPr>
          <p:cNvPr id="27653" name="Group 10"/>
          <p:cNvGrpSpPr>
            <a:grpSpLocks/>
          </p:cNvGrpSpPr>
          <p:nvPr/>
        </p:nvGrpSpPr>
        <p:grpSpPr bwMode="auto">
          <a:xfrm>
            <a:off x="1471613" y="3133725"/>
            <a:ext cx="1814512" cy="938213"/>
            <a:chOff x="2019" y="10656"/>
            <a:chExt cx="2304" cy="1008"/>
          </a:xfrm>
        </p:grpSpPr>
        <p:sp>
          <p:nvSpPr>
            <p:cNvPr id="27657" name="Rectangle 11"/>
            <p:cNvSpPr>
              <a:spLocks noChangeArrowheads="1"/>
            </p:cNvSpPr>
            <p:nvPr/>
          </p:nvSpPr>
          <p:spPr bwMode="auto">
            <a:xfrm>
              <a:off x="2019" y="10656"/>
              <a:ext cx="2304" cy="10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58" name="Text Box 12" descr="Tecido"/>
            <p:cNvSpPr txBox="1">
              <a:spLocks noChangeArrowheads="1"/>
            </p:cNvSpPr>
            <p:nvPr/>
          </p:nvSpPr>
          <p:spPr bwMode="auto">
            <a:xfrm>
              <a:off x="2160" y="10797"/>
              <a:ext cx="201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TRANSMISSOR</a:t>
              </a:r>
            </a:p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(TX)</a:t>
              </a:r>
              <a:endParaRPr lang="pt-BR"/>
            </a:p>
          </p:txBody>
        </p:sp>
      </p:grpSp>
      <p:grpSp>
        <p:nvGrpSpPr>
          <p:cNvPr id="27654" name="Group 13"/>
          <p:cNvGrpSpPr>
            <a:grpSpLocks/>
          </p:cNvGrpSpPr>
          <p:nvPr/>
        </p:nvGrpSpPr>
        <p:grpSpPr bwMode="auto">
          <a:xfrm>
            <a:off x="5218113" y="3133725"/>
            <a:ext cx="1816100" cy="938213"/>
            <a:chOff x="7920" y="10656"/>
            <a:chExt cx="2304" cy="1008"/>
          </a:xfrm>
        </p:grpSpPr>
        <p:sp>
          <p:nvSpPr>
            <p:cNvPr id="27655" name="Rectangle 14"/>
            <p:cNvSpPr>
              <a:spLocks noChangeArrowheads="1"/>
            </p:cNvSpPr>
            <p:nvPr/>
          </p:nvSpPr>
          <p:spPr bwMode="auto">
            <a:xfrm>
              <a:off x="7920" y="10656"/>
              <a:ext cx="2304" cy="10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56" name="Text Box 15" descr="Tecido"/>
            <p:cNvSpPr txBox="1">
              <a:spLocks noChangeArrowheads="1"/>
            </p:cNvSpPr>
            <p:nvPr/>
          </p:nvSpPr>
          <p:spPr bwMode="auto">
            <a:xfrm>
              <a:off x="8064" y="10800"/>
              <a:ext cx="201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RECEPTOR</a:t>
              </a:r>
            </a:p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(RX)</a:t>
              </a:r>
              <a:endParaRPr lang="pt-BR"/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770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/>
              <a:t>Transmissão de Dados</a:t>
            </a:r>
            <a:endParaRPr lang="pt-BR" dirty="0"/>
          </a:p>
        </p:txBody>
      </p:sp>
      <p:sp>
        <p:nvSpPr>
          <p:cNvPr id="28675" name="Rectangle 272"/>
          <p:cNvSpPr>
            <a:spLocks noChangeArrowheads="1"/>
          </p:cNvSpPr>
          <p:nvPr/>
        </p:nvSpPr>
        <p:spPr bwMode="auto">
          <a:xfrm>
            <a:off x="533400" y="1752600"/>
            <a:ext cx="815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>
                <a:schemeClr val="accent2"/>
              </a:buClr>
              <a:buSzPct val="80000"/>
            </a:pPr>
            <a:r>
              <a:rPr lang="pt-BR" sz="2000">
                <a:solidFill>
                  <a:srgbClr val="003300"/>
                </a:solidFill>
                <a:latin typeface="Arial" charset="0"/>
              </a:rPr>
              <a:t> HALF-DUPLEX;</a:t>
            </a:r>
          </a:p>
        </p:txBody>
      </p:sp>
      <p:grpSp>
        <p:nvGrpSpPr>
          <p:cNvPr id="28676" name="Group 13"/>
          <p:cNvGrpSpPr>
            <a:grpSpLocks/>
          </p:cNvGrpSpPr>
          <p:nvPr/>
        </p:nvGrpSpPr>
        <p:grpSpPr bwMode="auto">
          <a:xfrm>
            <a:off x="1587500" y="3211513"/>
            <a:ext cx="1770063" cy="876300"/>
            <a:chOff x="2019" y="10656"/>
            <a:chExt cx="2304" cy="1008"/>
          </a:xfrm>
        </p:grpSpPr>
        <p:sp>
          <p:nvSpPr>
            <p:cNvPr id="28688" name="Rectangle 14"/>
            <p:cNvSpPr>
              <a:spLocks noChangeArrowheads="1"/>
            </p:cNvSpPr>
            <p:nvPr/>
          </p:nvSpPr>
          <p:spPr bwMode="auto">
            <a:xfrm>
              <a:off x="2019" y="10656"/>
              <a:ext cx="2304" cy="10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689" name="Text Box 15" descr="Tecido"/>
            <p:cNvSpPr txBox="1">
              <a:spLocks noChangeArrowheads="1"/>
            </p:cNvSpPr>
            <p:nvPr/>
          </p:nvSpPr>
          <p:spPr bwMode="auto">
            <a:xfrm>
              <a:off x="2160" y="10797"/>
              <a:ext cx="201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TRANSMISSOR</a:t>
              </a:r>
            </a:p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(TX)</a:t>
              </a:r>
              <a:endParaRPr lang="pt-BR"/>
            </a:p>
          </p:txBody>
        </p:sp>
      </p:grpSp>
      <p:grpSp>
        <p:nvGrpSpPr>
          <p:cNvPr id="28677" name="Group 16"/>
          <p:cNvGrpSpPr>
            <a:grpSpLocks/>
          </p:cNvGrpSpPr>
          <p:nvPr/>
        </p:nvGrpSpPr>
        <p:grpSpPr bwMode="auto">
          <a:xfrm>
            <a:off x="5334000" y="3211513"/>
            <a:ext cx="1770063" cy="876300"/>
            <a:chOff x="7920" y="10656"/>
            <a:chExt cx="2304" cy="1008"/>
          </a:xfrm>
        </p:grpSpPr>
        <p:sp>
          <p:nvSpPr>
            <p:cNvPr id="28686" name="Rectangle 17"/>
            <p:cNvSpPr>
              <a:spLocks noChangeArrowheads="1"/>
            </p:cNvSpPr>
            <p:nvPr/>
          </p:nvSpPr>
          <p:spPr bwMode="auto">
            <a:xfrm>
              <a:off x="7920" y="10656"/>
              <a:ext cx="2304" cy="10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687" name="Text Box 18" descr="Tecido"/>
            <p:cNvSpPr txBox="1">
              <a:spLocks noChangeArrowheads="1"/>
            </p:cNvSpPr>
            <p:nvPr/>
          </p:nvSpPr>
          <p:spPr bwMode="auto">
            <a:xfrm>
              <a:off x="8064" y="10800"/>
              <a:ext cx="201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RECEPTOR</a:t>
              </a:r>
            </a:p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(RX)</a:t>
              </a:r>
              <a:endParaRPr lang="pt-BR"/>
            </a:p>
          </p:txBody>
        </p:sp>
      </p:grpSp>
      <p:grpSp>
        <p:nvGrpSpPr>
          <p:cNvPr id="28678" name="Group 19"/>
          <p:cNvGrpSpPr>
            <a:grpSpLocks/>
          </p:cNvGrpSpPr>
          <p:nvPr/>
        </p:nvGrpSpPr>
        <p:grpSpPr bwMode="auto">
          <a:xfrm>
            <a:off x="5337175" y="4429125"/>
            <a:ext cx="1768475" cy="874713"/>
            <a:chOff x="2019" y="10656"/>
            <a:chExt cx="2304" cy="1008"/>
          </a:xfrm>
        </p:grpSpPr>
        <p:sp>
          <p:nvSpPr>
            <p:cNvPr id="28684" name="Rectangle 20"/>
            <p:cNvSpPr>
              <a:spLocks noChangeArrowheads="1"/>
            </p:cNvSpPr>
            <p:nvPr/>
          </p:nvSpPr>
          <p:spPr bwMode="auto">
            <a:xfrm>
              <a:off x="2019" y="10656"/>
              <a:ext cx="2304" cy="10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685" name="Text Box 21" descr="Tecido"/>
            <p:cNvSpPr txBox="1">
              <a:spLocks noChangeArrowheads="1"/>
            </p:cNvSpPr>
            <p:nvPr/>
          </p:nvSpPr>
          <p:spPr bwMode="auto">
            <a:xfrm>
              <a:off x="2160" y="10797"/>
              <a:ext cx="201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TRANSMISSOR</a:t>
              </a:r>
            </a:p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(TX)</a:t>
              </a:r>
              <a:endParaRPr lang="pt-BR"/>
            </a:p>
          </p:txBody>
        </p:sp>
      </p:grpSp>
      <p:grpSp>
        <p:nvGrpSpPr>
          <p:cNvPr id="28679" name="Group 22"/>
          <p:cNvGrpSpPr>
            <a:grpSpLocks/>
          </p:cNvGrpSpPr>
          <p:nvPr/>
        </p:nvGrpSpPr>
        <p:grpSpPr bwMode="auto">
          <a:xfrm>
            <a:off x="1587500" y="4429125"/>
            <a:ext cx="1770063" cy="874713"/>
            <a:chOff x="7920" y="10656"/>
            <a:chExt cx="2304" cy="1008"/>
          </a:xfrm>
        </p:grpSpPr>
        <p:sp>
          <p:nvSpPr>
            <p:cNvPr id="28682" name="Rectangle 23"/>
            <p:cNvSpPr>
              <a:spLocks noChangeArrowheads="1"/>
            </p:cNvSpPr>
            <p:nvPr/>
          </p:nvSpPr>
          <p:spPr bwMode="auto">
            <a:xfrm>
              <a:off x="7920" y="10656"/>
              <a:ext cx="2304" cy="10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683" name="Text Box 24" descr="Tecido"/>
            <p:cNvSpPr txBox="1">
              <a:spLocks noChangeArrowheads="1"/>
            </p:cNvSpPr>
            <p:nvPr/>
          </p:nvSpPr>
          <p:spPr bwMode="auto">
            <a:xfrm>
              <a:off x="8064" y="10800"/>
              <a:ext cx="201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RECEPTOR</a:t>
              </a:r>
            </a:p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(RX)</a:t>
              </a:r>
              <a:endParaRPr lang="pt-BR"/>
            </a:p>
          </p:txBody>
        </p:sp>
      </p:grpSp>
      <p:sp>
        <p:nvSpPr>
          <p:cNvPr id="28680" name="AutoShape 25" descr="Tecido"/>
          <p:cNvSpPr>
            <a:spLocks noChangeArrowheads="1"/>
          </p:cNvSpPr>
          <p:nvPr/>
        </p:nvSpPr>
        <p:spPr bwMode="auto">
          <a:xfrm>
            <a:off x="3508375" y="3455988"/>
            <a:ext cx="1547813" cy="249237"/>
          </a:xfrm>
          <a:prstGeom prst="rightArrow">
            <a:avLst>
              <a:gd name="adj1" fmla="val 50000"/>
              <a:gd name="adj2" fmla="val 175525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28681" name="AutoShape 26" descr="Tecido"/>
          <p:cNvSpPr>
            <a:spLocks noChangeArrowheads="1"/>
          </p:cNvSpPr>
          <p:nvPr/>
        </p:nvSpPr>
        <p:spPr bwMode="auto">
          <a:xfrm>
            <a:off x="3508375" y="4611688"/>
            <a:ext cx="1658938" cy="252412"/>
          </a:xfrm>
          <a:prstGeom prst="leftArrow">
            <a:avLst>
              <a:gd name="adj1" fmla="val 50000"/>
              <a:gd name="adj2" fmla="val 18576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1117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/>
              <a:t>Transmissão de Dados</a:t>
            </a:r>
            <a:endParaRPr lang="pt-BR" dirty="0"/>
          </a:p>
        </p:txBody>
      </p:sp>
      <p:sp>
        <p:nvSpPr>
          <p:cNvPr id="29699" name="Rectangle 272"/>
          <p:cNvSpPr>
            <a:spLocks noChangeArrowheads="1"/>
          </p:cNvSpPr>
          <p:nvPr/>
        </p:nvSpPr>
        <p:spPr bwMode="auto">
          <a:xfrm>
            <a:off x="533400" y="1752600"/>
            <a:ext cx="815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>
                <a:schemeClr val="accent2"/>
              </a:buClr>
              <a:buSzPct val="80000"/>
              <a:buFontTx/>
              <a:buChar char="-"/>
            </a:pPr>
            <a:r>
              <a:rPr lang="pt-BR" sz="2000">
                <a:solidFill>
                  <a:srgbClr val="003300"/>
                </a:solidFill>
                <a:latin typeface="Arial" charset="0"/>
              </a:rPr>
              <a:t> FULL-DUPLEX;</a:t>
            </a:r>
          </a:p>
        </p:txBody>
      </p:sp>
      <p:grpSp>
        <p:nvGrpSpPr>
          <p:cNvPr id="29700" name="Group 2"/>
          <p:cNvGrpSpPr>
            <a:grpSpLocks/>
          </p:cNvGrpSpPr>
          <p:nvPr/>
        </p:nvGrpSpPr>
        <p:grpSpPr bwMode="auto">
          <a:xfrm>
            <a:off x="1071563" y="3000375"/>
            <a:ext cx="1836737" cy="962025"/>
            <a:chOff x="2019" y="10656"/>
            <a:chExt cx="2304" cy="1008"/>
          </a:xfrm>
        </p:grpSpPr>
        <p:sp>
          <p:nvSpPr>
            <p:cNvPr id="29705" name="Rectangle 3"/>
            <p:cNvSpPr>
              <a:spLocks noChangeArrowheads="1"/>
            </p:cNvSpPr>
            <p:nvPr/>
          </p:nvSpPr>
          <p:spPr bwMode="auto">
            <a:xfrm>
              <a:off x="2019" y="10656"/>
              <a:ext cx="2304" cy="10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706" name="Text Box 4" descr="Tecido"/>
            <p:cNvSpPr txBox="1">
              <a:spLocks noChangeArrowheads="1"/>
            </p:cNvSpPr>
            <p:nvPr/>
          </p:nvSpPr>
          <p:spPr bwMode="auto">
            <a:xfrm>
              <a:off x="2160" y="10797"/>
              <a:ext cx="201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TRANSMISSOR</a:t>
              </a:r>
            </a:p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RECEPTOR</a:t>
              </a:r>
              <a:endParaRPr lang="pt-BR"/>
            </a:p>
          </p:txBody>
        </p:sp>
      </p:grpSp>
      <p:grpSp>
        <p:nvGrpSpPr>
          <p:cNvPr id="29701" name="Group 5"/>
          <p:cNvGrpSpPr>
            <a:grpSpLocks/>
          </p:cNvGrpSpPr>
          <p:nvPr/>
        </p:nvGrpSpPr>
        <p:grpSpPr bwMode="auto">
          <a:xfrm>
            <a:off x="6000750" y="3000375"/>
            <a:ext cx="1838325" cy="962025"/>
            <a:chOff x="7920" y="10656"/>
            <a:chExt cx="2304" cy="1008"/>
          </a:xfrm>
        </p:grpSpPr>
        <p:sp>
          <p:nvSpPr>
            <p:cNvPr id="29703" name="Rectangle 6"/>
            <p:cNvSpPr>
              <a:spLocks noChangeArrowheads="1"/>
            </p:cNvSpPr>
            <p:nvPr/>
          </p:nvSpPr>
          <p:spPr bwMode="auto">
            <a:xfrm>
              <a:off x="7920" y="10656"/>
              <a:ext cx="2304" cy="100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704" name="Text Box 7" descr="Tecido"/>
            <p:cNvSpPr txBox="1">
              <a:spLocks noChangeArrowheads="1"/>
            </p:cNvSpPr>
            <p:nvPr/>
          </p:nvSpPr>
          <p:spPr bwMode="auto">
            <a:xfrm>
              <a:off x="8064" y="10800"/>
              <a:ext cx="2016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TRANSMISSOR</a:t>
              </a:r>
            </a:p>
            <a:p>
              <a:pPr algn="ctr" eaLnBrk="1" hangingPunct="1">
                <a:spcAft>
                  <a:spcPts val="1000"/>
                </a:spcAft>
              </a:pPr>
              <a:r>
                <a:rPr lang="en-US" sz="1100" b="1">
                  <a:solidFill>
                    <a:srgbClr val="FFFFFF"/>
                  </a:solidFill>
                  <a:latin typeface="Calibri" pitchFamily="34" charset="0"/>
                </a:rPr>
                <a:t>RECEPTOR</a:t>
              </a:r>
              <a:endParaRPr lang="pt-BR"/>
            </a:p>
          </p:txBody>
        </p:sp>
      </p:grpSp>
      <p:sp>
        <p:nvSpPr>
          <p:cNvPr id="29702" name="AutoShape 8" descr="Tecido"/>
          <p:cNvSpPr>
            <a:spLocks noChangeArrowheads="1"/>
          </p:cNvSpPr>
          <p:nvPr/>
        </p:nvSpPr>
        <p:spPr bwMode="auto">
          <a:xfrm>
            <a:off x="3357563" y="3500438"/>
            <a:ext cx="2068512" cy="274637"/>
          </a:xfrm>
          <a:prstGeom prst="leftRightArrow">
            <a:avLst>
              <a:gd name="adj1" fmla="val 50000"/>
              <a:gd name="adj2" fmla="val 180310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42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1464</Words>
  <Application>Microsoft Office PowerPoint</Application>
  <PresentationFormat>Apresentação na tela (4:3)</PresentationFormat>
  <Paragraphs>278</Paragraphs>
  <Slides>39</Slides>
  <Notes>2</Notes>
  <HiddenSlides>3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1" baseType="lpstr">
      <vt:lpstr>Tema do Office</vt:lpstr>
      <vt:lpstr>Imagem de bitmap</vt:lpstr>
      <vt:lpstr>Redes – Introdução</vt:lpstr>
      <vt:lpstr>Introdução</vt:lpstr>
      <vt:lpstr>Introdução</vt:lpstr>
      <vt:lpstr>Uso de Redes de Computadores</vt:lpstr>
      <vt:lpstr>Uso de Redes de Computadores</vt:lpstr>
      <vt:lpstr>Uso de Redes de Computadores</vt:lpstr>
      <vt:lpstr>Uso de Redes de Computadores</vt:lpstr>
      <vt:lpstr>Uso de Redes de Computadores</vt:lpstr>
      <vt:lpstr>Hardware de rede</vt:lpstr>
      <vt:lpstr>Redes de difusão</vt:lpstr>
      <vt:lpstr>Redes de difusão</vt:lpstr>
      <vt:lpstr>Redes ponto a ponto</vt:lpstr>
      <vt:lpstr>Redes ponto a ponto</vt:lpstr>
      <vt:lpstr>Tecnologias de transmissão</vt:lpstr>
      <vt:lpstr>Redes Locais</vt:lpstr>
      <vt:lpstr>Características</vt:lpstr>
      <vt:lpstr>Topologias</vt:lpstr>
      <vt:lpstr>Redes Metropolitanas</vt:lpstr>
      <vt:lpstr>Redes geograficamente distribuídas </vt:lpstr>
      <vt:lpstr>Redes geograficamente distribuídas </vt:lpstr>
      <vt:lpstr>Redes sem fio</vt:lpstr>
      <vt:lpstr>Redes sem fio</vt:lpstr>
      <vt:lpstr>Redes sem fio</vt:lpstr>
      <vt:lpstr>Redes domésticas</vt:lpstr>
      <vt:lpstr>Inter redes</vt:lpstr>
      <vt:lpstr>Software de rede</vt:lpstr>
      <vt:lpstr>Hierarquia de protocolos</vt:lpstr>
      <vt:lpstr>Serviços orientados a conexão e sem conexão</vt:lpstr>
      <vt:lpstr>Serviços orientados a conexão e sem conexão</vt:lpstr>
      <vt:lpstr>Modelo de referências</vt:lpstr>
      <vt:lpstr>Apresentação do PowerPoint</vt:lpstr>
      <vt:lpstr>Apresentação do PowerPoint</vt:lpstr>
      <vt:lpstr>Modelo de referência TCP/IP</vt:lpstr>
      <vt:lpstr>Modelo TCP/IP</vt:lpstr>
      <vt:lpstr>Internet</vt:lpstr>
      <vt:lpstr>Referências</vt:lpstr>
      <vt:lpstr>Transmissão de Dados</vt:lpstr>
      <vt:lpstr>Transmissão de Dados</vt:lpstr>
      <vt:lpstr>Transmissão de Dados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</dc:creator>
  <cp:lastModifiedBy>henrique</cp:lastModifiedBy>
  <cp:revision>105</cp:revision>
  <dcterms:created xsi:type="dcterms:W3CDTF">2010-09-29T10:48:05Z</dcterms:created>
  <dcterms:modified xsi:type="dcterms:W3CDTF">2011-10-18T17:39:22Z</dcterms:modified>
</cp:coreProperties>
</file>