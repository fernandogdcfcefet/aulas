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301" r:id="rId3"/>
    <p:sldId id="304" r:id="rId4"/>
    <p:sldId id="305" r:id="rId5"/>
    <p:sldId id="308" r:id="rId6"/>
    <p:sldId id="306" r:id="rId7"/>
    <p:sldId id="309" r:id="rId8"/>
    <p:sldId id="310" r:id="rId9"/>
    <p:sldId id="312" r:id="rId10"/>
    <p:sldId id="329" r:id="rId11"/>
    <p:sldId id="330" r:id="rId12"/>
    <p:sldId id="314" r:id="rId13"/>
    <p:sldId id="311" r:id="rId14"/>
    <p:sldId id="313" r:id="rId15"/>
    <p:sldId id="315" r:id="rId16"/>
    <p:sldId id="316" r:id="rId17"/>
    <p:sldId id="317" r:id="rId18"/>
    <p:sldId id="318" r:id="rId19"/>
    <p:sldId id="319" r:id="rId20"/>
    <p:sldId id="320" r:id="rId21"/>
    <p:sldId id="321" r:id="rId22"/>
    <p:sldId id="303" r:id="rId23"/>
    <p:sldId id="328" r:id="rId24"/>
    <p:sldId id="322" r:id="rId25"/>
    <p:sldId id="323" r:id="rId26"/>
    <p:sldId id="324" r:id="rId27"/>
    <p:sldId id="325" r:id="rId28"/>
    <p:sldId id="332" r:id="rId29"/>
    <p:sldId id="333" r:id="rId30"/>
    <p:sldId id="334" r:id="rId31"/>
    <p:sldId id="335" r:id="rId32"/>
    <p:sldId id="336" r:id="rId33"/>
    <p:sldId id="337" r:id="rId34"/>
    <p:sldId id="348" r:id="rId35"/>
    <p:sldId id="338" r:id="rId36"/>
    <p:sldId id="339" r:id="rId37"/>
    <p:sldId id="340" r:id="rId38"/>
    <p:sldId id="341" r:id="rId39"/>
    <p:sldId id="342" r:id="rId40"/>
    <p:sldId id="343" r:id="rId41"/>
    <p:sldId id="344" r:id="rId42"/>
    <p:sldId id="345" r:id="rId43"/>
    <p:sldId id="346" r:id="rId44"/>
    <p:sldId id="347" r:id="rId45"/>
    <p:sldId id="327" r:id="rId46"/>
    <p:sldId id="331" r:id="rId4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766" autoAdjust="0"/>
  </p:normalViewPr>
  <p:slideViewPr>
    <p:cSldViewPr>
      <p:cViewPr varScale="1">
        <p:scale>
          <a:sx n="87" d="100"/>
          <a:sy n="87" d="100"/>
        </p:scale>
        <p:origin x="109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ED1F0C-26CA-45B0-AA53-D774CF8B2FBC}" type="datetimeFigureOut">
              <a:rPr lang="pt-BR" smtClean="0"/>
              <a:t>03/02/2014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7C5D10-1F63-4199-9259-EB0FB5FA98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6031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1645C-E972-4853-A531-D8DAF9CDA6E3}" type="slidenum">
              <a:rPr lang="pt-BR" smtClean="0"/>
              <a:pPr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48624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1645C-E972-4853-A531-D8DAF9CDA6E3}" type="slidenum">
              <a:rPr lang="pt-BR" smtClean="0"/>
              <a:pPr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62223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03/02/2014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03/02/2014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03/02/2014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03/02/2014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03/02/2014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03/02/2014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03/02/2014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03/02/2014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03/02/2014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03/02/2014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03/02/2014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b Tóp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357158" y="320040"/>
            <a:ext cx="8043890" cy="608630"/>
          </a:xfrm>
        </p:spPr>
        <p:txBody>
          <a:bodyPr>
            <a:noAutofit/>
          </a:bodyPr>
          <a:lstStyle>
            <a:lvl1pPr>
              <a:defRPr sz="3200" u="none">
                <a:solidFill>
                  <a:schemeClr val="bg2">
                    <a:lumMod val="25000"/>
                  </a:schemeClr>
                </a:solidFill>
              </a:defRPr>
            </a:lvl1pPr>
            <a:extLst/>
          </a:lstStyle>
          <a:p>
            <a:r>
              <a:rPr kumimoji="0" lang="pt-BR" dirty="0" smtClean="0"/>
              <a:t>Clique para editar o estilo do título mestre</a:t>
            </a:r>
            <a:endParaRPr kumimoji="0" lang="en-US" dirty="0"/>
          </a:p>
        </p:txBody>
      </p:sp>
      <p:sp>
        <p:nvSpPr>
          <p:cNvPr id="9" name="Espaço Reservado para Conteúdo 2"/>
          <p:cNvSpPr>
            <a:spLocks noGrp="1"/>
          </p:cNvSpPr>
          <p:nvPr>
            <p:ph idx="1"/>
          </p:nvPr>
        </p:nvSpPr>
        <p:spPr>
          <a:xfrm>
            <a:off x="357158" y="1000108"/>
            <a:ext cx="8043890" cy="5455628"/>
          </a:xfrm>
        </p:spPr>
        <p:txBody>
          <a:bodyPr/>
          <a:lstStyle>
            <a:lvl1pPr>
              <a:defRPr u="none">
                <a:latin typeface="Arial" pitchFamily="34" charset="0"/>
                <a:cs typeface="Arial" pitchFamily="34" charset="0"/>
              </a:defRPr>
            </a:lvl1pPr>
            <a:lvl2pPr>
              <a:defRPr u="none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defRPr>
            </a:lvl2pPr>
            <a:lvl3pPr>
              <a:defRPr u="none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defRPr>
            </a:lvl3pPr>
            <a:lvl4pPr>
              <a:defRPr u="none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defRPr>
            </a:lvl4pPr>
            <a:lvl5pPr>
              <a:defRPr u="none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defRPr>
            </a:lvl5pPr>
            <a:extLst/>
          </a:lstStyle>
          <a:p>
            <a:pPr lvl="0" eaLnBrk="1" latinLnBrk="0" hangingPunct="1"/>
            <a:r>
              <a:rPr lang="pt-BR" dirty="0" smtClean="0"/>
              <a:t>Clique para editar os estilos do texto mestre</a:t>
            </a:r>
          </a:p>
          <a:p>
            <a:pPr lvl="1" eaLnBrk="1" latinLnBrk="0" hangingPunct="1"/>
            <a:r>
              <a:rPr lang="pt-BR" dirty="0" smtClean="0"/>
              <a:t>Segundo nível</a:t>
            </a:r>
          </a:p>
          <a:p>
            <a:pPr lvl="2" eaLnBrk="1" latinLnBrk="0" hangingPunct="1"/>
            <a:r>
              <a:rPr lang="pt-BR" dirty="0" smtClean="0"/>
              <a:t>Terceiro nível</a:t>
            </a:r>
          </a:p>
          <a:p>
            <a:pPr lvl="3" eaLnBrk="1" latinLnBrk="0" hangingPunct="1"/>
            <a:r>
              <a:rPr lang="pt-BR" dirty="0" smtClean="0"/>
              <a:t>Quarto nível</a:t>
            </a:r>
          </a:p>
          <a:p>
            <a:pPr lvl="4" eaLnBrk="1" latinLnBrk="0" hangingPunct="1"/>
            <a:r>
              <a:rPr lang="pt-BR" dirty="0" smtClean="0"/>
              <a:t>Quinto nível</a:t>
            </a:r>
            <a:endParaRPr kumimoji="0" lang="en-US" dirty="0"/>
          </a:p>
        </p:txBody>
      </p:sp>
      <p:sp>
        <p:nvSpPr>
          <p:cNvPr id="10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245936" y="6557946"/>
            <a:ext cx="2002464" cy="226902"/>
          </a:xfrm>
        </p:spPr>
        <p:txBody>
          <a:bodyPr/>
          <a:lstStyle>
            <a:lvl1pPr>
              <a:defRPr u="none"/>
            </a:lvl1pPr>
            <a:extLst/>
          </a:lstStyle>
          <a:p>
            <a:fld id="{BD0D816C-EB40-471B-A0EA-1AF25D023FCE}" type="datetimeFigureOut">
              <a:rPr lang="pt-BR" smtClean="0"/>
              <a:pPr/>
              <a:t>03/02/2014</a:t>
            </a:fld>
            <a:endParaRPr lang="pt-BR"/>
          </a:p>
        </p:txBody>
      </p:sp>
      <p:sp>
        <p:nvSpPr>
          <p:cNvPr id="11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0" y="6557946"/>
            <a:ext cx="3657600" cy="228600"/>
          </a:xfrm>
        </p:spPr>
        <p:txBody>
          <a:bodyPr/>
          <a:lstStyle>
            <a:lvl1pPr>
              <a:defRPr u="none"/>
            </a:lvl1pPr>
            <a:extLst/>
          </a:lstStyle>
          <a:p>
            <a:endParaRPr lang="pt-BR"/>
          </a:p>
        </p:txBody>
      </p:sp>
      <p:sp>
        <p:nvSpPr>
          <p:cNvPr id="12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251448" y="6556248"/>
            <a:ext cx="588336" cy="228600"/>
          </a:xfrm>
        </p:spPr>
        <p:txBody>
          <a:bodyPr/>
          <a:lstStyle>
            <a:lvl1pPr>
              <a:defRPr u="none"/>
            </a:lvl1pPr>
            <a:extLst/>
          </a:lstStyle>
          <a:p>
            <a:fld id="{98DC3795-F7D9-45F4-A608-0B8ECA5E98F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2397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03/02/2014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39" Type="http://schemas.openxmlformats.org/officeDocument/2006/relationships/tags" Target="../tags/tag40.xml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34" Type="http://schemas.openxmlformats.org/officeDocument/2006/relationships/tags" Target="../tags/tag35.xml"/><Relationship Id="rId42" Type="http://schemas.openxmlformats.org/officeDocument/2006/relationships/tags" Target="../tags/tag43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33" Type="http://schemas.openxmlformats.org/officeDocument/2006/relationships/tags" Target="../tags/tag34.xml"/><Relationship Id="rId38" Type="http://schemas.openxmlformats.org/officeDocument/2006/relationships/tags" Target="../tags/tag39.xml"/><Relationship Id="rId46" Type="http://schemas.openxmlformats.org/officeDocument/2006/relationships/image" Target="../media/image4.wmf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29" Type="http://schemas.openxmlformats.org/officeDocument/2006/relationships/tags" Target="../tags/tag30.xml"/><Relationship Id="rId41" Type="http://schemas.openxmlformats.org/officeDocument/2006/relationships/tags" Target="../tags/tag42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tags" Target="../tags/tag33.xml"/><Relationship Id="rId37" Type="http://schemas.openxmlformats.org/officeDocument/2006/relationships/tags" Target="../tags/tag38.xml"/><Relationship Id="rId40" Type="http://schemas.openxmlformats.org/officeDocument/2006/relationships/tags" Target="../tags/tag41.xml"/><Relationship Id="rId45" Type="http://schemas.openxmlformats.org/officeDocument/2006/relationships/slideLayout" Target="../slideLayouts/slideLayout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36" Type="http://schemas.openxmlformats.org/officeDocument/2006/relationships/tags" Target="../tags/tag37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31" Type="http://schemas.openxmlformats.org/officeDocument/2006/relationships/tags" Target="../tags/tag32.xml"/><Relationship Id="rId44" Type="http://schemas.openxmlformats.org/officeDocument/2006/relationships/tags" Target="../tags/tag45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tags" Target="../tags/tag31.xml"/><Relationship Id="rId35" Type="http://schemas.openxmlformats.org/officeDocument/2006/relationships/tags" Target="../tags/tag36.xml"/><Relationship Id="rId43" Type="http://schemas.openxmlformats.org/officeDocument/2006/relationships/tags" Target="../tags/tag4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Camada Física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Henrique Batista da Silva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3881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1066800" y="228600"/>
            <a:ext cx="79248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>
              <a:lnSpc>
                <a:spcPct val="140000"/>
              </a:lnSpc>
              <a:defRPr/>
            </a:pPr>
            <a:r>
              <a:rPr lang="pt-BR" sz="4400" dirty="0"/>
              <a:t>Modelo de </a:t>
            </a:r>
            <a:r>
              <a:rPr lang="pt-BR" sz="4400" dirty="0" smtClean="0"/>
              <a:t>referência</a:t>
            </a:r>
            <a:endParaRPr lang="pt-BR" sz="4400" dirty="0">
              <a:latin typeface="+mj-lt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3012926" y="2674640"/>
            <a:ext cx="3143250" cy="533400"/>
          </a:xfrm>
          <a:prstGeom prst="rect">
            <a:avLst/>
          </a:prstGeom>
          <a:solidFill>
            <a:schemeClr val="accent1">
              <a:alpha val="28000"/>
            </a:schemeClr>
          </a:solidFill>
          <a:ln>
            <a:noFill/>
          </a:ln>
          <a:extLst/>
        </p:spPr>
        <p:txBody>
          <a:bodyPr wrap="none" anchor="ctr"/>
          <a:lstStyle/>
          <a:p>
            <a:pPr defTabSz="762000"/>
            <a:r>
              <a:rPr lang="pt-BR">
                <a:solidFill>
                  <a:schemeClr val="bg1"/>
                </a:solidFill>
                <a:latin typeface="Arial" charset="0"/>
              </a:rPr>
              <a:t>Camada de transporte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3012926" y="2060848"/>
            <a:ext cx="3143250" cy="533400"/>
          </a:xfrm>
          <a:prstGeom prst="rect">
            <a:avLst/>
          </a:prstGeom>
          <a:solidFill>
            <a:schemeClr val="accent1">
              <a:alpha val="28000"/>
            </a:schemeClr>
          </a:solidFill>
          <a:ln>
            <a:noFill/>
          </a:ln>
          <a:extLst/>
        </p:spPr>
        <p:txBody>
          <a:bodyPr wrap="none" anchor="ctr"/>
          <a:lstStyle/>
          <a:p>
            <a:pPr defTabSz="762000"/>
            <a:r>
              <a:rPr lang="pt-BR" dirty="0">
                <a:solidFill>
                  <a:schemeClr val="bg1"/>
                </a:solidFill>
                <a:latin typeface="Arial" charset="0"/>
              </a:rPr>
              <a:t>Camada de aplicação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012926" y="3284240"/>
            <a:ext cx="3143250" cy="53340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  <a:extLst/>
        </p:spPr>
        <p:txBody>
          <a:bodyPr wrap="none" anchor="ctr"/>
          <a:lstStyle/>
          <a:p>
            <a:pPr defTabSz="762000"/>
            <a:r>
              <a:rPr lang="pt-BR" dirty="0">
                <a:solidFill>
                  <a:schemeClr val="bg1"/>
                </a:solidFill>
                <a:latin typeface="Arial" charset="0"/>
              </a:rPr>
              <a:t>Camada de rede</a:t>
            </a: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3012926" y="3893840"/>
            <a:ext cx="3143250" cy="533400"/>
          </a:xfrm>
          <a:prstGeom prst="rect">
            <a:avLst/>
          </a:prstGeom>
          <a:solidFill>
            <a:schemeClr val="accent1">
              <a:alpha val="28000"/>
            </a:schemeClr>
          </a:solidFill>
          <a:ln>
            <a:noFill/>
          </a:ln>
          <a:extLst/>
        </p:spPr>
        <p:txBody>
          <a:bodyPr wrap="none" anchor="ctr"/>
          <a:lstStyle/>
          <a:p>
            <a:pPr defTabSz="762000"/>
            <a:r>
              <a:rPr lang="pt-BR" dirty="0">
                <a:solidFill>
                  <a:schemeClr val="bg1"/>
                </a:solidFill>
                <a:latin typeface="Arial" charset="0"/>
              </a:rPr>
              <a:t>Camada de enlace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3012926" y="4509120"/>
            <a:ext cx="3143250" cy="533400"/>
          </a:xfrm>
          <a:prstGeom prst="rect">
            <a:avLst/>
          </a:prstGeom>
          <a:solidFill>
            <a:schemeClr val="accent1"/>
          </a:solidFill>
          <a:ln>
            <a:noFill/>
          </a:ln>
          <a:extLst/>
        </p:spPr>
        <p:txBody>
          <a:bodyPr wrap="none" anchor="ctr"/>
          <a:lstStyle/>
          <a:p>
            <a:pPr defTabSz="762000"/>
            <a:r>
              <a:rPr lang="pt-BR" dirty="0">
                <a:solidFill>
                  <a:srgbClr val="FFFF00"/>
                </a:solidFill>
                <a:latin typeface="Arial" charset="0"/>
              </a:rPr>
              <a:t>Camada </a:t>
            </a:r>
            <a:r>
              <a:rPr lang="pt-BR" dirty="0" smtClean="0">
                <a:solidFill>
                  <a:srgbClr val="FFFF00"/>
                </a:solidFill>
                <a:latin typeface="Arial" charset="0"/>
              </a:rPr>
              <a:t>Física</a:t>
            </a:r>
            <a:endParaRPr lang="pt-BR" dirty="0">
              <a:solidFill>
                <a:srgbClr val="FFFF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76053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Introdução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O objetivo da camada física é transmitir um fluxo bruto de bits de uma camada para outra.</a:t>
            </a:r>
          </a:p>
          <a:p>
            <a:endParaRPr lang="pt-BR" dirty="0"/>
          </a:p>
          <a:p>
            <a:r>
              <a:rPr lang="pt-BR" dirty="0" smtClean="0"/>
              <a:t>Vários meios podem ser usados para realizar a transmissão:</a:t>
            </a:r>
          </a:p>
          <a:p>
            <a:pPr lvl="1"/>
            <a:r>
              <a:rPr lang="pt-BR" dirty="0" smtClean="0"/>
              <a:t>Guiados</a:t>
            </a:r>
          </a:p>
          <a:p>
            <a:pPr lvl="2"/>
            <a:r>
              <a:rPr lang="pt-BR" dirty="0" smtClean="0"/>
              <a:t>Fios de cobre e fibra ótica</a:t>
            </a:r>
          </a:p>
          <a:p>
            <a:pPr lvl="1"/>
            <a:r>
              <a:rPr lang="pt-BR" dirty="0" smtClean="0"/>
              <a:t>Não-guiados</a:t>
            </a:r>
          </a:p>
          <a:p>
            <a:pPr lvl="2"/>
            <a:r>
              <a:rPr lang="pt-BR" dirty="0" smtClean="0"/>
              <a:t>Ondas de rádio e raios laser (pelo ar)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4391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Par trançado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Meio de transmissão mais antigo e ainda mais usado.</a:t>
            </a:r>
          </a:p>
          <a:p>
            <a:r>
              <a:rPr lang="pt-BR" dirty="0" smtClean="0"/>
              <a:t>Consiste em dois fios de cobre encapados.</a:t>
            </a:r>
          </a:p>
          <a:p>
            <a:r>
              <a:rPr lang="pt-BR" dirty="0" smtClean="0"/>
              <a:t>A aplicação mais comum é o sistema telefônico. </a:t>
            </a:r>
          </a:p>
          <a:p>
            <a:r>
              <a:rPr lang="pt-BR" dirty="0"/>
              <a:t>A largura de banda depende da espessura do fio e da distância percorrida.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65474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 trançado</a:t>
            </a:r>
          </a:p>
        </p:txBody>
      </p:sp>
      <p:pic>
        <p:nvPicPr>
          <p:cNvPr id="6146" name="Picture 2" descr="http://1.bp.blogspot.com/_H3g1LbDVYOQ/Sj26TwxKMbI/AAAAAAAAARE/6TLaYv2KJm8/s400/cros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348880"/>
            <a:ext cx="4608512" cy="288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://2.bp.blogspot.com/_H3g1LbDVYOQ/Sj25yMWekeI/AAAAAAAAAQ0/5Tc-o8CqQ70/s400/250px-utp_cabl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2924944"/>
            <a:ext cx="2381250" cy="1943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8867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Cabo Coaxial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Tem melhor blindagem, permite distâncias mais longas e maior velocidade.</a:t>
            </a:r>
          </a:p>
          <a:p>
            <a:r>
              <a:rPr lang="pt-BR" dirty="0" smtClean="0"/>
              <a:t>TV a cabo, internet.</a:t>
            </a:r>
          </a:p>
          <a:p>
            <a:r>
              <a:rPr lang="pt-BR" dirty="0" smtClean="0"/>
              <a:t>Consiste em um fio de cobre esticado na parte central envolvido por uma material isolante.</a:t>
            </a:r>
          </a:p>
          <a:p>
            <a:endParaRPr lang="pt-BR" dirty="0"/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1439476" y="4886424"/>
            <a:ext cx="6198419" cy="990848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lIns="274320" tIns="182880"/>
          <a:lstStyle/>
          <a:p>
            <a:r>
              <a:rPr lang="pt-BR" sz="2400" dirty="0">
                <a:solidFill>
                  <a:srgbClr val="000000"/>
                </a:solidFill>
                <a:latin typeface="Calibri" pitchFamily="34" charset="0"/>
              </a:rPr>
              <a:t>Coaxial</a:t>
            </a:r>
            <a:endParaRPr lang="en-US" sz="2400" dirty="0">
              <a:latin typeface="Calibri" pitchFamily="34" charset="0"/>
            </a:endParaRPr>
          </a:p>
        </p:txBody>
      </p:sp>
      <p:pic>
        <p:nvPicPr>
          <p:cNvPr id="19" name="Picture 16" descr="Coaxial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2752082" y="4957198"/>
            <a:ext cx="2989826" cy="7696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67390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Fibra ótica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Tem três componentes fundamentais:</a:t>
            </a:r>
          </a:p>
          <a:p>
            <a:pPr lvl="1"/>
            <a:r>
              <a:rPr lang="pt-BR" dirty="0" smtClean="0"/>
              <a:t>Fonte de luz</a:t>
            </a:r>
          </a:p>
          <a:p>
            <a:pPr lvl="1"/>
            <a:r>
              <a:rPr lang="pt-BR" dirty="0" smtClean="0"/>
              <a:t>Meio de transmissão</a:t>
            </a:r>
          </a:p>
          <a:p>
            <a:pPr lvl="1"/>
            <a:r>
              <a:rPr lang="pt-BR" dirty="0" smtClean="0"/>
              <a:t>Detector</a:t>
            </a:r>
          </a:p>
          <a:p>
            <a:endParaRPr lang="pt-BR" dirty="0"/>
          </a:p>
          <a:p>
            <a:r>
              <a:rPr lang="pt-BR" dirty="0" smtClean="0"/>
              <a:t>Por convenção: 1 pulso de luz indica um bit 1, a ausência de luz o bit 0;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26385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Fibra ótica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O meio de transmissão é um fibra de vidro ultrafina.</a:t>
            </a:r>
          </a:p>
          <a:p>
            <a:endParaRPr lang="pt-BR" dirty="0"/>
          </a:p>
          <a:p>
            <a:r>
              <a:rPr lang="pt-BR" dirty="0" smtClean="0"/>
              <a:t>O detector gera um pulso elétrico quando entra em contato com a luz.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32495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Repetidores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476872"/>
          </a:xfrm>
        </p:spPr>
        <p:txBody>
          <a:bodyPr>
            <a:normAutofit lnSpcReduction="10000"/>
          </a:bodyPr>
          <a:lstStyle/>
          <a:p>
            <a:r>
              <a:rPr lang="pt-BR" dirty="0"/>
              <a:t>Um repetidor recebe um sinal, restaura esse sinal e o passa adiante. </a:t>
            </a:r>
            <a:endParaRPr lang="pt-BR" dirty="0" smtClean="0"/>
          </a:p>
          <a:p>
            <a:r>
              <a:rPr lang="pt-BR" dirty="0" smtClean="0"/>
              <a:t>Ele </a:t>
            </a:r>
            <a:r>
              <a:rPr lang="pt-BR" dirty="0"/>
              <a:t>pode restaurar </a:t>
            </a:r>
            <a:r>
              <a:rPr lang="pt-BR" dirty="0" smtClean="0"/>
              <a:t>os </a:t>
            </a:r>
            <a:r>
              <a:rPr lang="pt-BR" dirty="0"/>
              <a:t>sinais de rede </a:t>
            </a:r>
            <a:r>
              <a:rPr lang="pt-BR" dirty="0" smtClean="0"/>
              <a:t>para permitir que trafeguem uma distância </a:t>
            </a:r>
            <a:r>
              <a:rPr lang="pt-BR" dirty="0"/>
              <a:t>maior nos meios.</a:t>
            </a:r>
          </a:p>
          <a:p>
            <a:endParaRPr lang="pt-BR" dirty="0"/>
          </a:p>
        </p:txBody>
      </p:sp>
      <p:grpSp>
        <p:nvGrpSpPr>
          <p:cNvPr id="4" name="Grupo 81"/>
          <p:cNvGrpSpPr>
            <a:grpSpLocks/>
          </p:cNvGrpSpPr>
          <p:nvPr/>
        </p:nvGrpSpPr>
        <p:grpSpPr bwMode="auto">
          <a:xfrm>
            <a:off x="857224" y="4293096"/>
            <a:ext cx="7119939" cy="2006600"/>
            <a:chOff x="1009650" y="1201738"/>
            <a:chExt cx="7119953" cy="2006600"/>
          </a:xfrm>
        </p:grpSpPr>
        <p:sp>
          <p:nvSpPr>
            <p:cNvPr id="5" name="Line 199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1009650" y="2832100"/>
              <a:ext cx="7032625" cy="15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" name="Line 201"/>
            <p:cNvSpPr>
              <a:spLocks noChangeShapeType="1"/>
            </p:cNvSpPr>
            <p:nvPr>
              <p:custDataLst>
                <p:tags r:id="rId2"/>
              </p:custDataLst>
            </p:nvPr>
          </p:nvSpPr>
          <p:spPr bwMode="auto">
            <a:xfrm>
              <a:off x="1539875" y="2136775"/>
              <a:ext cx="0" cy="6953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pic>
          <p:nvPicPr>
            <p:cNvPr id="8" name="Picture 202" descr="Computer1"/>
            <p:cNvPicPr>
              <a:picLocks noChangeAspect="1" noChangeArrowheads="1"/>
            </p:cNvPicPr>
            <p:nvPr>
              <p:custDataLst>
                <p:tags r:id="rId3"/>
              </p:custDataLst>
            </p:nvPr>
          </p:nvPicPr>
          <p:blipFill>
            <a:blip r:embed="rId46"/>
            <a:srcRect/>
            <a:stretch>
              <a:fillRect/>
            </a:stretch>
          </p:blipFill>
          <p:spPr bwMode="auto">
            <a:xfrm>
              <a:off x="1063625" y="1201738"/>
              <a:ext cx="941388" cy="1025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Line 205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7605713" y="2136775"/>
              <a:ext cx="0" cy="6953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pic>
          <p:nvPicPr>
            <p:cNvPr id="12" name="Picture 206" descr="Computer1"/>
            <p:cNvPicPr>
              <a:picLocks noChangeAspect="1" noChangeArrowheads="1"/>
            </p:cNvPicPr>
            <p:nvPr>
              <p:custDataLst>
                <p:tags r:id="rId5"/>
              </p:custDataLst>
            </p:nvPr>
          </p:nvPicPr>
          <p:blipFill>
            <a:blip r:embed="rId46"/>
            <a:srcRect/>
            <a:stretch>
              <a:fillRect/>
            </a:stretch>
          </p:blipFill>
          <p:spPr bwMode="auto">
            <a:xfrm>
              <a:off x="7129463" y="1201738"/>
              <a:ext cx="941387" cy="1025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" name="AutoShape 57"/>
            <p:cNvSpPr>
              <a:spLocks noChangeArrowheads="1"/>
            </p:cNvSpPr>
            <p:nvPr/>
          </p:nvSpPr>
          <p:spPr bwMode="auto">
            <a:xfrm>
              <a:off x="3973513" y="2516188"/>
              <a:ext cx="1135062" cy="549275"/>
            </a:xfrm>
            <a:prstGeom prst="cube">
              <a:avLst>
                <a:gd name="adj" fmla="val 25000"/>
              </a:avLst>
            </a:prstGeom>
            <a:gradFill rotWithShape="0">
              <a:gsLst>
                <a:gs pos="0">
                  <a:srgbClr val="B2B2B2"/>
                </a:gs>
                <a:gs pos="100000">
                  <a:srgbClr val="E3DAB9"/>
                </a:gs>
              </a:gsLst>
              <a:lin ang="18900000" scaled="1"/>
            </a:gradFill>
            <a:ln w="9525">
              <a:solidFill>
                <a:srgbClr val="808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pt-BR" dirty="0">
                  <a:solidFill>
                    <a:srgbClr val="000000"/>
                  </a:solidFill>
                  <a:latin typeface="Calibri" pitchFamily="34" charset="0"/>
                </a:rPr>
                <a:t>Repetidor</a:t>
              </a:r>
              <a:endParaRPr lang="en-US" dirty="0">
                <a:latin typeface="Calibri" pitchFamily="34" charset="0"/>
              </a:endParaRPr>
            </a:p>
          </p:txBody>
        </p:sp>
        <p:grpSp>
          <p:nvGrpSpPr>
            <p:cNvPr id="16" name="Group 210"/>
            <p:cNvGrpSpPr>
              <a:grpSpLocks/>
            </p:cNvGrpSpPr>
            <p:nvPr/>
          </p:nvGrpSpPr>
          <p:grpSpPr bwMode="auto">
            <a:xfrm>
              <a:off x="1608142" y="2630492"/>
              <a:ext cx="719139" cy="355600"/>
              <a:chOff x="1013" y="1657"/>
              <a:chExt cx="453" cy="224"/>
            </a:xfrm>
          </p:grpSpPr>
          <p:sp>
            <p:nvSpPr>
              <p:cNvPr id="57" name="Rectangle 86"/>
              <p:cNvSpPr>
                <a:spLocks noChangeArrowheads="1"/>
              </p:cNvSpPr>
              <p:nvPr>
                <p:custDataLst>
                  <p:tags r:id="rId39"/>
                </p:custDataLst>
              </p:nvPr>
            </p:nvSpPr>
            <p:spPr bwMode="auto">
              <a:xfrm>
                <a:off x="1013" y="1704"/>
                <a:ext cx="46" cy="130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  <p:sp>
            <p:nvSpPr>
              <p:cNvPr id="58" name="Rectangle 87"/>
              <p:cNvSpPr>
                <a:spLocks noChangeArrowheads="1"/>
              </p:cNvSpPr>
              <p:nvPr>
                <p:custDataLst>
                  <p:tags r:id="rId40"/>
                </p:custDataLst>
              </p:nvPr>
            </p:nvSpPr>
            <p:spPr bwMode="auto">
              <a:xfrm>
                <a:off x="1176" y="1657"/>
                <a:ext cx="46" cy="224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  <p:sp>
            <p:nvSpPr>
              <p:cNvPr id="59" name="Rectangle 88"/>
              <p:cNvSpPr>
                <a:spLocks noChangeArrowheads="1"/>
              </p:cNvSpPr>
              <p:nvPr>
                <p:custDataLst>
                  <p:tags r:id="rId41"/>
                </p:custDataLst>
              </p:nvPr>
            </p:nvSpPr>
            <p:spPr bwMode="auto">
              <a:xfrm>
                <a:off x="1095" y="1679"/>
                <a:ext cx="46" cy="180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  <p:sp>
            <p:nvSpPr>
              <p:cNvPr id="60" name="Rectangle 89"/>
              <p:cNvSpPr>
                <a:spLocks noChangeArrowheads="1"/>
              </p:cNvSpPr>
              <p:nvPr>
                <p:custDataLst>
                  <p:tags r:id="rId42"/>
                </p:custDataLst>
              </p:nvPr>
            </p:nvSpPr>
            <p:spPr bwMode="auto">
              <a:xfrm>
                <a:off x="1258" y="1679"/>
                <a:ext cx="46" cy="180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  <p:sp>
            <p:nvSpPr>
              <p:cNvPr id="61" name="Rectangle 90"/>
              <p:cNvSpPr>
                <a:spLocks noChangeArrowheads="1"/>
              </p:cNvSpPr>
              <p:nvPr>
                <p:custDataLst>
                  <p:tags r:id="rId43"/>
                </p:custDataLst>
              </p:nvPr>
            </p:nvSpPr>
            <p:spPr bwMode="auto">
              <a:xfrm>
                <a:off x="1339" y="1704"/>
                <a:ext cx="46" cy="130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  <p:sp>
            <p:nvSpPr>
              <p:cNvPr id="62" name="Rectangle 91"/>
              <p:cNvSpPr>
                <a:spLocks noChangeArrowheads="1"/>
              </p:cNvSpPr>
              <p:nvPr>
                <p:custDataLst>
                  <p:tags r:id="rId44"/>
                </p:custDataLst>
              </p:nvPr>
            </p:nvSpPr>
            <p:spPr bwMode="auto">
              <a:xfrm>
                <a:off x="1420" y="1739"/>
                <a:ext cx="46" cy="60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</p:grpSp>
        <p:grpSp>
          <p:nvGrpSpPr>
            <p:cNvPr id="17" name="Group 211"/>
            <p:cNvGrpSpPr>
              <a:grpSpLocks/>
            </p:cNvGrpSpPr>
            <p:nvPr/>
          </p:nvGrpSpPr>
          <p:grpSpPr bwMode="auto">
            <a:xfrm>
              <a:off x="2376495" y="2630492"/>
              <a:ext cx="719139" cy="355600"/>
              <a:chOff x="1497" y="1657"/>
              <a:chExt cx="453" cy="224"/>
            </a:xfrm>
          </p:grpSpPr>
          <p:sp>
            <p:nvSpPr>
              <p:cNvPr id="51" name="Rectangle 93"/>
              <p:cNvSpPr>
                <a:spLocks noChangeArrowheads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1497" y="1704"/>
                <a:ext cx="46" cy="130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  <p:sp>
            <p:nvSpPr>
              <p:cNvPr id="52" name="Rectangle 94"/>
              <p:cNvSpPr>
                <a:spLocks noChangeArrowheads="1"/>
              </p:cNvSpPr>
              <p:nvPr>
                <p:custDataLst>
                  <p:tags r:id="rId34"/>
                </p:custDataLst>
              </p:nvPr>
            </p:nvSpPr>
            <p:spPr bwMode="auto">
              <a:xfrm>
                <a:off x="1660" y="1657"/>
                <a:ext cx="46" cy="224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  <p:sp>
            <p:nvSpPr>
              <p:cNvPr id="53" name="Rectangle 95"/>
              <p:cNvSpPr>
                <a:spLocks noChangeArrowheads="1"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1579" y="1679"/>
                <a:ext cx="46" cy="180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  <p:sp>
            <p:nvSpPr>
              <p:cNvPr id="54" name="Rectangle 96"/>
              <p:cNvSpPr>
                <a:spLocks noChangeArrowheads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1742" y="1679"/>
                <a:ext cx="46" cy="180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  <p:sp>
            <p:nvSpPr>
              <p:cNvPr id="55" name="Rectangle 97"/>
              <p:cNvSpPr>
                <a:spLocks noChangeArrowheads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1823" y="1704"/>
                <a:ext cx="46" cy="130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  <p:sp>
            <p:nvSpPr>
              <p:cNvPr id="56" name="Rectangle 98"/>
              <p:cNvSpPr>
                <a:spLocks noChangeArrowheads="1"/>
              </p:cNvSpPr>
              <p:nvPr>
                <p:custDataLst>
                  <p:tags r:id="rId38"/>
                </p:custDataLst>
              </p:nvPr>
            </p:nvSpPr>
            <p:spPr bwMode="auto">
              <a:xfrm>
                <a:off x="1904" y="1739"/>
                <a:ext cx="46" cy="60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</p:grpSp>
        <p:sp>
          <p:nvSpPr>
            <p:cNvPr id="18" name="AutoShape 83"/>
            <p:cNvSpPr>
              <a:spLocks noChangeArrowheads="1"/>
            </p:cNvSpPr>
            <p:nvPr/>
          </p:nvSpPr>
          <p:spPr bwMode="auto">
            <a:xfrm rot="16200000" flipH="1">
              <a:off x="1270000" y="2157413"/>
              <a:ext cx="530225" cy="469900"/>
            </a:xfrm>
            <a:prstGeom prst="rightArrow">
              <a:avLst>
                <a:gd name="adj1" fmla="val 49741"/>
                <a:gd name="adj2" fmla="val 63879"/>
              </a:avLst>
            </a:prstGeom>
            <a:gradFill rotWithShape="0">
              <a:gsLst>
                <a:gs pos="0">
                  <a:srgbClr val="D20091"/>
                </a:gs>
                <a:gs pos="100000">
                  <a:srgbClr val="EA86CB"/>
                </a:gs>
              </a:gsLst>
              <a:lin ang="5400000" scaled="1"/>
            </a:gradFill>
            <a:ln w="6350">
              <a:solidFill>
                <a:srgbClr val="800080"/>
              </a:solidFill>
              <a:miter lim="800000"/>
              <a:headEnd/>
              <a:tailEnd/>
            </a:ln>
          </p:spPr>
          <p:txBody>
            <a:bodyPr wrap="none" tIns="27432" bIns="27432" anchor="ctr"/>
            <a:lstStyle/>
            <a:p>
              <a:endParaRPr lang="pt-BR">
                <a:latin typeface="Calibri" pitchFamily="34" charset="0"/>
              </a:endParaRPr>
            </a:p>
          </p:txBody>
        </p:sp>
        <p:grpSp>
          <p:nvGrpSpPr>
            <p:cNvPr id="19" name="Group 212"/>
            <p:cNvGrpSpPr>
              <a:grpSpLocks/>
            </p:cNvGrpSpPr>
            <p:nvPr/>
          </p:nvGrpSpPr>
          <p:grpSpPr bwMode="auto">
            <a:xfrm>
              <a:off x="3170247" y="2630492"/>
              <a:ext cx="719139" cy="355600"/>
              <a:chOff x="1997" y="1657"/>
              <a:chExt cx="453" cy="224"/>
            </a:xfrm>
          </p:grpSpPr>
          <p:sp>
            <p:nvSpPr>
              <p:cNvPr id="45" name="Rectangle 141"/>
              <p:cNvSpPr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1997" y="1704"/>
                <a:ext cx="46" cy="130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  <p:sp>
            <p:nvSpPr>
              <p:cNvPr id="46" name="Rectangle 142"/>
              <p:cNvSpPr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2160" y="1657"/>
                <a:ext cx="46" cy="224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  <p:sp>
            <p:nvSpPr>
              <p:cNvPr id="47" name="Rectangle 143"/>
              <p:cNvSpPr>
                <a:spLocks noChangeArrowheads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2079" y="1679"/>
                <a:ext cx="46" cy="180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  <p:sp>
            <p:nvSpPr>
              <p:cNvPr id="48" name="Rectangle 144"/>
              <p:cNvSpPr>
                <a:spLocks noChangeArrowheads="1"/>
              </p:cNvSpPr>
              <p:nvPr>
                <p:custDataLst>
                  <p:tags r:id="rId30"/>
                </p:custDataLst>
              </p:nvPr>
            </p:nvSpPr>
            <p:spPr bwMode="auto">
              <a:xfrm>
                <a:off x="2242" y="1679"/>
                <a:ext cx="46" cy="180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  <p:sp>
            <p:nvSpPr>
              <p:cNvPr id="49" name="Rectangle 145"/>
              <p:cNvSpPr>
                <a:spLocks noChangeArrowheads="1"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2323" y="1704"/>
                <a:ext cx="46" cy="130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  <p:sp>
            <p:nvSpPr>
              <p:cNvPr id="50" name="Rectangle 146"/>
              <p:cNvSpPr>
                <a:spLocks noChangeArrowheads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2404" y="1739"/>
                <a:ext cx="46" cy="60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</p:grpSp>
        <p:sp>
          <p:nvSpPr>
            <p:cNvPr id="20" name="Oval 194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964113" y="2681288"/>
              <a:ext cx="96837" cy="2667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>
                <a:latin typeface="Calibri" pitchFamily="34" charset="0"/>
              </a:endParaRPr>
            </a:p>
          </p:txBody>
        </p:sp>
        <p:sp>
          <p:nvSpPr>
            <p:cNvPr id="21" name="Freeform 195"/>
            <p:cNvSpPr>
              <a:spLocks/>
            </p:cNvSpPr>
            <p:nvPr>
              <p:custDataLst>
                <p:tags r:id="rId7"/>
              </p:custDataLst>
            </p:nvPr>
          </p:nvSpPr>
          <p:spPr bwMode="auto">
            <a:xfrm>
              <a:off x="4984750" y="2405063"/>
              <a:ext cx="419100" cy="787400"/>
            </a:xfrm>
            <a:custGeom>
              <a:avLst/>
              <a:gdLst>
                <a:gd name="T0" fmla="*/ 2147483647 w 379"/>
                <a:gd name="T1" fmla="*/ 0 h 579"/>
                <a:gd name="T2" fmla="*/ 2147483647 w 379"/>
                <a:gd name="T3" fmla="*/ 2147483647 h 579"/>
                <a:gd name="T4" fmla="*/ 2147483647 w 379"/>
                <a:gd name="T5" fmla="*/ 2147483647 h 579"/>
                <a:gd name="T6" fmla="*/ 2147483647 w 379"/>
                <a:gd name="T7" fmla="*/ 2147483647 h 579"/>
                <a:gd name="T8" fmla="*/ 0 w 379"/>
                <a:gd name="T9" fmla="*/ 2147483647 h 579"/>
                <a:gd name="T10" fmla="*/ 2147483647 w 379"/>
                <a:gd name="T11" fmla="*/ 2147483647 h 579"/>
                <a:gd name="T12" fmla="*/ 2147483647 w 379"/>
                <a:gd name="T13" fmla="*/ 2147483647 h 579"/>
                <a:gd name="T14" fmla="*/ 2147483647 w 379"/>
                <a:gd name="T15" fmla="*/ 2147483647 h 579"/>
                <a:gd name="T16" fmla="*/ 2147483647 w 379"/>
                <a:gd name="T17" fmla="*/ 2147483647 h 579"/>
                <a:gd name="T18" fmla="*/ 2147483647 w 379"/>
                <a:gd name="T19" fmla="*/ 0 h 57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79"/>
                <a:gd name="T31" fmla="*/ 0 h 579"/>
                <a:gd name="T32" fmla="*/ 379 w 379"/>
                <a:gd name="T33" fmla="*/ 579 h 57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79" h="579">
                  <a:moveTo>
                    <a:pt x="379" y="0"/>
                  </a:moveTo>
                  <a:lnTo>
                    <a:pt x="19" y="215"/>
                  </a:lnTo>
                  <a:lnTo>
                    <a:pt x="8" y="243"/>
                  </a:lnTo>
                  <a:lnTo>
                    <a:pt x="2" y="265"/>
                  </a:lnTo>
                  <a:lnTo>
                    <a:pt x="0" y="291"/>
                  </a:lnTo>
                  <a:lnTo>
                    <a:pt x="2" y="317"/>
                  </a:lnTo>
                  <a:lnTo>
                    <a:pt x="4" y="351"/>
                  </a:lnTo>
                  <a:lnTo>
                    <a:pt x="19" y="384"/>
                  </a:lnTo>
                  <a:lnTo>
                    <a:pt x="376" y="579"/>
                  </a:lnTo>
                  <a:lnTo>
                    <a:pt x="379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>
                <a:latin typeface="Calibri" pitchFamily="34" charset="0"/>
              </a:endParaRPr>
            </a:p>
          </p:txBody>
        </p:sp>
        <p:sp>
          <p:nvSpPr>
            <p:cNvPr id="22" name="Oval 196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299075" y="2397125"/>
              <a:ext cx="230188" cy="811213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767676"/>
                </a:gs>
              </a:gsLst>
              <a:path path="rect">
                <a:fillToRect l="100000" b="100000"/>
              </a:path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>
                <a:latin typeface="Calibri" pitchFamily="34" charset="0"/>
              </a:endParaRPr>
            </a:p>
          </p:txBody>
        </p:sp>
        <p:grpSp>
          <p:nvGrpSpPr>
            <p:cNvPr id="23" name="Group 213"/>
            <p:cNvGrpSpPr>
              <a:grpSpLocks/>
            </p:cNvGrpSpPr>
            <p:nvPr/>
          </p:nvGrpSpPr>
          <p:grpSpPr bwMode="auto">
            <a:xfrm>
              <a:off x="5859483" y="2630492"/>
              <a:ext cx="719139" cy="355600"/>
              <a:chOff x="3691" y="1657"/>
              <a:chExt cx="453" cy="224"/>
            </a:xfrm>
          </p:grpSpPr>
          <p:sp>
            <p:nvSpPr>
              <p:cNvPr id="39" name="Rectangle 110"/>
              <p:cNvSpPr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3691" y="1704"/>
                <a:ext cx="46" cy="130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  <p:sp>
            <p:nvSpPr>
              <p:cNvPr id="40" name="Rectangle 111"/>
              <p:cNvSpPr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3854" y="1657"/>
                <a:ext cx="46" cy="224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  <p:sp>
            <p:nvSpPr>
              <p:cNvPr id="41" name="Rectangle 112"/>
              <p:cNvSpPr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3773" y="1679"/>
                <a:ext cx="46" cy="180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  <p:sp>
            <p:nvSpPr>
              <p:cNvPr id="42" name="Rectangle 113"/>
              <p:cNvSpPr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3936" y="1679"/>
                <a:ext cx="46" cy="180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  <p:sp>
            <p:nvSpPr>
              <p:cNvPr id="43" name="Rectangle 114"/>
              <p:cNvSpPr>
                <a:spLocks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4017" y="1704"/>
                <a:ext cx="46" cy="130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  <p:sp>
            <p:nvSpPr>
              <p:cNvPr id="44" name="Rectangle 115"/>
              <p:cNvSpPr>
                <a:spLocks noChangeArrowhead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4098" y="1739"/>
                <a:ext cx="46" cy="60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</p:grpSp>
        <p:grpSp>
          <p:nvGrpSpPr>
            <p:cNvPr id="24" name="Group 214"/>
            <p:cNvGrpSpPr>
              <a:grpSpLocks/>
            </p:cNvGrpSpPr>
            <p:nvPr/>
          </p:nvGrpSpPr>
          <p:grpSpPr bwMode="auto">
            <a:xfrm>
              <a:off x="6640532" y="2630492"/>
              <a:ext cx="719139" cy="355600"/>
              <a:chOff x="4183" y="1657"/>
              <a:chExt cx="453" cy="224"/>
            </a:xfrm>
          </p:grpSpPr>
          <p:sp>
            <p:nvSpPr>
              <p:cNvPr id="33" name="Rectangle 117"/>
              <p:cNvSpPr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4183" y="1704"/>
                <a:ext cx="46" cy="130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  <p:sp>
            <p:nvSpPr>
              <p:cNvPr id="34" name="Rectangle 118"/>
              <p:cNvSpPr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4346" y="1657"/>
                <a:ext cx="46" cy="224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  <p:sp>
            <p:nvSpPr>
              <p:cNvPr id="35" name="Rectangle 119"/>
              <p:cNvSpPr>
                <a:spLocks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4265" y="1679"/>
                <a:ext cx="46" cy="180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  <p:sp>
            <p:nvSpPr>
              <p:cNvPr id="36" name="Rectangle 120"/>
              <p:cNvSpPr>
                <a:spLocks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4428" y="1679"/>
                <a:ext cx="46" cy="180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  <p:sp>
            <p:nvSpPr>
              <p:cNvPr id="37" name="Rectangle 121"/>
              <p:cNvSpPr>
                <a:spLocks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4509" y="1704"/>
                <a:ext cx="46" cy="130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  <p:sp>
            <p:nvSpPr>
              <p:cNvPr id="38" name="Rectangle 122"/>
              <p:cNvSpPr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4590" y="1739"/>
                <a:ext cx="46" cy="60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</p:grpSp>
        <p:grpSp>
          <p:nvGrpSpPr>
            <p:cNvPr id="25" name="Group 215"/>
            <p:cNvGrpSpPr>
              <a:grpSpLocks/>
            </p:cNvGrpSpPr>
            <p:nvPr/>
          </p:nvGrpSpPr>
          <p:grpSpPr bwMode="auto">
            <a:xfrm>
              <a:off x="7410464" y="2630492"/>
              <a:ext cx="719139" cy="355600"/>
              <a:chOff x="4668" y="1657"/>
              <a:chExt cx="453" cy="224"/>
            </a:xfrm>
          </p:grpSpPr>
          <p:sp>
            <p:nvSpPr>
              <p:cNvPr id="27" name="Rectangle 134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4668" y="1704"/>
                <a:ext cx="46" cy="130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  <p:sp>
            <p:nvSpPr>
              <p:cNvPr id="28" name="Rectangle 135"/>
              <p:cNvSpPr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4831" y="1657"/>
                <a:ext cx="46" cy="224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  <p:sp>
            <p:nvSpPr>
              <p:cNvPr id="29" name="Rectangle 136"/>
              <p:cNvSpPr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4750" y="1679"/>
                <a:ext cx="46" cy="180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  <p:sp>
            <p:nvSpPr>
              <p:cNvPr id="30" name="Rectangle 137"/>
              <p:cNvSpPr>
                <a:spLocks noChangeArrowhead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4913" y="1679"/>
                <a:ext cx="46" cy="180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  <p:sp>
            <p:nvSpPr>
              <p:cNvPr id="31" name="Rectangle 138"/>
              <p:cNvSpPr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4994" y="1704"/>
                <a:ext cx="46" cy="130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  <p:sp>
            <p:nvSpPr>
              <p:cNvPr id="32" name="Rectangle 139"/>
              <p:cNvSpPr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5075" y="1739"/>
                <a:ext cx="46" cy="60"/>
              </a:xfrm>
              <a:prstGeom prst="rect">
                <a:avLst/>
              </a:prstGeom>
              <a:gradFill rotWithShape="0">
                <a:gsLst>
                  <a:gs pos="0">
                    <a:srgbClr val="F0AADA"/>
                  </a:gs>
                  <a:gs pos="100000">
                    <a:srgbClr val="D20091"/>
                  </a:gs>
                </a:gsLst>
                <a:lin ang="0" scaled="1"/>
              </a:gradFill>
              <a:ln w="6350">
                <a:solidFill>
                  <a:srgbClr val="80008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>
                  <a:latin typeface="Calibri" pitchFamily="34" charset="0"/>
                </a:endParaRPr>
              </a:p>
            </p:txBody>
          </p:sp>
        </p:grpSp>
        <p:sp>
          <p:nvSpPr>
            <p:cNvPr id="26" name="AutoShape 147"/>
            <p:cNvSpPr>
              <a:spLocks noChangeArrowheads="1"/>
            </p:cNvSpPr>
            <p:nvPr/>
          </p:nvSpPr>
          <p:spPr bwMode="auto">
            <a:xfrm rot="10800000" flipH="1">
              <a:off x="5346700" y="2573338"/>
              <a:ext cx="530225" cy="469900"/>
            </a:xfrm>
            <a:prstGeom prst="rightArrow">
              <a:avLst>
                <a:gd name="adj1" fmla="val 49741"/>
                <a:gd name="adj2" fmla="val 63879"/>
              </a:avLst>
            </a:prstGeom>
            <a:gradFill rotWithShape="0">
              <a:gsLst>
                <a:gs pos="0">
                  <a:srgbClr val="D20091"/>
                </a:gs>
                <a:gs pos="100000">
                  <a:srgbClr val="EA86CB"/>
                </a:gs>
              </a:gsLst>
              <a:lin ang="0" scaled="1"/>
            </a:gradFill>
            <a:ln w="6350">
              <a:solidFill>
                <a:srgbClr val="800080"/>
              </a:solidFill>
              <a:miter lim="800000"/>
              <a:headEnd/>
              <a:tailEnd/>
            </a:ln>
          </p:spPr>
          <p:txBody>
            <a:bodyPr wrap="none" tIns="27432" bIns="27432" anchor="ctr"/>
            <a:lstStyle/>
            <a:p>
              <a:endParaRPr lang="pt-BR">
                <a:latin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8241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>
                <a:solidFill>
                  <a:schemeClr val="tx1"/>
                </a:solidFill>
              </a:rPr>
              <a:t>Largura de Banda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dirty="0" smtClean="0"/>
          </a:p>
          <a:p>
            <a:r>
              <a:rPr lang="pt-BR" dirty="0" smtClean="0"/>
              <a:t>Largura de banda é definida como a quantidade de informações que flui através da conexão de rede durante de um certo período de tempo.</a:t>
            </a:r>
          </a:p>
          <a:p>
            <a:endParaRPr lang="pt-BR" dirty="0" smtClean="0"/>
          </a:p>
          <a:p>
            <a:r>
              <a:rPr lang="pt-BR" dirty="0" smtClean="0"/>
              <a:t>Porque a largura de banda é importante?</a:t>
            </a:r>
          </a:p>
          <a:p>
            <a:pPr lvl="1"/>
            <a:r>
              <a:rPr lang="pt-BR" dirty="0" smtClean="0"/>
              <a:t>A largura de banda é limitada;	</a:t>
            </a:r>
          </a:p>
          <a:p>
            <a:pPr lvl="1"/>
            <a:r>
              <a:rPr lang="pt-BR" dirty="0" smtClean="0"/>
              <a:t>Não é grátis;</a:t>
            </a:r>
          </a:p>
          <a:p>
            <a:pPr lvl="1"/>
            <a:r>
              <a:rPr lang="pt-BR" dirty="0" smtClean="0"/>
              <a:t>Item crítico ao desempenho da rede;</a:t>
            </a:r>
          </a:p>
          <a:p>
            <a:pPr>
              <a:buNone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2177052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>
                <a:solidFill>
                  <a:schemeClr val="tx1"/>
                </a:solidFill>
              </a:rPr>
              <a:t>Largura de Banda</a:t>
            </a:r>
          </a:p>
        </p:txBody>
      </p:sp>
      <p:graphicFrame>
        <p:nvGraphicFramePr>
          <p:cNvPr id="77" name="Tabela 76"/>
          <p:cNvGraphicFramePr>
            <a:graphicFrameLocks noGrp="1"/>
          </p:cNvGraphicFramePr>
          <p:nvPr/>
        </p:nvGraphicFramePr>
        <p:xfrm>
          <a:off x="857224" y="1500174"/>
          <a:ext cx="7072326" cy="303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44"/>
                <a:gridCol w="1476693"/>
                <a:gridCol w="2880989"/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Unidade de largura de banda’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Abreviação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Equivalência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Bits por segundo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bps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 </a:t>
                      </a:r>
                      <a:r>
                        <a:rPr lang="pt-BR" dirty="0" err="1" smtClean="0"/>
                        <a:t>bps</a:t>
                      </a:r>
                      <a:r>
                        <a:rPr lang="pt-BR" dirty="0" smtClean="0"/>
                        <a:t> = Unidade fundamental de largura de banda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Kilobits</a:t>
                      </a:r>
                      <a:r>
                        <a:rPr lang="pt-BR" dirty="0" smtClean="0"/>
                        <a:t> por segundo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Kbps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 </a:t>
                      </a:r>
                      <a:r>
                        <a:rPr lang="pt-BR" dirty="0" err="1" smtClean="0"/>
                        <a:t>kbps</a:t>
                      </a:r>
                      <a:r>
                        <a:rPr lang="pt-BR" dirty="0" smtClean="0"/>
                        <a:t> = 1.000 </a:t>
                      </a:r>
                      <a:r>
                        <a:rPr lang="pt-BR" dirty="0" err="1" smtClean="0"/>
                        <a:t>bps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Megabits</a:t>
                      </a:r>
                      <a:r>
                        <a:rPr lang="pt-BR" dirty="0" smtClean="0"/>
                        <a:t> por segundo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Mbps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 </a:t>
                      </a:r>
                      <a:r>
                        <a:rPr lang="pt-BR" dirty="0" err="1" smtClean="0"/>
                        <a:t>Mbps</a:t>
                      </a:r>
                      <a:r>
                        <a:rPr lang="pt-BR" dirty="0" smtClean="0"/>
                        <a:t> = 1.000 </a:t>
                      </a:r>
                      <a:r>
                        <a:rPr lang="pt-BR" dirty="0" err="1" smtClean="0"/>
                        <a:t>Kbps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Gigabits</a:t>
                      </a:r>
                      <a:r>
                        <a:rPr lang="pt-BR" dirty="0" smtClean="0"/>
                        <a:t> por segundo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Gbps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 </a:t>
                      </a:r>
                      <a:r>
                        <a:rPr lang="pt-BR" dirty="0" err="1" smtClean="0"/>
                        <a:t>Gbps</a:t>
                      </a:r>
                      <a:r>
                        <a:rPr lang="pt-BR" dirty="0" smtClean="0"/>
                        <a:t> = 1.000 </a:t>
                      </a:r>
                      <a:r>
                        <a:rPr lang="pt-BR" dirty="0" err="1" smtClean="0"/>
                        <a:t>Mbps</a:t>
                      </a:r>
                      <a:r>
                        <a:rPr lang="pt-BR" dirty="0" smtClean="0"/>
                        <a:t> 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Terabits</a:t>
                      </a:r>
                      <a:r>
                        <a:rPr lang="pt-BR" dirty="0" smtClean="0"/>
                        <a:t> por segundo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Tbps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 </a:t>
                      </a:r>
                      <a:r>
                        <a:rPr lang="pt-BR" dirty="0" err="1" smtClean="0"/>
                        <a:t>Tbps</a:t>
                      </a:r>
                      <a:r>
                        <a:rPr lang="pt-BR" dirty="0" smtClean="0"/>
                        <a:t> = 1.000 </a:t>
                      </a:r>
                      <a:r>
                        <a:rPr lang="pt-BR" dirty="0" err="1" smtClean="0"/>
                        <a:t>Gbps</a:t>
                      </a:r>
                      <a:r>
                        <a:rPr lang="pt-BR" dirty="0" smtClean="0"/>
                        <a:t> 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1168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Transmissão sem fio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Comunicação móvel ou fixa de difícil acesso.</a:t>
            </a:r>
          </a:p>
          <a:p>
            <a:endParaRPr lang="pt-BR" dirty="0" smtClean="0"/>
          </a:p>
          <a:p>
            <a:r>
              <a:rPr lang="pt-BR" dirty="0" smtClean="0"/>
              <a:t>Meio de transmissão é o ar, e a transmissão é feita através de ondas eletromagnéticas em alguma frequência determinada.</a:t>
            </a:r>
          </a:p>
          <a:p>
            <a:endParaRPr lang="pt-BR" dirty="0" smtClean="0"/>
          </a:p>
          <a:p>
            <a:r>
              <a:rPr lang="pt-BR" dirty="0" smtClean="0"/>
              <a:t>O conjunto das frequências de transmissão é chamado espectro eletromagnético.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7517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espectro eletromagnético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Elétrons quando se movem criam ondas eletromagnéticas que se propagam livremente.</a:t>
            </a:r>
          </a:p>
          <a:p>
            <a:r>
              <a:rPr lang="pt-BR" dirty="0" smtClean="0"/>
              <a:t>Prevista pelo físico James </a:t>
            </a:r>
            <a:r>
              <a:rPr lang="pt-BR" dirty="0" err="1" smtClean="0"/>
              <a:t>Clerk</a:t>
            </a:r>
            <a:r>
              <a:rPr lang="pt-BR" dirty="0" smtClean="0"/>
              <a:t> Maxwell (1865).</a:t>
            </a:r>
          </a:p>
          <a:p>
            <a:r>
              <a:rPr lang="pt-BR" dirty="0" smtClean="0"/>
              <a:t>O número de oscilações por segundo é chamado </a:t>
            </a:r>
            <a:r>
              <a:rPr lang="pt-BR" b="1" dirty="0" smtClean="0"/>
              <a:t>frequência</a:t>
            </a:r>
            <a:r>
              <a:rPr lang="pt-BR" dirty="0" smtClean="0"/>
              <a:t> (Hz).</a:t>
            </a:r>
          </a:p>
          <a:p>
            <a:r>
              <a:rPr lang="pt-BR" dirty="0" smtClean="0"/>
              <a:t>A distância entre dois pontos máximos ou mínimos é chamado </a:t>
            </a:r>
            <a:r>
              <a:rPr lang="pt-BR" b="1" dirty="0" smtClean="0"/>
              <a:t>comprimento de onda</a:t>
            </a:r>
          </a:p>
          <a:p>
            <a:endParaRPr lang="pt-BR" dirty="0"/>
          </a:p>
          <a:p>
            <a:pPr lvl="1"/>
            <a:endParaRPr lang="pt-BR" dirty="0" smtClean="0"/>
          </a:p>
          <a:p>
            <a:pPr marL="457200" lvl="1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37381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espectro eletromagnético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80728"/>
          </a:xfrm>
        </p:spPr>
        <p:txBody>
          <a:bodyPr/>
          <a:lstStyle/>
          <a:p>
            <a:r>
              <a:rPr lang="pt-BR" dirty="0" smtClean="0"/>
              <a:t>Velocidade da onda (no vácuo):</a:t>
            </a:r>
          </a:p>
          <a:p>
            <a:pPr lvl="1"/>
            <a:r>
              <a:rPr lang="pt-BR" dirty="0" smtClean="0"/>
              <a:t>Velocidade da luz = </a:t>
            </a:r>
            <a:r>
              <a:rPr lang="pt-BR" dirty="0"/>
              <a:t>3 x </a:t>
            </a:r>
            <a:r>
              <a:rPr lang="pt-BR" dirty="0" smtClean="0"/>
              <a:t>10</a:t>
            </a:r>
            <a:r>
              <a:rPr lang="pt-BR" baseline="30000" dirty="0" smtClean="0"/>
              <a:t>8 </a:t>
            </a:r>
            <a:r>
              <a:rPr lang="pt-BR" dirty="0" smtClean="0"/>
              <a:t>m/s ou 300.000 Km/s.</a:t>
            </a:r>
          </a:p>
          <a:p>
            <a:pPr lvl="1"/>
            <a:endParaRPr lang="pt-BR" dirty="0" smtClean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348" y="2786726"/>
            <a:ext cx="7128792" cy="385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3294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Transmissão de rádio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Fáceis de gerar, percorrem longas distâncias.</a:t>
            </a:r>
          </a:p>
          <a:p>
            <a:r>
              <a:rPr lang="pt-BR" dirty="0" smtClean="0"/>
              <a:t>Se propagam em todas as direções a partir da fonte.</a:t>
            </a:r>
          </a:p>
          <a:p>
            <a:r>
              <a:rPr lang="pt-BR" dirty="0" smtClean="0"/>
              <a:t>Em baixa frequência, contornam obstáculos, mas perdem potência rapidamente (</a:t>
            </a:r>
            <a:r>
              <a:rPr lang="pt-BR" dirty="0" err="1" smtClean="0"/>
              <a:t>LANs</a:t>
            </a:r>
            <a:r>
              <a:rPr lang="pt-BR" dirty="0" smtClean="0"/>
              <a:t> e </a:t>
            </a:r>
            <a:r>
              <a:rPr lang="pt-BR" dirty="0" err="1" smtClean="0"/>
              <a:t>MANs</a:t>
            </a:r>
            <a:r>
              <a:rPr lang="pt-BR" dirty="0" smtClean="0"/>
              <a:t>).</a:t>
            </a:r>
          </a:p>
          <a:p>
            <a:r>
              <a:rPr lang="pt-BR" dirty="0" smtClean="0"/>
              <a:t>Em alta frequência, se propagam em linha reta, em grandes distância e penetram paredes.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76674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Transmissão de rádio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Podem ser absorvidas pela chuva.</a:t>
            </a:r>
          </a:p>
          <a:p>
            <a:endParaRPr lang="pt-BR" dirty="0" smtClean="0"/>
          </a:p>
          <a:p>
            <a:r>
              <a:rPr lang="pt-BR" dirty="0" smtClean="0"/>
              <a:t>Em todas as frequências, estão sujeitas a interferência.</a:t>
            </a:r>
          </a:p>
          <a:p>
            <a:endParaRPr lang="pt-BR" dirty="0" smtClean="0"/>
          </a:p>
          <a:p>
            <a:r>
              <a:rPr lang="pt-BR" dirty="0" smtClean="0"/>
              <a:t>Nas bandas VLF, LF MF, as ondas de rádio se propagam perto do solo.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63630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Transmissão de rádio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16831"/>
          </a:xfrm>
        </p:spPr>
        <p:txBody>
          <a:bodyPr/>
          <a:lstStyle/>
          <a:p>
            <a:r>
              <a:rPr lang="pt-BR" dirty="0"/>
              <a:t>Radiodifusão AM utiliza banda MF.</a:t>
            </a:r>
          </a:p>
          <a:p>
            <a:r>
              <a:rPr lang="pt-BR" dirty="0"/>
              <a:t>Nas bandas HF e VHF alcançam a ionosfera e são ricocheteadas.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3573016"/>
            <a:ext cx="8286750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2855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Transmissão micro-ondas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Grandes distâncias em linha reta: </a:t>
            </a:r>
            <a:r>
              <a:rPr lang="pt-BR" dirty="0" err="1" smtClean="0"/>
              <a:t>WANs</a:t>
            </a:r>
            <a:endParaRPr lang="pt-BR" dirty="0" smtClean="0"/>
          </a:p>
          <a:p>
            <a:endParaRPr lang="pt-BR" dirty="0"/>
          </a:p>
          <a:p>
            <a:r>
              <a:rPr lang="pt-BR" dirty="0" smtClean="0"/>
              <a:t>Antenas parabólicas são usadas para concentrar a transmissão em um ponto a fim de garantir um sinal mais forte (devem alinhas com precisão).</a:t>
            </a:r>
          </a:p>
          <a:p>
            <a:endParaRPr lang="pt-BR" dirty="0"/>
          </a:p>
          <a:p>
            <a:r>
              <a:rPr lang="pt-BR" dirty="0" smtClean="0"/>
              <a:t>A terra pode interferir em transmissões muito distantes devido a sua curvatura, por isso repetidores podem ser necessários.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47340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Infravermelho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É uma frequência abaixo do espectro visível, usada para comunicação de curta distância.</a:t>
            </a:r>
          </a:p>
          <a:p>
            <a:endParaRPr lang="pt-BR" dirty="0" smtClean="0"/>
          </a:p>
          <a:p>
            <a:r>
              <a:rPr lang="pt-BR" dirty="0" smtClean="0"/>
              <a:t>Não atravessam obstáculos sólidos.</a:t>
            </a:r>
          </a:p>
          <a:p>
            <a:endParaRPr lang="pt-BR" dirty="0" smtClean="0"/>
          </a:p>
          <a:p>
            <a:r>
              <a:rPr lang="pt-BR" dirty="0" smtClean="0"/>
              <a:t>Só podem ser usadas em ambientes fechados sem luz direta do sol.</a:t>
            </a:r>
          </a:p>
          <a:p>
            <a:endParaRPr lang="pt-BR" dirty="0"/>
          </a:p>
          <a:p>
            <a:r>
              <a:rPr lang="pt-BR" dirty="0" smtClean="0"/>
              <a:t>Exemplo: controle remoto.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914210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Satélite de comunicação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Um satélite por ser comparado a um repetidor de micro-ondas no céu.</a:t>
            </a:r>
          </a:p>
          <a:p>
            <a:r>
              <a:rPr lang="pt-BR" dirty="0" smtClean="0"/>
              <a:t>Existem 3 tipos de satélites:</a:t>
            </a:r>
          </a:p>
          <a:p>
            <a:pPr lvl="1"/>
            <a:r>
              <a:rPr lang="pt-BR" dirty="0" smtClean="0"/>
              <a:t>Geoestacionários (GEO): </a:t>
            </a:r>
          </a:p>
          <a:p>
            <a:pPr lvl="2"/>
            <a:r>
              <a:rPr lang="pt-BR" dirty="0" smtClean="0"/>
              <a:t>Aproximadamente 36000 Km.</a:t>
            </a:r>
          </a:p>
          <a:p>
            <a:pPr lvl="2"/>
            <a:r>
              <a:rPr lang="pt-BR" dirty="0"/>
              <a:t>U</a:t>
            </a:r>
            <a:r>
              <a:rPr lang="pt-BR" dirty="0" smtClean="0"/>
              <a:t>sado na propagação do sinal de TV.</a:t>
            </a:r>
          </a:p>
          <a:p>
            <a:pPr lvl="1"/>
            <a:r>
              <a:rPr lang="pt-BR" dirty="0" smtClean="0"/>
              <a:t>Órbita média:</a:t>
            </a:r>
          </a:p>
          <a:p>
            <a:pPr lvl="2"/>
            <a:r>
              <a:rPr lang="pt-BR" dirty="0"/>
              <a:t>Aproximadamente </a:t>
            </a:r>
            <a:r>
              <a:rPr lang="pt-BR" dirty="0" smtClean="0"/>
              <a:t>18000 Km.</a:t>
            </a:r>
          </a:p>
          <a:p>
            <a:pPr lvl="2"/>
            <a:r>
              <a:rPr lang="pt-BR" dirty="0" smtClean="0"/>
              <a:t>Exemplo: satélites GPS (Sistema de posicionamento Global).</a:t>
            </a:r>
          </a:p>
          <a:p>
            <a:pPr lvl="2"/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213634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Satélite de comunicação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468760"/>
          </a:xfrm>
        </p:spPr>
        <p:txBody>
          <a:bodyPr>
            <a:normAutofit/>
          </a:bodyPr>
          <a:lstStyle/>
          <a:p>
            <a:pPr lvl="1"/>
            <a:r>
              <a:rPr lang="pt-BR" dirty="0" smtClean="0"/>
              <a:t>Baixa órbita:</a:t>
            </a:r>
          </a:p>
          <a:p>
            <a:pPr lvl="2"/>
            <a:r>
              <a:rPr lang="pt-BR" dirty="0" smtClean="0"/>
              <a:t>750 Km.</a:t>
            </a:r>
          </a:p>
          <a:p>
            <a:pPr lvl="2"/>
            <a:r>
              <a:rPr lang="pt-BR" dirty="0" smtClean="0"/>
              <a:t>Usado para Internet banda larga.</a:t>
            </a:r>
          </a:p>
          <a:p>
            <a:pPr lvl="2"/>
            <a:endParaRPr lang="pt-BR" dirty="0"/>
          </a:p>
          <a:p>
            <a:pPr lvl="1"/>
            <a:endParaRPr lang="pt-BR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7438" y="3140968"/>
            <a:ext cx="4429125" cy="340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7585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Camada de Enlace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Henrique Batista da Silva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942001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1066800" y="228600"/>
            <a:ext cx="79248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>
              <a:lnSpc>
                <a:spcPct val="140000"/>
              </a:lnSpc>
              <a:defRPr/>
            </a:pPr>
            <a:r>
              <a:rPr lang="pt-BR" sz="4400" dirty="0"/>
              <a:t>Modelo de </a:t>
            </a:r>
            <a:r>
              <a:rPr lang="pt-BR" sz="4400" dirty="0" smtClean="0"/>
              <a:t>referência</a:t>
            </a:r>
            <a:endParaRPr lang="pt-BR" sz="4400" dirty="0">
              <a:latin typeface="+mj-lt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3012926" y="2674640"/>
            <a:ext cx="3143250" cy="533400"/>
          </a:xfrm>
          <a:prstGeom prst="rect">
            <a:avLst/>
          </a:prstGeom>
          <a:solidFill>
            <a:schemeClr val="accent1">
              <a:alpha val="28000"/>
            </a:schemeClr>
          </a:solidFill>
          <a:ln>
            <a:noFill/>
          </a:ln>
          <a:extLst/>
        </p:spPr>
        <p:txBody>
          <a:bodyPr wrap="none" anchor="ctr"/>
          <a:lstStyle/>
          <a:p>
            <a:pPr defTabSz="762000"/>
            <a:r>
              <a:rPr lang="pt-BR">
                <a:solidFill>
                  <a:schemeClr val="bg1"/>
                </a:solidFill>
                <a:latin typeface="Arial" charset="0"/>
              </a:rPr>
              <a:t>Camada de transporte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3012926" y="2060848"/>
            <a:ext cx="3143250" cy="533400"/>
          </a:xfrm>
          <a:prstGeom prst="rect">
            <a:avLst/>
          </a:prstGeom>
          <a:solidFill>
            <a:schemeClr val="accent1">
              <a:alpha val="28000"/>
            </a:schemeClr>
          </a:solidFill>
          <a:ln>
            <a:noFill/>
          </a:ln>
          <a:extLst/>
        </p:spPr>
        <p:txBody>
          <a:bodyPr wrap="none" anchor="ctr"/>
          <a:lstStyle/>
          <a:p>
            <a:pPr defTabSz="762000"/>
            <a:r>
              <a:rPr lang="pt-BR" dirty="0">
                <a:solidFill>
                  <a:schemeClr val="bg1"/>
                </a:solidFill>
                <a:latin typeface="Arial" charset="0"/>
              </a:rPr>
              <a:t>Camada de aplicação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012926" y="3284240"/>
            <a:ext cx="3143250" cy="53340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  <a:extLst/>
        </p:spPr>
        <p:txBody>
          <a:bodyPr wrap="none" anchor="ctr"/>
          <a:lstStyle/>
          <a:p>
            <a:pPr defTabSz="762000"/>
            <a:r>
              <a:rPr lang="pt-BR" dirty="0">
                <a:solidFill>
                  <a:schemeClr val="bg1"/>
                </a:solidFill>
                <a:latin typeface="Arial" charset="0"/>
              </a:rPr>
              <a:t>Camada de rede</a:t>
            </a: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3012926" y="3893840"/>
            <a:ext cx="3143250" cy="533400"/>
          </a:xfrm>
          <a:prstGeom prst="rect">
            <a:avLst/>
          </a:prstGeom>
          <a:solidFill>
            <a:schemeClr val="accent1"/>
          </a:solidFill>
          <a:ln>
            <a:noFill/>
          </a:ln>
          <a:extLst/>
        </p:spPr>
        <p:txBody>
          <a:bodyPr wrap="none" anchor="ctr"/>
          <a:lstStyle/>
          <a:p>
            <a:pPr defTabSz="762000"/>
            <a:r>
              <a:rPr lang="pt-BR" dirty="0">
                <a:solidFill>
                  <a:srgbClr val="FFFF00"/>
                </a:solidFill>
                <a:latin typeface="Arial" charset="0"/>
              </a:rPr>
              <a:t>Camada de enlace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3012926" y="4509120"/>
            <a:ext cx="3143250" cy="533400"/>
          </a:xfrm>
          <a:prstGeom prst="rect">
            <a:avLst/>
          </a:prstGeom>
          <a:solidFill>
            <a:schemeClr val="accent1"/>
          </a:solidFill>
          <a:ln>
            <a:noFill/>
          </a:ln>
          <a:extLst/>
        </p:spPr>
        <p:txBody>
          <a:bodyPr wrap="none" anchor="ctr"/>
          <a:lstStyle/>
          <a:p>
            <a:pPr defTabSz="762000"/>
            <a:r>
              <a:rPr lang="pt-BR" dirty="0">
                <a:solidFill>
                  <a:schemeClr val="bg1"/>
                </a:solidFill>
                <a:latin typeface="Arial" charset="0"/>
              </a:rPr>
              <a:t>Camada </a:t>
            </a:r>
            <a:r>
              <a:rPr lang="pt-BR" dirty="0" smtClean="0">
                <a:solidFill>
                  <a:schemeClr val="bg1"/>
                </a:solidFill>
                <a:latin typeface="Arial" charset="0"/>
              </a:rPr>
              <a:t>Física</a:t>
            </a:r>
            <a:endParaRPr lang="pt-BR" dirty="0">
              <a:solidFill>
                <a:schemeClr val="bg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30081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Introdução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Uma máquina A coloca bits em um fio que é transmitido para máquina B.</a:t>
            </a:r>
          </a:p>
          <a:p>
            <a:endParaRPr lang="pt-BR" dirty="0"/>
          </a:p>
          <a:p>
            <a:r>
              <a:rPr lang="pt-BR" dirty="0" smtClean="0"/>
              <a:t>Infelizmente, erros ocasionais podem ocorrer durante esta transmissão.</a:t>
            </a:r>
          </a:p>
          <a:p>
            <a:endParaRPr lang="pt-BR" dirty="0"/>
          </a:p>
          <a:p>
            <a:r>
              <a:rPr lang="pt-BR" dirty="0" smtClean="0"/>
              <a:t>A camada de enlace tem </a:t>
            </a:r>
            <a:r>
              <a:rPr lang="pt-BR" dirty="0"/>
              <a:t>como principal finalidade garantir um canal livre de erros de transmissão</a:t>
            </a:r>
            <a:r>
              <a:rPr lang="pt-BR" dirty="0" smtClean="0"/>
              <a:t>. Além de regular o fluxo de dados entre transmissores e receptores.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65317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Projeto da camada de enlace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 camada de enlace recebe os pacotes da camada de rede e os encapsula em </a:t>
            </a:r>
            <a:r>
              <a:rPr lang="pt-BR" b="1" dirty="0" smtClean="0"/>
              <a:t>quadros</a:t>
            </a:r>
            <a:r>
              <a:rPr lang="pt-BR" dirty="0" smtClean="0"/>
              <a:t> para transmissão.</a:t>
            </a:r>
          </a:p>
          <a:p>
            <a:endParaRPr lang="pt-BR" dirty="0"/>
          </a:p>
          <a:p>
            <a:r>
              <a:rPr lang="pt-BR" dirty="0" smtClean="0"/>
              <a:t>Cada quadro contém um cabeçalho e o campo de carga útil.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79208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Serviços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 smtClean="0"/>
              <a:t>Objetivo, transferir dados para a camada de rede.</a:t>
            </a:r>
          </a:p>
          <a:p>
            <a:r>
              <a:rPr lang="pt-BR" dirty="0" smtClean="0"/>
              <a:t>A camada de enlace pode oferecer os serviços:</a:t>
            </a:r>
          </a:p>
          <a:p>
            <a:pPr lvl="1"/>
            <a:r>
              <a:rPr lang="pt-BR" dirty="0" smtClean="0"/>
              <a:t>Sem conexão e sem confirmação.</a:t>
            </a:r>
          </a:p>
          <a:p>
            <a:pPr lvl="2"/>
            <a:r>
              <a:rPr lang="pt-BR" dirty="0" smtClean="0"/>
              <a:t>Pacotes são enviados, sem se preocupar com perdas.</a:t>
            </a:r>
          </a:p>
          <a:p>
            <a:pPr lvl="1"/>
            <a:r>
              <a:rPr lang="pt-BR" dirty="0" smtClean="0"/>
              <a:t>Sem conexão e com confirmação.</a:t>
            </a:r>
          </a:p>
          <a:p>
            <a:pPr lvl="2"/>
            <a:r>
              <a:rPr lang="pt-BR" dirty="0" smtClean="0"/>
              <a:t>Pacotes são enviados, caso haja perdas, eles são reenviados.</a:t>
            </a:r>
          </a:p>
          <a:p>
            <a:pPr lvl="1"/>
            <a:r>
              <a:rPr lang="pt-BR" dirty="0" smtClean="0"/>
              <a:t>Orientado a conexão e com confirmação.</a:t>
            </a:r>
          </a:p>
          <a:p>
            <a:pPr lvl="2"/>
            <a:r>
              <a:rPr lang="pt-BR" dirty="0" smtClean="0"/>
              <a:t>Garantia de que cada quadros será recebido uma única vez na ordem correta.</a:t>
            </a:r>
          </a:p>
          <a:p>
            <a:pPr lvl="1"/>
            <a:endParaRPr lang="pt-BR" dirty="0" smtClean="0"/>
          </a:p>
          <a:p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5695438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Enquadramento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 smtClean="0"/>
              <a:t>A estratégia adotada é dividir o fluxo de bits em quadros, calcular um pequeno valor, chamado </a:t>
            </a:r>
            <a:r>
              <a:rPr lang="pt-BR" sz="2400" dirty="0" err="1" smtClean="0"/>
              <a:t>checksum</a:t>
            </a:r>
            <a:r>
              <a:rPr lang="pt-BR" sz="2400" dirty="0" smtClean="0"/>
              <a:t> para cada quadro e incluir essa soma de verificação no quadro quando ele for transmitido.</a:t>
            </a:r>
          </a:p>
          <a:p>
            <a:endParaRPr lang="pt-BR" sz="2400" dirty="0" smtClean="0"/>
          </a:p>
          <a:p>
            <a:r>
              <a:rPr lang="pt-BR" sz="2400" dirty="0" smtClean="0"/>
              <a:t>Quando um quadro chega ao destino, o total de verificação (</a:t>
            </a:r>
            <a:r>
              <a:rPr lang="pt-BR" sz="2400" dirty="0" err="1" smtClean="0"/>
              <a:t>checksum</a:t>
            </a:r>
            <a:r>
              <a:rPr lang="pt-BR" sz="2400" dirty="0" smtClean="0"/>
              <a:t>) é recalculado.</a:t>
            </a:r>
          </a:p>
          <a:p>
            <a:pPr lvl="1"/>
            <a:r>
              <a:rPr lang="pt-BR" sz="2000" dirty="0" smtClean="0"/>
              <a:t>Se o valor recém-calculado for diferente do que o que esta contido no quadro, a camada de enlace saberá que houve um erro.</a:t>
            </a:r>
          </a:p>
          <a:p>
            <a:pPr lvl="1"/>
            <a:r>
              <a:rPr lang="pt-BR" sz="2000" dirty="0" smtClean="0"/>
              <a:t>Providência</a:t>
            </a:r>
            <a:r>
              <a:rPr lang="pt-BR" sz="2000" dirty="0"/>
              <a:t>: descartar o quadro defeituoso e possivelmente enviar um relatório de erros de volta.</a:t>
            </a:r>
          </a:p>
          <a:p>
            <a:pPr lvl="1"/>
            <a:endParaRPr lang="pt-BR" sz="2000" dirty="0" smtClean="0"/>
          </a:p>
          <a:p>
            <a:endParaRPr lang="pt-BR" sz="2400" dirty="0" smtClean="0"/>
          </a:p>
        </p:txBody>
      </p:sp>
    </p:spTree>
    <p:extLst>
      <p:ext uri="{BB962C8B-B14F-4D97-AF65-F5344CB8AC3E}">
        <p14:creationId xmlns:p14="http://schemas.microsoft.com/office/powerpoint/2010/main" val="40251382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Enquadramento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Existem 4 métodos para enquadramento:</a:t>
            </a:r>
          </a:p>
          <a:p>
            <a:pPr lvl="1"/>
            <a:r>
              <a:rPr lang="pt-BR" dirty="0" smtClean="0"/>
              <a:t>Contagem de caracteres</a:t>
            </a:r>
          </a:p>
          <a:p>
            <a:pPr lvl="1"/>
            <a:r>
              <a:rPr lang="pt-BR" dirty="0" smtClean="0"/>
              <a:t>Bytes de </a:t>
            </a:r>
            <a:r>
              <a:rPr lang="pt-BR" dirty="0" err="1" smtClean="0"/>
              <a:t>flag</a:t>
            </a:r>
            <a:r>
              <a:rPr lang="pt-BR" dirty="0" smtClean="0"/>
              <a:t> com inserção de bytes</a:t>
            </a:r>
          </a:p>
          <a:p>
            <a:pPr lvl="1"/>
            <a:r>
              <a:rPr lang="pt-BR" dirty="0" err="1" smtClean="0"/>
              <a:t>Flags</a:t>
            </a:r>
            <a:r>
              <a:rPr lang="pt-BR" dirty="0" smtClean="0"/>
              <a:t> iniciais e finais, com inserção de bits</a:t>
            </a:r>
          </a:p>
          <a:p>
            <a:pPr lvl="1"/>
            <a:r>
              <a:rPr lang="pt-BR" dirty="0" smtClean="0"/>
              <a:t>Violação de condição de camada física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868674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Contagem de </a:t>
            </a:r>
            <a:r>
              <a:rPr lang="pt-BR" dirty="0" smtClean="0"/>
              <a:t>caracteres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BR" dirty="0" smtClean="0"/>
              <a:t>Utiliza um campo de cabeçalho para especificar o número de bytes no quadro.</a:t>
            </a:r>
          </a:p>
          <a:p>
            <a:r>
              <a:rPr lang="pt-BR" dirty="0" smtClean="0"/>
              <a:t>No destino, a camada lê o primeiro byte e sabe quantos virão em seguida e onde termina o quadro.</a:t>
            </a:r>
          </a:p>
          <a:p>
            <a:r>
              <a:rPr lang="pt-BR" dirty="0" smtClean="0"/>
              <a:t>O problema é que a contagem pode ser adulterada por um erro de transmissão. E o byte identificador por obter outro valor.</a:t>
            </a:r>
          </a:p>
          <a:p>
            <a:r>
              <a:rPr lang="pt-BR" dirty="0" smtClean="0"/>
              <a:t>Mesmo que o </a:t>
            </a:r>
            <a:r>
              <a:rPr lang="pt-BR" dirty="0" err="1" smtClean="0"/>
              <a:t>checksum</a:t>
            </a:r>
            <a:r>
              <a:rPr lang="pt-BR" dirty="0" smtClean="0"/>
              <a:t> esteja incorreto, o destino não saberá onde o quadro termina para reenviar o quadro de volta a origem solicitando retransmissão.</a:t>
            </a:r>
          </a:p>
          <a:p>
            <a:r>
              <a:rPr lang="pt-BR" dirty="0" smtClean="0"/>
              <a:t>Tal abordagem não é mais usada.</a:t>
            </a:r>
          </a:p>
          <a:p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441912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Bytes de </a:t>
            </a:r>
            <a:r>
              <a:rPr lang="pt-BR" dirty="0" err="1"/>
              <a:t>flag</a:t>
            </a:r>
            <a:r>
              <a:rPr lang="pt-BR" dirty="0"/>
              <a:t> com inserção de </a:t>
            </a:r>
            <a:r>
              <a:rPr lang="pt-BR" dirty="0" smtClean="0"/>
              <a:t>bytes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sz="2400" dirty="0" smtClean="0"/>
              <a:t>Dois bytes de </a:t>
            </a:r>
            <a:r>
              <a:rPr lang="pt-BR" sz="2400" dirty="0" err="1" smtClean="0"/>
              <a:t>flag</a:t>
            </a:r>
            <a:r>
              <a:rPr lang="pt-BR" sz="2400" dirty="0" smtClean="0"/>
              <a:t> consecutivos indicam o fim de um quadro e o início do próximo.</a:t>
            </a:r>
          </a:p>
          <a:p>
            <a:r>
              <a:rPr lang="pt-BR" sz="2400" dirty="0" smtClean="0"/>
              <a:t>Contorna o problema de sincronização, pois se ocorrer um erro, haverá um </a:t>
            </a:r>
            <a:r>
              <a:rPr lang="pt-BR" sz="2400" dirty="0" err="1" smtClean="0"/>
              <a:t>flag</a:t>
            </a:r>
            <a:r>
              <a:rPr lang="pt-BR" sz="2400" dirty="0" smtClean="0"/>
              <a:t> especial que indicará o início e fim de cada quadro.</a:t>
            </a:r>
          </a:p>
          <a:p>
            <a:r>
              <a:rPr lang="pt-BR" sz="2400" dirty="0" smtClean="0"/>
              <a:t>O problema é que é possível que os bytes de </a:t>
            </a:r>
            <a:r>
              <a:rPr lang="pt-BR" sz="2400" dirty="0" err="1" smtClean="0"/>
              <a:t>flag</a:t>
            </a:r>
            <a:r>
              <a:rPr lang="pt-BR" sz="2400" dirty="0" smtClean="0"/>
              <a:t> ocorram nos dados, interferindo no enquadramento.</a:t>
            </a:r>
          </a:p>
          <a:p>
            <a:r>
              <a:rPr lang="pt-BR" sz="2400" dirty="0" smtClean="0"/>
              <a:t>A solução é inserir um caractere de escape especial imediatamente antes de cada byte de </a:t>
            </a:r>
            <a:r>
              <a:rPr lang="pt-BR" sz="2400" dirty="0" err="1" smtClean="0"/>
              <a:t>flag</a:t>
            </a:r>
            <a:r>
              <a:rPr lang="pt-BR" sz="2400" dirty="0" smtClean="0"/>
              <a:t>. Assim se o byte de </a:t>
            </a:r>
            <a:r>
              <a:rPr lang="pt-BR" sz="2400" dirty="0" err="1" smtClean="0"/>
              <a:t>flag</a:t>
            </a:r>
            <a:r>
              <a:rPr lang="pt-BR" sz="2400" dirty="0" smtClean="0"/>
              <a:t> ocorrer nos dados, ele será distinguido pela ausência ou presença do caractere de escape.</a:t>
            </a:r>
          </a:p>
          <a:p>
            <a:r>
              <a:rPr lang="pt-BR" sz="2400" dirty="0" smtClean="0"/>
              <a:t>A camada de enlace receptora remove o caractere antes de entregar os dados a camada de rede.</a:t>
            </a:r>
          </a:p>
          <a:p>
            <a:r>
              <a:rPr lang="pt-BR" sz="2400" dirty="0" smtClean="0"/>
              <a:t>Técnica chamada de inserção de bytes (byte </a:t>
            </a:r>
            <a:r>
              <a:rPr lang="pt-BR" sz="2400" dirty="0" err="1" smtClean="0"/>
              <a:t>stuffig</a:t>
            </a:r>
            <a:r>
              <a:rPr lang="pt-BR" sz="2400" dirty="0" smtClean="0"/>
              <a:t>).</a:t>
            </a:r>
          </a:p>
          <a:p>
            <a:r>
              <a:rPr lang="pt-BR" sz="2400" dirty="0" smtClean="0"/>
              <a:t>Utilizado no protocolo PPP</a:t>
            </a:r>
          </a:p>
        </p:txBody>
      </p:sp>
    </p:spTree>
    <p:extLst>
      <p:ext uri="{BB962C8B-B14F-4D97-AF65-F5344CB8AC3E}">
        <p14:creationId xmlns:p14="http://schemas.microsoft.com/office/powerpoint/2010/main" val="23725385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 err="1"/>
              <a:t>Flags</a:t>
            </a:r>
            <a:r>
              <a:rPr lang="pt-BR" sz="3600" dirty="0"/>
              <a:t> iniciais e finais, com inserção de </a:t>
            </a:r>
            <a:r>
              <a:rPr lang="pt-BR" sz="3600" dirty="0" smtClean="0"/>
              <a:t>bits</a:t>
            </a:r>
            <a:endParaRPr lang="pt-BR" sz="36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sz="2000" dirty="0" smtClean="0"/>
              <a:t>Cada quadro começa e termina com um padrão de bits especial, 01111110.</a:t>
            </a:r>
          </a:p>
          <a:p>
            <a:r>
              <a:rPr lang="pt-BR" sz="2000" dirty="0" smtClean="0"/>
              <a:t>Quando a camada de enlace encontra cinco valores 1 consecutivos nos dados, a camada de enlace do transmissor automaticamente insere um bit 0 no fluxo que está sendo enviado.</a:t>
            </a:r>
          </a:p>
          <a:p>
            <a:r>
              <a:rPr lang="pt-BR" sz="2000" dirty="0" smtClean="0"/>
              <a:t>O receptor remove o 0 (ao ver cinco 1 consecutivos) e envia para camada de rede.</a:t>
            </a:r>
          </a:p>
          <a:p>
            <a:pPr lvl="1"/>
            <a:r>
              <a:rPr lang="pt-BR" sz="1800" dirty="0" smtClean="0"/>
              <a:t>Se os dados do usuário contiverem o padrão 01111110, será enviado, 01111010, mas será armazenado no receptor como 01111110.</a:t>
            </a:r>
          </a:p>
          <a:p>
            <a:pPr lvl="1"/>
            <a:r>
              <a:rPr lang="pt-BR" sz="1800" dirty="0" smtClean="0"/>
              <a:t>A sequência de bits de </a:t>
            </a:r>
            <a:r>
              <a:rPr lang="pt-BR" sz="1800" dirty="0" err="1" smtClean="0"/>
              <a:t>flag</a:t>
            </a:r>
            <a:r>
              <a:rPr lang="pt-BR" sz="1800" dirty="0" smtClean="0"/>
              <a:t> ocorrem apenas nos limites dos quadros.</a:t>
            </a:r>
          </a:p>
          <a:p>
            <a:r>
              <a:rPr lang="pt-BR" sz="2000" dirty="0" smtClean="0"/>
              <a:t>Usado pelo padrão USB.</a:t>
            </a:r>
          </a:p>
          <a:p>
            <a:r>
              <a:rPr lang="pt-BR" sz="2000" dirty="0" smtClean="0"/>
              <a:t>Problema: aumento no comprimento do quadro, caso este contenha muitos padrões de </a:t>
            </a:r>
            <a:r>
              <a:rPr lang="pt-BR" sz="2000" dirty="0" err="1" smtClean="0"/>
              <a:t>flags</a:t>
            </a:r>
            <a:r>
              <a:rPr lang="pt-BR" sz="2000" dirty="0" smtClean="0"/>
              <a:t> nos dados (cada padrão receberá um bit antes da transmissão)</a:t>
            </a: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5044974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Violação de condição de camada </a:t>
            </a:r>
            <a:r>
              <a:rPr lang="pt-BR" dirty="0" smtClean="0"/>
              <a:t>física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Utiliza sinais reservados da camada física para indicar o início e o fim de cada pacote.</a:t>
            </a:r>
          </a:p>
          <a:p>
            <a:r>
              <a:rPr lang="pt-BR" dirty="0" smtClean="0"/>
              <a:t>Não é preciso inserir bits nos dados.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39313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Controle de erros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800" dirty="0" smtClean="0"/>
              <a:t>Como ter certeza de que todos os quadros serão entregues na camada de rede de destino e na ordem apropriada.</a:t>
            </a:r>
          </a:p>
          <a:p>
            <a:r>
              <a:rPr lang="pt-BR" sz="2800" dirty="0" smtClean="0"/>
              <a:t>A forma mais comum de garantir uma entrega confiável é dar ao transmissor algum tipo de feedback.</a:t>
            </a:r>
          </a:p>
          <a:p>
            <a:r>
              <a:rPr lang="pt-BR" sz="2800" dirty="0" smtClean="0"/>
              <a:t>O receptor retorna quadros de controle com confirmações positivas e negativas, caso haja algum problema, os quadros são reenviados.</a:t>
            </a:r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5984045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Controle de erros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Pode ocorrer de quadros se perderem durante a transmissão. Receptor não receberá nada e emissor não saberão como prosseguir.</a:t>
            </a:r>
          </a:p>
          <a:p>
            <a:r>
              <a:rPr lang="pt-BR" dirty="0"/>
              <a:t>Para evitar tal problema, utiliza-se </a:t>
            </a:r>
            <a:r>
              <a:rPr lang="pt-BR" dirty="0" err="1"/>
              <a:t>timers</a:t>
            </a:r>
            <a:r>
              <a:rPr lang="pt-BR" dirty="0"/>
              <a:t> na camada de enlace.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908639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Controle de erros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O timer é ativado toda vez que um quadro é enviado.</a:t>
            </a:r>
          </a:p>
          <a:p>
            <a:r>
              <a:rPr lang="pt-BR" dirty="0" smtClean="0"/>
              <a:t>Se o quadro se perder, o emissor não receberá uma confirmação e o tempo se esgotará.</a:t>
            </a:r>
          </a:p>
          <a:p>
            <a:r>
              <a:rPr lang="pt-BR" dirty="0" smtClean="0"/>
              <a:t>O emissor então fará alguma ação.</a:t>
            </a:r>
          </a:p>
          <a:p>
            <a:pPr lvl="1"/>
            <a:r>
              <a:rPr lang="pt-BR" dirty="0" smtClean="0"/>
              <a:t>Por exemplo, reenviar o quadro perdido.</a:t>
            </a:r>
          </a:p>
          <a:p>
            <a:pPr lvl="2"/>
            <a:r>
              <a:rPr lang="pt-BR" dirty="0" smtClean="0"/>
              <a:t>Problema: risco de reenviar o mesmo quadro mais de uma vez.</a:t>
            </a:r>
          </a:p>
          <a:p>
            <a:pPr lvl="2"/>
            <a:r>
              <a:rPr lang="pt-BR" dirty="0" smtClean="0"/>
              <a:t>Solução: atribuir números de sequência aos quadros retransmitidos, de modo que o receptor possa distinguir as retransmissões do original.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83143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Controle de fluxo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Emissor emite quadros mais rápido que o transmissor possa aceitá-los.</a:t>
            </a:r>
          </a:p>
          <a:p>
            <a:r>
              <a:rPr lang="pt-BR" dirty="0" smtClean="0"/>
              <a:t>Soluções:</a:t>
            </a:r>
          </a:p>
          <a:p>
            <a:pPr lvl="1"/>
            <a:r>
              <a:rPr lang="pt-BR" dirty="0" smtClean="0"/>
              <a:t>Controle de fluxo baseado em feedback:</a:t>
            </a:r>
          </a:p>
          <a:p>
            <a:pPr lvl="2"/>
            <a:r>
              <a:rPr lang="pt-BR" dirty="0" smtClean="0"/>
              <a:t>O receptor envia de volta ao transmissor informações que permitam a ele enviar mais dados.</a:t>
            </a:r>
          </a:p>
          <a:p>
            <a:pPr lvl="1"/>
            <a:r>
              <a:rPr lang="pt-BR" dirty="0" smtClean="0"/>
              <a:t>Controle de fluxo baseado na velocidade:</a:t>
            </a:r>
          </a:p>
          <a:p>
            <a:pPr lvl="2"/>
            <a:r>
              <a:rPr lang="pt-BR" dirty="0" smtClean="0"/>
              <a:t>Protocolo limita a velocidade com que os transmissores podem enviar dados, sem o feedback (são parte da camada de transporte).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72668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Detecção e correção de erros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sz="2800" dirty="0" smtClean="0"/>
              <a:t>Em muitos meios de comunicação (como sem fio) erros sempre ocorrem. Como lidar com eles?</a:t>
            </a:r>
          </a:p>
          <a:p>
            <a:r>
              <a:rPr lang="pt-BR" sz="2800" dirty="0" smtClean="0"/>
              <a:t>Duas estratégias básicas:</a:t>
            </a:r>
          </a:p>
          <a:p>
            <a:pPr lvl="1"/>
            <a:r>
              <a:rPr lang="pt-BR" sz="2400" dirty="0" smtClean="0"/>
              <a:t>Incluir informações redundantes suficientes para permitir que o receptor quais foram os dados transmitidos. Usa </a:t>
            </a:r>
            <a:r>
              <a:rPr lang="pt-BR" sz="2400" b="1" dirty="0" smtClean="0"/>
              <a:t>código de correção de erros</a:t>
            </a:r>
            <a:r>
              <a:rPr lang="pt-BR" sz="2400" dirty="0" smtClean="0"/>
              <a:t> (</a:t>
            </a:r>
            <a:r>
              <a:rPr lang="pt-BR" sz="2400" b="1" dirty="0" smtClean="0"/>
              <a:t>correção adiantada de erros</a:t>
            </a:r>
            <a:r>
              <a:rPr lang="pt-BR" sz="2400" dirty="0" smtClean="0"/>
              <a:t>).</a:t>
            </a:r>
          </a:p>
          <a:p>
            <a:pPr lvl="2"/>
            <a:r>
              <a:rPr lang="pt-BR" sz="2000" dirty="0" smtClean="0"/>
              <a:t>Melhor para canais sem fio (muitos erros ocorrem).</a:t>
            </a:r>
          </a:p>
          <a:p>
            <a:pPr lvl="1"/>
            <a:r>
              <a:rPr lang="pt-BR" sz="2400" dirty="0" smtClean="0"/>
              <a:t>Incluir apenas a redundância suficiente para permitir que o receptor deduza que houve um erro e solicite a retransmissão. Usa </a:t>
            </a:r>
            <a:r>
              <a:rPr lang="pt-BR" sz="2400" b="1" dirty="0" smtClean="0"/>
              <a:t>código de detecção de erros</a:t>
            </a:r>
            <a:r>
              <a:rPr lang="pt-BR" sz="2400" dirty="0" smtClean="0"/>
              <a:t>.</a:t>
            </a:r>
          </a:p>
          <a:p>
            <a:pPr lvl="2"/>
            <a:r>
              <a:rPr lang="pt-BR" sz="2000" dirty="0" smtClean="0"/>
              <a:t>Muito usado em fibra ótica, poucos erros ocorrem e é uma canal rápido (retransmissão não é um problema).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4462050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Protocolos básicos de enlace de dados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Protocolo Simplex sem restrições:</a:t>
            </a:r>
          </a:p>
          <a:p>
            <a:pPr lvl="1"/>
            <a:r>
              <a:rPr lang="pt-BR" dirty="0" smtClean="0"/>
              <a:t>Simples, não se preocupa com a possibilidade de erros.</a:t>
            </a:r>
          </a:p>
          <a:p>
            <a:pPr lvl="1"/>
            <a:r>
              <a:rPr lang="pt-BR" dirty="0" smtClean="0"/>
              <a:t>Só transmite em um sentido (Simplex), considera as camadas sempre prontas, e um canal livre de erros.</a:t>
            </a:r>
          </a:p>
          <a:p>
            <a:pPr lvl="1"/>
            <a:r>
              <a:rPr lang="pt-BR" dirty="0" smtClean="0"/>
              <a:t>Protocolo imaginário, pois não trata nem do controle de fluxo e nem da correção de erros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85969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Protocolos básicos de enlace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400" dirty="0"/>
              <a:t>Protocolo Simplex </a:t>
            </a:r>
            <a:r>
              <a:rPr lang="pt-BR" sz="2400" dirty="0" smtClean="0"/>
              <a:t>Stop-</a:t>
            </a:r>
            <a:r>
              <a:rPr lang="pt-BR" sz="2400" dirty="0" err="1" smtClean="0"/>
              <a:t>And</a:t>
            </a:r>
            <a:r>
              <a:rPr lang="pt-BR" sz="2400" dirty="0" smtClean="0"/>
              <a:t>-</a:t>
            </a:r>
            <a:r>
              <a:rPr lang="pt-BR" sz="2400" dirty="0" err="1" smtClean="0"/>
              <a:t>Wait</a:t>
            </a:r>
            <a:r>
              <a:rPr lang="pt-BR" sz="2400" dirty="0" smtClean="0"/>
              <a:t> em um canal livre de erros:</a:t>
            </a:r>
          </a:p>
          <a:p>
            <a:pPr lvl="1"/>
            <a:r>
              <a:rPr lang="pt-BR" sz="2000" dirty="0" smtClean="0"/>
              <a:t>Ainda considera uma canal de comunicação livre de erros e tráfego de dados do tipo simplex (um sentido).</a:t>
            </a:r>
          </a:p>
          <a:p>
            <a:pPr lvl="1"/>
            <a:r>
              <a:rPr lang="pt-BR" sz="2000" dirty="0" smtClean="0"/>
              <a:t>Trata o problema de impedir que o transmissor sobrecarregue o receptor com quadros mais rapidamente que ele consegue processar.</a:t>
            </a:r>
          </a:p>
          <a:p>
            <a:pPr lvl="1"/>
            <a:r>
              <a:rPr lang="pt-BR" sz="2000" dirty="0" smtClean="0"/>
              <a:t>Montar um receptor poderoso o bastante para processar o fluxo contínuo de dados</a:t>
            </a:r>
          </a:p>
          <a:p>
            <a:pPr lvl="1"/>
            <a:r>
              <a:rPr lang="pt-BR" sz="2000" dirty="0" smtClean="0"/>
              <a:t>Problema: exige hardware dedicado e desperdiça recursos se a velocidade do enlace for baixa.</a:t>
            </a:r>
          </a:p>
          <a:p>
            <a:pPr lvl="1"/>
            <a:r>
              <a:rPr lang="pt-BR" sz="2000" dirty="0" smtClean="0"/>
              <a:t>Solução: após processar um quadro o receptor oferece feedback ao transmissor (enviando um quadro fictício, de confirmação). Transmissor é obrigado a esperar a chegada do quadro fictício para continuar enviando (</a:t>
            </a:r>
            <a:r>
              <a:rPr lang="pt-BR" sz="2000" b="1" dirty="0" smtClean="0"/>
              <a:t>stop-</a:t>
            </a:r>
            <a:r>
              <a:rPr lang="pt-BR" sz="2000" b="1" dirty="0" err="1" smtClean="0"/>
              <a:t>and</a:t>
            </a:r>
            <a:r>
              <a:rPr lang="pt-BR" sz="2000" b="1" dirty="0" smtClean="0"/>
              <a:t>-</a:t>
            </a:r>
            <a:r>
              <a:rPr lang="pt-BR" sz="2000" b="1" dirty="0" err="1" smtClean="0"/>
              <a:t>wait</a:t>
            </a:r>
            <a:r>
              <a:rPr lang="pt-BR" sz="2000" dirty="0" smtClean="0"/>
              <a:t>).  </a:t>
            </a:r>
            <a:endParaRPr lang="pt-BR" sz="20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1521905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Protocolos básicos de enlace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400" dirty="0"/>
              <a:t>Protocolo Simplex Stop-</a:t>
            </a:r>
            <a:r>
              <a:rPr lang="pt-BR" sz="2400" dirty="0" err="1"/>
              <a:t>And</a:t>
            </a:r>
            <a:r>
              <a:rPr lang="pt-BR" sz="2400" dirty="0"/>
              <a:t>-</a:t>
            </a:r>
            <a:r>
              <a:rPr lang="pt-BR" sz="2400" dirty="0" err="1"/>
              <a:t>Wait</a:t>
            </a:r>
            <a:r>
              <a:rPr lang="pt-BR" sz="2400" dirty="0"/>
              <a:t> em um canal </a:t>
            </a:r>
            <a:r>
              <a:rPr lang="pt-BR" sz="2400" dirty="0" smtClean="0"/>
              <a:t>com ruído:</a:t>
            </a:r>
          </a:p>
          <a:p>
            <a:pPr lvl="1"/>
            <a:r>
              <a:rPr lang="pt-BR" sz="2000" dirty="0" smtClean="0"/>
              <a:t>Situação em que pode haver erros e quadros serem danificados ou perdidos durante o envio.</a:t>
            </a:r>
          </a:p>
          <a:p>
            <a:pPr lvl="1"/>
            <a:r>
              <a:rPr lang="pt-BR" sz="2000" dirty="0" smtClean="0"/>
              <a:t>Uma solução seria uma variação do protocolo anterior, com a inclusão de um timer. A máquina transmissora enviaria o quadro e aguardaria por um certo tempo o pacote de confirmação. A maquina receptora receberia o pacote, se danificado (</a:t>
            </a:r>
            <a:r>
              <a:rPr lang="pt-BR" sz="2000" dirty="0" err="1" smtClean="0"/>
              <a:t>checksum</a:t>
            </a:r>
            <a:r>
              <a:rPr lang="pt-BR" sz="2000" dirty="0" smtClean="0"/>
              <a:t> estivesse incorreto) não enviaria confirmação. Ao se esgotar o timer, a máquina transmissora enviaria o quadro novamente.</a:t>
            </a:r>
          </a:p>
          <a:p>
            <a:pPr lvl="1"/>
            <a:r>
              <a:rPr lang="pt-BR" sz="2000" dirty="0" smtClean="0"/>
              <a:t>Problema: e se o pacote de confirmação fosse perdido? A máquina transmissora não receberia a confirmação e ao final do timer enviaria o quadro novamente. A camada de enlace da máquina receptora receberia um quadro duplicado e o entregaria a sua camada de rede. Ou seja, ocorrerá uma falha. </a:t>
            </a:r>
          </a:p>
          <a:p>
            <a:pPr lvl="1"/>
            <a:endParaRPr lang="pt-BR" sz="2000" dirty="0" smtClean="0"/>
          </a:p>
          <a:p>
            <a:endParaRPr lang="pt-BR" sz="2400" dirty="0" smtClean="0"/>
          </a:p>
          <a:p>
            <a:pPr lvl="1"/>
            <a:endParaRPr lang="pt-BR" sz="20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9328465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Protocolos básicos de enlace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Protocolo Simplex Stop-</a:t>
            </a:r>
            <a:r>
              <a:rPr lang="pt-BR" sz="2400" dirty="0" err="1"/>
              <a:t>And</a:t>
            </a:r>
            <a:r>
              <a:rPr lang="pt-BR" sz="2400" dirty="0"/>
              <a:t>-</a:t>
            </a:r>
            <a:r>
              <a:rPr lang="pt-BR" sz="2400" dirty="0" err="1"/>
              <a:t>Wait</a:t>
            </a:r>
            <a:r>
              <a:rPr lang="pt-BR" sz="2400" dirty="0"/>
              <a:t> em um canal com ruído:</a:t>
            </a:r>
          </a:p>
          <a:p>
            <a:pPr lvl="1"/>
            <a:r>
              <a:rPr lang="pt-BR" sz="2000" dirty="0" smtClean="0"/>
              <a:t>Solução: incluir um número de sequência de cabeçalho a cada quadro enviado.</a:t>
            </a:r>
          </a:p>
          <a:p>
            <a:pPr lvl="1"/>
            <a:r>
              <a:rPr lang="pt-BR" sz="2000" dirty="0" smtClean="0"/>
              <a:t>Receptor espero por um quadro e seu número de sequência. Se estiver correto, repassa para a camada de rede e envia a confirmação. Em seguida o próximo número de sequência esperado é incrementado (0 passa a ser 1 e 1 passa a ser 0). Apenas um bit é utilizado.</a:t>
            </a:r>
          </a:p>
          <a:p>
            <a:pPr lvl="1"/>
            <a:r>
              <a:rPr lang="pt-BR" sz="2000" dirty="0" smtClean="0"/>
              <a:t>Se o quadro de confirmações se perder, o transmissor enviará a confirmação novamente com o mesmo numero de identificação, que então será descartada pelo receptor.</a:t>
            </a:r>
          </a:p>
          <a:p>
            <a:pPr lvl="1"/>
            <a:r>
              <a:rPr lang="pt-BR" sz="2000" dirty="0" smtClean="0"/>
              <a:t>Protocolos assim são chamados de </a:t>
            </a:r>
            <a:r>
              <a:rPr lang="pt-BR" sz="2000" b="1" dirty="0" smtClean="0"/>
              <a:t>solicitação</a:t>
            </a:r>
            <a:r>
              <a:rPr lang="pt-BR" sz="2000" dirty="0" smtClean="0"/>
              <a:t> </a:t>
            </a:r>
            <a:r>
              <a:rPr lang="pt-BR" sz="2000" b="1" dirty="0" smtClean="0"/>
              <a:t>de</a:t>
            </a:r>
            <a:r>
              <a:rPr lang="pt-BR" sz="2000" dirty="0" smtClean="0"/>
              <a:t> </a:t>
            </a:r>
            <a:r>
              <a:rPr lang="pt-BR" sz="2000" b="1" dirty="0" smtClean="0"/>
              <a:t>repetição</a:t>
            </a:r>
            <a:r>
              <a:rPr lang="pt-BR" sz="2000" dirty="0" smtClean="0"/>
              <a:t> </a:t>
            </a:r>
            <a:r>
              <a:rPr lang="pt-BR" sz="2000" b="1" dirty="0" smtClean="0"/>
              <a:t>automática</a:t>
            </a:r>
            <a:r>
              <a:rPr lang="pt-BR" sz="2000" dirty="0" smtClean="0"/>
              <a:t>, ou </a:t>
            </a:r>
            <a:r>
              <a:rPr lang="pt-BR" sz="2000" b="1" dirty="0" smtClean="0"/>
              <a:t>ARC</a:t>
            </a:r>
            <a:r>
              <a:rPr lang="pt-BR" sz="2000" dirty="0" smtClean="0"/>
              <a:t> (</a:t>
            </a:r>
            <a:r>
              <a:rPr lang="pt-BR" sz="2000" b="1" dirty="0" err="1" smtClean="0"/>
              <a:t>Automatic</a:t>
            </a:r>
            <a:r>
              <a:rPr lang="pt-BR" sz="2000" b="1" dirty="0" smtClean="0"/>
              <a:t> </a:t>
            </a:r>
            <a:r>
              <a:rPr lang="pt-BR" sz="2000" b="1" dirty="0" err="1" smtClean="0"/>
              <a:t>Repeart</a:t>
            </a:r>
            <a:r>
              <a:rPr lang="pt-BR" sz="2000" b="1" dirty="0" smtClean="0"/>
              <a:t> </a:t>
            </a:r>
            <a:r>
              <a:rPr lang="pt-BR" sz="2000" b="1" dirty="0" err="1" smtClean="0"/>
              <a:t>reQuest</a:t>
            </a:r>
            <a:r>
              <a:rPr lang="pt-BR" sz="2000" dirty="0" smtClean="0"/>
              <a:t>)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5005707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Protocolos </a:t>
            </a:r>
            <a:r>
              <a:rPr lang="pt-BR" dirty="0" smtClean="0"/>
              <a:t>de janela deslizante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dirty="0" smtClean="0"/>
              <a:t>Considera-se agora que os dados são transmitidos nos dois sentidos (</a:t>
            </a:r>
            <a:r>
              <a:rPr lang="pt-BR" sz="2000" dirty="0" err="1" smtClean="0"/>
              <a:t>full</a:t>
            </a:r>
            <a:r>
              <a:rPr lang="pt-BR" sz="2000" dirty="0" smtClean="0"/>
              <a:t>-duplex).</a:t>
            </a:r>
          </a:p>
          <a:p>
            <a:r>
              <a:rPr lang="pt-BR" sz="2000" dirty="0" smtClean="0"/>
              <a:t>Neste caso, os quadros de dados enviados de A para B são misturados  com os quadros de confirmação enviados de A para B.</a:t>
            </a:r>
          </a:p>
          <a:p>
            <a:r>
              <a:rPr lang="pt-BR" sz="2000" dirty="0" smtClean="0"/>
              <a:t>Ao verificar o tipo </a:t>
            </a:r>
            <a:r>
              <a:rPr lang="pt-BR" sz="2000" b="1" dirty="0" err="1" smtClean="0"/>
              <a:t>kind</a:t>
            </a:r>
            <a:r>
              <a:rPr lang="pt-BR" sz="2000" dirty="0" smtClean="0"/>
              <a:t> no cabeçalho o receptor pode identificar se o quadro é de dados ou confirmação.</a:t>
            </a:r>
          </a:p>
          <a:p>
            <a:r>
              <a:rPr lang="pt-BR" sz="2000" dirty="0" smtClean="0"/>
              <a:t>Quando um quadro de dados chega ao destino, ao invés de imediatamente enviar um quadro de controle separado, o receptor espera até sua camada de rede enviar o próximo pacote a ser transmitido.</a:t>
            </a:r>
          </a:p>
          <a:p>
            <a:r>
              <a:rPr lang="pt-BR" sz="2000" dirty="0" smtClean="0"/>
              <a:t>A confirmação é acrescida ao quadro de dados que está sendo enviado, por meio do campo </a:t>
            </a:r>
            <a:r>
              <a:rPr lang="pt-BR" sz="2000" b="1" dirty="0" err="1" smtClean="0"/>
              <a:t>ack</a:t>
            </a:r>
            <a:r>
              <a:rPr lang="pt-BR" sz="2000" dirty="0" smtClean="0"/>
              <a:t>. </a:t>
            </a:r>
          </a:p>
          <a:p>
            <a:r>
              <a:rPr lang="pt-BR" sz="2000" dirty="0" smtClean="0"/>
              <a:t>A confirmação pega carona no próximo quadro (</a:t>
            </a:r>
            <a:r>
              <a:rPr lang="pt-BR" sz="2000" b="1" dirty="0" err="1" smtClean="0"/>
              <a:t>piggybacking</a:t>
            </a:r>
            <a:r>
              <a:rPr lang="pt-BR" sz="2000" dirty="0" smtClean="0"/>
              <a:t>).</a:t>
            </a:r>
          </a:p>
          <a:p>
            <a:r>
              <a:rPr lang="pt-BR" sz="2000" dirty="0" smtClean="0"/>
              <a:t>Proporciona melhor utilização da largura da banda.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8732737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Protocolos de janela deslizante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400" dirty="0" err="1" smtClean="0"/>
              <a:t>Piggybacking</a:t>
            </a:r>
            <a:r>
              <a:rPr lang="pt-BR" sz="2400" dirty="0" smtClean="0"/>
              <a:t> apresenta uma problema se a camada de enlace da máquina A esperar pelos pacotes da camada de rede um tempo maior que o timer da camada de enlace da máquina B.</a:t>
            </a:r>
          </a:p>
          <a:p>
            <a:r>
              <a:rPr lang="pt-BR" sz="2400" dirty="0" smtClean="0"/>
              <a:t>Se esse tempo em B for excedido, a máquina B enviará o ultimo quadro novamente, invalidado o processo de confirmação.</a:t>
            </a:r>
          </a:p>
          <a:p>
            <a:r>
              <a:rPr lang="pt-BR" sz="2400" dirty="0" smtClean="0"/>
              <a:t>A solução é, se a camada de enlace da máquina A demorar muito a receber os pacotes da camada de rede para acrescentar a confirmação, ela enviará um quadro com a confirmação separado para a máquina B. 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7907457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Protocolos de janela deslizante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 smtClean="0"/>
                  <a:t>Nos protocolos de janela deslizante, cada quadro enviado contém um número de sequência, de 0 até um número máximo. Em geral este valor máximo é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pt-BR" b="0" i="1" smtClean="0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pt-BR" b="0" i="1" smtClean="0">
                        <a:latin typeface="Cambria Math"/>
                      </a:rPr>
                      <m:t>−1</m:t>
                    </m:r>
                  </m:oMath>
                </a14:m>
                <a:r>
                  <a:rPr lang="pt-BR" dirty="0" smtClean="0"/>
                  <a:t>.</a:t>
                </a:r>
              </a:p>
              <a:p>
                <a:r>
                  <a:rPr lang="pt-BR" dirty="0" smtClean="0"/>
                  <a:t>O protocolo stop-</a:t>
                </a:r>
                <a:r>
                  <a:rPr lang="pt-BR" dirty="0" err="1" smtClean="0"/>
                  <a:t>and</a:t>
                </a:r>
                <a:r>
                  <a:rPr lang="pt-BR" dirty="0" smtClean="0"/>
                  <a:t>-</a:t>
                </a:r>
                <a:r>
                  <a:rPr lang="pt-BR" dirty="0" err="1" smtClean="0"/>
                  <a:t>wait</a:t>
                </a:r>
                <a:r>
                  <a:rPr lang="pt-BR" dirty="0" smtClean="0"/>
                  <a:t>, por exemplo, utiliza n = 1, restringindo o número de sequência a 0 e 1. </a:t>
                </a: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34352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 camada de enlace e a Internet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Rede ponto a ponto:</a:t>
            </a:r>
          </a:p>
          <a:p>
            <a:pPr lvl="1"/>
            <a:r>
              <a:rPr lang="pt-BR" dirty="0" smtClean="0"/>
              <a:t>O princípio é conectar workstations via dial-up (conexão discada) à Internet (Protocolo PPP – Point-</a:t>
            </a:r>
            <a:r>
              <a:rPr lang="pt-BR" dirty="0" err="1" smtClean="0"/>
              <a:t>to</a:t>
            </a:r>
            <a:r>
              <a:rPr lang="pt-BR" dirty="0" smtClean="0"/>
              <a:t>-Point </a:t>
            </a:r>
            <a:r>
              <a:rPr lang="pt-BR" dirty="0" err="1" smtClean="0"/>
              <a:t>Protocol</a:t>
            </a:r>
            <a:r>
              <a:rPr lang="pt-BR" dirty="0" smtClean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029237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Referências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TANENBAUM, Andrew S. Redes de Computadores. 4ª Edição: Campus, 2003</a:t>
            </a:r>
          </a:p>
        </p:txBody>
      </p:sp>
    </p:spTree>
    <p:extLst>
      <p:ext uri="{BB962C8B-B14F-4D97-AF65-F5344CB8AC3E}">
        <p14:creationId xmlns:p14="http://schemas.microsoft.com/office/powerpoint/2010/main" val="29586915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9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9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9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3225</TotalTime>
  <Words>2605</Words>
  <Application>Microsoft Office PowerPoint</Application>
  <PresentationFormat>Apresentação na tela (4:3)</PresentationFormat>
  <Paragraphs>264</Paragraphs>
  <Slides>46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46</vt:i4>
      </vt:variant>
    </vt:vector>
  </HeadingPairs>
  <TitlesOfParts>
    <vt:vector size="50" baseType="lpstr">
      <vt:lpstr>Arial</vt:lpstr>
      <vt:lpstr>Calibri</vt:lpstr>
      <vt:lpstr>Cambria Math</vt:lpstr>
      <vt:lpstr>Tema do Office</vt:lpstr>
      <vt:lpstr>Camada Física</vt:lpstr>
      <vt:lpstr>Apresentação do PowerPoint</vt:lpstr>
      <vt:lpstr>Introdução</vt:lpstr>
      <vt:lpstr>Par trançado</vt:lpstr>
      <vt:lpstr>Par trançado</vt:lpstr>
      <vt:lpstr>Cabo Coaxial</vt:lpstr>
      <vt:lpstr>Fibra ótica</vt:lpstr>
      <vt:lpstr>Fibra ótica</vt:lpstr>
      <vt:lpstr>Repetidores</vt:lpstr>
      <vt:lpstr>Largura de Banda</vt:lpstr>
      <vt:lpstr>Largura de Banda</vt:lpstr>
      <vt:lpstr>Transmissão sem fio</vt:lpstr>
      <vt:lpstr>O espectro eletromagnético</vt:lpstr>
      <vt:lpstr>O espectro eletromagnético</vt:lpstr>
      <vt:lpstr>Transmissão de rádio</vt:lpstr>
      <vt:lpstr>Transmissão de rádio</vt:lpstr>
      <vt:lpstr>Transmissão de rádio</vt:lpstr>
      <vt:lpstr>Transmissão micro-ondas</vt:lpstr>
      <vt:lpstr>Infravermelho</vt:lpstr>
      <vt:lpstr>Satélite de comunicação</vt:lpstr>
      <vt:lpstr>Satélite de comunicação</vt:lpstr>
      <vt:lpstr>Camada de Enlace</vt:lpstr>
      <vt:lpstr>Apresentação do PowerPoint</vt:lpstr>
      <vt:lpstr>Introdução</vt:lpstr>
      <vt:lpstr>Projeto da camada de enlace</vt:lpstr>
      <vt:lpstr>Serviços</vt:lpstr>
      <vt:lpstr>Enquadramento</vt:lpstr>
      <vt:lpstr>Enquadramento</vt:lpstr>
      <vt:lpstr>Contagem de caracteres</vt:lpstr>
      <vt:lpstr>Bytes de flag com inserção de bytes</vt:lpstr>
      <vt:lpstr>Flags iniciais e finais, com inserção de bits</vt:lpstr>
      <vt:lpstr>Violação de condição de camada física</vt:lpstr>
      <vt:lpstr>Controle de erros</vt:lpstr>
      <vt:lpstr>Controle de erros</vt:lpstr>
      <vt:lpstr>Controle de erros</vt:lpstr>
      <vt:lpstr>Controle de fluxo</vt:lpstr>
      <vt:lpstr>Detecção e correção de erros</vt:lpstr>
      <vt:lpstr>Protocolos básicos de enlace de dados</vt:lpstr>
      <vt:lpstr>Protocolos básicos de enlace de dados</vt:lpstr>
      <vt:lpstr>Protocolos básicos de enlace de dados</vt:lpstr>
      <vt:lpstr>Protocolos básicos de enlace de dados</vt:lpstr>
      <vt:lpstr>Protocolos de janela deslizante</vt:lpstr>
      <vt:lpstr>Protocolos de janela deslizante</vt:lpstr>
      <vt:lpstr>Protocolos de janela deslizante</vt:lpstr>
      <vt:lpstr>A camada de enlace e a Internet</vt:lpstr>
      <vt:lpstr>Referências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henrique</dc:creator>
  <cp:lastModifiedBy>Henrique</cp:lastModifiedBy>
  <cp:revision>234</cp:revision>
  <dcterms:created xsi:type="dcterms:W3CDTF">2010-09-29T10:48:05Z</dcterms:created>
  <dcterms:modified xsi:type="dcterms:W3CDTF">2014-02-03T18:23:26Z</dcterms:modified>
</cp:coreProperties>
</file>