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png&amp;ehk=DWCISwiGNv7t7nZdq" ContentType="image/png"/>
  <Default Extension="png&amp;ehk=MfEqL4e5qn9PndaZuNRi6w&amp;r=0&amp;pid=OfficeInsert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7" r:id="rId2"/>
    <p:sldMasterId id="2147483661" r:id="rId3"/>
    <p:sldMasterId id="2147483659" r:id="rId4"/>
    <p:sldMasterId id="2147483663" r:id="rId5"/>
  </p:sldMasterIdLst>
  <p:notesMasterIdLst>
    <p:notesMasterId r:id="rId69"/>
  </p:notesMasterIdLst>
  <p:handoutMasterIdLst>
    <p:handoutMasterId r:id="rId70"/>
  </p:handoutMasterIdLst>
  <p:sldIdLst>
    <p:sldId id="256" r:id="rId6"/>
    <p:sldId id="259" r:id="rId7"/>
    <p:sldId id="343" r:id="rId8"/>
    <p:sldId id="342" r:id="rId9"/>
    <p:sldId id="344" r:id="rId10"/>
    <p:sldId id="345" r:id="rId11"/>
    <p:sldId id="400" r:id="rId12"/>
    <p:sldId id="346" r:id="rId13"/>
    <p:sldId id="349" r:id="rId14"/>
    <p:sldId id="347" r:id="rId15"/>
    <p:sldId id="351" r:id="rId16"/>
    <p:sldId id="352" r:id="rId17"/>
    <p:sldId id="404" r:id="rId18"/>
    <p:sldId id="353" r:id="rId19"/>
    <p:sldId id="354" r:id="rId20"/>
    <p:sldId id="356" r:id="rId21"/>
    <p:sldId id="355" r:id="rId22"/>
    <p:sldId id="357" r:id="rId23"/>
    <p:sldId id="358" r:id="rId24"/>
    <p:sldId id="359" r:id="rId25"/>
    <p:sldId id="360" r:id="rId26"/>
    <p:sldId id="361" r:id="rId27"/>
    <p:sldId id="362" r:id="rId28"/>
    <p:sldId id="401" r:id="rId29"/>
    <p:sldId id="363" r:id="rId30"/>
    <p:sldId id="364" r:id="rId31"/>
    <p:sldId id="365" r:id="rId32"/>
    <p:sldId id="366" r:id="rId33"/>
    <p:sldId id="367" r:id="rId34"/>
    <p:sldId id="368" r:id="rId35"/>
    <p:sldId id="370" r:id="rId36"/>
    <p:sldId id="369" r:id="rId37"/>
    <p:sldId id="371" r:id="rId38"/>
    <p:sldId id="372" r:id="rId39"/>
    <p:sldId id="373" r:id="rId40"/>
    <p:sldId id="374" r:id="rId41"/>
    <p:sldId id="375" r:id="rId42"/>
    <p:sldId id="402" r:id="rId43"/>
    <p:sldId id="376" r:id="rId44"/>
    <p:sldId id="377" r:id="rId45"/>
    <p:sldId id="378" r:id="rId46"/>
    <p:sldId id="379" r:id="rId47"/>
    <p:sldId id="380" r:id="rId48"/>
    <p:sldId id="381" r:id="rId49"/>
    <p:sldId id="382" r:id="rId50"/>
    <p:sldId id="383" r:id="rId51"/>
    <p:sldId id="403" r:id="rId52"/>
    <p:sldId id="384" r:id="rId53"/>
    <p:sldId id="385" r:id="rId54"/>
    <p:sldId id="386" r:id="rId55"/>
    <p:sldId id="387" r:id="rId56"/>
    <p:sldId id="388" r:id="rId57"/>
    <p:sldId id="389" r:id="rId58"/>
    <p:sldId id="391" r:id="rId59"/>
    <p:sldId id="392" r:id="rId60"/>
    <p:sldId id="393" r:id="rId61"/>
    <p:sldId id="399" r:id="rId62"/>
    <p:sldId id="395" r:id="rId63"/>
    <p:sldId id="394" r:id="rId64"/>
    <p:sldId id="396" r:id="rId65"/>
    <p:sldId id="397" r:id="rId66"/>
    <p:sldId id="398" r:id="rId67"/>
    <p:sldId id="341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098D69-AA23-4749-9882-E8D24AE83D71}" v="5" dt="2021-02-08T19:51:44.9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9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handoutMaster" Target="handoutMasters/handoutMaster1.xml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microsoft.com/office/2015/10/relationships/revisionInfo" Target="revisionInfo.xml"/><Relationship Id="rId7" Type="http://schemas.openxmlformats.org/officeDocument/2006/relationships/slide" Target="slides/slide2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ique Silva" userId="850b114bb1845035" providerId="LiveId" clId="{A3098D69-AA23-4749-9882-E8D24AE83D71}"/>
    <pc:docChg chg="addSld delSld modSld">
      <pc:chgData name="Henrique Silva" userId="850b114bb1845035" providerId="LiveId" clId="{A3098D69-AA23-4749-9882-E8D24AE83D71}" dt="2021-02-08T19:54:38.828" v="20" actId="20577"/>
      <pc:docMkLst>
        <pc:docMk/>
      </pc:docMkLst>
      <pc:sldChg chg="del">
        <pc:chgData name="Henrique Silva" userId="850b114bb1845035" providerId="LiveId" clId="{A3098D69-AA23-4749-9882-E8D24AE83D71}" dt="2021-02-08T17:30:41.805" v="0" actId="47"/>
        <pc:sldMkLst>
          <pc:docMk/>
          <pc:sldMk cId="2634926897" sldId="269"/>
        </pc:sldMkLst>
      </pc:sldChg>
      <pc:sldChg chg="modSp mod">
        <pc:chgData name="Henrique Silva" userId="850b114bb1845035" providerId="LiveId" clId="{A3098D69-AA23-4749-9882-E8D24AE83D71}" dt="2021-02-08T19:41:15.104" v="1" actId="20577"/>
        <pc:sldMkLst>
          <pc:docMk/>
          <pc:sldMk cId="1900257018" sldId="352"/>
        </pc:sldMkLst>
        <pc:spChg chg="mod">
          <ac:chgData name="Henrique Silva" userId="850b114bb1845035" providerId="LiveId" clId="{A3098D69-AA23-4749-9882-E8D24AE83D71}" dt="2021-02-08T19:41:15.104" v="1" actId="20577"/>
          <ac:spMkLst>
            <pc:docMk/>
            <pc:sldMk cId="1900257018" sldId="352"/>
            <ac:spMk id="4" creationId="{BE4AFDCD-5B09-482D-9F7F-A7ABE2BFA43B}"/>
          </ac:spMkLst>
        </pc:spChg>
      </pc:sldChg>
      <pc:sldChg chg="modSp">
        <pc:chgData name="Henrique Silva" userId="850b114bb1845035" providerId="LiveId" clId="{A3098D69-AA23-4749-9882-E8D24AE83D71}" dt="2021-02-08T19:42:02.555" v="18" actId="20577"/>
        <pc:sldMkLst>
          <pc:docMk/>
          <pc:sldMk cId="1091737936" sldId="353"/>
        </pc:sldMkLst>
        <pc:spChg chg="mod">
          <ac:chgData name="Henrique Silva" userId="850b114bb1845035" providerId="LiveId" clId="{A3098D69-AA23-4749-9882-E8D24AE83D71}" dt="2021-02-08T19:42:02.555" v="18" actId="20577"/>
          <ac:spMkLst>
            <pc:docMk/>
            <pc:sldMk cId="1091737936" sldId="353"/>
            <ac:spMk id="4" creationId="{54274B4D-A5CF-4F8E-86FC-C9917C1F1F9D}"/>
          </ac:spMkLst>
        </pc:spChg>
      </pc:sldChg>
      <pc:sldChg chg="modSp">
        <pc:chgData name="Henrique Silva" userId="850b114bb1845035" providerId="LiveId" clId="{A3098D69-AA23-4749-9882-E8D24AE83D71}" dt="2021-02-08T19:51:44.976" v="19" actId="207"/>
        <pc:sldMkLst>
          <pc:docMk/>
          <pc:sldMk cId="3941927827" sldId="362"/>
        </pc:sldMkLst>
        <pc:spChg chg="mod">
          <ac:chgData name="Henrique Silva" userId="850b114bb1845035" providerId="LiveId" clId="{A3098D69-AA23-4749-9882-E8D24AE83D71}" dt="2021-02-08T19:51:44.976" v="19" actId="207"/>
          <ac:spMkLst>
            <pc:docMk/>
            <pc:sldMk cId="3941927827" sldId="362"/>
            <ac:spMk id="4" creationId="{54274B4D-A5CF-4F8E-86FC-C9917C1F1F9D}"/>
          </ac:spMkLst>
        </pc:spChg>
      </pc:sldChg>
      <pc:sldChg chg="modSp mod">
        <pc:chgData name="Henrique Silva" userId="850b114bb1845035" providerId="LiveId" clId="{A3098D69-AA23-4749-9882-E8D24AE83D71}" dt="2021-02-08T19:54:38.828" v="20" actId="20577"/>
        <pc:sldMkLst>
          <pc:docMk/>
          <pc:sldMk cId="1331073631" sldId="370"/>
        </pc:sldMkLst>
        <pc:spChg chg="mod">
          <ac:chgData name="Henrique Silva" userId="850b114bb1845035" providerId="LiveId" clId="{A3098D69-AA23-4749-9882-E8D24AE83D71}" dt="2021-02-08T19:54:38.828" v="20" actId="20577"/>
          <ac:spMkLst>
            <pc:docMk/>
            <pc:sldMk cId="1331073631" sldId="370"/>
            <ac:spMk id="4" creationId="{54274B4D-A5CF-4F8E-86FC-C9917C1F1F9D}"/>
          </ac:spMkLst>
        </pc:spChg>
      </pc:sldChg>
      <pc:sldChg chg="modSp add mod">
        <pc:chgData name="Henrique Silva" userId="850b114bb1845035" providerId="LiveId" clId="{A3098D69-AA23-4749-9882-E8D24AE83D71}" dt="2021-02-08T19:41:29.921" v="16" actId="20577"/>
        <pc:sldMkLst>
          <pc:docMk/>
          <pc:sldMk cId="1852219246" sldId="404"/>
        </pc:sldMkLst>
        <pc:spChg chg="mod">
          <ac:chgData name="Henrique Silva" userId="850b114bb1845035" providerId="LiveId" clId="{A3098D69-AA23-4749-9882-E8D24AE83D71}" dt="2021-02-08T19:41:29.921" v="16" actId="20577"/>
          <ac:spMkLst>
            <pc:docMk/>
            <pc:sldMk cId="1852219246" sldId="404"/>
            <ac:spMk id="4" creationId="{BE4AFDCD-5B09-482D-9F7F-A7ABE2BFA43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96A6A972-22D0-49DD-A438-87876B1CA3D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21340C0-DA78-4D97-ACA6-EFFC6323AC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4AD336-EE49-46C3-828E-21AC86B191C4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BF300B9-B7AA-449B-A27F-7578284AB9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0F89050-8BC4-432F-8B10-69AC6FDE4D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2E38F3-AF0D-460E-A9F9-AB8B617FAEA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7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65DD16-3BF1-433C-B06B-31F8316BA8FB}" type="datetimeFigureOut">
              <a:rPr lang="en-US" smtClean="0"/>
              <a:t>2/8/2021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76D0DE-28BD-4D3A-9B1B-B20ED41C812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6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172AE-6480-45E3-AE86-5E9EC2126D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10435876" cy="2387600"/>
          </a:xfrm>
        </p:spPr>
        <p:txBody>
          <a:bodyPr anchor="b"/>
          <a:lstStyle>
            <a:lvl1pPr algn="r">
              <a:defRPr sz="60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0B4CF3-149A-4382-A5E6-52DF8B4534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10435876" cy="1655762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40BAF3-7FB5-4C0E-8420-FFF8E6DD0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7CA635-9CCA-4EC8-A05E-B823FD1A6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6D41AE-A640-47B8-9166-699FDBAE7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609F7-AA20-4841-9A5D-8164C2A89E0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894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853268"/>
            <a:ext cx="12192000" cy="124883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4000" b="1">
                <a:solidFill>
                  <a:schemeClr val="tx1">
                    <a:lumMod val="75000"/>
                    <a:lumOff val="25000"/>
                  </a:schemeClr>
                </a:solidFill>
                <a:latin typeface="Trebuchet MS" pitchFamily="34" charset="0"/>
              </a:defRPr>
            </a:lvl1pPr>
          </a:lstStyle>
          <a:p>
            <a:pPr lvl="0"/>
            <a:r>
              <a:rPr lang="pt-BR" dirty="0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964180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AC5C0286-6893-4B0C-A4A0-8396F9F135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5B076004-21DF-4D9F-A355-EF7CB1C97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60351"/>
            <a:ext cx="12192000" cy="863600"/>
          </a:xfrm>
          <a:prstGeom prst="rect">
            <a:avLst/>
          </a:prstGeom>
        </p:spPr>
        <p:txBody>
          <a:bodyPr/>
          <a:lstStyle>
            <a:lvl1pPr marL="364058" indent="0">
              <a:buNone/>
              <a:defRPr b="1" baseline="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6C6D8FE-4A8B-4A5A-8B2D-23011F96D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90289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789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5B076004-21DF-4D9F-A355-EF7CB1C97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60351"/>
            <a:ext cx="12192000" cy="863600"/>
          </a:xfrm>
          <a:prstGeom prst="rect">
            <a:avLst/>
          </a:prstGeom>
        </p:spPr>
        <p:txBody>
          <a:bodyPr/>
          <a:lstStyle>
            <a:lvl1pPr marL="364058" indent="0">
              <a:buNone/>
              <a:defRPr b="1" baseline="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5" name="Espaço Reservado para Texto 3">
            <a:extLst>
              <a:ext uri="{FF2B5EF4-FFF2-40B4-BE49-F238E27FC236}">
                <a16:creationId xmlns:a16="http://schemas.microsoft.com/office/drawing/2014/main" id="{01CF3EA7-8EC9-4EAF-B49C-0C28695786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261" y="5796589"/>
            <a:ext cx="11471308" cy="38404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>
              <a:defRPr sz="1867"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>
              <a:defRPr sz="1867"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>
              <a:defRPr sz="1867"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>
              <a:defRPr sz="1867"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6" name="Espaço Reservado para Imagem 6">
            <a:extLst>
              <a:ext uri="{FF2B5EF4-FFF2-40B4-BE49-F238E27FC236}">
                <a16:creationId xmlns:a16="http://schemas.microsoft.com/office/drawing/2014/main" id="{172FDA30-C0D3-4606-9064-8396C16FDEB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7178" y="1701800"/>
            <a:ext cx="11469462" cy="40322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i="1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pPr lvl="0"/>
            <a:endParaRPr lang="pt-BR" noProof="0" dirty="0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69879E64-C327-4AF5-B997-854E7F14EA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6289" y="648895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6B9C3-2AD9-4598-9BE7-E1014499EB9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641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60351"/>
            <a:ext cx="12192000" cy="863600"/>
          </a:xfrm>
          <a:prstGeom prst="rect">
            <a:avLst/>
          </a:prstGeom>
        </p:spPr>
        <p:txBody>
          <a:bodyPr/>
          <a:lstStyle>
            <a:lvl1pPr marL="364058" indent="0">
              <a:buNone/>
              <a:defRPr b="1" baseline="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1" y="5796589"/>
            <a:ext cx="5761567" cy="38404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>
              <a:defRPr sz="1867"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>
              <a:defRPr sz="1867"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>
              <a:defRPr sz="1867"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>
              <a:defRPr sz="1867"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7" name="Espaço Reservado para Imagem 6"/>
          <p:cNvSpPr>
            <a:spLocks noGrp="1"/>
          </p:cNvSpPr>
          <p:nvPr>
            <p:ph type="pic" sz="quarter" idx="13"/>
          </p:nvPr>
        </p:nvSpPr>
        <p:spPr>
          <a:xfrm>
            <a:off x="6096000" y="1701800"/>
            <a:ext cx="5760640" cy="40322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i="1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pPr lvl="0"/>
            <a:endParaRPr lang="pt-BR" noProof="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9C7962D-7744-4A36-AA22-6A1886676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88243" cy="3990289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543A187C-A320-44A1-B4BC-14957292FD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6289" y="648895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6B9C3-2AD9-4598-9BE7-E1014499EB9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231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5B076004-21DF-4D9F-A355-EF7CB1C97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60351"/>
            <a:ext cx="12192000" cy="863600"/>
          </a:xfrm>
          <a:prstGeom prst="rect">
            <a:avLst/>
          </a:prstGeom>
        </p:spPr>
        <p:txBody>
          <a:bodyPr/>
          <a:lstStyle>
            <a:lvl1pPr marL="364058" indent="0">
              <a:buNone/>
              <a:defRPr b="1" baseline="0">
                <a:solidFill>
                  <a:schemeClr val="bg1"/>
                </a:solidFill>
                <a:latin typeface="Trebuchet MS" pitchFamily="34" charset="0"/>
              </a:defRPr>
            </a:lvl1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5" name="Espaço Reservado para Texto 3">
            <a:extLst>
              <a:ext uri="{FF2B5EF4-FFF2-40B4-BE49-F238E27FC236}">
                <a16:creationId xmlns:a16="http://schemas.microsoft.com/office/drawing/2014/main" id="{01CF3EA7-8EC9-4EAF-B49C-0C28695786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261" y="5796589"/>
            <a:ext cx="11471308" cy="38404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>
              <a:defRPr sz="1867"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>
              <a:defRPr sz="1867"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>
              <a:defRPr sz="1867"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>
              <a:defRPr sz="1867"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6" name="Espaço Reservado para Imagem 6">
            <a:extLst>
              <a:ext uri="{FF2B5EF4-FFF2-40B4-BE49-F238E27FC236}">
                <a16:creationId xmlns:a16="http://schemas.microsoft.com/office/drawing/2014/main" id="{172FDA30-C0D3-4606-9064-8396C16FDEB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7178" y="1701800"/>
            <a:ext cx="11469462" cy="40322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i="1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pPr lvl="0"/>
            <a:endParaRPr lang="pt-BR" noProof="0" dirty="0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69879E64-C327-4AF5-B997-854E7F14EA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6289" y="648895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6B9C3-2AD9-4598-9BE7-E1014499EB9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399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>
            <a:extLst>
              <a:ext uri="{FF2B5EF4-FFF2-40B4-BE49-F238E27FC236}">
                <a16:creationId xmlns:a16="http://schemas.microsoft.com/office/drawing/2014/main" id="{FCEFC22E-C8EA-4BD0-B6CE-19BB7C96B5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00577" cy="6858000"/>
          </a:xfrm>
          <a:prstGeom prst="rect">
            <a:avLst/>
          </a:prstGeom>
        </p:spPr>
      </p:pic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1AB1F03-F52E-4F5D-9723-7DE2BC47A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C48460-59F3-4A16-8F63-40E1FFEAE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4AAFB1-4B09-4D88-96BE-F826D77974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9C6B46-3B21-44EE-A9BA-EB4838CF76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4A93FA-C643-4CA9-ABB1-C7F6C2BA73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609F7-AA20-4841-9A5D-8164C2A89E0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36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m 1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634" y="2961218"/>
            <a:ext cx="9592733" cy="1043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tângulo 15"/>
          <p:cNvSpPr/>
          <p:nvPr userDrawn="1"/>
        </p:nvSpPr>
        <p:spPr>
          <a:xfrm>
            <a:off x="2146300" y="1928285"/>
            <a:ext cx="7899400" cy="6138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7" name="Retângulo 16"/>
          <p:cNvSpPr/>
          <p:nvPr userDrawn="1"/>
        </p:nvSpPr>
        <p:spPr>
          <a:xfrm>
            <a:off x="2142067" y="4773085"/>
            <a:ext cx="7899400" cy="6138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3075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m 5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902" b="-8626"/>
          <a:stretch>
            <a:fillRect/>
          </a:stretch>
        </p:blipFill>
        <p:spPr bwMode="auto">
          <a:xfrm>
            <a:off x="10033001" y="6212840"/>
            <a:ext cx="1728047" cy="287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tângulo 2"/>
          <p:cNvSpPr/>
          <p:nvPr userDrawn="1"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4" name="Retângulo de cantos arredondados 3"/>
          <p:cNvSpPr/>
          <p:nvPr userDrawn="1"/>
        </p:nvSpPr>
        <p:spPr bwMode="auto">
          <a:xfrm>
            <a:off x="431800" y="1731433"/>
            <a:ext cx="11279717" cy="4193117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10B7B0D9-568C-41D2-87BC-577D87A0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6289" y="648895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6B9C3-2AD9-4598-9BE7-E1014499EB9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161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5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 userDrawn="1"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6" name="Retângulo de cantos arredondados 5"/>
          <p:cNvSpPr/>
          <p:nvPr userDrawn="1"/>
        </p:nvSpPr>
        <p:spPr bwMode="auto">
          <a:xfrm>
            <a:off x="527051" y="1540934"/>
            <a:ext cx="5376333" cy="4347633"/>
          </a:xfrm>
          <a:prstGeom prst="roundRect">
            <a:avLst>
              <a:gd name="adj" fmla="val 9404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pic>
        <p:nvPicPr>
          <p:cNvPr id="3074" name="Imagem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902" b="-8626"/>
          <a:stretch>
            <a:fillRect/>
          </a:stretch>
        </p:blipFill>
        <p:spPr bwMode="auto">
          <a:xfrm>
            <a:off x="10033001" y="6212840"/>
            <a:ext cx="1728047" cy="287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Espaço Reservado para Número de Slide 5">
            <a:extLst>
              <a:ext uri="{FF2B5EF4-FFF2-40B4-BE49-F238E27FC236}">
                <a16:creationId xmlns:a16="http://schemas.microsoft.com/office/drawing/2014/main" id="{427FC884-2B2C-446B-B3DD-46BDE253C8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6289" y="648895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6B9C3-2AD9-4598-9BE7-E1014499EB9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276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m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902" b="-8626"/>
          <a:stretch>
            <a:fillRect/>
          </a:stretch>
        </p:blipFill>
        <p:spPr bwMode="auto">
          <a:xfrm>
            <a:off x="10033001" y="6212840"/>
            <a:ext cx="1728047" cy="287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tângulo 2"/>
          <p:cNvSpPr/>
          <p:nvPr userDrawn="1"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BCC22A-09E8-4114-B12B-C7F4DD6DC0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76289" y="648895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6B9C3-2AD9-4598-9BE7-E1014499EB9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819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5pPr>
      <a:lvl6pPr marL="609585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6pPr>
      <a:lvl7pPr marL="1219170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7pPr>
      <a:lvl8pPr marL="1828754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8pPr>
      <a:lvl9pPr marL="2438339" algn="ctr" rtl="0" fontAlgn="base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pitchFamily="34" charset="0"/>
        </a:defRPr>
      </a:lvl9pPr>
    </p:titleStyle>
    <p:bodyStyle>
      <a:lvl1pPr marL="457189" indent="-457189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&amp;ehk=DWCISwiGNv7t7nZdq"/><Relationship Id="rId2" Type="http://schemas.openxmlformats.org/officeDocument/2006/relationships/image" Target="../media/image6.png&amp;ehk=MfEqL4e5qn9PndaZuNRi6w&amp;r=0&amp;pid=OfficeInsert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&amp;ehk=DWCISwiGNv7t7nZdq"/><Relationship Id="rId2" Type="http://schemas.openxmlformats.org/officeDocument/2006/relationships/image" Target="../media/image6.png&amp;ehk=MfEqL4e5qn9PndaZuNRi6w&amp;r=0&amp;pid=OfficeInsert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wmf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&amp;ehk=DWCISwiGNv7t7nZdq"/><Relationship Id="rId4" Type="http://schemas.openxmlformats.org/officeDocument/2006/relationships/image" Target="../media/image6.png&amp;ehk=MfEqL4e5qn9PndaZuNRi6w&amp;r=0&amp;pid=OfficeInsert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&amp;ehk=DWCISwiGNv7t7nZdq"/><Relationship Id="rId4" Type="http://schemas.openxmlformats.org/officeDocument/2006/relationships/image" Target="../media/image6.png&amp;ehk=MfEqL4e5qn9PndaZuNRi6w&amp;r=0&amp;pid=OfficeInsert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&amp;ehk=MfEqL4e5qn9PndaZuNRi6w&amp;r=0&amp;pid=OfficeInsert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&amp;ehk=DWCISwiGNv7t7nZdq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&amp;ehk=MfEqL4e5qn9PndaZuNRi6w&amp;r=0&amp;pid=OfficeInsert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&amp;ehk=DWCISwiGNv7t7nZdq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&amp;ehk=MfEqL4e5qn9PndaZuNRi6w&amp;r=0&amp;pid=OfficeInsert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&amp;ehk=DWCISwiGNv7t7nZdq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3342ED-0B9E-45BC-BB60-87D48BDCF9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Aula 2 - Criptografia</a:t>
            </a:r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61E3AB-6338-46B7-85EB-F35241ECEB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Prof. Henrique Batista da Silva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3D4647-29CD-47C0-A49F-3E66F7CA9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609F7-AA20-4841-9A5D-8164C2A89E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588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74DFBE36-73A7-43DD-9F32-D38A12B761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Introdução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8820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AC38EB79-FC6B-4777-B521-6C3392EC97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sz="4000" dirty="0"/>
              <a:t>Amigos e inimigos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01F36DC-A2BE-4107-85E4-B5F9D813F0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3</a:t>
            </a:fld>
            <a:endParaRPr lang="en-US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EB636E6-2579-487B-A226-F9385854BE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9200" y="2611636"/>
            <a:ext cx="865241" cy="86524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AA633C7-E599-4B7C-BE2E-A1B2635540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5463" y="2429479"/>
            <a:ext cx="1003612" cy="1003612"/>
          </a:xfrm>
          <a:prstGeom prst="rect">
            <a:avLst/>
          </a:prstGeom>
        </p:spPr>
      </p:pic>
      <p:sp>
        <p:nvSpPr>
          <p:cNvPr id="8" name="Rectangle 11">
            <a:extLst>
              <a:ext uri="{FF2B5EF4-FFF2-40B4-BE49-F238E27FC236}">
                <a16:creationId xmlns:a16="http://schemas.microsoft.com/office/drawing/2014/main" id="{B7F395BA-10BC-4FDE-BCFE-057EA0C6F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3718997"/>
            <a:ext cx="1293812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endParaRPr lang="pt-BR" altLang="pt-BR"/>
          </a:p>
        </p:txBody>
      </p:sp>
      <p:sp>
        <p:nvSpPr>
          <p:cNvPr id="9" name="Text Box 12">
            <a:extLst>
              <a:ext uri="{FF2B5EF4-FFF2-40B4-BE49-F238E27FC236}">
                <a16:creationId xmlns:a16="http://schemas.microsoft.com/office/drawing/2014/main" id="{0EA8A01E-2536-4D7E-87C3-785188B5C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7075" y="3780909"/>
            <a:ext cx="13081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800" dirty="0">
                <a:solidFill>
                  <a:schemeClr val="bg1"/>
                </a:solidFill>
              </a:rPr>
              <a:t>remetente</a:t>
            </a:r>
            <a:br>
              <a:rPr lang="pt-BR" altLang="pt-BR" sz="1800" dirty="0">
                <a:solidFill>
                  <a:schemeClr val="bg1"/>
                </a:solidFill>
              </a:rPr>
            </a:br>
            <a:r>
              <a:rPr lang="pt-BR" altLang="pt-BR" sz="1800" dirty="0">
                <a:solidFill>
                  <a:schemeClr val="bg1"/>
                </a:solidFill>
              </a:rPr>
              <a:t>seguro</a:t>
            </a: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EC7A4114-BA6A-4102-BD09-E4FA8FFE8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9763" y="3731697"/>
            <a:ext cx="1293812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endParaRPr lang="pt-BR" altLang="pt-BR"/>
          </a:p>
        </p:txBody>
      </p:sp>
      <p:sp>
        <p:nvSpPr>
          <p:cNvPr id="11" name="Text Box 14">
            <a:extLst>
              <a:ext uri="{FF2B5EF4-FFF2-40B4-BE49-F238E27FC236}">
                <a16:creationId xmlns:a16="http://schemas.microsoft.com/office/drawing/2014/main" id="{878045BC-0C68-4A58-B933-D72BAFC1A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4675" y="3780909"/>
            <a:ext cx="133826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600">
                <a:solidFill>
                  <a:schemeClr val="bg1"/>
                </a:solidFill>
              </a:rPr>
              <a:t>destinatário</a:t>
            </a:r>
            <a:br>
              <a:rPr lang="pt-BR" altLang="pt-BR" sz="1600">
                <a:solidFill>
                  <a:schemeClr val="bg1"/>
                </a:solidFill>
              </a:rPr>
            </a:br>
            <a:r>
              <a:rPr lang="pt-BR" altLang="pt-BR" sz="1600">
                <a:solidFill>
                  <a:schemeClr val="bg1"/>
                </a:solidFill>
              </a:rPr>
              <a:t>seguro</a:t>
            </a:r>
          </a:p>
        </p:txBody>
      </p:sp>
      <p:sp>
        <p:nvSpPr>
          <p:cNvPr id="12" name="Text Box 18">
            <a:extLst>
              <a:ext uri="{FF2B5EF4-FFF2-40B4-BE49-F238E27FC236}">
                <a16:creationId xmlns:a16="http://schemas.microsoft.com/office/drawing/2014/main" id="{21876524-3E11-478F-B1EF-1DB0C81AA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2438" y="2974459"/>
            <a:ext cx="777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/>
              <a:t>canal</a:t>
            </a:r>
          </a:p>
        </p:txBody>
      </p:sp>
      <p:sp>
        <p:nvSpPr>
          <p:cNvPr id="13" name="Line 19">
            <a:extLst>
              <a:ext uri="{FF2B5EF4-FFF2-40B4-BE49-F238E27FC236}">
                <a16:creationId xmlns:a16="http://schemas.microsoft.com/office/drawing/2014/main" id="{C06D1649-CB68-4EEA-84E1-87BC9B57894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8400" y="3396734"/>
            <a:ext cx="238125" cy="449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4" name="Rectangle 21">
            <a:extLst>
              <a:ext uri="{FF2B5EF4-FFF2-40B4-BE49-F238E27FC236}">
                <a16:creationId xmlns:a16="http://schemas.microsoft.com/office/drawing/2014/main" id="{93739791-D322-4FF3-A1DA-30FA276BE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8" y="3917434"/>
            <a:ext cx="2447925" cy="366713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endParaRPr lang="pt-BR" altLang="pt-BR"/>
          </a:p>
        </p:txBody>
      </p:sp>
      <p:sp>
        <p:nvSpPr>
          <p:cNvPr id="15" name="Line 17">
            <a:extLst>
              <a:ext uri="{FF2B5EF4-FFF2-40B4-BE49-F238E27FC236}">
                <a16:creationId xmlns:a16="http://schemas.microsoft.com/office/drawing/2014/main" id="{63422846-86B2-426A-A8B4-002F2FDDCA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84700" y="4130159"/>
            <a:ext cx="2460625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6" name="Text Box 23">
            <a:extLst>
              <a:ext uri="{FF2B5EF4-FFF2-40B4-BE49-F238E27FC236}">
                <a16:creationId xmlns:a16="http://schemas.microsoft.com/office/drawing/2014/main" id="{7246353D-72B8-418A-AD4D-A7A1CA31C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9895" y="2625804"/>
            <a:ext cx="220027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sz="1800" dirty="0"/>
              <a:t>Dados (cifrados), mensagens de controle</a:t>
            </a:r>
          </a:p>
        </p:txBody>
      </p:sp>
      <p:sp>
        <p:nvSpPr>
          <p:cNvPr id="17" name="Line 24">
            <a:extLst>
              <a:ext uri="{FF2B5EF4-FFF2-40B4-BE49-F238E27FC236}">
                <a16:creationId xmlns:a16="http://schemas.microsoft.com/office/drawing/2014/main" id="{FCE73C5F-1F8B-4E0D-99A7-6D51077274E8}"/>
              </a:ext>
            </a:extLst>
          </p:cNvPr>
          <p:cNvSpPr>
            <a:spLocks noChangeShapeType="1"/>
          </p:cNvSpPr>
          <p:nvPr/>
        </p:nvSpPr>
        <p:spPr bwMode="auto">
          <a:xfrm>
            <a:off x="6256338" y="3549134"/>
            <a:ext cx="223837" cy="517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" name="Freeform 25">
            <a:extLst>
              <a:ext uri="{FF2B5EF4-FFF2-40B4-BE49-F238E27FC236}">
                <a16:creationId xmlns:a16="http://schemas.microsoft.com/office/drawing/2014/main" id="{A0D18062-101E-4815-89C0-D805B091988F}"/>
              </a:ext>
            </a:extLst>
          </p:cNvPr>
          <p:cNvSpPr>
            <a:spLocks/>
          </p:cNvSpPr>
          <p:nvPr/>
        </p:nvSpPr>
        <p:spPr bwMode="auto">
          <a:xfrm>
            <a:off x="5064125" y="4169847"/>
            <a:ext cx="573088" cy="914400"/>
          </a:xfrm>
          <a:custGeom>
            <a:avLst/>
            <a:gdLst>
              <a:gd name="T0" fmla="*/ 0 w 344"/>
              <a:gd name="T1" fmla="*/ 0 h 789"/>
              <a:gd name="T2" fmla="*/ 2147483647 w 344"/>
              <a:gd name="T3" fmla="*/ 2147483647 h 789"/>
              <a:gd name="T4" fmla="*/ 2147483647 w 344"/>
              <a:gd name="T5" fmla="*/ 2147483647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9" name="Freeform 26">
            <a:extLst>
              <a:ext uri="{FF2B5EF4-FFF2-40B4-BE49-F238E27FC236}">
                <a16:creationId xmlns:a16="http://schemas.microsoft.com/office/drawing/2014/main" id="{20412E35-E900-4C15-B878-EB4ED45B7497}"/>
              </a:ext>
            </a:extLst>
          </p:cNvPr>
          <p:cNvSpPr>
            <a:spLocks/>
          </p:cNvSpPr>
          <p:nvPr/>
        </p:nvSpPr>
        <p:spPr bwMode="auto">
          <a:xfrm flipH="1">
            <a:off x="5738813" y="4168259"/>
            <a:ext cx="573087" cy="914400"/>
          </a:xfrm>
          <a:custGeom>
            <a:avLst/>
            <a:gdLst>
              <a:gd name="T0" fmla="*/ 0 w 344"/>
              <a:gd name="T1" fmla="*/ 0 h 789"/>
              <a:gd name="T2" fmla="*/ 2147483647 w 344"/>
              <a:gd name="T3" fmla="*/ 2147483647 h 789"/>
              <a:gd name="T4" fmla="*/ 2147483647 w 344"/>
              <a:gd name="T5" fmla="*/ 2147483647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" name="Line 27">
            <a:extLst>
              <a:ext uri="{FF2B5EF4-FFF2-40B4-BE49-F238E27FC236}">
                <a16:creationId xmlns:a16="http://schemas.microsoft.com/office/drawing/2014/main" id="{7E77E1F1-173C-4E69-AD7C-79AF4C95D8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89200" y="4099997"/>
            <a:ext cx="8143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1" name="Text Box 28">
            <a:extLst>
              <a:ext uri="{FF2B5EF4-FFF2-40B4-BE49-F238E27FC236}">
                <a16:creationId xmlns:a16="http://schemas.microsoft.com/office/drawing/2014/main" id="{50B2325F-7536-40A2-82DA-8B3050A34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75" y="3857109"/>
            <a:ext cx="869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/>
              <a:t>dados</a:t>
            </a:r>
          </a:p>
        </p:txBody>
      </p:sp>
      <p:sp>
        <p:nvSpPr>
          <p:cNvPr id="22" name="Line 29">
            <a:extLst>
              <a:ext uri="{FF2B5EF4-FFF2-40B4-BE49-F238E27FC236}">
                <a16:creationId xmlns:a16="http://schemas.microsoft.com/office/drawing/2014/main" id="{23053126-778F-430F-98D2-862E452B1B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96275" y="4069834"/>
            <a:ext cx="8143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3" name="Text Box 30">
            <a:extLst>
              <a:ext uri="{FF2B5EF4-FFF2-40B4-BE49-F238E27FC236}">
                <a16:creationId xmlns:a16="http://schemas.microsoft.com/office/drawing/2014/main" id="{87E18FF6-275F-44EB-AC6E-514F033CC5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3675" y="3799959"/>
            <a:ext cx="8699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/>
              <a:t>dados</a:t>
            </a:r>
          </a:p>
        </p:txBody>
      </p:sp>
      <p:sp>
        <p:nvSpPr>
          <p:cNvPr id="24" name="Text Box 31">
            <a:extLst>
              <a:ext uri="{FF2B5EF4-FFF2-40B4-BE49-F238E27FC236}">
                <a16:creationId xmlns:a16="http://schemas.microsoft.com/office/drawing/2014/main" id="{E1B943D1-652D-4021-B101-CC6FE9598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1350" y="2602984"/>
            <a:ext cx="781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>
                <a:solidFill>
                  <a:schemeClr val="accent2"/>
                </a:solidFill>
              </a:rPr>
              <a:t>Alice</a:t>
            </a:r>
          </a:p>
        </p:txBody>
      </p:sp>
      <p:sp>
        <p:nvSpPr>
          <p:cNvPr id="25" name="Text Box 32">
            <a:extLst>
              <a:ext uri="{FF2B5EF4-FFF2-40B4-BE49-F238E27FC236}">
                <a16:creationId xmlns:a16="http://schemas.microsoft.com/office/drawing/2014/main" id="{FB6569C6-0968-48CF-AAAD-03D5467B1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0475" y="2614097"/>
            <a:ext cx="628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>
                <a:solidFill>
                  <a:schemeClr val="accent2"/>
                </a:solidFill>
              </a:rPr>
              <a:t>Bob</a:t>
            </a:r>
          </a:p>
        </p:txBody>
      </p:sp>
      <p:sp>
        <p:nvSpPr>
          <p:cNvPr id="26" name="Text Box 33">
            <a:extLst>
              <a:ext uri="{FF2B5EF4-FFF2-40B4-BE49-F238E27FC236}">
                <a16:creationId xmlns:a16="http://schemas.microsoft.com/office/drawing/2014/main" id="{6F604BDA-3075-48A6-8AD6-9D82F1DD9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3875" y="5228709"/>
            <a:ext cx="892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>
                <a:solidFill>
                  <a:schemeClr val="accent2"/>
                </a:solidFill>
              </a:rPr>
              <a:t>Trudy</a:t>
            </a:r>
          </a:p>
        </p:txBody>
      </p:sp>
      <p:pic>
        <p:nvPicPr>
          <p:cNvPr id="27" name="Picture 9" descr="Eve">
            <a:extLst>
              <a:ext uri="{FF2B5EF4-FFF2-40B4-BE49-F238E27FC236}">
                <a16:creationId xmlns:a16="http://schemas.microsoft.com/office/drawing/2014/main" id="{6D186954-2B62-43D5-91C1-9D693E73F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58197" y="5163995"/>
            <a:ext cx="961232" cy="1151080"/>
          </a:xfrm>
          <a:prstGeom prst="rect">
            <a:avLst/>
          </a:prstGeom>
          <a:noFill/>
        </p:spPr>
      </p:pic>
      <p:sp>
        <p:nvSpPr>
          <p:cNvPr id="30" name="Retângulo 29">
            <a:extLst>
              <a:ext uri="{FF2B5EF4-FFF2-40B4-BE49-F238E27FC236}">
                <a16:creationId xmlns:a16="http://schemas.microsoft.com/office/drawing/2014/main" id="{B5E81E81-4211-4672-B91B-4BE8FAE7A83A}"/>
              </a:ext>
            </a:extLst>
          </p:cNvPr>
          <p:cNvSpPr/>
          <p:nvPr/>
        </p:nvSpPr>
        <p:spPr>
          <a:xfrm>
            <a:off x="67581" y="3280611"/>
            <a:ext cx="19238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Alice a remetente, que enviar dados a Bob o destinatário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F37692F0-5034-49C2-A68A-4FAC56949889}"/>
              </a:ext>
            </a:extLst>
          </p:cNvPr>
          <p:cNvSpPr/>
          <p:nvPr/>
        </p:nvSpPr>
        <p:spPr>
          <a:xfrm>
            <a:off x="67581" y="1705758"/>
            <a:ext cx="76192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400" dirty="0"/>
              <a:t>Bob, Alice (amigos!) querem se comunicar “com segurança”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B4763727-6AA3-4552-8CD6-0F283BA3B244}"/>
              </a:ext>
            </a:extLst>
          </p:cNvPr>
          <p:cNvSpPr/>
          <p:nvPr/>
        </p:nvSpPr>
        <p:spPr>
          <a:xfrm>
            <a:off x="6368256" y="5394506"/>
            <a:ext cx="32379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err="1"/>
              <a:t>Trudy</a:t>
            </a:r>
            <a:r>
              <a:rPr lang="pt-BR" dirty="0"/>
              <a:t> (intrusa) pode interceptar, excluir, acrescentar mensagens</a:t>
            </a:r>
          </a:p>
        </p:txBody>
      </p:sp>
    </p:spTree>
    <p:extLst>
      <p:ext uri="{BB962C8B-B14F-4D97-AF65-F5344CB8AC3E}">
        <p14:creationId xmlns:p14="http://schemas.microsoft.com/office/powerpoint/2010/main" val="3701166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E2EAE429-44BA-4410-98DE-4A0AC11D36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68952B6-4EF1-4280-A9D6-253687ACAC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Quem poderiam ser Bob e Alice?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E1ADA91-17D5-4CD7-8E3F-BEC773265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dirty="0"/>
              <a:t>Navegador Web/servidor de transações eletrônicas (ex. compras on-line)</a:t>
            </a:r>
          </a:p>
          <a:p>
            <a:pPr lvl="1"/>
            <a:r>
              <a:rPr lang="pt-BR" sz="2000" dirty="0"/>
              <a:t>Envolvendo cartões de crédito</a:t>
            </a:r>
          </a:p>
          <a:p>
            <a:r>
              <a:rPr lang="pt-BR" sz="2400" dirty="0"/>
              <a:t>cliente/servidor de “Internet banking”</a:t>
            </a:r>
          </a:p>
          <a:p>
            <a:r>
              <a:rPr lang="pt-BR" sz="2400" dirty="0"/>
              <a:t>servidores DNS</a:t>
            </a:r>
          </a:p>
          <a:p>
            <a:r>
              <a:rPr lang="pt-BR" sz="2400" dirty="0"/>
              <a:t>roteadores trocando atualizações da tabela de roteamento</a:t>
            </a:r>
          </a:p>
          <a:p>
            <a:endParaRPr lang="pt-BR" sz="24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CF2BD09-63EA-434B-991A-399F44A5CD60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4079083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26C85DF-F369-4EDB-BF71-E0894A4D27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5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E3FC631-2207-4326-9BB3-06130ED72B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Existem perversos lá fora!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7DBEA02-789B-41B9-AF69-6D51144CC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que um “perverso” pode fazer?</a:t>
            </a:r>
          </a:p>
          <a:p>
            <a:pPr lvl="1"/>
            <a:r>
              <a:rPr lang="pt-BR" dirty="0"/>
              <a:t>Resp.: Muita coisa! </a:t>
            </a:r>
          </a:p>
          <a:p>
            <a:pPr lvl="2"/>
            <a:r>
              <a:rPr lang="pt-BR" dirty="0"/>
              <a:t>bisbilhotar: interceptar mensagens</a:t>
            </a:r>
          </a:p>
          <a:p>
            <a:pPr lvl="2"/>
            <a:r>
              <a:rPr lang="pt-BR" dirty="0"/>
              <a:t>inserir ativamente mensagens na conexão</a:t>
            </a:r>
          </a:p>
          <a:p>
            <a:pPr lvl="2"/>
            <a:r>
              <a:rPr lang="pt-BR" dirty="0"/>
              <a:t>personificação: pode forjar (falsificar) endereço IP no pacote (ou qualquer campo no pacote)</a:t>
            </a:r>
          </a:p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0C0AE0A-C137-487E-BB38-348C6A95D428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68162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26C85DF-F369-4EDB-BF71-E0894A4D27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6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E3FC631-2207-4326-9BB3-06130ED72B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Existem perversos lá fora!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7DBEA02-789B-41B9-AF69-6D51144CC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que um “perverso” pode fazer?</a:t>
            </a:r>
          </a:p>
          <a:p>
            <a:pPr lvl="1"/>
            <a:r>
              <a:rPr lang="pt-BR" dirty="0"/>
              <a:t>Resp.: Muita coisa! (cont...) </a:t>
            </a:r>
          </a:p>
          <a:p>
            <a:pPr lvl="2"/>
            <a:r>
              <a:rPr lang="pt-BR" dirty="0"/>
              <a:t>sequestrar: “apoderar-se” da conexão em andamento removendo remetente ou destinatário, inserindo-se no local</a:t>
            </a:r>
          </a:p>
          <a:p>
            <a:pPr lvl="2"/>
            <a:r>
              <a:rPr lang="pt-BR" dirty="0"/>
              <a:t>negação de serviço: impedir que serviço seja usado por outros (p. e., sobrecarregando recursos)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812303E-7FCF-4269-B3DC-587D39145090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2926660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D2D0DFE4-0D35-4992-BBD7-ABE775117E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Criptografia</a:t>
            </a:r>
          </a:p>
        </p:txBody>
      </p:sp>
    </p:spTree>
    <p:extLst>
      <p:ext uri="{BB962C8B-B14F-4D97-AF65-F5344CB8AC3E}">
        <p14:creationId xmlns:p14="http://schemas.microsoft.com/office/powerpoint/2010/main" val="1935934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120A7429-D5EC-4E77-B6B6-47DDF68A76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8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D11DDC-E5F2-4FD8-97C6-FD2B93736A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Criptografia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6282EC1-3B67-4831-9EE3-4D0C01C41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/>
              <a:t>Técnicas permitem que um remetente “disfarce” dados da mensagem de modo que um intruso não consiga obter nenhuma informação dos dados interceptados. </a:t>
            </a:r>
          </a:p>
          <a:p>
            <a:r>
              <a:rPr lang="pt-BR" sz="2800" dirty="0"/>
              <a:t>Somente o destinatário deve conseguir recuperar os dados originais.</a:t>
            </a:r>
          </a:p>
          <a:p>
            <a:endParaRPr lang="pt-BR" sz="28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FC11A62-9246-43AF-9001-B68C8C2F7920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093734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13415AD3-940F-449C-B51B-AD13815907C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A linguagem da criptografia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83E6776-1C69-44D7-8BBA-15DA7A4FD4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9</a:t>
            </a:fld>
            <a:endParaRPr lang="en-US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2C96E8D-F434-4E73-B25F-F725C0BE0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844" y="2133843"/>
            <a:ext cx="865241" cy="86524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01FBA10-09F7-456B-99E4-A2814CED8F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2323" y="1983703"/>
            <a:ext cx="1003612" cy="1003612"/>
          </a:xfrm>
          <a:prstGeom prst="rect">
            <a:avLst/>
          </a:prstGeom>
        </p:spPr>
      </p:pic>
      <p:sp>
        <p:nvSpPr>
          <p:cNvPr id="24" name="Text Box 31">
            <a:extLst>
              <a:ext uri="{FF2B5EF4-FFF2-40B4-BE49-F238E27FC236}">
                <a16:creationId xmlns:a16="http://schemas.microsoft.com/office/drawing/2014/main" id="{670F4304-EE79-4BBB-99D8-B7CFC190E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7994" y="2125191"/>
            <a:ext cx="781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dirty="0">
                <a:solidFill>
                  <a:schemeClr val="accent2"/>
                </a:solidFill>
              </a:rPr>
              <a:t>Alice</a:t>
            </a:r>
          </a:p>
        </p:txBody>
      </p:sp>
      <p:sp>
        <p:nvSpPr>
          <p:cNvPr id="25" name="Text Box 32">
            <a:extLst>
              <a:ext uri="{FF2B5EF4-FFF2-40B4-BE49-F238E27FC236}">
                <a16:creationId xmlns:a16="http://schemas.microsoft.com/office/drawing/2014/main" id="{A6D60D6F-4A1C-4757-8D67-AC2E2D959E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46085" y="2002866"/>
            <a:ext cx="628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dirty="0">
                <a:solidFill>
                  <a:schemeClr val="accent2"/>
                </a:solidFill>
              </a:rPr>
              <a:t>Bob</a:t>
            </a:r>
          </a:p>
        </p:txBody>
      </p:sp>
      <p:sp>
        <p:nvSpPr>
          <p:cNvPr id="26" name="Text Box 33">
            <a:extLst>
              <a:ext uri="{FF2B5EF4-FFF2-40B4-BE49-F238E27FC236}">
                <a16:creationId xmlns:a16="http://schemas.microsoft.com/office/drawing/2014/main" id="{9FF0511D-2077-4CD0-BB4E-E346A5F19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0132" y="4714359"/>
            <a:ext cx="892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>
                <a:solidFill>
                  <a:schemeClr val="accent2"/>
                </a:solidFill>
              </a:rPr>
              <a:t>Trudy</a:t>
            </a:r>
          </a:p>
        </p:txBody>
      </p:sp>
      <p:pic>
        <p:nvPicPr>
          <p:cNvPr id="27" name="Picture 9" descr="Eve">
            <a:extLst>
              <a:ext uri="{FF2B5EF4-FFF2-40B4-BE49-F238E27FC236}">
                <a16:creationId xmlns:a16="http://schemas.microsoft.com/office/drawing/2014/main" id="{EDE42542-7AA6-47C1-BA03-A79928152B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34768" y="4714359"/>
            <a:ext cx="961232" cy="1151080"/>
          </a:xfrm>
          <a:prstGeom prst="rect">
            <a:avLst/>
          </a:prstGeom>
          <a:noFill/>
        </p:spPr>
      </p:pic>
      <p:sp>
        <p:nvSpPr>
          <p:cNvPr id="51" name="Text Box 5">
            <a:extLst>
              <a:ext uri="{FF2B5EF4-FFF2-40B4-BE49-F238E27FC236}">
                <a16:creationId xmlns:a16="http://schemas.microsoft.com/office/drawing/2014/main" id="{23ECE18D-58B7-44A4-9E3F-06220FEE0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8985" y="3365456"/>
            <a:ext cx="1716087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dirty="0">
                <a:solidFill>
                  <a:srgbClr val="FF0000"/>
                </a:solidFill>
              </a:rPr>
              <a:t>texto aberto</a:t>
            </a:r>
          </a:p>
        </p:txBody>
      </p:sp>
      <p:sp>
        <p:nvSpPr>
          <p:cNvPr id="52" name="Text Box 6">
            <a:extLst>
              <a:ext uri="{FF2B5EF4-FFF2-40B4-BE49-F238E27FC236}">
                <a16:creationId xmlns:a16="http://schemas.microsoft.com/office/drawing/2014/main" id="{4BEC7E17-65F8-4B3E-86B6-0D986AE1C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7285" y="3319419"/>
            <a:ext cx="1716087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>
                <a:solidFill>
                  <a:srgbClr val="FF0000"/>
                </a:solidFill>
              </a:rPr>
              <a:t>texto aberto</a:t>
            </a:r>
          </a:p>
        </p:txBody>
      </p:sp>
      <p:sp>
        <p:nvSpPr>
          <p:cNvPr id="53" name="Text Box 7">
            <a:extLst>
              <a:ext uri="{FF2B5EF4-FFF2-40B4-BE49-F238E27FC236}">
                <a16:creationId xmlns:a16="http://schemas.microsoft.com/office/drawing/2014/main" id="{00120A80-9ED1-4BCF-AFA7-311ECD270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4635" y="3327356"/>
            <a:ext cx="1785937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>
                <a:solidFill>
                  <a:srgbClr val="FF0000"/>
                </a:solidFill>
              </a:rPr>
              <a:t>texto cifrado</a:t>
            </a:r>
          </a:p>
        </p:txBody>
      </p:sp>
      <p:grpSp>
        <p:nvGrpSpPr>
          <p:cNvPr id="54" name="Group 8">
            <a:extLst>
              <a:ext uri="{FF2B5EF4-FFF2-40B4-BE49-F238E27FC236}">
                <a16:creationId xmlns:a16="http://schemas.microsoft.com/office/drawing/2014/main" id="{2F6CBA43-F5E5-4F8D-AA12-F0855624C9F9}"/>
              </a:ext>
            </a:extLst>
          </p:cNvPr>
          <p:cNvGrpSpPr>
            <a:grpSpLocks/>
          </p:cNvGrpSpPr>
          <p:nvPr/>
        </p:nvGrpSpPr>
        <p:grpSpPr bwMode="auto">
          <a:xfrm>
            <a:off x="3191272" y="2344694"/>
            <a:ext cx="522288" cy="608012"/>
            <a:chOff x="195" y="1789"/>
            <a:chExt cx="329" cy="383"/>
          </a:xfrm>
        </p:grpSpPr>
        <p:sp>
          <p:nvSpPr>
            <p:cNvPr id="55" name="Text Box 9">
              <a:extLst>
                <a:ext uri="{FF2B5EF4-FFF2-40B4-BE49-F238E27FC236}">
                  <a16:creationId xmlns:a16="http://schemas.microsoft.com/office/drawing/2014/main" id="{862AA3CD-0854-463B-8B3D-EA9035B006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" y="1789"/>
              <a:ext cx="233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2400">
                  <a:solidFill>
                    <a:srgbClr val="FF0000"/>
                  </a:solidFill>
                </a:rPr>
                <a:t>K</a:t>
              </a:r>
              <a:endParaRPr lang="pt-BR" altLang="pt-BR" sz="240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56" name="Text Box 10">
              <a:extLst>
                <a:ext uri="{FF2B5EF4-FFF2-40B4-BE49-F238E27FC236}">
                  <a16:creationId xmlns:a16="http://schemas.microsoft.com/office/drawing/2014/main" id="{9258EEC5-0C8C-4B5A-945D-C187B3A60A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" y="1922"/>
              <a:ext cx="2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>
                  <a:solidFill>
                    <a:srgbClr val="FF0000"/>
                  </a:solidFill>
                </a:rPr>
                <a:t>A</a:t>
              </a:r>
              <a:endParaRPr lang="pt-BR" altLang="pt-BR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57" name="Rectangle 13">
            <a:extLst>
              <a:ext uri="{FF2B5EF4-FFF2-40B4-BE49-F238E27FC236}">
                <a16:creationId xmlns:a16="http://schemas.microsoft.com/office/drawing/2014/main" id="{E2FDB74A-034A-4327-9EA8-E5E3C035B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3635" y="3273381"/>
            <a:ext cx="1392237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endParaRPr lang="pt-BR" altLang="pt-BR"/>
          </a:p>
        </p:txBody>
      </p:sp>
      <p:sp>
        <p:nvSpPr>
          <p:cNvPr id="58" name="Text Box 14">
            <a:extLst>
              <a:ext uri="{FF2B5EF4-FFF2-40B4-BE49-F238E27FC236}">
                <a16:creationId xmlns:a16="http://schemas.microsoft.com/office/drawing/2014/main" id="{4907133C-B92E-4ED0-9EFD-6895AB783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8235" y="3282906"/>
            <a:ext cx="14700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800">
                <a:solidFill>
                  <a:schemeClr val="bg1"/>
                </a:solidFill>
              </a:rPr>
              <a:t>algoritmo</a:t>
            </a:r>
            <a:br>
              <a:rPr lang="pt-BR" altLang="pt-BR" sz="1800">
                <a:solidFill>
                  <a:schemeClr val="bg1"/>
                </a:solidFill>
              </a:rPr>
            </a:br>
            <a:r>
              <a:rPr lang="pt-BR" altLang="pt-BR" sz="1800">
                <a:solidFill>
                  <a:schemeClr val="bg1"/>
                </a:solidFill>
              </a:rPr>
              <a:t>criptografia</a:t>
            </a:r>
          </a:p>
        </p:txBody>
      </p:sp>
      <p:sp>
        <p:nvSpPr>
          <p:cNvPr id="59" name="Rectangle 15">
            <a:extLst>
              <a:ext uri="{FF2B5EF4-FFF2-40B4-BE49-F238E27FC236}">
                <a16:creationId xmlns:a16="http://schemas.microsoft.com/office/drawing/2014/main" id="{1CCE649B-9A7B-4B80-B987-FCBBA972B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5372" y="3286081"/>
            <a:ext cx="1377950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endParaRPr lang="pt-BR" altLang="pt-BR"/>
          </a:p>
        </p:txBody>
      </p:sp>
      <p:sp>
        <p:nvSpPr>
          <p:cNvPr id="60" name="Text Box 16">
            <a:extLst>
              <a:ext uri="{FF2B5EF4-FFF2-40B4-BE49-F238E27FC236}">
                <a16:creationId xmlns:a16="http://schemas.microsoft.com/office/drawing/2014/main" id="{5D0AEC17-65A5-4AA3-8BBD-AFF8F24A8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5685" y="3319419"/>
            <a:ext cx="14382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800">
                <a:solidFill>
                  <a:schemeClr val="bg1"/>
                </a:solidFill>
              </a:rPr>
              <a:t>algoritmo</a:t>
            </a:r>
            <a:br>
              <a:rPr lang="pt-BR" altLang="pt-BR" sz="1800">
                <a:solidFill>
                  <a:schemeClr val="bg1"/>
                </a:solidFill>
              </a:rPr>
            </a:br>
            <a:r>
              <a:rPr lang="pt-BR" altLang="pt-BR" sz="1800">
                <a:solidFill>
                  <a:schemeClr val="bg1"/>
                </a:solidFill>
              </a:rPr>
              <a:t>decriptação</a:t>
            </a:r>
          </a:p>
        </p:txBody>
      </p:sp>
      <p:sp>
        <p:nvSpPr>
          <p:cNvPr id="61" name="Line 17">
            <a:extLst>
              <a:ext uri="{FF2B5EF4-FFF2-40B4-BE49-F238E27FC236}">
                <a16:creationId xmlns:a16="http://schemas.microsoft.com/office/drawing/2014/main" id="{6829F85D-44CE-4C68-A9BE-2E0C1F8390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4447" y="3686131"/>
            <a:ext cx="2301875" cy="79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2" name="Freeform 18">
            <a:extLst>
              <a:ext uri="{FF2B5EF4-FFF2-40B4-BE49-F238E27FC236}">
                <a16:creationId xmlns:a16="http://schemas.microsoft.com/office/drawing/2014/main" id="{DC2AA6CE-C0D5-4C31-A639-858105AF6CCD}"/>
              </a:ext>
            </a:extLst>
          </p:cNvPr>
          <p:cNvSpPr>
            <a:spLocks/>
          </p:cNvSpPr>
          <p:nvPr/>
        </p:nvSpPr>
        <p:spPr bwMode="auto">
          <a:xfrm>
            <a:off x="4943872" y="3738519"/>
            <a:ext cx="573088" cy="914400"/>
          </a:xfrm>
          <a:custGeom>
            <a:avLst/>
            <a:gdLst>
              <a:gd name="T0" fmla="*/ 0 w 344"/>
              <a:gd name="T1" fmla="*/ 0 h 789"/>
              <a:gd name="T2" fmla="*/ 2147483647 w 344"/>
              <a:gd name="T3" fmla="*/ 2147483647 h 789"/>
              <a:gd name="T4" fmla="*/ 2147483647 w 344"/>
              <a:gd name="T5" fmla="*/ 2147483647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3" name="Freeform 19">
            <a:extLst>
              <a:ext uri="{FF2B5EF4-FFF2-40B4-BE49-F238E27FC236}">
                <a16:creationId xmlns:a16="http://schemas.microsoft.com/office/drawing/2014/main" id="{A32B993A-5792-467B-A5CE-6CFEB4148EC2}"/>
              </a:ext>
            </a:extLst>
          </p:cNvPr>
          <p:cNvSpPr>
            <a:spLocks/>
          </p:cNvSpPr>
          <p:nvPr/>
        </p:nvSpPr>
        <p:spPr bwMode="auto">
          <a:xfrm flipH="1">
            <a:off x="5618560" y="3736931"/>
            <a:ext cx="573087" cy="914400"/>
          </a:xfrm>
          <a:custGeom>
            <a:avLst/>
            <a:gdLst>
              <a:gd name="T0" fmla="*/ 0 w 344"/>
              <a:gd name="T1" fmla="*/ 0 h 789"/>
              <a:gd name="T2" fmla="*/ 2147483647 w 344"/>
              <a:gd name="T3" fmla="*/ 2147483647 h 789"/>
              <a:gd name="T4" fmla="*/ 2147483647 w 344"/>
              <a:gd name="T5" fmla="*/ 2147483647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4" name="Line 20">
            <a:extLst>
              <a:ext uri="{FF2B5EF4-FFF2-40B4-BE49-F238E27FC236}">
                <a16:creationId xmlns:a16="http://schemas.microsoft.com/office/drawing/2014/main" id="{CB5CAFDA-4211-48C3-A366-11E24A7AB1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34160" y="2893969"/>
            <a:ext cx="1587" cy="392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5" name="Line 21">
            <a:extLst>
              <a:ext uri="{FF2B5EF4-FFF2-40B4-BE49-F238E27FC236}">
                <a16:creationId xmlns:a16="http://schemas.microsoft.com/office/drawing/2014/main" id="{EB1860D3-9948-4288-836E-A3423BC939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04447" y="2863806"/>
            <a:ext cx="1588" cy="3921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66" name="Text Box 22">
            <a:extLst>
              <a:ext uri="{FF2B5EF4-FFF2-40B4-BE49-F238E27FC236}">
                <a16:creationId xmlns:a16="http://schemas.microsoft.com/office/drawing/2014/main" id="{F7D99858-7F3D-4B28-99D3-AB1FE9D0D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610" y="2124031"/>
            <a:ext cx="1692275" cy="10064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/>
              <a:t>chave de criptografia</a:t>
            </a:r>
          </a:p>
          <a:p>
            <a:r>
              <a:rPr lang="pt-BR" altLang="pt-BR"/>
              <a:t>de Alice</a:t>
            </a:r>
          </a:p>
        </p:txBody>
      </p:sp>
      <p:grpSp>
        <p:nvGrpSpPr>
          <p:cNvPr id="67" name="Group 25">
            <a:extLst>
              <a:ext uri="{FF2B5EF4-FFF2-40B4-BE49-F238E27FC236}">
                <a16:creationId xmlns:a16="http://schemas.microsoft.com/office/drawing/2014/main" id="{E67F3D4F-08A8-4336-A636-6F4601B76B39}"/>
              </a:ext>
            </a:extLst>
          </p:cNvPr>
          <p:cNvGrpSpPr>
            <a:grpSpLocks/>
          </p:cNvGrpSpPr>
          <p:nvPr/>
        </p:nvGrpSpPr>
        <p:grpSpPr bwMode="auto">
          <a:xfrm>
            <a:off x="6864747" y="2474869"/>
            <a:ext cx="509588" cy="608012"/>
            <a:chOff x="195" y="1789"/>
            <a:chExt cx="321" cy="383"/>
          </a:xfrm>
        </p:grpSpPr>
        <p:sp>
          <p:nvSpPr>
            <p:cNvPr id="68" name="Text Box 26">
              <a:extLst>
                <a:ext uri="{FF2B5EF4-FFF2-40B4-BE49-F238E27FC236}">
                  <a16:creationId xmlns:a16="http://schemas.microsoft.com/office/drawing/2014/main" id="{F6485C07-D98F-4814-950A-B0037D5B71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" y="1789"/>
              <a:ext cx="233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2400">
                  <a:solidFill>
                    <a:srgbClr val="FF0000"/>
                  </a:solidFill>
                </a:rPr>
                <a:t>K</a:t>
              </a:r>
              <a:endParaRPr lang="pt-BR" altLang="pt-BR" sz="240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69" name="Text Box 27">
              <a:extLst>
                <a:ext uri="{FF2B5EF4-FFF2-40B4-BE49-F238E27FC236}">
                  <a16:creationId xmlns:a16="http://schemas.microsoft.com/office/drawing/2014/main" id="{D67953C9-4D38-4E5D-B9EF-59F8C036CD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" y="1922"/>
              <a:ext cx="2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>
                  <a:solidFill>
                    <a:srgbClr val="FF0000"/>
                  </a:solidFill>
                </a:rPr>
                <a:t>B</a:t>
              </a:r>
              <a:endParaRPr lang="pt-BR" altLang="pt-BR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70" name="Line 28">
            <a:extLst>
              <a:ext uri="{FF2B5EF4-FFF2-40B4-BE49-F238E27FC236}">
                <a16:creationId xmlns:a16="http://schemas.microsoft.com/office/drawing/2014/main" id="{7FFA8174-DC42-4322-83E2-07C780E6512C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9097" y="3711531"/>
            <a:ext cx="6746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1" name="Line 29">
            <a:extLst>
              <a:ext uri="{FF2B5EF4-FFF2-40B4-BE49-F238E27FC236}">
                <a16:creationId xmlns:a16="http://schemas.microsoft.com/office/drawing/2014/main" id="{52D3BA7E-1B7C-406C-9E3C-753684A99BDF}"/>
              </a:ext>
            </a:extLst>
          </p:cNvPr>
          <p:cNvSpPr>
            <a:spLocks noChangeShapeType="1"/>
          </p:cNvSpPr>
          <p:nvPr/>
        </p:nvSpPr>
        <p:spPr bwMode="auto">
          <a:xfrm>
            <a:off x="8233172" y="3722644"/>
            <a:ext cx="6746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72" name="Picture 30" descr="BS00768_[1]">
            <a:extLst>
              <a:ext uri="{FF2B5EF4-FFF2-40B4-BE49-F238E27FC236}">
                <a16:creationId xmlns:a16="http://schemas.microsoft.com/office/drawing/2014/main" id="{49C7784C-555F-40D8-9462-84DBB0BAEA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237310" y="2122444"/>
            <a:ext cx="465137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" name="Picture 31" descr="BS00768_[1]">
            <a:extLst>
              <a:ext uri="{FF2B5EF4-FFF2-40B4-BE49-F238E27FC236}">
                <a16:creationId xmlns:a16="http://schemas.microsoft.com/office/drawing/2014/main" id="{00E4A8BF-CCA4-4451-9ADB-02B7209F3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6815535" y="2216106"/>
            <a:ext cx="465137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" name="Text Box 23">
            <a:extLst>
              <a:ext uri="{FF2B5EF4-FFF2-40B4-BE49-F238E27FC236}">
                <a16:creationId xmlns:a16="http://schemas.microsoft.com/office/drawing/2014/main" id="{6AD3A0F1-2CDA-43FF-B97B-10126EE06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5747" y="2192294"/>
            <a:ext cx="1709738" cy="10064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/>
              <a:t>chave de</a:t>
            </a:r>
          </a:p>
          <a:p>
            <a:r>
              <a:rPr lang="pt-BR" altLang="pt-BR"/>
              <a:t>decriptação</a:t>
            </a:r>
            <a:br>
              <a:rPr lang="pt-BR" altLang="pt-BR"/>
            </a:br>
            <a:r>
              <a:rPr lang="pt-BR" altLang="pt-BR"/>
              <a:t>de Bob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A3BA28C6-F309-493B-8BD0-5F47DF33D59F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1226912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285FF3CE-3859-496B-803A-C18D92D12F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10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C77BC8-DA8C-4CBF-ACEB-A3DBCE7450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Tipos de criptografia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E4AFDCD-5B09-482D-9F7F-A7ABE2BFA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25912" cy="3990289"/>
          </a:xfrm>
        </p:spPr>
        <p:txBody>
          <a:bodyPr/>
          <a:lstStyle/>
          <a:p>
            <a:r>
              <a:rPr lang="pt-BR" sz="2800" dirty="0"/>
              <a:t>criptografia normalmente usa chaves:</a:t>
            </a:r>
          </a:p>
          <a:p>
            <a:pPr lvl="1"/>
            <a:r>
              <a:rPr lang="pt-BR" sz="2400" dirty="0"/>
              <a:t>algoritmo é conhecido de todos; somente </a:t>
            </a:r>
            <a:r>
              <a:rPr lang="pt-BR" sz="2400" u="sng" dirty="0"/>
              <a:t>chaves</a:t>
            </a:r>
            <a:r>
              <a:rPr lang="pt-BR" sz="2400" dirty="0"/>
              <a:t> são secretas</a:t>
            </a:r>
          </a:p>
          <a:p>
            <a:r>
              <a:rPr lang="pt-BR" sz="2800" dirty="0"/>
              <a:t>criptografia de chave pública </a:t>
            </a:r>
          </a:p>
          <a:p>
            <a:pPr lvl="1"/>
            <a:r>
              <a:rPr lang="pt-BR" sz="2400" dirty="0"/>
              <a:t>envolve o uso de duas chaves</a:t>
            </a:r>
          </a:p>
          <a:p>
            <a:r>
              <a:rPr lang="pt-BR" sz="2800" dirty="0"/>
              <a:t>criptografia de chave simétrica</a:t>
            </a:r>
          </a:p>
          <a:p>
            <a:pPr lvl="1"/>
            <a:r>
              <a:rPr lang="pt-BR" sz="2400" dirty="0"/>
              <a:t>envolve o uso de uma chave</a:t>
            </a:r>
          </a:p>
          <a:p>
            <a:endParaRPr lang="pt-BR" sz="28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6F1D056-FA20-424F-9B52-B0946A91C7A5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2001528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285FF3CE-3859-496B-803A-C18D92D12F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11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C77BC8-DA8C-4CBF-ACEB-A3DBCE7450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Cifra de César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BE4AFDCD-5B09-482D-9F7F-A7ABE2BFA4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sz="2800" dirty="0"/>
                  <a:t>Atribuído a Júlio César (Império Romano). Toma cada letra da mensagem do texto aberto e substituindo-a pela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sz="2800" dirty="0"/>
                  <a:t>-</a:t>
                </a:r>
                <a:r>
                  <a:rPr lang="pt-BR" sz="2800" dirty="0" err="1"/>
                  <a:t>ésima</a:t>
                </a:r>
                <a:r>
                  <a:rPr lang="pt-BR" sz="2800" dirty="0"/>
                  <a:t> letra sucessiva do alfabeto.</a:t>
                </a:r>
              </a:p>
              <a:p>
                <a:pPr lvl="1"/>
                <a:r>
                  <a:rPr lang="pt-BR" sz="2400" dirty="0"/>
                  <a:t>Ex.: se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3</m:t>
                    </m:r>
                  </m:oMath>
                </a14:m>
                <a:r>
                  <a:rPr lang="pt-BR" sz="2400" dirty="0"/>
                  <a:t>, então a letra ‘a’ no alfabeto aberto fica sendo ‘d’ no alfabeto cifrado. </a:t>
                </a:r>
              </a:p>
              <a:p>
                <a:pPr lvl="1"/>
                <a:r>
                  <a:rPr lang="pt-BR" sz="2400" dirty="0"/>
                  <a:t>‘b’ </a:t>
                </a:r>
                <a:r>
                  <a:rPr lang="pt-BR" sz="2400" dirty="0">
                    <a:sym typeface="Wingdings" panose="05000000000000000000" pitchFamily="2" charset="2"/>
                  </a:rPr>
                  <a:t></a:t>
                </a:r>
                <a:r>
                  <a:rPr lang="pt-BR" sz="2400" dirty="0"/>
                  <a:t> ‘e’, e assim por diante.</a:t>
                </a:r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BE4AFDCD-5B09-482D-9F7F-A7ABE2BFA4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r="-16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379926F2-31DC-4CA3-BC1B-642840F55001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1372927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285FF3CE-3859-496B-803A-C18D92D12F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12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C77BC8-DA8C-4CBF-ACEB-A3DBCE7450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Cifra de César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BE4AFDCD-5B09-482D-9F7F-A7ABE2BFA4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sz="2800" dirty="0"/>
                  <a:t>Neste caso, o valor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sz="2800" dirty="0"/>
                  <a:t> serve como a chave.</a:t>
                </a:r>
              </a:p>
              <a:p>
                <a:pPr lvl="1"/>
                <a:r>
                  <a:rPr lang="pt-BR" sz="2400" dirty="0"/>
                  <a:t>Ex.: a mensagem “bob, i </a:t>
                </a:r>
                <a:r>
                  <a:rPr lang="pt-BR" sz="2400" dirty="0" err="1"/>
                  <a:t>love</a:t>
                </a:r>
                <a:r>
                  <a:rPr lang="pt-BR" sz="2400" dirty="0"/>
                  <a:t> </a:t>
                </a:r>
                <a:r>
                  <a:rPr lang="pt-BR" sz="2400" dirty="0" err="1"/>
                  <a:t>you</a:t>
                </a:r>
                <a:r>
                  <a:rPr lang="pt-BR" sz="2400" dirty="0"/>
                  <a:t>”, se torna, “ere, l </a:t>
                </a:r>
                <a:r>
                  <a:rPr lang="pt-BR" sz="2400" dirty="0" err="1"/>
                  <a:t>oryh</a:t>
                </a:r>
                <a:r>
                  <a:rPr lang="pt-BR" sz="2400" dirty="0"/>
                  <a:t> </a:t>
                </a:r>
                <a:r>
                  <a:rPr lang="pt-BR" sz="2400" dirty="0" err="1"/>
                  <a:t>brx</a:t>
                </a:r>
                <a:r>
                  <a:rPr lang="pt-BR" sz="2400" dirty="0"/>
                  <a:t>”.</a:t>
                </a:r>
              </a:p>
              <a:p>
                <a:r>
                  <a:rPr lang="pt-BR" sz="2800" dirty="0"/>
                  <a:t>Não levaria muito tempo para ser quebrado, se soubesse que usava a cifra de césar, visto que há somente 26 valores possíveis para a chave. </a:t>
                </a:r>
              </a:p>
            </p:txBody>
          </p:sp>
        </mc:Choice>
        <mc:Fallback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BE4AFDCD-5B09-482D-9F7F-A7ABE2BFA4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E61F4411-7339-48C7-A276-81F7260B83C5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1900257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285FF3CE-3859-496B-803A-C18D92D12F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13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C77BC8-DA8C-4CBF-ACEB-A3DBCE7450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Cifra de César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E4AFDCD-5B09-482D-9F7F-A7ABE2BFA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/>
              <a:t>Demonstração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61F4411-7339-48C7-A276-81F7260B83C5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1852219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14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Cifra </a:t>
            </a:r>
            <a:r>
              <a:rPr lang="pt-BR" dirty="0" err="1"/>
              <a:t>monoalfabética</a:t>
            </a:r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66989" cy="3990289"/>
              </a:xfrm>
            </p:spPr>
            <p:txBody>
              <a:bodyPr/>
              <a:lstStyle/>
              <a:p>
                <a:r>
                  <a:rPr lang="pt-BR" sz="2800" dirty="0"/>
                  <a:t>Aprimoramento da cifra de César, que também substitui uma letra do alfabeto por outra.</a:t>
                </a:r>
              </a:p>
              <a:p>
                <a:r>
                  <a:rPr lang="pt-BR" sz="2800" dirty="0"/>
                  <a:t>Porém, ao invés de seguir um padrão regular (deslocar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pt-BR" sz="2800" dirty="0"/>
                  <a:t> letras), </a:t>
                </a:r>
                <a:r>
                  <a:rPr lang="pt-BR" sz="2800" b="1" dirty="0"/>
                  <a:t>qualquer letra pode ser substituída por qualquer outra</a:t>
                </a:r>
                <a:r>
                  <a:rPr lang="pt-BR" sz="2800" dirty="0"/>
                  <a:t>, desde que cada letra tenha apenas uma única letra substituta e vice-versa.</a:t>
                </a:r>
              </a:p>
              <a:p>
                <a:endParaRPr lang="pt-BR" sz="2800" dirty="0"/>
              </a:p>
            </p:txBody>
          </p:sp>
        </mc:Choice>
        <mc:Fallback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66989" cy="3990289"/>
              </a:xfrm>
              <a:blipFill>
                <a:blip r:embed="rId2"/>
                <a:stretch>
                  <a:fillRect l="-962" r="-1471" b="-27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E87B3A50-174B-4A12-BEBE-993F68E11773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1091737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15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Cifra </a:t>
            </a:r>
            <a:r>
              <a:rPr lang="pt-BR" dirty="0" err="1"/>
              <a:t>monoalfabética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274B4D-A5CF-4F8E-86FC-C9917C1F1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6989" cy="3990289"/>
          </a:xfrm>
        </p:spPr>
        <p:txBody>
          <a:bodyPr/>
          <a:lstStyle/>
          <a:p>
            <a:r>
              <a:rPr lang="pt-BR" sz="2800" dirty="0"/>
              <a:t>cifra de substituição: substituir uma coisa por outra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D3A885-D014-4DA9-8DD5-46372B134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0254" y="2668544"/>
            <a:ext cx="7669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2400" b="1" dirty="0">
                <a:latin typeface="Courier New" pitchFamily="49" charset="0"/>
              </a:rPr>
              <a:t>texto aberto:  </a:t>
            </a:r>
            <a:r>
              <a:rPr lang="pt-BR" altLang="pt-BR" sz="2400" b="1" noProof="1">
                <a:latin typeface="Courier New" pitchFamily="49" charset="0"/>
              </a:rPr>
              <a:t>abcdefghijklmnopqrstuvwxyz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0C03A9-F4E2-4B2E-99B7-1B1757105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742" y="3448006"/>
            <a:ext cx="7851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2400" b="1" dirty="0">
                <a:latin typeface="Courier New" pitchFamily="49" charset="0"/>
              </a:rPr>
              <a:t>texto cifrado:  </a:t>
            </a:r>
            <a:r>
              <a:rPr lang="pt-BR" altLang="pt-BR" sz="2400" b="1" noProof="1">
                <a:latin typeface="Courier New" pitchFamily="49" charset="0"/>
              </a:rPr>
              <a:t>mnbvcxzasdfghjklpoiuytrewq</a:t>
            </a:r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73B7D45B-722B-4F56-9313-F2826E1B5004}"/>
              </a:ext>
            </a:extLst>
          </p:cNvPr>
          <p:cNvSpPr>
            <a:spLocks noChangeShapeType="1"/>
          </p:cNvSpPr>
          <p:nvPr/>
        </p:nvSpPr>
        <p:spPr bwMode="auto">
          <a:xfrm>
            <a:off x="6042367" y="3078119"/>
            <a:ext cx="0" cy="49371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8D0DF017-84D3-4C30-BED7-E1C1FEC7831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15954" y="3041606"/>
            <a:ext cx="0" cy="49371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7D1B9F-6BEB-413A-8F9C-FCAA1E7A6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6404" y="4219531"/>
            <a:ext cx="675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2400" b="1">
                <a:latin typeface="Courier New" pitchFamily="49" charset="0"/>
              </a:rPr>
              <a:t>texto aberto: bob. i love you. alice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3AB672-9BAE-4BA9-AD1C-BD47F05C0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0829" y="4644981"/>
            <a:ext cx="6938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2400" b="1">
                <a:latin typeface="Courier New" pitchFamily="49" charset="0"/>
              </a:rPr>
              <a:t>texto cifrado: nkn. s gktc wky. mgsbc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65C29C44-7518-4E94-AFA8-142C40C98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3000" y="4154444"/>
            <a:ext cx="6880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2400" u="sng" dirty="0">
                <a:solidFill>
                  <a:schemeClr val="accent2"/>
                </a:solidFill>
                <a:latin typeface="Times New Roman" pitchFamily="18" charset="0"/>
              </a:rPr>
              <a:t>Ex.:</a:t>
            </a:r>
            <a:endParaRPr lang="pt-BR" altLang="pt-BR" sz="2400" u="sng" dirty="0">
              <a:latin typeface="Times New Roman" pitchFamily="18" charset="0"/>
            </a:endParaRP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8A1560CB-445F-40CD-8A2B-9109390D5B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018" y="5356026"/>
            <a:ext cx="107959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u="sng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Segredo:</a:t>
            </a:r>
            <a:r>
              <a:rPr lang="pt-BR" altLang="pt-BR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 mapeamento do conjunto de 26 a outro conjunto de 26 letras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1CDA467-53CA-4CCA-9477-E62ED7F326C4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2755777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D9D6CB08-1407-4A99-9611-923D91135D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dirty="0"/>
              <a:t>Cifra </a:t>
            </a:r>
            <a:r>
              <a:rPr lang="pt-BR" dirty="0" err="1"/>
              <a:t>monoalfabética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4FA2E0B-04E4-4653-8AC9-3D5608A82E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81C85B8D-E1D2-4B42-AA90-80D1B1B8DF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5103" y="3105595"/>
            <a:ext cx="1716087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dirty="0">
                <a:solidFill>
                  <a:srgbClr val="FF0000"/>
                </a:solidFill>
              </a:rPr>
              <a:t>texto aberto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CE7CEE74-A5BC-4275-9B87-CF7B354E2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3403" y="3059558"/>
            <a:ext cx="1716087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>
                <a:solidFill>
                  <a:srgbClr val="FF0000"/>
                </a:solidFill>
              </a:rPr>
              <a:t>texto aberto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C7EE10BE-5828-40ED-ABB1-7DB911733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0753" y="3067495"/>
            <a:ext cx="1785937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>
                <a:solidFill>
                  <a:srgbClr val="FF0000"/>
                </a:solidFill>
              </a:rPr>
              <a:t>texto cifrado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9EEA22-D0DA-4F6B-9CA1-D409869E7A77}"/>
              </a:ext>
            </a:extLst>
          </p:cNvPr>
          <p:cNvGrpSpPr>
            <a:grpSpLocks/>
          </p:cNvGrpSpPr>
          <p:nvPr/>
        </p:nvGrpSpPr>
        <p:grpSpPr bwMode="auto">
          <a:xfrm>
            <a:off x="3287390" y="2084833"/>
            <a:ext cx="522288" cy="608012"/>
            <a:chOff x="195" y="1789"/>
            <a:chExt cx="329" cy="383"/>
          </a:xfrm>
        </p:grpSpPr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BD83750A-6907-4A67-9B8D-AEB3338B9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" y="1789"/>
              <a:ext cx="233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2400">
                  <a:solidFill>
                    <a:srgbClr val="FF0000"/>
                  </a:solidFill>
                </a:rPr>
                <a:t>K</a:t>
              </a:r>
              <a:endParaRPr lang="pt-BR" altLang="pt-BR" sz="240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FD2156FD-BB37-4873-893C-F7BC021BFA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" y="1922"/>
              <a:ext cx="2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>
                  <a:solidFill>
                    <a:srgbClr val="FF0000"/>
                  </a:solidFill>
                </a:rPr>
                <a:t>A</a:t>
              </a:r>
              <a:endParaRPr lang="pt-BR" altLang="pt-BR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</p:grpSp>
      <p:pic>
        <p:nvPicPr>
          <p:cNvPr id="13" name="Picture 12" descr="Eve">
            <a:extLst>
              <a:ext uri="{FF2B5EF4-FFF2-40B4-BE49-F238E27FC236}">
                <a16:creationId xmlns:a16="http://schemas.microsoft.com/office/drawing/2014/main" id="{44358C94-6FD3-4DBD-863E-5D56F5EB7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728" y="3877120"/>
            <a:ext cx="10826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4836C30-C23B-4EE6-A9B1-D241292B6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9753" y="3013520"/>
            <a:ext cx="1392237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endParaRPr lang="pt-BR" altLang="pt-BR"/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49C2AA91-2398-407B-99B5-4E823D4F7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4353" y="3023045"/>
            <a:ext cx="14700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800">
                <a:solidFill>
                  <a:schemeClr val="bg1"/>
                </a:solidFill>
              </a:rPr>
              <a:t>algoritmo</a:t>
            </a:r>
            <a:br>
              <a:rPr lang="pt-BR" altLang="pt-BR" sz="1800">
                <a:solidFill>
                  <a:schemeClr val="bg1"/>
                </a:solidFill>
              </a:rPr>
            </a:br>
            <a:r>
              <a:rPr lang="pt-BR" altLang="pt-BR" sz="1800">
                <a:solidFill>
                  <a:schemeClr val="bg1"/>
                </a:solidFill>
              </a:rPr>
              <a:t>criptografia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3E7B27-3C86-4118-A4F9-94FAC025B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1490" y="3026220"/>
            <a:ext cx="1377950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endParaRPr lang="pt-BR" altLang="pt-BR"/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549A0C57-6C48-4D8D-B8E9-79497B5FE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1803" y="3059558"/>
            <a:ext cx="14382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800">
                <a:solidFill>
                  <a:schemeClr val="bg1"/>
                </a:solidFill>
              </a:rPr>
              <a:t>algoritmo</a:t>
            </a:r>
            <a:br>
              <a:rPr lang="pt-BR" altLang="pt-BR" sz="1800">
                <a:solidFill>
                  <a:schemeClr val="bg1"/>
                </a:solidFill>
              </a:rPr>
            </a:br>
            <a:r>
              <a:rPr lang="pt-BR" altLang="pt-BR" sz="1800">
                <a:solidFill>
                  <a:schemeClr val="bg1"/>
                </a:solidFill>
              </a:rPr>
              <a:t>decriptação</a:t>
            </a:r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3B79EA59-9A3E-4264-869F-CDA3F56144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60565" y="3426270"/>
            <a:ext cx="2301875" cy="79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6A88A423-75DC-4F2A-AC27-B70F7E3B57ED}"/>
              </a:ext>
            </a:extLst>
          </p:cNvPr>
          <p:cNvSpPr>
            <a:spLocks/>
          </p:cNvSpPr>
          <p:nvPr/>
        </p:nvSpPr>
        <p:spPr bwMode="auto">
          <a:xfrm>
            <a:off x="5039990" y="3478658"/>
            <a:ext cx="573088" cy="914400"/>
          </a:xfrm>
          <a:custGeom>
            <a:avLst/>
            <a:gdLst>
              <a:gd name="T0" fmla="*/ 0 w 344"/>
              <a:gd name="T1" fmla="*/ 0 h 789"/>
              <a:gd name="T2" fmla="*/ 2147483647 w 344"/>
              <a:gd name="T3" fmla="*/ 2147483647 h 789"/>
              <a:gd name="T4" fmla="*/ 2147483647 w 344"/>
              <a:gd name="T5" fmla="*/ 2147483647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F18B9F54-B1E5-4390-BFB4-1782DF202BF1}"/>
              </a:ext>
            </a:extLst>
          </p:cNvPr>
          <p:cNvSpPr>
            <a:spLocks/>
          </p:cNvSpPr>
          <p:nvPr/>
        </p:nvSpPr>
        <p:spPr bwMode="auto">
          <a:xfrm flipH="1">
            <a:off x="5714678" y="3477070"/>
            <a:ext cx="573087" cy="914400"/>
          </a:xfrm>
          <a:custGeom>
            <a:avLst/>
            <a:gdLst>
              <a:gd name="T0" fmla="*/ 0 w 344"/>
              <a:gd name="T1" fmla="*/ 0 h 789"/>
              <a:gd name="T2" fmla="*/ 2147483647 w 344"/>
              <a:gd name="T3" fmla="*/ 2147483647 h 789"/>
              <a:gd name="T4" fmla="*/ 2147483647 w 344"/>
              <a:gd name="T5" fmla="*/ 2147483647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6856539C-BF35-4918-9C51-E7C549E023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30278" y="2634108"/>
            <a:ext cx="1587" cy="392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D07C7D6D-BF82-49F3-8F3A-87B6F0EE8A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00565" y="2603945"/>
            <a:ext cx="1588" cy="3921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3" name="Text Box 22">
            <a:extLst>
              <a:ext uri="{FF2B5EF4-FFF2-40B4-BE49-F238E27FC236}">
                <a16:creationId xmlns:a16="http://schemas.microsoft.com/office/drawing/2014/main" id="{E18D57E3-B9BE-44E4-8192-A8D4F17EB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1728" y="1864170"/>
            <a:ext cx="1692275" cy="10064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/>
              <a:t>chave de criptografia</a:t>
            </a:r>
          </a:p>
          <a:p>
            <a:r>
              <a:rPr lang="pt-BR" altLang="pt-BR"/>
              <a:t>de Alice</a:t>
            </a:r>
          </a:p>
        </p:txBody>
      </p:sp>
      <p:grpSp>
        <p:nvGrpSpPr>
          <p:cNvPr id="24" name="Group 25">
            <a:extLst>
              <a:ext uri="{FF2B5EF4-FFF2-40B4-BE49-F238E27FC236}">
                <a16:creationId xmlns:a16="http://schemas.microsoft.com/office/drawing/2014/main" id="{D4C9C403-5341-43CB-B395-3121035AF965}"/>
              </a:ext>
            </a:extLst>
          </p:cNvPr>
          <p:cNvGrpSpPr>
            <a:grpSpLocks/>
          </p:cNvGrpSpPr>
          <p:nvPr/>
        </p:nvGrpSpPr>
        <p:grpSpPr bwMode="auto">
          <a:xfrm>
            <a:off x="6960865" y="2215008"/>
            <a:ext cx="509588" cy="608012"/>
            <a:chOff x="195" y="1789"/>
            <a:chExt cx="321" cy="383"/>
          </a:xfrm>
        </p:grpSpPr>
        <p:sp>
          <p:nvSpPr>
            <p:cNvPr id="25" name="Text Box 26">
              <a:extLst>
                <a:ext uri="{FF2B5EF4-FFF2-40B4-BE49-F238E27FC236}">
                  <a16:creationId xmlns:a16="http://schemas.microsoft.com/office/drawing/2014/main" id="{88875B1E-B2D6-46ED-8ABF-E2AFA1EDC1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" y="1789"/>
              <a:ext cx="233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2400">
                  <a:solidFill>
                    <a:srgbClr val="FF0000"/>
                  </a:solidFill>
                </a:rPr>
                <a:t>K</a:t>
              </a:r>
              <a:endParaRPr lang="pt-BR" altLang="pt-BR" sz="240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26" name="Text Box 27">
              <a:extLst>
                <a:ext uri="{FF2B5EF4-FFF2-40B4-BE49-F238E27FC236}">
                  <a16:creationId xmlns:a16="http://schemas.microsoft.com/office/drawing/2014/main" id="{2BEBBCF8-9652-4200-97C8-DC313AF520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" y="1922"/>
              <a:ext cx="2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>
                  <a:solidFill>
                    <a:srgbClr val="FF0000"/>
                  </a:solidFill>
                </a:rPr>
                <a:t>B</a:t>
              </a:r>
              <a:endParaRPr lang="pt-BR" altLang="pt-BR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27" name="Line 28">
            <a:extLst>
              <a:ext uri="{FF2B5EF4-FFF2-40B4-BE49-F238E27FC236}">
                <a16:creationId xmlns:a16="http://schemas.microsoft.com/office/drawing/2014/main" id="{065DCD11-9BF5-4D4A-B1F9-24B2A81A1D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5215" y="3451670"/>
            <a:ext cx="6746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06426AAA-FF47-413D-8426-03BF9FADFDB8}"/>
              </a:ext>
            </a:extLst>
          </p:cNvPr>
          <p:cNvSpPr>
            <a:spLocks noChangeShapeType="1"/>
          </p:cNvSpPr>
          <p:nvPr/>
        </p:nvSpPr>
        <p:spPr bwMode="auto">
          <a:xfrm>
            <a:off x="8329290" y="3462783"/>
            <a:ext cx="6746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29" name="Picture 30" descr="BS00768_[1]">
            <a:extLst>
              <a:ext uri="{FF2B5EF4-FFF2-40B4-BE49-F238E27FC236}">
                <a16:creationId xmlns:a16="http://schemas.microsoft.com/office/drawing/2014/main" id="{DE1621C9-3B53-452C-9775-334130784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333428" y="1862583"/>
            <a:ext cx="465137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31" descr="BS00768_[1]">
            <a:extLst>
              <a:ext uri="{FF2B5EF4-FFF2-40B4-BE49-F238E27FC236}">
                <a16:creationId xmlns:a16="http://schemas.microsoft.com/office/drawing/2014/main" id="{BCFB4BD7-DA33-4230-8D72-08DE8D3B9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6911653" y="1956245"/>
            <a:ext cx="465137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 Box 23">
            <a:extLst>
              <a:ext uri="{FF2B5EF4-FFF2-40B4-BE49-F238E27FC236}">
                <a16:creationId xmlns:a16="http://schemas.microsoft.com/office/drawing/2014/main" id="{3914B936-3969-485C-9085-FD2E31979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1865" y="1932433"/>
            <a:ext cx="1709738" cy="10064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/>
              <a:t>chave de</a:t>
            </a:r>
          </a:p>
          <a:p>
            <a:r>
              <a:rPr lang="pt-BR" altLang="pt-BR"/>
              <a:t>decriptação</a:t>
            </a:r>
            <a:br>
              <a:rPr lang="pt-BR" altLang="pt-BR"/>
            </a:br>
            <a:r>
              <a:rPr lang="pt-BR" altLang="pt-BR"/>
              <a:t>de Bob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EC9C721D-D6EC-4F86-91BC-A3825883D26E}"/>
              </a:ext>
            </a:extLst>
          </p:cNvPr>
          <p:cNvSpPr txBox="1"/>
          <p:nvPr/>
        </p:nvSpPr>
        <p:spPr>
          <a:xfrm>
            <a:off x="1567111" y="3673126"/>
            <a:ext cx="15027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b="1" noProof="1">
                <a:latin typeface="Courier New" pitchFamily="49" charset="0"/>
              </a:rPr>
              <a:t>abcdefghijklmnopqrstuvwxyz</a:t>
            </a:r>
            <a:endParaRPr lang="pt-BR" dirty="0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D40F02FC-B5F4-4094-B6D3-C4FF300C7E5B}"/>
              </a:ext>
            </a:extLst>
          </p:cNvPr>
          <p:cNvSpPr txBox="1"/>
          <p:nvPr/>
        </p:nvSpPr>
        <p:spPr>
          <a:xfrm>
            <a:off x="8623895" y="3673126"/>
            <a:ext cx="15027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b="1" noProof="1">
                <a:latin typeface="Courier New" pitchFamily="49" charset="0"/>
              </a:rPr>
              <a:t>abcdefghijklmnopqrstuvwxyz</a:t>
            </a:r>
            <a:endParaRPr lang="pt-BR" dirty="0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05FD693F-ED51-4797-AF31-3AED73804493}"/>
              </a:ext>
            </a:extLst>
          </p:cNvPr>
          <p:cNvSpPr txBox="1"/>
          <p:nvPr/>
        </p:nvSpPr>
        <p:spPr>
          <a:xfrm>
            <a:off x="4230937" y="4843359"/>
            <a:ext cx="15027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b="1" noProof="1">
                <a:latin typeface="Courier New" pitchFamily="49" charset="0"/>
              </a:rPr>
              <a:t>mnbvcxzasdfghjklpoiuytrewq</a:t>
            </a:r>
            <a:endParaRPr lang="pt-BR" dirty="0"/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A981D08E-67E0-472B-BE2C-1D0ABEEA57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844" y="2133843"/>
            <a:ext cx="865241" cy="865241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8D1960AC-4A1E-4A79-894A-F03DD712C3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2323" y="1983703"/>
            <a:ext cx="1003612" cy="1003612"/>
          </a:xfrm>
          <a:prstGeom prst="rect">
            <a:avLst/>
          </a:prstGeom>
        </p:spPr>
      </p:pic>
      <p:sp>
        <p:nvSpPr>
          <p:cNvPr id="38" name="Text Box 31">
            <a:extLst>
              <a:ext uri="{FF2B5EF4-FFF2-40B4-BE49-F238E27FC236}">
                <a16:creationId xmlns:a16="http://schemas.microsoft.com/office/drawing/2014/main" id="{3C9996DF-80CD-40D7-96F2-836E69527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7994" y="2125191"/>
            <a:ext cx="781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dirty="0">
                <a:solidFill>
                  <a:schemeClr val="accent2"/>
                </a:solidFill>
              </a:rPr>
              <a:t>Alice</a:t>
            </a:r>
          </a:p>
        </p:txBody>
      </p:sp>
      <p:sp>
        <p:nvSpPr>
          <p:cNvPr id="39" name="Text Box 32">
            <a:extLst>
              <a:ext uri="{FF2B5EF4-FFF2-40B4-BE49-F238E27FC236}">
                <a16:creationId xmlns:a16="http://schemas.microsoft.com/office/drawing/2014/main" id="{98E37A97-E8CA-449F-B460-578BA76BB4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46085" y="2002866"/>
            <a:ext cx="628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dirty="0">
                <a:solidFill>
                  <a:schemeClr val="accent2"/>
                </a:solidFill>
              </a:rPr>
              <a:t>Bob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5B397B30-3DD7-4322-B577-55CC9BDDE227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8574304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17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Cifra </a:t>
            </a:r>
            <a:r>
              <a:rPr lang="pt-BR" altLang="pt-BR" sz="4400" dirty="0" err="1"/>
              <a:t>monoalfabética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274B4D-A5CF-4F8E-86FC-C9917C1F1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6989" cy="3990289"/>
          </a:xfrm>
        </p:spPr>
        <p:txBody>
          <a:bodyPr/>
          <a:lstStyle/>
          <a:p>
            <a:r>
              <a:rPr lang="pt-BR" sz="2800" dirty="0"/>
              <a:t>Parece melhor que a cifra de césar, pois agora temos 26! possíveis pares de letras, em vez de 25 pares possíveis.</a:t>
            </a:r>
          </a:p>
          <a:p>
            <a:r>
              <a:rPr lang="pt-BR" sz="2800" dirty="0"/>
              <a:t>Uma abordagem força bruta, que experimente todos os 1026 pares possíveis levaria muito tempo, sendo inviável a quebra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636EAB7-E10C-4C14-8EA0-49C71FA94C73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1737124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18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Cifra </a:t>
            </a:r>
            <a:r>
              <a:rPr lang="pt-BR" altLang="pt-BR" sz="4400" dirty="0" err="1"/>
              <a:t>monoalfabética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274B4D-A5CF-4F8E-86FC-C9917C1F1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6989" cy="3990289"/>
          </a:xfrm>
        </p:spPr>
        <p:txBody>
          <a:bodyPr/>
          <a:lstStyle/>
          <a:p>
            <a:r>
              <a:rPr lang="pt-BR" sz="2400" dirty="0"/>
              <a:t>No entanto, pode haver uma forma de quebrar (diminuir as possibilidades a serem executadas pelo força-bruta), sabendo que:</a:t>
            </a:r>
          </a:p>
          <a:p>
            <a:pPr lvl="1"/>
            <a:r>
              <a:rPr lang="pt-BR" sz="2000" dirty="0"/>
              <a:t>as letras ‘e’ e ‘t’ são as mais frequentes no inglês, </a:t>
            </a:r>
          </a:p>
          <a:p>
            <a:pPr lvl="1"/>
            <a:r>
              <a:rPr lang="pt-BR" sz="2000" dirty="0"/>
              <a:t>e que determinados grupos de palavras aparecem com frequência (‘</a:t>
            </a:r>
            <a:r>
              <a:rPr lang="pt-BR" sz="2000" dirty="0" err="1"/>
              <a:t>the</a:t>
            </a:r>
            <a:r>
              <a:rPr lang="pt-BR" sz="2000" dirty="0"/>
              <a:t>’, ‘in’, ‘it’, ...)</a:t>
            </a:r>
          </a:p>
          <a:p>
            <a:pPr lvl="1"/>
            <a:r>
              <a:rPr lang="pt-BR" sz="2000" dirty="0"/>
              <a:t>tendo informações sobre o texto (</a:t>
            </a:r>
            <a:r>
              <a:rPr lang="pt-BR" sz="2000" dirty="0" err="1"/>
              <a:t>ex</a:t>
            </a:r>
            <a:r>
              <a:rPr lang="pt-BR" sz="2000" dirty="0"/>
              <a:t>: </a:t>
            </a:r>
            <a:r>
              <a:rPr lang="pt-BR" sz="2000" dirty="0" err="1"/>
              <a:t>alice</a:t>
            </a:r>
            <a:r>
              <a:rPr lang="pt-BR" sz="2000" dirty="0"/>
              <a:t> e bob aparece no texto).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0F5C614-1709-4BB8-9833-BC18FA5D12E7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685708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19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Quebrando um esquema de criptografia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274B4D-A5CF-4F8E-86FC-C9917C1F1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6989" cy="3990289"/>
          </a:xfrm>
        </p:spPr>
        <p:txBody>
          <a:bodyPr/>
          <a:lstStyle/>
          <a:p>
            <a:r>
              <a:rPr lang="pt-BR" sz="2400" dirty="0"/>
              <a:t>Ataque apenas a </a:t>
            </a:r>
            <a:r>
              <a:rPr lang="pt-BR" sz="2400" b="1" dirty="0"/>
              <a:t>texto cifrado</a:t>
            </a:r>
            <a:r>
              <a:rPr lang="pt-BR" sz="2400" dirty="0"/>
              <a:t>: </a:t>
            </a:r>
            <a:r>
              <a:rPr lang="pt-BR" sz="2400" dirty="0" err="1"/>
              <a:t>Trudy</a:t>
            </a:r>
            <a:r>
              <a:rPr lang="pt-BR" sz="2400" dirty="0"/>
              <a:t> tem o texto cifrado que ela pode analisar.</a:t>
            </a:r>
          </a:p>
          <a:p>
            <a:r>
              <a:rPr lang="pt-BR" sz="2400" dirty="0"/>
              <a:t>Duas técnicas:</a:t>
            </a:r>
          </a:p>
          <a:p>
            <a:pPr lvl="1"/>
            <a:r>
              <a:rPr lang="pt-BR" sz="2000" dirty="0"/>
              <a:t>Procura por todas as chaves: deve ser capaz de diferenciar texto aberto resultante do texto sem sentido (força-bruta)</a:t>
            </a:r>
          </a:p>
          <a:p>
            <a:pPr lvl="1"/>
            <a:r>
              <a:rPr lang="pt-BR" sz="2000" dirty="0"/>
              <a:t>Análise estatística (como vimos antes)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D85E5BE-4A59-4652-A1EA-C92B55C69997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2803114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D9D6CB08-1407-4A99-9611-923D91135D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Quebrando um esquema de criptografia</a:t>
            </a:r>
            <a:endParaRPr lang="pt-BR" sz="4400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4FA2E0B-04E4-4653-8AC9-3D5608A82E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20</a:t>
            </a:fld>
            <a:endParaRPr lang="en-US" dirty="0"/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81C85B8D-E1D2-4B42-AA90-80D1B1B8DF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5103" y="3105595"/>
            <a:ext cx="1716087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dirty="0">
                <a:solidFill>
                  <a:srgbClr val="FF0000"/>
                </a:solidFill>
              </a:rPr>
              <a:t>texto aberto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CE7CEE74-A5BC-4275-9B87-CF7B354E2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3403" y="3059558"/>
            <a:ext cx="1716087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>
                <a:solidFill>
                  <a:srgbClr val="FF0000"/>
                </a:solidFill>
              </a:rPr>
              <a:t>texto aberto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C7EE10BE-5828-40ED-ABB1-7DB911733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0753" y="3067495"/>
            <a:ext cx="1785937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>
                <a:solidFill>
                  <a:srgbClr val="FF0000"/>
                </a:solidFill>
              </a:rPr>
              <a:t>texto cifrado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9EEA22-D0DA-4F6B-9CA1-D409869E7A77}"/>
              </a:ext>
            </a:extLst>
          </p:cNvPr>
          <p:cNvGrpSpPr>
            <a:grpSpLocks/>
          </p:cNvGrpSpPr>
          <p:nvPr/>
        </p:nvGrpSpPr>
        <p:grpSpPr bwMode="auto">
          <a:xfrm>
            <a:off x="3287390" y="2084833"/>
            <a:ext cx="522288" cy="608012"/>
            <a:chOff x="195" y="1789"/>
            <a:chExt cx="329" cy="383"/>
          </a:xfrm>
        </p:grpSpPr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BD83750A-6907-4A67-9B8D-AEB3338B9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" y="1789"/>
              <a:ext cx="233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2400">
                  <a:solidFill>
                    <a:srgbClr val="FF0000"/>
                  </a:solidFill>
                </a:rPr>
                <a:t>K</a:t>
              </a:r>
              <a:endParaRPr lang="pt-BR" altLang="pt-BR" sz="240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FD2156FD-BB37-4873-893C-F7BC021BFA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" y="1922"/>
              <a:ext cx="23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>
                  <a:solidFill>
                    <a:srgbClr val="FF0000"/>
                  </a:solidFill>
                </a:rPr>
                <a:t>A</a:t>
              </a:r>
              <a:endParaRPr lang="pt-BR" altLang="pt-BR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</p:grpSp>
      <p:pic>
        <p:nvPicPr>
          <p:cNvPr id="13" name="Picture 12" descr="Eve">
            <a:extLst>
              <a:ext uri="{FF2B5EF4-FFF2-40B4-BE49-F238E27FC236}">
                <a16:creationId xmlns:a16="http://schemas.microsoft.com/office/drawing/2014/main" id="{44358C94-6FD3-4DBD-863E-5D56F5EB7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728" y="3877120"/>
            <a:ext cx="10826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4836C30-C23B-4EE6-A9B1-D241292B6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9753" y="3013520"/>
            <a:ext cx="1392237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endParaRPr lang="pt-BR" altLang="pt-BR"/>
          </a:p>
        </p:txBody>
      </p:sp>
      <p:sp>
        <p:nvSpPr>
          <p:cNvPr id="15" name="Text Box 14">
            <a:extLst>
              <a:ext uri="{FF2B5EF4-FFF2-40B4-BE49-F238E27FC236}">
                <a16:creationId xmlns:a16="http://schemas.microsoft.com/office/drawing/2014/main" id="{49C2AA91-2398-407B-99B5-4E823D4F7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4353" y="3023045"/>
            <a:ext cx="14700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800">
                <a:solidFill>
                  <a:schemeClr val="bg1"/>
                </a:solidFill>
              </a:rPr>
              <a:t>algoritmo</a:t>
            </a:r>
            <a:br>
              <a:rPr lang="pt-BR" altLang="pt-BR" sz="1800">
                <a:solidFill>
                  <a:schemeClr val="bg1"/>
                </a:solidFill>
              </a:rPr>
            </a:br>
            <a:r>
              <a:rPr lang="pt-BR" altLang="pt-BR" sz="1800">
                <a:solidFill>
                  <a:schemeClr val="bg1"/>
                </a:solidFill>
              </a:rPr>
              <a:t>criptografia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3E7B27-3C86-4118-A4F9-94FAC025B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1490" y="3026220"/>
            <a:ext cx="1377950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endParaRPr lang="pt-BR" altLang="pt-BR"/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549A0C57-6C48-4D8D-B8E9-79497B5FE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1803" y="3059558"/>
            <a:ext cx="14382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800">
                <a:solidFill>
                  <a:schemeClr val="bg1"/>
                </a:solidFill>
              </a:rPr>
              <a:t>algoritmo</a:t>
            </a:r>
            <a:br>
              <a:rPr lang="pt-BR" altLang="pt-BR" sz="1800">
                <a:solidFill>
                  <a:schemeClr val="bg1"/>
                </a:solidFill>
              </a:rPr>
            </a:br>
            <a:r>
              <a:rPr lang="pt-BR" altLang="pt-BR" sz="1800">
                <a:solidFill>
                  <a:schemeClr val="bg1"/>
                </a:solidFill>
              </a:rPr>
              <a:t>decriptação</a:t>
            </a:r>
          </a:p>
        </p:txBody>
      </p:sp>
      <p:sp>
        <p:nvSpPr>
          <p:cNvPr id="18" name="Line 17">
            <a:extLst>
              <a:ext uri="{FF2B5EF4-FFF2-40B4-BE49-F238E27FC236}">
                <a16:creationId xmlns:a16="http://schemas.microsoft.com/office/drawing/2014/main" id="{3B79EA59-9A3E-4264-869F-CDA3F56144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60565" y="3426270"/>
            <a:ext cx="2301875" cy="79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6A88A423-75DC-4F2A-AC27-B70F7E3B57ED}"/>
              </a:ext>
            </a:extLst>
          </p:cNvPr>
          <p:cNvSpPr>
            <a:spLocks/>
          </p:cNvSpPr>
          <p:nvPr/>
        </p:nvSpPr>
        <p:spPr bwMode="auto">
          <a:xfrm>
            <a:off x="5039990" y="3478658"/>
            <a:ext cx="573088" cy="914400"/>
          </a:xfrm>
          <a:custGeom>
            <a:avLst/>
            <a:gdLst>
              <a:gd name="T0" fmla="*/ 0 w 344"/>
              <a:gd name="T1" fmla="*/ 0 h 789"/>
              <a:gd name="T2" fmla="*/ 2147483647 w 344"/>
              <a:gd name="T3" fmla="*/ 2147483647 h 789"/>
              <a:gd name="T4" fmla="*/ 2147483647 w 344"/>
              <a:gd name="T5" fmla="*/ 2147483647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F18B9F54-B1E5-4390-BFB4-1782DF202BF1}"/>
              </a:ext>
            </a:extLst>
          </p:cNvPr>
          <p:cNvSpPr>
            <a:spLocks/>
          </p:cNvSpPr>
          <p:nvPr/>
        </p:nvSpPr>
        <p:spPr bwMode="auto">
          <a:xfrm flipH="1">
            <a:off x="5714678" y="3477070"/>
            <a:ext cx="573087" cy="914400"/>
          </a:xfrm>
          <a:custGeom>
            <a:avLst/>
            <a:gdLst>
              <a:gd name="T0" fmla="*/ 0 w 344"/>
              <a:gd name="T1" fmla="*/ 0 h 789"/>
              <a:gd name="T2" fmla="*/ 2147483647 w 344"/>
              <a:gd name="T3" fmla="*/ 2147483647 h 789"/>
              <a:gd name="T4" fmla="*/ 2147483647 w 344"/>
              <a:gd name="T5" fmla="*/ 2147483647 h 789"/>
              <a:gd name="T6" fmla="*/ 0 60000 65536"/>
              <a:gd name="T7" fmla="*/ 0 60000 65536"/>
              <a:gd name="T8" fmla="*/ 0 60000 65536"/>
              <a:gd name="T9" fmla="*/ 0 w 344"/>
              <a:gd name="T10" fmla="*/ 0 h 789"/>
              <a:gd name="T11" fmla="*/ 344 w 344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4" h="789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1" name="Line 20">
            <a:extLst>
              <a:ext uri="{FF2B5EF4-FFF2-40B4-BE49-F238E27FC236}">
                <a16:creationId xmlns:a16="http://schemas.microsoft.com/office/drawing/2014/main" id="{6856539C-BF35-4918-9C51-E7C549E0237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30278" y="2634108"/>
            <a:ext cx="1587" cy="392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2" name="Line 21">
            <a:extLst>
              <a:ext uri="{FF2B5EF4-FFF2-40B4-BE49-F238E27FC236}">
                <a16:creationId xmlns:a16="http://schemas.microsoft.com/office/drawing/2014/main" id="{D07C7D6D-BF82-49F3-8F3A-87B6F0EE8A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00565" y="2603945"/>
            <a:ext cx="1588" cy="3921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3" name="Text Box 22">
            <a:extLst>
              <a:ext uri="{FF2B5EF4-FFF2-40B4-BE49-F238E27FC236}">
                <a16:creationId xmlns:a16="http://schemas.microsoft.com/office/drawing/2014/main" id="{E18D57E3-B9BE-44E4-8192-A8D4F17EB2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1728" y="1864170"/>
            <a:ext cx="1692275" cy="10064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/>
              <a:t>chave de criptografia</a:t>
            </a:r>
          </a:p>
          <a:p>
            <a:r>
              <a:rPr lang="pt-BR" altLang="pt-BR"/>
              <a:t>de Alice</a:t>
            </a:r>
          </a:p>
        </p:txBody>
      </p:sp>
      <p:grpSp>
        <p:nvGrpSpPr>
          <p:cNvPr id="24" name="Group 25">
            <a:extLst>
              <a:ext uri="{FF2B5EF4-FFF2-40B4-BE49-F238E27FC236}">
                <a16:creationId xmlns:a16="http://schemas.microsoft.com/office/drawing/2014/main" id="{D4C9C403-5341-43CB-B395-3121035AF965}"/>
              </a:ext>
            </a:extLst>
          </p:cNvPr>
          <p:cNvGrpSpPr>
            <a:grpSpLocks/>
          </p:cNvGrpSpPr>
          <p:nvPr/>
        </p:nvGrpSpPr>
        <p:grpSpPr bwMode="auto">
          <a:xfrm>
            <a:off x="6960865" y="2215008"/>
            <a:ext cx="509588" cy="608012"/>
            <a:chOff x="195" y="1789"/>
            <a:chExt cx="321" cy="383"/>
          </a:xfrm>
        </p:grpSpPr>
        <p:sp>
          <p:nvSpPr>
            <p:cNvPr id="25" name="Text Box 26">
              <a:extLst>
                <a:ext uri="{FF2B5EF4-FFF2-40B4-BE49-F238E27FC236}">
                  <a16:creationId xmlns:a16="http://schemas.microsoft.com/office/drawing/2014/main" id="{88875B1E-B2D6-46ED-8ABF-E2AFA1EDC1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" y="1789"/>
              <a:ext cx="233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2400">
                  <a:solidFill>
                    <a:srgbClr val="FF0000"/>
                  </a:solidFill>
                </a:rPr>
                <a:t>K</a:t>
              </a:r>
              <a:endParaRPr lang="pt-BR" altLang="pt-BR" sz="240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26" name="Text Box 27">
              <a:extLst>
                <a:ext uri="{FF2B5EF4-FFF2-40B4-BE49-F238E27FC236}">
                  <a16:creationId xmlns:a16="http://schemas.microsoft.com/office/drawing/2014/main" id="{2BEBBCF8-9652-4200-97C8-DC313AF520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" y="1922"/>
              <a:ext cx="2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>
                  <a:solidFill>
                    <a:srgbClr val="FF0000"/>
                  </a:solidFill>
                </a:rPr>
                <a:t>B</a:t>
              </a:r>
              <a:endParaRPr lang="pt-BR" altLang="pt-BR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27" name="Line 28">
            <a:extLst>
              <a:ext uri="{FF2B5EF4-FFF2-40B4-BE49-F238E27FC236}">
                <a16:creationId xmlns:a16="http://schemas.microsoft.com/office/drawing/2014/main" id="{065DCD11-9BF5-4D4A-B1F9-24B2A81A1D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5215" y="3451670"/>
            <a:ext cx="6746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06426AAA-FF47-413D-8426-03BF9FADFDB8}"/>
              </a:ext>
            </a:extLst>
          </p:cNvPr>
          <p:cNvSpPr>
            <a:spLocks noChangeShapeType="1"/>
          </p:cNvSpPr>
          <p:nvPr/>
        </p:nvSpPr>
        <p:spPr bwMode="auto">
          <a:xfrm>
            <a:off x="8329290" y="3462783"/>
            <a:ext cx="6746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29" name="Picture 30" descr="BS00768_[1]">
            <a:extLst>
              <a:ext uri="{FF2B5EF4-FFF2-40B4-BE49-F238E27FC236}">
                <a16:creationId xmlns:a16="http://schemas.microsoft.com/office/drawing/2014/main" id="{DE1621C9-3B53-452C-9775-334130784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333428" y="1862583"/>
            <a:ext cx="465137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31" descr="BS00768_[1]">
            <a:extLst>
              <a:ext uri="{FF2B5EF4-FFF2-40B4-BE49-F238E27FC236}">
                <a16:creationId xmlns:a16="http://schemas.microsoft.com/office/drawing/2014/main" id="{BCFB4BD7-DA33-4230-8D72-08DE8D3B9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6911653" y="1956245"/>
            <a:ext cx="465137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 Box 23">
            <a:extLst>
              <a:ext uri="{FF2B5EF4-FFF2-40B4-BE49-F238E27FC236}">
                <a16:creationId xmlns:a16="http://schemas.microsoft.com/office/drawing/2014/main" id="{3914B936-3969-485C-9085-FD2E31979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1865" y="1932433"/>
            <a:ext cx="1709738" cy="10064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/>
              <a:t>chave de</a:t>
            </a:r>
          </a:p>
          <a:p>
            <a:r>
              <a:rPr lang="pt-BR" altLang="pt-BR"/>
              <a:t>decriptação</a:t>
            </a:r>
            <a:br>
              <a:rPr lang="pt-BR" altLang="pt-BR"/>
            </a:br>
            <a:r>
              <a:rPr lang="pt-BR" altLang="pt-BR"/>
              <a:t>de Bob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EC9C721D-D6EC-4F86-91BC-A3825883D26E}"/>
              </a:ext>
            </a:extLst>
          </p:cNvPr>
          <p:cNvSpPr txBox="1"/>
          <p:nvPr/>
        </p:nvSpPr>
        <p:spPr>
          <a:xfrm>
            <a:off x="1567111" y="3673126"/>
            <a:ext cx="15027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b="1" noProof="1">
                <a:latin typeface="Courier New" pitchFamily="49" charset="0"/>
              </a:rPr>
              <a:t>abcdefghijklmnopqrstuvwxyz</a:t>
            </a:r>
            <a:endParaRPr lang="pt-BR" dirty="0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D40F02FC-B5F4-4094-B6D3-C4FF300C7E5B}"/>
              </a:ext>
            </a:extLst>
          </p:cNvPr>
          <p:cNvSpPr txBox="1"/>
          <p:nvPr/>
        </p:nvSpPr>
        <p:spPr>
          <a:xfrm>
            <a:off x="8623895" y="3673126"/>
            <a:ext cx="15027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b="1" noProof="1">
                <a:latin typeface="Courier New" pitchFamily="49" charset="0"/>
              </a:rPr>
              <a:t>abcdefghijklmnopqrstuvwxyz</a:t>
            </a:r>
            <a:endParaRPr lang="pt-BR" dirty="0"/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A981D08E-67E0-472B-BE2C-1D0ABEEA57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844" y="2133843"/>
            <a:ext cx="865241" cy="865241"/>
          </a:xfrm>
          <a:prstGeom prst="rect">
            <a:avLst/>
          </a:prstGeom>
        </p:spPr>
      </p:pic>
      <p:pic>
        <p:nvPicPr>
          <p:cNvPr id="37" name="Imagem 36">
            <a:extLst>
              <a:ext uri="{FF2B5EF4-FFF2-40B4-BE49-F238E27FC236}">
                <a16:creationId xmlns:a16="http://schemas.microsoft.com/office/drawing/2014/main" id="{8D1960AC-4A1E-4A79-894A-F03DD712C3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2323" y="1983703"/>
            <a:ext cx="1003612" cy="1003612"/>
          </a:xfrm>
          <a:prstGeom prst="rect">
            <a:avLst/>
          </a:prstGeom>
        </p:spPr>
      </p:pic>
      <p:sp>
        <p:nvSpPr>
          <p:cNvPr id="38" name="Text Box 31">
            <a:extLst>
              <a:ext uri="{FF2B5EF4-FFF2-40B4-BE49-F238E27FC236}">
                <a16:creationId xmlns:a16="http://schemas.microsoft.com/office/drawing/2014/main" id="{3C9996DF-80CD-40D7-96F2-836E69527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7994" y="2125191"/>
            <a:ext cx="781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dirty="0">
                <a:solidFill>
                  <a:schemeClr val="accent2"/>
                </a:solidFill>
              </a:rPr>
              <a:t>Alice</a:t>
            </a:r>
          </a:p>
        </p:txBody>
      </p:sp>
      <p:sp>
        <p:nvSpPr>
          <p:cNvPr id="39" name="Text Box 32">
            <a:extLst>
              <a:ext uri="{FF2B5EF4-FFF2-40B4-BE49-F238E27FC236}">
                <a16:creationId xmlns:a16="http://schemas.microsoft.com/office/drawing/2014/main" id="{98E37A97-E8CA-449F-B460-578BA76BB4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46085" y="2002866"/>
            <a:ext cx="628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dirty="0">
                <a:solidFill>
                  <a:schemeClr val="accent2"/>
                </a:solidFill>
              </a:rPr>
              <a:t>Bob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5AAA8FE-4D13-4BB0-A971-2E3A612E0DFA}"/>
              </a:ext>
            </a:extLst>
          </p:cNvPr>
          <p:cNvSpPr txBox="1"/>
          <p:nvPr/>
        </p:nvSpPr>
        <p:spPr>
          <a:xfrm>
            <a:off x="4230937" y="4846060"/>
            <a:ext cx="1502791" cy="92333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altLang="pt-BR" b="1" noProof="1">
                <a:latin typeface="Courier New" pitchFamily="49" charset="0"/>
              </a:rPr>
              <a:t>mnbvcxzasdfghjklpoiuytrewq</a:t>
            </a:r>
            <a:endParaRPr lang="pt-BR" dirty="0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90A21FE3-0033-4B73-9029-07C6BCAB2C81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781746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21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Quebrando um esquema de criptografia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274B4D-A5CF-4F8E-86FC-C9917C1F1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6989" cy="3990289"/>
          </a:xfrm>
        </p:spPr>
        <p:txBody>
          <a:bodyPr/>
          <a:lstStyle/>
          <a:p>
            <a:r>
              <a:rPr lang="pt-BR" sz="2800" dirty="0"/>
              <a:t>Ataque de </a:t>
            </a:r>
            <a:r>
              <a:rPr lang="pt-BR" sz="2800" b="1" dirty="0"/>
              <a:t>texto aberto </a:t>
            </a:r>
            <a:r>
              <a:rPr lang="pt-BR" sz="2800" dirty="0"/>
              <a:t>conhecido: </a:t>
            </a:r>
            <a:r>
              <a:rPr lang="pt-BR" sz="2800" dirty="0" err="1"/>
              <a:t>Trudy</a:t>
            </a:r>
            <a:r>
              <a:rPr lang="pt-BR" sz="2800" dirty="0"/>
              <a:t> tem algum texto aberto correspondente a algum texto cifrado.</a:t>
            </a:r>
          </a:p>
          <a:p>
            <a:pPr lvl="1"/>
            <a:r>
              <a:rPr lang="pt-BR" sz="2400" dirty="0"/>
              <a:t>ex.: na cifra </a:t>
            </a:r>
            <a:r>
              <a:rPr lang="pt-BR" sz="2400" dirty="0" err="1"/>
              <a:t>monoalfabética</a:t>
            </a:r>
            <a:r>
              <a:rPr lang="pt-BR" sz="2400" dirty="0"/>
              <a:t>, </a:t>
            </a:r>
            <a:r>
              <a:rPr lang="pt-BR" sz="2400" dirty="0" err="1"/>
              <a:t>Trudy</a:t>
            </a:r>
            <a:r>
              <a:rPr lang="pt-BR" sz="2400" dirty="0"/>
              <a:t> determina pares para a, l, i, c, e, b, o</a:t>
            </a:r>
          </a:p>
          <a:p>
            <a:r>
              <a:rPr lang="pt-BR" sz="2800" dirty="0"/>
              <a:t>Ataque de texto aberto escolhido: </a:t>
            </a:r>
            <a:r>
              <a:rPr lang="pt-BR" sz="2800" dirty="0" err="1"/>
              <a:t>Trudy</a:t>
            </a:r>
            <a:r>
              <a:rPr lang="pt-BR" sz="2800" dirty="0"/>
              <a:t> pode conseguir o texto cifrado para algum texto aberto escolhido.</a:t>
            </a:r>
          </a:p>
          <a:p>
            <a:endParaRPr lang="pt-BR" sz="24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0FA4343-AC73-49FD-B4A7-5C77E140B62A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17081625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22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Criptografia </a:t>
            </a:r>
            <a:r>
              <a:rPr lang="pt-BR" altLang="pt-BR" sz="4400" dirty="0" err="1"/>
              <a:t>polialfabética</a:t>
            </a:r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66989" cy="3990289"/>
              </a:xfrm>
            </p:spPr>
            <p:txBody>
              <a:bodyPr/>
              <a:lstStyle/>
              <a:p>
                <a:r>
                  <a:rPr lang="pt-BR" sz="2800" dirty="0"/>
                  <a:t>A ideia é usar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> cifras </a:t>
                </a:r>
                <a:r>
                  <a:rPr lang="pt-BR" sz="2800" dirty="0" err="1"/>
                  <a:t>monoalfabéticas</a:t>
                </a:r>
                <a:r>
                  <a:rPr lang="pt-BR" sz="2800" dirty="0"/>
                  <a:t> com uma cifra </a:t>
                </a:r>
                <a:r>
                  <a:rPr lang="pt-BR" sz="2800" dirty="0" err="1"/>
                  <a:t>monoalfabética</a:t>
                </a:r>
                <a:r>
                  <a:rPr lang="pt-BR" sz="2800" dirty="0"/>
                  <a:t> específica para codificar uma letra.</a:t>
                </a:r>
              </a:p>
              <a:p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> cifras </a:t>
                </a:r>
                <a:r>
                  <a:rPr lang="pt-BR" sz="2800" dirty="0" err="1"/>
                  <a:t>monoalfabéticas</a:t>
                </a:r>
                <a:r>
                  <a:rPr lang="pt-BR" sz="2800" dirty="0"/>
                  <a:t>, M</a:t>
                </a:r>
                <a:r>
                  <a:rPr lang="pt-BR" sz="2800" baseline="-25000" dirty="0"/>
                  <a:t>1</a:t>
                </a:r>
                <a:r>
                  <a:rPr lang="pt-BR" sz="2800" dirty="0"/>
                  <a:t>,M</a:t>
                </a:r>
                <a:r>
                  <a:rPr lang="pt-BR" sz="2800" baseline="-25000" dirty="0"/>
                  <a:t>2</a:t>
                </a:r>
                <a:r>
                  <a:rPr lang="pt-BR" sz="2800" dirty="0"/>
                  <a:t>,…,M</a:t>
                </a:r>
                <a14:m>
                  <m:oMath xmlns:m="http://schemas.openxmlformats.org/officeDocument/2006/math">
                    <m:r>
                      <a:rPr lang="pt-BR" sz="2800" i="1" baseline="-25000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pt-BR" sz="2800" baseline="-25000" dirty="0"/>
              </a:p>
              <a:p>
                <a:r>
                  <a:rPr lang="pt-BR" sz="2800" dirty="0"/>
                  <a:t>Podemos optar pelo uso de 4 (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>) cifras de César, M</a:t>
                </a:r>
                <a:r>
                  <a:rPr lang="pt-BR" sz="2800" baseline="-25000" dirty="0"/>
                  <a:t>1</a:t>
                </a:r>
                <a:r>
                  <a:rPr lang="pt-BR" sz="2800" dirty="0"/>
                  <a:t>, M</a:t>
                </a:r>
                <a:r>
                  <a:rPr lang="pt-BR" sz="2800" baseline="-25000" dirty="0"/>
                  <a:t>2</a:t>
                </a:r>
                <a:r>
                  <a:rPr lang="pt-BR" sz="2800" dirty="0"/>
                  <a:t>, M</a:t>
                </a:r>
                <a:r>
                  <a:rPr lang="pt-BR" sz="2800" baseline="-25000" dirty="0"/>
                  <a:t>3</a:t>
                </a:r>
                <a:r>
                  <a:rPr lang="pt-BR" sz="2800" dirty="0"/>
                  <a:t>, M</a:t>
                </a:r>
                <a:r>
                  <a:rPr lang="pt-BR" sz="2800" baseline="-25000" dirty="0"/>
                  <a:t>4</a:t>
                </a:r>
                <a:r>
                  <a:rPr lang="pt-BR" sz="2800" dirty="0"/>
                  <a:t>, seguindo o padrão cíclico.</a:t>
                </a:r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66989" cy="3990289"/>
              </a:xfrm>
              <a:blipFill>
                <a:blip r:embed="rId2"/>
                <a:stretch>
                  <a:fillRect l="-96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AB39E0EF-36B9-4DE9-B826-4A3AEEF44A24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24123347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23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Criptografia </a:t>
            </a:r>
            <a:r>
              <a:rPr lang="pt-BR" altLang="pt-BR" sz="4400" dirty="0" err="1"/>
              <a:t>polialfabética</a:t>
            </a:r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66989" cy="3990289"/>
              </a:xfrm>
            </p:spPr>
            <p:txBody>
              <a:bodyPr/>
              <a:lstStyle/>
              <a:p>
                <a:r>
                  <a:rPr lang="pt-BR" sz="2400" dirty="0"/>
                  <a:t>Padrão cíclico:</a:t>
                </a:r>
              </a:p>
              <a:p>
                <a:pPr lvl="1"/>
                <a:r>
                  <a:rPr lang="pt-BR" sz="2000" dirty="0"/>
                  <a:t>Ex.: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000" dirty="0"/>
                  <a:t> = 4, </a:t>
                </a:r>
                <a:r>
                  <a:rPr lang="pt-BR" sz="2000" dirty="0">
                    <a:solidFill>
                      <a:srgbClr val="0070C0"/>
                    </a:solidFill>
                  </a:rPr>
                  <a:t>M</a:t>
                </a:r>
                <a:r>
                  <a:rPr lang="pt-BR" sz="2000" baseline="-25000" dirty="0">
                    <a:solidFill>
                      <a:srgbClr val="0070C0"/>
                    </a:solidFill>
                  </a:rPr>
                  <a:t>1</a:t>
                </a:r>
                <a:r>
                  <a:rPr lang="pt-BR" sz="2000" dirty="0">
                    <a:solidFill>
                      <a:srgbClr val="0070C0"/>
                    </a:solidFill>
                  </a:rPr>
                  <a:t>, M</a:t>
                </a:r>
                <a:r>
                  <a:rPr lang="pt-BR" sz="2000" baseline="-25000" dirty="0">
                    <a:solidFill>
                      <a:srgbClr val="0070C0"/>
                    </a:solidFill>
                  </a:rPr>
                  <a:t>3</a:t>
                </a:r>
                <a:r>
                  <a:rPr lang="pt-BR" sz="2000" dirty="0">
                    <a:solidFill>
                      <a:srgbClr val="0070C0"/>
                    </a:solidFill>
                  </a:rPr>
                  <a:t>, M</a:t>
                </a:r>
                <a:r>
                  <a:rPr lang="pt-BR" sz="2000" baseline="-25000" dirty="0">
                    <a:solidFill>
                      <a:srgbClr val="0070C0"/>
                    </a:solidFill>
                  </a:rPr>
                  <a:t>4</a:t>
                </a:r>
                <a:r>
                  <a:rPr lang="pt-BR" sz="2000" dirty="0">
                    <a:solidFill>
                      <a:srgbClr val="0070C0"/>
                    </a:solidFill>
                  </a:rPr>
                  <a:t>, M</a:t>
                </a:r>
                <a:r>
                  <a:rPr lang="pt-BR" sz="2000" baseline="-25000" dirty="0">
                    <a:solidFill>
                      <a:srgbClr val="0070C0"/>
                    </a:solidFill>
                  </a:rPr>
                  <a:t>3</a:t>
                </a:r>
                <a:r>
                  <a:rPr lang="pt-BR" sz="2000" dirty="0">
                    <a:solidFill>
                      <a:srgbClr val="0070C0"/>
                    </a:solidFill>
                  </a:rPr>
                  <a:t>, M</a:t>
                </a:r>
                <a:r>
                  <a:rPr lang="pt-BR" sz="2000" baseline="-25000" dirty="0">
                    <a:solidFill>
                      <a:srgbClr val="0070C0"/>
                    </a:solidFill>
                  </a:rPr>
                  <a:t>2</a:t>
                </a:r>
                <a:r>
                  <a:rPr lang="pt-BR" sz="2000" dirty="0"/>
                  <a:t>; M</a:t>
                </a:r>
                <a:r>
                  <a:rPr lang="pt-BR" sz="2000" baseline="-25000" dirty="0"/>
                  <a:t>1</a:t>
                </a:r>
                <a:r>
                  <a:rPr lang="pt-BR" sz="2000" dirty="0"/>
                  <a:t>, M</a:t>
                </a:r>
                <a:r>
                  <a:rPr lang="pt-BR" sz="2000" baseline="-25000" dirty="0"/>
                  <a:t>3</a:t>
                </a:r>
                <a:r>
                  <a:rPr lang="pt-BR" sz="2000" dirty="0"/>
                  <a:t>, M</a:t>
                </a:r>
                <a:r>
                  <a:rPr lang="pt-BR" sz="2000" baseline="-25000" dirty="0"/>
                  <a:t>4</a:t>
                </a:r>
                <a:r>
                  <a:rPr lang="pt-BR" sz="2000" dirty="0"/>
                  <a:t>, M</a:t>
                </a:r>
                <a:r>
                  <a:rPr lang="pt-BR" sz="2000" baseline="-25000" dirty="0"/>
                  <a:t>3</a:t>
                </a:r>
                <a:r>
                  <a:rPr lang="pt-BR" sz="2000" dirty="0"/>
                  <a:t>, M</a:t>
                </a:r>
                <a:r>
                  <a:rPr lang="pt-BR" sz="2000" baseline="-25000" dirty="0"/>
                  <a:t>2</a:t>
                </a:r>
                <a:r>
                  <a:rPr lang="pt-BR" sz="2000" dirty="0"/>
                  <a:t>; ... </a:t>
                </a:r>
              </a:p>
              <a:p>
                <a:r>
                  <a:rPr lang="pt-BR" sz="2400" dirty="0"/>
                  <a:t>Ou seja, a primeira letra é cifrada usando a cifra M</a:t>
                </a:r>
                <a:r>
                  <a:rPr lang="pt-BR" sz="2400" baseline="-25000" dirty="0"/>
                  <a:t>1</a:t>
                </a:r>
                <a:r>
                  <a:rPr lang="pt-BR" sz="2400" dirty="0"/>
                  <a:t>, a segunda usando a cifra M</a:t>
                </a:r>
                <a:r>
                  <a:rPr lang="pt-BR" sz="2400" baseline="-25000" dirty="0"/>
                  <a:t>3</a:t>
                </a:r>
                <a:r>
                  <a:rPr lang="pt-BR" sz="2400" dirty="0"/>
                  <a:t>, a terceira usando a cifra M</a:t>
                </a:r>
                <a:r>
                  <a:rPr lang="pt-BR" sz="2400" baseline="-25000" dirty="0"/>
                  <a:t>4</a:t>
                </a:r>
                <a:r>
                  <a:rPr lang="pt-BR" sz="2400" dirty="0"/>
                  <a:t>, e assim por diante.</a:t>
                </a:r>
              </a:p>
              <a:p>
                <a:pPr lvl="1"/>
                <a:r>
                  <a:rPr lang="pt-BR" sz="2000" dirty="0" err="1"/>
                  <a:t>dog</a:t>
                </a:r>
                <a:r>
                  <a:rPr lang="pt-BR" sz="2000" dirty="0"/>
                  <a:t>: d de M</a:t>
                </a:r>
                <a:r>
                  <a:rPr lang="pt-BR" sz="2000" baseline="-25000" dirty="0"/>
                  <a:t>1</a:t>
                </a:r>
                <a:r>
                  <a:rPr lang="pt-BR" sz="2000" dirty="0"/>
                  <a:t>, o de M</a:t>
                </a:r>
                <a:r>
                  <a:rPr lang="pt-BR" sz="2000" baseline="-25000" dirty="0"/>
                  <a:t>3</a:t>
                </a:r>
                <a:r>
                  <a:rPr lang="pt-BR" sz="2000" dirty="0"/>
                  <a:t>, g de M</a:t>
                </a:r>
                <a:r>
                  <a:rPr lang="pt-BR" sz="2000" baseline="-25000" dirty="0"/>
                  <a:t>4</a:t>
                </a:r>
              </a:p>
            </p:txBody>
          </p:sp>
        </mc:Choice>
        <mc:Fallback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66989" cy="3990289"/>
              </a:xfrm>
              <a:blipFill>
                <a:blip r:embed="rId2"/>
                <a:stretch>
                  <a:fillRect l="-7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F91D4C10-4306-482B-B7D0-82CB08E91778}"/>
                  </a:ext>
                </a:extLst>
              </p:cNvPr>
              <p:cNvSpPr/>
              <p:nvPr/>
            </p:nvSpPr>
            <p:spPr>
              <a:xfrm>
                <a:off x="838199" y="5446215"/>
                <a:ext cx="5114670" cy="4531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pt-BR" altLang="pt-BR" sz="2000" u="sng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Segredo:</a:t>
                </a:r>
                <a:r>
                  <a:rPr lang="pt-BR" altLang="pt-BR" sz="20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pt-BR" altLang="pt-BR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t-BR" altLang="pt-BR" sz="2000" dirty="0">
                    <a:solidFill>
                      <a:srgbClr val="FF000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cifras e o padrão cíclico</a:t>
                </a:r>
              </a:p>
            </p:txBody>
          </p:sp>
        </mc:Choice>
        <mc:Fallback xmlns="">
          <p:sp>
            <p:nvSpPr>
              <p:cNvPr id="5" name="Retângulo 4">
                <a:extLst>
                  <a:ext uri="{FF2B5EF4-FFF2-40B4-BE49-F238E27FC236}">
                    <a16:creationId xmlns:a16="http://schemas.microsoft.com/office/drawing/2014/main" id="{F91D4C10-4306-482B-B7D0-82CB08E917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5446215"/>
                <a:ext cx="5114670" cy="453137"/>
              </a:xfrm>
              <a:prstGeom prst="rect">
                <a:avLst/>
              </a:prstGeom>
              <a:blipFill>
                <a:blip r:embed="rId3"/>
                <a:stretch>
                  <a:fillRect l="-1190" r="-595" b="-20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tângulo 5">
            <a:extLst>
              <a:ext uri="{FF2B5EF4-FFF2-40B4-BE49-F238E27FC236}">
                <a16:creationId xmlns:a16="http://schemas.microsoft.com/office/drawing/2014/main" id="{7B03849C-B627-4502-B49C-FAA975E391D2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9419278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D2D0DFE4-0D35-4992-BBD7-ABE775117E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Criptografia de chave simétrica</a:t>
            </a:r>
          </a:p>
        </p:txBody>
      </p:sp>
    </p:spTree>
    <p:extLst>
      <p:ext uri="{BB962C8B-B14F-4D97-AF65-F5344CB8AC3E}">
        <p14:creationId xmlns:p14="http://schemas.microsoft.com/office/powerpoint/2010/main" val="7491752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25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Criptografia de chave simétrica</a:t>
            </a:r>
            <a:endParaRPr lang="pt-BR" dirty="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FE5B0F99-CA19-4042-BA14-8A34D1B50B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2905943"/>
            <a:ext cx="1716088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>
                <a:solidFill>
                  <a:srgbClr val="FF0000"/>
                </a:solidFill>
              </a:rPr>
              <a:t>texto aberto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11FAFD0F-33AF-4E30-9E80-367C82F723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2550" y="2886893"/>
            <a:ext cx="1628775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800">
                <a:solidFill>
                  <a:srgbClr val="FF0000"/>
                </a:solidFill>
              </a:rPr>
              <a:t>texto cifrado</a:t>
            </a:r>
          </a:p>
        </p:txBody>
      </p:sp>
      <p:grpSp>
        <p:nvGrpSpPr>
          <p:cNvPr id="10" name="Group 6">
            <a:extLst>
              <a:ext uri="{FF2B5EF4-FFF2-40B4-BE49-F238E27FC236}">
                <a16:creationId xmlns:a16="http://schemas.microsoft.com/office/drawing/2014/main" id="{4C46FBCD-90B5-4FC6-BE0C-5FCE7B7844D7}"/>
              </a:ext>
            </a:extLst>
          </p:cNvPr>
          <p:cNvGrpSpPr>
            <a:grpSpLocks/>
          </p:cNvGrpSpPr>
          <p:nvPr/>
        </p:nvGrpSpPr>
        <p:grpSpPr bwMode="auto">
          <a:xfrm>
            <a:off x="3956050" y="1989956"/>
            <a:ext cx="633413" cy="579437"/>
            <a:chOff x="1388" y="1036"/>
            <a:chExt cx="399" cy="365"/>
          </a:xfrm>
        </p:grpSpPr>
        <p:sp>
          <p:nvSpPr>
            <p:cNvPr id="11" name="Text Box 7">
              <a:extLst>
                <a:ext uri="{FF2B5EF4-FFF2-40B4-BE49-F238E27FC236}">
                  <a16:creationId xmlns:a16="http://schemas.microsoft.com/office/drawing/2014/main" id="{317C4BC5-8DE0-44CF-9F7E-72F2067242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8" y="1036"/>
              <a:ext cx="233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2400">
                  <a:solidFill>
                    <a:srgbClr val="FF0000"/>
                  </a:solidFill>
                </a:rPr>
                <a:t>K</a:t>
              </a:r>
              <a:endParaRPr lang="pt-BR" altLang="pt-BR" sz="240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12" name="Text Box 8">
              <a:extLst>
                <a:ext uri="{FF2B5EF4-FFF2-40B4-BE49-F238E27FC236}">
                  <a16:creationId xmlns:a16="http://schemas.microsoft.com/office/drawing/2014/main" id="{96F6B6D7-D347-41EC-970C-5FEC2F7CAF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0" y="1151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>
                  <a:solidFill>
                    <a:srgbClr val="FF0000"/>
                  </a:solidFill>
                </a:rPr>
                <a:t>S</a:t>
              </a:r>
              <a:endParaRPr lang="pt-BR" altLang="pt-BR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14" name="Rectangle 10">
            <a:extLst>
              <a:ext uri="{FF2B5EF4-FFF2-40B4-BE49-F238E27FC236}">
                <a16:creationId xmlns:a16="http://schemas.microsoft.com/office/drawing/2014/main" id="{08B737CF-C8E1-4445-8344-B5079477C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3963" y="2847206"/>
            <a:ext cx="1392237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endParaRPr lang="pt-BR" altLang="pt-BR"/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52EE7401-3F56-490C-A57D-B97E8BC16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7925" y="2856731"/>
            <a:ext cx="15128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800">
                <a:solidFill>
                  <a:schemeClr val="bg1"/>
                </a:solidFill>
              </a:rPr>
              <a:t>algoritmo de</a:t>
            </a:r>
            <a:br>
              <a:rPr lang="pt-BR" altLang="pt-BR" sz="1800">
                <a:solidFill>
                  <a:schemeClr val="bg1"/>
                </a:solidFill>
              </a:rPr>
            </a:br>
            <a:r>
              <a:rPr lang="pt-BR" altLang="pt-BR" sz="1800">
                <a:solidFill>
                  <a:schemeClr val="bg1"/>
                </a:solidFill>
              </a:rPr>
              <a:t>criptografia</a:t>
            </a: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83C4408A-BC55-42CA-B3ED-57D573EC5F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1813" y="2845618"/>
            <a:ext cx="1377950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endParaRPr lang="pt-BR" altLang="pt-BR"/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9C766452-E2DF-4911-A833-D0B0033D1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0550" y="2869431"/>
            <a:ext cx="136366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600">
                <a:solidFill>
                  <a:schemeClr val="bg1"/>
                </a:solidFill>
              </a:rPr>
              <a:t>algoritmo de</a:t>
            </a:r>
            <a:br>
              <a:rPr lang="pt-BR" altLang="pt-BR" sz="1600">
                <a:solidFill>
                  <a:schemeClr val="bg1"/>
                </a:solidFill>
              </a:rPr>
            </a:br>
            <a:r>
              <a:rPr lang="pt-BR" altLang="pt-BR" sz="1600">
                <a:solidFill>
                  <a:schemeClr val="bg1"/>
                </a:solidFill>
              </a:rPr>
              <a:t>decriptação</a:t>
            </a:r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438E585B-5CE1-4594-93A2-71F786C893C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4775" y="3259956"/>
            <a:ext cx="1692275" cy="79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9" name="Line 15">
            <a:extLst>
              <a:ext uri="{FF2B5EF4-FFF2-40B4-BE49-F238E27FC236}">
                <a16:creationId xmlns:a16="http://schemas.microsoft.com/office/drawing/2014/main" id="{C9C9BE99-D0F7-41D5-8B0B-BB49FFE730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54488" y="2467793"/>
            <a:ext cx="1587" cy="3921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1" name="Line 17">
            <a:extLst>
              <a:ext uri="{FF2B5EF4-FFF2-40B4-BE49-F238E27FC236}">
                <a16:creationId xmlns:a16="http://schemas.microsoft.com/office/drawing/2014/main" id="{60E44154-4670-4B82-A2DF-3C01D7E1B9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19425" y="3285356"/>
            <a:ext cx="6746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2" name="Line 18">
            <a:extLst>
              <a:ext uri="{FF2B5EF4-FFF2-40B4-BE49-F238E27FC236}">
                <a16:creationId xmlns:a16="http://schemas.microsoft.com/office/drawing/2014/main" id="{9ABA9F04-1F06-4938-8CFD-842362A7257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29613" y="3282181"/>
            <a:ext cx="6746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23" name="Picture 19" descr="BS00768_[1]">
            <a:extLst>
              <a:ext uri="{FF2B5EF4-FFF2-40B4-BE49-F238E27FC236}">
                <a16:creationId xmlns:a16="http://schemas.microsoft.com/office/drawing/2014/main" id="{633D6126-7AA3-4A0A-A47D-7408C8BE4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292600" y="1913756"/>
            <a:ext cx="465138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" name="Group 21">
            <a:extLst>
              <a:ext uri="{FF2B5EF4-FFF2-40B4-BE49-F238E27FC236}">
                <a16:creationId xmlns:a16="http://schemas.microsoft.com/office/drawing/2014/main" id="{B0A8F52F-843A-483C-859F-D8BAE6AA33D6}"/>
              </a:ext>
            </a:extLst>
          </p:cNvPr>
          <p:cNvGrpSpPr>
            <a:grpSpLocks/>
          </p:cNvGrpSpPr>
          <p:nvPr/>
        </p:nvGrpSpPr>
        <p:grpSpPr bwMode="auto">
          <a:xfrm>
            <a:off x="7142163" y="1939156"/>
            <a:ext cx="633412" cy="579437"/>
            <a:chOff x="1388" y="1036"/>
            <a:chExt cx="399" cy="365"/>
          </a:xfrm>
        </p:grpSpPr>
        <p:sp>
          <p:nvSpPr>
            <p:cNvPr id="25" name="Text Box 22">
              <a:extLst>
                <a:ext uri="{FF2B5EF4-FFF2-40B4-BE49-F238E27FC236}">
                  <a16:creationId xmlns:a16="http://schemas.microsoft.com/office/drawing/2014/main" id="{73E8C28E-7F80-4E69-B2B3-C2896986B6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8" y="1036"/>
              <a:ext cx="233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2400">
                  <a:solidFill>
                    <a:srgbClr val="FF0000"/>
                  </a:solidFill>
                </a:rPr>
                <a:t>K</a:t>
              </a:r>
              <a:endParaRPr lang="pt-BR" altLang="pt-BR" sz="240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26" name="Text Box 23">
              <a:extLst>
                <a:ext uri="{FF2B5EF4-FFF2-40B4-BE49-F238E27FC236}">
                  <a16:creationId xmlns:a16="http://schemas.microsoft.com/office/drawing/2014/main" id="{74E3CEF8-B328-4FEF-844D-87F1AB7DF4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0" y="1151"/>
              <a:ext cx="22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>
                  <a:solidFill>
                    <a:srgbClr val="FF0000"/>
                  </a:solidFill>
                </a:rPr>
                <a:t>S</a:t>
              </a:r>
              <a:endParaRPr lang="pt-BR" altLang="pt-BR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27" name="Line 24">
            <a:extLst>
              <a:ext uri="{FF2B5EF4-FFF2-40B4-BE49-F238E27FC236}">
                <a16:creationId xmlns:a16="http://schemas.microsoft.com/office/drawing/2014/main" id="{11EE49F5-0FD4-41FA-8AC4-D02B050D19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40600" y="2416993"/>
            <a:ext cx="1588" cy="3921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28" name="Picture 25" descr="BS00768_[1]">
            <a:extLst>
              <a:ext uri="{FF2B5EF4-FFF2-40B4-BE49-F238E27FC236}">
                <a16:creationId xmlns:a16="http://schemas.microsoft.com/office/drawing/2014/main" id="{B882D94A-1CDF-4B27-A1B8-73C61F2EC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7478713" y="1862956"/>
            <a:ext cx="465137" cy="24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 Box 26">
            <a:extLst>
              <a:ext uri="{FF2B5EF4-FFF2-40B4-BE49-F238E27FC236}">
                <a16:creationId xmlns:a16="http://schemas.microsoft.com/office/drawing/2014/main" id="{C9F63252-6B9A-4648-AE52-0FB6C261F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0" y="2917056"/>
            <a:ext cx="18748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r"/>
            <a:r>
              <a:rPr lang="pt-BR" altLang="pt-BR" sz="1800" dirty="0">
                <a:solidFill>
                  <a:srgbClr val="FF0000"/>
                </a:solidFill>
              </a:rPr>
              <a:t>mensagem de</a:t>
            </a:r>
          </a:p>
          <a:p>
            <a:pPr algn="r"/>
            <a:r>
              <a:rPr lang="pt-BR" altLang="pt-BR" sz="1800" dirty="0">
                <a:solidFill>
                  <a:srgbClr val="FF0000"/>
                </a:solidFill>
              </a:rPr>
              <a:t>texto aberto, m</a:t>
            </a:r>
          </a:p>
        </p:txBody>
      </p:sp>
      <p:sp>
        <p:nvSpPr>
          <p:cNvPr id="30" name="Text Box 27">
            <a:extLst>
              <a:ext uri="{FF2B5EF4-FFF2-40B4-BE49-F238E27FC236}">
                <a16:creationId xmlns:a16="http://schemas.microsoft.com/office/drawing/2014/main" id="{731C409B-3D75-4005-93AD-8D518E153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3538" y="3423468"/>
            <a:ext cx="1028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>
                <a:solidFill>
                  <a:srgbClr val="FF0000"/>
                </a:solidFill>
              </a:rPr>
              <a:t>K    (m)</a:t>
            </a:r>
          </a:p>
        </p:txBody>
      </p:sp>
      <p:sp>
        <p:nvSpPr>
          <p:cNvPr id="31" name="Text Box 28">
            <a:extLst>
              <a:ext uri="{FF2B5EF4-FFF2-40B4-BE49-F238E27FC236}">
                <a16:creationId xmlns:a16="http://schemas.microsoft.com/office/drawing/2014/main" id="{4A5C8833-1CBA-4132-882E-34CB99BDC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5950" y="3615556"/>
            <a:ext cx="3254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600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32" name="Text Box 35">
            <a:extLst>
              <a:ext uri="{FF2B5EF4-FFF2-40B4-BE49-F238E27FC236}">
                <a16:creationId xmlns:a16="http://schemas.microsoft.com/office/drawing/2014/main" id="{85BC4181-678C-47CB-9566-75B0AB595C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0900" y="3415531"/>
            <a:ext cx="1774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dirty="0">
                <a:solidFill>
                  <a:srgbClr val="FF0000"/>
                </a:solidFill>
              </a:rPr>
              <a:t>m = K</a:t>
            </a:r>
            <a:r>
              <a:rPr lang="pt-BR" altLang="pt-BR" baseline="-25000" dirty="0">
                <a:solidFill>
                  <a:srgbClr val="FF0000"/>
                </a:solidFill>
              </a:rPr>
              <a:t>S</a:t>
            </a:r>
            <a:r>
              <a:rPr lang="pt-BR" altLang="pt-BR" dirty="0">
                <a:solidFill>
                  <a:srgbClr val="FF0000"/>
                </a:solidFill>
              </a:rPr>
              <a:t>(K</a:t>
            </a:r>
            <a:r>
              <a:rPr lang="pt-BR" altLang="pt-BR" baseline="-25000" dirty="0">
                <a:solidFill>
                  <a:srgbClr val="FF0000"/>
                </a:solidFill>
              </a:rPr>
              <a:t>S</a:t>
            </a:r>
            <a:r>
              <a:rPr lang="pt-BR" altLang="pt-BR" dirty="0">
                <a:solidFill>
                  <a:srgbClr val="FF0000"/>
                </a:solidFill>
              </a:rPr>
              <a:t>(m))</a:t>
            </a:r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C79F2066-C16A-4F50-A0D4-592507236C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844" y="2133843"/>
            <a:ext cx="865241" cy="865241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1EC80A13-4173-4A14-9DF4-13A320BD92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2323" y="1983703"/>
            <a:ext cx="1003612" cy="1003612"/>
          </a:xfrm>
          <a:prstGeom prst="rect">
            <a:avLst/>
          </a:prstGeom>
        </p:spPr>
      </p:pic>
      <p:sp>
        <p:nvSpPr>
          <p:cNvPr id="35" name="Text Box 31">
            <a:extLst>
              <a:ext uri="{FF2B5EF4-FFF2-40B4-BE49-F238E27FC236}">
                <a16:creationId xmlns:a16="http://schemas.microsoft.com/office/drawing/2014/main" id="{5DC9B014-0D9E-4F23-8E6A-F29D0C8D8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7994" y="2125191"/>
            <a:ext cx="781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dirty="0">
                <a:solidFill>
                  <a:schemeClr val="accent2"/>
                </a:solidFill>
              </a:rPr>
              <a:t>Alice</a:t>
            </a:r>
          </a:p>
        </p:txBody>
      </p:sp>
      <p:sp>
        <p:nvSpPr>
          <p:cNvPr id="36" name="Text Box 32">
            <a:extLst>
              <a:ext uri="{FF2B5EF4-FFF2-40B4-BE49-F238E27FC236}">
                <a16:creationId xmlns:a16="http://schemas.microsoft.com/office/drawing/2014/main" id="{3F836AAB-18EA-49F4-A955-143653978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46085" y="2002866"/>
            <a:ext cx="628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dirty="0">
                <a:solidFill>
                  <a:schemeClr val="accent2"/>
                </a:solidFill>
              </a:rPr>
              <a:t>Bob</a:t>
            </a:r>
          </a:p>
        </p:txBody>
      </p:sp>
      <p:sp>
        <p:nvSpPr>
          <p:cNvPr id="39" name="Espaço Reservado para Conteúdo 3">
            <a:extLst>
              <a:ext uri="{FF2B5EF4-FFF2-40B4-BE49-F238E27FC236}">
                <a16:creationId xmlns:a16="http://schemas.microsoft.com/office/drawing/2014/main" id="{AAE5BBF6-6551-41E7-A089-E4575DDAD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924239"/>
            <a:ext cx="10766989" cy="1772031"/>
          </a:xfrm>
        </p:spPr>
        <p:txBody>
          <a:bodyPr/>
          <a:lstStyle/>
          <a:p>
            <a:r>
              <a:rPr lang="pt-BR" altLang="pt-BR" sz="2000" dirty="0"/>
              <a:t>criptografia de </a:t>
            </a:r>
            <a:r>
              <a:rPr lang="pt-BR" altLang="pt-BR" sz="2000" b="1" dirty="0"/>
              <a:t>chave simétrica</a:t>
            </a:r>
            <a:r>
              <a:rPr lang="pt-BR" altLang="pt-BR" sz="2000" dirty="0"/>
              <a:t>: Bob e Alice compartilham alguma chave (simétrica): K</a:t>
            </a:r>
          </a:p>
          <a:p>
            <a:pPr lvl="1">
              <a:lnSpc>
                <a:spcPct val="90000"/>
              </a:lnSpc>
            </a:pPr>
            <a:r>
              <a:rPr lang="pt-BR" altLang="pt-BR" sz="2000" dirty="0"/>
              <a:t>Ex.: segredo é saber o padrão de substituição na cifra de substituição </a:t>
            </a:r>
            <a:r>
              <a:rPr lang="pt-BR" altLang="pt-BR" sz="2000" dirty="0" err="1"/>
              <a:t>monoalfabética</a:t>
            </a:r>
            <a:r>
              <a:rPr lang="pt-BR" altLang="pt-BR" sz="2000" dirty="0"/>
              <a:t>. </a:t>
            </a:r>
          </a:p>
          <a:p>
            <a:pPr lvl="1">
              <a:lnSpc>
                <a:spcPct val="90000"/>
              </a:lnSpc>
            </a:pPr>
            <a:r>
              <a:rPr lang="pt-BR" altLang="pt-BR" sz="2000" dirty="0"/>
              <a:t>Como Bob e Alice combinam um valor de segredo?</a:t>
            </a:r>
          </a:p>
          <a:p>
            <a:endParaRPr lang="pt-BR" sz="2000" baseline="-25000" dirty="0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FE194343-1DAD-4F92-9FE7-B6ACD2ACB8E5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27527034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26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Dois tipos de cifras simétricas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274B4D-A5CF-4F8E-86FC-C9917C1F1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6989" cy="3990289"/>
          </a:xfrm>
        </p:spPr>
        <p:txBody>
          <a:bodyPr/>
          <a:lstStyle/>
          <a:p>
            <a:r>
              <a:rPr lang="pt-BR" sz="2800" dirty="0"/>
              <a:t>Cifras de fluxo</a:t>
            </a:r>
          </a:p>
          <a:p>
            <a:pPr lvl="1"/>
            <a:r>
              <a:rPr lang="pt-BR" sz="2400" dirty="0"/>
              <a:t>criptografam um bit por vez</a:t>
            </a:r>
          </a:p>
          <a:p>
            <a:r>
              <a:rPr lang="pt-BR" sz="2800" dirty="0"/>
              <a:t>Cifras de bloco</a:t>
            </a:r>
          </a:p>
          <a:p>
            <a:pPr lvl="1"/>
            <a:r>
              <a:rPr lang="pt-BR" sz="2400" dirty="0"/>
              <a:t>Quebram a mensagem de texto aberto em blocos de mesmo tamanho</a:t>
            </a:r>
          </a:p>
          <a:p>
            <a:pPr lvl="1"/>
            <a:r>
              <a:rPr lang="pt-BR" sz="2400" dirty="0"/>
              <a:t>Criptografam cada bloco como uma unidade</a:t>
            </a:r>
            <a:endParaRPr lang="pt-BR" sz="2800" dirty="0"/>
          </a:p>
          <a:p>
            <a:endParaRPr lang="pt-BR" sz="24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14BC078-F982-495B-8298-29B5F5A5ABA4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23438879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27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Cifras de bloco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274B4D-A5CF-4F8E-86FC-C9917C1F1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6989" cy="3990289"/>
          </a:xfrm>
        </p:spPr>
        <p:txBody>
          <a:bodyPr/>
          <a:lstStyle/>
          <a:p>
            <a:r>
              <a:rPr lang="pt-BR" sz="2800" dirty="0"/>
              <a:t>Mensagem é processada em blocos de k bits (ex.: para k = 64, a mensagem é dividida em blocos de 64 bits). </a:t>
            </a:r>
          </a:p>
          <a:p>
            <a:r>
              <a:rPr lang="pt-BR" sz="2800" dirty="0"/>
              <a:t>Cada bloco é criptografado de maneira independente.</a:t>
            </a:r>
          </a:p>
          <a:p>
            <a:r>
              <a:rPr lang="pt-BR" sz="2800" dirty="0"/>
              <a:t>Mapeamento 1-para-1 é usado para mapear </a:t>
            </a:r>
            <a:r>
              <a:rPr lang="pt-BR" sz="2800" b="1" dirty="0"/>
              <a:t>bloco de k bits de texto aberto</a:t>
            </a:r>
            <a:r>
              <a:rPr lang="pt-BR" sz="2800" dirty="0"/>
              <a:t> para </a:t>
            </a:r>
            <a:r>
              <a:rPr lang="pt-BR" sz="2800" b="1" dirty="0"/>
              <a:t>bloco de k bits de texto cifrado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CAF55F8-93F4-454C-87F3-6C186A19D0F3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22227233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28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Cifras de bloco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274B4D-A5CF-4F8E-86FC-C9917C1F1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6989" cy="3990289"/>
          </a:xfrm>
        </p:spPr>
        <p:txBody>
          <a:bodyPr/>
          <a:lstStyle/>
          <a:p>
            <a:r>
              <a:rPr lang="pt-BR" altLang="pt-BR" sz="2800" u="sng" dirty="0">
                <a:solidFill>
                  <a:srgbClr val="FF0000"/>
                </a:solidFill>
              </a:rPr>
              <a:t>Exemplo com k = 3: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014B0763-CBD1-40AD-904B-CFD49A302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9779" y="2553482"/>
            <a:ext cx="1882247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u="sng" dirty="0"/>
              <a:t>entrada</a:t>
            </a:r>
            <a:r>
              <a:rPr lang="pt-BR" altLang="pt-BR" dirty="0"/>
              <a:t>  </a:t>
            </a:r>
            <a:r>
              <a:rPr lang="pt-BR" altLang="pt-BR" u="sng" dirty="0"/>
              <a:t>saída</a:t>
            </a:r>
          </a:p>
          <a:p>
            <a:r>
              <a:rPr lang="pt-BR" altLang="pt-BR" dirty="0"/>
              <a:t>000        110</a:t>
            </a:r>
          </a:p>
          <a:p>
            <a:r>
              <a:rPr lang="pt-BR" altLang="pt-BR" dirty="0"/>
              <a:t>001         111</a:t>
            </a:r>
          </a:p>
          <a:p>
            <a:r>
              <a:rPr lang="pt-BR" altLang="pt-BR" dirty="0"/>
              <a:t>010         101</a:t>
            </a:r>
          </a:p>
          <a:p>
            <a:r>
              <a:rPr lang="pt-BR" altLang="pt-BR" dirty="0"/>
              <a:t>011         100</a:t>
            </a:r>
          </a:p>
          <a:p>
            <a:r>
              <a:rPr lang="pt-BR" altLang="pt-BR" dirty="0"/>
              <a:t>100      	  011</a:t>
            </a:r>
          </a:p>
          <a:p>
            <a:r>
              <a:rPr lang="pt-BR" altLang="pt-BR" dirty="0"/>
              <a:t>101         010</a:t>
            </a:r>
          </a:p>
          <a:p>
            <a:r>
              <a:rPr lang="pt-BR" altLang="pt-BR" dirty="0"/>
              <a:t>110         000</a:t>
            </a:r>
          </a:p>
          <a:p>
            <a:r>
              <a:rPr lang="pt-BR" altLang="pt-BR" dirty="0"/>
              <a:t>111         001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054A6C-84B9-4AE9-A580-073A658A1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5424040"/>
            <a:ext cx="591283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Qual é o texto cifrado para 010110001111 ?</a:t>
            </a:r>
          </a:p>
        </p:txBody>
      </p:sp>
      <p:cxnSp>
        <p:nvCxnSpPr>
          <p:cNvPr id="8" name="Conector de seta reta 3">
            <a:extLst>
              <a:ext uri="{FF2B5EF4-FFF2-40B4-BE49-F238E27FC236}">
                <a16:creationId xmlns:a16="http://schemas.microsoft.com/office/drawing/2014/main" id="{A149C34F-D04F-443D-BFEE-42286E79EB45}"/>
              </a:ext>
            </a:extLst>
          </p:cNvPr>
          <p:cNvCxnSpPr/>
          <p:nvPr/>
        </p:nvCxnSpPr>
        <p:spPr>
          <a:xfrm flipH="1">
            <a:off x="3686296" y="3984643"/>
            <a:ext cx="1152128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8BAE6BC8-0478-486F-A6C3-BE65F746C1C6}"/>
              </a:ext>
            </a:extLst>
          </p:cNvPr>
          <p:cNvSpPr txBox="1"/>
          <p:nvPr/>
        </p:nvSpPr>
        <p:spPr>
          <a:xfrm>
            <a:off x="5292694" y="3569144"/>
            <a:ext cx="34545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Há uma saída diferente para cada entrada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B08E70D-393D-4F0F-8D98-74329A9631A9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360280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29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Cifras de bloco</a:t>
            </a:r>
            <a:endParaRPr lang="pt-BR" dirty="0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014B0763-CBD1-40AD-904B-CFD49A302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9779" y="2553482"/>
            <a:ext cx="1882247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u="sng" dirty="0"/>
              <a:t>entrada</a:t>
            </a:r>
            <a:r>
              <a:rPr lang="pt-BR" altLang="pt-BR" dirty="0"/>
              <a:t>  </a:t>
            </a:r>
            <a:r>
              <a:rPr lang="pt-BR" altLang="pt-BR" u="sng" dirty="0"/>
              <a:t>saída</a:t>
            </a:r>
          </a:p>
          <a:p>
            <a:r>
              <a:rPr lang="pt-BR" altLang="pt-BR" dirty="0"/>
              <a:t>000        110</a:t>
            </a:r>
          </a:p>
          <a:p>
            <a:r>
              <a:rPr lang="pt-BR" altLang="pt-BR" dirty="0"/>
              <a:t>001         111</a:t>
            </a:r>
          </a:p>
          <a:p>
            <a:r>
              <a:rPr lang="pt-BR" altLang="pt-BR" dirty="0"/>
              <a:t>010         101</a:t>
            </a:r>
          </a:p>
          <a:p>
            <a:r>
              <a:rPr lang="pt-BR" altLang="pt-BR" dirty="0"/>
              <a:t>011         100</a:t>
            </a:r>
          </a:p>
          <a:p>
            <a:r>
              <a:rPr lang="pt-BR" altLang="pt-BR" dirty="0"/>
              <a:t>100      	  011</a:t>
            </a:r>
          </a:p>
          <a:p>
            <a:r>
              <a:rPr lang="pt-BR" altLang="pt-BR" dirty="0"/>
              <a:t>101         010</a:t>
            </a:r>
          </a:p>
          <a:p>
            <a:r>
              <a:rPr lang="pt-BR" altLang="pt-BR" dirty="0"/>
              <a:t>110         000</a:t>
            </a:r>
          </a:p>
          <a:p>
            <a:r>
              <a:rPr lang="pt-BR" altLang="pt-BR" dirty="0"/>
              <a:t>111         001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054A6C-84B9-4AE9-A580-073A658A1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9" y="2005718"/>
            <a:ext cx="67944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Qual é o texto cifrado para 010110001111 (</a:t>
            </a:r>
            <a:r>
              <a:rPr lang="pt-BR" altLang="pt-BR" u="sng" dirty="0">
                <a:solidFill>
                  <a:srgbClr val="FF0000"/>
                </a:solidFill>
              </a:rPr>
              <a:t>k = 3</a:t>
            </a:r>
            <a:r>
              <a:rPr lang="pt-BR" altLang="pt-BR" dirty="0">
                <a:solidFill>
                  <a:srgbClr val="FF0000"/>
                </a:solidFill>
              </a:rPr>
              <a:t>)</a:t>
            </a:r>
            <a:r>
              <a:rPr lang="pt-BR" altLang="pt-BR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A5EA04E-9015-49BC-8B8C-919AF902459F}"/>
              </a:ext>
            </a:extLst>
          </p:cNvPr>
          <p:cNvSpPr txBox="1"/>
          <p:nvPr/>
        </p:nvSpPr>
        <p:spPr>
          <a:xfrm>
            <a:off x="6430517" y="3287595"/>
            <a:ext cx="21516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altLang="pt-BR" sz="2400" dirty="0"/>
              <a:t>010</a:t>
            </a:r>
            <a:r>
              <a:rPr lang="pt-BR" altLang="pt-BR" sz="2400" dirty="0">
                <a:solidFill>
                  <a:srgbClr val="0070C0"/>
                </a:solidFill>
              </a:rPr>
              <a:t>110</a:t>
            </a:r>
            <a:r>
              <a:rPr lang="pt-BR" altLang="pt-BR" sz="2400" dirty="0">
                <a:solidFill>
                  <a:srgbClr val="00B050"/>
                </a:solidFill>
              </a:rPr>
              <a:t>001</a:t>
            </a:r>
            <a:r>
              <a:rPr lang="pt-BR" altLang="pt-BR" sz="2400" dirty="0">
                <a:solidFill>
                  <a:srgbClr val="FF0000"/>
                </a:solidFill>
              </a:rPr>
              <a:t>111</a:t>
            </a:r>
            <a:endParaRPr lang="pt-BR" sz="24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BB6FB0C-C7D1-4EAD-90AD-875507D77DCB}"/>
              </a:ext>
            </a:extLst>
          </p:cNvPr>
          <p:cNvSpPr txBox="1"/>
          <p:nvPr/>
        </p:nvSpPr>
        <p:spPr>
          <a:xfrm>
            <a:off x="6430517" y="4482114"/>
            <a:ext cx="21972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altLang="pt-BR" sz="2400" dirty="0"/>
              <a:t>101</a:t>
            </a:r>
            <a:r>
              <a:rPr lang="pt-BR" altLang="pt-BR" sz="2400" dirty="0">
                <a:solidFill>
                  <a:srgbClr val="0070C0"/>
                </a:solidFill>
              </a:rPr>
              <a:t>000</a:t>
            </a:r>
            <a:r>
              <a:rPr lang="pt-BR" altLang="pt-BR" sz="2400" dirty="0">
                <a:solidFill>
                  <a:srgbClr val="00B050"/>
                </a:solidFill>
              </a:rPr>
              <a:t>111</a:t>
            </a:r>
            <a:r>
              <a:rPr lang="pt-BR" altLang="pt-BR" sz="2400" dirty="0">
                <a:solidFill>
                  <a:srgbClr val="FF0000"/>
                </a:solidFill>
              </a:rPr>
              <a:t>001</a:t>
            </a:r>
            <a:endParaRPr lang="pt-BR" sz="2400" dirty="0"/>
          </a:p>
        </p:txBody>
      </p:sp>
      <p:cxnSp>
        <p:nvCxnSpPr>
          <p:cNvPr id="12" name="Conector de seta reta 9">
            <a:extLst>
              <a:ext uri="{FF2B5EF4-FFF2-40B4-BE49-F238E27FC236}">
                <a16:creationId xmlns:a16="http://schemas.microsoft.com/office/drawing/2014/main" id="{476FB404-0AAF-44E2-8DB8-1F4B72C8A4C6}"/>
              </a:ext>
            </a:extLst>
          </p:cNvPr>
          <p:cNvCxnSpPr/>
          <p:nvPr/>
        </p:nvCxnSpPr>
        <p:spPr>
          <a:xfrm>
            <a:off x="7454458" y="3863659"/>
            <a:ext cx="0" cy="52833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3">
            <a:extLst>
              <a:ext uri="{FF2B5EF4-FFF2-40B4-BE49-F238E27FC236}">
                <a16:creationId xmlns:a16="http://schemas.microsoft.com/office/drawing/2014/main" id="{079D7B7B-4436-4293-B358-D9B50D9C7D3C}"/>
              </a:ext>
            </a:extLst>
          </p:cNvPr>
          <p:cNvCxnSpPr>
            <a:cxnSpLocks/>
          </p:cNvCxnSpPr>
          <p:nvPr/>
        </p:nvCxnSpPr>
        <p:spPr>
          <a:xfrm>
            <a:off x="4035119" y="3984643"/>
            <a:ext cx="1348731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0EE77AF-9B31-42D3-BEC8-0751BBD1B64F}"/>
              </a:ext>
            </a:extLst>
          </p:cNvPr>
          <p:cNvSpPr txBox="1"/>
          <p:nvPr/>
        </p:nvSpPr>
        <p:spPr bwMode="auto">
          <a:xfrm>
            <a:off x="4115258" y="3991888"/>
            <a:ext cx="1187376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eaLnBrk="1" hangingPunct="1"/>
            <a:r>
              <a:rPr lang="pt-BR" sz="2000" dirty="0">
                <a:latin typeface="Trebuchet MS" pitchFamily="34" charset="0"/>
              </a:rPr>
              <a:t>Resposta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A6EB8B0-DD7C-4DF5-A68C-DB7372F8071E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4975077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30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Cifras de bloco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274B4D-A5CF-4F8E-86FC-C9917C1F1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6989" cy="3990289"/>
          </a:xfrm>
        </p:spPr>
        <p:txBody>
          <a:bodyPr/>
          <a:lstStyle/>
          <a:p>
            <a:r>
              <a:rPr lang="pt-BR" sz="2800" dirty="0"/>
              <a:t>Quantos mapeamentos existem para k = 3?</a:t>
            </a:r>
          </a:p>
          <a:p>
            <a:pPr lvl="1"/>
            <a:r>
              <a:rPr lang="pt-BR" sz="2400" dirty="0"/>
              <a:t>Quantas entradas de 3 bits?</a:t>
            </a:r>
          </a:p>
          <a:p>
            <a:pPr lvl="1"/>
            <a:r>
              <a:rPr lang="pt-BR" sz="2400" dirty="0"/>
              <a:t>Quantas permutações das entradas de 3 bits?</a:t>
            </a:r>
          </a:p>
          <a:p>
            <a:pPr lvl="1"/>
            <a:r>
              <a:rPr lang="pt-BR" sz="2400" dirty="0"/>
              <a:t>Resposta: 8! = 40.320;  não muitas!</a:t>
            </a:r>
          </a:p>
          <a:p>
            <a:pPr lvl="1"/>
            <a:r>
              <a:rPr lang="pt-BR" sz="2400" dirty="0"/>
              <a:t>Cada um destes mapeamentos são uma chave.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BBF994D-34CA-4DA2-AA92-6A9C9570BE0E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4265931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31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Cifras de bloco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274B4D-A5CF-4F8E-86FC-C9917C1F1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6989" cy="3990289"/>
          </a:xfrm>
        </p:spPr>
        <p:txBody>
          <a:bodyPr/>
          <a:lstStyle/>
          <a:p>
            <a:r>
              <a:rPr lang="pt-BR" sz="2800" dirty="0"/>
              <a:t>O ataque em força bruta tenta </a:t>
            </a:r>
            <a:r>
              <a:rPr lang="pt-BR" sz="2800" dirty="0" err="1"/>
              <a:t>descriptografar</a:t>
            </a:r>
            <a:r>
              <a:rPr lang="pt-BR" sz="2800" dirty="0"/>
              <a:t> o texto cifrado usando um dos mapeamentos.</a:t>
            </a:r>
          </a:p>
          <a:p>
            <a:r>
              <a:rPr lang="pt-BR" sz="2800" dirty="0"/>
              <a:t>Para 40.320 é fácil para qualquer computador.</a:t>
            </a:r>
          </a:p>
          <a:p>
            <a:r>
              <a:rPr lang="pt-BR" sz="2800" b="1" dirty="0"/>
              <a:t>Solução</a:t>
            </a:r>
            <a:r>
              <a:rPr lang="pt-BR" sz="2800" dirty="0"/>
              <a:t>: a cifras normalmente usam blocos muito maiores.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BB393AF-6B27-4D86-8B72-6AFE290C4675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13310736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32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Cifras de bloco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274B4D-A5CF-4F8E-86FC-C9917C1F1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6989" cy="3990289"/>
          </a:xfrm>
        </p:spPr>
        <p:txBody>
          <a:bodyPr/>
          <a:lstStyle/>
          <a:p>
            <a:r>
              <a:rPr lang="pt-BR" sz="2400" dirty="0"/>
              <a:t>Em geral, 2</a:t>
            </a:r>
            <a:r>
              <a:rPr lang="pt-BR" sz="2400" baseline="30000" dirty="0"/>
              <a:t>k</a:t>
            </a:r>
            <a:r>
              <a:rPr lang="pt-BR" sz="2400" dirty="0"/>
              <a:t>! mapeamentos; imenso para k = 64</a:t>
            </a:r>
          </a:p>
          <a:p>
            <a:r>
              <a:rPr lang="pt-BR" sz="2400" dirty="0"/>
              <a:t>Problema: </a:t>
            </a:r>
          </a:p>
          <a:p>
            <a:pPr lvl="1"/>
            <a:r>
              <a:rPr lang="pt-BR" sz="2000" dirty="0"/>
              <a:t>Técnica de tabela requer tabela com 2</a:t>
            </a:r>
            <a:r>
              <a:rPr lang="pt-BR" sz="2000" baseline="30000" dirty="0"/>
              <a:t>64</a:t>
            </a:r>
            <a:r>
              <a:rPr lang="pt-BR" sz="2000" dirty="0"/>
              <a:t> entradas, cada entrada com 64 bits</a:t>
            </a:r>
          </a:p>
          <a:p>
            <a:r>
              <a:rPr lang="pt-BR" sz="2400" dirty="0"/>
              <a:t>Difícil de implementar. Tabela muito grande: em vez disso, use função que simula tabela permutada aleatoriamente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B21BAEC-AED2-42F7-8B4C-CCCB40481F16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2588055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33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Função de protótipo</a:t>
            </a:r>
            <a:endParaRPr lang="pt-BR" sz="440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274B4D-A5CF-4F8E-86FC-C9917C1F1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91730" cy="3990289"/>
          </a:xfrm>
        </p:spPr>
        <p:txBody>
          <a:bodyPr/>
          <a:lstStyle/>
          <a:p>
            <a:r>
              <a:rPr lang="pt-BR" sz="2800" dirty="0"/>
              <a:t>A função divide cada bloco de 64 bits em 8 blocos (de 8 bits). </a:t>
            </a:r>
          </a:p>
          <a:p>
            <a:r>
              <a:rPr lang="pt-BR" sz="2800" dirty="0"/>
              <a:t>Cada bloco (8bits) é processado por uma tabela de 8 bits </a:t>
            </a:r>
            <a:r>
              <a:rPr lang="pt-BR" sz="2800" dirty="0">
                <a:sym typeface="Wingdings" panose="05000000000000000000" pitchFamily="2" charset="2"/>
              </a:rPr>
              <a:t></a:t>
            </a:r>
            <a:r>
              <a:rPr lang="pt-BR" sz="2800" dirty="0"/>
              <a:t> 8 bits. O primeiro bloco é processado pela tabela S</a:t>
            </a:r>
            <a:r>
              <a:rPr lang="pt-BR" sz="2800" baseline="-25000" dirty="0"/>
              <a:t>1</a:t>
            </a:r>
            <a:r>
              <a:rPr lang="pt-BR" sz="2800" dirty="0"/>
              <a:t>.</a:t>
            </a:r>
          </a:p>
          <a:p>
            <a:r>
              <a:rPr lang="pt-BR" sz="2800" dirty="0"/>
              <a:t>Em seguida os 8 blocos de saída são reunidos em um bloco de 64 bits.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E962ED8-6703-4587-A71F-6E6EC026C198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40767329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34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Função de protótipo</a:t>
            </a:r>
            <a:endParaRPr lang="pt-BR" sz="440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274B4D-A5CF-4F8E-86FC-C9917C1F1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66989" cy="3990289"/>
          </a:xfrm>
        </p:spPr>
        <p:txBody>
          <a:bodyPr/>
          <a:lstStyle/>
          <a:p>
            <a:r>
              <a:rPr lang="pt-BR" sz="2800" dirty="0"/>
              <a:t>As posições no bloco de 64 bits são permutadas para produzir uma saída de 64 bits. </a:t>
            </a:r>
          </a:p>
          <a:p>
            <a:r>
              <a:rPr lang="pt-BR" sz="2800" dirty="0"/>
              <a:t>Devolve-se essa saída a entrada para iniciar o ciclo.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8458CD8-D575-42B0-8587-EB91036D8E6F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17503105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35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Função de protótipo</a:t>
            </a:r>
            <a:endParaRPr lang="pt-BR" dirty="0"/>
          </a:p>
        </p:txBody>
      </p:sp>
      <p:grpSp>
        <p:nvGrpSpPr>
          <p:cNvPr id="7" name="Group 186">
            <a:extLst>
              <a:ext uri="{FF2B5EF4-FFF2-40B4-BE49-F238E27FC236}">
                <a16:creationId xmlns:a16="http://schemas.microsoft.com/office/drawing/2014/main" id="{AAF6953C-8BAC-4364-A790-626940BDB458}"/>
              </a:ext>
            </a:extLst>
          </p:cNvPr>
          <p:cNvGrpSpPr>
            <a:grpSpLocks/>
          </p:cNvGrpSpPr>
          <p:nvPr/>
        </p:nvGrpSpPr>
        <p:grpSpPr bwMode="auto">
          <a:xfrm>
            <a:off x="2158589" y="1782443"/>
            <a:ext cx="8028384" cy="4082207"/>
            <a:chOff x="144" y="720"/>
            <a:chExt cx="5255" cy="3003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A9ED5B30-1D43-4A0F-B64B-90AE8C8C2B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720"/>
              <a:ext cx="3456" cy="219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1600"/>
                <a:t>entrada de 64 bits</a:t>
              </a:r>
            </a:p>
          </p:txBody>
        </p:sp>
        <p:grpSp>
          <p:nvGrpSpPr>
            <p:cNvPr id="9" name="Group 80">
              <a:extLst>
                <a:ext uri="{FF2B5EF4-FFF2-40B4-BE49-F238E27FC236}">
                  <a16:creationId xmlns:a16="http://schemas.microsoft.com/office/drawing/2014/main" id="{EFC4C165-3051-4266-984E-7889D536A1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1200"/>
              <a:ext cx="503" cy="1202"/>
              <a:chOff x="480" y="1200"/>
              <a:chExt cx="503" cy="1202"/>
            </a:xfrm>
          </p:grpSpPr>
          <p:grpSp>
            <p:nvGrpSpPr>
              <p:cNvPr id="96" name="Group 17">
                <a:extLst>
                  <a:ext uri="{FF2B5EF4-FFF2-40B4-BE49-F238E27FC236}">
                    <a16:creationId xmlns:a16="http://schemas.microsoft.com/office/drawing/2014/main" id="{6307FF1F-7A4F-45D3-B767-C4EF81B4D2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2" y="1640"/>
                <a:ext cx="360" cy="323"/>
                <a:chOff x="576" y="1728"/>
                <a:chExt cx="336" cy="336"/>
              </a:xfrm>
            </p:grpSpPr>
            <p:sp>
              <p:nvSpPr>
                <p:cNvPr id="101" name="Oval 13">
                  <a:extLst>
                    <a:ext uri="{FF2B5EF4-FFF2-40B4-BE49-F238E27FC236}">
                      <a16:creationId xmlns:a16="http://schemas.microsoft.com/office/drawing/2014/main" id="{C02D103C-14E3-473A-8D00-D30C0AE4D0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1728"/>
                  <a:ext cx="336" cy="336"/>
                </a:xfrm>
                <a:prstGeom prst="ellipse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endParaRPr lang="pt-BR" altLang="pt-BR"/>
                </a:p>
              </p:txBody>
            </p:sp>
            <p:sp>
              <p:nvSpPr>
                <p:cNvPr id="102" name="Text Box 15">
                  <a:extLst>
                    <a:ext uri="{FF2B5EF4-FFF2-40B4-BE49-F238E27FC236}">
                      <a16:creationId xmlns:a16="http://schemas.microsoft.com/office/drawing/2014/main" id="{44D211CF-123D-4CCA-A96E-EDE0CF6B438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4" y="1806"/>
                  <a:ext cx="245" cy="2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r>
                    <a:rPr lang="pt-BR" altLang="pt-BR" sz="1600" dirty="0"/>
                    <a:t>S</a:t>
                  </a:r>
                  <a:r>
                    <a:rPr lang="pt-BR" altLang="pt-BR" sz="1600" baseline="-25000" dirty="0"/>
                    <a:t>1</a:t>
                  </a:r>
                </a:p>
              </p:txBody>
            </p:sp>
          </p:grpSp>
          <p:sp>
            <p:nvSpPr>
              <p:cNvPr id="97" name="Rectangle 6">
                <a:extLst>
                  <a:ext uri="{FF2B5EF4-FFF2-40B4-BE49-F238E27FC236}">
                    <a16:creationId xmlns:a16="http://schemas.microsoft.com/office/drawing/2014/main" id="{8263E0F9-F90B-4C5C-B949-5CC10DE747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" y="1200"/>
                <a:ext cx="495" cy="21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/>
                <a:r>
                  <a:rPr lang="pt-BR" altLang="pt-BR" sz="1600"/>
                  <a:t>8bits</a:t>
                </a:r>
              </a:p>
            </p:txBody>
          </p:sp>
          <p:sp>
            <p:nvSpPr>
              <p:cNvPr id="98" name="Rectangle 16">
                <a:extLst>
                  <a:ext uri="{FF2B5EF4-FFF2-40B4-BE49-F238E27FC236}">
                    <a16:creationId xmlns:a16="http://schemas.microsoft.com/office/drawing/2014/main" id="{770A85DB-CE73-41B8-B8C6-3D22EEE68E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2183"/>
                <a:ext cx="495" cy="21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/>
                <a:r>
                  <a:rPr lang="pt-BR" altLang="pt-BR" sz="1600"/>
                  <a:t>8 bits</a:t>
                </a:r>
              </a:p>
            </p:txBody>
          </p:sp>
          <p:sp>
            <p:nvSpPr>
              <p:cNvPr id="99" name="Line 19">
                <a:extLst>
                  <a:ext uri="{FF2B5EF4-FFF2-40B4-BE49-F238E27FC236}">
                    <a16:creationId xmlns:a16="http://schemas.microsoft.com/office/drawing/2014/main" id="{834CF949-AB07-48D3-861A-9C9BE87F50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1417"/>
                <a:ext cx="0" cy="2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00" name="Line 20">
                <a:extLst>
                  <a:ext uri="{FF2B5EF4-FFF2-40B4-BE49-F238E27FC236}">
                    <a16:creationId xmlns:a16="http://schemas.microsoft.com/office/drawing/2014/main" id="{9FFD7840-61F1-4FBD-8803-79849CCF2F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9" y="1976"/>
                <a:ext cx="0" cy="2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0" name="Group 81">
              <a:extLst>
                <a:ext uri="{FF2B5EF4-FFF2-40B4-BE49-F238E27FC236}">
                  <a16:creationId xmlns:a16="http://schemas.microsoft.com/office/drawing/2014/main" id="{541A65FB-AC9C-4D3E-B44C-E99FE04509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1200"/>
              <a:ext cx="503" cy="1202"/>
              <a:chOff x="480" y="1200"/>
              <a:chExt cx="503" cy="1202"/>
            </a:xfrm>
          </p:grpSpPr>
          <p:grpSp>
            <p:nvGrpSpPr>
              <p:cNvPr id="89" name="Group 82">
                <a:extLst>
                  <a:ext uri="{FF2B5EF4-FFF2-40B4-BE49-F238E27FC236}">
                    <a16:creationId xmlns:a16="http://schemas.microsoft.com/office/drawing/2014/main" id="{4445B67E-A52A-43A2-8E4E-87933BA694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3" y="1640"/>
                <a:ext cx="383" cy="324"/>
                <a:chOff x="576" y="1728"/>
                <a:chExt cx="357" cy="337"/>
              </a:xfrm>
            </p:grpSpPr>
            <p:sp>
              <p:nvSpPr>
                <p:cNvPr id="94" name="Oval 83">
                  <a:extLst>
                    <a:ext uri="{FF2B5EF4-FFF2-40B4-BE49-F238E27FC236}">
                      <a16:creationId xmlns:a16="http://schemas.microsoft.com/office/drawing/2014/main" id="{EACC3BEB-1E52-4698-906B-72DFDC9B28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1728"/>
                  <a:ext cx="336" cy="336"/>
                </a:xfrm>
                <a:prstGeom prst="ellipse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endParaRPr lang="pt-BR" altLang="pt-BR"/>
                </a:p>
              </p:txBody>
            </p:sp>
            <p:sp>
              <p:nvSpPr>
                <p:cNvPr id="95" name="Text Box 84">
                  <a:extLst>
                    <a:ext uri="{FF2B5EF4-FFF2-40B4-BE49-F238E27FC236}">
                      <a16:creationId xmlns:a16="http://schemas.microsoft.com/office/drawing/2014/main" id="{0D593AF4-4417-4111-A0AE-BC2B65CD832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4" y="1806"/>
                  <a:ext cx="309" cy="2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r>
                    <a:rPr lang="pt-BR" altLang="pt-BR" sz="1600" dirty="0"/>
                    <a:t>S</a:t>
                  </a:r>
                  <a:r>
                    <a:rPr lang="pt-BR" altLang="pt-BR" sz="1600" baseline="-25000" dirty="0"/>
                    <a:t>2</a:t>
                  </a:r>
                </a:p>
              </p:txBody>
            </p:sp>
          </p:grpSp>
          <p:sp>
            <p:nvSpPr>
              <p:cNvPr id="90" name="Rectangle 85">
                <a:extLst>
                  <a:ext uri="{FF2B5EF4-FFF2-40B4-BE49-F238E27FC236}">
                    <a16:creationId xmlns:a16="http://schemas.microsoft.com/office/drawing/2014/main" id="{08B14027-A7B1-4381-A54D-5BE706C99C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" y="1200"/>
                <a:ext cx="495" cy="21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/>
                <a:r>
                  <a:rPr lang="pt-BR" altLang="pt-BR" sz="1600"/>
                  <a:t>8bits</a:t>
                </a:r>
              </a:p>
            </p:txBody>
          </p:sp>
          <p:sp>
            <p:nvSpPr>
              <p:cNvPr id="91" name="Rectangle 86">
                <a:extLst>
                  <a:ext uri="{FF2B5EF4-FFF2-40B4-BE49-F238E27FC236}">
                    <a16:creationId xmlns:a16="http://schemas.microsoft.com/office/drawing/2014/main" id="{1185DA03-51FF-4C9C-91F8-0C9BA0CAF2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2183"/>
                <a:ext cx="495" cy="21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/>
                <a:r>
                  <a:rPr lang="pt-BR" altLang="pt-BR" sz="1600"/>
                  <a:t>8 bits</a:t>
                </a:r>
              </a:p>
            </p:txBody>
          </p:sp>
          <p:sp>
            <p:nvSpPr>
              <p:cNvPr id="92" name="Line 87">
                <a:extLst>
                  <a:ext uri="{FF2B5EF4-FFF2-40B4-BE49-F238E27FC236}">
                    <a16:creationId xmlns:a16="http://schemas.microsoft.com/office/drawing/2014/main" id="{AC5DB2BB-940E-4E79-820B-52A0B6E06B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1417"/>
                <a:ext cx="0" cy="2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93" name="Line 88">
                <a:extLst>
                  <a:ext uri="{FF2B5EF4-FFF2-40B4-BE49-F238E27FC236}">
                    <a16:creationId xmlns:a16="http://schemas.microsoft.com/office/drawing/2014/main" id="{FF18E20B-8EE0-442D-B381-EA0C496C7F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9" y="1976"/>
                <a:ext cx="0" cy="2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1" name="Group 89">
              <a:extLst>
                <a:ext uri="{FF2B5EF4-FFF2-40B4-BE49-F238E27FC236}">
                  <a16:creationId xmlns:a16="http://schemas.microsoft.com/office/drawing/2014/main" id="{0BE9ACD7-89E1-42DA-B188-798BDEE6FD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1200"/>
              <a:ext cx="503" cy="1202"/>
              <a:chOff x="480" y="1200"/>
              <a:chExt cx="503" cy="1202"/>
            </a:xfrm>
          </p:grpSpPr>
          <p:grpSp>
            <p:nvGrpSpPr>
              <p:cNvPr id="82" name="Group 90">
                <a:extLst>
                  <a:ext uri="{FF2B5EF4-FFF2-40B4-BE49-F238E27FC236}">
                    <a16:creationId xmlns:a16="http://schemas.microsoft.com/office/drawing/2014/main" id="{654E0F5E-1F6D-4D3A-9D25-A0F836A736E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2" y="1640"/>
                <a:ext cx="408" cy="324"/>
                <a:chOff x="576" y="1728"/>
                <a:chExt cx="381" cy="337"/>
              </a:xfrm>
            </p:grpSpPr>
            <p:sp>
              <p:nvSpPr>
                <p:cNvPr id="87" name="Oval 91">
                  <a:extLst>
                    <a:ext uri="{FF2B5EF4-FFF2-40B4-BE49-F238E27FC236}">
                      <a16:creationId xmlns:a16="http://schemas.microsoft.com/office/drawing/2014/main" id="{32BE32E0-C60A-49B4-8BE2-36B4AB85F0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1728"/>
                  <a:ext cx="336" cy="336"/>
                </a:xfrm>
                <a:prstGeom prst="ellipse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endParaRPr lang="pt-BR" altLang="pt-BR"/>
                </a:p>
              </p:txBody>
            </p:sp>
            <p:sp>
              <p:nvSpPr>
                <p:cNvPr id="88" name="Text Box 92">
                  <a:extLst>
                    <a:ext uri="{FF2B5EF4-FFF2-40B4-BE49-F238E27FC236}">
                      <a16:creationId xmlns:a16="http://schemas.microsoft.com/office/drawing/2014/main" id="{2635F67C-D34F-41FB-BA8D-00D468E7B68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4" y="1806"/>
                  <a:ext cx="333" cy="2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r>
                    <a:rPr lang="pt-BR" altLang="pt-BR" sz="1600" dirty="0"/>
                    <a:t>S</a:t>
                  </a:r>
                  <a:r>
                    <a:rPr lang="pt-BR" altLang="pt-BR" sz="1600" baseline="-25000" dirty="0"/>
                    <a:t>3</a:t>
                  </a:r>
                </a:p>
              </p:txBody>
            </p:sp>
          </p:grpSp>
          <p:sp>
            <p:nvSpPr>
              <p:cNvPr id="83" name="Rectangle 93">
                <a:extLst>
                  <a:ext uri="{FF2B5EF4-FFF2-40B4-BE49-F238E27FC236}">
                    <a16:creationId xmlns:a16="http://schemas.microsoft.com/office/drawing/2014/main" id="{B48009C5-F234-4441-997E-43CEB7A9D1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" y="1200"/>
                <a:ext cx="495" cy="21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/>
                <a:r>
                  <a:rPr lang="pt-BR" altLang="pt-BR" sz="1600" dirty="0"/>
                  <a:t>8bits</a:t>
                </a:r>
              </a:p>
            </p:txBody>
          </p:sp>
          <p:sp>
            <p:nvSpPr>
              <p:cNvPr id="84" name="Rectangle 94">
                <a:extLst>
                  <a:ext uri="{FF2B5EF4-FFF2-40B4-BE49-F238E27FC236}">
                    <a16:creationId xmlns:a16="http://schemas.microsoft.com/office/drawing/2014/main" id="{77D86F34-430B-4BA2-8BFD-6B84736970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2183"/>
                <a:ext cx="495" cy="21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/>
                <a:r>
                  <a:rPr lang="pt-BR" altLang="pt-BR" sz="1600"/>
                  <a:t>8 bits</a:t>
                </a:r>
              </a:p>
            </p:txBody>
          </p:sp>
          <p:sp>
            <p:nvSpPr>
              <p:cNvPr id="85" name="Line 95">
                <a:extLst>
                  <a:ext uri="{FF2B5EF4-FFF2-40B4-BE49-F238E27FC236}">
                    <a16:creationId xmlns:a16="http://schemas.microsoft.com/office/drawing/2014/main" id="{1186F0F0-A7EC-494C-AA20-55D2BAAD02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1417"/>
                <a:ext cx="0" cy="2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86" name="Line 96">
                <a:extLst>
                  <a:ext uri="{FF2B5EF4-FFF2-40B4-BE49-F238E27FC236}">
                    <a16:creationId xmlns:a16="http://schemas.microsoft.com/office/drawing/2014/main" id="{81073695-9614-4F40-A7F4-6568199748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9" y="1976"/>
                <a:ext cx="0" cy="2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2" name="Group 97">
              <a:extLst>
                <a:ext uri="{FF2B5EF4-FFF2-40B4-BE49-F238E27FC236}">
                  <a16:creationId xmlns:a16="http://schemas.microsoft.com/office/drawing/2014/main" id="{851A6B58-1CC2-42A8-91D9-96AFF689B3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1200"/>
              <a:ext cx="503" cy="1202"/>
              <a:chOff x="480" y="1200"/>
              <a:chExt cx="503" cy="1202"/>
            </a:xfrm>
          </p:grpSpPr>
          <p:grpSp>
            <p:nvGrpSpPr>
              <p:cNvPr id="75" name="Group 98">
                <a:extLst>
                  <a:ext uri="{FF2B5EF4-FFF2-40B4-BE49-F238E27FC236}">
                    <a16:creationId xmlns:a16="http://schemas.microsoft.com/office/drawing/2014/main" id="{89B8E057-26A5-4EFD-9977-0FF3FB4512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3" y="1640"/>
                <a:ext cx="368" cy="324"/>
                <a:chOff x="576" y="1728"/>
                <a:chExt cx="343" cy="337"/>
              </a:xfrm>
            </p:grpSpPr>
            <p:sp>
              <p:nvSpPr>
                <p:cNvPr id="80" name="Oval 99">
                  <a:extLst>
                    <a:ext uri="{FF2B5EF4-FFF2-40B4-BE49-F238E27FC236}">
                      <a16:creationId xmlns:a16="http://schemas.microsoft.com/office/drawing/2014/main" id="{E403A506-4642-4BBB-B049-90EC2B18CC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1728"/>
                  <a:ext cx="336" cy="336"/>
                </a:xfrm>
                <a:prstGeom prst="ellipse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endParaRPr lang="pt-BR" altLang="pt-BR"/>
                </a:p>
              </p:txBody>
            </p:sp>
            <p:sp>
              <p:nvSpPr>
                <p:cNvPr id="81" name="Text Box 100">
                  <a:extLst>
                    <a:ext uri="{FF2B5EF4-FFF2-40B4-BE49-F238E27FC236}">
                      <a16:creationId xmlns:a16="http://schemas.microsoft.com/office/drawing/2014/main" id="{051EAEE4-CADA-46C8-86AA-1385285500C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4" y="1806"/>
                  <a:ext cx="295" cy="2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r>
                    <a:rPr lang="pt-BR" altLang="pt-BR" sz="1600"/>
                    <a:t>S</a:t>
                  </a:r>
                  <a:r>
                    <a:rPr lang="pt-BR" altLang="pt-BR" sz="1600" baseline="-25000"/>
                    <a:t>4</a:t>
                  </a:r>
                </a:p>
              </p:txBody>
            </p:sp>
          </p:grpSp>
          <p:sp>
            <p:nvSpPr>
              <p:cNvPr id="76" name="Rectangle 101">
                <a:extLst>
                  <a:ext uri="{FF2B5EF4-FFF2-40B4-BE49-F238E27FC236}">
                    <a16:creationId xmlns:a16="http://schemas.microsoft.com/office/drawing/2014/main" id="{69F951FD-E490-471E-B627-BD4311C9BB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" y="1200"/>
                <a:ext cx="495" cy="21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/>
                <a:r>
                  <a:rPr lang="pt-BR" altLang="pt-BR" sz="1600"/>
                  <a:t>8bits</a:t>
                </a:r>
              </a:p>
            </p:txBody>
          </p:sp>
          <p:sp>
            <p:nvSpPr>
              <p:cNvPr id="77" name="Rectangle 102">
                <a:extLst>
                  <a:ext uri="{FF2B5EF4-FFF2-40B4-BE49-F238E27FC236}">
                    <a16:creationId xmlns:a16="http://schemas.microsoft.com/office/drawing/2014/main" id="{491237C8-81F9-462A-82EE-4671333A9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2183"/>
                <a:ext cx="495" cy="21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/>
                <a:r>
                  <a:rPr lang="pt-BR" altLang="pt-BR" sz="1600"/>
                  <a:t>8 bits</a:t>
                </a:r>
              </a:p>
            </p:txBody>
          </p:sp>
          <p:sp>
            <p:nvSpPr>
              <p:cNvPr id="78" name="Line 103">
                <a:extLst>
                  <a:ext uri="{FF2B5EF4-FFF2-40B4-BE49-F238E27FC236}">
                    <a16:creationId xmlns:a16="http://schemas.microsoft.com/office/drawing/2014/main" id="{5625DA55-97A3-48BC-A070-42D14645FE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1417"/>
                <a:ext cx="0" cy="2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9" name="Line 104">
                <a:extLst>
                  <a:ext uri="{FF2B5EF4-FFF2-40B4-BE49-F238E27FC236}">
                    <a16:creationId xmlns:a16="http://schemas.microsoft.com/office/drawing/2014/main" id="{9CE32D08-96D1-4A10-A29D-131F781599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9" y="1976"/>
                <a:ext cx="0" cy="2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3" name="Group 105">
              <a:extLst>
                <a:ext uri="{FF2B5EF4-FFF2-40B4-BE49-F238E27FC236}">
                  <a16:creationId xmlns:a16="http://schemas.microsoft.com/office/drawing/2014/main" id="{E0C52AD7-EE4E-447E-8F23-27948C0EBF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72" y="1200"/>
              <a:ext cx="503" cy="1202"/>
              <a:chOff x="480" y="1200"/>
              <a:chExt cx="503" cy="1202"/>
            </a:xfrm>
          </p:grpSpPr>
          <p:grpSp>
            <p:nvGrpSpPr>
              <p:cNvPr id="68" name="Group 106">
                <a:extLst>
                  <a:ext uri="{FF2B5EF4-FFF2-40B4-BE49-F238E27FC236}">
                    <a16:creationId xmlns:a16="http://schemas.microsoft.com/office/drawing/2014/main" id="{C968C3CB-2F02-4306-918D-308D5F8BEA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2" y="1640"/>
                <a:ext cx="377" cy="324"/>
                <a:chOff x="576" y="1728"/>
                <a:chExt cx="352" cy="337"/>
              </a:xfrm>
            </p:grpSpPr>
            <p:sp>
              <p:nvSpPr>
                <p:cNvPr id="73" name="Oval 107">
                  <a:extLst>
                    <a:ext uri="{FF2B5EF4-FFF2-40B4-BE49-F238E27FC236}">
                      <a16:creationId xmlns:a16="http://schemas.microsoft.com/office/drawing/2014/main" id="{2B8E5734-52B8-412D-8585-4B12BD8A76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1728"/>
                  <a:ext cx="336" cy="336"/>
                </a:xfrm>
                <a:prstGeom prst="ellipse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endParaRPr lang="pt-BR" altLang="pt-BR"/>
                </a:p>
              </p:txBody>
            </p:sp>
            <p:sp>
              <p:nvSpPr>
                <p:cNvPr id="74" name="Text Box 108">
                  <a:extLst>
                    <a:ext uri="{FF2B5EF4-FFF2-40B4-BE49-F238E27FC236}">
                      <a16:creationId xmlns:a16="http://schemas.microsoft.com/office/drawing/2014/main" id="{FEBC1132-D8D2-4C38-93D8-94EE94C00EC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4" y="1806"/>
                  <a:ext cx="304" cy="2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r>
                    <a:rPr lang="pt-BR" altLang="pt-BR" sz="1600" dirty="0"/>
                    <a:t>S</a:t>
                  </a:r>
                  <a:r>
                    <a:rPr lang="pt-BR" altLang="pt-BR" sz="1600" baseline="-25000" dirty="0"/>
                    <a:t>7</a:t>
                  </a:r>
                </a:p>
              </p:txBody>
            </p:sp>
          </p:grpSp>
          <p:sp>
            <p:nvSpPr>
              <p:cNvPr id="69" name="Rectangle 109">
                <a:extLst>
                  <a:ext uri="{FF2B5EF4-FFF2-40B4-BE49-F238E27FC236}">
                    <a16:creationId xmlns:a16="http://schemas.microsoft.com/office/drawing/2014/main" id="{D7461A8A-092F-4645-9AF7-5266FBF730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" y="1200"/>
                <a:ext cx="495" cy="21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/>
                <a:r>
                  <a:rPr lang="pt-BR" altLang="pt-BR" sz="1600"/>
                  <a:t>8bits</a:t>
                </a:r>
              </a:p>
            </p:txBody>
          </p:sp>
          <p:sp>
            <p:nvSpPr>
              <p:cNvPr id="70" name="Rectangle 110">
                <a:extLst>
                  <a:ext uri="{FF2B5EF4-FFF2-40B4-BE49-F238E27FC236}">
                    <a16:creationId xmlns:a16="http://schemas.microsoft.com/office/drawing/2014/main" id="{9F58D1C5-7425-4387-971E-057A676033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2183"/>
                <a:ext cx="495" cy="21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/>
                <a:r>
                  <a:rPr lang="pt-BR" altLang="pt-BR" sz="1600"/>
                  <a:t>8 bits</a:t>
                </a:r>
              </a:p>
            </p:txBody>
          </p:sp>
          <p:sp>
            <p:nvSpPr>
              <p:cNvPr id="71" name="Line 111">
                <a:extLst>
                  <a:ext uri="{FF2B5EF4-FFF2-40B4-BE49-F238E27FC236}">
                    <a16:creationId xmlns:a16="http://schemas.microsoft.com/office/drawing/2014/main" id="{CD274D8D-7059-43AE-9684-8DC97D9F2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1417"/>
                <a:ext cx="0" cy="2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72" name="Line 112">
                <a:extLst>
                  <a:ext uri="{FF2B5EF4-FFF2-40B4-BE49-F238E27FC236}">
                    <a16:creationId xmlns:a16="http://schemas.microsoft.com/office/drawing/2014/main" id="{EE5AD3EE-0CF7-46BC-B0A2-296442686A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9" y="1976"/>
                <a:ext cx="0" cy="2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4" name="Group 113">
              <a:extLst>
                <a:ext uri="{FF2B5EF4-FFF2-40B4-BE49-F238E27FC236}">
                  <a16:creationId xmlns:a16="http://schemas.microsoft.com/office/drawing/2014/main" id="{7CE27492-24E0-43FA-BDA9-A1A1639EE4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1200"/>
              <a:ext cx="503" cy="1202"/>
              <a:chOff x="480" y="1200"/>
              <a:chExt cx="503" cy="1202"/>
            </a:xfrm>
          </p:grpSpPr>
          <p:grpSp>
            <p:nvGrpSpPr>
              <p:cNvPr id="61" name="Group 114">
                <a:extLst>
                  <a:ext uri="{FF2B5EF4-FFF2-40B4-BE49-F238E27FC236}">
                    <a16:creationId xmlns:a16="http://schemas.microsoft.com/office/drawing/2014/main" id="{8EB3263B-14C0-408E-80CE-9648CCD403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2" y="1640"/>
                <a:ext cx="392" cy="324"/>
                <a:chOff x="576" y="1728"/>
                <a:chExt cx="366" cy="337"/>
              </a:xfrm>
            </p:grpSpPr>
            <p:sp>
              <p:nvSpPr>
                <p:cNvPr id="66" name="Oval 115">
                  <a:extLst>
                    <a:ext uri="{FF2B5EF4-FFF2-40B4-BE49-F238E27FC236}">
                      <a16:creationId xmlns:a16="http://schemas.microsoft.com/office/drawing/2014/main" id="{4CE52AFF-EE14-438B-82A3-5BCF849702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1728"/>
                  <a:ext cx="336" cy="336"/>
                </a:xfrm>
                <a:prstGeom prst="ellipse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endParaRPr lang="pt-BR" altLang="pt-BR"/>
                </a:p>
              </p:txBody>
            </p:sp>
            <p:sp>
              <p:nvSpPr>
                <p:cNvPr id="67" name="Text Box 116">
                  <a:extLst>
                    <a:ext uri="{FF2B5EF4-FFF2-40B4-BE49-F238E27FC236}">
                      <a16:creationId xmlns:a16="http://schemas.microsoft.com/office/drawing/2014/main" id="{3C8D25F8-2ECE-4920-A980-A0B3E9B560D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4" y="1806"/>
                  <a:ext cx="318" cy="2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r>
                    <a:rPr lang="pt-BR" altLang="pt-BR" sz="1600" dirty="0"/>
                    <a:t>S</a:t>
                  </a:r>
                  <a:r>
                    <a:rPr lang="pt-BR" altLang="pt-BR" sz="1600" baseline="-25000" dirty="0"/>
                    <a:t>6</a:t>
                  </a:r>
                </a:p>
              </p:txBody>
            </p:sp>
          </p:grpSp>
          <p:sp>
            <p:nvSpPr>
              <p:cNvPr id="62" name="Rectangle 117">
                <a:extLst>
                  <a:ext uri="{FF2B5EF4-FFF2-40B4-BE49-F238E27FC236}">
                    <a16:creationId xmlns:a16="http://schemas.microsoft.com/office/drawing/2014/main" id="{B745B7DB-767C-42C0-ACF6-B746FA132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" y="1200"/>
                <a:ext cx="495" cy="21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/>
                <a:r>
                  <a:rPr lang="pt-BR" altLang="pt-BR" sz="1600"/>
                  <a:t>8bits</a:t>
                </a:r>
              </a:p>
            </p:txBody>
          </p:sp>
          <p:sp>
            <p:nvSpPr>
              <p:cNvPr id="63" name="Rectangle 118">
                <a:extLst>
                  <a:ext uri="{FF2B5EF4-FFF2-40B4-BE49-F238E27FC236}">
                    <a16:creationId xmlns:a16="http://schemas.microsoft.com/office/drawing/2014/main" id="{32B4CC30-5DF7-4004-B934-5DB597EB0F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2183"/>
                <a:ext cx="495" cy="21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/>
                <a:r>
                  <a:rPr lang="pt-BR" altLang="pt-BR" sz="1600"/>
                  <a:t>8 bits</a:t>
                </a:r>
              </a:p>
            </p:txBody>
          </p:sp>
          <p:sp>
            <p:nvSpPr>
              <p:cNvPr id="64" name="Line 119">
                <a:extLst>
                  <a:ext uri="{FF2B5EF4-FFF2-40B4-BE49-F238E27FC236}">
                    <a16:creationId xmlns:a16="http://schemas.microsoft.com/office/drawing/2014/main" id="{78AE5E91-E346-4DA2-9058-1B5C16B0B2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1417"/>
                <a:ext cx="0" cy="2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5" name="Line 120">
                <a:extLst>
                  <a:ext uri="{FF2B5EF4-FFF2-40B4-BE49-F238E27FC236}">
                    <a16:creationId xmlns:a16="http://schemas.microsoft.com/office/drawing/2014/main" id="{E19050CC-D750-4A96-BC6F-D1D2722211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9" y="1976"/>
                <a:ext cx="0" cy="2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5" name="Group 121">
              <a:extLst>
                <a:ext uri="{FF2B5EF4-FFF2-40B4-BE49-F238E27FC236}">
                  <a16:creationId xmlns:a16="http://schemas.microsoft.com/office/drawing/2014/main" id="{2CC2119A-E9A7-4A1B-80BB-2143452D0A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1200"/>
              <a:ext cx="503" cy="1202"/>
              <a:chOff x="480" y="1200"/>
              <a:chExt cx="503" cy="1202"/>
            </a:xfrm>
          </p:grpSpPr>
          <p:grpSp>
            <p:nvGrpSpPr>
              <p:cNvPr id="54" name="Group 122">
                <a:extLst>
                  <a:ext uri="{FF2B5EF4-FFF2-40B4-BE49-F238E27FC236}">
                    <a16:creationId xmlns:a16="http://schemas.microsoft.com/office/drawing/2014/main" id="{3D87A2E9-3468-407B-AD4E-1B9B75CBA0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2" y="1640"/>
                <a:ext cx="360" cy="324"/>
                <a:chOff x="576" y="1728"/>
                <a:chExt cx="336" cy="337"/>
              </a:xfrm>
            </p:grpSpPr>
            <p:sp>
              <p:nvSpPr>
                <p:cNvPr id="59" name="Oval 123">
                  <a:extLst>
                    <a:ext uri="{FF2B5EF4-FFF2-40B4-BE49-F238E27FC236}">
                      <a16:creationId xmlns:a16="http://schemas.microsoft.com/office/drawing/2014/main" id="{5C1AD66B-B57C-477C-941D-31E48DCE65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1728"/>
                  <a:ext cx="336" cy="336"/>
                </a:xfrm>
                <a:prstGeom prst="ellipse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endParaRPr lang="pt-BR" altLang="pt-BR"/>
                </a:p>
              </p:txBody>
            </p:sp>
            <p:sp>
              <p:nvSpPr>
                <p:cNvPr id="60" name="Text Box 124">
                  <a:extLst>
                    <a:ext uri="{FF2B5EF4-FFF2-40B4-BE49-F238E27FC236}">
                      <a16:creationId xmlns:a16="http://schemas.microsoft.com/office/drawing/2014/main" id="{7547E415-5511-44EB-A1DA-9F4C314949D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4" y="1806"/>
                  <a:ext cx="288" cy="2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r>
                    <a:rPr lang="pt-BR" altLang="pt-BR" sz="1600" dirty="0"/>
                    <a:t>S</a:t>
                  </a:r>
                  <a:r>
                    <a:rPr lang="pt-BR" altLang="pt-BR" sz="1600" baseline="-25000" dirty="0"/>
                    <a:t>5</a:t>
                  </a:r>
                </a:p>
              </p:txBody>
            </p:sp>
          </p:grpSp>
          <p:sp>
            <p:nvSpPr>
              <p:cNvPr id="55" name="Rectangle 125">
                <a:extLst>
                  <a:ext uri="{FF2B5EF4-FFF2-40B4-BE49-F238E27FC236}">
                    <a16:creationId xmlns:a16="http://schemas.microsoft.com/office/drawing/2014/main" id="{74E3CB75-80FE-4C08-AF6D-6F06C85B3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" y="1200"/>
                <a:ext cx="495" cy="21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/>
                <a:r>
                  <a:rPr lang="pt-BR" altLang="pt-BR" sz="1600"/>
                  <a:t>8bits</a:t>
                </a:r>
              </a:p>
            </p:txBody>
          </p:sp>
          <p:sp>
            <p:nvSpPr>
              <p:cNvPr id="56" name="Rectangle 126">
                <a:extLst>
                  <a:ext uri="{FF2B5EF4-FFF2-40B4-BE49-F238E27FC236}">
                    <a16:creationId xmlns:a16="http://schemas.microsoft.com/office/drawing/2014/main" id="{CF87D5DC-4D61-40C1-A99C-645CAB15FC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2183"/>
                <a:ext cx="495" cy="21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/>
                <a:r>
                  <a:rPr lang="pt-BR" altLang="pt-BR" sz="1600"/>
                  <a:t>8 bits</a:t>
                </a:r>
              </a:p>
            </p:txBody>
          </p:sp>
          <p:sp>
            <p:nvSpPr>
              <p:cNvPr id="57" name="Line 127">
                <a:extLst>
                  <a:ext uri="{FF2B5EF4-FFF2-40B4-BE49-F238E27FC236}">
                    <a16:creationId xmlns:a16="http://schemas.microsoft.com/office/drawing/2014/main" id="{DB379B2F-8440-472D-8EEF-9043E3BA2F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1417"/>
                <a:ext cx="0" cy="2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8" name="Line 128">
                <a:extLst>
                  <a:ext uri="{FF2B5EF4-FFF2-40B4-BE49-F238E27FC236}">
                    <a16:creationId xmlns:a16="http://schemas.microsoft.com/office/drawing/2014/main" id="{16676BBE-D5BD-4C32-AFBF-E19D169289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9" y="1976"/>
                <a:ext cx="0" cy="2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16" name="Group 129">
              <a:extLst>
                <a:ext uri="{FF2B5EF4-FFF2-40B4-BE49-F238E27FC236}">
                  <a16:creationId xmlns:a16="http://schemas.microsoft.com/office/drawing/2014/main" id="{A705C8E1-DD7F-454B-8F9E-220FC12724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96" y="1200"/>
              <a:ext cx="503" cy="1202"/>
              <a:chOff x="480" y="1200"/>
              <a:chExt cx="503" cy="1202"/>
            </a:xfrm>
          </p:grpSpPr>
          <p:grpSp>
            <p:nvGrpSpPr>
              <p:cNvPr id="47" name="Group 130">
                <a:extLst>
                  <a:ext uri="{FF2B5EF4-FFF2-40B4-BE49-F238E27FC236}">
                    <a16:creationId xmlns:a16="http://schemas.microsoft.com/office/drawing/2014/main" id="{C32AA789-2F93-40A8-8A96-6017869EB1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2" y="1640"/>
                <a:ext cx="360" cy="324"/>
                <a:chOff x="576" y="1728"/>
                <a:chExt cx="336" cy="337"/>
              </a:xfrm>
            </p:grpSpPr>
            <p:sp>
              <p:nvSpPr>
                <p:cNvPr id="52" name="Oval 131">
                  <a:extLst>
                    <a:ext uri="{FF2B5EF4-FFF2-40B4-BE49-F238E27FC236}">
                      <a16:creationId xmlns:a16="http://schemas.microsoft.com/office/drawing/2014/main" id="{C6F714DA-FD55-4E1A-8B0E-2D5EC34623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76" y="1728"/>
                  <a:ext cx="336" cy="336"/>
                </a:xfrm>
                <a:prstGeom prst="ellipse">
                  <a:avLst/>
                </a:prstGeom>
                <a:solidFill>
                  <a:srgbClr val="FFFF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endParaRPr lang="pt-BR" altLang="pt-BR"/>
                </a:p>
              </p:txBody>
            </p:sp>
            <p:sp>
              <p:nvSpPr>
                <p:cNvPr id="53" name="Text Box 132">
                  <a:extLst>
                    <a:ext uri="{FF2B5EF4-FFF2-40B4-BE49-F238E27FC236}">
                      <a16:creationId xmlns:a16="http://schemas.microsoft.com/office/drawing/2014/main" id="{59BBD684-F0AE-4EBA-9BC6-1349DA35485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24" y="1806"/>
                  <a:ext cx="288" cy="25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r>
                    <a:rPr lang="pt-BR" altLang="pt-BR" sz="1600" dirty="0"/>
                    <a:t>S</a:t>
                  </a:r>
                  <a:r>
                    <a:rPr lang="pt-BR" altLang="pt-BR" sz="1600" baseline="-25000" dirty="0"/>
                    <a:t>8</a:t>
                  </a:r>
                </a:p>
              </p:txBody>
            </p:sp>
          </p:grpSp>
          <p:sp>
            <p:nvSpPr>
              <p:cNvPr id="48" name="Rectangle 133">
                <a:extLst>
                  <a:ext uri="{FF2B5EF4-FFF2-40B4-BE49-F238E27FC236}">
                    <a16:creationId xmlns:a16="http://schemas.microsoft.com/office/drawing/2014/main" id="{EE301474-3F28-4305-97BD-607616164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" y="1200"/>
                <a:ext cx="495" cy="21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/>
                <a:r>
                  <a:rPr lang="pt-BR" altLang="pt-BR" sz="1600"/>
                  <a:t>8bits</a:t>
                </a:r>
              </a:p>
            </p:txBody>
          </p:sp>
          <p:sp>
            <p:nvSpPr>
              <p:cNvPr id="49" name="Rectangle 134">
                <a:extLst>
                  <a:ext uri="{FF2B5EF4-FFF2-40B4-BE49-F238E27FC236}">
                    <a16:creationId xmlns:a16="http://schemas.microsoft.com/office/drawing/2014/main" id="{CC382F05-EE93-4ABE-A096-D9EFABF732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2183"/>
                <a:ext cx="495" cy="219"/>
              </a:xfrm>
              <a:prstGeom prst="rect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/>
                <a:r>
                  <a:rPr lang="pt-BR" altLang="pt-BR" sz="1600"/>
                  <a:t>8 bits</a:t>
                </a:r>
              </a:p>
            </p:txBody>
          </p:sp>
          <p:sp>
            <p:nvSpPr>
              <p:cNvPr id="50" name="Line 135">
                <a:extLst>
                  <a:ext uri="{FF2B5EF4-FFF2-40B4-BE49-F238E27FC236}">
                    <a16:creationId xmlns:a16="http://schemas.microsoft.com/office/drawing/2014/main" id="{AB9B9AFF-FEF3-44AE-BF0F-149DABE5B4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1417"/>
                <a:ext cx="0" cy="2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1" name="Line 136">
                <a:extLst>
                  <a:ext uri="{FF2B5EF4-FFF2-40B4-BE49-F238E27FC236}">
                    <a16:creationId xmlns:a16="http://schemas.microsoft.com/office/drawing/2014/main" id="{6FDA7729-5195-4AB5-93A7-DB94ED885A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9" y="1976"/>
                <a:ext cx="0" cy="20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7" name="Rectangle 137">
              <a:extLst>
                <a:ext uri="{FF2B5EF4-FFF2-40B4-BE49-F238E27FC236}">
                  <a16:creationId xmlns:a16="http://schemas.microsoft.com/office/drawing/2014/main" id="{EA649C48-50BE-4ED7-A78B-E002C56E1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688"/>
              <a:ext cx="3456" cy="219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1600"/>
                <a:t>codificador de 64 bits</a:t>
              </a:r>
            </a:p>
          </p:txBody>
        </p:sp>
        <p:sp>
          <p:nvSpPr>
            <p:cNvPr id="18" name="Rectangle 138">
              <a:extLst>
                <a:ext uri="{FF2B5EF4-FFF2-40B4-BE49-F238E27FC236}">
                  <a16:creationId xmlns:a16="http://schemas.microsoft.com/office/drawing/2014/main" id="{83F193A3-30BC-4635-B3C1-A73005FF7D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504"/>
              <a:ext cx="3456" cy="219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1600"/>
                <a:t>saída de 64 bits</a:t>
              </a:r>
            </a:p>
          </p:txBody>
        </p:sp>
        <p:sp>
          <p:nvSpPr>
            <p:cNvPr id="19" name="Line 140">
              <a:extLst>
                <a:ext uri="{FF2B5EF4-FFF2-40B4-BE49-F238E27FC236}">
                  <a16:creationId xmlns:a16="http://schemas.microsoft.com/office/drawing/2014/main" id="{3E2D35B0-D253-45F9-965B-C1704DF801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928"/>
              <a:ext cx="192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Line 141">
              <a:extLst>
                <a:ext uri="{FF2B5EF4-FFF2-40B4-BE49-F238E27FC236}">
                  <a16:creationId xmlns:a16="http://schemas.microsoft.com/office/drawing/2014/main" id="{14D29737-D93B-4FF2-9505-9B281004CC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6" y="2928"/>
              <a:ext cx="528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Line 142">
              <a:extLst>
                <a:ext uri="{FF2B5EF4-FFF2-40B4-BE49-F238E27FC236}">
                  <a16:creationId xmlns:a16="http://schemas.microsoft.com/office/drawing/2014/main" id="{0505F406-6622-4765-9C9A-42F2D3676C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2" y="2928"/>
              <a:ext cx="576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Line 147">
              <a:extLst>
                <a:ext uri="{FF2B5EF4-FFF2-40B4-BE49-F238E27FC236}">
                  <a16:creationId xmlns:a16="http://schemas.microsoft.com/office/drawing/2014/main" id="{502211A4-FD1A-4FDE-9819-6E0B6C2781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928"/>
              <a:ext cx="144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Line 148">
              <a:extLst>
                <a:ext uri="{FF2B5EF4-FFF2-40B4-BE49-F238E27FC236}">
                  <a16:creationId xmlns:a16="http://schemas.microsoft.com/office/drawing/2014/main" id="{419AB274-28CB-400F-821E-3EA09791BE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92" y="2928"/>
              <a:ext cx="192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Line 149">
              <a:extLst>
                <a:ext uri="{FF2B5EF4-FFF2-40B4-BE49-F238E27FC236}">
                  <a16:creationId xmlns:a16="http://schemas.microsoft.com/office/drawing/2014/main" id="{1791FE46-8E7C-419F-8B77-95C4019ACA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2928"/>
              <a:ext cx="816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Line 150">
              <a:extLst>
                <a:ext uri="{FF2B5EF4-FFF2-40B4-BE49-F238E27FC236}">
                  <a16:creationId xmlns:a16="http://schemas.microsoft.com/office/drawing/2014/main" id="{69CE9A9A-D699-42FB-BB50-DDC1AB1E81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928"/>
              <a:ext cx="1488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Line 151">
              <a:extLst>
                <a:ext uri="{FF2B5EF4-FFF2-40B4-BE49-F238E27FC236}">
                  <a16:creationId xmlns:a16="http://schemas.microsoft.com/office/drawing/2014/main" id="{6C5CD844-BF55-4BFD-B140-050CB06F3B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80" y="2928"/>
              <a:ext cx="1584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Line 152">
              <a:extLst>
                <a:ext uri="{FF2B5EF4-FFF2-40B4-BE49-F238E27FC236}">
                  <a16:creationId xmlns:a16="http://schemas.microsoft.com/office/drawing/2014/main" id="{0FB4E262-8A36-4685-B626-015B9E8ED6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2928"/>
              <a:ext cx="24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Line 153">
              <a:extLst>
                <a:ext uri="{FF2B5EF4-FFF2-40B4-BE49-F238E27FC236}">
                  <a16:creationId xmlns:a16="http://schemas.microsoft.com/office/drawing/2014/main" id="{13301116-7DBA-4E66-851F-0D9E3E7898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8" y="960"/>
              <a:ext cx="62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Line 154">
              <a:extLst>
                <a:ext uri="{FF2B5EF4-FFF2-40B4-BE49-F238E27FC236}">
                  <a16:creationId xmlns:a16="http://schemas.microsoft.com/office/drawing/2014/main" id="{98DB7D0D-E264-4146-963B-9C94A17D40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0" y="960"/>
              <a:ext cx="33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Line 156">
              <a:extLst>
                <a:ext uri="{FF2B5EF4-FFF2-40B4-BE49-F238E27FC236}">
                  <a16:creationId xmlns:a16="http://schemas.microsoft.com/office/drawing/2014/main" id="{9FF83817-789B-41B1-A297-1797147E00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960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Line 157">
              <a:extLst>
                <a:ext uri="{FF2B5EF4-FFF2-40B4-BE49-F238E27FC236}">
                  <a16:creationId xmlns:a16="http://schemas.microsoft.com/office/drawing/2014/main" id="{81701D89-B995-498C-B559-22B60ADFB6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960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Line 158">
              <a:extLst>
                <a:ext uri="{FF2B5EF4-FFF2-40B4-BE49-F238E27FC236}">
                  <a16:creationId xmlns:a16="http://schemas.microsoft.com/office/drawing/2014/main" id="{3618D312-AD8E-41E7-916D-30E66189F0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960"/>
              <a:ext cx="4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Line 159">
              <a:extLst>
                <a:ext uri="{FF2B5EF4-FFF2-40B4-BE49-F238E27FC236}">
                  <a16:creationId xmlns:a16="http://schemas.microsoft.com/office/drawing/2014/main" id="{1A919AC1-CEE8-4717-AB64-63FEA04045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912"/>
              <a:ext cx="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Line 160">
              <a:extLst>
                <a:ext uri="{FF2B5EF4-FFF2-40B4-BE49-F238E27FC236}">
                  <a16:creationId xmlns:a16="http://schemas.microsoft.com/office/drawing/2014/main" id="{BF74FD70-6F48-4A5C-94FE-57BED06CCD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960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Line 161">
              <a:extLst>
                <a:ext uri="{FF2B5EF4-FFF2-40B4-BE49-F238E27FC236}">
                  <a16:creationId xmlns:a16="http://schemas.microsoft.com/office/drawing/2014/main" id="{2B3DE136-DA16-4E7D-B48F-8B128CB27E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912"/>
              <a:ext cx="52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Line 162">
              <a:extLst>
                <a:ext uri="{FF2B5EF4-FFF2-40B4-BE49-F238E27FC236}">
                  <a16:creationId xmlns:a16="http://schemas.microsoft.com/office/drawing/2014/main" id="{A96BD7ED-0C50-4DB2-8226-77DA31C252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400"/>
              <a:ext cx="67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Line 163">
              <a:extLst>
                <a:ext uri="{FF2B5EF4-FFF2-40B4-BE49-F238E27FC236}">
                  <a16:creationId xmlns:a16="http://schemas.microsoft.com/office/drawing/2014/main" id="{B132DCC3-7BDC-49BF-B379-B660DD1881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400"/>
              <a:ext cx="33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Line 164">
              <a:extLst>
                <a:ext uri="{FF2B5EF4-FFF2-40B4-BE49-F238E27FC236}">
                  <a16:creationId xmlns:a16="http://schemas.microsoft.com/office/drawing/2014/main" id="{3B01C12D-DC95-42C4-8DC2-3EF495A484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400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Line 166">
              <a:extLst>
                <a:ext uri="{FF2B5EF4-FFF2-40B4-BE49-F238E27FC236}">
                  <a16:creationId xmlns:a16="http://schemas.microsoft.com/office/drawing/2014/main" id="{CF306D89-0804-4A6E-B0D8-9397281D36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400"/>
              <a:ext cx="4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Line 172">
              <a:extLst>
                <a:ext uri="{FF2B5EF4-FFF2-40B4-BE49-F238E27FC236}">
                  <a16:creationId xmlns:a16="http://schemas.microsoft.com/office/drawing/2014/main" id="{E92CFBCA-1D7E-4F9C-8E65-147448C619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8" y="2400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Line 173">
              <a:extLst>
                <a:ext uri="{FF2B5EF4-FFF2-40B4-BE49-F238E27FC236}">
                  <a16:creationId xmlns:a16="http://schemas.microsoft.com/office/drawing/2014/main" id="{62FCA946-7D1B-40AE-BADE-86C2D052AF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6" y="2400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2" name="Line 174">
              <a:extLst>
                <a:ext uri="{FF2B5EF4-FFF2-40B4-BE49-F238E27FC236}">
                  <a16:creationId xmlns:a16="http://schemas.microsoft.com/office/drawing/2014/main" id="{AD754508-E226-4579-8437-876F03416B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28" y="2400"/>
              <a:ext cx="38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Line 175">
              <a:extLst>
                <a:ext uri="{FF2B5EF4-FFF2-40B4-BE49-F238E27FC236}">
                  <a16:creationId xmlns:a16="http://schemas.microsoft.com/office/drawing/2014/main" id="{74E462F7-D0C9-41B2-BAC8-A4C04C0D6D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60" y="2400"/>
              <a:ext cx="57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4" name="Text Box 179">
              <a:extLst>
                <a:ext uri="{FF2B5EF4-FFF2-40B4-BE49-F238E27FC236}">
                  <a16:creationId xmlns:a16="http://schemas.microsoft.com/office/drawing/2014/main" id="{7221296E-3400-477A-BA37-49038D532D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0" y="2747"/>
              <a:ext cx="1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endParaRPr lang="pt-BR" altLang="pt-BR"/>
            </a:p>
          </p:txBody>
        </p:sp>
        <p:sp>
          <p:nvSpPr>
            <p:cNvPr id="45" name="Freeform 184">
              <a:extLst>
                <a:ext uri="{FF2B5EF4-FFF2-40B4-BE49-F238E27FC236}">
                  <a16:creationId xmlns:a16="http://schemas.microsoft.com/office/drawing/2014/main" id="{CFDAD6D2-336A-405E-8C6D-741FF70BD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" y="816"/>
              <a:ext cx="1096" cy="2832"/>
            </a:xfrm>
            <a:custGeom>
              <a:avLst/>
              <a:gdLst>
                <a:gd name="T0" fmla="*/ 1096 w 1096"/>
                <a:gd name="T1" fmla="*/ 2832 h 2832"/>
                <a:gd name="T2" fmla="*/ 232 w 1096"/>
                <a:gd name="T3" fmla="*/ 1872 h 2832"/>
                <a:gd name="T4" fmla="*/ 136 w 1096"/>
                <a:gd name="T5" fmla="*/ 384 h 2832"/>
                <a:gd name="T6" fmla="*/ 1048 w 1096"/>
                <a:gd name="T7" fmla="*/ 0 h 28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96"/>
                <a:gd name="T13" fmla="*/ 0 h 2832"/>
                <a:gd name="T14" fmla="*/ 1096 w 1096"/>
                <a:gd name="T15" fmla="*/ 2832 h 28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96" h="2832">
                  <a:moveTo>
                    <a:pt x="1096" y="2832"/>
                  </a:moveTo>
                  <a:cubicBezTo>
                    <a:pt x="744" y="2556"/>
                    <a:pt x="392" y="2280"/>
                    <a:pt x="232" y="1872"/>
                  </a:cubicBezTo>
                  <a:cubicBezTo>
                    <a:pt x="72" y="1464"/>
                    <a:pt x="0" y="696"/>
                    <a:pt x="136" y="384"/>
                  </a:cubicBezTo>
                  <a:cubicBezTo>
                    <a:pt x="272" y="72"/>
                    <a:pt x="660" y="36"/>
                    <a:pt x="1048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Text Box 185">
              <a:extLst>
                <a:ext uri="{FF2B5EF4-FFF2-40B4-BE49-F238E27FC236}">
                  <a16:creationId xmlns:a16="http://schemas.microsoft.com/office/drawing/2014/main" id="{59CB6920-0F53-45F3-8EAC-63050AD8BD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312"/>
              <a:ext cx="768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r>
                <a:rPr lang="pt-BR" altLang="pt-BR" sz="1600" dirty="0"/>
                <a:t>Loop para </a:t>
              </a:r>
              <a:br>
                <a:rPr lang="pt-BR" altLang="pt-BR" sz="1600" dirty="0"/>
              </a:br>
              <a:r>
                <a:rPr lang="pt-BR" altLang="pt-BR" sz="1600" dirty="0"/>
                <a:t>n ciclos</a:t>
              </a:r>
            </a:p>
          </p:txBody>
        </p:sp>
      </p:grpSp>
      <p:sp>
        <p:nvSpPr>
          <p:cNvPr id="103" name="Text Box 187">
            <a:extLst>
              <a:ext uri="{FF2B5EF4-FFF2-40B4-BE49-F238E27FC236}">
                <a16:creationId xmlns:a16="http://schemas.microsoft.com/office/drawing/2014/main" id="{A790275F-EE2C-4D63-9F31-136261ACBD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80303" y="2729929"/>
            <a:ext cx="1222209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mapeamento 8 bits para</a:t>
            </a:r>
          </a:p>
          <a:p>
            <a:r>
              <a:rPr lang="pt-BR" alt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8 bits</a:t>
            </a:r>
          </a:p>
        </p:txBody>
      </p:sp>
      <p:cxnSp>
        <p:nvCxnSpPr>
          <p:cNvPr id="106" name="Conector: Angulado 105">
            <a:extLst>
              <a:ext uri="{FF2B5EF4-FFF2-40B4-BE49-F238E27FC236}">
                <a16:creationId xmlns:a16="http://schemas.microsoft.com/office/drawing/2014/main" id="{0BADE6B0-4CDD-46EF-A0B4-CA845520913F}"/>
              </a:ext>
            </a:extLst>
          </p:cNvPr>
          <p:cNvCxnSpPr>
            <a:cxnSpLocks/>
            <a:stCxn id="103" idx="0"/>
            <a:endCxn id="48" idx="3"/>
          </p:cNvCxnSpPr>
          <p:nvPr/>
        </p:nvCxnSpPr>
        <p:spPr>
          <a:xfrm rot="16200000" flipV="1">
            <a:off x="10566125" y="2204645"/>
            <a:ext cx="146133" cy="90443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 Box 189">
            <a:extLst>
              <a:ext uri="{FF2B5EF4-FFF2-40B4-BE49-F238E27FC236}">
                <a16:creationId xmlns:a16="http://schemas.microsoft.com/office/drawing/2014/main" id="{EFAD363E-DEAD-49F1-B738-069268370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23" y="6211156"/>
            <a:ext cx="293330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Fonte: Kaufman, 1995</a:t>
            </a:r>
          </a:p>
        </p:txBody>
      </p:sp>
      <p:sp>
        <p:nvSpPr>
          <p:cNvPr id="115" name="CaixaDeTexto 114">
            <a:extLst>
              <a:ext uri="{FF2B5EF4-FFF2-40B4-BE49-F238E27FC236}">
                <a16:creationId xmlns:a16="http://schemas.microsoft.com/office/drawing/2014/main" id="{45B42A7E-151A-4F9C-91CA-36FEF5B86F65}"/>
              </a:ext>
            </a:extLst>
          </p:cNvPr>
          <p:cNvSpPr txBox="1"/>
          <p:nvPr/>
        </p:nvSpPr>
        <p:spPr>
          <a:xfrm>
            <a:off x="661938" y="2442481"/>
            <a:ext cx="15440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altLang="pt-BR" sz="2000" dirty="0"/>
              <a:t>in: 01011000</a:t>
            </a:r>
            <a:endParaRPr lang="pt-BR" sz="2000" dirty="0"/>
          </a:p>
        </p:txBody>
      </p:sp>
      <p:sp>
        <p:nvSpPr>
          <p:cNvPr id="116" name="CaixaDeTexto 115">
            <a:extLst>
              <a:ext uri="{FF2B5EF4-FFF2-40B4-BE49-F238E27FC236}">
                <a16:creationId xmlns:a16="http://schemas.microsoft.com/office/drawing/2014/main" id="{87B4F500-23A4-45AC-8F3A-939D380DFFE1}"/>
              </a:ext>
            </a:extLst>
          </p:cNvPr>
          <p:cNvSpPr txBox="1"/>
          <p:nvPr/>
        </p:nvSpPr>
        <p:spPr>
          <a:xfrm>
            <a:off x="501562" y="3724257"/>
            <a:ext cx="17059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altLang="pt-BR" sz="2000" dirty="0"/>
              <a:t>out: 10100011</a:t>
            </a:r>
            <a:endParaRPr lang="pt-BR" sz="2000" dirty="0"/>
          </a:p>
        </p:txBody>
      </p:sp>
      <p:cxnSp>
        <p:nvCxnSpPr>
          <p:cNvPr id="117" name="Conector de seta reta 9">
            <a:extLst>
              <a:ext uri="{FF2B5EF4-FFF2-40B4-BE49-F238E27FC236}">
                <a16:creationId xmlns:a16="http://schemas.microsoft.com/office/drawing/2014/main" id="{40EF89F7-3072-4D1B-9C37-FAD33464FC8E}"/>
              </a:ext>
            </a:extLst>
          </p:cNvPr>
          <p:cNvCxnSpPr/>
          <p:nvPr/>
        </p:nvCxnSpPr>
        <p:spPr>
          <a:xfrm>
            <a:off x="1481611" y="2986409"/>
            <a:ext cx="0" cy="528339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: Angulado 122">
            <a:extLst>
              <a:ext uri="{FF2B5EF4-FFF2-40B4-BE49-F238E27FC236}">
                <a16:creationId xmlns:a16="http://schemas.microsoft.com/office/drawing/2014/main" id="{E7C9F5F9-5F7C-4484-9320-26F3B46617C8}"/>
              </a:ext>
            </a:extLst>
          </p:cNvPr>
          <p:cNvCxnSpPr>
            <a:cxnSpLocks/>
            <a:stCxn id="125" idx="0"/>
            <a:endCxn id="53" idx="3"/>
          </p:cNvCxnSpPr>
          <p:nvPr/>
        </p:nvCxnSpPr>
        <p:spPr>
          <a:xfrm rot="16200000" flipV="1">
            <a:off x="9807663" y="3575099"/>
            <a:ext cx="956677" cy="41499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 Box 187">
            <a:extLst>
              <a:ext uri="{FF2B5EF4-FFF2-40B4-BE49-F238E27FC236}">
                <a16:creationId xmlns:a16="http://schemas.microsoft.com/office/drawing/2014/main" id="{DE5D0754-9C4C-4898-8157-29CB68C3F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2017" y="4260936"/>
            <a:ext cx="168296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Tabela de 8 bits</a:t>
            </a:r>
          </a:p>
        </p:txBody>
      </p:sp>
      <p:sp>
        <p:nvSpPr>
          <p:cNvPr id="128" name="Text Box 15">
            <a:extLst>
              <a:ext uri="{FF2B5EF4-FFF2-40B4-BE49-F238E27FC236}">
                <a16:creationId xmlns:a16="http://schemas.microsoft.com/office/drawing/2014/main" id="{D9EA9430-19C7-4D5B-B966-5A35D5FE1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3944" y="3041463"/>
            <a:ext cx="401037" cy="338554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sz="1600" dirty="0"/>
              <a:t>S</a:t>
            </a:r>
            <a:r>
              <a:rPr lang="pt-BR" altLang="pt-BR" sz="1600" baseline="-25000" dirty="0"/>
              <a:t>i</a:t>
            </a:r>
          </a:p>
        </p:txBody>
      </p:sp>
      <p:sp>
        <p:nvSpPr>
          <p:cNvPr id="129" name="CaixaDeTexto 128">
            <a:extLst>
              <a:ext uri="{FF2B5EF4-FFF2-40B4-BE49-F238E27FC236}">
                <a16:creationId xmlns:a16="http://schemas.microsoft.com/office/drawing/2014/main" id="{B52C554C-9F6A-4DA8-8DFF-6421C1E15174}"/>
              </a:ext>
            </a:extLst>
          </p:cNvPr>
          <p:cNvSpPr txBox="1"/>
          <p:nvPr/>
        </p:nvSpPr>
        <p:spPr>
          <a:xfrm>
            <a:off x="452773" y="2098608"/>
            <a:ext cx="19284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altLang="pt-BR" sz="2000" dirty="0"/>
              <a:t>Exemplo (8 bits):</a:t>
            </a:r>
            <a:endParaRPr lang="pt-BR" sz="2000" dirty="0"/>
          </a:p>
        </p:txBody>
      </p:sp>
      <p:cxnSp>
        <p:nvCxnSpPr>
          <p:cNvPr id="132" name="Conector de Seta Reta 131">
            <a:extLst>
              <a:ext uri="{FF2B5EF4-FFF2-40B4-BE49-F238E27FC236}">
                <a16:creationId xmlns:a16="http://schemas.microsoft.com/office/drawing/2014/main" id="{8EE359BE-D0FD-4924-8239-43804DB1344E}"/>
              </a:ext>
            </a:extLst>
          </p:cNvPr>
          <p:cNvCxnSpPr/>
          <p:nvPr/>
        </p:nvCxnSpPr>
        <p:spPr>
          <a:xfrm flipH="1">
            <a:off x="8687026" y="5175446"/>
            <a:ext cx="10248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 Box 187">
            <a:extLst>
              <a:ext uri="{FF2B5EF4-FFF2-40B4-BE49-F238E27FC236}">
                <a16:creationId xmlns:a16="http://schemas.microsoft.com/office/drawing/2014/main" id="{86A81103-17D6-48C4-8936-8F2DC8B995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7095" y="4871238"/>
            <a:ext cx="168296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sz="16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Função de permutação</a:t>
            </a:r>
          </a:p>
        </p:txBody>
      </p:sp>
    </p:spTree>
    <p:extLst>
      <p:ext uri="{BB962C8B-B14F-4D97-AF65-F5344CB8AC3E}">
        <p14:creationId xmlns:p14="http://schemas.microsoft.com/office/powerpoint/2010/main" val="39183828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36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Função de protótipo</a:t>
            </a:r>
            <a:endParaRPr lang="pt-BR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66989" cy="3990289"/>
              </a:xfrm>
            </p:spPr>
            <p:txBody>
              <a:bodyPr/>
              <a:lstStyle/>
              <a:p>
                <a:r>
                  <a:rPr lang="pt-BR" sz="2800" dirty="0"/>
                  <a:t>Após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> ciclos, a função apresenta um bloco de 64 bits de texto cifrado. </a:t>
                </a:r>
              </a:p>
              <a:p>
                <a:r>
                  <a:rPr lang="pt-BR" sz="2800" dirty="0"/>
                  <a:t>O objetivo de cada ciclo é fazer com que cada bit de entrada afete a maioria dos bits finais de saída.</a:t>
                </a:r>
              </a:p>
              <a:p>
                <a:r>
                  <a:rPr lang="pt-BR" altLang="pt-BR" sz="2800" dirty="0"/>
                  <a:t>se um único ciclo, então um bit de entrada afeta no máximo 8 bits de saída.</a:t>
                </a: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66989" cy="3990289"/>
              </a:xfrm>
              <a:blipFill>
                <a:blip r:embed="rId2"/>
                <a:stretch>
                  <a:fillRect l="-962" b="-67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7DFCC627-E312-41F1-9E44-A106C6820BD1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41692077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37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Função de protótipo</a:t>
            </a:r>
            <a:endParaRPr lang="pt-BR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766989" cy="3990289"/>
              </a:xfrm>
            </p:spPr>
            <p:txBody>
              <a:bodyPr/>
              <a:lstStyle/>
              <a:p>
                <a:r>
                  <a:rPr lang="pt-BR" altLang="pt-BR" sz="2400" dirty="0"/>
                  <a:t>no 2º ciclo, os 8 bits afetados são espalhados e inseridos em múltiplas caixas de substituição.</a:t>
                </a:r>
              </a:p>
              <a:p>
                <a:r>
                  <a:rPr lang="pt-BR" altLang="pt-BR" sz="2400" dirty="0"/>
                  <a:t>quantos ciclos?</a:t>
                </a:r>
              </a:p>
              <a:p>
                <a:pPr lvl="1"/>
                <a:r>
                  <a:rPr lang="pt-BR" altLang="pt-BR" sz="2000" dirty="0"/>
                  <a:t>quantas vezes você precisa misturar cartas?</a:t>
                </a:r>
              </a:p>
              <a:p>
                <a:pPr lvl="1"/>
                <a:r>
                  <a:rPr lang="pt-BR" altLang="pt-BR" sz="2000" dirty="0"/>
                  <a:t>torna-se menos eficiente quando </a:t>
                </a:r>
                <a14:m>
                  <m:oMath xmlns:m="http://schemas.openxmlformats.org/officeDocument/2006/math">
                    <m:r>
                      <a:rPr lang="pt-BR" alt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altLang="pt-BR" sz="2000" dirty="0"/>
                  <a:t> aumenta.</a:t>
                </a:r>
              </a:p>
              <a:p>
                <a:r>
                  <a:rPr lang="pt-BR" altLang="pt-BR" sz="2400" dirty="0"/>
                  <a:t>A chave seria as </a:t>
                </a:r>
                <a:r>
                  <a:rPr lang="pt-BR" altLang="pt-BR" sz="2400" b="1" dirty="0"/>
                  <a:t>8 tabelas </a:t>
                </a:r>
                <a:r>
                  <a:rPr lang="pt-BR" altLang="pt-BR" sz="2400" dirty="0"/>
                  <a:t>de permutação (sendo a função de permutação publicamente conhecida)</a:t>
                </a: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766989" cy="3990289"/>
              </a:xfrm>
              <a:blipFill>
                <a:blip r:embed="rId2"/>
                <a:stretch>
                  <a:fillRect l="-736" b="-442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AADE7096-B3FB-45B3-9AC9-CA0AF9C76792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22805339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D2D0DFE4-0D35-4992-BBD7-ABE775117E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Criptografia de chave pública</a:t>
            </a:r>
          </a:p>
        </p:txBody>
      </p:sp>
    </p:spTree>
    <p:extLst>
      <p:ext uri="{BB962C8B-B14F-4D97-AF65-F5344CB8AC3E}">
        <p14:creationId xmlns:p14="http://schemas.microsoft.com/office/powerpoint/2010/main" val="34734746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39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Criptografia de chave pública</a:t>
            </a:r>
            <a:endParaRPr lang="pt-BR" sz="440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274B4D-A5CF-4F8E-86FC-C9917C1F1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81290" cy="3990289"/>
          </a:xfrm>
        </p:spPr>
        <p:txBody>
          <a:bodyPr/>
          <a:lstStyle/>
          <a:p>
            <a:r>
              <a:rPr lang="pt-BR" altLang="pt-BR" sz="2800" dirty="0">
                <a:solidFill>
                  <a:srgbClr val="FF0000"/>
                </a:solidFill>
              </a:rPr>
              <a:t>Chave simétrica</a:t>
            </a:r>
            <a:r>
              <a:rPr lang="pt-BR" altLang="pt-BR" sz="2800" dirty="0"/>
              <a:t>:</a:t>
            </a:r>
          </a:p>
          <a:p>
            <a:pPr lvl="1"/>
            <a:r>
              <a:rPr lang="pt-BR" altLang="pt-BR" sz="2400" dirty="0"/>
              <a:t>Por mais de 2 mil anos (desde César) era necessário que as duas partes tivessem um segredo em comum (chave simétrica)</a:t>
            </a:r>
          </a:p>
          <a:p>
            <a:pPr lvl="1"/>
            <a:r>
              <a:rPr lang="pt-BR" altLang="pt-BR" sz="2400" dirty="0"/>
              <a:t>requer que remetente e destinatário conheçam chave secreta</a:t>
            </a:r>
          </a:p>
          <a:p>
            <a:pPr lvl="1"/>
            <a:r>
              <a:rPr lang="pt-BR" altLang="pt-BR" sz="2400" dirty="0"/>
              <a:t>Como combinar sobre a chave em primeiro lugar (principalmente se nunca se “encontraram”)?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F17D17C-A2F7-4620-A1B3-AD4AC3075129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20415499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40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Criptografia de chave pública</a:t>
            </a:r>
            <a:endParaRPr lang="pt-BR" sz="440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274B4D-A5CF-4F8E-86FC-C9917C1F1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81290" cy="3990289"/>
          </a:xfrm>
        </p:spPr>
        <p:txBody>
          <a:bodyPr/>
          <a:lstStyle/>
          <a:p>
            <a:r>
              <a:rPr lang="pt-BR" altLang="pt-BR" sz="2800" dirty="0">
                <a:solidFill>
                  <a:srgbClr val="FF0000"/>
                </a:solidFill>
              </a:rPr>
              <a:t>Chave pública</a:t>
            </a:r>
            <a:r>
              <a:rPr lang="pt-BR" altLang="pt-BR" sz="2800" dirty="0"/>
              <a:t>:</a:t>
            </a:r>
          </a:p>
          <a:p>
            <a:pPr lvl="1"/>
            <a:r>
              <a:rPr lang="pt-BR" altLang="pt-BR" sz="2400" dirty="0"/>
              <a:t>técnica radicalmente diferente [Diffie-Hellman76, RSA78]</a:t>
            </a:r>
          </a:p>
          <a:p>
            <a:pPr lvl="1"/>
            <a:r>
              <a:rPr lang="pt-BR" altLang="pt-BR" sz="2400" dirty="0"/>
              <a:t>remetente e destinatário </a:t>
            </a:r>
            <a:r>
              <a:rPr lang="pt-BR" altLang="pt-BR" sz="2400" b="1" dirty="0"/>
              <a:t>não</a:t>
            </a:r>
            <a:r>
              <a:rPr lang="pt-BR" altLang="pt-BR" sz="2400" dirty="0"/>
              <a:t> compartilham chave secreta</a:t>
            </a:r>
          </a:p>
          <a:p>
            <a:pPr lvl="1"/>
            <a:r>
              <a:rPr lang="pt-BR" altLang="pt-BR" sz="2400" dirty="0"/>
              <a:t>chave criptográfica </a:t>
            </a:r>
            <a:r>
              <a:rPr lang="pt-BR" altLang="pt-BR" sz="2400" b="1" dirty="0"/>
              <a:t>pública</a:t>
            </a:r>
            <a:r>
              <a:rPr lang="pt-BR" altLang="pt-BR" sz="2400" dirty="0"/>
              <a:t> conhecida por </a:t>
            </a:r>
            <a:r>
              <a:rPr lang="pt-BR" altLang="pt-BR" sz="2400" b="1" dirty="0"/>
              <a:t>todos</a:t>
            </a:r>
          </a:p>
          <a:p>
            <a:pPr lvl="1"/>
            <a:r>
              <a:rPr lang="pt-BR" altLang="pt-BR" sz="2400" dirty="0"/>
              <a:t>chave de decriptação </a:t>
            </a:r>
            <a:r>
              <a:rPr lang="pt-BR" altLang="pt-BR" sz="2400" b="1" dirty="0"/>
              <a:t>privada</a:t>
            </a:r>
            <a:r>
              <a:rPr lang="pt-BR" altLang="pt-BR" sz="2400" dirty="0"/>
              <a:t> conhecida apenas pelo receptor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5DF15B8-A11E-408E-92EE-0991D9597DDF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3275169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41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Criptografia de chave pública</a:t>
            </a:r>
            <a:endParaRPr lang="pt-BR" sz="440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274B4D-A5CF-4F8E-86FC-C9917C1F1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81290" cy="3990289"/>
          </a:xfrm>
        </p:spPr>
        <p:txBody>
          <a:bodyPr/>
          <a:lstStyle/>
          <a:p>
            <a:r>
              <a:rPr lang="pt-BR" altLang="pt-BR" sz="2800" dirty="0"/>
              <a:t>Suponha que Alice queira se comunicar com Bob.</a:t>
            </a:r>
          </a:p>
          <a:p>
            <a:r>
              <a:rPr lang="pt-BR" altLang="pt-BR" sz="2800" dirty="0"/>
              <a:t>Em vez de Alice e Bob compartilharem uma única chave secreta, Bob (o destinatário) tem duas chaves: uma </a:t>
            </a:r>
            <a:r>
              <a:rPr lang="pt-BR" altLang="pt-BR" sz="2800" b="1" dirty="0"/>
              <a:t>chave pública </a:t>
            </a:r>
            <a:r>
              <a:rPr lang="pt-BR" altLang="pt-BR" sz="2800" dirty="0"/>
              <a:t>(a disposição do mundo todo) e uma </a:t>
            </a:r>
            <a:r>
              <a:rPr lang="pt-BR" altLang="pt-BR" sz="2800" b="1" dirty="0"/>
              <a:t>chave privada</a:t>
            </a:r>
            <a:r>
              <a:rPr lang="pt-BR" altLang="pt-BR" sz="2800" dirty="0"/>
              <a:t>, que apenas Bob conhece.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424A479-D697-4A46-8065-4E72140BEEA1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22363148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42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Criptografia de chave pública</a:t>
            </a:r>
            <a:endParaRPr lang="pt-BR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81290" cy="3990289"/>
              </a:xfrm>
            </p:spPr>
            <p:txBody>
              <a:bodyPr/>
              <a:lstStyle/>
              <a:p>
                <a:r>
                  <a:rPr lang="pt-BR" sz="2800" dirty="0"/>
                  <a:t>Para se comunicar com Bob, Alice procura a </a:t>
                </a:r>
                <a:r>
                  <a:rPr lang="pt-BR" sz="2800" b="1" dirty="0"/>
                  <a:t>chave pública de Bob</a:t>
                </a:r>
                <a:r>
                  <a:rPr lang="pt-BR" sz="2800" dirty="0"/>
                  <a:t> e criptografa sua mensagem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800" dirty="0"/>
                  <a:t>, usando a </a:t>
                </a:r>
                <a:r>
                  <a:rPr lang="pt-BR" sz="2800" b="1" dirty="0"/>
                  <a:t>chave pública de Bob </a:t>
                </a:r>
                <a:r>
                  <a:rPr lang="pt-BR" sz="2800" dirty="0"/>
                  <a:t>e um algoritmo de criptografia conhecido.</a:t>
                </a:r>
              </a:p>
              <a:p>
                <a:r>
                  <a:rPr lang="pt-BR" sz="2800" dirty="0"/>
                  <a:t>Bob então usa sua </a:t>
                </a:r>
                <a:r>
                  <a:rPr lang="pt-BR" sz="2800" b="1" dirty="0"/>
                  <a:t>chave privada </a:t>
                </a:r>
                <a:r>
                  <a:rPr lang="pt-BR" sz="2800" dirty="0"/>
                  <a:t>e uma algoritmo de decriptação (padronizado) para decifrar a mensagem</a:t>
                </a:r>
                <a:endParaRPr lang="pt-BR" altLang="pt-BR" sz="2800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81290" cy="3990289"/>
              </a:xfrm>
              <a:blipFill>
                <a:blip r:embed="rId2"/>
                <a:stretch>
                  <a:fillRect l="-943" r="-888" b="-458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F93B0C39-5119-46CC-96F8-F8E61DDD266E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11568560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43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Criptografia de chave pública</a:t>
            </a:r>
            <a:endParaRPr lang="pt-BR" sz="4400" dirty="0"/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E6EB10F3-B45F-499E-AA3A-B1759956DD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9725" y="4266580"/>
            <a:ext cx="1874838" cy="641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800">
                <a:solidFill>
                  <a:srgbClr val="FF0000"/>
                </a:solidFill>
              </a:rPr>
              <a:t>mensagem de</a:t>
            </a:r>
            <a:br>
              <a:rPr lang="pt-BR" altLang="pt-BR" sz="1800">
                <a:solidFill>
                  <a:srgbClr val="FF0000"/>
                </a:solidFill>
              </a:rPr>
            </a:br>
            <a:r>
              <a:rPr lang="pt-BR" altLang="pt-BR" sz="1800">
                <a:solidFill>
                  <a:srgbClr val="FF0000"/>
                </a:solidFill>
              </a:rPr>
              <a:t>texto aberto, m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AA653777-47F7-41CF-8C03-514130BE2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1863" y="4193555"/>
            <a:ext cx="1785937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>
                <a:solidFill>
                  <a:srgbClr val="FF0000"/>
                </a:solidFill>
              </a:rPr>
              <a:t>texto cifrado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7BEBC104-A926-499C-A4B6-67E02FC5A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4713" y="4139580"/>
            <a:ext cx="1392237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endParaRPr lang="pt-BR" altLang="pt-BR"/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273E3691-12F5-4A82-ADE5-A20712FC43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8675" y="4149105"/>
            <a:ext cx="15128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800">
                <a:solidFill>
                  <a:schemeClr val="bg1"/>
                </a:solidFill>
              </a:rPr>
              <a:t>algoritmo de</a:t>
            </a:r>
            <a:br>
              <a:rPr lang="pt-BR" altLang="pt-BR" sz="1800">
                <a:solidFill>
                  <a:schemeClr val="bg1"/>
                </a:solidFill>
              </a:rPr>
            </a:br>
            <a:r>
              <a:rPr lang="pt-BR" altLang="pt-BR" sz="1800">
                <a:solidFill>
                  <a:schemeClr val="bg1"/>
                </a:solidFill>
              </a:rPr>
              <a:t>criptografia</a:t>
            </a: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AEADE8F9-DEC7-4797-B7E6-879F7BCEA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750" y="4152280"/>
            <a:ext cx="1377950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endParaRPr lang="pt-BR" altLang="pt-BR"/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587692BC-FE90-4291-AAFE-EC412E423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1150" y="4266580"/>
            <a:ext cx="136366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600">
                <a:solidFill>
                  <a:schemeClr val="bg1"/>
                </a:solidFill>
              </a:rPr>
              <a:t>algoritmo de</a:t>
            </a:r>
            <a:br>
              <a:rPr lang="pt-BR" altLang="pt-BR" sz="1600">
                <a:solidFill>
                  <a:schemeClr val="bg1"/>
                </a:solidFill>
              </a:rPr>
            </a:br>
            <a:r>
              <a:rPr lang="pt-BR" altLang="pt-BR" sz="1600">
                <a:solidFill>
                  <a:schemeClr val="bg1"/>
                </a:solidFill>
              </a:rPr>
              <a:t>decriptação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0EE2CB66-E58B-46FB-B282-C52A51F3B7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35525" y="4547568"/>
            <a:ext cx="1809750" cy="47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29B935E2-6E19-4571-AB79-526BADE8A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750" y="2055193"/>
            <a:ext cx="1762125" cy="641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sz="1800"/>
              <a:t>Chave pública de Bob</a:t>
            </a:r>
          </a:p>
        </p:txBody>
      </p:sp>
      <p:sp>
        <p:nvSpPr>
          <p:cNvPr id="17" name="Line 13">
            <a:extLst>
              <a:ext uri="{FF2B5EF4-FFF2-40B4-BE49-F238E27FC236}">
                <a16:creationId xmlns:a16="http://schemas.microsoft.com/office/drawing/2014/main" id="{8426AAF9-60A7-436A-9F1E-84552E16537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0175" y="4577730"/>
            <a:ext cx="6746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8401E01A-FA36-4C4B-8DDE-C58B56092A8B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4975" y="4533280"/>
            <a:ext cx="6746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19" name="Picture 15" descr="BS00768_[1]">
            <a:extLst>
              <a:ext uri="{FF2B5EF4-FFF2-40B4-BE49-F238E27FC236}">
                <a16:creationId xmlns:a16="http://schemas.microsoft.com/office/drawing/2014/main" id="{6578B974-1F42-44AD-8166-8FB49D22C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6821488" y="2198068"/>
            <a:ext cx="458787" cy="23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 Box 16">
            <a:extLst>
              <a:ext uri="{FF2B5EF4-FFF2-40B4-BE49-F238E27FC236}">
                <a16:creationId xmlns:a16="http://schemas.microsoft.com/office/drawing/2014/main" id="{23A9CF1B-EEA2-4D33-B98F-C380F508A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2113" y="4188793"/>
            <a:ext cx="17446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>
                <a:solidFill>
                  <a:srgbClr val="FF0000"/>
                </a:solidFill>
              </a:rPr>
              <a:t>mensagem de</a:t>
            </a:r>
            <a:br>
              <a:rPr lang="pt-BR" altLang="pt-BR">
                <a:solidFill>
                  <a:srgbClr val="FF0000"/>
                </a:solidFill>
              </a:rPr>
            </a:br>
            <a:r>
              <a:rPr lang="pt-BR" altLang="pt-BR">
                <a:solidFill>
                  <a:srgbClr val="FF0000"/>
                </a:solidFill>
              </a:rPr>
              <a:t>texto aberto</a:t>
            </a:r>
          </a:p>
        </p:txBody>
      </p:sp>
      <p:grpSp>
        <p:nvGrpSpPr>
          <p:cNvPr id="21" name="Group 17">
            <a:extLst>
              <a:ext uri="{FF2B5EF4-FFF2-40B4-BE49-F238E27FC236}">
                <a16:creationId xmlns:a16="http://schemas.microsoft.com/office/drawing/2014/main" id="{794A9533-6B78-405D-B9D3-AA0431B5FD40}"/>
              </a:ext>
            </a:extLst>
          </p:cNvPr>
          <p:cNvGrpSpPr>
            <a:grpSpLocks/>
          </p:cNvGrpSpPr>
          <p:nvPr/>
        </p:nvGrpSpPr>
        <p:grpSpPr bwMode="auto">
          <a:xfrm>
            <a:off x="5259388" y="4520580"/>
            <a:ext cx="876300" cy="615950"/>
            <a:chOff x="2351" y="2077"/>
            <a:chExt cx="552" cy="388"/>
          </a:xfrm>
        </p:grpSpPr>
        <p:sp>
          <p:nvSpPr>
            <p:cNvPr id="22" name="Text Box 18">
              <a:extLst>
                <a:ext uri="{FF2B5EF4-FFF2-40B4-BE49-F238E27FC236}">
                  <a16:creationId xmlns:a16="http://schemas.microsoft.com/office/drawing/2014/main" id="{C1BEDDC5-F1A4-419C-BB6F-B9A07361B2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1" y="2132"/>
              <a:ext cx="5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>
                  <a:solidFill>
                    <a:srgbClr val="FF0000"/>
                  </a:solidFill>
                </a:rPr>
                <a:t>K  (m)</a:t>
              </a:r>
            </a:p>
          </p:txBody>
        </p:sp>
        <p:sp>
          <p:nvSpPr>
            <p:cNvPr id="23" name="Text Box 19">
              <a:extLst>
                <a:ext uri="{FF2B5EF4-FFF2-40B4-BE49-F238E27FC236}">
                  <a16:creationId xmlns:a16="http://schemas.microsoft.com/office/drawing/2014/main" id="{48547EC1-3DF3-4985-A869-577ABEBD6F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6" y="2253"/>
              <a:ext cx="19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1600">
                  <a:solidFill>
                    <a:srgbClr val="FF0000"/>
                  </a:solidFill>
                </a:rPr>
                <a:t>B</a:t>
              </a:r>
            </a:p>
          </p:txBody>
        </p:sp>
        <p:sp>
          <p:nvSpPr>
            <p:cNvPr id="24" name="Text Box 20">
              <a:extLst>
                <a:ext uri="{FF2B5EF4-FFF2-40B4-BE49-F238E27FC236}">
                  <a16:creationId xmlns:a16="http://schemas.microsoft.com/office/drawing/2014/main" id="{09F01B1D-316B-467C-90BB-A0677E3464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5" y="2077"/>
              <a:ext cx="17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1600">
                  <a:solidFill>
                    <a:srgbClr val="FF0000"/>
                  </a:solidFill>
                </a:rPr>
                <a:t>+</a:t>
              </a:r>
            </a:p>
          </p:txBody>
        </p:sp>
      </p:grpSp>
      <p:sp>
        <p:nvSpPr>
          <p:cNvPr id="25" name="Text Box 21">
            <a:extLst>
              <a:ext uri="{FF2B5EF4-FFF2-40B4-BE49-F238E27FC236}">
                <a16:creationId xmlns:a16="http://schemas.microsoft.com/office/drawing/2014/main" id="{EED2DBD9-1FBA-4662-9383-9D62ED316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3138" y="2115518"/>
            <a:ext cx="415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>
                <a:solidFill>
                  <a:srgbClr val="FF0000"/>
                </a:solidFill>
              </a:rPr>
              <a:t>K </a:t>
            </a:r>
          </a:p>
        </p:txBody>
      </p:sp>
      <p:sp>
        <p:nvSpPr>
          <p:cNvPr id="26" name="Text Box 22">
            <a:extLst>
              <a:ext uri="{FF2B5EF4-FFF2-40B4-BE49-F238E27FC236}">
                <a16:creationId xmlns:a16="http://schemas.microsoft.com/office/drawing/2014/main" id="{D273365C-F2DC-4430-8890-F6FC71F9C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2294905"/>
            <a:ext cx="312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60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27" name="Text Box 23">
            <a:extLst>
              <a:ext uri="{FF2B5EF4-FFF2-40B4-BE49-F238E27FC236}">
                <a16:creationId xmlns:a16="http://schemas.microsoft.com/office/drawing/2014/main" id="{8C7FF673-138C-4826-B65F-E4FAC0A9D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1888" y="2015505"/>
            <a:ext cx="2825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60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28" name="Text Box 24">
            <a:extLst>
              <a:ext uri="{FF2B5EF4-FFF2-40B4-BE49-F238E27FC236}">
                <a16:creationId xmlns:a16="http://schemas.microsoft.com/office/drawing/2014/main" id="{033C25DA-4031-4591-A01C-419361237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5575" y="2733055"/>
            <a:ext cx="1762125" cy="641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sz="1800"/>
              <a:t>Chave </a:t>
            </a:r>
            <a:r>
              <a:rPr lang="pt-BR" altLang="pt-BR" sz="1800" u="sng"/>
              <a:t>privada</a:t>
            </a:r>
          </a:p>
          <a:p>
            <a:r>
              <a:rPr lang="pt-BR" altLang="pt-BR" sz="1800"/>
              <a:t>de Bob</a:t>
            </a:r>
          </a:p>
        </p:txBody>
      </p:sp>
      <p:pic>
        <p:nvPicPr>
          <p:cNvPr id="29" name="Picture 25" descr="BS00768_[1]">
            <a:extLst>
              <a:ext uri="{FF2B5EF4-FFF2-40B4-BE49-F238E27FC236}">
                <a16:creationId xmlns:a16="http://schemas.microsoft.com/office/drawing/2014/main" id="{EA7A7357-5A71-4562-BED2-C8EBBB5CDC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6818313" y="2871168"/>
            <a:ext cx="542925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 Box 26">
            <a:extLst>
              <a:ext uri="{FF2B5EF4-FFF2-40B4-BE49-F238E27FC236}">
                <a16:creationId xmlns:a16="http://schemas.microsoft.com/office/drawing/2014/main" id="{22DC15CB-1016-4720-AA7F-0FF037FD8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2663" y="2806080"/>
            <a:ext cx="415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>
                <a:solidFill>
                  <a:srgbClr val="FF0000"/>
                </a:solidFill>
              </a:rPr>
              <a:t>K </a:t>
            </a:r>
          </a:p>
        </p:txBody>
      </p:sp>
      <p:sp>
        <p:nvSpPr>
          <p:cNvPr id="31" name="Text Box 27">
            <a:extLst>
              <a:ext uri="{FF2B5EF4-FFF2-40B4-BE49-F238E27FC236}">
                <a16:creationId xmlns:a16="http://schemas.microsoft.com/office/drawing/2014/main" id="{C8D0F5C6-94FC-4C96-9914-D3B656D46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0625" y="2998168"/>
            <a:ext cx="312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60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32" name="Text Box 28">
            <a:extLst>
              <a:ext uri="{FF2B5EF4-FFF2-40B4-BE49-F238E27FC236}">
                <a16:creationId xmlns:a16="http://schemas.microsoft.com/office/drawing/2014/main" id="{1EE9574B-07F6-47D6-8A1E-F94B2359C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1263" y="2718768"/>
            <a:ext cx="2682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600">
                <a:solidFill>
                  <a:srgbClr val="FF0000"/>
                </a:solidFill>
              </a:rPr>
              <a:t>-</a:t>
            </a:r>
          </a:p>
        </p:txBody>
      </p:sp>
      <p:grpSp>
        <p:nvGrpSpPr>
          <p:cNvPr id="33" name="Group 29">
            <a:extLst>
              <a:ext uri="{FF2B5EF4-FFF2-40B4-BE49-F238E27FC236}">
                <a16:creationId xmlns:a16="http://schemas.microsoft.com/office/drawing/2014/main" id="{3449A81A-D3B2-4C43-B86F-3A1F267D12CA}"/>
              </a:ext>
            </a:extLst>
          </p:cNvPr>
          <p:cNvGrpSpPr>
            <a:grpSpLocks/>
          </p:cNvGrpSpPr>
          <p:nvPr/>
        </p:nvGrpSpPr>
        <p:grpSpPr bwMode="auto">
          <a:xfrm>
            <a:off x="8145463" y="4717430"/>
            <a:ext cx="1885950" cy="635000"/>
            <a:chOff x="2413" y="3394"/>
            <a:chExt cx="1188" cy="400"/>
          </a:xfrm>
        </p:grpSpPr>
        <p:sp>
          <p:nvSpPr>
            <p:cNvPr id="34" name="Text Box 30">
              <a:extLst>
                <a:ext uri="{FF2B5EF4-FFF2-40B4-BE49-F238E27FC236}">
                  <a16:creationId xmlns:a16="http://schemas.microsoft.com/office/drawing/2014/main" id="{9EA4D7F0-E819-4DF1-B7BE-0A3F13634B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3" y="3434"/>
              <a:ext cx="11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>
                  <a:solidFill>
                    <a:srgbClr val="FF0000"/>
                  </a:solidFill>
                </a:rPr>
                <a:t>m = K  </a:t>
              </a:r>
              <a:r>
                <a:rPr lang="pt-BR" altLang="pt-BR" sz="2400">
                  <a:solidFill>
                    <a:srgbClr val="FF0000"/>
                  </a:solidFill>
                </a:rPr>
                <a:t>(</a:t>
              </a:r>
              <a:r>
                <a:rPr lang="pt-BR" altLang="pt-BR">
                  <a:solidFill>
                    <a:srgbClr val="FF0000"/>
                  </a:solidFill>
                </a:rPr>
                <a:t>K  (m)</a:t>
              </a:r>
              <a:r>
                <a:rPr lang="pt-BR" altLang="pt-BR" sz="2400">
                  <a:solidFill>
                    <a:srgbClr val="FF0000"/>
                  </a:solidFill>
                </a:rPr>
                <a:t>)</a:t>
              </a:r>
            </a:p>
          </p:txBody>
        </p:sp>
        <p:sp>
          <p:nvSpPr>
            <p:cNvPr id="35" name="Text Box 31">
              <a:extLst>
                <a:ext uri="{FF2B5EF4-FFF2-40B4-BE49-F238E27FC236}">
                  <a16:creationId xmlns:a16="http://schemas.microsoft.com/office/drawing/2014/main" id="{7421BE4A-3E2A-4986-A0CB-AE6FCED76D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3" y="3582"/>
              <a:ext cx="19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1600">
                  <a:solidFill>
                    <a:srgbClr val="FF0000"/>
                  </a:solidFill>
                </a:rPr>
                <a:t>B</a:t>
              </a:r>
            </a:p>
          </p:txBody>
        </p:sp>
        <p:sp>
          <p:nvSpPr>
            <p:cNvPr id="36" name="Text Box 32">
              <a:extLst>
                <a:ext uri="{FF2B5EF4-FFF2-40B4-BE49-F238E27FC236}">
                  <a16:creationId xmlns:a16="http://schemas.microsoft.com/office/drawing/2014/main" id="{7F90CD0C-1D54-4205-A71D-8DD61E3BFB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9" y="3400"/>
              <a:ext cx="17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1600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37" name="Text Box 33">
              <a:extLst>
                <a:ext uri="{FF2B5EF4-FFF2-40B4-BE49-F238E27FC236}">
                  <a16:creationId xmlns:a16="http://schemas.microsoft.com/office/drawing/2014/main" id="{7C078F62-061D-4127-904A-6229D98F51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3570"/>
              <a:ext cx="19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1600">
                  <a:solidFill>
                    <a:srgbClr val="FF0000"/>
                  </a:solidFill>
                </a:rPr>
                <a:t>B</a:t>
              </a:r>
            </a:p>
          </p:txBody>
        </p:sp>
        <p:sp>
          <p:nvSpPr>
            <p:cNvPr id="38" name="Text Box 34">
              <a:extLst>
                <a:ext uri="{FF2B5EF4-FFF2-40B4-BE49-F238E27FC236}">
                  <a16:creationId xmlns:a16="http://schemas.microsoft.com/office/drawing/2014/main" id="{DC21F9A8-2BF0-43A7-A6D0-638AC63E80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1" y="3394"/>
              <a:ext cx="16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1600">
                  <a:solidFill>
                    <a:srgbClr val="FF0000"/>
                  </a:solidFill>
                </a:rPr>
                <a:t>-</a:t>
              </a:r>
            </a:p>
          </p:txBody>
        </p:sp>
      </p:grpSp>
      <p:sp>
        <p:nvSpPr>
          <p:cNvPr id="39" name="Freeform 35">
            <a:extLst>
              <a:ext uri="{FF2B5EF4-FFF2-40B4-BE49-F238E27FC236}">
                <a16:creationId xmlns:a16="http://schemas.microsoft.com/office/drawing/2014/main" id="{5172EC95-F7BB-4AC3-A9CB-B7B84D3FC407}"/>
              </a:ext>
            </a:extLst>
          </p:cNvPr>
          <p:cNvSpPr>
            <a:spLocks/>
          </p:cNvSpPr>
          <p:nvPr/>
        </p:nvSpPr>
        <p:spPr bwMode="auto">
          <a:xfrm>
            <a:off x="4306888" y="2331418"/>
            <a:ext cx="2393950" cy="1754187"/>
          </a:xfrm>
          <a:custGeom>
            <a:avLst/>
            <a:gdLst>
              <a:gd name="T0" fmla="*/ 2147483647 w 1508"/>
              <a:gd name="T1" fmla="*/ 0 h 1105"/>
              <a:gd name="T2" fmla="*/ 0 w 1508"/>
              <a:gd name="T3" fmla="*/ 0 h 1105"/>
              <a:gd name="T4" fmla="*/ 2147483647 w 1508"/>
              <a:gd name="T5" fmla="*/ 2147483647 h 1105"/>
              <a:gd name="T6" fmla="*/ 0 60000 65536"/>
              <a:gd name="T7" fmla="*/ 0 60000 65536"/>
              <a:gd name="T8" fmla="*/ 0 60000 65536"/>
              <a:gd name="T9" fmla="*/ 0 w 1508"/>
              <a:gd name="T10" fmla="*/ 0 h 1105"/>
              <a:gd name="T11" fmla="*/ 1508 w 1508"/>
              <a:gd name="T12" fmla="*/ 1105 h 11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08" h="1105">
                <a:moveTo>
                  <a:pt x="1508" y="0"/>
                </a:moveTo>
                <a:lnTo>
                  <a:pt x="0" y="0"/>
                </a:lnTo>
                <a:lnTo>
                  <a:pt x="5" y="1105"/>
                </a:lnTo>
              </a:path>
            </a:pathLst>
          </a:custGeom>
          <a:noFill/>
          <a:ln w="1905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0" name="Freeform 36">
            <a:extLst>
              <a:ext uri="{FF2B5EF4-FFF2-40B4-BE49-F238E27FC236}">
                <a16:creationId xmlns:a16="http://schemas.microsoft.com/office/drawing/2014/main" id="{47E4597E-0ED7-4FEE-AE44-D820D0AB467E}"/>
              </a:ext>
            </a:extLst>
          </p:cNvPr>
          <p:cNvSpPr>
            <a:spLocks/>
          </p:cNvSpPr>
          <p:nvPr/>
        </p:nvSpPr>
        <p:spPr bwMode="auto">
          <a:xfrm>
            <a:off x="6751638" y="3004518"/>
            <a:ext cx="330200" cy="1074737"/>
          </a:xfrm>
          <a:custGeom>
            <a:avLst/>
            <a:gdLst>
              <a:gd name="T0" fmla="*/ 2147483647 w 184"/>
              <a:gd name="T1" fmla="*/ 0 h 1113"/>
              <a:gd name="T2" fmla="*/ 0 w 184"/>
              <a:gd name="T3" fmla="*/ 2147483647 h 1113"/>
              <a:gd name="T4" fmla="*/ 2147483647 w 184"/>
              <a:gd name="T5" fmla="*/ 2147483647 h 1113"/>
              <a:gd name="T6" fmla="*/ 0 60000 65536"/>
              <a:gd name="T7" fmla="*/ 0 60000 65536"/>
              <a:gd name="T8" fmla="*/ 0 60000 65536"/>
              <a:gd name="T9" fmla="*/ 0 w 184"/>
              <a:gd name="T10" fmla="*/ 0 h 1113"/>
              <a:gd name="T11" fmla="*/ 184 w 184"/>
              <a:gd name="T12" fmla="*/ 1113 h 11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4" h="1113">
                <a:moveTo>
                  <a:pt x="184" y="0"/>
                </a:moveTo>
                <a:lnTo>
                  <a:pt x="0" y="8"/>
                </a:lnTo>
                <a:lnTo>
                  <a:pt x="5" y="1113"/>
                </a:lnTo>
              </a:path>
            </a:pathLst>
          </a:custGeom>
          <a:noFill/>
          <a:ln w="1905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41" name="Imagem 40">
            <a:extLst>
              <a:ext uri="{FF2B5EF4-FFF2-40B4-BE49-F238E27FC236}">
                <a16:creationId xmlns:a16="http://schemas.microsoft.com/office/drawing/2014/main" id="{9FDC5A16-DD2D-482F-968A-367844CE63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594" y="3314995"/>
            <a:ext cx="865241" cy="865241"/>
          </a:xfrm>
          <a:prstGeom prst="rect">
            <a:avLst/>
          </a:prstGeom>
        </p:spPr>
      </p:pic>
      <p:pic>
        <p:nvPicPr>
          <p:cNvPr id="42" name="Imagem 41">
            <a:extLst>
              <a:ext uri="{FF2B5EF4-FFF2-40B4-BE49-F238E27FC236}">
                <a16:creationId xmlns:a16="http://schemas.microsoft.com/office/drawing/2014/main" id="{9ED4EAEF-D5E1-42D2-8504-4EF9CFD567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073" y="3164855"/>
            <a:ext cx="1003612" cy="1003612"/>
          </a:xfrm>
          <a:prstGeom prst="rect">
            <a:avLst/>
          </a:prstGeom>
        </p:spPr>
      </p:pic>
      <p:sp>
        <p:nvSpPr>
          <p:cNvPr id="43" name="Text Box 31">
            <a:extLst>
              <a:ext uri="{FF2B5EF4-FFF2-40B4-BE49-F238E27FC236}">
                <a16:creationId xmlns:a16="http://schemas.microsoft.com/office/drawing/2014/main" id="{A0C32C5F-6C33-4120-8B1D-98B6DDB2F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2744" y="3306343"/>
            <a:ext cx="781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dirty="0">
                <a:solidFill>
                  <a:schemeClr val="accent2"/>
                </a:solidFill>
              </a:rPr>
              <a:t>Alice</a:t>
            </a:r>
          </a:p>
        </p:txBody>
      </p:sp>
      <p:sp>
        <p:nvSpPr>
          <p:cNvPr id="44" name="Text Box 32">
            <a:extLst>
              <a:ext uri="{FF2B5EF4-FFF2-40B4-BE49-F238E27FC236}">
                <a16:creationId xmlns:a16="http://schemas.microsoft.com/office/drawing/2014/main" id="{79AEB278-3DED-40C0-9FBD-980CFB7C9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50835" y="3184018"/>
            <a:ext cx="628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dirty="0">
                <a:solidFill>
                  <a:schemeClr val="accent2"/>
                </a:solidFill>
              </a:rPr>
              <a:t>Bob</a:t>
            </a: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17A1D162-44B3-482B-A547-BE0824C64958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6001803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44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Algoritmo de criptografia de chave pública</a:t>
            </a:r>
            <a:endParaRPr lang="pt-BR" sz="440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274B4D-A5CF-4F8E-86FC-C9917C1F1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81290" cy="3990289"/>
          </a:xfrm>
        </p:spPr>
        <p:txBody>
          <a:bodyPr/>
          <a:lstStyle/>
          <a:p>
            <a:r>
              <a:rPr lang="pt-BR" sz="2800" dirty="0"/>
              <a:t>Conceitualmente simples, </a:t>
            </a:r>
            <a:r>
              <a:rPr lang="pt-BR" sz="2800" u="sng" dirty="0"/>
              <a:t>mas há duas preocupações</a:t>
            </a:r>
            <a:r>
              <a:rPr lang="pt-BR" sz="2800" dirty="0"/>
              <a:t>: (1) Um intruso conhece tanto o algoritmo que Alice usou para criptografia quanto a chave publica de bob</a:t>
            </a:r>
          </a:p>
          <a:p>
            <a:pPr lvl="1"/>
            <a:r>
              <a:rPr lang="pt-BR" sz="2400" dirty="0"/>
              <a:t>Mas a escolha de chaves e decodificação devem ser escolhidas de modo a se tornar impossível (ou quase) descobrir a mensagem sem a chave privada.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6C9E012-3CC5-46D9-813B-D3D1F8561DB7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9856518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45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Algoritmo de criptografia de chave pública</a:t>
            </a:r>
            <a:endParaRPr lang="pt-BR" sz="440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274B4D-A5CF-4F8E-86FC-C9917C1F1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81290" cy="3990289"/>
          </a:xfrm>
        </p:spPr>
        <p:txBody>
          <a:bodyPr/>
          <a:lstStyle/>
          <a:p>
            <a:r>
              <a:rPr lang="pt-BR" sz="2800" dirty="0"/>
              <a:t>(2) Outro problema: qualquer um poderia usar a chave pública de Bob e enviar uma mensagem a ele se passando por Alice.</a:t>
            </a:r>
          </a:p>
          <a:p>
            <a:pPr lvl="1"/>
            <a:r>
              <a:rPr lang="pt-BR" sz="2400" dirty="0"/>
              <a:t>Solução: assinatura digital (veremos em breve)</a:t>
            </a:r>
            <a:endParaRPr lang="pt-BR" sz="20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11B8618-FB84-4D31-BE87-51F44965272C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14871013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46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Algoritmo de criptografia de chave pública</a:t>
            </a:r>
            <a:endParaRPr lang="pt-BR" sz="440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274B4D-A5CF-4F8E-86FC-C9917C1F1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81290" cy="3990289"/>
          </a:xfrm>
        </p:spPr>
        <p:txBody>
          <a:bodyPr/>
          <a:lstStyle/>
          <a:p>
            <a:r>
              <a:rPr lang="pt-BR" sz="2800" dirty="0"/>
              <a:t>Requisitos:</a:t>
            </a:r>
            <a:endParaRPr lang="pt-BR" sz="20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8B82B5F-A33E-40D4-93F9-352BDD068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5611" y="2880593"/>
            <a:ext cx="6398840" cy="62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ZapfDingbats" pitchFamily="82" charset="2"/>
              <a:buNone/>
            </a:pPr>
            <a:r>
              <a:rPr lang="pt-BR" altLang="pt-BR" kern="0" dirty="0"/>
              <a:t>precisa de K  (   ) e K  (   ) tais que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2A3F21C9-A262-4744-9922-8DE7C8191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5976" y="3140968"/>
            <a:ext cx="376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2400" dirty="0"/>
              <a:t>B</a:t>
            </a:r>
            <a:endParaRPr lang="pt-BR" altLang="pt-BR" sz="2400" dirty="0">
              <a:latin typeface="Times New Roman" pitchFamily="18" charset="0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C3493DAB-D697-4F91-ADEB-C559C4EF0F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930" y="3140968"/>
            <a:ext cx="376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2400" dirty="0"/>
              <a:t>B</a:t>
            </a:r>
            <a:endParaRPr lang="pt-BR" altLang="pt-BR" sz="2400" dirty="0">
              <a:latin typeface="Times New Roman" pitchFamily="18" charset="0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B7BAEE21-F505-4200-AD17-9540F0BE0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9506" y="2568922"/>
            <a:ext cx="33655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4800" dirty="0">
                <a:latin typeface="Times New Roman" pitchFamily="18" charset="0"/>
              </a:rPr>
              <a:t>.</a:t>
            </a:r>
            <a:endParaRPr lang="pt-BR" altLang="pt-BR" sz="2400" dirty="0">
              <a:latin typeface="Times New Roman" pitchFamily="18" charset="0"/>
            </a:endParaRP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D95E7F80-66C1-4561-A990-3C758FF471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168" y="2568922"/>
            <a:ext cx="33655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4800">
                <a:latin typeface="Times New Roman" pitchFamily="18" charset="0"/>
              </a:rPr>
              <a:t>.</a:t>
            </a:r>
            <a:endParaRPr lang="pt-BR" altLang="pt-BR" sz="2400">
              <a:latin typeface="Times New Roman" pitchFamily="18" charset="0"/>
            </a:endParaRP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C571C2F0-D20B-46B4-9BC2-160E1AE30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4100" y="5420072"/>
            <a:ext cx="3762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2400"/>
              <a:t>B</a:t>
            </a:r>
            <a:endParaRPr lang="pt-BR" altLang="pt-BR" sz="2400">
              <a:latin typeface="Times New Roman" pitchFamily="18" charset="0"/>
            </a:endParaRP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E515BA82-83F5-4ED2-82EB-B2DCBEC7D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5750" y="4565997"/>
            <a:ext cx="433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2400"/>
              <a:t>B</a:t>
            </a:r>
            <a:endParaRPr lang="pt-BR" altLang="pt-BR" sz="2400">
              <a:latin typeface="Times New Roman" pitchFamily="18" charset="0"/>
            </a:endParaRP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15499FD7-6ED4-4C4B-B413-FD56F1D78566}"/>
              </a:ext>
            </a:extLst>
          </p:cNvPr>
          <p:cNvGrpSpPr>
            <a:grpSpLocks/>
          </p:cNvGrpSpPr>
          <p:nvPr/>
        </p:nvGrpSpPr>
        <p:grpSpPr bwMode="auto">
          <a:xfrm>
            <a:off x="1468438" y="2848322"/>
            <a:ext cx="552450" cy="533400"/>
            <a:chOff x="489" y="1776"/>
            <a:chExt cx="348" cy="336"/>
          </a:xfrm>
        </p:grpSpPr>
        <p:sp>
          <p:nvSpPr>
            <p:cNvPr id="13" name="Oval 13">
              <a:extLst>
                <a:ext uri="{FF2B5EF4-FFF2-40B4-BE49-F238E27FC236}">
                  <a16:creationId xmlns:a16="http://schemas.microsoft.com/office/drawing/2014/main" id="{4D76E32A-91A9-4191-AE80-5FEA547D1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" y="1786"/>
              <a:ext cx="348" cy="32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endParaRPr lang="pt-BR" altLang="pt-BR"/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9398B2DC-2E86-4FA0-8DD5-AA2E49547B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" y="1776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2800">
                  <a:solidFill>
                    <a:schemeClr val="accent2"/>
                  </a:solidFill>
                  <a:latin typeface="Times New Roman" pitchFamily="18" charset="0"/>
                </a:rPr>
                <a:t>1</a:t>
              </a:r>
              <a:endParaRPr lang="pt-BR" altLang="pt-BR" sz="2400">
                <a:latin typeface="Times New Roman" pitchFamily="18" charset="0"/>
              </a:endParaRPr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C85F0163-E18F-4B3F-985B-B71DDB78AF3C}"/>
              </a:ext>
            </a:extLst>
          </p:cNvPr>
          <p:cNvGrpSpPr>
            <a:grpSpLocks/>
          </p:cNvGrpSpPr>
          <p:nvPr/>
        </p:nvGrpSpPr>
        <p:grpSpPr bwMode="auto">
          <a:xfrm>
            <a:off x="1490663" y="4353272"/>
            <a:ext cx="552450" cy="533400"/>
            <a:chOff x="489" y="1776"/>
            <a:chExt cx="348" cy="336"/>
          </a:xfrm>
        </p:grpSpPr>
        <p:sp>
          <p:nvSpPr>
            <p:cNvPr id="16" name="Oval 16">
              <a:extLst>
                <a:ext uri="{FF2B5EF4-FFF2-40B4-BE49-F238E27FC236}">
                  <a16:creationId xmlns:a16="http://schemas.microsoft.com/office/drawing/2014/main" id="{A3B44DB5-D409-4C8E-A932-722C64955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" y="1786"/>
              <a:ext cx="348" cy="32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endParaRPr lang="pt-BR" altLang="pt-BR"/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1E87A0A1-0511-4BE6-92F6-5B8B49BC1E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3" y="1776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2800">
                  <a:solidFill>
                    <a:schemeClr val="accent2"/>
                  </a:solidFill>
                  <a:latin typeface="Times New Roman" pitchFamily="18" charset="0"/>
                </a:rPr>
                <a:t>2</a:t>
              </a:r>
              <a:endParaRPr lang="pt-BR" altLang="pt-BR" sz="2400">
                <a:latin typeface="Times New Roman" pitchFamily="18" charset="0"/>
              </a:endParaRPr>
            </a:p>
          </p:txBody>
        </p:sp>
      </p:grpSp>
      <p:sp>
        <p:nvSpPr>
          <p:cNvPr id="18" name="Text Box 19">
            <a:extLst>
              <a:ext uri="{FF2B5EF4-FFF2-40B4-BE49-F238E27FC236}">
                <a16:creationId xmlns:a16="http://schemas.microsoft.com/office/drawing/2014/main" id="{4CBCB1A3-5F12-47E1-9843-924D48C5A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3808" y="2702272"/>
            <a:ext cx="33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2400" dirty="0"/>
              <a:t>+</a:t>
            </a:r>
            <a:endParaRPr lang="pt-BR" altLang="pt-BR" sz="2400" dirty="0">
              <a:latin typeface="Times New Roman" pitchFamily="18" charset="0"/>
            </a:endParaRPr>
          </a:p>
        </p:txBody>
      </p:sp>
      <p:sp>
        <p:nvSpPr>
          <p:cNvPr id="19" name="Text Box 20">
            <a:extLst>
              <a:ext uri="{FF2B5EF4-FFF2-40B4-BE49-F238E27FC236}">
                <a16:creationId xmlns:a16="http://schemas.microsoft.com/office/drawing/2014/main" id="{64FE3867-015F-4F56-9515-BD665189A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3018" y="2741960"/>
            <a:ext cx="311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2400"/>
              <a:t>-</a:t>
            </a:r>
            <a:endParaRPr lang="pt-BR" altLang="pt-BR" sz="2400">
              <a:latin typeface="Times New Roman" pitchFamily="18" charset="0"/>
            </a:endParaRPr>
          </a:p>
        </p:txBody>
      </p:sp>
      <p:grpSp>
        <p:nvGrpSpPr>
          <p:cNvPr id="20" name="Group 21">
            <a:extLst>
              <a:ext uri="{FF2B5EF4-FFF2-40B4-BE49-F238E27FC236}">
                <a16:creationId xmlns:a16="http://schemas.microsoft.com/office/drawing/2014/main" id="{5FFB5276-3577-43D1-9E47-47018BE392C5}"/>
              </a:ext>
            </a:extLst>
          </p:cNvPr>
          <p:cNvGrpSpPr>
            <a:grpSpLocks/>
          </p:cNvGrpSpPr>
          <p:nvPr/>
        </p:nvGrpSpPr>
        <p:grpSpPr bwMode="auto">
          <a:xfrm>
            <a:off x="3238500" y="3275360"/>
            <a:ext cx="2830513" cy="942975"/>
            <a:chOff x="1340" y="1706"/>
            <a:chExt cx="1783" cy="594"/>
          </a:xfrm>
        </p:grpSpPr>
        <p:grpSp>
          <p:nvGrpSpPr>
            <p:cNvPr id="21" name="Group 22">
              <a:extLst>
                <a:ext uri="{FF2B5EF4-FFF2-40B4-BE49-F238E27FC236}">
                  <a16:creationId xmlns:a16="http://schemas.microsoft.com/office/drawing/2014/main" id="{64D32447-E43E-4B67-A0A9-9E3AEFB706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0" y="1841"/>
              <a:ext cx="1783" cy="459"/>
              <a:chOff x="1711" y="1463"/>
              <a:chExt cx="1783" cy="459"/>
            </a:xfrm>
          </p:grpSpPr>
          <p:sp>
            <p:nvSpPr>
              <p:cNvPr id="24" name="Text Box 23">
                <a:extLst>
                  <a:ext uri="{FF2B5EF4-FFF2-40B4-BE49-F238E27FC236}">
                    <a16:creationId xmlns:a16="http://schemas.microsoft.com/office/drawing/2014/main" id="{957ED5CF-BD7F-4A98-B9DF-43CFF96468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11" y="1463"/>
                <a:ext cx="178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/>
                <a:r>
                  <a:rPr lang="pt-BR" altLang="pt-BR" sz="2800">
                    <a:solidFill>
                      <a:srgbClr val="FF0000"/>
                    </a:solidFill>
                  </a:rPr>
                  <a:t>K  (K  (m))  =  m</a:t>
                </a:r>
                <a:r>
                  <a:rPr lang="pt-BR" altLang="pt-BR" sz="2800"/>
                  <a:t> </a:t>
                </a:r>
              </a:p>
            </p:txBody>
          </p:sp>
          <p:sp>
            <p:nvSpPr>
              <p:cNvPr id="25" name="Text Box 24">
                <a:extLst>
                  <a:ext uri="{FF2B5EF4-FFF2-40B4-BE49-F238E27FC236}">
                    <a16:creationId xmlns:a16="http://schemas.microsoft.com/office/drawing/2014/main" id="{93CCF3FA-7E28-4148-9C8C-AADBE9B9E6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82" y="1634"/>
                <a:ext cx="23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/>
                <a:r>
                  <a:rPr lang="pt-BR" altLang="pt-BR" sz="2400">
                    <a:solidFill>
                      <a:srgbClr val="FF0000"/>
                    </a:solidFill>
                  </a:rPr>
                  <a:t>B</a:t>
                </a:r>
                <a:endParaRPr lang="pt-BR" altLang="pt-BR" sz="2800"/>
              </a:p>
            </p:txBody>
          </p:sp>
          <p:sp>
            <p:nvSpPr>
              <p:cNvPr id="26" name="Text Box 25">
                <a:extLst>
                  <a:ext uri="{FF2B5EF4-FFF2-40B4-BE49-F238E27FC236}">
                    <a16:creationId xmlns:a16="http://schemas.microsoft.com/office/drawing/2014/main" id="{A102702C-8BBC-44DB-8AF8-EC2102AB61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64" y="1620"/>
                <a:ext cx="23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algn="ctr"/>
                <a:r>
                  <a:rPr lang="pt-BR" altLang="pt-BR" sz="2400">
                    <a:solidFill>
                      <a:srgbClr val="FF0000"/>
                    </a:solidFill>
                  </a:rPr>
                  <a:t>B</a:t>
                </a:r>
                <a:endParaRPr lang="pt-BR" altLang="pt-BR" sz="2800"/>
              </a:p>
            </p:txBody>
          </p:sp>
        </p:grpSp>
        <p:sp>
          <p:nvSpPr>
            <p:cNvPr id="22" name="Text Box 26">
              <a:extLst>
                <a:ext uri="{FF2B5EF4-FFF2-40B4-BE49-F238E27FC236}">
                  <a16:creationId xmlns:a16="http://schemas.microsoft.com/office/drawing/2014/main" id="{2760E26D-2C31-47C2-B06A-5ED61DC121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7" y="1706"/>
              <a:ext cx="1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2400">
                  <a:solidFill>
                    <a:srgbClr val="FF0000"/>
                  </a:solidFill>
                </a:rPr>
                <a:t>-</a:t>
              </a:r>
              <a:endParaRPr lang="pt-BR" altLang="pt-BR" sz="240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23" name="Text Box 27">
              <a:extLst>
                <a:ext uri="{FF2B5EF4-FFF2-40B4-BE49-F238E27FC236}">
                  <a16:creationId xmlns:a16="http://schemas.microsoft.com/office/drawing/2014/main" id="{D77BB9B5-1F03-4D4E-B468-DCCE037A07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3" y="1722"/>
              <a:ext cx="2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2400">
                  <a:solidFill>
                    <a:srgbClr val="FF0000"/>
                  </a:solidFill>
                </a:rPr>
                <a:t>+</a:t>
              </a:r>
              <a:endParaRPr lang="pt-BR" altLang="pt-BR" sz="240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27" name="Text Box 28">
            <a:extLst>
              <a:ext uri="{FF2B5EF4-FFF2-40B4-BE49-F238E27FC236}">
                <a16:creationId xmlns:a16="http://schemas.microsoft.com/office/drawing/2014/main" id="{58604FEF-435C-4A5B-96CA-94E2EB5969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0362" y="4219922"/>
            <a:ext cx="33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2400"/>
              <a:t>+</a:t>
            </a:r>
            <a:endParaRPr lang="pt-BR" altLang="pt-BR" sz="2400">
              <a:latin typeface="Times New Roman" pitchFamily="18" charset="0"/>
            </a:endParaRPr>
          </a:p>
        </p:txBody>
      </p:sp>
      <p:sp>
        <p:nvSpPr>
          <p:cNvPr id="28" name="Text Box 29">
            <a:extLst>
              <a:ext uri="{FF2B5EF4-FFF2-40B4-BE49-F238E27FC236}">
                <a16:creationId xmlns:a16="http://schemas.microsoft.com/office/drawing/2014/main" id="{8DF5F8FB-B4B7-438F-B1D1-81D487974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5212" y="5035897"/>
            <a:ext cx="311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2400"/>
              <a:t>-</a:t>
            </a:r>
            <a:endParaRPr lang="pt-BR" altLang="pt-BR" sz="2400">
              <a:latin typeface="Times New Roman" pitchFamily="18" charset="0"/>
            </a:endParaRPr>
          </a:p>
        </p:txBody>
      </p:sp>
      <p:sp>
        <p:nvSpPr>
          <p:cNvPr id="29" name="Rectangle 8">
            <a:extLst>
              <a:ext uri="{FF2B5EF4-FFF2-40B4-BE49-F238E27FC236}">
                <a16:creationId xmlns:a16="http://schemas.microsoft.com/office/drawing/2014/main" id="{821156A2-6FE6-408F-9AAB-41608F115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8463" y="4315693"/>
            <a:ext cx="5838410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None/>
            </a:pPr>
            <a:r>
              <a:rPr lang="pt-BR" altLang="pt-BR" sz="2800" dirty="0"/>
              <a:t>dada a chave pública K  , deverá ser impossível calcular chave privada K  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E9A43F27-51BC-435D-AEEB-B877061AD4CC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78892006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D2D0DFE4-0D35-4992-BBD7-ABE775117E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/>
              <a:t>Algoritmo RSA</a:t>
            </a:r>
          </a:p>
        </p:txBody>
      </p:sp>
    </p:spTree>
    <p:extLst>
      <p:ext uri="{BB962C8B-B14F-4D97-AF65-F5344CB8AC3E}">
        <p14:creationId xmlns:p14="http://schemas.microsoft.com/office/powerpoint/2010/main" val="10303683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48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Algoritmo RSA</a:t>
            </a:r>
            <a:endParaRPr lang="pt-BR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81290" cy="3990289"/>
              </a:xfrm>
            </p:spPr>
            <p:txBody>
              <a:bodyPr/>
              <a:lstStyle/>
              <a:p>
                <a:r>
                  <a:rPr lang="pt-BR" sz="2400" dirty="0"/>
                  <a:t>Faz uso extensivo das operações aritméticas usando a aritmética modular.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sz="2000" dirty="0"/>
                  <a:t>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𝑚𝑜𝑑</m:t>
                    </m:r>
                  </m:oMath>
                </a14:m>
                <a:r>
                  <a:rPr lang="pt-BR" sz="2000" dirty="0"/>
                  <a:t>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000" dirty="0"/>
                  <a:t> = resto de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sz="2000" dirty="0"/>
                  <a:t> quando divide por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pt-BR" sz="2000" dirty="0"/>
              </a:p>
              <a:p>
                <a:r>
                  <a:rPr lang="pt-BR" sz="2400" dirty="0"/>
                  <a:t>Fatos: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[(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) + (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)] </m:t>
                    </m:r>
                    <m:r>
                      <a:rPr lang="pt-BR" sz="2000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pt-BR" sz="20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0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0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pt-BR" sz="2000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pt-BR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[(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) − (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)] </m:t>
                    </m:r>
                    <m:r>
                      <a:rPr lang="pt-BR" sz="2000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pt-BR" sz="20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000" i="1" dirty="0" err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pt-BR" sz="2000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pt-BR" sz="2000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pt-BR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[(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) ∗ (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)] </m:t>
                    </m:r>
                    <m:r>
                      <a:rPr lang="pt-BR" sz="2000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) </m:t>
                    </m:r>
                    <m:r>
                      <a:rPr lang="pt-BR" sz="2000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pt-BR" sz="2000" dirty="0"/>
              </a:p>
              <a:p>
                <a:pPr lvl="1"/>
                <a:endParaRPr lang="pt-BR" sz="20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81290" cy="3990289"/>
              </a:xfrm>
              <a:blipFill>
                <a:blip r:embed="rId2"/>
                <a:stretch>
                  <a:fillRect l="-7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A533E2BF-03CD-4546-8C90-F5408DAFBE31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9994376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49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Algoritmo RSA</a:t>
            </a:r>
            <a:endParaRPr lang="pt-BR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81290" cy="3990289"/>
              </a:xfrm>
            </p:spPr>
            <p:txBody>
              <a:bodyPr/>
              <a:lstStyle/>
              <a:p>
                <a:r>
                  <a:rPr lang="pt-BR" sz="2400" dirty="0"/>
                  <a:t>Assim: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da-DK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0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pt-BR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2000" b="0" i="1" dirty="0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pt-BR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20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0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pt-BR" sz="20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sz="200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da-DK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da-DK" sz="2000" i="1" dirty="0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da-DK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pt-BR" sz="20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da-DK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sz="200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da-DK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da-DK" sz="2000" dirty="0"/>
              </a:p>
              <a:p>
                <a:r>
                  <a:rPr lang="pt-BR" sz="2400" dirty="0"/>
                  <a:t>Exemplo: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da-DK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a-DK" sz="2000" i="1" dirty="0" smtClean="0">
                        <a:latin typeface="Cambria Math" panose="02040503050406030204" pitchFamily="18" charset="0"/>
                      </a:rPr>
                      <m:t> = 14</m:t>
                    </m:r>
                  </m:oMath>
                </a14:m>
                <a:r>
                  <a:rPr lang="da-DK" sz="2000" i="0" dirty="0"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da-DK" sz="20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da-DK" sz="2000" i="1" dirty="0" smtClean="0">
                        <a:latin typeface="Cambria Math" panose="02040503050406030204" pitchFamily="18" charset="0"/>
                      </a:rPr>
                      <m:t> = 10,</m:t>
                    </m:r>
                  </m:oMath>
                </a14:m>
                <a:r>
                  <a:rPr lang="da-DK" sz="2000" i="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da-DK" sz="20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da-DK" sz="2000" i="1" dirty="0" smtClean="0">
                        <a:latin typeface="Cambria Math" panose="02040503050406030204" pitchFamily="18" charset="0"/>
                      </a:rPr>
                      <m:t> = 2</m:t>
                    </m:r>
                  </m:oMath>
                </a14:m>
                <a:r>
                  <a:rPr lang="da-DK" sz="2000" dirty="0"/>
                  <a:t>:</a:t>
                </a:r>
                <a:br>
                  <a:rPr lang="da-DK" sz="2000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da-DK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pt-BR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sz="2000" i="1" dirty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da-DK" sz="20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sz="20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da-DK" sz="200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a-DK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b="0" i="1" dirty="0" smtClean="0">
                            <a:latin typeface="Cambria Math" panose="02040503050406030204" pitchFamily="18" charset="0"/>
                          </a:rPr>
                          <m:t>(1</m:t>
                        </m:r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pt-BR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2000" b="0" i="1" dirty="0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pt-BR" sz="2000" b="0" i="1" dirty="0" smtClean="0">
                            <a:latin typeface="Cambria Math" panose="02040503050406030204" pitchFamily="18" charset="0"/>
                          </a:rPr>
                          <m:t> 10)</m:t>
                        </m:r>
                      </m:e>
                      <m:sup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 10=</m:t>
                    </m:r>
                    <m:sSup>
                      <m:sSupPr>
                        <m:ctrlPr>
                          <a:rPr lang="da-DK" sz="20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pt-BR" sz="2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a-DK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sz="200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da-DK" sz="2000" i="1" dirty="0" smtClean="0">
                        <a:latin typeface="Cambria Math" panose="02040503050406030204" pitchFamily="18" charset="0"/>
                      </a:rPr>
                      <m:t> 10 = 6</m:t>
                    </m:r>
                  </m:oMath>
                </a14:m>
                <a:br>
                  <a:rPr lang="da-DK" sz="2000" dirty="0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da-DK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 10= </m:t>
                    </m:r>
                    <m:d>
                      <m:dPr>
                        <m:ctrlPr>
                          <a:rPr lang="da-DK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sz="2000" i="1" dirty="0" smtClean="0">
                            <a:latin typeface="Cambria Math" panose="02040503050406030204" pitchFamily="18" charset="0"/>
                          </a:rPr>
                          <m:t>14∗14</m:t>
                        </m:r>
                      </m:e>
                    </m:d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 10=196 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</a:rPr>
                      <m:t> 10=6 </m:t>
                    </m:r>
                  </m:oMath>
                </a14:m>
                <a:endParaRPr lang="pt-BR" sz="2000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81290" cy="3990289"/>
              </a:xfrm>
              <a:blipFill>
                <a:blip r:embed="rId2"/>
                <a:stretch>
                  <a:fillRect l="-7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32FEA459-10D3-4A60-A77E-905A09D07302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27456006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50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Algoritmo RSA</a:t>
            </a:r>
            <a:endParaRPr lang="pt-BR" sz="440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274B4D-A5CF-4F8E-86FC-C9917C1F1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81290" cy="3990289"/>
          </a:xfrm>
        </p:spPr>
        <p:txBody>
          <a:bodyPr/>
          <a:lstStyle/>
          <a:p>
            <a:r>
              <a:rPr lang="pt-BR" sz="2400" dirty="0"/>
              <a:t>Suponha que Alice queira enviar uma mensagem a Bob criptografada por meio de RSA.</a:t>
            </a:r>
          </a:p>
          <a:p>
            <a:r>
              <a:rPr lang="pt-BR" sz="2400" dirty="0"/>
              <a:t>Uma mensagem é um </a:t>
            </a:r>
            <a:r>
              <a:rPr lang="pt-BR" sz="2400" b="1" dirty="0"/>
              <a:t>padrão de bits</a:t>
            </a:r>
            <a:r>
              <a:rPr lang="pt-BR" sz="2400" dirty="0"/>
              <a:t>.</a:t>
            </a:r>
          </a:p>
          <a:p>
            <a:r>
              <a:rPr lang="pt-BR" sz="2400" dirty="0"/>
              <a:t>Um </a:t>
            </a:r>
            <a:r>
              <a:rPr lang="pt-BR" sz="2400" b="1" dirty="0"/>
              <a:t>padrão de bits </a:t>
            </a:r>
            <a:r>
              <a:rPr lang="pt-BR" sz="2400" dirty="0"/>
              <a:t>pode ser representado exclusivamente por um número inteiro. </a:t>
            </a:r>
          </a:p>
          <a:p>
            <a:r>
              <a:rPr lang="pt-BR" sz="2400" dirty="0"/>
              <a:t>Assim, </a:t>
            </a:r>
            <a:r>
              <a:rPr lang="pt-BR" sz="2400" b="1" dirty="0"/>
              <a:t>criptografar uma mensagem é equivalente a criptografar um número</a:t>
            </a:r>
            <a:r>
              <a:rPr lang="pt-BR" sz="2400" dirty="0"/>
              <a:t>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C15E0A7-74EC-4974-83DC-5EB99BF5298A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7694555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51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Algoritmo RSA</a:t>
            </a:r>
            <a:endParaRPr lang="pt-BR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81290" cy="3990289"/>
              </a:xfrm>
            </p:spPr>
            <p:txBody>
              <a:bodyPr/>
              <a:lstStyle/>
              <a:p>
                <a:r>
                  <a:rPr lang="pt-BR" sz="2800" dirty="0"/>
                  <a:t>Exemplo: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400" dirty="0"/>
                  <a:t> = 10010001. Essa mensagem é representada exclusivamente pelo número decimal 145. </a:t>
                </a:r>
              </a:p>
              <a:p>
                <a:pPr lvl="1"/>
                <a:r>
                  <a:rPr lang="pt-BR" sz="2400" dirty="0"/>
                  <a:t>Para criptografar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400" dirty="0"/>
                  <a:t>, criptografamos o número correspondente, que gera um novo número (o texto cifrado).</a:t>
                </a:r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81290" cy="3990289"/>
              </a:xfrm>
              <a:blipFill>
                <a:blip r:embed="rId2"/>
                <a:stretch>
                  <a:fillRect l="-943" r="-2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16FC11D4-5F48-4E30-ADE2-D820FFF8920B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15631976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52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Algoritmo RSA</a:t>
            </a:r>
            <a:endParaRPr lang="pt-BR" sz="4400" dirty="0"/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ADEC4ABD-E24C-4378-8842-287FAB2B4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276105"/>
            <a:ext cx="1874838" cy="641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800">
                <a:solidFill>
                  <a:srgbClr val="FF0000"/>
                </a:solidFill>
              </a:rPr>
              <a:t>mensagem de</a:t>
            </a:r>
            <a:br>
              <a:rPr lang="pt-BR" altLang="pt-BR" sz="1800">
                <a:solidFill>
                  <a:srgbClr val="FF0000"/>
                </a:solidFill>
              </a:rPr>
            </a:br>
            <a:r>
              <a:rPr lang="pt-BR" altLang="pt-BR" sz="1800">
                <a:solidFill>
                  <a:srgbClr val="FF0000"/>
                </a:solidFill>
              </a:rPr>
              <a:t>texto aberto, m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9932D012-834C-4F29-8EE9-E77762C6E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4738" y="4203080"/>
            <a:ext cx="1785937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>
                <a:solidFill>
                  <a:srgbClr val="FF0000"/>
                </a:solidFill>
              </a:rPr>
              <a:t>texto cifrado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91E0CF15-9C5A-4F95-A7BB-CFF70920D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4149105"/>
            <a:ext cx="1392237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endParaRPr lang="pt-BR" altLang="pt-BR"/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C5689E22-F6EA-4430-BCFC-3CE1D9A35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1550" y="4158630"/>
            <a:ext cx="15128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800">
                <a:solidFill>
                  <a:schemeClr val="bg1"/>
                </a:solidFill>
              </a:rPr>
              <a:t>algoritmo de</a:t>
            </a:r>
            <a:br>
              <a:rPr lang="pt-BR" altLang="pt-BR" sz="1800">
                <a:solidFill>
                  <a:schemeClr val="bg1"/>
                </a:solidFill>
              </a:rPr>
            </a:br>
            <a:r>
              <a:rPr lang="pt-BR" altLang="pt-BR" sz="1800">
                <a:solidFill>
                  <a:schemeClr val="bg1"/>
                </a:solidFill>
              </a:rPr>
              <a:t>criptografia</a:t>
            </a: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A33DF75A-DF7D-4A27-A93C-D6559901A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8625" y="4161805"/>
            <a:ext cx="1377950" cy="8032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endParaRPr lang="pt-BR" altLang="pt-BR"/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41DF3D59-A157-4B44-9DF9-29B2CC909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4276105"/>
            <a:ext cx="136366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600">
                <a:solidFill>
                  <a:schemeClr val="bg1"/>
                </a:solidFill>
              </a:rPr>
              <a:t>algoritmo de</a:t>
            </a:r>
            <a:br>
              <a:rPr lang="pt-BR" altLang="pt-BR" sz="1600">
                <a:solidFill>
                  <a:schemeClr val="bg1"/>
                </a:solidFill>
              </a:rPr>
            </a:br>
            <a:r>
              <a:rPr lang="pt-BR" altLang="pt-BR" sz="1600">
                <a:solidFill>
                  <a:schemeClr val="bg1"/>
                </a:solidFill>
              </a:rPr>
              <a:t>decriptação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DBDA7E5E-3F14-40BB-AC61-01579489B1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78400" y="4557093"/>
            <a:ext cx="1809750" cy="47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8DD75206-EB27-404E-8E36-267FFA004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1625" y="2064718"/>
            <a:ext cx="1762125" cy="641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sz="1800"/>
              <a:t>Chave pública de Bob</a:t>
            </a:r>
          </a:p>
        </p:txBody>
      </p:sp>
      <p:sp>
        <p:nvSpPr>
          <p:cNvPr id="17" name="Line 13">
            <a:extLst>
              <a:ext uri="{FF2B5EF4-FFF2-40B4-BE49-F238E27FC236}">
                <a16:creationId xmlns:a16="http://schemas.microsoft.com/office/drawing/2014/main" id="{95152E50-31FF-44C1-A39B-DE20967D444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3050" y="4587255"/>
            <a:ext cx="6746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E61E48B5-A43E-4807-A4C3-FD5DB6BA3BD0}"/>
              </a:ext>
            </a:extLst>
          </p:cNvPr>
          <p:cNvSpPr>
            <a:spLocks noChangeShapeType="1"/>
          </p:cNvSpPr>
          <p:nvPr/>
        </p:nvSpPr>
        <p:spPr bwMode="auto">
          <a:xfrm>
            <a:off x="8197850" y="4542805"/>
            <a:ext cx="6746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19" name="Picture 15" descr="BS00768_[1]">
            <a:extLst>
              <a:ext uri="{FF2B5EF4-FFF2-40B4-BE49-F238E27FC236}">
                <a16:creationId xmlns:a16="http://schemas.microsoft.com/office/drawing/2014/main" id="{F482CE93-D041-4F1D-B6D3-1090B907F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6964363" y="2207593"/>
            <a:ext cx="458787" cy="23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 Box 16">
            <a:extLst>
              <a:ext uri="{FF2B5EF4-FFF2-40B4-BE49-F238E27FC236}">
                <a16:creationId xmlns:a16="http://schemas.microsoft.com/office/drawing/2014/main" id="{03913CFD-A219-4267-ADF9-F4AE5400B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4988" y="4198318"/>
            <a:ext cx="17446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>
                <a:solidFill>
                  <a:srgbClr val="FF0000"/>
                </a:solidFill>
              </a:rPr>
              <a:t>mensagem de</a:t>
            </a:r>
            <a:br>
              <a:rPr lang="pt-BR" altLang="pt-BR">
                <a:solidFill>
                  <a:srgbClr val="FF0000"/>
                </a:solidFill>
              </a:rPr>
            </a:br>
            <a:r>
              <a:rPr lang="pt-BR" altLang="pt-BR">
                <a:solidFill>
                  <a:srgbClr val="FF0000"/>
                </a:solidFill>
              </a:rPr>
              <a:t>texto aberto</a:t>
            </a:r>
          </a:p>
        </p:txBody>
      </p:sp>
      <p:grpSp>
        <p:nvGrpSpPr>
          <p:cNvPr id="21" name="Group 17">
            <a:extLst>
              <a:ext uri="{FF2B5EF4-FFF2-40B4-BE49-F238E27FC236}">
                <a16:creationId xmlns:a16="http://schemas.microsoft.com/office/drawing/2014/main" id="{A90A2B96-98C3-4747-BBA4-3F95153DE993}"/>
              </a:ext>
            </a:extLst>
          </p:cNvPr>
          <p:cNvGrpSpPr>
            <a:grpSpLocks/>
          </p:cNvGrpSpPr>
          <p:nvPr/>
        </p:nvGrpSpPr>
        <p:grpSpPr bwMode="auto">
          <a:xfrm>
            <a:off x="5402263" y="4530105"/>
            <a:ext cx="876300" cy="615950"/>
            <a:chOff x="2351" y="2077"/>
            <a:chExt cx="552" cy="388"/>
          </a:xfrm>
        </p:grpSpPr>
        <p:sp>
          <p:nvSpPr>
            <p:cNvPr id="22" name="Text Box 18">
              <a:extLst>
                <a:ext uri="{FF2B5EF4-FFF2-40B4-BE49-F238E27FC236}">
                  <a16:creationId xmlns:a16="http://schemas.microsoft.com/office/drawing/2014/main" id="{9F899DBF-2FAB-41CD-919F-6DE75B9621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1" y="2132"/>
              <a:ext cx="5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>
                  <a:solidFill>
                    <a:srgbClr val="FF0000"/>
                  </a:solidFill>
                </a:rPr>
                <a:t>K  (m)</a:t>
              </a:r>
            </a:p>
          </p:txBody>
        </p:sp>
        <p:sp>
          <p:nvSpPr>
            <p:cNvPr id="23" name="Text Box 19">
              <a:extLst>
                <a:ext uri="{FF2B5EF4-FFF2-40B4-BE49-F238E27FC236}">
                  <a16:creationId xmlns:a16="http://schemas.microsoft.com/office/drawing/2014/main" id="{AE172871-A238-47DE-9296-44EBE3A7BB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6" y="2253"/>
              <a:ext cx="19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1600">
                  <a:solidFill>
                    <a:srgbClr val="FF0000"/>
                  </a:solidFill>
                </a:rPr>
                <a:t>B</a:t>
              </a:r>
            </a:p>
          </p:txBody>
        </p:sp>
        <p:sp>
          <p:nvSpPr>
            <p:cNvPr id="24" name="Text Box 20">
              <a:extLst>
                <a:ext uri="{FF2B5EF4-FFF2-40B4-BE49-F238E27FC236}">
                  <a16:creationId xmlns:a16="http://schemas.microsoft.com/office/drawing/2014/main" id="{761A7FCA-16C6-40D8-987D-16FBEF3AC7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5" y="2077"/>
              <a:ext cx="17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1600">
                  <a:solidFill>
                    <a:srgbClr val="FF0000"/>
                  </a:solidFill>
                </a:rPr>
                <a:t>+</a:t>
              </a:r>
            </a:p>
          </p:txBody>
        </p:sp>
      </p:grpSp>
      <p:sp>
        <p:nvSpPr>
          <p:cNvPr id="25" name="Text Box 21">
            <a:extLst>
              <a:ext uri="{FF2B5EF4-FFF2-40B4-BE49-F238E27FC236}">
                <a16:creationId xmlns:a16="http://schemas.microsoft.com/office/drawing/2014/main" id="{575CE0F7-3A88-42E3-A093-7DD3A441A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6013" y="2125043"/>
            <a:ext cx="415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>
                <a:solidFill>
                  <a:srgbClr val="FF0000"/>
                </a:solidFill>
              </a:rPr>
              <a:t>K </a:t>
            </a:r>
          </a:p>
        </p:txBody>
      </p:sp>
      <p:sp>
        <p:nvSpPr>
          <p:cNvPr id="26" name="Text Box 22">
            <a:extLst>
              <a:ext uri="{FF2B5EF4-FFF2-40B4-BE49-F238E27FC236}">
                <a16:creationId xmlns:a16="http://schemas.microsoft.com/office/drawing/2014/main" id="{74FC7AD7-5404-4EBD-8AAB-859D02CB0C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0475" y="2304430"/>
            <a:ext cx="312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60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27" name="Text Box 23">
            <a:extLst>
              <a:ext uri="{FF2B5EF4-FFF2-40B4-BE49-F238E27FC236}">
                <a16:creationId xmlns:a16="http://schemas.microsoft.com/office/drawing/2014/main" id="{DA09BE6C-DB48-403E-8B86-231C38E52A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4763" y="2025030"/>
            <a:ext cx="2825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60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28" name="Text Box 24">
            <a:extLst>
              <a:ext uri="{FF2B5EF4-FFF2-40B4-BE49-F238E27FC236}">
                <a16:creationId xmlns:a16="http://schemas.microsoft.com/office/drawing/2014/main" id="{EC7E8E89-5561-475A-B317-71AF1B574B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8450" y="2742580"/>
            <a:ext cx="1762125" cy="641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sz="1800"/>
              <a:t>Chave </a:t>
            </a:r>
            <a:r>
              <a:rPr lang="pt-BR" altLang="pt-BR" sz="1800" u="sng"/>
              <a:t>privada</a:t>
            </a:r>
          </a:p>
          <a:p>
            <a:r>
              <a:rPr lang="pt-BR" altLang="pt-BR" sz="1800"/>
              <a:t>de Bob</a:t>
            </a:r>
          </a:p>
        </p:txBody>
      </p:sp>
      <p:pic>
        <p:nvPicPr>
          <p:cNvPr id="29" name="Picture 25" descr="BS00768_[1]">
            <a:extLst>
              <a:ext uri="{FF2B5EF4-FFF2-40B4-BE49-F238E27FC236}">
                <a16:creationId xmlns:a16="http://schemas.microsoft.com/office/drawing/2014/main" id="{EA02005B-B044-4DC8-874A-BD12C55F36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6961188" y="2880693"/>
            <a:ext cx="542925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 Box 26">
            <a:extLst>
              <a:ext uri="{FF2B5EF4-FFF2-40B4-BE49-F238E27FC236}">
                <a16:creationId xmlns:a16="http://schemas.microsoft.com/office/drawing/2014/main" id="{B079C8D5-8B06-4E65-8426-8CE1D576B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5538" y="2815605"/>
            <a:ext cx="415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>
                <a:solidFill>
                  <a:srgbClr val="FF0000"/>
                </a:solidFill>
              </a:rPr>
              <a:t>K </a:t>
            </a:r>
          </a:p>
        </p:txBody>
      </p:sp>
      <p:sp>
        <p:nvSpPr>
          <p:cNvPr id="31" name="Text Box 27">
            <a:extLst>
              <a:ext uri="{FF2B5EF4-FFF2-40B4-BE49-F238E27FC236}">
                <a16:creationId xmlns:a16="http://schemas.microsoft.com/office/drawing/2014/main" id="{79E29457-5C5B-42CF-BDC4-E82AFCBB5B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0" y="3007693"/>
            <a:ext cx="312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60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32" name="Text Box 28">
            <a:extLst>
              <a:ext uri="{FF2B5EF4-FFF2-40B4-BE49-F238E27FC236}">
                <a16:creationId xmlns:a16="http://schemas.microsoft.com/office/drawing/2014/main" id="{3E0FE279-ACE2-4F9A-984E-6082BB457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4138" y="2728293"/>
            <a:ext cx="2682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600">
                <a:solidFill>
                  <a:srgbClr val="FF0000"/>
                </a:solidFill>
              </a:rPr>
              <a:t>-</a:t>
            </a:r>
          </a:p>
        </p:txBody>
      </p:sp>
      <p:grpSp>
        <p:nvGrpSpPr>
          <p:cNvPr id="33" name="Group 29">
            <a:extLst>
              <a:ext uri="{FF2B5EF4-FFF2-40B4-BE49-F238E27FC236}">
                <a16:creationId xmlns:a16="http://schemas.microsoft.com/office/drawing/2014/main" id="{9086D8F4-A4C1-4F4B-9D98-77666A2FE933}"/>
              </a:ext>
            </a:extLst>
          </p:cNvPr>
          <p:cNvGrpSpPr>
            <a:grpSpLocks/>
          </p:cNvGrpSpPr>
          <p:nvPr/>
        </p:nvGrpSpPr>
        <p:grpSpPr bwMode="auto">
          <a:xfrm>
            <a:off x="8288338" y="4726955"/>
            <a:ext cx="1885950" cy="635000"/>
            <a:chOff x="2413" y="3394"/>
            <a:chExt cx="1188" cy="400"/>
          </a:xfrm>
        </p:grpSpPr>
        <p:sp>
          <p:nvSpPr>
            <p:cNvPr id="34" name="Text Box 30">
              <a:extLst>
                <a:ext uri="{FF2B5EF4-FFF2-40B4-BE49-F238E27FC236}">
                  <a16:creationId xmlns:a16="http://schemas.microsoft.com/office/drawing/2014/main" id="{10B1D126-1E32-4DF6-8A67-1010ACEC7F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3" y="3434"/>
              <a:ext cx="11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>
                  <a:solidFill>
                    <a:srgbClr val="FF0000"/>
                  </a:solidFill>
                </a:rPr>
                <a:t>m = K  </a:t>
              </a:r>
              <a:r>
                <a:rPr lang="pt-BR" altLang="pt-BR" sz="2400">
                  <a:solidFill>
                    <a:srgbClr val="FF0000"/>
                  </a:solidFill>
                </a:rPr>
                <a:t>(</a:t>
              </a:r>
              <a:r>
                <a:rPr lang="pt-BR" altLang="pt-BR">
                  <a:solidFill>
                    <a:srgbClr val="FF0000"/>
                  </a:solidFill>
                </a:rPr>
                <a:t>K  (m)</a:t>
              </a:r>
              <a:r>
                <a:rPr lang="pt-BR" altLang="pt-BR" sz="2400">
                  <a:solidFill>
                    <a:srgbClr val="FF0000"/>
                  </a:solidFill>
                </a:rPr>
                <a:t>)</a:t>
              </a:r>
            </a:p>
          </p:txBody>
        </p:sp>
        <p:sp>
          <p:nvSpPr>
            <p:cNvPr id="35" name="Text Box 31">
              <a:extLst>
                <a:ext uri="{FF2B5EF4-FFF2-40B4-BE49-F238E27FC236}">
                  <a16:creationId xmlns:a16="http://schemas.microsoft.com/office/drawing/2014/main" id="{EF219AFF-2E57-4254-B5CB-A4AF0F9406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3" y="3582"/>
              <a:ext cx="19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1600">
                  <a:solidFill>
                    <a:srgbClr val="FF0000"/>
                  </a:solidFill>
                </a:rPr>
                <a:t>B</a:t>
              </a:r>
            </a:p>
          </p:txBody>
        </p:sp>
        <p:sp>
          <p:nvSpPr>
            <p:cNvPr id="36" name="Text Box 32">
              <a:extLst>
                <a:ext uri="{FF2B5EF4-FFF2-40B4-BE49-F238E27FC236}">
                  <a16:creationId xmlns:a16="http://schemas.microsoft.com/office/drawing/2014/main" id="{BD2B3F9D-4E42-420D-A4BB-861D73DE24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9" y="3400"/>
              <a:ext cx="17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1600">
                  <a:solidFill>
                    <a:srgbClr val="FF0000"/>
                  </a:solidFill>
                </a:rPr>
                <a:t>+</a:t>
              </a:r>
            </a:p>
          </p:txBody>
        </p:sp>
        <p:sp>
          <p:nvSpPr>
            <p:cNvPr id="37" name="Text Box 33">
              <a:extLst>
                <a:ext uri="{FF2B5EF4-FFF2-40B4-BE49-F238E27FC236}">
                  <a16:creationId xmlns:a16="http://schemas.microsoft.com/office/drawing/2014/main" id="{80259466-2288-431C-BB93-1343D88401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3570"/>
              <a:ext cx="19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1600">
                  <a:solidFill>
                    <a:srgbClr val="FF0000"/>
                  </a:solidFill>
                </a:rPr>
                <a:t>B</a:t>
              </a:r>
            </a:p>
          </p:txBody>
        </p:sp>
        <p:sp>
          <p:nvSpPr>
            <p:cNvPr id="38" name="Text Box 34">
              <a:extLst>
                <a:ext uri="{FF2B5EF4-FFF2-40B4-BE49-F238E27FC236}">
                  <a16:creationId xmlns:a16="http://schemas.microsoft.com/office/drawing/2014/main" id="{74F02527-9A63-4840-8962-F9F6B2AE3B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1" y="3394"/>
              <a:ext cx="16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1600">
                  <a:solidFill>
                    <a:srgbClr val="FF0000"/>
                  </a:solidFill>
                </a:rPr>
                <a:t>-</a:t>
              </a:r>
            </a:p>
          </p:txBody>
        </p:sp>
      </p:grpSp>
      <p:sp>
        <p:nvSpPr>
          <p:cNvPr id="39" name="Freeform 35">
            <a:extLst>
              <a:ext uri="{FF2B5EF4-FFF2-40B4-BE49-F238E27FC236}">
                <a16:creationId xmlns:a16="http://schemas.microsoft.com/office/drawing/2014/main" id="{99D74C86-97E9-4E5E-8D6B-9098F7AD7D80}"/>
              </a:ext>
            </a:extLst>
          </p:cNvPr>
          <p:cNvSpPr>
            <a:spLocks/>
          </p:cNvSpPr>
          <p:nvPr/>
        </p:nvSpPr>
        <p:spPr bwMode="auto">
          <a:xfrm>
            <a:off x="4449763" y="2340943"/>
            <a:ext cx="2393950" cy="1754187"/>
          </a:xfrm>
          <a:custGeom>
            <a:avLst/>
            <a:gdLst>
              <a:gd name="T0" fmla="*/ 2147483647 w 1508"/>
              <a:gd name="T1" fmla="*/ 0 h 1105"/>
              <a:gd name="T2" fmla="*/ 0 w 1508"/>
              <a:gd name="T3" fmla="*/ 0 h 1105"/>
              <a:gd name="T4" fmla="*/ 2147483647 w 1508"/>
              <a:gd name="T5" fmla="*/ 2147483647 h 1105"/>
              <a:gd name="T6" fmla="*/ 0 60000 65536"/>
              <a:gd name="T7" fmla="*/ 0 60000 65536"/>
              <a:gd name="T8" fmla="*/ 0 60000 65536"/>
              <a:gd name="T9" fmla="*/ 0 w 1508"/>
              <a:gd name="T10" fmla="*/ 0 h 1105"/>
              <a:gd name="T11" fmla="*/ 1508 w 1508"/>
              <a:gd name="T12" fmla="*/ 1105 h 11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08" h="1105">
                <a:moveTo>
                  <a:pt x="1508" y="0"/>
                </a:moveTo>
                <a:lnTo>
                  <a:pt x="0" y="0"/>
                </a:lnTo>
                <a:lnTo>
                  <a:pt x="5" y="1105"/>
                </a:lnTo>
              </a:path>
            </a:pathLst>
          </a:custGeom>
          <a:noFill/>
          <a:ln w="1905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0" name="Freeform 36">
            <a:extLst>
              <a:ext uri="{FF2B5EF4-FFF2-40B4-BE49-F238E27FC236}">
                <a16:creationId xmlns:a16="http://schemas.microsoft.com/office/drawing/2014/main" id="{8BE007FA-D1A8-417D-AA3C-3AA397E57C91}"/>
              </a:ext>
            </a:extLst>
          </p:cNvPr>
          <p:cNvSpPr>
            <a:spLocks/>
          </p:cNvSpPr>
          <p:nvPr/>
        </p:nvSpPr>
        <p:spPr bwMode="auto">
          <a:xfrm>
            <a:off x="6894513" y="3014043"/>
            <a:ext cx="330200" cy="1074737"/>
          </a:xfrm>
          <a:custGeom>
            <a:avLst/>
            <a:gdLst>
              <a:gd name="T0" fmla="*/ 2147483647 w 184"/>
              <a:gd name="T1" fmla="*/ 0 h 1113"/>
              <a:gd name="T2" fmla="*/ 0 w 184"/>
              <a:gd name="T3" fmla="*/ 2147483647 h 1113"/>
              <a:gd name="T4" fmla="*/ 2147483647 w 184"/>
              <a:gd name="T5" fmla="*/ 2147483647 h 1113"/>
              <a:gd name="T6" fmla="*/ 0 60000 65536"/>
              <a:gd name="T7" fmla="*/ 0 60000 65536"/>
              <a:gd name="T8" fmla="*/ 0 60000 65536"/>
              <a:gd name="T9" fmla="*/ 0 w 184"/>
              <a:gd name="T10" fmla="*/ 0 h 1113"/>
              <a:gd name="T11" fmla="*/ 184 w 184"/>
              <a:gd name="T12" fmla="*/ 1113 h 11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4" h="1113">
                <a:moveTo>
                  <a:pt x="184" y="0"/>
                </a:moveTo>
                <a:lnTo>
                  <a:pt x="0" y="8"/>
                </a:lnTo>
                <a:lnTo>
                  <a:pt x="5" y="1113"/>
                </a:lnTo>
              </a:path>
            </a:pathLst>
          </a:custGeom>
          <a:noFill/>
          <a:ln w="19050">
            <a:solidFill>
              <a:schemeClr val="tx1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41" name="Imagem 40">
            <a:extLst>
              <a:ext uri="{FF2B5EF4-FFF2-40B4-BE49-F238E27FC236}">
                <a16:creationId xmlns:a16="http://schemas.microsoft.com/office/drawing/2014/main" id="{2DE58051-E663-4DC9-B8A5-E23AF2C698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594" y="3314995"/>
            <a:ext cx="865241" cy="865241"/>
          </a:xfrm>
          <a:prstGeom prst="rect">
            <a:avLst/>
          </a:prstGeom>
        </p:spPr>
      </p:pic>
      <p:pic>
        <p:nvPicPr>
          <p:cNvPr id="42" name="Imagem 41">
            <a:extLst>
              <a:ext uri="{FF2B5EF4-FFF2-40B4-BE49-F238E27FC236}">
                <a16:creationId xmlns:a16="http://schemas.microsoft.com/office/drawing/2014/main" id="{318F3199-5BFA-45B6-BDB0-015163E87E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073" y="3164855"/>
            <a:ext cx="1003612" cy="1003612"/>
          </a:xfrm>
          <a:prstGeom prst="rect">
            <a:avLst/>
          </a:prstGeom>
        </p:spPr>
      </p:pic>
      <p:sp>
        <p:nvSpPr>
          <p:cNvPr id="43" name="Text Box 31">
            <a:extLst>
              <a:ext uri="{FF2B5EF4-FFF2-40B4-BE49-F238E27FC236}">
                <a16:creationId xmlns:a16="http://schemas.microsoft.com/office/drawing/2014/main" id="{905141C8-1C51-416D-A346-CD88CDED2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2744" y="3306343"/>
            <a:ext cx="7810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dirty="0">
                <a:solidFill>
                  <a:schemeClr val="accent2"/>
                </a:solidFill>
              </a:rPr>
              <a:t>Alice</a:t>
            </a:r>
          </a:p>
        </p:txBody>
      </p:sp>
      <p:sp>
        <p:nvSpPr>
          <p:cNvPr id="44" name="Text Box 32">
            <a:extLst>
              <a:ext uri="{FF2B5EF4-FFF2-40B4-BE49-F238E27FC236}">
                <a16:creationId xmlns:a16="http://schemas.microsoft.com/office/drawing/2014/main" id="{9148D22A-DE34-4C50-8DB6-1646354D5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50835" y="3184018"/>
            <a:ext cx="628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dirty="0">
                <a:solidFill>
                  <a:schemeClr val="accent2"/>
                </a:solidFill>
              </a:rPr>
              <a:t>Bob</a:t>
            </a:r>
          </a:p>
        </p:txBody>
      </p:sp>
      <p:sp>
        <p:nvSpPr>
          <p:cNvPr id="45" name="Text Box 31">
            <a:extLst>
              <a:ext uri="{FF2B5EF4-FFF2-40B4-BE49-F238E27FC236}">
                <a16:creationId xmlns:a16="http://schemas.microsoft.com/office/drawing/2014/main" id="{2B7BBE08-EEAF-412D-BF78-607DBEC4B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7469" y="4952380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RSA</a:t>
            </a:r>
          </a:p>
        </p:txBody>
      </p:sp>
      <p:sp>
        <p:nvSpPr>
          <p:cNvPr id="46" name="Text Box 31">
            <a:extLst>
              <a:ext uri="{FF2B5EF4-FFF2-40B4-BE49-F238E27FC236}">
                <a16:creationId xmlns:a16="http://schemas.microsoft.com/office/drawing/2014/main" id="{30566EEC-699A-4297-A198-4F47EE6C5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9409" y="4934917"/>
            <a:ext cx="71205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r>
              <a:rPr lang="pt-BR" altLang="pt-B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RSA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F5F98380-A758-48A0-A0BE-135B8F52B60A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9876596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53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RSA: Criando par de chave pública/privada</a:t>
            </a:r>
            <a:endParaRPr lang="pt-BR" sz="440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274B4D-A5CF-4F8E-86FC-C9917C1F1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81290" cy="3990289"/>
          </a:xfrm>
        </p:spPr>
        <p:txBody>
          <a:bodyPr/>
          <a:lstStyle/>
          <a:p>
            <a:r>
              <a:rPr lang="pt-BR" dirty="0"/>
              <a:t>Existem dois componentes inter-relacionados no RSA:</a:t>
            </a:r>
          </a:p>
          <a:p>
            <a:pPr lvl="1"/>
            <a:r>
              <a:rPr lang="pt-BR" dirty="0"/>
              <a:t>A escolha da </a:t>
            </a:r>
            <a:r>
              <a:rPr lang="pt-BR" b="1" dirty="0"/>
              <a:t>chave pública </a:t>
            </a:r>
            <a:r>
              <a:rPr lang="pt-BR" dirty="0"/>
              <a:t>e da </a:t>
            </a:r>
            <a:r>
              <a:rPr lang="pt-BR" b="1" dirty="0"/>
              <a:t>chave privada</a:t>
            </a:r>
          </a:p>
          <a:p>
            <a:pPr lvl="1"/>
            <a:r>
              <a:rPr lang="pt-BR" dirty="0"/>
              <a:t>O </a:t>
            </a:r>
            <a:r>
              <a:rPr lang="pt-BR" b="1" dirty="0"/>
              <a:t>algoritmo de criptografia </a:t>
            </a:r>
            <a:r>
              <a:rPr lang="pt-BR" dirty="0"/>
              <a:t>/ </a:t>
            </a:r>
            <a:r>
              <a:rPr lang="pt-BR" b="1" dirty="0"/>
              <a:t>decriptação</a:t>
            </a:r>
            <a:r>
              <a:rPr lang="pt-BR" dirty="0"/>
              <a:t>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691DC85-9950-4B1F-A3A7-952AF5E46B48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8658307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54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RSA: Criando par de chave pública/privada</a:t>
            </a:r>
            <a:endParaRPr lang="pt-BR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81290" cy="3990289"/>
              </a:xfrm>
            </p:spPr>
            <p:txBody>
              <a:bodyPr/>
              <a:lstStyle/>
              <a:p>
                <a:r>
                  <a:rPr lang="pt-BR" sz="2800" dirty="0"/>
                  <a:t>Para escolher as chaves públicas e privadas Bob deve executar as seguintes etapas:</a:t>
                </a:r>
              </a:p>
              <a:p>
                <a:pPr marL="1066785" lvl="1" indent="-457200">
                  <a:buFont typeface="+mj-lt"/>
                  <a:buAutoNum type="arabicParenR"/>
                </a:pPr>
                <a:r>
                  <a:rPr lang="pt-BR" sz="2400" dirty="0"/>
                  <a:t>Escolha dois números primos grandes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sz="2400" dirty="0"/>
                  <a:t>,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sz="2400" dirty="0"/>
                  <a:t>. </a:t>
                </a:r>
              </a:p>
              <a:p>
                <a:pPr lvl="2"/>
                <a:r>
                  <a:rPr lang="pt-BR" sz="1600" dirty="0"/>
                  <a:t>(</a:t>
                </a:r>
                <a:r>
                  <a:rPr lang="pt-BR" sz="1600" dirty="0" err="1"/>
                  <a:t>ex</a:t>
                </a:r>
                <a:r>
                  <a:rPr lang="pt-BR" sz="1600" dirty="0"/>
                  <a:t>: 1024 bits cada)</a:t>
                </a:r>
              </a:p>
              <a:p>
                <a:pPr marL="1066785" lvl="1" indent="-457200">
                  <a:buFont typeface="+mj-lt"/>
                  <a:buAutoNum type="arabicParenR"/>
                </a:pPr>
                <a:r>
                  <a:rPr lang="pt-BR" sz="2400" dirty="0"/>
                  <a:t>Calcule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pt-BR" sz="2400" i="1" dirty="0" err="1">
                        <a:latin typeface="Cambria Math" panose="02040503050406030204" pitchFamily="18" charset="0"/>
                      </a:rPr>
                      <m:t>𝑝𝑞</m:t>
                    </m:r>
                  </m:oMath>
                </a14:m>
                <a:r>
                  <a:rPr lang="pt-BR" sz="2400" dirty="0"/>
                  <a:t>, 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−1)(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pt-BR" sz="2400" dirty="0"/>
              </a:p>
              <a:p>
                <a:pPr marL="1066785" lvl="1" indent="-457200">
                  <a:buFont typeface="+mj-lt"/>
                  <a:buAutoNum type="arabicParenR"/>
                </a:pPr>
                <a:r>
                  <a:rPr lang="pt-BR" sz="2400" dirty="0"/>
                  <a:t>Escolha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pt-BR" sz="2400" dirty="0"/>
                  <a:t> (com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400" dirty="0"/>
                  <a:t>) que não tenha fatores comuns com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 lvl="1"/>
                <a:endParaRPr lang="pt-BR" sz="24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81290" cy="3990289"/>
              </a:xfrm>
              <a:blipFill>
                <a:blip r:embed="rId2"/>
                <a:stretch>
                  <a:fillRect l="-9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C446AA21-0A38-48A4-86FF-9C7CF1C54709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107410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55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RSA: Criando par de chave pública/privada</a:t>
            </a:r>
            <a:endParaRPr lang="pt-BR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81290" cy="3990289"/>
              </a:xfrm>
            </p:spPr>
            <p:txBody>
              <a:bodyPr/>
              <a:lstStyle/>
              <a:p>
                <a:r>
                  <a:rPr lang="pt-BR" sz="2800" dirty="0"/>
                  <a:t>Para escolher as chaves públicas e privadas Bob deve executar as seguintes etapas (</a:t>
                </a:r>
                <a:r>
                  <a:rPr lang="pt-BR" sz="2800" i="1" dirty="0"/>
                  <a:t>cont...</a:t>
                </a:r>
                <a:r>
                  <a:rPr lang="pt-BR" sz="2800" dirty="0"/>
                  <a:t>):</a:t>
                </a:r>
              </a:p>
              <a:p>
                <a:pPr marL="1066785" lvl="1" indent="-457200">
                  <a:buFont typeface="+mj-lt"/>
                  <a:buAutoNum type="arabicParenR" startAt="4"/>
                </a:pPr>
                <a:r>
                  <a:rPr lang="pt-BR" sz="2400" dirty="0"/>
                  <a:t>Escolha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pt-BR" sz="2400" dirty="0"/>
                  <a:t> tal que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𝑒𝑑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pt-BR" sz="2400" dirty="0"/>
                  <a:t> seja divisível exatamente por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pt-BR" sz="2400" dirty="0"/>
                  <a:t> (em outras palavras: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𝑒𝑑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  = 1</m:t>
                    </m:r>
                  </m:oMath>
                </a14:m>
                <a:r>
                  <a:rPr lang="pt-BR" sz="2400" dirty="0"/>
                  <a:t>).</a:t>
                </a:r>
              </a:p>
              <a:p>
                <a:pPr marL="1066785" lvl="1" indent="-457200">
                  <a:buFont typeface="+mj-lt"/>
                  <a:buAutoNum type="arabicParenR" startAt="4"/>
                </a:pPr>
                <a:r>
                  <a:rPr lang="pt-BR" sz="2400" dirty="0"/>
                  <a:t>Chave pública é (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400" dirty="0" err="1"/>
                  <a:t>,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pt-BR" sz="2400" dirty="0"/>
                  <a:t>).  Chave privada é (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400" dirty="0" err="1"/>
                  <a:t>,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pt-BR" sz="2400" dirty="0"/>
                  <a:t>).</a:t>
                </a:r>
                <a:endParaRPr lang="pt-BR" sz="1600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81290" cy="3990289"/>
              </a:xfrm>
              <a:blipFill>
                <a:blip r:embed="rId2"/>
                <a:stretch>
                  <a:fillRect l="-9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8">
            <a:extLst>
              <a:ext uri="{FF2B5EF4-FFF2-40B4-BE49-F238E27FC236}">
                <a16:creationId xmlns:a16="http://schemas.microsoft.com/office/drawing/2014/main" id="{698079BA-42F9-4853-92A8-E57AD83C4073}"/>
              </a:ext>
            </a:extLst>
          </p:cNvPr>
          <p:cNvGrpSpPr>
            <a:grpSpLocks/>
          </p:cNvGrpSpPr>
          <p:nvPr/>
        </p:nvGrpSpPr>
        <p:grpSpPr bwMode="auto">
          <a:xfrm>
            <a:off x="4652533" y="4862832"/>
            <a:ext cx="557213" cy="704850"/>
            <a:chOff x="1753" y="3628"/>
            <a:chExt cx="351" cy="444"/>
          </a:xfrm>
        </p:grpSpPr>
        <p:sp>
          <p:nvSpPr>
            <p:cNvPr id="6" name="Text Box 9">
              <a:extLst>
                <a:ext uri="{FF2B5EF4-FFF2-40B4-BE49-F238E27FC236}">
                  <a16:creationId xmlns:a16="http://schemas.microsoft.com/office/drawing/2014/main" id="{4ADA429E-B78B-49BB-BCD9-37EF92D62C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3" y="3700"/>
              <a:ext cx="28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2400">
                  <a:solidFill>
                    <a:srgbClr val="FF0000"/>
                  </a:solidFill>
                </a:rPr>
                <a:t>K</a:t>
              </a:r>
              <a:r>
                <a:rPr lang="pt-BR" altLang="pt-BR">
                  <a:solidFill>
                    <a:srgbClr val="FF0000"/>
                  </a:solidFill>
                </a:rPr>
                <a:t> </a:t>
              </a:r>
            </a:p>
          </p:txBody>
        </p:sp>
        <p:sp>
          <p:nvSpPr>
            <p:cNvPr id="7" name="Text Box 10">
              <a:extLst>
                <a:ext uri="{FF2B5EF4-FFF2-40B4-BE49-F238E27FC236}">
                  <a16:creationId xmlns:a16="http://schemas.microsoft.com/office/drawing/2014/main" id="{6471158E-DC0D-4BAB-B9A9-8CC8E0B01C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7" y="3822"/>
              <a:ext cx="2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>
                  <a:solidFill>
                    <a:srgbClr val="FF0000"/>
                  </a:solidFill>
                </a:rPr>
                <a:t>B</a:t>
              </a:r>
            </a:p>
          </p:txBody>
        </p:sp>
        <p:sp>
          <p:nvSpPr>
            <p:cNvPr id="8" name="Text Box 11">
              <a:extLst>
                <a:ext uri="{FF2B5EF4-FFF2-40B4-BE49-F238E27FC236}">
                  <a16:creationId xmlns:a16="http://schemas.microsoft.com/office/drawing/2014/main" id="{21A4E2FF-CAAC-4D3F-A357-1B7827DD33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1" y="3628"/>
              <a:ext cx="19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>
                  <a:solidFill>
                    <a:srgbClr val="FF0000"/>
                  </a:solidFill>
                </a:rPr>
                <a:t>+</a:t>
              </a:r>
            </a:p>
          </p:txBody>
        </p:sp>
      </p:grpSp>
      <p:grpSp>
        <p:nvGrpSpPr>
          <p:cNvPr id="9" name="Group 12">
            <a:extLst>
              <a:ext uri="{FF2B5EF4-FFF2-40B4-BE49-F238E27FC236}">
                <a16:creationId xmlns:a16="http://schemas.microsoft.com/office/drawing/2014/main" id="{244BF7A6-4708-4148-B769-A8E5E87AEB7D}"/>
              </a:ext>
            </a:extLst>
          </p:cNvPr>
          <p:cNvGrpSpPr>
            <a:grpSpLocks/>
          </p:cNvGrpSpPr>
          <p:nvPr/>
        </p:nvGrpSpPr>
        <p:grpSpPr bwMode="auto">
          <a:xfrm>
            <a:off x="8277792" y="4862832"/>
            <a:ext cx="557212" cy="704850"/>
            <a:chOff x="1753" y="3628"/>
            <a:chExt cx="351" cy="444"/>
          </a:xfrm>
        </p:grpSpPr>
        <p:sp>
          <p:nvSpPr>
            <p:cNvPr id="10" name="Text Box 13">
              <a:extLst>
                <a:ext uri="{FF2B5EF4-FFF2-40B4-BE49-F238E27FC236}">
                  <a16:creationId xmlns:a16="http://schemas.microsoft.com/office/drawing/2014/main" id="{0CBDA55F-1403-45B1-B8AE-16A9A79C7E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3" y="3700"/>
              <a:ext cx="28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2400">
                  <a:solidFill>
                    <a:srgbClr val="FF0000"/>
                  </a:solidFill>
                </a:rPr>
                <a:t>K</a:t>
              </a:r>
              <a:r>
                <a:rPr lang="pt-BR" altLang="pt-BR">
                  <a:solidFill>
                    <a:srgbClr val="FF0000"/>
                  </a:solidFill>
                </a:rPr>
                <a:t> </a:t>
              </a:r>
            </a:p>
          </p:txBody>
        </p:sp>
        <p:sp>
          <p:nvSpPr>
            <p:cNvPr id="11" name="Text Box 14">
              <a:extLst>
                <a:ext uri="{FF2B5EF4-FFF2-40B4-BE49-F238E27FC236}">
                  <a16:creationId xmlns:a16="http://schemas.microsoft.com/office/drawing/2014/main" id="{41EBDA89-D3A5-443E-82C8-D27CE710AD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7" y="3822"/>
              <a:ext cx="2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>
                  <a:solidFill>
                    <a:srgbClr val="FF0000"/>
                  </a:solidFill>
                </a:rPr>
                <a:t>B</a:t>
              </a:r>
            </a:p>
          </p:txBody>
        </p:sp>
        <p:sp>
          <p:nvSpPr>
            <p:cNvPr id="12" name="Text Box 15">
              <a:extLst>
                <a:ext uri="{FF2B5EF4-FFF2-40B4-BE49-F238E27FC236}">
                  <a16:creationId xmlns:a16="http://schemas.microsoft.com/office/drawing/2014/main" id="{5E337461-727D-42A9-BAF2-CB20930CF8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6" y="3628"/>
              <a:ext cx="18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>
                  <a:solidFill>
                    <a:srgbClr val="FF0000"/>
                  </a:solidFill>
                </a:rPr>
                <a:t>-</a:t>
              </a:r>
            </a:p>
          </p:txBody>
        </p:sp>
      </p:grpSp>
      <p:sp>
        <p:nvSpPr>
          <p:cNvPr id="13" name="Retângulo 12">
            <a:extLst>
              <a:ext uri="{FF2B5EF4-FFF2-40B4-BE49-F238E27FC236}">
                <a16:creationId xmlns:a16="http://schemas.microsoft.com/office/drawing/2014/main" id="{EF1D900E-C2F5-4054-9191-CEE226F339C8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66018413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56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RSA: criptografia, decriptação</a:t>
            </a:r>
            <a:endParaRPr lang="pt-BR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81290" cy="3990289"/>
              </a:xfrm>
            </p:spPr>
            <p:txBody>
              <a:bodyPr/>
              <a:lstStyle/>
              <a:p>
                <a:r>
                  <a:rPr lang="pt-BR" sz="2400" dirty="0"/>
                  <a:t>Dados (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400" dirty="0" err="1"/>
                  <a:t>,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pt-BR" sz="2400" dirty="0"/>
                  <a:t>) e (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400" dirty="0" err="1"/>
                  <a:t>,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pt-BR" sz="2400" dirty="0"/>
                  <a:t>) conforme calculamos.</a:t>
                </a:r>
              </a:p>
              <a:p>
                <a:r>
                  <a:rPr lang="pt-BR" sz="2400" dirty="0"/>
                  <a:t>Para criptografar a mensagem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(&lt;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calcule: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pt-B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a:rPr lang="pt-B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pt-BR" sz="2000" dirty="0">
                  <a:solidFill>
                    <a:srgbClr val="FF0000"/>
                  </a:solidFill>
                </a:endParaRPr>
              </a:p>
              <a:p>
                <a:r>
                  <a:rPr lang="pt-BR" altLang="pt-BR" sz="2400" dirty="0"/>
                  <a:t>Para </a:t>
                </a:r>
                <a:r>
                  <a:rPr lang="pt-BR" altLang="pt-BR" sz="2400" dirty="0" err="1"/>
                  <a:t>decriptar</a:t>
                </a:r>
                <a:r>
                  <a:rPr lang="pt-BR" altLang="pt-BR" sz="2400" dirty="0"/>
                  <a:t> padrão de bits recebido </a:t>
                </a:r>
                <a14:m>
                  <m:oMath xmlns:m="http://schemas.openxmlformats.org/officeDocument/2006/math">
                    <m:r>
                      <a:rPr lang="pt-BR" altLang="pt-BR" sz="24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pt-BR" altLang="pt-BR" sz="2400" dirty="0"/>
                  <a:t>, calcule: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pt-B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pt-B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pt-B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pt-BR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81290" cy="3990289"/>
              </a:xfrm>
              <a:blipFill>
                <a:blip r:embed="rId2"/>
                <a:stretch>
                  <a:fillRect l="-7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16">
            <a:extLst>
              <a:ext uri="{FF2B5EF4-FFF2-40B4-BE49-F238E27FC236}">
                <a16:creationId xmlns:a16="http://schemas.microsoft.com/office/drawing/2014/main" id="{57021A0D-C24F-4276-9BA3-0F2B637E81EA}"/>
              </a:ext>
            </a:extLst>
          </p:cNvPr>
          <p:cNvGrpSpPr>
            <a:grpSpLocks/>
          </p:cNvGrpSpPr>
          <p:nvPr/>
        </p:nvGrpSpPr>
        <p:grpSpPr bwMode="auto">
          <a:xfrm>
            <a:off x="6272673" y="4598569"/>
            <a:ext cx="3935413" cy="619125"/>
            <a:chOff x="868" y="3287"/>
            <a:chExt cx="2479" cy="390"/>
          </a:xfrm>
        </p:grpSpPr>
        <p:sp>
          <p:nvSpPr>
            <p:cNvPr id="8" name="Text Box 17">
              <a:extLst>
                <a:ext uri="{FF2B5EF4-FFF2-40B4-BE49-F238E27FC236}">
                  <a16:creationId xmlns:a16="http://schemas.microsoft.com/office/drawing/2014/main" id="{F7ED1C3D-4C95-458F-8360-5715DFC7C5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8" y="3388"/>
              <a:ext cx="17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2400" i="1"/>
                <a:t>m  =  (m   </a:t>
              </a:r>
              <a:r>
                <a:rPr lang="pt-BR" altLang="pt-BR" sz="2400"/>
                <a:t>mod</a:t>
              </a:r>
              <a:r>
                <a:rPr lang="pt-BR" altLang="pt-BR" sz="2400" i="1"/>
                <a:t>  n)</a:t>
              </a:r>
            </a:p>
          </p:txBody>
        </p:sp>
        <p:sp>
          <p:nvSpPr>
            <p:cNvPr id="9" name="Text Box 18">
              <a:extLst>
                <a:ext uri="{FF2B5EF4-FFF2-40B4-BE49-F238E27FC236}">
                  <a16:creationId xmlns:a16="http://schemas.microsoft.com/office/drawing/2014/main" id="{E1D8B87D-8364-41BB-96D0-A58280E252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7" y="3308"/>
              <a:ext cx="2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2400" i="1"/>
                <a:t>e</a:t>
              </a:r>
            </a:p>
          </p:txBody>
        </p:sp>
        <p:sp>
          <p:nvSpPr>
            <p:cNvPr id="10" name="Text Box 19">
              <a:extLst>
                <a:ext uri="{FF2B5EF4-FFF2-40B4-BE49-F238E27FC236}">
                  <a16:creationId xmlns:a16="http://schemas.microsoft.com/office/drawing/2014/main" id="{AC251B93-83FC-457A-8568-26EE38881D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3" y="3389"/>
              <a:ext cx="8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2400" i="1"/>
                <a:t> </a:t>
              </a:r>
              <a:r>
                <a:rPr lang="pt-BR" altLang="pt-BR" sz="2400"/>
                <a:t>mod</a:t>
              </a:r>
              <a:r>
                <a:rPr lang="pt-BR" altLang="pt-BR" sz="2400" i="1"/>
                <a:t>  n</a:t>
              </a:r>
            </a:p>
          </p:txBody>
        </p:sp>
        <p:sp>
          <p:nvSpPr>
            <p:cNvPr id="11" name="Text Box 20">
              <a:extLst>
                <a:ext uri="{FF2B5EF4-FFF2-40B4-BE49-F238E27FC236}">
                  <a16:creationId xmlns:a16="http://schemas.microsoft.com/office/drawing/2014/main" id="{1DA77F80-F369-4FB9-A198-18E25854C5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0" y="3287"/>
              <a:ext cx="2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2400" i="1"/>
                <a:t>d</a:t>
              </a:r>
            </a:p>
          </p:txBody>
        </p:sp>
      </p:grpSp>
      <p:sp>
        <p:nvSpPr>
          <p:cNvPr id="12" name="Text Box 21">
            <a:extLst>
              <a:ext uri="{FF2B5EF4-FFF2-40B4-BE49-F238E27FC236}">
                <a16:creationId xmlns:a16="http://schemas.microsoft.com/office/drawing/2014/main" id="{68450731-CFDB-4BC5-8731-7EEEF3499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0573" y="4585869"/>
            <a:ext cx="1524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r"/>
            <a:r>
              <a:rPr lang="pt-BR" altLang="pt-BR" sz="2400">
                <a:solidFill>
                  <a:schemeClr val="accent2"/>
                </a:solidFill>
              </a:rPr>
              <a:t>A mágica</a:t>
            </a:r>
            <a:br>
              <a:rPr lang="pt-BR" altLang="pt-BR" sz="2400">
                <a:solidFill>
                  <a:schemeClr val="accent2"/>
                </a:solidFill>
              </a:rPr>
            </a:br>
            <a:r>
              <a:rPr lang="pt-BR" altLang="pt-BR" sz="2400">
                <a:solidFill>
                  <a:schemeClr val="accent2"/>
                </a:solidFill>
              </a:rPr>
              <a:t>acontece!</a:t>
            </a:r>
            <a:endParaRPr lang="pt-BR" altLang="pt-BR" sz="2400">
              <a:latin typeface="Times New Roman" pitchFamily="18" charset="0"/>
            </a:endParaRPr>
          </a:p>
        </p:txBody>
      </p:sp>
      <p:sp>
        <p:nvSpPr>
          <p:cNvPr id="13" name="Rectangle 22">
            <a:extLst>
              <a:ext uri="{FF2B5EF4-FFF2-40B4-BE49-F238E27FC236}">
                <a16:creationId xmlns:a16="http://schemas.microsoft.com/office/drawing/2014/main" id="{D27A94B7-E206-4437-9330-845867D6F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5786" y="4462044"/>
            <a:ext cx="6256337" cy="1268412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endParaRPr lang="pt-BR" altLang="pt-BR"/>
          </a:p>
        </p:txBody>
      </p:sp>
      <p:sp>
        <p:nvSpPr>
          <p:cNvPr id="14" name="Text Box 24">
            <a:extLst>
              <a:ext uri="{FF2B5EF4-FFF2-40B4-BE49-F238E27FC236}">
                <a16:creationId xmlns:a16="http://schemas.microsoft.com/office/drawing/2014/main" id="{FB51C3B3-3217-4216-A0A4-53A28111A3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3361" y="5260556"/>
            <a:ext cx="436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2400"/>
              <a:t>c</a:t>
            </a:r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AB5643BA-BEAF-4AD8-9BAC-AF4E9AF4A4CE}"/>
              </a:ext>
            </a:extLst>
          </p:cNvPr>
          <p:cNvSpPr>
            <a:spLocks/>
          </p:cNvSpPr>
          <p:nvPr/>
        </p:nvSpPr>
        <p:spPr bwMode="auto">
          <a:xfrm rot="16200000">
            <a:off x="7995905" y="4688584"/>
            <a:ext cx="139700" cy="1223963"/>
          </a:xfrm>
          <a:prstGeom prst="leftBrace">
            <a:avLst>
              <a:gd name="adj1" fmla="val 73011"/>
              <a:gd name="adj2" fmla="val 52954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endParaRPr lang="pt-BR" alt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FCF31C0-5FCF-4A66-9CD0-38F272997EDA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39250123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57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RSA: criptografia, decriptação</a:t>
            </a:r>
            <a:endParaRPr lang="pt-BR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81290" cy="3990289"/>
              </a:xfrm>
            </p:spPr>
            <p:txBody>
              <a:bodyPr/>
              <a:lstStyle/>
              <a:p>
                <a:r>
                  <a:rPr lang="pt-BR" sz="2400" dirty="0"/>
                  <a:t>Dados (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400" dirty="0" err="1"/>
                  <a:t>,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pt-BR" sz="2400" dirty="0"/>
                  <a:t>) e (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400" dirty="0" err="1"/>
                  <a:t>,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pt-BR" sz="2400" dirty="0"/>
                  <a:t>) conforme calculamos.</a:t>
                </a:r>
              </a:p>
              <a:p>
                <a:r>
                  <a:rPr lang="pt-BR" sz="2400" dirty="0"/>
                  <a:t>Para criptografar a mensagem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(&lt;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, calcule: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pt-B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a:rPr lang="pt-B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pt-BR" sz="2000" dirty="0">
                  <a:solidFill>
                    <a:srgbClr val="FF0000"/>
                  </a:solidFill>
                </a:endParaRPr>
              </a:p>
              <a:p>
                <a:r>
                  <a:rPr lang="pt-BR" altLang="pt-BR" sz="2400" dirty="0"/>
                  <a:t>Para </a:t>
                </a:r>
                <a:r>
                  <a:rPr lang="pt-BR" altLang="pt-BR" sz="2400" dirty="0" err="1"/>
                  <a:t>decriptar</a:t>
                </a:r>
                <a:r>
                  <a:rPr lang="pt-BR" altLang="pt-BR" sz="2400" dirty="0"/>
                  <a:t> padrão de bits recebido </a:t>
                </a:r>
                <a14:m>
                  <m:oMath xmlns:m="http://schemas.openxmlformats.org/officeDocument/2006/math">
                    <m:r>
                      <a:rPr lang="pt-BR" altLang="pt-BR" sz="24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pt-BR" altLang="pt-BR" sz="2400" dirty="0"/>
                  <a:t>, calcule: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pt-B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t-B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pt-BR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pt-B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pt-BR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81290" cy="3990289"/>
              </a:xfrm>
              <a:blipFill>
                <a:blip r:embed="rId2"/>
                <a:stretch>
                  <a:fillRect l="-72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16">
            <a:extLst>
              <a:ext uri="{FF2B5EF4-FFF2-40B4-BE49-F238E27FC236}">
                <a16:creationId xmlns:a16="http://schemas.microsoft.com/office/drawing/2014/main" id="{57021A0D-C24F-4276-9BA3-0F2B637E81EA}"/>
              </a:ext>
            </a:extLst>
          </p:cNvPr>
          <p:cNvGrpSpPr>
            <a:grpSpLocks/>
          </p:cNvGrpSpPr>
          <p:nvPr/>
        </p:nvGrpSpPr>
        <p:grpSpPr bwMode="auto">
          <a:xfrm>
            <a:off x="6272673" y="4598569"/>
            <a:ext cx="3935413" cy="619125"/>
            <a:chOff x="868" y="3287"/>
            <a:chExt cx="2479" cy="390"/>
          </a:xfrm>
        </p:grpSpPr>
        <p:sp>
          <p:nvSpPr>
            <p:cNvPr id="8" name="Text Box 17">
              <a:extLst>
                <a:ext uri="{FF2B5EF4-FFF2-40B4-BE49-F238E27FC236}">
                  <a16:creationId xmlns:a16="http://schemas.microsoft.com/office/drawing/2014/main" id="{F7ED1C3D-4C95-458F-8360-5715DFC7C5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8" y="3388"/>
              <a:ext cx="17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2400" i="1"/>
                <a:t>m  =  (m   </a:t>
              </a:r>
              <a:r>
                <a:rPr lang="pt-BR" altLang="pt-BR" sz="2400"/>
                <a:t>mod</a:t>
              </a:r>
              <a:r>
                <a:rPr lang="pt-BR" altLang="pt-BR" sz="2400" i="1"/>
                <a:t>  n)</a:t>
              </a:r>
            </a:p>
          </p:txBody>
        </p:sp>
        <p:sp>
          <p:nvSpPr>
            <p:cNvPr id="9" name="Text Box 18">
              <a:extLst>
                <a:ext uri="{FF2B5EF4-FFF2-40B4-BE49-F238E27FC236}">
                  <a16:creationId xmlns:a16="http://schemas.microsoft.com/office/drawing/2014/main" id="{E1D8B87D-8364-41BB-96D0-A58280E252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7" y="3308"/>
              <a:ext cx="2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2400" i="1"/>
                <a:t>e</a:t>
              </a:r>
            </a:p>
          </p:txBody>
        </p:sp>
        <p:sp>
          <p:nvSpPr>
            <p:cNvPr id="10" name="Text Box 19">
              <a:extLst>
                <a:ext uri="{FF2B5EF4-FFF2-40B4-BE49-F238E27FC236}">
                  <a16:creationId xmlns:a16="http://schemas.microsoft.com/office/drawing/2014/main" id="{AC251B93-83FC-457A-8568-26EE38881D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3" y="3389"/>
              <a:ext cx="8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2400" i="1"/>
                <a:t> </a:t>
              </a:r>
              <a:r>
                <a:rPr lang="pt-BR" altLang="pt-BR" sz="2400"/>
                <a:t>mod</a:t>
              </a:r>
              <a:r>
                <a:rPr lang="pt-BR" altLang="pt-BR" sz="2400" i="1"/>
                <a:t>  n</a:t>
              </a:r>
            </a:p>
          </p:txBody>
        </p:sp>
        <p:sp>
          <p:nvSpPr>
            <p:cNvPr id="11" name="Text Box 20">
              <a:extLst>
                <a:ext uri="{FF2B5EF4-FFF2-40B4-BE49-F238E27FC236}">
                  <a16:creationId xmlns:a16="http://schemas.microsoft.com/office/drawing/2014/main" id="{1DA77F80-F369-4FB9-A198-18E25854C5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0" y="3287"/>
              <a:ext cx="2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2400" i="1"/>
                <a:t>d</a:t>
              </a:r>
            </a:p>
          </p:txBody>
        </p:sp>
      </p:grpSp>
      <p:sp>
        <p:nvSpPr>
          <p:cNvPr id="12" name="Text Box 21">
            <a:extLst>
              <a:ext uri="{FF2B5EF4-FFF2-40B4-BE49-F238E27FC236}">
                <a16:creationId xmlns:a16="http://schemas.microsoft.com/office/drawing/2014/main" id="{68450731-CFDB-4BC5-8731-7EEEF3499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0573" y="4585869"/>
            <a:ext cx="1524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r"/>
            <a:r>
              <a:rPr lang="pt-BR" altLang="pt-BR" sz="2400">
                <a:solidFill>
                  <a:schemeClr val="accent2"/>
                </a:solidFill>
              </a:rPr>
              <a:t>A mágica</a:t>
            </a:r>
            <a:br>
              <a:rPr lang="pt-BR" altLang="pt-BR" sz="2400">
                <a:solidFill>
                  <a:schemeClr val="accent2"/>
                </a:solidFill>
              </a:rPr>
            </a:br>
            <a:r>
              <a:rPr lang="pt-BR" altLang="pt-BR" sz="2400">
                <a:solidFill>
                  <a:schemeClr val="accent2"/>
                </a:solidFill>
              </a:rPr>
              <a:t>acontece!</a:t>
            </a:r>
            <a:endParaRPr lang="pt-BR" altLang="pt-BR" sz="2400">
              <a:latin typeface="Times New Roman" pitchFamily="18" charset="0"/>
            </a:endParaRPr>
          </a:p>
        </p:txBody>
      </p:sp>
      <p:sp>
        <p:nvSpPr>
          <p:cNvPr id="13" name="Rectangle 22">
            <a:extLst>
              <a:ext uri="{FF2B5EF4-FFF2-40B4-BE49-F238E27FC236}">
                <a16:creationId xmlns:a16="http://schemas.microsoft.com/office/drawing/2014/main" id="{D27A94B7-E206-4437-9330-845867D6F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5786" y="4462044"/>
            <a:ext cx="6256337" cy="1268412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endParaRPr lang="pt-BR" altLang="pt-BR"/>
          </a:p>
        </p:txBody>
      </p:sp>
      <p:sp>
        <p:nvSpPr>
          <p:cNvPr id="14" name="Text Box 24">
            <a:extLst>
              <a:ext uri="{FF2B5EF4-FFF2-40B4-BE49-F238E27FC236}">
                <a16:creationId xmlns:a16="http://schemas.microsoft.com/office/drawing/2014/main" id="{FB51C3B3-3217-4216-A0A4-53A28111A3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3361" y="5260556"/>
            <a:ext cx="436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2400"/>
              <a:t>c</a:t>
            </a:r>
          </a:p>
        </p:txBody>
      </p:sp>
      <p:sp>
        <p:nvSpPr>
          <p:cNvPr id="15" name="AutoShape 23">
            <a:extLst>
              <a:ext uri="{FF2B5EF4-FFF2-40B4-BE49-F238E27FC236}">
                <a16:creationId xmlns:a16="http://schemas.microsoft.com/office/drawing/2014/main" id="{AB5643BA-BEAF-4AD8-9BAC-AF4E9AF4A4CE}"/>
              </a:ext>
            </a:extLst>
          </p:cNvPr>
          <p:cNvSpPr>
            <a:spLocks/>
          </p:cNvSpPr>
          <p:nvPr/>
        </p:nvSpPr>
        <p:spPr bwMode="auto">
          <a:xfrm rot="16200000">
            <a:off x="7995905" y="4688584"/>
            <a:ext cx="139700" cy="1223963"/>
          </a:xfrm>
          <a:prstGeom prst="leftBrace">
            <a:avLst>
              <a:gd name="adj1" fmla="val 73011"/>
              <a:gd name="adj2" fmla="val 52954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endParaRPr lang="pt-BR" altLang="pt-BR"/>
          </a:p>
        </p:txBody>
      </p:sp>
      <p:cxnSp>
        <p:nvCxnSpPr>
          <p:cNvPr id="16" name="Conector de seta reta 3">
            <a:extLst>
              <a:ext uri="{FF2B5EF4-FFF2-40B4-BE49-F238E27FC236}">
                <a16:creationId xmlns:a16="http://schemas.microsoft.com/office/drawing/2014/main" id="{F4398B90-2CF8-471D-99ED-26503562DCF3}"/>
              </a:ext>
            </a:extLst>
          </p:cNvPr>
          <p:cNvCxnSpPr>
            <a:cxnSpLocks/>
          </p:cNvCxnSpPr>
          <p:nvPr/>
        </p:nvCxnSpPr>
        <p:spPr>
          <a:xfrm flipH="1">
            <a:off x="2693630" y="2393780"/>
            <a:ext cx="271761" cy="84033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27">
            <a:extLst>
              <a:ext uri="{FF2B5EF4-FFF2-40B4-BE49-F238E27FC236}">
                <a16:creationId xmlns:a16="http://schemas.microsoft.com/office/drawing/2014/main" id="{BBDCF311-980A-4007-984D-634E7BA6469D}"/>
              </a:ext>
            </a:extLst>
          </p:cNvPr>
          <p:cNvCxnSpPr>
            <a:cxnSpLocks/>
          </p:cNvCxnSpPr>
          <p:nvPr/>
        </p:nvCxnSpPr>
        <p:spPr>
          <a:xfrm>
            <a:off x="2693630" y="2393780"/>
            <a:ext cx="691009" cy="84033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29">
            <a:extLst>
              <a:ext uri="{FF2B5EF4-FFF2-40B4-BE49-F238E27FC236}">
                <a16:creationId xmlns:a16="http://schemas.microsoft.com/office/drawing/2014/main" id="{F8805730-ED3C-41E3-AE30-25CF9B96CFCD}"/>
              </a:ext>
            </a:extLst>
          </p:cNvPr>
          <p:cNvCxnSpPr>
            <a:cxnSpLocks/>
          </p:cNvCxnSpPr>
          <p:nvPr/>
        </p:nvCxnSpPr>
        <p:spPr>
          <a:xfrm flipH="1">
            <a:off x="3439259" y="2393780"/>
            <a:ext cx="371017" cy="196348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31">
            <a:extLst>
              <a:ext uri="{FF2B5EF4-FFF2-40B4-BE49-F238E27FC236}">
                <a16:creationId xmlns:a16="http://schemas.microsoft.com/office/drawing/2014/main" id="{B887CABA-F886-410C-A6EA-DC9846026D84}"/>
              </a:ext>
            </a:extLst>
          </p:cNvPr>
          <p:cNvCxnSpPr>
            <a:cxnSpLocks/>
          </p:cNvCxnSpPr>
          <p:nvPr/>
        </p:nvCxnSpPr>
        <p:spPr>
          <a:xfrm flipH="1">
            <a:off x="2693630" y="2393780"/>
            <a:ext cx="1433989" cy="196348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tângulo 19">
            <a:extLst>
              <a:ext uri="{FF2B5EF4-FFF2-40B4-BE49-F238E27FC236}">
                <a16:creationId xmlns:a16="http://schemas.microsoft.com/office/drawing/2014/main" id="{70AA9D00-5FA8-410F-A2B1-D4EDA615F2CD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23834023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58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Por que RSA funciona?</a:t>
            </a:r>
            <a:endParaRPr lang="pt-BR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81290" cy="3990289"/>
              </a:xfrm>
            </p:spPr>
            <p:txBody>
              <a:bodyPr/>
              <a:lstStyle/>
              <a:p>
                <a:r>
                  <a:rPr lang="pt-BR" sz="2800" dirty="0"/>
                  <a:t>Deve mostrar que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pt-BR" sz="28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800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sz="2800" dirty="0"/>
                  <a:t>, </a:t>
                </a:r>
              </a:p>
              <a:p>
                <a:pPr lvl="1"/>
                <a:r>
                  <a:rPr lang="pt-BR" sz="2400" dirty="0"/>
                  <a:t>onde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pt-BR" sz="2400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pt-BR" sz="2400" dirty="0"/>
              </a:p>
              <a:p>
                <a:r>
                  <a:rPr lang="pt-BR" sz="2800" dirty="0"/>
                  <a:t>Fato: para qualquer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sz="2800" dirty="0"/>
                  <a:t> 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t-BR" sz="28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pt-BR" sz="28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sz="28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pt-BR" sz="2800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pt-BR" sz="28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pt-BR" sz="28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800" i="1" dirty="0" err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8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>,</a:t>
                </a:r>
              </a:p>
              <a:p>
                <a:pPr lvl="1"/>
                <a:r>
                  <a:rPr lang="pt-BR" sz="2400" dirty="0"/>
                  <a:t>onde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pt-BR" sz="2400" i="1" dirty="0" err="1">
                        <a:latin typeface="Cambria Math" panose="02040503050406030204" pitchFamily="18" charset="0"/>
                      </a:rPr>
                      <m:t>𝑝𝑞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−1)(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−1)</m:t>
                    </m:r>
                    <m:r>
                      <a:rPr lang="pt-BR" altLang="pt-BR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pt-BR" altLang="pt-BR" dirty="0"/>
              </a:p>
              <a:p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81290" cy="3990289"/>
              </a:xfrm>
              <a:blipFill>
                <a:blip r:embed="rId2"/>
                <a:stretch>
                  <a:fillRect l="-9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C20EE515-1384-44F5-8517-ADA69BCA5457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17832196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59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Por que RSA funciona?</a:t>
            </a:r>
            <a:endParaRPr lang="pt-BR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81290" cy="3990289"/>
              </a:xfrm>
            </p:spPr>
            <p:txBody>
              <a:bodyPr/>
              <a:lstStyle/>
              <a:p>
                <a:r>
                  <a:rPr lang="pt-BR" altLang="pt-BR" sz="2800" dirty="0"/>
                  <a:t>Assim:</a:t>
                </a:r>
              </a:p>
              <a:p>
                <a:pPr marL="0" indent="0">
                  <a:buNone/>
                </a:pPr>
                <a:r>
                  <a:rPr lang="pt-BR" altLang="pt-BR" sz="2800" dirty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altLang="pt-BR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altLang="pt-BR" sz="24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pt-BR" altLang="pt-BR" sz="24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da-DK" alt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altLang="pt-BR" sz="240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da-DK" alt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alt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da-DK" alt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a-DK" altLang="pt-BR" sz="2400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altLang="pt-BR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altLang="pt-BR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da-DK" altLang="pt-BR" sz="24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pt-BR" altLang="pt-BR" sz="24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pt-BR" altLang="pt-BR" sz="2400" i="1" dirty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p>
                        </m:sSup>
                        <m:r>
                          <a:rPr lang="da-DK" altLang="pt-BR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a-DK" altLang="pt-BR" sz="2400" i="1" dirty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da-DK" altLang="pt-BR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a-DK" altLang="pt-BR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da-DK" altLang="pt-BR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pt-BR" altLang="pt-BR" sz="24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da-DK" alt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altLang="pt-BR" sz="240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da-DK" alt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alt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da-DK" altLang="pt-BR" sz="2400" dirty="0"/>
              </a:p>
              <a:p>
                <a:pPr marL="0" indent="0">
                  <a:buNone/>
                </a:pPr>
                <a:r>
                  <a:rPr lang="da-DK" altLang="pt-BR" sz="2400" dirty="0"/>
                  <a:t>		  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altLang="pt-BR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altLang="pt-BR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pt-BR" altLang="pt-BR" sz="2400" b="0" i="1" dirty="0" smtClean="0">
                            <a:latin typeface="Cambria Math" panose="02040503050406030204" pitchFamily="18" charset="0"/>
                          </a:rPr>
                          <m:t>𝑒𝑑</m:t>
                        </m:r>
                      </m:sup>
                    </m:sSup>
                    <m:r>
                      <a:rPr lang="da-DK" alt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altLang="pt-BR" sz="240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da-DK" alt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alt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a-DK" altLang="pt-BR" sz="2400" dirty="0"/>
                  <a:t> </a:t>
                </a:r>
              </a:p>
              <a:p>
                <a:pPr marL="0" indent="0">
                  <a:buNone/>
                </a:pPr>
                <a:r>
                  <a:rPr lang="da-DK" altLang="pt-BR" sz="2400" dirty="0"/>
                  <a:t>		  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altLang="pt-BR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altLang="pt-BR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pt-BR" altLang="pt-BR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altLang="pt-BR" sz="2400" b="0" i="1" dirty="0" smtClean="0">
                            <a:latin typeface="Cambria Math" panose="02040503050406030204" pitchFamily="18" charset="0"/>
                          </a:rPr>
                          <m:t>𝑒𝑑</m:t>
                        </m:r>
                        <m:r>
                          <a:rPr lang="pt-BR" altLang="pt-BR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altLang="pt-BR" sz="2400" b="0" i="1" dirty="0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pt-BR" altLang="pt-BR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pt-BR" altLang="pt-BR" sz="2400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pt-BR" altLang="pt-BR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da-DK" alt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altLang="pt-BR" sz="240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da-DK" alt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alt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da-DK" altLang="pt-BR" sz="2400" dirty="0"/>
              </a:p>
              <a:p>
                <a:pPr marL="0" indent="0">
                  <a:buNone/>
                </a:pPr>
                <a:r>
                  <a:rPr lang="da-DK" altLang="pt-BR" sz="2400" dirty="0"/>
                  <a:t>		  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altLang="pt-BR" sz="24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altLang="pt-BR" sz="24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pt-BR" altLang="pt-BR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da-DK" alt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altLang="pt-BR" sz="240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da-DK" altLang="pt-BR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a-DK" altLang="pt-BR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da-DK" altLang="pt-BR" sz="2400" dirty="0"/>
              </a:p>
              <a:p>
                <a:pPr marL="0" indent="0">
                  <a:buNone/>
                </a:pPr>
                <a:r>
                  <a:rPr lang="da-DK" altLang="pt-BR" sz="2400" dirty="0"/>
                  <a:t>		    = </a:t>
                </a:r>
                <a14:m>
                  <m:oMath xmlns:m="http://schemas.openxmlformats.org/officeDocument/2006/math">
                    <m:r>
                      <a:rPr lang="da-DK" altLang="pt-BR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da-DK" altLang="pt-BR" sz="2400" dirty="0"/>
              </a:p>
              <a:p>
                <a:pPr marL="0" indent="0">
                  <a:buNone/>
                </a:pPr>
                <a:endParaRPr lang="pt-BR" altLang="pt-BR" sz="2800" dirty="0"/>
              </a:p>
              <a:p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81290" cy="3990289"/>
              </a:xfrm>
              <a:blipFill>
                <a:blip r:embed="rId2"/>
                <a:stretch>
                  <a:fillRect l="-943" b="-13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B9A66DE3-7C49-46C0-9D4B-A56EEA7E4934}"/>
              </a:ext>
            </a:extLst>
          </p:cNvPr>
          <p:cNvCxnSpPr/>
          <p:nvPr/>
        </p:nvCxnSpPr>
        <p:spPr>
          <a:xfrm>
            <a:off x="4007298" y="4928018"/>
            <a:ext cx="93610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3">
            <a:extLst>
              <a:ext uri="{FF2B5EF4-FFF2-40B4-BE49-F238E27FC236}">
                <a16:creationId xmlns:a16="http://schemas.microsoft.com/office/drawing/2014/main" id="{27FFF820-33D7-4805-885F-302BF156B438}"/>
              </a:ext>
            </a:extLst>
          </p:cNvPr>
          <p:cNvCxnSpPr/>
          <p:nvPr/>
        </p:nvCxnSpPr>
        <p:spPr>
          <a:xfrm flipH="1">
            <a:off x="5582928" y="3670904"/>
            <a:ext cx="108012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27604A2-58DF-4320-8EB9-8E7A8B34F77E}"/>
              </a:ext>
            </a:extLst>
          </p:cNvPr>
          <p:cNvSpPr txBox="1"/>
          <p:nvPr/>
        </p:nvSpPr>
        <p:spPr>
          <a:xfrm>
            <a:off x="6899806" y="3477396"/>
            <a:ext cx="32449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Pela aritmética modular</a:t>
            </a:r>
          </a:p>
        </p:txBody>
      </p:sp>
      <p:cxnSp>
        <p:nvCxnSpPr>
          <p:cNvPr id="22" name="Conector de seta reta 7">
            <a:extLst>
              <a:ext uri="{FF2B5EF4-FFF2-40B4-BE49-F238E27FC236}">
                <a16:creationId xmlns:a16="http://schemas.microsoft.com/office/drawing/2014/main" id="{9C422752-4B35-4AAD-AAB9-7543A94A809F}"/>
              </a:ext>
            </a:extLst>
          </p:cNvPr>
          <p:cNvCxnSpPr/>
          <p:nvPr/>
        </p:nvCxnSpPr>
        <p:spPr>
          <a:xfrm flipH="1">
            <a:off x="6280848" y="4285462"/>
            <a:ext cx="108012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B4875E37-EA2B-4442-BA7E-FD1E8390A08B}"/>
                  </a:ext>
                </a:extLst>
              </p:cNvPr>
              <p:cNvSpPr txBox="1"/>
              <p:nvPr/>
            </p:nvSpPr>
            <p:spPr>
              <a:xfrm>
                <a:off x="7606271" y="4075826"/>
                <a:ext cx="210314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𝑥</m:t>
                    </m:r>
                  </m:oMath>
                </a14:m>
                <a:r>
                  <a:rPr lang="pt-BR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</m:oMath>
                </a14:m>
                <a:r>
                  <a:rPr lang="pt-BR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e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𝑦</m:t>
                    </m:r>
                  </m:oMath>
                </a14:m>
                <a:r>
                  <a:rPr lang="pt-BR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𝑒𝑑</m:t>
                    </m:r>
                  </m:oMath>
                </a14:m>
                <a:endParaRPr lang="pt-BR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B4875E37-EA2B-4442-BA7E-FD1E8390A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271" y="4075826"/>
                <a:ext cx="2103140" cy="400110"/>
              </a:xfrm>
              <a:prstGeom prst="rect">
                <a:avLst/>
              </a:prstGeom>
              <a:blipFill>
                <a:blip r:embed="rId3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ector de seta reta 11">
            <a:extLst>
              <a:ext uri="{FF2B5EF4-FFF2-40B4-BE49-F238E27FC236}">
                <a16:creationId xmlns:a16="http://schemas.microsoft.com/office/drawing/2014/main" id="{82C985AB-858E-4474-BC6F-6C619203A38D}"/>
              </a:ext>
            </a:extLst>
          </p:cNvPr>
          <p:cNvCxnSpPr/>
          <p:nvPr/>
        </p:nvCxnSpPr>
        <p:spPr>
          <a:xfrm flipH="1">
            <a:off x="5331132" y="4914799"/>
            <a:ext cx="108012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E5AF43B8-02A7-4241-B112-CD04DA1F44AF}"/>
                  </a:ext>
                </a:extLst>
              </p:cNvPr>
              <p:cNvSpPr txBox="1"/>
              <p:nvPr/>
            </p:nvSpPr>
            <p:spPr>
              <a:xfrm>
                <a:off x="6674438" y="4604852"/>
                <a:ext cx="4229747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Lembre-se que escolhemos ‘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𝑒</m:t>
                    </m:r>
                  </m:oMath>
                </a14:m>
                <a:r>
                  <a:rPr lang="pt-BR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’ e ‘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𝑑</m:t>
                    </m:r>
                  </m:oMath>
                </a14:m>
                <a:r>
                  <a:rPr lang="pt-BR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’ tal que “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𝑒𝑑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  <m:r>
                      <a:rPr lang="pt-BR" sz="2000" i="1" dirty="0" err="1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𝑚𝑜𝑑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𝑧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 = 1</m:t>
                    </m:r>
                  </m:oMath>
                </a14:m>
                <a:r>
                  <a:rPr lang="pt-BR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”. </a:t>
                </a:r>
              </a:p>
              <a:p>
                <a:r>
                  <a:rPr lang="pt-BR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Lembre-se também que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&lt;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t-BR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(assim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  <m:r>
                      <a:rPr lang="pt-BR" sz="2000" i="1" dirty="0" err="1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𝑚𝑜𝑑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𝑛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=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</m:oMath>
                </a14:m>
                <a:r>
                  <a:rPr lang="pt-BR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5" name="CaixaDeTexto 24">
                <a:extLst>
                  <a:ext uri="{FF2B5EF4-FFF2-40B4-BE49-F238E27FC236}">
                    <a16:creationId xmlns:a16="http://schemas.microsoft.com/office/drawing/2014/main" id="{E5AF43B8-02A7-4241-B112-CD04DA1F4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4438" y="4604852"/>
                <a:ext cx="4229747" cy="1323439"/>
              </a:xfrm>
              <a:prstGeom prst="rect">
                <a:avLst/>
              </a:prstGeom>
              <a:blipFill>
                <a:blip r:embed="rId4"/>
                <a:stretch>
                  <a:fillRect l="-1585" t="-2304" b="-737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tângulo 11">
            <a:extLst>
              <a:ext uri="{FF2B5EF4-FFF2-40B4-BE49-F238E27FC236}">
                <a16:creationId xmlns:a16="http://schemas.microsoft.com/office/drawing/2014/main" id="{2667F4E8-8E91-4980-B64F-E20D4A197D4F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40389429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60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Exemplo de RSA</a:t>
            </a:r>
            <a:endParaRPr lang="pt-BR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81290" cy="3990289"/>
              </a:xfrm>
            </p:spPr>
            <p:txBody>
              <a:bodyPr/>
              <a:lstStyle/>
              <a:p>
                <a:r>
                  <a:rPr lang="pt-BR" sz="2800" dirty="0"/>
                  <a:t>Bob escolhe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= 5</m:t>
                    </m:r>
                  </m:oMath>
                </a14:m>
                <a:r>
                  <a:rPr lang="pt-BR" sz="2800" dirty="0"/>
                  <a:t>,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= 7</m:t>
                    </m:r>
                  </m:oMath>
                </a14:m>
                <a:r>
                  <a:rPr lang="pt-BR" sz="2800" dirty="0"/>
                  <a:t>.  Depois,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= 35</m:t>
                    </m:r>
                  </m:oMath>
                </a14:m>
                <a:r>
                  <a:rPr lang="pt-BR" sz="2800" dirty="0"/>
                  <a:t>,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 = 24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pt-BR" sz="24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= 5  </m:t>
                    </m:r>
                  </m:oMath>
                </a14:m>
                <a:r>
                  <a:rPr lang="pt-BR" sz="2400" dirty="0"/>
                  <a:t>(assim,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pt-BR" sz="2400" dirty="0"/>
                  <a:t>,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pt-BR" sz="2400" dirty="0"/>
                  <a:t>  não tem fatores em comum).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 29 </m:t>
                    </m:r>
                  </m:oMath>
                </a14:m>
                <a:r>
                  <a:rPr lang="pt-BR" sz="2400" dirty="0"/>
                  <a:t>(assim,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𝑒𝑑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pt-BR" sz="2400" dirty="0"/>
                  <a:t> divisível exatamente por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pt-BR" sz="2400" dirty="0"/>
                  <a:t>).</a:t>
                </a:r>
              </a:p>
              <a:p>
                <a:r>
                  <a:rPr lang="pt-BR" altLang="pt-BR" sz="2800" dirty="0"/>
                  <a:t>Criptografando mensagens de 8 bits.</a:t>
                </a:r>
                <a:endParaRPr lang="pt-BR" altLang="pt-BR" sz="2800" dirty="0">
                  <a:latin typeface="Times New Roman" pitchFamily="18" charset="0"/>
                </a:endParaRPr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81290" cy="3990289"/>
              </a:xfrm>
              <a:blipFill>
                <a:blip r:embed="rId2"/>
                <a:stretch>
                  <a:fillRect l="-9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ixaDeTexto 4">
            <a:extLst>
              <a:ext uri="{FF2B5EF4-FFF2-40B4-BE49-F238E27FC236}">
                <a16:creationId xmlns:a16="http://schemas.microsoft.com/office/drawing/2014/main" id="{C0A4D2E7-A2FC-496E-9823-B3C770D60F5E}"/>
              </a:ext>
            </a:extLst>
          </p:cNvPr>
          <p:cNvSpPr txBox="1"/>
          <p:nvPr/>
        </p:nvSpPr>
        <p:spPr>
          <a:xfrm>
            <a:off x="9994039" y="3098569"/>
            <a:ext cx="16192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00B05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35 e 5 são divulgados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D52B1739-BBF5-4609-B32D-3039B70A8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2389" y="4661279"/>
            <a:ext cx="2228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2400" u="sng"/>
              <a:t>padrão de bits</a:t>
            </a:r>
            <a:endParaRPr lang="pt-BR" altLang="pt-BR" sz="2400" u="sng">
              <a:latin typeface="Times New Roman" pitchFamily="18" charset="0"/>
            </a:endParaRP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1507B451-0F20-4976-A194-9F9809962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6352" y="4637466"/>
            <a:ext cx="420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2400" u="sng"/>
              <a:t>m</a:t>
            </a:r>
            <a:endParaRPr lang="pt-BR" altLang="pt-BR" sz="2400" u="sng">
              <a:latin typeface="Times New Roman" pitchFamily="18" charset="0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D7B468CE-7DF6-4B38-BC40-DB615EAED7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5239" y="4646991"/>
            <a:ext cx="42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2400" u="sng"/>
              <a:t>m</a:t>
            </a:r>
            <a:endParaRPr lang="pt-BR" altLang="pt-BR" sz="2400" u="sng">
              <a:latin typeface="Times New Roman" pitchFamily="18" charset="0"/>
            </a:endParaRP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E04D732D-111A-4BB0-9CE2-C58E42673683}"/>
              </a:ext>
            </a:extLst>
          </p:cNvPr>
          <p:cNvGrpSpPr>
            <a:grpSpLocks/>
          </p:cNvGrpSpPr>
          <p:nvPr/>
        </p:nvGrpSpPr>
        <p:grpSpPr bwMode="auto">
          <a:xfrm>
            <a:off x="7981089" y="4516816"/>
            <a:ext cx="2012950" cy="585788"/>
            <a:chOff x="2721" y="1773"/>
            <a:chExt cx="1268" cy="369"/>
          </a:xfrm>
        </p:grpSpPr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0B5A98CD-CD90-4050-ACDC-ED00367925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1" y="1854"/>
              <a:ext cx="12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2400" u="sng" dirty="0"/>
                <a:t>c = m  </a:t>
              </a:r>
              <a:r>
                <a:rPr lang="pt-BR" altLang="pt-BR" sz="2400" u="sng" dirty="0" err="1"/>
                <a:t>mod</a:t>
              </a:r>
              <a:r>
                <a:rPr lang="pt-BR" altLang="pt-BR" sz="2400" u="sng" dirty="0"/>
                <a:t>  </a:t>
              </a:r>
              <a:r>
                <a:rPr lang="pt-BR" altLang="pt-BR" sz="2400" dirty="0">
                  <a:solidFill>
                    <a:srgbClr val="00B0F0"/>
                  </a:solidFill>
                </a:rPr>
                <a:t>n</a:t>
              </a:r>
              <a:endParaRPr lang="pt-BR" altLang="pt-BR" sz="2400" dirty="0">
                <a:solidFill>
                  <a:srgbClr val="00B0F0"/>
                </a:solidFill>
                <a:latin typeface="Times New Roman" pitchFamily="18" charset="0"/>
              </a:endParaRPr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153EBF93-AFC0-4498-AF85-92DE01C223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0" y="1773"/>
              <a:ext cx="2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2400" dirty="0">
                  <a:solidFill>
                    <a:srgbClr val="00B0F0"/>
                  </a:solidFill>
                </a:rPr>
                <a:t>e</a:t>
              </a:r>
              <a:endParaRPr lang="pt-BR" altLang="pt-BR" sz="2400" u="sng" dirty="0">
                <a:solidFill>
                  <a:srgbClr val="00B0F0"/>
                </a:solidFill>
                <a:latin typeface="Times New Roman" pitchFamily="18" charset="0"/>
              </a:endParaRPr>
            </a:p>
          </p:txBody>
        </p:sp>
      </p:grpSp>
      <p:sp>
        <p:nvSpPr>
          <p:cNvPr id="12" name="Text Box 12">
            <a:extLst>
              <a:ext uri="{FF2B5EF4-FFF2-40B4-BE49-F238E27FC236}">
                <a16:creationId xmlns:a16="http://schemas.microsoft.com/office/drawing/2014/main" id="{39D9FCEF-7AE4-477F-9071-7C1F67848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6758" y="5135941"/>
            <a:ext cx="15340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2400" dirty="0">
                <a:solidFill>
                  <a:srgbClr val="FF0000"/>
                </a:solidFill>
                <a:latin typeface="Arial" charset="0"/>
              </a:rPr>
              <a:t>00001100</a:t>
            </a:r>
            <a:endParaRPr lang="pt-BR" altLang="pt-BR" sz="2400" dirty="0">
              <a:latin typeface="Times New Roman" pitchFamily="18" charset="0"/>
            </a:endParaRP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61E37D51-F2FB-445C-B237-9A2C5AD6D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9364" y="5158166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2400">
                <a:solidFill>
                  <a:srgbClr val="FF0000"/>
                </a:solidFill>
                <a:latin typeface="Arial" charset="0"/>
              </a:rPr>
              <a:t>12</a:t>
            </a:r>
            <a:endParaRPr lang="pt-BR" altLang="pt-BR" sz="2400">
              <a:latin typeface="Times New Roman" pitchFamily="18" charset="0"/>
            </a:endParaRPr>
          </a:p>
        </p:txBody>
      </p:sp>
      <p:sp>
        <p:nvSpPr>
          <p:cNvPr id="14" name="Text Box 14">
            <a:extLst>
              <a:ext uri="{FF2B5EF4-FFF2-40B4-BE49-F238E27FC236}">
                <a16:creationId xmlns:a16="http://schemas.microsoft.com/office/drawing/2014/main" id="{D3BC7B29-C503-47E8-B39A-F28B90A73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0273" y="5150229"/>
            <a:ext cx="12137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2400" dirty="0">
                <a:solidFill>
                  <a:srgbClr val="FF0000"/>
                </a:solidFill>
                <a:latin typeface="Arial" charset="0"/>
              </a:rPr>
              <a:t>248832</a:t>
            </a:r>
            <a:endParaRPr lang="pt-BR" altLang="pt-BR" sz="2400" dirty="0">
              <a:latin typeface="Times New Roman" pitchFamily="18" charset="0"/>
            </a:endParaRPr>
          </a:p>
        </p:txBody>
      </p:sp>
      <p:sp>
        <p:nvSpPr>
          <p:cNvPr id="15" name="Text Box 15">
            <a:extLst>
              <a:ext uri="{FF2B5EF4-FFF2-40B4-BE49-F238E27FC236}">
                <a16:creationId xmlns:a16="http://schemas.microsoft.com/office/drawing/2014/main" id="{2CAD4C38-6B07-436B-A9B4-6142D1DB69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3902" y="5148641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2400">
                <a:solidFill>
                  <a:srgbClr val="FF0000"/>
                </a:solidFill>
                <a:latin typeface="Arial" charset="0"/>
              </a:rPr>
              <a:t>17</a:t>
            </a:r>
            <a:endParaRPr lang="pt-BR" altLang="pt-BR" sz="2400">
              <a:latin typeface="Times New Roman" pitchFamily="18" charset="0"/>
            </a:endParaRPr>
          </a:p>
        </p:txBody>
      </p:sp>
      <p:sp>
        <p:nvSpPr>
          <p:cNvPr id="16" name="Text Box 28">
            <a:extLst>
              <a:ext uri="{FF2B5EF4-FFF2-40B4-BE49-F238E27FC236}">
                <a16:creationId xmlns:a16="http://schemas.microsoft.com/office/drawing/2014/main" id="{C6CEFB81-E1A2-48B2-A754-EE6FA83E10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7427" y="4929566"/>
            <a:ext cx="16906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dirty="0">
                <a:solidFill>
                  <a:schemeClr val="accent2"/>
                </a:solidFill>
              </a:rPr>
              <a:t>criptografia:</a:t>
            </a:r>
            <a:endParaRPr lang="pt-BR" altLang="pt-BR" dirty="0">
              <a:latin typeface="Times New Roman" pitchFamily="18" charset="0"/>
            </a:endParaRPr>
          </a:p>
        </p:txBody>
      </p:sp>
      <p:sp>
        <p:nvSpPr>
          <p:cNvPr id="17" name="Text Box 8">
            <a:extLst>
              <a:ext uri="{FF2B5EF4-FFF2-40B4-BE49-F238E27FC236}">
                <a16:creationId xmlns:a16="http://schemas.microsoft.com/office/drawing/2014/main" id="{F6582517-C0DB-4C0B-8975-323C9BF5D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7489" y="4505704"/>
            <a:ext cx="350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2400" dirty="0"/>
              <a:t>e</a:t>
            </a:r>
            <a:endParaRPr lang="pt-BR" altLang="pt-BR" sz="2400" u="sng" dirty="0">
              <a:latin typeface="Times New Roman" pitchFamily="18" charset="0"/>
            </a:endParaRPr>
          </a:p>
        </p:txBody>
      </p:sp>
      <p:cxnSp>
        <p:nvCxnSpPr>
          <p:cNvPr id="18" name="Conector de seta reta 30">
            <a:extLst>
              <a:ext uri="{FF2B5EF4-FFF2-40B4-BE49-F238E27FC236}">
                <a16:creationId xmlns:a16="http://schemas.microsoft.com/office/drawing/2014/main" id="{6844DC9E-4015-4484-B8C1-0AF31906AB60}"/>
              </a:ext>
            </a:extLst>
          </p:cNvPr>
          <p:cNvCxnSpPr/>
          <p:nvPr/>
        </p:nvCxnSpPr>
        <p:spPr>
          <a:xfrm>
            <a:off x="4776497" y="5364541"/>
            <a:ext cx="828427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FC156BCD-1AC2-4DAE-8824-9E56151821BC}"/>
                  </a:ext>
                </a:extLst>
              </p:cNvPr>
              <p:cNvSpPr txBox="1"/>
              <p:nvPr/>
            </p:nvSpPr>
            <p:spPr bwMode="auto">
              <a:xfrm>
                <a:off x="3971446" y="1272613"/>
                <a:ext cx="1774012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eaLnBrk="1" hangingPunct="1"/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𝑝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,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𝑞</m:t>
                    </m:r>
                  </m:oMath>
                </a14:m>
                <a:r>
                  <a:rPr lang="pt-BR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(primos)</a:t>
                </a:r>
              </a:p>
            </p:txBody>
          </p:sp>
        </mc:Choice>
        <mc:Fallback xmlns="">
          <p:sp>
            <p:nvSpPr>
              <p:cNvPr id="34" name="CaixaDeTexto 33">
                <a:extLst>
                  <a:ext uri="{FF2B5EF4-FFF2-40B4-BE49-F238E27FC236}">
                    <a16:creationId xmlns:a16="http://schemas.microsoft.com/office/drawing/2014/main" id="{FC156BCD-1AC2-4DAE-8824-9E5615182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71446" y="1272613"/>
                <a:ext cx="1774012" cy="400110"/>
              </a:xfrm>
              <a:prstGeom prst="rect">
                <a:avLst/>
              </a:prstGeom>
              <a:blipFill>
                <a:blip r:embed="rId3"/>
                <a:stretch>
                  <a:fillRect t="-9231" r="-3436" b="-276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68A2A234-8A33-465A-B72B-E4957F72D97C}"/>
                  </a:ext>
                </a:extLst>
              </p:cNvPr>
              <p:cNvSpPr txBox="1"/>
              <p:nvPr/>
            </p:nvSpPr>
            <p:spPr bwMode="auto">
              <a:xfrm>
                <a:off x="6622279" y="1252539"/>
                <a:ext cx="2522538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eaLnBrk="1" hangingPunct="1"/>
                <a14:m>
                  <m:oMath xmlns:m="http://schemas.openxmlformats.org/officeDocument/2006/math">
                    <m:r>
                      <a:rPr lang="pt-BR" sz="2000" b="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𝑛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𝑝𝑞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</m:t>
                    </m:r>
                    <m:r>
                      <a:rPr lang="pt-BR" sz="2000" b="0" i="0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</m:oMath>
                </a14:m>
                <a:r>
                  <a:rPr lang="pt-BR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 </a:t>
                </a:r>
                <a14:m>
                  <m:oMath xmlns:m="http://schemas.openxmlformats.org/officeDocument/2006/math">
                    <m:r>
                      <a:rPr lang="pt-BR" sz="2000" b="0" i="0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pt-BR" sz="2000" b="0" i="0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n</m:t>
                    </m:r>
                    <m:r>
                      <a:rPr lang="pt-BR" sz="2000" b="0" i="0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 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&gt;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𝑚</m:t>
                    </m:r>
                    <m:r>
                      <a:rPr lang="pt-BR" sz="2000" b="0" i="1" dirty="0" smtClean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)</m:t>
                    </m:r>
                  </m:oMath>
                </a14:m>
                <a:endParaRPr lang="pt-BR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38" name="CaixaDeTexto 37">
                <a:extLst>
                  <a:ext uri="{FF2B5EF4-FFF2-40B4-BE49-F238E27FC236}">
                    <a16:creationId xmlns:a16="http://schemas.microsoft.com/office/drawing/2014/main" id="{68A2A234-8A33-465A-B72B-E4957F72D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22279" y="1252539"/>
                <a:ext cx="2522538" cy="400110"/>
              </a:xfrm>
              <a:prstGeom prst="rect">
                <a:avLst/>
              </a:prstGeom>
              <a:blipFill>
                <a:blip r:embed="rId4"/>
                <a:stretch>
                  <a:fillRect l="-1208" t="-7576" b="-257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EB4F7660-1128-44C9-A235-9FD85AD9431A}"/>
                  </a:ext>
                </a:extLst>
              </p:cNvPr>
              <p:cNvSpPr txBox="1"/>
              <p:nvPr/>
            </p:nvSpPr>
            <p:spPr bwMode="auto">
              <a:xfrm>
                <a:off x="9695057" y="1258919"/>
                <a:ext cx="234974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dirty="0" smtClean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𝑧</m:t>
                      </m:r>
                      <m:r>
                        <a:rPr lang="pt-BR" sz="2000" b="0" i="1" dirty="0" smtClean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=(</m:t>
                      </m:r>
                      <m:r>
                        <a:rPr lang="pt-BR" sz="2000" i="1" dirty="0" smtClean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𝑝</m:t>
                      </m:r>
                      <m:r>
                        <a:rPr lang="pt-BR" sz="2000" b="0" i="1" dirty="0" smtClean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−1)(</m:t>
                      </m:r>
                      <m:r>
                        <a:rPr lang="pt-BR" sz="2000" i="1" dirty="0" smtClean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𝑞</m:t>
                      </m:r>
                      <m:r>
                        <a:rPr lang="pt-BR" sz="2000" b="0" i="1" dirty="0" smtClean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−1)</m:t>
                      </m:r>
                    </m:oMath>
                  </m:oMathPara>
                </a14:m>
                <a:endParaRPr lang="pt-BR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44" name="CaixaDeTexto 43">
                <a:extLst>
                  <a:ext uri="{FF2B5EF4-FFF2-40B4-BE49-F238E27FC236}">
                    <a16:creationId xmlns:a16="http://schemas.microsoft.com/office/drawing/2014/main" id="{EB4F7660-1128-44C9-A235-9FD85AD94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695057" y="1258919"/>
                <a:ext cx="2349746" cy="400110"/>
              </a:xfrm>
              <a:prstGeom prst="rect">
                <a:avLst/>
              </a:prstGeom>
              <a:blipFill>
                <a:blip r:embed="rId5"/>
                <a:stretch>
                  <a:fillRect b="-184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Conector: Angulado 44">
            <a:extLst>
              <a:ext uri="{FF2B5EF4-FFF2-40B4-BE49-F238E27FC236}">
                <a16:creationId xmlns:a16="http://schemas.microsoft.com/office/drawing/2014/main" id="{D7CA7935-3ACF-4925-9920-0393D529A308}"/>
              </a:ext>
            </a:extLst>
          </p:cNvPr>
          <p:cNvCxnSpPr>
            <a:cxnSpLocks/>
            <a:stCxn id="44" idx="1"/>
          </p:cNvCxnSpPr>
          <p:nvPr/>
        </p:nvCxnSpPr>
        <p:spPr>
          <a:xfrm rot="10800000" flipV="1">
            <a:off x="9307773" y="1458973"/>
            <a:ext cx="387284" cy="66911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EF314068-6F96-4F90-9FF4-ACEEF8232F64}"/>
                  </a:ext>
                </a:extLst>
              </p:cNvPr>
              <p:cNvSpPr txBox="1"/>
              <p:nvPr/>
            </p:nvSpPr>
            <p:spPr bwMode="auto">
              <a:xfrm>
                <a:off x="532336" y="2391886"/>
                <a:ext cx="89338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000" b="0" i="1" dirty="0" smtClean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𝑒</m:t>
                      </m:r>
                      <m:r>
                        <a:rPr lang="pt-BR" sz="2000" i="1" dirty="0" smtClean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&lt;</m:t>
                      </m:r>
                      <m:r>
                        <a:rPr lang="pt-BR" sz="2000" i="1" dirty="0" smtClean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𝑛</m:t>
                      </m:r>
                    </m:oMath>
                  </m:oMathPara>
                </a14:m>
                <a:endParaRPr lang="pt-BR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2" name="CaixaDeTexto 51">
                <a:extLst>
                  <a:ext uri="{FF2B5EF4-FFF2-40B4-BE49-F238E27FC236}">
                    <a16:creationId xmlns:a16="http://schemas.microsoft.com/office/drawing/2014/main" id="{EF314068-6F96-4F90-9FF4-ACEEF8232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2336" y="2391886"/>
                <a:ext cx="893386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Conector: Angulado 55">
            <a:extLst>
              <a:ext uri="{FF2B5EF4-FFF2-40B4-BE49-F238E27FC236}">
                <a16:creationId xmlns:a16="http://schemas.microsoft.com/office/drawing/2014/main" id="{BE6C73F2-7E5B-4E6B-A2B9-51917F29873B}"/>
              </a:ext>
            </a:extLst>
          </p:cNvPr>
          <p:cNvCxnSpPr>
            <a:stCxn id="52" idx="2"/>
          </p:cNvCxnSpPr>
          <p:nvPr/>
        </p:nvCxnSpPr>
        <p:spPr>
          <a:xfrm rot="16200000" flipH="1">
            <a:off x="1163392" y="2607632"/>
            <a:ext cx="113574" cy="48230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>
            <a:extLst>
              <a:ext uri="{FF2B5EF4-FFF2-40B4-BE49-F238E27FC236}">
                <a16:creationId xmlns:a16="http://schemas.microsoft.com/office/drawing/2014/main" id="{760ACCCC-6F15-4604-AC53-95676969941A}"/>
              </a:ext>
            </a:extLst>
          </p:cNvPr>
          <p:cNvCxnSpPr/>
          <p:nvPr/>
        </p:nvCxnSpPr>
        <p:spPr>
          <a:xfrm flipH="1">
            <a:off x="10195133" y="4929566"/>
            <a:ext cx="4700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CaixaDeTexto 58">
                <a:extLst>
                  <a:ext uri="{FF2B5EF4-FFF2-40B4-BE49-F238E27FC236}">
                    <a16:creationId xmlns:a16="http://schemas.microsoft.com/office/drawing/2014/main" id="{F8B34AE9-671A-4AF0-A330-0FD0728C17C5}"/>
                  </a:ext>
                </a:extLst>
              </p:cNvPr>
              <p:cNvSpPr txBox="1"/>
              <p:nvPr/>
            </p:nvSpPr>
            <p:spPr bwMode="auto">
              <a:xfrm>
                <a:off x="10713245" y="4690454"/>
                <a:ext cx="82586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eaLnBrk="1" hangingPunct="1"/>
                <a:r>
                  <a:rPr lang="pt-BR" sz="2000" dirty="0">
                    <a:solidFill>
                      <a:srgbClr val="00B0F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t-BR" sz="2000" dirty="0" err="1">
                    <a:solidFill>
                      <a:srgbClr val="00B0F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𝑒</m:t>
                    </m:r>
                  </m:oMath>
                </a14:m>
                <a:r>
                  <a:rPr lang="pt-BR" sz="2000" dirty="0">
                    <a:solidFill>
                      <a:srgbClr val="00B0F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9" name="CaixaDeTexto 58">
                <a:extLst>
                  <a:ext uri="{FF2B5EF4-FFF2-40B4-BE49-F238E27FC236}">
                    <a16:creationId xmlns:a16="http://schemas.microsoft.com/office/drawing/2014/main" id="{F8B34AE9-671A-4AF0-A330-0FD0728C1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13245" y="4690454"/>
                <a:ext cx="825867" cy="400110"/>
              </a:xfrm>
              <a:prstGeom prst="rect">
                <a:avLst/>
              </a:prstGeom>
              <a:blipFill>
                <a:blip r:embed="rId7"/>
                <a:stretch>
                  <a:fillRect l="-7353" t="-7576" r="-2941" b="-257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Group 8">
            <a:extLst>
              <a:ext uri="{FF2B5EF4-FFF2-40B4-BE49-F238E27FC236}">
                <a16:creationId xmlns:a16="http://schemas.microsoft.com/office/drawing/2014/main" id="{DD21B68D-59CE-4585-8370-B30908A3104E}"/>
              </a:ext>
            </a:extLst>
          </p:cNvPr>
          <p:cNvGrpSpPr>
            <a:grpSpLocks/>
          </p:cNvGrpSpPr>
          <p:nvPr/>
        </p:nvGrpSpPr>
        <p:grpSpPr bwMode="auto">
          <a:xfrm>
            <a:off x="10855192" y="4974016"/>
            <a:ext cx="557213" cy="704850"/>
            <a:chOff x="1753" y="3628"/>
            <a:chExt cx="351" cy="444"/>
          </a:xfrm>
        </p:grpSpPr>
        <p:sp>
          <p:nvSpPr>
            <p:cNvPr id="61" name="Text Box 9">
              <a:extLst>
                <a:ext uri="{FF2B5EF4-FFF2-40B4-BE49-F238E27FC236}">
                  <a16:creationId xmlns:a16="http://schemas.microsoft.com/office/drawing/2014/main" id="{FC417D15-6907-4A8F-87B6-36B192B5F3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3" y="3700"/>
              <a:ext cx="28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2400"/>
                <a:t>K</a:t>
              </a:r>
              <a:r>
                <a:rPr lang="pt-BR" altLang="pt-BR"/>
                <a:t> </a:t>
              </a:r>
            </a:p>
          </p:txBody>
        </p:sp>
        <p:sp>
          <p:nvSpPr>
            <p:cNvPr id="62" name="Text Box 10">
              <a:extLst>
                <a:ext uri="{FF2B5EF4-FFF2-40B4-BE49-F238E27FC236}">
                  <a16:creationId xmlns:a16="http://schemas.microsoft.com/office/drawing/2014/main" id="{E3EAB06D-9817-4452-9FB2-CFA1A4B36C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7" y="3822"/>
              <a:ext cx="2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/>
                <a:t>B</a:t>
              </a:r>
            </a:p>
          </p:txBody>
        </p:sp>
        <p:sp>
          <p:nvSpPr>
            <p:cNvPr id="63" name="Text Box 11">
              <a:extLst>
                <a:ext uri="{FF2B5EF4-FFF2-40B4-BE49-F238E27FC236}">
                  <a16:creationId xmlns:a16="http://schemas.microsoft.com/office/drawing/2014/main" id="{7DDAB53D-E48C-44D1-B308-F106F25522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1" y="3628"/>
              <a:ext cx="19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/>
                <a:t>+</a:t>
              </a:r>
            </a:p>
          </p:txBody>
        </p:sp>
      </p:grpSp>
      <p:cxnSp>
        <p:nvCxnSpPr>
          <p:cNvPr id="70" name="Conector de Seta Reta 69">
            <a:extLst>
              <a:ext uri="{FF2B5EF4-FFF2-40B4-BE49-F238E27FC236}">
                <a16:creationId xmlns:a16="http://schemas.microsoft.com/office/drawing/2014/main" id="{A9E4664A-D1B1-4E8D-9C55-BB36D80D648B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7883548" y="1652649"/>
            <a:ext cx="0" cy="475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tângulo 32">
            <a:extLst>
              <a:ext uri="{FF2B5EF4-FFF2-40B4-BE49-F238E27FC236}">
                <a16:creationId xmlns:a16="http://schemas.microsoft.com/office/drawing/2014/main" id="{AB18007D-3FDA-4B09-9927-E632849A5A1D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F5EF9A3C-73F0-43AC-8A8A-0B08596C559D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4858452" y="1672723"/>
            <a:ext cx="0" cy="366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324436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61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Exemplo de RSA</a:t>
            </a:r>
            <a:endParaRPr lang="pt-BR" sz="4400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4274B4D-A5CF-4F8E-86FC-C9917C1F1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81290" cy="3990289"/>
          </a:xfrm>
        </p:spPr>
        <p:txBody>
          <a:bodyPr/>
          <a:lstStyle/>
          <a:p>
            <a:r>
              <a:rPr lang="pt-BR" altLang="pt-BR" sz="2800" dirty="0"/>
              <a:t>Criptografando mensagens de 8 bits (</a:t>
            </a:r>
            <a:r>
              <a:rPr lang="pt-BR" altLang="pt-BR" sz="2800" i="1" dirty="0"/>
              <a:t>cont...</a:t>
            </a:r>
            <a:r>
              <a:rPr lang="pt-BR" altLang="pt-BR" sz="2800" dirty="0"/>
              <a:t>).</a:t>
            </a:r>
            <a:endParaRPr lang="pt-BR" altLang="pt-BR" sz="2800" dirty="0">
              <a:latin typeface="Times New Roman" pitchFamily="18" charset="0"/>
            </a:endParaRPr>
          </a:p>
          <a:p>
            <a:endParaRPr lang="pt-BR" sz="2800" dirty="0"/>
          </a:p>
        </p:txBody>
      </p:sp>
      <p:sp>
        <p:nvSpPr>
          <p:cNvPr id="19" name="Text Box 16">
            <a:extLst>
              <a:ext uri="{FF2B5EF4-FFF2-40B4-BE49-F238E27FC236}">
                <a16:creationId xmlns:a16="http://schemas.microsoft.com/office/drawing/2014/main" id="{BC6D665E-4595-48E3-8D8A-F2011D9A4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589" y="2686125"/>
            <a:ext cx="341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2400" u="sng"/>
              <a:t>c</a:t>
            </a:r>
            <a:endParaRPr lang="pt-BR" altLang="pt-BR" sz="2400" u="sng">
              <a:latin typeface="Times New Roman" pitchFamily="18" charset="0"/>
            </a:endParaRPr>
          </a:p>
        </p:txBody>
      </p:sp>
      <p:grpSp>
        <p:nvGrpSpPr>
          <p:cNvPr id="20" name="Group 17">
            <a:extLst>
              <a:ext uri="{FF2B5EF4-FFF2-40B4-BE49-F238E27FC236}">
                <a16:creationId xmlns:a16="http://schemas.microsoft.com/office/drawing/2014/main" id="{758D2BE9-BB60-4800-B968-626072061F50}"/>
              </a:ext>
            </a:extLst>
          </p:cNvPr>
          <p:cNvGrpSpPr>
            <a:grpSpLocks/>
          </p:cNvGrpSpPr>
          <p:nvPr/>
        </p:nvGrpSpPr>
        <p:grpSpPr bwMode="auto">
          <a:xfrm>
            <a:off x="7063339" y="2611512"/>
            <a:ext cx="2012950" cy="585788"/>
            <a:chOff x="2721" y="1773"/>
            <a:chExt cx="1268" cy="369"/>
          </a:xfrm>
        </p:grpSpPr>
        <p:sp>
          <p:nvSpPr>
            <p:cNvPr id="21" name="Text Box 18">
              <a:extLst>
                <a:ext uri="{FF2B5EF4-FFF2-40B4-BE49-F238E27FC236}">
                  <a16:creationId xmlns:a16="http://schemas.microsoft.com/office/drawing/2014/main" id="{B4BDBF3E-A421-4D46-85FA-237C50A035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1" y="1854"/>
              <a:ext cx="12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2400" u="sng" dirty="0"/>
                <a:t>m = c  </a:t>
              </a:r>
              <a:r>
                <a:rPr lang="pt-BR" altLang="pt-BR" sz="2400" u="sng" dirty="0" err="1"/>
                <a:t>mod</a:t>
              </a:r>
              <a:r>
                <a:rPr lang="pt-BR" altLang="pt-BR" sz="2400" u="sng" dirty="0"/>
                <a:t>  </a:t>
              </a:r>
              <a:r>
                <a:rPr lang="pt-BR" altLang="pt-BR" sz="2400" dirty="0">
                  <a:solidFill>
                    <a:srgbClr val="00B0F0"/>
                  </a:solidFill>
                </a:rPr>
                <a:t>n</a:t>
              </a:r>
              <a:endParaRPr lang="pt-BR" altLang="pt-BR" sz="2400" dirty="0">
                <a:solidFill>
                  <a:srgbClr val="00B0F0"/>
                </a:solidFill>
                <a:latin typeface="Times New Roman" pitchFamily="18" charset="0"/>
              </a:endParaRPr>
            </a:p>
          </p:txBody>
        </p:sp>
        <p:sp>
          <p:nvSpPr>
            <p:cNvPr id="22" name="Text Box 19">
              <a:extLst>
                <a:ext uri="{FF2B5EF4-FFF2-40B4-BE49-F238E27FC236}">
                  <a16:creationId xmlns:a16="http://schemas.microsoft.com/office/drawing/2014/main" id="{03CBE278-A046-4CAB-867E-13B4C25945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6" y="1773"/>
              <a:ext cx="2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2400" dirty="0">
                  <a:solidFill>
                    <a:srgbClr val="00B0F0"/>
                  </a:solidFill>
                </a:rPr>
                <a:t>d</a:t>
              </a:r>
              <a:endParaRPr lang="pt-BR" altLang="pt-BR" sz="2400" u="sng" dirty="0">
                <a:solidFill>
                  <a:srgbClr val="00B0F0"/>
                </a:solidFill>
                <a:latin typeface="Times New Roman" pitchFamily="18" charset="0"/>
              </a:endParaRPr>
            </a:p>
          </p:txBody>
        </p:sp>
      </p:grpSp>
      <p:sp>
        <p:nvSpPr>
          <p:cNvPr id="23" name="Text Box 20">
            <a:extLst>
              <a:ext uri="{FF2B5EF4-FFF2-40B4-BE49-F238E27FC236}">
                <a16:creationId xmlns:a16="http://schemas.microsoft.com/office/drawing/2014/main" id="{811794EF-97DE-435F-8806-4026076DA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7777" y="3113162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2400">
                <a:solidFill>
                  <a:srgbClr val="FF0000"/>
                </a:solidFill>
                <a:latin typeface="Arial" charset="0"/>
              </a:rPr>
              <a:t>17</a:t>
            </a:r>
            <a:endParaRPr lang="pt-BR" altLang="pt-BR" sz="2400">
              <a:latin typeface="Times New Roman" pitchFamily="18" charset="0"/>
            </a:endParaRPr>
          </a:p>
        </p:txBody>
      </p:sp>
      <p:sp>
        <p:nvSpPr>
          <p:cNvPr id="24" name="Text Box 21">
            <a:extLst>
              <a:ext uri="{FF2B5EF4-FFF2-40B4-BE49-F238E27FC236}">
                <a16:creationId xmlns:a16="http://schemas.microsoft.com/office/drawing/2014/main" id="{F3CD2B98-54D5-4DA5-8F85-6241E4483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1514" y="3222700"/>
            <a:ext cx="32131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1200">
                <a:solidFill>
                  <a:srgbClr val="FF0000"/>
                </a:solidFill>
                <a:latin typeface="Arial" charset="0"/>
              </a:rPr>
              <a:t>481968572106750915091411825223071697</a:t>
            </a:r>
            <a:endParaRPr lang="pt-BR" altLang="pt-BR" sz="1200">
              <a:latin typeface="Times New Roman" pitchFamily="18" charset="0"/>
            </a:endParaRPr>
          </a:p>
        </p:txBody>
      </p:sp>
      <p:sp>
        <p:nvSpPr>
          <p:cNvPr id="25" name="Text Box 22">
            <a:extLst>
              <a:ext uri="{FF2B5EF4-FFF2-40B4-BE49-F238E27FC236}">
                <a16:creationId xmlns:a16="http://schemas.microsoft.com/office/drawing/2014/main" id="{4B4582FF-8E34-43C4-9B2E-B7CE5EB7B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8352" y="3125862"/>
            <a:ext cx="52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 sz="2400">
                <a:solidFill>
                  <a:srgbClr val="FF0000"/>
                </a:solidFill>
                <a:latin typeface="Arial" charset="0"/>
              </a:rPr>
              <a:t>12</a:t>
            </a:r>
            <a:endParaRPr lang="pt-BR" altLang="pt-BR" sz="2400">
              <a:latin typeface="Times New Roman" pitchFamily="18" charset="0"/>
            </a:endParaRPr>
          </a:p>
        </p:txBody>
      </p:sp>
      <p:grpSp>
        <p:nvGrpSpPr>
          <p:cNvPr id="26" name="Group 23">
            <a:extLst>
              <a:ext uri="{FF2B5EF4-FFF2-40B4-BE49-F238E27FC236}">
                <a16:creationId xmlns:a16="http://schemas.microsoft.com/office/drawing/2014/main" id="{06F70914-E023-4F47-8528-E91C09A52061}"/>
              </a:ext>
            </a:extLst>
          </p:cNvPr>
          <p:cNvGrpSpPr>
            <a:grpSpLocks/>
          </p:cNvGrpSpPr>
          <p:nvPr/>
        </p:nvGrpSpPr>
        <p:grpSpPr bwMode="auto">
          <a:xfrm>
            <a:off x="4478889" y="2541662"/>
            <a:ext cx="514350" cy="611188"/>
            <a:chOff x="3034" y="2876"/>
            <a:chExt cx="324" cy="385"/>
          </a:xfrm>
        </p:grpSpPr>
        <p:sp>
          <p:nvSpPr>
            <p:cNvPr id="27" name="Text Box 24">
              <a:extLst>
                <a:ext uri="{FF2B5EF4-FFF2-40B4-BE49-F238E27FC236}">
                  <a16:creationId xmlns:a16="http://schemas.microsoft.com/office/drawing/2014/main" id="{23A66715-2B99-431B-AAE0-72BD493FD1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4" y="2973"/>
              <a:ext cx="21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2400" u="sng"/>
                <a:t>c</a:t>
              </a:r>
              <a:endParaRPr lang="pt-BR" altLang="pt-BR" sz="2400" u="sng">
                <a:latin typeface="Times New Roman" pitchFamily="18" charset="0"/>
              </a:endParaRPr>
            </a:p>
          </p:txBody>
        </p:sp>
        <p:sp>
          <p:nvSpPr>
            <p:cNvPr id="28" name="Text Box 25">
              <a:extLst>
                <a:ext uri="{FF2B5EF4-FFF2-40B4-BE49-F238E27FC236}">
                  <a16:creationId xmlns:a16="http://schemas.microsoft.com/office/drawing/2014/main" id="{2DCA9E25-EC67-4E42-9880-B6E0F546BF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9" y="2876"/>
              <a:ext cx="22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2400"/>
                <a:t>d</a:t>
              </a:r>
              <a:endParaRPr lang="pt-BR" altLang="pt-BR" sz="2400" u="sng">
                <a:latin typeface="Times New Roman" pitchFamily="18" charset="0"/>
              </a:endParaRPr>
            </a:p>
          </p:txBody>
        </p:sp>
      </p:grpSp>
      <p:sp>
        <p:nvSpPr>
          <p:cNvPr id="29" name="Text Box 29">
            <a:extLst>
              <a:ext uri="{FF2B5EF4-FFF2-40B4-BE49-F238E27FC236}">
                <a16:creationId xmlns:a16="http://schemas.microsoft.com/office/drawing/2014/main" id="{4B50C944-12F6-491D-A3DC-E2E88D956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1989" y="2849637"/>
            <a:ext cx="1666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/>
            <a:r>
              <a:rPr lang="pt-BR" altLang="pt-BR">
                <a:solidFill>
                  <a:schemeClr val="accent2"/>
                </a:solidFill>
              </a:rPr>
              <a:t>decriptação</a:t>
            </a:r>
            <a:r>
              <a:rPr lang="pt-BR" altLang="pt-BR" sz="2400">
                <a:solidFill>
                  <a:schemeClr val="accent2"/>
                </a:solidFill>
              </a:rPr>
              <a:t>:</a:t>
            </a:r>
            <a:endParaRPr lang="pt-BR" altLang="pt-BR" sz="2400">
              <a:latin typeface="Times New Roman" pitchFamily="18" charset="0"/>
            </a:endParaRPr>
          </a:p>
        </p:txBody>
      </p:sp>
      <p:cxnSp>
        <p:nvCxnSpPr>
          <p:cNvPr id="41" name="Conector de Seta Reta 40">
            <a:extLst>
              <a:ext uri="{FF2B5EF4-FFF2-40B4-BE49-F238E27FC236}">
                <a16:creationId xmlns:a16="http://schemas.microsoft.com/office/drawing/2014/main" id="{AF1E5D48-8A1A-4EAA-9DE0-3C4A24277740}"/>
              </a:ext>
            </a:extLst>
          </p:cNvPr>
          <p:cNvCxnSpPr/>
          <p:nvPr/>
        </p:nvCxnSpPr>
        <p:spPr>
          <a:xfrm flipH="1">
            <a:off x="9411132" y="2998862"/>
            <a:ext cx="4700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36FEEFA4-5E2D-4CBC-9B1A-0D77D4D3A88B}"/>
                  </a:ext>
                </a:extLst>
              </p:cNvPr>
              <p:cNvSpPr txBox="1"/>
              <p:nvPr/>
            </p:nvSpPr>
            <p:spPr bwMode="auto">
              <a:xfrm>
                <a:off x="9929244" y="2759750"/>
                <a:ext cx="82586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eaLnBrk="1" hangingPunct="1"/>
                <a:r>
                  <a:rPr lang="pt-BR" sz="2000" dirty="0">
                    <a:solidFill>
                      <a:srgbClr val="00B0F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𝑛</m:t>
                    </m:r>
                  </m:oMath>
                </a14:m>
                <a:r>
                  <a:rPr lang="pt-BR" sz="2000" dirty="0" err="1">
                    <a:solidFill>
                      <a:srgbClr val="00B0F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𝑑</m:t>
                    </m:r>
                  </m:oMath>
                </a14:m>
                <a:r>
                  <a:rPr lang="pt-BR" sz="2000" dirty="0">
                    <a:solidFill>
                      <a:srgbClr val="00B0F0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2" name="CaixaDeTexto 41">
                <a:extLst>
                  <a:ext uri="{FF2B5EF4-FFF2-40B4-BE49-F238E27FC236}">
                    <a16:creationId xmlns:a16="http://schemas.microsoft.com/office/drawing/2014/main" id="{36FEEFA4-5E2D-4CBC-9B1A-0D77D4D3A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29244" y="2759750"/>
                <a:ext cx="825867" cy="400110"/>
              </a:xfrm>
              <a:prstGeom prst="rect">
                <a:avLst/>
              </a:prstGeom>
              <a:blipFill>
                <a:blip r:embed="rId2"/>
                <a:stretch>
                  <a:fillRect l="-8148" t="-9231" r="-6667" b="-276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8">
            <a:extLst>
              <a:ext uri="{FF2B5EF4-FFF2-40B4-BE49-F238E27FC236}">
                <a16:creationId xmlns:a16="http://schemas.microsoft.com/office/drawing/2014/main" id="{CDBE9183-CECE-4227-B4E4-292004FB3CD6}"/>
              </a:ext>
            </a:extLst>
          </p:cNvPr>
          <p:cNvGrpSpPr>
            <a:grpSpLocks/>
          </p:cNvGrpSpPr>
          <p:nvPr/>
        </p:nvGrpSpPr>
        <p:grpSpPr bwMode="auto">
          <a:xfrm>
            <a:off x="10071191" y="3043312"/>
            <a:ext cx="557213" cy="704850"/>
            <a:chOff x="1753" y="3628"/>
            <a:chExt cx="351" cy="444"/>
          </a:xfrm>
        </p:grpSpPr>
        <p:sp>
          <p:nvSpPr>
            <p:cNvPr id="44" name="Text Box 9">
              <a:extLst>
                <a:ext uri="{FF2B5EF4-FFF2-40B4-BE49-F238E27FC236}">
                  <a16:creationId xmlns:a16="http://schemas.microsoft.com/office/drawing/2014/main" id="{902B4F50-2DBD-4834-899A-2B2AACE066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3" y="3700"/>
              <a:ext cx="28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sz="2400"/>
                <a:t>K</a:t>
              </a:r>
              <a:r>
                <a:rPr lang="pt-BR" altLang="pt-BR"/>
                <a:t> </a:t>
              </a:r>
            </a:p>
          </p:txBody>
        </p:sp>
        <p:sp>
          <p:nvSpPr>
            <p:cNvPr id="45" name="Text Box 10">
              <a:extLst>
                <a:ext uri="{FF2B5EF4-FFF2-40B4-BE49-F238E27FC236}">
                  <a16:creationId xmlns:a16="http://schemas.microsoft.com/office/drawing/2014/main" id="{11DAA4CD-E3FB-4CF0-83FE-06A44344CA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87" y="3822"/>
              <a:ext cx="2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dirty="0"/>
                <a:t>B</a:t>
              </a:r>
            </a:p>
          </p:txBody>
        </p:sp>
        <p:sp>
          <p:nvSpPr>
            <p:cNvPr id="46" name="Text Box 11">
              <a:extLst>
                <a:ext uri="{FF2B5EF4-FFF2-40B4-BE49-F238E27FC236}">
                  <a16:creationId xmlns:a16="http://schemas.microsoft.com/office/drawing/2014/main" id="{17134C1B-0C11-4963-B8BC-2DA1ACC2C6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6" y="3628"/>
              <a:ext cx="18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/>
              <a:r>
                <a:rPr lang="pt-BR" altLang="pt-BR" dirty="0"/>
                <a:t>-</a:t>
              </a:r>
            </a:p>
          </p:txBody>
        </p:sp>
      </p:grpSp>
      <p:sp>
        <p:nvSpPr>
          <p:cNvPr id="30" name="Retângulo 29">
            <a:extLst>
              <a:ext uri="{FF2B5EF4-FFF2-40B4-BE49-F238E27FC236}">
                <a16:creationId xmlns:a16="http://schemas.microsoft.com/office/drawing/2014/main" id="{6FB9C8E4-62DA-4608-99DF-EE5A45CB4274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6010075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A7ED0E08-8607-407F-A0F1-760DC19CF7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62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D6C24F6-CC18-4B4C-BBC2-0FB64065F2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pt-BR" altLang="pt-BR" sz="4400" dirty="0"/>
              <a:t>Por que RSA é seguro?</a:t>
            </a:r>
            <a:endParaRPr lang="pt-BR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81290" cy="3990289"/>
              </a:xfrm>
            </p:spPr>
            <p:txBody>
              <a:bodyPr/>
              <a:lstStyle/>
              <a:p>
                <a:r>
                  <a:rPr lang="pt-BR" altLang="pt-BR" sz="2800" dirty="0"/>
                  <a:t>Suponha que você conheça a chave pública de Bob (</a:t>
                </a:r>
                <a14:m>
                  <m:oMath xmlns:m="http://schemas.openxmlformats.org/officeDocument/2006/math">
                    <m:r>
                      <a:rPr lang="pt-BR" alt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altLang="pt-BR" sz="2800" dirty="0"/>
                  <a:t>,</a:t>
                </a:r>
                <a14:m>
                  <m:oMath xmlns:m="http://schemas.openxmlformats.org/officeDocument/2006/math">
                    <m:r>
                      <a:rPr lang="pt-BR" altLang="pt-BR" sz="2800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pt-BR" altLang="pt-BR" sz="2800" dirty="0"/>
                  <a:t>). Qual é a dificuldade de determinar </a:t>
                </a:r>
                <a14:m>
                  <m:oMath xmlns:m="http://schemas.openxmlformats.org/officeDocument/2006/math">
                    <m:r>
                      <a:rPr lang="pt-BR" altLang="pt-BR" sz="28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pt-BR" altLang="pt-BR" sz="2800" dirty="0"/>
                  <a:t>?</a:t>
                </a:r>
              </a:p>
              <a:p>
                <a:r>
                  <a:rPr lang="pt-BR" altLang="pt-BR" sz="2800" dirty="0"/>
                  <a:t>Basicamente, é preciso encontrar fatores de </a:t>
                </a:r>
                <a14:m>
                  <m:oMath xmlns:m="http://schemas.openxmlformats.org/officeDocument/2006/math">
                    <m:r>
                      <a:rPr lang="pt-BR" altLang="pt-BR" sz="28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altLang="pt-BR" sz="2800" dirty="0"/>
                  <a:t> sem conhecer os dois fatores </a:t>
                </a:r>
                <a14:m>
                  <m:oMath xmlns:m="http://schemas.openxmlformats.org/officeDocument/2006/math">
                    <m:r>
                      <a:rPr lang="pt-BR" altLang="pt-BR" sz="28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pt-BR" altLang="pt-BR" sz="2800" dirty="0"/>
                  <a:t> e </a:t>
                </a:r>
                <a14:m>
                  <m:oMath xmlns:m="http://schemas.openxmlformats.org/officeDocument/2006/math">
                    <m:r>
                      <a:rPr lang="pt-BR" altLang="pt-BR" sz="28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pt-BR" altLang="pt-BR" sz="2800" dirty="0"/>
                  <a:t>. </a:t>
                </a:r>
              </a:p>
              <a:p>
                <a:r>
                  <a:rPr lang="pt-BR" altLang="pt-BR" sz="2800" dirty="0"/>
                  <a:t>Fato: fatorar um número muito grande é difícil.</a:t>
                </a:r>
                <a:endParaRPr lang="pt-BR" altLang="pt-BR" sz="2800" dirty="0">
                  <a:latin typeface="Times New Roman" pitchFamily="18" charset="0"/>
                </a:endParaRPr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4" name="Espaço Reservado para Conteúdo 3">
                <a:extLst>
                  <a:ext uri="{FF2B5EF4-FFF2-40B4-BE49-F238E27FC236}">
                    <a16:creationId xmlns:a16="http://schemas.microsoft.com/office/drawing/2014/main" id="{54274B4D-A5CF-4F8E-86FC-C9917C1F1F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81290" cy="3990289"/>
              </a:xfrm>
              <a:blipFill>
                <a:blip r:embed="rId2"/>
                <a:stretch>
                  <a:fillRect l="-943" r="-149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ângulo 4">
            <a:extLst>
              <a:ext uri="{FF2B5EF4-FFF2-40B4-BE49-F238E27FC236}">
                <a16:creationId xmlns:a16="http://schemas.microsoft.com/office/drawing/2014/main" id="{13F35136-98E7-488A-88B4-302914EDEE88}"/>
              </a:ext>
            </a:extLst>
          </p:cNvPr>
          <p:cNvSpPr/>
          <p:nvPr/>
        </p:nvSpPr>
        <p:spPr>
          <a:xfrm>
            <a:off x="359386" y="6271278"/>
            <a:ext cx="71605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5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Referência: KUROSE, James F. Redes de Computadores e a Internet. São Paulo: Makron Books, 2006</a:t>
            </a:r>
          </a:p>
        </p:txBody>
      </p:sp>
    </p:spTree>
    <p:extLst>
      <p:ext uri="{BB962C8B-B14F-4D97-AF65-F5344CB8AC3E}">
        <p14:creationId xmlns:p14="http://schemas.microsoft.com/office/powerpoint/2010/main" val="108811805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B403209C-A8C8-4FDE-995A-60CFA536C2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B6B9C3-2AD9-4598-9BE7-E1014499EB92}" type="slidenum">
              <a:rPr lang="en-US" smtClean="0"/>
              <a:t>63</a:t>
            </a:fld>
            <a:endParaRPr lang="en-US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7019427-6043-44C5-9C23-C75EA5D0A0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Referências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A070A66-7973-4615-BDBD-1EA7016A6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dirty="0"/>
              <a:t>KUROSE, James F. Redes de Computadores e a Internet. São Paulo: Makron Books, 2006. </a:t>
            </a:r>
          </a:p>
          <a:p>
            <a:r>
              <a:rPr lang="pt-BR" sz="2400" dirty="0"/>
              <a:t>TANENBAUM, Andrew S. Redes de Computadores. 5ª Edição: Campus, 2003</a:t>
            </a:r>
          </a:p>
          <a:p>
            <a:r>
              <a:rPr lang="pt-BR" sz="2400" dirty="0"/>
              <a:t>CHESWICK, William R.; BELLOVIN, Steven M.; RUBIN, </a:t>
            </a:r>
            <a:r>
              <a:rPr lang="pt-BR" sz="2400" dirty="0" err="1"/>
              <a:t>Aviel</a:t>
            </a:r>
            <a:r>
              <a:rPr lang="pt-BR" sz="2400" dirty="0"/>
              <a:t> D. Firewalls e Segurança na Internet. 2 ed. Porto Alegre: Bookman, 2005</a:t>
            </a:r>
          </a:p>
        </p:txBody>
      </p:sp>
    </p:spTree>
    <p:extLst>
      <p:ext uri="{BB962C8B-B14F-4D97-AF65-F5344CB8AC3E}">
        <p14:creationId xmlns:p14="http://schemas.microsoft.com/office/powerpoint/2010/main" val="26364112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apa para assunto/capítul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lide com título e text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>
          <a:noFill/>
        </a:ln>
      </a:spPr>
      <a:bodyPr>
        <a:spAutoFit/>
      </a:bodyPr>
      <a:lstStyle>
        <a:defPPr eaLnBrk="1" hangingPunct="1">
          <a:defRPr sz="3200" b="1" dirty="0">
            <a:solidFill>
              <a:schemeClr val="bg1"/>
            </a:solidFill>
            <a:latin typeface="Trebuchet MS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Slide com texto e imagem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>
          <a:noFill/>
        </a:ln>
      </a:spPr>
      <a:bodyPr>
        <a:spAutoFit/>
      </a:bodyPr>
      <a:lstStyle>
        <a:defPPr eaLnBrk="1" hangingPunct="1">
          <a:defRPr sz="3200" b="1" dirty="0">
            <a:solidFill>
              <a:schemeClr val="bg1"/>
            </a:solidFill>
            <a:latin typeface="Trebuchet MS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Slide com título e texto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>
          <a:noFill/>
        </a:ln>
      </a:spPr>
      <a:bodyPr>
        <a:spAutoFit/>
      </a:bodyPr>
      <a:lstStyle>
        <a:defPPr eaLnBrk="1" hangingPunct="1">
          <a:defRPr sz="3200" b="1" dirty="0">
            <a:solidFill>
              <a:schemeClr val="bg1"/>
            </a:solidFill>
            <a:latin typeface="Trebuchet MS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3432</TotalTime>
  <Words>4305</Words>
  <Application>Microsoft Office PowerPoint</Application>
  <PresentationFormat>Widescreen</PresentationFormat>
  <Paragraphs>614</Paragraphs>
  <Slides>63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5</vt:i4>
      </vt:variant>
      <vt:variant>
        <vt:lpstr>Títulos de slides</vt:lpstr>
      </vt:variant>
      <vt:variant>
        <vt:i4>63</vt:i4>
      </vt:variant>
    </vt:vector>
  </HeadingPairs>
  <TitlesOfParts>
    <vt:vector size="77" baseType="lpstr">
      <vt:lpstr>Arial</vt:lpstr>
      <vt:lpstr>Calibri</vt:lpstr>
      <vt:lpstr>Cambria Math</vt:lpstr>
      <vt:lpstr>Comic Sans MS</vt:lpstr>
      <vt:lpstr>Courier New</vt:lpstr>
      <vt:lpstr>Times New Roman</vt:lpstr>
      <vt:lpstr>Trebuchet MS</vt:lpstr>
      <vt:lpstr>Verdana</vt:lpstr>
      <vt:lpstr>ZapfDingbats</vt:lpstr>
      <vt:lpstr>Tema do Office</vt:lpstr>
      <vt:lpstr>Capa para assunto/capítulo</vt:lpstr>
      <vt:lpstr>Slide com título e texto</vt:lpstr>
      <vt:lpstr>Slide com texto e imagem</vt:lpstr>
      <vt:lpstr>1_Slide com título e texto</vt:lpstr>
      <vt:lpstr>Aula 2 - Criptografia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Henrique Silva</dc:creator>
  <cp:lastModifiedBy>Henrique Silva</cp:lastModifiedBy>
  <cp:revision>120</cp:revision>
  <dcterms:created xsi:type="dcterms:W3CDTF">2017-09-23T15:45:38Z</dcterms:created>
  <dcterms:modified xsi:type="dcterms:W3CDTF">2021-02-08T19:55:07Z</dcterms:modified>
</cp:coreProperties>
</file>