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png&amp;ehk=DWCISwiGNv7t7nZdq" ContentType="image/png"/>
  <Default Extension="png&amp;ehk=MfEqL4e5qn9PndaZuNRi6w&amp;r=0&amp;pid=OfficeInsert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  <p:sldMasterId id="2147483661" r:id="rId3"/>
    <p:sldMasterId id="2147483659" r:id="rId4"/>
    <p:sldMasterId id="2147483663" r:id="rId5"/>
  </p:sldMasterIdLst>
  <p:notesMasterIdLst>
    <p:notesMasterId r:id="rId88"/>
  </p:notesMasterIdLst>
  <p:handoutMasterIdLst>
    <p:handoutMasterId r:id="rId89"/>
  </p:handoutMasterIdLst>
  <p:sldIdLst>
    <p:sldId id="256" r:id="rId6"/>
    <p:sldId id="269" r:id="rId7"/>
    <p:sldId id="259" r:id="rId8"/>
    <p:sldId id="342" r:id="rId9"/>
    <p:sldId id="401" r:id="rId10"/>
    <p:sldId id="344" r:id="rId11"/>
    <p:sldId id="402" r:id="rId12"/>
    <p:sldId id="403" r:id="rId13"/>
    <p:sldId id="476" r:id="rId14"/>
    <p:sldId id="346" r:id="rId15"/>
    <p:sldId id="406" r:id="rId16"/>
    <p:sldId id="407" r:id="rId17"/>
    <p:sldId id="409" r:id="rId18"/>
    <p:sldId id="410" r:id="rId19"/>
    <p:sldId id="411" r:id="rId20"/>
    <p:sldId id="412" r:id="rId21"/>
    <p:sldId id="477" r:id="rId22"/>
    <p:sldId id="413" r:id="rId23"/>
    <p:sldId id="414" r:id="rId24"/>
    <p:sldId id="415" r:id="rId25"/>
    <p:sldId id="416" r:id="rId26"/>
    <p:sldId id="417" r:id="rId27"/>
    <p:sldId id="419" r:id="rId28"/>
    <p:sldId id="481" r:id="rId29"/>
    <p:sldId id="420" r:id="rId30"/>
    <p:sldId id="421" r:id="rId31"/>
    <p:sldId id="478" r:id="rId32"/>
    <p:sldId id="422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33" r:id="rId44"/>
    <p:sldId id="434" r:id="rId45"/>
    <p:sldId id="435" r:id="rId46"/>
    <p:sldId id="436" r:id="rId47"/>
    <p:sldId id="440" r:id="rId48"/>
    <p:sldId id="438" r:id="rId49"/>
    <p:sldId id="439" r:id="rId50"/>
    <p:sldId id="441" r:id="rId51"/>
    <p:sldId id="442" r:id="rId52"/>
    <p:sldId id="444" r:id="rId53"/>
    <p:sldId id="445" r:id="rId54"/>
    <p:sldId id="446" r:id="rId55"/>
    <p:sldId id="447" r:id="rId56"/>
    <p:sldId id="448" r:id="rId57"/>
    <p:sldId id="449" r:id="rId58"/>
    <p:sldId id="482" r:id="rId59"/>
    <p:sldId id="479" r:id="rId60"/>
    <p:sldId id="450" r:id="rId61"/>
    <p:sldId id="451" r:id="rId62"/>
    <p:sldId id="452" r:id="rId63"/>
    <p:sldId id="454" r:id="rId64"/>
    <p:sldId id="453" r:id="rId65"/>
    <p:sldId id="455" r:id="rId66"/>
    <p:sldId id="456" r:id="rId67"/>
    <p:sldId id="480" r:id="rId68"/>
    <p:sldId id="457" r:id="rId69"/>
    <p:sldId id="458" r:id="rId70"/>
    <p:sldId id="459" r:id="rId71"/>
    <p:sldId id="460" r:id="rId72"/>
    <p:sldId id="461" r:id="rId73"/>
    <p:sldId id="462" r:id="rId74"/>
    <p:sldId id="463" r:id="rId75"/>
    <p:sldId id="464" r:id="rId76"/>
    <p:sldId id="465" r:id="rId77"/>
    <p:sldId id="466" r:id="rId78"/>
    <p:sldId id="467" r:id="rId79"/>
    <p:sldId id="468" r:id="rId80"/>
    <p:sldId id="469" r:id="rId81"/>
    <p:sldId id="470" r:id="rId82"/>
    <p:sldId id="473" r:id="rId83"/>
    <p:sldId id="474" r:id="rId84"/>
    <p:sldId id="475" r:id="rId85"/>
    <p:sldId id="472" r:id="rId86"/>
    <p:sldId id="341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C7760-D677-4FA0-B09B-B5262615B155}" v="2" dt="2021-02-09T20:47:15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Silva" userId="850b114bb1845035" providerId="LiveId" clId="{371C7760-D677-4FA0-B09B-B5262615B155}"/>
    <pc:docChg chg="custSel addSld modSld">
      <pc:chgData name="Henrique Silva" userId="850b114bb1845035" providerId="LiveId" clId="{371C7760-D677-4FA0-B09B-B5262615B155}" dt="2021-02-09T20:47:29.527" v="44"/>
      <pc:docMkLst>
        <pc:docMk/>
      </pc:docMkLst>
      <pc:sldChg chg="modSp add mod">
        <pc:chgData name="Henrique Silva" userId="850b114bb1845035" providerId="LiveId" clId="{371C7760-D677-4FA0-B09B-B5262615B155}" dt="2021-02-09T20:00:33.488" v="25" actId="20577"/>
        <pc:sldMkLst>
          <pc:docMk/>
          <pc:sldMk cId="3567550146" sldId="481"/>
        </pc:sldMkLst>
        <pc:spChg chg="mod">
          <ac:chgData name="Henrique Silva" userId="850b114bb1845035" providerId="LiveId" clId="{371C7760-D677-4FA0-B09B-B5262615B155}" dt="2021-02-09T20:00:33.488" v="25" actId="20577"/>
          <ac:spMkLst>
            <pc:docMk/>
            <pc:sldMk cId="3567550146" sldId="481"/>
            <ac:spMk id="4" creationId="{59D7A12C-6883-4671-8017-AB05BE12AE15}"/>
          </ac:spMkLst>
        </pc:spChg>
      </pc:sldChg>
      <pc:sldChg chg="delSp modSp add mod">
        <pc:chgData name="Henrique Silva" userId="850b114bb1845035" providerId="LiveId" clId="{371C7760-D677-4FA0-B09B-B5262615B155}" dt="2021-02-09T20:47:29.527" v="44"/>
        <pc:sldMkLst>
          <pc:docMk/>
          <pc:sldMk cId="1034776026" sldId="482"/>
        </pc:sldMkLst>
        <pc:spChg chg="mod">
          <ac:chgData name="Henrique Silva" userId="850b114bb1845035" providerId="LiveId" clId="{371C7760-D677-4FA0-B09B-B5262615B155}" dt="2021-02-09T20:47:29.527" v="44"/>
          <ac:spMkLst>
            <pc:docMk/>
            <pc:sldMk cId="1034776026" sldId="482"/>
            <ac:spMk id="4" creationId="{FA92D78A-A993-4E20-88BB-69F735781EC1}"/>
          </ac:spMkLst>
        </pc:spChg>
        <pc:spChg chg="del">
          <ac:chgData name="Henrique Silva" userId="850b114bb1845035" providerId="LiveId" clId="{371C7760-D677-4FA0-B09B-B5262615B155}" dt="2021-02-09T20:47:23.942" v="41" actId="478"/>
          <ac:spMkLst>
            <pc:docMk/>
            <pc:sldMk cId="1034776026" sldId="482"/>
            <ac:spMk id="8" creationId="{AAF1FFB3-90A8-4AF4-AAAA-AE7E0C4812B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6A6A972-22D0-49DD-A438-87876B1CA3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1340C0-DA78-4D97-ACA6-EFFC6323AC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AD336-EE49-46C3-828E-21AC86B191C4}" type="datetimeFigureOut">
              <a:rPr lang="en-US" smtClean="0"/>
              <a:t>2/9/2021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F300B9-B7AA-449B-A27F-7578284AB9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F89050-8BC4-432F-8B10-69AC6FDE4D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E38F3-AF0D-460E-A9F9-AB8B617FAE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5DD16-3BF1-433C-B06B-31F8316BA8FB}" type="datetimeFigureOut">
              <a:rPr lang="en-US" smtClean="0"/>
              <a:t>2/9/2021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6D0DE-28BD-4D3A-9B1B-B20ED41C8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172AE-6480-45E3-AE86-5E9EC2126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435876" cy="2387600"/>
          </a:xfrm>
        </p:spPr>
        <p:txBody>
          <a:bodyPr anchor="b"/>
          <a:lstStyle>
            <a:lvl1pPr algn="r">
              <a:defRPr sz="6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0B4CF3-149A-4382-A5E6-52DF8B453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10435876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40BAF3-7FB5-4C0E-8420-FFF8E6DD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7CA635-9CCA-4EC8-A05E-B823FD1A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6D41AE-A640-47B8-9166-699FDBAE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609F7-AA20-4841-9A5D-8164C2A89E0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9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853268"/>
            <a:ext cx="12192000" cy="124883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6418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C5C0286-6893-4B0C-A4A0-8396F9F13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076004-21DF-4D9F-A355-EF7CB1C97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0351"/>
            <a:ext cx="12192000" cy="863600"/>
          </a:xfrm>
          <a:prstGeom prst="rect">
            <a:avLst/>
          </a:prstGeom>
        </p:spPr>
        <p:txBody>
          <a:bodyPr/>
          <a:lstStyle>
            <a:lvl1pPr marL="364058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C6D8FE-4A8B-4A5A-8B2D-23011F96D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9028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789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60351"/>
            <a:ext cx="12192000" cy="863600"/>
          </a:xfrm>
          <a:prstGeom prst="rect">
            <a:avLst/>
          </a:prstGeom>
        </p:spPr>
        <p:txBody>
          <a:bodyPr/>
          <a:lstStyle>
            <a:lvl1pPr marL="364058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796589"/>
            <a:ext cx="5761567" cy="3840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7" name="Espaço Reservado para Imagem 6"/>
          <p:cNvSpPr>
            <a:spLocks noGrp="1"/>
          </p:cNvSpPr>
          <p:nvPr>
            <p:ph type="pic" sz="quarter" idx="13"/>
          </p:nvPr>
        </p:nvSpPr>
        <p:spPr>
          <a:xfrm>
            <a:off x="6096000" y="1701800"/>
            <a:ext cx="5760640" cy="4032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endParaRPr lang="pt-BR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C7962D-7744-4A36-AA22-6A1886676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8243" cy="399028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543A187C-A320-44A1-B4BC-14957292F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23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076004-21DF-4D9F-A355-EF7CB1C97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0351"/>
            <a:ext cx="12192000" cy="863600"/>
          </a:xfrm>
          <a:prstGeom prst="rect">
            <a:avLst/>
          </a:prstGeom>
        </p:spPr>
        <p:txBody>
          <a:bodyPr/>
          <a:lstStyle>
            <a:lvl1pPr marL="364058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01CF3EA7-8EC9-4EAF-B49C-0C28695786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261" y="5796589"/>
            <a:ext cx="11471308" cy="3840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" name="Espaço Reservado para Imagem 6">
            <a:extLst>
              <a:ext uri="{FF2B5EF4-FFF2-40B4-BE49-F238E27FC236}">
                <a16:creationId xmlns:a16="http://schemas.microsoft.com/office/drawing/2014/main" id="{172FDA30-C0D3-4606-9064-8396C16FDE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7178" y="1701800"/>
            <a:ext cx="11469462" cy="4032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endParaRPr lang="pt-BR" noProof="0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9879E64-C327-4AF5-B997-854E7F14E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39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FCEFC22E-C8EA-4BD0-B6CE-19BB7C96B5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0577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1AB1F03-F52E-4F5D-9723-7DE2BC47A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C48460-59F3-4A16-8F63-40E1FFEAE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4AAFB1-4B09-4D88-96BE-F826D7797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9C6B46-3B21-44EE-A9BA-EB4838CF7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4A93FA-C643-4CA9-ABB1-C7F6C2BA7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609F7-AA20-4841-9A5D-8164C2A89E0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3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34" y="2961218"/>
            <a:ext cx="9592733" cy="1043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15"/>
          <p:cNvSpPr/>
          <p:nvPr userDrawn="1"/>
        </p:nvSpPr>
        <p:spPr>
          <a:xfrm>
            <a:off x="2146300" y="1928285"/>
            <a:ext cx="7899400" cy="61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Retângulo 16"/>
          <p:cNvSpPr/>
          <p:nvPr userDrawn="1"/>
        </p:nvSpPr>
        <p:spPr>
          <a:xfrm>
            <a:off x="2142067" y="4773085"/>
            <a:ext cx="7899400" cy="61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07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m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02" b="-8626"/>
          <a:stretch>
            <a:fillRect/>
          </a:stretch>
        </p:blipFill>
        <p:spPr bwMode="auto">
          <a:xfrm>
            <a:off x="10033001" y="6212840"/>
            <a:ext cx="1728047" cy="28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4" name="Retângulo de cantos arredondados 3"/>
          <p:cNvSpPr/>
          <p:nvPr userDrawn="1"/>
        </p:nvSpPr>
        <p:spPr bwMode="auto">
          <a:xfrm>
            <a:off x="431800" y="1731433"/>
            <a:ext cx="11279717" cy="4193117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10B7B0D9-568C-41D2-87BC-577D87A0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16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Retângulo de cantos arredondados 5"/>
          <p:cNvSpPr/>
          <p:nvPr userDrawn="1"/>
        </p:nvSpPr>
        <p:spPr bwMode="auto">
          <a:xfrm>
            <a:off x="527051" y="1540934"/>
            <a:ext cx="5376333" cy="4347633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3074" name="Imagem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02" b="-8626"/>
          <a:stretch>
            <a:fillRect/>
          </a:stretch>
        </p:blipFill>
        <p:spPr bwMode="auto">
          <a:xfrm>
            <a:off x="10033001" y="6212840"/>
            <a:ext cx="1728047" cy="28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427FC884-2B2C-446B-B3DD-46BDE253C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27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m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02" b="-8626"/>
          <a:stretch>
            <a:fillRect/>
          </a:stretch>
        </p:blipFill>
        <p:spPr bwMode="auto">
          <a:xfrm>
            <a:off x="10033001" y="6212840"/>
            <a:ext cx="1728047" cy="28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CC22A-09E8-4114-B12B-C7F4DD6DC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1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DWCISwiGNv7t7nZdq"/><Relationship Id="rId2" Type="http://schemas.openxmlformats.org/officeDocument/2006/relationships/image" Target="../media/image6.png&amp;ehk=MfEqL4e5qn9PndaZuNRi6w&amp;r=0&amp;pid=OfficeInsert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&amp;ehk=DWCISwiGNv7t7nZdq"/><Relationship Id="rId4" Type="http://schemas.openxmlformats.org/officeDocument/2006/relationships/image" Target="../media/image6.png&amp;ehk=MfEqL4e5qn9PndaZuNRi6w&amp;r=0&amp;pid=OfficeInsert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DWCISwiGNv7t7nZdq"/><Relationship Id="rId2" Type="http://schemas.openxmlformats.org/officeDocument/2006/relationships/image" Target="../media/image6.png&amp;ehk=MfEqL4e5qn9PndaZuNRi6w&amp;r=0&amp;pid=OfficeInsert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&amp;ehk=MfEqL4e5qn9PndaZuNRi6w&amp;r=0&amp;pid=OfficeInsert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&amp;ehk=DWCISwiGNv7t7nZdq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&amp;ehk=DWCISwiGNv7t7nZdq"/><Relationship Id="rId4" Type="http://schemas.openxmlformats.org/officeDocument/2006/relationships/image" Target="../media/image19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DWCISwiGNv7t7nZdq"/><Relationship Id="rId2" Type="http://schemas.openxmlformats.org/officeDocument/2006/relationships/image" Target="../media/image6.png&amp;ehk=MfEqL4e5qn9PndaZuNRi6w&amp;r=0&amp;pid=OfficeInsert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DWCISwiGNv7t7nZdq"/><Relationship Id="rId2" Type="http://schemas.openxmlformats.org/officeDocument/2006/relationships/image" Target="../media/image6.png&amp;ehk=MfEqL4e5qn9PndaZuNRi6w&amp;r=0&amp;pid=OfficeInsert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342ED-0B9E-45BC-BB60-87D48BDCF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Aula 3 </a:t>
            </a:r>
            <a:r>
              <a:rPr lang="pt-BR" dirty="0"/>
              <a:t>- Certificados SSL e o Protocolo HTTPS, Métodos de autenticação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61E3AB-6338-46B7-85EB-F35241ECE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Henrique Batista da Silva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3D4647-29CD-47C0-A49F-3E66F7CA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609F7-AA20-4841-9A5D-8164C2A89E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8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68AF586-06B1-4564-A0B8-939F9B563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EDE5ED-2C22-4373-A50B-A510241E99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Na aula de </a:t>
            </a:r>
            <a:r>
              <a:rPr lang="en-US" dirty="0" err="1"/>
              <a:t>hoje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4AB056-A846-42A4-AA62-DDB40AFBD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Certificados SSL e o Protocolo HTTPS, Métodos de autenticação.</a:t>
            </a:r>
          </a:p>
        </p:txBody>
      </p:sp>
    </p:spTree>
    <p:extLst>
      <p:ext uri="{BB962C8B-B14F-4D97-AF65-F5344CB8AC3E}">
        <p14:creationId xmlns:p14="http://schemas.microsoft.com/office/powerpoint/2010/main" val="263492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4DFBE36-73A7-43DD-9F32-D38A12B76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8820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2EAE429-44BA-4410-98DE-4A0AC11D3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8952B6-4EF1-4280-A9D6-253687ACAC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Integridade de mensagem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1ADA91-17D5-4CD7-8E3F-BEC773265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Vimos até aqui que a criptografia pode ser usada para oferecer sigilo as duas entidades na comunicação.</a:t>
            </a:r>
          </a:p>
          <a:p>
            <a:r>
              <a:rPr lang="pt-BR" dirty="0"/>
              <a:t>Agora veremos como prover integridade da mensagem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CF2BD09-63EA-434B-991A-399F44A5CD6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7908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6C85DF-F369-4EDB-BF71-E0894A4D2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FC631-2207-4326-9BB3-06130ED72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Integridade de mensagem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DBEA02-789B-41B9-AF69-6D51144C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  <a:p>
            <a:pPr lvl="1"/>
            <a:r>
              <a:rPr lang="pt-BR" dirty="0"/>
              <a:t>Suponha que Bob receba uma mensagem (cifrada ou em texto aberto), acreditando que ela tenha sido enviada por Alice.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C0AE0A-C137-487E-BB38-348C6A95D42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19813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6C85DF-F369-4EDB-BF71-E0894A4D2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FC631-2207-4326-9BB3-06130ED72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Integridade de mensagem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DBEA02-789B-41B9-AF69-6D51144C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(cont..):</a:t>
            </a:r>
          </a:p>
          <a:p>
            <a:pPr lvl="1"/>
            <a:r>
              <a:rPr lang="pt-BR" dirty="0"/>
              <a:t>Para autenticar a mensagem, Bob precisa verificar:</a:t>
            </a:r>
          </a:p>
          <a:p>
            <a:pPr lvl="2"/>
            <a:r>
              <a:rPr lang="pt-BR" dirty="0"/>
              <a:t>A mensagem foi realmente enviada por Alice</a:t>
            </a:r>
          </a:p>
          <a:p>
            <a:pPr lvl="2"/>
            <a:r>
              <a:rPr lang="pt-BR" dirty="0"/>
              <a:t>A mensagem não foi alterada a caminho de Bob</a:t>
            </a:r>
          </a:p>
          <a:p>
            <a:pPr lvl="1"/>
            <a:r>
              <a:rPr lang="pt-BR" dirty="0"/>
              <a:t>O problema da integridade de mensagem é uma preocupação importante nos protocolos seguros. 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C0AE0A-C137-487E-BB38-348C6A95D42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6816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6C85DF-F369-4EDB-BF71-E0894A4D2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FC631-2207-4326-9BB3-06130ED72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Integridade de mensagem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DBEA02-789B-41B9-AF69-6D51144C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Permite a comunicação das partes para verificar que as mensagens recebidas são autênticas.</a:t>
            </a:r>
          </a:p>
          <a:p>
            <a:pPr lvl="1"/>
            <a:r>
              <a:rPr lang="pt-BR" sz="2400" dirty="0"/>
              <a:t>conteúdo da mensagem não foi alterado</a:t>
            </a:r>
          </a:p>
          <a:p>
            <a:pPr lvl="1"/>
            <a:r>
              <a:rPr lang="pt-BR" sz="2400" dirty="0"/>
              <a:t>origem da mensagem é quem/o que você pensa ser</a:t>
            </a:r>
          </a:p>
          <a:p>
            <a:pPr lvl="1"/>
            <a:r>
              <a:rPr lang="pt-BR" sz="2400" dirty="0"/>
              <a:t>mensagem não foi reproduzida</a:t>
            </a:r>
          </a:p>
          <a:p>
            <a:pPr lvl="1"/>
            <a:r>
              <a:rPr lang="pt-BR" sz="2400" dirty="0"/>
              <a:t>sequência de mensagens é mantida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C0AE0A-C137-487E-BB38-348C6A95D42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94303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6C85DF-F369-4EDB-BF71-E0894A4D2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FC631-2207-4326-9BB3-06130ED72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Integridade de mensagem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DBEA02-789B-41B9-AF69-6D51144C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Primeiro, vamos falar sobre resumos de mensagem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C0AE0A-C137-487E-BB38-348C6A95D42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152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4DFBE36-73A7-43DD-9F32-D38A12B76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Resumo</a:t>
            </a:r>
            <a:r>
              <a:rPr lang="en-US" dirty="0"/>
              <a:t> de </a:t>
            </a:r>
            <a:r>
              <a:rPr lang="en-US" dirty="0" err="1"/>
              <a:t>Mensagens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1441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20A7429-D5EC-4E77-B6B6-47DDF68A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D11DDC-E5F2-4FD8-97C6-FD2B93736A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Resumo de Mensagens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6282EC1-3B67-4831-9EE3-4D0C01C41A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A função </a:t>
                </a:r>
                <a:r>
                  <a:rPr lang="pt-BR" sz="2800" dirty="0" err="1"/>
                  <a:t>hash</a:t>
                </a:r>
                <a:r>
                  <a:rPr lang="pt-BR" sz="2800" dirty="0"/>
                  <a:t> recebe uma entrada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 e computa a cadeia de tamanho fixo H(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), conhecida como </a:t>
                </a:r>
                <a:r>
                  <a:rPr lang="pt-BR" sz="2800" i="1" dirty="0" err="1"/>
                  <a:t>hash</a:t>
                </a:r>
                <a:r>
                  <a:rPr lang="pt-BR" sz="2800" dirty="0"/>
                  <a:t>: “</a:t>
                </a:r>
                <a:r>
                  <a:rPr lang="pt-BR" sz="2800" dirty="0">
                    <a:solidFill>
                      <a:srgbClr val="FF0000"/>
                    </a:solidFill>
                  </a:rPr>
                  <a:t>assinatura da mensagem</a:t>
                </a:r>
                <a:r>
                  <a:rPr lang="pt-BR" sz="2800" dirty="0"/>
                  <a:t>”.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6282EC1-3B67-4831-9EE3-4D0C01C41A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FFC11A62-9246-43AF-9001-B68C8C2F792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093734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B0C7C31-4D77-4BEA-9E34-A73807EADE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Resumo de Mensagens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99A2F86D-B524-499C-A2CB-0DE8C28F9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Deve satisfazer o seguinte: </a:t>
                </a:r>
              </a:p>
              <a:p>
                <a:pPr lvl="1"/>
                <a:r>
                  <a:rPr lang="pt-BR" sz="2400" dirty="0"/>
                  <a:t>é impraticável encontrar duas mensagens diferentes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400" dirty="0"/>
                  <a:t> tal que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) =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400" dirty="0"/>
                  <a:t>)</a:t>
                </a:r>
              </a:p>
              <a:p>
                <a:pPr marL="0" indent="0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99A2F86D-B524-499C-A2CB-0DE8C28F9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93" t="-15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138F09-3372-4488-8895-479A34C08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1DCD5D58-784A-4C7B-B4AE-8A8680ED643D}"/>
              </a:ext>
            </a:extLst>
          </p:cNvPr>
          <p:cNvGrpSpPr>
            <a:grpSpLocks/>
          </p:cNvGrpSpPr>
          <p:nvPr/>
        </p:nvGrpSpPr>
        <p:grpSpPr bwMode="auto">
          <a:xfrm>
            <a:off x="7567370" y="2231347"/>
            <a:ext cx="3017838" cy="1887538"/>
            <a:chOff x="3070" y="529"/>
            <a:chExt cx="1901" cy="1189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A2A6909-35B2-45F3-A5CD-7FCC384BA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452"/>
              <a:ext cx="507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1968E3B-06BD-4994-9302-CBB8D7480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536"/>
              <a:ext cx="854" cy="5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919DE10E-D771-497B-BE35-151A61DD1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529"/>
              <a:ext cx="84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800" dirty="0">
                  <a:solidFill>
                    <a:srgbClr val="FF0000"/>
                  </a:solidFill>
                </a:rPr>
                <a:t>mensagem</a:t>
              </a:r>
              <a:br>
                <a:rPr lang="pt-BR" sz="1800" dirty="0">
                  <a:solidFill>
                    <a:srgbClr val="FF0000"/>
                  </a:solidFill>
                </a:rPr>
              </a:br>
              <a:r>
                <a:rPr lang="pt-BR" sz="1800" dirty="0">
                  <a:solidFill>
                    <a:srgbClr val="FF0000"/>
                  </a:solidFill>
                </a:rPr>
                <a:t>grande</a:t>
              </a:r>
            </a:p>
            <a:p>
              <a:pPr algn="ctr"/>
              <a:r>
                <a:rPr lang="pt-BR" sz="1800" dirty="0">
                  <a:solidFill>
                    <a:srgbClr val="FF0000"/>
                  </a:solidFill>
                </a:rPr>
                <a:t>m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A520D0E2-9BEF-4684-9D0A-B6F4017CE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609"/>
              <a:ext cx="698" cy="47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7F87A04-F8D1-45FE-97A4-05478DB25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" y="615"/>
              <a:ext cx="76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800">
                  <a:solidFill>
                    <a:schemeClr val="bg1"/>
                  </a:solidFill>
                </a:rPr>
                <a:t>H: função</a:t>
              </a:r>
              <a:br>
                <a:rPr lang="pt-BR" sz="1800">
                  <a:solidFill>
                    <a:schemeClr val="bg1"/>
                  </a:solidFill>
                </a:rPr>
              </a:br>
              <a:r>
                <a:rPr lang="pt-BR" sz="1800">
                  <a:solidFill>
                    <a:schemeClr val="bg1"/>
                  </a:solidFill>
                </a:rPr>
                <a:t>de hash</a:t>
              </a: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9F218ED2-D982-4FB9-B6DB-5CF0E4D6C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" y="832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856E70BF-DED3-4194-832E-FB4275AF9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2" y="1467"/>
              <a:ext cx="5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>
                  <a:solidFill>
                    <a:srgbClr val="FF0000"/>
                  </a:solidFill>
                </a:rPr>
                <a:t>H(m)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624E2209-6B05-4BAC-B9F7-1585A37F5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096"/>
              <a:ext cx="0" cy="3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771E5DE6-2DD4-481D-9D9B-9F173CC5B319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8712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B0C7C31-4D77-4BEA-9E34-A73807EADE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Resumo de Mensagens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9A2F86D-B524-499C-A2CB-0DE8C28F9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 dirty="0"/>
              <a:t>Ou seja, um invasor não consegue substituir uma mensagem por outra (forjar uma mensagem).</a:t>
            </a:r>
          </a:p>
          <a:p>
            <a:pPr marL="0" indent="0">
              <a:buNone/>
            </a:pPr>
            <a:endParaRPr lang="pt-BR" sz="2800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138F09-3372-4488-8895-479A34C08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1DCD5D58-784A-4C7B-B4AE-8A8680ED643D}"/>
              </a:ext>
            </a:extLst>
          </p:cNvPr>
          <p:cNvGrpSpPr>
            <a:grpSpLocks/>
          </p:cNvGrpSpPr>
          <p:nvPr/>
        </p:nvGrpSpPr>
        <p:grpSpPr bwMode="auto">
          <a:xfrm>
            <a:off x="7567370" y="2231347"/>
            <a:ext cx="3017838" cy="1887538"/>
            <a:chOff x="3070" y="529"/>
            <a:chExt cx="1901" cy="1189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A2A6909-35B2-45F3-A5CD-7FCC384BA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452"/>
              <a:ext cx="507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1968E3B-06BD-4994-9302-CBB8D7480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536"/>
              <a:ext cx="854" cy="5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919DE10E-D771-497B-BE35-151A61DD1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529"/>
              <a:ext cx="84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800" dirty="0">
                  <a:solidFill>
                    <a:srgbClr val="FF0000"/>
                  </a:solidFill>
                </a:rPr>
                <a:t>mensagem</a:t>
              </a:r>
              <a:br>
                <a:rPr lang="pt-BR" sz="1800" dirty="0">
                  <a:solidFill>
                    <a:srgbClr val="FF0000"/>
                  </a:solidFill>
                </a:rPr>
              </a:br>
              <a:r>
                <a:rPr lang="pt-BR" sz="1800" dirty="0">
                  <a:solidFill>
                    <a:srgbClr val="FF0000"/>
                  </a:solidFill>
                </a:rPr>
                <a:t>grande</a:t>
              </a:r>
            </a:p>
            <a:p>
              <a:pPr algn="ctr"/>
              <a:r>
                <a:rPr lang="pt-BR" sz="1800" dirty="0">
                  <a:solidFill>
                    <a:srgbClr val="FF0000"/>
                  </a:solidFill>
                </a:rPr>
                <a:t>m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A520D0E2-9BEF-4684-9D0A-B6F4017CE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609"/>
              <a:ext cx="698" cy="47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7F87A04-F8D1-45FE-97A4-05478DB25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" y="615"/>
              <a:ext cx="76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800">
                  <a:solidFill>
                    <a:schemeClr val="bg1"/>
                  </a:solidFill>
                </a:rPr>
                <a:t>H: função</a:t>
              </a:r>
              <a:br>
                <a:rPr lang="pt-BR" sz="1800">
                  <a:solidFill>
                    <a:schemeClr val="bg1"/>
                  </a:solidFill>
                </a:rPr>
              </a:br>
              <a:r>
                <a:rPr lang="pt-BR" sz="1800">
                  <a:solidFill>
                    <a:schemeClr val="bg1"/>
                  </a:solidFill>
                </a:rPr>
                <a:t>de hash</a:t>
              </a: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9F218ED2-D982-4FB9-B6DB-5CF0E4D6C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" y="832"/>
              <a:ext cx="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856E70BF-DED3-4194-832E-FB4275AF9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2" y="1467"/>
              <a:ext cx="5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>
                  <a:solidFill>
                    <a:srgbClr val="FF0000"/>
                  </a:solidFill>
                </a:rPr>
                <a:t>H(m)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624E2209-6B05-4BAC-B9F7-1585A37F5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096"/>
              <a:ext cx="0" cy="3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58644047-84BB-4C70-A37B-6EC4E92DD7F4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93148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200" dirty="0"/>
              <a:t>Soma de verificação da Internet: resumo de mensagem fraco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Dada a mensagem com dado valor de </a:t>
            </a:r>
            <a:r>
              <a:rPr lang="pt-BR" dirty="0" err="1"/>
              <a:t>hash</a:t>
            </a:r>
            <a:r>
              <a:rPr lang="pt-BR" dirty="0"/>
              <a:t>, é fácil achar outra mensagem com o mesmo valor de </a:t>
            </a:r>
            <a:r>
              <a:rPr lang="pt-BR" dirty="0" err="1"/>
              <a:t>hash</a:t>
            </a:r>
            <a:r>
              <a:rPr lang="pt-BR" dirty="0"/>
              <a:t>?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C408B5-33C2-4B16-AF1E-B92A0B6630D9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747990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200" dirty="0"/>
              <a:t>Soma de verificação da Internet: resumo de mensagem fraco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soma de verificação simplificada: soma porções de 4 bytes de cada vez: </a:t>
            </a:r>
          </a:p>
          <a:p>
            <a:pPr lvl="1"/>
            <a:r>
              <a:rPr lang="pt-BR" dirty="0"/>
              <a:t>Imagine que Bob deva a Alice 100,99 dólares e lhe envie um vale com a sentença ‘IOU100.88BOB’ (I </a:t>
            </a:r>
            <a:r>
              <a:rPr lang="pt-BR" dirty="0" err="1"/>
              <a:t>Owe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– Eu lhe devo)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789618-88B6-48EA-A968-1E19C494A47D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409294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12A01740-8E8B-4950-805E-EA13962403D3}"/>
              </a:ext>
            </a:extLst>
          </p:cNvPr>
          <p:cNvSpPr txBox="1"/>
          <p:nvPr/>
        </p:nvSpPr>
        <p:spPr>
          <a:xfrm>
            <a:off x="3657600" y="4693194"/>
            <a:ext cx="7554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Viola o princípio citado anteriormente, pois oferecida duas mensagens diferentes, encontramos a mesma função </a:t>
            </a:r>
            <a:r>
              <a:rPr lang="pt-BR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hash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Precisamos de uma função </a:t>
            </a:r>
            <a:r>
              <a:rPr lang="pt-BR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hash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muito mais poderosa que a soma de verificação.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200" dirty="0"/>
              <a:t>Soma de verificação da Internet: resumo de mensagem fraco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4578124-8DE0-4C0C-BA28-36D01C835997}"/>
              </a:ext>
            </a:extLst>
          </p:cNvPr>
          <p:cNvSpPr txBox="1">
            <a:spLocks noChangeArrowheads="1"/>
          </p:cNvSpPr>
          <p:nvPr/>
        </p:nvSpPr>
        <p:spPr>
          <a:xfrm>
            <a:off x="1869054" y="948778"/>
            <a:ext cx="8229600" cy="3888432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90575" indent="-38099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523962" indent="-304792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133547" indent="-304792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743131" indent="-304792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charset="0"/>
              <a:buNone/>
            </a:pPr>
            <a:r>
              <a:rPr lang="pt-BR" altLang="pt-BR" sz="2800"/>
              <a:t> </a:t>
            </a:r>
            <a:endParaRPr lang="pt-BR" altLang="pt-BR" sz="2800" dirty="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EDDEE6C-F689-497D-BC97-6B3BCE225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535" y="2115516"/>
            <a:ext cx="1250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b="1">
                <a:latin typeface="Courier" pitchFamily="49" charset="0"/>
              </a:rPr>
              <a:t>I O U 1</a:t>
            </a:r>
          </a:p>
          <a:p>
            <a:pPr algn="ctr"/>
            <a:r>
              <a:rPr lang="pt-BR" b="1">
                <a:latin typeface="Courier" pitchFamily="49" charset="0"/>
              </a:rPr>
              <a:t>0 0 . 9</a:t>
            </a:r>
          </a:p>
          <a:p>
            <a:pPr algn="ctr"/>
            <a:r>
              <a:rPr lang="pt-BR" b="1">
                <a:latin typeface="Courier" pitchFamily="49" charset="0"/>
              </a:rPr>
              <a:t>9 B O B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97C78216-013F-4F2B-BF14-E2B717333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798" y="2115516"/>
            <a:ext cx="18605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b="1">
                <a:latin typeface="Courier" pitchFamily="49" charset="0"/>
              </a:rPr>
              <a:t>49 4F 55 31</a:t>
            </a:r>
          </a:p>
          <a:p>
            <a:pPr algn="ctr"/>
            <a:r>
              <a:rPr lang="pt-BR" b="1">
                <a:latin typeface="Courier" pitchFamily="49" charset="0"/>
              </a:rPr>
              <a:t>30 30 2E 39</a:t>
            </a:r>
          </a:p>
          <a:p>
            <a:pPr algn="ctr"/>
            <a:r>
              <a:rPr lang="pt-BR" b="1">
                <a:latin typeface="Courier" pitchFamily="49" charset="0"/>
              </a:rPr>
              <a:t>39 42 D2 42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FEE21BB6-299F-4EB8-9460-F8737D0E2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635" y="1756741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u="sng" dirty="0"/>
              <a:t>mensagem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AAE6CF68-30E2-4F6B-A135-4DA1E6F48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610" y="1751978"/>
            <a:ext cx="2014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 u="sng"/>
              <a:t>formato ASCII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3ABECDD7-61C1-4E2B-9E5B-A572F5C21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498" y="3168028"/>
            <a:ext cx="186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b="1">
                <a:latin typeface="Courier" pitchFamily="49" charset="0"/>
              </a:rPr>
              <a:t>B2 C1 D2 AC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F70734D7-4545-4E28-8654-5CDEAC6F4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798" y="2099641"/>
            <a:ext cx="1250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b="1" dirty="0">
                <a:latin typeface="Courier" pitchFamily="49" charset="0"/>
              </a:rPr>
              <a:t>I O U </a:t>
            </a:r>
            <a:r>
              <a:rPr lang="pt-BR" b="1" u="sng" dirty="0">
                <a:solidFill>
                  <a:srgbClr val="FF0000"/>
                </a:solidFill>
                <a:latin typeface="Courier" pitchFamily="49" charset="0"/>
              </a:rPr>
              <a:t>9</a:t>
            </a:r>
          </a:p>
          <a:p>
            <a:pPr algn="ctr"/>
            <a:r>
              <a:rPr lang="pt-BR" b="1" dirty="0">
                <a:latin typeface="Courier" pitchFamily="49" charset="0"/>
              </a:rPr>
              <a:t>0 0 . </a:t>
            </a:r>
            <a:r>
              <a:rPr lang="pt-BR" b="1" u="sng" dirty="0">
                <a:solidFill>
                  <a:srgbClr val="FF0000"/>
                </a:solidFill>
                <a:latin typeface="Courier" pitchFamily="49" charset="0"/>
              </a:rPr>
              <a:t>1</a:t>
            </a:r>
          </a:p>
          <a:p>
            <a:pPr algn="ctr"/>
            <a:r>
              <a:rPr lang="pt-BR" b="1" dirty="0">
                <a:latin typeface="Courier" pitchFamily="49" charset="0"/>
              </a:rPr>
              <a:t>9 B O B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8AADEBEF-DB08-40DC-B89A-BC09E7E65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060" y="2099641"/>
            <a:ext cx="18605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b="1">
                <a:latin typeface="Courier" pitchFamily="49" charset="0"/>
              </a:rPr>
              <a:t>49 4F 55 </a:t>
            </a:r>
            <a:r>
              <a:rPr lang="pt-BR" b="1" u="sng">
                <a:solidFill>
                  <a:srgbClr val="FF0000"/>
                </a:solidFill>
                <a:latin typeface="Courier" pitchFamily="49" charset="0"/>
              </a:rPr>
              <a:t>39</a:t>
            </a:r>
          </a:p>
          <a:p>
            <a:pPr algn="ctr"/>
            <a:r>
              <a:rPr lang="pt-BR" b="1">
                <a:latin typeface="Courier" pitchFamily="49" charset="0"/>
              </a:rPr>
              <a:t>30 30 2E </a:t>
            </a:r>
            <a:r>
              <a:rPr lang="pt-BR" b="1" u="sng">
                <a:solidFill>
                  <a:srgbClr val="FF0000"/>
                </a:solidFill>
                <a:latin typeface="Courier" pitchFamily="49" charset="0"/>
              </a:rPr>
              <a:t>31</a:t>
            </a:r>
          </a:p>
          <a:p>
            <a:pPr algn="ctr"/>
            <a:r>
              <a:rPr lang="pt-BR" b="1">
                <a:latin typeface="Courier" pitchFamily="49" charset="0"/>
              </a:rPr>
              <a:t>39 42 D2 42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E60AAF43-6B44-4033-AD77-F285DCC59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7898" y="1740866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u="sng" dirty="0"/>
              <a:t>mensagem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22128247-52E2-4524-A4B6-DB0B8AA28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8873" y="1748878"/>
            <a:ext cx="2014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 u="sng"/>
              <a:t>formato ASCII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E1EF5E9B-D123-46F0-861B-F4F5246CB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7760" y="3152153"/>
            <a:ext cx="186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b="1">
                <a:latin typeface="Courier" pitchFamily="49" charset="0"/>
              </a:rPr>
              <a:t>B2 C1 D2 AC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B6FB6BDF-B1F0-4553-8CC7-700BCDC4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485" y="3226766"/>
            <a:ext cx="43767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dirty="0">
                <a:solidFill>
                  <a:schemeClr val="accent2"/>
                </a:solidFill>
              </a:rPr>
              <a:t>mensagens diferentes</a:t>
            </a:r>
          </a:p>
          <a:p>
            <a:pPr algn="ctr"/>
            <a:r>
              <a:rPr lang="pt-BR" dirty="0">
                <a:solidFill>
                  <a:schemeClr val="accent2"/>
                </a:solidFill>
              </a:rPr>
              <a:t>mas somas de verificação idênticas!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054D0DDD-DF64-40EE-BC36-D7FA3B84B9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01960" y="3384921"/>
            <a:ext cx="381000" cy="8413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CFC18AB7-9F23-4170-9A58-8D7DCF71C3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11848" y="3369046"/>
            <a:ext cx="381000" cy="8413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F6B9BBE-43B3-425F-9358-79EA7E06ACC8}"/>
              </a:ext>
            </a:extLst>
          </p:cNvPr>
          <p:cNvSpPr txBox="1"/>
          <p:nvPr/>
        </p:nvSpPr>
        <p:spPr>
          <a:xfrm>
            <a:off x="1035870" y="4382320"/>
            <a:ext cx="252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Soma de verificação</a:t>
            </a:r>
          </a:p>
        </p:txBody>
      </p:sp>
      <p:cxnSp>
        <p:nvCxnSpPr>
          <p:cNvPr id="23" name="Conector de seta reta 17">
            <a:extLst>
              <a:ext uri="{FF2B5EF4-FFF2-40B4-BE49-F238E27FC236}">
                <a16:creationId xmlns:a16="http://schemas.microsoft.com/office/drawing/2014/main" id="{7D7F011B-B9D9-404E-A8D6-6A5E60461B99}"/>
              </a:ext>
            </a:extLst>
          </p:cNvPr>
          <p:cNvCxnSpPr/>
          <p:nvPr/>
        </p:nvCxnSpPr>
        <p:spPr>
          <a:xfrm flipV="1">
            <a:off x="2445118" y="3645486"/>
            <a:ext cx="828204" cy="687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9">
            <a:extLst>
              <a:ext uri="{FF2B5EF4-FFF2-40B4-BE49-F238E27FC236}">
                <a16:creationId xmlns:a16="http://schemas.microsoft.com/office/drawing/2014/main" id="{F79B4F69-1C29-4477-953A-3F0FCF40F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448" y="3124893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" name="Line 15">
            <a:extLst>
              <a:ext uri="{FF2B5EF4-FFF2-40B4-BE49-F238E27FC236}">
                <a16:creationId xmlns:a16="http://schemas.microsoft.com/office/drawing/2014/main" id="{E8D442AA-8895-454F-B704-0DBD57BEF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5710" y="3109018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cxnSp>
        <p:nvCxnSpPr>
          <p:cNvPr id="26" name="Conector de seta reta 19">
            <a:extLst>
              <a:ext uri="{FF2B5EF4-FFF2-40B4-BE49-F238E27FC236}">
                <a16:creationId xmlns:a16="http://schemas.microsoft.com/office/drawing/2014/main" id="{3A1716FD-7DEA-41BB-A682-CF255DFEBE2C}"/>
              </a:ext>
            </a:extLst>
          </p:cNvPr>
          <p:cNvCxnSpPr/>
          <p:nvPr/>
        </p:nvCxnSpPr>
        <p:spPr>
          <a:xfrm>
            <a:off x="6333550" y="3989320"/>
            <a:ext cx="0" cy="660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D5F88E2C-6DC8-40FD-9C66-F2523D5BBB23}"/>
              </a:ext>
            </a:extLst>
          </p:cNvPr>
          <p:cNvSpPr/>
          <p:nvPr/>
        </p:nvSpPr>
        <p:spPr>
          <a:xfrm>
            <a:off x="4597637" y="2116733"/>
            <a:ext cx="404323" cy="934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4E0A4F9-2A77-4210-B7A0-4990F1143556}"/>
              </a:ext>
            </a:extLst>
          </p:cNvPr>
          <p:cNvSpPr/>
          <p:nvPr/>
        </p:nvSpPr>
        <p:spPr>
          <a:xfrm>
            <a:off x="9618469" y="2125367"/>
            <a:ext cx="404323" cy="934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9E19E1F-49FA-4FAC-8406-0A4E658FCD4E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88237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Algoritmos de função de </a:t>
            </a:r>
            <a:r>
              <a:rPr lang="pt-BR" altLang="pt-BR" sz="4000" dirty="0" err="1"/>
              <a:t>hash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função de </a:t>
            </a:r>
            <a:r>
              <a:rPr lang="pt-BR" sz="2800" dirty="0" err="1"/>
              <a:t>hash</a:t>
            </a:r>
            <a:r>
              <a:rPr lang="pt-BR" sz="2800" dirty="0"/>
              <a:t> MD5 bastante usada </a:t>
            </a:r>
          </a:p>
          <a:p>
            <a:pPr lvl="1"/>
            <a:r>
              <a:rPr lang="pt-BR" sz="2400" dirty="0"/>
              <a:t>calcula resumo de mensagem de 128 bits</a:t>
            </a:r>
          </a:p>
          <a:p>
            <a:r>
              <a:rPr lang="pt-BR" sz="2800" dirty="0"/>
              <a:t>SHA-1 também é usado.</a:t>
            </a:r>
          </a:p>
          <a:p>
            <a:pPr lvl="1"/>
            <a:r>
              <a:rPr lang="pt-BR" sz="2400" dirty="0"/>
              <a:t>padrão nos EUA </a:t>
            </a:r>
          </a:p>
          <a:p>
            <a:pPr lvl="1"/>
            <a:r>
              <a:rPr lang="pt-BR" sz="2400" dirty="0"/>
              <a:t>resumo de mensagem de 160 bit, mais seguro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7D2882-323B-49C1-B278-59CBE2F5DC2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57255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4DFBE36-73A7-43DD-9F32-D38A12B76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err="1"/>
              <a:t>Message</a:t>
            </a:r>
            <a:r>
              <a:rPr lang="pt-BR" dirty="0"/>
              <a:t> </a:t>
            </a:r>
            <a:r>
              <a:rPr lang="pt-BR" dirty="0" err="1"/>
              <a:t>Authentication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 (MAC)</a:t>
            </a:r>
          </a:p>
        </p:txBody>
      </p:sp>
    </p:spTree>
    <p:extLst>
      <p:ext uri="{BB962C8B-B14F-4D97-AF65-F5344CB8AC3E}">
        <p14:creationId xmlns:p14="http://schemas.microsoft.com/office/powerpoint/2010/main" val="1020031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 err="1"/>
              <a:t>Message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Authentication</a:t>
            </a:r>
            <a:r>
              <a:rPr lang="pt-BR" altLang="pt-BR" sz="4000" dirty="0"/>
              <a:t> </a:t>
            </a:r>
            <a:r>
              <a:rPr lang="pt-BR" altLang="pt-BR" sz="4000" dirty="0" err="1"/>
              <a:t>Code</a:t>
            </a:r>
            <a:r>
              <a:rPr lang="pt-BR" altLang="pt-BR" sz="4000" dirty="0"/>
              <a:t> (MAC)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Retornamos ao problema da integridade da mensagem</a:t>
                </a:r>
              </a:p>
              <a:p>
                <a:pPr marL="1066785" lvl="1" indent="-457200">
                  <a:buFont typeface="+mj-lt"/>
                  <a:buAutoNum type="arabicPeriod"/>
                </a:pPr>
                <a:r>
                  <a:rPr lang="pt-BR" sz="2400" dirty="0"/>
                  <a:t>Alice cria a mensagem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e calcula o </a:t>
                </a:r>
                <a:r>
                  <a:rPr lang="pt-BR" sz="2400" dirty="0" err="1"/>
                  <a:t>hash</a:t>
                </a:r>
                <a:r>
                  <a:rPr lang="pt-BR" sz="2400" dirty="0"/>
                  <a:t>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).</a:t>
                </a:r>
              </a:p>
              <a:p>
                <a:pPr marL="1066785" lvl="1" indent="-457200">
                  <a:buFont typeface="+mj-lt"/>
                  <a:buAutoNum type="arabicPeriod"/>
                </a:pPr>
                <a:r>
                  <a:rPr lang="pt-BR" sz="2400" dirty="0"/>
                  <a:t>Alice anexa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) à mensagem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criando uma mensagem estendida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)), e a envia para Bob.</a:t>
                </a:r>
              </a:p>
              <a:p>
                <a:pPr marL="1066785" lvl="1" indent="-457200">
                  <a:buFont typeface="+mj-lt"/>
                  <a:buAutoNum type="arabicPeriod"/>
                </a:pPr>
                <a:r>
                  <a:rPr lang="pt-BR" sz="2400" dirty="0"/>
                  <a:t>Bob recebe uma mensagem estendida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pt-BR" sz="2400" dirty="0"/>
                  <a:t>) e calcula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). Se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) =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pt-BR" sz="2400" dirty="0"/>
                  <a:t>, Bob conclui que está tudo certo.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130B4DD2-BC75-4C3B-9EC1-4B5FBEABBFB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848359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 err="1"/>
              <a:t>Message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Authentication</a:t>
            </a:r>
            <a:r>
              <a:rPr lang="pt-BR" altLang="pt-BR" sz="4000" dirty="0"/>
              <a:t> </a:t>
            </a:r>
            <a:r>
              <a:rPr lang="pt-BR" altLang="pt-BR" sz="4000" dirty="0" err="1"/>
              <a:t>Code</a:t>
            </a:r>
            <a:r>
              <a:rPr lang="pt-BR" altLang="pt-BR" sz="4000" dirty="0"/>
              <a:t> (MAC)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Não daria certo, pois um invasor poderia se passar por Alice e criar uma mensagem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’, calcular H(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’) e enviar a bob. Na etapa 3 tudo se encaixaria. </a:t>
                </a:r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9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F85C04F-7BD4-4F94-AC66-0DE89E8D673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14745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 err="1"/>
              <a:t>Message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Authentication</a:t>
            </a:r>
            <a:r>
              <a:rPr lang="pt-BR" altLang="pt-BR" sz="4000" dirty="0"/>
              <a:t> </a:t>
            </a:r>
            <a:r>
              <a:rPr lang="pt-BR" altLang="pt-BR" sz="4000" dirty="0" err="1"/>
              <a:t>Code</a:t>
            </a:r>
            <a:r>
              <a:rPr lang="pt-BR" altLang="pt-BR" sz="4000" dirty="0"/>
              <a:t> (MAC)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Para usar a integridade de mensagem, além de usar as funções </a:t>
                </a:r>
                <a:r>
                  <a:rPr lang="pt-BR" sz="2800" dirty="0" err="1"/>
                  <a:t>hash</a:t>
                </a:r>
                <a:r>
                  <a:rPr lang="pt-BR" sz="2800" dirty="0"/>
                  <a:t>, Alice e Bob precisam de um segredo compartilhado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800" dirty="0"/>
                  <a:t> (chave de autenticação). Assim:</a:t>
                </a:r>
              </a:p>
              <a:p>
                <a:pPr lvl="1"/>
                <a:r>
                  <a:rPr lang="pt-BR" sz="2400" dirty="0"/>
                  <a:t>Alice cria a mensagem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concatena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e cria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e calcula o </a:t>
                </a:r>
                <a:r>
                  <a:rPr lang="pt-BR" sz="2400" dirty="0" err="1"/>
                  <a:t>hash</a:t>
                </a:r>
                <a:r>
                  <a:rPr lang="pt-BR" sz="2400" dirty="0"/>
                  <a:t>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).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) é denominado código de autenticação da mensagem (MAC). (continua...)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6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7FC81C25-2A61-4B9C-9225-A0A9C524B77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62418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 err="1"/>
              <a:t>Message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Authentication</a:t>
            </a:r>
            <a:r>
              <a:rPr lang="pt-BR" altLang="pt-BR" sz="4000" dirty="0"/>
              <a:t> </a:t>
            </a:r>
            <a:r>
              <a:rPr lang="pt-BR" altLang="pt-BR" sz="4000" dirty="0" err="1"/>
              <a:t>Code</a:t>
            </a:r>
            <a:r>
              <a:rPr lang="pt-BR" altLang="pt-BR" sz="4000" dirty="0"/>
              <a:t> (MAC)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pt-BR" sz="2400" dirty="0"/>
                  <a:t>Alice anexa o MAC à mensagem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)).</a:t>
                </a:r>
              </a:p>
              <a:p>
                <a:pPr lvl="1"/>
                <a:r>
                  <a:rPr lang="pt-BR" sz="2400" dirty="0"/>
                  <a:t>Bob recebe uma mensagem estendida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pt-BR" sz="2400" dirty="0"/>
                  <a:t>) e conhecendo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, calcula o MAC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). Se H(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) =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pt-BR" sz="2400" dirty="0"/>
                  <a:t>, Bob conclui que está tudo certo.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074EE302-CB6B-4C7F-A332-92DBB6EA88D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565991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 err="1"/>
              <a:t>Message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Authentication</a:t>
            </a:r>
            <a:r>
              <a:rPr lang="pt-BR" altLang="pt-BR" sz="4000" dirty="0"/>
              <a:t> </a:t>
            </a:r>
            <a:r>
              <a:rPr lang="pt-BR" altLang="pt-BR" sz="4000" dirty="0" err="1"/>
              <a:t>Code</a:t>
            </a:r>
            <a:r>
              <a:rPr lang="pt-BR" altLang="pt-BR" sz="4000" dirty="0"/>
              <a:t> (MAC)</a:t>
            </a:r>
            <a:endParaRPr lang="pt-BR" sz="4000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F786FBD2-68D7-4693-98AB-F0DFD007C9E2}"/>
              </a:ext>
            </a:extLst>
          </p:cNvPr>
          <p:cNvGrpSpPr>
            <a:grpSpLocks/>
          </p:cNvGrpSpPr>
          <p:nvPr/>
        </p:nvGrpSpPr>
        <p:grpSpPr bwMode="auto">
          <a:xfrm>
            <a:off x="2488725" y="2163397"/>
            <a:ext cx="7597775" cy="3473450"/>
            <a:chOff x="403" y="831"/>
            <a:chExt cx="4786" cy="2188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330B684C-1F98-48AE-94E0-1BA09CBEA7EE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18" y="1344"/>
              <a:ext cx="720" cy="249"/>
              <a:chOff x="672" y="1335"/>
              <a:chExt cx="720" cy="249"/>
            </a:xfrm>
          </p:grpSpPr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5C73A491-ACDB-476E-AD89-83C7B736D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344"/>
                <a:ext cx="72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49" name="Text Box 6">
                <a:extLst>
                  <a:ext uri="{FF2B5EF4-FFF2-40B4-BE49-F238E27FC236}">
                    <a16:creationId xmlns:a16="http://schemas.microsoft.com/office/drawing/2014/main" id="{0C4A4AB9-08F6-47EC-8574-2E15397DA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335"/>
                <a:ext cx="71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pt-BR" sz="1600"/>
                  <a:t>mensagem</a:t>
                </a:r>
              </a:p>
            </p:txBody>
          </p:sp>
        </p:grpSp>
        <p:grpSp>
          <p:nvGrpSpPr>
            <p:cNvPr id="9" name="Group 7">
              <a:extLst>
                <a:ext uri="{FF2B5EF4-FFF2-40B4-BE49-F238E27FC236}">
                  <a16:creationId xmlns:a16="http://schemas.microsoft.com/office/drawing/2014/main" id="{20B6FF4E-CF1E-4A00-ACEE-94B96CE12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" y="2166"/>
              <a:ext cx="553" cy="304"/>
              <a:chOff x="550" y="1968"/>
              <a:chExt cx="553" cy="336"/>
            </a:xfrm>
          </p:grpSpPr>
          <p:sp>
            <p:nvSpPr>
              <p:cNvPr id="46" name="Oval 8">
                <a:extLst>
                  <a:ext uri="{FF2B5EF4-FFF2-40B4-BE49-F238E27FC236}">
                    <a16:creationId xmlns:a16="http://schemas.microsoft.com/office/drawing/2014/main" id="{57403470-3808-4234-B3ED-A9D63D4E7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1968"/>
                <a:ext cx="504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47" name="Text Box 9">
                <a:extLst>
                  <a:ext uri="{FF2B5EF4-FFF2-40B4-BE49-F238E27FC236}">
                    <a16:creationId xmlns:a16="http://schemas.microsoft.com/office/drawing/2014/main" id="{75BD5CDD-8AC5-4682-90BB-3868EEEDD9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" y="2000"/>
                <a:ext cx="504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pt-BR"/>
                  <a:t>H( )</a:t>
                </a:r>
              </a:p>
            </p:txBody>
          </p:sp>
        </p:grp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8724EDE8-B883-4EC0-BFDF-1B8182C23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" y="964"/>
              <a:ext cx="240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/>
                <a:t>s</a:t>
              </a: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067DA324-A715-4221-9C74-E3BE8D714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828"/>
              <a:ext cx="0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94F2F0A2-DE9E-4C92-AF26-FBF604F63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2784"/>
              <a:ext cx="240" cy="14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endParaRPr lang="pt-BR"/>
            </a:p>
            <a:p>
              <a:pPr algn="ctr"/>
              <a:endParaRPr lang="pt-BR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1B1B9535-9131-47EF-8231-F71024238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470"/>
              <a:ext cx="0" cy="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95173563-DC07-47B9-BC66-A9CDC61820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64"/>
              <a:ext cx="250" cy="863"/>
              <a:chOff x="1344" y="1364"/>
              <a:chExt cx="250" cy="863"/>
            </a:xfrm>
          </p:grpSpPr>
          <p:grpSp>
            <p:nvGrpSpPr>
              <p:cNvPr id="42" name="Group 15">
                <a:extLst>
                  <a:ext uri="{FF2B5EF4-FFF2-40B4-BE49-F238E27FC236}">
                    <a16:creationId xmlns:a16="http://schemas.microsoft.com/office/drawing/2014/main" id="{A9877D4F-21E7-42CD-A0CA-C86D386AB3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1109" y="1599"/>
                <a:ext cx="720" cy="250"/>
                <a:chOff x="672" y="1334"/>
                <a:chExt cx="720" cy="250"/>
              </a:xfrm>
            </p:grpSpPr>
            <p:sp>
              <p:nvSpPr>
                <p:cNvPr id="44" name="Rectangle 16">
                  <a:extLst>
                    <a:ext uri="{FF2B5EF4-FFF2-40B4-BE49-F238E27FC236}">
                      <a16:creationId xmlns:a16="http://schemas.microsoft.com/office/drawing/2014/main" id="{01CFE484-EE25-478C-8C95-3FD9691C06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2" y="1344"/>
                  <a:ext cx="72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eaVert"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5" name="Text Box 17">
                  <a:extLst>
                    <a:ext uri="{FF2B5EF4-FFF2-40B4-BE49-F238E27FC236}">
                      <a16:creationId xmlns:a16="http://schemas.microsoft.com/office/drawing/2014/main" id="{F73BC9F1-90A2-4C29-8130-6449E3D264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3" y="1334"/>
                  <a:ext cx="71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r>
                    <a:rPr lang="pt-BR" sz="1600"/>
                    <a:t>mensagem</a:t>
                  </a:r>
                </a:p>
              </p:txBody>
            </p:sp>
          </p:grpSp>
          <p:sp>
            <p:nvSpPr>
              <p:cNvPr id="43" name="Rectangle 18">
                <a:extLst>
                  <a:ext uri="{FF2B5EF4-FFF2-40B4-BE49-F238E27FC236}">
                    <a16:creationId xmlns:a16="http://schemas.microsoft.com/office/drawing/2014/main" id="{CAB90448-950E-48FB-8058-C28BD7905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4" y="2083"/>
                <a:ext cx="240" cy="1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endParaRPr lang="pt-BR"/>
              </a:p>
              <a:p>
                <a:pPr algn="ctr"/>
                <a:endParaRPr lang="pt-BR"/>
              </a:p>
            </p:txBody>
          </p:sp>
        </p:grp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E5654E2E-DDAF-4793-BE7D-17D94DA24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" y="2857"/>
              <a:ext cx="280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4301FE96-0645-4C18-89BD-3FFF25383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3" y="2172"/>
              <a:ext cx="0" cy="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CAF6D318-6219-441A-8E9D-8484073C8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2172"/>
              <a:ext cx="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9DA5840C-EA7F-4BD5-8C0F-0BE3698EF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6" y="1814"/>
              <a:ext cx="303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23">
              <a:extLst>
                <a:ext uri="{FF2B5EF4-FFF2-40B4-BE49-F238E27FC236}">
                  <a16:creationId xmlns:a16="http://schemas.microsoft.com/office/drawing/2014/main" id="{C386DD91-68A1-4860-BB06-79258F391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400"/>
              <a:ext cx="1017" cy="979"/>
            </a:xfrm>
            <a:custGeom>
              <a:avLst/>
              <a:gdLst>
                <a:gd name="T0" fmla="*/ 57 w 1292"/>
                <a:gd name="T1" fmla="*/ 2 h 1255"/>
                <a:gd name="T2" fmla="*/ 8 w 1292"/>
                <a:gd name="T3" fmla="*/ 35 h 1255"/>
                <a:gd name="T4" fmla="*/ 7 w 1292"/>
                <a:gd name="T5" fmla="*/ 118 h 1255"/>
                <a:gd name="T6" fmla="*/ 13 w 1292"/>
                <a:gd name="T7" fmla="*/ 186 h 1255"/>
                <a:gd name="T8" fmla="*/ 58 w 1292"/>
                <a:gd name="T9" fmla="*/ 196 h 1255"/>
                <a:gd name="T10" fmla="*/ 154 w 1292"/>
                <a:gd name="T11" fmla="*/ 254 h 1255"/>
                <a:gd name="T12" fmla="*/ 237 w 1292"/>
                <a:gd name="T13" fmla="*/ 278 h 1255"/>
                <a:gd name="T14" fmla="*/ 285 w 1292"/>
                <a:gd name="T15" fmla="*/ 230 h 1255"/>
                <a:gd name="T16" fmla="*/ 301 w 1292"/>
                <a:gd name="T17" fmla="*/ 101 h 1255"/>
                <a:gd name="T18" fmla="*/ 287 w 1292"/>
                <a:gd name="T19" fmla="*/ 48 h 1255"/>
                <a:gd name="T20" fmla="*/ 178 w 1292"/>
                <a:gd name="T21" fmla="*/ 27 h 1255"/>
                <a:gd name="T22" fmla="*/ 57 w 1292"/>
                <a:gd name="T23" fmla="*/ 2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pt-BR" dirty="0"/>
                <a:t>Internet</a:t>
              </a:r>
            </a:p>
          </p:txBody>
        </p:sp>
        <p:grpSp>
          <p:nvGrpSpPr>
            <p:cNvPr id="20" name="Group 24">
              <a:extLst>
                <a:ext uri="{FF2B5EF4-FFF2-40B4-BE49-F238E27FC236}">
                  <a16:creationId xmlns:a16="http://schemas.microsoft.com/office/drawing/2014/main" id="{3B51B08D-1925-4A09-B18A-7E6DA39A1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344"/>
              <a:ext cx="250" cy="863"/>
              <a:chOff x="1344" y="1364"/>
              <a:chExt cx="250" cy="863"/>
            </a:xfrm>
          </p:grpSpPr>
          <p:grpSp>
            <p:nvGrpSpPr>
              <p:cNvPr id="38" name="Group 25">
                <a:extLst>
                  <a:ext uri="{FF2B5EF4-FFF2-40B4-BE49-F238E27FC236}">
                    <a16:creationId xmlns:a16="http://schemas.microsoft.com/office/drawing/2014/main" id="{71067778-8BD5-4000-BE8A-BE0044CA2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1109" y="1599"/>
                <a:ext cx="720" cy="250"/>
                <a:chOff x="672" y="1334"/>
                <a:chExt cx="720" cy="250"/>
              </a:xfrm>
            </p:grpSpPr>
            <p:sp>
              <p:nvSpPr>
                <p:cNvPr id="40" name="Rectangle 26">
                  <a:extLst>
                    <a:ext uri="{FF2B5EF4-FFF2-40B4-BE49-F238E27FC236}">
                      <a16:creationId xmlns:a16="http://schemas.microsoft.com/office/drawing/2014/main" id="{B56E1534-8B1A-4055-8DC7-3BFBCC65A3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2" y="1344"/>
                  <a:ext cx="72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eaVert"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endParaRPr lang="pt-BR"/>
                </a:p>
              </p:txBody>
            </p:sp>
            <p:sp>
              <p:nvSpPr>
                <p:cNvPr id="41" name="Text Box 27">
                  <a:extLst>
                    <a:ext uri="{FF2B5EF4-FFF2-40B4-BE49-F238E27FC236}">
                      <a16:creationId xmlns:a16="http://schemas.microsoft.com/office/drawing/2014/main" id="{0CAA774C-DDE8-4B09-9A65-2CE8827075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3" y="1334"/>
                  <a:ext cx="71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r>
                    <a:rPr lang="pt-BR" sz="1600"/>
                    <a:t>mensagem</a:t>
                  </a:r>
                </a:p>
              </p:txBody>
            </p:sp>
          </p:grpSp>
          <p:sp>
            <p:nvSpPr>
              <p:cNvPr id="39" name="Rectangle 28">
                <a:extLst>
                  <a:ext uri="{FF2B5EF4-FFF2-40B4-BE49-F238E27FC236}">
                    <a16:creationId xmlns:a16="http://schemas.microsoft.com/office/drawing/2014/main" id="{6A03E2F0-10EF-4E71-BA87-B59FE69F2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4" y="2083"/>
                <a:ext cx="240" cy="1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endParaRPr lang="pt-BR"/>
              </a:p>
              <a:p>
                <a:pPr algn="ctr"/>
                <a:endParaRPr lang="pt-BR"/>
              </a:p>
            </p:txBody>
          </p:sp>
        </p:grpSp>
        <p:sp>
          <p:nvSpPr>
            <p:cNvPr id="21" name="Line 29">
              <a:extLst>
                <a:ext uri="{FF2B5EF4-FFF2-40B4-BE49-F238E27FC236}">
                  <a16:creationId xmlns:a16="http://schemas.microsoft.com/office/drawing/2014/main" id="{3D80C45E-F142-4412-B54D-9BC873008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829"/>
              <a:ext cx="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Rectangle 30">
              <a:extLst>
                <a:ext uri="{FF2B5EF4-FFF2-40B4-BE49-F238E27FC236}">
                  <a16:creationId xmlns:a16="http://schemas.microsoft.com/office/drawing/2014/main" id="{D01CB7A0-CAF6-4C13-B477-C62EEC02A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" y="1199"/>
              <a:ext cx="240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/>
                <a:t>s</a:t>
              </a:r>
            </a:p>
          </p:txBody>
        </p:sp>
        <p:sp>
          <p:nvSpPr>
            <p:cNvPr id="23" name="AutoShape 31">
              <a:extLst>
                <a:ext uri="{FF2B5EF4-FFF2-40B4-BE49-F238E27FC236}">
                  <a16:creationId xmlns:a16="http://schemas.microsoft.com/office/drawing/2014/main" id="{942887E4-8472-495F-BC00-30E00794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219"/>
              <a:ext cx="96" cy="864"/>
            </a:xfrm>
            <a:prstGeom prst="rightBrace">
              <a:avLst>
                <a:gd name="adj1" fmla="val 7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grpSp>
          <p:nvGrpSpPr>
            <p:cNvPr id="24" name="Group 32">
              <a:extLst>
                <a:ext uri="{FF2B5EF4-FFF2-40B4-BE49-F238E27FC236}">
                  <a16:creationId xmlns:a16="http://schemas.microsoft.com/office/drawing/2014/main" id="{E94D5346-6270-4A86-98FE-A0D1617AE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8" y="1510"/>
              <a:ext cx="553" cy="304"/>
              <a:chOff x="550" y="1968"/>
              <a:chExt cx="553" cy="336"/>
            </a:xfrm>
          </p:grpSpPr>
          <p:sp>
            <p:nvSpPr>
              <p:cNvPr id="36" name="Oval 33">
                <a:extLst>
                  <a:ext uri="{FF2B5EF4-FFF2-40B4-BE49-F238E27FC236}">
                    <a16:creationId xmlns:a16="http://schemas.microsoft.com/office/drawing/2014/main" id="{35C236C2-9252-4083-87D7-7355C7EF3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1968"/>
                <a:ext cx="504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37" name="Text Box 34">
                <a:extLst>
                  <a:ext uri="{FF2B5EF4-FFF2-40B4-BE49-F238E27FC236}">
                    <a16:creationId xmlns:a16="http://schemas.microsoft.com/office/drawing/2014/main" id="{5B72EC61-3564-4422-96FE-65F904527F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" y="2000"/>
                <a:ext cx="504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pt-BR"/>
                  <a:t>H( )</a:t>
                </a:r>
              </a:p>
            </p:txBody>
          </p:sp>
        </p:grpSp>
        <p:sp>
          <p:nvSpPr>
            <p:cNvPr id="25" name="Line 35">
              <a:extLst>
                <a:ext uri="{FF2B5EF4-FFF2-40B4-BE49-F238E27FC236}">
                  <a16:creationId xmlns:a16="http://schemas.microsoft.com/office/drawing/2014/main" id="{9DE7E718-D143-4EF4-894F-FFDBF8A95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" y="1658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DFCEE81B-CCDF-4DE0-A519-E37EDE3B7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0" y="1580"/>
              <a:ext cx="240" cy="14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endParaRPr lang="pt-BR"/>
            </a:p>
            <a:p>
              <a:pPr algn="ctr"/>
              <a:endParaRPr lang="pt-BR"/>
            </a:p>
          </p:txBody>
        </p:sp>
        <p:sp>
          <p:nvSpPr>
            <p:cNvPr id="27" name="Line 37">
              <a:extLst>
                <a:ext uri="{FF2B5EF4-FFF2-40B4-BE49-F238E27FC236}">
                  <a16:creationId xmlns:a16="http://schemas.microsoft.com/office/drawing/2014/main" id="{84232D85-B455-4D6D-96BA-FEDCD7431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1" y="1650"/>
              <a:ext cx="4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08146EDD-89D9-45F8-B9A0-79D140DAF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141"/>
              <a:ext cx="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Line 39">
              <a:extLst>
                <a:ext uri="{FF2B5EF4-FFF2-40B4-BE49-F238E27FC236}">
                  <a16:creationId xmlns:a16="http://schemas.microsoft.com/office/drawing/2014/main" id="{0E8FA4EB-2C67-4EEE-BC88-81ED52D54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2" y="2141"/>
              <a:ext cx="0" cy="7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40">
              <a:extLst>
                <a:ext uri="{FF2B5EF4-FFF2-40B4-BE49-F238E27FC236}">
                  <a16:creationId xmlns:a16="http://schemas.microsoft.com/office/drawing/2014/main" id="{0CF86553-BD8B-49E9-AE2C-85048D84A0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2" y="2926"/>
              <a:ext cx="10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Rectangle 41">
              <a:extLst>
                <a:ext uri="{FF2B5EF4-FFF2-40B4-BE49-F238E27FC236}">
                  <a16:creationId xmlns:a16="http://schemas.microsoft.com/office/drawing/2014/main" id="{1FF617A9-B917-4870-BF5D-C58334D0C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2875"/>
              <a:ext cx="240" cy="14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endParaRPr lang="pt-BR"/>
            </a:p>
            <a:p>
              <a:pPr algn="ctr"/>
              <a:endParaRPr lang="pt-BR"/>
            </a:p>
          </p:txBody>
        </p:sp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A7C5713B-0C74-469B-9D9C-FDAF254B7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6" y="2124"/>
              <a:ext cx="7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compara</a:t>
              </a:r>
            </a:p>
          </p:txBody>
        </p:sp>
        <p:sp>
          <p:nvSpPr>
            <p:cNvPr id="33" name="Line 43">
              <a:extLst>
                <a:ext uri="{FF2B5EF4-FFF2-40B4-BE49-F238E27FC236}">
                  <a16:creationId xmlns:a16="http://schemas.microsoft.com/office/drawing/2014/main" id="{B3B4E55E-9F79-419F-B518-21F42427EB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3" y="1728"/>
              <a:ext cx="0" cy="3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Line 44">
              <a:extLst>
                <a:ext uri="{FF2B5EF4-FFF2-40B4-BE49-F238E27FC236}">
                  <a16:creationId xmlns:a16="http://schemas.microsoft.com/office/drawing/2014/main" id="{E36816C4-71BB-4DC8-B95C-6538EAF66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8" y="2444"/>
              <a:ext cx="0" cy="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 Box 45">
              <a:extLst>
                <a:ext uri="{FF2B5EF4-FFF2-40B4-BE49-F238E27FC236}">
                  <a16:creationId xmlns:a16="http://schemas.microsoft.com/office/drawing/2014/main" id="{87953D3C-3F53-4F4E-865B-E32B5B860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3" y="831"/>
              <a:ext cx="20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 dirty="0"/>
                <a:t>s = segredo compartilhado</a:t>
              </a:r>
            </a:p>
          </p:txBody>
        </p:sp>
      </p:grpSp>
      <p:cxnSp>
        <p:nvCxnSpPr>
          <p:cNvPr id="50" name="Conector de seta reta 4">
            <a:extLst>
              <a:ext uri="{FF2B5EF4-FFF2-40B4-BE49-F238E27FC236}">
                <a16:creationId xmlns:a16="http://schemas.microsoft.com/office/drawing/2014/main" id="{B5AC6B54-8824-4F01-8A26-98BA0281D69D}"/>
              </a:ext>
            </a:extLst>
          </p:cNvPr>
          <p:cNvCxnSpPr>
            <a:cxnSpLocks/>
            <a:stCxn id="51" idx="3"/>
            <a:endCxn id="12" idx="1"/>
          </p:cNvCxnSpPr>
          <p:nvPr/>
        </p:nvCxnSpPr>
        <p:spPr>
          <a:xfrm>
            <a:off x="1703449" y="5378085"/>
            <a:ext cx="9995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B4FA7BF-785E-4952-BB6D-2106620DF24F}"/>
              </a:ext>
            </a:extLst>
          </p:cNvPr>
          <p:cNvSpPr txBox="1"/>
          <p:nvPr/>
        </p:nvSpPr>
        <p:spPr>
          <a:xfrm>
            <a:off x="755754" y="519341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H(</a:t>
            </a:r>
            <a:r>
              <a:rPr lang="pt-BR" dirty="0" err="1"/>
              <a:t>m+s</a:t>
            </a:r>
            <a:r>
              <a:rPr lang="pt-BR" dirty="0"/>
              <a:t>)</a:t>
            </a:r>
          </a:p>
        </p:txBody>
      </p:sp>
      <p:sp>
        <p:nvSpPr>
          <p:cNvPr id="52" name="Text Box 45">
            <a:extLst>
              <a:ext uri="{FF2B5EF4-FFF2-40B4-BE49-F238E27FC236}">
                <a16:creationId xmlns:a16="http://schemas.microsoft.com/office/drawing/2014/main" id="{144EC4BD-B147-4527-8AC0-7FF7766BC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3670" y="1838530"/>
            <a:ext cx="22797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 dirty="0"/>
              <a:t>H() = função </a:t>
            </a:r>
            <a:r>
              <a:rPr lang="pt-BR" dirty="0" err="1"/>
              <a:t>hash</a:t>
            </a:r>
            <a:endParaRPr lang="pt-BR" dirty="0"/>
          </a:p>
        </p:txBody>
      </p:sp>
      <p:pic>
        <p:nvPicPr>
          <p:cNvPr id="53" name="Imagem 52">
            <a:extLst>
              <a:ext uri="{FF2B5EF4-FFF2-40B4-BE49-F238E27FC236}">
                <a16:creationId xmlns:a16="http://schemas.microsoft.com/office/drawing/2014/main" id="{717BC19E-6198-4D0C-83F3-A86918BA3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09" y="4285859"/>
            <a:ext cx="865241" cy="865241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856C7B74-BA0D-4B90-9C2B-F5ADC59CE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083" y="2198773"/>
            <a:ext cx="1003612" cy="1003612"/>
          </a:xfrm>
          <a:prstGeom prst="rect">
            <a:avLst/>
          </a:prstGeom>
        </p:spPr>
      </p:pic>
      <p:sp>
        <p:nvSpPr>
          <p:cNvPr id="55" name="Text Box 31">
            <a:extLst>
              <a:ext uri="{FF2B5EF4-FFF2-40B4-BE49-F238E27FC236}">
                <a16:creationId xmlns:a16="http://schemas.microsoft.com/office/drawing/2014/main" id="{FB635B98-0614-4BAE-A3B5-FD39274CD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259" y="4277207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56" name="Text Box 32">
            <a:extLst>
              <a:ext uri="{FF2B5EF4-FFF2-40B4-BE49-F238E27FC236}">
                <a16:creationId xmlns:a16="http://schemas.microsoft.com/office/drawing/2014/main" id="{E317AF2E-5576-409A-B240-A1DD5A8C4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5370" y="2176097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1E6CC41C-1478-4380-B1A1-81B0B5E7B43E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400826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 err="1"/>
              <a:t>Message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Authentication</a:t>
            </a:r>
            <a:r>
              <a:rPr lang="pt-BR" altLang="pt-BR" sz="4000" dirty="0"/>
              <a:t> </a:t>
            </a:r>
            <a:r>
              <a:rPr lang="pt-BR" altLang="pt-BR" sz="4000" dirty="0" err="1"/>
              <a:t>Code</a:t>
            </a:r>
            <a:r>
              <a:rPr lang="pt-BR" altLang="pt-BR" sz="4000" dirty="0"/>
              <a:t> (MAC)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O MAC verifica integridade da mensagem</a:t>
            </a:r>
          </a:p>
          <a:p>
            <a:r>
              <a:rPr lang="pt-BR" sz="2800" dirty="0"/>
              <a:t>sem criptografia!</a:t>
            </a:r>
          </a:p>
          <a:p>
            <a:r>
              <a:rPr lang="pt-BR" sz="2800" dirty="0"/>
              <a:t>também chamado “</a:t>
            </a:r>
            <a:r>
              <a:rPr lang="pt-BR" sz="2800" dirty="0" err="1"/>
              <a:t>hash</a:t>
            </a:r>
            <a:r>
              <a:rPr lang="pt-BR" sz="2800" dirty="0"/>
              <a:t> chaveado”.</a:t>
            </a:r>
          </a:p>
          <a:p>
            <a:r>
              <a:rPr lang="pt-BR" sz="2800" dirty="0"/>
              <a:t>Muito usado em algoritmo de roteamento de estado de enlace para autenticar a mensagem (onde não se preocupa com o sigilo da mesma).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6B826E4-B755-4BC2-846D-9475D9DCA346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22455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 err="1"/>
              <a:t>Message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Authentication</a:t>
            </a:r>
            <a:r>
              <a:rPr lang="pt-BR" altLang="pt-BR" sz="4000" dirty="0"/>
              <a:t> </a:t>
            </a:r>
            <a:r>
              <a:rPr lang="pt-BR" altLang="pt-BR" sz="4000" dirty="0" err="1"/>
              <a:t>Code</a:t>
            </a:r>
            <a:r>
              <a:rPr lang="pt-BR" altLang="pt-BR" sz="4000" dirty="0"/>
              <a:t> (MAC)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MAC – Demonstração (aula03_mac.ipynb)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6B826E4-B755-4BC2-846D-9475D9DCA346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567550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HMAC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Padrão MAC popular</a:t>
            </a:r>
          </a:p>
          <a:p>
            <a:r>
              <a:rPr lang="pt-BR" sz="2400" dirty="0"/>
              <a:t>resolve algumas falhas de segurança sutis:</a:t>
            </a:r>
          </a:p>
          <a:p>
            <a:pPr lvl="1"/>
            <a:r>
              <a:rPr lang="pt-BR" sz="2000" dirty="0"/>
              <a:t>Concatena segredo à frente da mensagem. </a:t>
            </a:r>
          </a:p>
          <a:p>
            <a:pPr lvl="1"/>
            <a:r>
              <a:rPr lang="pt-BR" sz="2000" dirty="0"/>
              <a:t>Mensagem concatenada aos </a:t>
            </a:r>
            <a:r>
              <a:rPr lang="pt-BR" sz="2000" i="1" dirty="0" err="1"/>
              <a:t>hashes</a:t>
            </a:r>
            <a:r>
              <a:rPr lang="pt-BR" sz="2000" dirty="0"/>
              <a:t>.</a:t>
            </a:r>
          </a:p>
          <a:p>
            <a:pPr lvl="1"/>
            <a:r>
              <a:rPr lang="pt-BR" sz="2000" dirty="0"/>
              <a:t>Concatena o segredo à frente do resumo.</a:t>
            </a:r>
          </a:p>
          <a:p>
            <a:pPr lvl="1"/>
            <a:r>
              <a:rPr lang="pt-BR" sz="2000" dirty="0"/>
              <a:t>Cria </a:t>
            </a:r>
            <a:r>
              <a:rPr lang="pt-BR" sz="2000" dirty="0" err="1"/>
              <a:t>hash</a:t>
            </a:r>
            <a:r>
              <a:rPr lang="pt-BR" sz="2000" dirty="0"/>
              <a:t> da combinação novamente (passa os dados e a chave de autenticação duas vezes pela função </a:t>
            </a:r>
            <a:r>
              <a:rPr lang="pt-BR" sz="2000" dirty="0" err="1"/>
              <a:t>hash</a:t>
            </a:r>
            <a:r>
              <a:rPr lang="pt-BR" sz="2000" dirty="0"/>
              <a:t>).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38F877C-3956-4FCD-A253-40B3B8FC05CE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20326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HMAC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b="1" dirty="0"/>
              <a:t>Como enviar as chaves para cada roteador?</a:t>
            </a:r>
          </a:p>
          <a:p>
            <a:pPr lvl="1"/>
            <a:r>
              <a:rPr lang="pt-BR" sz="2400" dirty="0"/>
              <a:t>A chave é enviada para cada roteador na rede criptografada (conforme visto na aula passada)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50B76E-EBA0-41F5-B00F-FA29BAB2C13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798233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4DFBE36-73A7-43DD-9F32-D38A12B76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altLang="pt-BR" dirty="0"/>
              <a:t>Autenticação do ponto final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4720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Autenticação do ponto final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Deseja ter certeza do remetente da mensagem – </a:t>
                </a:r>
                <a:r>
                  <a:rPr lang="pt-BR" sz="2800" i="1" dirty="0"/>
                  <a:t>autenticação do ponto final</a:t>
                </a:r>
              </a:p>
              <a:p>
                <a:r>
                  <a:rPr lang="pt-BR" sz="2800" dirty="0"/>
                  <a:t>Supondo que Alice e Bob tenham um segredo compartilhado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800" dirty="0"/>
                  <a:t>, e Alice queira enviar uma mensagem a Bob, Bob precisa ter certeza que a mensagem foi enviada por Alice.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101" b="-27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19EB9D42-8AC4-48B6-8D57-5E86D8EB84EC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2800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Autenticação do ponto final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MAC oferecerá autenticação do ponto final</a:t>
            </a:r>
          </a:p>
          <a:p>
            <a:pPr lvl="1"/>
            <a:r>
              <a:rPr lang="pt-BR" sz="2400" dirty="0"/>
              <a:t>sabemos que Alice criou a mensagem</a:t>
            </a:r>
          </a:p>
          <a:p>
            <a:pPr lvl="1"/>
            <a:r>
              <a:rPr lang="pt-BR" sz="2400" dirty="0"/>
              <a:t>mas ela a enviou?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254591E-4879-4A7E-8DB0-03D48A5213F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833685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Autenticação do ponto final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Abordagem baseada em MAC:</a:t>
            </a:r>
          </a:p>
          <a:p>
            <a:pPr lvl="1"/>
            <a:r>
              <a:rPr lang="pt-BR" sz="2000" dirty="0"/>
              <a:t>Alice cria um MAC usando a mensagem e o segredo compartilhado.</a:t>
            </a:r>
          </a:p>
          <a:p>
            <a:pPr lvl="1"/>
            <a:r>
              <a:rPr lang="pt-BR" sz="2000" dirty="0"/>
              <a:t>Bob recebe a mensagem e usa o MAC anterior para verificar a fonte e a integridade da mensagem.</a:t>
            </a:r>
          </a:p>
          <a:p>
            <a:pPr lvl="1"/>
            <a:r>
              <a:rPr lang="pt-BR" sz="2000" dirty="0"/>
              <a:t>Assim, Bob sabe com certeza que Alice enviou a mensagem.</a:t>
            </a:r>
          </a:p>
          <a:p>
            <a:pPr lvl="1"/>
            <a:r>
              <a:rPr lang="pt-BR" sz="2000" dirty="0"/>
              <a:t>Mas será que ele sabe mesmo?</a:t>
            </a:r>
            <a:endParaRPr lang="pt-BR" sz="1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E6CEC7-491E-4033-A5A0-F9CACE91BC71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524261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Ataque de reprodução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Bob pode estar sendo enganado por um </a:t>
                </a:r>
                <a:r>
                  <a:rPr lang="pt-BR" sz="2800" b="1" dirty="0"/>
                  <a:t>ataque de reprodução</a:t>
                </a:r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O invasor poderia apenas gravar a mensagem de Alice quando ela envia uma mensagem para Bob.</a:t>
                </a:r>
              </a:p>
              <a:p>
                <a:r>
                  <a:rPr lang="pt-BR" sz="2800" dirty="0"/>
                  <a:t>Mesmo sem o atacante saber o segredo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800" dirty="0"/>
                  <a:t>, pois ela simplesmente reproduz a mensagem.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391" b="-4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F89B02EC-5CDA-4442-BC36-0F0C81990AA6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371469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Ataque de reprodução</a:t>
            </a:r>
            <a:endParaRPr lang="pt-BR" sz="4000" dirty="0"/>
          </a:p>
        </p:txBody>
      </p:sp>
      <p:pic>
        <p:nvPicPr>
          <p:cNvPr id="8" name="Picture 7" descr="Eve">
            <a:extLst>
              <a:ext uri="{FF2B5EF4-FFF2-40B4-BE49-F238E27FC236}">
                <a16:creationId xmlns:a16="http://schemas.microsoft.com/office/drawing/2014/main" id="{A5FA2872-9CB6-420A-86F2-C7731C6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4536615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ine 9">
            <a:extLst>
              <a:ext uri="{FF2B5EF4-FFF2-40B4-BE49-F238E27FC236}">
                <a16:creationId xmlns:a16="http://schemas.microsoft.com/office/drawing/2014/main" id="{6B09BF21-FDFD-4079-985A-7BBDE33D1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463" y="2882440"/>
            <a:ext cx="3798887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1" name="Picture 22" descr="EN00179_[1]">
            <a:extLst>
              <a:ext uri="{FF2B5EF4-FFF2-40B4-BE49-F238E27FC236}">
                <a16:creationId xmlns:a16="http://schemas.microsoft.com/office/drawing/2014/main" id="{CC749709-F05D-45C9-ADCB-CBF1B0B96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4095290"/>
            <a:ext cx="912812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Line 23">
            <a:extLst>
              <a:ext uri="{FF2B5EF4-FFF2-40B4-BE49-F238E27FC236}">
                <a16:creationId xmlns:a16="http://schemas.microsoft.com/office/drawing/2014/main" id="{C3AF41BF-532B-4CBC-B588-189D52D03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2575" y="2866565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" name="Line 24">
            <a:extLst>
              <a:ext uri="{FF2B5EF4-FFF2-40B4-BE49-F238E27FC236}">
                <a16:creationId xmlns:a16="http://schemas.microsoft.com/office/drawing/2014/main" id="{FB0E98C2-E99D-42BC-8B4D-ADC99C9703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13663" y="3211053"/>
            <a:ext cx="1622425" cy="13874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14" name="Group 36">
            <a:extLst>
              <a:ext uri="{FF2B5EF4-FFF2-40B4-BE49-F238E27FC236}">
                <a16:creationId xmlns:a16="http://schemas.microsoft.com/office/drawing/2014/main" id="{4B6B0923-473C-4D8F-8C0C-5B624DA64610}"/>
              </a:ext>
            </a:extLst>
          </p:cNvPr>
          <p:cNvGrpSpPr>
            <a:grpSpLocks/>
          </p:cNvGrpSpPr>
          <p:nvPr/>
        </p:nvGrpSpPr>
        <p:grpSpPr bwMode="auto">
          <a:xfrm>
            <a:off x="3157538" y="2095040"/>
            <a:ext cx="3046412" cy="660400"/>
            <a:chOff x="1821" y="1158"/>
            <a:chExt cx="1919" cy="416"/>
          </a:xfrm>
        </p:grpSpPr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6AB7E984-EE90-4713-8586-1ACF159B5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1175"/>
              <a:ext cx="1919" cy="399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6BC37673-BCA0-43CA-A2A9-C7BB467B6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1252"/>
              <a:ext cx="4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dirty="0"/>
                <a:t>MAC</a:t>
              </a: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02863FE3-097B-4578-90CD-FC1870B96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5" y="1181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Box 35">
              <a:extLst>
                <a:ext uri="{FF2B5EF4-FFF2-40B4-BE49-F238E27FC236}">
                  <a16:creationId xmlns:a16="http://schemas.microsoft.com/office/drawing/2014/main" id="{BD2B4BB8-61ED-431E-92B5-E93D7CEF2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5" y="1158"/>
              <a:ext cx="137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 sz="1800"/>
                <a:t>Transferir US$1M</a:t>
              </a:r>
            </a:p>
            <a:p>
              <a:r>
                <a:rPr lang="pt-BR" sz="1800"/>
                <a:t>de Bill para Trudy</a:t>
              </a:r>
            </a:p>
          </p:txBody>
        </p:sp>
      </p:grpSp>
      <p:grpSp>
        <p:nvGrpSpPr>
          <p:cNvPr id="19" name="Group 37">
            <a:extLst>
              <a:ext uri="{FF2B5EF4-FFF2-40B4-BE49-F238E27FC236}">
                <a16:creationId xmlns:a16="http://schemas.microsoft.com/office/drawing/2014/main" id="{50380DD7-4B0B-402D-9F80-19B6DAA3D78D}"/>
              </a:ext>
            </a:extLst>
          </p:cNvPr>
          <p:cNvGrpSpPr>
            <a:grpSpLocks/>
          </p:cNvGrpSpPr>
          <p:nvPr/>
        </p:nvGrpSpPr>
        <p:grpSpPr bwMode="auto">
          <a:xfrm>
            <a:off x="7121525" y="3563478"/>
            <a:ext cx="3046413" cy="660400"/>
            <a:chOff x="1821" y="1158"/>
            <a:chExt cx="1919" cy="416"/>
          </a:xfrm>
        </p:grpSpPr>
        <p:sp>
          <p:nvSpPr>
            <p:cNvPr id="20" name="Rectangle 38">
              <a:extLst>
                <a:ext uri="{FF2B5EF4-FFF2-40B4-BE49-F238E27FC236}">
                  <a16:creationId xmlns:a16="http://schemas.microsoft.com/office/drawing/2014/main" id="{6DC24B39-CC8B-436F-882F-0D0F5126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1175"/>
              <a:ext cx="1919" cy="399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21" name="Text Box 39">
              <a:extLst>
                <a:ext uri="{FF2B5EF4-FFF2-40B4-BE49-F238E27FC236}">
                  <a16:creationId xmlns:a16="http://schemas.microsoft.com/office/drawing/2014/main" id="{59B08426-4A85-45F1-B9C9-2F54C1D67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1252"/>
              <a:ext cx="4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dirty="0"/>
                <a:t>MAC</a:t>
              </a:r>
            </a:p>
          </p:txBody>
        </p:sp>
        <p:sp>
          <p:nvSpPr>
            <p:cNvPr id="22" name="Line 40">
              <a:extLst>
                <a:ext uri="{FF2B5EF4-FFF2-40B4-BE49-F238E27FC236}">
                  <a16:creationId xmlns:a16="http://schemas.microsoft.com/office/drawing/2014/main" id="{2BF71C0A-6604-4A3F-80C3-82E93CAB6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5" y="1181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Box 41">
              <a:extLst>
                <a:ext uri="{FF2B5EF4-FFF2-40B4-BE49-F238E27FC236}">
                  <a16:creationId xmlns:a16="http://schemas.microsoft.com/office/drawing/2014/main" id="{CBC4FE5A-0B05-4EF0-9844-19901B34E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5" y="1158"/>
              <a:ext cx="137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 sz="1800"/>
                <a:t>Transferir US$1M</a:t>
              </a:r>
            </a:p>
            <a:p>
              <a:r>
                <a:rPr lang="pt-BR" sz="1800"/>
                <a:t>de Bill para Trudy</a:t>
              </a:r>
            </a:p>
          </p:txBody>
        </p:sp>
      </p:grpSp>
      <p:pic>
        <p:nvPicPr>
          <p:cNvPr id="24" name="Picture 43" descr="Eve">
            <a:extLst>
              <a:ext uri="{FF2B5EF4-FFF2-40B4-BE49-F238E27FC236}">
                <a16:creationId xmlns:a16="http://schemas.microsoft.com/office/drawing/2014/main" id="{375FF252-4F1D-437C-85F4-C77EE5498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338" y="4509628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45">
            <a:extLst>
              <a:ext uri="{FF2B5EF4-FFF2-40B4-BE49-F238E27FC236}">
                <a16:creationId xmlns:a16="http://schemas.microsoft.com/office/drawing/2014/main" id="{774D4742-9709-4259-A654-F1C420B36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25" y="1666415"/>
            <a:ext cx="1149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/>
              <a:t>MAC  = </a:t>
            </a:r>
            <a:br>
              <a:rPr lang="pt-BR"/>
            </a:br>
            <a:r>
              <a:rPr lang="pt-BR"/>
              <a:t>f(msg,s)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EFF90EC-4FD2-4957-8BA5-83A432EAC8D1}"/>
              </a:ext>
            </a:extLst>
          </p:cNvPr>
          <p:cNvSpPr txBox="1"/>
          <p:nvPr/>
        </p:nvSpPr>
        <p:spPr>
          <a:xfrm>
            <a:off x="8903171" y="4746165"/>
            <a:ext cx="2146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Bob irá transferir o dinheiro 2 vezes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F0568660-06A8-418D-ADCB-678587601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047" y="2383966"/>
            <a:ext cx="865241" cy="86524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BD066D29-B0E9-493E-A07C-877F40F4C9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2148058"/>
            <a:ext cx="1003612" cy="1003612"/>
          </a:xfrm>
          <a:prstGeom prst="rect">
            <a:avLst/>
          </a:prstGeom>
        </p:spPr>
      </p:pic>
      <p:sp>
        <p:nvSpPr>
          <p:cNvPr id="30" name="Text Box 31">
            <a:extLst>
              <a:ext uri="{FF2B5EF4-FFF2-40B4-BE49-F238E27FC236}">
                <a16:creationId xmlns:a16="http://schemas.microsoft.com/office/drawing/2014/main" id="{75848282-AEB1-4743-B619-1AB2E5F7C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197" y="2375314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EF7EC1F6-D5BC-4C6D-A2F2-DFA307895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8" y="2252989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FBCD4251-BEB6-44F1-8AC9-74AAD651B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749" y="2148058"/>
            <a:ext cx="1003612" cy="1003612"/>
          </a:xfrm>
          <a:prstGeom prst="rect">
            <a:avLst/>
          </a:prstGeom>
        </p:spPr>
      </p:pic>
      <p:sp>
        <p:nvSpPr>
          <p:cNvPr id="33" name="Text Box 32">
            <a:extLst>
              <a:ext uri="{FF2B5EF4-FFF2-40B4-BE49-F238E27FC236}">
                <a16:creationId xmlns:a16="http://schemas.microsoft.com/office/drawing/2014/main" id="{A4D7DC07-2684-4B5E-834A-41AD9EF69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1287" y="2252989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830A12D-C8DC-4E03-8335-2E55166D3B7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491305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Ataque de reprodução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Como Bob pode saber se Alice realmente enviou duas mensagens?</a:t>
            </a:r>
          </a:p>
          <a:p>
            <a:pPr lvl="1"/>
            <a:r>
              <a:rPr lang="pt-BR" sz="2400" b="1" dirty="0" err="1"/>
              <a:t>Nonce</a:t>
            </a:r>
            <a:r>
              <a:rPr lang="pt-BR" sz="2400" dirty="0"/>
              <a:t>: número que o protocolo usará somente uma vez em toda a vida.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7975AFB-9288-4769-A580-AAE009FB9D53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404375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Ataque de reprodução</a:t>
            </a:r>
            <a:endParaRPr lang="pt-B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Bob escolhe um </a:t>
                </a:r>
                <a:r>
                  <a:rPr lang="pt-BR" sz="2800" dirty="0" err="1"/>
                  <a:t>nonce</a:t>
                </a:r>
                <a:r>
                  <a:rPr lang="pt-BR" sz="2800" dirty="0"/>
                  <a:t> R e o envia a Alice (enviado em aberto). Alice cria o MAC utilizando sua mensagem original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, o segredo compartilhado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800" dirty="0"/>
                  <a:t>, e o </a:t>
                </a:r>
                <a:r>
                  <a:rPr lang="pt-BR" sz="2800" dirty="0" err="1"/>
                  <a:t>nonce</a:t>
                </a:r>
                <a:r>
                  <a:rPr lang="pt-BR" sz="2800" dirty="0"/>
                  <a:t> R (podendo concatenar os três).</a:t>
                </a:r>
              </a:p>
              <a:p>
                <a:r>
                  <a:rPr lang="pt-BR" sz="2800" dirty="0"/>
                  <a:t>Alice anexa o MAC a mensagem, e envia a Bob </a:t>
                </a:r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9D7A12C-6883-4671-8017-AB05BE12A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628DF575-AB60-4530-B92A-F1A2C69A7196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359263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Defendendo contra ataque de reprodução</a:t>
            </a:r>
            <a:endParaRPr lang="pt-BR" sz="4000" dirty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B699BEF4-F11E-411A-ABA1-C1A414B84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0980" y="2748707"/>
            <a:ext cx="3697288" cy="2619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FCF421C5-E8EE-4D48-B150-F8BD9D0B9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2668" y="2396282"/>
            <a:ext cx="2138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sz="2400"/>
              <a:t>“Eu sou Alice”</a:t>
            </a: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8A62FE64-9BAE-4F7A-AD4F-54392FFB19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4630" y="3366244"/>
            <a:ext cx="3697288" cy="2619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C20CAAC6-2245-44EC-BA0C-40A413FBE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2568" y="4026644"/>
            <a:ext cx="3697287" cy="2619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BB945554-8C56-4529-A05E-E68872570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9905" y="3070969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sz="2400"/>
              <a:t>R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AEBF271-15AB-4EE0-95A8-0FC5A507691D}"/>
              </a:ext>
            </a:extLst>
          </p:cNvPr>
          <p:cNvGrpSpPr>
            <a:grpSpLocks/>
          </p:cNvGrpSpPr>
          <p:nvPr/>
        </p:nvGrpSpPr>
        <p:grpSpPr bwMode="auto">
          <a:xfrm>
            <a:off x="4520530" y="3979019"/>
            <a:ext cx="3046413" cy="660400"/>
            <a:chOff x="1821" y="1158"/>
            <a:chExt cx="1919" cy="416"/>
          </a:xfrm>
        </p:grpSpPr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9D59BDC-A711-4CEE-BAC0-7B662D924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1175"/>
              <a:ext cx="1919" cy="399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DCEFE32E-1B0F-4619-98F5-7FA26BD82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1252"/>
              <a:ext cx="4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dirty="0"/>
                <a:t>MAC</a:t>
              </a: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E89B3747-5D95-4DD9-A7C1-6D78732891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5" y="1181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696351BA-44C6-47D0-85AC-88BA15C98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5" y="1158"/>
              <a:ext cx="14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 sz="1800"/>
                <a:t>Transferir US$1M </a:t>
              </a:r>
              <a:br>
                <a:rPr lang="pt-BR" sz="1800"/>
              </a:br>
              <a:r>
                <a:rPr lang="pt-BR" sz="1800"/>
                <a:t>de Bill para Susan</a:t>
              </a:r>
            </a:p>
          </p:txBody>
        </p:sp>
      </p:grpSp>
      <p:sp>
        <p:nvSpPr>
          <p:cNvPr id="19" name="Text Box 19">
            <a:extLst>
              <a:ext uri="{FF2B5EF4-FFF2-40B4-BE49-F238E27FC236}">
                <a16:creationId xmlns:a16="http://schemas.microsoft.com/office/drawing/2014/main" id="{921650CA-8FB5-4EDB-9472-7CB7BEC1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3668" y="3690094"/>
            <a:ext cx="13795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/>
              <a:t>MAC  = </a:t>
            </a:r>
            <a:br>
              <a:rPr lang="pt-BR"/>
            </a:br>
            <a:r>
              <a:rPr lang="pt-BR"/>
              <a:t>f(msg,s,R)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37AA570B-BC29-464B-B10C-73923066C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427" y="2704513"/>
            <a:ext cx="865241" cy="86524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E61B0EA-F993-4EF2-89A0-8D1BDBDB6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906" y="2554373"/>
            <a:ext cx="1003612" cy="1003612"/>
          </a:xfrm>
          <a:prstGeom prst="rect">
            <a:avLst/>
          </a:prstGeom>
        </p:spPr>
      </p:pic>
      <p:sp>
        <p:nvSpPr>
          <p:cNvPr id="22" name="Text Box 31">
            <a:extLst>
              <a:ext uri="{FF2B5EF4-FFF2-40B4-BE49-F238E27FC236}">
                <a16:creationId xmlns:a16="http://schemas.microsoft.com/office/drawing/2014/main" id="{BE469CD9-A1D8-4356-94F7-FFD7575E8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0577" y="2695861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23" name="Text Box 32">
            <a:extLst>
              <a:ext uri="{FF2B5EF4-FFF2-40B4-BE49-F238E27FC236}">
                <a16:creationId xmlns:a16="http://schemas.microsoft.com/office/drawing/2014/main" id="{7818CB9F-9FE4-4016-A9D3-290AAA934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8668" y="2573536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D7A0703-045B-4649-884B-D490E606B75A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621705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67D3C05-4306-41DF-B81F-D4BC00D48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6AB2C-366F-439A-A7E3-48E9657C1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000" dirty="0"/>
              <a:t>Defendendo contra ataque de reprodução</a:t>
            </a:r>
            <a:endParaRPr lang="pt-BR" sz="4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7A12C-6883-4671-8017-AB05BE12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Bob calcula o MAC da mensagem. Se for igual ao MAC da mensagem estendida, Bob saberá que Alice criou a mensagem e que ela criou depois que ele enviou o 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D87D832-4374-47E0-8035-4361D94E6CC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667744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22A7F00-0071-4D61-BB46-422BA7BE4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</p:spTree>
    <p:extLst>
      <p:ext uri="{BB962C8B-B14F-4D97-AF65-F5344CB8AC3E}">
        <p14:creationId xmlns:p14="http://schemas.microsoft.com/office/powerpoint/2010/main" val="32833617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92D78A-A993-4E20-88BB-69F73578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Semelhante a ideia da assinatura no mundo real, devem ser verificável e não falsificável.</a:t>
            </a:r>
          </a:p>
          <a:p>
            <a:pPr lvl="1"/>
            <a:r>
              <a:rPr lang="pt-BR" dirty="0"/>
              <a:t>Provar que um documento assinado por uma indivíduo foi na verdade assinado por ele e que somente aquele indivíduo poderia ter assinado. 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E69D71A-6FA2-4F36-B75B-F102DCF7D7F4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817328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92D78A-A993-4E20-88BB-69F73578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Remetente (Bob) assina documento digitalmente,  estabelecendo que é o dono/criador do documento. </a:t>
            </a:r>
          </a:p>
          <a:p>
            <a:r>
              <a:rPr lang="pt-BR" dirty="0"/>
              <a:t>Objetivo semelhante a um MAC, exceto que agora usamos criptografia de chave pública.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E7886B-12A8-4979-9621-F699F98526A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9582146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92D78A-A993-4E20-88BB-69F73578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70C0"/>
                </a:solidFill>
              </a:rPr>
              <a:t>Verificável, não falsificável</a:t>
            </a:r>
            <a:r>
              <a:rPr lang="pt-BR" dirty="0"/>
              <a:t>: destinatário (Alice) pode provar a alguém que Bob, e ninguém mais (incluindo Alice), deverá ter assinado o documento.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49A396-19A0-4D90-9E2E-F08F1E4E5B9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09040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92D78A-A993-4E20-88BB-69F73578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usar como assinaturas digitais?</a:t>
            </a:r>
          </a:p>
          <a:p>
            <a:pPr lvl="1"/>
            <a:r>
              <a:rPr lang="pt-BR" dirty="0"/>
              <a:t>Pode usar o MAC?</a:t>
            </a:r>
          </a:p>
          <a:p>
            <a:pPr lvl="1"/>
            <a:r>
              <a:rPr lang="pt-BR" dirty="0"/>
              <a:t>R.: quando Bob assina uma mensagem ele deve colocar algo único para ele. O MAC deveria ser conhecido por Alice também, para verificar a mensagem, portanto o MAC </a:t>
            </a:r>
            <a:r>
              <a:rPr lang="pt-BR" b="1" dirty="0"/>
              <a:t>não</a:t>
            </a:r>
            <a:r>
              <a:rPr lang="pt-BR" dirty="0"/>
              <a:t> poderia ser usado.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96908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92D78A-A993-4E20-88BB-69F73578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Lembre-se das chaves públicas: Bob tem uma chave pública e uma privada, que são </a:t>
            </a:r>
            <a:r>
              <a:rPr lang="pt-BR" b="1" dirty="0"/>
              <a:t>únicas</a:t>
            </a:r>
            <a:r>
              <a:rPr lang="pt-BR" dirty="0"/>
              <a:t> para Bob. Pode ser uma excelente candidata.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4821660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Suponha que Bob queira assinar digitalmente um documento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 (uma mensagem).</a:t>
                </a:r>
              </a:p>
              <a:p>
                <a:r>
                  <a:rPr lang="pt-BR" sz="2800" dirty="0"/>
                  <a:t>Para assinar o </a:t>
                </a:r>
                <a14:m>
                  <m:oMath xmlns:m="http://schemas.openxmlformats.org/officeDocument/2006/math">
                    <m:r>
                      <a:rPr lang="pt-BR" sz="28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, Bob usa sua chave privada. Assim:</a:t>
                </a:r>
              </a:p>
              <a:p>
                <a:endParaRPr lang="pt-BR" alt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5EF7F38-9AE4-4A79-B8AD-795F968237F2}"/>
                  </a:ext>
                </a:extLst>
              </p:cNvPr>
              <p:cNvSpPr txBox="1"/>
              <p:nvPr/>
            </p:nvSpPr>
            <p:spPr>
              <a:xfrm>
                <a:off x="4968293" y="4056854"/>
                <a:ext cx="14938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6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6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5EF7F38-9AE4-4A79-B8AD-795F9682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293" y="4056854"/>
                <a:ext cx="149387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585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50493DC4-8E5B-42AA-90CA-4D2938800D22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r>
                  <a:rPr lang="pt-BR" dirty="0"/>
                  <a:t>Assinatura digital simples para mensagem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50493DC4-8E5B-42AA-90CA-4D2938800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t="-14184" b="-191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Bob assina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 criptografando com sua chave privada,   	  criando mensagem “assinada”, 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r="-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54B7A3-BCD5-4474-9CCF-AB7624246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66" y="4058330"/>
            <a:ext cx="23114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pt-B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CDC1E63-44B8-4360-91BD-67FEF8DAD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66" y="3982130"/>
            <a:ext cx="2311400" cy="154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pt-BR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156773-2029-4908-AF5F-F6DDB29EB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66" y="3982130"/>
            <a:ext cx="21209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Querida Alice</a:t>
            </a:r>
          </a:p>
          <a:p>
            <a:pPr>
              <a:spcBef>
                <a:spcPct val="50000"/>
              </a:spcBef>
            </a:pPr>
            <a:r>
              <a:rPr lang="pt-BR" sz="1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Como eu sinto sua falta. Penso em você o tempo todo! …(</a:t>
            </a:r>
            <a:r>
              <a:rPr lang="pt-BR" sz="1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blah</a:t>
            </a:r>
            <a:r>
              <a:rPr lang="pt-BR" sz="1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pt-BR" sz="1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blah</a:t>
            </a:r>
            <a:r>
              <a:rPr lang="pt-BR" sz="1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pt-BR" sz="1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blah</a:t>
            </a:r>
            <a:r>
              <a:rPr lang="pt-BR" sz="1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pt-BR" sz="1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Bob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C7FD9B0-A4C7-44C9-8404-F3899E421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829" y="3563030"/>
            <a:ext cx="2735262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>
                <a:solidFill>
                  <a:srgbClr val="FF0000"/>
                </a:solidFill>
              </a:rPr>
              <a:t>Mensagem de Bob, m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DD81B24E-3505-47B8-91BB-DC9CF1D09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154" y="4325030"/>
            <a:ext cx="1417637" cy="1082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pt-BR"/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8BEAE3E-4837-4538-A1A5-F6EBFA4E1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6429" y="4359955"/>
            <a:ext cx="162083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sz="1600">
                <a:solidFill>
                  <a:schemeClr val="bg1"/>
                </a:solidFill>
              </a:rPr>
              <a:t>Algoritmo de</a:t>
            </a:r>
            <a:br>
              <a:rPr lang="pt-BR" sz="1600">
                <a:solidFill>
                  <a:schemeClr val="bg1"/>
                </a:solidFill>
              </a:rPr>
            </a:br>
            <a:r>
              <a:rPr lang="pt-BR" sz="1600">
                <a:solidFill>
                  <a:schemeClr val="bg1"/>
                </a:solidFill>
              </a:rPr>
              <a:t>criptografia de</a:t>
            </a:r>
            <a:br>
              <a:rPr lang="pt-BR" sz="1600">
                <a:solidFill>
                  <a:schemeClr val="bg1"/>
                </a:solidFill>
              </a:rPr>
            </a:br>
            <a:r>
              <a:rPr lang="pt-BR" sz="1600">
                <a:solidFill>
                  <a:schemeClr val="bg1"/>
                </a:solidFill>
              </a:rPr>
              <a:t>chave pública</a:t>
            </a: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B6305E67-E59F-456B-A810-924A0E135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0316" y="4788580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132FD40C-73C1-43F6-8419-959E939D7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916" y="3515405"/>
            <a:ext cx="1762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 sz="1800"/>
              <a:t>Chave privada de Bob</a:t>
            </a:r>
          </a:p>
        </p:txBody>
      </p:sp>
      <p:pic>
        <p:nvPicPr>
          <p:cNvPr id="14" name="Picture 14" descr="BS00768_[1]">
            <a:extLst>
              <a:ext uri="{FF2B5EF4-FFF2-40B4-BE49-F238E27FC236}">
                <a16:creationId xmlns:a16="http://schemas.microsoft.com/office/drawing/2014/main" id="{057191AC-2A1A-4328-AE5F-5B3C89B47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5145154" y="3696380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5">
            <a:extLst>
              <a:ext uri="{FF2B5EF4-FFF2-40B4-BE49-F238E27FC236}">
                <a16:creationId xmlns:a16="http://schemas.microsoft.com/office/drawing/2014/main" id="{8EAA5FEE-F42D-4EA2-AB8D-1FE562940835}"/>
              </a:ext>
            </a:extLst>
          </p:cNvPr>
          <p:cNvGrpSpPr>
            <a:grpSpLocks/>
          </p:cNvGrpSpPr>
          <p:nvPr/>
        </p:nvGrpSpPr>
        <p:grpSpPr bwMode="auto">
          <a:xfrm>
            <a:off x="5621404" y="3488418"/>
            <a:ext cx="482600" cy="603250"/>
            <a:chOff x="2997" y="2073"/>
            <a:chExt cx="304" cy="38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E6CDD577-F214-4853-B364-F88842510B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" y="2144"/>
              <a:ext cx="304" cy="309"/>
              <a:chOff x="2997" y="2144"/>
              <a:chExt cx="304" cy="309"/>
            </a:xfrm>
          </p:grpSpPr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15DD8F87-2AE6-4CDE-B1F0-2238A1C9D2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670D6EEF-0428-45AC-95C0-F7B80B7B94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19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14203B23-5E99-4BE1-866C-60AF96B4E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" y="2073"/>
              <a:ext cx="16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20" name="Line 20">
            <a:extLst>
              <a:ext uri="{FF2B5EF4-FFF2-40B4-BE49-F238E27FC236}">
                <a16:creationId xmlns:a16="http://schemas.microsoft.com/office/drawing/2014/main" id="{1BE6D2FA-97F0-404B-811B-6CB8B5B7E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816" y="3848780"/>
            <a:ext cx="1588" cy="4699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3AC6ED74-8255-4E80-BE36-29645C091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716" y="4788580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2">
                <a:extLst>
                  <a:ext uri="{FF2B5EF4-FFF2-40B4-BE49-F238E27FC236}">
                    <a16:creationId xmlns:a16="http://schemas.microsoft.com/office/drawing/2014/main" id="{BFE903BC-9F75-4220-A5CA-25B5BC3C13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9266" y="4159930"/>
                <a:ext cx="2120900" cy="1465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pt-BR" sz="18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Mensagem de Bob,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𝑚</m:t>
                    </m:r>
                  </m:oMath>
                </a14:m>
                <a:r>
                  <a:rPr lang="pt-BR" sz="18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assinada (criptografada) com sua chave privada</a:t>
                </a:r>
              </a:p>
            </p:txBody>
          </p:sp>
        </mc:Choice>
        <mc:Fallback xmlns="">
          <p:sp>
            <p:nvSpPr>
              <p:cNvPr id="22" name="Text Box 22">
                <a:extLst>
                  <a:ext uri="{FF2B5EF4-FFF2-40B4-BE49-F238E27FC236}">
                    <a16:creationId xmlns:a16="http://schemas.microsoft.com/office/drawing/2014/main" id="{BFE903BC-9F75-4220-A5CA-25B5BC3C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9266" y="4159930"/>
                <a:ext cx="2120900" cy="1465263"/>
              </a:xfrm>
              <a:prstGeom prst="rect">
                <a:avLst/>
              </a:prstGeom>
              <a:blipFill>
                <a:blip r:embed="rId5"/>
                <a:stretch>
                  <a:fillRect t="-2075" r="-1149" b="-62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3">
            <a:extLst>
              <a:ext uri="{FF2B5EF4-FFF2-40B4-BE49-F238E27FC236}">
                <a16:creationId xmlns:a16="http://schemas.microsoft.com/office/drawing/2014/main" id="{5231A244-3ED4-4C21-B0A3-40229CAAEFAB}"/>
              </a:ext>
            </a:extLst>
          </p:cNvPr>
          <p:cNvGrpSpPr>
            <a:grpSpLocks/>
          </p:cNvGrpSpPr>
          <p:nvPr/>
        </p:nvGrpSpPr>
        <p:grpSpPr bwMode="auto">
          <a:xfrm>
            <a:off x="8136004" y="3526518"/>
            <a:ext cx="482600" cy="603250"/>
            <a:chOff x="2997" y="2073"/>
            <a:chExt cx="304" cy="380"/>
          </a:xfrm>
        </p:grpSpPr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D666FD65-AEEB-48D7-A0B3-A149F00C57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" y="2144"/>
              <a:ext cx="304" cy="309"/>
              <a:chOff x="2997" y="2144"/>
              <a:chExt cx="304" cy="309"/>
            </a:xfrm>
          </p:grpSpPr>
          <p:sp>
            <p:nvSpPr>
              <p:cNvPr id="26" name="Text Box 25">
                <a:extLst>
                  <a:ext uri="{FF2B5EF4-FFF2-40B4-BE49-F238E27FC236}">
                    <a16:creationId xmlns:a16="http://schemas.microsoft.com/office/drawing/2014/main" id="{18989C94-E4E7-4EF6-9D1A-A8C7C7078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27" name="Text Box 26">
                <a:extLst>
                  <a:ext uri="{FF2B5EF4-FFF2-40B4-BE49-F238E27FC236}">
                    <a16:creationId xmlns:a16="http://schemas.microsoft.com/office/drawing/2014/main" id="{CA60A814-8A32-45D3-A46E-103DB4C442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19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ADE8A921-227A-443C-87F7-361DC3AC7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" y="2073"/>
              <a:ext cx="16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28" name="Text Box 28">
            <a:extLst>
              <a:ext uri="{FF2B5EF4-FFF2-40B4-BE49-F238E27FC236}">
                <a16:creationId xmlns:a16="http://schemas.microsoft.com/office/drawing/2014/main" id="{597E580E-5AC4-4786-B7E6-843BFD7C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429" y="3626530"/>
            <a:ext cx="677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>
                <a:solidFill>
                  <a:srgbClr val="FF0000"/>
                </a:solidFill>
              </a:rPr>
              <a:t>(m)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DF98D6BD-184F-4A61-84DD-FBAE6FA0E384}"/>
                  </a:ext>
                </a:extLst>
              </p:cNvPr>
              <p:cNvSpPr txBox="1"/>
              <p:nvPr/>
            </p:nvSpPr>
            <p:spPr>
              <a:xfrm>
                <a:off x="1446410" y="2598685"/>
                <a:ext cx="63645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pt-BR" sz="32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3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pt-BR" sz="3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pt-BR" sz="3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pt-BR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DF98D6BD-184F-4A61-84DD-FBAE6FA0E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410" y="2598685"/>
                <a:ext cx="63645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453FB09-CF6C-449E-942A-C1B7F1891A0C}"/>
                  </a:ext>
                </a:extLst>
              </p:cNvPr>
              <p:cNvSpPr txBox="1"/>
              <p:nvPr/>
            </p:nvSpPr>
            <p:spPr>
              <a:xfrm>
                <a:off x="7748361" y="2616403"/>
                <a:ext cx="13279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453FB09-CF6C-449E-942A-C1B7F1891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361" y="2616403"/>
                <a:ext cx="132792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142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92D78A-A993-4E20-88BB-69F73578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z="2800" dirty="0"/>
          </a:p>
          <a:p>
            <a:r>
              <a:rPr lang="pt-BR" altLang="pt-BR" sz="2800" dirty="0">
                <a:solidFill>
                  <a:srgbClr val="FF0000"/>
                </a:solidFill>
              </a:rPr>
              <a:t>Será que atende a exigência de ser verificável e não falsificável?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5EF7F38-9AE4-4A79-B8AD-795F968237F2}"/>
                  </a:ext>
                </a:extLst>
              </p:cNvPr>
              <p:cNvSpPr txBox="1"/>
              <p:nvPr/>
            </p:nvSpPr>
            <p:spPr>
              <a:xfrm>
                <a:off x="5111652" y="1914214"/>
                <a:ext cx="14938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6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6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5EF7F38-9AE4-4A79-B8AD-795F9682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652" y="1914214"/>
                <a:ext cx="149387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744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Suponha que Alice tenha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 e</a:t>
                </a:r>
              </a:p>
              <a:p>
                <a:r>
                  <a:rPr lang="pt-BR" sz="2800" dirty="0"/>
                  <a:t>Ela deseja comprovar que Bob de fato assinou o documento e que era a única pessoa que poderia ter assinado.</a:t>
                </a:r>
              </a:p>
              <a:p>
                <a:r>
                  <a:rPr lang="pt-BR" altLang="pt-BR" sz="2800" dirty="0"/>
                  <a:t>Alice pega a chave pública de Bob        e aplica a assinatura digital              associada ao documento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800" dirty="0"/>
                  <a:t>.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232" b="-48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5ADA6E9-F1E7-4F03-9A6C-BF2F08247F0B}"/>
                  </a:ext>
                </a:extLst>
              </p:cNvPr>
              <p:cNvSpPr txBox="1"/>
              <p:nvPr/>
            </p:nvSpPr>
            <p:spPr>
              <a:xfrm>
                <a:off x="6764227" y="1956181"/>
                <a:ext cx="13279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5ADA6E9-F1E7-4F03-9A6C-BF2F08247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227" y="1956181"/>
                <a:ext cx="132792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D5602C9-2DC7-4586-9594-E8443307981D}"/>
                  </a:ext>
                </a:extLst>
              </p:cNvPr>
              <p:cNvSpPr txBox="1"/>
              <p:nvPr/>
            </p:nvSpPr>
            <p:spPr>
              <a:xfrm>
                <a:off x="7684965" y="4692110"/>
                <a:ext cx="63645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D5602C9-2DC7-4586-9594-E84433079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965" y="4692110"/>
                <a:ext cx="636456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77B28FA-8444-4D90-BDEF-92854CC1103D}"/>
                  </a:ext>
                </a:extLst>
              </p:cNvPr>
              <p:cNvSpPr txBox="1"/>
              <p:nvPr/>
            </p:nvSpPr>
            <p:spPr>
              <a:xfrm>
                <a:off x="4628500" y="5329646"/>
                <a:ext cx="13279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77B28FA-8444-4D90-BDEF-92854CC11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500" y="5329646"/>
                <a:ext cx="132792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7815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pt-BR" sz="2800" dirty="0"/>
                  <a:t>Ou seja:</a:t>
                </a:r>
              </a:p>
              <a:p>
                <a:endParaRPr lang="pt-BR" altLang="pt-BR" sz="2800" dirty="0"/>
              </a:p>
              <a:p>
                <a:r>
                  <a:rPr lang="pt-BR" altLang="pt-BR" sz="2800" dirty="0"/>
                  <a:t>E assim ela produz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800" dirty="0"/>
                  <a:t>.</a:t>
                </a:r>
              </a:p>
              <a:p>
                <a:endParaRPr lang="pt-BR" alt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BCECD60-43EA-4961-812C-F2FAB8FBDEFA}"/>
                  </a:ext>
                </a:extLst>
              </p:cNvPr>
              <p:cNvSpPr txBox="1"/>
              <p:nvPr/>
            </p:nvSpPr>
            <p:spPr>
              <a:xfrm>
                <a:off x="4566863" y="2572192"/>
                <a:ext cx="221201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pt-BR" sz="32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d>
                        <m:dPr>
                          <m:ctrlPr>
                            <a:rPr lang="pt-BR" sz="32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BCECD60-43EA-4961-812C-F2FAB8FBD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863" y="2572192"/>
                <a:ext cx="221201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9004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22E30C2-37C5-4D00-8D7C-391611F284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600" dirty="0"/>
              <a:t>Assinatura digital = resumo de mensagem assinada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36061B-8B14-4AB8-B9C6-47E7994B4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48</a:t>
            </a:fld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ADBE6AC-D7B3-4F37-B174-0D819D27872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2B34C03B-722E-4821-A73B-DB4B6C5EE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2074" y="2552690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549D1F1-3516-4485-AED4-754DD2EC9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549" y="2397115"/>
            <a:ext cx="762000" cy="407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pt-BR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027D5525-D164-40E2-B96A-FB39DB90CD0C}"/>
              </a:ext>
            </a:extLst>
          </p:cNvPr>
          <p:cNvGrpSpPr>
            <a:grpSpLocks/>
          </p:cNvGrpSpPr>
          <p:nvPr/>
        </p:nvGrpSpPr>
        <p:grpSpPr bwMode="auto">
          <a:xfrm>
            <a:off x="1881111" y="2049452"/>
            <a:ext cx="1382713" cy="809625"/>
            <a:chOff x="362" y="1296"/>
            <a:chExt cx="871" cy="510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24807D93-5B15-4CDE-8B63-B393A7829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296"/>
              <a:ext cx="752" cy="5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30A94C9E-17EC-4FE6-BD65-3D738847E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" y="1296"/>
              <a:ext cx="871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pt-BR" sz="1800">
                  <a:solidFill>
                    <a:srgbClr val="FF0000"/>
                  </a:solidFill>
                </a:rPr>
                <a:t>mensagem</a:t>
              </a:r>
              <a:br>
                <a:rPr lang="pt-BR" sz="1800">
                  <a:solidFill>
                    <a:srgbClr val="FF0000"/>
                  </a:solidFill>
                </a:rPr>
              </a:br>
              <a:r>
                <a:rPr lang="pt-BR" sz="1800">
                  <a:solidFill>
                    <a:srgbClr val="FF0000"/>
                  </a:solidFill>
                </a:rPr>
                <a:t>grande</a:t>
              </a:r>
            </a:p>
            <a:p>
              <a:pPr algn="ctr">
                <a:lnSpc>
                  <a:spcPct val="80000"/>
                </a:lnSpc>
              </a:pPr>
              <a:r>
                <a:rPr lang="pt-BR" sz="1800">
                  <a:solidFill>
                    <a:srgbClr val="FF0000"/>
                  </a:solidFill>
                </a:rPr>
                <a:t>m</a:t>
              </a:r>
            </a:p>
          </p:txBody>
        </p:sp>
      </p:grpSp>
      <p:grpSp>
        <p:nvGrpSpPr>
          <p:cNvPr id="12" name="Group 6">
            <a:extLst>
              <a:ext uri="{FF2B5EF4-FFF2-40B4-BE49-F238E27FC236}">
                <a16:creationId xmlns:a16="http://schemas.microsoft.com/office/drawing/2014/main" id="{A92AAF87-368B-4FCC-83F0-E815173AC11E}"/>
              </a:ext>
            </a:extLst>
          </p:cNvPr>
          <p:cNvGrpSpPr>
            <a:grpSpLocks/>
          </p:cNvGrpSpPr>
          <p:nvPr/>
        </p:nvGrpSpPr>
        <p:grpSpPr bwMode="auto">
          <a:xfrm>
            <a:off x="3578149" y="2255827"/>
            <a:ext cx="1092200" cy="631825"/>
            <a:chOff x="1387" y="982"/>
            <a:chExt cx="652" cy="398"/>
          </a:xfrm>
        </p:grpSpPr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46182A8B-B463-4DD4-A24C-706A76CA7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FF36EF50-8E8E-401C-B6E6-26D236861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7" y="985"/>
              <a:ext cx="65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chemeClr val="bg1"/>
                  </a:solidFill>
                </a:rPr>
                <a:t>H: função</a:t>
              </a:r>
              <a:br>
                <a:rPr lang="pt-BR" sz="1600">
                  <a:solidFill>
                    <a:schemeClr val="bg1"/>
                  </a:solidFill>
                </a:rPr>
              </a:br>
              <a:r>
                <a:rPr lang="pt-BR" sz="1600">
                  <a:solidFill>
                    <a:schemeClr val="bg1"/>
                  </a:solidFill>
                </a:rPr>
                <a:t>de hash</a:t>
              </a:r>
            </a:p>
          </p:txBody>
        </p:sp>
      </p:grpSp>
      <p:sp>
        <p:nvSpPr>
          <p:cNvPr id="15" name="Line 9">
            <a:extLst>
              <a:ext uri="{FF2B5EF4-FFF2-40B4-BE49-F238E27FC236}">
                <a16:creationId xmlns:a16="http://schemas.microsoft.com/office/drawing/2014/main" id="{4870F076-89C9-4964-922B-5106C00C2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3011" y="2538402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C07FD221-047E-4DB4-8B34-F83AD6F2B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1336" y="2420927"/>
            <a:ext cx="846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>
                <a:solidFill>
                  <a:srgbClr val="FF0000"/>
                </a:solidFill>
              </a:rPr>
              <a:t>H(m)</a:t>
            </a:r>
          </a:p>
        </p:txBody>
      </p:sp>
      <p:sp>
        <p:nvSpPr>
          <p:cNvPr id="17" name="Line 11">
            <a:extLst>
              <a:ext uri="{FF2B5EF4-FFF2-40B4-BE49-F238E27FC236}">
                <a16:creationId xmlns:a16="http://schemas.microsoft.com/office/drawing/2014/main" id="{D3171689-6E49-482E-BBF2-D26883448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7074" y="2832090"/>
            <a:ext cx="1587" cy="328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18" name="Group 13">
            <a:extLst>
              <a:ext uri="{FF2B5EF4-FFF2-40B4-BE49-F238E27FC236}">
                <a16:creationId xmlns:a16="http://schemas.microsoft.com/office/drawing/2014/main" id="{60920CEE-E9A2-4F41-8C12-7289C979B7D2}"/>
              </a:ext>
            </a:extLst>
          </p:cNvPr>
          <p:cNvGrpSpPr>
            <a:grpSpLocks/>
          </p:cNvGrpSpPr>
          <p:nvPr/>
        </p:nvGrpSpPr>
        <p:grpSpPr bwMode="auto">
          <a:xfrm>
            <a:off x="4573511" y="3163877"/>
            <a:ext cx="1293813" cy="955675"/>
            <a:chOff x="1126" y="2124"/>
            <a:chExt cx="751" cy="602"/>
          </a:xfrm>
        </p:grpSpPr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C7668062-C2E7-4938-AFD3-B47023431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20" name="Text Box 15">
              <a:extLst>
                <a:ext uri="{FF2B5EF4-FFF2-40B4-BE49-F238E27FC236}">
                  <a16:creationId xmlns:a16="http://schemas.microsoft.com/office/drawing/2014/main" id="{0AD21050-B2CD-4372-967F-E2638D53C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2127"/>
              <a:ext cx="74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800">
                  <a:solidFill>
                    <a:schemeClr val="bg1"/>
                  </a:solidFill>
                </a:rPr>
                <a:t>assinatura</a:t>
              </a:r>
              <a:br>
                <a:rPr lang="pt-BR" sz="1800">
                  <a:solidFill>
                    <a:schemeClr val="bg1"/>
                  </a:solidFill>
                </a:rPr>
              </a:br>
              <a:r>
                <a:rPr lang="pt-BR" sz="1800">
                  <a:solidFill>
                    <a:schemeClr val="bg1"/>
                  </a:solidFill>
                </a:rPr>
                <a:t>digital</a:t>
              </a:r>
            </a:p>
            <a:p>
              <a:pPr algn="ctr"/>
              <a:r>
                <a:rPr lang="pt-BR" sz="1800">
                  <a:solidFill>
                    <a:schemeClr val="bg1"/>
                  </a:solidFill>
                </a:rPr>
                <a:t>(criptog.)</a:t>
              </a:r>
            </a:p>
          </p:txBody>
        </p:sp>
      </p:grpSp>
      <p:sp>
        <p:nvSpPr>
          <p:cNvPr id="21" name="Text Box 16">
            <a:extLst>
              <a:ext uri="{FF2B5EF4-FFF2-40B4-BE49-F238E27FC236}">
                <a16:creationId xmlns:a16="http://schemas.microsoft.com/office/drawing/2014/main" id="{88F807BA-89E1-4ADE-A39C-FDB2D32C5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374" y="3244840"/>
            <a:ext cx="96043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 sz="1600"/>
              <a:t>chave</a:t>
            </a:r>
            <a:br>
              <a:rPr lang="pt-BR" sz="1600"/>
            </a:br>
            <a:r>
              <a:rPr lang="pt-BR" sz="1600"/>
              <a:t>privada</a:t>
            </a:r>
            <a:br>
              <a:rPr lang="pt-BR" sz="1600"/>
            </a:br>
            <a:r>
              <a:rPr lang="pt-BR" sz="1600"/>
              <a:t>de Bob </a:t>
            </a:r>
          </a:p>
        </p:txBody>
      </p:sp>
      <p:pic>
        <p:nvPicPr>
          <p:cNvPr id="22" name="Picture 17" descr="BS00768_[1]">
            <a:extLst>
              <a:ext uri="{FF2B5EF4-FFF2-40B4-BE49-F238E27FC236}">
                <a16:creationId xmlns:a16="http://schemas.microsoft.com/office/drawing/2014/main" id="{9B8C3154-ECBB-4AA3-8D01-C938E7245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816274" y="3325802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18">
            <a:extLst>
              <a:ext uri="{FF2B5EF4-FFF2-40B4-BE49-F238E27FC236}">
                <a16:creationId xmlns:a16="http://schemas.microsoft.com/office/drawing/2014/main" id="{F9D11D25-10C3-4887-9E17-A066D7FF33AE}"/>
              </a:ext>
            </a:extLst>
          </p:cNvPr>
          <p:cNvGrpSpPr>
            <a:grpSpLocks/>
          </p:cNvGrpSpPr>
          <p:nvPr/>
        </p:nvGrpSpPr>
        <p:grpSpPr bwMode="auto">
          <a:xfrm>
            <a:off x="3759124" y="3651240"/>
            <a:ext cx="482600" cy="603250"/>
            <a:chOff x="2997" y="2073"/>
            <a:chExt cx="304" cy="380"/>
          </a:xfrm>
        </p:grpSpPr>
        <p:grpSp>
          <p:nvGrpSpPr>
            <p:cNvPr id="24" name="Group 19">
              <a:extLst>
                <a:ext uri="{FF2B5EF4-FFF2-40B4-BE49-F238E27FC236}">
                  <a16:creationId xmlns:a16="http://schemas.microsoft.com/office/drawing/2014/main" id="{8D120A16-4DEE-4210-B1CD-67FB63D54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" y="2144"/>
              <a:ext cx="304" cy="309"/>
              <a:chOff x="2997" y="2144"/>
              <a:chExt cx="304" cy="309"/>
            </a:xfrm>
          </p:grpSpPr>
          <p:sp>
            <p:nvSpPr>
              <p:cNvPr id="26" name="Text Box 20">
                <a:extLst>
                  <a:ext uri="{FF2B5EF4-FFF2-40B4-BE49-F238E27FC236}">
                    <a16:creationId xmlns:a16="http://schemas.microsoft.com/office/drawing/2014/main" id="{A0434232-4B02-44DB-AE14-AF18468AA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27" name="Text Box 21">
                <a:extLst>
                  <a:ext uri="{FF2B5EF4-FFF2-40B4-BE49-F238E27FC236}">
                    <a16:creationId xmlns:a16="http://schemas.microsoft.com/office/drawing/2014/main" id="{D3B12794-8CEF-48EF-BB79-CD0D6A72BC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19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D7A26166-35B5-4AA0-880C-3319EEC39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" y="2073"/>
              <a:ext cx="16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28" name="Line 23">
            <a:extLst>
              <a:ext uri="{FF2B5EF4-FFF2-40B4-BE49-F238E27FC236}">
                <a16:creationId xmlns:a16="http://schemas.microsoft.com/office/drawing/2014/main" id="{AD0B2CA5-1D9D-430D-B53D-C96D08B72C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2949" y="3694102"/>
            <a:ext cx="565150" cy="793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287830E2-FF07-46F0-9CD8-A55A24633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186" y="4121140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30" name="Group 25">
            <a:extLst>
              <a:ext uri="{FF2B5EF4-FFF2-40B4-BE49-F238E27FC236}">
                <a16:creationId xmlns:a16="http://schemas.microsoft.com/office/drawing/2014/main" id="{017127DB-D7BF-4F6E-B08E-8726C9C6EF3B}"/>
              </a:ext>
            </a:extLst>
          </p:cNvPr>
          <p:cNvGrpSpPr>
            <a:grpSpLocks/>
          </p:cNvGrpSpPr>
          <p:nvPr/>
        </p:nvGrpSpPr>
        <p:grpSpPr bwMode="auto">
          <a:xfrm>
            <a:off x="2176386" y="4791065"/>
            <a:ext cx="846138" cy="519112"/>
            <a:chOff x="984" y="2831"/>
            <a:chExt cx="533" cy="327"/>
          </a:xfrm>
        </p:grpSpPr>
        <p:sp>
          <p:nvSpPr>
            <p:cNvPr id="31" name="Text Box 26">
              <a:extLst>
                <a:ext uri="{FF2B5EF4-FFF2-40B4-BE49-F238E27FC236}">
                  <a16:creationId xmlns:a16="http://schemas.microsoft.com/office/drawing/2014/main" id="{3AD6FA47-7F40-40A8-8AD9-74665EA0A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2800"/>
                <a:t>+</a:t>
              </a:r>
            </a:p>
          </p:txBody>
        </p:sp>
        <p:sp>
          <p:nvSpPr>
            <p:cNvPr id="32" name="Oval 27">
              <a:extLst>
                <a:ext uri="{FF2B5EF4-FFF2-40B4-BE49-F238E27FC236}">
                  <a16:creationId xmlns:a16="http://schemas.microsoft.com/office/drawing/2014/main" id="{05F2489B-8B04-4A15-8C75-17CD7664A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24"/>
              <a:ext cx="195" cy="1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</p:grpSp>
      <p:sp>
        <p:nvSpPr>
          <p:cNvPr id="33" name="Line 28">
            <a:extLst>
              <a:ext uri="{FF2B5EF4-FFF2-40B4-BE49-F238E27FC236}">
                <a16:creationId xmlns:a16="http://schemas.microsoft.com/office/drawing/2014/main" id="{143EF00E-EAC5-4007-95AC-09919FB2B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061" y="2920990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" name="Line 29">
            <a:extLst>
              <a:ext uri="{FF2B5EF4-FFF2-40B4-BE49-F238E27FC236}">
                <a16:creationId xmlns:a16="http://schemas.microsoft.com/office/drawing/2014/main" id="{128F76A2-32FB-4B90-B0D2-EF17DBECD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074" y="5214927"/>
            <a:ext cx="3175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35" name="Picture 30" descr="BS00592_[1]">
            <a:extLst>
              <a:ext uri="{FF2B5EF4-FFF2-40B4-BE49-F238E27FC236}">
                <a16:creationId xmlns:a16="http://schemas.microsoft.com/office/drawing/2014/main" id="{43925676-2A0C-4796-9C53-A3897240C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41486" y="5543540"/>
            <a:ext cx="627063" cy="768350"/>
          </a:xfrm>
          <a:prstGeom prst="rect">
            <a:avLst/>
          </a:prstGeom>
          <a:noFill/>
        </p:spPr>
      </p:pic>
      <p:sp>
        <p:nvSpPr>
          <p:cNvPr id="36" name="Rectangle 31">
            <a:extLst>
              <a:ext uri="{FF2B5EF4-FFF2-40B4-BE49-F238E27FC236}">
                <a16:creationId xmlns:a16="http://schemas.microsoft.com/office/drawing/2014/main" id="{0E21C13A-BBC8-4E81-A00D-403B48386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411" y="1295390"/>
            <a:ext cx="3810000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pt-BR" dirty="0"/>
              <a:t>Bob envia mensagem assinada em forma digital:</a:t>
            </a:r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84B235F2-20FF-4E92-BA4F-6F0600EC8346}"/>
              </a:ext>
            </a:extLst>
          </p:cNvPr>
          <p:cNvSpPr txBox="1">
            <a:spLocks noChangeArrowheads="1"/>
          </p:cNvSpPr>
          <p:nvPr/>
        </p:nvSpPr>
        <p:spPr>
          <a:xfrm>
            <a:off x="6122201" y="1297055"/>
            <a:ext cx="3992563" cy="1057275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pt-BR" sz="2000" kern="0" dirty="0">
                <a:latin typeface="Comic Sans MS" panose="030F0702030302020204" pitchFamily="66" charset="0"/>
              </a:rPr>
              <a:t>Alice verifica assinatura e integridade da mensagem assinada em forma digital:</a:t>
            </a:r>
          </a:p>
        </p:txBody>
      </p:sp>
      <p:grpSp>
        <p:nvGrpSpPr>
          <p:cNvPr id="38" name="Group 33">
            <a:extLst>
              <a:ext uri="{FF2B5EF4-FFF2-40B4-BE49-F238E27FC236}">
                <a16:creationId xmlns:a16="http://schemas.microsoft.com/office/drawing/2014/main" id="{60131E44-AD78-4574-967D-1D5352FA566C}"/>
              </a:ext>
            </a:extLst>
          </p:cNvPr>
          <p:cNvGrpSpPr>
            <a:grpSpLocks/>
          </p:cNvGrpSpPr>
          <p:nvPr/>
        </p:nvGrpSpPr>
        <p:grpSpPr bwMode="auto">
          <a:xfrm>
            <a:off x="4306811" y="4317990"/>
            <a:ext cx="1722438" cy="995362"/>
            <a:chOff x="3157" y="2362"/>
            <a:chExt cx="1085" cy="627"/>
          </a:xfrm>
        </p:grpSpPr>
        <p:grpSp>
          <p:nvGrpSpPr>
            <p:cNvPr id="39" name="Group 34">
              <a:extLst>
                <a:ext uri="{FF2B5EF4-FFF2-40B4-BE49-F238E27FC236}">
                  <a16:creationId xmlns:a16="http://schemas.microsoft.com/office/drawing/2014/main" id="{0EBD2C1F-5CEF-4940-94EF-44AA4FCCEA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2639"/>
              <a:ext cx="923" cy="339"/>
              <a:chOff x="2546" y="3029"/>
              <a:chExt cx="923" cy="339"/>
            </a:xfrm>
          </p:grpSpPr>
          <p:sp>
            <p:nvSpPr>
              <p:cNvPr id="42" name="Text Box 35">
                <a:extLst>
                  <a:ext uri="{FF2B5EF4-FFF2-40B4-BE49-F238E27FC236}">
                    <a16:creationId xmlns:a16="http://schemas.microsoft.com/office/drawing/2014/main" id="{9BD768A6-6674-4135-8710-5685781358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6" y="3118"/>
                <a:ext cx="92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</a:t>
                </a:r>
                <a:r>
                  <a:rPr lang="pt-BR" sz="2400" baseline="-25000">
                    <a:solidFill>
                      <a:srgbClr val="FF0000"/>
                    </a:solidFill>
                  </a:rPr>
                  <a:t>B</a:t>
                </a:r>
                <a:r>
                  <a:rPr lang="pt-BR">
                    <a:solidFill>
                      <a:srgbClr val="FF0000"/>
                    </a:solidFill>
                  </a:rPr>
                  <a:t>(H(m))</a:t>
                </a:r>
              </a:p>
            </p:txBody>
          </p:sp>
          <p:sp>
            <p:nvSpPr>
              <p:cNvPr id="43" name="Text Box 36">
                <a:extLst>
                  <a:ext uri="{FF2B5EF4-FFF2-40B4-BE49-F238E27FC236}">
                    <a16:creationId xmlns:a16="http://schemas.microsoft.com/office/drawing/2014/main" id="{04A2A349-7F1C-4A32-A6A9-22A8BB5D7E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4" y="3029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-</a:t>
                </a:r>
              </a:p>
            </p:txBody>
          </p:sp>
        </p:grp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609D0428-4060-4AB6-BE91-B15B1F461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9ECC5BC4-2496-4FC6-ACF3-5BDC58478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2362"/>
              <a:ext cx="1085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resumo de</a:t>
              </a:r>
              <a:br>
                <a:rPr lang="pt-BR" sz="1600">
                  <a:solidFill>
                    <a:srgbClr val="FF0000"/>
                  </a:solidFill>
                </a:rPr>
              </a:br>
              <a:r>
                <a:rPr lang="pt-BR" sz="1600">
                  <a:solidFill>
                    <a:srgbClr val="FF0000"/>
                  </a:solidFill>
                </a:rPr>
                <a:t>msg. criptog.</a:t>
              </a:r>
            </a:p>
          </p:txBody>
        </p:sp>
      </p:grpSp>
      <p:sp>
        <p:nvSpPr>
          <p:cNvPr id="44" name="Line 39">
            <a:extLst>
              <a:ext uri="{FF2B5EF4-FFF2-40B4-BE49-F238E27FC236}">
                <a16:creationId xmlns:a16="http://schemas.microsoft.com/office/drawing/2014/main" id="{3DCA1645-A6BF-48B9-B532-49CF9070A3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25661" y="5070465"/>
            <a:ext cx="18018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45" name="Picture 40" descr="BS00592_[1]">
            <a:extLst>
              <a:ext uri="{FF2B5EF4-FFF2-40B4-BE49-F238E27FC236}">
                <a16:creationId xmlns:a16="http://schemas.microsoft.com/office/drawing/2014/main" id="{12E50629-B9FA-42AC-BB77-A664F4910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24" y="2411402"/>
            <a:ext cx="6270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Line 41">
            <a:extLst>
              <a:ext uri="{FF2B5EF4-FFF2-40B4-BE49-F238E27FC236}">
                <a16:creationId xmlns:a16="http://schemas.microsoft.com/office/drawing/2014/main" id="{A498083A-D99D-4AD5-88E7-02B09A81D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93174" y="3562340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47" name="Group 42">
            <a:extLst>
              <a:ext uri="{FF2B5EF4-FFF2-40B4-BE49-F238E27FC236}">
                <a16:creationId xmlns:a16="http://schemas.microsoft.com/office/drawing/2014/main" id="{9E8754B9-04FA-4F90-AB17-F0E0BD5612DA}"/>
              </a:ext>
            </a:extLst>
          </p:cNvPr>
          <p:cNvGrpSpPr>
            <a:grpSpLocks/>
          </p:cNvGrpSpPr>
          <p:nvPr/>
        </p:nvGrpSpPr>
        <p:grpSpPr bwMode="auto">
          <a:xfrm>
            <a:off x="8596236" y="2332027"/>
            <a:ext cx="1722438" cy="995363"/>
            <a:chOff x="3157" y="2362"/>
            <a:chExt cx="1085" cy="627"/>
          </a:xfrm>
        </p:grpSpPr>
        <p:grpSp>
          <p:nvGrpSpPr>
            <p:cNvPr id="48" name="Group 43">
              <a:extLst>
                <a:ext uri="{FF2B5EF4-FFF2-40B4-BE49-F238E27FC236}">
                  <a16:creationId xmlns:a16="http://schemas.microsoft.com/office/drawing/2014/main" id="{746EF9AF-7501-49D7-85CF-1DCC6EDCB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2639"/>
              <a:ext cx="923" cy="339"/>
              <a:chOff x="2546" y="3029"/>
              <a:chExt cx="923" cy="339"/>
            </a:xfrm>
          </p:grpSpPr>
          <p:sp>
            <p:nvSpPr>
              <p:cNvPr id="51" name="Text Box 44">
                <a:extLst>
                  <a:ext uri="{FF2B5EF4-FFF2-40B4-BE49-F238E27FC236}">
                    <a16:creationId xmlns:a16="http://schemas.microsoft.com/office/drawing/2014/main" id="{1EB9B235-F4B9-435B-B138-BE15CC038D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6" y="3118"/>
                <a:ext cx="92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</a:t>
                </a:r>
                <a:r>
                  <a:rPr lang="pt-BR" sz="2400" baseline="-25000">
                    <a:solidFill>
                      <a:srgbClr val="FF0000"/>
                    </a:solidFill>
                  </a:rPr>
                  <a:t>B</a:t>
                </a:r>
                <a:r>
                  <a:rPr lang="pt-BR">
                    <a:solidFill>
                      <a:srgbClr val="FF0000"/>
                    </a:solidFill>
                  </a:rPr>
                  <a:t>(H(m))</a:t>
                </a:r>
              </a:p>
            </p:txBody>
          </p:sp>
          <p:sp>
            <p:nvSpPr>
              <p:cNvPr id="52" name="Text Box 45">
                <a:extLst>
                  <a:ext uri="{FF2B5EF4-FFF2-40B4-BE49-F238E27FC236}">
                    <a16:creationId xmlns:a16="http://schemas.microsoft.com/office/drawing/2014/main" id="{50D0FE89-B9E5-4803-BFE0-C054C2FFC7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4" y="3029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-</a:t>
                </a:r>
              </a:p>
            </p:txBody>
          </p:sp>
        </p:grp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5F5224D0-D192-419C-AA89-6374D76AE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F55F2E53-B7EA-4AB4-AEB6-A252C5C84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2362"/>
              <a:ext cx="1085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resumo de</a:t>
              </a:r>
              <a:br>
                <a:rPr lang="pt-BR" sz="1600">
                  <a:solidFill>
                    <a:srgbClr val="FF0000"/>
                  </a:solidFill>
                </a:rPr>
              </a:br>
              <a:r>
                <a:rPr lang="pt-BR" sz="1600">
                  <a:solidFill>
                    <a:srgbClr val="FF0000"/>
                  </a:solidFill>
                </a:rPr>
                <a:t>msg. criptog.</a:t>
              </a:r>
            </a:p>
          </p:txBody>
        </p:sp>
      </p:grpSp>
      <p:grpSp>
        <p:nvGrpSpPr>
          <p:cNvPr id="53" name="Group 48">
            <a:extLst>
              <a:ext uri="{FF2B5EF4-FFF2-40B4-BE49-F238E27FC236}">
                <a16:creationId xmlns:a16="http://schemas.microsoft.com/office/drawing/2014/main" id="{3C839267-A261-410C-AE5A-596F3456931D}"/>
              </a:ext>
            </a:extLst>
          </p:cNvPr>
          <p:cNvGrpSpPr>
            <a:grpSpLocks/>
          </p:cNvGrpSpPr>
          <p:nvPr/>
        </p:nvGrpSpPr>
        <p:grpSpPr bwMode="auto">
          <a:xfrm>
            <a:off x="6329286" y="3463915"/>
            <a:ext cx="1343025" cy="790575"/>
            <a:chOff x="403" y="1308"/>
            <a:chExt cx="846" cy="498"/>
          </a:xfrm>
        </p:grpSpPr>
        <p:sp>
          <p:nvSpPr>
            <p:cNvPr id="54" name="Rectangle 49">
              <a:extLst>
                <a:ext uri="{FF2B5EF4-FFF2-40B4-BE49-F238E27FC236}">
                  <a16:creationId xmlns:a16="http://schemas.microsoft.com/office/drawing/2014/main" id="{08F678D5-D937-47E2-9F45-3F6236652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" y="1308"/>
              <a:ext cx="685" cy="4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55" name="Text Box 50">
              <a:extLst>
                <a:ext uri="{FF2B5EF4-FFF2-40B4-BE49-F238E27FC236}">
                  <a16:creationId xmlns:a16="http://schemas.microsoft.com/office/drawing/2014/main" id="{1BA31EED-E323-4AEA-8049-6596CFE6A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" y="1318"/>
              <a:ext cx="846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pt-BR" sz="1800">
                  <a:solidFill>
                    <a:srgbClr val="FF0000"/>
                  </a:solidFill>
                </a:rPr>
                <a:t>mensagem</a:t>
              </a:r>
              <a:br>
                <a:rPr lang="pt-BR" sz="1800">
                  <a:solidFill>
                    <a:srgbClr val="FF0000"/>
                  </a:solidFill>
                </a:rPr>
              </a:br>
              <a:r>
                <a:rPr lang="pt-BR" sz="1800">
                  <a:solidFill>
                    <a:srgbClr val="FF0000"/>
                  </a:solidFill>
                </a:rPr>
                <a:t>grande</a:t>
              </a:r>
            </a:p>
            <a:p>
              <a:pPr algn="ctr">
                <a:lnSpc>
                  <a:spcPct val="80000"/>
                </a:lnSpc>
              </a:pPr>
              <a:r>
                <a:rPr lang="pt-BR" sz="1800">
                  <a:solidFill>
                    <a:srgbClr val="FF0000"/>
                  </a:solidFill>
                </a:rPr>
                <a:t>m</a:t>
              </a:r>
            </a:p>
          </p:txBody>
        </p:sp>
      </p:grpSp>
      <p:grpSp>
        <p:nvGrpSpPr>
          <p:cNvPr id="56" name="Group 51">
            <a:extLst>
              <a:ext uri="{FF2B5EF4-FFF2-40B4-BE49-F238E27FC236}">
                <a16:creationId xmlns:a16="http://schemas.microsoft.com/office/drawing/2014/main" id="{5AB292F9-E057-4F48-A204-DC56A673A5AB}"/>
              </a:ext>
            </a:extLst>
          </p:cNvPr>
          <p:cNvGrpSpPr>
            <a:grpSpLocks/>
          </p:cNvGrpSpPr>
          <p:nvPr/>
        </p:nvGrpSpPr>
        <p:grpSpPr bwMode="auto">
          <a:xfrm>
            <a:off x="6427711" y="4497377"/>
            <a:ext cx="1092200" cy="631825"/>
            <a:chOff x="1369" y="982"/>
            <a:chExt cx="688" cy="398"/>
          </a:xfrm>
        </p:grpSpPr>
        <p:sp>
          <p:nvSpPr>
            <p:cNvPr id="57" name="Rectangle 52">
              <a:extLst>
                <a:ext uri="{FF2B5EF4-FFF2-40B4-BE49-F238E27FC236}">
                  <a16:creationId xmlns:a16="http://schemas.microsoft.com/office/drawing/2014/main" id="{B98CE4BC-12ED-4B88-A3FD-8E5AEB952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58" name="Text Box 53">
              <a:extLst>
                <a:ext uri="{FF2B5EF4-FFF2-40B4-BE49-F238E27FC236}">
                  <a16:creationId xmlns:a16="http://schemas.microsoft.com/office/drawing/2014/main" id="{915C2306-FC24-486B-BF01-DB2A4F0D3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" y="985"/>
              <a:ext cx="68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chemeClr val="bg1"/>
                  </a:solidFill>
                </a:rPr>
                <a:t>H: função</a:t>
              </a:r>
              <a:br>
                <a:rPr lang="pt-BR" sz="1600">
                  <a:solidFill>
                    <a:schemeClr val="bg1"/>
                  </a:solidFill>
                </a:rPr>
              </a:br>
              <a:r>
                <a:rPr lang="pt-BR" sz="1600">
                  <a:solidFill>
                    <a:schemeClr val="bg1"/>
                  </a:solidFill>
                </a:rPr>
                <a:t>de hash</a:t>
              </a:r>
            </a:p>
          </p:txBody>
        </p:sp>
      </p:grpSp>
      <p:grpSp>
        <p:nvGrpSpPr>
          <p:cNvPr id="59" name="Group 54">
            <a:extLst>
              <a:ext uri="{FF2B5EF4-FFF2-40B4-BE49-F238E27FC236}">
                <a16:creationId xmlns:a16="http://schemas.microsoft.com/office/drawing/2014/main" id="{D393085B-1DCF-41EF-8BE7-2468CE314436}"/>
              </a:ext>
            </a:extLst>
          </p:cNvPr>
          <p:cNvGrpSpPr>
            <a:grpSpLocks/>
          </p:cNvGrpSpPr>
          <p:nvPr/>
        </p:nvGrpSpPr>
        <p:grpSpPr bwMode="auto">
          <a:xfrm>
            <a:off x="6564236" y="5341927"/>
            <a:ext cx="873125" cy="420688"/>
            <a:chOff x="3305" y="3136"/>
            <a:chExt cx="550" cy="265"/>
          </a:xfrm>
        </p:grpSpPr>
        <p:sp>
          <p:nvSpPr>
            <p:cNvPr id="60" name="Rectangle 55">
              <a:extLst>
                <a:ext uri="{FF2B5EF4-FFF2-40B4-BE49-F238E27FC236}">
                  <a16:creationId xmlns:a16="http://schemas.microsoft.com/office/drawing/2014/main" id="{3FFD7E92-DBD6-4EE1-8818-A26DDA09C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61" name="Text Box 56">
              <a:extLst>
                <a:ext uri="{FF2B5EF4-FFF2-40B4-BE49-F238E27FC236}">
                  <a16:creationId xmlns:a16="http://schemas.microsoft.com/office/drawing/2014/main" id="{0DE2E9B2-9722-4BA1-A8B7-940D1C0EA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>
                  <a:solidFill>
                    <a:srgbClr val="FF0000"/>
                  </a:solidFill>
                </a:rPr>
                <a:t>H(m)</a:t>
              </a:r>
            </a:p>
          </p:txBody>
        </p:sp>
      </p:grpSp>
      <p:grpSp>
        <p:nvGrpSpPr>
          <p:cNvPr id="62" name="Group 57">
            <a:extLst>
              <a:ext uri="{FF2B5EF4-FFF2-40B4-BE49-F238E27FC236}">
                <a16:creationId xmlns:a16="http://schemas.microsoft.com/office/drawing/2014/main" id="{8E57CF51-A6D1-4F74-B7F3-EC7EADC0A2D4}"/>
              </a:ext>
            </a:extLst>
          </p:cNvPr>
          <p:cNvGrpSpPr>
            <a:grpSpLocks/>
          </p:cNvGrpSpPr>
          <p:nvPr/>
        </p:nvGrpSpPr>
        <p:grpSpPr bwMode="auto">
          <a:xfrm>
            <a:off x="8972474" y="3914765"/>
            <a:ext cx="1192212" cy="955675"/>
            <a:chOff x="1126" y="2124"/>
            <a:chExt cx="751" cy="602"/>
          </a:xfrm>
        </p:grpSpPr>
        <p:sp>
          <p:nvSpPr>
            <p:cNvPr id="63" name="Rectangle 58">
              <a:extLst>
                <a:ext uri="{FF2B5EF4-FFF2-40B4-BE49-F238E27FC236}">
                  <a16:creationId xmlns:a16="http://schemas.microsoft.com/office/drawing/2014/main" id="{20264D19-C2AF-45B9-8D34-9D0032E3E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64" name="Text Box 59">
              <a:extLst>
                <a:ext uri="{FF2B5EF4-FFF2-40B4-BE49-F238E27FC236}">
                  <a16:creationId xmlns:a16="http://schemas.microsoft.com/office/drawing/2014/main" id="{221C89D3-B24D-4248-88EB-D84D5011D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0" y="2127"/>
              <a:ext cx="730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chemeClr val="bg1"/>
                  </a:solidFill>
                </a:rPr>
                <a:t>assinatura</a:t>
              </a:r>
              <a:br>
                <a:rPr lang="pt-BR" sz="1600">
                  <a:solidFill>
                    <a:schemeClr val="bg1"/>
                  </a:solidFill>
                </a:rPr>
              </a:br>
              <a:r>
                <a:rPr lang="pt-BR" sz="1600">
                  <a:solidFill>
                    <a:schemeClr val="bg1"/>
                  </a:solidFill>
                </a:rPr>
                <a:t>digital</a:t>
              </a:r>
            </a:p>
            <a:p>
              <a:pPr algn="ctr"/>
              <a:r>
                <a:rPr lang="pt-BR" sz="1600">
                  <a:solidFill>
                    <a:schemeClr val="bg1"/>
                  </a:solidFill>
                </a:rPr>
                <a:t>(decript.)</a:t>
              </a:r>
            </a:p>
          </p:txBody>
        </p:sp>
      </p:grpSp>
      <p:sp>
        <p:nvSpPr>
          <p:cNvPr id="65" name="Line 60">
            <a:extLst>
              <a:ext uri="{FF2B5EF4-FFF2-40B4-BE49-F238E27FC236}">
                <a16:creationId xmlns:a16="http://schemas.microsoft.com/office/drawing/2014/main" id="{8E104A29-A0CA-49EF-BF2C-8F46C113F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9049" y="4957752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66" name="Group 61">
            <a:extLst>
              <a:ext uri="{FF2B5EF4-FFF2-40B4-BE49-F238E27FC236}">
                <a16:creationId xmlns:a16="http://schemas.microsoft.com/office/drawing/2014/main" id="{94C559EB-D939-46E8-914F-517B553D422D}"/>
              </a:ext>
            </a:extLst>
          </p:cNvPr>
          <p:cNvGrpSpPr>
            <a:grpSpLocks/>
          </p:cNvGrpSpPr>
          <p:nvPr/>
        </p:nvGrpSpPr>
        <p:grpSpPr bwMode="auto">
          <a:xfrm>
            <a:off x="9139161" y="5338752"/>
            <a:ext cx="873125" cy="420688"/>
            <a:chOff x="3305" y="3136"/>
            <a:chExt cx="550" cy="265"/>
          </a:xfrm>
        </p:grpSpPr>
        <p:sp>
          <p:nvSpPr>
            <p:cNvPr id="67" name="Rectangle 62">
              <a:extLst>
                <a:ext uri="{FF2B5EF4-FFF2-40B4-BE49-F238E27FC236}">
                  <a16:creationId xmlns:a16="http://schemas.microsoft.com/office/drawing/2014/main" id="{A58C8FE0-0FFF-4DB0-B02A-27D3CAF8B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68" name="Text Box 63">
              <a:extLst>
                <a:ext uri="{FF2B5EF4-FFF2-40B4-BE49-F238E27FC236}">
                  <a16:creationId xmlns:a16="http://schemas.microsoft.com/office/drawing/2014/main" id="{F324EF15-556C-400D-AAB3-8FCDE80CA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>
                  <a:solidFill>
                    <a:srgbClr val="FF0000"/>
                  </a:solidFill>
                </a:rPr>
                <a:t>H(m)</a:t>
              </a:r>
            </a:p>
          </p:txBody>
        </p:sp>
      </p:grpSp>
      <p:sp>
        <p:nvSpPr>
          <p:cNvPr id="69" name="Line 64">
            <a:extLst>
              <a:ext uri="{FF2B5EF4-FFF2-40B4-BE49-F238E27FC236}">
                <a16:creationId xmlns:a16="http://schemas.microsoft.com/office/drawing/2014/main" id="{0A8BBF14-CA36-4074-9AEF-D1E6A3B69A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0211" y="2781290"/>
            <a:ext cx="1449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0" name="Line 65">
            <a:extLst>
              <a:ext uri="{FF2B5EF4-FFF2-40B4-BE49-F238E27FC236}">
                <a16:creationId xmlns:a16="http://schemas.microsoft.com/office/drawing/2014/main" id="{46835AE7-A689-4C99-AA34-25B2B0D60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3486" y="3124190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" name="Line 66">
            <a:extLst>
              <a:ext uri="{FF2B5EF4-FFF2-40B4-BE49-F238E27FC236}">
                <a16:creationId xmlns:a16="http://schemas.microsoft.com/office/drawing/2014/main" id="{D919BA46-375E-492C-A349-8B9675CE2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3174" y="4246552"/>
            <a:ext cx="15875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2" name="Line 67">
            <a:extLst>
              <a:ext uri="{FF2B5EF4-FFF2-40B4-BE49-F238E27FC236}">
                <a16:creationId xmlns:a16="http://schemas.microsoft.com/office/drawing/2014/main" id="{CE813F05-89A4-45BF-8963-1E98E814E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4286" y="5102215"/>
            <a:ext cx="15875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3" name="Text Box 68">
            <a:extLst>
              <a:ext uri="{FF2B5EF4-FFF2-40B4-BE49-F238E27FC236}">
                <a16:creationId xmlns:a16="http://schemas.microsoft.com/office/drawing/2014/main" id="{EB99B282-D11D-41A1-B86A-1E72F8B54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486" y="3852852"/>
            <a:ext cx="84931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 sz="1600"/>
              <a:t>chave</a:t>
            </a:r>
            <a:br>
              <a:rPr lang="pt-BR" sz="1600"/>
            </a:br>
            <a:r>
              <a:rPr lang="pt-BR" sz="1600"/>
              <a:t>pública</a:t>
            </a:r>
            <a:br>
              <a:rPr lang="pt-BR" sz="1600"/>
            </a:br>
            <a:r>
              <a:rPr lang="pt-BR" sz="1600"/>
              <a:t>de Bob</a:t>
            </a:r>
          </a:p>
        </p:txBody>
      </p:sp>
      <p:pic>
        <p:nvPicPr>
          <p:cNvPr id="74" name="Picture 69" descr="BS00768_[1]">
            <a:extLst>
              <a:ext uri="{FF2B5EF4-FFF2-40B4-BE49-F238E27FC236}">
                <a16:creationId xmlns:a16="http://schemas.microsoft.com/office/drawing/2014/main" id="{97F987D8-8ECA-4E5F-B3E2-764DF5817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415261" y="3933815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5" name="Group 70">
            <a:extLst>
              <a:ext uri="{FF2B5EF4-FFF2-40B4-BE49-F238E27FC236}">
                <a16:creationId xmlns:a16="http://schemas.microsoft.com/office/drawing/2014/main" id="{2D3DA44E-B9D6-4516-A136-85E6C49B4E49}"/>
              </a:ext>
            </a:extLst>
          </p:cNvPr>
          <p:cNvGrpSpPr>
            <a:grpSpLocks/>
          </p:cNvGrpSpPr>
          <p:nvPr/>
        </p:nvGrpSpPr>
        <p:grpSpPr bwMode="auto">
          <a:xfrm>
            <a:off x="8358111" y="4259252"/>
            <a:ext cx="482600" cy="603250"/>
            <a:chOff x="2997" y="2073"/>
            <a:chExt cx="304" cy="380"/>
          </a:xfrm>
        </p:grpSpPr>
        <p:grpSp>
          <p:nvGrpSpPr>
            <p:cNvPr id="76" name="Group 71">
              <a:extLst>
                <a:ext uri="{FF2B5EF4-FFF2-40B4-BE49-F238E27FC236}">
                  <a16:creationId xmlns:a16="http://schemas.microsoft.com/office/drawing/2014/main" id="{11FA433D-D50B-4972-92FC-3332CC516E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" y="2144"/>
              <a:ext cx="304" cy="309"/>
              <a:chOff x="2997" y="2144"/>
              <a:chExt cx="304" cy="309"/>
            </a:xfrm>
          </p:grpSpPr>
          <p:sp>
            <p:nvSpPr>
              <p:cNvPr id="78" name="Text Box 72">
                <a:extLst>
                  <a:ext uri="{FF2B5EF4-FFF2-40B4-BE49-F238E27FC236}">
                    <a16:creationId xmlns:a16="http://schemas.microsoft.com/office/drawing/2014/main" id="{1C21999A-9E0B-4F95-A3D6-D7AC903316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79" name="Text Box 73">
                <a:extLst>
                  <a:ext uri="{FF2B5EF4-FFF2-40B4-BE49-F238E27FC236}">
                    <a16:creationId xmlns:a16="http://schemas.microsoft.com/office/drawing/2014/main" id="{A8C59CB8-66C7-4A5E-9007-796049A60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19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  <p:sp>
          <p:nvSpPr>
            <p:cNvPr id="77" name="Text Box 74">
              <a:extLst>
                <a:ext uri="{FF2B5EF4-FFF2-40B4-BE49-F238E27FC236}">
                  <a16:creationId xmlns:a16="http://schemas.microsoft.com/office/drawing/2014/main" id="{BAA69E54-1726-43E2-AD2C-4FEC86DEA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3" y="2073"/>
              <a:ext cx="1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80" name="Line 75">
            <a:extLst>
              <a:ext uri="{FF2B5EF4-FFF2-40B4-BE49-F238E27FC236}">
                <a16:creationId xmlns:a16="http://schemas.microsoft.com/office/drawing/2014/main" id="{171E4CF8-E509-4FD2-ADE2-470E87182C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81936" y="4302115"/>
            <a:ext cx="423863" cy="793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1" name="Line 76">
            <a:extLst>
              <a:ext uri="{FF2B5EF4-FFF2-40B4-BE49-F238E27FC236}">
                <a16:creationId xmlns:a16="http://schemas.microsoft.com/office/drawing/2014/main" id="{548248C2-7F14-4423-AD14-26B017A7A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6349" y="5791190"/>
            <a:ext cx="873125" cy="211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" name="Line 77">
            <a:extLst>
              <a:ext uri="{FF2B5EF4-FFF2-40B4-BE49-F238E27FC236}">
                <a16:creationId xmlns:a16="http://schemas.microsoft.com/office/drawing/2014/main" id="{600A8CD5-9381-4FBF-8265-81348C4F66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75611" y="5784840"/>
            <a:ext cx="873125" cy="211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3" name="Text Box 78">
            <a:extLst>
              <a:ext uri="{FF2B5EF4-FFF2-40B4-BE49-F238E27FC236}">
                <a16:creationId xmlns:a16="http://schemas.microsoft.com/office/drawing/2014/main" id="{5AE99716-4FDB-41DE-A1D1-22C6A5E6C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911" y="5707052"/>
            <a:ext cx="14398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sz="2400"/>
              <a:t>igual</a:t>
            </a:r>
          </a:p>
          <a:p>
            <a:pPr algn="ctr"/>
            <a:r>
              <a:rPr lang="pt-BR" sz="2400"/>
              <a:t> ?</a:t>
            </a:r>
          </a:p>
        </p:txBody>
      </p: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1E4AFE4B-907B-4815-A923-75F203D04DBD}"/>
              </a:ext>
            </a:extLst>
          </p:cNvPr>
          <p:cNvCxnSpPr/>
          <p:nvPr/>
        </p:nvCxnSpPr>
        <p:spPr>
          <a:xfrm>
            <a:off x="1742870" y="3479806"/>
            <a:ext cx="700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5D8832F2-F835-49AB-8CDF-FA2F9E3570A4}"/>
                  </a:ext>
                </a:extLst>
              </p:cNvPr>
              <p:cNvSpPr txBox="1"/>
              <p:nvPr/>
            </p:nvSpPr>
            <p:spPr bwMode="auto">
              <a:xfrm>
                <a:off x="-24035" y="2958284"/>
                <a:ext cx="1965617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eaLnBrk="1" hangingPunct="1"/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Observe que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pt-B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é enviada aberta junto com a assinatura digital </a:t>
                </a:r>
              </a:p>
            </p:txBody>
          </p:sp>
        </mc:Choice>
        <mc:Fallback xmlns="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5D8832F2-F835-49AB-8CDF-FA2F9E357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4035" y="2958284"/>
                <a:ext cx="1965617" cy="1077218"/>
              </a:xfrm>
              <a:prstGeom prst="rect">
                <a:avLst/>
              </a:prstGeom>
              <a:blipFill>
                <a:blip r:embed="rId4"/>
                <a:stretch>
                  <a:fillRect l="-1548" t="-1695" r="-3715" b="-62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1372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E05BA62-F5F8-446F-9DEA-6378A3ACF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FE5F78-F11B-4D10-A6B4-F367B4154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7B697B3-B977-43F9-BCA8-8B15A4223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044" y="4031544"/>
            <a:ext cx="1874838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 dirty="0">
                <a:solidFill>
                  <a:srgbClr val="FF0000"/>
                </a:solidFill>
              </a:rPr>
              <a:t>mensagem de</a:t>
            </a:r>
            <a:br>
              <a:rPr lang="pt-BR" altLang="pt-BR" sz="1800" dirty="0">
                <a:solidFill>
                  <a:srgbClr val="FF0000"/>
                </a:solidFill>
              </a:rPr>
            </a:br>
            <a:r>
              <a:rPr lang="pt-BR" altLang="pt-BR" sz="1800" dirty="0">
                <a:solidFill>
                  <a:srgbClr val="FF0000"/>
                </a:solidFill>
              </a:rPr>
              <a:t>texto aberto, m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11B5967-D40A-4E61-9277-F66C29862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789" y="3958519"/>
            <a:ext cx="1933543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dirty="0">
                <a:solidFill>
                  <a:srgbClr val="FF0000"/>
                </a:solidFill>
              </a:rPr>
              <a:t>texto assinado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9F0EE73-B59C-46A9-AF98-61CD388F5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032" y="3904544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3981FBDA-FA03-4B0F-8BD7-E38B84C99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2994" y="3914069"/>
            <a:ext cx="1512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 de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criptografia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A5AA9D58-AE12-4D05-8D7E-6C02E864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069" y="3917244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569BB9AE-204E-48F0-9332-F3AEDA790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469" y="4031544"/>
            <a:ext cx="1363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 dirty="0">
                <a:solidFill>
                  <a:schemeClr val="bg1"/>
                </a:solidFill>
              </a:rPr>
              <a:t>algoritmo de</a:t>
            </a:r>
            <a:br>
              <a:rPr lang="pt-BR" altLang="pt-BR" sz="1600" dirty="0">
                <a:solidFill>
                  <a:schemeClr val="bg1"/>
                </a:solidFill>
              </a:rPr>
            </a:br>
            <a:r>
              <a:rPr lang="pt-BR" altLang="pt-BR" sz="1600" dirty="0">
                <a:solidFill>
                  <a:schemeClr val="bg1"/>
                </a:solidFill>
              </a:rPr>
              <a:t>decriptação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330AD54D-4C17-4CC8-A769-8982644F4B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9844" y="4312532"/>
            <a:ext cx="180975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BFFB4A5D-9C06-4307-9DE1-9B9C07284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069" y="1820157"/>
            <a:ext cx="1762125" cy="6463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800" dirty="0"/>
              <a:t>Chave privada de Bob</a:t>
            </a:r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AE41A023-E9FD-4AEA-803D-4900D4AD0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4494" y="4342694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2A08114A-27AD-4BC4-91F6-75DD13BCF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9294" y="4298244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7" name="Picture 15" descr="BS00768_[1]">
            <a:extLst>
              <a:ext uri="{FF2B5EF4-FFF2-40B4-BE49-F238E27FC236}">
                <a16:creationId xmlns:a16="http://schemas.microsoft.com/office/drawing/2014/main" id="{88A907D6-83D5-4412-9AD1-AAA051696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75807" y="1963032"/>
            <a:ext cx="458787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16">
            <a:extLst>
              <a:ext uri="{FF2B5EF4-FFF2-40B4-BE49-F238E27FC236}">
                <a16:creationId xmlns:a16="http://schemas.microsoft.com/office/drawing/2014/main" id="{82642FFC-9F37-442E-B2B0-C06B2A24A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432" y="3953757"/>
            <a:ext cx="17446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mensagem de</a:t>
            </a:r>
            <a:br>
              <a:rPr lang="pt-BR" altLang="pt-BR">
                <a:solidFill>
                  <a:srgbClr val="FF0000"/>
                </a:solidFill>
              </a:rPr>
            </a:br>
            <a:r>
              <a:rPr lang="pt-BR" altLang="pt-BR">
                <a:solidFill>
                  <a:srgbClr val="FF0000"/>
                </a:solidFill>
              </a:rPr>
              <a:t>texto aberto</a:t>
            </a:r>
          </a:p>
        </p:txBody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ABB63849-36D2-476F-9D07-14D4819EB4DA}"/>
              </a:ext>
            </a:extLst>
          </p:cNvPr>
          <p:cNvGrpSpPr>
            <a:grpSpLocks/>
          </p:cNvGrpSpPr>
          <p:nvPr/>
        </p:nvGrpSpPr>
        <p:grpSpPr bwMode="auto">
          <a:xfrm>
            <a:off x="5313707" y="4285544"/>
            <a:ext cx="876300" cy="615950"/>
            <a:chOff x="2351" y="2077"/>
            <a:chExt cx="552" cy="388"/>
          </a:xfrm>
        </p:grpSpPr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AE6D943E-3C6E-4B55-A0A1-7AE58B0AC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2132"/>
              <a:ext cx="5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K  (m)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598B42C7-A6EA-4E74-9A51-F65DC2299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6" y="2253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630306E1-A748-4A94-B79A-A6009ABF4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077"/>
              <a:ext cx="1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 dirty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23" name="Text Box 21">
            <a:extLst>
              <a:ext uri="{FF2B5EF4-FFF2-40B4-BE49-F238E27FC236}">
                <a16:creationId xmlns:a16="http://schemas.microsoft.com/office/drawing/2014/main" id="{E26ADAD1-3807-4694-A565-0802CF063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7457" y="1880482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K 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EE1E1F82-2E8A-4212-A2B0-DC4B6ED2C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919" y="2059869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B7AAE26A-043E-4ED5-B404-22CEB628B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2681" y="1780469"/>
            <a:ext cx="2696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623FC11A-DEE0-40C2-8482-3D9D3B203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894" y="2498019"/>
            <a:ext cx="17621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800" dirty="0"/>
              <a:t>Chave </a:t>
            </a:r>
            <a:r>
              <a:rPr lang="pt-BR" altLang="pt-BR" sz="1800" u="sng" dirty="0"/>
              <a:t>pública</a:t>
            </a:r>
          </a:p>
          <a:p>
            <a:r>
              <a:rPr lang="pt-BR" altLang="pt-BR" sz="1800" dirty="0"/>
              <a:t>de Bob</a:t>
            </a:r>
          </a:p>
        </p:txBody>
      </p:sp>
      <p:pic>
        <p:nvPicPr>
          <p:cNvPr id="27" name="Picture 25" descr="BS00768_[1]">
            <a:extLst>
              <a:ext uri="{FF2B5EF4-FFF2-40B4-BE49-F238E27FC236}">
                <a16:creationId xmlns:a16="http://schemas.microsoft.com/office/drawing/2014/main" id="{D813A251-3A3B-4394-8D9A-BAD00329A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72632" y="2636132"/>
            <a:ext cx="542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 Box 26">
            <a:extLst>
              <a:ext uri="{FF2B5EF4-FFF2-40B4-BE49-F238E27FC236}">
                <a16:creationId xmlns:a16="http://schemas.microsoft.com/office/drawing/2014/main" id="{CAC0A5E4-B98D-49AE-99E8-4C8E046F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6982" y="2571044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K 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FA52FAC6-D151-46CA-B88E-FBBC1D941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944" y="2763132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026F2065-21BE-43DB-B3DC-E59B60007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700" y="2483732"/>
            <a:ext cx="2840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 dirty="0">
                <a:solidFill>
                  <a:srgbClr val="FF0000"/>
                </a:solidFill>
              </a:rPr>
              <a:t>+</a:t>
            </a:r>
          </a:p>
        </p:txBody>
      </p:sp>
      <p:grpSp>
        <p:nvGrpSpPr>
          <p:cNvPr id="31" name="Group 29">
            <a:extLst>
              <a:ext uri="{FF2B5EF4-FFF2-40B4-BE49-F238E27FC236}">
                <a16:creationId xmlns:a16="http://schemas.microsoft.com/office/drawing/2014/main" id="{4EC84A74-650E-45CC-BAE1-AEEE28642401}"/>
              </a:ext>
            </a:extLst>
          </p:cNvPr>
          <p:cNvGrpSpPr>
            <a:grpSpLocks/>
          </p:cNvGrpSpPr>
          <p:nvPr/>
        </p:nvGrpSpPr>
        <p:grpSpPr bwMode="auto">
          <a:xfrm>
            <a:off x="8199782" y="4482394"/>
            <a:ext cx="1885950" cy="635000"/>
            <a:chOff x="2413" y="3394"/>
            <a:chExt cx="1188" cy="400"/>
          </a:xfrm>
        </p:grpSpPr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DC40890F-167D-48F5-A420-13B19ACB7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dirty="0">
                  <a:solidFill>
                    <a:srgbClr val="FF0000"/>
                  </a:solidFill>
                </a:rPr>
                <a:t>m = K  </a:t>
              </a:r>
              <a:r>
                <a:rPr lang="pt-BR" altLang="pt-BR" sz="2400" dirty="0">
                  <a:solidFill>
                    <a:srgbClr val="FF0000"/>
                  </a:solidFill>
                </a:rPr>
                <a:t>(</a:t>
              </a:r>
              <a:r>
                <a:rPr lang="pt-BR" altLang="pt-BR" dirty="0">
                  <a:solidFill>
                    <a:srgbClr val="FF0000"/>
                  </a:solidFill>
                </a:rPr>
                <a:t>K  (m)</a:t>
              </a:r>
              <a:r>
                <a:rPr lang="pt-BR" altLang="pt-BR" sz="240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665A5A4C-70EA-457C-AC74-584EBDA68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3" y="3582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6677CCB7-03FA-4616-B557-6A76197E3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3400"/>
              <a:ext cx="1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CDAAE804-3CFB-4124-A2E8-8E29B701A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570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 dirty="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4456EF36-6E43-42AC-9C07-9226C7807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" y="3394"/>
              <a:ext cx="17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 dirty="0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37" name="Freeform 35">
            <a:extLst>
              <a:ext uri="{FF2B5EF4-FFF2-40B4-BE49-F238E27FC236}">
                <a16:creationId xmlns:a16="http://schemas.microsoft.com/office/drawing/2014/main" id="{F036F63B-9196-4523-8A45-7C0657F31EAF}"/>
              </a:ext>
            </a:extLst>
          </p:cNvPr>
          <p:cNvSpPr>
            <a:spLocks/>
          </p:cNvSpPr>
          <p:nvPr/>
        </p:nvSpPr>
        <p:spPr bwMode="auto">
          <a:xfrm>
            <a:off x="4361207" y="2096382"/>
            <a:ext cx="2393950" cy="1754187"/>
          </a:xfrm>
          <a:custGeom>
            <a:avLst/>
            <a:gdLst>
              <a:gd name="T0" fmla="*/ 2147483647 w 1508"/>
              <a:gd name="T1" fmla="*/ 0 h 1105"/>
              <a:gd name="T2" fmla="*/ 0 w 1508"/>
              <a:gd name="T3" fmla="*/ 0 h 1105"/>
              <a:gd name="T4" fmla="*/ 2147483647 w 1508"/>
              <a:gd name="T5" fmla="*/ 2147483647 h 1105"/>
              <a:gd name="T6" fmla="*/ 0 60000 65536"/>
              <a:gd name="T7" fmla="*/ 0 60000 65536"/>
              <a:gd name="T8" fmla="*/ 0 60000 65536"/>
              <a:gd name="T9" fmla="*/ 0 w 1508"/>
              <a:gd name="T10" fmla="*/ 0 h 1105"/>
              <a:gd name="T11" fmla="*/ 1508 w 1508"/>
              <a:gd name="T12" fmla="*/ 1105 h 11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8" h="1105">
                <a:moveTo>
                  <a:pt x="1508" y="0"/>
                </a:moveTo>
                <a:lnTo>
                  <a:pt x="0" y="0"/>
                </a:lnTo>
                <a:lnTo>
                  <a:pt x="5" y="1105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" name="Freeform 36">
            <a:extLst>
              <a:ext uri="{FF2B5EF4-FFF2-40B4-BE49-F238E27FC236}">
                <a16:creationId xmlns:a16="http://schemas.microsoft.com/office/drawing/2014/main" id="{CD732315-0A18-4813-894E-B5271ED2D3EA}"/>
              </a:ext>
            </a:extLst>
          </p:cNvPr>
          <p:cNvSpPr>
            <a:spLocks/>
          </p:cNvSpPr>
          <p:nvPr/>
        </p:nvSpPr>
        <p:spPr bwMode="auto">
          <a:xfrm>
            <a:off x="6805957" y="2769482"/>
            <a:ext cx="330200" cy="1074737"/>
          </a:xfrm>
          <a:custGeom>
            <a:avLst/>
            <a:gdLst>
              <a:gd name="T0" fmla="*/ 2147483647 w 184"/>
              <a:gd name="T1" fmla="*/ 0 h 1113"/>
              <a:gd name="T2" fmla="*/ 0 w 184"/>
              <a:gd name="T3" fmla="*/ 2147483647 h 1113"/>
              <a:gd name="T4" fmla="*/ 2147483647 w 184"/>
              <a:gd name="T5" fmla="*/ 2147483647 h 1113"/>
              <a:gd name="T6" fmla="*/ 0 60000 65536"/>
              <a:gd name="T7" fmla="*/ 0 60000 65536"/>
              <a:gd name="T8" fmla="*/ 0 60000 65536"/>
              <a:gd name="T9" fmla="*/ 0 w 184"/>
              <a:gd name="T10" fmla="*/ 0 h 1113"/>
              <a:gd name="T11" fmla="*/ 184 w 184"/>
              <a:gd name="T12" fmla="*/ 1113 h 11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" h="1113">
                <a:moveTo>
                  <a:pt x="184" y="0"/>
                </a:moveTo>
                <a:lnTo>
                  <a:pt x="0" y="8"/>
                </a:lnTo>
                <a:lnTo>
                  <a:pt x="5" y="1113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2A58A15-00B7-401C-BC6D-ADE22588EB24}"/>
              </a:ext>
            </a:extLst>
          </p:cNvPr>
          <p:cNvSpPr txBox="1"/>
          <p:nvPr/>
        </p:nvSpPr>
        <p:spPr>
          <a:xfrm>
            <a:off x="699564" y="5226483"/>
            <a:ext cx="4552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 como ter as garantias? 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0F3B0D0A-89C4-4769-832D-608CC0507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329" y="3017898"/>
            <a:ext cx="865241" cy="865241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EFC92B00-1EC7-4886-888B-F750609F5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808" y="2867758"/>
            <a:ext cx="1003612" cy="1003612"/>
          </a:xfrm>
          <a:prstGeom prst="rect">
            <a:avLst/>
          </a:prstGeom>
        </p:spPr>
      </p:pic>
      <p:sp>
        <p:nvSpPr>
          <p:cNvPr id="42" name="Text Box 31">
            <a:extLst>
              <a:ext uri="{FF2B5EF4-FFF2-40B4-BE49-F238E27FC236}">
                <a16:creationId xmlns:a16="http://schemas.microsoft.com/office/drawing/2014/main" id="{1F398415-90CF-4A3D-9BDE-6A51C18E2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479" y="3009246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43" name="Text Box 32">
            <a:extLst>
              <a:ext uri="{FF2B5EF4-FFF2-40B4-BE49-F238E27FC236}">
                <a16:creationId xmlns:a16="http://schemas.microsoft.com/office/drawing/2014/main" id="{68D3C035-DCF1-4300-B33F-B5168F9A3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4570" y="2886921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</p:spTree>
    <p:extLst>
      <p:ext uri="{BB962C8B-B14F-4D97-AF65-F5344CB8AC3E}">
        <p14:creationId xmlns:p14="http://schemas.microsoft.com/office/powerpoint/2010/main" val="23901824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pt-BR" sz="2800" dirty="0"/>
                  <a:t>Suponha que Alice receba mensagem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800" dirty="0"/>
                  <a:t> e a assinatura digital</a:t>
                </a:r>
              </a:p>
              <a:p>
                <a:r>
                  <a:rPr lang="pt-BR" altLang="pt-BR" sz="2800" dirty="0"/>
                  <a:t>Alice verifica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800" dirty="0"/>
                  <a:t> assinada por Bob aplicando chave pública de Bob       a            , depois verifica              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6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CC1E69D-7A74-4D4A-B1E7-409A89E5D421}"/>
                  </a:ext>
                </a:extLst>
              </p:cNvPr>
              <p:cNvSpPr txBox="1"/>
              <p:nvPr/>
            </p:nvSpPr>
            <p:spPr>
              <a:xfrm>
                <a:off x="2670021" y="2615208"/>
                <a:ext cx="13279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CC1E69D-7A74-4D4A-B1E7-409A89E5D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021" y="2615208"/>
                <a:ext cx="132792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6E85958-231A-411C-AD92-731A6F627DEC}"/>
                  </a:ext>
                </a:extLst>
              </p:cNvPr>
              <p:cNvSpPr txBox="1"/>
              <p:nvPr/>
            </p:nvSpPr>
            <p:spPr>
              <a:xfrm>
                <a:off x="4156952" y="3978571"/>
                <a:ext cx="63645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6E85958-231A-411C-AD92-731A6F627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952" y="3978571"/>
                <a:ext cx="636456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027665C-5C42-4EEF-B013-5A8E00CE07C4}"/>
                  </a:ext>
                </a:extLst>
              </p:cNvPr>
              <p:cNvSpPr txBox="1"/>
              <p:nvPr/>
            </p:nvSpPr>
            <p:spPr>
              <a:xfrm>
                <a:off x="5274250" y="3978570"/>
                <a:ext cx="13279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027665C-5C42-4EEF-B013-5A8E00CE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250" y="3978570"/>
                <a:ext cx="132792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DC076C9-54AB-4337-96CF-4DD83B06473C}"/>
                  </a:ext>
                </a:extLst>
              </p:cNvPr>
              <p:cNvSpPr txBox="1"/>
              <p:nvPr/>
            </p:nvSpPr>
            <p:spPr>
              <a:xfrm>
                <a:off x="1304679" y="4621121"/>
                <a:ext cx="3126690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d>
                        <m:dPr>
                          <m:ctrlP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pt-BR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DC076C9-54AB-4337-96CF-4DD83B064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679" y="4621121"/>
                <a:ext cx="3126690" cy="555858"/>
              </a:xfrm>
              <a:prstGeom prst="rect">
                <a:avLst/>
              </a:prstGeom>
              <a:blipFill>
                <a:blip r:embed="rId6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9719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pt-BR" sz="2800" dirty="0"/>
                  <a:t>Garantia: se                          , quem assinou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800" dirty="0"/>
                  <a:t> deve ter usado a chave privada de Bob.</a:t>
                </a:r>
              </a:p>
              <a:p>
                <a:r>
                  <a:rPr lang="pt-BR" altLang="pt-BR" sz="2800" dirty="0"/>
                  <a:t>A única pessoa que poderia conhecer a chave é Bob (pois conhecer a chave publica não serve para descobrir a chave privada). 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DC076C9-54AB-4337-96CF-4DD83B06473C}"/>
                  </a:ext>
                </a:extLst>
              </p:cNvPr>
              <p:cNvSpPr txBox="1"/>
              <p:nvPr/>
            </p:nvSpPr>
            <p:spPr>
              <a:xfrm>
                <a:off x="3767792" y="1943824"/>
                <a:ext cx="3126690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d>
                        <m:dPr>
                          <m:ctrlP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pt-BR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DC076C9-54AB-4337-96CF-4DD83B064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792" y="1943824"/>
                <a:ext cx="3126690" cy="555858"/>
              </a:xfrm>
              <a:prstGeom prst="rect">
                <a:avLst/>
              </a:prstGeom>
              <a:blipFill>
                <a:blip r:embed="rId3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173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pt-BR" sz="2800" dirty="0"/>
                  <a:t>Portanto a única pessoa que poderia conhecer               é Bob. </a:t>
                </a:r>
              </a:p>
              <a:p>
                <a:r>
                  <a:rPr lang="pt-BR" altLang="pt-BR" sz="2800" dirty="0"/>
                  <a:t>Assim, Alice verifica se:</a:t>
                </a:r>
              </a:p>
              <a:p>
                <a:pPr lvl="1"/>
                <a:r>
                  <a:rPr lang="pt-BR" altLang="pt-BR" sz="2400" dirty="0"/>
                  <a:t>Bob assinou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400" dirty="0"/>
                  <a:t>.</a:t>
                </a:r>
              </a:p>
              <a:p>
                <a:pPr lvl="1"/>
                <a:r>
                  <a:rPr lang="pt-BR" altLang="pt-BR" sz="2400" dirty="0"/>
                  <a:t>Ninguém mais assinou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400" dirty="0"/>
                  <a:t>.</a:t>
                </a:r>
              </a:p>
              <a:p>
                <a:pPr lvl="1"/>
                <a:r>
                  <a:rPr lang="pt-BR" altLang="pt-BR" sz="2400" dirty="0"/>
                  <a:t>Bob assinou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400" dirty="0"/>
                  <a:t> e não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sz="2400" dirty="0"/>
                  <a:t>’.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3710" b="-9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D7B2CD4-DC73-4F4B-82DE-11FB117913F0}"/>
                  </a:ext>
                </a:extLst>
              </p:cNvPr>
              <p:cNvSpPr txBox="1"/>
              <p:nvPr/>
            </p:nvSpPr>
            <p:spPr>
              <a:xfrm>
                <a:off x="9783925" y="1972657"/>
                <a:ext cx="13279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D7B2CD4-DC73-4F4B-82DE-11FB11791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925" y="1972657"/>
                <a:ext cx="132792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9912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pt-BR" dirty="0"/>
                  <a:t>Não </a:t>
                </a:r>
                <a:r>
                  <a:rPr lang="pt-BR" altLang="pt-BR" dirty="0" err="1"/>
                  <a:t>repudiação</a:t>
                </a:r>
                <a:r>
                  <a:rPr lang="pt-BR" altLang="pt-BR" dirty="0"/>
                  <a:t>:</a:t>
                </a:r>
              </a:p>
              <a:p>
                <a:pPr lvl="1"/>
                <a:r>
                  <a:rPr lang="pt-BR" altLang="pt-BR" dirty="0"/>
                  <a:t>Alice pode levar </a:t>
                </a:r>
                <a14:m>
                  <m:oMath xmlns:m="http://schemas.openxmlformats.org/officeDocument/2006/math">
                    <m:r>
                      <a:rPr lang="pt-BR" altLang="pt-B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dirty="0"/>
                  <a:t> e assinatura            ao tribunal e provar que Bob assinou </a:t>
                </a:r>
                <a14:m>
                  <m:oMath xmlns:m="http://schemas.openxmlformats.org/officeDocument/2006/math">
                    <m:r>
                      <a:rPr lang="pt-BR" altLang="pt-B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altLang="pt-BR" dirty="0"/>
                  <a:t>. </a:t>
                </a:r>
              </a:p>
              <a:p>
                <a:endParaRPr lang="pt-BR" alt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A92D78A-A993-4E20-88BB-69F73578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AF1FFB3-90A8-4AF4-AAAA-AE7E0C4812B4}"/>
                  </a:ext>
                </a:extLst>
              </p:cNvPr>
              <p:cNvSpPr txBox="1"/>
              <p:nvPr/>
            </p:nvSpPr>
            <p:spPr>
              <a:xfrm>
                <a:off x="7627003" y="2788201"/>
                <a:ext cx="13279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2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pt-BR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AF1FFB3-90A8-4AF4-AAAA-AE7E0C481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003" y="2788201"/>
                <a:ext cx="132792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451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1F40BA4-9E9D-45D9-A135-A41E3B6D1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493DC4-8E5B-42AA-90CA-4D2938800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Assinaturas digitais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92D78A-A993-4E20-88BB-69F73578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Demonstração: aula03_sign.ipynb</a:t>
            </a:r>
          </a:p>
          <a:p>
            <a:endParaRPr lang="pt-BR" alt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8CCD7F-A4FA-4485-AD90-ED4FE48C2A3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0347760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22A7F00-0071-4D61-BB46-422BA7BE4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Certificação de chaves públicas</a:t>
            </a:r>
          </a:p>
        </p:txBody>
      </p:sp>
    </p:spTree>
    <p:extLst>
      <p:ext uri="{BB962C8B-B14F-4D97-AF65-F5344CB8AC3E}">
        <p14:creationId xmlns:p14="http://schemas.microsoft.com/office/powerpoint/2010/main" val="13655171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Certificação de chaves públicas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Trote da pizza: Suponha que </a:t>
            </a:r>
            <a:r>
              <a:rPr lang="pt-BR" sz="2800" dirty="0" err="1"/>
              <a:t>Trudy</a:t>
            </a:r>
            <a:r>
              <a:rPr lang="pt-BR" sz="2800" dirty="0"/>
              <a:t> envie uma mensagem para a Alice dizendo que é Bob, fornece o endereço de Bob e pede a pizza. </a:t>
            </a:r>
          </a:p>
          <a:p>
            <a:pPr lvl="1"/>
            <a:r>
              <a:rPr lang="pt-BR" sz="2400" dirty="0" err="1"/>
              <a:t>Trudy</a:t>
            </a:r>
            <a:r>
              <a:rPr lang="pt-BR" sz="2400" dirty="0"/>
              <a:t> cria pedido por e-mail: </a:t>
            </a:r>
            <a:br>
              <a:rPr lang="pt-BR" sz="2400" dirty="0"/>
            </a:br>
            <a:r>
              <a:rPr lang="pt-BR" sz="2400" dirty="0"/>
              <a:t>“</a:t>
            </a:r>
            <a:r>
              <a:rPr lang="pt-BR" sz="2400" i="1" dirty="0"/>
              <a:t>Prezada pizzaria, Por favor, me entregue quatro pizzas de calabresa. Obrigado, Bob</a:t>
            </a:r>
            <a:r>
              <a:rPr lang="pt-BR" sz="2400" dirty="0"/>
              <a:t>”. (cont...)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2797508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Certificação de chaves públicas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sz="2400" dirty="0" err="1"/>
              <a:t>Trudy</a:t>
            </a:r>
            <a:r>
              <a:rPr lang="pt-BR" sz="2400" dirty="0"/>
              <a:t> assina pedido com sua chave privada</a:t>
            </a:r>
          </a:p>
          <a:p>
            <a:pPr lvl="1"/>
            <a:r>
              <a:rPr lang="pt-BR" sz="2400" dirty="0" err="1"/>
              <a:t>Trudy</a:t>
            </a:r>
            <a:r>
              <a:rPr lang="pt-BR" sz="2400" dirty="0"/>
              <a:t> envia pedido à pizzaria</a:t>
            </a:r>
          </a:p>
          <a:p>
            <a:pPr lvl="1"/>
            <a:r>
              <a:rPr lang="pt-BR" sz="2400" dirty="0" err="1"/>
              <a:t>Trudy</a:t>
            </a:r>
            <a:r>
              <a:rPr lang="pt-BR" sz="2400" dirty="0"/>
              <a:t> envia à pizzaria sua chave pública, mas diz que é a chave pública de Bob.</a:t>
            </a:r>
          </a:p>
          <a:p>
            <a:pPr lvl="1"/>
            <a:r>
              <a:rPr lang="pt-BR" sz="2400" dirty="0"/>
              <a:t>pizzaria verifica assinatura; depois, entrega quatro pizzas para Bob.</a:t>
            </a:r>
          </a:p>
          <a:p>
            <a:pPr lvl="1"/>
            <a:r>
              <a:rPr lang="pt-BR" sz="2400" dirty="0"/>
              <a:t>Bob nem sequer gosta de calabresa.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8813A0-2F62-41C3-9F0A-FBA25589604E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0857545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Certificação de chaves públicas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que a criptografia de chaves públicas seja útil, você precisa ser capaz de verificar se você tem a chave pública verdadeira da entidade com o qual quer se comunicar.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0282810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Autoridades de certificação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Esta tarefa é feita por um entidade certificadora (CA), cuja tarefa é validar identidades e emitir certificados. </a:t>
            </a:r>
          </a:p>
          <a:p>
            <a:pPr lvl="1"/>
            <a:r>
              <a:rPr lang="pt-BR" sz="2400" dirty="0"/>
              <a:t>Ela deve ser confiável</a:t>
            </a:r>
          </a:p>
          <a:p>
            <a:pPr lvl="1"/>
            <a:r>
              <a:rPr lang="pt-BR" sz="2400" dirty="0"/>
              <a:t>Cria um certificado que vincula a chave pública da entidade à identidade vinculada.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6695571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Certificação de chaves públicas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>
                <a:solidFill>
                  <a:srgbClr val="FF0000"/>
                </a:solidFill>
              </a:rPr>
              <a:t>Autoridade de Certificação (CA)</a:t>
            </a:r>
            <a:r>
              <a:rPr lang="pt-BR" sz="2400" dirty="0"/>
              <a:t>: vincula chave pública à entidade particular, E.</a:t>
            </a:r>
          </a:p>
          <a:p>
            <a:r>
              <a:rPr lang="pt-BR" sz="2400" dirty="0"/>
              <a:t>E (pessoa, roteador) registra sua chave pública com CA.</a:t>
            </a:r>
          </a:p>
          <a:p>
            <a:pPr lvl="1"/>
            <a:r>
              <a:rPr lang="pt-BR" sz="2000" dirty="0"/>
              <a:t>Entidade E fornece “prova de identidade” à CA. </a:t>
            </a:r>
          </a:p>
          <a:p>
            <a:pPr lvl="1"/>
            <a:r>
              <a:rPr lang="pt-BR" sz="2000" dirty="0"/>
              <a:t>CA cria certificado vinculando E à sua chave pública.</a:t>
            </a:r>
          </a:p>
          <a:p>
            <a:pPr lvl="1"/>
            <a:r>
              <a:rPr lang="pt-BR" sz="2000" dirty="0"/>
              <a:t>Certificado contendo chave pública de E assinada digitalmente pela CA – CA diz “esta é a chave pública de E”</a:t>
            </a:r>
          </a:p>
          <a:p>
            <a:endParaRPr lang="pt-BR" sz="2400" dirty="0"/>
          </a:p>
          <a:p>
            <a:endParaRPr lang="pt-BR" sz="20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1835368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Autoridades de certificação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p:pic>
        <p:nvPicPr>
          <p:cNvPr id="8" name="Picture 4" descr="j0175664[1]">
            <a:extLst>
              <a:ext uri="{FF2B5EF4-FFF2-40B4-BE49-F238E27FC236}">
                <a16:creationId xmlns:a16="http://schemas.microsoft.com/office/drawing/2014/main" id="{270036D6-8F67-4EB7-94F5-0CC6F19C2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26949" y="3300643"/>
            <a:ext cx="1155700" cy="917575"/>
          </a:xfrm>
          <a:prstGeom prst="rect">
            <a:avLst/>
          </a:prstGeom>
          <a:noFill/>
        </p:spPr>
      </p:pic>
      <p:sp>
        <p:nvSpPr>
          <p:cNvPr id="10" name="Text Box 6">
            <a:extLst>
              <a:ext uri="{FF2B5EF4-FFF2-40B4-BE49-F238E27FC236}">
                <a16:creationId xmlns:a16="http://schemas.microsoft.com/office/drawing/2014/main" id="{63BB0B92-46DF-4B41-82E8-2144DA820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424" y="2645005"/>
            <a:ext cx="9604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 sz="1600"/>
              <a:t>chave pública</a:t>
            </a:r>
            <a:br>
              <a:rPr lang="pt-BR" sz="1600"/>
            </a:br>
            <a:r>
              <a:rPr lang="pt-BR" sz="1600"/>
              <a:t>de Bob </a:t>
            </a:r>
          </a:p>
        </p:txBody>
      </p:sp>
      <p:pic>
        <p:nvPicPr>
          <p:cNvPr id="11" name="Picture 7" descr="BS00768_[1]">
            <a:extLst>
              <a:ext uri="{FF2B5EF4-FFF2-40B4-BE49-F238E27FC236}">
                <a16:creationId xmlns:a16="http://schemas.microsoft.com/office/drawing/2014/main" id="{E1B670F8-B998-4094-AD84-85A680D58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36324" y="2725968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8">
            <a:extLst>
              <a:ext uri="{FF2B5EF4-FFF2-40B4-BE49-F238E27FC236}">
                <a16:creationId xmlns:a16="http://schemas.microsoft.com/office/drawing/2014/main" id="{01C71E10-FB8C-425E-BF6D-E79A98B85591}"/>
              </a:ext>
            </a:extLst>
          </p:cNvPr>
          <p:cNvGrpSpPr>
            <a:grpSpLocks/>
          </p:cNvGrpSpPr>
          <p:nvPr/>
        </p:nvGrpSpPr>
        <p:grpSpPr bwMode="auto">
          <a:xfrm>
            <a:off x="3250599" y="2964093"/>
            <a:ext cx="482600" cy="603250"/>
            <a:chOff x="2997" y="2073"/>
            <a:chExt cx="304" cy="380"/>
          </a:xfrm>
        </p:grpSpPr>
        <p:grpSp>
          <p:nvGrpSpPr>
            <p:cNvPr id="13" name="Group 9">
              <a:extLst>
                <a:ext uri="{FF2B5EF4-FFF2-40B4-BE49-F238E27FC236}">
                  <a16:creationId xmlns:a16="http://schemas.microsoft.com/office/drawing/2014/main" id="{3FCCFD84-F69C-4434-9B85-FBB50A6172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" y="2144"/>
              <a:ext cx="304" cy="309"/>
              <a:chOff x="2997" y="2144"/>
              <a:chExt cx="304" cy="309"/>
            </a:xfrm>
          </p:grpSpPr>
          <p:sp>
            <p:nvSpPr>
              <p:cNvPr id="15" name="Text Box 10">
                <a:extLst>
                  <a:ext uri="{FF2B5EF4-FFF2-40B4-BE49-F238E27FC236}">
                    <a16:creationId xmlns:a16="http://schemas.microsoft.com/office/drawing/2014/main" id="{2BD663A2-DF8D-4AEE-90CD-099DD19F75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16" name="Text Box 11">
                <a:extLst>
                  <a:ext uri="{FF2B5EF4-FFF2-40B4-BE49-F238E27FC236}">
                    <a16:creationId xmlns:a16="http://schemas.microsoft.com/office/drawing/2014/main" id="{D129672C-73F1-449A-97FA-535E5D2EE2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19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52F90EBD-8757-4D70-BB80-C0422716B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3" y="2073"/>
              <a:ext cx="1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17" name="Line 13">
            <a:extLst>
              <a:ext uri="{FF2B5EF4-FFF2-40B4-BE49-F238E27FC236}">
                <a16:creationId xmlns:a16="http://schemas.microsoft.com/office/drawing/2014/main" id="{4093E937-7B66-40EF-8772-5AF0D71B0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4949" y="2972030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5B01986C-3D93-46CB-8C58-BCA4887DE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524" y="3827693"/>
            <a:ext cx="15700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 sz="1600"/>
              <a:t>informação de</a:t>
            </a:r>
            <a:br>
              <a:rPr lang="pt-BR" sz="1600"/>
            </a:br>
            <a:r>
              <a:rPr lang="pt-BR" sz="1600"/>
              <a:t>identificação de Bob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C049D05B-A543-478D-81AC-93230802CC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8437" y="3754668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0" name="Group 16">
            <a:extLst>
              <a:ext uri="{FF2B5EF4-FFF2-40B4-BE49-F238E27FC236}">
                <a16:creationId xmlns:a16="http://schemas.microsoft.com/office/drawing/2014/main" id="{997413E1-54C2-4292-9EBD-DB676728B301}"/>
              </a:ext>
            </a:extLst>
          </p:cNvPr>
          <p:cNvGrpSpPr>
            <a:grpSpLocks/>
          </p:cNvGrpSpPr>
          <p:nvPr/>
        </p:nvGrpSpPr>
        <p:grpSpPr bwMode="auto">
          <a:xfrm>
            <a:off x="6023962" y="2544993"/>
            <a:ext cx="1277937" cy="955675"/>
            <a:chOff x="1104" y="2124"/>
            <a:chExt cx="805" cy="602"/>
          </a:xfrm>
        </p:grpSpPr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52ECDAA0-4856-4490-B19C-601A64165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7ED790FA-146C-41F1-85E9-12B7AD294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27"/>
              <a:ext cx="805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800">
                  <a:solidFill>
                    <a:schemeClr val="bg1"/>
                  </a:solidFill>
                </a:rPr>
                <a:t>assinatura</a:t>
              </a:r>
              <a:br>
                <a:rPr lang="pt-BR" sz="1800">
                  <a:solidFill>
                    <a:schemeClr val="bg1"/>
                  </a:solidFill>
                </a:rPr>
              </a:br>
              <a:r>
                <a:rPr lang="pt-BR" sz="1800">
                  <a:solidFill>
                    <a:schemeClr val="bg1"/>
                  </a:solidFill>
                </a:rPr>
                <a:t>digital</a:t>
              </a:r>
            </a:p>
            <a:p>
              <a:pPr algn="ctr"/>
              <a:r>
                <a:rPr lang="pt-BR" sz="1800">
                  <a:solidFill>
                    <a:schemeClr val="bg1"/>
                  </a:solidFill>
                </a:rPr>
                <a:t>(cript.)</a:t>
              </a:r>
            </a:p>
          </p:txBody>
        </p:sp>
      </p:grpSp>
      <p:sp>
        <p:nvSpPr>
          <p:cNvPr id="23" name="Text Box 19">
            <a:extLst>
              <a:ext uri="{FF2B5EF4-FFF2-40B4-BE49-F238E27FC236}">
                <a16:creationId xmlns:a16="http://schemas.microsoft.com/office/drawing/2014/main" id="{8D74C1E1-A0D6-4E89-9E1E-071885CD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324" y="3540355"/>
            <a:ext cx="9604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 sz="1600"/>
              <a:t>chave</a:t>
            </a:r>
            <a:br>
              <a:rPr lang="pt-BR" sz="1600"/>
            </a:br>
            <a:r>
              <a:rPr lang="pt-BR" sz="1600"/>
              <a:t>privada</a:t>
            </a:r>
            <a:br>
              <a:rPr lang="pt-BR" sz="1600"/>
            </a:br>
            <a:r>
              <a:rPr lang="pt-BR" sz="1600"/>
              <a:t>da CA </a:t>
            </a:r>
          </a:p>
        </p:txBody>
      </p:sp>
      <p:pic>
        <p:nvPicPr>
          <p:cNvPr id="24" name="Picture 20" descr="BS00768_[1]">
            <a:extLst>
              <a:ext uri="{FF2B5EF4-FFF2-40B4-BE49-F238E27FC236}">
                <a16:creationId xmlns:a16="http://schemas.microsoft.com/office/drawing/2014/main" id="{9D6659BF-7540-4355-BA3C-931AD277F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917724" y="3634018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 21">
            <a:extLst>
              <a:ext uri="{FF2B5EF4-FFF2-40B4-BE49-F238E27FC236}">
                <a16:creationId xmlns:a16="http://schemas.microsoft.com/office/drawing/2014/main" id="{48689DBE-1FE7-4A12-B110-CAFC545B62C3}"/>
              </a:ext>
            </a:extLst>
          </p:cNvPr>
          <p:cNvGrpSpPr>
            <a:grpSpLocks/>
          </p:cNvGrpSpPr>
          <p:nvPr/>
        </p:nvGrpSpPr>
        <p:grpSpPr bwMode="auto">
          <a:xfrm>
            <a:off x="6611337" y="3872143"/>
            <a:ext cx="627062" cy="477837"/>
            <a:chOff x="3773" y="3688"/>
            <a:chExt cx="395" cy="301"/>
          </a:xfrm>
        </p:grpSpPr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026DD863-F652-4987-A323-732A596FE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3" y="3688"/>
              <a:ext cx="2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>
                  <a:solidFill>
                    <a:srgbClr val="FF0000"/>
                  </a:solidFill>
                </a:rPr>
                <a:t>K </a:t>
              </a:r>
            </a:p>
          </p:txBody>
        </p: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6A5FEC02-98E8-4B8F-86FB-B43B0719E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1" y="3777"/>
              <a:ext cx="2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CA</a:t>
              </a:r>
            </a:p>
          </p:txBody>
        </p:sp>
      </p:grpSp>
      <p:sp>
        <p:nvSpPr>
          <p:cNvPr id="28" name="Text Box 24">
            <a:extLst>
              <a:ext uri="{FF2B5EF4-FFF2-40B4-BE49-F238E27FC236}">
                <a16:creationId xmlns:a16="http://schemas.microsoft.com/office/drawing/2014/main" id="{60080316-8467-4850-A622-14CE33219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074" y="3707043"/>
            <a:ext cx="311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sz="240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9" name="Line 25">
            <a:extLst>
              <a:ext uri="{FF2B5EF4-FFF2-40B4-BE49-F238E27FC236}">
                <a16:creationId xmlns:a16="http://schemas.microsoft.com/office/drawing/2014/main" id="{1C2DA702-4235-452F-A081-86D0305D49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6762" y="3453043"/>
            <a:ext cx="0" cy="4286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0" name="Line 26">
            <a:extLst>
              <a:ext uri="{FF2B5EF4-FFF2-40B4-BE49-F238E27FC236}">
                <a16:creationId xmlns:a16="http://schemas.microsoft.com/office/drawing/2014/main" id="{AB9C713F-249A-4AC5-A008-2236FA54F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5749" y="2789468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E50C144B-2B06-47AD-A9B9-E27F242A6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2374" y="2816455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32" name="Group 28">
            <a:extLst>
              <a:ext uri="{FF2B5EF4-FFF2-40B4-BE49-F238E27FC236}">
                <a16:creationId xmlns:a16="http://schemas.microsoft.com/office/drawing/2014/main" id="{00A448C8-CA75-4D04-83BE-000997F8E1A4}"/>
              </a:ext>
            </a:extLst>
          </p:cNvPr>
          <p:cNvGrpSpPr>
            <a:grpSpLocks/>
          </p:cNvGrpSpPr>
          <p:nvPr/>
        </p:nvGrpSpPr>
        <p:grpSpPr bwMode="auto">
          <a:xfrm>
            <a:off x="8260749" y="2524355"/>
            <a:ext cx="858838" cy="1158875"/>
            <a:chOff x="4446" y="2648"/>
            <a:chExt cx="541" cy="730"/>
          </a:xfrm>
        </p:grpSpPr>
        <p:pic>
          <p:nvPicPr>
            <p:cNvPr id="33" name="Picture 29" descr="SO00109_[1]">
              <a:extLst>
                <a:ext uri="{FF2B5EF4-FFF2-40B4-BE49-F238E27FC236}">
                  <a16:creationId xmlns:a16="http://schemas.microsoft.com/office/drawing/2014/main" id="{2715BED4-B1A5-4E1D-86D0-2D1A8E3595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4" name="Group 30">
              <a:extLst>
                <a:ext uri="{FF2B5EF4-FFF2-40B4-BE49-F238E27FC236}">
                  <a16:creationId xmlns:a16="http://schemas.microsoft.com/office/drawing/2014/main" id="{231E23D2-D327-4E19-9012-47CDB670AC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3" y="2766"/>
              <a:ext cx="304" cy="380"/>
              <a:chOff x="2997" y="2073"/>
              <a:chExt cx="304" cy="380"/>
            </a:xfrm>
          </p:grpSpPr>
          <p:grpSp>
            <p:nvGrpSpPr>
              <p:cNvPr id="36" name="Group 31">
                <a:extLst>
                  <a:ext uri="{FF2B5EF4-FFF2-40B4-BE49-F238E27FC236}">
                    <a16:creationId xmlns:a16="http://schemas.microsoft.com/office/drawing/2014/main" id="{6F2E264E-5FEE-42BB-9B82-7BCB06BA1E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7" y="2144"/>
                <a:ext cx="304" cy="309"/>
                <a:chOff x="2997" y="2144"/>
                <a:chExt cx="304" cy="309"/>
              </a:xfrm>
            </p:grpSpPr>
            <p:sp>
              <p:nvSpPr>
                <p:cNvPr id="38" name="Text Box 32">
                  <a:extLst>
                    <a:ext uri="{FF2B5EF4-FFF2-40B4-BE49-F238E27FC236}">
                      <a16:creationId xmlns:a16="http://schemas.microsoft.com/office/drawing/2014/main" id="{89E248C3-CAF5-4962-86AC-764AA600B6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7" y="2144"/>
                  <a:ext cx="262" cy="2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pt-BR">
                      <a:solidFill>
                        <a:srgbClr val="FF0000"/>
                      </a:solidFill>
                    </a:rPr>
                    <a:t>K </a:t>
                  </a:r>
                </a:p>
              </p:txBody>
            </p:sp>
            <p:sp>
              <p:nvSpPr>
                <p:cNvPr id="39" name="Text Box 33">
                  <a:extLst>
                    <a:ext uri="{FF2B5EF4-FFF2-40B4-BE49-F238E27FC236}">
                      <a16:creationId xmlns:a16="http://schemas.microsoft.com/office/drawing/2014/main" id="{500CAD68-46B2-4994-8C89-559A5EC657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4" y="2241"/>
                  <a:ext cx="19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pt-BR" sz="160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</p:grpSp>
          <p:sp>
            <p:nvSpPr>
              <p:cNvPr id="37" name="Text Box 34">
                <a:extLst>
                  <a:ext uri="{FF2B5EF4-FFF2-40B4-BE49-F238E27FC236}">
                    <a16:creationId xmlns:a16="http://schemas.microsoft.com/office/drawing/2014/main" id="{ED252687-6296-481A-8DF3-EDCB93BB31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3" y="2073"/>
                <a:ext cx="17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+</a:t>
                </a:r>
              </a:p>
            </p:txBody>
          </p:sp>
        </p:grpSp>
        <p:pic>
          <p:nvPicPr>
            <p:cNvPr id="35" name="Picture 35" descr="BS00768_[1]">
              <a:extLst>
                <a:ext uri="{FF2B5EF4-FFF2-40B4-BE49-F238E27FC236}">
                  <a16:creationId xmlns:a16="http://schemas.microsoft.com/office/drawing/2014/main" id="{8DB8D870-9E4C-494A-AEE6-03F64E96B2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" name="Text Box 36">
            <a:extLst>
              <a:ext uri="{FF2B5EF4-FFF2-40B4-BE49-F238E27FC236}">
                <a16:creationId xmlns:a16="http://schemas.microsoft.com/office/drawing/2014/main" id="{8DFAAF1E-4DB5-44D6-92F2-60176B65B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2524" y="3618143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/>
              <a:t>certificado para</a:t>
            </a:r>
            <a:br>
              <a:rPr lang="pt-BR"/>
            </a:br>
            <a:r>
              <a:rPr lang="pt-BR"/>
              <a:t>chave pública de Bob, assinada pela CA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846C3C60-E5F4-42AE-BBBD-AB39F4B0B9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556" y="4151387"/>
            <a:ext cx="1003612" cy="100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540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Autoridades de certificação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5423" cy="3990289"/>
          </a:xfrm>
        </p:spPr>
        <p:txBody>
          <a:bodyPr/>
          <a:lstStyle/>
          <a:p>
            <a:r>
              <a:rPr lang="pt-BR" sz="2400" dirty="0"/>
              <a:t>Quando Alice quer a chave pública de Bob:</a:t>
            </a:r>
          </a:p>
          <a:p>
            <a:pPr lvl="1"/>
            <a:r>
              <a:rPr lang="pt-BR" sz="2000" dirty="0"/>
              <a:t>recebe certificado de Bob.</a:t>
            </a:r>
          </a:p>
          <a:p>
            <a:pPr lvl="1"/>
            <a:r>
              <a:rPr lang="pt-BR" sz="2000" dirty="0"/>
              <a:t>aplica chave pública da CA ao certificado de Bob, recebe chave pública de Bob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p:pic>
        <p:nvPicPr>
          <p:cNvPr id="6" name="Picture 4" descr="j0175664[1]">
            <a:extLst>
              <a:ext uri="{FF2B5EF4-FFF2-40B4-BE49-F238E27FC236}">
                <a16:creationId xmlns:a16="http://schemas.microsoft.com/office/drawing/2014/main" id="{18BD8712-6671-4AC0-BF1C-81F381651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84586" y="4293720"/>
            <a:ext cx="938212" cy="744538"/>
          </a:xfrm>
          <a:prstGeom prst="rect">
            <a:avLst/>
          </a:prstGeom>
          <a:noFill/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79CB408B-3716-45FE-B5D1-F03DA745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6798" y="2518895"/>
            <a:ext cx="9604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 sz="1600"/>
              <a:t>chave</a:t>
            </a:r>
            <a:br>
              <a:rPr lang="pt-BR" sz="1600"/>
            </a:br>
            <a:r>
              <a:rPr lang="pt-BR" sz="1600"/>
              <a:t>pública</a:t>
            </a:r>
            <a:br>
              <a:rPr lang="pt-BR" sz="1600"/>
            </a:br>
            <a:r>
              <a:rPr lang="pt-BR" sz="1600"/>
              <a:t>de Bob</a:t>
            </a:r>
          </a:p>
        </p:txBody>
      </p:sp>
      <p:pic>
        <p:nvPicPr>
          <p:cNvPr id="8" name="Picture 6" descr="BS00768_[1]">
            <a:extLst>
              <a:ext uri="{FF2B5EF4-FFF2-40B4-BE49-F238E27FC236}">
                <a16:creationId xmlns:a16="http://schemas.microsoft.com/office/drawing/2014/main" id="{C120CE6F-E7C5-4DD6-A797-F1A3DF3D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78523" y="2644308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7">
            <a:extLst>
              <a:ext uri="{FF2B5EF4-FFF2-40B4-BE49-F238E27FC236}">
                <a16:creationId xmlns:a16="http://schemas.microsoft.com/office/drawing/2014/main" id="{C6ED13D9-8D24-490B-B43E-63B2B35B60BE}"/>
              </a:ext>
            </a:extLst>
          </p:cNvPr>
          <p:cNvGrpSpPr>
            <a:grpSpLocks/>
          </p:cNvGrpSpPr>
          <p:nvPr/>
        </p:nvGrpSpPr>
        <p:grpSpPr bwMode="auto">
          <a:xfrm>
            <a:off x="10392798" y="2882433"/>
            <a:ext cx="482600" cy="603250"/>
            <a:chOff x="2997" y="2073"/>
            <a:chExt cx="304" cy="380"/>
          </a:xfrm>
        </p:grpSpPr>
        <p:grpSp>
          <p:nvGrpSpPr>
            <p:cNvPr id="10" name="Group 8">
              <a:extLst>
                <a:ext uri="{FF2B5EF4-FFF2-40B4-BE49-F238E27FC236}">
                  <a16:creationId xmlns:a16="http://schemas.microsoft.com/office/drawing/2014/main" id="{FDCB279D-ADFB-479F-9D16-82CBA3827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" y="2144"/>
              <a:ext cx="304" cy="309"/>
              <a:chOff x="2997" y="2144"/>
              <a:chExt cx="304" cy="309"/>
            </a:xfrm>
          </p:grpSpPr>
          <p:sp>
            <p:nvSpPr>
              <p:cNvPr id="12" name="Text Box 9">
                <a:extLst>
                  <a:ext uri="{FF2B5EF4-FFF2-40B4-BE49-F238E27FC236}">
                    <a16:creationId xmlns:a16="http://schemas.microsoft.com/office/drawing/2014/main" id="{16D6434F-49E5-4295-89B5-E3E827A60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>
                    <a:solidFill>
                      <a:srgbClr val="FF0000"/>
                    </a:solidFill>
                  </a:rPr>
                  <a:t>K </a:t>
                </a:r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CC4BA29B-D39B-4597-91E3-C23EAE0106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19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B</a:t>
                </a:r>
              </a:p>
            </p:txBody>
          </p:sp>
        </p:grp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A2D7C171-9C04-4A65-A3F0-5834C3066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3" y="2073"/>
              <a:ext cx="1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+</a:t>
              </a: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201E2D22-74A1-41F5-9921-D56496A28602}"/>
              </a:ext>
            </a:extLst>
          </p:cNvPr>
          <p:cNvGrpSpPr>
            <a:grpSpLocks/>
          </p:cNvGrpSpPr>
          <p:nvPr/>
        </p:nvGrpSpPr>
        <p:grpSpPr bwMode="auto">
          <a:xfrm>
            <a:off x="7998848" y="2477620"/>
            <a:ext cx="1277938" cy="955675"/>
            <a:chOff x="1104" y="2124"/>
            <a:chExt cx="805" cy="602"/>
          </a:xfrm>
        </p:grpSpPr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DA87BB8D-8A98-480D-A1E7-30B6284CF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FB72EB58-BCFD-484B-A1F7-B55B1280F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27"/>
              <a:ext cx="805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800" dirty="0">
                  <a:solidFill>
                    <a:schemeClr val="bg1"/>
                  </a:solidFill>
                </a:rPr>
                <a:t>assinatura</a:t>
              </a:r>
              <a:br>
                <a:rPr lang="pt-BR" sz="1800" dirty="0">
                  <a:solidFill>
                    <a:schemeClr val="bg1"/>
                  </a:solidFill>
                </a:rPr>
              </a:br>
              <a:r>
                <a:rPr lang="pt-BR" sz="1800" dirty="0">
                  <a:solidFill>
                    <a:schemeClr val="bg1"/>
                  </a:solidFill>
                </a:rPr>
                <a:t>digital</a:t>
              </a:r>
              <a:br>
                <a:rPr lang="pt-BR" sz="1800" dirty="0">
                  <a:solidFill>
                    <a:schemeClr val="bg1"/>
                  </a:solidFill>
                </a:rPr>
              </a:br>
              <a:r>
                <a:rPr lang="pt-BR" sz="1800" dirty="0">
                  <a:solidFill>
                    <a:schemeClr val="bg1"/>
                  </a:solidFill>
                </a:rPr>
                <a:t>(</a:t>
              </a:r>
              <a:r>
                <a:rPr lang="pt-BR" sz="1800" dirty="0" err="1">
                  <a:solidFill>
                    <a:schemeClr val="bg1"/>
                  </a:solidFill>
                </a:rPr>
                <a:t>decript</a:t>
              </a:r>
              <a:r>
                <a:rPr lang="pt-BR" sz="1800" dirty="0">
                  <a:solidFill>
                    <a:schemeClr val="bg1"/>
                  </a:solidFill>
                </a:rPr>
                <a:t>.)</a:t>
              </a:r>
            </a:p>
          </p:txBody>
        </p:sp>
      </p:grpSp>
      <p:sp>
        <p:nvSpPr>
          <p:cNvPr id="17" name="Text Box 15">
            <a:extLst>
              <a:ext uri="{FF2B5EF4-FFF2-40B4-BE49-F238E27FC236}">
                <a16:creationId xmlns:a16="http://schemas.microsoft.com/office/drawing/2014/main" id="{B6330F75-AD9D-4F9C-9CB4-33624A545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461" y="3574583"/>
            <a:ext cx="96043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pt-BR" sz="1600"/>
              <a:t>chave</a:t>
            </a:r>
            <a:br>
              <a:rPr lang="pt-BR" sz="1600"/>
            </a:br>
            <a:r>
              <a:rPr lang="pt-BR" sz="1600"/>
              <a:t>pública</a:t>
            </a:r>
            <a:br>
              <a:rPr lang="pt-BR" sz="1600"/>
            </a:br>
            <a:r>
              <a:rPr lang="pt-BR" sz="1600"/>
              <a:t>da CA </a:t>
            </a:r>
          </a:p>
        </p:txBody>
      </p:sp>
      <p:pic>
        <p:nvPicPr>
          <p:cNvPr id="18" name="Picture 16" descr="BS00768_[1]">
            <a:extLst>
              <a:ext uri="{FF2B5EF4-FFF2-40B4-BE49-F238E27FC236}">
                <a16:creationId xmlns:a16="http://schemas.microsoft.com/office/drawing/2014/main" id="{469A0B04-E49C-44A3-A901-7F9CEF4DC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805298" y="3582520"/>
            <a:ext cx="458788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7">
            <a:extLst>
              <a:ext uri="{FF2B5EF4-FFF2-40B4-BE49-F238E27FC236}">
                <a16:creationId xmlns:a16="http://schemas.microsoft.com/office/drawing/2014/main" id="{C937E630-CC0A-4431-BD02-028853E93597}"/>
              </a:ext>
            </a:extLst>
          </p:cNvPr>
          <p:cNvGrpSpPr>
            <a:grpSpLocks/>
          </p:cNvGrpSpPr>
          <p:nvPr/>
        </p:nvGrpSpPr>
        <p:grpSpPr bwMode="auto">
          <a:xfrm>
            <a:off x="8789423" y="3861920"/>
            <a:ext cx="627063" cy="477838"/>
            <a:chOff x="3773" y="3688"/>
            <a:chExt cx="395" cy="301"/>
          </a:xfrm>
        </p:grpSpPr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ECFC1B07-CE1B-420D-83AC-20E6B8CFD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3" y="3688"/>
              <a:ext cx="2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>
                  <a:solidFill>
                    <a:srgbClr val="FF0000"/>
                  </a:solidFill>
                </a:rPr>
                <a:t>K 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23E527B6-0C71-4A13-B36A-A9E72E98C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1" y="3777"/>
              <a:ext cx="2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 sz="1600">
                  <a:solidFill>
                    <a:srgbClr val="FF0000"/>
                  </a:solidFill>
                </a:rPr>
                <a:t>CA</a:t>
              </a:r>
            </a:p>
          </p:txBody>
        </p:sp>
      </p:grpSp>
      <p:sp>
        <p:nvSpPr>
          <p:cNvPr id="22" name="Text Box 20">
            <a:extLst>
              <a:ext uri="{FF2B5EF4-FFF2-40B4-BE49-F238E27FC236}">
                <a16:creationId xmlns:a16="http://schemas.microsoft.com/office/drawing/2014/main" id="{1481B08C-BAD7-4A74-81F7-F65A51531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048" y="3696820"/>
            <a:ext cx="33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pt-BR" sz="24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90CE3505-E7AC-4250-8C42-72DC62DD26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08448" y="3501558"/>
            <a:ext cx="0" cy="8937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40A5F1AF-EC86-49D4-B427-44BF04E5B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361" y="2925295"/>
            <a:ext cx="1627187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D38C4842-4E4D-4E08-82F0-4D30D12CC6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52973" y="2937995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6" name="Group 24">
            <a:extLst>
              <a:ext uri="{FF2B5EF4-FFF2-40B4-BE49-F238E27FC236}">
                <a16:creationId xmlns:a16="http://schemas.microsoft.com/office/drawing/2014/main" id="{5A58AA7A-AD96-4C03-BC0B-923E16B3C226}"/>
              </a:ext>
            </a:extLst>
          </p:cNvPr>
          <p:cNvGrpSpPr>
            <a:grpSpLocks/>
          </p:cNvGrpSpPr>
          <p:nvPr/>
        </p:nvGrpSpPr>
        <p:grpSpPr bwMode="auto">
          <a:xfrm>
            <a:off x="5563623" y="2356970"/>
            <a:ext cx="858838" cy="1158875"/>
            <a:chOff x="4446" y="2648"/>
            <a:chExt cx="541" cy="730"/>
          </a:xfrm>
        </p:grpSpPr>
        <p:pic>
          <p:nvPicPr>
            <p:cNvPr id="27" name="Picture 25" descr="SO00109_[1]">
              <a:extLst>
                <a:ext uri="{FF2B5EF4-FFF2-40B4-BE49-F238E27FC236}">
                  <a16:creationId xmlns:a16="http://schemas.microsoft.com/office/drawing/2014/main" id="{E1C78D5B-3FE3-4E5F-8A7A-F10B1BD832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8" name="Group 26">
              <a:extLst>
                <a:ext uri="{FF2B5EF4-FFF2-40B4-BE49-F238E27FC236}">
                  <a16:creationId xmlns:a16="http://schemas.microsoft.com/office/drawing/2014/main" id="{0155AD48-EE5B-4BB6-915A-B6CCE015C2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3" y="2766"/>
              <a:ext cx="304" cy="380"/>
              <a:chOff x="2997" y="2073"/>
              <a:chExt cx="304" cy="380"/>
            </a:xfrm>
          </p:grpSpPr>
          <p:grpSp>
            <p:nvGrpSpPr>
              <p:cNvPr id="30" name="Group 27">
                <a:extLst>
                  <a:ext uri="{FF2B5EF4-FFF2-40B4-BE49-F238E27FC236}">
                    <a16:creationId xmlns:a16="http://schemas.microsoft.com/office/drawing/2014/main" id="{9A5911B5-4038-4970-9C14-09B9A513F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7" y="2144"/>
                <a:ext cx="304" cy="309"/>
                <a:chOff x="2997" y="2144"/>
                <a:chExt cx="304" cy="309"/>
              </a:xfrm>
            </p:grpSpPr>
            <p:sp>
              <p:nvSpPr>
                <p:cNvPr id="32" name="Text Box 28">
                  <a:extLst>
                    <a:ext uri="{FF2B5EF4-FFF2-40B4-BE49-F238E27FC236}">
                      <a16:creationId xmlns:a16="http://schemas.microsoft.com/office/drawing/2014/main" id="{2CE9ACCF-392D-476F-BEE6-EE6F97AE59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7" y="2144"/>
                  <a:ext cx="262" cy="2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pt-BR">
                      <a:solidFill>
                        <a:srgbClr val="FF0000"/>
                      </a:solidFill>
                    </a:rPr>
                    <a:t>K </a:t>
                  </a:r>
                </a:p>
              </p:txBody>
            </p:sp>
            <p:sp>
              <p:nvSpPr>
                <p:cNvPr id="33" name="Text Box 29">
                  <a:extLst>
                    <a:ext uri="{FF2B5EF4-FFF2-40B4-BE49-F238E27FC236}">
                      <a16:creationId xmlns:a16="http://schemas.microsoft.com/office/drawing/2014/main" id="{64B90267-27E1-4761-BCD7-DE300ECA12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4" y="2241"/>
                  <a:ext cx="19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pt-BR" sz="160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</p:grpSp>
          <p:sp>
            <p:nvSpPr>
              <p:cNvPr id="31" name="Text Box 30">
                <a:extLst>
                  <a:ext uri="{FF2B5EF4-FFF2-40B4-BE49-F238E27FC236}">
                    <a16:creationId xmlns:a16="http://schemas.microsoft.com/office/drawing/2014/main" id="{7FE64D20-3E6D-423B-82CB-7659B3A4C2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3" y="2073"/>
                <a:ext cx="17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pt-BR" sz="1600">
                    <a:solidFill>
                      <a:srgbClr val="FF0000"/>
                    </a:solidFill>
                  </a:rPr>
                  <a:t>+</a:t>
                </a:r>
              </a:p>
            </p:txBody>
          </p:sp>
        </p:grpSp>
        <p:pic>
          <p:nvPicPr>
            <p:cNvPr id="29" name="Picture 31" descr="BS00768_[1]">
              <a:extLst>
                <a:ext uri="{FF2B5EF4-FFF2-40B4-BE49-F238E27FC236}">
                  <a16:creationId xmlns:a16="http://schemas.microsoft.com/office/drawing/2014/main" id="{AA1021C2-AB8A-40A9-AAD8-F89DC1A9C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802370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22A7F00-0071-4D61-BB46-422BA7BE4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60990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Protocolo de segurança bastante implantado</a:t>
            </a:r>
          </a:p>
          <a:p>
            <a:pPr lvl="1"/>
            <a:r>
              <a:rPr lang="pt-BR" dirty="0"/>
              <a:t>aceito por quase todos os navegadores e servidores Web</a:t>
            </a:r>
          </a:p>
          <a:p>
            <a:pPr lvl="1"/>
            <a:r>
              <a:rPr lang="pt-BR" dirty="0"/>
              <a:t>https (identifica que o SSL está sendo usado)</a:t>
            </a:r>
          </a:p>
          <a:p>
            <a:pPr lvl="1"/>
            <a:r>
              <a:rPr lang="pt-BR" dirty="0"/>
              <a:t>dezenas de bilhões de US$ gastos por ano sobre SSL</a:t>
            </a:r>
            <a:endParaRPr lang="pt-BR" sz="3200" dirty="0"/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8961309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6B8054C-925C-4E5C-A91B-714C8E9E3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57C4B-4876-4AEF-8F4F-A1EC1A62B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C35CC0-5610-4AF2-9875-C718498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originalmente projetado pela Netscape em 1993. Oferece:</a:t>
            </a:r>
          </a:p>
          <a:p>
            <a:pPr lvl="1"/>
            <a:r>
              <a:rPr lang="pt-BR" dirty="0"/>
              <a:t>Confidencialidade</a:t>
            </a:r>
          </a:p>
          <a:p>
            <a:pPr lvl="1"/>
            <a:r>
              <a:rPr lang="pt-BR" dirty="0"/>
              <a:t>Integridade</a:t>
            </a:r>
          </a:p>
          <a:p>
            <a:pPr lvl="1"/>
            <a:r>
              <a:rPr lang="pt-BR" dirty="0"/>
              <a:t>Autenticação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BDBCB6-3921-46D2-B00F-EFB04F41693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0375001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objetivos originais:</a:t>
            </a:r>
          </a:p>
          <a:p>
            <a:pPr lvl="1"/>
            <a:r>
              <a:rPr lang="pt-BR" sz="2400" dirty="0"/>
              <a:t>teve em mente transações de comércio eletrônico na Web</a:t>
            </a:r>
          </a:p>
          <a:p>
            <a:pPr lvl="1"/>
            <a:r>
              <a:rPr lang="pt-BR" sz="2400" dirty="0"/>
              <a:t>criptografia (especialmente números de cartão de crédito)</a:t>
            </a:r>
          </a:p>
          <a:p>
            <a:pPr lvl="1"/>
            <a:r>
              <a:rPr lang="pt-BR" sz="2400" dirty="0"/>
              <a:t>autenticação de servidor Web</a:t>
            </a:r>
          </a:p>
          <a:p>
            <a:pPr lvl="1"/>
            <a:r>
              <a:rPr lang="pt-BR" sz="2400" dirty="0"/>
              <a:t>autenticação de cliente opcional. (cont...)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7E05773-F3F2-4FA8-9649-0EC6D379EF4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4312217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sz="2400" dirty="0"/>
              <a:t>mínimo de incômodo ao fazer negócios com novos comerciantes</a:t>
            </a:r>
          </a:p>
          <a:p>
            <a:r>
              <a:rPr lang="pt-BR" sz="2800" dirty="0"/>
              <a:t>disponível a todas as aplicações TCP</a:t>
            </a:r>
          </a:p>
          <a:p>
            <a:pPr lvl="1"/>
            <a:r>
              <a:rPr lang="pt-BR" sz="2400" dirty="0"/>
              <a:t>Interface </a:t>
            </a:r>
            <a:r>
              <a:rPr lang="pt-BR" sz="2400" dirty="0" err="1"/>
              <a:t>Secure</a:t>
            </a:r>
            <a:r>
              <a:rPr lang="pt-BR" sz="2400" dirty="0"/>
              <a:t> Socket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E2D8B80-A720-48BC-875B-2AF36CE35BD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8180011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Bob está navegando pela Web e decide comprar um perfume no site de Alice:</a:t>
            </a:r>
          </a:p>
          <a:p>
            <a:r>
              <a:rPr lang="pt-BR" sz="2800" dirty="0"/>
              <a:t>Sem nenhuma medida de segurança, o que pode acontecer:</a:t>
            </a:r>
          </a:p>
          <a:p>
            <a:pPr lvl="1"/>
            <a:r>
              <a:rPr lang="pt-BR" sz="2400" dirty="0"/>
              <a:t>Sem sigilo (encriptação), um invasor intercepta o pedido de Bob e recebe informações sobre seu cartão; (cont...)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18368AD-56CB-49A1-B9F0-7DC1254372D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4954259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sz="2400" dirty="0"/>
              <a:t>Sem integridade, o invasor poderia modificar o pedido de Bob;</a:t>
            </a:r>
          </a:p>
          <a:p>
            <a:pPr lvl="1"/>
            <a:r>
              <a:rPr lang="pt-BR" sz="2400" dirty="0"/>
              <a:t>Sem autenticação, o site de compras poderia ser falso (se passando por site de compras)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63F7D9B-62DA-4CF0-89BE-53D1F2E6EA29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5431298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</a:t>
            </a:r>
            <a:r>
              <a:rPr lang="pt-BR" dirty="0" err="1"/>
              <a:t>Secure</a:t>
            </a:r>
            <a:r>
              <a:rPr lang="pt-BR" dirty="0"/>
              <a:t> Sockets </a:t>
            </a:r>
            <a:r>
              <a:rPr lang="pt-BR" dirty="0" err="1"/>
              <a:t>Layer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É usado para oferecer segurança em transações que ocorrem através de HTTP. Entretanto, como o SSL protege o TCP, ele pode ser empregado por qualquer aplicação que execute o TCP.</a:t>
            </a:r>
          </a:p>
          <a:p>
            <a:r>
              <a:rPr lang="pt-BR" sz="2800" dirty="0"/>
              <a:t>Apesar de ser da camada de aplicação, ele é um protocolo de transporte com segurança.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A76CC74-230D-4288-9CCC-E0169FD0C444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6475195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 e TCP/IP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54B620F7-0B97-4B35-AF08-7E5CBEC8BF83}"/>
              </a:ext>
            </a:extLst>
          </p:cNvPr>
          <p:cNvGrpSpPr>
            <a:grpSpLocks/>
          </p:cNvGrpSpPr>
          <p:nvPr/>
        </p:nvGrpSpPr>
        <p:grpSpPr bwMode="auto">
          <a:xfrm>
            <a:off x="3060773" y="1882385"/>
            <a:ext cx="2190750" cy="2706688"/>
            <a:chOff x="727" y="1773"/>
            <a:chExt cx="1380" cy="1705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CC33666-C373-42F0-B063-94DD1CFC1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1773"/>
              <a:ext cx="1198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10AB8EF0-C2FF-4A71-9F87-20D7CC65E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931"/>
              <a:ext cx="8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/>
                <a:t>Aplicação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59050A79-BAB6-4403-ACCF-C6C9C130E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2349"/>
              <a:ext cx="1198" cy="3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F871F698-D3DA-495C-A35B-2F9FFEF67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371"/>
              <a:ext cx="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TCP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968EE888-CB6A-4833-9435-6D5AF65A7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2736"/>
              <a:ext cx="119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EE436F76-CAF4-4A78-897A-EE594FC14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" y="2832"/>
              <a:ext cx="2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IP</a:t>
              </a: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001687D3-CD43-49FD-A35A-ED251F1F5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3228"/>
              <a:ext cx="1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>
                  <a:solidFill>
                    <a:schemeClr val="accent2"/>
                  </a:solidFill>
                </a:rPr>
                <a:t>aplicação normal</a:t>
              </a:r>
            </a:p>
          </p:txBody>
        </p:sp>
      </p:grpSp>
      <p:grpSp>
        <p:nvGrpSpPr>
          <p:cNvPr id="15" name="Group 11">
            <a:extLst>
              <a:ext uri="{FF2B5EF4-FFF2-40B4-BE49-F238E27FC236}">
                <a16:creationId xmlns:a16="http://schemas.microsoft.com/office/drawing/2014/main" id="{081324BC-A138-4939-A9AE-6BB7AEC59AB7}"/>
              </a:ext>
            </a:extLst>
          </p:cNvPr>
          <p:cNvGrpSpPr>
            <a:grpSpLocks/>
          </p:cNvGrpSpPr>
          <p:nvPr/>
        </p:nvGrpSpPr>
        <p:grpSpPr bwMode="auto">
          <a:xfrm>
            <a:off x="6700910" y="1882385"/>
            <a:ext cx="1905000" cy="3011488"/>
            <a:chOff x="2688" y="1773"/>
            <a:chExt cx="1200" cy="1897"/>
          </a:xfrm>
        </p:grpSpPr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E4ACE56A-FF9D-489E-9508-F1D940AE6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773"/>
              <a:ext cx="1200" cy="4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F2A2E09C-5108-4478-9832-27B1DC9C6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7" y="1875"/>
              <a:ext cx="8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Aplicação</a:t>
              </a:r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999F6086-442F-4A08-A229-DCE66B902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181"/>
              <a:ext cx="1200" cy="31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AD0F3E77-EFBF-47C4-AFF6-5D3CE2F71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496"/>
              <a:ext cx="120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29DF14CF-F04C-4923-A24E-FBCFB2F3B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20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pt-BR"/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80A6AB1F-5228-4242-8C7C-AAA3D8900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" y="2190"/>
              <a:ext cx="4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SSL</a:t>
              </a: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79FE2EC1-E249-4A9F-BFD9-DF0BC4EF2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5" y="2496"/>
              <a:ext cx="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TCP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EB2FFB66-A3E8-4C6B-84D1-B179F6F83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2" y="2870"/>
              <a:ext cx="2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IP</a:t>
              </a: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FD426E49-EA5B-47B9-86BB-CAA2D6609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7" y="3228"/>
              <a:ext cx="7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pt-BR">
                  <a:solidFill>
                    <a:schemeClr val="accent2"/>
                  </a:solidFill>
                </a:rPr>
                <a:t>aplicação</a:t>
              </a:r>
              <a:br>
                <a:rPr lang="pt-BR">
                  <a:solidFill>
                    <a:schemeClr val="accent2"/>
                  </a:solidFill>
                </a:rPr>
              </a:br>
              <a:r>
                <a:rPr lang="pt-BR">
                  <a:solidFill>
                    <a:schemeClr val="accent2"/>
                  </a:solidFill>
                </a:rPr>
                <a:t>com SSL</a:t>
              </a:r>
            </a:p>
          </p:txBody>
        </p:sp>
      </p:grpSp>
      <p:sp>
        <p:nvSpPr>
          <p:cNvPr id="25" name="Retângulo 24">
            <a:extLst>
              <a:ext uri="{FF2B5EF4-FFF2-40B4-BE49-F238E27FC236}">
                <a16:creationId xmlns:a16="http://schemas.microsoft.com/office/drawing/2014/main" id="{C0882019-AB67-4FE2-8D41-1D6A39C63D71}"/>
              </a:ext>
            </a:extLst>
          </p:cNvPr>
          <p:cNvSpPr/>
          <p:nvPr/>
        </p:nvSpPr>
        <p:spPr>
          <a:xfrm>
            <a:off x="780824" y="4958961"/>
            <a:ext cx="91704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SSL oferece interface de programação de aplicação (API) às aplicações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35F42A3-AC6E-4860-831D-5B2AD269983C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88031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um canal seguro simples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>
                <a:solidFill>
                  <a:srgbClr val="0070C0"/>
                </a:solidFill>
              </a:rPr>
              <a:t>apresentação</a:t>
            </a:r>
            <a:r>
              <a:rPr lang="pt-BR" sz="2800" dirty="0"/>
              <a:t>: Alice e Bob usam seus certificados e chaves privadas para autenticar um ao outro e trocar segredo compartilhado</a:t>
            </a:r>
          </a:p>
          <a:p>
            <a:r>
              <a:rPr lang="pt-BR" sz="2800" dirty="0">
                <a:solidFill>
                  <a:srgbClr val="0070C0"/>
                </a:solidFill>
              </a:rPr>
              <a:t>derivação de chave</a:t>
            </a:r>
            <a:r>
              <a:rPr lang="pt-BR" sz="2800" dirty="0"/>
              <a:t>: Alice e Bob usam segredo compartilhado para derivar conjunto de chaves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77291C-9A1D-4374-847D-7D1A41FB93D3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2391835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SSL: um canal seguro simples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>
                <a:solidFill>
                  <a:srgbClr val="0070C0"/>
                </a:solidFill>
              </a:rPr>
              <a:t>transferência de dados</a:t>
            </a:r>
            <a:r>
              <a:rPr lang="pt-BR" sz="2800" dirty="0"/>
              <a:t>: dados a serem transferidos são desmembrados em uma série de registros</a:t>
            </a:r>
          </a:p>
          <a:p>
            <a:r>
              <a:rPr lang="pt-BR" sz="2800" dirty="0">
                <a:solidFill>
                  <a:srgbClr val="0070C0"/>
                </a:solidFill>
              </a:rPr>
              <a:t>encerramento de conexão</a:t>
            </a:r>
            <a:r>
              <a:rPr lang="pt-BR" sz="2800" dirty="0"/>
              <a:t>: mensagens especiais para encerrar conexão com segurança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5898020-9758-456A-8308-E4E6A8C5B979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099236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Uma apresentação simples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Bob precisa (a) estabelecer uma conexão TCP com Alice, (b) verificar se Alice é realmente Alice, e (c) enviar para ela uma chave secreta mestre, que será utilizada pelos dois para criar todas as chaves simétricas que eles precisão na sessão.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C1DAD8-C595-4FA0-A5B2-206516ED8F61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5117875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Uma apresentação simples</a:t>
            </a: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1A507923-F591-478C-B3AF-96C48F2F6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123" y="2162517"/>
            <a:ext cx="4841875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6B84871-DDF8-476D-AC45-265C5E1607D1}"/>
              </a:ext>
            </a:extLst>
          </p:cNvPr>
          <p:cNvSpPr txBox="1">
            <a:spLocks noChangeArrowheads="1"/>
          </p:cNvSpPr>
          <p:nvPr/>
        </p:nvSpPr>
        <p:spPr bwMode="auto">
          <a:xfrm rot="191117">
            <a:off x="5316535" y="1868829"/>
            <a:ext cx="517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/>
              <a:t>olá</a:t>
            </a: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50477236-9CC8-413D-93FA-5CDE69B759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3123" y="2851492"/>
            <a:ext cx="4841875" cy="52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5B61C6AB-AA8E-41A9-95AB-F6216E8F7768}"/>
              </a:ext>
            </a:extLst>
          </p:cNvPr>
          <p:cNvSpPr txBox="1">
            <a:spLocks noChangeArrowheads="1"/>
          </p:cNvSpPr>
          <p:nvPr/>
        </p:nvSpPr>
        <p:spPr bwMode="auto">
          <a:xfrm rot="21253213">
            <a:off x="3454411" y="2683187"/>
            <a:ext cx="45672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 dirty="0"/>
              <a:t>Certificado (com a chave pública K</a:t>
            </a:r>
            <a:r>
              <a:rPr lang="pt-BR" baseline="-25000" dirty="0"/>
              <a:t>B</a:t>
            </a:r>
            <a:r>
              <a:rPr lang="pt-BR" baseline="30000" dirty="0"/>
              <a:t>+</a:t>
            </a:r>
            <a:r>
              <a:rPr lang="pt-BR" dirty="0"/>
              <a:t>)</a:t>
            </a: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CFE97A67-F702-4349-AE8D-018F0D0D2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123" y="3772242"/>
            <a:ext cx="484187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767AE83C-6194-4591-BD1A-ED469D74C7AA}"/>
              </a:ext>
            </a:extLst>
          </p:cNvPr>
          <p:cNvSpPr txBox="1">
            <a:spLocks noChangeArrowheads="1"/>
          </p:cNvSpPr>
          <p:nvPr/>
        </p:nvSpPr>
        <p:spPr bwMode="auto">
          <a:xfrm rot="219716">
            <a:off x="5418135" y="3554754"/>
            <a:ext cx="195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 dirty="0"/>
              <a:t>K</a:t>
            </a:r>
            <a:r>
              <a:rPr lang="pt-BR" baseline="-25000" dirty="0"/>
              <a:t>B</a:t>
            </a:r>
            <a:r>
              <a:rPr lang="pt-BR" baseline="30000" dirty="0"/>
              <a:t>+</a:t>
            </a:r>
            <a:r>
              <a:rPr lang="pt-BR" dirty="0"/>
              <a:t>(MS) = EMS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2C442B-3E11-407B-B040-4957419BFAC3}"/>
              </a:ext>
            </a:extLst>
          </p:cNvPr>
          <p:cNvSpPr/>
          <p:nvPr/>
        </p:nvSpPr>
        <p:spPr>
          <a:xfrm>
            <a:off x="823783" y="4293021"/>
            <a:ext cx="107009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Alice sabe que o certificado é de Bob (pela CA)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Alice cria um segredo mestre MS e codifica MS com a chave pública de Bob para criar o Segredo Mestre Criptografado (EMS)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Bob decodifica EMS com sua chave privada para obter MS.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1D21FAC7-99F1-4FFE-BEF3-31E6CEAF7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523" y="2524697"/>
            <a:ext cx="865241" cy="86524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A2C25BE-B021-44CD-8405-11FD0F22B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002" y="2374557"/>
            <a:ext cx="1003612" cy="1003612"/>
          </a:xfrm>
          <a:prstGeom prst="rect">
            <a:avLst/>
          </a:prstGeom>
        </p:spPr>
      </p:pic>
      <p:sp>
        <p:nvSpPr>
          <p:cNvPr id="18" name="Text Box 31">
            <a:extLst>
              <a:ext uri="{FF2B5EF4-FFF2-40B4-BE49-F238E27FC236}">
                <a16:creationId xmlns:a16="http://schemas.microsoft.com/office/drawing/2014/main" id="{4B9A7E8D-244B-4A77-A60C-EB44E8491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73" y="2516045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19" name="Text Box 32">
            <a:extLst>
              <a:ext uri="{FF2B5EF4-FFF2-40B4-BE49-F238E27FC236}">
                <a16:creationId xmlns:a16="http://schemas.microsoft.com/office/drawing/2014/main" id="{33BDB5D4-A381-47E9-9EC1-A30E7538F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2764" y="2393720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E01B030-7C50-483D-ADFF-40396E02CF5D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2884917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Derivação de chave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Considerado ruim usar a mesma chave MS para mais de uma operação criptográfica</a:t>
            </a:r>
          </a:p>
          <a:p>
            <a:pPr lvl="1"/>
            <a:r>
              <a:rPr lang="pt-BR" sz="2400" dirty="0"/>
              <a:t>usar chaves diferentes para código de autenticação de mensagem (MAC) e criptografia (mais seguro)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E0F51A4-5823-46C3-80B1-C1C870D944A6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7968475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Derivação de chave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Assim, Alice e Bob usam MS para criar quatro chaves.</a:t>
            </a:r>
          </a:p>
          <a:p>
            <a:pPr lvl="1"/>
            <a:r>
              <a:rPr lang="pt-BR" sz="2000" dirty="0"/>
              <a:t>E</a:t>
            </a:r>
            <a:r>
              <a:rPr lang="pt-BR" sz="2000" baseline="-25000" dirty="0"/>
              <a:t>B</a:t>
            </a:r>
            <a:r>
              <a:rPr lang="pt-BR" sz="2000" dirty="0"/>
              <a:t> = chave de criptografia de sessão para dados enviados de bob para Alice</a:t>
            </a:r>
          </a:p>
          <a:p>
            <a:pPr lvl="1"/>
            <a:r>
              <a:rPr lang="pt-BR" sz="2000" dirty="0"/>
              <a:t>M</a:t>
            </a:r>
            <a:r>
              <a:rPr lang="pt-BR" sz="2000" baseline="-25000" dirty="0"/>
              <a:t>B</a:t>
            </a:r>
            <a:r>
              <a:rPr lang="pt-BR" sz="2000" dirty="0"/>
              <a:t> = chave MAC de sessão para dados enviados de Bob para Alice</a:t>
            </a:r>
          </a:p>
          <a:p>
            <a:pPr lvl="1"/>
            <a:r>
              <a:rPr lang="pt-BR" sz="2000" dirty="0"/>
              <a:t>E</a:t>
            </a:r>
            <a:r>
              <a:rPr lang="pt-BR" sz="2000" baseline="-25000" dirty="0"/>
              <a:t>A</a:t>
            </a:r>
            <a:r>
              <a:rPr lang="pt-BR" sz="2000" dirty="0"/>
              <a:t> = chave de criptografia de sessão para dados enviados de Alice para Bob</a:t>
            </a:r>
          </a:p>
          <a:p>
            <a:pPr lvl="1"/>
            <a:r>
              <a:rPr lang="pt-BR" sz="2000" dirty="0"/>
              <a:t>M</a:t>
            </a:r>
            <a:r>
              <a:rPr lang="pt-BR" sz="2000" baseline="-25000" dirty="0"/>
              <a:t>A</a:t>
            </a:r>
            <a:r>
              <a:rPr lang="pt-BR" sz="2000" dirty="0"/>
              <a:t> = chave MAC de sessão para dados enviados de Alice para Bob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329EF7-300E-4E26-8F51-C0F9AC090CD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8961621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Transferência de dados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SSL quebra o fluxo em série de registros</a:t>
            </a:r>
          </a:p>
          <a:p>
            <a:pPr lvl="1"/>
            <a:r>
              <a:rPr lang="pt-BR" sz="2400" dirty="0"/>
              <a:t>cada registro transporta um </a:t>
            </a:r>
            <a:r>
              <a:rPr lang="pt-BR" sz="2400" dirty="0" err="1"/>
              <a:t>mac</a:t>
            </a:r>
            <a:endParaRPr lang="pt-BR" sz="2400" dirty="0"/>
          </a:p>
          <a:p>
            <a:pPr lvl="1"/>
            <a:r>
              <a:rPr lang="pt-BR" sz="2400" dirty="0"/>
              <a:t>receptor pode atuar em cada registro quando ele chega</a:t>
            </a:r>
          </a:p>
          <a:p>
            <a:r>
              <a:rPr lang="pt-BR" dirty="0">
                <a:solidFill>
                  <a:srgbClr val="FF0000"/>
                </a:solidFill>
              </a:rPr>
              <a:t>Apesar disso, ainda não é a prova de falhas.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329EF7-300E-4E26-8F51-C0F9AC090CD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1832979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79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Números de sequência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Invasor pode capturar e reproduzir registro ou reordenar registros (como o homem do meio)</a:t>
            </a:r>
          </a:p>
          <a:p>
            <a:r>
              <a:rPr lang="pt-BR" dirty="0"/>
              <a:t>solução: colocar número de sequência em MAC:</a:t>
            </a:r>
          </a:p>
          <a:p>
            <a:pPr lvl="1"/>
            <a:r>
              <a:rPr lang="pt-BR" dirty="0"/>
              <a:t>MAC = MAC(</a:t>
            </a:r>
            <a:r>
              <a:rPr lang="pt-BR" dirty="0" err="1"/>
              <a:t>Mx</a:t>
            </a:r>
            <a:r>
              <a:rPr lang="pt-BR" dirty="0"/>
              <a:t>, sequência||dados)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329EF7-300E-4E26-8F51-C0F9AC090CD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0083779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FCDE24F-3725-4731-B51C-A524570F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80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AB9BF-991A-449F-83D0-63BEA7BF2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Informação de controle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EA5F1-5B4E-4DD5-AEEC-8A300CC5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ataque por truncamento: </a:t>
            </a:r>
          </a:p>
          <a:p>
            <a:pPr lvl="1"/>
            <a:r>
              <a:rPr lang="pt-BR" sz="2000" dirty="0"/>
              <a:t>invasor forja segmento de encerramento de conexão TCP</a:t>
            </a:r>
          </a:p>
          <a:p>
            <a:pPr lvl="1"/>
            <a:r>
              <a:rPr lang="pt-BR" sz="2000" dirty="0"/>
              <a:t>um ou ambos os lados pensam que existem menos dados do que realmente existem. </a:t>
            </a:r>
          </a:p>
          <a:p>
            <a:r>
              <a:rPr lang="pt-BR" sz="2400" dirty="0"/>
              <a:t>solução: tipos de registro, com um tipo para encerramento</a:t>
            </a:r>
          </a:p>
          <a:p>
            <a:pPr lvl="1"/>
            <a:r>
              <a:rPr lang="pt-BR" sz="2000" dirty="0"/>
              <a:t>tipo 0 para dados; tipo 1 para encerramento</a:t>
            </a:r>
          </a:p>
          <a:p>
            <a:pPr lvl="1"/>
            <a:r>
              <a:rPr lang="pt-BR" sz="2000" dirty="0"/>
              <a:t>MAC = MAC(</a:t>
            </a:r>
            <a:r>
              <a:rPr lang="pt-BR" sz="2000" dirty="0" err="1"/>
              <a:t>Mx</a:t>
            </a:r>
            <a:r>
              <a:rPr lang="pt-BR" sz="2000" dirty="0"/>
              <a:t>, sequência||tipo||dados)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329EF7-300E-4E26-8F51-C0F9AC090CD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6580434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AE7827C-65F4-4340-AAB5-73E07DB159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SSL - Resumo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85A580-D302-4D17-AA5B-32A1BD7C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81</a:t>
            </a:fld>
            <a:endParaRPr lang="en-US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C53EC593-C05F-41CA-B1F3-130818D0E6A9}"/>
              </a:ext>
            </a:extLst>
          </p:cNvPr>
          <p:cNvGrpSpPr>
            <a:grpSpLocks/>
          </p:cNvGrpSpPr>
          <p:nvPr/>
        </p:nvGrpSpPr>
        <p:grpSpPr bwMode="auto">
          <a:xfrm>
            <a:off x="3628103" y="1545484"/>
            <a:ext cx="4343400" cy="4943475"/>
            <a:chOff x="912" y="966"/>
            <a:chExt cx="2736" cy="3114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E82ED175-E7E1-4846-8A90-97A8B7D89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152"/>
              <a:ext cx="2736" cy="2928"/>
              <a:chOff x="912" y="864"/>
              <a:chExt cx="2736" cy="2928"/>
            </a:xfrm>
          </p:grpSpPr>
          <p:sp>
            <p:nvSpPr>
              <p:cNvPr id="17" name="Line 5">
                <a:extLst>
                  <a:ext uri="{FF2B5EF4-FFF2-40B4-BE49-F238E27FC236}">
                    <a16:creationId xmlns:a16="http://schemas.microsoft.com/office/drawing/2014/main" id="{694C019B-730A-444A-90C3-382BDA956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864"/>
                <a:ext cx="27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Line 6">
                <a:extLst>
                  <a:ext uri="{FF2B5EF4-FFF2-40B4-BE49-F238E27FC236}">
                    <a16:creationId xmlns:a16="http://schemas.microsoft.com/office/drawing/2014/main" id="{4EE5CFFB-EB43-45ED-83AB-5320837D65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2" y="1152"/>
                <a:ext cx="27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Line 7">
                <a:extLst>
                  <a:ext uri="{FF2B5EF4-FFF2-40B4-BE49-F238E27FC236}">
                    <a16:creationId xmlns:a16="http://schemas.microsoft.com/office/drawing/2014/main" id="{E41DFC5F-B39B-4B7F-94CF-0019DC104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536"/>
                <a:ext cx="27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Line 8">
                <a:extLst>
                  <a:ext uri="{FF2B5EF4-FFF2-40B4-BE49-F238E27FC236}">
                    <a16:creationId xmlns:a16="http://schemas.microsoft.com/office/drawing/2014/main" id="{EE14AC7F-AE85-4BE4-92EE-5C7BFEBB0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776"/>
                <a:ext cx="27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Line 9">
                <a:extLst>
                  <a:ext uri="{FF2B5EF4-FFF2-40B4-BE49-F238E27FC236}">
                    <a16:creationId xmlns:a16="http://schemas.microsoft.com/office/drawing/2014/main" id="{DD2A5A04-6540-47E2-99A3-47C0E4E2A4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2064"/>
                <a:ext cx="27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Line 10">
                <a:extLst>
                  <a:ext uri="{FF2B5EF4-FFF2-40B4-BE49-F238E27FC236}">
                    <a16:creationId xmlns:a16="http://schemas.microsoft.com/office/drawing/2014/main" id="{F7960485-9E35-471E-9717-B601FB0ED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2" y="2352"/>
                <a:ext cx="273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Line 11">
                <a:extLst>
                  <a:ext uri="{FF2B5EF4-FFF2-40B4-BE49-F238E27FC236}">
                    <a16:creationId xmlns:a16="http://schemas.microsoft.com/office/drawing/2014/main" id="{ED768057-C27B-4A8A-B77C-2A1C4AE8A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27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Line 12">
                <a:extLst>
                  <a:ext uri="{FF2B5EF4-FFF2-40B4-BE49-F238E27FC236}">
                    <a16:creationId xmlns:a16="http://schemas.microsoft.com/office/drawing/2014/main" id="{4B2A6396-4F20-4A80-ADAF-B5562D96B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27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Line 13">
                <a:extLst>
                  <a:ext uri="{FF2B5EF4-FFF2-40B4-BE49-F238E27FC236}">
                    <a16:creationId xmlns:a16="http://schemas.microsoft.com/office/drawing/2014/main" id="{3AA3AB5F-3317-495F-B954-5DD01C55F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2" y="3600"/>
                <a:ext cx="27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" name="Text Box 14">
              <a:extLst>
                <a:ext uri="{FF2B5EF4-FFF2-40B4-BE49-F238E27FC236}">
                  <a16:creationId xmlns:a16="http://schemas.microsoft.com/office/drawing/2014/main" id="{5D909E81-F5AC-4A50-8F8F-1A5F9FEB1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9254">
              <a:off x="2006" y="966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olá</a:t>
              </a:r>
            </a:p>
          </p:txBody>
        </p:sp>
        <p:sp>
          <p:nvSpPr>
            <p:cNvPr id="9" name="Text Box 15">
              <a:extLst>
                <a:ext uri="{FF2B5EF4-FFF2-40B4-BE49-F238E27FC236}">
                  <a16:creationId xmlns:a16="http://schemas.microsoft.com/office/drawing/2014/main" id="{3E81FA4E-8F47-48F6-8DCD-28AD50DB5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19716">
              <a:off x="1526" y="1293"/>
              <a:ext cx="14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certificado, nonce</a:t>
              </a:r>
            </a:p>
          </p:txBody>
        </p: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792A419C-EE40-45A8-A9EA-F2533916F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774">
              <a:off x="1859" y="1632"/>
              <a:ext cx="12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K</a:t>
              </a:r>
              <a:r>
                <a:rPr lang="pt-BR" baseline="-25000"/>
                <a:t>B</a:t>
              </a:r>
              <a:r>
                <a:rPr lang="pt-BR" baseline="30000"/>
                <a:t>+</a:t>
              </a:r>
              <a:r>
                <a:rPr lang="pt-BR"/>
                <a:t>(MS) = EMS</a:t>
              </a:r>
            </a:p>
          </p:txBody>
        </p:sp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287523B6-3550-428D-846D-E86BF026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2313">
              <a:off x="1575" y="1912"/>
              <a:ext cx="153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tipo 0, seq 1, dados</a:t>
              </a:r>
            </a:p>
          </p:txBody>
        </p:sp>
        <p:sp>
          <p:nvSpPr>
            <p:cNvPr id="12" name="Text Box 18">
              <a:extLst>
                <a:ext uri="{FF2B5EF4-FFF2-40B4-BE49-F238E27FC236}">
                  <a16:creationId xmlns:a16="http://schemas.microsoft.com/office/drawing/2014/main" id="{3DB8CF05-93A9-4C55-B82E-6FF3F2030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2313">
              <a:off x="1671" y="2162"/>
              <a:ext cx="15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tipo 0, seq 2, dados</a:t>
              </a:r>
            </a:p>
          </p:txBody>
        </p:sp>
        <p:sp>
          <p:nvSpPr>
            <p:cNvPr id="13" name="Text Box 19">
              <a:extLst>
                <a:ext uri="{FF2B5EF4-FFF2-40B4-BE49-F238E27FC236}">
                  <a16:creationId xmlns:a16="http://schemas.microsoft.com/office/drawing/2014/main" id="{BEC6002F-0EFB-4BFD-96AA-56B4E1F4E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85404">
              <a:off x="1609" y="2512"/>
              <a:ext cx="153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tipo 0, seq 1, dados</a:t>
              </a:r>
            </a:p>
          </p:txBody>
        </p:sp>
        <p:sp>
          <p:nvSpPr>
            <p:cNvPr id="14" name="Text Box 20">
              <a:extLst>
                <a:ext uri="{FF2B5EF4-FFF2-40B4-BE49-F238E27FC236}">
                  <a16:creationId xmlns:a16="http://schemas.microsoft.com/office/drawing/2014/main" id="{1B9C13BC-293D-45F7-97E2-FD03C70C9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2313">
              <a:off x="1859" y="3045"/>
              <a:ext cx="15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tipo 0, seq 3, dados</a:t>
              </a:r>
            </a:p>
          </p:txBody>
        </p:sp>
        <p:sp>
          <p:nvSpPr>
            <p:cNvPr id="15" name="Text Box 21">
              <a:extLst>
                <a:ext uri="{FF2B5EF4-FFF2-40B4-BE49-F238E27FC236}">
                  <a16:creationId xmlns:a16="http://schemas.microsoft.com/office/drawing/2014/main" id="{256A69E7-AAE1-4EE6-A990-085C07D91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2313">
              <a:off x="1859" y="3384"/>
              <a:ext cx="16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tipo 1, seq 4, encerra</a:t>
              </a: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98A76684-4BCB-4330-9E58-383107C38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74243">
              <a:off x="1712" y="3719"/>
              <a:ext cx="16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pt-BR"/>
                <a:t>tipo 1, seq 2, encerra</a:t>
              </a:r>
            </a:p>
          </p:txBody>
        </p:sp>
      </p:grpSp>
      <p:sp>
        <p:nvSpPr>
          <p:cNvPr id="26" name="AutoShape 23">
            <a:extLst>
              <a:ext uri="{FF2B5EF4-FFF2-40B4-BE49-F238E27FC236}">
                <a16:creationId xmlns:a16="http://schemas.microsoft.com/office/drawing/2014/main" id="{42C9D27B-3AF8-4547-804D-CE1B392D3D3A}"/>
              </a:ext>
            </a:extLst>
          </p:cNvPr>
          <p:cNvSpPr>
            <a:spLocks/>
          </p:cNvSpPr>
          <p:nvPr/>
        </p:nvSpPr>
        <p:spPr bwMode="auto">
          <a:xfrm>
            <a:off x="3323303" y="2777384"/>
            <a:ext cx="152400" cy="3765550"/>
          </a:xfrm>
          <a:prstGeom prst="leftBrace">
            <a:avLst>
              <a:gd name="adj1" fmla="val 20590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pt-BR"/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03762257-7406-4D42-9092-238512130F2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019966" y="4241059"/>
            <a:ext cx="182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>
                <a:solidFill>
                  <a:srgbClr val="FF0000"/>
                </a:solidFill>
              </a:rPr>
              <a:t>criptografado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1E2CADC3-F3DD-409E-A701-1FD87264E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1466" y="3153622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pt-BR"/>
              <a:t>bob.com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093139A3-8173-488B-A6F1-F596C0AD4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987" y="2274154"/>
            <a:ext cx="865241" cy="865241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CF47954-4D07-4C7C-9547-4FBECCCB0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1466" y="2124014"/>
            <a:ext cx="1003612" cy="1003612"/>
          </a:xfrm>
          <a:prstGeom prst="rect">
            <a:avLst/>
          </a:prstGeom>
        </p:spPr>
      </p:pic>
      <p:sp>
        <p:nvSpPr>
          <p:cNvPr id="33" name="Text Box 31">
            <a:extLst>
              <a:ext uri="{FF2B5EF4-FFF2-40B4-BE49-F238E27FC236}">
                <a16:creationId xmlns:a16="http://schemas.microsoft.com/office/drawing/2014/main" id="{27FE511D-08AA-4599-B2B4-9481B4F4D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7137" y="2265502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</p:spTree>
    <p:extLst>
      <p:ext uri="{BB962C8B-B14F-4D97-AF65-F5344CB8AC3E}">
        <p14:creationId xmlns:p14="http://schemas.microsoft.com/office/powerpoint/2010/main" val="15836819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403209C-A8C8-4FDE-995A-60CFA536C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82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019427-6043-44C5-9C23-C75EA5D0A0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070A66-7973-4615-BDBD-1EA7016A6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KUROSE, James F. Redes de Computadores e a Internet. São Paulo: Makron Books, 2006. </a:t>
            </a:r>
          </a:p>
          <a:p>
            <a:r>
              <a:rPr lang="pt-BR" sz="2400" dirty="0"/>
              <a:t>TANENBAUM, Andrew S. Redes de Computadores. 5ª Edição: Campus, 2003</a:t>
            </a:r>
          </a:p>
          <a:p>
            <a:r>
              <a:rPr lang="pt-BR" sz="2400" dirty="0"/>
              <a:t>CHESWICK, William R.; BELLOVIN, Steven M.; RUBIN, </a:t>
            </a:r>
            <a:r>
              <a:rPr lang="pt-BR" sz="2400" dirty="0" err="1"/>
              <a:t>Aviel</a:t>
            </a:r>
            <a:r>
              <a:rPr lang="pt-BR" sz="2400" dirty="0"/>
              <a:t> D. Firewalls e Segurança na Internet. 2 ed. Porto Alegre: Bookman, 2005</a:t>
            </a:r>
          </a:p>
        </p:txBody>
      </p:sp>
    </p:spTree>
    <p:extLst>
      <p:ext uri="{BB962C8B-B14F-4D97-AF65-F5344CB8AC3E}">
        <p14:creationId xmlns:p14="http://schemas.microsoft.com/office/powerpoint/2010/main" val="26364112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pa para assunto/cap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lide com título e tex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lide com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lide com título e tex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3569</TotalTime>
  <Words>4885</Words>
  <Application>Microsoft Office PowerPoint</Application>
  <PresentationFormat>Widescreen</PresentationFormat>
  <Paragraphs>606</Paragraphs>
  <Slides>82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82</vt:i4>
      </vt:variant>
    </vt:vector>
  </HeadingPairs>
  <TitlesOfParts>
    <vt:vector size="96" baseType="lpstr">
      <vt:lpstr>Arial</vt:lpstr>
      <vt:lpstr>Arial Unicode MS</vt:lpstr>
      <vt:lpstr>Calibri</vt:lpstr>
      <vt:lpstr>Cambria Math</vt:lpstr>
      <vt:lpstr>Comic Sans MS</vt:lpstr>
      <vt:lpstr>Courier</vt:lpstr>
      <vt:lpstr>Trebuchet MS</vt:lpstr>
      <vt:lpstr>Verdana</vt:lpstr>
      <vt:lpstr>ZapfDingbats</vt:lpstr>
      <vt:lpstr>Tema do Office</vt:lpstr>
      <vt:lpstr>Capa para assunto/capítulo</vt:lpstr>
      <vt:lpstr>Slide com título e texto</vt:lpstr>
      <vt:lpstr>Slide com texto e imagem</vt:lpstr>
      <vt:lpstr>1_Slide com título e texto</vt:lpstr>
      <vt:lpstr>Aula 3 - Certificados SSL e o Protocolo HTTPS, Métodos de autenticação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 Silva</dc:creator>
  <cp:lastModifiedBy>Henrique Silva</cp:lastModifiedBy>
  <cp:revision>140</cp:revision>
  <dcterms:created xsi:type="dcterms:W3CDTF">2017-09-23T15:45:38Z</dcterms:created>
  <dcterms:modified xsi:type="dcterms:W3CDTF">2021-02-09T20:47:35Z</dcterms:modified>
</cp:coreProperties>
</file>