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7" r:id="rId2"/>
    <p:sldId id="352" r:id="rId3"/>
    <p:sldId id="353" r:id="rId4"/>
    <p:sldId id="354" r:id="rId5"/>
    <p:sldId id="355" r:id="rId6"/>
    <p:sldId id="356" r:id="rId7"/>
    <p:sldId id="394" r:id="rId8"/>
    <p:sldId id="395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372" r:id="rId25"/>
    <p:sldId id="373" r:id="rId26"/>
    <p:sldId id="374" r:id="rId27"/>
    <p:sldId id="375" r:id="rId28"/>
    <p:sldId id="376" r:id="rId29"/>
    <p:sldId id="377" r:id="rId30"/>
    <p:sldId id="378" r:id="rId31"/>
    <p:sldId id="379" r:id="rId32"/>
    <p:sldId id="393" r:id="rId33"/>
    <p:sldId id="381" r:id="rId34"/>
    <p:sldId id="382" r:id="rId35"/>
    <p:sldId id="383" r:id="rId36"/>
    <p:sldId id="384" r:id="rId37"/>
    <p:sldId id="385" r:id="rId38"/>
    <p:sldId id="386" r:id="rId39"/>
    <p:sldId id="387" r:id="rId40"/>
    <p:sldId id="388" r:id="rId41"/>
    <p:sldId id="389" r:id="rId42"/>
    <p:sldId id="390" r:id="rId43"/>
    <p:sldId id="391" r:id="rId44"/>
    <p:sldId id="392" r:id="rId45"/>
    <p:sldId id="351" r:id="rId46"/>
    <p:sldId id="322" r:id="rId4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A46E6-4E1A-4B8F-BBB0-8F81F0BEFED5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A3877-CFC2-4E99-9BC4-1D697B204C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462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D1163-60F6-4F22-86C8-670E0FA60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BA9ED4-ACEA-4ACC-8DAC-6C63083FF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F6C650-8FC0-49CD-B119-66852C6C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84E9E-323C-4D76-A562-03B613FAD81B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0A2E52-FEA0-4537-948B-2CE740D4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7D5B61-39B0-476C-82D8-6A274813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696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42203-CF54-49CA-AD8B-761AA3F5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37979-6810-4383-BF97-99B2AC978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0FB1D4-F54D-4EB6-9D8A-A0E36BB6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870D-AB5E-4E43-BE72-FB0AA547E1D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537510-9BDC-44E1-94C4-36BDBAD9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DCCADF-7E89-4B86-ADC5-9420D32F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864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60145-BFF4-4A17-9C09-153C61AF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C971E0-B851-49C3-AA85-0024836C9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468237-E2AB-49A6-9C81-9D90DE83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AFEDA-71E8-478E-AEA0-A956738C44F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2ACFDC-DDE5-4DF9-871E-67C7F69D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D82344-9DA3-4E39-B5BC-061B6ECB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77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8CE12-45DE-4297-BD62-FFAEA016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3DA2C8-2F5A-43C4-934F-D6FCE6205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7EEAAE-B5F8-4328-9B5F-7098DF892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1DA8EB-99A8-462E-B55F-4EC99C5B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FA5F-3ECD-4943-AD38-87D0A7BC01A0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F8C566-C4E5-4069-8C81-EC8A1D7B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7AFBB-5AB4-4371-B126-947049CE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19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3E3B0-12E6-4737-854E-2C0ADB87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25948B-30B3-43CA-9EB4-BF7A86DB1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A88E36-0E77-4458-BEEA-0203B12FF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7D26F1-B391-4AA6-B3D0-8018811CC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C89788-AA18-4375-BBB1-525990456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35B540-9654-421E-8B90-0D7E6A553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73E-2034-44A9-BC05-27157DC5EDD4}" type="datetime1">
              <a:rPr lang="pt-BR" smtClean="0"/>
              <a:t>10/08/2019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1F0D045-A705-41B1-AF62-C26B9D29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DE1DD05-ADF9-4EC0-AC9E-7BED1A59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96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0CD46-0311-49DC-A680-4D2168D53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EE21C9-00B5-4C41-838A-7646BD6D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267CE-6D9A-4045-969F-DE11DDF0BA3D}" type="datetime1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8D8561D-5B0B-4075-BEB5-50450C76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879B8-A2E4-46F0-AE48-1CADCC4A3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90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C69467-1396-4E55-8F17-64388AD0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7E11-01E9-4384-A103-DBAE017CA503}" type="datetime1">
              <a:rPr lang="pt-BR" smtClean="0"/>
              <a:t>10/08/2019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9699F9B-5E17-4AF2-917A-C3885745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F6F98C-0D2A-42CC-8517-376439B7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79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96ECB-6ADD-4457-ADC0-DA36CE80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3C315D-D135-4D42-B4CD-37E6DEA8B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A26CF8-5BDE-44D5-BCCD-F879E51C9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EC748D-F65D-4F69-A0F5-243D8032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42E-2906-4461-8A97-7A27C05C7B1A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CE6625-A646-499A-A5F2-FB1C8758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C3103-0145-4401-AC66-477F1471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75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C3DFA-41F0-4C64-A868-C1763A7B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8D3609-D05B-4246-804F-4CA0FE0FC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7914C3-D139-497A-B3F6-5D609AF74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8151E0-D270-47CA-B1BC-F3326536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E00C2-E0AC-460E-929B-7079F0347316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D7C8D2-1A91-4E49-BBA2-46C28729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22B3A6-8ABF-4DC3-8CD4-0640A73F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314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8C317-32EE-4448-941D-6DA2D519A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7D88EA-C228-47E1-B5B6-ABA9B7C6E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83E368-D67D-48F3-8F59-95CEE749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25D0-E3BB-4E8E-8FE6-D9B00EC27CAE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D1D1D-AA27-4EF1-8A78-895F87D9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510510-F0B4-4C33-BE66-9E83434F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275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2CE5FF-CEDD-446B-9E3D-A7E5CC1BB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88983C-2490-482C-A7F4-2A8A7608F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6C5D19-47BE-40CF-B809-7DB5F122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E8A-ECEE-473C-A1E9-7321E45784D7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8C711-DCD6-4635-8AC0-C6DA03B2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97A7E8-ECED-4141-B514-9C35AB05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41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605902-0991-41A4-96C1-077ED554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1F0E4C-86B8-4716-A9E6-510FF979B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28DBE3-D1BA-4C3F-ABBE-51A48E5CFE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C1123-A8E1-472A-8A44-06236134FE1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EE578F-3C6C-4EC4-BBDB-1A428C2AD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98F652-25C0-4C1C-9B59-3E726DE3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26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7.png"/><Relationship Id="rId5" Type="http://schemas.openxmlformats.org/officeDocument/2006/relationships/image" Target="../media/image110.png"/><Relationship Id="rId10" Type="http://schemas.openxmlformats.org/officeDocument/2006/relationships/image" Target="../media/image16.png"/><Relationship Id="rId4" Type="http://schemas.openxmlformats.org/officeDocument/2006/relationships/image" Target="../media/image100.png"/><Relationship Id="rId9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8.png"/><Relationship Id="rId5" Type="http://schemas.openxmlformats.org/officeDocument/2006/relationships/image" Target="../media/image110.png"/><Relationship Id="rId10" Type="http://schemas.openxmlformats.org/officeDocument/2006/relationships/image" Target="../media/image17.png"/><Relationship Id="rId4" Type="http://schemas.openxmlformats.org/officeDocument/2006/relationships/image" Target="../media/image100.png"/><Relationship Id="rId9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12" Type="http://schemas.openxmlformats.org/officeDocument/2006/relationships/image" Target="../media/image2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8.png"/><Relationship Id="rId5" Type="http://schemas.openxmlformats.org/officeDocument/2006/relationships/image" Target="../media/image110.png"/><Relationship Id="rId10" Type="http://schemas.openxmlformats.org/officeDocument/2006/relationships/image" Target="../media/image17.png"/><Relationship Id="rId4" Type="http://schemas.openxmlformats.org/officeDocument/2006/relationships/image" Target="../media/image100.png"/><Relationship Id="rId9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://www2.dcc.ufmg.br/livros/algoritmos-java/implementacoes-03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D16D4-E005-4D0C-9908-F530AAEB8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Hash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0A62BC-D0C4-41EF-A98E-C7A2DCD6F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D476C4-E6DF-4F4C-92EC-C4F3F2B4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45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de Chave (</a:t>
            </a:r>
            <a:r>
              <a:rPr lang="pt-BR" i="1" dirty="0" err="1"/>
              <a:t>Hashing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busca por uma chave ocorre sempre através de comparações entre a chave de pesquisa e a chave na tabela.</a:t>
            </a:r>
          </a:p>
          <a:p>
            <a:r>
              <a:rPr lang="pt-BR" dirty="0"/>
              <a:t>Alternativamente, pode-se buscar uma chave em uma tabela por meio do cálculo de sua posição.</a:t>
            </a:r>
          </a:p>
          <a:p>
            <a:r>
              <a:rPr lang="pt-BR" dirty="0"/>
              <a:t>Para isso, utiliza-se uma função (</a:t>
            </a:r>
            <a:r>
              <a:rPr lang="pt-BR" dirty="0" err="1"/>
              <a:t>fução</a:t>
            </a:r>
            <a:r>
              <a:rPr lang="pt-BR" dirty="0"/>
              <a:t> </a:t>
            </a:r>
            <a:r>
              <a:rPr lang="pt-BR" dirty="0" err="1"/>
              <a:t>hash</a:t>
            </a:r>
            <a:r>
              <a:rPr lang="pt-BR" dirty="0"/>
              <a:t>).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2565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de Chave (</a:t>
            </a:r>
            <a:r>
              <a:rPr lang="pt-BR" i="1" dirty="0" err="1"/>
              <a:t>Hashing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função </a:t>
            </a:r>
            <a:r>
              <a:rPr lang="pt-BR" dirty="0" err="1"/>
              <a:t>hash</a:t>
            </a:r>
            <a:r>
              <a:rPr lang="pt-BR" dirty="0"/>
              <a:t> calcula a posição em que o registro se encontra na tabela.</a:t>
            </a:r>
          </a:p>
          <a:p>
            <a:endParaRPr lang="pt-BR" dirty="0"/>
          </a:p>
          <a:p>
            <a:r>
              <a:rPr lang="pt-BR" dirty="0"/>
              <a:t>Assim, os registros armazenados em uma tabela são diretamente endereçados a partir de uma função (transformação aritmética) sobre a chave de pesquisa.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5902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de Chave (</a:t>
            </a:r>
            <a:r>
              <a:rPr lang="pt-BR" i="1" dirty="0" err="1"/>
              <a:t>Hashing</a:t>
            </a:r>
            <a:r>
              <a:rPr lang="pt-BR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Na busca sequencial, temos tempo: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.</m:t>
                    </m:r>
                  </m:oMath>
                </a14:m>
                <a:endParaRPr lang="pt-BR" b="0" dirty="0"/>
              </a:p>
              <a:p>
                <a:endParaRPr lang="pt-BR" dirty="0"/>
              </a:p>
              <a:p>
                <a:r>
                  <a:rPr lang="pt-BR" dirty="0"/>
                  <a:t>Na busca binária, temos tempo: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pt-BR" i="1">
                        <a:latin typeface="Cambria Math"/>
                      </a:rPr>
                      <m:t>.</m:t>
                    </m:r>
                  </m:oMath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Na tabela </a:t>
                </a:r>
                <a:r>
                  <a:rPr lang="pt-BR" dirty="0" err="1"/>
                  <a:t>hash</a:t>
                </a:r>
                <a:r>
                  <a:rPr lang="pt-BR" dirty="0"/>
                  <a:t>, temos tempo: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.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A busca na tabela </a:t>
                </a:r>
                <a:r>
                  <a:rPr lang="pt-BR" dirty="0" err="1"/>
                  <a:t>hash</a:t>
                </a:r>
                <a:r>
                  <a:rPr lang="pt-BR" dirty="0"/>
                  <a:t>, sempre retorna a posição da tabela da chave na tabela.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17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de Chave (</a:t>
            </a:r>
            <a:r>
              <a:rPr lang="pt-BR" i="1" dirty="0" err="1"/>
              <a:t>Hashing</a:t>
            </a:r>
            <a:r>
              <a:rPr lang="pt-BR" dirty="0"/>
              <a:t>)</a:t>
            </a:r>
          </a:p>
        </p:txBody>
      </p:sp>
      <p:sp>
        <p:nvSpPr>
          <p:cNvPr id="4" name="Retângulo 3"/>
          <p:cNvSpPr/>
          <p:nvPr/>
        </p:nvSpPr>
        <p:spPr>
          <a:xfrm>
            <a:off x="8277944" y="21328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8277944" y="24208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8277944" y="27089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8277944" y="29969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8277944" y="32849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8277944" y="35730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8277944" y="38610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8277944" y="414908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8277944" y="443711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8277944" y="472514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8277944" y="501317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4858545" y="3532366"/>
                <a:ext cx="19433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𝑓𝑢𝑛</m:t>
                      </m:r>
                      <m:r>
                        <a:rPr lang="pt-BR" i="1">
                          <a:latin typeface="Cambria Math"/>
                        </a:rPr>
                        <m:t>çã</m:t>
                      </m:r>
                      <m:r>
                        <a:rPr lang="pt-BR" i="1">
                          <a:latin typeface="Cambria Math"/>
                        </a:rPr>
                        <m:t>𝑜</m:t>
                      </m:r>
                      <m:r>
                        <a:rPr lang="pt-BR" i="1">
                          <a:latin typeface="Cambria Math"/>
                        </a:rPr>
                        <m:t> </m:t>
                      </m:r>
                      <m:r>
                        <a:rPr lang="pt-BR" i="1">
                          <a:latin typeface="Cambria Math"/>
                        </a:rPr>
                        <m:t>h𝑎𝑠h</m:t>
                      </m:r>
                      <m:r>
                        <a:rPr lang="pt-BR" i="1">
                          <a:latin typeface="Cambria Math"/>
                        </a:rPr>
                        <m:t>:</m:t>
                      </m:r>
                      <m:r>
                        <a:rPr lang="pt-BR" i="1">
                          <a:latin typeface="Cambria Math"/>
                        </a:rPr>
                        <m:t>h</m:t>
                      </m:r>
                      <m:r>
                        <a:rPr lang="pt-BR" i="1">
                          <a:latin typeface="Cambria Math"/>
                        </a:rPr>
                        <m:t>()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545" y="3532366"/>
                <a:ext cx="1943353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 de seta reta 21"/>
          <p:cNvCxnSpPr/>
          <p:nvPr/>
        </p:nvCxnSpPr>
        <p:spPr>
          <a:xfrm flipV="1">
            <a:off x="6801898" y="2276872"/>
            <a:ext cx="1369015" cy="144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8" idx="3"/>
          </p:cNvCxnSpPr>
          <p:nvPr/>
        </p:nvCxnSpPr>
        <p:spPr>
          <a:xfrm flipV="1">
            <a:off x="6801898" y="2564904"/>
            <a:ext cx="1369015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18" idx="3"/>
          </p:cNvCxnSpPr>
          <p:nvPr/>
        </p:nvCxnSpPr>
        <p:spPr>
          <a:xfrm flipV="1">
            <a:off x="6801898" y="2852936"/>
            <a:ext cx="1369015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18" idx="3"/>
          </p:cNvCxnSpPr>
          <p:nvPr/>
        </p:nvCxnSpPr>
        <p:spPr>
          <a:xfrm flipV="1">
            <a:off x="6801898" y="3140968"/>
            <a:ext cx="1369015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18" idx="3"/>
          </p:cNvCxnSpPr>
          <p:nvPr/>
        </p:nvCxnSpPr>
        <p:spPr>
          <a:xfrm flipV="1">
            <a:off x="6801898" y="3429000"/>
            <a:ext cx="1369015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18" idx="3"/>
          </p:cNvCxnSpPr>
          <p:nvPr/>
        </p:nvCxnSpPr>
        <p:spPr>
          <a:xfrm>
            <a:off x="6801898" y="3717032"/>
            <a:ext cx="136901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18" idx="3"/>
          </p:cNvCxnSpPr>
          <p:nvPr/>
        </p:nvCxnSpPr>
        <p:spPr>
          <a:xfrm>
            <a:off x="6801898" y="3717032"/>
            <a:ext cx="1369015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18" idx="3"/>
          </p:cNvCxnSpPr>
          <p:nvPr/>
        </p:nvCxnSpPr>
        <p:spPr>
          <a:xfrm>
            <a:off x="6801898" y="3717032"/>
            <a:ext cx="1369015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18" idx="3"/>
          </p:cNvCxnSpPr>
          <p:nvPr/>
        </p:nvCxnSpPr>
        <p:spPr>
          <a:xfrm>
            <a:off x="6801898" y="3717032"/>
            <a:ext cx="1369015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stCxn id="18" idx="3"/>
          </p:cNvCxnSpPr>
          <p:nvPr/>
        </p:nvCxnSpPr>
        <p:spPr>
          <a:xfrm>
            <a:off x="6801898" y="3717032"/>
            <a:ext cx="1369015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>
            <a:stCxn id="18" idx="3"/>
          </p:cNvCxnSpPr>
          <p:nvPr/>
        </p:nvCxnSpPr>
        <p:spPr>
          <a:xfrm>
            <a:off x="6801898" y="3717032"/>
            <a:ext cx="1369015" cy="144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/>
          <p:nvPr/>
        </p:nvCxnSpPr>
        <p:spPr>
          <a:xfrm>
            <a:off x="3706416" y="3717032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2698305" y="3532366"/>
            <a:ext cx="75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Chave</a:t>
            </a:r>
          </a:p>
        </p:txBody>
      </p:sp>
    </p:spTree>
    <p:extLst>
      <p:ext uri="{BB962C8B-B14F-4D97-AF65-F5344CB8AC3E}">
        <p14:creationId xmlns:p14="http://schemas.microsoft.com/office/powerpoint/2010/main" val="4197451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de Chave (</a:t>
            </a:r>
            <a:r>
              <a:rPr lang="pt-BR" i="1" dirty="0" err="1"/>
              <a:t>Hashing</a:t>
            </a:r>
            <a:r>
              <a:rPr lang="pt-BR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Motivação:</a:t>
                </a:r>
              </a:p>
              <a:p>
                <a:r>
                  <a:rPr lang="pt-BR" dirty="0"/>
                  <a:t>Suponha: Tabela com M posições, em que:</a:t>
                </a:r>
              </a:p>
              <a:p>
                <a:pPr lvl="1"/>
                <a:r>
                  <a:rPr lang="pt-BR" dirty="0"/>
                  <a:t>N Chaves de valor menor que M</a:t>
                </a:r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r>
                  <a:rPr lang="pt-BR" dirty="0"/>
                  <a:t>Se N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≤ </m:t>
                    </m:r>
                  </m:oMath>
                </a14:m>
                <a:r>
                  <a:rPr lang="pt-BR" dirty="0"/>
                  <a:t>M: Ok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 7"/>
          <p:cNvSpPr/>
          <p:nvPr/>
        </p:nvSpPr>
        <p:spPr>
          <a:xfrm>
            <a:off x="4227240" y="4077072"/>
            <a:ext cx="45720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4684440" y="4077072"/>
            <a:ext cx="45720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141640" y="4077072"/>
            <a:ext cx="45720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598840" y="4077072"/>
            <a:ext cx="45720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6056040" y="4077072"/>
            <a:ext cx="45720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6672064" y="4077072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...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7104112" y="4077072"/>
            <a:ext cx="45720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4315428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805830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237878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683580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173982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123740" y="4509121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M-1</a:t>
            </a:r>
          </a:p>
        </p:txBody>
      </p:sp>
    </p:spTree>
    <p:extLst>
      <p:ext uri="{BB962C8B-B14F-4D97-AF65-F5344CB8AC3E}">
        <p14:creationId xmlns:p14="http://schemas.microsoft.com/office/powerpoint/2010/main" val="3449210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de Chave (</a:t>
            </a:r>
            <a:r>
              <a:rPr lang="pt-BR" i="1" dirty="0" err="1"/>
              <a:t>Hashing</a:t>
            </a:r>
            <a:r>
              <a:rPr lang="pt-BR" dirty="0"/>
              <a:t>)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063553" y="1772817"/>
            <a:ext cx="5128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Inserção das chaves {2, 3, 4, 6, 10} em uma tabela de</a:t>
            </a:r>
          </a:p>
          <a:p>
            <a:r>
              <a:rPr lang="pt-BR" dirty="0"/>
              <a:t>tamanho 11. 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064021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064021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005512" y="3902278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 4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6005512" y="4471052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 6</a:t>
            </a:r>
          </a:p>
        </p:txBody>
      </p:sp>
    </p:spTree>
    <p:extLst>
      <p:ext uri="{BB962C8B-B14F-4D97-AF65-F5344CB8AC3E}">
        <p14:creationId xmlns:p14="http://schemas.microsoft.com/office/powerpoint/2010/main" val="2529247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de Chave (</a:t>
            </a:r>
            <a:r>
              <a:rPr lang="pt-BR" i="1" dirty="0" err="1"/>
              <a:t>Hashing</a:t>
            </a:r>
            <a:r>
              <a:rPr lang="pt-BR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Motivação:</a:t>
                </a:r>
              </a:p>
              <a:p>
                <a:r>
                  <a:rPr lang="pt-BR" dirty="0"/>
                  <a:t>Suponha: Tabela com M posições, em que:</a:t>
                </a:r>
              </a:p>
              <a:p>
                <a:pPr lvl="1"/>
                <a:r>
                  <a:rPr lang="pt-BR" dirty="0"/>
                  <a:t>N Chaves de valor menor que M</a:t>
                </a:r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r>
                  <a:rPr lang="pt-BR" dirty="0"/>
                  <a:t>Se N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≤ </m:t>
                    </m:r>
                  </m:oMath>
                </a14:m>
                <a:r>
                  <a:rPr lang="pt-BR" dirty="0"/>
                  <a:t>M: Ok</a:t>
                </a:r>
              </a:p>
              <a:p>
                <a:pPr lvl="1"/>
                <a:r>
                  <a:rPr lang="pt-BR" dirty="0">
                    <a:solidFill>
                      <a:srgbClr val="FF0000"/>
                    </a:solidFill>
                  </a:rPr>
                  <a:t>Se N </a:t>
                </a:r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</m:oMath>
                </a14:m>
                <a:r>
                  <a:rPr lang="pt-BR" dirty="0">
                    <a:solidFill>
                      <a:srgbClr val="FF0000"/>
                    </a:solidFill>
                  </a:rPr>
                  <a:t> M: ??? 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 7"/>
          <p:cNvSpPr/>
          <p:nvPr/>
        </p:nvSpPr>
        <p:spPr>
          <a:xfrm>
            <a:off x="4227240" y="4077072"/>
            <a:ext cx="45720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4684440" y="4077072"/>
            <a:ext cx="45720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141640" y="4077072"/>
            <a:ext cx="45720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598840" y="4077072"/>
            <a:ext cx="45720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6056040" y="4077072"/>
            <a:ext cx="45720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6672064" y="4077072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...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7104112" y="4077072"/>
            <a:ext cx="45720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4315428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805830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237878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683580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173982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7123740" y="4509121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M-1</a:t>
            </a:r>
          </a:p>
        </p:txBody>
      </p:sp>
    </p:spTree>
    <p:extLst>
      <p:ext uri="{BB962C8B-B14F-4D97-AF65-F5344CB8AC3E}">
        <p14:creationId xmlns:p14="http://schemas.microsoft.com/office/powerpoint/2010/main" val="3277786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de Chave (</a:t>
            </a:r>
            <a:r>
              <a:rPr lang="pt-BR" i="1" dirty="0" err="1"/>
              <a:t>Hashing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método de pesquisa com o uso da transformação de chave é constituído de duas etapas principais:</a:t>
            </a:r>
          </a:p>
          <a:p>
            <a:pPr lvl="1"/>
            <a:r>
              <a:rPr lang="pt-BR" dirty="0"/>
              <a:t>Calcular o valor da </a:t>
            </a:r>
            <a:r>
              <a:rPr lang="pt-BR" b="1" dirty="0"/>
              <a:t>função de </a:t>
            </a:r>
            <a:r>
              <a:rPr lang="pt-BR" b="1" dirty="0" err="1"/>
              <a:t>tansformação</a:t>
            </a:r>
            <a:r>
              <a:rPr lang="pt-BR" b="1" dirty="0"/>
              <a:t> (função </a:t>
            </a:r>
            <a:r>
              <a:rPr lang="pt-BR" b="1" dirty="0" err="1"/>
              <a:t>hash</a:t>
            </a:r>
            <a:r>
              <a:rPr lang="pt-BR" b="1" dirty="0"/>
              <a:t>)</a:t>
            </a:r>
            <a:r>
              <a:rPr lang="pt-BR" dirty="0"/>
              <a:t>, a qual transforma a chave de pesquisa em um endereço da tabela. </a:t>
            </a:r>
          </a:p>
          <a:p>
            <a:pPr lvl="2"/>
            <a:r>
              <a:rPr lang="pt-BR" dirty="0" err="1"/>
              <a:t>Hash</a:t>
            </a:r>
            <a:r>
              <a:rPr lang="pt-BR" dirty="0"/>
              <a:t>(</a:t>
            </a:r>
            <a:r>
              <a:rPr lang="pt-BR" i="1" dirty="0"/>
              <a:t>Chave</a:t>
            </a:r>
            <a:r>
              <a:rPr lang="pt-BR" dirty="0"/>
              <a:t>) = posição na tabela.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Considerando que duas ou mais chaves podem ser transformadas em um mesmo endereço de tabela, é necessário existir um método para lidar com </a:t>
            </a:r>
            <a:r>
              <a:rPr lang="pt-BR" b="1" dirty="0"/>
              <a:t>colisões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1279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de Chave (</a:t>
            </a:r>
            <a:r>
              <a:rPr lang="pt-BR" i="1" dirty="0" err="1"/>
              <a:t>Hashing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Fatalmente algumas </a:t>
            </a:r>
            <a:r>
              <a:rPr lang="pt-BR" b="1" dirty="0"/>
              <a:t>colisões </a:t>
            </a:r>
            <a:r>
              <a:rPr lang="pt-BR" dirty="0"/>
              <a:t>irão ocorrer:</a:t>
            </a:r>
          </a:p>
          <a:p>
            <a:pPr lvl="1"/>
            <a:r>
              <a:rPr lang="pt-BR" dirty="0"/>
              <a:t>colisões têm de ser resolvidas de alguma forma.</a:t>
            </a:r>
          </a:p>
          <a:p>
            <a:pPr marL="457200" lvl="1" indent="0">
              <a:buNone/>
            </a:pPr>
            <a:endParaRPr lang="pt-BR" dirty="0"/>
          </a:p>
          <a:p>
            <a:r>
              <a:rPr lang="pt-BR" dirty="0"/>
              <a:t>Mesmo com uma função de transformação que distribua os registros de forma uniforme entre as entradas da tabela, existe uma alta probabilidade de haver colisões.</a:t>
            </a:r>
          </a:p>
        </p:txBody>
      </p:sp>
    </p:spTree>
    <p:extLst>
      <p:ext uri="{BB962C8B-B14F-4D97-AF65-F5344CB8AC3E}">
        <p14:creationId xmlns:p14="http://schemas.microsoft.com/office/powerpoint/2010/main" val="2452490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Transformação de Chave (</a:t>
            </a:r>
            <a:r>
              <a:rPr lang="pt-BR" i="1" dirty="0" err="1"/>
              <a:t>Hashing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Paradoxo do aniversário (</a:t>
            </a:r>
            <a:r>
              <a:rPr lang="pt-BR" dirty="0" err="1"/>
              <a:t>Feller</a:t>
            </a:r>
            <a:r>
              <a:rPr lang="pt-BR" dirty="0"/>
              <a:t>, 69):</a:t>
            </a:r>
          </a:p>
          <a:p>
            <a:pPr lvl="1"/>
            <a:r>
              <a:rPr lang="pt-BR" dirty="0"/>
              <a:t>Em um grupo de 23 ou mais pessoas, juntas ao acaso, existe uma chance maior do que 50% de que 2 pessoas comemorem aniversário no mesmo dia.</a:t>
            </a:r>
          </a:p>
          <a:p>
            <a:pPr lvl="1"/>
            <a:r>
              <a:rPr lang="pt-BR" dirty="0"/>
              <a:t>Assim, se for utilizada uma função de transformação uniforme que enderece 23 chaves randômicas em uma tabela de tamanho 365, a probabilidade de que haja </a:t>
            </a:r>
            <a:r>
              <a:rPr lang="pt-BR" b="1" dirty="0"/>
              <a:t>colisões </a:t>
            </a:r>
            <a:r>
              <a:rPr lang="pt-BR" dirty="0"/>
              <a:t>é maior do que 50%.</a:t>
            </a:r>
          </a:p>
        </p:txBody>
      </p:sp>
    </p:spTree>
    <p:extLst>
      <p:ext uri="{BB962C8B-B14F-4D97-AF65-F5344CB8AC3E}">
        <p14:creationId xmlns:p14="http://schemas.microsoft.com/office/powerpoint/2010/main" val="1339357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</a:t>
            </a:r>
            <a:r>
              <a:rPr lang="pt-BR" dirty="0" err="1"/>
              <a:t>Hash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Uma função de transformação deve mapear chaves em inteiros dentro do intervalo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[0…</m:t>
                    </m:r>
                    <m:r>
                      <a:rPr lang="pt-BR" b="0" i="1" smtClean="0">
                        <a:latin typeface="Cambria Math"/>
                      </a:rPr>
                      <m:t>𝑀</m:t>
                    </m:r>
                    <m:r>
                      <a:rPr lang="pt-BR" b="0" i="1" smtClean="0">
                        <a:latin typeface="Cambria Math"/>
                      </a:rPr>
                      <m:t>−1]</m:t>
                    </m:r>
                  </m:oMath>
                </a14:m>
                <a:r>
                  <a:rPr lang="pt-BR" dirty="0"/>
                  <a:t>, onde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pt-BR" dirty="0"/>
                  <a:t> é o tamanho da tabela.</a:t>
                </a:r>
              </a:p>
              <a:p>
                <a:pPr lvl="1"/>
                <a:r>
                  <a:rPr lang="pt-BR" dirty="0"/>
                  <a:t>h( </a:t>
                </a:r>
                <a:r>
                  <a:rPr lang="pt-BR" i="1" dirty="0"/>
                  <a:t>x </a:t>
                </a:r>
                <a:r>
                  <a:rPr lang="pt-BR" dirty="0"/>
                  <a:t>) = </a:t>
                </a:r>
                <a:r>
                  <a:rPr lang="pt-BR" dirty="0" err="1"/>
                  <a:t>pos</a:t>
                </a:r>
                <a:r>
                  <a:rPr lang="pt-BR" dirty="0"/>
                  <a:t>. na tabela</a:t>
                </a:r>
              </a:p>
              <a:p>
                <a:r>
                  <a:rPr lang="pt-BR" dirty="0"/>
                  <a:t>Características</a:t>
                </a:r>
              </a:p>
              <a:p>
                <a:pPr lvl="1"/>
                <a:r>
                  <a:rPr lang="pt-BR" dirty="0"/>
                  <a:t>Seja simples de ser computada (Eficiência)</a:t>
                </a:r>
              </a:p>
              <a:p>
                <a:pPr lvl="1"/>
                <a:r>
                  <a:rPr lang="pt-BR" dirty="0"/>
                  <a:t>Para cada chave de entrada, qualquer uma das saídas possíveis é igualmente provável de ocorrer (Uniformidade).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6714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</a:t>
            </a:r>
            <a:r>
              <a:rPr lang="pt-BR" dirty="0" err="1"/>
              <a:t>Hash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as transformações sobre as chaves são aritméticas, deve-se transformar as chaves não-numéricas em números.</a:t>
            </a:r>
          </a:p>
        </p:txBody>
      </p:sp>
    </p:spTree>
    <p:extLst>
      <p:ext uri="{BB962C8B-B14F-4D97-AF65-F5344CB8AC3E}">
        <p14:creationId xmlns:p14="http://schemas.microsoft.com/office/powerpoint/2010/main" val="3745911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da Divisão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Usa o resto da divisão por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𝑘</m:t>
                    </m:r>
                    <m:r>
                      <a:rPr lang="pt-BR" b="0" i="1" smtClean="0">
                        <a:latin typeface="Cambria Math"/>
                      </a:rPr>
                      <m:t> </m:t>
                    </m:r>
                    <m:r>
                      <a:rPr lang="pt-BR" b="0" i="1" smtClean="0">
                        <a:latin typeface="Cambria Math"/>
                      </a:rPr>
                      <m:t>𝑚𝑜𝑑</m:t>
                    </m:r>
                    <m:r>
                      <a:rPr lang="pt-BR" b="0" i="1" smtClean="0">
                        <a:latin typeface="Cambria Math"/>
                      </a:rPr>
                      <m:t> </m:t>
                    </m:r>
                    <m:r>
                      <a:rPr lang="pt-BR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𝑘</m:t>
                    </m:r>
                  </m:oMath>
                </a14:m>
                <a:r>
                  <a:rPr lang="pt-BR" dirty="0"/>
                  <a:t> é um inteiro correspondente à chave.</a:t>
                </a:r>
              </a:p>
              <a:p>
                <a:pPr lvl="1"/>
                <a:endParaRPr lang="pt-BR" dirty="0"/>
              </a:p>
              <a:p>
                <a:r>
                  <a:rPr lang="pt-BR" dirty="0"/>
                  <a:t>Fácil e eficiente.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8903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Inserção das chaves {10, 2, 3, 15, 28} em uma tabela de</a:t>
                </a:r>
              </a:p>
              <a:p>
                <a:r>
                  <a:rPr lang="pt-BR" dirty="0"/>
                  <a:t>tamanho 11. Função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blipFill>
                <a:blip r:embed="rId2"/>
                <a:stretch>
                  <a:fillRect l="-1003" t="-5660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610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Inserção das chaves {</a:t>
                </a:r>
                <a:r>
                  <a:rPr lang="pt-BR" dirty="0">
                    <a:solidFill>
                      <a:srgbClr val="FF0000"/>
                    </a:solidFill>
                  </a:rPr>
                  <a:t>10</a:t>
                </a:r>
                <a:r>
                  <a:rPr lang="pt-BR" dirty="0"/>
                  <a:t>, 2, 3, 15, 28} em uma tabela de</a:t>
                </a:r>
              </a:p>
              <a:p>
                <a:r>
                  <a:rPr lang="pt-BR" dirty="0"/>
                  <a:t>tamanho 11. Função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blipFill>
                <a:blip r:embed="rId2"/>
                <a:stretch>
                  <a:fillRect l="-1003" t="-5660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aixaDeTexto 26"/>
          <p:cNvSpPr txBox="1"/>
          <p:nvPr/>
        </p:nvSpPr>
        <p:spPr>
          <a:xfrm>
            <a:off x="6744072" y="5651376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H(10) = 10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73837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Inserção das chaves {10, </a:t>
                </a:r>
                <a:r>
                  <a:rPr lang="pt-BR" dirty="0">
                    <a:solidFill>
                      <a:srgbClr val="FF0000"/>
                    </a:solidFill>
                  </a:rPr>
                  <a:t>2</a:t>
                </a:r>
                <a:r>
                  <a:rPr lang="pt-BR" dirty="0"/>
                  <a:t>, 3, 15, 28} em uma tabela de</a:t>
                </a:r>
              </a:p>
              <a:p>
                <a:r>
                  <a:rPr lang="pt-BR" dirty="0"/>
                  <a:t>tamanho 11. Função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blipFill>
                <a:blip r:embed="rId2"/>
                <a:stretch>
                  <a:fillRect l="-1003" t="-5660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aixaDeTexto 28"/>
          <p:cNvSpPr txBox="1"/>
          <p:nvPr/>
        </p:nvSpPr>
        <p:spPr>
          <a:xfrm>
            <a:off x="6744072" y="5651376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H(10) = 10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744072" y="3356993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H(2) = 2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064021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41796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Inserção das chaves {10, 2, </a:t>
                </a:r>
                <a:r>
                  <a:rPr lang="pt-BR" dirty="0">
                    <a:solidFill>
                      <a:srgbClr val="FF0000"/>
                    </a:solidFill>
                  </a:rPr>
                  <a:t>3</a:t>
                </a:r>
                <a:r>
                  <a:rPr lang="pt-BR" dirty="0"/>
                  <a:t>, 15, 28} em uma tabela de</a:t>
                </a:r>
              </a:p>
              <a:p>
                <a:r>
                  <a:rPr lang="pt-BR" dirty="0"/>
                  <a:t>tamanho 11. Função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blipFill>
                <a:blip r:embed="rId2"/>
                <a:stretch>
                  <a:fillRect l="-1003" t="-5660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aixaDeTexto 28"/>
          <p:cNvSpPr txBox="1"/>
          <p:nvPr/>
        </p:nvSpPr>
        <p:spPr>
          <a:xfrm>
            <a:off x="6744072" y="5651376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H(10) = 10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744072" y="3356993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H(2) = 2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064021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6744072" y="3645024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H(3) = 3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064021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95657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Inserção das chaves {10, 2, 3, </a:t>
                </a:r>
                <a:r>
                  <a:rPr lang="pt-BR" dirty="0">
                    <a:solidFill>
                      <a:srgbClr val="FF0000"/>
                    </a:solidFill>
                  </a:rPr>
                  <a:t>15</a:t>
                </a:r>
                <a:r>
                  <a:rPr lang="pt-BR" dirty="0"/>
                  <a:t>, 28} em uma tabela de</a:t>
                </a:r>
              </a:p>
              <a:p>
                <a:r>
                  <a:rPr lang="pt-BR" dirty="0"/>
                  <a:t>tamanho 11. Função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blipFill>
                <a:blip r:embed="rId2"/>
                <a:stretch>
                  <a:fillRect l="-1003" t="-5660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aixaDeTexto 28"/>
          <p:cNvSpPr txBox="1"/>
          <p:nvPr/>
        </p:nvSpPr>
        <p:spPr>
          <a:xfrm>
            <a:off x="6744072" y="5651376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H(10) = 10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744072" y="3356993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H(2) = 2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064021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6744072" y="3645024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H(3) = 3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064021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6742314" y="392318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H(15) = 15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005512" y="3902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45052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Inserção das chaves {10, 2, 3, 15, </a:t>
                </a:r>
                <a:r>
                  <a:rPr lang="pt-BR" dirty="0">
                    <a:solidFill>
                      <a:srgbClr val="FF0000"/>
                    </a:solidFill>
                  </a:rPr>
                  <a:t>28</a:t>
                </a:r>
                <a:r>
                  <a:rPr lang="pt-BR" dirty="0"/>
                  <a:t>} em uma tabela de</a:t>
                </a:r>
              </a:p>
              <a:p>
                <a:r>
                  <a:rPr lang="pt-BR" dirty="0"/>
                  <a:t>tamanho 11. Função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blipFill>
                <a:blip r:embed="rId2"/>
                <a:stretch>
                  <a:fillRect l="-1003" t="-5660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aixaDeTexto 28"/>
          <p:cNvSpPr txBox="1"/>
          <p:nvPr/>
        </p:nvSpPr>
        <p:spPr>
          <a:xfrm>
            <a:off x="6744072" y="5651376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H(10) = 10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744072" y="3356993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H(2) = 2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064021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6744072" y="3645024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H(3) = 3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064021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6742314" y="392318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H(15) = 15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005512" y="3902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742314" y="4501830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H(28) = 28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6005512" y="44710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516173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Inserção das chaves {10, 2, 3, 15, 28} em uma tabela de</a:t>
                </a:r>
              </a:p>
              <a:p>
                <a:r>
                  <a:rPr lang="pt-BR" dirty="0"/>
                  <a:t>tamanho 11. Função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blipFill>
                <a:blip r:embed="rId2"/>
                <a:stretch>
                  <a:fillRect l="-1003" t="-5660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aixaDeTexto 28"/>
          <p:cNvSpPr txBox="1"/>
          <p:nvPr/>
        </p:nvSpPr>
        <p:spPr>
          <a:xfrm>
            <a:off x="6744072" y="5651376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H(10) = 10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744072" y="3356993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H(2) = 2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064021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6744072" y="3645024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H(3) = 3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064021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6742314" y="392318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H(15) = 15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005512" y="3902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742314" y="4501830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H(28) = 28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6005512" y="44710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28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063552" y="2576518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que acontecerá ao tentar inserir novo elemento: </a:t>
            </a:r>
            <a:r>
              <a:rPr lang="pt-BR" dirty="0">
                <a:solidFill>
                  <a:srgbClr val="FF0000"/>
                </a:solidFill>
              </a:rPr>
              <a:t>21 </a:t>
            </a:r>
          </a:p>
        </p:txBody>
      </p:sp>
    </p:spTree>
    <p:extLst>
      <p:ext uri="{BB962C8B-B14F-4D97-AF65-F5344CB8AC3E}">
        <p14:creationId xmlns:p14="http://schemas.microsoft.com/office/powerpoint/2010/main" val="3343657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Inserção das chaves {10, 2, 3, 15, 28} em uma tabela de</a:t>
                </a:r>
              </a:p>
              <a:p>
                <a:r>
                  <a:rPr lang="pt-BR" dirty="0"/>
                  <a:t>tamanho 11. Função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3" y="1772817"/>
                <a:ext cx="5473165" cy="646331"/>
              </a:xfrm>
              <a:prstGeom prst="rect">
                <a:avLst/>
              </a:prstGeom>
              <a:blipFill>
                <a:blip r:embed="rId2"/>
                <a:stretch>
                  <a:fillRect l="-1003" t="-5660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aixaDeTexto 28"/>
          <p:cNvSpPr txBox="1"/>
          <p:nvPr/>
        </p:nvSpPr>
        <p:spPr>
          <a:xfrm>
            <a:off x="6744072" y="5651376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H(10) = 10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744072" y="3356993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H(2) = 2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064021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6744072" y="3645024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H(3) = 3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064021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6742314" y="3923184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H(15) = 15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005512" y="3902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6742314" y="4501830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H(28) = 28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6005512" y="44710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28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063552" y="2576518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que acontecerá ao tentar inserir novo elemento: </a:t>
            </a:r>
            <a:r>
              <a:rPr lang="pt-BR" dirty="0">
                <a:solidFill>
                  <a:srgbClr val="FF0000"/>
                </a:solidFill>
              </a:rPr>
              <a:t>21 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2495600" y="5661249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H(21) = 21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cxnSp>
        <p:nvCxnSpPr>
          <p:cNvPr id="28" name="Conector de seta reta 27"/>
          <p:cNvCxnSpPr/>
          <p:nvPr/>
        </p:nvCxnSpPr>
        <p:spPr>
          <a:xfrm>
            <a:off x="4223792" y="5815136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2063552" y="3347700"/>
            <a:ext cx="2452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Colisão! Como resolver?</a:t>
            </a:r>
          </a:p>
        </p:txBody>
      </p:sp>
    </p:spTree>
    <p:extLst>
      <p:ext uri="{BB962C8B-B14F-4D97-AF65-F5344CB8AC3E}">
        <p14:creationId xmlns:p14="http://schemas.microsoft.com/office/powerpoint/2010/main" val="1672042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Encadeadas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Construir uma lista linear encadeada para cada endereço da tabela.</a:t>
            </a:r>
          </a:p>
          <a:p>
            <a:r>
              <a:rPr lang="pt-BR" dirty="0"/>
              <a:t>Assim, todas as chaves com mesmo endereço são encadeadas em uma lista linear.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5942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Encadeadas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Exemplo:</a:t>
                </a:r>
              </a:p>
              <a:p>
                <a:pPr lvl="1"/>
                <a:r>
                  <a:rPr lang="pt-BR" dirty="0"/>
                  <a:t>Considere uma função </a:t>
                </a:r>
                <a:r>
                  <a:rPr lang="pt-BR" dirty="0" err="1"/>
                  <a:t>hash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𝑐h𝑎𝑣𝑒</m:t>
                        </m:r>
                      </m:e>
                    </m:d>
                    <m:r>
                      <a:rPr lang="pt-BR" i="1">
                        <a:latin typeface="Cambria Math"/>
                      </a:rPr>
                      <m:t>=</m:t>
                    </m:r>
                    <m:r>
                      <a:rPr lang="pt-BR" i="1">
                        <a:latin typeface="Cambria Math"/>
                      </a:rPr>
                      <m:t>𝑐h𝑎𝑣𝑒</m:t>
                    </m:r>
                    <m:r>
                      <a:rPr lang="pt-BR" i="1">
                        <a:latin typeface="Cambria Math"/>
                      </a:rPr>
                      <m:t> </m:t>
                    </m:r>
                    <m:r>
                      <a:rPr lang="pt-BR" i="1">
                        <a:latin typeface="Cambria Math"/>
                      </a:rPr>
                      <m:t>𝑚𝑜𝑑</m:t>
                    </m:r>
                    <m:r>
                      <a:rPr lang="pt-BR" i="1">
                        <a:latin typeface="Cambria Math"/>
                      </a:rPr>
                      <m:t> </m:t>
                    </m:r>
                    <m:r>
                      <a:rPr lang="pt-BR" i="1">
                        <a:latin typeface="Cambria Math"/>
                      </a:rPr>
                      <m:t>𝑀</m:t>
                    </m:r>
                  </m:oMath>
                </a14:m>
                <a:r>
                  <a:rPr lang="pt-BR" dirty="0"/>
                  <a:t> para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𝑀</m:t>
                    </m:r>
                    <m:r>
                      <a:rPr lang="pt-BR" i="1">
                        <a:latin typeface="Cambria Math"/>
                      </a:rPr>
                      <m:t>=7.</m:t>
                    </m:r>
                  </m:oMath>
                </a14:m>
                <a:r>
                  <a:rPr lang="pt-BR" dirty="0"/>
                  <a:t>  </a:t>
                </a:r>
              </a:p>
              <a:p>
                <a:pPr lvl="1"/>
                <a:r>
                  <a:rPr lang="pt-BR" dirty="0"/>
                  <a:t>O resultado da inserção das chaves P E S Q U I S A, será o seguinte:</a:t>
                </a:r>
              </a:p>
              <a:p>
                <a:pPr lvl="2"/>
                <a:r>
                  <a:rPr lang="pt-BR" dirty="0"/>
                  <a:t>h(A) = h(1) = 1, h(E) = h(5) = 5, h(S) = h(19) = 5, e assim por diante.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266" y="4193704"/>
            <a:ext cx="7127158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80829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Encadeadas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063553" y="1772817"/>
            <a:ext cx="5473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Inserção das chaves {10, 2, 3, 15, 28} em uma tabela de</a:t>
            </a:r>
          </a:p>
          <a:p>
            <a:r>
              <a:rPr lang="pt-BR" dirty="0"/>
              <a:t>tamanho 11. Função h(x) = x </a:t>
            </a:r>
            <a:r>
              <a:rPr lang="pt-BR" dirty="0" err="1"/>
              <a:t>mod</a:t>
            </a:r>
            <a:r>
              <a:rPr lang="pt-BR" dirty="0"/>
              <a:t> M.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7045448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04112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7104112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7045448" y="3902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7045448" y="44710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28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063552" y="2576518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que acontecerá ao tentar inserir novo elemento: </a:t>
            </a:r>
            <a:r>
              <a:rPr lang="pt-BR" dirty="0">
                <a:solidFill>
                  <a:srgbClr val="FF0000"/>
                </a:solidFill>
              </a:rPr>
              <a:t>21 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2495600" y="5661249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H(21) = 21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cxnSp>
        <p:nvCxnSpPr>
          <p:cNvPr id="28" name="Conector de seta reta 27"/>
          <p:cNvCxnSpPr/>
          <p:nvPr/>
        </p:nvCxnSpPr>
        <p:spPr>
          <a:xfrm>
            <a:off x="4223792" y="5815136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2063552" y="3347701"/>
            <a:ext cx="25053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Colisão! Como resolver? </a:t>
            </a:r>
          </a:p>
          <a:p>
            <a:r>
              <a:rPr lang="pt-BR" dirty="0"/>
              <a:t>Lista Encadeada</a:t>
            </a:r>
          </a:p>
        </p:txBody>
      </p:sp>
      <p:cxnSp>
        <p:nvCxnSpPr>
          <p:cNvPr id="41" name="Conector de seta reta 40"/>
          <p:cNvCxnSpPr/>
          <p:nvPr/>
        </p:nvCxnSpPr>
        <p:spPr>
          <a:xfrm>
            <a:off x="6214864" y="3501008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ângulo 41"/>
          <p:cNvSpPr/>
          <p:nvPr/>
        </p:nvSpPr>
        <p:spPr>
          <a:xfrm>
            <a:off x="7105747" y="3347700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4" name="Conector reto 43"/>
          <p:cNvCxnSpPr>
            <a:stCxn id="42" idx="0"/>
            <a:endCxn id="42" idx="2"/>
          </p:cNvCxnSpPr>
          <p:nvPr/>
        </p:nvCxnSpPr>
        <p:spPr>
          <a:xfrm>
            <a:off x="7435792" y="3347700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/>
          <p:nvPr/>
        </p:nvCxnSpPr>
        <p:spPr>
          <a:xfrm>
            <a:off x="6213230" y="3798332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tângulo 47"/>
          <p:cNvSpPr/>
          <p:nvPr/>
        </p:nvSpPr>
        <p:spPr>
          <a:xfrm>
            <a:off x="7104113" y="3645024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9" name="Conector reto 48"/>
          <p:cNvCxnSpPr>
            <a:stCxn id="48" idx="0"/>
            <a:endCxn id="48" idx="2"/>
          </p:cNvCxnSpPr>
          <p:nvPr/>
        </p:nvCxnSpPr>
        <p:spPr>
          <a:xfrm>
            <a:off x="7434158" y="3645024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/>
          <p:nvPr/>
        </p:nvCxnSpPr>
        <p:spPr>
          <a:xfrm>
            <a:off x="6213229" y="4086364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tângulo 50"/>
          <p:cNvSpPr/>
          <p:nvPr/>
        </p:nvSpPr>
        <p:spPr>
          <a:xfrm>
            <a:off x="7104112" y="3933056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2" name="Conector reto 51"/>
          <p:cNvCxnSpPr>
            <a:stCxn id="51" idx="0"/>
            <a:endCxn id="51" idx="2"/>
          </p:cNvCxnSpPr>
          <p:nvPr/>
        </p:nvCxnSpPr>
        <p:spPr>
          <a:xfrm>
            <a:off x="7434157" y="3933056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/>
          <p:nvPr/>
        </p:nvCxnSpPr>
        <p:spPr>
          <a:xfrm>
            <a:off x="6206666" y="4667654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tângulo 53"/>
          <p:cNvSpPr/>
          <p:nvPr/>
        </p:nvSpPr>
        <p:spPr>
          <a:xfrm>
            <a:off x="7097549" y="4514346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/>
          <p:cNvCxnSpPr>
            <a:stCxn id="54" idx="0"/>
            <a:endCxn id="54" idx="2"/>
          </p:cNvCxnSpPr>
          <p:nvPr/>
        </p:nvCxnSpPr>
        <p:spPr>
          <a:xfrm>
            <a:off x="7427594" y="4514346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/>
          <p:nvPr/>
        </p:nvCxnSpPr>
        <p:spPr>
          <a:xfrm>
            <a:off x="6214864" y="5809910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tângulo 56"/>
          <p:cNvSpPr/>
          <p:nvPr/>
        </p:nvSpPr>
        <p:spPr>
          <a:xfrm>
            <a:off x="7105747" y="5656602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/>
          <p:cNvCxnSpPr>
            <a:stCxn id="57" idx="0"/>
            <a:endCxn id="57" idx="2"/>
          </p:cNvCxnSpPr>
          <p:nvPr/>
        </p:nvCxnSpPr>
        <p:spPr>
          <a:xfrm>
            <a:off x="7435792" y="5656602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8399947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21</a:t>
            </a:r>
          </a:p>
        </p:txBody>
      </p:sp>
      <p:cxnSp>
        <p:nvCxnSpPr>
          <p:cNvPr id="60" name="Conector de seta reta 59"/>
          <p:cNvCxnSpPr/>
          <p:nvPr/>
        </p:nvCxnSpPr>
        <p:spPr>
          <a:xfrm>
            <a:off x="7569363" y="5809910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8460246" y="5656602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61" idx="0"/>
            <a:endCxn id="61" idx="2"/>
          </p:cNvCxnSpPr>
          <p:nvPr/>
        </p:nvCxnSpPr>
        <p:spPr>
          <a:xfrm>
            <a:off x="8790291" y="5656602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aixaDeTexto 62"/>
              <p:cNvSpPr txBox="1"/>
              <p:nvPr/>
            </p:nvSpPr>
            <p:spPr>
              <a:xfrm>
                <a:off x="6037572" y="2740278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3" name="CaixaDeTexto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572" y="2740278"/>
                <a:ext cx="35458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aixaDeTexto 63"/>
              <p:cNvSpPr txBox="1"/>
              <p:nvPr/>
            </p:nvSpPr>
            <p:spPr>
              <a:xfrm>
                <a:off x="6037572" y="3038182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4" name="CaixaDeTexto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572" y="3038182"/>
                <a:ext cx="3545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aixaDeTexto 64"/>
              <p:cNvSpPr txBox="1"/>
              <p:nvPr/>
            </p:nvSpPr>
            <p:spPr>
              <a:xfrm>
                <a:off x="6023992" y="4190310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5" name="CaixaDeTexto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2" y="4190310"/>
                <a:ext cx="3545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aixaDeTexto 65"/>
              <p:cNvSpPr txBox="1"/>
              <p:nvPr/>
            </p:nvSpPr>
            <p:spPr>
              <a:xfrm>
                <a:off x="6023992" y="4766374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6" name="CaixaDeTexto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2" y="4766374"/>
                <a:ext cx="3545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aixaDeTexto 66"/>
              <p:cNvSpPr txBox="1"/>
              <p:nvPr/>
            </p:nvSpPr>
            <p:spPr>
              <a:xfrm>
                <a:off x="6037572" y="5054406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7" name="CaixaDeTexto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572" y="5054406"/>
                <a:ext cx="3545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aixaDeTexto 67"/>
              <p:cNvSpPr txBox="1"/>
              <p:nvPr/>
            </p:nvSpPr>
            <p:spPr>
              <a:xfrm>
                <a:off x="6037572" y="5332566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8" name="CaixaDeTexto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572" y="5332566"/>
                <a:ext cx="3545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aixaDeTexto 69"/>
              <p:cNvSpPr txBox="1"/>
              <p:nvPr/>
            </p:nvSpPr>
            <p:spPr>
              <a:xfrm>
                <a:off x="7422851" y="3316342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0" name="CaixaDeTexto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851" y="3316342"/>
                <a:ext cx="3545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70"/>
              <p:cNvSpPr txBox="1"/>
              <p:nvPr/>
            </p:nvSpPr>
            <p:spPr>
              <a:xfrm>
                <a:off x="7422851" y="3609020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CaixaDeTexto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851" y="3609020"/>
                <a:ext cx="35458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ixaDeTexto 71"/>
              <p:cNvSpPr txBox="1"/>
              <p:nvPr/>
            </p:nvSpPr>
            <p:spPr>
              <a:xfrm>
                <a:off x="7422851" y="3902278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CaixaDeTexto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851" y="3902278"/>
                <a:ext cx="35458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aixaDeTexto 72"/>
              <p:cNvSpPr txBox="1"/>
              <p:nvPr/>
            </p:nvSpPr>
            <p:spPr>
              <a:xfrm>
                <a:off x="7411253" y="4482988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CaixaDeTexto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253" y="4482988"/>
                <a:ext cx="35458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aixaDeTexto 73"/>
              <p:cNvSpPr txBox="1"/>
              <p:nvPr/>
            </p:nvSpPr>
            <p:spPr>
              <a:xfrm>
                <a:off x="8765752" y="5625244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4" name="CaixaDeTexto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752" y="5625244"/>
                <a:ext cx="35458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707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Encadeadas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063553" y="1772817"/>
            <a:ext cx="5473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Inserção das chaves {10, 2, 3, 15, 28} em uma tabela de</a:t>
            </a:r>
          </a:p>
          <a:p>
            <a:r>
              <a:rPr lang="pt-BR" dirty="0"/>
              <a:t>tamanho 11. Função h(x) = x </a:t>
            </a:r>
            <a:r>
              <a:rPr lang="pt-BR" dirty="0" err="1"/>
              <a:t>mod</a:t>
            </a:r>
            <a:r>
              <a:rPr lang="pt-BR" dirty="0"/>
              <a:t> M.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7045448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04112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7104112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7045448" y="3902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7045448" y="44710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28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063552" y="2576518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que acontecerá ao tentar inserir novo elemento: </a:t>
            </a:r>
            <a:r>
              <a:rPr lang="pt-BR" dirty="0">
                <a:solidFill>
                  <a:srgbClr val="FF0000"/>
                </a:solidFill>
              </a:rPr>
              <a:t>25 </a:t>
            </a:r>
          </a:p>
        </p:txBody>
      </p:sp>
      <p:cxnSp>
        <p:nvCxnSpPr>
          <p:cNvPr id="41" name="Conector de seta reta 40"/>
          <p:cNvCxnSpPr/>
          <p:nvPr/>
        </p:nvCxnSpPr>
        <p:spPr>
          <a:xfrm>
            <a:off x="6214864" y="3501008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ângulo 41"/>
          <p:cNvSpPr/>
          <p:nvPr/>
        </p:nvSpPr>
        <p:spPr>
          <a:xfrm>
            <a:off x="7105747" y="3347700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4" name="Conector reto 43"/>
          <p:cNvCxnSpPr>
            <a:stCxn id="42" idx="0"/>
            <a:endCxn id="42" idx="2"/>
          </p:cNvCxnSpPr>
          <p:nvPr/>
        </p:nvCxnSpPr>
        <p:spPr>
          <a:xfrm>
            <a:off x="7435792" y="3347700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/>
          <p:nvPr/>
        </p:nvCxnSpPr>
        <p:spPr>
          <a:xfrm>
            <a:off x="6213230" y="3798332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tângulo 47"/>
          <p:cNvSpPr/>
          <p:nvPr/>
        </p:nvSpPr>
        <p:spPr>
          <a:xfrm>
            <a:off x="7104113" y="3645024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9" name="Conector reto 48"/>
          <p:cNvCxnSpPr>
            <a:stCxn id="48" idx="0"/>
            <a:endCxn id="48" idx="2"/>
          </p:cNvCxnSpPr>
          <p:nvPr/>
        </p:nvCxnSpPr>
        <p:spPr>
          <a:xfrm>
            <a:off x="7434158" y="3645024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/>
          <p:nvPr/>
        </p:nvCxnSpPr>
        <p:spPr>
          <a:xfrm>
            <a:off x="6213229" y="4086364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tângulo 50"/>
          <p:cNvSpPr/>
          <p:nvPr/>
        </p:nvSpPr>
        <p:spPr>
          <a:xfrm>
            <a:off x="7104112" y="3933056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2" name="Conector reto 51"/>
          <p:cNvCxnSpPr>
            <a:stCxn id="51" idx="0"/>
            <a:endCxn id="51" idx="2"/>
          </p:cNvCxnSpPr>
          <p:nvPr/>
        </p:nvCxnSpPr>
        <p:spPr>
          <a:xfrm>
            <a:off x="7434157" y="3933056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/>
          <p:nvPr/>
        </p:nvCxnSpPr>
        <p:spPr>
          <a:xfrm>
            <a:off x="6206666" y="4667654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tângulo 53"/>
          <p:cNvSpPr/>
          <p:nvPr/>
        </p:nvSpPr>
        <p:spPr>
          <a:xfrm>
            <a:off x="7097549" y="4514346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/>
          <p:cNvCxnSpPr>
            <a:stCxn id="54" idx="0"/>
            <a:endCxn id="54" idx="2"/>
          </p:cNvCxnSpPr>
          <p:nvPr/>
        </p:nvCxnSpPr>
        <p:spPr>
          <a:xfrm>
            <a:off x="7427594" y="4514346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/>
          <p:nvPr/>
        </p:nvCxnSpPr>
        <p:spPr>
          <a:xfrm>
            <a:off x="6214864" y="5809910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tângulo 56"/>
          <p:cNvSpPr/>
          <p:nvPr/>
        </p:nvSpPr>
        <p:spPr>
          <a:xfrm>
            <a:off x="7105747" y="5656602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/>
          <p:cNvCxnSpPr>
            <a:stCxn id="57" idx="0"/>
            <a:endCxn id="57" idx="2"/>
          </p:cNvCxnSpPr>
          <p:nvPr/>
        </p:nvCxnSpPr>
        <p:spPr>
          <a:xfrm>
            <a:off x="7435792" y="5656602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8399947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21</a:t>
            </a:r>
          </a:p>
        </p:txBody>
      </p:sp>
      <p:cxnSp>
        <p:nvCxnSpPr>
          <p:cNvPr id="60" name="Conector de seta reta 59"/>
          <p:cNvCxnSpPr/>
          <p:nvPr/>
        </p:nvCxnSpPr>
        <p:spPr>
          <a:xfrm>
            <a:off x="7569363" y="5809910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8460246" y="5656602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61" idx="0"/>
            <a:endCxn id="61" idx="2"/>
          </p:cNvCxnSpPr>
          <p:nvPr/>
        </p:nvCxnSpPr>
        <p:spPr>
          <a:xfrm>
            <a:off x="8790291" y="5656602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aixaDeTexto 62"/>
              <p:cNvSpPr txBox="1"/>
              <p:nvPr/>
            </p:nvSpPr>
            <p:spPr>
              <a:xfrm>
                <a:off x="6037572" y="2740278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3" name="CaixaDeTexto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572" y="2740278"/>
                <a:ext cx="35458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aixaDeTexto 63"/>
              <p:cNvSpPr txBox="1"/>
              <p:nvPr/>
            </p:nvSpPr>
            <p:spPr>
              <a:xfrm>
                <a:off x="6037572" y="3038182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4" name="CaixaDeTexto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572" y="3038182"/>
                <a:ext cx="3545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aixaDeTexto 64"/>
              <p:cNvSpPr txBox="1"/>
              <p:nvPr/>
            </p:nvSpPr>
            <p:spPr>
              <a:xfrm>
                <a:off x="6023992" y="4190310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5" name="CaixaDeTexto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2" y="4190310"/>
                <a:ext cx="3545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aixaDeTexto 65"/>
              <p:cNvSpPr txBox="1"/>
              <p:nvPr/>
            </p:nvSpPr>
            <p:spPr>
              <a:xfrm>
                <a:off x="6023992" y="4766374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6" name="CaixaDeTexto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2" y="4766374"/>
                <a:ext cx="3545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aixaDeTexto 66"/>
              <p:cNvSpPr txBox="1"/>
              <p:nvPr/>
            </p:nvSpPr>
            <p:spPr>
              <a:xfrm>
                <a:off x="6037572" y="5054406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7" name="CaixaDeTexto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572" y="5054406"/>
                <a:ext cx="3545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aixaDeTexto 67"/>
              <p:cNvSpPr txBox="1"/>
              <p:nvPr/>
            </p:nvSpPr>
            <p:spPr>
              <a:xfrm>
                <a:off x="6037572" y="5332566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8" name="CaixaDeTexto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572" y="5332566"/>
                <a:ext cx="3545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aixaDeTexto 69"/>
              <p:cNvSpPr txBox="1"/>
              <p:nvPr/>
            </p:nvSpPr>
            <p:spPr>
              <a:xfrm>
                <a:off x="7422851" y="3316342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0" name="CaixaDeTexto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851" y="3316342"/>
                <a:ext cx="3545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ixaDeTexto 71"/>
              <p:cNvSpPr txBox="1"/>
              <p:nvPr/>
            </p:nvSpPr>
            <p:spPr>
              <a:xfrm>
                <a:off x="7422851" y="3902278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CaixaDeTexto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851" y="3902278"/>
                <a:ext cx="35458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aixaDeTexto 72"/>
              <p:cNvSpPr txBox="1"/>
              <p:nvPr/>
            </p:nvSpPr>
            <p:spPr>
              <a:xfrm>
                <a:off x="7411253" y="4482988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CaixaDeTexto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253" y="4482988"/>
                <a:ext cx="35458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aixaDeTexto 73"/>
              <p:cNvSpPr txBox="1"/>
              <p:nvPr/>
            </p:nvSpPr>
            <p:spPr>
              <a:xfrm>
                <a:off x="8765752" y="5625244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4" name="CaixaDeTexto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752" y="5625244"/>
                <a:ext cx="35458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CaixaDeTexto 68"/>
          <p:cNvSpPr txBox="1"/>
          <p:nvPr/>
        </p:nvSpPr>
        <p:spPr>
          <a:xfrm>
            <a:off x="2495600" y="3645025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H(25) = 25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cxnSp>
        <p:nvCxnSpPr>
          <p:cNvPr id="75" name="Conector de seta reta 74"/>
          <p:cNvCxnSpPr/>
          <p:nvPr/>
        </p:nvCxnSpPr>
        <p:spPr>
          <a:xfrm>
            <a:off x="4223792" y="3798912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aixaDeTexto 80"/>
          <p:cNvSpPr txBox="1"/>
          <p:nvPr/>
        </p:nvSpPr>
        <p:spPr>
          <a:xfrm>
            <a:off x="8366744" y="36194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25</a:t>
            </a:r>
          </a:p>
        </p:txBody>
      </p:sp>
      <p:cxnSp>
        <p:nvCxnSpPr>
          <p:cNvPr id="82" name="Conector de seta reta 81"/>
          <p:cNvCxnSpPr/>
          <p:nvPr/>
        </p:nvCxnSpPr>
        <p:spPr>
          <a:xfrm>
            <a:off x="7536160" y="3798912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tângulo 82"/>
          <p:cNvSpPr/>
          <p:nvPr/>
        </p:nvSpPr>
        <p:spPr>
          <a:xfrm>
            <a:off x="8427043" y="3645604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4" name="Conector reto 83"/>
          <p:cNvCxnSpPr>
            <a:stCxn id="83" idx="0"/>
            <a:endCxn id="83" idx="2"/>
          </p:cNvCxnSpPr>
          <p:nvPr/>
        </p:nvCxnSpPr>
        <p:spPr>
          <a:xfrm>
            <a:off x="8757088" y="3645604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aixaDeTexto 84"/>
              <p:cNvSpPr txBox="1"/>
              <p:nvPr/>
            </p:nvSpPr>
            <p:spPr>
              <a:xfrm>
                <a:off x="8732549" y="3614246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5" name="CaixaDeTexto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549" y="3614246"/>
                <a:ext cx="35458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35922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Listas Encadeadas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063553" y="1772817"/>
            <a:ext cx="5473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Inserção das chaves {10, 2, 3, 15, 28} em uma tabela de</a:t>
            </a:r>
          </a:p>
          <a:p>
            <a:r>
              <a:rPr lang="pt-BR" dirty="0"/>
              <a:t>tamanho 11. Função h(x) = x </a:t>
            </a:r>
            <a:r>
              <a:rPr lang="pt-BR" dirty="0" err="1"/>
              <a:t>mod</a:t>
            </a:r>
            <a:r>
              <a:rPr lang="pt-BR" dirty="0"/>
              <a:t> M.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7045448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04112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7104112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7045448" y="3902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7045448" y="44710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28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063552" y="2576518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que acontecerá ao tentar inserir novo elemento: </a:t>
            </a:r>
            <a:r>
              <a:rPr lang="pt-BR" dirty="0">
                <a:solidFill>
                  <a:srgbClr val="FF0000"/>
                </a:solidFill>
              </a:rPr>
              <a:t>36 </a:t>
            </a:r>
          </a:p>
        </p:txBody>
      </p:sp>
      <p:cxnSp>
        <p:nvCxnSpPr>
          <p:cNvPr id="41" name="Conector de seta reta 40"/>
          <p:cNvCxnSpPr/>
          <p:nvPr/>
        </p:nvCxnSpPr>
        <p:spPr>
          <a:xfrm>
            <a:off x="6214864" y="3501008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tângulo 41"/>
          <p:cNvSpPr/>
          <p:nvPr/>
        </p:nvSpPr>
        <p:spPr>
          <a:xfrm>
            <a:off x="7105747" y="3347700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4" name="Conector reto 43"/>
          <p:cNvCxnSpPr>
            <a:stCxn id="42" idx="0"/>
            <a:endCxn id="42" idx="2"/>
          </p:cNvCxnSpPr>
          <p:nvPr/>
        </p:nvCxnSpPr>
        <p:spPr>
          <a:xfrm>
            <a:off x="7435792" y="3347700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/>
          <p:cNvCxnSpPr/>
          <p:nvPr/>
        </p:nvCxnSpPr>
        <p:spPr>
          <a:xfrm>
            <a:off x="6213230" y="3798332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tângulo 47"/>
          <p:cNvSpPr/>
          <p:nvPr/>
        </p:nvSpPr>
        <p:spPr>
          <a:xfrm>
            <a:off x="7104113" y="3645024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9" name="Conector reto 48"/>
          <p:cNvCxnSpPr>
            <a:stCxn id="48" idx="0"/>
            <a:endCxn id="48" idx="2"/>
          </p:cNvCxnSpPr>
          <p:nvPr/>
        </p:nvCxnSpPr>
        <p:spPr>
          <a:xfrm>
            <a:off x="7434158" y="3645024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/>
          <p:nvPr/>
        </p:nvCxnSpPr>
        <p:spPr>
          <a:xfrm>
            <a:off x="6213229" y="4086364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tângulo 50"/>
          <p:cNvSpPr/>
          <p:nvPr/>
        </p:nvSpPr>
        <p:spPr>
          <a:xfrm>
            <a:off x="7104112" y="3933056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2" name="Conector reto 51"/>
          <p:cNvCxnSpPr>
            <a:stCxn id="51" idx="0"/>
            <a:endCxn id="51" idx="2"/>
          </p:cNvCxnSpPr>
          <p:nvPr/>
        </p:nvCxnSpPr>
        <p:spPr>
          <a:xfrm>
            <a:off x="7434157" y="3933056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/>
          <p:nvPr/>
        </p:nvCxnSpPr>
        <p:spPr>
          <a:xfrm>
            <a:off x="6206666" y="4667654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tângulo 53"/>
          <p:cNvSpPr/>
          <p:nvPr/>
        </p:nvSpPr>
        <p:spPr>
          <a:xfrm>
            <a:off x="7097549" y="4514346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/>
          <p:cNvCxnSpPr>
            <a:stCxn id="54" idx="0"/>
            <a:endCxn id="54" idx="2"/>
          </p:cNvCxnSpPr>
          <p:nvPr/>
        </p:nvCxnSpPr>
        <p:spPr>
          <a:xfrm>
            <a:off x="7427594" y="4514346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/>
          <p:nvPr/>
        </p:nvCxnSpPr>
        <p:spPr>
          <a:xfrm>
            <a:off x="6214864" y="5809910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tângulo 56"/>
          <p:cNvSpPr/>
          <p:nvPr/>
        </p:nvSpPr>
        <p:spPr>
          <a:xfrm>
            <a:off x="7105747" y="5656602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/>
          <p:cNvCxnSpPr>
            <a:stCxn id="57" idx="0"/>
            <a:endCxn id="57" idx="2"/>
          </p:cNvCxnSpPr>
          <p:nvPr/>
        </p:nvCxnSpPr>
        <p:spPr>
          <a:xfrm>
            <a:off x="7435792" y="5656602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8399947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21</a:t>
            </a:r>
          </a:p>
        </p:txBody>
      </p:sp>
      <p:cxnSp>
        <p:nvCxnSpPr>
          <p:cNvPr id="60" name="Conector de seta reta 59"/>
          <p:cNvCxnSpPr/>
          <p:nvPr/>
        </p:nvCxnSpPr>
        <p:spPr>
          <a:xfrm>
            <a:off x="7569363" y="5809910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8460246" y="5656602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61" idx="0"/>
            <a:endCxn id="61" idx="2"/>
          </p:cNvCxnSpPr>
          <p:nvPr/>
        </p:nvCxnSpPr>
        <p:spPr>
          <a:xfrm>
            <a:off x="8790291" y="5656602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aixaDeTexto 62"/>
              <p:cNvSpPr txBox="1"/>
              <p:nvPr/>
            </p:nvSpPr>
            <p:spPr>
              <a:xfrm>
                <a:off x="6037572" y="2740278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3" name="CaixaDeTexto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572" y="2740278"/>
                <a:ext cx="35458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aixaDeTexto 63"/>
              <p:cNvSpPr txBox="1"/>
              <p:nvPr/>
            </p:nvSpPr>
            <p:spPr>
              <a:xfrm>
                <a:off x="6037572" y="3038182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4" name="CaixaDeTexto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572" y="3038182"/>
                <a:ext cx="3545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aixaDeTexto 64"/>
              <p:cNvSpPr txBox="1"/>
              <p:nvPr/>
            </p:nvSpPr>
            <p:spPr>
              <a:xfrm>
                <a:off x="6023992" y="4190310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5" name="CaixaDeTexto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2" y="4190310"/>
                <a:ext cx="3545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aixaDeTexto 65"/>
              <p:cNvSpPr txBox="1"/>
              <p:nvPr/>
            </p:nvSpPr>
            <p:spPr>
              <a:xfrm>
                <a:off x="6023992" y="4766374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6" name="CaixaDeTexto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92" y="4766374"/>
                <a:ext cx="3545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aixaDeTexto 66"/>
              <p:cNvSpPr txBox="1"/>
              <p:nvPr/>
            </p:nvSpPr>
            <p:spPr>
              <a:xfrm>
                <a:off x="6037572" y="5054406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7" name="CaixaDeTexto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572" y="5054406"/>
                <a:ext cx="3545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aixaDeTexto 67"/>
              <p:cNvSpPr txBox="1"/>
              <p:nvPr/>
            </p:nvSpPr>
            <p:spPr>
              <a:xfrm>
                <a:off x="6037572" y="5332566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8" name="CaixaDeTexto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572" y="5332566"/>
                <a:ext cx="3545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aixaDeTexto 69"/>
              <p:cNvSpPr txBox="1"/>
              <p:nvPr/>
            </p:nvSpPr>
            <p:spPr>
              <a:xfrm>
                <a:off x="7422851" y="3316342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0" name="CaixaDeTexto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851" y="3316342"/>
                <a:ext cx="3545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ixaDeTexto 71"/>
              <p:cNvSpPr txBox="1"/>
              <p:nvPr/>
            </p:nvSpPr>
            <p:spPr>
              <a:xfrm>
                <a:off x="7422851" y="3902278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CaixaDeTexto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851" y="3902278"/>
                <a:ext cx="35458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aixaDeTexto 72"/>
              <p:cNvSpPr txBox="1"/>
              <p:nvPr/>
            </p:nvSpPr>
            <p:spPr>
              <a:xfrm>
                <a:off x="7411253" y="4482988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CaixaDeTexto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253" y="4482988"/>
                <a:ext cx="35458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aixaDeTexto 73"/>
              <p:cNvSpPr txBox="1"/>
              <p:nvPr/>
            </p:nvSpPr>
            <p:spPr>
              <a:xfrm>
                <a:off x="8765752" y="5625244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4" name="CaixaDeTexto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5752" y="5625244"/>
                <a:ext cx="35458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CaixaDeTexto 68"/>
          <p:cNvSpPr txBox="1"/>
          <p:nvPr/>
        </p:nvSpPr>
        <p:spPr>
          <a:xfrm>
            <a:off x="2495600" y="3645025"/>
            <a:ext cx="15808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H(36) = 36 </a:t>
            </a:r>
            <a:r>
              <a:rPr lang="pt-BR" sz="1400" dirty="0" err="1"/>
              <a:t>mod</a:t>
            </a:r>
            <a:r>
              <a:rPr lang="pt-BR" sz="1400" dirty="0"/>
              <a:t> 11.</a:t>
            </a:r>
          </a:p>
        </p:txBody>
      </p:sp>
      <p:cxnSp>
        <p:nvCxnSpPr>
          <p:cNvPr id="75" name="Conector de seta reta 74"/>
          <p:cNvCxnSpPr/>
          <p:nvPr/>
        </p:nvCxnSpPr>
        <p:spPr>
          <a:xfrm>
            <a:off x="4223792" y="3798912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aixaDeTexto 80"/>
          <p:cNvSpPr txBox="1"/>
          <p:nvPr/>
        </p:nvSpPr>
        <p:spPr>
          <a:xfrm>
            <a:off x="8366744" y="36194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25</a:t>
            </a:r>
          </a:p>
        </p:txBody>
      </p:sp>
      <p:cxnSp>
        <p:nvCxnSpPr>
          <p:cNvPr id="82" name="Conector de seta reta 81"/>
          <p:cNvCxnSpPr/>
          <p:nvPr/>
        </p:nvCxnSpPr>
        <p:spPr>
          <a:xfrm>
            <a:off x="7536160" y="3798912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tângulo 82"/>
          <p:cNvSpPr/>
          <p:nvPr/>
        </p:nvSpPr>
        <p:spPr>
          <a:xfrm>
            <a:off x="8427043" y="3645604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4" name="Conector reto 83"/>
          <p:cNvCxnSpPr>
            <a:stCxn id="83" idx="0"/>
            <a:endCxn id="83" idx="2"/>
          </p:cNvCxnSpPr>
          <p:nvPr/>
        </p:nvCxnSpPr>
        <p:spPr>
          <a:xfrm>
            <a:off x="8757088" y="3645604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9734896" y="36194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36</a:t>
            </a:r>
          </a:p>
        </p:txBody>
      </p:sp>
      <p:cxnSp>
        <p:nvCxnSpPr>
          <p:cNvPr id="76" name="Conector de seta reta 75"/>
          <p:cNvCxnSpPr/>
          <p:nvPr/>
        </p:nvCxnSpPr>
        <p:spPr>
          <a:xfrm>
            <a:off x="8904312" y="3798912"/>
            <a:ext cx="8172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tângulo 76"/>
          <p:cNvSpPr/>
          <p:nvPr/>
        </p:nvSpPr>
        <p:spPr>
          <a:xfrm>
            <a:off x="9795195" y="3645604"/>
            <a:ext cx="660091" cy="2973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8" name="Conector reto 77"/>
          <p:cNvCxnSpPr>
            <a:stCxn id="77" idx="0"/>
            <a:endCxn id="77" idx="2"/>
          </p:cNvCxnSpPr>
          <p:nvPr/>
        </p:nvCxnSpPr>
        <p:spPr>
          <a:xfrm>
            <a:off x="10125240" y="3645604"/>
            <a:ext cx="0" cy="297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aixaDeTexto 78"/>
              <p:cNvSpPr txBox="1"/>
              <p:nvPr/>
            </p:nvSpPr>
            <p:spPr>
              <a:xfrm>
                <a:off x="10100701" y="3614246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9" name="CaixaDeTexto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701" y="3614246"/>
                <a:ext cx="35458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1881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Estrutura e operações da tabela</a:t>
            </a:r>
            <a:br>
              <a:rPr lang="pt-BR" dirty="0"/>
            </a:br>
            <a:r>
              <a:rPr lang="pt-BR" dirty="0"/>
              <a:t>com listas encadeadas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código da tabela </a:t>
            </a:r>
            <a:r>
              <a:rPr lang="pt-BR" dirty="0" err="1"/>
              <a:t>hash</a:t>
            </a:r>
            <a:r>
              <a:rPr lang="pt-BR" dirty="0"/>
              <a:t> utiliza a TAD Lista auto referenciada, que é uma lista encadeada ensinada na aula de listas lineares.</a:t>
            </a:r>
          </a:p>
          <a:p>
            <a:endParaRPr lang="pt-BR" dirty="0"/>
          </a:p>
          <a:p>
            <a:r>
              <a:rPr lang="pt-BR" dirty="0"/>
              <a:t>Esta tabela utiliza como elemento chave o próprio item (composto de números inteiros positivos). </a:t>
            </a:r>
          </a:p>
        </p:txBody>
      </p:sp>
    </p:spTree>
    <p:extLst>
      <p:ext uri="{BB962C8B-B14F-4D97-AF65-F5344CB8AC3E}">
        <p14:creationId xmlns:p14="http://schemas.microsoft.com/office/powerpoint/2010/main" val="1238576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Estrutura e operações da tabela</a:t>
            </a:r>
            <a:br>
              <a:rPr lang="pt-BR" dirty="0"/>
            </a:br>
            <a:r>
              <a:rPr lang="pt-BR" dirty="0"/>
              <a:t>com listas encadeadas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C9DCA43-82F0-401D-B628-08C8F70D086A}"/>
              </a:ext>
            </a:extLst>
          </p:cNvPr>
          <p:cNvSpPr/>
          <p:nvPr/>
        </p:nvSpPr>
        <p:spPr>
          <a:xfrm>
            <a:off x="838199" y="1690688"/>
            <a:ext cx="881089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TabelaHash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/>
            <a:endParaRPr lang="pt-BR" sz="16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M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b="1" dirty="0">
                <a:solidFill>
                  <a:srgbClr val="3F7F5F"/>
                </a:solidFill>
                <a:latin typeface="Consolas" panose="020B0609020204030204" pitchFamily="49" charset="0"/>
              </a:rPr>
              <a:t>// @{\it </a:t>
            </a:r>
            <a:r>
              <a:rPr lang="pt-BR" sz="1600" b="1" u="sng" dirty="0">
                <a:solidFill>
                  <a:srgbClr val="3F7F5F"/>
                </a:solidFill>
                <a:latin typeface="Consolas" panose="020B0609020204030204" pitchFamily="49" charset="0"/>
              </a:rPr>
              <a:t>tamanho da tabela}@</a:t>
            </a:r>
          </a:p>
          <a:p>
            <a:pPr lvl="1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Lista </a:t>
            </a:r>
            <a:r>
              <a:rPr lang="pt-BR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tabela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[];</a:t>
            </a:r>
          </a:p>
          <a:p>
            <a:pPr lvl="1"/>
            <a:endParaRPr lang="pt-BR" sz="1600" dirty="0">
              <a:latin typeface="Consolas" panose="020B0609020204030204" pitchFamily="49" charset="0"/>
            </a:endParaRPr>
          </a:p>
          <a:p>
            <a:pPr lvl="1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h(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lang="pt-BR" sz="1600" dirty="0">
              <a:latin typeface="Consolas" panose="020B0609020204030204" pitchFamily="49" charset="0"/>
            </a:endParaRPr>
          </a:p>
          <a:p>
            <a:pPr lvl="2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M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47461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Estrutura e operações da tabela</a:t>
            </a:r>
            <a:br>
              <a:rPr lang="pt-BR" dirty="0"/>
            </a:br>
            <a:r>
              <a:rPr lang="pt-BR" dirty="0"/>
              <a:t>com listas encadeadas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DCAC703-64B0-4D29-A751-1A2261E21926}"/>
              </a:ext>
            </a:extLst>
          </p:cNvPr>
          <p:cNvSpPr/>
          <p:nvPr/>
        </p:nvSpPr>
        <p:spPr>
          <a:xfrm>
            <a:off x="838199" y="1690688"/>
            <a:ext cx="104219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TabelaHash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m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M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m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tabela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Lista[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M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2"/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M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lvl="3"/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tabela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Lista();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58316C1-FB20-43F2-8FC5-DEE1BB7F0A8A}"/>
              </a:ext>
            </a:extLst>
          </p:cNvPr>
          <p:cNvSpPr/>
          <p:nvPr/>
        </p:nvSpPr>
        <p:spPr>
          <a:xfrm>
            <a:off x="1297576" y="3260348"/>
            <a:ext cx="873469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pesquisa(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tabela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].vazia())</a:t>
            </a:r>
          </a:p>
          <a:p>
            <a:pPr lvl="2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b="1" dirty="0">
                <a:solidFill>
                  <a:srgbClr val="3F7F5F"/>
                </a:solidFill>
                <a:latin typeface="Consolas" panose="020B0609020204030204" pitchFamily="49" charset="0"/>
              </a:rPr>
              <a:t>// @{\it </a:t>
            </a:r>
            <a:r>
              <a:rPr lang="pt-BR" sz="1600" b="1" u="sng" dirty="0">
                <a:solidFill>
                  <a:srgbClr val="3F7F5F"/>
                </a:solidFill>
                <a:latin typeface="Consolas" panose="020B0609020204030204" pitchFamily="49" charset="0"/>
              </a:rPr>
              <a:t>pesquisa sem sucesso}@</a:t>
            </a:r>
          </a:p>
          <a:p>
            <a:pPr lvl="1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obj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tabela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].pesquisa(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obj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3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1600" b="1" dirty="0">
                <a:solidFill>
                  <a:srgbClr val="3F7F5F"/>
                </a:solidFill>
                <a:latin typeface="Consolas" panose="020B0609020204030204" pitchFamily="49" charset="0"/>
              </a:rPr>
              <a:t>// @{\it </a:t>
            </a:r>
            <a:r>
              <a:rPr lang="pt-BR" sz="1600" b="1" u="sng" dirty="0">
                <a:solidFill>
                  <a:srgbClr val="3F7F5F"/>
                </a:solidFill>
                <a:latin typeface="Consolas" panose="020B0609020204030204" pitchFamily="49" charset="0"/>
              </a:rPr>
              <a:t>pesquisa sem sucesso}@</a:t>
            </a:r>
          </a:p>
          <a:p>
            <a:pPr lvl="2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obj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4952829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Estrutura e operações da tabela</a:t>
            </a:r>
            <a:br>
              <a:rPr lang="pt-BR" dirty="0"/>
            </a:br>
            <a:r>
              <a:rPr lang="pt-BR" dirty="0"/>
              <a:t>com listas encadeadas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12F2778-3674-4BBF-AF9D-B3F679DF4AEB}"/>
              </a:ext>
            </a:extLst>
          </p:cNvPr>
          <p:cNvSpPr/>
          <p:nvPr/>
        </p:nvSpPr>
        <p:spPr>
          <a:xfrm>
            <a:off x="838200" y="1690688"/>
            <a:ext cx="1077032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insere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(Object 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.pesquisa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==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3"/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3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tabela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].insere(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6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3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"Registro </a:t>
            </a:r>
            <a:r>
              <a:rPr lang="pt-B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 esta presente"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endParaRPr lang="pt-BR" sz="1600" dirty="0">
              <a:latin typeface="Consolas" panose="020B0609020204030204" pitchFamily="49" charset="0"/>
            </a:endParaRPr>
          </a:p>
          <a:p>
            <a:pPr lvl="1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retira(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Exception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2"/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.h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Object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obj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tabela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].retira(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chave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obj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3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"Registro nao esta presente"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endParaRPr lang="pt-BR" sz="1600" dirty="0">
              <a:latin typeface="Consolas" panose="020B0609020204030204" pitchFamily="49" charset="0"/>
            </a:endParaRPr>
          </a:p>
          <a:p>
            <a:pPr lvl="1"/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283820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3A331-7182-469D-BB45-F6D776E01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e operações da tabela</a:t>
            </a:r>
            <a:br>
              <a:rPr lang="pt-BR" dirty="0"/>
            </a:br>
            <a:r>
              <a:rPr lang="pt-BR" dirty="0"/>
              <a:t>com listas encadeadas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532708-2C51-401B-88EB-FB128118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32</a:t>
            </a:fld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AFFA4A0-BD03-4C9B-8753-F56B4EB0F1F9}"/>
              </a:ext>
            </a:extLst>
          </p:cNvPr>
          <p:cNvSpPr/>
          <p:nvPr/>
        </p:nvSpPr>
        <p:spPr>
          <a:xfrm>
            <a:off x="838200" y="203099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imprime() {</a:t>
            </a:r>
          </a:p>
          <a:p>
            <a:pPr lvl="2"/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n-NO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M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lvl="3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tabela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].vazia()) {</a:t>
            </a:r>
          </a:p>
          <a:p>
            <a:pPr lvl="4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"Entrada: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4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pt-B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tabela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].imprime();</a:t>
            </a:r>
          </a:p>
          <a:p>
            <a:pPr lvl="3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96051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Assumindo que qualquer item do conjunto tem igual probabilidade de ser endereçado para qualquer entrada da tabela:</a:t>
                </a:r>
              </a:p>
              <a:p>
                <a:pPr lvl="1"/>
                <a:r>
                  <a:rPr lang="pt-BR" dirty="0"/>
                  <a:t>Comprimento esperado de cada lista: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𝑁</m:t>
                    </m:r>
                    <m:r>
                      <a:rPr lang="pt-BR" b="0" i="1" smtClean="0">
                        <a:latin typeface="Cambria Math"/>
                      </a:rPr>
                      <m:t>/</m:t>
                    </m:r>
                    <m:r>
                      <a:rPr lang="pt-BR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pt-BR" dirty="0"/>
                  <a:t>, </a:t>
                </a:r>
                <a:endParaRPr lang="pt-BR" b="0" i="1" dirty="0">
                  <a:latin typeface="Cambria Math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𝑁</m:t>
                    </m:r>
                  </m:oMath>
                </a14:m>
                <a:r>
                  <a:rPr lang="pt-BR" dirty="0"/>
                  <a:t> representa o número de registros 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𝑀</m:t>
                    </m:r>
                  </m:oMath>
                </a14:m>
                <a:r>
                  <a:rPr lang="pt-BR" dirty="0"/>
                  <a:t> o tamanho da tabela.</a:t>
                </a:r>
              </a:p>
              <a:p>
                <a:pPr lvl="1"/>
                <a:r>
                  <a:rPr lang="pt-BR" dirty="0"/>
                  <a:t>Para pesquisa,  inserir e retirar elementos: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(1+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𝑁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𝑀</m:t>
                        </m:r>
                      </m:den>
                    </m:f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 operações em média. 1 é a constante que representa o tempo para encontrar e entrada na tabela.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54074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Melhor caso é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r>
                  <a:rPr lang="pt-BR" dirty="0"/>
                  <a:t>: </a:t>
                </a:r>
              </a:p>
              <a:p>
                <a:pPr lvl="1"/>
                <a:r>
                  <a:rPr lang="pt-BR" dirty="0"/>
                  <a:t>Elemento encontrado na primeira comparação (não sendo necessário percorrer a lista).</a:t>
                </a:r>
              </a:p>
              <a:p>
                <a:r>
                  <a:rPr lang="pt-BR" dirty="0"/>
                  <a:t>Pior caso é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b="0" i="0" smtClean="0">
                        <a:latin typeface="Cambria Math"/>
                      </a:rPr>
                      <m:t>: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Todos os elementos ficam na mesma chave da tabela (apenas uma lista encadeada com todos os elementos). </a:t>
                </a:r>
              </a:p>
              <a:p>
                <a:pPr lvl="1"/>
                <a:r>
                  <a:rPr lang="pt-BR" dirty="0"/>
                  <a:t>Necessário percorrer toda a lista.</a:t>
                </a:r>
              </a:p>
              <a:p>
                <a:r>
                  <a:rPr lang="pt-BR" dirty="0"/>
                  <a:t>Caso médio é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(1+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/>
                          </a:rPr>
                          <m:t>𝑁</m:t>
                        </m:r>
                      </m:num>
                      <m:den>
                        <m:r>
                          <a:rPr lang="pt-BR" i="1">
                            <a:latin typeface="Cambria Math"/>
                          </a:rPr>
                          <m:t>𝑀</m:t>
                        </m:r>
                      </m:den>
                    </m:f>
                    <m:r>
                      <a:rPr lang="pt-BR" i="1">
                        <a:latin typeface="Cambria Math"/>
                      </a:rPr>
                      <m:t>)</m:t>
                    </m:r>
                    <m:r>
                      <a:rPr lang="pt-BR">
                        <a:latin typeface="Cambria Math"/>
                      </a:rPr>
                      <m:t>: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Elementos estão distribuídos uniformemente pela tabela (litas de mesmo tamanho).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1451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Endereçamento Aberto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Quando o número de registros a serem armazenados na tabela puder ser previamente estimado, então não haverá necessidade de usar listas encadeadas.</a:t>
                </a:r>
              </a:p>
              <a:p>
                <a:r>
                  <a:rPr lang="pt-BR" dirty="0"/>
                  <a:t>Pode-se utilizar os lugares vazios na própria tabela para resolver as </a:t>
                </a:r>
                <a:r>
                  <a:rPr lang="pt-BR" b="1" dirty="0"/>
                  <a:t>colisões</a:t>
                </a:r>
                <a:r>
                  <a:rPr lang="pt-BR" dirty="0"/>
                  <a:t> (para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𝑀</m:t>
                    </m:r>
                    <m:r>
                      <a:rPr lang="pt-BR" b="0" i="1" smtClean="0">
                        <a:latin typeface="Cambria Math"/>
                      </a:rPr>
                      <m:t>&gt;</m:t>
                    </m:r>
                    <m:r>
                      <a:rPr lang="pt-BR" b="0" i="1" smtClean="0">
                        <a:latin typeface="Cambria Math"/>
                      </a:rPr>
                      <m:t>𝑁</m:t>
                    </m:r>
                  </m:oMath>
                </a14:m>
                <a:r>
                  <a:rPr lang="pt-BR" dirty="0"/>
                  <a:t>).</a:t>
                </a:r>
              </a:p>
              <a:p>
                <a:r>
                  <a:rPr lang="pt-BR" dirty="0"/>
                  <a:t>Todas as chaves são armazenadas na própria tabela.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28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602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Endereçamento Aberto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Proposta (</a:t>
                </a:r>
                <a:r>
                  <a:rPr lang="pt-BR" i="1" dirty="0" err="1"/>
                  <a:t>hashing</a:t>
                </a:r>
                <a:r>
                  <a:rPr lang="pt-BR" i="1" dirty="0"/>
                  <a:t> </a:t>
                </a:r>
                <a:r>
                  <a:rPr lang="pt-BR" dirty="0"/>
                  <a:t>linear):</a:t>
                </a:r>
              </a:p>
              <a:p>
                <a:pPr lvl="1"/>
                <a:r>
                  <a:rPr lang="pt-BR" dirty="0"/>
                  <a:t>A posição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dirty="0"/>
                  <a:t> na tabela é dada por: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h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BR" b="0" i="1" smtClean="0">
                            <a:latin typeface="Cambria Math"/>
                          </a:rPr>
                          <m:t>+</m:t>
                        </m:r>
                        <m:r>
                          <a:rPr lang="pt-BR" b="0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 </m:t>
                    </m:r>
                    <m:r>
                      <a:rPr lang="pt-BR" b="0" i="1" smtClean="0">
                        <a:latin typeface="Cambria Math"/>
                      </a:rPr>
                      <m:t>𝑚𝑜𝑑</m:t>
                    </m:r>
                    <m:r>
                      <a:rPr lang="pt-BR" b="0" i="1" smtClean="0">
                        <a:latin typeface="Cambria Math"/>
                      </a:rPr>
                      <m:t> </m:t>
                    </m:r>
                    <m:r>
                      <a:rPr lang="pt-BR" b="0" i="1" smtClean="0">
                        <a:latin typeface="Cambria Math"/>
                      </a:rPr>
                      <m:t>𝑀</m:t>
                    </m:r>
                    <m:r>
                      <a:rPr lang="pt-BR" b="0" i="1" smtClean="0">
                        <a:latin typeface="Cambria Math"/>
                      </a:rPr>
                      <m:t>, </m:t>
                    </m:r>
                  </m:oMath>
                </a14:m>
                <a:r>
                  <a:rPr lang="pt-BR" dirty="0"/>
                  <a:t>para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 1≤</m:t>
                    </m:r>
                    <m:r>
                      <a:rPr lang="pt-BR" b="0" i="1" smtClean="0">
                        <a:latin typeface="Cambria Math"/>
                      </a:rPr>
                      <m:t>𝑗</m:t>
                    </m:r>
                    <m:r>
                      <a:rPr lang="pt-BR" b="0" i="1" smtClean="0">
                        <a:latin typeface="Cambria Math"/>
                      </a:rPr>
                      <m:t>≤</m:t>
                    </m:r>
                    <m:r>
                      <a:rPr lang="pt-BR" b="0" i="1" smtClean="0">
                        <a:latin typeface="Cambria Math"/>
                      </a:rPr>
                      <m:t>𝑀</m:t>
                    </m:r>
                    <m:r>
                      <a:rPr lang="pt-BR" b="0" i="1" smtClean="0">
                        <a:latin typeface="Cambria Math"/>
                      </a:rPr>
                      <m:t> −1.</m:t>
                    </m:r>
                  </m:oMath>
                </a14:m>
                <a:endParaRPr lang="pt-BR" b="0" dirty="0"/>
              </a:p>
              <a:p>
                <a:pPr lvl="1"/>
                <a:r>
                  <a:rPr lang="pt-BR" dirty="0"/>
                  <a:t>Caso haja colisões, haverá uma sequencia de tentativas, em que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𝑗</m:t>
                    </m:r>
                    <m:r>
                      <a:rPr lang="pt-BR" b="0" i="1" smtClean="0">
                        <a:latin typeface="Cambria Math"/>
                      </a:rPr>
                      <m:t>=1, 2,  …, </m:t>
                    </m:r>
                    <m:r>
                      <a:rPr lang="pt-BR" b="0" i="1" smtClean="0">
                        <a:latin typeface="Cambria Math"/>
                      </a:rPr>
                      <m:t>𝑀</m:t>
                    </m:r>
                    <m:r>
                      <a:rPr lang="pt-BR" b="0" i="1" smtClean="0">
                        <a:latin typeface="Cambria Math"/>
                      </a:rPr>
                      <m:t>−1. </m:t>
                    </m:r>
                  </m:oMath>
                </a14:m>
                <a:endParaRPr lang="pt-BR" dirty="0"/>
              </a:p>
              <a:p>
                <a:pPr lvl="1"/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34779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063553" y="1772817"/>
            <a:ext cx="5707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Inserção das chaves {10, 2, 3, 15, 28, </a:t>
            </a:r>
            <a:r>
              <a:rPr lang="pt-BR" dirty="0">
                <a:solidFill>
                  <a:srgbClr val="FF0000"/>
                </a:solidFill>
              </a:rPr>
              <a:t>21</a:t>
            </a:r>
            <a:r>
              <a:rPr lang="pt-BR" dirty="0"/>
              <a:t>} em uma tabela de</a:t>
            </a:r>
          </a:p>
          <a:p>
            <a:r>
              <a:rPr lang="pt-BR" dirty="0"/>
              <a:t>tamanho 11. Função h(x) = x </a:t>
            </a:r>
            <a:r>
              <a:rPr lang="pt-BR" dirty="0" err="1"/>
              <a:t>mod</a:t>
            </a:r>
            <a:r>
              <a:rPr lang="pt-BR" dirty="0"/>
              <a:t> M. 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064021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064021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005512" y="3902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6005512" y="44710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/>
              <p:cNvSpPr txBox="1"/>
              <p:nvPr/>
            </p:nvSpPr>
            <p:spPr>
              <a:xfrm>
                <a:off x="2063596" y="2564905"/>
                <a:ext cx="2880276" cy="94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Para resolver colisões: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r>
                            <a:rPr lang="pt-BR" i="1">
                              <a:latin typeface="Cambria Math"/>
                            </a:rPr>
                            <m:t>𝑗</m:t>
                          </m:r>
                        </m:e>
                      </m:d>
                      <m:r>
                        <a:rPr lang="pt-BR" i="1">
                          <a:latin typeface="Cambria Math"/>
                        </a:rPr>
                        <m:t> </m:t>
                      </m:r>
                      <m:r>
                        <a:rPr lang="pt-BR" i="1">
                          <a:latin typeface="Cambria Math"/>
                        </a:rPr>
                        <m:t>𝑚𝑜𝑑</m:t>
                      </m:r>
                      <m:r>
                        <a:rPr lang="pt-BR" i="1">
                          <a:latin typeface="Cambria Math"/>
                        </a:rPr>
                        <m:t> </m:t>
                      </m:r>
                      <m:r>
                        <a:rPr lang="pt-BR" i="1">
                          <a:latin typeface="Cambria Math"/>
                        </a:rPr>
                        <m:t>𝑀</m:t>
                      </m:r>
                      <m:r>
                        <a:rPr lang="pt-BR" i="1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pt-BR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𝑝𝑎𝑟𝑎</m:t>
                      </m:r>
                      <m:r>
                        <a:rPr lang="pt-BR" i="1">
                          <a:latin typeface="Cambria Math"/>
                        </a:rPr>
                        <m:t> 1≤</m:t>
                      </m:r>
                      <m:r>
                        <a:rPr lang="pt-BR" i="1">
                          <a:latin typeface="Cambria Math"/>
                        </a:rPr>
                        <m:t>𝑗</m:t>
                      </m:r>
                      <m:r>
                        <a:rPr lang="pt-BR" i="1">
                          <a:latin typeface="Cambria Math"/>
                        </a:rPr>
                        <m:t>≤</m:t>
                      </m:r>
                      <m:r>
                        <a:rPr lang="pt-BR" i="1">
                          <a:latin typeface="Cambria Math"/>
                        </a:rPr>
                        <m:t>𝑀</m:t>
                      </m:r>
                      <m:r>
                        <a:rPr lang="pt-BR" i="1">
                          <a:latin typeface="Cambria Math"/>
                        </a:rPr>
                        <m:t> −1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CaixaDeTexto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96" y="2564905"/>
                <a:ext cx="2880276" cy="945643"/>
              </a:xfrm>
              <a:prstGeom prst="rect">
                <a:avLst/>
              </a:prstGeom>
              <a:blipFill>
                <a:blip r:embed="rId2"/>
                <a:stretch>
                  <a:fillRect l="-1907" t="-3871" b="-45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7592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063553" y="1772817"/>
            <a:ext cx="5707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Inserção das chaves {10, 2, 3, 15, 28, </a:t>
            </a:r>
            <a:r>
              <a:rPr lang="pt-BR" dirty="0">
                <a:solidFill>
                  <a:srgbClr val="FF0000"/>
                </a:solidFill>
              </a:rPr>
              <a:t>21</a:t>
            </a:r>
            <a:r>
              <a:rPr lang="pt-BR" dirty="0"/>
              <a:t>} em uma tabela de</a:t>
            </a:r>
          </a:p>
          <a:p>
            <a:r>
              <a:rPr lang="pt-BR" dirty="0"/>
              <a:t>tamanho 11. Função h(x) = x </a:t>
            </a:r>
            <a:r>
              <a:rPr lang="pt-BR" dirty="0" err="1"/>
              <a:t>mod</a:t>
            </a:r>
            <a:r>
              <a:rPr lang="pt-BR" dirty="0"/>
              <a:t> M.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064021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064021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005512" y="3902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6005512" y="44710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28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2458820" y="5661249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H(21) = 21 </a:t>
            </a:r>
            <a:r>
              <a:rPr lang="pt-BR" sz="1400" dirty="0" err="1"/>
              <a:t>mod</a:t>
            </a:r>
            <a:r>
              <a:rPr lang="pt-BR" sz="1400" dirty="0"/>
              <a:t> 11. </a:t>
            </a:r>
          </a:p>
        </p:txBody>
      </p:sp>
      <p:cxnSp>
        <p:nvCxnSpPr>
          <p:cNvPr id="28" name="Conector de seta reta 27"/>
          <p:cNvCxnSpPr/>
          <p:nvPr/>
        </p:nvCxnSpPr>
        <p:spPr>
          <a:xfrm>
            <a:off x="4223792" y="5815136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/>
              <p:cNvSpPr txBox="1"/>
              <p:nvPr/>
            </p:nvSpPr>
            <p:spPr>
              <a:xfrm>
                <a:off x="2063596" y="2564905"/>
                <a:ext cx="2880276" cy="94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Para resolver colisões: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r>
                            <a:rPr lang="pt-BR" i="1">
                              <a:latin typeface="Cambria Math"/>
                            </a:rPr>
                            <m:t>𝑗</m:t>
                          </m:r>
                        </m:e>
                      </m:d>
                      <m:r>
                        <a:rPr lang="pt-BR" i="1">
                          <a:latin typeface="Cambria Math"/>
                        </a:rPr>
                        <m:t> </m:t>
                      </m:r>
                      <m:r>
                        <a:rPr lang="pt-BR" i="1">
                          <a:latin typeface="Cambria Math"/>
                        </a:rPr>
                        <m:t>𝑚𝑜𝑑</m:t>
                      </m:r>
                      <m:r>
                        <a:rPr lang="pt-BR" i="1">
                          <a:latin typeface="Cambria Math"/>
                        </a:rPr>
                        <m:t> </m:t>
                      </m:r>
                      <m:r>
                        <a:rPr lang="pt-BR" i="1">
                          <a:latin typeface="Cambria Math"/>
                        </a:rPr>
                        <m:t>𝑀</m:t>
                      </m:r>
                      <m:r>
                        <a:rPr lang="pt-BR" i="1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pt-BR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𝑝𝑎𝑟𝑎</m:t>
                      </m:r>
                      <m:r>
                        <a:rPr lang="pt-BR" i="1">
                          <a:latin typeface="Cambria Math"/>
                        </a:rPr>
                        <m:t> 1≤</m:t>
                      </m:r>
                      <m:r>
                        <a:rPr lang="pt-BR" i="1">
                          <a:latin typeface="Cambria Math"/>
                        </a:rPr>
                        <m:t>𝑗</m:t>
                      </m:r>
                      <m:r>
                        <a:rPr lang="pt-BR" i="1">
                          <a:latin typeface="Cambria Math"/>
                        </a:rPr>
                        <m:t>≤</m:t>
                      </m:r>
                      <m:r>
                        <a:rPr lang="pt-BR" i="1">
                          <a:latin typeface="Cambria Math"/>
                        </a:rPr>
                        <m:t>𝑀</m:t>
                      </m:r>
                      <m:r>
                        <a:rPr lang="pt-BR" i="1">
                          <a:latin typeface="Cambria Math"/>
                        </a:rPr>
                        <m:t> −1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CaixaDeTexto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96" y="2564905"/>
                <a:ext cx="2880276" cy="945643"/>
              </a:xfrm>
              <a:prstGeom prst="rect">
                <a:avLst/>
              </a:prstGeom>
              <a:blipFill>
                <a:blip r:embed="rId2"/>
                <a:stretch>
                  <a:fillRect l="-1907" t="-3871" b="-45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305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063553" y="1772817"/>
            <a:ext cx="5707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Inserção das chaves {10, 2, 3, 15, 28, </a:t>
            </a:r>
            <a:r>
              <a:rPr lang="pt-BR" dirty="0">
                <a:solidFill>
                  <a:srgbClr val="FF0000"/>
                </a:solidFill>
              </a:rPr>
              <a:t>21</a:t>
            </a:r>
            <a:r>
              <a:rPr lang="pt-BR" dirty="0"/>
              <a:t>} em uma tabela de</a:t>
            </a:r>
          </a:p>
          <a:p>
            <a:r>
              <a:rPr lang="pt-BR" dirty="0"/>
              <a:t>tamanho 11. Função h(x) = x </a:t>
            </a:r>
            <a:r>
              <a:rPr lang="pt-BR" dirty="0" err="1"/>
              <a:t>mod</a:t>
            </a:r>
            <a:r>
              <a:rPr lang="pt-BR" dirty="0"/>
              <a:t> M.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064021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064021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005512" y="3902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6005512" y="44710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28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2458819" y="5661248"/>
            <a:ext cx="15808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H(21) = 21 </a:t>
            </a:r>
            <a:r>
              <a:rPr lang="pt-BR" sz="1400" dirty="0" err="1">
                <a:solidFill>
                  <a:schemeClr val="bg1">
                    <a:lumMod val="65000"/>
                  </a:schemeClr>
                </a:solidFill>
              </a:rPr>
              <a:t>mod</a:t>
            </a: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 11.</a:t>
            </a:r>
          </a:p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</p:txBody>
      </p:sp>
      <p:cxnSp>
        <p:nvCxnSpPr>
          <p:cNvPr id="28" name="Conector de seta reta 27"/>
          <p:cNvCxnSpPr/>
          <p:nvPr/>
        </p:nvCxnSpPr>
        <p:spPr>
          <a:xfrm>
            <a:off x="4223792" y="5815136"/>
            <a:ext cx="1008112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/>
              <p:cNvSpPr txBox="1"/>
              <p:nvPr/>
            </p:nvSpPr>
            <p:spPr>
              <a:xfrm>
                <a:off x="2063596" y="2564905"/>
                <a:ext cx="2880276" cy="94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Para resolver colisões: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r>
                            <a:rPr lang="pt-BR" i="1">
                              <a:latin typeface="Cambria Math"/>
                            </a:rPr>
                            <m:t>𝑗</m:t>
                          </m:r>
                        </m:e>
                      </m:d>
                      <m:r>
                        <a:rPr lang="pt-BR" i="1">
                          <a:latin typeface="Cambria Math"/>
                        </a:rPr>
                        <m:t> </m:t>
                      </m:r>
                      <m:r>
                        <a:rPr lang="pt-BR" i="1">
                          <a:latin typeface="Cambria Math"/>
                        </a:rPr>
                        <m:t>𝑚𝑜𝑑</m:t>
                      </m:r>
                      <m:r>
                        <a:rPr lang="pt-BR" i="1">
                          <a:latin typeface="Cambria Math"/>
                        </a:rPr>
                        <m:t> </m:t>
                      </m:r>
                      <m:r>
                        <a:rPr lang="pt-BR" i="1">
                          <a:latin typeface="Cambria Math"/>
                        </a:rPr>
                        <m:t>𝑀</m:t>
                      </m:r>
                      <m:r>
                        <a:rPr lang="pt-BR" i="1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pt-BR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𝑝𝑎𝑟𝑎</m:t>
                      </m:r>
                      <m:r>
                        <a:rPr lang="pt-BR" i="1">
                          <a:latin typeface="Cambria Math"/>
                        </a:rPr>
                        <m:t> 1≤</m:t>
                      </m:r>
                      <m:r>
                        <a:rPr lang="pt-BR" i="1">
                          <a:latin typeface="Cambria Math"/>
                        </a:rPr>
                        <m:t>𝑗</m:t>
                      </m:r>
                      <m:r>
                        <a:rPr lang="pt-BR" i="1">
                          <a:latin typeface="Cambria Math"/>
                        </a:rPr>
                        <m:t>≤</m:t>
                      </m:r>
                      <m:r>
                        <a:rPr lang="pt-BR" i="1">
                          <a:latin typeface="Cambria Math"/>
                        </a:rPr>
                        <m:t>𝑀</m:t>
                      </m:r>
                      <m:r>
                        <a:rPr lang="pt-BR" i="1">
                          <a:latin typeface="Cambria Math"/>
                        </a:rPr>
                        <m:t> −1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CaixaDeTexto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96" y="2564905"/>
                <a:ext cx="2880276" cy="945643"/>
              </a:xfrm>
              <a:prstGeom prst="rect">
                <a:avLst/>
              </a:prstGeom>
              <a:blipFill>
                <a:blip r:embed="rId2"/>
                <a:stretch>
                  <a:fillRect l="-1907" t="-3871" b="-45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6730481" y="2771056"/>
                <a:ext cx="21859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pt-BR" sz="1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i="1">
                                  <a:latin typeface="Cambria Math"/>
                                </a:rPr>
                                <m:t>21</m:t>
                              </m:r>
                            </m:e>
                          </m:d>
                          <m:r>
                            <a:rPr lang="pt-BR" sz="1400" i="1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sz="1400" i="1">
                          <a:latin typeface="Cambria Math"/>
                        </a:rPr>
                        <m:t> </m:t>
                      </m:r>
                      <m:r>
                        <a:rPr lang="pt-BR" sz="1400" i="1">
                          <a:latin typeface="Cambria Math"/>
                        </a:rPr>
                        <m:t>𝑚𝑜𝑑</m:t>
                      </m:r>
                      <m:r>
                        <a:rPr lang="pt-BR" sz="1400" i="1">
                          <a:latin typeface="Cambria Math"/>
                        </a:rPr>
                        <m:t> 11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481" y="2771056"/>
                <a:ext cx="218591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aixaDeTexto 40"/>
          <p:cNvSpPr txBox="1"/>
          <p:nvPr/>
        </p:nvSpPr>
        <p:spPr>
          <a:xfrm>
            <a:off x="6005512" y="2740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333480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063552" y="1772817"/>
            <a:ext cx="6051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Inserção das chaves {10, 2, 3, 15, 28, 21, </a:t>
            </a:r>
            <a:r>
              <a:rPr lang="pt-BR" dirty="0">
                <a:solidFill>
                  <a:srgbClr val="FF0000"/>
                </a:solidFill>
              </a:rPr>
              <a:t>25</a:t>
            </a:r>
            <a:r>
              <a:rPr lang="pt-BR" dirty="0"/>
              <a:t>} em uma tabela de</a:t>
            </a:r>
          </a:p>
          <a:p>
            <a:r>
              <a:rPr lang="pt-BR" dirty="0"/>
              <a:t>tamanho 11. Função h(x) = x </a:t>
            </a:r>
            <a:r>
              <a:rPr lang="pt-BR" dirty="0" err="1"/>
              <a:t>mod</a:t>
            </a:r>
            <a:r>
              <a:rPr lang="pt-BR" dirty="0"/>
              <a:t> M.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064021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064021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005512" y="3902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6005512" y="44710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/>
              <p:cNvSpPr txBox="1"/>
              <p:nvPr/>
            </p:nvSpPr>
            <p:spPr>
              <a:xfrm>
                <a:off x="2063596" y="2564905"/>
                <a:ext cx="2880276" cy="94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Para resolver colisões: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r>
                            <a:rPr lang="pt-BR" i="1">
                              <a:latin typeface="Cambria Math"/>
                            </a:rPr>
                            <m:t>𝑗</m:t>
                          </m:r>
                        </m:e>
                      </m:d>
                      <m:r>
                        <a:rPr lang="pt-BR" i="1">
                          <a:latin typeface="Cambria Math"/>
                        </a:rPr>
                        <m:t> </m:t>
                      </m:r>
                      <m:r>
                        <a:rPr lang="pt-BR" i="1">
                          <a:latin typeface="Cambria Math"/>
                        </a:rPr>
                        <m:t>𝑚𝑜𝑑</m:t>
                      </m:r>
                      <m:r>
                        <a:rPr lang="pt-BR" i="1">
                          <a:latin typeface="Cambria Math"/>
                        </a:rPr>
                        <m:t> </m:t>
                      </m:r>
                      <m:r>
                        <a:rPr lang="pt-BR" i="1">
                          <a:latin typeface="Cambria Math"/>
                        </a:rPr>
                        <m:t>𝑀</m:t>
                      </m:r>
                      <m:r>
                        <a:rPr lang="pt-BR" i="1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pt-BR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𝑝𝑎𝑟𝑎</m:t>
                      </m:r>
                      <m:r>
                        <a:rPr lang="pt-BR" i="1">
                          <a:latin typeface="Cambria Math"/>
                        </a:rPr>
                        <m:t> 1≤</m:t>
                      </m:r>
                      <m:r>
                        <a:rPr lang="pt-BR" i="1">
                          <a:latin typeface="Cambria Math"/>
                        </a:rPr>
                        <m:t>𝑗</m:t>
                      </m:r>
                      <m:r>
                        <a:rPr lang="pt-BR" i="1">
                          <a:latin typeface="Cambria Math"/>
                        </a:rPr>
                        <m:t>≤</m:t>
                      </m:r>
                      <m:r>
                        <a:rPr lang="pt-BR" i="1">
                          <a:latin typeface="Cambria Math"/>
                        </a:rPr>
                        <m:t>𝑀</m:t>
                      </m:r>
                      <m:r>
                        <a:rPr lang="pt-BR" i="1">
                          <a:latin typeface="Cambria Math"/>
                        </a:rPr>
                        <m:t> −1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CaixaDeTexto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96" y="2564905"/>
                <a:ext cx="2880276" cy="945643"/>
              </a:xfrm>
              <a:prstGeom prst="rect">
                <a:avLst/>
              </a:prstGeom>
              <a:blipFill>
                <a:blip r:embed="rId2"/>
                <a:stretch>
                  <a:fillRect l="-1907" t="-3871" b="-45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6730481" y="2771056"/>
                <a:ext cx="21859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pt-BR" sz="1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i="1">
                                  <a:latin typeface="Cambria Math"/>
                                </a:rPr>
                                <m:t>21</m:t>
                              </m:r>
                            </m:e>
                          </m:d>
                          <m:r>
                            <a:rPr lang="pt-BR" sz="1400" i="1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sz="1400" i="1">
                          <a:latin typeface="Cambria Math"/>
                        </a:rPr>
                        <m:t> </m:t>
                      </m:r>
                      <m:r>
                        <a:rPr lang="pt-BR" sz="1400" i="1">
                          <a:latin typeface="Cambria Math"/>
                        </a:rPr>
                        <m:t>𝑚𝑜𝑑</m:t>
                      </m:r>
                      <m:r>
                        <a:rPr lang="pt-BR" sz="1400" i="1">
                          <a:latin typeface="Cambria Math"/>
                        </a:rPr>
                        <m:t> 11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481" y="2771056"/>
                <a:ext cx="218591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aixaDeTexto 40"/>
          <p:cNvSpPr txBox="1"/>
          <p:nvPr/>
        </p:nvSpPr>
        <p:spPr>
          <a:xfrm>
            <a:off x="6005512" y="2740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21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2458820" y="3645025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H(21) = 25 </a:t>
            </a:r>
            <a:r>
              <a:rPr lang="pt-BR" sz="1400" dirty="0" err="1"/>
              <a:t>mod</a:t>
            </a:r>
            <a:r>
              <a:rPr lang="pt-BR" sz="1400" dirty="0"/>
              <a:t> 11. </a:t>
            </a:r>
          </a:p>
        </p:txBody>
      </p:sp>
      <p:cxnSp>
        <p:nvCxnSpPr>
          <p:cNvPr id="43" name="Conector de seta reta 42"/>
          <p:cNvCxnSpPr/>
          <p:nvPr/>
        </p:nvCxnSpPr>
        <p:spPr>
          <a:xfrm>
            <a:off x="4223792" y="3798912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1420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063552" y="1772817"/>
            <a:ext cx="6051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Inserção das chaves {10, 2, 3, 15, 28, 21, </a:t>
            </a:r>
            <a:r>
              <a:rPr lang="pt-BR" dirty="0">
                <a:solidFill>
                  <a:srgbClr val="FF0000"/>
                </a:solidFill>
              </a:rPr>
              <a:t>25</a:t>
            </a:r>
            <a:r>
              <a:rPr lang="pt-BR" dirty="0"/>
              <a:t>} em uma tabela de</a:t>
            </a:r>
          </a:p>
          <a:p>
            <a:r>
              <a:rPr lang="pt-BR" dirty="0"/>
              <a:t>tamanho 11. Função h(x) = x </a:t>
            </a:r>
            <a:r>
              <a:rPr lang="pt-BR" dirty="0" err="1"/>
              <a:t>mod</a:t>
            </a:r>
            <a:r>
              <a:rPr lang="pt-BR" dirty="0"/>
              <a:t> M.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064021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064021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005512" y="3902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6005512" y="44710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/>
              <p:cNvSpPr txBox="1"/>
              <p:nvPr/>
            </p:nvSpPr>
            <p:spPr>
              <a:xfrm>
                <a:off x="2063596" y="2564905"/>
                <a:ext cx="2880276" cy="94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Para resolver colisões: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r>
                            <a:rPr lang="pt-BR" i="1">
                              <a:latin typeface="Cambria Math"/>
                            </a:rPr>
                            <m:t>𝑗</m:t>
                          </m:r>
                        </m:e>
                      </m:d>
                      <m:r>
                        <a:rPr lang="pt-BR" i="1">
                          <a:latin typeface="Cambria Math"/>
                        </a:rPr>
                        <m:t> </m:t>
                      </m:r>
                      <m:r>
                        <a:rPr lang="pt-BR" i="1">
                          <a:latin typeface="Cambria Math"/>
                        </a:rPr>
                        <m:t>𝑚𝑜𝑑</m:t>
                      </m:r>
                      <m:r>
                        <a:rPr lang="pt-BR" i="1">
                          <a:latin typeface="Cambria Math"/>
                        </a:rPr>
                        <m:t> </m:t>
                      </m:r>
                      <m:r>
                        <a:rPr lang="pt-BR" i="1">
                          <a:latin typeface="Cambria Math"/>
                        </a:rPr>
                        <m:t>𝑀</m:t>
                      </m:r>
                      <m:r>
                        <a:rPr lang="pt-BR" i="1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pt-BR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𝑝𝑎𝑟𝑎</m:t>
                      </m:r>
                      <m:r>
                        <a:rPr lang="pt-BR" i="1">
                          <a:latin typeface="Cambria Math"/>
                        </a:rPr>
                        <m:t> 1≤</m:t>
                      </m:r>
                      <m:r>
                        <a:rPr lang="pt-BR" i="1">
                          <a:latin typeface="Cambria Math"/>
                        </a:rPr>
                        <m:t>𝑗</m:t>
                      </m:r>
                      <m:r>
                        <a:rPr lang="pt-BR" i="1">
                          <a:latin typeface="Cambria Math"/>
                        </a:rPr>
                        <m:t>≤</m:t>
                      </m:r>
                      <m:r>
                        <a:rPr lang="pt-BR" i="1">
                          <a:latin typeface="Cambria Math"/>
                        </a:rPr>
                        <m:t>𝑀</m:t>
                      </m:r>
                      <m:r>
                        <a:rPr lang="pt-BR" i="1">
                          <a:latin typeface="Cambria Math"/>
                        </a:rPr>
                        <m:t> −1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CaixaDeTexto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96" y="2564905"/>
                <a:ext cx="2880276" cy="945643"/>
              </a:xfrm>
              <a:prstGeom prst="rect">
                <a:avLst/>
              </a:prstGeom>
              <a:blipFill>
                <a:blip r:embed="rId2"/>
                <a:stretch>
                  <a:fillRect l="-1907" t="-3871" b="-45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6730481" y="2771056"/>
                <a:ext cx="21859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pt-BR" sz="1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i="1">
                                  <a:latin typeface="Cambria Math"/>
                                </a:rPr>
                                <m:t>21</m:t>
                              </m:r>
                            </m:e>
                          </m:d>
                          <m:r>
                            <a:rPr lang="pt-BR" sz="1400" i="1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sz="1400" i="1">
                          <a:latin typeface="Cambria Math"/>
                        </a:rPr>
                        <m:t> </m:t>
                      </m:r>
                      <m:r>
                        <a:rPr lang="pt-BR" sz="1400" i="1">
                          <a:latin typeface="Cambria Math"/>
                        </a:rPr>
                        <m:t>𝑚𝑜𝑑</m:t>
                      </m:r>
                      <m:r>
                        <a:rPr lang="pt-BR" sz="1400" i="1">
                          <a:latin typeface="Cambria Math"/>
                        </a:rPr>
                        <m:t> 11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481" y="2771056"/>
                <a:ext cx="218591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aixaDeTexto 40"/>
          <p:cNvSpPr txBox="1"/>
          <p:nvPr/>
        </p:nvSpPr>
        <p:spPr>
          <a:xfrm>
            <a:off x="6005512" y="2740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21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2458820" y="3645025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H(21) = 25 </a:t>
            </a:r>
            <a:r>
              <a:rPr lang="pt-BR" sz="1400" dirty="0" err="1">
                <a:solidFill>
                  <a:schemeClr val="bg1">
                    <a:lumMod val="65000"/>
                  </a:schemeClr>
                </a:solidFill>
              </a:rPr>
              <a:t>mod</a:t>
            </a: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 11. </a:t>
            </a:r>
          </a:p>
        </p:txBody>
      </p:sp>
      <p:cxnSp>
        <p:nvCxnSpPr>
          <p:cNvPr id="43" name="Conector de seta reta 42"/>
          <p:cNvCxnSpPr/>
          <p:nvPr/>
        </p:nvCxnSpPr>
        <p:spPr>
          <a:xfrm>
            <a:off x="4223792" y="3798912"/>
            <a:ext cx="1008112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/>
              <p:cNvSpPr txBox="1"/>
              <p:nvPr/>
            </p:nvSpPr>
            <p:spPr>
              <a:xfrm>
                <a:off x="6744073" y="3913312"/>
                <a:ext cx="21859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pt-BR" sz="1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i="1">
                                  <a:latin typeface="Cambria Math"/>
                                </a:rPr>
                                <m:t>25</m:t>
                              </m:r>
                            </m:e>
                          </m:d>
                          <m:r>
                            <a:rPr lang="pt-BR" sz="1400" i="1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sz="1400" i="1">
                          <a:latin typeface="Cambria Math"/>
                        </a:rPr>
                        <m:t> </m:t>
                      </m:r>
                      <m:r>
                        <a:rPr lang="pt-BR" sz="1400" i="1">
                          <a:latin typeface="Cambria Math"/>
                        </a:rPr>
                        <m:t>𝑚𝑜𝑑</m:t>
                      </m:r>
                      <m:r>
                        <a:rPr lang="pt-BR" sz="1400" i="1">
                          <a:latin typeface="Cambria Math"/>
                        </a:rPr>
                        <m:t> 11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4" name="CaixaDeTexto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3" y="3913312"/>
                <a:ext cx="2185919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4333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Inserção de elementos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757664" y="278092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5757664" y="306896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757664" y="335699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7664" y="364502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757664" y="393305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757664" y="422108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5757664" y="4509120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5757664" y="4797152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757664" y="5085184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757664" y="5373216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5757664" y="5661248"/>
            <a:ext cx="91440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5387914" y="278092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5387914" y="30689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387914" y="335699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387914" y="364502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3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87914" y="393305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4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87914" y="422108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5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387914" y="450912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6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387914" y="479715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7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387914" y="50851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8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387914" y="53732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9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03912" y="5661249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10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063552" y="1772817"/>
            <a:ext cx="6051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Inserção das chaves {10, 2, 3, 15, 28, 21, </a:t>
            </a:r>
            <a:r>
              <a:rPr lang="pt-BR" dirty="0">
                <a:solidFill>
                  <a:srgbClr val="FF0000"/>
                </a:solidFill>
              </a:rPr>
              <a:t>25</a:t>
            </a:r>
            <a:r>
              <a:rPr lang="pt-BR" dirty="0"/>
              <a:t>} em uma tabela de</a:t>
            </a:r>
          </a:p>
          <a:p>
            <a:r>
              <a:rPr lang="pt-BR" dirty="0"/>
              <a:t>tamanho 11. Função h(x) = x </a:t>
            </a:r>
            <a:r>
              <a:rPr lang="pt-BR" dirty="0" err="1"/>
              <a:t>mod</a:t>
            </a:r>
            <a:r>
              <a:rPr lang="pt-BR" dirty="0"/>
              <a:t> M.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005512" y="56304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6064021" y="33163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6064021" y="36142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6005512" y="3902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6005512" y="44710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aixaDeTexto 39"/>
              <p:cNvSpPr txBox="1"/>
              <p:nvPr/>
            </p:nvSpPr>
            <p:spPr>
              <a:xfrm>
                <a:off x="2063596" y="2564905"/>
                <a:ext cx="2880276" cy="9456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Para resolver colisões: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pt-BR" i="1">
                              <a:latin typeface="Cambria Math"/>
                            </a:rPr>
                            <m:t>+</m:t>
                          </m:r>
                          <m:r>
                            <a:rPr lang="pt-BR" i="1">
                              <a:latin typeface="Cambria Math"/>
                            </a:rPr>
                            <m:t>𝑗</m:t>
                          </m:r>
                        </m:e>
                      </m:d>
                      <m:r>
                        <a:rPr lang="pt-BR" i="1">
                          <a:latin typeface="Cambria Math"/>
                        </a:rPr>
                        <m:t> </m:t>
                      </m:r>
                      <m:r>
                        <a:rPr lang="pt-BR" i="1">
                          <a:latin typeface="Cambria Math"/>
                        </a:rPr>
                        <m:t>𝑚𝑜𝑑</m:t>
                      </m:r>
                      <m:r>
                        <a:rPr lang="pt-BR" i="1">
                          <a:latin typeface="Cambria Math"/>
                        </a:rPr>
                        <m:t> </m:t>
                      </m:r>
                      <m:r>
                        <a:rPr lang="pt-BR" i="1">
                          <a:latin typeface="Cambria Math"/>
                        </a:rPr>
                        <m:t>𝑀</m:t>
                      </m:r>
                      <m:r>
                        <a:rPr lang="pt-BR" i="1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pt-BR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𝑝𝑎𝑟𝑎</m:t>
                      </m:r>
                      <m:r>
                        <a:rPr lang="pt-BR" i="1">
                          <a:latin typeface="Cambria Math"/>
                        </a:rPr>
                        <m:t> 1≤</m:t>
                      </m:r>
                      <m:r>
                        <a:rPr lang="pt-BR" i="1">
                          <a:latin typeface="Cambria Math"/>
                        </a:rPr>
                        <m:t>𝑗</m:t>
                      </m:r>
                      <m:r>
                        <a:rPr lang="pt-BR" i="1">
                          <a:latin typeface="Cambria Math"/>
                        </a:rPr>
                        <m:t>≤</m:t>
                      </m:r>
                      <m:r>
                        <a:rPr lang="pt-BR" i="1">
                          <a:latin typeface="Cambria Math"/>
                        </a:rPr>
                        <m:t>𝑀</m:t>
                      </m:r>
                      <m:r>
                        <a:rPr lang="pt-BR" i="1">
                          <a:latin typeface="Cambria Math"/>
                        </a:rPr>
                        <m:t> −1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0" name="CaixaDeTexto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96" y="2564905"/>
                <a:ext cx="2880276" cy="945643"/>
              </a:xfrm>
              <a:prstGeom prst="rect">
                <a:avLst/>
              </a:prstGeom>
              <a:blipFill>
                <a:blip r:embed="rId2"/>
                <a:stretch>
                  <a:fillRect l="-1907" t="-3871" b="-45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6730481" y="2771056"/>
                <a:ext cx="21859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pt-BR" sz="1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i="1">
                                  <a:latin typeface="Cambria Math"/>
                                </a:rPr>
                                <m:t>21</m:t>
                              </m:r>
                            </m:e>
                          </m:d>
                          <m:r>
                            <a:rPr lang="pt-BR" sz="1400" i="1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sz="1400" i="1">
                          <a:latin typeface="Cambria Math"/>
                        </a:rPr>
                        <m:t> </m:t>
                      </m:r>
                      <m:r>
                        <a:rPr lang="pt-BR" sz="1400" i="1">
                          <a:latin typeface="Cambria Math"/>
                        </a:rPr>
                        <m:t>𝑚𝑜𝑑</m:t>
                      </m:r>
                      <m:r>
                        <a:rPr lang="pt-BR" sz="1400" i="1">
                          <a:latin typeface="Cambria Math"/>
                        </a:rPr>
                        <m:t> 11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481" y="2771056"/>
                <a:ext cx="218591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aixaDeTexto 40"/>
          <p:cNvSpPr txBox="1"/>
          <p:nvPr/>
        </p:nvSpPr>
        <p:spPr>
          <a:xfrm>
            <a:off x="6005512" y="27402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/>
              <p:cNvSpPr txBox="1"/>
              <p:nvPr/>
            </p:nvSpPr>
            <p:spPr>
              <a:xfrm>
                <a:off x="6744073" y="4221089"/>
                <a:ext cx="219008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pt-BR" sz="1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sz="1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i="1">
                                  <a:latin typeface="Cambria Math"/>
                                </a:rPr>
                                <m:t>25</m:t>
                              </m:r>
                            </m:e>
                          </m:d>
                          <m:r>
                            <a:rPr lang="pt-BR" sz="1400" i="1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pt-BR" sz="1400" i="1">
                          <a:latin typeface="Cambria Math"/>
                        </a:rPr>
                        <m:t> </m:t>
                      </m:r>
                      <m:r>
                        <a:rPr lang="pt-BR" sz="1400" i="1">
                          <a:latin typeface="Cambria Math"/>
                        </a:rPr>
                        <m:t>𝑚𝑜𝑑</m:t>
                      </m:r>
                      <m:r>
                        <a:rPr lang="pt-BR" sz="1400" i="1">
                          <a:latin typeface="Cambria Math"/>
                        </a:rPr>
                        <m:t> 11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4" name="CaixaDeTexto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3" y="4221089"/>
                <a:ext cx="2190087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aixaDeTexto 36"/>
          <p:cNvSpPr txBox="1"/>
          <p:nvPr/>
        </p:nvSpPr>
        <p:spPr>
          <a:xfrm>
            <a:off x="6005332" y="419031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25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2458820" y="3645025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H(21) = 25 </a:t>
            </a:r>
            <a:r>
              <a:rPr lang="pt-BR" sz="1400" dirty="0" err="1">
                <a:solidFill>
                  <a:schemeClr val="bg1">
                    <a:lumMod val="65000"/>
                  </a:schemeClr>
                </a:solidFill>
              </a:rPr>
              <a:t>mod</a:t>
            </a:r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 11. </a:t>
            </a:r>
          </a:p>
        </p:txBody>
      </p:sp>
      <p:cxnSp>
        <p:nvCxnSpPr>
          <p:cNvPr id="45" name="Conector de seta reta 44"/>
          <p:cNvCxnSpPr/>
          <p:nvPr/>
        </p:nvCxnSpPr>
        <p:spPr>
          <a:xfrm>
            <a:off x="4223792" y="3798912"/>
            <a:ext cx="1008112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/>
              <p:cNvSpPr txBox="1"/>
              <p:nvPr/>
            </p:nvSpPr>
            <p:spPr>
              <a:xfrm>
                <a:off x="6744073" y="3913312"/>
                <a:ext cx="21859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pt-BR" sz="14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pt-BR" sz="14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pt-BR" sz="1400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/>
                                </a:rPr>
                                <m:t>25</m:t>
                              </m:r>
                            </m:e>
                          </m:d>
                          <m:r>
                            <a:rPr lang="pt-BR" sz="1400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pt-BR" sz="140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pt-BR" sz="140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/>
                        </a:rPr>
                        <m:t>𝑚𝑜𝑑</m:t>
                      </m:r>
                      <m:r>
                        <a:rPr lang="pt-BR" sz="140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/>
                        </a:rPr>
                        <m:t> 11</m:t>
                      </m:r>
                    </m:oMath>
                  </m:oMathPara>
                </a14:m>
                <a:endParaRPr lang="pt-BR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CaixaDeTexto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073" y="3913312"/>
                <a:ext cx="2185919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1140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Seja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𝑁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/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𝑀</m:t>
                    </m:r>
                  </m:oMath>
                </a14:m>
                <a:r>
                  <a:rPr lang="pt-BR" dirty="0"/>
                  <a:t> (fator de carga).  </a:t>
                </a:r>
              </a:p>
              <a:p>
                <a:pPr lvl="1"/>
                <a:r>
                  <a:rPr lang="pt-BR" dirty="0"/>
                  <a:t>No melhor caso, tem-se: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endParaRPr lang="pt-BR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dirty="0"/>
                      <m:t>Elemento</m:t>
                    </m:r>
                    <m:r>
                      <m:rPr>
                        <m:nor/>
                      </m:rPr>
                      <a:rPr lang="pt-BR" dirty="0"/>
                      <m:t> </m:t>
                    </m:r>
                    <m:r>
                      <m:rPr>
                        <m:nor/>
                      </m:rPr>
                      <a:rPr lang="pt-BR" dirty="0"/>
                      <m:t>encontrado</m:t>
                    </m:r>
                    <m:r>
                      <m:rPr>
                        <m:nor/>
                      </m:rPr>
                      <a:rPr lang="pt-BR" dirty="0"/>
                      <m:t> </m:t>
                    </m:r>
                    <m:r>
                      <m:rPr>
                        <m:nor/>
                      </m:rPr>
                      <a:rPr lang="pt-BR" dirty="0"/>
                      <m:t>na</m:t>
                    </m:r>
                    <m:r>
                      <m:rPr>
                        <m:nor/>
                      </m:rPr>
                      <a:rPr lang="pt-BR" dirty="0"/>
                      <m:t> </m:t>
                    </m:r>
                    <m:r>
                      <m:rPr>
                        <m:nor/>
                      </m:rPr>
                      <a:rPr lang="pt-BR" dirty="0"/>
                      <m:t>primeira</m:t>
                    </m:r>
                    <m:r>
                      <m:rPr>
                        <m:nor/>
                      </m:rPr>
                      <a:rPr lang="pt-BR" dirty="0"/>
                      <m:t> </m:t>
                    </m:r>
                    <m:r>
                      <m:rPr>
                        <m:nor/>
                      </m:rPr>
                      <a:rPr lang="pt-BR" dirty="0"/>
                      <m:t>compara</m:t>
                    </m:r>
                    <m:r>
                      <m:rPr>
                        <m:nor/>
                      </m:rPr>
                      <a:rPr lang="pt-BR" dirty="0"/>
                      <m:t>çã</m:t>
                    </m:r>
                    <m:r>
                      <m:rPr>
                        <m:nor/>
                      </m:rPr>
                      <a:rPr lang="pt-BR" dirty="0"/>
                      <m:t>o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r>
                  <a:rPr lang="pt-BR" dirty="0"/>
                  <a:t>No pior caso, tem-se: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pt-BR" dirty="0"/>
              </a:p>
              <a:p>
                <a:pPr lvl="2"/>
                <a:r>
                  <a:rPr lang="pt-BR" dirty="0"/>
                  <a:t>É necessário comparar o elemento com todas as chaves da tabela até encontrar a ultima posição vazia.</a:t>
                </a:r>
              </a:p>
              <a:p>
                <a:pPr lvl="1"/>
                <a:r>
                  <a:rPr lang="pt-BR" dirty="0"/>
                  <a:t>No caso médio,  tem-se: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pt-BR" b="0" i="1" smtClean="0">
                                <a:latin typeface="Cambria Math"/>
                              </a:rPr>
                              <m:t>1 − </m:t>
                            </m:r>
                            <m:r>
                              <a:rPr lang="pt-BR" b="0" i="1" smtClean="0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den>
                        </m:f>
                      </m:e>
                    </m:d>
                  </m:oMath>
                </a14:m>
                <a:r>
                  <a:rPr lang="pt-BR" dirty="0"/>
                  <a:t>.</a:t>
                </a:r>
              </a:p>
              <a:p>
                <a:pPr lvl="2"/>
                <a:r>
                  <a:rPr lang="pt-BR" dirty="0"/>
                  <a:t>Ou seja, para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  <a:ea typeface="Cambria Math"/>
                      </a:rPr>
                      <m:t>𝑁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=5 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𝑒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pt-BR" i="1">
                        <a:latin typeface="Cambria Math"/>
                        <a:ea typeface="Cambria Math"/>
                      </a:rPr>
                      <m:t>𝑀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=10, 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𝑡𝑒𝑚𝑜𝑠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=0,5.</m:t>
                    </m:r>
                  </m:oMath>
                </a14:m>
                <a:r>
                  <a:rPr lang="pt-BR" dirty="0"/>
                  <a:t> Gerando 2 comparação no caso médio.</a:t>
                </a:r>
              </a:p>
              <a:p>
                <a:pPr lvl="2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2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0181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t-BR" dirty="0"/>
              <a:t>Represente a tabela </a:t>
            </a:r>
            <a:r>
              <a:rPr lang="pt-BR" i="1" dirty="0" err="1"/>
              <a:t>hash</a:t>
            </a:r>
            <a:r>
              <a:rPr lang="pt-BR" dirty="0"/>
              <a:t> obtida a partir da inserção de elementos com as seguintes chaves: 19 / 17 / 35 / 10 / 12 / 3. </a:t>
            </a:r>
          </a:p>
          <a:p>
            <a:pPr lvl="1"/>
            <a:r>
              <a:rPr lang="pt-BR" dirty="0"/>
              <a:t>Caso seja utilizado lista encadeada e a função </a:t>
            </a:r>
            <a:r>
              <a:rPr lang="pt-BR" i="1" dirty="0" err="1"/>
              <a:t>hash</a:t>
            </a:r>
            <a:r>
              <a:rPr lang="pt-BR" dirty="0"/>
              <a:t> seja h(x) = x </a:t>
            </a:r>
            <a:r>
              <a:rPr lang="pt-BR" dirty="0" err="1"/>
              <a:t>mod</a:t>
            </a:r>
            <a:r>
              <a:rPr lang="pt-BR" dirty="0"/>
              <a:t> 7.</a:t>
            </a:r>
          </a:p>
          <a:p>
            <a:pPr lvl="1"/>
            <a:r>
              <a:rPr lang="pt-BR" dirty="0"/>
              <a:t>Caso seja utilizado espalhamento linear e a função </a:t>
            </a:r>
            <a:r>
              <a:rPr lang="pt-BR" i="1" dirty="0" err="1"/>
              <a:t>hash</a:t>
            </a:r>
            <a:r>
              <a:rPr lang="pt-BR" dirty="0"/>
              <a:t> seja </a:t>
            </a:r>
            <a:r>
              <a:rPr lang="pt-BR" dirty="0" err="1"/>
              <a:t>hj</a:t>
            </a:r>
            <a:r>
              <a:rPr lang="pt-BR" dirty="0"/>
              <a:t> = (h(x) + j) </a:t>
            </a:r>
            <a:r>
              <a:rPr lang="pt-BR" dirty="0" err="1"/>
              <a:t>mod</a:t>
            </a:r>
            <a:r>
              <a:rPr lang="pt-BR" dirty="0"/>
              <a:t> 7.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74020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F26DA-75B4-487A-B11B-5D869494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4D3B92-A177-461C-9DEA-B52FD332C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9141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Material adaptado do livro:</a:t>
            </a:r>
          </a:p>
          <a:p>
            <a:pPr marL="0" indent="0">
              <a:buNone/>
            </a:pPr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Os código presentes nos slides estão disponíveis no site do autor (link no último slide) </a:t>
            </a:r>
          </a:p>
        </p:txBody>
      </p:sp>
      <p:pic>
        <p:nvPicPr>
          <p:cNvPr id="1026" name="Picture 2" descr="http://www2.dcc.ufmg.br/livros/algoritmos-java/imagens/cabecalho-livro.gif">
            <a:extLst>
              <a:ext uri="{FF2B5EF4-FFF2-40B4-BE49-F238E27FC236}">
                <a16:creationId xmlns:a16="http://schemas.microsoft.com/office/drawing/2014/main" id="{8426892B-F111-4D68-B326-E045E17B7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924" y="202826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6D2B7F-8E03-44F5-9925-E282002B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8373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Baseado no material de aulas de: </a:t>
            </a:r>
          </a:p>
          <a:p>
            <a:pPr lvl="1"/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pPr lvl="1"/>
            <a:r>
              <a:rPr lang="pt-BR" dirty="0"/>
              <a:t>Para downloads dos códigos em Java:</a:t>
            </a:r>
          </a:p>
          <a:p>
            <a:pPr lvl="1"/>
            <a:r>
              <a:rPr lang="pt-BR" dirty="0">
                <a:hlinkClick r:id="rId2"/>
              </a:rPr>
              <a:t>http://www2.dcc.ufmg.br/livros/algoritmos-java/implementacoes-03.php</a:t>
            </a:r>
            <a:endParaRPr lang="pt-BR" dirty="0"/>
          </a:p>
          <a:p>
            <a:endParaRPr lang="pt-BR" dirty="0"/>
          </a:p>
          <a:p>
            <a:r>
              <a:rPr lang="pt-BR" dirty="0"/>
              <a:t>Outras referências:</a:t>
            </a:r>
          </a:p>
          <a:p>
            <a:pPr lvl="1"/>
            <a:r>
              <a:rPr lang="pt-BR" dirty="0"/>
              <a:t>CORMEN, Thomas H. et al. Algoritmos: teoria e prática. Rio de Janeiro: Campus, 2002. 916p. ISBN 8535209263 (Disponível no Acervo).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DROZDEK, Adam. Estrutura de dados e algoritmos em C++. São Paulo: Pioneira Thomson Learning, 2002. </a:t>
            </a:r>
            <a:r>
              <a:rPr lang="pt-BR" dirty="0" err="1"/>
              <a:t>xviii</a:t>
            </a:r>
            <a:r>
              <a:rPr lang="pt-BR" dirty="0"/>
              <a:t>, 579p. ISBN 8522102953 (Disponível no Acervo).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24E0C8-41CC-4E84-AFA6-B349EB45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869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3111</Words>
  <Application>Microsoft Office PowerPoint</Application>
  <PresentationFormat>Widescreen</PresentationFormat>
  <Paragraphs>639</Paragraphs>
  <Slides>46</Slides>
  <Notes>0</Notes>
  <HiddenSlides>5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Consolas</vt:lpstr>
      <vt:lpstr>Tema do Office</vt:lpstr>
      <vt:lpstr>Hash</vt:lpstr>
      <vt:lpstr>Transformação de Chave (Hashing)</vt:lpstr>
      <vt:lpstr>Transformação de Chave (Hashing)</vt:lpstr>
      <vt:lpstr>Transformação de Chave (Hashing)</vt:lpstr>
      <vt:lpstr>Transformação de Chave (Hashing)</vt:lpstr>
      <vt:lpstr>Transformação de Chave (Hashing)</vt:lpstr>
      <vt:lpstr>Transformação de Chave (Hashing)</vt:lpstr>
      <vt:lpstr>Transformação de Chave (Hashing)</vt:lpstr>
      <vt:lpstr>Transformação de Chave (Hashing)</vt:lpstr>
      <vt:lpstr>Transformação de Chave (Hashing)</vt:lpstr>
      <vt:lpstr>Transformação de Chave (Hashing)</vt:lpstr>
      <vt:lpstr>Função Hash</vt:lpstr>
      <vt:lpstr>Função Hash</vt:lpstr>
      <vt:lpstr>Método da Divisão</vt:lpstr>
      <vt:lpstr>Inserção de elementos</vt:lpstr>
      <vt:lpstr>Inserção de elementos</vt:lpstr>
      <vt:lpstr>Inserção de elementos</vt:lpstr>
      <vt:lpstr>Inserção de elementos</vt:lpstr>
      <vt:lpstr>Inserção de elementos</vt:lpstr>
      <vt:lpstr>Inserção de elementos</vt:lpstr>
      <vt:lpstr>Inserção de elementos</vt:lpstr>
      <vt:lpstr>Inserção de elementos</vt:lpstr>
      <vt:lpstr>Listas Encadeadas</vt:lpstr>
      <vt:lpstr>Listas Encadeadas</vt:lpstr>
      <vt:lpstr>Listas Encadeadas</vt:lpstr>
      <vt:lpstr>Listas Encadeadas</vt:lpstr>
      <vt:lpstr>Listas Encadeadas</vt:lpstr>
      <vt:lpstr>Estrutura e operações da tabela com listas encadeadas</vt:lpstr>
      <vt:lpstr>Estrutura e operações da tabela com listas encadeadas</vt:lpstr>
      <vt:lpstr>Estrutura e operações da tabela com listas encadeadas</vt:lpstr>
      <vt:lpstr>Estrutura e operações da tabela com listas encadeadas</vt:lpstr>
      <vt:lpstr>Estrutura e operações da tabela com listas encadeadas</vt:lpstr>
      <vt:lpstr>Análise</vt:lpstr>
      <vt:lpstr>Análise</vt:lpstr>
      <vt:lpstr>Endereçamento Aberto</vt:lpstr>
      <vt:lpstr>Endereçamento Aberto</vt:lpstr>
      <vt:lpstr>Inserção de elementos</vt:lpstr>
      <vt:lpstr>Inserção de elementos</vt:lpstr>
      <vt:lpstr>Inserção de elementos</vt:lpstr>
      <vt:lpstr>Inserção de elementos</vt:lpstr>
      <vt:lpstr>Inserção de elementos</vt:lpstr>
      <vt:lpstr>Inserção de elementos</vt:lpstr>
      <vt:lpstr>Análise</vt:lpstr>
      <vt:lpstr>Exercícios</vt:lpstr>
      <vt:lpstr>Referências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TAD - Fila</dc:title>
  <dc:creator>Henrique Silva</dc:creator>
  <cp:lastModifiedBy>Henrique Silva</cp:lastModifiedBy>
  <cp:revision>63</cp:revision>
  <dcterms:created xsi:type="dcterms:W3CDTF">2018-02-11T20:18:47Z</dcterms:created>
  <dcterms:modified xsi:type="dcterms:W3CDTF">2019-08-10T15:36:28Z</dcterms:modified>
</cp:coreProperties>
</file>