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8" r:id="rId4"/>
    <p:sldId id="25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Silva" userId="850b114bb1845035" providerId="LiveId" clId="{81F61D34-0AD4-4D1B-8548-842EBD401936}"/>
    <pc:docChg chg="custSel addSld delSld modSld sldOrd">
      <pc:chgData name="Henrique Silva" userId="850b114bb1845035" providerId="LiveId" clId="{81F61D34-0AD4-4D1B-8548-842EBD401936}" dt="2018-02-07T20:42:28.465" v="14" actId="2696"/>
      <pc:docMkLst>
        <pc:docMk/>
      </pc:docMkLst>
      <pc:sldChg chg="modSp add">
        <pc:chgData name="Henrique Silva" userId="850b114bb1845035" providerId="LiveId" clId="{81F61D34-0AD4-4D1B-8548-842EBD401936}" dt="2018-02-07T20:39:25.361" v="3" actId="2696"/>
        <pc:sldMkLst>
          <pc:docMk/>
          <pc:sldMk cId="1050750087" sldId="256"/>
        </pc:sldMkLst>
        <pc:spChg chg="mod">
          <ac:chgData name="Henrique Silva" userId="850b114bb1845035" providerId="LiveId" clId="{81F61D34-0AD4-4D1B-8548-842EBD401936}" dt="2018-02-07T20:39:20.404" v="2" actId="2696"/>
          <ac:spMkLst>
            <pc:docMk/>
            <pc:sldMk cId="1050750087" sldId="256"/>
            <ac:spMk id="2" creationId="{5DF13F50-B56D-4416-9E53-05557FA9E3D2}"/>
          </ac:spMkLst>
        </pc:spChg>
        <pc:spChg chg="mod">
          <ac:chgData name="Henrique Silva" userId="850b114bb1845035" providerId="LiveId" clId="{81F61D34-0AD4-4D1B-8548-842EBD401936}" dt="2018-02-07T20:39:25.361" v="3" actId="2696"/>
          <ac:spMkLst>
            <pc:docMk/>
            <pc:sldMk cId="1050750087" sldId="256"/>
            <ac:spMk id="3" creationId="{DE99179D-0BD0-46B3-A6D6-7557A86091A7}"/>
          </ac:spMkLst>
        </pc:spChg>
      </pc:sldChg>
      <pc:sldChg chg="add">
        <pc:chgData name="Henrique Silva" userId="850b114bb1845035" providerId="LiveId" clId="{81F61D34-0AD4-4D1B-8548-842EBD401936}" dt="2018-02-07T20:38:57.377" v="1" actId="2696"/>
        <pc:sldMkLst>
          <pc:docMk/>
          <pc:sldMk cId="319832132" sldId="257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437237537" sldId="258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2212911202" sldId="259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555479894" sldId="260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2025041794" sldId="261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3547747030" sldId="262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47121729" sldId="263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3870262529" sldId="264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2186965992" sldId="265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3965481118" sldId="266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3680881966" sldId="267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918083608" sldId="268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3079338738" sldId="269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472781186" sldId="270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801007141" sldId="271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952412881" sldId="272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2431904432" sldId="273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2202640106" sldId="274"/>
        </pc:sldMkLst>
      </pc:sldChg>
      <pc:sldChg chg="add">
        <pc:chgData name="Henrique Silva" userId="850b114bb1845035" providerId="LiveId" clId="{81F61D34-0AD4-4D1B-8548-842EBD401936}" dt="2018-02-07T20:39:38.280" v="4" actId="2696"/>
        <pc:sldMkLst>
          <pc:docMk/>
          <pc:sldMk cId="227445335" sldId="275"/>
        </pc:sldMkLst>
      </pc:sldChg>
      <pc:sldChg chg="add ord">
        <pc:chgData name="Henrique Silva" userId="850b114bb1845035" providerId="LiveId" clId="{81F61D34-0AD4-4D1B-8548-842EBD401936}" dt="2018-02-07T20:41:57.853" v="10" actId="2696"/>
        <pc:sldMkLst>
          <pc:docMk/>
          <pc:sldMk cId="3744100090" sldId="276"/>
        </pc:sldMkLst>
      </pc:sldChg>
      <pc:sldChg chg="add ord">
        <pc:chgData name="Henrique Silva" userId="850b114bb1845035" providerId="LiveId" clId="{81F61D34-0AD4-4D1B-8548-842EBD401936}" dt="2018-02-07T20:42:13.300" v="11" actId="2696"/>
        <pc:sldMkLst>
          <pc:docMk/>
          <pc:sldMk cId="3393073238" sldId="277"/>
        </pc:sldMkLst>
      </pc:sldChg>
      <pc:sldChg chg="modSp add">
        <pc:chgData name="Henrique Silva" userId="850b114bb1845035" providerId="LiveId" clId="{81F61D34-0AD4-4D1B-8548-842EBD401936}" dt="2018-02-07T20:40:31.155" v="6" actId="27636"/>
        <pc:sldMkLst>
          <pc:docMk/>
          <pc:sldMk cId="291488259" sldId="278"/>
        </pc:sldMkLst>
        <pc:spChg chg="mod">
          <ac:chgData name="Henrique Silva" userId="850b114bb1845035" providerId="LiveId" clId="{81F61D34-0AD4-4D1B-8548-842EBD401936}" dt="2018-02-07T20:40:31.155" v="6" actId="27636"/>
          <ac:spMkLst>
            <pc:docMk/>
            <pc:sldMk cId="291488259" sldId="278"/>
            <ac:spMk id="3" creationId="{00000000-0000-0000-0000-000000000000}"/>
          </ac:spMkLst>
        </pc:spChg>
      </pc:sldChg>
      <pc:sldChg chg="add">
        <pc:chgData name="Henrique Silva" userId="850b114bb1845035" providerId="LiveId" clId="{81F61D34-0AD4-4D1B-8548-842EBD401936}" dt="2018-02-07T20:40:30.939" v="5" actId="2696"/>
        <pc:sldMkLst>
          <pc:docMk/>
          <pc:sldMk cId="4102855559" sldId="279"/>
        </pc:sldMkLst>
      </pc:sldChg>
      <pc:sldChg chg="add">
        <pc:chgData name="Henrique Silva" userId="850b114bb1845035" providerId="LiveId" clId="{81F61D34-0AD4-4D1B-8548-842EBD401936}" dt="2018-02-07T20:40:30.939" v="5" actId="2696"/>
        <pc:sldMkLst>
          <pc:docMk/>
          <pc:sldMk cId="488659123" sldId="280"/>
        </pc:sldMkLst>
      </pc:sldChg>
      <pc:sldChg chg="modSp add">
        <pc:chgData name="Henrique Silva" userId="850b114bb1845035" providerId="LiveId" clId="{81F61D34-0AD4-4D1B-8548-842EBD401936}" dt="2018-02-07T20:40:31.235" v="7" actId="27636"/>
        <pc:sldMkLst>
          <pc:docMk/>
          <pc:sldMk cId="254686019" sldId="281"/>
        </pc:sldMkLst>
        <pc:spChg chg="mod">
          <ac:chgData name="Henrique Silva" userId="850b114bb1845035" providerId="LiveId" clId="{81F61D34-0AD4-4D1B-8548-842EBD401936}" dt="2018-02-07T20:40:31.235" v="7" actId="27636"/>
          <ac:spMkLst>
            <pc:docMk/>
            <pc:sldMk cId="254686019" sldId="281"/>
            <ac:spMk id="3" creationId="{00000000-0000-0000-0000-000000000000}"/>
          </ac:spMkLst>
        </pc:spChg>
      </pc:sldChg>
      <pc:sldChg chg="modSp add">
        <pc:chgData name="Henrique Silva" userId="850b114bb1845035" providerId="LiveId" clId="{81F61D34-0AD4-4D1B-8548-842EBD401936}" dt="2018-02-07T20:40:31.287" v="8" actId="27636"/>
        <pc:sldMkLst>
          <pc:docMk/>
          <pc:sldMk cId="3283315628" sldId="282"/>
        </pc:sldMkLst>
        <pc:spChg chg="mod">
          <ac:chgData name="Henrique Silva" userId="850b114bb1845035" providerId="LiveId" clId="{81F61D34-0AD4-4D1B-8548-842EBD401936}" dt="2018-02-07T20:40:31.287" v="8" actId="27636"/>
          <ac:spMkLst>
            <pc:docMk/>
            <pc:sldMk cId="3283315628" sldId="282"/>
            <ac:spMk id="3" creationId="{00000000-0000-0000-0000-000000000000}"/>
          </ac:spMkLst>
        </pc:spChg>
      </pc:sldChg>
      <pc:sldChg chg="add">
        <pc:chgData name="Henrique Silva" userId="850b114bb1845035" providerId="LiveId" clId="{81F61D34-0AD4-4D1B-8548-842EBD401936}" dt="2018-02-07T20:40:30.939" v="5" actId="2696"/>
        <pc:sldMkLst>
          <pc:docMk/>
          <pc:sldMk cId="442583329" sldId="283"/>
        </pc:sldMkLst>
      </pc:sldChg>
      <pc:sldChg chg="add">
        <pc:chgData name="Henrique Silva" userId="850b114bb1845035" providerId="LiveId" clId="{81F61D34-0AD4-4D1B-8548-842EBD401936}" dt="2018-02-07T20:40:30.939" v="5" actId="2696"/>
        <pc:sldMkLst>
          <pc:docMk/>
          <pc:sldMk cId="2727595236" sldId="284"/>
        </pc:sldMkLst>
      </pc:sldChg>
      <pc:sldChg chg="modSp add">
        <pc:chgData name="Henrique Silva" userId="850b114bb1845035" providerId="LiveId" clId="{81F61D34-0AD4-4D1B-8548-842EBD401936}" dt="2018-02-07T20:40:31.307" v="9" actId="27636"/>
        <pc:sldMkLst>
          <pc:docMk/>
          <pc:sldMk cId="2674500149" sldId="285"/>
        </pc:sldMkLst>
        <pc:spChg chg="mod">
          <ac:chgData name="Henrique Silva" userId="850b114bb1845035" providerId="LiveId" clId="{81F61D34-0AD4-4D1B-8548-842EBD401936}" dt="2018-02-07T20:40:31.307" v="9" actId="27636"/>
          <ac:spMkLst>
            <pc:docMk/>
            <pc:sldMk cId="2674500149" sldId="285"/>
            <ac:spMk id="3" creationId="{00000000-0000-0000-0000-000000000000}"/>
          </ac:spMkLst>
        </pc:spChg>
      </pc:sldChg>
      <pc:sldChg chg="add">
        <pc:chgData name="Henrique Silva" userId="850b114bb1845035" providerId="LiveId" clId="{81F61D34-0AD4-4D1B-8548-842EBD401936}" dt="2018-02-07T20:40:30.939" v="5" actId="2696"/>
        <pc:sldMkLst>
          <pc:docMk/>
          <pc:sldMk cId="3457526362" sldId="286"/>
        </pc:sldMkLst>
      </pc:sldChg>
      <pc:sldChg chg="add del">
        <pc:chgData name="Henrique Silva" userId="850b114bb1845035" providerId="LiveId" clId="{81F61D34-0AD4-4D1B-8548-842EBD401936}" dt="2018-02-07T20:42:28.465" v="14" actId="2696"/>
        <pc:sldMkLst>
          <pc:docMk/>
          <pc:sldMk cId="87891749" sldId="287"/>
        </pc:sldMkLst>
      </pc:sldChg>
      <pc:sldChg chg="add del">
        <pc:chgData name="Henrique Silva" userId="850b114bb1845035" providerId="LiveId" clId="{81F61D34-0AD4-4D1B-8548-842EBD401936}" dt="2018-02-07T20:42:18.605" v="12" actId="2696"/>
        <pc:sldMkLst>
          <pc:docMk/>
          <pc:sldMk cId="197287590" sldId="288"/>
        </pc:sldMkLst>
      </pc:sldChg>
      <pc:sldChg chg="add del">
        <pc:chgData name="Henrique Silva" userId="850b114bb1845035" providerId="LiveId" clId="{81F61D34-0AD4-4D1B-8548-842EBD401936}" dt="2018-02-07T20:42:20.607" v="13" actId="2696"/>
        <pc:sldMkLst>
          <pc:docMk/>
          <pc:sldMk cId="3997227233" sldId="28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24309-D601-484E-B4C6-207CE7379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731BB7-63B5-4698-8233-04697C231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AED87A-808B-42BD-8572-85292377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4870-7286-4EB0-9EF2-FF88651EDB58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47B332-C337-4948-B4FA-136ACD93F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805F55-DCC7-4138-A029-7202D7D9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D745D-AE86-4186-BD6D-8F5B41FF72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056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85679-262B-4956-835A-B8352F4B3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5CACE1-F7A9-43BC-83A0-7DEF4DFF3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38B1E9-B4FA-4E17-AF9C-8699268E0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4870-7286-4EB0-9EF2-FF88651EDB58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335F3F-5397-4741-B86B-C2D0FFE5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AACC77-958C-4065-988F-6FF599CF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D745D-AE86-4186-BD6D-8F5B41FF72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4340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3C424-0D05-431D-BBDA-FEDA60760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67DB23-E141-4B9D-B68A-38B78EBD2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E4D00F-E917-4758-8FA0-AD37CCD73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4870-7286-4EB0-9EF2-FF88651EDB58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377AA6-2D63-4897-BA39-1E269CF3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2EC1E9-CAB2-4240-830F-3DCBFCF94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D745D-AE86-4186-BD6D-8F5B41FF72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378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07742-7E1A-4A4A-9A49-C28ACAD4B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969D5F-5AD9-4585-B041-F3531F7EE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D93554-DA44-46C3-92F3-E715A4799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0A6469-E829-4760-ADB5-004047FE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4870-7286-4EB0-9EF2-FF88651EDB58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FE316C-AD73-425D-9E50-E49B97E29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C56429-9BB9-4DD4-8CE3-55BBE8E4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D745D-AE86-4186-BD6D-8F5B41FF72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703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AD9CC-7A62-463D-9E83-211C9768A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8A7F19-BB64-4100-A75E-11209C9D8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6B61DA-52C3-41E8-ACAD-4EA6B5A20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F346E4-0929-421D-9D95-0F76DB2E84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5A0378F-B8A1-4638-B17A-3AD4BB43F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CFB2DB5-B7A4-4424-8FC4-7CC64F29C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4870-7286-4EB0-9EF2-FF88651EDB58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EA8F92A-F82D-4C11-B242-81265F05A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FAA1B74-42FE-4F2A-9DF6-DCD999BE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D745D-AE86-4186-BD6D-8F5B41FF72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0446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8F0A7E-71C1-41CA-BE0E-2B3E3190F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C72A79C-272F-49FF-AE01-0FE760B8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4870-7286-4EB0-9EF2-FF88651EDB58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8AC290-DD3D-485C-8753-EF2BE14C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588D95-C9F4-4A6C-9044-1366CD96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D745D-AE86-4186-BD6D-8F5B41FF72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214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BAF9F1A-3FB9-4CCB-89AD-9EBF5493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4870-7286-4EB0-9EF2-FF88651EDB58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2F8717-338E-4D04-AF0A-C1AA49776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ADA896-2B5A-43C4-9D9F-BBF9DE497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D745D-AE86-4186-BD6D-8F5B41FF72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2484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35F7C1-53C4-48CC-8BDA-A8EC2B698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7FD6FC-0C49-4A3E-80FB-5905273EA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15206D-1CC7-4C16-B4AE-AA3A616B1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A99876-BADF-457A-A7CB-F8CF54AB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4870-7286-4EB0-9EF2-FF88651EDB58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44733E-F5AF-42AA-94F9-44C194DA4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F7EA37-721E-417F-B6B9-437712F4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D745D-AE86-4186-BD6D-8F5B41FF72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575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431B5-29E8-42DB-AF62-468357D49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1FFF1B3-3A25-42F1-8DC8-EEDCC8327A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F08F1D-73D7-4189-BE3F-A793460C5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88D042-295C-4898-880E-1F9633D3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4870-7286-4EB0-9EF2-FF88651EDB58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92C510D-BFCB-431C-B465-1AE1D1C3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48BDA2-6663-49FB-8CF1-8311AAE0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D745D-AE86-4186-BD6D-8F5B41FF72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707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60F94-BB99-43E1-8F70-723FF094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937CB82-1394-41D6-A6AA-F222A2174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BE7B3B-E671-40ED-B4CE-6F947236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4870-7286-4EB0-9EF2-FF88651EDB58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4DE78A-B876-4B95-8445-BF38A3881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F8DCA1-E28F-439E-8139-70DA2798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D745D-AE86-4186-BD6D-8F5B41FF72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263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41C51F-B60F-45B0-A635-DB4789C5CE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6AEF52-6AD8-4AE9-BD22-7E05488A8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C45B3B-5C47-4643-B932-D9AF4AD29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4870-7286-4EB0-9EF2-FF88651EDB58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5E15D8-E9DE-44AE-B350-841BEA5D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2AE38C-05E8-4308-BD87-CF0E5033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D745D-AE86-4186-BD6D-8F5B41FF72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54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A0FC0A-679A-4681-8ABC-0BBC6785A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B89302-75F6-463C-9F62-AB3CCE32D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2532A6-B087-43BD-8475-6675AAF6B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04870-7286-4EB0-9EF2-FF88651EDB58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84488C-6DB5-4E91-AA60-6BABAA275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9B83D7-DC3F-456E-9CCB-8CEFF4C97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D745D-AE86-4186-BD6D-8F5B41FF72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97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13F50-B56D-4416-9E53-05557FA9E3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Algoritmos e Estruturas de Dados 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99179D-0BD0-46B3-A6D6-7557A86091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0750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048783"/>
            <a:ext cx="10515600" cy="1325563"/>
          </a:xfrm>
        </p:spPr>
        <p:txBody>
          <a:bodyPr/>
          <a:lstStyle/>
          <a:p>
            <a:r>
              <a:rPr lang="pt-BR" dirty="0"/>
              <a:t>Recursividade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237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Recursividade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definição recursiva consiste em duas partes:</a:t>
            </a:r>
          </a:p>
          <a:p>
            <a:pPr lvl="1"/>
            <a:r>
              <a:rPr lang="pt-BR" dirty="0"/>
              <a:t>Caso base: elementos básicos</a:t>
            </a:r>
          </a:p>
          <a:p>
            <a:pPr lvl="1"/>
            <a:r>
              <a:rPr lang="pt-BR" dirty="0"/>
              <a:t>Regras de construção de novos objetos a partir dos elementos básicos.</a:t>
            </a:r>
          </a:p>
          <a:p>
            <a:r>
              <a:rPr lang="pt-BR" dirty="0"/>
              <a:t>Exemplo (construção do conjunto de números naturais) :</a:t>
            </a:r>
          </a:p>
          <a:p>
            <a:pPr lvl="1"/>
            <a:r>
              <a:rPr lang="pt-BR" dirty="0"/>
              <a:t>0 </a:t>
            </a:r>
            <a:r>
              <a:rPr lang="pt-BR" dirty="0">
                <a:sym typeface="Symbol"/>
              </a:rPr>
              <a:t> N;</a:t>
            </a:r>
          </a:p>
          <a:p>
            <a:pPr lvl="1"/>
            <a:r>
              <a:rPr lang="pt-BR" dirty="0">
                <a:sym typeface="Symbol"/>
              </a:rPr>
              <a:t>Se </a:t>
            </a:r>
            <a:r>
              <a:rPr lang="pt-BR" i="1" dirty="0">
                <a:sym typeface="Symbol"/>
              </a:rPr>
              <a:t>n</a:t>
            </a:r>
            <a:r>
              <a:rPr lang="pt-BR" dirty="0">
                <a:sym typeface="Symbol"/>
              </a:rPr>
              <a:t>  N, então (</a:t>
            </a:r>
            <a:r>
              <a:rPr lang="pt-BR" i="1" dirty="0">
                <a:sym typeface="Symbol"/>
              </a:rPr>
              <a:t>n</a:t>
            </a:r>
            <a:r>
              <a:rPr lang="pt-BR" dirty="0">
                <a:sym typeface="Symbol"/>
              </a:rPr>
              <a:t> + 1)  N;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48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B6E972-74FA-498C-8D6A-D58D94AD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Recursividade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9282C38-E050-4B05-9A1D-AB7B8D66BD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Um procedimento recursivo caracteriza-se por chamar a si mesmo.</a:t>
                </a:r>
              </a:p>
              <a:p>
                <a:r>
                  <a:rPr lang="pt-BR" dirty="0"/>
                  <a:t>Recursividade é útil para descrever algoritmos mais claros e concisos.</a:t>
                </a:r>
              </a:p>
              <a:p>
                <a:r>
                  <a:rPr lang="pt-BR" dirty="0"/>
                  <a:t>Exemplo de função recursiva:</a:t>
                </a:r>
              </a:p>
              <a:p>
                <a:pPr lvl="1"/>
                <a:r>
                  <a:rPr lang="pt-BR" dirty="0"/>
                  <a:t>Função que define elevar qualquer número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 a uma potência inteira não negativa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r>
                  <a:rPr lang="pt-BR" dirty="0"/>
                  <a:t>Notação: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9282C38-E050-4B05-9A1D-AB7B8D66BD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5CE04E-D7CD-4DDB-95C8-119CFEE7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4</a:t>
            </a:fld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D6A60AFA-E256-478F-9A1A-32FAF9A2FE55}"/>
                  </a:ext>
                </a:extLst>
              </p:cNvPr>
              <p:cNvSpPr txBox="1"/>
              <p:nvPr/>
            </p:nvSpPr>
            <p:spPr>
              <a:xfrm>
                <a:off x="3599123" y="4704581"/>
                <a:ext cx="4993754" cy="1285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pt-BR" sz="2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b="0" i="1" smtClean="0">
                                  <a:latin typeface="Cambria Math"/>
                                </a:rPr>
                                <m:t>1          </m:t>
                              </m:r>
                              <m:r>
                                <a:rPr lang="pt-BR" sz="2400" b="0" i="1" smtClean="0">
                                  <a:latin typeface="Cambria Math"/>
                                </a:rPr>
                                <m:t>𝑠𝑒</m:t>
                              </m:r>
                              <m:r>
                                <a:rPr lang="pt-BR" sz="24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sz="24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BR" sz="2400" b="0" i="1" smtClean="0">
                                  <a:latin typeface="Cambria Math"/>
                                </a:rPr>
                                <m:t>=0</m:t>
                              </m:r>
                            </m:e>
                            <m:e>
                              <m:r>
                                <a:rPr lang="pt-BR" sz="2400" b="0" i="1" smtClean="0">
                                  <a:latin typeface="Cambria Math"/>
                                </a:rPr>
                                <m:t>  </m:t>
                              </m:r>
                              <m:r>
                                <a:rPr lang="pt-BR" sz="24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BR" sz="2400" b="0" i="1" smtClean="0">
                                  <a:latin typeface="Cambria Math"/>
                                </a:rPr>
                                <m:t> . 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0" i="1" smtClean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pt-BR" sz="24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pt-BR" sz="2400" b="0" i="1" smtClean="0">
                                      <a:latin typeface="Cambria Math"/>
                                    </a:rPr>
                                    <m:t> −1</m:t>
                                  </m:r>
                                </m:sup>
                              </m:sSup>
                              <m:r>
                                <a:rPr lang="pt-BR" sz="2400" b="0" i="1" smtClean="0">
                                  <a:latin typeface="Cambria Math"/>
                                </a:rPr>
                                <m:t>      </m:t>
                              </m:r>
                              <m:r>
                                <a:rPr lang="pt-BR" sz="2400" b="0" i="1" smtClean="0">
                                  <a:latin typeface="Cambria Math"/>
                                </a:rPr>
                                <m:t>𝑠𝑒</m:t>
                              </m:r>
                              <m:r>
                                <a:rPr lang="pt-BR" sz="24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sz="24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BR" sz="2400" b="0" i="1" smtClean="0">
                                  <a:latin typeface="Cambria Math"/>
                                </a:rPr>
                                <m:t>&gt;0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400" b="0" dirty="0"/>
              </a:p>
              <a:p>
                <a:r>
                  <a:rPr lang="pt-BR" sz="2400" dirty="0"/>
                  <a:t> 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D6A60AFA-E256-478F-9A1A-32FAF9A2F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123" y="4704581"/>
                <a:ext cx="4993754" cy="12854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AFCA367F-5D97-4FDF-84B0-527591711DF8}"/>
              </a:ext>
            </a:extLst>
          </p:cNvPr>
          <p:cNvCxnSpPr/>
          <p:nvPr/>
        </p:nvCxnSpPr>
        <p:spPr>
          <a:xfrm flipH="1">
            <a:off x="7810500" y="5000625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A332F7F-3A44-4040-B4A2-D1F8B65E3F6D}"/>
              </a:ext>
            </a:extLst>
          </p:cNvPr>
          <p:cNvSpPr txBox="1"/>
          <p:nvPr/>
        </p:nvSpPr>
        <p:spPr>
          <a:xfrm>
            <a:off x="8896350" y="4781550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Caso base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F87CC1A3-0B69-4413-B534-A881C44246BE}"/>
              </a:ext>
            </a:extLst>
          </p:cNvPr>
          <p:cNvCxnSpPr/>
          <p:nvPr/>
        </p:nvCxnSpPr>
        <p:spPr>
          <a:xfrm flipH="1">
            <a:off x="7821352" y="5358289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809A883-9241-47F2-A077-8006A6E80512}"/>
              </a:ext>
            </a:extLst>
          </p:cNvPr>
          <p:cNvSpPr txBox="1"/>
          <p:nvPr/>
        </p:nvSpPr>
        <p:spPr>
          <a:xfrm>
            <a:off x="8907202" y="5139214"/>
            <a:ext cx="1800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Passo de indução</a:t>
            </a:r>
          </a:p>
        </p:txBody>
      </p:sp>
    </p:spTree>
    <p:extLst>
      <p:ext uri="{BB962C8B-B14F-4D97-AF65-F5344CB8AC3E}">
        <p14:creationId xmlns:p14="http://schemas.microsoft.com/office/powerpoint/2010/main" val="221291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Recursividade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dirty="0"/>
              <a:t>Por exemplo: função fatorial (!).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Para o primeiro caso, a solução foi dada por definição, não necessita da recursão para ser alcançada.</a:t>
            </a:r>
          </a:p>
          <a:p>
            <a:r>
              <a:rPr lang="pt-BR" dirty="0"/>
              <a:t>Para o segundo caso, pode ser resolvido parte do problema, menor e mais simples.</a:t>
            </a:r>
          </a:p>
          <a:p>
            <a:r>
              <a:rPr lang="pt-BR" dirty="0"/>
              <a:t>Por exemplo, sabemos que </a:t>
            </a:r>
            <a:r>
              <a:rPr lang="pt-BR" i="1" dirty="0"/>
              <a:t>0!</a:t>
            </a:r>
            <a:r>
              <a:rPr lang="pt-BR" dirty="0"/>
              <a:t> = 1, e sabemos que </a:t>
            </a:r>
            <a:r>
              <a:rPr lang="pt-BR" i="1" dirty="0"/>
              <a:t>1! </a:t>
            </a:r>
            <a:r>
              <a:rPr lang="pt-BR" dirty="0"/>
              <a:t>= </a:t>
            </a:r>
            <a:r>
              <a:rPr lang="pt-BR" i="1" dirty="0"/>
              <a:t>1 x 0!, </a:t>
            </a:r>
            <a:r>
              <a:rPr lang="pt-BR" dirty="0"/>
              <a:t>portanto </a:t>
            </a:r>
            <a:r>
              <a:rPr lang="pt-BR" i="1" dirty="0"/>
              <a:t>n! = n x (n – 1)!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502600" y="2420889"/>
                <a:ext cx="3907091" cy="987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𝑛</m:t>
                      </m:r>
                      <m:r>
                        <a:rPr lang="pt-BR" i="1">
                          <a:latin typeface="Cambria Math"/>
                        </a:rPr>
                        <m:t>!= </m:t>
                      </m:r>
                      <m:d>
                        <m:dPr>
                          <m:begChr m:val="{"/>
                          <m:endChr m:val="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1              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𝑠𝑒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=0</m:t>
                              </m:r>
                            </m:e>
                            <m:e>
                              <m:r>
                                <a:rPr lang="pt-BR" i="1">
                                  <a:latin typeface="Cambria Math"/>
                                </a:rPr>
                                <m:t>  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 .  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pt-BR" i="1"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/>
                                </a:rPr>
                                <m:t>!    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𝑠𝑒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&gt;0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600" y="2420889"/>
                <a:ext cx="3907091" cy="9871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/>
          <p:cNvSpPr txBox="1"/>
          <p:nvPr/>
        </p:nvSpPr>
        <p:spPr>
          <a:xfrm>
            <a:off x="6811044" y="2445865"/>
            <a:ext cx="1234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(caso base)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811044" y="2724605"/>
            <a:ext cx="194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(passo de indução)</a:t>
            </a:r>
          </a:p>
        </p:txBody>
      </p:sp>
    </p:spTree>
    <p:extLst>
      <p:ext uri="{BB962C8B-B14F-4D97-AF65-F5344CB8AC3E}">
        <p14:creationId xmlns:p14="http://schemas.microsoft.com/office/powerpoint/2010/main" val="488659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Recursividade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 definições recursivas têm um efeito indesejado, pois é necessário calcular todos os números da sequência para descobrir o fatorial de </a:t>
            </a:r>
            <a:r>
              <a:rPr lang="pt-BR" i="1" dirty="0"/>
              <a:t>n!</a:t>
            </a:r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dirty="0"/>
              <a:t>No entanto, encontrar uma fórmula para solucionar o problema sem referenciar outros elementos da sequência é um problema difícil e nem sempre pode ser resolvido.</a:t>
            </a:r>
          </a:p>
        </p:txBody>
      </p:sp>
    </p:spTree>
    <p:extLst>
      <p:ext uri="{BB962C8B-B14F-4D97-AF65-F5344CB8AC3E}">
        <p14:creationId xmlns:p14="http://schemas.microsoft.com/office/powerpoint/2010/main" val="254686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Chamada de função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função pode ser chamada por outras funções ou pelo programa principal (função </a:t>
            </a:r>
            <a:r>
              <a:rPr lang="pt-BR" i="1" dirty="0" err="1"/>
              <a:t>main</a:t>
            </a:r>
            <a:r>
              <a:rPr lang="pt-BR" dirty="0"/>
              <a:t>).</a:t>
            </a:r>
          </a:p>
          <a:p>
            <a:endParaRPr lang="pt-BR" dirty="0"/>
          </a:p>
          <a:p>
            <a:r>
              <a:rPr lang="pt-BR" dirty="0"/>
              <a:t>A indicação de onde a função foi chamada deve ser armazenada pelo sistema.</a:t>
            </a:r>
          </a:p>
          <a:p>
            <a:endParaRPr lang="pt-BR" dirty="0"/>
          </a:p>
          <a:p>
            <a:r>
              <a:rPr lang="pt-BR" dirty="0"/>
              <a:t>Nas chamadas de funções recursivas uma pilha é utilizada para armazenar o estado da cada função, quando esta foi chamada.</a:t>
            </a:r>
          </a:p>
        </p:txBody>
      </p:sp>
    </p:spTree>
    <p:extLst>
      <p:ext uri="{BB962C8B-B14F-4D97-AF65-F5344CB8AC3E}">
        <p14:creationId xmlns:p14="http://schemas.microsoft.com/office/powerpoint/2010/main" val="3283315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Chamada de função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estado da função é caracterizado pelo conteúdo de todas as </a:t>
            </a:r>
            <a:r>
              <a:rPr lang="pt-BR" b="1" dirty="0"/>
              <a:t>variáveis</a:t>
            </a:r>
            <a:r>
              <a:rPr lang="pt-BR" dirty="0"/>
              <a:t>, seus </a:t>
            </a:r>
            <a:r>
              <a:rPr lang="pt-BR" b="1" dirty="0"/>
              <a:t>parâmetros</a:t>
            </a:r>
            <a:r>
              <a:rPr lang="pt-BR" dirty="0"/>
              <a:t> e </a:t>
            </a:r>
            <a:r>
              <a:rPr lang="pt-BR" b="1" dirty="0"/>
              <a:t>endereço de retorno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O endereço de retorno serve para que o sistema “lembre” onde deve retornar a execução depois que a função terminar.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258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Chamada de função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Sempre que uma função é iniciada recursivamente, um novo conjunto de variáveis locais e de parâmetros é alocado.</a:t>
            </a:r>
          </a:p>
          <a:p>
            <a:endParaRPr lang="pt-BR" dirty="0"/>
          </a:p>
          <a:p>
            <a:r>
              <a:rPr lang="pt-BR" dirty="0"/>
              <a:t>Quando ocorre um retorno, este conjunto é desativado, dando lugar ao conjunto de valores da função que fez a chamada.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7595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Chamada recursiva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Todo algoritmo deve terminar após a execução de uma quantidade finita de passos.</a:t>
            </a:r>
          </a:p>
          <a:p>
            <a:endParaRPr lang="pt-BR" dirty="0"/>
          </a:p>
          <a:p>
            <a:r>
              <a:rPr lang="pt-BR" dirty="0"/>
              <a:t>Uma função recursiva deve parar em algum instante, para isto ela deve atingir, em algum momento, o </a:t>
            </a:r>
            <a:r>
              <a:rPr lang="pt-BR" b="1" dirty="0"/>
              <a:t>caso base</a:t>
            </a:r>
            <a:r>
              <a:rPr lang="pt-BR" dirty="0"/>
              <a:t>, ou seja, sua condição de parada.</a:t>
            </a:r>
          </a:p>
          <a:p>
            <a:endParaRPr lang="pt-BR" dirty="0"/>
          </a:p>
          <a:p>
            <a:r>
              <a:rPr lang="pt-BR" dirty="0"/>
              <a:t>Caso contrário, a função poderá entrar em </a:t>
            </a:r>
            <a:r>
              <a:rPr lang="pt-BR" i="1" dirty="0" err="1"/>
              <a:t>looping</a:t>
            </a:r>
            <a:r>
              <a:rPr lang="pt-BR" dirty="0"/>
              <a:t> e ser executado infinitamente </a:t>
            </a:r>
            <a:r>
              <a:rPr lang="pt-BR" dirty="0">
                <a:sym typeface="Wingdings" pitchFamily="2" charset="2"/>
              </a:rPr>
              <a:t> estouro de pilha do sistema</a:t>
            </a:r>
            <a:r>
              <a:rPr lang="pt-BR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674500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Chamada recursiva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exemplo do cálculo da potência... : 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... a aplicação repetitiva da etapa indutiva leva ao caso base (condição de parada). Última etapa na cadeia de chamadas recursivas. </a:t>
            </a:r>
          </a:p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546764" y="2309716"/>
                <a:ext cx="4349436" cy="1086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pt-BR" sz="20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pt-BR" sz="2000" i="1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000" i="1">
                                  <a:latin typeface="Cambria Math"/>
                                </a:rPr>
                                <m:t>1          </m:t>
                              </m:r>
                              <m:r>
                                <a:rPr lang="pt-BR" sz="2000" i="1">
                                  <a:latin typeface="Cambria Math"/>
                                </a:rPr>
                                <m:t>𝑠𝑒</m:t>
                              </m:r>
                              <m:r>
                                <a:rPr lang="pt-BR" sz="20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BR" sz="2000" i="1">
                                  <a:latin typeface="Cambria Math"/>
                                </a:rPr>
                                <m:t>=0</m:t>
                              </m:r>
                            </m:e>
                            <m:e>
                              <m:r>
                                <a:rPr lang="pt-BR" sz="2000" i="1">
                                  <a:latin typeface="Cambria Math"/>
                                </a:rPr>
                                <m:t>  </m:t>
                              </m:r>
                              <m:r>
                                <a:rPr lang="pt-BR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BR" sz="2000" i="1">
                                  <a:latin typeface="Cambria Math"/>
                                </a:rPr>
                                <m:t> . </m:t>
                              </m:r>
                              <m:sSup>
                                <m:sSup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pt-BR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20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pt-BR" sz="2000" i="1">
                                      <a:latin typeface="Cambria Math"/>
                                    </a:rPr>
                                    <m:t> −1</m:t>
                                  </m:r>
                                </m:sup>
                              </m:sSup>
                              <m:r>
                                <a:rPr lang="pt-BR" sz="2000" i="1">
                                  <a:latin typeface="Cambria Math"/>
                                </a:rPr>
                                <m:t>      </m:t>
                              </m:r>
                              <m:r>
                                <a:rPr lang="pt-BR" sz="2000" i="1">
                                  <a:latin typeface="Cambria Math"/>
                                </a:rPr>
                                <m:t>𝑠𝑒</m:t>
                              </m:r>
                              <m:r>
                                <a:rPr lang="pt-BR" sz="20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BR" sz="2000" i="1">
                                  <a:latin typeface="Cambria Math"/>
                                </a:rPr>
                                <m:t>&gt;0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000" dirty="0"/>
              </a:p>
              <a:p>
                <a:r>
                  <a:rPr lang="pt-BR" sz="2000" dirty="0"/>
                  <a:t> 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764" y="2309716"/>
                <a:ext cx="4349436" cy="10866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/>
          <p:cNvSpPr txBox="1"/>
          <p:nvPr/>
        </p:nvSpPr>
        <p:spPr>
          <a:xfrm>
            <a:off x="7171084" y="2376257"/>
            <a:ext cx="1234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(caso base)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171084" y="2654997"/>
            <a:ext cx="194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(passo de indução)</a:t>
            </a:r>
          </a:p>
        </p:txBody>
      </p:sp>
    </p:spTree>
    <p:extLst>
      <p:ext uri="{BB962C8B-B14F-4D97-AF65-F5344CB8AC3E}">
        <p14:creationId xmlns:p14="http://schemas.microsoft.com/office/powerpoint/2010/main" val="3457526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8B5E652-5B18-4985-87D2-D4B31B0916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Função que calcula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dirty="0"/>
                  <a:t>pode ser escrita diretamente a partir da definição de uma potência: 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8B5E652-5B18-4985-87D2-D4B31B091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12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4BBAD8-0610-49C7-AC48-6D7FB7CAB3D5}"/>
              </a:ext>
            </a:extLst>
          </p:cNvPr>
          <p:cNvSpPr/>
          <p:nvPr/>
        </p:nvSpPr>
        <p:spPr>
          <a:xfrm>
            <a:off x="1104900" y="3105369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n) 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 * potencia(x, n - 1);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555479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13</a:t>
            </a:fld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81A8065-CE02-4AEF-8183-5DFACC5FC040}"/>
              </a:ext>
            </a:extLst>
          </p:cNvPr>
          <p:cNvSpPr txBox="1"/>
          <p:nvPr/>
        </p:nvSpPr>
        <p:spPr>
          <a:xfrm>
            <a:off x="9026453" y="1566863"/>
            <a:ext cx="31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de execução do programa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276FA83-F74A-4D47-A1C9-D702147D0DDD}"/>
              </a:ext>
            </a:extLst>
          </p:cNvPr>
          <p:cNvCxnSpPr/>
          <p:nvPr/>
        </p:nvCxnSpPr>
        <p:spPr>
          <a:xfrm>
            <a:off x="8682806" y="5305425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B1102B-49C6-479F-B6E2-50F2E91E9FEE}"/>
              </a:ext>
            </a:extLst>
          </p:cNvPr>
          <p:cNvSpPr txBox="1"/>
          <p:nvPr/>
        </p:nvSpPr>
        <p:spPr>
          <a:xfrm>
            <a:off x="5602447" y="3245565"/>
            <a:ext cx="32976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Ao iniciar um programa, a chamada da função principal é armazenada na pilha de execução do programa. Esta pilha armazena os valores das variáveis (posições de memória) do programa naquele momento, seus parâmetros e endereço de retorno.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A8D494-78FF-4FC6-9AA6-C54B784314DE}"/>
              </a:ext>
            </a:extLst>
          </p:cNvPr>
          <p:cNvSpPr/>
          <p:nvPr/>
        </p:nvSpPr>
        <p:spPr>
          <a:xfrm>
            <a:off x="361950" y="1566863"/>
            <a:ext cx="545782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n)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 * potencia(x, n - 1);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main()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3;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latin typeface="Consolas" panose="020B0609020204030204" pitchFamily="49" charset="0"/>
              </a:rPr>
              <a:t>potencia(x, n);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451A98F2-ACE1-44B4-9842-4E4869F3A3D6}"/>
              </a:ext>
            </a:extLst>
          </p:cNvPr>
          <p:cNvGraphicFramePr>
            <a:graphicFrameLocks noGrp="1"/>
          </p:cNvGraphicFramePr>
          <p:nvPr/>
        </p:nvGraphicFramePr>
        <p:xfrm>
          <a:off x="9710994" y="1980748"/>
          <a:ext cx="1940232" cy="354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32">
                  <a:extLst>
                    <a:ext uri="{9D8B030D-6E8A-4147-A177-3AD203B41FA5}">
                      <a16:colId xmlns:a16="http://schemas.microsoft.com/office/drawing/2014/main" val="409494242"/>
                    </a:ext>
                  </a:extLst>
                </a:gridCol>
              </a:tblGrid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6794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7888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9966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28871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73854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7952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44695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pt-BR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36526"/>
                  </a:ext>
                </a:extLst>
              </a:tr>
            </a:tbl>
          </a:graphicData>
        </a:graphic>
      </p:graphicFrame>
      <p:sp>
        <p:nvSpPr>
          <p:cNvPr id="21" name="Retângulo 20">
            <a:extLst>
              <a:ext uri="{FF2B5EF4-FFF2-40B4-BE49-F238E27FC236}">
                <a16:creationId xmlns:a16="http://schemas.microsoft.com/office/drawing/2014/main" id="{24332AF3-34C2-4B93-86A9-A728B01066C8}"/>
              </a:ext>
            </a:extLst>
          </p:cNvPr>
          <p:cNvSpPr/>
          <p:nvPr/>
        </p:nvSpPr>
        <p:spPr>
          <a:xfrm>
            <a:off x="5602447" y="581906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O endereço de retorno serve para que o sistema saiba onde deve retornar a execução depois que a função terminar.</a:t>
            </a:r>
          </a:p>
        </p:txBody>
      </p:sp>
    </p:spTree>
    <p:extLst>
      <p:ext uri="{BB962C8B-B14F-4D97-AF65-F5344CB8AC3E}">
        <p14:creationId xmlns:p14="http://schemas.microsoft.com/office/powerpoint/2010/main" val="2025041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14</a:t>
            </a:fld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D3F118B-AE0C-4D64-9D5E-20DC232C4665}"/>
              </a:ext>
            </a:extLst>
          </p:cNvPr>
          <p:cNvSpPr/>
          <p:nvPr/>
        </p:nvSpPr>
        <p:spPr>
          <a:xfrm>
            <a:off x="361950" y="1566863"/>
            <a:ext cx="545782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n)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 * potencia(x, n - 1);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3;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potencia(x, n)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A928D0C-9CA3-4C68-9D3C-B8936BD23E24}"/>
              </a:ext>
            </a:extLst>
          </p:cNvPr>
          <p:cNvSpPr txBox="1"/>
          <p:nvPr/>
        </p:nvSpPr>
        <p:spPr>
          <a:xfrm>
            <a:off x="9026453" y="1566863"/>
            <a:ext cx="31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de execução do programa</a:t>
            </a:r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21235D12-C30F-4303-90F3-D228A14C2B48}"/>
              </a:ext>
            </a:extLst>
          </p:cNvPr>
          <p:cNvGraphicFramePr>
            <a:graphicFrameLocks noGrp="1"/>
          </p:cNvGraphicFramePr>
          <p:nvPr/>
        </p:nvGraphicFramePr>
        <p:xfrm>
          <a:off x="9710994" y="1980748"/>
          <a:ext cx="1940232" cy="354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32">
                  <a:extLst>
                    <a:ext uri="{9D8B030D-6E8A-4147-A177-3AD203B41FA5}">
                      <a16:colId xmlns:a16="http://schemas.microsoft.com/office/drawing/2014/main" val="409494242"/>
                    </a:ext>
                  </a:extLst>
                </a:gridCol>
              </a:tblGrid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6794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7888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9966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28871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73854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7952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Consolas" panose="020B0609020204030204" pitchFamily="49" charset="0"/>
                        </a:rPr>
                        <a:t>Potencia(2,3)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44695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pt-BR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36526"/>
                  </a:ext>
                </a:extLst>
              </a:tr>
            </a:tbl>
          </a:graphicData>
        </a:graphic>
      </p:graphicFrame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C994E6E4-2ED9-49DC-AD41-381A760CDBFB}"/>
              </a:ext>
            </a:extLst>
          </p:cNvPr>
          <p:cNvCxnSpPr/>
          <p:nvPr/>
        </p:nvCxnSpPr>
        <p:spPr>
          <a:xfrm>
            <a:off x="8682806" y="4892469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19F36A3-1DCB-483B-8097-F954807B4D5E}"/>
              </a:ext>
            </a:extLst>
          </p:cNvPr>
          <p:cNvSpPr txBox="1"/>
          <p:nvPr/>
        </p:nvSpPr>
        <p:spPr>
          <a:xfrm>
            <a:off x="5951850" y="3547692"/>
            <a:ext cx="36270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Sempre que uma função chama outra função, todas as suas informações (como os valores de suas variáveis) são armazenada na pilha de execução. </a:t>
            </a:r>
          </a:p>
        </p:txBody>
      </p:sp>
    </p:spTree>
    <p:extLst>
      <p:ext uri="{BB962C8B-B14F-4D97-AF65-F5344CB8AC3E}">
        <p14:creationId xmlns:p14="http://schemas.microsoft.com/office/powerpoint/2010/main" val="3547747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15</a:t>
            </a:fld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A8D494-78FF-4FC6-9AA6-C54B784314DE}"/>
              </a:ext>
            </a:extLst>
          </p:cNvPr>
          <p:cNvSpPr/>
          <p:nvPr/>
        </p:nvSpPr>
        <p:spPr>
          <a:xfrm>
            <a:off x="361950" y="1566863"/>
            <a:ext cx="545782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n)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</a:rPr>
              <a:t>x *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potencia(x, n - 1)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3;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latin typeface="Consolas" panose="020B0609020204030204" pitchFamily="49" charset="0"/>
              </a:rPr>
              <a:t>potencia(x, n);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E3F4E0-3C8E-467F-837B-0EB17C1284C5}"/>
              </a:ext>
            </a:extLst>
          </p:cNvPr>
          <p:cNvSpPr txBox="1"/>
          <p:nvPr/>
        </p:nvSpPr>
        <p:spPr>
          <a:xfrm>
            <a:off x="9026453" y="1566863"/>
            <a:ext cx="31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de execução do programa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61813A0-304A-4554-BBEE-B3D3F0614528}"/>
              </a:ext>
            </a:extLst>
          </p:cNvPr>
          <p:cNvGraphicFramePr>
            <a:graphicFrameLocks noGrp="1"/>
          </p:cNvGraphicFramePr>
          <p:nvPr/>
        </p:nvGraphicFramePr>
        <p:xfrm>
          <a:off x="9710994" y="1980748"/>
          <a:ext cx="1940232" cy="354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32">
                  <a:extLst>
                    <a:ext uri="{9D8B030D-6E8A-4147-A177-3AD203B41FA5}">
                      <a16:colId xmlns:a16="http://schemas.microsoft.com/office/drawing/2014/main" val="409494242"/>
                    </a:ext>
                  </a:extLst>
                </a:gridCol>
              </a:tblGrid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6794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7888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9966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28871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73854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7952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Consolas" panose="020B0609020204030204" pitchFamily="49" charset="0"/>
                        </a:rPr>
                        <a:t>Potencia(2,3)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44695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pt-BR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36526"/>
                  </a:ext>
                </a:extLst>
              </a:tr>
            </a:tbl>
          </a:graphicData>
        </a:graphic>
      </p:graphicFrame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B02EF054-B734-472C-B998-D3D5876E47B7}"/>
              </a:ext>
            </a:extLst>
          </p:cNvPr>
          <p:cNvCxnSpPr/>
          <p:nvPr/>
        </p:nvCxnSpPr>
        <p:spPr>
          <a:xfrm>
            <a:off x="8682806" y="4892469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7EEA611-C880-45CA-A376-129422D05699}"/>
              </a:ext>
            </a:extLst>
          </p:cNvPr>
          <p:cNvCxnSpPr/>
          <p:nvPr/>
        </p:nvCxnSpPr>
        <p:spPr>
          <a:xfrm flipH="1">
            <a:off x="4837471" y="2989006"/>
            <a:ext cx="6784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4A7C878-8181-4F9F-AFAD-3A745EE4AC2A}"/>
              </a:ext>
            </a:extLst>
          </p:cNvPr>
          <p:cNvSpPr txBox="1"/>
          <p:nvPr/>
        </p:nvSpPr>
        <p:spPr>
          <a:xfrm>
            <a:off x="5553854" y="2505259"/>
            <a:ext cx="38532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Após a verificação da condição </a:t>
            </a:r>
            <a:r>
              <a:rPr lang="pt-BR" b="1" dirty="0" err="1"/>
              <a:t>if</a:t>
            </a:r>
            <a:r>
              <a:rPr lang="pt-BR" b="1" dirty="0"/>
              <a:t>, c</a:t>
            </a:r>
            <a:r>
              <a:rPr lang="pt-BR" dirty="0"/>
              <a:t>omo n é diferente de zero, chama a função novamente, mas agora decrementando o valor de n (observe que não ocorre o retorno ainda)</a:t>
            </a:r>
          </a:p>
        </p:txBody>
      </p:sp>
    </p:spTree>
    <p:extLst>
      <p:ext uri="{BB962C8B-B14F-4D97-AF65-F5344CB8AC3E}">
        <p14:creationId xmlns:p14="http://schemas.microsoft.com/office/powerpoint/2010/main" val="47121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16</a:t>
            </a:fld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81A8065-CE02-4AEF-8183-5DFACC5FC040}"/>
              </a:ext>
            </a:extLst>
          </p:cNvPr>
          <p:cNvSpPr txBox="1"/>
          <p:nvPr/>
        </p:nvSpPr>
        <p:spPr>
          <a:xfrm>
            <a:off x="9026453" y="1566863"/>
            <a:ext cx="31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de execução do programa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276FA83-F74A-4D47-A1C9-D702147D0DDD}"/>
              </a:ext>
            </a:extLst>
          </p:cNvPr>
          <p:cNvCxnSpPr/>
          <p:nvPr/>
        </p:nvCxnSpPr>
        <p:spPr>
          <a:xfrm>
            <a:off x="8682806" y="4419600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A8D494-78FF-4FC6-9AA6-C54B784314DE}"/>
              </a:ext>
            </a:extLst>
          </p:cNvPr>
          <p:cNvSpPr/>
          <p:nvPr/>
        </p:nvSpPr>
        <p:spPr>
          <a:xfrm>
            <a:off x="361950" y="1566863"/>
            <a:ext cx="545782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n)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 * potencia(x, n - 1);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3;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latin typeface="Consolas" panose="020B0609020204030204" pitchFamily="49" charset="0"/>
              </a:rPr>
              <a:t>potencia(x, n);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451A98F2-ACE1-44B4-9842-4E4869F3A3D6}"/>
              </a:ext>
            </a:extLst>
          </p:cNvPr>
          <p:cNvGraphicFramePr>
            <a:graphicFrameLocks noGrp="1"/>
          </p:cNvGraphicFramePr>
          <p:nvPr/>
        </p:nvGraphicFramePr>
        <p:xfrm>
          <a:off x="9710994" y="1980748"/>
          <a:ext cx="1940232" cy="354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32">
                  <a:extLst>
                    <a:ext uri="{9D8B030D-6E8A-4147-A177-3AD203B41FA5}">
                      <a16:colId xmlns:a16="http://schemas.microsoft.com/office/drawing/2014/main" val="409494242"/>
                    </a:ext>
                  </a:extLst>
                </a:gridCol>
              </a:tblGrid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6794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7888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9966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28871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73854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7952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44695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pt-BR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36526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CB99BA60-7D45-4025-97B6-0329A7278BB2}"/>
              </a:ext>
            </a:extLst>
          </p:cNvPr>
          <p:cNvSpPr txBox="1"/>
          <p:nvPr/>
        </p:nvSpPr>
        <p:spPr>
          <a:xfrm>
            <a:off x="5819776" y="3753128"/>
            <a:ext cx="3128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Nova chamada da função. Observe os valores do parâmetros que são passados para a nova chamada.</a:t>
            </a:r>
          </a:p>
        </p:txBody>
      </p:sp>
    </p:spTree>
    <p:extLst>
      <p:ext uri="{BB962C8B-B14F-4D97-AF65-F5344CB8AC3E}">
        <p14:creationId xmlns:p14="http://schemas.microsoft.com/office/powerpoint/2010/main" val="3870262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17</a:t>
            </a:fld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A8D494-78FF-4FC6-9AA6-C54B784314DE}"/>
              </a:ext>
            </a:extLst>
          </p:cNvPr>
          <p:cNvSpPr/>
          <p:nvPr/>
        </p:nvSpPr>
        <p:spPr>
          <a:xfrm>
            <a:off x="361950" y="1566863"/>
            <a:ext cx="545782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n)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</a:rPr>
              <a:t>x *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potencia(x, n - 1)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3;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latin typeface="Consolas" panose="020B0609020204030204" pitchFamily="49" charset="0"/>
              </a:rPr>
              <a:t>potencia(x, n);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E3F4E0-3C8E-467F-837B-0EB17C1284C5}"/>
              </a:ext>
            </a:extLst>
          </p:cNvPr>
          <p:cNvSpPr txBox="1"/>
          <p:nvPr/>
        </p:nvSpPr>
        <p:spPr>
          <a:xfrm>
            <a:off x="9026453" y="1566863"/>
            <a:ext cx="31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de execução do programa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61813A0-304A-4554-BBEE-B3D3F0614528}"/>
              </a:ext>
            </a:extLst>
          </p:cNvPr>
          <p:cNvGraphicFramePr>
            <a:graphicFrameLocks noGrp="1"/>
          </p:cNvGraphicFramePr>
          <p:nvPr/>
        </p:nvGraphicFramePr>
        <p:xfrm>
          <a:off x="9710994" y="1980748"/>
          <a:ext cx="1940232" cy="354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32">
                  <a:extLst>
                    <a:ext uri="{9D8B030D-6E8A-4147-A177-3AD203B41FA5}">
                      <a16:colId xmlns:a16="http://schemas.microsoft.com/office/drawing/2014/main" val="409494242"/>
                    </a:ext>
                  </a:extLst>
                </a:gridCol>
              </a:tblGrid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6794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7888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9966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28871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73854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7952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Consolas" panose="020B0609020204030204" pitchFamily="49" charset="0"/>
                        </a:rPr>
                        <a:t>Potencia(2,3)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44695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pt-BR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36526"/>
                  </a:ext>
                </a:extLst>
              </a:tr>
            </a:tbl>
          </a:graphicData>
        </a:graphic>
      </p:graphicFrame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7EEA611-C880-45CA-A376-129422D05699}"/>
              </a:ext>
            </a:extLst>
          </p:cNvPr>
          <p:cNvCxnSpPr/>
          <p:nvPr/>
        </p:nvCxnSpPr>
        <p:spPr>
          <a:xfrm flipH="1">
            <a:off x="4837471" y="2989006"/>
            <a:ext cx="6784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4A7C878-8181-4F9F-AFAD-3A745EE4AC2A}"/>
              </a:ext>
            </a:extLst>
          </p:cNvPr>
          <p:cNvSpPr txBox="1"/>
          <p:nvPr/>
        </p:nvSpPr>
        <p:spPr>
          <a:xfrm>
            <a:off x="5553854" y="2505259"/>
            <a:ext cx="3853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Como n ainda é diferente de zero, chama a função novamente, mas agora decrementando o valor de n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132F92F5-6FDC-48B0-85A5-70DC210B366B}"/>
              </a:ext>
            </a:extLst>
          </p:cNvPr>
          <p:cNvCxnSpPr/>
          <p:nvPr/>
        </p:nvCxnSpPr>
        <p:spPr>
          <a:xfrm>
            <a:off x="8682806" y="4419600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965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18</a:t>
            </a:fld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81A8065-CE02-4AEF-8183-5DFACC5FC040}"/>
              </a:ext>
            </a:extLst>
          </p:cNvPr>
          <p:cNvSpPr txBox="1"/>
          <p:nvPr/>
        </p:nvSpPr>
        <p:spPr>
          <a:xfrm>
            <a:off x="9026453" y="1566863"/>
            <a:ext cx="31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de execução do programa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276FA83-F74A-4D47-A1C9-D702147D0DDD}"/>
              </a:ext>
            </a:extLst>
          </p:cNvPr>
          <p:cNvCxnSpPr/>
          <p:nvPr/>
        </p:nvCxnSpPr>
        <p:spPr>
          <a:xfrm>
            <a:off x="8682806" y="4000500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A8D494-78FF-4FC6-9AA6-C54B784314DE}"/>
              </a:ext>
            </a:extLst>
          </p:cNvPr>
          <p:cNvSpPr/>
          <p:nvPr/>
        </p:nvSpPr>
        <p:spPr>
          <a:xfrm>
            <a:off x="361950" y="1566863"/>
            <a:ext cx="545782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n)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 * potencia(x, n - 1);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3;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latin typeface="Consolas" panose="020B0609020204030204" pitchFamily="49" charset="0"/>
              </a:rPr>
              <a:t>potencia(x, n);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451A98F2-ACE1-44B4-9842-4E4869F3A3D6}"/>
              </a:ext>
            </a:extLst>
          </p:cNvPr>
          <p:cNvGraphicFramePr>
            <a:graphicFrameLocks noGrp="1"/>
          </p:cNvGraphicFramePr>
          <p:nvPr/>
        </p:nvGraphicFramePr>
        <p:xfrm>
          <a:off x="9710994" y="1980748"/>
          <a:ext cx="1940232" cy="354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32">
                  <a:extLst>
                    <a:ext uri="{9D8B030D-6E8A-4147-A177-3AD203B41FA5}">
                      <a16:colId xmlns:a16="http://schemas.microsoft.com/office/drawing/2014/main" val="409494242"/>
                    </a:ext>
                  </a:extLst>
                </a:gridCol>
              </a:tblGrid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6794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7888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9966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28871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73854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7952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44695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pt-BR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36526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24597351-9F61-4BA3-BB86-539805D5861C}"/>
              </a:ext>
            </a:extLst>
          </p:cNvPr>
          <p:cNvSpPr txBox="1"/>
          <p:nvPr/>
        </p:nvSpPr>
        <p:spPr>
          <a:xfrm>
            <a:off x="5819776" y="3400703"/>
            <a:ext cx="3128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Nova chamada da função. Observe os valores do parâmetros que são passados para a nova chamada.</a:t>
            </a:r>
          </a:p>
        </p:txBody>
      </p:sp>
    </p:spTree>
    <p:extLst>
      <p:ext uri="{BB962C8B-B14F-4D97-AF65-F5344CB8AC3E}">
        <p14:creationId xmlns:p14="http://schemas.microsoft.com/office/powerpoint/2010/main" val="3965481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19</a:t>
            </a:fld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A8D494-78FF-4FC6-9AA6-C54B784314DE}"/>
              </a:ext>
            </a:extLst>
          </p:cNvPr>
          <p:cNvSpPr/>
          <p:nvPr/>
        </p:nvSpPr>
        <p:spPr>
          <a:xfrm>
            <a:off x="361950" y="1566863"/>
            <a:ext cx="545782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n)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</a:rPr>
              <a:t>x *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potencia(x, n - 1)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3;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latin typeface="Consolas" panose="020B0609020204030204" pitchFamily="49" charset="0"/>
              </a:rPr>
              <a:t>potencia(x, n);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E3F4E0-3C8E-467F-837B-0EB17C1284C5}"/>
              </a:ext>
            </a:extLst>
          </p:cNvPr>
          <p:cNvSpPr txBox="1"/>
          <p:nvPr/>
        </p:nvSpPr>
        <p:spPr>
          <a:xfrm>
            <a:off x="9026453" y="1566863"/>
            <a:ext cx="31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de execução do programa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61813A0-304A-4554-BBEE-B3D3F0614528}"/>
              </a:ext>
            </a:extLst>
          </p:cNvPr>
          <p:cNvGraphicFramePr>
            <a:graphicFrameLocks noGrp="1"/>
          </p:cNvGraphicFramePr>
          <p:nvPr/>
        </p:nvGraphicFramePr>
        <p:xfrm>
          <a:off x="9710994" y="1980748"/>
          <a:ext cx="1940232" cy="354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32">
                  <a:extLst>
                    <a:ext uri="{9D8B030D-6E8A-4147-A177-3AD203B41FA5}">
                      <a16:colId xmlns:a16="http://schemas.microsoft.com/office/drawing/2014/main" val="409494242"/>
                    </a:ext>
                  </a:extLst>
                </a:gridCol>
              </a:tblGrid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6794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7888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9966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28871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73854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7952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Consolas" panose="020B0609020204030204" pitchFamily="49" charset="0"/>
                        </a:rPr>
                        <a:t>Potencia(2,3)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44695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pt-BR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36526"/>
                  </a:ext>
                </a:extLst>
              </a:tr>
            </a:tbl>
          </a:graphicData>
        </a:graphic>
      </p:graphicFrame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7EEA611-C880-45CA-A376-129422D05699}"/>
              </a:ext>
            </a:extLst>
          </p:cNvPr>
          <p:cNvCxnSpPr/>
          <p:nvPr/>
        </p:nvCxnSpPr>
        <p:spPr>
          <a:xfrm flipH="1">
            <a:off x="4837471" y="2989006"/>
            <a:ext cx="6784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4A7C878-8181-4F9F-AFAD-3A745EE4AC2A}"/>
              </a:ext>
            </a:extLst>
          </p:cNvPr>
          <p:cNvSpPr txBox="1"/>
          <p:nvPr/>
        </p:nvSpPr>
        <p:spPr>
          <a:xfrm>
            <a:off x="5553854" y="2505259"/>
            <a:ext cx="3853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Como n ainda é diferente de zero, chama a função novamente, mas agora decrementando o valor de n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795356D-B5B9-4D94-B497-D54F2B6F4C18}"/>
              </a:ext>
            </a:extLst>
          </p:cNvPr>
          <p:cNvCxnSpPr/>
          <p:nvPr/>
        </p:nvCxnSpPr>
        <p:spPr>
          <a:xfrm>
            <a:off x="8682806" y="4000500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881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20</a:t>
            </a:fld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81A8065-CE02-4AEF-8183-5DFACC5FC040}"/>
              </a:ext>
            </a:extLst>
          </p:cNvPr>
          <p:cNvSpPr txBox="1"/>
          <p:nvPr/>
        </p:nvSpPr>
        <p:spPr>
          <a:xfrm>
            <a:off x="9026453" y="1566863"/>
            <a:ext cx="31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de execução do programa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276FA83-F74A-4D47-A1C9-D702147D0DDD}"/>
              </a:ext>
            </a:extLst>
          </p:cNvPr>
          <p:cNvCxnSpPr/>
          <p:nvPr/>
        </p:nvCxnSpPr>
        <p:spPr>
          <a:xfrm>
            <a:off x="8682806" y="3562350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A8D494-78FF-4FC6-9AA6-C54B784314DE}"/>
              </a:ext>
            </a:extLst>
          </p:cNvPr>
          <p:cNvSpPr/>
          <p:nvPr/>
        </p:nvSpPr>
        <p:spPr>
          <a:xfrm>
            <a:off x="361950" y="1566863"/>
            <a:ext cx="545782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n)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 * potencia(x, n - 1);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3;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latin typeface="Consolas" panose="020B0609020204030204" pitchFamily="49" charset="0"/>
              </a:rPr>
              <a:t>potencia(x, n);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451A98F2-ACE1-44B4-9842-4E4869F3A3D6}"/>
              </a:ext>
            </a:extLst>
          </p:cNvPr>
          <p:cNvGraphicFramePr>
            <a:graphicFrameLocks noGrp="1"/>
          </p:cNvGraphicFramePr>
          <p:nvPr/>
        </p:nvGraphicFramePr>
        <p:xfrm>
          <a:off x="9710994" y="1980748"/>
          <a:ext cx="1940232" cy="354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32">
                  <a:extLst>
                    <a:ext uri="{9D8B030D-6E8A-4147-A177-3AD203B41FA5}">
                      <a16:colId xmlns:a16="http://schemas.microsoft.com/office/drawing/2014/main" val="409494242"/>
                    </a:ext>
                  </a:extLst>
                </a:gridCol>
              </a:tblGrid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6794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7888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9966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28871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73854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7952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44695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pt-BR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36526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F8AA7CAD-6997-4199-8486-553A43105CAC}"/>
              </a:ext>
            </a:extLst>
          </p:cNvPr>
          <p:cNvSpPr txBox="1"/>
          <p:nvPr/>
        </p:nvSpPr>
        <p:spPr>
          <a:xfrm>
            <a:off x="5819776" y="3000653"/>
            <a:ext cx="3128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Nova chamada da função. Observe os valores do parâmetros que são passados para a nova chamada.</a:t>
            </a:r>
          </a:p>
        </p:txBody>
      </p:sp>
    </p:spTree>
    <p:extLst>
      <p:ext uri="{BB962C8B-B14F-4D97-AF65-F5344CB8AC3E}">
        <p14:creationId xmlns:p14="http://schemas.microsoft.com/office/powerpoint/2010/main" val="918083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21</a:t>
            </a:fld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81A8065-CE02-4AEF-8183-5DFACC5FC040}"/>
              </a:ext>
            </a:extLst>
          </p:cNvPr>
          <p:cNvSpPr txBox="1"/>
          <p:nvPr/>
        </p:nvSpPr>
        <p:spPr>
          <a:xfrm>
            <a:off x="9026453" y="1566863"/>
            <a:ext cx="31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de execução do programa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276FA83-F74A-4D47-A1C9-D702147D0DDD}"/>
              </a:ext>
            </a:extLst>
          </p:cNvPr>
          <p:cNvCxnSpPr/>
          <p:nvPr/>
        </p:nvCxnSpPr>
        <p:spPr>
          <a:xfrm>
            <a:off x="8682806" y="3562350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A8D494-78FF-4FC6-9AA6-C54B784314DE}"/>
              </a:ext>
            </a:extLst>
          </p:cNvPr>
          <p:cNvSpPr/>
          <p:nvPr/>
        </p:nvSpPr>
        <p:spPr>
          <a:xfrm>
            <a:off x="361950" y="1566863"/>
            <a:ext cx="545782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n)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 * potencia(x, n - 1);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3;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latin typeface="Consolas" panose="020B0609020204030204" pitchFamily="49" charset="0"/>
              </a:rPr>
              <a:t>potencia(x, n);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451A98F2-ACE1-44B4-9842-4E4869F3A3D6}"/>
              </a:ext>
            </a:extLst>
          </p:cNvPr>
          <p:cNvGraphicFramePr>
            <a:graphicFrameLocks noGrp="1"/>
          </p:cNvGraphicFramePr>
          <p:nvPr/>
        </p:nvGraphicFramePr>
        <p:xfrm>
          <a:off x="9710994" y="1980748"/>
          <a:ext cx="1940232" cy="354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32">
                  <a:extLst>
                    <a:ext uri="{9D8B030D-6E8A-4147-A177-3AD203B41FA5}">
                      <a16:colId xmlns:a16="http://schemas.microsoft.com/office/drawing/2014/main" val="409494242"/>
                    </a:ext>
                  </a:extLst>
                </a:gridCol>
              </a:tblGrid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6794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7888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9966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28871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73854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7952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44695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pt-BR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36526"/>
                  </a:ext>
                </a:extLst>
              </a:tr>
            </a:tbl>
          </a:graphicData>
        </a:graphic>
      </p:graphicFrame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EC93734A-6D7F-4044-9779-64B9AFE9A4DC}"/>
              </a:ext>
            </a:extLst>
          </p:cNvPr>
          <p:cNvCxnSpPr>
            <a:cxnSpLocks/>
          </p:cNvCxnSpPr>
          <p:nvPr/>
        </p:nvCxnSpPr>
        <p:spPr>
          <a:xfrm flipH="1">
            <a:off x="2486025" y="2464495"/>
            <a:ext cx="2305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5A0CE09-D856-4207-8F49-922EE3337FC0}"/>
              </a:ext>
            </a:extLst>
          </p:cNvPr>
          <p:cNvSpPr txBox="1"/>
          <p:nvPr/>
        </p:nvSpPr>
        <p:spPr>
          <a:xfrm>
            <a:off x="4829545" y="1980748"/>
            <a:ext cx="38532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Como n é igual a zero, apenas retorna 1 para a chamada imediatamente anterior da própria função.</a:t>
            </a:r>
          </a:p>
          <a:p>
            <a:r>
              <a:rPr lang="pt-BR" dirty="0"/>
              <a:t>As chamadas recursivas acontecem até que o caso base seja alcançado (condição de parada).</a:t>
            </a:r>
          </a:p>
        </p:txBody>
      </p:sp>
    </p:spTree>
    <p:extLst>
      <p:ext uri="{BB962C8B-B14F-4D97-AF65-F5344CB8AC3E}">
        <p14:creationId xmlns:p14="http://schemas.microsoft.com/office/powerpoint/2010/main" val="3079338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22</a:t>
            </a:fld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A8D494-78FF-4FC6-9AA6-C54B784314DE}"/>
              </a:ext>
            </a:extLst>
          </p:cNvPr>
          <p:cNvSpPr/>
          <p:nvPr/>
        </p:nvSpPr>
        <p:spPr>
          <a:xfrm>
            <a:off x="361950" y="1566863"/>
            <a:ext cx="545782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n)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x *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potencia(x, n - 1)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3;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latin typeface="Consolas" panose="020B0609020204030204" pitchFamily="49" charset="0"/>
              </a:rPr>
              <a:t>potencia(x, n);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E3F4E0-3C8E-467F-837B-0EB17C1284C5}"/>
              </a:ext>
            </a:extLst>
          </p:cNvPr>
          <p:cNvSpPr txBox="1"/>
          <p:nvPr/>
        </p:nvSpPr>
        <p:spPr>
          <a:xfrm>
            <a:off x="9026453" y="1566863"/>
            <a:ext cx="31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de execução do programa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61813A0-304A-4554-BBEE-B3D3F0614528}"/>
              </a:ext>
            </a:extLst>
          </p:cNvPr>
          <p:cNvGraphicFramePr>
            <a:graphicFrameLocks noGrp="1"/>
          </p:cNvGraphicFramePr>
          <p:nvPr/>
        </p:nvGraphicFramePr>
        <p:xfrm>
          <a:off x="9710994" y="1980748"/>
          <a:ext cx="1940232" cy="354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32">
                  <a:extLst>
                    <a:ext uri="{9D8B030D-6E8A-4147-A177-3AD203B41FA5}">
                      <a16:colId xmlns:a16="http://schemas.microsoft.com/office/drawing/2014/main" val="409494242"/>
                    </a:ext>
                  </a:extLst>
                </a:gridCol>
              </a:tblGrid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6794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7888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9966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28871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73854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7952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Consolas" panose="020B0609020204030204" pitchFamily="49" charset="0"/>
                        </a:rPr>
                        <a:t>Potencia(2,3)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44695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pt-BR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36526"/>
                  </a:ext>
                </a:extLst>
              </a:tr>
            </a:tbl>
          </a:graphicData>
        </a:graphic>
      </p:graphicFrame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7EEA611-C880-45CA-A376-129422D05699}"/>
              </a:ext>
            </a:extLst>
          </p:cNvPr>
          <p:cNvCxnSpPr>
            <a:cxnSpLocks/>
          </p:cNvCxnSpPr>
          <p:nvPr/>
        </p:nvCxnSpPr>
        <p:spPr>
          <a:xfrm flipH="1">
            <a:off x="3962400" y="2712781"/>
            <a:ext cx="810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795356D-B5B9-4D94-B497-D54F2B6F4C18}"/>
              </a:ext>
            </a:extLst>
          </p:cNvPr>
          <p:cNvCxnSpPr/>
          <p:nvPr/>
        </p:nvCxnSpPr>
        <p:spPr>
          <a:xfrm>
            <a:off x="8682806" y="4000500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C6D2425-589B-43E0-AFA8-2B5BD515D5F3}"/>
                  </a:ext>
                </a:extLst>
              </p:cNvPr>
              <p:cNvSpPr txBox="1"/>
              <p:nvPr/>
            </p:nvSpPr>
            <p:spPr>
              <a:xfrm>
                <a:off x="3399053" y="2577327"/>
                <a:ext cx="4183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C6D2425-589B-43E0-AFA8-2B5BD515D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053" y="2577327"/>
                <a:ext cx="418384" cy="276999"/>
              </a:xfrm>
              <a:prstGeom prst="rect">
                <a:avLst/>
              </a:prstGeom>
              <a:blipFill>
                <a:blip r:embed="rId2"/>
                <a:stretch>
                  <a:fillRect l="-5882" r="-13235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2D534E7C-E5D3-4BB4-ACD0-8B30709E9417}"/>
              </a:ext>
            </a:extLst>
          </p:cNvPr>
          <p:cNvSpPr txBox="1"/>
          <p:nvPr/>
        </p:nvSpPr>
        <p:spPr>
          <a:xfrm>
            <a:off x="4858673" y="2528115"/>
            <a:ext cx="3824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Valor de retorno da chamada anterior (1). Esta chamada atual irá retornar o valor da chamada anterior (igual a 1) vezes “x” (sempre igual a 2).</a:t>
            </a:r>
          </a:p>
        </p:txBody>
      </p:sp>
    </p:spTree>
    <p:extLst>
      <p:ext uri="{BB962C8B-B14F-4D97-AF65-F5344CB8AC3E}">
        <p14:creationId xmlns:p14="http://schemas.microsoft.com/office/powerpoint/2010/main" val="472781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23</a:t>
            </a:fld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A8D494-78FF-4FC6-9AA6-C54B784314DE}"/>
              </a:ext>
            </a:extLst>
          </p:cNvPr>
          <p:cNvSpPr/>
          <p:nvPr/>
        </p:nvSpPr>
        <p:spPr>
          <a:xfrm>
            <a:off x="361950" y="1566863"/>
            <a:ext cx="545782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n)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x *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potencia(x, n - 1)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3;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latin typeface="Consolas" panose="020B0609020204030204" pitchFamily="49" charset="0"/>
              </a:rPr>
              <a:t>potencia(x, n);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E3F4E0-3C8E-467F-837B-0EB17C1284C5}"/>
              </a:ext>
            </a:extLst>
          </p:cNvPr>
          <p:cNvSpPr txBox="1"/>
          <p:nvPr/>
        </p:nvSpPr>
        <p:spPr>
          <a:xfrm>
            <a:off x="9026453" y="1566863"/>
            <a:ext cx="31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de execução do programa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61813A0-304A-4554-BBEE-B3D3F0614528}"/>
              </a:ext>
            </a:extLst>
          </p:cNvPr>
          <p:cNvGraphicFramePr>
            <a:graphicFrameLocks noGrp="1"/>
          </p:cNvGraphicFramePr>
          <p:nvPr/>
        </p:nvGraphicFramePr>
        <p:xfrm>
          <a:off x="9710994" y="1980748"/>
          <a:ext cx="1940232" cy="354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32">
                  <a:extLst>
                    <a:ext uri="{9D8B030D-6E8A-4147-A177-3AD203B41FA5}">
                      <a16:colId xmlns:a16="http://schemas.microsoft.com/office/drawing/2014/main" val="409494242"/>
                    </a:ext>
                  </a:extLst>
                </a:gridCol>
              </a:tblGrid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6794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7888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9966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28871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73854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Consolas" panose="020B0609020204030204" pitchFamily="49" charset="0"/>
                        </a:rPr>
                        <a:t>Potencia(2,2)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7952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Consolas" panose="020B0609020204030204" pitchFamily="49" charset="0"/>
                        </a:rPr>
                        <a:t>Potencia(2,3)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44695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pt-BR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36526"/>
                  </a:ext>
                </a:extLst>
              </a:tr>
            </a:tbl>
          </a:graphicData>
        </a:graphic>
      </p:graphicFrame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7EEA611-C880-45CA-A376-129422D05699}"/>
              </a:ext>
            </a:extLst>
          </p:cNvPr>
          <p:cNvCxnSpPr>
            <a:cxnSpLocks/>
          </p:cNvCxnSpPr>
          <p:nvPr/>
        </p:nvCxnSpPr>
        <p:spPr>
          <a:xfrm flipH="1">
            <a:off x="3962400" y="2712781"/>
            <a:ext cx="810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C6D2425-589B-43E0-AFA8-2B5BD515D5F3}"/>
                  </a:ext>
                </a:extLst>
              </p:cNvPr>
              <p:cNvSpPr txBox="1"/>
              <p:nvPr/>
            </p:nvSpPr>
            <p:spPr>
              <a:xfrm>
                <a:off x="3399053" y="2577327"/>
                <a:ext cx="4183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C6D2425-589B-43E0-AFA8-2B5BD515D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053" y="2577327"/>
                <a:ext cx="418384" cy="276999"/>
              </a:xfrm>
              <a:prstGeom prst="rect">
                <a:avLst/>
              </a:prstGeom>
              <a:blipFill>
                <a:blip r:embed="rId2"/>
                <a:stretch>
                  <a:fillRect l="-5882" r="-13235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437C236C-E4E4-497A-9C7C-C052FC2F724A}"/>
              </a:ext>
            </a:extLst>
          </p:cNvPr>
          <p:cNvCxnSpPr/>
          <p:nvPr/>
        </p:nvCxnSpPr>
        <p:spPr>
          <a:xfrm>
            <a:off x="8682806" y="4416219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B06C638-3040-458B-85E6-F7C0E23F634E}"/>
              </a:ext>
            </a:extLst>
          </p:cNvPr>
          <p:cNvSpPr txBox="1"/>
          <p:nvPr/>
        </p:nvSpPr>
        <p:spPr>
          <a:xfrm>
            <a:off x="4858673" y="2528115"/>
            <a:ext cx="3824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Valor de retorno da chamada anterior (2 * 1). Esta chamada atual irá retornar o valor da chamada anterior (igual a 2) vezes “x” (sempre igual a 2).</a:t>
            </a:r>
          </a:p>
        </p:txBody>
      </p:sp>
    </p:spTree>
    <p:extLst>
      <p:ext uri="{BB962C8B-B14F-4D97-AF65-F5344CB8AC3E}">
        <p14:creationId xmlns:p14="http://schemas.microsoft.com/office/powerpoint/2010/main" val="801007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24</a:t>
            </a:fld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A8D494-78FF-4FC6-9AA6-C54B784314DE}"/>
              </a:ext>
            </a:extLst>
          </p:cNvPr>
          <p:cNvSpPr/>
          <p:nvPr/>
        </p:nvSpPr>
        <p:spPr>
          <a:xfrm>
            <a:off x="361950" y="1566863"/>
            <a:ext cx="545782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n)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x *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potencia(x, n - 1)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3;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latin typeface="Consolas" panose="020B0609020204030204" pitchFamily="49" charset="0"/>
              </a:rPr>
              <a:t>potencia(x, n);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E3F4E0-3C8E-467F-837B-0EB17C1284C5}"/>
              </a:ext>
            </a:extLst>
          </p:cNvPr>
          <p:cNvSpPr txBox="1"/>
          <p:nvPr/>
        </p:nvSpPr>
        <p:spPr>
          <a:xfrm>
            <a:off x="9026453" y="1566863"/>
            <a:ext cx="31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de execução do programa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61813A0-304A-4554-BBEE-B3D3F0614528}"/>
              </a:ext>
            </a:extLst>
          </p:cNvPr>
          <p:cNvGraphicFramePr>
            <a:graphicFrameLocks noGrp="1"/>
          </p:cNvGraphicFramePr>
          <p:nvPr/>
        </p:nvGraphicFramePr>
        <p:xfrm>
          <a:off x="9710994" y="1980748"/>
          <a:ext cx="1940232" cy="354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32">
                  <a:extLst>
                    <a:ext uri="{9D8B030D-6E8A-4147-A177-3AD203B41FA5}">
                      <a16:colId xmlns:a16="http://schemas.microsoft.com/office/drawing/2014/main" val="409494242"/>
                    </a:ext>
                  </a:extLst>
                </a:gridCol>
              </a:tblGrid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6794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7888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9966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28871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73854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7952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Consolas" panose="020B0609020204030204" pitchFamily="49" charset="0"/>
                        </a:rPr>
                        <a:t>Potencia(2,3)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44695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pt-BR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36526"/>
                  </a:ext>
                </a:extLst>
              </a:tr>
            </a:tbl>
          </a:graphicData>
        </a:graphic>
      </p:graphicFrame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7EEA611-C880-45CA-A376-129422D05699}"/>
              </a:ext>
            </a:extLst>
          </p:cNvPr>
          <p:cNvCxnSpPr>
            <a:cxnSpLocks/>
          </p:cNvCxnSpPr>
          <p:nvPr/>
        </p:nvCxnSpPr>
        <p:spPr>
          <a:xfrm flipH="1">
            <a:off x="3962400" y="2712781"/>
            <a:ext cx="810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C6D2425-589B-43E0-AFA8-2B5BD515D5F3}"/>
                  </a:ext>
                </a:extLst>
              </p:cNvPr>
              <p:cNvSpPr txBox="1"/>
              <p:nvPr/>
            </p:nvSpPr>
            <p:spPr>
              <a:xfrm>
                <a:off x="3399053" y="2577327"/>
                <a:ext cx="4183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C6D2425-589B-43E0-AFA8-2B5BD515D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053" y="2577327"/>
                <a:ext cx="418384" cy="276999"/>
              </a:xfrm>
              <a:prstGeom prst="rect">
                <a:avLst/>
              </a:prstGeom>
              <a:blipFill>
                <a:blip r:embed="rId2"/>
                <a:stretch>
                  <a:fillRect l="-5882" r="-13235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AB06C638-3040-458B-85E6-F7C0E23F634E}"/>
              </a:ext>
            </a:extLst>
          </p:cNvPr>
          <p:cNvSpPr txBox="1"/>
          <p:nvPr/>
        </p:nvSpPr>
        <p:spPr>
          <a:xfrm>
            <a:off x="4858673" y="2528115"/>
            <a:ext cx="3824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Valor de retorno da chamada anterior (2 * 2). Esta chamada atual irá retornar o valor da chamada anterior (igual a 4) vezes “x” (sempre igual a 2).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D51870E5-CA4D-44D6-B1A8-3D00324429DE}"/>
              </a:ext>
            </a:extLst>
          </p:cNvPr>
          <p:cNvCxnSpPr/>
          <p:nvPr/>
        </p:nvCxnSpPr>
        <p:spPr>
          <a:xfrm>
            <a:off x="8682806" y="4892469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412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Potência (Recursivo)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25</a:t>
            </a:fld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A8D494-78FF-4FC6-9AA6-C54B784314DE}"/>
              </a:ext>
            </a:extLst>
          </p:cNvPr>
          <p:cNvSpPr/>
          <p:nvPr/>
        </p:nvSpPr>
        <p:spPr>
          <a:xfrm>
            <a:off x="361950" y="1566863"/>
            <a:ext cx="545782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potencia(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n)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x * </a:t>
            </a:r>
            <a:r>
              <a:rPr lang="pt-BR" sz="1600" dirty="0">
                <a:latin typeface="Consolas" panose="020B0609020204030204" pitchFamily="49" charset="0"/>
              </a:rPr>
              <a:t>potencia(x, n - 1);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3;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potencia(x, n)</a:t>
            </a:r>
            <a:r>
              <a:rPr lang="pt-BR" sz="1600" dirty="0">
                <a:latin typeface="Consolas" panose="020B0609020204030204" pitchFamily="49" charset="0"/>
              </a:rPr>
              <a:t>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pot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E3F4E0-3C8E-467F-837B-0EB17C1284C5}"/>
              </a:ext>
            </a:extLst>
          </p:cNvPr>
          <p:cNvSpPr txBox="1"/>
          <p:nvPr/>
        </p:nvSpPr>
        <p:spPr>
          <a:xfrm>
            <a:off x="9026453" y="1566863"/>
            <a:ext cx="31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de execução do programa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61813A0-304A-4554-BBEE-B3D3F0614528}"/>
              </a:ext>
            </a:extLst>
          </p:cNvPr>
          <p:cNvGraphicFramePr>
            <a:graphicFrameLocks noGrp="1"/>
          </p:cNvGraphicFramePr>
          <p:nvPr/>
        </p:nvGraphicFramePr>
        <p:xfrm>
          <a:off x="9710994" y="1980748"/>
          <a:ext cx="1940232" cy="354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0232">
                  <a:extLst>
                    <a:ext uri="{9D8B030D-6E8A-4147-A177-3AD203B41FA5}">
                      <a16:colId xmlns:a16="http://schemas.microsoft.com/office/drawing/2014/main" val="409494242"/>
                    </a:ext>
                  </a:extLst>
                </a:gridCol>
              </a:tblGrid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6794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7888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99667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28871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73854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7952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endParaRPr lang="pt-BR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44695"/>
                  </a:ext>
                </a:extLst>
              </a:tr>
              <a:tr h="443095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pt-BR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36526"/>
                  </a:ext>
                </a:extLst>
              </a:tr>
            </a:tbl>
          </a:graphicData>
        </a:graphic>
      </p:graphicFrame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7EEA611-C880-45CA-A376-129422D05699}"/>
              </a:ext>
            </a:extLst>
          </p:cNvPr>
          <p:cNvCxnSpPr>
            <a:cxnSpLocks/>
          </p:cNvCxnSpPr>
          <p:nvPr/>
        </p:nvCxnSpPr>
        <p:spPr>
          <a:xfrm flipH="1">
            <a:off x="3457575" y="4646356"/>
            <a:ext cx="810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C6D2425-589B-43E0-AFA8-2B5BD515D5F3}"/>
                  </a:ext>
                </a:extLst>
              </p:cNvPr>
              <p:cNvSpPr txBox="1"/>
              <p:nvPr/>
            </p:nvSpPr>
            <p:spPr>
              <a:xfrm>
                <a:off x="2894228" y="4510902"/>
                <a:ext cx="4183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C6D2425-589B-43E0-AFA8-2B5BD515D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228" y="4510902"/>
                <a:ext cx="418384" cy="276999"/>
              </a:xfrm>
              <a:prstGeom prst="rect">
                <a:avLst/>
              </a:prstGeom>
              <a:blipFill>
                <a:blip r:embed="rId2"/>
                <a:stretch>
                  <a:fillRect l="-5882" r="-13235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AB06C638-3040-458B-85E6-F7C0E23F634E}"/>
              </a:ext>
            </a:extLst>
          </p:cNvPr>
          <p:cNvSpPr txBox="1"/>
          <p:nvPr/>
        </p:nvSpPr>
        <p:spPr>
          <a:xfrm>
            <a:off x="4360903" y="3837831"/>
            <a:ext cx="38241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Valor de retorno da primeira chamada da função potencia() pela função </a:t>
            </a:r>
            <a:r>
              <a:rPr lang="pt-BR" dirty="0" err="1"/>
              <a:t>main</a:t>
            </a:r>
            <a:r>
              <a:rPr lang="pt-BR" dirty="0"/>
              <a:t>(). A variável “</a:t>
            </a:r>
            <a:r>
              <a:rPr lang="pt-BR" dirty="0" err="1"/>
              <a:t>pot</a:t>
            </a:r>
            <a:r>
              <a:rPr lang="pt-BR" dirty="0"/>
              <a:t>” receberá o valor 8 (resultado de 2 elevado a 3). </a:t>
            </a:r>
          </a:p>
          <a:p>
            <a:endParaRPr lang="pt-BR" dirty="0"/>
          </a:p>
          <a:p>
            <a:r>
              <a:rPr lang="pt-BR" dirty="0"/>
              <a:t>O valor 8 será exibido na tela e o programa será finalizado.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E17AE33C-F761-48DE-8535-17A768CAC114}"/>
              </a:ext>
            </a:extLst>
          </p:cNvPr>
          <p:cNvCxnSpPr/>
          <p:nvPr/>
        </p:nvCxnSpPr>
        <p:spPr>
          <a:xfrm>
            <a:off x="8682806" y="5305425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904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de Fibonacci (Recursivo)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B5E652-5B18-4985-87D2-D4B31B091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Encontrar o enésimo termo da sequência de Fibonacci.</a:t>
            </a:r>
          </a:p>
          <a:p>
            <a:r>
              <a:rPr lang="pt-BR" dirty="0"/>
              <a:t>Notação: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26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A468608-7E60-494F-8634-EDDC3D60DB42}"/>
                  </a:ext>
                </a:extLst>
              </p:cNvPr>
              <p:cNvSpPr txBox="1"/>
              <p:nvPr/>
            </p:nvSpPr>
            <p:spPr>
              <a:xfrm>
                <a:off x="2122747" y="3309951"/>
                <a:ext cx="7487977" cy="1382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𝑓𝑖𝑏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)= 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000" b="0" i="1" smtClean="0">
                                  <a:latin typeface="Cambria Math"/>
                                </a:rPr>
                                <m:t>          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</m:t>
                              </m:r>
                              <m:r>
                                <a:rPr lang="pt-BR" sz="2000" b="0" i="1" smtClean="0">
                                  <a:latin typeface="Cambria Math"/>
                                </a:rPr>
                                <m:t>𝑠𝑒</m:t>
                              </m:r>
                              <m:r>
                                <a:rPr lang="pt-BR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sz="20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BR" sz="2000" b="0" i="1" smtClean="0">
                                  <a:latin typeface="Cambria Math"/>
                                </a:rPr>
                                <m:t>=1</m:t>
                              </m:r>
                            </m:e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e>
                            <m:e>
                              <m:r>
                                <a:rPr lang="pt-BR" sz="2000" b="0" i="1" smtClean="0">
                                  <a:latin typeface="Cambria Math"/>
                                </a:rPr>
                                <m:t>  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𝑓𝑖𝑏</m:t>
                              </m:r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𝑓𝑖𝑏</m:t>
                              </m:r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 −2</m:t>
                                  </m:r>
                                </m:e>
                              </m:d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pt-BR" sz="2000" b="0" i="1" smtClean="0">
                                  <a:latin typeface="Cambria Math"/>
                                </a:rPr>
                                <m:t>𝑠𝑒</m:t>
                              </m:r>
                              <m:r>
                                <a:rPr lang="pt-BR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sz="20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BR" sz="2000" b="0" i="1" smtClean="0">
                                  <a:latin typeface="Cambria Math"/>
                                </a:rPr>
                                <m:t>&gt;2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000" b="0" dirty="0"/>
              </a:p>
              <a:p>
                <a:r>
                  <a:rPr lang="pt-BR" sz="2000" dirty="0"/>
                  <a:t> 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A468608-7E60-494F-8634-EDDC3D60D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747" y="3309951"/>
                <a:ext cx="7487977" cy="13826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640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de Fibonacci (Recursivo)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B5E652-5B18-4985-87D2-D4B31B091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Encontrar o enésimo termo da sequência de Fibonacci.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27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5048AB4-F704-4EE1-970E-55B0AE9D3E14}"/>
              </a:ext>
            </a:extLst>
          </p:cNvPr>
          <p:cNvSpPr/>
          <p:nvPr/>
        </p:nvSpPr>
        <p:spPr>
          <a:xfrm>
            <a:off x="200025" y="2364700"/>
            <a:ext cx="80010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fibonacci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1)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2)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it-IT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fibonacci(n - 1) + fibonacci(n - 2);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fibonacci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n);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27445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F58FA-D86F-440C-AF27-DBFC05E7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Recursividade: 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2879D9-4590-4814-896C-5D99D2A0F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Faça uma função que calcule o fatorial de N, recebido como parâmetro.</a:t>
            </a:r>
          </a:p>
          <a:p>
            <a:endParaRPr lang="pt-BR" dirty="0"/>
          </a:p>
          <a:p>
            <a:r>
              <a:rPr lang="pt-BR" dirty="0"/>
              <a:t>Faça uma função que recebe como parâmetro um inteiro positivo </a:t>
            </a:r>
            <a:r>
              <a:rPr lang="pt-BR" i="1" dirty="0"/>
              <a:t>N </a:t>
            </a:r>
            <a:r>
              <a:rPr lang="pt-BR" dirty="0"/>
              <a:t>e retorne o somatório de todos os números inteiros entre 0 e </a:t>
            </a:r>
            <a:r>
              <a:rPr lang="pt-BR" i="1" dirty="0"/>
              <a:t>N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D86449-40BA-40EF-B65F-B8AB6BAE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100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F58FA-D86F-440C-AF27-DBFC05E7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Recursividade: Exercícios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D86449-40BA-40EF-B65F-B8AB6BAE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29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1074BA3-DA89-48E5-9DE1-6FCAAD6DA577}"/>
              </a:ext>
            </a:extLst>
          </p:cNvPr>
          <p:cNvSpPr/>
          <p:nvPr/>
        </p:nvSpPr>
        <p:spPr>
          <a:xfrm>
            <a:off x="76200" y="1899860"/>
            <a:ext cx="6096000" cy="38779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fatorial(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0)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* fatorial(n - 1);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somatorio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== 1)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 *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somatorio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(n - 1);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93073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2517</Words>
  <Application>Microsoft Office PowerPoint</Application>
  <PresentationFormat>Widescreen</PresentationFormat>
  <Paragraphs>469</Paragraphs>
  <Slides>29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Consolas</vt:lpstr>
      <vt:lpstr>Tema do Office</vt:lpstr>
      <vt:lpstr>Algoritmos e Estruturas de Dados II</vt:lpstr>
      <vt:lpstr>Recursividade</vt:lpstr>
      <vt:lpstr>Recursividade</vt:lpstr>
      <vt:lpstr>Recursividade</vt:lpstr>
      <vt:lpstr>Recursividade</vt:lpstr>
      <vt:lpstr>Recursividade</vt:lpstr>
      <vt:lpstr>Chamada de função</vt:lpstr>
      <vt:lpstr>Chamada de função</vt:lpstr>
      <vt:lpstr>Chamada de função</vt:lpstr>
      <vt:lpstr>Chamada recursiva</vt:lpstr>
      <vt:lpstr>Chamada recursiva</vt:lpstr>
      <vt:lpstr>Cálculo da Potência (Recursivo)</vt:lpstr>
      <vt:lpstr>Cálculo da Potência (Recursivo)</vt:lpstr>
      <vt:lpstr>Cálculo da Potência (Recursivo)</vt:lpstr>
      <vt:lpstr>Cálculo da Potência (Recursivo)</vt:lpstr>
      <vt:lpstr>Cálculo da Potência (Recursivo)</vt:lpstr>
      <vt:lpstr>Cálculo da Potência (Recursivo)</vt:lpstr>
      <vt:lpstr>Cálculo da Potência (Recursivo)</vt:lpstr>
      <vt:lpstr>Cálculo da Potência (Recursivo)</vt:lpstr>
      <vt:lpstr>Cálculo da Potência (Recursivo)</vt:lpstr>
      <vt:lpstr>Cálculo da Potência (Recursivo)</vt:lpstr>
      <vt:lpstr>Cálculo da Potência (Recursivo)</vt:lpstr>
      <vt:lpstr>Cálculo da Potência (Recursivo)</vt:lpstr>
      <vt:lpstr>Cálculo da Potência (Recursivo)</vt:lpstr>
      <vt:lpstr>Cálculo da Potência (Recursivo)</vt:lpstr>
      <vt:lpstr>Cálculo de Fibonacci (Recursivo)</vt:lpstr>
      <vt:lpstr>Cálculo de Fibonacci (Recursivo)</vt:lpstr>
      <vt:lpstr>Recursividade: Exercícios</vt:lpstr>
      <vt:lpstr>Recursividade: Exercícios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 II</dc:title>
  <dc:creator>Henrique Silva</dc:creator>
  <cp:lastModifiedBy>Henrique Silva</cp:lastModifiedBy>
  <cp:revision>9</cp:revision>
  <dcterms:created xsi:type="dcterms:W3CDTF">2018-02-07T20:38:37Z</dcterms:created>
  <dcterms:modified xsi:type="dcterms:W3CDTF">2019-08-10T15:21:04Z</dcterms:modified>
</cp:coreProperties>
</file>