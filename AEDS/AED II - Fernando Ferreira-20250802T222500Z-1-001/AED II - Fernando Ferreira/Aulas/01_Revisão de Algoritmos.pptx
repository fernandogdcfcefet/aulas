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71" r:id="rId6"/>
    <p:sldId id="272" r:id="rId7"/>
    <p:sldId id="273" r:id="rId8"/>
    <p:sldId id="274" r:id="rId9"/>
    <p:sldId id="277" r:id="rId10"/>
    <p:sldId id="280" r:id="rId11"/>
    <p:sldId id="304" r:id="rId12"/>
    <p:sldId id="281" r:id="rId13"/>
    <p:sldId id="282" r:id="rId14"/>
    <p:sldId id="284" r:id="rId15"/>
    <p:sldId id="287" r:id="rId16"/>
    <p:sldId id="288" r:id="rId17"/>
    <p:sldId id="289" r:id="rId18"/>
    <p:sldId id="306" r:id="rId19"/>
    <p:sldId id="308" r:id="rId20"/>
    <p:sldId id="309" r:id="rId21"/>
    <p:sldId id="310" r:id="rId22"/>
    <p:sldId id="311" r:id="rId23"/>
    <p:sldId id="291" r:id="rId24"/>
    <p:sldId id="293" r:id="rId25"/>
    <p:sldId id="294" r:id="rId26"/>
    <p:sldId id="312" r:id="rId27"/>
    <p:sldId id="315" r:id="rId28"/>
    <p:sldId id="316" r:id="rId29"/>
    <p:sldId id="319" r:id="rId30"/>
    <p:sldId id="333" r:id="rId31"/>
    <p:sldId id="327" r:id="rId32"/>
    <p:sldId id="328" r:id="rId33"/>
    <p:sldId id="329" r:id="rId34"/>
    <p:sldId id="330" r:id="rId35"/>
    <p:sldId id="331" r:id="rId36"/>
    <p:sldId id="314" r:id="rId37"/>
    <p:sldId id="313" r:id="rId38"/>
    <p:sldId id="265" r:id="rId39"/>
    <p:sldId id="266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Silva" userId="850b114bb1845035" providerId="LiveId" clId="{461823C5-7577-4E6F-A71E-E954BEECB87C}"/>
    <pc:docChg chg="undo custSel addSld modSld sldOrd">
      <pc:chgData name="Henrique Silva" userId="850b114bb1845035" providerId="LiveId" clId="{461823C5-7577-4E6F-A71E-E954BEECB87C}" dt="2018-02-01T13:17:47.370" v="1393"/>
      <pc:docMkLst>
        <pc:docMk/>
      </pc:docMkLst>
      <pc:sldChg chg="modSp add">
        <pc:chgData name="Henrique Silva" userId="850b114bb1845035" providerId="LiveId" clId="{461823C5-7577-4E6F-A71E-E954BEECB87C}" dt="2018-02-01T11:00:50.374" v="120" actId="20577"/>
        <pc:sldMkLst>
          <pc:docMk/>
          <pc:sldMk cId="117531247" sldId="256"/>
        </pc:sldMkLst>
        <pc:spChg chg="mod">
          <ac:chgData name="Henrique Silva" userId="850b114bb1845035" providerId="LiveId" clId="{461823C5-7577-4E6F-A71E-E954BEECB87C}" dt="2018-02-01T11:00:30.899" v="57" actId="20577"/>
          <ac:spMkLst>
            <pc:docMk/>
            <pc:sldMk cId="117531247" sldId="256"/>
            <ac:spMk id="2" creationId="{71FD9F73-A72D-4EFC-BFFF-00FF349C06E4}"/>
          </ac:spMkLst>
        </pc:spChg>
        <pc:spChg chg="mod">
          <ac:chgData name="Henrique Silva" userId="850b114bb1845035" providerId="LiveId" clId="{461823C5-7577-4E6F-A71E-E954BEECB87C}" dt="2018-02-01T11:00:50.374" v="120" actId="20577"/>
          <ac:spMkLst>
            <pc:docMk/>
            <pc:sldMk cId="117531247" sldId="256"/>
            <ac:spMk id="3" creationId="{E893BB2A-6B6C-45F8-868B-D29CD7E4D9CE}"/>
          </ac:spMkLst>
        </pc:spChg>
      </pc:sldChg>
      <pc:sldChg chg="modSp add">
        <pc:chgData name="Henrique Silva" userId="850b114bb1845035" providerId="LiveId" clId="{461823C5-7577-4E6F-A71E-E954BEECB87C}" dt="2018-02-01T13:17:47.370" v="1393"/>
        <pc:sldMkLst>
          <pc:docMk/>
          <pc:sldMk cId="1730233281" sldId="257"/>
        </pc:sldMkLst>
        <pc:spChg chg="mod">
          <ac:chgData name="Henrique Silva" userId="850b114bb1845035" providerId="LiveId" clId="{461823C5-7577-4E6F-A71E-E954BEECB87C}" dt="2018-02-01T12:35:16.824" v="135" actId="20577"/>
          <ac:spMkLst>
            <pc:docMk/>
            <pc:sldMk cId="1730233281" sldId="257"/>
            <ac:spMk id="2" creationId="{C947D9BE-1628-4E7A-942A-9CC8AE7ED54B}"/>
          </ac:spMkLst>
        </pc:spChg>
        <pc:spChg chg="mod">
          <ac:chgData name="Henrique Silva" userId="850b114bb1845035" providerId="LiveId" clId="{461823C5-7577-4E6F-A71E-E954BEECB87C}" dt="2018-02-01T13:17:47.370" v="1393"/>
          <ac:spMkLst>
            <pc:docMk/>
            <pc:sldMk cId="1730233281" sldId="257"/>
            <ac:spMk id="3" creationId="{F45807AD-16AA-4030-A2FC-815408D94BFB}"/>
          </ac:spMkLst>
        </pc:spChg>
      </pc:sldChg>
      <pc:sldChg chg="modSp add">
        <pc:chgData name="Henrique Silva" userId="850b114bb1845035" providerId="LiveId" clId="{461823C5-7577-4E6F-A71E-E954BEECB87C}" dt="2018-02-01T13:03:37.850" v="1264" actId="403"/>
        <pc:sldMkLst>
          <pc:docMk/>
          <pc:sldMk cId="3679993183" sldId="258"/>
        </pc:sldMkLst>
        <pc:spChg chg="mod">
          <ac:chgData name="Henrique Silva" userId="850b114bb1845035" providerId="LiveId" clId="{461823C5-7577-4E6F-A71E-E954BEECB87C}" dt="2018-02-01T12:35:44.122" v="149" actId="20577"/>
          <ac:spMkLst>
            <pc:docMk/>
            <pc:sldMk cId="3679993183" sldId="258"/>
            <ac:spMk id="2" creationId="{8F55B30C-98BB-41DB-A38F-8814EF659358}"/>
          </ac:spMkLst>
        </pc:spChg>
        <pc:spChg chg="mod">
          <ac:chgData name="Henrique Silva" userId="850b114bb1845035" providerId="LiveId" clId="{461823C5-7577-4E6F-A71E-E954BEECB87C}" dt="2018-02-01T13:03:37.850" v="1264" actId="403"/>
          <ac:spMkLst>
            <pc:docMk/>
            <pc:sldMk cId="3679993183" sldId="258"/>
            <ac:spMk id="3" creationId="{318032AB-83CF-4BC7-954B-90B933350522}"/>
          </ac:spMkLst>
        </pc:spChg>
      </pc:sldChg>
      <pc:sldChg chg="modSp add">
        <pc:chgData name="Henrique Silva" userId="850b114bb1845035" providerId="LiveId" clId="{461823C5-7577-4E6F-A71E-E954BEECB87C}" dt="2018-02-01T13:03:33.325" v="1263" actId="403"/>
        <pc:sldMkLst>
          <pc:docMk/>
          <pc:sldMk cId="2494364347" sldId="259"/>
        </pc:sldMkLst>
        <pc:spChg chg="mod">
          <ac:chgData name="Henrique Silva" userId="850b114bb1845035" providerId="LiveId" clId="{461823C5-7577-4E6F-A71E-E954BEECB87C}" dt="2018-02-01T13:03:33.325" v="1263" actId="403"/>
          <ac:spMkLst>
            <pc:docMk/>
            <pc:sldMk cId="2494364347" sldId="259"/>
            <ac:spMk id="3" creationId="{318032AB-83CF-4BC7-954B-90B933350522}"/>
          </ac:spMkLst>
        </pc:spChg>
      </pc:sldChg>
      <pc:sldChg chg="modSp add">
        <pc:chgData name="Henrique Silva" userId="850b114bb1845035" providerId="LiveId" clId="{461823C5-7577-4E6F-A71E-E954BEECB87C}" dt="2018-02-01T12:41:54.563" v="387" actId="113"/>
        <pc:sldMkLst>
          <pc:docMk/>
          <pc:sldMk cId="2835373635" sldId="260"/>
        </pc:sldMkLst>
        <pc:spChg chg="mod">
          <ac:chgData name="Henrique Silva" userId="850b114bb1845035" providerId="LiveId" clId="{461823C5-7577-4E6F-A71E-E954BEECB87C}" dt="2018-02-01T12:40:44.812" v="375" actId="20577"/>
          <ac:spMkLst>
            <pc:docMk/>
            <pc:sldMk cId="2835373635" sldId="260"/>
            <ac:spMk id="2" creationId="{34250B27-0107-4655-8BFC-80338C4AA5A9}"/>
          </ac:spMkLst>
        </pc:spChg>
        <pc:spChg chg="mod">
          <ac:chgData name="Henrique Silva" userId="850b114bb1845035" providerId="LiveId" clId="{461823C5-7577-4E6F-A71E-E954BEECB87C}" dt="2018-02-01T12:41:54.563" v="387" actId="113"/>
          <ac:spMkLst>
            <pc:docMk/>
            <pc:sldMk cId="2835373635" sldId="260"/>
            <ac:spMk id="3" creationId="{9497D1EA-4237-4D4A-96E2-DCB00A53635F}"/>
          </ac:spMkLst>
        </pc:spChg>
      </pc:sldChg>
      <pc:sldChg chg="modSp add">
        <pc:chgData name="Henrique Silva" userId="850b114bb1845035" providerId="LiveId" clId="{461823C5-7577-4E6F-A71E-E954BEECB87C}" dt="2018-02-01T12:54:38.512" v="728" actId="20577"/>
        <pc:sldMkLst>
          <pc:docMk/>
          <pc:sldMk cId="2769271649" sldId="261"/>
        </pc:sldMkLst>
        <pc:spChg chg="mod">
          <ac:chgData name="Henrique Silva" userId="850b114bb1845035" providerId="LiveId" clId="{461823C5-7577-4E6F-A71E-E954BEECB87C}" dt="2018-02-01T12:42:37.713" v="391" actId="20577"/>
          <ac:spMkLst>
            <pc:docMk/>
            <pc:sldMk cId="2769271649" sldId="261"/>
            <ac:spMk id="2" creationId="{91640778-8438-4DB6-A704-676249DE6C28}"/>
          </ac:spMkLst>
        </pc:spChg>
        <pc:spChg chg="mod">
          <ac:chgData name="Henrique Silva" userId="850b114bb1845035" providerId="LiveId" clId="{461823C5-7577-4E6F-A71E-E954BEECB87C}" dt="2018-02-01T12:54:38.512" v="728" actId="20577"/>
          <ac:spMkLst>
            <pc:docMk/>
            <pc:sldMk cId="2769271649" sldId="261"/>
            <ac:spMk id="3" creationId="{BA5041F1-27FC-4952-8819-C59D7DA984CC}"/>
          </ac:spMkLst>
        </pc:spChg>
      </pc:sldChg>
      <pc:sldChg chg="modSp add">
        <pc:chgData name="Henrique Silva" userId="850b114bb1845035" providerId="LiveId" clId="{461823C5-7577-4E6F-A71E-E954BEECB87C}" dt="2018-02-01T12:58:27.490" v="1137" actId="113"/>
        <pc:sldMkLst>
          <pc:docMk/>
          <pc:sldMk cId="412874632" sldId="262"/>
        </pc:sldMkLst>
        <pc:spChg chg="mod">
          <ac:chgData name="Henrique Silva" userId="850b114bb1845035" providerId="LiveId" clId="{461823C5-7577-4E6F-A71E-E954BEECB87C}" dt="2018-02-01T12:42:49.750" v="398" actId="20577"/>
          <ac:spMkLst>
            <pc:docMk/>
            <pc:sldMk cId="412874632" sldId="262"/>
            <ac:spMk id="2" creationId="{E81D0D62-2F25-40C5-AC98-605C1ABD049E}"/>
          </ac:spMkLst>
        </pc:spChg>
        <pc:spChg chg="mod">
          <ac:chgData name="Henrique Silva" userId="850b114bb1845035" providerId="LiveId" clId="{461823C5-7577-4E6F-A71E-E954BEECB87C}" dt="2018-02-01T12:58:27.490" v="1137" actId="113"/>
          <ac:spMkLst>
            <pc:docMk/>
            <pc:sldMk cId="412874632" sldId="262"/>
            <ac:spMk id="3" creationId="{7F87369D-0C38-454A-B3F4-88A0DE66E040}"/>
          </ac:spMkLst>
        </pc:spChg>
      </pc:sldChg>
      <pc:sldChg chg="modSp add ord">
        <pc:chgData name="Henrique Silva" userId="850b114bb1845035" providerId="LiveId" clId="{461823C5-7577-4E6F-A71E-E954BEECB87C}" dt="2018-02-01T13:04:15.231" v="1273" actId="20577"/>
        <pc:sldMkLst>
          <pc:docMk/>
          <pc:sldMk cId="1575483949" sldId="263"/>
        </pc:sldMkLst>
        <pc:spChg chg="mod">
          <ac:chgData name="Henrique Silva" userId="850b114bb1845035" providerId="LiveId" clId="{461823C5-7577-4E6F-A71E-E954BEECB87C}" dt="2018-02-01T13:04:15.231" v="1273" actId="20577"/>
          <ac:spMkLst>
            <pc:docMk/>
            <pc:sldMk cId="1575483949" sldId="263"/>
            <ac:spMk id="3" creationId="{BA5041F1-27FC-4952-8819-C59D7DA984CC}"/>
          </ac:spMkLst>
        </pc:spChg>
      </pc:sldChg>
      <pc:sldChg chg="modSp add">
        <pc:chgData name="Henrique Silva" userId="850b114bb1845035" providerId="LiveId" clId="{461823C5-7577-4E6F-A71E-E954BEECB87C}" dt="2018-02-01T13:02:14.513" v="1243" actId="20577"/>
        <pc:sldMkLst>
          <pc:docMk/>
          <pc:sldMk cId="2630162463" sldId="264"/>
        </pc:sldMkLst>
        <pc:spChg chg="mod">
          <ac:chgData name="Henrique Silva" userId="850b114bb1845035" providerId="LiveId" clId="{461823C5-7577-4E6F-A71E-E954BEECB87C}" dt="2018-02-01T13:02:14.513" v="1243" actId="20577"/>
          <ac:spMkLst>
            <pc:docMk/>
            <pc:sldMk cId="2630162463" sldId="264"/>
            <ac:spMk id="3" creationId="{318032AB-83CF-4BC7-954B-90B933350522}"/>
          </ac:spMkLst>
        </pc:spChg>
      </pc:sldChg>
      <pc:sldChg chg="addSp modSp add">
        <pc:chgData name="Henrique Silva" userId="850b114bb1845035" providerId="LiveId" clId="{461823C5-7577-4E6F-A71E-E954BEECB87C}" dt="2018-02-01T13:11:37.819" v="1310"/>
        <pc:sldMkLst>
          <pc:docMk/>
          <pc:sldMk cId="3822973202" sldId="265"/>
        </pc:sldMkLst>
        <pc:spChg chg="mod">
          <ac:chgData name="Henrique Silva" userId="850b114bb1845035" providerId="LiveId" clId="{461823C5-7577-4E6F-A71E-E954BEECB87C}" dt="2018-02-01T13:04:29.529" v="1302" actId="20577"/>
          <ac:spMkLst>
            <pc:docMk/>
            <pc:sldMk cId="3822973202" sldId="265"/>
            <ac:spMk id="2" creationId="{1893984B-E433-4E47-8CFC-09D98F4DD5F2}"/>
          </ac:spMkLst>
        </pc:spChg>
        <pc:spChg chg="mod">
          <ac:chgData name="Henrique Silva" userId="850b114bb1845035" providerId="LiveId" clId="{461823C5-7577-4E6F-A71E-E954BEECB87C}" dt="2018-02-01T13:11:37.819" v="1310"/>
          <ac:spMkLst>
            <pc:docMk/>
            <pc:sldMk cId="3822973202" sldId="265"/>
            <ac:spMk id="3" creationId="{58ECBBF0-205F-4C11-BC29-2ECFE9D5D666}"/>
          </ac:spMkLst>
        </pc:spChg>
        <pc:picChg chg="add mod">
          <ac:chgData name="Henrique Silva" userId="850b114bb1845035" providerId="LiveId" clId="{461823C5-7577-4E6F-A71E-E954BEECB87C}" dt="2018-02-01T13:11:28.646" v="1307" actId="1076"/>
          <ac:picMkLst>
            <pc:docMk/>
            <pc:sldMk cId="3822973202" sldId="265"/>
            <ac:picMk id="1026" creationId="{2AF3DD6F-DE61-4A7C-8346-92D83F30775F}"/>
          </ac:picMkLst>
        </pc:picChg>
      </pc:sldChg>
      <pc:sldChg chg="addSp delSp modSp add">
        <pc:chgData name="Henrique Silva" userId="850b114bb1845035" providerId="LiveId" clId="{461823C5-7577-4E6F-A71E-E954BEECB87C}" dt="2018-02-01T13:13:23.695" v="1320" actId="14100"/>
        <pc:sldMkLst>
          <pc:docMk/>
          <pc:sldMk cId="1070938339" sldId="266"/>
        </pc:sldMkLst>
        <pc:spChg chg="mod">
          <ac:chgData name="Henrique Silva" userId="850b114bb1845035" providerId="LiveId" clId="{461823C5-7577-4E6F-A71E-E954BEECB87C}" dt="2018-02-01T13:11:52.107" v="1312" actId="14100"/>
          <ac:spMkLst>
            <pc:docMk/>
            <pc:sldMk cId="1070938339" sldId="266"/>
            <ac:spMk id="2" creationId="{46EED840-C021-40D7-B272-AD587A336499}"/>
          </ac:spMkLst>
        </pc:spChg>
        <pc:spChg chg="mod">
          <ac:chgData name="Henrique Silva" userId="850b114bb1845035" providerId="LiveId" clId="{461823C5-7577-4E6F-A71E-E954BEECB87C}" dt="2018-02-01T13:13:03.088" v="1314" actId="14100"/>
          <ac:spMkLst>
            <pc:docMk/>
            <pc:sldMk cId="1070938339" sldId="266"/>
            <ac:spMk id="3" creationId="{D234CE4B-36DF-4ACA-A33D-51F2C96119AC}"/>
          </ac:spMkLst>
        </pc:spChg>
        <pc:spChg chg="add del">
          <ac:chgData name="Henrique Silva" userId="850b114bb1845035" providerId="LiveId" clId="{461823C5-7577-4E6F-A71E-E954BEECB87C}" dt="2018-02-01T13:13:05.692" v="1316" actId="14100"/>
          <ac:spMkLst>
            <pc:docMk/>
            <pc:sldMk cId="1070938339" sldId="266"/>
            <ac:spMk id="4" creationId="{0455DD57-34FF-4975-AF44-05031F4E2B80}"/>
          </ac:spMkLst>
        </pc:spChg>
        <pc:picChg chg="add mod">
          <ac:chgData name="Henrique Silva" userId="850b114bb1845035" providerId="LiveId" clId="{461823C5-7577-4E6F-A71E-E954BEECB87C}" dt="2018-02-01T13:13:23.695" v="1320" actId="14100"/>
          <ac:picMkLst>
            <pc:docMk/>
            <pc:sldMk cId="1070938339" sldId="266"/>
            <ac:picMk id="2052" creationId="{65640F69-1783-4B94-8109-B707C88F971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706C-75F5-46B6-8F05-3B0899471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58E03D-CA3B-4424-899D-847E68850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E009E0-7F39-45B6-A1DA-58E2C821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995A58-0EA1-4E26-8A45-46368114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F78590-AB60-4534-85F5-94671CEF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06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2E7F2-FE80-4EE1-8417-B6BA78BE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FFD00D-7BF3-4463-A17D-85D8DF99F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784B59-6DB2-4FAB-AC60-8F0768D0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3790B-9AC6-4714-99CE-E218C9DF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603AF5-3284-4AFE-8711-0DCC933E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07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5D753-153F-4BDC-827A-5CAF8D6A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AAE6B8-30D5-4137-A737-E67CE2DEE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E60A42-F330-4191-8F26-7994F055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24E171-80EC-46B1-8FBC-A4C30D73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A6AE80-660E-455A-8947-77166AE0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1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7F252-395B-4DD8-A939-356A3986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48FB4-06DE-47A1-B4A9-C6D77323A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29D666-87E8-4AD1-B7C0-99B8C35DA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5B6081-F6E5-45FE-86A9-E9527E9C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34AC5B-8CC0-401B-BF3A-93605A35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AFC8E6-E3E6-4A56-9013-CC44DE4E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28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A4EF6-BA75-4731-B969-788A111D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1DACD5-B57F-46EC-A431-CD5DAE1D3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6C9509-19A1-47FA-B761-C94754E58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12ED68-D4D8-4865-907B-FD8015A85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B99733-7EEB-4691-9DDA-0494E8944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B0DBD2D-97F4-41A2-B6F9-23670939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27F3087-919C-4CFF-B4B6-059D44F5F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2BC5B59-49DD-43B2-9107-F42D3D7B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45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8DFC5-3C01-4D23-80B4-4D781AD5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9394BD-A07C-4D85-88C4-6BF33FEB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C1159D-1AEF-4DC5-9DE9-F6450612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BBDE1A-4F18-40A6-B148-DFCC50CE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04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0404B4-B9C1-418D-A026-927029C1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1F9DF3-4AA5-4849-9137-A341492B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9B5D88-81F5-4A5E-9852-C15C5499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1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F5700-1654-43D4-8BA7-EDCA224A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8845A3-7EED-419C-B04F-A1FF36D61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1D0727-55AF-4D6E-8B8F-8F7CDCA33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1AA751-368A-48AF-9925-583CB160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B3DA9E-A798-4548-B900-0AE3DEE4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72D0D0-80B4-4237-99D7-41EBC9D9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90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A21E5-8D13-4DEA-9BFC-04CAA1A45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2180C3-6DBE-4255-B758-DFD04099D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922AD8-2EA8-484E-8F05-41CA96DF8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4540EA-6675-4B80-B271-2C779B6E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C2E243-3A7A-4446-9126-10FB6128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A91301-A4E4-4563-9C3B-6EA095C9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5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1111E-47C5-49EC-A9BD-E462DA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D22B31-A838-4599-9390-F10D4CC07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B41F2C-47E2-4DEF-B8BC-1B95737D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8DC377-7887-4048-97AE-BCE7616C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90075C-5EFA-44AD-916A-9FE774CD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5EF5C4-AA55-4636-BD0A-8A88A7A21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3BB860-7CCD-4E95-8915-6037DE060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2E47C5-7D3F-4534-9A78-7C96E261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32760E-3B88-441B-B6B1-24F7943B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8AD53A-9043-4A94-9553-BFF7CE07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7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2960DB0-BE48-4427-9456-F5A065F7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26F065-7F46-4E99-9229-5177C4C5B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F6F07F-631F-4616-B8BC-ECAEA10D8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8FCA-4850-43CE-BFB4-74824C0ADEDB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E71E80-B0F5-437B-A4BA-A92E3733C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E43DB3-7FCB-40B5-B5B2-AF51BBF30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08774-E4CE-4CC6-B7D3-B949C21F1F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8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oo.gl/MLaTq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D9F73-A72D-4EFC-BFFF-00FF349C0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Algoritmos e Estruturas de Dados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93BB2A-6B6C-45F8-868B-D29CD7E4D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r>
              <a:rPr lang="pt-BR" dirty="0"/>
              <a:t>henriquebsilva@outlook.com.br</a:t>
            </a:r>
          </a:p>
        </p:txBody>
      </p:sp>
    </p:spTree>
    <p:extLst>
      <p:ext uri="{BB962C8B-B14F-4D97-AF65-F5344CB8AC3E}">
        <p14:creationId xmlns:p14="http://schemas.microsoft.com/office/powerpoint/2010/main" val="11753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7D9BE-1628-4E7A-942A-9CC8AE7E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 ao material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807AD-16AA-4030-A2FC-815408D94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Link (provisório) para acesso ao material</a:t>
            </a:r>
          </a:p>
          <a:p>
            <a:pPr marL="0" indent="0">
              <a:buNone/>
            </a:pPr>
            <a:r>
              <a:rPr lang="pt-BR" dirty="0">
                <a:hlinkClick r:id="rId2"/>
              </a:rPr>
              <a:t>https://goo.gl/MLaTqb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023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algoritmo é uma sequência de passos executáveis para resolução de algum problema.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r>
              <a:rPr lang="pt-BR" dirty="0"/>
              <a:t>Algoritmos fazem parte do dia a dia:</a:t>
            </a:r>
          </a:p>
          <a:p>
            <a:pPr lvl="1"/>
            <a:r>
              <a:rPr lang="pt-BR" dirty="0"/>
              <a:t>Instruções para uso de medicamentos</a:t>
            </a:r>
          </a:p>
          <a:p>
            <a:pPr lvl="1"/>
            <a:r>
              <a:rPr lang="pt-BR" dirty="0"/>
              <a:t>Manual para montar um aparelho</a:t>
            </a:r>
          </a:p>
          <a:p>
            <a:pPr lvl="1"/>
            <a:r>
              <a:rPr lang="pt-BR" dirty="0"/>
              <a:t>Receita de culinária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171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algoritmo é qualquer procedimento computacional que toma um valor ou conjunto de valores como entrada e produz um valor ou conjunto de valores como saída (</a:t>
            </a:r>
            <a:r>
              <a:rPr lang="pt-BR" dirty="0" err="1"/>
              <a:t>Cormen</a:t>
            </a:r>
            <a:r>
              <a:rPr lang="pt-BR" dirty="0"/>
              <a:t>, 2002).</a:t>
            </a:r>
          </a:p>
          <a:p>
            <a:endParaRPr lang="pt-BR" dirty="0"/>
          </a:p>
          <a:p>
            <a:r>
              <a:rPr lang="pt-BR" dirty="0"/>
              <a:t>Um algoritmo corresponde a uma descrição de um padrão de comportamento, expresso em termos de um conjunto finito de ações (</a:t>
            </a:r>
            <a:r>
              <a:rPr lang="pt-BR" dirty="0" err="1"/>
              <a:t>Dijkstra</a:t>
            </a:r>
            <a:r>
              <a:rPr lang="pt-BR" dirty="0"/>
              <a:t>, 1971).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08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resolver um problema é necessário escolher uma abstração da realidade, em geral mediante a </a:t>
            </a:r>
            <a:r>
              <a:rPr lang="pt-BR" dirty="0" err="1"/>
              <a:t>deﬁnição</a:t>
            </a:r>
            <a:r>
              <a:rPr lang="pt-BR" dirty="0"/>
              <a:t> de um conjunto de dados que representa a situação real.</a:t>
            </a:r>
          </a:p>
          <a:p>
            <a:endParaRPr lang="pt-BR" dirty="0"/>
          </a:p>
          <a:p>
            <a:r>
              <a:rPr lang="pt-BR" dirty="0"/>
              <a:t>E então, deve ser escolhida a forma de representar esses dados.</a:t>
            </a:r>
          </a:p>
        </p:txBody>
      </p:sp>
    </p:spTree>
    <p:extLst>
      <p:ext uri="{BB962C8B-B14F-4D97-AF65-F5344CB8AC3E}">
        <p14:creationId xmlns:p14="http://schemas.microsoft.com/office/powerpoint/2010/main" val="2820392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escolha da representação dos dados é determinada, entre outras, pelas operações a serem realizadas sobre os dados.</a:t>
            </a:r>
          </a:p>
          <a:p>
            <a:endParaRPr lang="pt-BR" dirty="0"/>
          </a:p>
          <a:p>
            <a:r>
              <a:rPr lang="pt-BR" dirty="0"/>
              <a:t>Exemplo: problema da ordenação (ordenar uma sequência de números em ordem crescente).</a:t>
            </a:r>
          </a:p>
          <a:p>
            <a:pPr lvl="1"/>
            <a:r>
              <a:rPr lang="pt-BR" dirty="0"/>
              <a:t>Entrada: Uma sequência de </a:t>
            </a:r>
            <a:r>
              <a:rPr lang="pt-BR" i="1" dirty="0"/>
              <a:t>n</a:t>
            </a:r>
            <a:r>
              <a:rPr lang="pt-BR" dirty="0"/>
              <a:t> números (</a:t>
            </a:r>
            <a:r>
              <a:rPr lang="pt-BR" i="1" dirty="0"/>
              <a:t>a</a:t>
            </a:r>
            <a:r>
              <a:rPr lang="pt-BR" i="1" baseline="-25000" dirty="0"/>
              <a:t>1</a:t>
            </a:r>
            <a:r>
              <a:rPr lang="pt-BR" dirty="0"/>
              <a:t>, </a:t>
            </a:r>
            <a:r>
              <a:rPr lang="pt-BR" i="1" dirty="0"/>
              <a:t>a</a:t>
            </a:r>
            <a:r>
              <a:rPr lang="pt-BR" i="1" baseline="-25000" dirty="0"/>
              <a:t>2</a:t>
            </a:r>
            <a:r>
              <a:rPr lang="pt-BR" dirty="0"/>
              <a:t>, ... </a:t>
            </a:r>
            <a:r>
              <a:rPr lang="pt-BR" i="1" dirty="0"/>
              <a:t>a</a:t>
            </a:r>
            <a:r>
              <a:rPr lang="pt-BR" i="1" baseline="-25000" dirty="0"/>
              <a:t>n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Saída: Uma permutação da sequência de entrada, tal que  </a:t>
            </a:r>
            <a:r>
              <a:rPr lang="pt-BR" i="1" dirty="0"/>
              <a:t>a</a:t>
            </a:r>
            <a:r>
              <a:rPr lang="pt-BR" i="1" baseline="-25000" dirty="0"/>
              <a:t>1</a:t>
            </a:r>
            <a:r>
              <a:rPr lang="pt-BR" dirty="0"/>
              <a:t> ≤ </a:t>
            </a:r>
            <a:r>
              <a:rPr lang="pt-BR" i="1" dirty="0"/>
              <a:t>a</a:t>
            </a:r>
            <a:r>
              <a:rPr lang="pt-BR" i="1" baseline="-25000" dirty="0"/>
              <a:t>2</a:t>
            </a:r>
            <a:r>
              <a:rPr lang="pt-BR" baseline="-25000" dirty="0"/>
              <a:t> </a:t>
            </a:r>
            <a:r>
              <a:rPr lang="pt-BR" dirty="0"/>
              <a:t>≤ ... ≤ </a:t>
            </a:r>
            <a:r>
              <a:rPr lang="pt-BR" i="1" dirty="0"/>
              <a:t>a</a:t>
            </a:r>
            <a:r>
              <a:rPr lang="pt-BR" i="1" baseline="-25000" dirty="0"/>
              <a:t>n</a:t>
            </a:r>
            <a:endParaRPr lang="pt-BR" i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089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sequência de entrada (como a lista de números a serem ordenados) é chamada de </a:t>
            </a:r>
            <a:r>
              <a:rPr lang="pt-BR" b="1" dirty="0"/>
              <a:t>instância</a:t>
            </a:r>
            <a:r>
              <a:rPr lang="pt-BR" dirty="0"/>
              <a:t> do problema. </a:t>
            </a:r>
          </a:p>
          <a:p>
            <a:r>
              <a:rPr lang="pt-BR" dirty="0"/>
              <a:t>O melhor algoritmo para um determinado problema pode depender de vários fatores:</a:t>
            </a:r>
          </a:p>
          <a:p>
            <a:pPr lvl="1"/>
            <a:r>
              <a:rPr lang="pt-BR" dirty="0"/>
              <a:t>Tamanho da instância; </a:t>
            </a:r>
          </a:p>
          <a:p>
            <a:pPr lvl="1"/>
            <a:r>
              <a:rPr lang="pt-BR" dirty="0"/>
              <a:t>Possíveis restrições sobre os dados;</a:t>
            </a:r>
          </a:p>
          <a:p>
            <a:pPr lvl="1"/>
            <a:r>
              <a:rPr lang="pt-BR" dirty="0"/>
              <a:t>Espécie do dispositivo de armazenamento (memória principal ou secundária), </a:t>
            </a:r>
          </a:p>
          <a:p>
            <a:pPr lvl="1"/>
            <a:r>
              <a:rPr lang="pt-BR" dirty="0"/>
              <a:t>Entre outros.  </a:t>
            </a:r>
          </a:p>
        </p:txBody>
      </p:sp>
    </p:spTree>
    <p:extLst>
      <p:ext uri="{BB962C8B-B14F-4D97-AF65-F5344CB8AC3E}">
        <p14:creationId xmlns:p14="http://schemas.microsoft.com/office/powerpoint/2010/main" val="118694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algoritmo é dito correto se, para cada entrada, ele para com a saída correta.</a:t>
            </a:r>
          </a:p>
          <a:p>
            <a:endParaRPr lang="pt-BR" dirty="0"/>
          </a:p>
          <a:p>
            <a:r>
              <a:rPr lang="pt-BR" dirty="0"/>
              <a:t>Um algoritmo pode ser especificado em uma linguagem comum, como um programa de computador ou projeto de hardware.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977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Etapas do desenvolvimento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Análise dos requisitos do problema</a:t>
            </a:r>
          </a:p>
          <a:p>
            <a:r>
              <a:rPr lang="pt-BR" dirty="0"/>
              <a:t>Projeto do algoritmo</a:t>
            </a:r>
          </a:p>
          <a:p>
            <a:r>
              <a:rPr lang="pt-BR" dirty="0"/>
              <a:t>Verificação da </a:t>
            </a:r>
            <a:r>
              <a:rPr lang="pt-BR" dirty="0" err="1"/>
              <a:t>corretude</a:t>
            </a:r>
            <a:r>
              <a:rPr lang="pt-BR" dirty="0"/>
              <a:t> do algoritmo</a:t>
            </a:r>
          </a:p>
          <a:p>
            <a:r>
              <a:rPr lang="pt-BR" dirty="0"/>
              <a:t>Análise de desempenho do algoritmo</a:t>
            </a:r>
          </a:p>
          <a:p>
            <a:r>
              <a:rPr lang="pt-BR" dirty="0"/>
              <a:t>Implementação (refinamento e codificação)</a:t>
            </a:r>
          </a:p>
          <a:p>
            <a:r>
              <a:rPr lang="pt-BR" dirty="0"/>
              <a:t>Certificação (depuração e verificação)</a:t>
            </a:r>
          </a:p>
          <a:p>
            <a:r>
              <a:rPr lang="pt-BR" dirty="0"/>
              <a:t>Análise de eficiência</a:t>
            </a:r>
          </a:p>
          <a:p>
            <a:r>
              <a:rPr lang="pt-BR" dirty="0"/>
              <a:t>Documentação</a:t>
            </a:r>
          </a:p>
        </p:txBody>
      </p:sp>
    </p:spTree>
    <p:extLst>
      <p:ext uri="{BB962C8B-B14F-4D97-AF65-F5344CB8AC3E}">
        <p14:creationId xmlns:p14="http://schemas.microsoft.com/office/powerpoint/2010/main" val="116947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Importantes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Constantes:</a:t>
            </a:r>
          </a:p>
          <a:p>
            <a:pPr lvl="1"/>
            <a:r>
              <a:rPr lang="pt-BR" dirty="0"/>
              <a:t>Representam valores inalteráveis durante toda a execução.</a:t>
            </a:r>
          </a:p>
          <a:p>
            <a:r>
              <a:rPr lang="pt-BR" dirty="0"/>
              <a:t>Variável:</a:t>
            </a:r>
          </a:p>
          <a:p>
            <a:pPr lvl="1"/>
            <a:r>
              <a:rPr lang="pt-BR" dirty="0"/>
              <a:t>Espaço da memória reservado para armazenar um certo tipo de dado e tendo um nome para referenciar o seu conteúdo.</a:t>
            </a:r>
          </a:p>
          <a:p>
            <a:pPr lvl="1"/>
            <a:r>
              <a:rPr lang="pt-BR" dirty="0"/>
              <a:t>Este valor pode variar durante a execução</a:t>
            </a:r>
          </a:p>
        </p:txBody>
      </p:sp>
    </p:spTree>
    <p:extLst>
      <p:ext uri="{BB962C8B-B14F-4D97-AF65-F5344CB8AC3E}">
        <p14:creationId xmlns:p14="http://schemas.microsoft.com/office/powerpoint/2010/main" val="254541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 espaço de memória reservado para armazenar um tipo de dado. </a:t>
            </a:r>
          </a:p>
          <a:p>
            <a:endParaRPr lang="pt-BR" dirty="0"/>
          </a:p>
          <a:p>
            <a:r>
              <a:rPr lang="pt-BR" dirty="0"/>
              <a:t>Vamos retomar o conceito de memória:</a:t>
            </a:r>
          </a:p>
          <a:p>
            <a:pPr lvl="1"/>
            <a:r>
              <a:rPr lang="pt-BR" dirty="0"/>
              <a:t>Todos os dados que nosso computador irá processar ficam na </a:t>
            </a:r>
            <a:r>
              <a:rPr lang="pt-BR" b="1" dirty="0"/>
              <a:t>memória principal (RAM)</a:t>
            </a:r>
            <a:r>
              <a:rPr lang="pt-BR" dirty="0"/>
              <a:t>: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5324889" y="5033894"/>
          <a:ext cx="1223964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7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>
            <a:spLocks noChangeArrowheads="1"/>
          </p:cNvSpPr>
          <p:nvPr/>
        </p:nvSpPr>
        <p:spPr bwMode="auto">
          <a:xfrm>
            <a:off x="4461289" y="4098857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6" name="CaixaDeTexto 5"/>
          <p:cNvSpPr txBox="1">
            <a:spLocks noChangeArrowheads="1"/>
          </p:cNvSpPr>
          <p:nvPr/>
        </p:nvSpPr>
        <p:spPr bwMode="auto">
          <a:xfrm>
            <a:off x="4604164" y="5033894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7" name="Conector de seta reta 7"/>
          <p:cNvCxnSpPr>
            <a:cxnSpLocks noChangeShapeType="1"/>
          </p:cNvCxnSpPr>
          <p:nvPr/>
        </p:nvCxnSpPr>
        <p:spPr bwMode="auto">
          <a:xfrm>
            <a:off x="4893089" y="5249794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CaixaDeTexto 8"/>
          <p:cNvSpPr txBox="1">
            <a:spLocks noChangeArrowheads="1"/>
          </p:cNvSpPr>
          <p:nvPr/>
        </p:nvSpPr>
        <p:spPr bwMode="auto">
          <a:xfrm>
            <a:off x="5743989" y="4387782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Conector de seta reta 10"/>
          <p:cNvCxnSpPr>
            <a:cxnSpLocks noChangeShapeType="1"/>
          </p:cNvCxnSpPr>
          <p:nvPr/>
        </p:nvCxnSpPr>
        <p:spPr bwMode="auto">
          <a:xfrm>
            <a:off x="5901152" y="4706869"/>
            <a:ext cx="0" cy="2698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Conector de seta reta 10"/>
          <p:cNvCxnSpPr/>
          <p:nvPr/>
        </p:nvCxnSpPr>
        <p:spPr>
          <a:xfrm flipH="1">
            <a:off x="7116417" y="5249794"/>
            <a:ext cx="131196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8770731" y="4706869"/>
            <a:ext cx="2782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Cada posição é um espaço na memória. Podemos dar nomes à estes espaços.  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03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Importantes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 de dados:</a:t>
            </a:r>
          </a:p>
          <a:p>
            <a:pPr lvl="1"/>
            <a:r>
              <a:rPr lang="pt-BR" dirty="0"/>
              <a:t>Define um conjunto de valores que uma variável pode armazenar</a:t>
            </a:r>
          </a:p>
          <a:p>
            <a:pPr lvl="1"/>
            <a:r>
              <a:rPr lang="pt-BR" dirty="0"/>
              <a:t>Define o conjunto de operações que pode ser executado com essa variável (ex.: inteiro, real, caractere).</a:t>
            </a:r>
          </a:p>
          <a:p>
            <a:pPr lvl="1"/>
            <a:r>
              <a:rPr lang="pt-BR" dirty="0"/>
              <a:t>Forma como a variável é armazenada e interpretada.</a:t>
            </a:r>
          </a:p>
        </p:txBody>
      </p:sp>
    </p:spTree>
    <p:extLst>
      <p:ext uri="{BB962C8B-B14F-4D97-AF65-F5344CB8AC3E}">
        <p14:creationId xmlns:p14="http://schemas.microsoft.com/office/powerpoint/2010/main" val="122957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Importantes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Tipo de variáveis:</a:t>
            </a:r>
          </a:p>
          <a:p>
            <a:pPr lvl="1"/>
            <a:r>
              <a:rPr lang="pt-BR" sz="2800" dirty="0"/>
              <a:t>Informa a quantidade de memória, em bytes, que a variável ocupará, e a forma como o valor deverá ser armazenado e interpretado. </a:t>
            </a:r>
          </a:p>
          <a:p>
            <a:pPr lvl="1"/>
            <a:r>
              <a:rPr lang="pt-BR" sz="2800" dirty="0"/>
              <a:t>char: caractere de 8 bits (1 bytes).  </a:t>
            </a:r>
          </a:p>
          <a:p>
            <a:pPr lvl="1"/>
            <a:r>
              <a:rPr lang="pt-BR" sz="2800" dirty="0" err="1"/>
              <a:t>int</a:t>
            </a:r>
            <a:r>
              <a:rPr lang="pt-BR" sz="2800" dirty="0"/>
              <a:t>: números inteiros de 32 bits (4 bytes).</a:t>
            </a:r>
          </a:p>
          <a:p>
            <a:pPr lvl="1"/>
            <a:r>
              <a:rPr lang="pt-BR" sz="2800" dirty="0" err="1"/>
              <a:t>long</a:t>
            </a:r>
            <a:r>
              <a:rPr lang="pt-BR" sz="2800" dirty="0"/>
              <a:t>: números inteiros (intervalo maior) de 64 bits (8 bytes).</a:t>
            </a:r>
          </a:p>
          <a:p>
            <a:pPr lvl="1"/>
            <a:r>
              <a:rPr lang="pt-BR" sz="2800" dirty="0" err="1"/>
              <a:t>double</a:t>
            </a:r>
            <a:r>
              <a:rPr lang="pt-BR" sz="2800" dirty="0"/>
              <a:t>: ponto flutuante (de maior precisão) de 64 bits (8 bytes). 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569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Importantes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Declaração de uma variável</a:t>
            </a:r>
          </a:p>
          <a:p>
            <a:pPr lvl="1"/>
            <a:r>
              <a:rPr lang="pt-BR" b="1" dirty="0" err="1">
                <a:latin typeface="Consolas" panose="020B0609020204030204" pitchFamily="49" charset="0"/>
              </a:rPr>
              <a:t>tipo_variável</a:t>
            </a:r>
            <a:r>
              <a:rPr lang="pt-BR" b="1" dirty="0">
                <a:latin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</a:rPr>
              <a:t>nome_variável</a:t>
            </a:r>
            <a:r>
              <a:rPr lang="pt-BR" dirty="0"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 err="1">
                <a:latin typeface="Consolas" panose="020B0609020204030204" pitchFamily="49" charset="0"/>
              </a:rPr>
              <a:t>tipo_variável</a:t>
            </a:r>
            <a:r>
              <a:rPr lang="pt-BR" b="1" dirty="0">
                <a:latin typeface="Consolas" panose="020B0609020204030204" pitchFamily="49" charset="0"/>
              </a:rPr>
              <a:t> </a:t>
            </a:r>
            <a:r>
              <a:rPr lang="pt-BR" dirty="0">
                <a:latin typeface="Consolas" panose="020B0609020204030204" pitchFamily="49" charset="0"/>
              </a:rPr>
              <a:t>nome_variável1, nome_variável2;</a:t>
            </a:r>
          </a:p>
          <a:p>
            <a:pPr lvl="1"/>
            <a:r>
              <a:rPr lang="pt-BR" b="1" dirty="0" err="1">
                <a:latin typeface="Consolas" panose="020B0609020204030204" pitchFamily="49" charset="0"/>
              </a:rPr>
              <a:t>tipo_variável</a:t>
            </a:r>
            <a:r>
              <a:rPr lang="pt-BR" b="1" dirty="0">
                <a:latin typeface="Consolas" panose="020B0609020204030204" pitchFamily="49" charset="0"/>
              </a:rPr>
              <a:t> </a:t>
            </a:r>
            <a:r>
              <a:rPr lang="pt-BR" dirty="0" err="1">
                <a:latin typeface="Consolas" panose="020B0609020204030204" pitchFamily="49" charset="0"/>
              </a:rPr>
              <a:t>nome_variável</a:t>
            </a:r>
            <a:r>
              <a:rPr lang="pt-BR" dirty="0">
                <a:latin typeface="Consolas" panose="020B0609020204030204" pitchFamily="49" charset="0"/>
              </a:rPr>
              <a:t> = valor;</a:t>
            </a:r>
          </a:p>
          <a:p>
            <a:pPr lvl="1"/>
            <a:endParaRPr lang="pt-BR" dirty="0"/>
          </a:p>
          <a:p>
            <a:r>
              <a:rPr lang="pt-BR" dirty="0"/>
              <a:t>Exemplos: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8C4C75F-37BB-4EF9-9E9B-7D73133698CE}"/>
              </a:ext>
            </a:extLst>
          </p:cNvPr>
          <p:cNvSpPr/>
          <p:nvPr/>
        </p:nvSpPr>
        <p:spPr>
          <a:xfrm>
            <a:off x="1116623" y="45905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idade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59803E0-08C4-4B3B-BA83-A5C5D1EAFAF3}"/>
              </a:ext>
            </a:extLst>
          </p:cNvPr>
          <p:cNvSpPr/>
          <p:nvPr/>
        </p:nvSpPr>
        <p:spPr>
          <a:xfrm>
            <a:off x="1116623" y="53303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valor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0.58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E46B9C-49E5-4CAB-A0BB-4A284F1C0E0E}"/>
              </a:ext>
            </a:extLst>
          </p:cNvPr>
          <p:cNvSpPr/>
          <p:nvPr/>
        </p:nvSpPr>
        <p:spPr>
          <a:xfrm>
            <a:off x="1116623" y="6113774"/>
            <a:ext cx="2970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"Alice"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189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Estruturas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3200" dirty="0"/>
                  <a:t>Estrutura Condicional:</a:t>
                </a:r>
              </a:p>
              <a:p>
                <a:pPr lvl="1"/>
                <a:r>
                  <a:rPr lang="pt-BR" sz="2800" dirty="0"/>
                  <a:t>Comando </a:t>
                </a:r>
                <a:r>
                  <a:rPr lang="pt-BR" sz="2800" b="1" dirty="0" err="1"/>
                  <a:t>if</a:t>
                </a:r>
                <a:endParaRPr lang="pt-BR" sz="2800" b="1" dirty="0"/>
              </a:p>
              <a:p>
                <a:pPr lvl="1"/>
                <a:r>
                  <a:rPr lang="pt-BR" sz="2800" dirty="0"/>
                  <a:t>Forma Geral:</a:t>
                </a:r>
              </a:p>
              <a:p>
                <a:pPr marL="914400" lvl="2" indent="0">
                  <a:buNone/>
                </a:pPr>
                <a:r>
                  <a:rPr lang="pt-BR" sz="2400" dirty="0" err="1"/>
                  <a:t>If</a:t>
                </a:r>
                <a:r>
                  <a:rPr lang="pt-BR" sz="2400" dirty="0"/>
                  <a:t> (</a:t>
                </a:r>
                <a:r>
                  <a:rPr lang="pt-BR" sz="2400" dirty="0" err="1"/>
                  <a:t>condição_for_verdadeira</a:t>
                </a:r>
                <a:r>
                  <a:rPr lang="pt-BR" sz="2400" dirty="0"/>
                  <a:t>)</a:t>
                </a:r>
              </a:p>
              <a:p>
                <a:pPr marL="914400" lvl="2" indent="0">
                  <a:buNone/>
                </a:pPr>
                <a:r>
                  <a:rPr lang="pt-BR" sz="2400" dirty="0"/>
                  <a:t>      comando;</a:t>
                </a:r>
              </a:p>
              <a:p>
                <a:pPr lvl="1"/>
                <a:r>
                  <a:rPr lang="pt-BR" sz="2800" dirty="0"/>
                  <a:t>O comando </a:t>
                </a:r>
                <a:r>
                  <a:rPr lang="pt-BR" sz="2800" b="1" dirty="0" err="1"/>
                  <a:t>if</a:t>
                </a:r>
                <a:r>
                  <a:rPr lang="pt-BR" sz="2800" dirty="0"/>
                  <a:t> executa um teste utilizando um operador relacional.</a:t>
                </a:r>
              </a:p>
              <a:p>
                <a:pPr lvl="1"/>
                <a:r>
                  <a:rPr lang="pt-BR" sz="2800" dirty="0" err="1"/>
                  <a:t>Condição_for_verdadeira</a:t>
                </a:r>
                <a:endParaRPr lang="pt-BR" sz="2800" dirty="0"/>
              </a:p>
              <a:p>
                <a:pPr lvl="2"/>
                <a:r>
                  <a:rPr lang="pt-BR" sz="2400" dirty="0"/>
                  <a:t>Pode ter apenas um operador relacional ou pode ter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operadores relacionais ligadas por operadores lógicos</a:t>
                </a:r>
                <a:endParaRPr lang="pt-BR" sz="2400" b="1" dirty="0"/>
              </a:p>
              <a:p>
                <a:pPr marL="914400" lvl="2" indent="0">
                  <a:buNone/>
                </a:pPr>
                <a:endParaRPr lang="pt-BR" b="1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941" r="-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21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Estruturas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6E3CEAF-317A-4650-AE62-1D7831DC7277}"/>
              </a:ext>
            </a:extLst>
          </p:cNvPr>
          <p:cNvSpPr/>
          <p:nvPr/>
        </p:nvSpPr>
        <p:spPr>
          <a:xfrm>
            <a:off x="1069731" y="276503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(n &gt;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 &gt; b)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z = a;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   z = b;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33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Estruturas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Estruturas de repetição:</a:t>
            </a:r>
          </a:p>
          <a:p>
            <a:pPr lvl="1"/>
            <a:r>
              <a:rPr lang="pt-BR" sz="2800" dirty="0"/>
              <a:t>Repetir comandos um número específico de vezes ou até que uma condição conhecida ocorra.</a:t>
            </a:r>
          </a:p>
        </p:txBody>
      </p:sp>
    </p:spTree>
    <p:extLst>
      <p:ext uri="{BB962C8B-B14F-4D97-AF65-F5344CB8AC3E}">
        <p14:creationId xmlns:p14="http://schemas.microsoft.com/office/powerpoint/2010/main" val="321850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do laço </a:t>
            </a:r>
            <a:r>
              <a:rPr lang="pt-BR" b="1" dirty="0"/>
              <a:t>for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3923"/>
          </a:xfrm>
        </p:spPr>
        <p:txBody>
          <a:bodyPr>
            <a:normAutofit/>
          </a:bodyPr>
          <a:lstStyle/>
          <a:p>
            <a:r>
              <a:rPr lang="pt-BR" dirty="0"/>
              <a:t>Instruções: (1) inicialização, (2) teste e (3) incremento. 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419060" y="3929952"/>
            <a:ext cx="54264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for</a:t>
            </a:r>
            <a:r>
              <a:rPr lang="pt-BR" sz="3200" dirty="0"/>
              <a:t> (   i = 0;       i &lt; 20;       i++   ) {</a:t>
            </a:r>
          </a:p>
          <a:p>
            <a:r>
              <a:rPr lang="pt-BR" sz="3200" dirty="0"/>
              <a:t>	...</a:t>
            </a:r>
          </a:p>
          <a:p>
            <a:r>
              <a:rPr lang="pt-BR" sz="3200" dirty="0"/>
              <a:t>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975651" y="3238780"/>
            <a:ext cx="143827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2000" dirty="0"/>
              <a:t>Inicialização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023112" y="3238780"/>
            <a:ext cx="72532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2000" dirty="0"/>
              <a:t>Teste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7357621" y="3228428"/>
            <a:ext cx="139147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2000" dirty="0"/>
              <a:t>Incremento</a:t>
            </a:r>
          </a:p>
        </p:txBody>
      </p:sp>
      <p:sp>
        <p:nvSpPr>
          <p:cNvPr id="18" name="Chave direita 17"/>
          <p:cNvSpPr/>
          <p:nvPr/>
        </p:nvSpPr>
        <p:spPr>
          <a:xfrm rot="16200000">
            <a:off x="4737072" y="3502402"/>
            <a:ext cx="202509" cy="819067"/>
          </a:xfrm>
          <a:prstGeom prst="rightBrace">
            <a:avLst>
              <a:gd name="adj1" fmla="val 2720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have direita 18"/>
          <p:cNvSpPr/>
          <p:nvPr/>
        </p:nvSpPr>
        <p:spPr>
          <a:xfrm rot="16200000">
            <a:off x="6284520" y="3502404"/>
            <a:ext cx="202509" cy="819067"/>
          </a:xfrm>
          <a:prstGeom prst="rightBrace">
            <a:avLst>
              <a:gd name="adj1" fmla="val 2720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have direita 19"/>
          <p:cNvSpPr/>
          <p:nvPr/>
        </p:nvSpPr>
        <p:spPr>
          <a:xfrm rot="16200000">
            <a:off x="7831968" y="3502403"/>
            <a:ext cx="202509" cy="819067"/>
          </a:xfrm>
          <a:prstGeom prst="rightBrace">
            <a:avLst>
              <a:gd name="adj1" fmla="val 2720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de seta reta 21"/>
          <p:cNvCxnSpPr/>
          <p:nvPr/>
        </p:nvCxnSpPr>
        <p:spPr>
          <a:xfrm>
            <a:off x="2078182" y="4825912"/>
            <a:ext cx="2078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211666" y="3699119"/>
            <a:ext cx="231431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/>
              <a:t>Corpo do laço </a:t>
            </a:r>
            <a:r>
              <a:rPr lang="pt-BR" sz="2000" b="1" dirty="0"/>
              <a:t>for</a:t>
            </a:r>
            <a:r>
              <a:rPr lang="pt-BR" sz="2000" dirty="0"/>
              <a:t>. Todo o código aqui dentro irá se repetir</a:t>
            </a:r>
            <a:endParaRPr lang="pt-BR" sz="2000" b="1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58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Laços </a:t>
            </a:r>
            <a:r>
              <a:rPr lang="pt-BR" b="1" dirty="0"/>
              <a:t>for</a:t>
            </a:r>
            <a:r>
              <a:rPr lang="pt-BR" dirty="0"/>
              <a:t> aninhados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incluir outro laço </a:t>
            </a:r>
            <a:r>
              <a:rPr lang="pt-BR" b="1" dirty="0"/>
              <a:t>for</a:t>
            </a:r>
            <a:r>
              <a:rPr lang="pt-BR" dirty="0"/>
              <a:t> dentro do bloco de um laço </a:t>
            </a:r>
            <a:r>
              <a:rPr lang="pt-BR" b="1" dirty="0"/>
              <a:t>for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351721" y="3960675"/>
            <a:ext cx="586570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 (i = 0;  i &lt; 10;  i++) {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 (j = 0;  j &lt; 10;  j++) {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	...	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6" name="Conector de seta reta 5"/>
          <p:cNvCxnSpPr/>
          <p:nvPr/>
        </p:nvCxnSpPr>
        <p:spPr>
          <a:xfrm>
            <a:off x="3087757" y="4598504"/>
            <a:ext cx="5605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8799445" y="3908041"/>
            <a:ext cx="2650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Quantas vezes uma instrução neste ponto será executada? </a:t>
            </a:r>
            <a:r>
              <a:rPr lang="pt-BR" dirty="0">
                <a:solidFill>
                  <a:srgbClr val="FF0000"/>
                </a:solidFill>
              </a:rPr>
              <a:t>10 vezes.</a:t>
            </a:r>
          </a:p>
        </p:txBody>
      </p:sp>
      <p:cxnSp>
        <p:nvCxnSpPr>
          <p:cNvPr id="8" name="Conector de seta reta 7"/>
          <p:cNvCxnSpPr/>
          <p:nvPr/>
        </p:nvCxnSpPr>
        <p:spPr>
          <a:xfrm>
            <a:off x="3955775" y="5360504"/>
            <a:ext cx="5605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9636032" y="5065680"/>
            <a:ext cx="2622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 neste ponto? </a:t>
            </a:r>
            <a:r>
              <a:rPr lang="pt-BR" dirty="0">
                <a:solidFill>
                  <a:srgbClr val="FF0000"/>
                </a:solidFill>
              </a:rPr>
              <a:t>100 vezes.</a:t>
            </a:r>
          </a:p>
          <a:p>
            <a:r>
              <a:rPr lang="pt-BR" dirty="0"/>
              <a:t>Para cada vezes que o laço externo for executado, o laço interno será executado 10 vezes.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278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 </a:t>
            </a:r>
            <a:r>
              <a:rPr lang="pt-BR" b="1" dirty="0" err="1"/>
              <a:t>while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0948" cy="4351338"/>
          </a:xfrm>
        </p:spPr>
        <p:txBody>
          <a:bodyPr/>
          <a:lstStyle/>
          <a:p>
            <a:r>
              <a:rPr lang="pt-BR" dirty="0"/>
              <a:t>A segunda estrutura de laço de repetição é o laço </a:t>
            </a:r>
            <a:r>
              <a:rPr lang="pt-BR" b="1" dirty="0" err="1"/>
              <a:t>while</a:t>
            </a:r>
            <a:r>
              <a:rPr lang="pt-BR" dirty="0"/>
              <a:t>. O seu funcionamento é muito semelhante ao laço </a:t>
            </a:r>
            <a:r>
              <a:rPr lang="pt-BR" b="1" dirty="0"/>
              <a:t>for</a:t>
            </a:r>
            <a:r>
              <a:rPr lang="pt-BR" dirty="0"/>
              <a:t>, porém ele é mais apropriado quando </a:t>
            </a:r>
            <a:r>
              <a:rPr lang="pt-BR" b="1" i="1" dirty="0"/>
              <a:t>não sabemos quantas vezes a ação será executada</a:t>
            </a:r>
            <a:r>
              <a:rPr lang="pt-BR" dirty="0"/>
              <a:t>. Ou seja, ele pode ser interrompido inesperadamente. 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351721" y="3960675"/>
            <a:ext cx="29770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(teste) {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instrução;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instrução;</a:t>
            </a:r>
          </a:p>
          <a:p>
            <a:endParaRPr lang="pt-B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incremento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 	...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9" name="Conector de seta reta 8"/>
          <p:cNvCxnSpPr/>
          <p:nvPr/>
        </p:nvCxnSpPr>
        <p:spPr>
          <a:xfrm>
            <a:off x="4426226" y="4214191"/>
            <a:ext cx="1802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707883" y="4006841"/>
            <a:ext cx="5128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Enquanto (no inglês </a:t>
            </a:r>
            <a:r>
              <a:rPr lang="pt-BR" b="1" dirty="0" err="1"/>
              <a:t>while</a:t>
            </a:r>
            <a:r>
              <a:rPr lang="pt-BR" dirty="0"/>
              <a:t>) o teste for </a:t>
            </a:r>
            <a:r>
              <a:rPr lang="pt-BR" b="1" dirty="0"/>
              <a:t>verdadeiro</a:t>
            </a:r>
            <a:r>
              <a:rPr lang="pt-BR" dirty="0"/>
              <a:t>, o programa continua a execução das instruções dentro do laço </a:t>
            </a:r>
            <a:r>
              <a:rPr lang="pt-BR" b="1" dirty="0" err="1"/>
              <a:t>while</a:t>
            </a:r>
            <a:r>
              <a:rPr lang="pt-BR" dirty="0"/>
              <a:t>. Ele irá sair do laço quando o teste for </a:t>
            </a:r>
            <a:r>
              <a:rPr lang="pt-BR" b="1" dirty="0"/>
              <a:t>falso</a:t>
            </a:r>
            <a:r>
              <a:rPr lang="pt-BR" dirty="0"/>
              <a:t>.</a:t>
            </a: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4426226" y="5731565"/>
            <a:ext cx="1802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707883" y="5546899"/>
            <a:ext cx="5258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que, para contar quantas vezes nosso laço é executado,  poderemos ter um comando de incremento dentro do bloco do laço.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879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Laços </a:t>
            </a:r>
            <a:r>
              <a:rPr lang="pt-BR" b="1" dirty="0"/>
              <a:t>do-</a:t>
            </a:r>
            <a:r>
              <a:rPr lang="pt-BR" b="1" dirty="0" err="1"/>
              <a:t>while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Terceira estrutura de laço de repetição. Muito similar ao laço </a:t>
            </a:r>
            <a:r>
              <a:rPr lang="pt-BR" b="1" dirty="0" err="1"/>
              <a:t>while</a:t>
            </a:r>
            <a:r>
              <a:rPr lang="pt-BR" dirty="0"/>
              <a:t> que vimos anteriormente. A diferença é que </a:t>
            </a:r>
            <a:r>
              <a:rPr lang="pt-BR" b="1" dirty="0"/>
              <a:t>do-</a:t>
            </a:r>
            <a:r>
              <a:rPr lang="pt-BR" b="1" dirty="0" err="1"/>
              <a:t>while</a:t>
            </a:r>
            <a:r>
              <a:rPr lang="pt-BR" dirty="0"/>
              <a:t> é mais apropriado em situações em que temos que executar o corpo do laço pelo menos uma vez para depois avaliar o teste.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351721" y="3960675"/>
            <a:ext cx="29770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do 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instrução;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instrução;</a:t>
            </a:r>
          </a:p>
          <a:p>
            <a:endParaRPr lang="pt-B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incremento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 	...</a:t>
            </a:r>
          </a:p>
          <a:p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pt-B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 (teste);</a:t>
            </a:r>
          </a:p>
        </p:txBody>
      </p:sp>
      <p:cxnSp>
        <p:nvCxnSpPr>
          <p:cNvPr id="5" name="Conector de seta reta 4"/>
          <p:cNvCxnSpPr/>
          <p:nvPr/>
        </p:nvCxnSpPr>
        <p:spPr>
          <a:xfrm>
            <a:off x="4426226" y="4214191"/>
            <a:ext cx="1802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6707883" y="3752526"/>
            <a:ext cx="5128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palavra </a:t>
            </a:r>
            <a:r>
              <a:rPr lang="pt-BR" b="1" dirty="0"/>
              <a:t>do</a:t>
            </a:r>
            <a:r>
              <a:rPr lang="pt-BR" dirty="0"/>
              <a:t> é seguida do bloco do laço. A palavra </a:t>
            </a:r>
            <a:r>
              <a:rPr lang="pt-BR" b="1" dirty="0"/>
              <a:t>do</a:t>
            </a:r>
            <a:r>
              <a:rPr lang="pt-BR" dirty="0"/>
              <a:t> significa </a:t>
            </a:r>
            <a:r>
              <a:rPr lang="pt-BR" b="1" dirty="0"/>
              <a:t>faça</a:t>
            </a:r>
            <a:r>
              <a:rPr lang="pt-BR" dirty="0"/>
              <a:t>, ou seja, execute todo o bloco pelo menos uma vez.  </a:t>
            </a:r>
          </a:p>
        </p:txBody>
      </p:sp>
      <p:cxnSp>
        <p:nvCxnSpPr>
          <p:cNvPr id="7" name="Conector de seta reta 6"/>
          <p:cNvCxnSpPr/>
          <p:nvPr/>
        </p:nvCxnSpPr>
        <p:spPr>
          <a:xfrm>
            <a:off x="4426226" y="6470229"/>
            <a:ext cx="1802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325930" y="5521146"/>
            <a:ext cx="5608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a execução de todo o bloco, pelo menos um vez, o teste será avaliado. Enquanto o teste for </a:t>
            </a:r>
            <a:r>
              <a:rPr lang="pt-BR" b="1" dirty="0"/>
              <a:t>verdadeiro</a:t>
            </a:r>
            <a:r>
              <a:rPr lang="pt-BR" dirty="0"/>
              <a:t>, as instruções dentro do bloco será executadas mais um vez. Ele irá sair do laço quando o teste for </a:t>
            </a:r>
            <a:r>
              <a:rPr lang="pt-BR" b="1" dirty="0"/>
              <a:t>falso</a:t>
            </a:r>
            <a:r>
              <a:rPr lang="pt-BR" dirty="0"/>
              <a:t>.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909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21E46-3DD0-446E-BA31-253A6E63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programa que conta quantidade de par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232990-7D78-4B3C-9178-86BC8A74158B}"/>
              </a:ext>
            </a:extLst>
          </p:cNvPr>
          <p:cNvSpPr/>
          <p:nvPr/>
        </p:nvSpPr>
        <p:spPr>
          <a:xfrm>
            <a:off x="741485" y="1690688"/>
            <a:ext cx="999099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num;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par =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&amp;num);</a:t>
            </a:r>
          </a:p>
          <a:p>
            <a:pPr lvl="2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((num %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"Número par detectado.\n"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3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par++;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(num != -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"Você digitou %d número(s) par(es)."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par);</a:t>
            </a:r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320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Vetores (Arranjos)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 </a:t>
            </a:r>
            <a:r>
              <a:rPr lang="pt-BR" dirty="0" err="1"/>
              <a:t>array</a:t>
            </a:r>
            <a:r>
              <a:rPr lang="pt-BR" dirty="0"/>
              <a:t> (vetor) é uma sequencia não ordenada de elementos do mesmo tipo.</a:t>
            </a:r>
          </a:p>
          <a:p>
            <a:endParaRPr lang="pt-BR" dirty="0"/>
          </a:p>
          <a:p>
            <a:r>
              <a:rPr lang="pt-BR" dirty="0"/>
              <a:t>Arranjos podem ser:</a:t>
            </a:r>
          </a:p>
          <a:p>
            <a:pPr lvl="1"/>
            <a:r>
              <a:rPr lang="pt-BR" dirty="0"/>
              <a:t>Unidimensional (Vetor)</a:t>
            </a:r>
          </a:p>
          <a:p>
            <a:pPr lvl="1"/>
            <a:r>
              <a:rPr lang="pt-BR" dirty="0"/>
              <a:t>Bidimensional (Matriz)</a:t>
            </a:r>
          </a:p>
          <a:p>
            <a:pPr lvl="1"/>
            <a:endParaRPr lang="pt-BR" dirty="0"/>
          </a:p>
          <a:p>
            <a:r>
              <a:rPr lang="pt-BR" dirty="0"/>
              <a:t>Informalmente:</a:t>
            </a:r>
          </a:p>
          <a:p>
            <a:pPr lvl="1"/>
            <a:r>
              <a:rPr lang="pt-BR" dirty="0"/>
              <a:t>“arranjo é uma série de variáveis </a:t>
            </a:r>
            <a:r>
              <a:rPr lang="pt-BR" b="1" dirty="0"/>
              <a:t>do mesmo tipo </a:t>
            </a:r>
            <a:r>
              <a:rPr lang="pt-BR" dirty="0"/>
              <a:t>referenciadas por um único nome”</a:t>
            </a:r>
          </a:p>
          <a:p>
            <a:pPr lvl="1"/>
            <a:r>
              <a:rPr lang="pt-BR" dirty="0"/>
              <a:t>cada variável (elemento do arranjo) é diferenciada por um índice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3799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Vetores (Arranjos)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o vetor é declarado, o compilador alocará memória suficiente para conter todos os elementos do vetor.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FE3B8B0-8AC6-4FD4-9254-2694374E9FC5}"/>
              </a:ext>
            </a:extLst>
          </p:cNvPr>
          <p:cNvSpPr/>
          <p:nvPr/>
        </p:nvSpPr>
        <p:spPr>
          <a:xfrm>
            <a:off x="1324707" y="2895580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vetor 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lvl="2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vetor[i] = (i +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lvl="2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vetor[i]);</a:t>
            </a:r>
          </a:p>
          <a:p>
            <a:pPr lvl="2"/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703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Arranjos Multidimensionais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definir um vetor em que cada posição temos um outro vetor (matriz). Note: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EE4265-DEA2-4882-AC24-53628F83F62E}"/>
              </a:ext>
            </a:extLst>
          </p:cNvPr>
          <p:cNvSpPr/>
          <p:nvPr/>
        </p:nvSpPr>
        <p:spPr>
          <a:xfrm>
            <a:off x="3760619" y="2925615"/>
            <a:ext cx="31854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matriz [</a:t>
            </a:r>
            <a:r>
              <a:rPr lang="pt-BR" sz="20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pt-BR" sz="20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158578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ACA95-8228-44A2-A167-6B2F1BD7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Arranjos Multidimensionais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0014D11-5309-4D48-855E-E9A802BF2604}"/>
              </a:ext>
            </a:extLst>
          </p:cNvPr>
          <p:cNvSpPr/>
          <p:nvPr/>
        </p:nvSpPr>
        <p:spPr>
          <a:xfrm>
            <a:off x="838200" y="1471910"/>
            <a:ext cx="6096000" cy="53860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matriz 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j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lvl="2"/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(j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j++)</a:t>
            </a:r>
          </a:p>
          <a:p>
            <a:pPr lvl="3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matriz[i][j] = num++;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pPr lvl="2"/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(j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j &lt;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j++)</a:t>
            </a:r>
          </a:p>
          <a:p>
            <a:pPr lvl="3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matriz[i][j]);</a:t>
            </a:r>
          </a:p>
          <a:p>
            <a:pPr lvl="2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379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“</a:t>
            </a:r>
            <a:r>
              <a:rPr lang="pt-BR" dirty="0" err="1"/>
              <a:t>main</a:t>
            </a:r>
            <a:r>
              <a:rPr lang="pt-BR" dirty="0"/>
              <a:t>” é a função principal do programa. É nesta função que todos os comandos são inicialmente executados. </a:t>
            </a:r>
          </a:p>
          <a:p>
            <a:endParaRPr lang="pt-BR" dirty="0"/>
          </a:p>
          <a:p>
            <a:r>
              <a:rPr lang="pt-BR" dirty="0"/>
              <a:t>No entanto, podemos criar outras funções para manter nosso código mais organizado. </a:t>
            </a:r>
          </a:p>
          <a:p>
            <a:endParaRPr lang="pt-BR" dirty="0"/>
          </a:p>
          <a:p>
            <a:r>
              <a:rPr lang="pt-BR" dirty="0"/>
              <a:t>Por exemplo, poderíamos criar uma função para a imprimir na tela a soma de dois números, e chamar esta função dentro da função principal.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803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Funções e procedimentos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238750" cy="4351338"/>
          </a:xfrm>
        </p:spPr>
        <p:txBody>
          <a:bodyPr/>
          <a:lstStyle/>
          <a:p>
            <a:r>
              <a:rPr lang="pt-BR" dirty="0"/>
              <a:t>Observe ao lado que criamos uma função do tipo </a:t>
            </a:r>
            <a:r>
              <a:rPr lang="pt-BR" b="1" dirty="0" err="1"/>
              <a:t>void</a:t>
            </a:r>
            <a:r>
              <a:rPr lang="pt-BR" dirty="0"/>
              <a:t> que faz a soma de dois números digitados pelo usuário.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28</a:t>
            </a:fld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76F0CB0-E76D-468E-8E45-A28F6CE65D87}"/>
              </a:ext>
            </a:extLst>
          </p:cNvPr>
          <p:cNvSpPr/>
          <p:nvPr/>
        </p:nvSpPr>
        <p:spPr>
          <a:xfrm>
            <a:off x="6485792" y="802579"/>
            <a:ext cx="541899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soma 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segundo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(a + b));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soma();</a:t>
            </a: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7E2672-73F8-477E-8D36-253CB2006517}"/>
              </a:ext>
            </a:extLst>
          </p:cNvPr>
          <p:cNvSpPr txBox="1"/>
          <p:nvPr/>
        </p:nvSpPr>
        <p:spPr>
          <a:xfrm>
            <a:off x="976679" y="4001294"/>
            <a:ext cx="46767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 função é do tipo </a:t>
            </a:r>
            <a:r>
              <a:rPr lang="pt-BR" sz="2000" b="1" dirty="0" err="1"/>
              <a:t>void</a:t>
            </a:r>
            <a:r>
              <a:rPr lang="pt-BR" sz="2000" dirty="0"/>
              <a:t>, significa que não retorna nenhum valor para quem a chamou. Funções do tipo </a:t>
            </a:r>
            <a:r>
              <a:rPr lang="pt-BR" sz="2000" b="1" dirty="0" err="1"/>
              <a:t>void</a:t>
            </a:r>
            <a:r>
              <a:rPr lang="pt-BR" sz="2000" dirty="0"/>
              <a:t> são chamados de procedimento. Elas executam algum tipo de processamento (como calcular uma operação entre dois números) e não retornam nada.</a:t>
            </a:r>
          </a:p>
        </p:txBody>
      </p:sp>
    </p:spTree>
    <p:extLst>
      <p:ext uri="{BB962C8B-B14F-4D97-AF65-F5344CB8AC3E}">
        <p14:creationId xmlns:p14="http://schemas.microsoft.com/office/powerpoint/2010/main" val="1556792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Funções e procedimentos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29</a:t>
            </a:fld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459581" y="1543019"/>
            <a:ext cx="46767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As funções e procedimentos também podem receber outras variáveis como parâmetro (argumentos). Observe que agora a leitura dos dois número é realizada na função principal e estas duas variáveis são passadas para a função como argumento.</a:t>
            </a:r>
          </a:p>
          <a:p>
            <a:endParaRPr lang="pt-BR" sz="2000" dirty="0"/>
          </a:p>
          <a:p>
            <a:endParaRPr lang="pt-BR" sz="2000" dirty="0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4867274" y="1990725"/>
            <a:ext cx="1238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C455B5CD-9D41-4593-9A3B-192F14009FA3}"/>
              </a:ext>
            </a:extLst>
          </p:cNvPr>
          <p:cNvSpPr/>
          <p:nvPr/>
        </p:nvSpPr>
        <p:spPr>
          <a:xfrm>
            <a:off x="6846277" y="454501"/>
            <a:ext cx="6096000" cy="61555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soma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(a + b));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segundo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soma(a,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763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3DC21-4F43-48D1-8C03-F2A26ED4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e procedimentos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A46905-1C72-4F18-A6D8-2CE44CE8B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t-BR" dirty="0"/>
              <a:t>Podem também retornar valores para a chamada (funções). Observe que a função não é mais do tipo </a:t>
            </a:r>
            <a:r>
              <a:rPr lang="pt-BR" b="1" dirty="0" err="1"/>
              <a:t>void</a:t>
            </a:r>
            <a:r>
              <a:rPr lang="pt-BR" b="1" dirty="0"/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7AFE94-1032-44D6-95A7-EF685E1962D9}"/>
              </a:ext>
            </a:extLst>
          </p:cNvPr>
          <p:cNvSpPr/>
          <p:nvPr/>
        </p:nvSpPr>
        <p:spPr>
          <a:xfrm>
            <a:off x="6907824" y="702469"/>
            <a:ext cx="6096000" cy="61555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soma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b)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segundo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resultado = soma(a,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568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Funções e procedimentos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238750" cy="4351338"/>
          </a:xfrm>
        </p:spPr>
        <p:txBody>
          <a:bodyPr/>
          <a:lstStyle/>
          <a:p>
            <a:r>
              <a:rPr lang="pt-BR" dirty="0"/>
              <a:t>Para entender melhor a questão de visibilidade na memória das variáveis, veja código ao lado onde criamos uma função que calcula o quadrado de um número.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31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076951" y="1531543"/>
            <a:ext cx="611505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86DB018-9C2F-4822-AABE-74D71481D6AE}"/>
              </a:ext>
            </a:extLst>
          </p:cNvPr>
          <p:cNvSpPr/>
          <p:nvPr/>
        </p:nvSpPr>
        <p:spPr>
          <a:xfrm>
            <a:off x="6723185" y="948238"/>
            <a:ext cx="523875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quadrado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a * a;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resultado = quadrado(a);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734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Funções e procedimentos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32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076951" y="1531543"/>
            <a:ext cx="611505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304925" y="4845050"/>
          <a:ext cx="1223964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7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CaixaDeTexto 4"/>
          <p:cNvSpPr txBox="1">
            <a:spLocks noChangeArrowheads="1"/>
          </p:cNvSpPr>
          <p:nvPr/>
        </p:nvSpPr>
        <p:spPr bwMode="auto">
          <a:xfrm>
            <a:off x="441325" y="3910013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2" name="CaixaDeTexto 5"/>
          <p:cNvSpPr txBox="1">
            <a:spLocks noChangeArrowheads="1"/>
          </p:cNvSpPr>
          <p:nvPr/>
        </p:nvSpPr>
        <p:spPr bwMode="auto">
          <a:xfrm>
            <a:off x="584200" y="48450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7"/>
          <p:cNvCxnSpPr>
            <a:cxnSpLocks noChangeShapeType="1"/>
          </p:cNvCxnSpPr>
          <p:nvPr/>
        </p:nvCxnSpPr>
        <p:spPr bwMode="auto">
          <a:xfrm>
            <a:off x="873125" y="5060950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CaixaDeTexto 7"/>
          <p:cNvSpPr txBox="1"/>
          <p:nvPr/>
        </p:nvSpPr>
        <p:spPr>
          <a:xfrm>
            <a:off x="4195396" y="4379491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que a  = 2</a:t>
            </a: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6335346" y="4554632"/>
            <a:ext cx="565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2CBD5384-3A21-490D-8CAC-BDEF54D5DCE1}"/>
              </a:ext>
            </a:extLst>
          </p:cNvPr>
          <p:cNvSpPr/>
          <p:nvPr/>
        </p:nvSpPr>
        <p:spPr>
          <a:xfrm>
            <a:off x="6723185" y="948238"/>
            <a:ext cx="523875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quadrado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a * a;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("%d",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resultado = quadrado(a);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209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Funções e procedimentos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33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076951" y="1531543"/>
            <a:ext cx="611505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/>
          </p:nvPr>
        </p:nvGraphicFramePr>
        <p:xfrm>
          <a:off x="1304925" y="4845050"/>
          <a:ext cx="1223964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7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CaixaDeTexto 4"/>
          <p:cNvSpPr txBox="1">
            <a:spLocks noChangeArrowheads="1"/>
          </p:cNvSpPr>
          <p:nvPr/>
        </p:nvSpPr>
        <p:spPr bwMode="auto">
          <a:xfrm>
            <a:off x="441325" y="3910013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2" name="CaixaDeTexto 5"/>
          <p:cNvSpPr txBox="1">
            <a:spLocks noChangeArrowheads="1"/>
          </p:cNvSpPr>
          <p:nvPr/>
        </p:nvSpPr>
        <p:spPr bwMode="auto">
          <a:xfrm>
            <a:off x="584200" y="4845050"/>
            <a:ext cx="2952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65000"/>
                  </a:schemeClr>
                </a:solidFill>
              </a:rPr>
              <a:t>a</a:t>
            </a:r>
          </a:p>
        </p:txBody>
      </p:sp>
      <p:cxnSp>
        <p:nvCxnSpPr>
          <p:cNvPr id="13" name="Conector de seta reta 7"/>
          <p:cNvCxnSpPr>
            <a:cxnSpLocks noChangeShapeType="1"/>
          </p:cNvCxnSpPr>
          <p:nvPr/>
        </p:nvCxnSpPr>
        <p:spPr bwMode="auto">
          <a:xfrm>
            <a:off x="873125" y="5060950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CaixaDeTexto 5"/>
          <p:cNvSpPr txBox="1">
            <a:spLocks noChangeArrowheads="1"/>
          </p:cNvSpPr>
          <p:nvPr/>
        </p:nvSpPr>
        <p:spPr bwMode="auto">
          <a:xfrm>
            <a:off x="584200" y="55880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6" name="Conector de seta reta 7"/>
          <p:cNvCxnSpPr>
            <a:cxnSpLocks noChangeShapeType="1"/>
          </p:cNvCxnSpPr>
          <p:nvPr/>
        </p:nvCxnSpPr>
        <p:spPr bwMode="auto">
          <a:xfrm>
            <a:off x="873125" y="5803900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CaixaDeTexto 2"/>
          <p:cNvSpPr txBox="1"/>
          <p:nvPr/>
        </p:nvSpPr>
        <p:spPr>
          <a:xfrm>
            <a:off x="1160463" y="1790700"/>
            <a:ext cx="4211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momento em que a função é chamada, um novo espaço de memória é criado para a nova variável “a”, que pertence apenas à função </a:t>
            </a:r>
            <a:r>
              <a:rPr lang="pt-BR" i="1" dirty="0"/>
              <a:t>quadrado</a:t>
            </a:r>
            <a:r>
              <a:rPr lang="pt-BR" dirty="0"/>
              <a:t>. É passado como parâmetro para a função apena uma </a:t>
            </a:r>
            <a:r>
              <a:rPr lang="pt-BR" b="1" dirty="0"/>
              <a:t>cópia</a:t>
            </a:r>
            <a:r>
              <a:rPr lang="pt-BR" dirty="0"/>
              <a:t> do valor da variável.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E35DA7-580B-4109-B6B0-3BC9CCBA2EB3}"/>
              </a:ext>
            </a:extLst>
          </p:cNvPr>
          <p:cNvSpPr txBox="1"/>
          <p:nvPr/>
        </p:nvSpPr>
        <p:spPr>
          <a:xfrm>
            <a:off x="4195396" y="4379491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que a  = 2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F9A6E3F7-8162-40E8-BAEB-35D68D6836DF}"/>
              </a:ext>
            </a:extLst>
          </p:cNvPr>
          <p:cNvCxnSpPr/>
          <p:nvPr/>
        </p:nvCxnSpPr>
        <p:spPr>
          <a:xfrm>
            <a:off x="6335346" y="4554632"/>
            <a:ext cx="565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C84C595D-B42A-40C5-BF6B-791A2D1738C0}"/>
              </a:ext>
            </a:extLst>
          </p:cNvPr>
          <p:cNvSpPr/>
          <p:nvPr/>
        </p:nvSpPr>
        <p:spPr>
          <a:xfrm>
            <a:off x="6723185" y="948238"/>
            <a:ext cx="523875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quadrado 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a)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a * a;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resultado = quadrado(a);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18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Funções e procedimentos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34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076951" y="1531543"/>
            <a:ext cx="611505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/>
          </p:nvPr>
        </p:nvGraphicFramePr>
        <p:xfrm>
          <a:off x="1304925" y="4845050"/>
          <a:ext cx="1223964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7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CaixaDeTexto 4"/>
          <p:cNvSpPr txBox="1">
            <a:spLocks noChangeArrowheads="1"/>
          </p:cNvSpPr>
          <p:nvPr/>
        </p:nvSpPr>
        <p:spPr bwMode="auto">
          <a:xfrm>
            <a:off x="441325" y="3910013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2" name="CaixaDeTexto 5"/>
          <p:cNvSpPr txBox="1">
            <a:spLocks noChangeArrowheads="1"/>
          </p:cNvSpPr>
          <p:nvPr/>
        </p:nvSpPr>
        <p:spPr bwMode="auto">
          <a:xfrm>
            <a:off x="584200" y="4845050"/>
            <a:ext cx="2952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65000"/>
                  </a:schemeClr>
                </a:solidFill>
              </a:rPr>
              <a:t>a</a:t>
            </a:r>
          </a:p>
        </p:txBody>
      </p:sp>
      <p:cxnSp>
        <p:nvCxnSpPr>
          <p:cNvPr id="13" name="Conector de seta reta 7"/>
          <p:cNvCxnSpPr>
            <a:cxnSpLocks noChangeShapeType="1"/>
          </p:cNvCxnSpPr>
          <p:nvPr/>
        </p:nvCxnSpPr>
        <p:spPr bwMode="auto">
          <a:xfrm>
            <a:off x="873125" y="5060950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CaixaDeTexto 5"/>
          <p:cNvSpPr txBox="1">
            <a:spLocks noChangeArrowheads="1"/>
          </p:cNvSpPr>
          <p:nvPr/>
        </p:nvSpPr>
        <p:spPr bwMode="auto">
          <a:xfrm>
            <a:off x="584200" y="55880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6" name="Conector de seta reta 7"/>
          <p:cNvCxnSpPr>
            <a:cxnSpLocks noChangeShapeType="1"/>
          </p:cNvCxnSpPr>
          <p:nvPr/>
        </p:nvCxnSpPr>
        <p:spPr bwMode="auto">
          <a:xfrm>
            <a:off x="873125" y="5803900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CaixaDeTexto 2"/>
          <p:cNvSpPr txBox="1"/>
          <p:nvPr/>
        </p:nvSpPr>
        <p:spPr>
          <a:xfrm>
            <a:off x="1160463" y="1790700"/>
            <a:ext cx="4211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valor de “a” é atualizado na memória e retornado para a função principal.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579518C-03D2-4912-8B82-72D8E860730C}"/>
              </a:ext>
            </a:extLst>
          </p:cNvPr>
          <p:cNvSpPr txBox="1"/>
          <p:nvPr/>
        </p:nvSpPr>
        <p:spPr>
          <a:xfrm>
            <a:off x="4195396" y="4379491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que a  = 2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CC751D64-8B3D-4C1D-93A0-D64C45CEED60}"/>
              </a:ext>
            </a:extLst>
          </p:cNvPr>
          <p:cNvCxnSpPr/>
          <p:nvPr/>
        </p:nvCxnSpPr>
        <p:spPr>
          <a:xfrm>
            <a:off x="6335346" y="4554632"/>
            <a:ext cx="565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2B6E61EB-FE9D-406F-8605-EDFEF220CB33}"/>
              </a:ext>
            </a:extLst>
          </p:cNvPr>
          <p:cNvSpPr/>
          <p:nvPr/>
        </p:nvSpPr>
        <p:spPr>
          <a:xfrm>
            <a:off x="6723185" y="948238"/>
            <a:ext cx="523875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quadrado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a = a * a;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a;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resultado = quadrado(a);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503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Funções e procedimentos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35</a:t>
            </a:fld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076951" y="1531543"/>
            <a:ext cx="611505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/>
          </p:nvPr>
        </p:nvGraphicFramePr>
        <p:xfrm>
          <a:off x="1304925" y="4845050"/>
          <a:ext cx="1223964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7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CaixaDeTexto 4"/>
          <p:cNvSpPr txBox="1">
            <a:spLocks noChangeArrowheads="1"/>
          </p:cNvSpPr>
          <p:nvPr/>
        </p:nvSpPr>
        <p:spPr bwMode="auto">
          <a:xfrm>
            <a:off x="441325" y="3910013"/>
            <a:ext cx="1081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2" name="CaixaDeTexto 5"/>
          <p:cNvSpPr txBox="1">
            <a:spLocks noChangeArrowheads="1"/>
          </p:cNvSpPr>
          <p:nvPr/>
        </p:nvSpPr>
        <p:spPr bwMode="auto">
          <a:xfrm>
            <a:off x="584200" y="4845050"/>
            <a:ext cx="2952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/>
              <a:t>a</a:t>
            </a:r>
          </a:p>
        </p:txBody>
      </p:sp>
      <p:cxnSp>
        <p:nvCxnSpPr>
          <p:cNvPr id="13" name="Conector de seta reta 7"/>
          <p:cNvCxnSpPr>
            <a:cxnSpLocks noChangeShapeType="1"/>
          </p:cNvCxnSpPr>
          <p:nvPr/>
        </p:nvCxnSpPr>
        <p:spPr bwMode="auto">
          <a:xfrm>
            <a:off x="873125" y="5060950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CaixaDeTexto 5"/>
          <p:cNvSpPr txBox="1">
            <a:spLocks noChangeArrowheads="1"/>
          </p:cNvSpPr>
          <p:nvPr/>
        </p:nvSpPr>
        <p:spPr bwMode="auto">
          <a:xfrm>
            <a:off x="584200" y="5588000"/>
            <a:ext cx="2952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65000"/>
                  </a:schemeClr>
                </a:solidFill>
              </a:rPr>
              <a:t>a</a:t>
            </a:r>
          </a:p>
        </p:txBody>
      </p:sp>
      <p:cxnSp>
        <p:nvCxnSpPr>
          <p:cNvPr id="16" name="Conector de seta reta 7"/>
          <p:cNvCxnSpPr>
            <a:cxnSpLocks noChangeShapeType="1"/>
          </p:cNvCxnSpPr>
          <p:nvPr/>
        </p:nvCxnSpPr>
        <p:spPr bwMode="auto">
          <a:xfrm>
            <a:off x="873125" y="5803900"/>
            <a:ext cx="2873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CaixaDeTexto 2"/>
          <p:cNvSpPr txBox="1"/>
          <p:nvPr/>
        </p:nvSpPr>
        <p:spPr>
          <a:xfrm>
            <a:off x="1160463" y="1790700"/>
            <a:ext cx="4211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agora que “a” pertencente a função </a:t>
            </a:r>
            <a:r>
              <a:rPr lang="pt-BR" i="1" dirty="0"/>
              <a:t>quadrado</a:t>
            </a:r>
            <a:r>
              <a:rPr lang="pt-BR" dirty="0"/>
              <a:t> fica inacessível e que a variável “resultado” criada recebeu uma cópia de seu valor. A variável “a” pertencente à função principal não sofreu qualquer alteração.</a:t>
            </a:r>
          </a:p>
        </p:txBody>
      </p:sp>
      <p:sp>
        <p:nvSpPr>
          <p:cNvPr id="20" name="CaixaDeTexto 5"/>
          <p:cNvSpPr txBox="1">
            <a:spLocks noChangeArrowheads="1"/>
          </p:cNvSpPr>
          <p:nvPr/>
        </p:nvSpPr>
        <p:spPr bwMode="auto">
          <a:xfrm>
            <a:off x="1791431" y="4181256"/>
            <a:ext cx="10701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/>
              <a:t>resultado</a:t>
            </a:r>
          </a:p>
        </p:txBody>
      </p:sp>
      <p:cxnSp>
        <p:nvCxnSpPr>
          <p:cNvPr id="21" name="Conector de seta reta 7"/>
          <p:cNvCxnSpPr>
            <a:cxnSpLocks noChangeShapeType="1"/>
          </p:cNvCxnSpPr>
          <p:nvPr/>
        </p:nvCxnSpPr>
        <p:spPr bwMode="auto">
          <a:xfrm>
            <a:off x="2303463" y="4538920"/>
            <a:ext cx="0" cy="20984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Conector de Seta Reta 6"/>
          <p:cNvCxnSpPr/>
          <p:nvPr/>
        </p:nvCxnSpPr>
        <p:spPr>
          <a:xfrm flipH="1" flipV="1">
            <a:off x="1522413" y="6057900"/>
            <a:ext cx="277812" cy="298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1768617" y="6190734"/>
            <a:ext cx="293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Lixo de memória (inacessível)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049693-B7AD-403D-956B-6D2F4FB4A283}"/>
              </a:ext>
            </a:extLst>
          </p:cNvPr>
          <p:cNvSpPr txBox="1"/>
          <p:nvPr/>
        </p:nvSpPr>
        <p:spPr>
          <a:xfrm>
            <a:off x="4195396" y="4379491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que a  = 2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EE26A105-B23D-4D8D-8B65-48571EDD67C6}"/>
              </a:ext>
            </a:extLst>
          </p:cNvPr>
          <p:cNvCxnSpPr/>
          <p:nvPr/>
        </p:nvCxnSpPr>
        <p:spPr>
          <a:xfrm>
            <a:off x="6335346" y="4554632"/>
            <a:ext cx="565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3E2ED1E7-89EA-4E14-927C-01E2A485E580}"/>
              </a:ext>
            </a:extLst>
          </p:cNvPr>
          <p:cNvSpPr/>
          <p:nvPr/>
        </p:nvSpPr>
        <p:spPr>
          <a:xfrm>
            <a:off x="6723185" y="948238"/>
            <a:ext cx="5238750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quadrado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a * a;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primeiro número: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resultado = quadrado(a);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87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2EC98-7A7C-4050-AEAD-170BA6D8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B2701A9-54D7-4F70-9A08-9F108CCB3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Construa uma função </a:t>
                </a:r>
                <a:r>
                  <a:rPr lang="pt-BR" b="1" dirty="0"/>
                  <a:t>encaixa</a:t>
                </a:r>
                <a:r>
                  <a:rPr lang="pt-BR" dirty="0"/>
                  <a:t> que dados dois inteiros positivos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err="1"/>
                  <a:t>veriﬁca</a:t>
                </a:r>
                <a:r>
                  <a:rPr lang="pt-BR" dirty="0"/>
                  <a:t> 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pt-BR" dirty="0"/>
                  <a:t> corresponde aos últimos dígitos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Exemplo: </a:t>
                </a:r>
              </a:p>
              <a:p>
                <a:pPr marL="0" indent="0">
                  <a:buNone/>
                </a:pPr>
                <a:r>
                  <a:rPr lang="pt-BR" dirty="0"/>
                  <a:t>	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	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pt-BR" dirty="0"/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567890 	890 	=&gt; encaixa </a:t>
                </a:r>
              </a:p>
              <a:p>
                <a:pPr marL="514350" indent="-514350">
                  <a:buAutoNum type="arabicPlain" startAt="1243"/>
                </a:pPr>
                <a:r>
                  <a:rPr lang="pt-BR" dirty="0"/>
                  <a:t> 		1243 	=&gt; encaixa </a:t>
                </a:r>
              </a:p>
              <a:p>
                <a:pPr marL="0" indent="0">
                  <a:buNone/>
                </a:pPr>
                <a:r>
                  <a:rPr lang="pt-BR" dirty="0"/>
                  <a:t>2457 		245 	=&gt; não encaixa </a:t>
                </a:r>
              </a:p>
              <a:p>
                <a:pPr marL="0" indent="0">
                  <a:buNone/>
                </a:pPr>
                <a:r>
                  <a:rPr lang="pt-BR" dirty="0"/>
                  <a:t>457 		2457 	=&gt; não encaixa</a:t>
                </a:r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B2701A9-54D7-4F70-9A08-9F108CCB3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513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76ABC-FDAA-4D6F-9E3F-6757174FD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próxima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CB61C4-8FD2-4F15-8712-9E3AF55D2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Recursividade</a:t>
            </a:r>
          </a:p>
        </p:txBody>
      </p:sp>
    </p:spTree>
    <p:extLst>
      <p:ext uri="{BB962C8B-B14F-4D97-AF65-F5344CB8AC3E}">
        <p14:creationId xmlns:p14="http://schemas.microsoft.com/office/powerpoint/2010/main" val="2592654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3984B-E433-4E47-8CFC-09D98F4D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ECBBF0-205F-4C11-BC29-2ECFE9D5D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3816" cy="4351338"/>
          </a:xfrm>
        </p:spPr>
        <p:txBody>
          <a:bodyPr/>
          <a:lstStyle/>
          <a:p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  Projeto de algoritmos:    com implementações em Pascal e C.  3. ed. rev. e </a:t>
            </a:r>
            <a:r>
              <a:rPr lang="pt-BR" dirty="0" err="1"/>
              <a:t>ampl</a:t>
            </a:r>
            <a:r>
              <a:rPr lang="pt-BR" dirty="0"/>
              <a:t>.   São Paulo:  </a:t>
            </a:r>
            <a:r>
              <a:rPr lang="pt-BR" dirty="0" err="1"/>
              <a:t>Cengage</a:t>
            </a:r>
            <a:r>
              <a:rPr lang="pt-BR" dirty="0"/>
              <a:t> Learning,  c2011.   </a:t>
            </a:r>
            <a:r>
              <a:rPr lang="pt-BR" dirty="0" err="1"/>
              <a:t>xx</a:t>
            </a:r>
            <a:r>
              <a:rPr lang="pt-BR" dirty="0"/>
              <a:t>, 639 p.  ISBN 9788522110506.  (Disponível no Acervo). Nº de Exemplares: 13.</a:t>
            </a:r>
          </a:p>
          <a:p>
            <a:endParaRPr lang="pt-BR" dirty="0"/>
          </a:p>
          <a:p>
            <a:r>
              <a:rPr lang="pt-BR" dirty="0"/>
              <a:t>http://www2.dcc.ufmg.br/livros/algoritmos/</a:t>
            </a:r>
          </a:p>
        </p:txBody>
      </p:sp>
      <p:pic>
        <p:nvPicPr>
          <p:cNvPr id="1026" name="Picture 2" descr="http://www2.dcc.ufmg.br/livros/algoritmos/imagens/cabecalho-livro.gif">
            <a:extLst>
              <a:ext uri="{FF2B5EF4-FFF2-40B4-BE49-F238E27FC236}">
                <a16:creationId xmlns:a16="http://schemas.microsoft.com/office/drawing/2014/main" id="{2AF3DD6F-DE61-4A7C-8346-92D83F307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182" y="182562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973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ED840-C021-40D7-B272-AD587A33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34CE4B-36DF-4ACA-A33D-51F2C9611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t-BR" dirty="0"/>
              <a:t>CORMEN, Thomas H.  et al.   Algoritmos:    teoria e prática.    Rio de Janeiro, RJ:  </a:t>
            </a:r>
            <a:r>
              <a:rPr lang="pt-BR" dirty="0" err="1"/>
              <a:t>Elsevier</a:t>
            </a:r>
            <a:r>
              <a:rPr lang="pt-BR" dirty="0"/>
              <a:t>,  Campus,  c2012.   </a:t>
            </a:r>
            <a:r>
              <a:rPr lang="pt-BR" dirty="0" err="1"/>
              <a:t>xvi</a:t>
            </a:r>
            <a:r>
              <a:rPr lang="pt-BR" dirty="0"/>
              <a:t>, 926 p.  ISBN 9788535236996.  (Disponível no Acervo). Nº de Exemplares: 4.</a:t>
            </a:r>
          </a:p>
          <a:p>
            <a:endParaRPr lang="pt-BR" dirty="0"/>
          </a:p>
        </p:txBody>
      </p:sp>
      <p:pic>
        <p:nvPicPr>
          <p:cNvPr id="2052" name="Picture 4" descr="Resultado de imagem para Algoritmos: teoria e prática.">
            <a:extLst>
              <a:ext uri="{FF2B5EF4-FFF2-40B4-BE49-F238E27FC236}">
                <a16:creationId xmlns:a16="http://schemas.microsoft.com/office/drawing/2014/main" id="{65640F69-1783-4B94-8109-B707C88F9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126" y="1838294"/>
            <a:ext cx="5123704" cy="373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938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1929</Words>
  <Application>Microsoft Office PowerPoint</Application>
  <PresentationFormat>Widescreen</PresentationFormat>
  <Paragraphs>418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Consolas</vt:lpstr>
      <vt:lpstr>Times New Roman</vt:lpstr>
      <vt:lpstr>Tema do Office</vt:lpstr>
      <vt:lpstr>Algoritmos e Estruturas de Dados II</vt:lpstr>
      <vt:lpstr>Acesso ao material</vt:lpstr>
      <vt:lpstr>Algoritmos</vt:lpstr>
      <vt:lpstr>Algoritmos</vt:lpstr>
      <vt:lpstr>Estruturas de Dados</vt:lpstr>
      <vt:lpstr>Estruturas de Dados</vt:lpstr>
      <vt:lpstr>Estruturas de Dados</vt:lpstr>
      <vt:lpstr>Estruturas de Dados</vt:lpstr>
      <vt:lpstr>Etapas do desenvolvimento</vt:lpstr>
      <vt:lpstr>Conceitos Importantes</vt:lpstr>
      <vt:lpstr>Variáveis</vt:lpstr>
      <vt:lpstr>Conceitos Importantes</vt:lpstr>
      <vt:lpstr>Conceitos Importantes</vt:lpstr>
      <vt:lpstr>Conceitos Importantes</vt:lpstr>
      <vt:lpstr>Tipos de Estruturas</vt:lpstr>
      <vt:lpstr>Tipos de Estruturas</vt:lpstr>
      <vt:lpstr>Tipos de Estruturas</vt:lpstr>
      <vt:lpstr>Sintaxe do laço for</vt:lpstr>
      <vt:lpstr>Laços for aninhados</vt:lpstr>
      <vt:lpstr>Laço while</vt:lpstr>
      <vt:lpstr>Laços do-while</vt:lpstr>
      <vt:lpstr>O programa que conta quantidade de par</vt:lpstr>
      <vt:lpstr>Vetores (Arranjos)</vt:lpstr>
      <vt:lpstr>Vetores (Arranjos)</vt:lpstr>
      <vt:lpstr>Arranjos Multidimensionais</vt:lpstr>
      <vt:lpstr>Arranjos Multidimensionais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Funções e procedimentos</vt:lpstr>
      <vt:lpstr>Exercícios</vt:lpstr>
      <vt:lpstr>Na próxima aula</vt:lpstr>
      <vt:lpstr>Principais referências</vt:lpstr>
      <vt:lpstr>Principais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 II</dc:title>
  <dc:creator>Henrique Silva</dc:creator>
  <cp:lastModifiedBy>Henrique Silva</cp:lastModifiedBy>
  <cp:revision>13</cp:revision>
  <dcterms:created xsi:type="dcterms:W3CDTF">2018-02-01T11:00:13Z</dcterms:created>
  <dcterms:modified xsi:type="dcterms:W3CDTF">2018-02-06T19:00:41Z</dcterms:modified>
</cp:coreProperties>
</file>