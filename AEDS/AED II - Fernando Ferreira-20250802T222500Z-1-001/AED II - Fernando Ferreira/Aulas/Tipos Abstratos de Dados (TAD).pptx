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8" r:id="rId5"/>
    <p:sldId id="279" r:id="rId6"/>
    <p:sldId id="272" r:id="rId7"/>
    <p:sldId id="273" r:id="rId8"/>
    <p:sldId id="258" r:id="rId9"/>
    <p:sldId id="259" r:id="rId10"/>
    <p:sldId id="275" r:id="rId11"/>
    <p:sldId id="276" r:id="rId12"/>
    <p:sldId id="277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80" r:id="rId22"/>
    <p:sldId id="268" r:id="rId23"/>
    <p:sldId id="269" r:id="rId24"/>
    <p:sldId id="281" r:id="rId25"/>
    <p:sldId id="282" r:id="rId26"/>
    <p:sldId id="283" r:id="rId27"/>
    <p:sldId id="257" r:id="rId2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5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17/08/2011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Tipos Abstratos de Dados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Prof</a:t>
            </a:r>
            <a:r>
              <a:rPr lang="pt-BR" dirty="0" smtClean="0"/>
              <a:t>. </a:t>
            </a:r>
            <a:r>
              <a:rPr lang="pt-BR" dirty="0" smtClean="0"/>
              <a:t>Henrique </a:t>
            </a:r>
            <a:r>
              <a:rPr lang="pt-BR" dirty="0" smtClean="0"/>
              <a:t>Batista da Silva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639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Abstração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Processo </a:t>
            </a:r>
            <a:r>
              <a:rPr lang="pt-BR" dirty="0"/>
              <a:t>de representar um grupo de entidades através de seus atributos </a:t>
            </a:r>
            <a:r>
              <a:rPr lang="pt-BR" dirty="0" smtClean="0"/>
              <a:t>comuns.</a:t>
            </a:r>
          </a:p>
          <a:p>
            <a:endParaRPr lang="pt-BR" dirty="0" smtClean="0"/>
          </a:p>
          <a:p>
            <a:r>
              <a:rPr lang="pt-BR" dirty="0" smtClean="0"/>
              <a:t>Feita </a:t>
            </a:r>
            <a:r>
              <a:rPr lang="pt-BR" dirty="0"/>
              <a:t>a abstração, cada entidade particular (instância) do grupo é considerada somente pelos seus atributos </a:t>
            </a:r>
            <a:r>
              <a:rPr lang="pt-BR" dirty="0" smtClean="0"/>
              <a:t>particulares.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68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Encapsulamento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</a:t>
            </a:r>
            <a:r>
              <a:rPr lang="pt-BR" dirty="0" smtClean="0"/>
              <a:t>ncapsulamento é um agrupamento </a:t>
            </a:r>
            <a:r>
              <a:rPr lang="pt-BR" dirty="0"/>
              <a:t>de </a:t>
            </a:r>
            <a:r>
              <a:rPr lang="pt-BR" dirty="0" smtClean="0"/>
              <a:t>subprogramas + dados </a:t>
            </a:r>
            <a:r>
              <a:rPr lang="pt-BR" dirty="0"/>
              <a:t>que é </a:t>
            </a:r>
            <a:r>
              <a:rPr lang="pt-BR" dirty="0" smtClean="0"/>
              <a:t>compilado separada/independentemente.</a:t>
            </a:r>
            <a:endParaRPr lang="pt-BR" dirty="0"/>
          </a:p>
          <a:p>
            <a:r>
              <a:rPr lang="pt-BR" dirty="0" smtClean="0"/>
              <a:t>Um </a:t>
            </a:r>
            <a:r>
              <a:rPr lang="pt-BR" dirty="0"/>
              <a:t>encapsulamento é portanto um sistema </a:t>
            </a:r>
            <a:r>
              <a:rPr lang="pt-BR" dirty="0" smtClean="0"/>
              <a:t>abstraído. </a:t>
            </a:r>
          </a:p>
          <a:p>
            <a:r>
              <a:rPr lang="pt-BR" dirty="0" smtClean="0"/>
              <a:t>Muitas </a:t>
            </a:r>
            <a:r>
              <a:rPr lang="pt-BR" dirty="0"/>
              <a:t>vezes os encapsulamentos são colocados em </a:t>
            </a:r>
            <a:r>
              <a:rPr lang="pt-BR" dirty="0" smtClean="0"/>
              <a:t>bibliotecas.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45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Encapsulamento pode ser definido como a tarefa de tornar um objeto o mais </a:t>
            </a:r>
            <a:r>
              <a:rPr lang="pt-BR" dirty="0" smtClean="0"/>
              <a:t>auto suficiente possível.</a:t>
            </a:r>
          </a:p>
          <a:p>
            <a:endParaRPr lang="pt-BR" dirty="0" smtClean="0"/>
          </a:p>
          <a:p>
            <a:r>
              <a:rPr lang="pt-BR" i="1" dirty="0" smtClean="0"/>
              <a:t>Para se dirigir um carro não é necessário entender como que o motor do carro funciona.</a:t>
            </a:r>
          </a:p>
          <a:p>
            <a:endParaRPr lang="pt-BR" i="1" dirty="0"/>
          </a:p>
          <a:p>
            <a:r>
              <a:rPr lang="pt-BR" i="1" dirty="0" smtClean="0"/>
              <a:t>Para se utilizar o computador, não é necessário saber como que o sistema operacional se comunica com o hardware da máquina para diversas funções.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3106714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Abstração x Encapsulamento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 </a:t>
            </a:r>
            <a:r>
              <a:rPr lang="pt-BR" dirty="0"/>
              <a:t>abstração </a:t>
            </a:r>
            <a:r>
              <a:rPr lang="pt-BR" dirty="0" smtClean="0"/>
              <a:t>define as </a:t>
            </a:r>
            <a:r>
              <a:rPr lang="pt-BR" dirty="0"/>
              <a:t>entidade que representa um </a:t>
            </a:r>
            <a:r>
              <a:rPr lang="pt-BR" dirty="0" smtClean="0"/>
              <a:t>objeto, </a:t>
            </a:r>
            <a:r>
              <a:rPr lang="pt-BR" dirty="0"/>
              <a:t>e o encapsulamento esconde detalhes daquele objeto, </a:t>
            </a:r>
            <a:r>
              <a:rPr lang="pt-BR" dirty="0" smtClean="0"/>
              <a:t>ocultando detalhes de </a:t>
            </a:r>
            <a:r>
              <a:rPr lang="pt-BR" dirty="0"/>
              <a:t>seu </a:t>
            </a:r>
            <a:r>
              <a:rPr lang="pt-BR" dirty="0" smtClean="0"/>
              <a:t>funcionamento. </a:t>
            </a:r>
          </a:p>
        </p:txBody>
      </p:sp>
    </p:spTree>
    <p:extLst>
      <p:ext uri="{BB962C8B-B14F-4D97-AF65-F5344CB8AC3E}">
        <p14:creationId xmlns:p14="http://schemas.microsoft.com/office/powerpoint/2010/main" val="2076031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Um </a:t>
            </a:r>
            <a:r>
              <a:rPr lang="pt-BR" dirty="0"/>
              <a:t>tipo abstrato de dados é um encapsulamento que inclui somente um tipo específico de dado e os subprogramas que fornecem as operações para este tipo</a:t>
            </a:r>
          </a:p>
          <a:p>
            <a:endParaRPr lang="pt-BR" dirty="0" smtClean="0"/>
          </a:p>
          <a:p>
            <a:r>
              <a:rPr lang="pt-BR" dirty="0" smtClean="0"/>
              <a:t>Detalhes </a:t>
            </a:r>
            <a:r>
              <a:rPr lang="pt-BR" dirty="0"/>
              <a:t>de implementação do tipo ficam ocultos das unidades fora do encapsulamento que o </a:t>
            </a:r>
            <a:r>
              <a:rPr lang="pt-BR" dirty="0" smtClean="0"/>
              <a:t>contém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803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Um </a:t>
            </a:r>
            <a:r>
              <a:rPr lang="pt-BR" dirty="0"/>
              <a:t>objeto é uma variável (instância) de um tipo abstrato de dados, declarada por alguma unidade</a:t>
            </a:r>
          </a:p>
          <a:p>
            <a:endParaRPr lang="pt-BR" dirty="0" smtClean="0"/>
          </a:p>
          <a:p>
            <a:r>
              <a:rPr lang="pt-BR" dirty="0" smtClean="0"/>
              <a:t>Programação </a:t>
            </a:r>
            <a:r>
              <a:rPr lang="pt-BR" dirty="0"/>
              <a:t>orientada a objetos consiste no uso de objetos no desenvolvimento do software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4542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Uma Classe </a:t>
            </a:r>
            <a:r>
              <a:rPr lang="pt-BR" dirty="0" smtClean="0"/>
              <a:t>é </a:t>
            </a:r>
            <a:r>
              <a:rPr lang="pt-BR" dirty="0"/>
              <a:t>um tipo de dados semelhante a uma estrutura, </a:t>
            </a:r>
            <a:r>
              <a:rPr lang="pt-BR" dirty="0" smtClean="0"/>
              <a:t>constituídas </a:t>
            </a:r>
            <a:r>
              <a:rPr lang="pt-BR" dirty="0"/>
              <a:t>por Atributos e </a:t>
            </a:r>
            <a:r>
              <a:rPr lang="pt-BR" dirty="0" smtClean="0"/>
              <a:t>Métodos</a:t>
            </a:r>
            <a:r>
              <a:rPr lang="pt-BR" dirty="0"/>
              <a:t>.</a:t>
            </a:r>
          </a:p>
          <a:p>
            <a:r>
              <a:rPr lang="pt-BR" dirty="0"/>
              <a:t>Atributos de classe </a:t>
            </a:r>
            <a:r>
              <a:rPr lang="pt-BR" dirty="0" smtClean="0"/>
              <a:t>são </a:t>
            </a:r>
            <a:r>
              <a:rPr lang="pt-BR" dirty="0"/>
              <a:t>semelhantes a campos de estruturas; </a:t>
            </a:r>
            <a:endParaRPr lang="pt-BR" dirty="0" smtClean="0"/>
          </a:p>
          <a:p>
            <a:r>
              <a:rPr lang="pt-BR" dirty="0" smtClean="0"/>
              <a:t>Por exemplo: </a:t>
            </a:r>
            <a:r>
              <a:rPr lang="pt-BR" dirty="0"/>
              <a:t>uma classe Data </a:t>
            </a:r>
            <a:r>
              <a:rPr lang="pt-BR" dirty="0" smtClean="0"/>
              <a:t>poderia conter </a:t>
            </a:r>
            <a:r>
              <a:rPr lang="pt-BR" dirty="0"/>
              <a:t>os atributos </a:t>
            </a:r>
            <a:r>
              <a:rPr lang="pt-BR" i="1" dirty="0"/>
              <a:t>dia</a:t>
            </a:r>
            <a:r>
              <a:rPr lang="pt-BR" dirty="0"/>
              <a:t>, </a:t>
            </a:r>
            <a:r>
              <a:rPr lang="pt-BR" i="1" dirty="0" err="1"/>
              <a:t>mes</a:t>
            </a:r>
            <a:r>
              <a:rPr lang="pt-BR" dirty="0"/>
              <a:t> e </a:t>
            </a:r>
            <a:r>
              <a:rPr lang="pt-BR" i="1" dirty="0"/>
              <a:t>ano</a:t>
            </a:r>
            <a:r>
              <a:rPr lang="pt-BR" dirty="0"/>
              <a:t>. </a:t>
            </a:r>
            <a:endParaRPr lang="pt-BR" dirty="0" smtClean="0"/>
          </a:p>
          <a:p>
            <a:r>
              <a:rPr lang="pt-BR" dirty="0" smtClean="0"/>
              <a:t>Métodos </a:t>
            </a:r>
            <a:r>
              <a:rPr lang="pt-BR" dirty="0"/>
              <a:t>de classe </a:t>
            </a:r>
            <a:r>
              <a:rPr lang="pt-BR" dirty="0" smtClean="0"/>
              <a:t>são funções </a:t>
            </a:r>
            <a:r>
              <a:rPr lang="pt-BR" dirty="0"/>
              <a:t>que operam sobre os atributos.</a:t>
            </a:r>
          </a:p>
        </p:txBody>
      </p:sp>
    </p:spTree>
    <p:extLst>
      <p:ext uri="{BB962C8B-B14F-4D97-AF65-F5344CB8AC3E}">
        <p14:creationId xmlns:p14="http://schemas.microsoft.com/office/powerpoint/2010/main" val="3403920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declararmos uma </a:t>
            </a:r>
            <a:r>
              <a:rPr lang="pt-BR" dirty="0" smtClean="0"/>
              <a:t>variável </a:t>
            </a:r>
            <a:r>
              <a:rPr lang="pt-BR" dirty="0"/>
              <a:t>cujo tipo é</a:t>
            </a:r>
            <a:r>
              <a:rPr lang="pt-BR" dirty="0" smtClean="0"/>
              <a:t> </a:t>
            </a:r>
            <a:r>
              <a:rPr lang="pt-BR" dirty="0"/>
              <a:t>uma classe, esta </a:t>
            </a:r>
            <a:r>
              <a:rPr lang="pt-BR" dirty="0" smtClean="0"/>
              <a:t>variável será </a:t>
            </a:r>
            <a:r>
              <a:rPr lang="pt-BR" dirty="0"/>
              <a:t>composta, assim como </a:t>
            </a:r>
            <a:r>
              <a:rPr lang="pt-BR" dirty="0" smtClean="0"/>
              <a:t>nas estruturas.</a:t>
            </a:r>
          </a:p>
          <a:p>
            <a:r>
              <a:rPr lang="pt-BR" dirty="0" smtClean="0"/>
              <a:t>Haverá </a:t>
            </a:r>
            <a:r>
              <a:rPr lang="pt-BR" dirty="0"/>
              <a:t>uma </a:t>
            </a:r>
            <a:r>
              <a:rPr lang="pt-BR" dirty="0" smtClean="0"/>
              <a:t>cópia </a:t>
            </a:r>
            <a:r>
              <a:rPr lang="pt-BR" dirty="0"/>
              <a:t>de cada um dos atributos </a:t>
            </a:r>
            <a:r>
              <a:rPr lang="pt-BR" dirty="0" smtClean="0"/>
              <a:t>para </a:t>
            </a:r>
            <a:r>
              <a:rPr lang="pt-BR" dirty="0"/>
              <a:t>cada </a:t>
            </a:r>
            <a:r>
              <a:rPr lang="pt-BR" dirty="0" smtClean="0"/>
              <a:t>variável </a:t>
            </a:r>
            <a:r>
              <a:rPr lang="pt-BR" dirty="0"/>
              <a:t>declarada </a:t>
            </a:r>
            <a:r>
              <a:rPr lang="pt-BR" dirty="0" smtClean="0"/>
              <a:t>daquela classe.</a:t>
            </a:r>
          </a:p>
        </p:txBody>
      </p:sp>
    </p:spTree>
    <p:extLst>
      <p:ext uri="{BB962C8B-B14F-4D97-AF65-F5344CB8AC3E}">
        <p14:creationId xmlns:p14="http://schemas.microsoft.com/office/powerpoint/2010/main" val="247305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Classe x Objeto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Uma </a:t>
            </a:r>
            <a:r>
              <a:rPr lang="pt-BR" dirty="0"/>
              <a:t>classe é um modelo para algo que deve ser criado. </a:t>
            </a:r>
            <a:endParaRPr lang="pt-BR" dirty="0" smtClean="0"/>
          </a:p>
          <a:p>
            <a:r>
              <a:rPr lang="pt-BR" dirty="0" smtClean="0"/>
              <a:t>Por </a:t>
            </a:r>
            <a:r>
              <a:rPr lang="pt-BR" dirty="0"/>
              <a:t>exemplo, </a:t>
            </a:r>
            <a:r>
              <a:rPr lang="pt-BR" dirty="0" smtClean="0"/>
              <a:t>uma </a:t>
            </a:r>
            <a:r>
              <a:rPr lang="pt-BR" dirty="0"/>
              <a:t>“Receita para Bolo de Chocolate”, </a:t>
            </a:r>
            <a:r>
              <a:rPr lang="pt-BR" dirty="0" smtClean="0"/>
              <a:t>será </a:t>
            </a:r>
            <a:r>
              <a:rPr lang="pt-BR" dirty="0"/>
              <a:t>usada como um modelo para o bolo que será criado. </a:t>
            </a:r>
            <a:endParaRPr lang="pt-BR" dirty="0" smtClean="0"/>
          </a:p>
          <a:p>
            <a:r>
              <a:rPr lang="pt-BR" dirty="0" smtClean="0"/>
              <a:t>De </a:t>
            </a:r>
            <a:r>
              <a:rPr lang="pt-BR" dirty="0"/>
              <a:t>forma análoga, a receita é uma classe, e o bolo é um objeto. </a:t>
            </a:r>
          </a:p>
        </p:txBody>
      </p:sp>
    </p:spTree>
    <p:extLst>
      <p:ext uri="{BB962C8B-B14F-4D97-AF65-F5344CB8AC3E}">
        <p14:creationId xmlns:p14="http://schemas.microsoft.com/office/powerpoint/2010/main" val="3000422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x Objeto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classe não é utilizada diretamente</a:t>
            </a:r>
            <a:r>
              <a:rPr lang="pt-BR" dirty="0" smtClean="0"/>
              <a:t>.</a:t>
            </a:r>
          </a:p>
          <a:p>
            <a:r>
              <a:rPr lang="pt-BR" dirty="0" smtClean="0"/>
              <a:t>A </a:t>
            </a:r>
            <a:r>
              <a:rPr lang="pt-BR" dirty="0"/>
              <a:t>classe é utilizada somente para criar objetos baseados nela, e são os objetos que serão realmente utilizados. </a:t>
            </a:r>
            <a:endParaRPr lang="pt-BR" dirty="0" smtClean="0"/>
          </a:p>
          <a:p>
            <a:r>
              <a:rPr lang="pt-BR" dirty="0"/>
              <a:t>Por definição</a:t>
            </a:r>
            <a:r>
              <a:rPr lang="pt-BR" dirty="0" smtClean="0"/>
              <a:t>, </a:t>
            </a:r>
            <a:r>
              <a:rPr lang="pt-BR" dirty="0"/>
              <a:t>um objeto é a instância de uma classe.</a:t>
            </a:r>
          </a:p>
        </p:txBody>
      </p:sp>
    </p:spTree>
    <p:extLst>
      <p:ext uri="{BB962C8B-B14F-4D97-AF65-F5344CB8AC3E}">
        <p14:creationId xmlns:p14="http://schemas.microsoft.com/office/powerpoint/2010/main" val="2503130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pt-BR" dirty="0" smtClean="0"/>
              <a:t>Exemplo de classe e sua instância (objeto da classe):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x Objeto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11560" y="2920876"/>
            <a:ext cx="380924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//Classe Produto</a:t>
            </a:r>
          </a:p>
          <a:p>
            <a:r>
              <a:rPr lang="pt-BR" dirty="0" err="1" smtClean="0"/>
              <a:t>public</a:t>
            </a:r>
            <a:r>
              <a:rPr lang="pt-BR" dirty="0" smtClean="0"/>
              <a:t> </a:t>
            </a:r>
            <a:r>
              <a:rPr lang="pt-BR" dirty="0" err="1"/>
              <a:t>class</a:t>
            </a:r>
            <a:r>
              <a:rPr lang="pt-BR" dirty="0"/>
              <a:t> Produto </a:t>
            </a:r>
            <a:endParaRPr lang="pt-BR" dirty="0" smtClean="0"/>
          </a:p>
          <a:p>
            <a:r>
              <a:rPr lang="pt-BR" dirty="0" smtClean="0"/>
              <a:t>{ </a:t>
            </a:r>
          </a:p>
          <a:p>
            <a:r>
              <a:rPr lang="pt-BR" dirty="0" smtClean="0"/>
              <a:t>	...</a:t>
            </a:r>
            <a:endParaRPr lang="pt-BR" dirty="0"/>
          </a:p>
          <a:p>
            <a:r>
              <a:rPr lang="pt-BR" dirty="0" smtClean="0"/>
              <a:t>}</a:t>
            </a:r>
          </a:p>
          <a:p>
            <a:endParaRPr lang="pt-BR" dirty="0" smtClean="0"/>
          </a:p>
          <a:p>
            <a:r>
              <a:rPr lang="pt-BR" dirty="0" smtClean="0"/>
              <a:t>//instância da Classe Produto</a:t>
            </a:r>
            <a:endParaRPr lang="pt-BR" dirty="0"/>
          </a:p>
          <a:p>
            <a:r>
              <a:rPr lang="pt-BR" dirty="0" smtClean="0"/>
              <a:t>Produto </a:t>
            </a:r>
            <a:r>
              <a:rPr lang="pt-BR" dirty="0" err="1"/>
              <a:t>meuProduto</a:t>
            </a:r>
            <a:r>
              <a:rPr lang="pt-BR" dirty="0"/>
              <a:t> = new Produto();</a:t>
            </a:r>
          </a:p>
        </p:txBody>
      </p:sp>
    </p:spTree>
    <p:extLst>
      <p:ext uri="{BB962C8B-B14F-4D97-AF65-F5344CB8AC3E}">
        <p14:creationId xmlns:p14="http://schemas.microsoft.com/office/powerpoint/2010/main" val="1894613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se “Data” for uma classe definida no programa, </a:t>
            </a:r>
            <a:r>
              <a:rPr lang="pt-BR" dirty="0" smtClean="0"/>
              <a:t>então a declaração:</a:t>
            </a:r>
          </a:p>
          <a:p>
            <a:endParaRPr lang="pt-BR" dirty="0"/>
          </a:p>
          <a:p>
            <a:r>
              <a:rPr lang="pt-BR" dirty="0" smtClean="0"/>
              <a:t>criará três variáveis </a:t>
            </a:r>
            <a:r>
              <a:rPr lang="pt-BR" dirty="0"/>
              <a:t>cujo tipo é</a:t>
            </a:r>
            <a:r>
              <a:rPr lang="pt-BR" dirty="0" smtClean="0"/>
              <a:t> </a:t>
            </a:r>
            <a:r>
              <a:rPr lang="pt-BR" dirty="0"/>
              <a:t>Data; </a:t>
            </a:r>
            <a:endParaRPr lang="pt-BR" dirty="0" smtClean="0"/>
          </a:p>
          <a:p>
            <a:r>
              <a:rPr lang="pt-BR" dirty="0" smtClean="0"/>
              <a:t>cada </a:t>
            </a:r>
            <a:r>
              <a:rPr lang="pt-BR" dirty="0"/>
              <a:t>uma destas </a:t>
            </a:r>
            <a:r>
              <a:rPr lang="pt-BR" dirty="0" smtClean="0"/>
              <a:t>variáveis </a:t>
            </a:r>
            <a:r>
              <a:rPr lang="pt-BR" dirty="0"/>
              <a:t>possui os campos </a:t>
            </a:r>
            <a:r>
              <a:rPr lang="pt-BR" i="1" dirty="0"/>
              <a:t>dia</a:t>
            </a:r>
            <a:r>
              <a:rPr lang="pt-BR" dirty="0"/>
              <a:t>, </a:t>
            </a:r>
            <a:r>
              <a:rPr lang="pt-BR" i="1" dirty="0" err="1"/>
              <a:t>mes</a:t>
            </a:r>
            <a:r>
              <a:rPr lang="pt-BR" dirty="0"/>
              <a:t> e </a:t>
            </a:r>
            <a:r>
              <a:rPr lang="pt-BR" i="1" dirty="0"/>
              <a:t>ano</a:t>
            </a:r>
            <a:r>
              <a:rPr lang="pt-BR" dirty="0"/>
              <a:t>.</a:t>
            </a:r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899592" y="2751311"/>
            <a:ext cx="2159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Data d1, d2, d3;</a:t>
            </a:r>
          </a:p>
        </p:txBody>
      </p:sp>
    </p:spTree>
    <p:extLst>
      <p:ext uri="{BB962C8B-B14F-4D97-AF65-F5344CB8AC3E}">
        <p14:creationId xmlns:p14="http://schemas.microsoft.com/office/powerpoint/2010/main" val="157631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Classe Publica e Privada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classe é</a:t>
            </a:r>
            <a:r>
              <a:rPr lang="pt-BR" dirty="0" smtClean="0"/>
              <a:t> </a:t>
            </a:r>
            <a:r>
              <a:rPr lang="pt-BR" dirty="0"/>
              <a:t>geralmente dividida em duas </a:t>
            </a:r>
            <a:r>
              <a:rPr lang="pt-BR" dirty="0" smtClean="0"/>
              <a:t>partes: </a:t>
            </a:r>
          </a:p>
          <a:p>
            <a:pPr lvl="1"/>
            <a:r>
              <a:rPr lang="pt-BR" dirty="0"/>
              <a:t>a parte privativa </a:t>
            </a:r>
            <a:r>
              <a:rPr lang="pt-BR" dirty="0" smtClean="0"/>
              <a:t>contém </a:t>
            </a:r>
            <a:r>
              <a:rPr lang="pt-BR" dirty="0"/>
              <a:t>elementos que </a:t>
            </a:r>
            <a:r>
              <a:rPr lang="pt-BR" dirty="0" smtClean="0"/>
              <a:t>serão de uso </a:t>
            </a:r>
            <a:r>
              <a:rPr lang="pt-BR" dirty="0"/>
              <a:t>exclusivo da </a:t>
            </a:r>
            <a:r>
              <a:rPr lang="pt-BR" dirty="0" smtClean="0"/>
              <a:t>classe.</a:t>
            </a:r>
          </a:p>
          <a:p>
            <a:pPr lvl="1"/>
            <a:r>
              <a:rPr lang="pt-BR" dirty="0"/>
              <a:t>a </a:t>
            </a:r>
            <a:r>
              <a:rPr lang="pt-BR" dirty="0" smtClean="0"/>
              <a:t>parte pública contém </a:t>
            </a:r>
            <a:r>
              <a:rPr lang="pt-BR" dirty="0"/>
              <a:t>os elementos exportados pela </a:t>
            </a:r>
            <a:r>
              <a:rPr lang="pt-BR" dirty="0" smtClean="0"/>
              <a:t>classe.</a:t>
            </a:r>
          </a:p>
          <a:p>
            <a:r>
              <a:rPr lang="pt-BR" dirty="0"/>
              <a:t>Por simplicidade, </a:t>
            </a:r>
            <a:r>
              <a:rPr lang="pt-BR" dirty="0" smtClean="0"/>
              <a:t>todos </a:t>
            </a:r>
            <a:r>
              <a:rPr lang="pt-BR" dirty="0"/>
              <a:t>os atributos </a:t>
            </a:r>
            <a:r>
              <a:rPr lang="pt-BR" dirty="0" smtClean="0"/>
              <a:t>são privativos </a:t>
            </a:r>
            <a:r>
              <a:rPr lang="pt-BR" dirty="0"/>
              <a:t>e todos os </a:t>
            </a:r>
            <a:r>
              <a:rPr lang="pt-BR" dirty="0" smtClean="0"/>
              <a:t>métodos são públicos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0089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Construtores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classe pode possuir </a:t>
            </a:r>
            <a:r>
              <a:rPr lang="pt-BR" dirty="0" smtClean="0"/>
              <a:t>também métodos </a:t>
            </a:r>
            <a:r>
              <a:rPr lang="pt-BR" dirty="0"/>
              <a:t>especiais denominados construtores. </a:t>
            </a:r>
            <a:endParaRPr lang="pt-BR" dirty="0" smtClean="0"/>
          </a:p>
          <a:p>
            <a:r>
              <a:rPr lang="pt-BR" dirty="0" smtClean="0"/>
              <a:t>Um </a:t>
            </a:r>
            <a:r>
              <a:rPr lang="pt-BR" dirty="0"/>
              <a:t>construtor </a:t>
            </a:r>
            <a:r>
              <a:rPr lang="pt-BR" dirty="0" smtClean="0"/>
              <a:t>é um método </a:t>
            </a:r>
            <a:r>
              <a:rPr lang="pt-BR" dirty="0"/>
              <a:t>especial que possui o mesmo nome da classe e </a:t>
            </a:r>
            <a:r>
              <a:rPr lang="pt-BR" dirty="0" smtClean="0"/>
              <a:t>não </a:t>
            </a:r>
            <a:r>
              <a:rPr lang="pt-BR" dirty="0"/>
              <a:t>possui tipo de retorno, tendo </a:t>
            </a:r>
            <a:r>
              <a:rPr lang="pt-BR" dirty="0" smtClean="0"/>
              <a:t>por finalidade </a:t>
            </a:r>
            <a:r>
              <a:rPr lang="pt-BR" dirty="0"/>
              <a:t>iniciar os atributos do objeto.</a:t>
            </a:r>
          </a:p>
        </p:txBody>
      </p:sp>
    </p:spTree>
    <p:extLst>
      <p:ext uri="{BB962C8B-B14F-4D97-AF65-F5344CB8AC3E}">
        <p14:creationId xmlns:p14="http://schemas.microsoft.com/office/powerpoint/2010/main" val="3640672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67544" y="1484784"/>
            <a:ext cx="84249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class</a:t>
            </a:r>
            <a:r>
              <a:rPr lang="pt-BR" dirty="0"/>
              <a:t> Data {</a:t>
            </a:r>
          </a:p>
          <a:p>
            <a:r>
              <a:rPr lang="pt-BR" dirty="0" smtClean="0"/>
              <a:t>	</a:t>
            </a:r>
            <a:r>
              <a:rPr lang="pt-BR" dirty="0" err="1" smtClean="0"/>
              <a:t>private</a:t>
            </a:r>
            <a:r>
              <a:rPr lang="pt-BR" dirty="0"/>
              <a:t>: </a:t>
            </a:r>
            <a:r>
              <a:rPr lang="pt-BR" dirty="0" err="1"/>
              <a:t>int</a:t>
            </a:r>
            <a:r>
              <a:rPr lang="pt-BR" dirty="0"/>
              <a:t> dia, </a:t>
            </a:r>
            <a:r>
              <a:rPr lang="pt-BR" dirty="0" err="1"/>
              <a:t>mes</a:t>
            </a:r>
            <a:r>
              <a:rPr lang="pt-BR" dirty="0"/>
              <a:t>, ano;</a:t>
            </a:r>
          </a:p>
          <a:p>
            <a:r>
              <a:rPr lang="pt-BR" dirty="0" smtClean="0"/>
              <a:t>	</a:t>
            </a:r>
          </a:p>
          <a:p>
            <a:r>
              <a:rPr lang="pt-BR" dirty="0"/>
              <a:t>	</a:t>
            </a:r>
            <a:r>
              <a:rPr lang="pt-BR" dirty="0" err="1" smtClean="0"/>
              <a:t>public</a:t>
            </a:r>
            <a:r>
              <a:rPr lang="pt-BR" dirty="0"/>
              <a:t>: Data(</a:t>
            </a:r>
            <a:r>
              <a:rPr lang="pt-BR" dirty="0" err="1"/>
              <a:t>int</a:t>
            </a:r>
            <a:r>
              <a:rPr lang="pt-BR" dirty="0"/>
              <a:t> d, </a:t>
            </a:r>
            <a:r>
              <a:rPr lang="pt-BR" dirty="0" err="1"/>
              <a:t>int</a:t>
            </a:r>
            <a:r>
              <a:rPr lang="pt-BR" dirty="0"/>
              <a:t> m, </a:t>
            </a:r>
            <a:r>
              <a:rPr lang="pt-BR" dirty="0" err="1"/>
              <a:t>int</a:t>
            </a:r>
            <a:r>
              <a:rPr lang="pt-BR" dirty="0"/>
              <a:t> a) </a:t>
            </a:r>
            <a:r>
              <a:rPr lang="pt-BR" dirty="0" smtClean="0"/>
              <a:t>	{</a:t>
            </a:r>
            <a:endParaRPr lang="pt-BR" dirty="0"/>
          </a:p>
          <a:p>
            <a:r>
              <a:rPr lang="pt-BR" dirty="0" smtClean="0"/>
              <a:t>		dia </a:t>
            </a:r>
            <a:r>
              <a:rPr lang="pt-BR" dirty="0"/>
              <a:t>= d; </a:t>
            </a:r>
            <a:r>
              <a:rPr lang="pt-BR" dirty="0" err="1"/>
              <a:t>mes</a:t>
            </a:r>
            <a:r>
              <a:rPr lang="pt-BR" dirty="0"/>
              <a:t> = m; ano = a;</a:t>
            </a:r>
          </a:p>
          <a:p>
            <a:r>
              <a:rPr lang="pt-BR" dirty="0" smtClean="0"/>
              <a:t>	}</a:t>
            </a:r>
          </a:p>
          <a:p>
            <a:endParaRPr lang="pt-BR" dirty="0"/>
          </a:p>
          <a:p>
            <a:r>
              <a:rPr lang="pt-BR" dirty="0" smtClean="0"/>
              <a:t>	</a:t>
            </a:r>
            <a:r>
              <a:rPr lang="pt-BR" dirty="0" err="1" smtClean="0"/>
              <a:t>bool</a:t>
            </a:r>
            <a:r>
              <a:rPr lang="pt-BR" dirty="0" smtClean="0"/>
              <a:t> </a:t>
            </a:r>
            <a:r>
              <a:rPr lang="pt-BR" dirty="0"/>
              <a:t>bissexto() </a:t>
            </a:r>
            <a:endParaRPr lang="pt-BR" dirty="0" smtClean="0"/>
          </a:p>
          <a:p>
            <a:r>
              <a:rPr lang="pt-BR" dirty="0"/>
              <a:t>	</a:t>
            </a:r>
            <a:r>
              <a:rPr lang="pt-BR" dirty="0" smtClean="0"/>
              <a:t>{</a:t>
            </a:r>
          </a:p>
          <a:p>
            <a:r>
              <a:rPr lang="en-US" dirty="0" smtClean="0"/>
              <a:t>		if </a:t>
            </a:r>
            <a:r>
              <a:rPr lang="en-US" dirty="0"/>
              <a:t>(</a:t>
            </a:r>
            <a:r>
              <a:rPr lang="en-US" dirty="0" err="1"/>
              <a:t>ano</a:t>
            </a:r>
            <a:r>
              <a:rPr lang="en-US" dirty="0"/>
              <a:t> % 4 != 0) return false;</a:t>
            </a:r>
          </a:p>
          <a:p>
            <a:r>
              <a:rPr lang="pt-BR" dirty="0" smtClean="0"/>
              <a:t>		</a:t>
            </a:r>
            <a:r>
              <a:rPr lang="pt-BR" dirty="0" err="1" smtClean="0"/>
              <a:t>else</a:t>
            </a:r>
            <a:r>
              <a:rPr lang="pt-BR" dirty="0" smtClean="0"/>
              <a:t> </a:t>
            </a:r>
            <a:r>
              <a:rPr lang="pt-BR" dirty="0" err="1"/>
              <a:t>if</a:t>
            </a:r>
            <a:r>
              <a:rPr lang="pt-BR" dirty="0"/>
              <a:t> (ano % 100 == 0 &amp;&amp; ano % 400 != 0) </a:t>
            </a:r>
            <a:r>
              <a:rPr lang="pt-BR" dirty="0" err="1"/>
              <a:t>return</a:t>
            </a:r>
            <a:r>
              <a:rPr lang="pt-BR" dirty="0"/>
              <a:t> false;</a:t>
            </a:r>
          </a:p>
          <a:p>
            <a:r>
              <a:rPr lang="pt-BR" dirty="0" smtClean="0"/>
              <a:t>		</a:t>
            </a:r>
            <a:r>
              <a:rPr lang="pt-BR" dirty="0" err="1" smtClean="0"/>
              <a:t>else</a:t>
            </a:r>
            <a:r>
              <a:rPr lang="pt-BR" dirty="0" smtClean="0"/>
              <a:t>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r>
              <a:rPr lang="pt-BR" dirty="0" smtClean="0"/>
              <a:t>	}</a:t>
            </a:r>
            <a:endParaRPr lang="pt-BR" dirty="0"/>
          </a:p>
          <a:p>
            <a:endParaRPr lang="pt-BR" dirty="0" smtClean="0"/>
          </a:p>
          <a:p>
            <a:r>
              <a:rPr lang="pt-BR" dirty="0"/>
              <a:t>	</a:t>
            </a:r>
            <a:r>
              <a:rPr lang="pt-BR" dirty="0" err="1" smtClean="0"/>
              <a:t>void</a:t>
            </a:r>
            <a:r>
              <a:rPr lang="pt-BR" dirty="0" smtClean="0"/>
              <a:t> </a:t>
            </a:r>
            <a:r>
              <a:rPr lang="pt-BR" dirty="0"/>
              <a:t>imprime() </a:t>
            </a:r>
            <a:endParaRPr lang="pt-BR" dirty="0" smtClean="0"/>
          </a:p>
          <a:p>
            <a:r>
              <a:rPr lang="pt-BR" dirty="0"/>
              <a:t>	</a:t>
            </a:r>
            <a:r>
              <a:rPr lang="pt-BR" dirty="0" smtClean="0"/>
              <a:t>{</a:t>
            </a:r>
            <a:endParaRPr lang="pt-BR" dirty="0"/>
          </a:p>
          <a:p>
            <a:r>
              <a:rPr lang="pt-BR" dirty="0" smtClean="0"/>
              <a:t>		</a:t>
            </a:r>
            <a:r>
              <a:rPr lang="pt-BR" dirty="0" err="1" smtClean="0"/>
              <a:t>Console.WriteLine</a:t>
            </a:r>
            <a:r>
              <a:rPr lang="pt-BR" dirty="0" smtClean="0"/>
              <a:t>(dia + "/" + </a:t>
            </a:r>
            <a:r>
              <a:rPr lang="pt-BR" dirty="0" err="1"/>
              <a:t>mes</a:t>
            </a:r>
            <a:r>
              <a:rPr lang="pt-BR" dirty="0"/>
              <a:t> </a:t>
            </a:r>
            <a:r>
              <a:rPr lang="pt-BR" dirty="0" smtClean="0"/>
              <a:t>+ </a:t>
            </a:r>
            <a:r>
              <a:rPr lang="pt-BR" dirty="0"/>
              <a:t>"/" </a:t>
            </a:r>
            <a:r>
              <a:rPr lang="pt-BR" dirty="0" smtClean="0"/>
              <a:t>+ ano);</a:t>
            </a:r>
            <a:endParaRPr lang="pt-BR" dirty="0"/>
          </a:p>
          <a:p>
            <a:r>
              <a:rPr lang="pt-BR" dirty="0" smtClean="0"/>
              <a:t>	}</a:t>
            </a:r>
          </a:p>
          <a:p>
            <a:r>
              <a:rPr lang="pt-BR" dirty="0" smtClean="0"/>
              <a:t>};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966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9552" y="1818690"/>
            <a:ext cx="28567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/>
              <a:t>void</a:t>
            </a:r>
            <a:r>
              <a:rPr lang="pt-BR" dirty="0" smtClean="0"/>
              <a:t> </a:t>
            </a:r>
            <a:r>
              <a:rPr lang="pt-BR" dirty="0" err="1"/>
              <a:t>main</a:t>
            </a:r>
            <a:r>
              <a:rPr lang="pt-BR" dirty="0" smtClean="0"/>
              <a:t>() </a:t>
            </a:r>
          </a:p>
          <a:p>
            <a:r>
              <a:rPr lang="pt-BR" dirty="0" smtClean="0"/>
              <a:t>{</a:t>
            </a:r>
            <a:endParaRPr lang="pt-BR" dirty="0"/>
          </a:p>
          <a:p>
            <a:r>
              <a:rPr lang="pt-BR" dirty="0" smtClean="0"/>
              <a:t>	Data </a:t>
            </a:r>
            <a:r>
              <a:rPr lang="pt-BR" dirty="0"/>
              <a:t>d(10,3,2003</a:t>
            </a:r>
            <a:r>
              <a:rPr lang="pt-BR" dirty="0" smtClean="0"/>
              <a:t>);</a:t>
            </a:r>
          </a:p>
          <a:p>
            <a:endParaRPr lang="pt-BR" dirty="0" smtClean="0"/>
          </a:p>
          <a:p>
            <a:r>
              <a:rPr lang="pt-BR" dirty="0" smtClean="0"/>
              <a:t>	</a:t>
            </a:r>
            <a:r>
              <a:rPr lang="pt-BR" dirty="0" err="1" smtClean="0"/>
              <a:t>d.imprime</a:t>
            </a:r>
            <a:r>
              <a:rPr lang="pt-BR" dirty="0"/>
              <a:t>();</a:t>
            </a:r>
          </a:p>
          <a:p>
            <a:r>
              <a:rPr lang="pt-BR" dirty="0" smtClean="0"/>
              <a:t>}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539552" y="4077072"/>
            <a:ext cx="433471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 smtClean="0"/>
              <a:t>main</a:t>
            </a:r>
            <a:r>
              <a:rPr lang="pt-BR" dirty="0" smtClean="0"/>
              <a:t>() </a:t>
            </a:r>
          </a:p>
          <a:p>
            <a:r>
              <a:rPr lang="pt-BR" dirty="0" smtClean="0"/>
              <a:t>{</a:t>
            </a:r>
            <a:endParaRPr lang="pt-BR" dirty="0"/>
          </a:p>
          <a:p>
            <a:r>
              <a:rPr lang="pt-BR" dirty="0" smtClean="0"/>
              <a:t>	Data </a:t>
            </a:r>
            <a:r>
              <a:rPr lang="pt-BR" dirty="0"/>
              <a:t>d1(10,3,2003), </a:t>
            </a:r>
            <a:r>
              <a:rPr lang="pt-BR" dirty="0" smtClean="0"/>
              <a:t> d2(3,7,2002</a:t>
            </a:r>
            <a:r>
              <a:rPr lang="pt-BR" dirty="0"/>
              <a:t>);</a:t>
            </a:r>
          </a:p>
          <a:p>
            <a:r>
              <a:rPr lang="pt-BR" dirty="0" smtClean="0"/>
              <a:t>	</a:t>
            </a:r>
          </a:p>
          <a:p>
            <a:r>
              <a:rPr lang="pt-BR" dirty="0" smtClean="0"/>
              <a:t>	d1.imprime</a:t>
            </a:r>
            <a:r>
              <a:rPr lang="pt-BR" dirty="0"/>
              <a:t>();</a:t>
            </a:r>
          </a:p>
          <a:p>
            <a:r>
              <a:rPr lang="pt-BR" dirty="0" smtClean="0"/>
              <a:t>	d2.imprime</a:t>
            </a:r>
            <a:r>
              <a:rPr lang="pt-BR" dirty="0"/>
              <a:t>();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539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Cada </a:t>
            </a:r>
            <a:r>
              <a:rPr lang="pt-BR" dirty="0"/>
              <a:t>objeto possui uma </a:t>
            </a:r>
            <a:r>
              <a:rPr lang="pt-BR" dirty="0" smtClean="0"/>
              <a:t>cópia </a:t>
            </a:r>
            <a:r>
              <a:rPr lang="pt-BR" dirty="0"/>
              <a:t>de cada um dos atributos de modo que a </a:t>
            </a:r>
            <a:r>
              <a:rPr lang="pt-BR" dirty="0" smtClean="0"/>
              <a:t>chamada d1.imprime() imprimirá os </a:t>
            </a:r>
            <a:r>
              <a:rPr lang="pt-BR" dirty="0"/>
              <a:t>atributos de d1 e a chamada d2.imprime() </a:t>
            </a:r>
            <a:r>
              <a:rPr lang="pt-BR" dirty="0" smtClean="0"/>
              <a:t>imprimir</a:t>
            </a:r>
            <a:r>
              <a:rPr lang="pt-BR" dirty="0"/>
              <a:t>á</a:t>
            </a:r>
            <a:r>
              <a:rPr lang="pt-BR" dirty="0" smtClean="0"/>
              <a:t> </a:t>
            </a:r>
            <a:r>
              <a:rPr lang="pt-BR" dirty="0"/>
              <a:t>os atributos de d2.</a:t>
            </a:r>
          </a:p>
        </p:txBody>
      </p:sp>
    </p:spTree>
    <p:extLst>
      <p:ext uri="{BB962C8B-B14F-4D97-AF65-F5344CB8AC3E}">
        <p14:creationId xmlns:p14="http://schemas.microsoft.com/office/powerpoint/2010/main" val="308292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Construtor </a:t>
            </a:r>
            <a:r>
              <a:rPr lang="pt-BR" dirty="0"/>
              <a:t>default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</a:t>
            </a:r>
            <a:r>
              <a:rPr lang="pt-BR" dirty="0" smtClean="0"/>
              <a:t>onstrutor </a:t>
            </a:r>
            <a:r>
              <a:rPr lang="pt-BR" dirty="0"/>
              <a:t>default, que é</a:t>
            </a:r>
            <a:r>
              <a:rPr lang="pt-BR" dirty="0" smtClean="0"/>
              <a:t> um construtor </a:t>
            </a:r>
            <a:r>
              <a:rPr lang="pt-BR" dirty="0"/>
              <a:t>sem </a:t>
            </a:r>
            <a:r>
              <a:rPr lang="pt-BR" dirty="0" smtClean="0"/>
              <a:t>parâmetros.</a:t>
            </a:r>
          </a:p>
          <a:p>
            <a:r>
              <a:rPr lang="pt-BR" dirty="0"/>
              <a:t>É</a:t>
            </a:r>
            <a:r>
              <a:rPr lang="pt-BR" dirty="0" smtClean="0"/>
              <a:t> </a:t>
            </a:r>
            <a:r>
              <a:rPr lang="pt-BR" dirty="0"/>
              <a:t>um </a:t>
            </a:r>
            <a:r>
              <a:rPr lang="pt-BR" dirty="0" smtClean="0"/>
              <a:t>método sem par</a:t>
            </a:r>
            <a:r>
              <a:rPr lang="pt-BR" dirty="0"/>
              <a:t>â</a:t>
            </a:r>
            <a:r>
              <a:rPr lang="pt-BR" dirty="0" smtClean="0"/>
              <a:t>metros </a:t>
            </a:r>
            <a:r>
              <a:rPr lang="pt-BR" dirty="0"/>
              <a:t>e sem tipo de retorno e cujo nome é</a:t>
            </a:r>
            <a:r>
              <a:rPr lang="pt-BR" dirty="0" smtClean="0"/>
              <a:t> </a:t>
            </a:r>
            <a:r>
              <a:rPr lang="pt-BR" dirty="0"/>
              <a:t>o mesmo da </a:t>
            </a:r>
            <a:r>
              <a:rPr lang="pt-BR" dirty="0" smtClean="0"/>
              <a:t>classe.</a:t>
            </a:r>
          </a:p>
          <a:p>
            <a:r>
              <a:rPr lang="pt-BR" dirty="0"/>
              <a:t>Este construtor </a:t>
            </a:r>
            <a:r>
              <a:rPr lang="pt-BR" dirty="0" smtClean="0"/>
              <a:t>especial serve </a:t>
            </a:r>
            <a:r>
              <a:rPr lang="pt-BR" dirty="0"/>
              <a:t>para iniciar objetos com valores </a:t>
            </a:r>
            <a:r>
              <a:rPr lang="pt-BR" dirty="0" smtClean="0"/>
              <a:t>padrão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755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 default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67544" y="1325081"/>
            <a:ext cx="84249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class</a:t>
            </a:r>
            <a:r>
              <a:rPr lang="pt-BR" dirty="0"/>
              <a:t> Data {</a:t>
            </a:r>
          </a:p>
          <a:p>
            <a:r>
              <a:rPr lang="pt-BR" dirty="0" smtClean="0"/>
              <a:t>	</a:t>
            </a:r>
            <a:r>
              <a:rPr lang="pt-BR" dirty="0" err="1" smtClean="0"/>
              <a:t>private</a:t>
            </a:r>
            <a:r>
              <a:rPr lang="pt-BR" dirty="0"/>
              <a:t>: </a:t>
            </a:r>
            <a:r>
              <a:rPr lang="pt-BR" dirty="0" err="1"/>
              <a:t>int</a:t>
            </a:r>
            <a:r>
              <a:rPr lang="pt-BR" dirty="0"/>
              <a:t> dia, </a:t>
            </a:r>
            <a:r>
              <a:rPr lang="pt-BR" dirty="0" err="1"/>
              <a:t>mes</a:t>
            </a:r>
            <a:r>
              <a:rPr lang="pt-BR" dirty="0"/>
              <a:t>, ano;</a:t>
            </a:r>
          </a:p>
          <a:p>
            <a:r>
              <a:rPr lang="pt-BR" dirty="0"/>
              <a:t>	</a:t>
            </a:r>
            <a:r>
              <a:rPr lang="pt-BR" dirty="0" err="1" smtClean="0"/>
              <a:t>public</a:t>
            </a:r>
            <a:r>
              <a:rPr lang="pt-BR" dirty="0"/>
              <a:t>: Data(</a:t>
            </a:r>
            <a:r>
              <a:rPr lang="pt-BR" dirty="0" err="1"/>
              <a:t>int</a:t>
            </a:r>
            <a:r>
              <a:rPr lang="pt-BR" dirty="0"/>
              <a:t> d, </a:t>
            </a:r>
            <a:r>
              <a:rPr lang="pt-BR" dirty="0" err="1"/>
              <a:t>int</a:t>
            </a:r>
            <a:r>
              <a:rPr lang="pt-BR" dirty="0"/>
              <a:t> m, </a:t>
            </a:r>
            <a:r>
              <a:rPr lang="pt-BR" dirty="0" err="1"/>
              <a:t>int</a:t>
            </a:r>
            <a:r>
              <a:rPr lang="pt-BR" dirty="0"/>
              <a:t> a) </a:t>
            </a:r>
            <a:r>
              <a:rPr lang="pt-BR" dirty="0" smtClean="0"/>
              <a:t>	{</a:t>
            </a:r>
            <a:endParaRPr lang="pt-BR" dirty="0"/>
          </a:p>
          <a:p>
            <a:r>
              <a:rPr lang="pt-BR" dirty="0" smtClean="0"/>
              <a:t>		dia </a:t>
            </a:r>
            <a:r>
              <a:rPr lang="pt-BR" dirty="0"/>
              <a:t>= d; </a:t>
            </a:r>
            <a:r>
              <a:rPr lang="pt-BR" dirty="0" err="1"/>
              <a:t>mes</a:t>
            </a:r>
            <a:r>
              <a:rPr lang="pt-BR" dirty="0"/>
              <a:t> = m; ano = a;</a:t>
            </a:r>
          </a:p>
          <a:p>
            <a:r>
              <a:rPr lang="pt-BR" dirty="0" smtClean="0"/>
              <a:t>	}</a:t>
            </a:r>
          </a:p>
          <a:p>
            <a:r>
              <a:rPr lang="pt-BR" dirty="0" smtClean="0"/>
              <a:t>	Data() </a:t>
            </a:r>
            <a:r>
              <a:rPr lang="pt-BR" dirty="0"/>
              <a:t>// construtor default</a:t>
            </a:r>
            <a:r>
              <a:rPr lang="pt-BR" dirty="0" smtClean="0"/>
              <a:t> </a:t>
            </a:r>
          </a:p>
          <a:p>
            <a:r>
              <a:rPr lang="pt-BR" dirty="0" smtClean="0"/>
              <a:t>	{ </a:t>
            </a:r>
            <a:endParaRPr lang="pt-BR" dirty="0"/>
          </a:p>
          <a:p>
            <a:r>
              <a:rPr lang="pt-BR" dirty="0" smtClean="0"/>
              <a:t>		dia </a:t>
            </a:r>
            <a:r>
              <a:rPr lang="pt-BR" dirty="0"/>
              <a:t>= 1; </a:t>
            </a:r>
            <a:r>
              <a:rPr lang="pt-BR" dirty="0" err="1"/>
              <a:t>mes</a:t>
            </a:r>
            <a:r>
              <a:rPr lang="pt-BR" dirty="0"/>
              <a:t> = 1; ano = 2003;</a:t>
            </a:r>
          </a:p>
          <a:p>
            <a:r>
              <a:rPr lang="pt-BR" dirty="0" smtClean="0"/>
              <a:t>	}</a:t>
            </a:r>
          </a:p>
          <a:p>
            <a:r>
              <a:rPr lang="pt-BR" dirty="0" smtClean="0"/>
              <a:t>	</a:t>
            </a:r>
            <a:r>
              <a:rPr lang="pt-BR" dirty="0" err="1" smtClean="0"/>
              <a:t>bool</a:t>
            </a:r>
            <a:r>
              <a:rPr lang="pt-BR" dirty="0" smtClean="0"/>
              <a:t> </a:t>
            </a:r>
            <a:r>
              <a:rPr lang="pt-BR" dirty="0"/>
              <a:t>bissexto() </a:t>
            </a:r>
            <a:endParaRPr lang="pt-BR" dirty="0" smtClean="0"/>
          </a:p>
          <a:p>
            <a:r>
              <a:rPr lang="pt-BR" dirty="0"/>
              <a:t>	</a:t>
            </a:r>
            <a:r>
              <a:rPr lang="pt-BR" dirty="0" smtClean="0"/>
              <a:t>{</a:t>
            </a:r>
          </a:p>
          <a:p>
            <a:r>
              <a:rPr lang="en-US" dirty="0" smtClean="0"/>
              <a:t>		if </a:t>
            </a:r>
            <a:r>
              <a:rPr lang="en-US" dirty="0"/>
              <a:t>(</a:t>
            </a:r>
            <a:r>
              <a:rPr lang="en-US" dirty="0" err="1"/>
              <a:t>ano</a:t>
            </a:r>
            <a:r>
              <a:rPr lang="en-US" dirty="0"/>
              <a:t> % 4 != 0) return false;</a:t>
            </a:r>
          </a:p>
          <a:p>
            <a:r>
              <a:rPr lang="pt-BR" dirty="0" smtClean="0"/>
              <a:t>		</a:t>
            </a:r>
            <a:r>
              <a:rPr lang="pt-BR" dirty="0" err="1" smtClean="0"/>
              <a:t>else</a:t>
            </a:r>
            <a:r>
              <a:rPr lang="pt-BR" dirty="0" smtClean="0"/>
              <a:t> </a:t>
            </a:r>
            <a:r>
              <a:rPr lang="pt-BR" dirty="0" err="1"/>
              <a:t>if</a:t>
            </a:r>
            <a:r>
              <a:rPr lang="pt-BR" dirty="0"/>
              <a:t> (ano % 100 == 0 &amp;&amp; ano % 400 != 0) </a:t>
            </a:r>
            <a:r>
              <a:rPr lang="pt-BR" dirty="0" err="1"/>
              <a:t>return</a:t>
            </a:r>
            <a:r>
              <a:rPr lang="pt-BR" dirty="0"/>
              <a:t> false;</a:t>
            </a:r>
          </a:p>
          <a:p>
            <a:r>
              <a:rPr lang="pt-BR" dirty="0" smtClean="0"/>
              <a:t>		</a:t>
            </a:r>
            <a:r>
              <a:rPr lang="pt-BR" dirty="0" err="1" smtClean="0"/>
              <a:t>else</a:t>
            </a:r>
            <a:r>
              <a:rPr lang="pt-BR" dirty="0" smtClean="0"/>
              <a:t>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r>
              <a:rPr lang="pt-BR" dirty="0" smtClean="0"/>
              <a:t>	}</a:t>
            </a:r>
            <a:endParaRPr lang="pt-BR" dirty="0"/>
          </a:p>
          <a:p>
            <a:r>
              <a:rPr lang="pt-BR" dirty="0"/>
              <a:t>	</a:t>
            </a:r>
            <a:r>
              <a:rPr lang="pt-BR" dirty="0" err="1" smtClean="0"/>
              <a:t>void</a:t>
            </a:r>
            <a:r>
              <a:rPr lang="pt-BR" dirty="0" smtClean="0"/>
              <a:t> </a:t>
            </a:r>
            <a:r>
              <a:rPr lang="pt-BR" dirty="0"/>
              <a:t>imprime() </a:t>
            </a:r>
            <a:endParaRPr lang="pt-BR" dirty="0" smtClean="0"/>
          </a:p>
          <a:p>
            <a:r>
              <a:rPr lang="pt-BR" dirty="0"/>
              <a:t>	</a:t>
            </a:r>
            <a:r>
              <a:rPr lang="pt-BR" dirty="0" smtClean="0"/>
              <a:t>{</a:t>
            </a:r>
            <a:endParaRPr lang="pt-BR" dirty="0"/>
          </a:p>
          <a:p>
            <a:r>
              <a:rPr lang="pt-BR" dirty="0" smtClean="0"/>
              <a:t>		</a:t>
            </a:r>
            <a:r>
              <a:rPr lang="pt-BR" dirty="0" err="1" smtClean="0"/>
              <a:t>Console.WriteLine</a:t>
            </a:r>
            <a:r>
              <a:rPr lang="pt-BR" dirty="0" smtClean="0"/>
              <a:t>(dia + "/" + </a:t>
            </a:r>
            <a:r>
              <a:rPr lang="pt-BR" dirty="0" err="1"/>
              <a:t>mes</a:t>
            </a:r>
            <a:r>
              <a:rPr lang="pt-BR" dirty="0"/>
              <a:t> </a:t>
            </a:r>
            <a:r>
              <a:rPr lang="pt-BR" dirty="0" smtClean="0"/>
              <a:t>+ </a:t>
            </a:r>
            <a:r>
              <a:rPr lang="pt-BR" dirty="0"/>
              <a:t>"/" </a:t>
            </a:r>
            <a:r>
              <a:rPr lang="pt-BR" dirty="0" smtClean="0"/>
              <a:t>+ ano);</a:t>
            </a:r>
            <a:endParaRPr lang="pt-BR" dirty="0"/>
          </a:p>
          <a:p>
            <a:r>
              <a:rPr lang="pt-BR" dirty="0" smtClean="0"/>
              <a:t>	}</a:t>
            </a:r>
          </a:p>
          <a:p>
            <a:r>
              <a:rPr lang="pt-BR" dirty="0" smtClean="0"/>
              <a:t>};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350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Abstratos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Tipos simples de dados são grupos de valores indivisíveis.</a:t>
            </a:r>
          </a:p>
          <a:p>
            <a:pPr lvl="1"/>
            <a:r>
              <a:rPr lang="pt-BR" i="1" dirty="0" err="1" smtClean="0"/>
              <a:t>int</a:t>
            </a:r>
            <a:r>
              <a:rPr lang="pt-BR" i="1" dirty="0" smtClean="0"/>
              <a:t>, </a:t>
            </a:r>
            <a:r>
              <a:rPr lang="pt-BR" i="1" dirty="0" err="1" smtClean="0"/>
              <a:t>bool</a:t>
            </a:r>
            <a:r>
              <a:rPr lang="pt-BR" i="1" dirty="0" smtClean="0"/>
              <a:t>, char, </a:t>
            </a:r>
            <a:r>
              <a:rPr lang="pt-BR" i="1" dirty="0" err="1" smtClean="0"/>
              <a:t>double</a:t>
            </a:r>
            <a:r>
              <a:rPr lang="pt-BR" i="1" dirty="0" smtClean="0"/>
              <a:t>, etc.</a:t>
            </a:r>
          </a:p>
          <a:p>
            <a:pPr lvl="1"/>
            <a:endParaRPr lang="pt-BR" i="1" dirty="0" smtClean="0"/>
          </a:p>
          <a:p>
            <a:r>
              <a:rPr lang="pt-BR" dirty="0" smtClean="0"/>
              <a:t>Tipo abstrato de dados (TAD) pode ser visto como um modelo matemático, acompanhado de operações definidas sobre o modelo.</a:t>
            </a:r>
          </a:p>
          <a:p>
            <a:endParaRPr lang="pt-BR" dirty="0"/>
          </a:p>
          <a:p>
            <a:r>
              <a:rPr lang="pt-BR" dirty="0" smtClean="0"/>
              <a:t>Um TAD pode ser usado para encapsular tipos simples de dados.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904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Abstratos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É </a:t>
            </a:r>
            <a:r>
              <a:rPr lang="pt-BR" dirty="0"/>
              <a:t>um conjunto de dados munido de </a:t>
            </a:r>
            <a:r>
              <a:rPr lang="pt-BR" dirty="0" smtClean="0"/>
              <a:t>operações </a:t>
            </a:r>
            <a:r>
              <a:rPr lang="pt-BR" dirty="0"/>
              <a:t>sobre </a:t>
            </a:r>
            <a:r>
              <a:rPr lang="pt-BR" dirty="0" smtClean="0"/>
              <a:t>estes dados</a:t>
            </a:r>
            <a:r>
              <a:rPr lang="pt-BR" dirty="0"/>
              <a:t>. 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Por </a:t>
            </a:r>
            <a:r>
              <a:rPr lang="pt-BR" dirty="0"/>
              <a:t>exemplo, o TAD Data representa todas as datas existentes, munidas das </a:t>
            </a:r>
            <a:r>
              <a:rPr lang="pt-BR" dirty="0" smtClean="0"/>
              <a:t>operações usuais </a:t>
            </a:r>
            <a:r>
              <a:rPr lang="pt-BR" dirty="0"/>
              <a:t>sobre datas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715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Abstratos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</a:t>
            </a:r>
            <a:r>
              <a:rPr lang="pt-BR" dirty="0" smtClean="0"/>
              <a:t>Programação </a:t>
            </a:r>
            <a:r>
              <a:rPr lang="pt-BR" dirty="0"/>
              <a:t>Orientada por Objetos, dizemos que uma Classe implementa um Tipo </a:t>
            </a:r>
            <a:r>
              <a:rPr lang="pt-BR" dirty="0" smtClean="0"/>
              <a:t>Abstrato de </a:t>
            </a:r>
            <a:r>
              <a:rPr lang="pt-BR" dirty="0"/>
              <a:t>Dados. 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Uma </a:t>
            </a:r>
            <a:r>
              <a:rPr lang="pt-BR" dirty="0"/>
              <a:t>classe </a:t>
            </a:r>
            <a:r>
              <a:rPr lang="pt-BR" dirty="0" smtClean="0"/>
              <a:t>contém </a:t>
            </a:r>
            <a:r>
              <a:rPr lang="pt-BR" dirty="0"/>
              <a:t>os elementos que representam o tipo, e </a:t>
            </a:r>
            <a:r>
              <a:rPr lang="pt-BR" dirty="0" smtClean="0"/>
              <a:t>agrupa todas </a:t>
            </a:r>
            <a:r>
              <a:rPr lang="pt-BR" dirty="0"/>
              <a:t>as </a:t>
            </a:r>
            <a:r>
              <a:rPr lang="pt-BR" dirty="0" smtClean="0"/>
              <a:t>operações </a:t>
            </a:r>
            <a:r>
              <a:rPr lang="pt-BR" dirty="0"/>
              <a:t>realizadas sobre estes elementos.</a:t>
            </a:r>
          </a:p>
        </p:txBody>
      </p:sp>
    </p:spTree>
    <p:extLst>
      <p:ext uri="{BB962C8B-B14F-4D97-AF65-F5344CB8AC3E}">
        <p14:creationId xmlns:p14="http://schemas.microsoft.com/office/powerpoint/2010/main" val="464281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Abstratos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Por exemplo, considere uma aplicação que utiliza uma lista de inteiros:</a:t>
            </a:r>
          </a:p>
          <a:p>
            <a:pPr lvl="1"/>
            <a:r>
              <a:rPr lang="pt-BR" dirty="0" smtClean="0"/>
              <a:t>Definição da TAD: Lista</a:t>
            </a:r>
          </a:p>
          <a:p>
            <a:pPr lvl="1"/>
            <a:r>
              <a:rPr lang="pt-BR" dirty="0" smtClean="0"/>
              <a:t>Operações da TAD Lista:</a:t>
            </a:r>
          </a:p>
          <a:p>
            <a:pPr lvl="2"/>
            <a:r>
              <a:rPr lang="pt-BR" dirty="0" smtClean="0"/>
              <a:t>Criar a lista vazia;</a:t>
            </a:r>
          </a:p>
          <a:p>
            <a:pPr lvl="2"/>
            <a:r>
              <a:rPr lang="pt-BR" dirty="0" smtClean="0"/>
              <a:t>Obter o primeiro elemento da lista;</a:t>
            </a:r>
          </a:p>
          <a:p>
            <a:pPr lvl="2"/>
            <a:r>
              <a:rPr lang="pt-BR" dirty="0" smtClean="0"/>
              <a:t>Inserir um elemento na lista.</a:t>
            </a:r>
          </a:p>
          <a:p>
            <a:pPr lvl="2"/>
            <a:endParaRPr lang="pt-BR" dirty="0"/>
          </a:p>
          <a:p>
            <a:pPr lvl="1"/>
            <a:r>
              <a:rPr lang="pt-BR" dirty="0" smtClean="0"/>
              <a:t>A lista pode ser implementada utilizando uma estrutura de dados como um arranjo.</a:t>
            </a:r>
          </a:p>
        </p:txBody>
      </p:sp>
    </p:spTree>
    <p:extLst>
      <p:ext uri="{BB962C8B-B14F-4D97-AF65-F5344CB8AC3E}">
        <p14:creationId xmlns:p14="http://schemas.microsoft.com/office/powerpoint/2010/main" val="5578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Abstratos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dirty="0" smtClean="0"/>
              <a:t>Cada operação (método) do TAD Lista pode ser implementada através de procedimentos ou funções.</a:t>
            </a:r>
          </a:p>
          <a:p>
            <a:pPr lvl="1"/>
            <a:endParaRPr lang="pt-BR" dirty="0"/>
          </a:p>
          <a:p>
            <a:pPr lvl="1"/>
            <a:r>
              <a:rPr lang="pt-BR" dirty="0" smtClean="0"/>
              <a:t>Se existir a necessidade de alteração do TAD, esta é realizada na parte encapsulado, sem afetar outras partes do código.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4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Abstratos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</a:t>
            </a:r>
            <a:r>
              <a:rPr lang="pt-BR" dirty="0" smtClean="0"/>
              <a:t>implementação </a:t>
            </a:r>
            <a:r>
              <a:rPr lang="pt-BR" dirty="0"/>
              <a:t>de um TAD, alguns fatores elevam a qualidade do </a:t>
            </a:r>
            <a:r>
              <a:rPr lang="pt-BR" dirty="0" smtClean="0"/>
              <a:t>código:</a:t>
            </a:r>
          </a:p>
          <a:p>
            <a:pPr lvl="1"/>
            <a:r>
              <a:rPr lang="pt-BR" dirty="0"/>
              <a:t>Ocultamento de </a:t>
            </a:r>
            <a:r>
              <a:rPr lang="pt-BR" dirty="0" smtClean="0"/>
              <a:t>informações</a:t>
            </a:r>
            <a:r>
              <a:rPr lang="pt-BR" dirty="0"/>
              <a:t>: é</a:t>
            </a:r>
            <a:r>
              <a:rPr lang="pt-BR" dirty="0" smtClean="0"/>
              <a:t> </a:t>
            </a:r>
            <a:r>
              <a:rPr lang="pt-BR" dirty="0"/>
              <a:t>importante que o cliente </a:t>
            </a:r>
            <a:r>
              <a:rPr lang="pt-BR" dirty="0" smtClean="0"/>
              <a:t>conheça </a:t>
            </a:r>
            <a:r>
              <a:rPr lang="pt-BR" dirty="0"/>
              <a:t>o menor </a:t>
            </a:r>
            <a:r>
              <a:rPr lang="pt-BR" dirty="0" smtClean="0"/>
              <a:t>número possível de informações </a:t>
            </a:r>
            <a:r>
              <a:rPr lang="pt-BR" dirty="0"/>
              <a:t>a respeito do TAD</a:t>
            </a:r>
            <a:r>
              <a:rPr lang="pt-BR" dirty="0" smtClean="0"/>
              <a:t>.</a:t>
            </a:r>
          </a:p>
          <a:p>
            <a:pPr lvl="1"/>
            <a:r>
              <a:rPr lang="pt-BR" dirty="0"/>
              <a:t>Interface simples e bem </a:t>
            </a:r>
            <a:r>
              <a:rPr lang="pt-BR" dirty="0" smtClean="0"/>
              <a:t>definida: </a:t>
            </a:r>
            <a:r>
              <a:rPr lang="pt-BR" dirty="0"/>
              <a:t>o TAD deve ser definido de forma que seja </a:t>
            </a:r>
            <a:r>
              <a:rPr lang="pt-BR" dirty="0" smtClean="0"/>
              <a:t>fácil </a:t>
            </a:r>
            <a:r>
              <a:rPr lang="pt-BR" dirty="0"/>
              <a:t>utilizar </a:t>
            </a:r>
            <a:r>
              <a:rPr lang="pt-BR" dirty="0" smtClean="0"/>
              <a:t>as suas funcionalidades (alterar o algoritmo sem alterar a assinatura).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948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CORMEN, Thomas H. et al. Algoritmos: teoria e prática. Rio de Janeiro: Campus, 2002. 916p. ISBN 8535209263 (Disponível no Acervo</a:t>
            </a:r>
            <a:r>
              <a:rPr lang="pt-BR" dirty="0" smtClean="0"/>
              <a:t>).</a:t>
            </a:r>
          </a:p>
          <a:p>
            <a:endParaRPr lang="pt-BR" dirty="0"/>
          </a:p>
          <a:p>
            <a:r>
              <a:rPr lang="pt-BR" dirty="0"/>
              <a:t>DROZDEK, Adam. Estrutura de dados e algoritmos em C++. São Paulo: Pioneira Thomson Learning, 2002. </a:t>
            </a:r>
            <a:r>
              <a:rPr lang="pt-BR" dirty="0" err="1"/>
              <a:t>xviii</a:t>
            </a:r>
            <a:r>
              <a:rPr lang="pt-BR" dirty="0"/>
              <a:t>, 579p. ISBN 8522102953 (Disponível no Acervo</a:t>
            </a:r>
            <a:r>
              <a:rPr lang="pt-BR" dirty="0" smtClean="0"/>
              <a:t>).</a:t>
            </a:r>
          </a:p>
          <a:p>
            <a:endParaRPr lang="pt-BR" dirty="0"/>
          </a:p>
          <a:p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ISBN 8522105251 (Disponível no Acervo</a:t>
            </a:r>
            <a:r>
              <a:rPr lang="pt-BR" dirty="0" smtClean="0"/>
              <a:t>).</a:t>
            </a:r>
          </a:p>
          <a:p>
            <a:endParaRPr lang="pt-BR" dirty="0"/>
          </a:p>
          <a:p>
            <a:r>
              <a:rPr lang="pt-BR" dirty="0" smtClean="0"/>
              <a:t>Microsoft: msdn.microsoft</a:t>
            </a:r>
            <a:r>
              <a:rPr lang="pt-BR" dirty="0"/>
              <a:t>.</a:t>
            </a:r>
            <a:r>
              <a:rPr lang="pt-BR" dirty="0" smtClean="0"/>
              <a:t>com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464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1085</Words>
  <Application>Microsoft Office PowerPoint</Application>
  <PresentationFormat>Apresentação na tela (4:3)</PresentationFormat>
  <Paragraphs>167</Paragraphs>
  <Slides>27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Tema do Office</vt:lpstr>
      <vt:lpstr>Tipos Abstratos de Dados</vt:lpstr>
      <vt:lpstr>Abstração</vt:lpstr>
      <vt:lpstr>Encapsulamento</vt:lpstr>
      <vt:lpstr>Encapsulamento</vt:lpstr>
      <vt:lpstr>Abstração x Encapsulamento</vt:lpstr>
      <vt:lpstr>Objetos</vt:lpstr>
      <vt:lpstr>Objetos</vt:lpstr>
      <vt:lpstr>Classes</vt:lpstr>
      <vt:lpstr>Classes</vt:lpstr>
      <vt:lpstr>Classe x Objeto</vt:lpstr>
      <vt:lpstr>Classe x Objeto</vt:lpstr>
      <vt:lpstr>Classe x Objeto</vt:lpstr>
      <vt:lpstr>Classes</vt:lpstr>
      <vt:lpstr>Classe Publica e Privada </vt:lpstr>
      <vt:lpstr>Construtores</vt:lpstr>
      <vt:lpstr>Construtores</vt:lpstr>
      <vt:lpstr>Construtores</vt:lpstr>
      <vt:lpstr>Construtores</vt:lpstr>
      <vt:lpstr>Construtor default</vt:lpstr>
      <vt:lpstr>Construtor default</vt:lpstr>
      <vt:lpstr>Tipos Abstratos de Dados</vt:lpstr>
      <vt:lpstr>Tipos Abstratos de Dados</vt:lpstr>
      <vt:lpstr>Tipos Abstratos de Dados</vt:lpstr>
      <vt:lpstr>Tipos Abstratos de Dados</vt:lpstr>
      <vt:lpstr>Tipos Abstratos de Dados</vt:lpstr>
      <vt:lpstr>Tipos Abstratos de Dados</vt:lpstr>
      <vt:lpstr>Referências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henrique</dc:creator>
  <cp:lastModifiedBy>henrique</cp:lastModifiedBy>
  <cp:revision>82</cp:revision>
  <dcterms:created xsi:type="dcterms:W3CDTF">2011-08-03T01:49:58Z</dcterms:created>
  <dcterms:modified xsi:type="dcterms:W3CDTF">2011-08-18T02:10:06Z</dcterms:modified>
</cp:coreProperties>
</file>