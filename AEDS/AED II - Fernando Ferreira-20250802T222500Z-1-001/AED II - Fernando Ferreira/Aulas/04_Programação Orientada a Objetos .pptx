
<file path=[Content_Types].xml><?xml version="1.0" encoding="utf-8"?>
<Types xmlns="http://schemas.openxmlformats.org/package/2006/content-types">
  <Default Extension="jpeg" ContentType="image/jpeg"/>
  <Default Extension="png" ContentType="image/png"/>
  <Default Extension="png&amp;ehk=9hhRg5m0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91" r:id="rId14"/>
    <p:sldId id="270" r:id="rId15"/>
    <p:sldId id="292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3" r:id="rId36"/>
    <p:sldId id="294" r:id="rId37"/>
    <p:sldId id="295" r:id="rId38"/>
    <p:sldId id="297" r:id="rId39"/>
    <p:sldId id="305" r:id="rId40"/>
    <p:sldId id="299" r:id="rId41"/>
    <p:sldId id="300" r:id="rId42"/>
    <p:sldId id="301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33D30-98A9-4991-AF08-6A3B77F41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ECED8E-2C88-42C7-894B-36256CE1B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3B693E-7BD6-48BB-A100-CDE95839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48FE6D-0DD8-4DE2-9BD6-A88AA392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A6960E-2D2E-44A8-B25B-60D355B7E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867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ED961-7E41-4C6C-9A01-1AA32E50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6EE1F-7B8E-4C08-837E-A4DC283D7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213196-82A7-415B-A1D9-805E12FD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19E63-E49A-4A6F-8D63-C8C47D6CE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DAE0D1-88FC-433E-B77E-FF499C1E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20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A40BC-4003-4656-82B5-09620584F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620F16-B5F2-4486-A258-CF8CCC34B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2C9C3F-348C-4ED2-AD3F-B29A09C8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707E40-5043-477D-AABC-4D062349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BC8501-D1D6-4C40-9F67-6ABBA3F3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051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632AE-8DA5-4440-B8E2-29F851CB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1CBFE0-F011-4E76-9E5F-DF2C6D6B6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E89080-ABA5-408C-B04D-99901BE29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F13DA6-5595-44BE-B969-A04E8266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396669-FF39-4078-BF30-0A35BE3A4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7DEA57-58EB-4674-B912-F88C6B76B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9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76B8B-32C6-4EE0-ACE6-BAD66BB2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185752-B56A-4203-A815-BB2B16807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6CE5F1-0486-4B6B-BA8B-27815E945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86DEE81-E212-48CF-901E-8A2361D71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C96EB3-491E-4383-BC53-ADA68E96E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E6C94EE-C74F-4330-AC2A-0F0FE9BF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80D1CE-16BF-49F7-8FC9-6593D95A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CD072E0-2A41-46C7-A08C-3C606104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941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C7AB5-2615-4650-8129-01EB9FF8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C9EF77-CE1E-4544-98BE-0B0AEA2F4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390085-1E61-465F-AE2F-B67A4ECC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7F7813-984E-428E-AB37-11B1B3F1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52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0B36A82-5B59-483E-9866-70822718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AA388E-10E6-4918-BF25-77AEE6FA8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AFBB0B-B7DC-4C54-9991-86A06500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41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7D828-F65B-4FB9-AEFD-6F4629F2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F7ED0B-C0E6-4A4B-9427-89F4C1DB9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956BD9-538B-427F-89F4-C022638BD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469BFB-6FDF-4CD4-B925-46159B60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DA6DDD-F5D4-46D7-A496-0FA2E9FB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1AEB0B-1C89-448D-9B4D-E5B6C5EE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89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3D908-0061-4AEC-976A-43C59685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71CB441-E84A-43E1-8158-AC59CE42B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73DA94-FC4C-40A3-8383-9EFF0C371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0876C4-F7E2-4C6D-923A-553853AB5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12106D-5C8F-4C67-9A41-47CCD80F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3471DD-8A28-47D9-9E2D-8518AA4F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79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4CF0C-C0A4-4BFE-8AC0-74CA4C6F1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676AA2-6B7B-4211-8221-BE1D421F6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12ED56-1B9C-4518-BC8A-772FC45EF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DF848C-D683-40F8-B9B3-F11BBC45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485FE1-D520-4F1E-B050-73AEC4FC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05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C8FB62-0459-4362-BBA6-03F3F2E37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937AEB-E8A6-41B5-B5D5-FD30B8BB8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E31766-0C19-4E01-AB6F-63182AC2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FB630-3B67-4B69-8D01-6DDF7D6C7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135A62-DA4F-48DF-81AF-030391EB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19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A15D0BF-CB3F-45B4-A3FE-80354F53E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5E2F25-32B1-4349-BB19-152D1F66D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BF3632-6B4F-4376-84C0-961B728C4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1B3FD-42BE-4E38-8A55-3353991E3139}" type="datetimeFigureOut">
              <a:rPr lang="pt-BR" smtClean="0"/>
              <a:t>15/12/2019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F386E9-6663-46BC-8511-E4B73ED8F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BFB437-5116-4C51-B197-468E03395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66BFA-AC67-420F-935D-C56929BE7C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569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&amp;ehk=9hhRg5m0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kita_Inu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Anatolian_Shepherd" TargetMode="Externa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7E68F-6169-453C-A4BB-D34F323944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Orientada a Objetos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0C2A96-C4DA-4A4F-A019-F4E97F616A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8212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Orientada a Objetos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09750" y="2823189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latin typeface="NimbusSanL-Regu"/>
              </a:rPr>
              <a:t>“</a:t>
            </a:r>
            <a:r>
              <a:rPr lang="pt-BR" sz="2400" b="1" dirty="0">
                <a:latin typeface="NimbusSanL-Bold"/>
              </a:rPr>
              <a:t>Programação orientada a objetos</a:t>
            </a:r>
            <a:r>
              <a:rPr lang="pt-BR" sz="2400" dirty="0">
                <a:latin typeface="NimbusSanL-Regu"/>
              </a:rPr>
              <a:t>: nasceu porque algumas</a:t>
            </a:r>
          </a:p>
          <a:p>
            <a:pPr algn="ctr"/>
            <a:r>
              <a:rPr lang="pt-BR" sz="2400" b="1" dirty="0">
                <a:latin typeface="NimbusSanL-Bold"/>
              </a:rPr>
              <a:t>linguagens procedimentais </a:t>
            </a:r>
            <a:r>
              <a:rPr lang="pt-BR" sz="2400" dirty="0">
                <a:latin typeface="NimbusSanL-Regu"/>
              </a:rPr>
              <a:t>se mostraram inadequadas para</a:t>
            </a:r>
          </a:p>
          <a:p>
            <a:pPr algn="ctr"/>
            <a:r>
              <a:rPr lang="pt-BR" sz="2400" dirty="0">
                <a:latin typeface="NimbusSanL-Regu"/>
              </a:rPr>
              <a:t>a construção de programas de grande porte.” </a:t>
            </a:r>
            <a:r>
              <a:rPr lang="pt-BR" sz="2400" dirty="0" err="1">
                <a:latin typeface="NimbusSanL-Regu"/>
              </a:rPr>
              <a:t>Nivio</a:t>
            </a:r>
            <a:r>
              <a:rPr lang="pt-BR" sz="2400" dirty="0">
                <a:latin typeface="NimbusSanL-Regu"/>
              </a:rPr>
              <a:t> </a:t>
            </a:r>
            <a:r>
              <a:rPr lang="pt-BR" sz="2400" dirty="0" err="1">
                <a:latin typeface="NimbusSanL-Regu"/>
              </a:rPr>
              <a:t>Ziviane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6375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Orientada a Objetos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Conforme apresentado anteriormente, em uma linguagem orientada a objetos como o Java, podemos representar qualquer entidade do mundo real por meio de </a:t>
            </a:r>
            <a:r>
              <a:rPr lang="pt-BR" b="1" dirty="0"/>
              <a:t>classes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A classe nos permite definir uma entidade do mundo real, seus </a:t>
            </a:r>
            <a:r>
              <a:rPr lang="pt-BR" b="1" dirty="0"/>
              <a:t>atributos</a:t>
            </a:r>
            <a:r>
              <a:rPr lang="pt-BR" dirty="0"/>
              <a:t> (variáveis) que a caracterizam e </a:t>
            </a:r>
            <a:r>
              <a:rPr lang="pt-BR" b="1" dirty="0"/>
              <a:t>métodos</a:t>
            </a:r>
            <a:r>
              <a:rPr lang="pt-BR" dirty="0"/>
              <a:t> (funções) para acessar estes atributos.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97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Orientada a Objetos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empregado, por exemplo, por ser definido em um sistema por meio de uma classe </a:t>
            </a:r>
            <a:r>
              <a:rPr lang="pt-BR" b="1" dirty="0"/>
              <a:t>Empregado</a:t>
            </a:r>
            <a:r>
              <a:rPr lang="pt-BR" dirty="0"/>
              <a:t>. Esta classe conterá os atributos de empregado, como </a:t>
            </a:r>
            <a:r>
              <a:rPr lang="pt-BR" b="1" i="1" dirty="0"/>
              <a:t>matrícula</a:t>
            </a:r>
            <a:r>
              <a:rPr lang="pt-BR" dirty="0"/>
              <a:t>, </a:t>
            </a:r>
            <a:r>
              <a:rPr lang="pt-BR" b="1" i="1" dirty="0"/>
              <a:t>nome</a:t>
            </a:r>
            <a:r>
              <a:rPr lang="pt-BR" dirty="0"/>
              <a:t>, e </a:t>
            </a:r>
            <a:r>
              <a:rPr lang="pt-BR" b="1" i="1" dirty="0"/>
              <a:t>salário base</a:t>
            </a:r>
            <a:r>
              <a:rPr lang="pt-BR" dirty="0"/>
              <a:t>. </a:t>
            </a:r>
          </a:p>
          <a:p>
            <a:r>
              <a:rPr lang="pt-BR" dirty="0"/>
              <a:t>Ela também pode ter um método que calcula o salario total a partir da quantidade de horas extras realizadas.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4</a:t>
            </a:fld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4353719"/>
            <a:ext cx="1971675" cy="1971675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4606645" y="3987075"/>
            <a:ext cx="6426759" cy="2862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Empregado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matricula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String 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salarioBase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calculaSalario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horaExtra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... Código do método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58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Orientada a Objetos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Ao criar uma nova classe, como a classe Empregado do exemplo anterior, estamos definindo um novo tipo de dado. </a:t>
            </a:r>
          </a:p>
          <a:p>
            <a:endParaRPr lang="pt-BR" dirty="0"/>
          </a:p>
          <a:p>
            <a:r>
              <a:rPr lang="pt-BR" dirty="0"/>
              <a:t>Os tipos de dados como </a:t>
            </a:r>
            <a:r>
              <a:rPr lang="pt-BR" b="1" dirty="0" err="1"/>
              <a:t>int</a:t>
            </a:r>
            <a:r>
              <a:rPr lang="pt-BR" dirty="0"/>
              <a:t>, </a:t>
            </a:r>
            <a:r>
              <a:rPr lang="pt-BR" b="1" dirty="0" err="1"/>
              <a:t>double</a:t>
            </a:r>
            <a:r>
              <a:rPr lang="pt-BR" dirty="0"/>
              <a:t> e </a:t>
            </a:r>
            <a:r>
              <a:rPr lang="pt-BR" b="1" dirty="0" err="1"/>
              <a:t>String</a:t>
            </a:r>
            <a:r>
              <a:rPr lang="pt-BR" dirty="0"/>
              <a:t>, utilizados até então, são tipos primitivos da linguagem. Por meio destes tipos podemos criar novas </a:t>
            </a:r>
            <a:r>
              <a:rPr lang="pt-BR" b="1" i="1" dirty="0"/>
              <a:t>variáveis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Usamos classes para criar tipos não primitivos e, a partir de sua definição, podemos criar </a:t>
            </a:r>
            <a:r>
              <a:rPr lang="pt-BR" b="1" dirty="0"/>
              <a:t>objetos</a:t>
            </a:r>
            <a:r>
              <a:rPr lang="pt-BR" dirty="0"/>
              <a:t>, que são instâncias de uma classe. Ou seja, o </a:t>
            </a:r>
            <a:r>
              <a:rPr lang="pt-BR" b="1" dirty="0"/>
              <a:t>objeto</a:t>
            </a:r>
            <a:r>
              <a:rPr lang="pt-BR" dirty="0"/>
              <a:t> é uma variável do tipo da classe.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62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Orientada a Objetos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Assim, a </a:t>
            </a:r>
            <a:r>
              <a:rPr lang="pt-BR" b="1" dirty="0"/>
              <a:t>Programação Orientada a Objetos (OO)</a:t>
            </a:r>
            <a:r>
              <a:rPr lang="pt-BR" dirty="0"/>
              <a:t> permite que objetos do mundo real que compartilham propriedades e comportamentos comuns sejam agrupados em classes.</a:t>
            </a:r>
          </a:p>
          <a:p>
            <a:endParaRPr lang="pt-BR" dirty="0"/>
          </a:p>
          <a:p>
            <a:r>
              <a:rPr lang="pt-BR" dirty="0"/>
              <a:t>Estilo de programação diretamente suportado pelo conceito de classe em Java.</a:t>
            </a:r>
          </a:p>
          <a:p>
            <a:endParaRPr lang="pt-BR" dirty="0"/>
          </a:p>
          <a:p>
            <a:r>
              <a:rPr lang="pt-BR" dirty="0"/>
              <a:t>Ela permite melhorar a </a:t>
            </a:r>
            <a:r>
              <a:rPr lang="pt-BR" b="1" dirty="0"/>
              <a:t>reusabilidade </a:t>
            </a:r>
            <a:r>
              <a:rPr lang="pt-BR" dirty="0"/>
              <a:t>e </a:t>
            </a:r>
            <a:r>
              <a:rPr lang="pt-BR" b="1" dirty="0"/>
              <a:t>extensibilidade </a:t>
            </a:r>
            <a:r>
              <a:rPr lang="pt-BR" dirty="0"/>
              <a:t>dos softwares.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002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Mecanismo de Reuso de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Diminui a necessidade de reescrever código:</a:t>
            </a:r>
          </a:p>
          <a:p>
            <a:pPr lvl="1"/>
            <a:r>
              <a:rPr lang="pt-BR" dirty="0"/>
              <a:t>menos trabalho para o programador.</a:t>
            </a:r>
          </a:p>
          <a:p>
            <a:pPr lvl="1"/>
            <a:endParaRPr lang="pt-BR" dirty="0"/>
          </a:p>
          <a:p>
            <a:r>
              <a:rPr lang="pt-BR" dirty="0"/>
              <a:t>Permite o aproveitamento de código preexistente (livre de erro e otimizado):</a:t>
            </a:r>
          </a:p>
          <a:p>
            <a:pPr lvl="1"/>
            <a:r>
              <a:rPr lang="pt-BR" dirty="0"/>
              <a:t>menos chances de cometer erros</a:t>
            </a:r>
          </a:p>
          <a:p>
            <a:pPr lvl="1"/>
            <a:endParaRPr lang="pt-BR" dirty="0"/>
          </a:p>
          <a:p>
            <a:r>
              <a:rPr lang="pt-BR" dirty="0"/>
              <a:t>Em linguagens convencionais:</a:t>
            </a:r>
          </a:p>
          <a:p>
            <a:pPr lvl="1"/>
            <a:r>
              <a:rPr lang="pt-BR" dirty="0"/>
              <a:t>biblioteca de funções e procedimentos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66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Mecanismo de Reuso de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057775" cy="4351338"/>
          </a:xfrm>
        </p:spPr>
        <p:txBody>
          <a:bodyPr>
            <a:normAutofit/>
          </a:bodyPr>
          <a:lstStyle/>
          <a:p>
            <a:r>
              <a:rPr lang="pt-BR" sz="2400" dirty="0"/>
              <a:t>Biblioteca 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Random</a:t>
            </a:r>
            <a:r>
              <a:rPr lang="pt-BR" sz="2400" dirty="0"/>
              <a:t> do Java para gerar números aleatórios. </a:t>
            </a:r>
          </a:p>
          <a:p>
            <a:endParaRPr lang="pt-BR" sz="2400" dirty="0"/>
          </a:p>
          <a:p>
            <a:r>
              <a:rPr lang="pt-BR" sz="2400" dirty="0"/>
              <a:t>Objeto chamado </a:t>
            </a:r>
            <a:r>
              <a:rPr lang="pt-BR" sz="2400" b="1" i="1" dirty="0" err="1"/>
              <a:t>rand</a:t>
            </a:r>
            <a:r>
              <a:rPr lang="pt-BR" sz="2400" dirty="0"/>
              <a:t> do tipo </a:t>
            </a:r>
            <a:r>
              <a:rPr lang="pt-BR" sz="2400" b="1" dirty="0" err="1"/>
              <a:t>Random</a:t>
            </a:r>
            <a:r>
              <a:rPr lang="pt-BR" sz="2400" dirty="0"/>
              <a:t>. </a:t>
            </a:r>
          </a:p>
          <a:p>
            <a:r>
              <a:rPr lang="pt-BR" sz="2400" dirty="0"/>
              <a:t>Chamada do método </a:t>
            </a:r>
            <a:r>
              <a:rPr lang="en-US" sz="2400" b="1" i="1" dirty="0" err="1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nextInt</a:t>
            </a:r>
            <a:r>
              <a:rPr lang="en-US" sz="2400" b="1" i="1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pt-BR" sz="2400" dirty="0"/>
              <a:t> para retornar um número inteiro aleatório. </a:t>
            </a:r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8</a:t>
            </a:fld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633541" y="2238038"/>
            <a:ext cx="5434634" cy="325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java.util.Random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Principal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Random rand =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aleatorio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rand.nextInt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10;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	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.println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aleatorio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Conector de Seta Reta 6"/>
          <p:cNvCxnSpPr/>
          <p:nvPr/>
        </p:nvCxnSpPr>
        <p:spPr>
          <a:xfrm>
            <a:off x="5819775" y="2476500"/>
            <a:ext cx="742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cxnSpLocks/>
          </p:cNvCxnSpPr>
          <p:nvPr/>
        </p:nvCxnSpPr>
        <p:spPr>
          <a:xfrm>
            <a:off x="5895975" y="3486150"/>
            <a:ext cx="14805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cxnSpLocks/>
          </p:cNvCxnSpPr>
          <p:nvPr/>
        </p:nvCxnSpPr>
        <p:spPr>
          <a:xfrm>
            <a:off x="5895975" y="4267200"/>
            <a:ext cx="1970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26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Mecanismo de Reuso de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057775" cy="4351338"/>
          </a:xfrm>
        </p:spPr>
        <p:txBody>
          <a:bodyPr>
            <a:normAutofit/>
          </a:bodyPr>
          <a:lstStyle/>
          <a:p>
            <a:r>
              <a:rPr lang="pt-BR" sz="2400" dirty="0"/>
              <a:t>Em nenhum momento foi necessário implementar um novo código para gerar números aleatórios.</a:t>
            </a:r>
          </a:p>
          <a:p>
            <a:endParaRPr lang="pt-BR" sz="2400" dirty="0"/>
          </a:p>
          <a:p>
            <a:r>
              <a:rPr lang="pt-BR" sz="2400" dirty="0"/>
              <a:t>Foi feito reuso de um método pronto de uma biblioteca fornecida pela linguagem, por meio da criação de um novo objeto.  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9</a:t>
            </a:fld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633541" y="2238038"/>
            <a:ext cx="5434634" cy="325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java.util.Random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Principal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Random rand =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aleatorio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rand.nextInt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10;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	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.println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aleatorio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229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básicos de OO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OO os objetos da computação são análogos aos objetos existentes no mundo real.</a:t>
            </a:r>
          </a:p>
          <a:p>
            <a:endParaRPr lang="pt-BR" dirty="0"/>
          </a:p>
          <a:p>
            <a:r>
              <a:rPr lang="pt-BR" dirty="0"/>
              <a:t>Os átomos do processo de computação são os objetos que trocam </a:t>
            </a:r>
            <a:r>
              <a:rPr lang="pt-BR" b="1" dirty="0"/>
              <a:t>mensagens</a:t>
            </a:r>
            <a:r>
              <a:rPr lang="pt-BR" dirty="0"/>
              <a:t> entre si.</a:t>
            </a:r>
          </a:p>
          <a:p>
            <a:endParaRPr lang="pt-BR" dirty="0"/>
          </a:p>
          <a:p>
            <a:r>
              <a:rPr lang="pt-BR" dirty="0"/>
              <a:t>Essas mensagens resultam na ativação de </a:t>
            </a:r>
            <a:r>
              <a:rPr lang="pt-BR" b="1" dirty="0"/>
              <a:t>métodos</a:t>
            </a:r>
            <a:r>
              <a:rPr lang="pt-BR" dirty="0"/>
              <a:t>, os quais realizam as ações necessárias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133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básicos de OO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Objeto é algo </a:t>
            </a:r>
            <a:r>
              <a:rPr lang="pt-BR" b="1" dirty="0"/>
              <a:t>dinâmico</a:t>
            </a:r>
            <a:r>
              <a:rPr lang="pt-BR" dirty="0"/>
              <a:t>: criado por alguém, tem uma vida, morre ou é morto por alguém. Assim durante a execução do sistema, os objetos podem: ser construídos, executar ações, ser destruídos, tornar-se inacessíveis.</a:t>
            </a:r>
          </a:p>
          <a:p>
            <a:endParaRPr lang="pt-BR" dirty="0"/>
          </a:p>
          <a:p>
            <a:r>
              <a:rPr lang="pt-BR" dirty="0"/>
              <a:t>A classe é apenas uma definição (especificação). O objeto é uma instância da classe, quando a mesma ganha vida. Quando um objeto fica inacessível, por exemplo, ele deixa de existir. Porém, outros objetos podem ser criados com a mesma especificação. 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2473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uma entidade capaz de reter um </a:t>
            </a:r>
            <a:r>
              <a:rPr lang="pt-BR" b="1" dirty="0"/>
              <a:t>estado </a:t>
            </a:r>
            <a:r>
              <a:rPr lang="pt-BR" dirty="0"/>
              <a:t>(informação) e que oferece uma série de </a:t>
            </a:r>
            <a:r>
              <a:rPr lang="pt-BR" b="1" dirty="0"/>
              <a:t>operações </a:t>
            </a:r>
            <a:r>
              <a:rPr lang="pt-BR" dirty="0"/>
              <a:t>(comportamento) ou para examinar ou para afetar este estado.</a:t>
            </a:r>
          </a:p>
          <a:p>
            <a:endParaRPr lang="pt-BR" dirty="0"/>
          </a:p>
          <a:p>
            <a:r>
              <a:rPr lang="pt-BR" dirty="0"/>
              <a:t>Eles pode ser:</a:t>
            </a:r>
          </a:p>
          <a:p>
            <a:pPr lvl="1"/>
            <a:r>
              <a:rPr lang="pt-BR" dirty="0"/>
              <a:t>Concretos:</a:t>
            </a:r>
          </a:p>
          <a:p>
            <a:pPr lvl="2"/>
            <a:r>
              <a:rPr lang="pt-BR" dirty="0"/>
              <a:t>Carro, casa, avião</a:t>
            </a:r>
          </a:p>
          <a:p>
            <a:pPr lvl="1"/>
            <a:r>
              <a:rPr lang="pt-BR" dirty="0"/>
              <a:t>Abstratos:</a:t>
            </a:r>
          </a:p>
          <a:p>
            <a:pPr lvl="2"/>
            <a:r>
              <a:rPr lang="pt-BR" dirty="0"/>
              <a:t>Transação bancária, música</a:t>
            </a:r>
          </a:p>
          <a:p>
            <a:pPr marL="457200" lvl="1" indent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8899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Cachorro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248275" cy="4351338"/>
          </a:xfrm>
        </p:spPr>
        <p:txBody>
          <a:bodyPr>
            <a:normAutofit/>
          </a:bodyPr>
          <a:lstStyle/>
          <a:p>
            <a:r>
              <a:rPr lang="pt-BR" dirty="0"/>
              <a:t>Possui várias características</a:t>
            </a:r>
          </a:p>
          <a:p>
            <a:pPr lvl="1"/>
            <a:r>
              <a:rPr lang="pt-BR" dirty="0"/>
              <a:t>Um nome,</a:t>
            </a:r>
          </a:p>
          <a:p>
            <a:pPr lvl="1"/>
            <a:r>
              <a:rPr lang="pt-BR" dirty="0"/>
              <a:t>Uma idade,</a:t>
            </a:r>
          </a:p>
          <a:p>
            <a:pPr lvl="1"/>
            <a:r>
              <a:rPr lang="pt-BR" dirty="0"/>
              <a:t>Um comprimento de pelos,</a:t>
            </a:r>
          </a:p>
          <a:p>
            <a:pPr lvl="1"/>
            <a:r>
              <a:rPr lang="pt-BR" dirty="0"/>
              <a:t>Uma cor dos pelos,</a:t>
            </a:r>
          </a:p>
          <a:p>
            <a:pPr lvl="1"/>
            <a:r>
              <a:rPr lang="pt-BR" dirty="0"/>
              <a:t>Uma cor dos olhos,</a:t>
            </a:r>
          </a:p>
          <a:p>
            <a:pPr lvl="1"/>
            <a:r>
              <a:rPr lang="pt-BR" dirty="0"/>
              <a:t>Um peso,</a:t>
            </a:r>
          </a:p>
          <a:p>
            <a:pPr lvl="1"/>
            <a:r>
              <a:rPr lang="pt-BR" dirty="0"/>
              <a:t>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13</a:t>
            </a:fld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2428568" y="5530632"/>
            <a:ext cx="78636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As características que descrevem um objeto são chamadas de</a:t>
            </a:r>
          </a:p>
          <a:p>
            <a:pPr algn="ctr"/>
            <a:r>
              <a:rPr lang="pt-BR" sz="2400" b="1" dirty="0"/>
              <a:t>atributos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B76F1AA-C057-4DFC-B925-17711242E1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480" y="2301875"/>
            <a:ext cx="2800350" cy="209734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145E112-913E-485E-8467-A0A371E21B70}"/>
              </a:ext>
            </a:extLst>
          </p:cNvPr>
          <p:cNvSpPr txBox="1"/>
          <p:nvPr/>
        </p:nvSpPr>
        <p:spPr>
          <a:xfrm>
            <a:off x="7787030" y="4453573"/>
            <a:ext cx="266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Imagem: cdn.pixabay.com</a:t>
            </a:r>
          </a:p>
        </p:txBody>
      </p:sp>
    </p:spTree>
    <p:extLst>
      <p:ext uri="{BB962C8B-B14F-4D97-AF65-F5344CB8AC3E}">
        <p14:creationId xmlns:p14="http://schemas.microsoft.com/office/powerpoint/2010/main" val="2511135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objetos do mundo real possuem propriedades que possuem valores.</a:t>
            </a:r>
          </a:p>
          <a:p>
            <a:r>
              <a:rPr lang="pt-BR" dirty="0"/>
              <a:t>Estes valores definem o </a:t>
            </a:r>
            <a:r>
              <a:rPr lang="pt-BR" b="1" dirty="0"/>
              <a:t>estado</a:t>
            </a:r>
            <a:r>
              <a:rPr lang="pt-BR" dirty="0"/>
              <a:t> do objeto. As propriedades recebem o nome de atributos em OO.</a:t>
            </a:r>
          </a:p>
          <a:p>
            <a:r>
              <a:rPr lang="pt-BR" dirty="0"/>
              <a:t>Elementos que caracterizam o objeto.</a:t>
            </a:r>
          </a:p>
          <a:p>
            <a:r>
              <a:rPr lang="pt-BR" dirty="0"/>
              <a:t>Cada objeto tem seu conjunto próprio de atributos.</a:t>
            </a:r>
          </a:p>
          <a:p>
            <a:r>
              <a:rPr lang="pt-BR" b="1" dirty="0"/>
              <a:t>Variável declarada no contexto da classe.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910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Cachorro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15</a:t>
            </a:fld>
            <a:endParaRPr lang="pt-BR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0E2111E-2A02-472B-9E3D-DA574F8C8545}"/>
              </a:ext>
            </a:extLst>
          </p:cNvPr>
          <p:cNvGraphicFramePr>
            <a:graphicFrameLocks noGrp="1"/>
          </p:cNvGraphicFramePr>
          <p:nvPr/>
        </p:nvGraphicFramePr>
        <p:xfrm>
          <a:off x="974724" y="1583667"/>
          <a:ext cx="51212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638">
                  <a:extLst>
                    <a:ext uri="{9D8B030D-6E8A-4147-A177-3AD203B41FA5}">
                      <a16:colId xmlns:a16="http://schemas.microsoft.com/office/drawing/2014/main" val="2964618063"/>
                    </a:ext>
                  </a:extLst>
                </a:gridCol>
                <a:gridCol w="2560638">
                  <a:extLst>
                    <a:ext uri="{9D8B030D-6E8A-4147-A177-3AD203B41FA5}">
                      <a16:colId xmlns:a16="http://schemas.microsoft.com/office/drawing/2014/main" val="135146461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Cachorro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72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Rex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251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 anos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65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Comprimento dos pelos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Curtos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0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Cor dos pelos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Bege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772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Cor dos olhos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Castanhos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842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07552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822F1FF-B711-4DD4-AD37-D34511CDB22B}"/>
              </a:ext>
            </a:extLst>
          </p:cNvPr>
          <p:cNvGraphicFramePr>
            <a:graphicFrameLocks noGrp="1"/>
          </p:cNvGraphicFramePr>
          <p:nvPr/>
        </p:nvGraphicFramePr>
        <p:xfrm>
          <a:off x="6527799" y="3760470"/>
          <a:ext cx="51212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638">
                  <a:extLst>
                    <a:ext uri="{9D8B030D-6E8A-4147-A177-3AD203B41FA5}">
                      <a16:colId xmlns:a16="http://schemas.microsoft.com/office/drawing/2014/main" val="2964618063"/>
                    </a:ext>
                  </a:extLst>
                </a:gridCol>
                <a:gridCol w="2560638">
                  <a:extLst>
                    <a:ext uri="{9D8B030D-6E8A-4147-A177-3AD203B41FA5}">
                      <a16:colId xmlns:a16="http://schemas.microsoft.com/office/drawing/2014/main" val="135146461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Cachorro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72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Hachiko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251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 anos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65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Comprimento dos pelos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Curtos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0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Cor dos pelos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Bege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772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Cor dos olhos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Castanhos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842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07552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D432D284-9183-4F47-BF74-8BD3E88C6D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05300" y="4951245"/>
            <a:ext cx="2105026" cy="14051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4D13637-3306-4CFB-BCCA-FD505CDA9B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232525" y="1583667"/>
            <a:ext cx="2130244" cy="1597683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CDD825-E7BE-4DEE-900B-E6F80792C0CF}"/>
              </a:ext>
            </a:extLst>
          </p:cNvPr>
          <p:cNvSpPr txBox="1"/>
          <p:nvPr/>
        </p:nvSpPr>
        <p:spPr>
          <a:xfrm>
            <a:off x="8343899" y="2916451"/>
            <a:ext cx="3276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Imagem: upload.wikimedia.org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BB1F93E-AC39-4F78-BE02-121F8FF750AD}"/>
              </a:ext>
            </a:extLst>
          </p:cNvPr>
          <p:cNvSpPr txBox="1"/>
          <p:nvPr/>
        </p:nvSpPr>
        <p:spPr>
          <a:xfrm>
            <a:off x="1897061" y="6053018"/>
            <a:ext cx="3276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Imagem: upload.wikimedia.org</a:t>
            </a:r>
          </a:p>
        </p:txBody>
      </p:sp>
    </p:spTree>
    <p:extLst>
      <p:ext uri="{BB962C8B-B14F-4D97-AF65-F5344CB8AC3E}">
        <p14:creationId xmlns:p14="http://schemas.microsoft.com/office/powerpoint/2010/main" val="3832726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Cachorro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Além do conjunto de características que descrevem o cachorro, podemos também identificar um conjunto de ações que ele é capaz de executar:</a:t>
            </a:r>
          </a:p>
          <a:p>
            <a:pPr lvl="1"/>
            <a:r>
              <a:rPr lang="pt-BR" sz="2000" dirty="0"/>
              <a:t>Latir,</a:t>
            </a:r>
          </a:p>
          <a:p>
            <a:pPr lvl="1"/>
            <a:r>
              <a:rPr lang="pt-BR" sz="2000" dirty="0"/>
              <a:t>Babar,</a:t>
            </a:r>
          </a:p>
          <a:p>
            <a:pPr lvl="1"/>
            <a:r>
              <a:rPr lang="pt-BR" sz="2000" dirty="0"/>
              <a:t>Correr em círculos,</a:t>
            </a:r>
          </a:p>
          <a:p>
            <a:pPr lvl="1"/>
            <a:r>
              <a:rPr lang="pt-BR" sz="2000" dirty="0"/>
              <a:t>Pegar bola,</a:t>
            </a:r>
          </a:p>
          <a:p>
            <a:pPr lvl="1"/>
            <a:r>
              <a:rPr lang="pt-BR" sz="2000" dirty="0"/>
              <a:t>Sentar,</a:t>
            </a:r>
          </a:p>
          <a:p>
            <a:pPr lvl="1"/>
            <a:r>
              <a:rPr lang="pt-BR" sz="2000" dirty="0"/>
              <a:t>Comer,</a:t>
            </a:r>
          </a:p>
          <a:p>
            <a:pPr lvl="1"/>
            <a:r>
              <a:rPr lang="pt-BR" sz="2000" dirty="0"/>
              <a:t>Dormir,</a:t>
            </a:r>
          </a:p>
          <a:p>
            <a:pPr lvl="1"/>
            <a:r>
              <a:rPr lang="pt-BR" sz="2000" dirty="0"/>
              <a:t>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16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2781300" y="543565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2400" dirty="0">
                <a:latin typeface="NimbusSanL-Regu"/>
              </a:rPr>
              <a:t>Chamamos de interface ao conjunto de métodos disponíveis em um objeto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29098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comportamentos inerentes ao objeto, executados somente quando são solicitados.</a:t>
            </a:r>
          </a:p>
          <a:p>
            <a:endParaRPr lang="pt-BR" dirty="0"/>
          </a:p>
          <a:p>
            <a:r>
              <a:rPr lang="pt-BR" dirty="0"/>
              <a:t>São procedimentos ou funções que realizam as ações próprias do objeto.</a:t>
            </a:r>
          </a:p>
          <a:p>
            <a:endParaRPr lang="pt-BR" dirty="0"/>
          </a:p>
          <a:p>
            <a:r>
              <a:rPr lang="pt-BR" dirty="0"/>
              <a:t>Um objeto requisita a ação de algum outro objeto, enviando uma </a:t>
            </a:r>
            <a:r>
              <a:rPr lang="pt-BR" b="1" dirty="0"/>
              <a:t>mensagem</a:t>
            </a:r>
            <a:r>
              <a:rPr lang="pt-BR" dirty="0"/>
              <a:t> para ele.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19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057775" cy="4351338"/>
          </a:xfrm>
        </p:spPr>
        <p:txBody>
          <a:bodyPr>
            <a:normAutofit/>
          </a:bodyPr>
          <a:lstStyle/>
          <a:p>
            <a:r>
              <a:rPr lang="pt-BR" sz="2400" dirty="0"/>
              <a:t>Novamente vamos rever o objeto </a:t>
            </a:r>
            <a:r>
              <a:rPr lang="pt-BR" sz="2400" b="1" i="1" dirty="0" err="1"/>
              <a:t>rand</a:t>
            </a:r>
            <a:r>
              <a:rPr lang="pt-BR" sz="2400" dirty="0"/>
              <a:t> criado da classe </a:t>
            </a:r>
            <a:r>
              <a:rPr lang="pt-BR" sz="2400" b="1" dirty="0" err="1"/>
              <a:t>Random</a:t>
            </a:r>
            <a:r>
              <a:rPr lang="pt-BR" sz="2400" dirty="0"/>
              <a:t> para gerar números aleatórios. </a:t>
            </a:r>
          </a:p>
          <a:p>
            <a:endParaRPr lang="pt-BR" sz="2400" dirty="0"/>
          </a:p>
          <a:p>
            <a:r>
              <a:rPr lang="pt-BR" sz="2400" dirty="0"/>
              <a:t>Estamos requisitando uma ação fazendo a chamada do método </a:t>
            </a:r>
            <a:r>
              <a:rPr lang="en-US" sz="2400" b="1" i="1" dirty="0" err="1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nextInt</a:t>
            </a:r>
            <a:r>
              <a:rPr lang="en-US" sz="2400" b="1" i="1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pt-BR" sz="2400" dirty="0"/>
              <a:t> do objeto </a:t>
            </a:r>
            <a:r>
              <a:rPr lang="pt-BR" sz="2400" b="1" i="1" dirty="0" err="1"/>
              <a:t>rand</a:t>
            </a:r>
            <a:r>
              <a:rPr lang="pt-BR" sz="2400" dirty="0"/>
              <a:t> para retornar um número inteiro aleatório. </a:t>
            </a:r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18</a:t>
            </a:fld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633541" y="2238038"/>
            <a:ext cx="5434634" cy="325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java.util.Random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Principal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Random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aleatorio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rand.nextInt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10;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	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.println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aleatorio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de Seta Reta 9"/>
          <p:cNvCxnSpPr>
            <a:cxnSpLocks/>
          </p:cNvCxnSpPr>
          <p:nvPr/>
        </p:nvCxnSpPr>
        <p:spPr>
          <a:xfrm>
            <a:off x="5895975" y="4267200"/>
            <a:ext cx="1970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279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</a:t>
            </a:r>
            <a:r>
              <a:rPr lang="pt-BR" b="1" dirty="0"/>
              <a:t>classe</a:t>
            </a:r>
            <a:r>
              <a:rPr lang="pt-BR" dirty="0"/>
              <a:t> representa um conjunto de objetos que possuem características e comportamentos</a:t>
            </a:r>
          </a:p>
          <a:p>
            <a:endParaRPr lang="pt-BR" dirty="0"/>
          </a:p>
          <a:p>
            <a:r>
              <a:rPr lang="pt-BR" dirty="0"/>
              <a:t>Um </a:t>
            </a:r>
            <a:r>
              <a:rPr lang="pt-BR" b="1" dirty="0"/>
              <a:t>objeto</a:t>
            </a:r>
            <a:r>
              <a:rPr lang="pt-BR" dirty="0"/>
              <a:t> é uma instância de uma determinada </a:t>
            </a:r>
            <a:r>
              <a:rPr lang="pt-BR" b="1" dirty="0"/>
              <a:t>classe</a:t>
            </a:r>
            <a:r>
              <a:rPr lang="pt-BR" dirty="0"/>
              <a:t>, ou seja, criamos nossos objetos baseados nas características definidas nas classes.</a:t>
            </a:r>
          </a:p>
          <a:p>
            <a:endParaRPr lang="pt-BR" dirty="0"/>
          </a:p>
          <a:p>
            <a:r>
              <a:rPr lang="pt-BR" dirty="0"/>
              <a:t>A ênfase da metodologia orientada a objetos é dada na criação das classes, e não dos objetos, como se poderia pensar pelo nome.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299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uma classe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20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95325" y="1375711"/>
            <a:ext cx="6096000" cy="52956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Bicicleta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modelo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preco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velocidade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Acelerar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kmph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velocidade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velocidade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kmph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frear ()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velocidade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0)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  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velocidade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velocidade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consultarVelocidade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velocidade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7259213" y="3923196"/>
            <a:ext cx="3887603" cy="3437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Bicicleta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bike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Bicicleta();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8080579" y="5427594"/>
            <a:ext cx="21688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Instanciação da classe Bicicleta</a:t>
            </a:r>
          </a:p>
        </p:txBody>
      </p:sp>
      <p:cxnSp>
        <p:nvCxnSpPr>
          <p:cNvPr id="10" name="Conector de Seta Reta 9"/>
          <p:cNvCxnSpPr>
            <a:cxnSpLocks/>
          </p:cNvCxnSpPr>
          <p:nvPr/>
        </p:nvCxnSpPr>
        <p:spPr>
          <a:xfrm flipV="1">
            <a:off x="9164992" y="4610100"/>
            <a:ext cx="0" cy="719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4B66C20D-F09B-4A67-9443-195AC63290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232" y="1653282"/>
            <a:ext cx="2548173" cy="180230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9202DD4-6A65-49CA-97AC-83D99E835C7C}"/>
              </a:ext>
            </a:extLst>
          </p:cNvPr>
          <p:cNvSpPr txBox="1"/>
          <p:nvPr/>
        </p:nvSpPr>
        <p:spPr>
          <a:xfrm>
            <a:off x="9524361" y="3127938"/>
            <a:ext cx="266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Imagem: cdn.pixabay.com</a:t>
            </a:r>
          </a:p>
        </p:txBody>
      </p:sp>
    </p:spTree>
    <p:extLst>
      <p:ext uri="{BB962C8B-B14F-4D97-AF65-F5344CB8AC3E}">
        <p14:creationId xmlns:p14="http://schemas.microsoft.com/office/powerpoint/2010/main" val="730783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21051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encapsulamento é o resultado (ou ato) de ocultar do usuário os detalhes da implementação de um objeto.</a:t>
            </a:r>
          </a:p>
          <a:p>
            <a:r>
              <a:rPr lang="pt-BR" dirty="0"/>
              <a:t>O encapsulamento é importante porque separa a maneira como um objeto se comporta da maneira como ele é implementado.</a:t>
            </a:r>
          </a:p>
          <a:p>
            <a:r>
              <a:rPr lang="pt-BR" dirty="0"/>
              <a:t>A definição de como implementar as ações de uma classe</a:t>
            </a:r>
            <a:r>
              <a:rPr lang="pt-BR" b="1" dirty="0"/>
              <a:t>, sem informar como isto é feito.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21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47700" y="4212463"/>
            <a:ext cx="6096000" cy="14096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Bicicleta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bike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Bicicleta();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bike.Acelerar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(12);	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6743700" y="4181613"/>
            <a:ext cx="44767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Ao criar um objeto da classe bicicleta do exemplo anterior, o encapsulamento não permite acesso à implementação dos métodos. Não sabemos como ele é feito, e apenas o utilizamos. </a:t>
            </a:r>
          </a:p>
        </p:txBody>
      </p:sp>
    </p:spTree>
    <p:extLst>
      <p:ext uri="{BB962C8B-B14F-4D97-AF65-F5344CB8AC3E}">
        <p14:creationId xmlns:p14="http://schemas.microsoft.com/office/powerpoint/2010/main" val="3751881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Outras classes só podem acessar os atributos de uma classe invocando os métodos públicos;</a:t>
            </a:r>
          </a:p>
          <a:p>
            <a:r>
              <a:rPr lang="pt-BR" dirty="0"/>
              <a:t>Restringe a visibilidade do objeto, mas facilita o reuso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22</a:t>
            </a:fld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7134226" y="4040140"/>
            <a:ext cx="44767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Ao criar um objeto da classe bicicleta do exemplo anterior, o encapsulamento </a:t>
            </a:r>
            <a:r>
              <a:rPr lang="pt-BR" sz="2000" b="1" dirty="0"/>
              <a:t>não</a:t>
            </a:r>
            <a:r>
              <a:rPr lang="pt-BR" sz="2000" dirty="0"/>
              <a:t> permite que o atributo </a:t>
            </a:r>
            <a:r>
              <a:rPr lang="pt-BR" sz="2000" b="1" i="1" dirty="0"/>
              <a:t>velocidade</a:t>
            </a:r>
            <a:r>
              <a:rPr lang="pt-BR" sz="2000" dirty="0"/>
              <a:t> da bicicleta seja acessado (e modificado) de “fora” da classe. </a:t>
            </a:r>
          </a:p>
        </p:txBody>
      </p:sp>
      <p:sp>
        <p:nvSpPr>
          <p:cNvPr id="7" name="Retângulo 6"/>
          <p:cNvSpPr/>
          <p:nvPr/>
        </p:nvSpPr>
        <p:spPr>
          <a:xfrm>
            <a:off x="647700" y="4212463"/>
            <a:ext cx="6096000" cy="14096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Bicicleta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bike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Bicicleta();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bike.Acelerar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(12);	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993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Exemplo simples: Conta Bancaria</a:t>
            </a:r>
          </a:p>
          <a:p>
            <a:pPr lvl="1"/>
            <a:r>
              <a:rPr lang="pt-BR" sz="2800" dirty="0"/>
              <a:t>Queremos armazenar os dados da conta.</a:t>
            </a:r>
          </a:p>
          <a:p>
            <a:pPr lvl="1"/>
            <a:r>
              <a:rPr lang="pt-BR" sz="2800" dirty="0"/>
              <a:t>Queremos ser capazes de efetuar operações com os</a:t>
            </a:r>
          </a:p>
          <a:p>
            <a:pPr lvl="2"/>
            <a:r>
              <a:rPr lang="pt-BR" sz="2400" dirty="0"/>
              <a:t>dados da conta (alguns podem ser modificados, outros não, alguns ainda somente sob certas condições)...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600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24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0974" y="1306172"/>
            <a:ext cx="6934201" cy="509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() {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deposita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retira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345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25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0974" y="1306172"/>
            <a:ext cx="6934201" cy="509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() {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deposita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retira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de Seta Reta 5"/>
          <p:cNvCxnSpPr/>
          <p:nvPr/>
        </p:nvCxnSpPr>
        <p:spPr>
          <a:xfrm flipH="1">
            <a:off x="2809875" y="1504950"/>
            <a:ext cx="464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7633212" y="1043285"/>
            <a:ext cx="3778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 da classe. Normalmente sempre declaramos nome de classe começando com letra maiúscula</a:t>
            </a:r>
          </a:p>
        </p:txBody>
      </p:sp>
    </p:spTree>
    <p:extLst>
      <p:ext uri="{BB962C8B-B14F-4D97-AF65-F5344CB8AC3E}">
        <p14:creationId xmlns:p14="http://schemas.microsoft.com/office/powerpoint/2010/main" val="1804911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26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0974" y="1306172"/>
            <a:ext cx="6934201" cy="509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saldo;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() {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deposita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retira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de Seta Reta 5"/>
          <p:cNvCxnSpPr>
            <a:cxnSpLocks/>
          </p:cNvCxnSpPr>
          <p:nvPr/>
        </p:nvCxnSpPr>
        <p:spPr>
          <a:xfrm flipH="1">
            <a:off x="3867150" y="1971675"/>
            <a:ext cx="2714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6915151" y="1787009"/>
            <a:ext cx="377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Atributos da classe </a:t>
            </a:r>
            <a:r>
              <a:rPr lang="pt-BR" dirty="0" err="1"/>
              <a:t>ContaBancaria</a:t>
            </a:r>
            <a:r>
              <a:rPr lang="pt-BR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338821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27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0974" y="1306172"/>
            <a:ext cx="6934201" cy="509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s) {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s;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() {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deposita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retira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de Seta Reta 5"/>
          <p:cNvCxnSpPr>
            <a:cxnSpLocks/>
          </p:cNvCxnSpPr>
          <p:nvPr/>
        </p:nvCxnSpPr>
        <p:spPr>
          <a:xfrm flipH="1">
            <a:off x="5562600" y="2867025"/>
            <a:ext cx="1400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7115175" y="1306172"/>
            <a:ext cx="37789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Construtor da classe. É uma método especial que não contém tipo (ele é do tipo da classe) e, consequentemente, não retorna nada. </a:t>
            </a:r>
          </a:p>
          <a:p>
            <a:endParaRPr lang="pt-BR" dirty="0"/>
          </a:p>
          <a:p>
            <a:r>
              <a:rPr lang="pt-BR" dirty="0"/>
              <a:t>Ele inicializa os atributos da classe. Será chamado sempre que instanciar um novo objeto. Por exemplo: </a:t>
            </a:r>
          </a:p>
        </p:txBody>
      </p:sp>
      <p:sp>
        <p:nvSpPr>
          <p:cNvPr id="8" name="Retângulo 7"/>
          <p:cNvSpPr/>
          <p:nvPr/>
        </p:nvSpPr>
        <p:spPr>
          <a:xfrm>
            <a:off x="7429500" y="4351190"/>
            <a:ext cx="48958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(1, 2000);</a:t>
            </a:r>
            <a:endParaRPr lang="pt-BR" sz="1600" dirty="0"/>
          </a:p>
        </p:txBody>
      </p:sp>
      <p:cxnSp>
        <p:nvCxnSpPr>
          <p:cNvPr id="10" name="Conector de Seta Reta 9"/>
          <p:cNvCxnSpPr/>
          <p:nvPr/>
        </p:nvCxnSpPr>
        <p:spPr>
          <a:xfrm>
            <a:off x="9582150" y="3653824"/>
            <a:ext cx="0" cy="635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600337" y="5204098"/>
            <a:ext cx="4257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o construtor recebe dois parâmetros, um do tipo </a:t>
            </a:r>
            <a:r>
              <a:rPr lang="pt-BR" b="1" dirty="0" err="1"/>
              <a:t>String</a:t>
            </a:r>
            <a:r>
              <a:rPr lang="pt-BR" dirty="0"/>
              <a:t> e do tipo </a:t>
            </a:r>
            <a:r>
              <a:rPr lang="pt-BR" b="1" dirty="0" err="1"/>
              <a:t>double</a:t>
            </a:r>
            <a:r>
              <a:rPr lang="pt-BR" dirty="0"/>
              <a:t>. É necessário informar os valores deste parâmetros que são fornecidos para a classe. </a:t>
            </a:r>
          </a:p>
        </p:txBody>
      </p:sp>
    </p:spTree>
    <p:extLst>
      <p:ext uri="{BB962C8B-B14F-4D97-AF65-F5344CB8AC3E}">
        <p14:creationId xmlns:p14="http://schemas.microsoft.com/office/powerpoint/2010/main" val="1331593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28</a:t>
            </a:fld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180974" y="1306172"/>
            <a:ext cx="6934201" cy="509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getSaldo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() {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getCod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 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cod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Correntista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deposita (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quantia) { saldo += quantia; }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retira (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quantia) {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(quantia &lt; saldo) saldo -= quantia;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de Seta Reta 5"/>
          <p:cNvCxnSpPr>
            <a:cxnSpLocks/>
          </p:cNvCxnSpPr>
          <p:nvPr/>
        </p:nvCxnSpPr>
        <p:spPr>
          <a:xfrm flipH="1">
            <a:off x="6712974" y="4454248"/>
            <a:ext cx="1400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236053" y="3904095"/>
            <a:ext cx="3778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Métodos da classe </a:t>
            </a:r>
            <a:r>
              <a:rPr lang="pt-BR" dirty="0" err="1"/>
              <a:t>ContaBancaria</a:t>
            </a:r>
            <a:r>
              <a:rPr lang="pt-BR" dirty="0"/>
              <a:t>. São funções ou procedimentos que podem ser chamados pelo objeto (conforme veremos a seguir). </a:t>
            </a:r>
          </a:p>
        </p:txBody>
      </p:sp>
    </p:spTree>
    <p:extLst>
      <p:ext uri="{BB962C8B-B14F-4D97-AF65-F5344CB8AC3E}">
        <p14:creationId xmlns:p14="http://schemas.microsoft.com/office/powerpoint/2010/main" val="3399036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29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838200" y="1690688"/>
            <a:ext cx="8772525" cy="2232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(1, 1000);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(2, 2000);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(500);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(500);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6159603" y="3523201"/>
            <a:ext cx="51941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Dois objetos são criados do tipo da classe </a:t>
            </a:r>
            <a:r>
              <a:rPr lang="pt-BR" dirty="0" err="1"/>
              <a:t>ContaBancaria</a:t>
            </a:r>
            <a:r>
              <a:rPr lang="pt-BR" dirty="0"/>
              <a:t>. O operador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dirty="0"/>
              <a:t> é usado para instanciar os objetos. Neste momento, o construtor da classe será acionado.  </a:t>
            </a:r>
          </a:p>
        </p:txBody>
      </p:sp>
    </p:spTree>
    <p:extLst>
      <p:ext uri="{BB962C8B-B14F-4D97-AF65-F5344CB8AC3E}">
        <p14:creationId xmlns:p14="http://schemas.microsoft.com/office/powerpoint/2010/main" val="1242197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30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838200" y="1690688"/>
            <a:ext cx="8772525" cy="2232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(1, 1000);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(2, 2000);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(500);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(500);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838200" y="3970669"/>
            <a:ext cx="8458200" cy="246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UsaContaBancariaComErros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(1);  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(2000, 2); 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.desfalca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rechard.saldo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10000;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Conector de Seta Reta 6"/>
          <p:cNvCxnSpPr/>
          <p:nvPr/>
        </p:nvCxnSpPr>
        <p:spPr>
          <a:xfrm>
            <a:off x="7591425" y="4695825"/>
            <a:ext cx="800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8610600" y="4511159"/>
            <a:ext cx="173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Falta parâmetro</a:t>
            </a:r>
          </a:p>
        </p:txBody>
      </p:sp>
      <p:cxnSp>
        <p:nvCxnSpPr>
          <p:cNvPr id="9" name="Conector de Seta Reta 8"/>
          <p:cNvCxnSpPr/>
          <p:nvPr/>
        </p:nvCxnSpPr>
        <p:spPr>
          <a:xfrm>
            <a:off x="8604151" y="4972050"/>
            <a:ext cx="800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9623326" y="4787384"/>
            <a:ext cx="1737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Ordem incorreta</a:t>
            </a:r>
          </a:p>
        </p:txBody>
      </p:sp>
      <p:cxnSp>
        <p:nvCxnSpPr>
          <p:cNvPr id="11" name="Conector de Seta Reta 10"/>
          <p:cNvCxnSpPr/>
          <p:nvPr/>
        </p:nvCxnSpPr>
        <p:spPr>
          <a:xfrm>
            <a:off x="3879751" y="5249235"/>
            <a:ext cx="800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4898926" y="5064569"/>
            <a:ext cx="3031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Falta especificar a quantidade</a:t>
            </a: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3879751" y="5480898"/>
            <a:ext cx="800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98926" y="5296232"/>
            <a:ext cx="296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Método da classe inexistente</a:t>
            </a:r>
          </a:p>
        </p:txBody>
      </p:sp>
      <p:cxnSp>
        <p:nvCxnSpPr>
          <p:cNvPr id="15" name="Conector de Seta Reta 14"/>
          <p:cNvCxnSpPr/>
          <p:nvPr/>
        </p:nvCxnSpPr>
        <p:spPr>
          <a:xfrm>
            <a:off x="4551776" y="5712561"/>
            <a:ext cx="800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5570951" y="5527895"/>
            <a:ext cx="1982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70C0"/>
                </a:solidFill>
              </a:rPr>
              <a:t>Isto não é um erro!</a:t>
            </a:r>
          </a:p>
        </p:txBody>
      </p:sp>
    </p:spTree>
    <p:extLst>
      <p:ext uri="{BB962C8B-B14F-4D97-AF65-F5344CB8AC3E}">
        <p14:creationId xmlns:p14="http://schemas.microsoft.com/office/powerpoint/2010/main" val="2596992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 (pequena alteração)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31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0973" y="1306172"/>
            <a:ext cx="7696201" cy="509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() {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deposita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retira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255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 (pequena alteração)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32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0973" y="1306172"/>
            <a:ext cx="7696201" cy="509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saldo;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() {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deposita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retira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429499" y="1431406"/>
            <a:ext cx="4067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Private: O membro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pt-BR" dirty="0"/>
              <a:t> não é acessível fora da classe. A intenção aqui é permitir que apenas você que escreve a</a:t>
            </a:r>
          </a:p>
          <a:p>
            <a:r>
              <a:rPr lang="pt-BR" dirty="0"/>
              <a:t>classe possa usar esse membro </a:t>
            </a:r>
          </a:p>
        </p:txBody>
      </p:sp>
      <p:cxnSp>
        <p:nvCxnSpPr>
          <p:cNvPr id="7" name="Conector de Seta Reta 6"/>
          <p:cNvCxnSpPr/>
          <p:nvPr/>
        </p:nvCxnSpPr>
        <p:spPr>
          <a:xfrm flipH="1">
            <a:off x="5257800" y="1838325"/>
            <a:ext cx="1847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434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 (pequena alteração)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33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80973" y="1306172"/>
            <a:ext cx="7696201" cy="509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() {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codCorrentista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deposita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retira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saldo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quantia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7877174" y="2631735"/>
            <a:ext cx="4067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: Quem tem acesso à classe tem acesso também a qualquer membro com visibilidade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pt-BR" dirty="0"/>
              <a:t>. </a:t>
            </a:r>
          </a:p>
          <a:p>
            <a:r>
              <a:rPr lang="pt-BR" dirty="0"/>
              <a:t>O alvo aqui é o programador cliente que usa suas classes. É raro ter atributos públicos mas é comum ter métodos</a:t>
            </a:r>
          </a:p>
          <a:p>
            <a:r>
              <a:rPr lang="pt-BR" dirty="0"/>
              <a:t>públicos</a:t>
            </a:r>
          </a:p>
        </p:txBody>
      </p:sp>
      <p:cxnSp>
        <p:nvCxnSpPr>
          <p:cNvPr id="7" name="Conector de Seta Reta 6"/>
          <p:cNvCxnSpPr>
            <a:cxnSpLocks/>
          </p:cNvCxnSpPr>
          <p:nvPr/>
        </p:nvCxnSpPr>
        <p:spPr>
          <a:xfrm flipH="1">
            <a:off x="6438901" y="3830273"/>
            <a:ext cx="117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507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 (pequena alteração)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34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838200" y="1690688"/>
            <a:ext cx="8772525" cy="2265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(1, 10);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(2, 20);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richard.saldo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1000000;</a:t>
            </a:r>
            <a:endParaRPr lang="pt-BR" sz="1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Conector de Seta Reta 14"/>
          <p:cNvCxnSpPr/>
          <p:nvPr/>
        </p:nvCxnSpPr>
        <p:spPr>
          <a:xfrm>
            <a:off x="4770851" y="3191580"/>
            <a:ext cx="800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5790026" y="3006914"/>
            <a:ext cx="2062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Erro de compilação!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4814991-EC57-41D6-9ABF-E2D2552A629F}"/>
              </a:ext>
            </a:extLst>
          </p:cNvPr>
          <p:cNvSpPr txBox="1"/>
          <p:nvPr/>
        </p:nvSpPr>
        <p:spPr>
          <a:xfrm>
            <a:off x="5790026" y="4068333"/>
            <a:ext cx="50577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atributo saldo, após a nossa modificação, é </a:t>
            </a:r>
            <a:r>
              <a:rPr lang="pt-BR" b="1" dirty="0"/>
              <a:t>privado</a:t>
            </a:r>
            <a:r>
              <a:rPr lang="pt-BR" dirty="0"/>
              <a:t>. Assim, ele não pode ser alterado diretamente como no exemplo acima. Apenas os métodos da classe, como o método “retira ()” e “deposita ()” podem alterar o atributo saldo. </a:t>
            </a:r>
          </a:p>
        </p:txBody>
      </p:sp>
    </p:spTree>
    <p:extLst>
      <p:ext uri="{BB962C8B-B14F-4D97-AF65-F5344CB8AC3E}">
        <p14:creationId xmlns:p14="http://schemas.microsoft.com/office/powerpoint/2010/main" val="2551679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 (pequena alteração)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35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838200" y="1690688"/>
            <a:ext cx="8772525" cy="2200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(1, 10);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(2, 20);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.deposita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(5);</a:t>
            </a:r>
          </a:p>
          <a:p>
            <a:pPr lvl="1">
              <a:lnSpc>
                <a:spcPct val="107000"/>
              </a:lnSpc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1A917A-9EED-4863-B5E5-FDA708D334C5}"/>
              </a:ext>
            </a:extLst>
          </p:cNvPr>
          <p:cNvSpPr txBox="1"/>
          <p:nvPr/>
        </p:nvSpPr>
        <p:spPr>
          <a:xfrm>
            <a:off x="838200" y="4085074"/>
            <a:ext cx="5438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classe é uma especificação de um tipo de dado. Nós não manipulamos a classe em si, e sim os objetos que criamos a partir da classe.  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639ED6B0-5C42-4BC1-A821-B0A7C5280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19979"/>
              </p:ext>
            </p:extLst>
          </p:nvPr>
        </p:nvGraphicFramePr>
        <p:xfrm>
          <a:off x="8677275" y="5208210"/>
          <a:ext cx="2419350" cy="741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1501911748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91426308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CaixaDeTexto 4">
            <a:extLst>
              <a:ext uri="{FF2B5EF4-FFF2-40B4-BE49-F238E27FC236}">
                <a16:creationId xmlns:a16="http://schemas.microsoft.com/office/drawing/2014/main" id="{5B1C9D34-DF65-4DF5-B476-F3363A6E5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3812559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1" name="CaixaDeTexto 5">
            <a:extLst>
              <a:ext uri="{FF2B5EF4-FFF2-40B4-BE49-F238E27FC236}">
                <a16:creationId xmlns:a16="http://schemas.microsoft.com/office/drawing/2014/main" id="{F19C1846-66DC-4079-A9F9-44A629EC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078" y="4958069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tx1"/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tx1"/>
                </a:solidFill>
              </a:rPr>
              <a:t>(</a:t>
            </a:r>
            <a:r>
              <a:rPr lang="es-E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2" name="Conector de seta reta 7">
            <a:extLst>
              <a:ext uri="{FF2B5EF4-FFF2-40B4-BE49-F238E27FC236}">
                <a16:creationId xmlns:a16="http://schemas.microsoft.com/office/drawing/2014/main" id="{E10B78F2-CCE3-43EC-B6C8-D38C89F1ACC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74025" y="5424110"/>
            <a:ext cx="287338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6AB11636-3EF3-466C-B352-040B13D41BB4}"/>
              </a:ext>
            </a:extLst>
          </p:cNvPr>
          <p:cNvSpPr/>
          <p:nvPr/>
        </p:nvSpPr>
        <p:spPr>
          <a:xfrm>
            <a:off x="8677275" y="5208211"/>
            <a:ext cx="971550" cy="3829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7">
            <a:extLst>
              <a:ext uri="{FF2B5EF4-FFF2-40B4-BE49-F238E27FC236}">
                <a16:creationId xmlns:a16="http://schemas.microsoft.com/office/drawing/2014/main" id="{0B2D6E9B-77C0-4AB1-9AB2-AB82F4F031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407526" y="4869557"/>
            <a:ext cx="0" cy="241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CaixaDeTexto 5">
            <a:extLst>
              <a:ext uri="{FF2B5EF4-FFF2-40B4-BE49-F238E27FC236}">
                <a16:creationId xmlns:a16="http://schemas.microsoft.com/office/drawing/2014/main" id="{5E3187CA-D618-43C4-882B-D0EF26D1F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484" y="4546867"/>
            <a:ext cx="2199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" name="CaixaDeTexto 5">
            <a:extLst>
              <a:ext uri="{FF2B5EF4-FFF2-40B4-BE49-F238E27FC236}">
                <a16:creationId xmlns:a16="http://schemas.microsoft.com/office/drawing/2014/main" id="{D1CAB2BF-84F3-44E1-AAEC-91A0E13EF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72185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saldo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double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9" name="Conector de seta reta 7">
            <a:extLst>
              <a:ext uri="{FF2B5EF4-FFF2-40B4-BE49-F238E27FC236}">
                <a16:creationId xmlns:a16="http://schemas.microsoft.com/office/drawing/2014/main" id="{2401AE71-FB7E-48F2-97F1-4ABDA180126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855076" y="4675882"/>
            <a:ext cx="0" cy="4250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F8B117F-F904-4951-9757-5530DF5915F7}"/>
              </a:ext>
            </a:extLst>
          </p:cNvPr>
          <p:cNvCxnSpPr/>
          <p:nvPr/>
        </p:nvCxnSpPr>
        <p:spPr>
          <a:xfrm>
            <a:off x="4933841" y="5604400"/>
            <a:ext cx="107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804E582-429F-471C-97DA-97F642D5A178}"/>
              </a:ext>
            </a:extLst>
          </p:cNvPr>
          <p:cNvSpPr txBox="1"/>
          <p:nvPr/>
        </p:nvSpPr>
        <p:spPr>
          <a:xfrm>
            <a:off x="3119440" y="5419734"/>
            <a:ext cx="1789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Encapsulamento</a:t>
            </a:r>
          </a:p>
        </p:txBody>
      </p:sp>
    </p:spTree>
    <p:extLst>
      <p:ext uri="{BB962C8B-B14F-4D97-AF65-F5344CB8AC3E}">
        <p14:creationId xmlns:p14="http://schemas.microsoft.com/office/powerpoint/2010/main" val="3215280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 (pequena alteração)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36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838200" y="1690688"/>
            <a:ext cx="8772525" cy="2200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(1, 10);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(2, 20);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.deposita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(5);</a:t>
            </a:r>
          </a:p>
          <a:p>
            <a:pPr lvl="1">
              <a:lnSpc>
                <a:spcPct val="107000"/>
              </a:lnSpc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B0DBCB-E702-402E-B395-50AD85E23DE2}"/>
              </a:ext>
            </a:extLst>
          </p:cNvPr>
          <p:cNvSpPr txBox="1"/>
          <p:nvPr/>
        </p:nvSpPr>
        <p:spPr>
          <a:xfrm>
            <a:off x="838200" y="4085074"/>
            <a:ext cx="5438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classe é uma especificação de um tipo de dado. Nós não manipulamos a classe em si, e sim os objetos que criamos a partir da classe.  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D1263C2-3CC2-4C12-8C3C-8253B4CD0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154426"/>
              </p:ext>
            </p:extLst>
          </p:nvPr>
        </p:nvGraphicFramePr>
        <p:xfrm>
          <a:off x="8677275" y="5208210"/>
          <a:ext cx="2419350" cy="741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1501911748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91426308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CaixaDeTexto 4">
            <a:extLst>
              <a:ext uri="{FF2B5EF4-FFF2-40B4-BE49-F238E27FC236}">
                <a16:creationId xmlns:a16="http://schemas.microsoft.com/office/drawing/2014/main" id="{B66DF5EC-8E06-4100-9807-F8B022D96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3812559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9" name="CaixaDeTexto 5">
            <a:extLst>
              <a:ext uri="{FF2B5EF4-FFF2-40B4-BE49-F238E27FC236}">
                <a16:creationId xmlns:a16="http://schemas.microsoft.com/office/drawing/2014/main" id="{28F59C28-A81D-4EEB-B02C-7E1CD29FD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078" y="4958069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tx1"/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tx1"/>
                </a:solidFill>
              </a:rPr>
              <a:t>(</a:t>
            </a:r>
            <a:r>
              <a:rPr lang="es-E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0" name="Conector de seta reta 7">
            <a:extLst>
              <a:ext uri="{FF2B5EF4-FFF2-40B4-BE49-F238E27FC236}">
                <a16:creationId xmlns:a16="http://schemas.microsoft.com/office/drawing/2014/main" id="{15256374-D07C-4B5E-862B-341D098F09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74025" y="5424110"/>
            <a:ext cx="287338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DEEEEE92-92D0-44CD-911E-ED40E7BFCA14}"/>
              </a:ext>
            </a:extLst>
          </p:cNvPr>
          <p:cNvSpPr/>
          <p:nvPr/>
        </p:nvSpPr>
        <p:spPr>
          <a:xfrm>
            <a:off x="8677275" y="5208211"/>
            <a:ext cx="971550" cy="3829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7">
            <a:extLst>
              <a:ext uri="{FF2B5EF4-FFF2-40B4-BE49-F238E27FC236}">
                <a16:creationId xmlns:a16="http://schemas.microsoft.com/office/drawing/2014/main" id="{37AF63E1-EB28-4788-A622-1F0BD9DC38D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407526" y="4869557"/>
            <a:ext cx="0" cy="241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CaixaDeTexto 5">
            <a:extLst>
              <a:ext uri="{FF2B5EF4-FFF2-40B4-BE49-F238E27FC236}">
                <a16:creationId xmlns:a16="http://schemas.microsoft.com/office/drawing/2014/main" id="{46AD3D4E-A6DE-4CEA-A2CD-408711CDA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484" y="4546867"/>
            <a:ext cx="2199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43A537E7-DFE7-407E-BFEB-ECD00AF70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72185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saldo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double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Conector de seta reta 7">
            <a:extLst>
              <a:ext uri="{FF2B5EF4-FFF2-40B4-BE49-F238E27FC236}">
                <a16:creationId xmlns:a16="http://schemas.microsoft.com/office/drawing/2014/main" id="{DB8CAE0C-9FB5-4553-8E55-23EBA88E64B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855076" y="4675882"/>
            <a:ext cx="0" cy="4250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6187B88F-49EC-4AA4-A64A-F2CBEA0FEA4B}"/>
              </a:ext>
            </a:extLst>
          </p:cNvPr>
          <p:cNvSpPr/>
          <p:nvPr/>
        </p:nvSpPr>
        <p:spPr>
          <a:xfrm>
            <a:off x="8677275" y="5579686"/>
            <a:ext cx="971550" cy="3829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5">
            <a:extLst>
              <a:ext uri="{FF2B5EF4-FFF2-40B4-BE49-F238E27FC236}">
                <a16:creationId xmlns:a16="http://schemas.microsoft.com/office/drawing/2014/main" id="{8C528E34-4614-4C1D-8C59-505116374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640" y="5566986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richard</a:t>
            </a:r>
            <a:r>
              <a:rPr lang="pt-BR" altLang="pt-BR" b="1" dirty="0">
                <a:solidFill>
                  <a:schemeClr val="tx1"/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tx1"/>
                </a:solidFill>
              </a:rPr>
              <a:t>(</a:t>
            </a:r>
            <a:r>
              <a:rPr lang="es-E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8" name="Conector de seta reta 7">
            <a:extLst>
              <a:ext uri="{FF2B5EF4-FFF2-40B4-BE49-F238E27FC236}">
                <a16:creationId xmlns:a16="http://schemas.microsoft.com/office/drawing/2014/main" id="{47698AF5-8AB1-4A27-8D72-674AF5CACE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83587" y="5854168"/>
            <a:ext cx="287338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ector de seta reta 7">
            <a:extLst>
              <a:ext uri="{FF2B5EF4-FFF2-40B4-BE49-F238E27FC236}">
                <a16:creationId xmlns:a16="http://schemas.microsoft.com/office/drawing/2014/main" id="{7F64DB65-EE4D-4E3D-9135-B98FAA0A0F7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340851" y="6015816"/>
            <a:ext cx="0" cy="19750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CaixaDeTexto 5">
            <a:extLst>
              <a:ext uri="{FF2B5EF4-FFF2-40B4-BE49-F238E27FC236}">
                <a16:creationId xmlns:a16="http://schemas.microsoft.com/office/drawing/2014/main" id="{0BBB69DA-86E0-4F8B-B6A3-5500DE8BB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484" y="6104851"/>
            <a:ext cx="2199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1" name="CaixaDeTexto 5">
            <a:extLst>
              <a:ext uri="{FF2B5EF4-FFF2-40B4-BE49-F238E27FC236}">
                <a16:creationId xmlns:a16="http://schemas.microsoft.com/office/drawing/2014/main" id="{15BBF663-896A-41E3-B4D5-E5700879E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370996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saldo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double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22" name="Conector de seta reta 7">
            <a:extLst>
              <a:ext uri="{FF2B5EF4-FFF2-40B4-BE49-F238E27FC236}">
                <a16:creationId xmlns:a16="http://schemas.microsoft.com/office/drawing/2014/main" id="{CD0F4386-4753-488A-8CC2-10EABD387EA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80477" y="6029656"/>
            <a:ext cx="0" cy="4445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B8F21F71-2CE8-4CF0-9926-571665400A62}"/>
              </a:ext>
            </a:extLst>
          </p:cNvPr>
          <p:cNvCxnSpPr/>
          <p:nvPr/>
        </p:nvCxnSpPr>
        <p:spPr>
          <a:xfrm>
            <a:off x="4933841" y="5604400"/>
            <a:ext cx="107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9A8FBB6-7980-4B71-8178-F67CB68B4EFD}"/>
              </a:ext>
            </a:extLst>
          </p:cNvPr>
          <p:cNvSpPr txBox="1"/>
          <p:nvPr/>
        </p:nvSpPr>
        <p:spPr>
          <a:xfrm>
            <a:off x="3119440" y="5419734"/>
            <a:ext cx="1789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Encapsulamento</a:t>
            </a:r>
          </a:p>
        </p:txBody>
      </p:sp>
    </p:spTree>
    <p:extLst>
      <p:ext uri="{BB962C8B-B14F-4D97-AF65-F5344CB8AC3E}">
        <p14:creationId xmlns:p14="http://schemas.microsoft.com/office/powerpoint/2010/main" val="2170448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conta bancária (pequena alteração)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37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838200" y="1690688"/>
            <a:ext cx="8772525" cy="2200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(1, 10);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(2, 20);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richard.retira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(5);</a:t>
            </a:r>
            <a:endParaRPr lang="pt-B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fred.deposita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(5);</a:t>
            </a:r>
          </a:p>
          <a:p>
            <a:pPr lvl="1">
              <a:lnSpc>
                <a:spcPct val="107000"/>
              </a:lnSpc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552DF26-90F7-4541-B098-F7C23F770C74}"/>
              </a:ext>
            </a:extLst>
          </p:cNvPr>
          <p:cNvSpPr txBox="1"/>
          <p:nvPr/>
        </p:nvSpPr>
        <p:spPr>
          <a:xfrm>
            <a:off x="838200" y="4085074"/>
            <a:ext cx="5438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classe é uma especificação de um tipo de dado. Nós não manipulamos a classe em si, e sim os objetos que criamos a partir da classe.  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871F4A2-65AB-4F47-8AD3-D7F3C2887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049652"/>
              </p:ext>
            </p:extLst>
          </p:nvPr>
        </p:nvGraphicFramePr>
        <p:xfrm>
          <a:off x="8677275" y="5208210"/>
          <a:ext cx="2419350" cy="741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1501911748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91426308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rgbClr val="FF0000"/>
                          </a:solidFill>
                        </a:rPr>
                        <a:t>25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CaixaDeTexto 4">
            <a:extLst>
              <a:ext uri="{FF2B5EF4-FFF2-40B4-BE49-F238E27FC236}">
                <a16:creationId xmlns:a16="http://schemas.microsoft.com/office/drawing/2014/main" id="{DCE470AA-6FB0-4666-B048-945B54AAD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3812559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9" name="CaixaDeTexto 5">
            <a:extLst>
              <a:ext uri="{FF2B5EF4-FFF2-40B4-BE49-F238E27FC236}">
                <a16:creationId xmlns:a16="http://schemas.microsoft.com/office/drawing/2014/main" id="{244B57DD-07A1-4EEF-975D-2E629DD05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078" y="4958069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tx1"/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tx1"/>
                </a:solidFill>
              </a:rPr>
              <a:t>(</a:t>
            </a:r>
            <a:r>
              <a:rPr lang="es-E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0" name="Conector de seta reta 7">
            <a:extLst>
              <a:ext uri="{FF2B5EF4-FFF2-40B4-BE49-F238E27FC236}">
                <a16:creationId xmlns:a16="http://schemas.microsoft.com/office/drawing/2014/main" id="{6D09759A-F085-42EF-9835-CDDF79E27D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74025" y="5424110"/>
            <a:ext cx="287338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91EE835D-C2B2-4F00-BD05-7E4E69ECF5E8}"/>
              </a:ext>
            </a:extLst>
          </p:cNvPr>
          <p:cNvSpPr/>
          <p:nvPr/>
        </p:nvSpPr>
        <p:spPr>
          <a:xfrm>
            <a:off x="8677275" y="5208211"/>
            <a:ext cx="971550" cy="3829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7">
            <a:extLst>
              <a:ext uri="{FF2B5EF4-FFF2-40B4-BE49-F238E27FC236}">
                <a16:creationId xmlns:a16="http://schemas.microsoft.com/office/drawing/2014/main" id="{58763A65-ADD2-4C97-9CF7-6B6D8A9362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407526" y="4869557"/>
            <a:ext cx="0" cy="241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CaixaDeTexto 5">
            <a:extLst>
              <a:ext uri="{FF2B5EF4-FFF2-40B4-BE49-F238E27FC236}">
                <a16:creationId xmlns:a16="http://schemas.microsoft.com/office/drawing/2014/main" id="{E93C3287-2EEF-4E30-88FD-3EE4F069F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484" y="4546867"/>
            <a:ext cx="2199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C6C5A889-39E4-4DC1-9D4C-E4457C88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72185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saldo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double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Conector de seta reta 7">
            <a:extLst>
              <a:ext uri="{FF2B5EF4-FFF2-40B4-BE49-F238E27FC236}">
                <a16:creationId xmlns:a16="http://schemas.microsoft.com/office/drawing/2014/main" id="{D945EEFD-50E9-4B6F-848B-C35D3B9C90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855076" y="4675882"/>
            <a:ext cx="0" cy="4250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3C6C4EB3-85B5-4BBD-B7F1-77E8035FC571}"/>
              </a:ext>
            </a:extLst>
          </p:cNvPr>
          <p:cNvSpPr/>
          <p:nvPr/>
        </p:nvSpPr>
        <p:spPr>
          <a:xfrm>
            <a:off x="8677275" y="5579686"/>
            <a:ext cx="971550" cy="3829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5">
            <a:extLst>
              <a:ext uri="{FF2B5EF4-FFF2-40B4-BE49-F238E27FC236}">
                <a16:creationId xmlns:a16="http://schemas.microsoft.com/office/drawing/2014/main" id="{F9BD3D61-2581-4262-A01D-398A3461D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640" y="5566986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richard</a:t>
            </a:r>
            <a:r>
              <a:rPr lang="pt-BR" altLang="pt-BR" b="1" dirty="0">
                <a:solidFill>
                  <a:schemeClr val="tx1"/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tx1"/>
                </a:solidFill>
              </a:rPr>
              <a:t>(</a:t>
            </a:r>
            <a:r>
              <a:rPr lang="es-E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8" name="Conector de seta reta 7">
            <a:extLst>
              <a:ext uri="{FF2B5EF4-FFF2-40B4-BE49-F238E27FC236}">
                <a16:creationId xmlns:a16="http://schemas.microsoft.com/office/drawing/2014/main" id="{8EAA4ECA-EEAE-4643-A1B0-D82A3C60B2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83587" y="5854168"/>
            <a:ext cx="287338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ector de seta reta 7">
            <a:extLst>
              <a:ext uri="{FF2B5EF4-FFF2-40B4-BE49-F238E27FC236}">
                <a16:creationId xmlns:a16="http://schemas.microsoft.com/office/drawing/2014/main" id="{AACA9331-9B60-4244-9ECA-C5C4F1E6D0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340851" y="6015816"/>
            <a:ext cx="0" cy="19750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CaixaDeTexto 5">
            <a:extLst>
              <a:ext uri="{FF2B5EF4-FFF2-40B4-BE49-F238E27FC236}">
                <a16:creationId xmlns:a16="http://schemas.microsoft.com/office/drawing/2014/main" id="{FA25ED18-76B2-42FF-B7CD-03241105F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484" y="6104851"/>
            <a:ext cx="2199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1" name="CaixaDeTexto 5">
            <a:extLst>
              <a:ext uri="{FF2B5EF4-FFF2-40B4-BE49-F238E27FC236}">
                <a16:creationId xmlns:a16="http://schemas.microsoft.com/office/drawing/2014/main" id="{8D6FD404-7CD1-4355-9842-A8B20C8E1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370996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saldo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double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22" name="Conector de seta reta 7">
            <a:extLst>
              <a:ext uri="{FF2B5EF4-FFF2-40B4-BE49-F238E27FC236}">
                <a16:creationId xmlns:a16="http://schemas.microsoft.com/office/drawing/2014/main" id="{11B39A26-0D5F-41EB-8A20-0F0954CDD70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80477" y="6029656"/>
            <a:ext cx="0" cy="4445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E8C4A9C4-0D88-4D24-A638-E27C28F0E49D}"/>
              </a:ext>
            </a:extLst>
          </p:cNvPr>
          <p:cNvCxnSpPr/>
          <p:nvPr/>
        </p:nvCxnSpPr>
        <p:spPr>
          <a:xfrm>
            <a:off x="4933841" y="5604400"/>
            <a:ext cx="107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CF81BB-4171-490B-A54B-312A27812B51}"/>
              </a:ext>
            </a:extLst>
          </p:cNvPr>
          <p:cNvSpPr txBox="1"/>
          <p:nvPr/>
        </p:nvSpPr>
        <p:spPr>
          <a:xfrm>
            <a:off x="838200" y="5115504"/>
            <a:ext cx="39390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manipular os atributos dos objetos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richard</a:t>
            </a:r>
            <a:r>
              <a:rPr lang="pt-BR" dirty="0"/>
              <a:t> e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fred</a:t>
            </a:r>
            <a:r>
              <a:rPr lang="pt-BR" dirty="0"/>
              <a:t>, é necessário invocar os métodos dos respectivos objetos. Somente por eles é possível alterar os seus atributos.  </a:t>
            </a:r>
          </a:p>
        </p:txBody>
      </p:sp>
    </p:spTree>
    <p:extLst>
      <p:ext uri="{BB962C8B-B14F-4D97-AF65-F5344CB8AC3E}">
        <p14:creationId xmlns:p14="http://schemas.microsoft.com/office/powerpoint/2010/main" val="1347739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B7A77-83B7-47C1-B998-FA9065B1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Passagem de objetos por referência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B0DE08-4850-4852-AE37-3B4B186A8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ocorre com os vetores, os objetos de classes também são passados por parâmetros para as funções por referência.</a:t>
            </a:r>
          </a:p>
          <a:p>
            <a:endParaRPr lang="pt-BR" dirty="0"/>
          </a:p>
          <a:p>
            <a:r>
              <a:rPr lang="pt-BR" dirty="0"/>
              <a:t>Ao passar um objeto de uma classe para uma função, se a função realizar alterações no objeto, estas alterações serão refletidas ao objeto quando a função foi chamada.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17FA3A-B06D-4449-86B0-BCE53360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783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093EB-A659-4E47-BB92-C0CE025A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Passagem de objetos por referência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2B8A94-3811-4C1E-925A-61321515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39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135DED0-641A-46E8-B6D5-D08614265649}"/>
              </a:ext>
            </a:extLst>
          </p:cNvPr>
          <p:cNvSpPr/>
          <p:nvPr/>
        </p:nvSpPr>
        <p:spPr>
          <a:xfrm>
            <a:off x="838200" y="1690688"/>
            <a:ext cx="1029535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pt-BR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pagaBoleto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valor)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(valor);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pt-BR" sz="1600" dirty="0"/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fred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ContaBancaria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50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pagaBoleto</a:t>
            </a:r>
            <a:r>
              <a:rPr lang="es-ES" sz="16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es-E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fred</a:t>
            </a:r>
            <a:r>
              <a:rPr lang="es-ES" sz="1600" dirty="0">
                <a:solidFill>
                  <a:srgbClr val="FF0000"/>
                </a:solidFill>
                <a:latin typeface="Consolas" panose="020B0609020204030204" pitchFamily="49" charset="0"/>
              </a:rPr>
              <a:t>, 15);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    </a:t>
            </a:r>
            <a:endParaRPr lang="es-E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FD72A49-7FE5-4C63-BD5E-5A13B0550418}"/>
              </a:ext>
            </a:extLst>
          </p:cNvPr>
          <p:cNvGraphicFramePr>
            <a:graphicFrameLocks noGrp="1"/>
          </p:cNvGraphicFramePr>
          <p:nvPr/>
        </p:nvGraphicFramePr>
        <p:xfrm>
          <a:off x="8677275" y="5208210"/>
          <a:ext cx="2419350" cy="741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1501911748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91426308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CaixaDeTexto 4">
            <a:extLst>
              <a:ext uri="{FF2B5EF4-FFF2-40B4-BE49-F238E27FC236}">
                <a16:creationId xmlns:a16="http://schemas.microsoft.com/office/drawing/2014/main" id="{48DA36BA-1253-4D1B-93BA-CCF2BF1F6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3812559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9" name="CaixaDeTexto 5">
            <a:extLst>
              <a:ext uri="{FF2B5EF4-FFF2-40B4-BE49-F238E27FC236}">
                <a16:creationId xmlns:a16="http://schemas.microsoft.com/office/drawing/2014/main" id="{20CCB42F-9E96-43DC-8DE5-5F92BBB60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078" y="4958069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tx1"/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tx1"/>
                </a:solidFill>
              </a:rPr>
              <a:t>(</a:t>
            </a:r>
            <a:r>
              <a:rPr lang="es-E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0" name="Conector de seta reta 7">
            <a:extLst>
              <a:ext uri="{FF2B5EF4-FFF2-40B4-BE49-F238E27FC236}">
                <a16:creationId xmlns:a16="http://schemas.microsoft.com/office/drawing/2014/main" id="{35923BA5-7966-4BB6-9196-C85E0F498B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74025" y="5424110"/>
            <a:ext cx="287338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4905287-C4EC-4C86-B042-60E7789EC696}"/>
              </a:ext>
            </a:extLst>
          </p:cNvPr>
          <p:cNvSpPr/>
          <p:nvPr/>
        </p:nvSpPr>
        <p:spPr>
          <a:xfrm>
            <a:off x="8677275" y="5208211"/>
            <a:ext cx="971550" cy="3829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7">
            <a:extLst>
              <a:ext uri="{FF2B5EF4-FFF2-40B4-BE49-F238E27FC236}">
                <a16:creationId xmlns:a16="http://schemas.microsoft.com/office/drawing/2014/main" id="{B55308AD-311E-4079-9E2A-9607894128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407526" y="4869557"/>
            <a:ext cx="0" cy="241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CaixaDeTexto 5">
            <a:extLst>
              <a:ext uri="{FF2B5EF4-FFF2-40B4-BE49-F238E27FC236}">
                <a16:creationId xmlns:a16="http://schemas.microsoft.com/office/drawing/2014/main" id="{EAF0A6B1-4552-4CE2-91E1-CE005E99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484" y="4546867"/>
            <a:ext cx="2199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F960AE8B-ABB5-4652-B7C2-FB5A51F6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72185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saldo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double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Conector de seta reta 7">
            <a:extLst>
              <a:ext uri="{FF2B5EF4-FFF2-40B4-BE49-F238E27FC236}">
                <a16:creationId xmlns:a16="http://schemas.microsoft.com/office/drawing/2014/main" id="{DB0F3356-1FED-48D5-B593-83532E9FE8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855076" y="4675882"/>
            <a:ext cx="0" cy="4250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30815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093EB-A659-4E47-BB92-C0CE025A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Passagem de objetos por referência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2B8A94-3811-4C1E-925A-61321515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40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FD72A49-7FE5-4C63-BD5E-5A13B0550418}"/>
              </a:ext>
            </a:extLst>
          </p:cNvPr>
          <p:cNvGraphicFramePr>
            <a:graphicFrameLocks noGrp="1"/>
          </p:cNvGraphicFramePr>
          <p:nvPr/>
        </p:nvGraphicFramePr>
        <p:xfrm>
          <a:off x="8677275" y="5208210"/>
          <a:ext cx="2419350" cy="741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1501911748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91426308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CaixaDeTexto 4">
            <a:extLst>
              <a:ext uri="{FF2B5EF4-FFF2-40B4-BE49-F238E27FC236}">
                <a16:creationId xmlns:a16="http://schemas.microsoft.com/office/drawing/2014/main" id="{48DA36BA-1253-4D1B-93BA-CCF2BF1F6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3812559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9" name="CaixaDeTexto 5">
            <a:extLst>
              <a:ext uri="{FF2B5EF4-FFF2-40B4-BE49-F238E27FC236}">
                <a16:creationId xmlns:a16="http://schemas.microsoft.com/office/drawing/2014/main" id="{20CCB42F-9E96-43DC-8DE5-5F92BBB60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078" y="4958069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s-ES" sz="1600" b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cxnSp>
        <p:nvCxnSpPr>
          <p:cNvPr id="10" name="Conector de seta reta 7">
            <a:extLst>
              <a:ext uri="{FF2B5EF4-FFF2-40B4-BE49-F238E27FC236}">
                <a16:creationId xmlns:a16="http://schemas.microsoft.com/office/drawing/2014/main" id="{35923BA5-7966-4BB6-9196-C85E0F498B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74025" y="5424110"/>
            <a:ext cx="287338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4905287-C4EC-4C86-B042-60E7789EC696}"/>
              </a:ext>
            </a:extLst>
          </p:cNvPr>
          <p:cNvSpPr/>
          <p:nvPr/>
        </p:nvSpPr>
        <p:spPr>
          <a:xfrm>
            <a:off x="8677275" y="5208211"/>
            <a:ext cx="971550" cy="3829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7">
            <a:extLst>
              <a:ext uri="{FF2B5EF4-FFF2-40B4-BE49-F238E27FC236}">
                <a16:creationId xmlns:a16="http://schemas.microsoft.com/office/drawing/2014/main" id="{B55308AD-311E-4079-9E2A-9607894128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407526" y="4869557"/>
            <a:ext cx="0" cy="241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CaixaDeTexto 5">
            <a:extLst>
              <a:ext uri="{FF2B5EF4-FFF2-40B4-BE49-F238E27FC236}">
                <a16:creationId xmlns:a16="http://schemas.microsoft.com/office/drawing/2014/main" id="{EAF0A6B1-4552-4CE2-91E1-CE005E99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484" y="4546867"/>
            <a:ext cx="2199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F960AE8B-ABB5-4652-B7C2-FB5A51F6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72185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saldo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double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Conector de seta reta 7">
            <a:extLst>
              <a:ext uri="{FF2B5EF4-FFF2-40B4-BE49-F238E27FC236}">
                <a16:creationId xmlns:a16="http://schemas.microsoft.com/office/drawing/2014/main" id="{DB0F3356-1FED-48D5-B593-83532E9FE8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855076" y="4675882"/>
            <a:ext cx="0" cy="4250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CaixaDeTexto 5">
            <a:extLst>
              <a:ext uri="{FF2B5EF4-FFF2-40B4-BE49-F238E27FC236}">
                <a16:creationId xmlns:a16="http://schemas.microsoft.com/office/drawing/2014/main" id="{7A59EDFC-CEAF-482B-8AF3-27B5A6AB8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908" y="5591175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tx1"/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tx1"/>
                </a:solidFill>
              </a:rPr>
              <a:t>(</a:t>
            </a:r>
            <a:r>
              <a:rPr lang="es-E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17EBE4A5-1645-44E8-8A87-EE4DDE3D4B3D}"/>
              </a:ext>
            </a:extLst>
          </p:cNvPr>
          <p:cNvCxnSpPr/>
          <p:nvPr/>
        </p:nvCxnSpPr>
        <p:spPr>
          <a:xfrm flipV="1">
            <a:off x="7590577" y="5591175"/>
            <a:ext cx="770786" cy="47625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582EC1B-339B-4CE0-AEF4-379915DB83A6}"/>
              </a:ext>
            </a:extLst>
          </p:cNvPr>
          <p:cNvSpPr txBox="1"/>
          <p:nvPr/>
        </p:nvSpPr>
        <p:spPr>
          <a:xfrm>
            <a:off x="1283014" y="5488437"/>
            <a:ext cx="35937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 novo objeto é criado e recebe como parâmetro o mesmo endereço de memória do objeto da função principal. </a:t>
            </a:r>
          </a:p>
        </p:txBody>
      </p:sp>
      <p:cxnSp>
        <p:nvCxnSpPr>
          <p:cNvPr id="24" name="Conector de seta reta 7">
            <a:extLst>
              <a:ext uri="{FF2B5EF4-FFF2-40B4-BE49-F238E27FC236}">
                <a16:creationId xmlns:a16="http://schemas.microsoft.com/office/drawing/2014/main" id="{21F34FCB-8F3C-4E5B-9BB4-83EB8C386E6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55305" y="6052633"/>
            <a:ext cx="0" cy="24868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CaixaDeTexto 5">
            <a:extLst>
              <a:ext uri="{FF2B5EF4-FFF2-40B4-BE49-F238E27FC236}">
                <a16:creationId xmlns:a16="http://schemas.microsoft.com/office/drawing/2014/main" id="{CA278B52-B307-4DA5-8A5A-A81339DC8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5350" y="6272740"/>
            <a:ext cx="7457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valor</a:t>
            </a:r>
            <a:endParaRPr lang="pt-BR" altLang="pt-BR" dirty="0">
              <a:solidFill>
                <a:schemeClr val="tx1"/>
              </a:solidFill>
            </a:endParaRP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D93CBD7C-ED66-4B5E-B939-A78E06F28FF8}"/>
              </a:ext>
            </a:extLst>
          </p:cNvPr>
          <p:cNvCxnSpPr/>
          <p:nvPr/>
        </p:nvCxnSpPr>
        <p:spPr>
          <a:xfrm>
            <a:off x="5074177" y="6067425"/>
            <a:ext cx="657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3A6567ED-04B3-4D92-B58D-DCB432C47B4A}"/>
              </a:ext>
            </a:extLst>
          </p:cNvPr>
          <p:cNvSpPr/>
          <p:nvPr/>
        </p:nvSpPr>
        <p:spPr>
          <a:xfrm>
            <a:off x="838200" y="1690688"/>
            <a:ext cx="1029535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pt-BR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pagaBoleto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valor)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(valor);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pt-BR" sz="1600" dirty="0"/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fred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ContaBancaria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50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pagaBoleto</a:t>
            </a:r>
            <a:r>
              <a:rPr lang="es-ES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fred</a:t>
            </a:r>
            <a:r>
              <a:rPr lang="es-ES" sz="1600" dirty="0">
                <a:latin typeface="Consolas" panose="020B0609020204030204" pitchFamily="49" charset="0"/>
              </a:rPr>
              <a:t>, 15);</a:t>
            </a:r>
            <a:r>
              <a:rPr lang="pt-BR" sz="1600" dirty="0">
                <a:latin typeface="Consolas" panose="020B0609020204030204" pitchFamily="49" charset="0"/>
              </a:rPr>
              <a:t>        </a:t>
            </a:r>
            <a:endParaRPr lang="es-ES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69576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093EB-A659-4E47-BB92-C0CE025A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Passagem de objetos por referência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2B8A94-3811-4C1E-925A-61321515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41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FD72A49-7FE5-4C63-BD5E-5A13B0550418}"/>
              </a:ext>
            </a:extLst>
          </p:cNvPr>
          <p:cNvGraphicFramePr>
            <a:graphicFrameLocks noGrp="1"/>
          </p:cNvGraphicFramePr>
          <p:nvPr/>
        </p:nvGraphicFramePr>
        <p:xfrm>
          <a:off x="8677275" y="5208210"/>
          <a:ext cx="2419350" cy="741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1501911748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91426308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rgbClr val="FF0000"/>
                          </a:solidFill>
                        </a:rPr>
                        <a:t>35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CaixaDeTexto 4">
            <a:extLst>
              <a:ext uri="{FF2B5EF4-FFF2-40B4-BE49-F238E27FC236}">
                <a16:creationId xmlns:a16="http://schemas.microsoft.com/office/drawing/2014/main" id="{48DA36BA-1253-4D1B-93BA-CCF2BF1F6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3812559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9" name="CaixaDeTexto 5">
            <a:extLst>
              <a:ext uri="{FF2B5EF4-FFF2-40B4-BE49-F238E27FC236}">
                <a16:creationId xmlns:a16="http://schemas.microsoft.com/office/drawing/2014/main" id="{20CCB42F-9E96-43DC-8DE5-5F92BBB60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078" y="4958069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s-ES" sz="1600" b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cxnSp>
        <p:nvCxnSpPr>
          <p:cNvPr id="10" name="Conector de seta reta 7">
            <a:extLst>
              <a:ext uri="{FF2B5EF4-FFF2-40B4-BE49-F238E27FC236}">
                <a16:creationId xmlns:a16="http://schemas.microsoft.com/office/drawing/2014/main" id="{35923BA5-7966-4BB6-9196-C85E0F498B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74025" y="5424110"/>
            <a:ext cx="287338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4905287-C4EC-4C86-B042-60E7789EC696}"/>
              </a:ext>
            </a:extLst>
          </p:cNvPr>
          <p:cNvSpPr/>
          <p:nvPr/>
        </p:nvSpPr>
        <p:spPr>
          <a:xfrm>
            <a:off x="8677275" y="5208211"/>
            <a:ext cx="971550" cy="3829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7">
            <a:extLst>
              <a:ext uri="{FF2B5EF4-FFF2-40B4-BE49-F238E27FC236}">
                <a16:creationId xmlns:a16="http://schemas.microsoft.com/office/drawing/2014/main" id="{B55308AD-311E-4079-9E2A-9607894128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407526" y="4869557"/>
            <a:ext cx="0" cy="241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CaixaDeTexto 5">
            <a:extLst>
              <a:ext uri="{FF2B5EF4-FFF2-40B4-BE49-F238E27FC236}">
                <a16:creationId xmlns:a16="http://schemas.microsoft.com/office/drawing/2014/main" id="{EAF0A6B1-4552-4CE2-91E1-CE005E99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484" y="4546867"/>
            <a:ext cx="2199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F960AE8B-ABB5-4652-B7C2-FB5A51F6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72185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saldo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double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Conector de seta reta 7">
            <a:extLst>
              <a:ext uri="{FF2B5EF4-FFF2-40B4-BE49-F238E27FC236}">
                <a16:creationId xmlns:a16="http://schemas.microsoft.com/office/drawing/2014/main" id="{DB0F3356-1FED-48D5-B593-83532E9FE8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855076" y="4675882"/>
            <a:ext cx="0" cy="4250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CaixaDeTexto 5">
            <a:extLst>
              <a:ext uri="{FF2B5EF4-FFF2-40B4-BE49-F238E27FC236}">
                <a16:creationId xmlns:a16="http://schemas.microsoft.com/office/drawing/2014/main" id="{1A262332-486D-4E8A-9F9D-9F5B106BC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908" y="5591175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tx1"/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tx1"/>
                </a:solidFill>
              </a:rPr>
              <a:t>(</a:t>
            </a:r>
            <a:r>
              <a:rPr lang="es-E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8E30EA2A-6EDF-4DE6-ACF5-D2A3A1DCA131}"/>
              </a:ext>
            </a:extLst>
          </p:cNvPr>
          <p:cNvCxnSpPr/>
          <p:nvPr/>
        </p:nvCxnSpPr>
        <p:spPr>
          <a:xfrm flipV="1">
            <a:off x="7590577" y="5591175"/>
            <a:ext cx="770786" cy="47625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D4EE502B-544E-4ABC-9B98-AC09A735C3CD}"/>
              </a:ext>
            </a:extLst>
          </p:cNvPr>
          <p:cNvCxnSpPr/>
          <p:nvPr/>
        </p:nvCxnSpPr>
        <p:spPr>
          <a:xfrm>
            <a:off x="5074177" y="6067425"/>
            <a:ext cx="657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59988A9-F056-4257-A6A1-C4DC49526EEB}"/>
              </a:ext>
            </a:extLst>
          </p:cNvPr>
          <p:cNvSpPr txBox="1"/>
          <p:nvPr/>
        </p:nvSpPr>
        <p:spPr>
          <a:xfrm>
            <a:off x="3334560" y="5882759"/>
            <a:ext cx="183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Atualiza o saldo</a:t>
            </a:r>
          </a:p>
        </p:txBody>
      </p:sp>
      <p:cxnSp>
        <p:nvCxnSpPr>
          <p:cNvPr id="22" name="Conector de seta reta 7">
            <a:extLst>
              <a:ext uri="{FF2B5EF4-FFF2-40B4-BE49-F238E27FC236}">
                <a16:creationId xmlns:a16="http://schemas.microsoft.com/office/drawing/2014/main" id="{FAB57B5D-91D1-4E37-A095-7031AD294F5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55305" y="6052633"/>
            <a:ext cx="0" cy="24868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aixaDeTexto 5">
            <a:extLst>
              <a:ext uri="{FF2B5EF4-FFF2-40B4-BE49-F238E27FC236}">
                <a16:creationId xmlns:a16="http://schemas.microsoft.com/office/drawing/2014/main" id="{5588056E-B3F3-4BBF-8F43-940287512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5350" y="6272740"/>
            <a:ext cx="7457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valor</a:t>
            </a:r>
            <a:endParaRPr lang="pt-BR" altLang="pt-BR" dirty="0">
              <a:solidFill>
                <a:schemeClr val="tx1"/>
              </a:solidFill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0DA4654-9C91-4BC7-8D44-86DCBF6F5836}"/>
              </a:ext>
            </a:extLst>
          </p:cNvPr>
          <p:cNvSpPr/>
          <p:nvPr/>
        </p:nvSpPr>
        <p:spPr>
          <a:xfrm>
            <a:off x="838200" y="1690688"/>
            <a:ext cx="1029535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pt-BR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pagaBoleto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valor)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(valor);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pt-BR" sz="1600" dirty="0"/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fred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ContaBancaria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50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pagaBoleto</a:t>
            </a:r>
            <a:r>
              <a:rPr lang="es-ES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fred</a:t>
            </a:r>
            <a:r>
              <a:rPr lang="es-ES" sz="1600" dirty="0">
                <a:latin typeface="Consolas" panose="020B0609020204030204" pitchFamily="49" charset="0"/>
              </a:rPr>
              <a:t>, 15);</a:t>
            </a:r>
            <a:r>
              <a:rPr lang="pt-BR" sz="1600" dirty="0">
                <a:latin typeface="Consolas" panose="020B0609020204030204" pitchFamily="49" charset="0"/>
              </a:rPr>
              <a:t>        </a:t>
            </a:r>
            <a:endParaRPr lang="es-ES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148092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093EB-A659-4E47-BB92-C0CE025A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Passagem de objetos por referência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2B8A94-3811-4C1E-925A-61321515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42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FD72A49-7FE5-4C63-BD5E-5A13B0550418}"/>
              </a:ext>
            </a:extLst>
          </p:cNvPr>
          <p:cNvGraphicFramePr>
            <a:graphicFrameLocks noGrp="1"/>
          </p:cNvGraphicFramePr>
          <p:nvPr/>
        </p:nvGraphicFramePr>
        <p:xfrm>
          <a:off x="8677275" y="5208210"/>
          <a:ext cx="2419350" cy="741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1501911748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91426308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7" marR="91427" marT="45733" marB="45733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15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CaixaDeTexto 4">
            <a:extLst>
              <a:ext uri="{FF2B5EF4-FFF2-40B4-BE49-F238E27FC236}">
                <a16:creationId xmlns:a16="http://schemas.microsoft.com/office/drawing/2014/main" id="{48DA36BA-1253-4D1B-93BA-CCF2BF1F6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3812559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cxnSp>
        <p:nvCxnSpPr>
          <p:cNvPr id="10" name="Conector de seta reta 7">
            <a:extLst>
              <a:ext uri="{FF2B5EF4-FFF2-40B4-BE49-F238E27FC236}">
                <a16:creationId xmlns:a16="http://schemas.microsoft.com/office/drawing/2014/main" id="{35923BA5-7966-4BB6-9196-C85E0F498B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74025" y="5424110"/>
            <a:ext cx="287338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4905287-C4EC-4C86-B042-60E7789EC696}"/>
              </a:ext>
            </a:extLst>
          </p:cNvPr>
          <p:cNvSpPr/>
          <p:nvPr/>
        </p:nvSpPr>
        <p:spPr>
          <a:xfrm>
            <a:off x="8677275" y="5208211"/>
            <a:ext cx="971550" cy="3829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7">
            <a:extLst>
              <a:ext uri="{FF2B5EF4-FFF2-40B4-BE49-F238E27FC236}">
                <a16:creationId xmlns:a16="http://schemas.microsoft.com/office/drawing/2014/main" id="{B55308AD-311E-4079-9E2A-9607894128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407526" y="4869557"/>
            <a:ext cx="0" cy="241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CaixaDeTexto 5">
            <a:extLst>
              <a:ext uri="{FF2B5EF4-FFF2-40B4-BE49-F238E27FC236}">
                <a16:creationId xmlns:a16="http://schemas.microsoft.com/office/drawing/2014/main" id="{EAF0A6B1-4552-4CE2-91E1-CE005E99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484" y="4546867"/>
            <a:ext cx="2199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codCorrentista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F960AE8B-ABB5-4652-B7C2-FB5A51F6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72185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saldo</a:t>
            </a:r>
            <a:r>
              <a:rPr lang="pt-BR" altLang="pt-BR" dirty="0">
                <a:solidFill>
                  <a:schemeClr val="tx1"/>
                </a:solidFill>
              </a:rPr>
              <a:t> (</a:t>
            </a:r>
            <a:r>
              <a:rPr lang="pt-BR" altLang="pt-BR" dirty="0" err="1">
                <a:solidFill>
                  <a:schemeClr val="tx1"/>
                </a:solidFill>
              </a:rPr>
              <a:t>double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Conector de seta reta 7">
            <a:extLst>
              <a:ext uri="{FF2B5EF4-FFF2-40B4-BE49-F238E27FC236}">
                <a16:creationId xmlns:a16="http://schemas.microsoft.com/office/drawing/2014/main" id="{DB0F3356-1FED-48D5-B593-83532E9FE8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855076" y="4675882"/>
            <a:ext cx="0" cy="4250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CaixaDeTexto 5">
            <a:extLst>
              <a:ext uri="{FF2B5EF4-FFF2-40B4-BE49-F238E27FC236}">
                <a16:creationId xmlns:a16="http://schemas.microsoft.com/office/drawing/2014/main" id="{1A262332-486D-4E8A-9F9D-9F5B106BC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908" y="5591175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s-ES" sz="1600" b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8E30EA2A-6EDF-4DE6-ACF5-D2A3A1DCA131}"/>
              </a:ext>
            </a:extLst>
          </p:cNvPr>
          <p:cNvCxnSpPr/>
          <p:nvPr/>
        </p:nvCxnSpPr>
        <p:spPr>
          <a:xfrm flipV="1">
            <a:off x="7590577" y="5591175"/>
            <a:ext cx="770786" cy="476250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D4EE502B-544E-4ABC-9B98-AC09A735C3CD}"/>
              </a:ext>
            </a:extLst>
          </p:cNvPr>
          <p:cNvCxnSpPr/>
          <p:nvPr/>
        </p:nvCxnSpPr>
        <p:spPr>
          <a:xfrm>
            <a:off x="5357225" y="5409217"/>
            <a:ext cx="657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59988A9-F056-4257-A6A1-C4DC49526EEB}"/>
              </a:ext>
            </a:extLst>
          </p:cNvPr>
          <p:cNvSpPr txBox="1"/>
          <p:nvPr/>
        </p:nvSpPr>
        <p:spPr>
          <a:xfrm>
            <a:off x="1962151" y="4990207"/>
            <a:ext cx="3206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as alterações realizadas dentro da função são refletidas no objeto original</a:t>
            </a:r>
          </a:p>
        </p:txBody>
      </p:sp>
      <p:sp>
        <p:nvSpPr>
          <p:cNvPr id="22" name="CaixaDeTexto 5">
            <a:extLst>
              <a:ext uri="{FF2B5EF4-FFF2-40B4-BE49-F238E27FC236}">
                <a16:creationId xmlns:a16="http://schemas.microsoft.com/office/drawing/2014/main" id="{55093297-445E-4C47-B2D9-A00E65187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078" y="4958069"/>
            <a:ext cx="17876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fred</a:t>
            </a:r>
            <a:r>
              <a:rPr lang="pt-BR" altLang="pt-BR" b="1" dirty="0">
                <a:solidFill>
                  <a:schemeClr val="tx1"/>
                </a:solidFill>
              </a:rPr>
              <a:t> </a:t>
            </a:r>
          </a:p>
          <a:p>
            <a:r>
              <a:rPr lang="pt-BR" altLang="pt-BR" b="1" dirty="0">
                <a:solidFill>
                  <a:schemeClr val="tx1"/>
                </a:solidFill>
              </a:rPr>
              <a:t>(</a:t>
            </a:r>
            <a:r>
              <a:rPr lang="es-E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ContaBancaria</a:t>
            </a:r>
            <a:r>
              <a:rPr lang="pt-BR" altLang="pt-BR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04C66320-52C3-4C1B-AD3B-9A6555541070}"/>
              </a:ext>
            </a:extLst>
          </p:cNvPr>
          <p:cNvCxnSpPr/>
          <p:nvPr/>
        </p:nvCxnSpPr>
        <p:spPr>
          <a:xfrm>
            <a:off x="7837166" y="6483717"/>
            <a:ext cx="657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9F8E296-D75A-4E81-B803-A12BDD1D3026}"/>
              </a:ext>
            </a:extLst>
          </p:cNvPr>
          <p:cNvSpPr txBox="1"/>
          <p:nvPr/>
        </p:nvSpPr>
        <p:spPr>
          <a:xfrm>
            <a:off x="6124167" y="6302766"/>
            <a:ext cx="219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Lixo de memória</a:t>
            </a:r>
          </a:p>
        </p:txBody>
      </p:sp>
      <p:cxnSp>
        <p:nvCxnSpPr>
          <p:cNvPr id="25" name="Conector de seta reta 7">
            <a:extLst>
              <a:ext uri="{FF2B5EF4-FFF2-40B4-BE49-F238E27FC236}">
                <a16:creationId xmlns:a16="http://schemas.microsoft.com/office/drawing/2014/main" id="{4C383E1D-0562-4F31-9D67-8BFB5B04CEF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55305" y="6052633"/>
            <a:ext cx="0" cy="248682"/>
          </a:xfrm>
          <a:prstGeom prst="straightConnector1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CaixaDeTexto 5">
            <a:extLst>
              <a:ext uri="{FF2B5EF4-FFF2-40B4-BE49-F238E27FC236}">
                <a16:creationId xmlns:a16="http://schemas.microsoft.com/office/drawing/2014/main" id="{DDC7CABF-1FFF-4DC8-B6AC-08BA6BDB1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5350" y="6272740"/>
            <a:ext cx="74571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pt-BR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valor</a:t>
            </a:r>
            <a:endParaRPr lang="pt-BR" alt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E916CEB-4FBB-4B4C-87B9-AB4BA4B5B4CF}"/>
              </a:ext>
            </a:extLst>
          </p:cNvPr>
          <p:cNvSpPr/>
          <p:nvPr/>
        </p:nvSpPr>
        <p:spPr>
          <a:xfrm>
            <a:off x="838200" y="1690688"/>
            <a:ext cx="1029535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UsaContaBancaria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pt-BR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pagaBoleto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valor)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fred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(valor);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pt-BR" sz="1600" dirty="0"/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ContaBancaria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fred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ContaBancaria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50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pagaBoleto</a:t>
            </a:r>
            <a:r>
              <a:rPr lang="es-ES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fred</a:t>
            </a:r>
            <a:r>
              <a:rPr lang="es-ES" sz="1600" dirty="0">
                <a:latin typeface="Consolas" panose="020B0609020204030204" pitchFamily="49" charset="0"/>
              </a:rPr>
              <a:t>, 15);</a:t>
            </a:r>
            <a:r>
              <a:rPr lang="pt-BR" sz="1600" dirty="0">
                <a:latin typeface="Consolas" panose="020B0609020204030204" pitchFamily="49" charset="0"/>
              </a:rPr>
              <a:t>        </a:t>
            </a:r>
            <a:endParaRPr lang="es-ES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83131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3757</Words>
  <Application>Microsoft Office PowerPoint</Application>
  <PresentationFormat>Widescreen</PresentationFormat>
  <Paragraphs>651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Consolas</vt:lpstr>
      <vt:lpstr>NimbusSanL-Bold</vt:lpstr>
      <vt:lpstr>NimbusSanL-Regu</vt:lpstr>
      <vt:lpstr>Tema do Office</vt:lpstr>
      <vt:lpstr>Programação Orientada a Objetos</vt:lpstr>
      <vt:lpstr>Programação Orientada a Objetos</vt:lpstr>
      <vt:lpstr>Programação Orientada a Objetos</vt:lpstr>
      <vt:lpstr>Programação Orientada a Objetos</vt:lpstr>
      <vt:lpstr>Programação Orientada a Objetos</vt:lpstr>
      <vt:lpstr>Programação Orientada a Objetos</vt:lpstr>
      <vt:lpstr>Mecanismo de Reuso de código</vt:lpstr>
      <vt:lpstr>Mecanismo de Reuso de código</vt:lpstr>
      <vt:lpstr>Mecanismo de Reuso de código</vt:lpstr>
      <vt:lpstr>Conceitos básicos de OO</vt:lpstr>
      <vt:lpstr>Conceitos básicos de OO</vt:lpstr>
      <vt:lpstr>Objeto</vt:lpstr>
      <vt:lpstr>Exemplo Cachorro</vt:lpstr>
      <vt:lpstr>Atributo</vt:lpstr>
      <vt:lpstr>Exemplo Cachorro</vt:lpstr>
      <vt:lpstr>Exemplo Cachorro</vt:lpstr>
      <vt:lpstr>Método</vt:lpstr>
      <vt:lpstr>Método</vt:lpstr>
      <vt:lpstr>Classe</vt:lpstr>
      <vt:lpstr>Exemplo de uma classe</vt:lpstr>
      <vt:lpstr>Encapsulamento</vt:lpstr>
      <vt:lpstr>Encapsulamento</vt:lpstr>
      <vt:lpstr>Classe conta bancária</vt:lpstr>
      <vt:lpstr>Classe conta bancária</vt:lpstr>
      <vt:lpstr>Classe conta bancária</vt:lpstr>
      <vt:lpstr>Classe conta bancária</vt:lpstr>
      <vt:lpstr>Classe conta bancária</vt:lpstr>
      <vt:lpstr>Classe conta bancária</vt:lpstr>
      <vt:lpstr>Classe conta bancária</vt:lpstr>
      <vt:lpstr>Classe conta bancária</vt:lpstr>
      <vt:lpstr>Classe conta bancária (pequena alteração)</vt:lpstr>
      <vt:lpstr>Classe conta bancária (pequena alteração)</vt:lpstr>
      <vt:lpstr>Classe conta bancária (pequena alteração)</vt:lpstr>
      <vt:lpstr>Classe conta bancária (pequena alteração)</vt:lpstr>
      <vt:lpstr>Classe conta bancária (pequena alteração)</vt:lpstr>
      <vt:lpstr>Classe conta bancária (pequena alteração)</vt:lpstr>
      <vt:lpstr>Classe conta bancária (pequena alteração)</vt:lpstr>
      <vt:lpstr>Passagem de objetos por referência </vt:lpstr>
      <vt:lpstr>Passagem de objetos por referência </vt:lpstr>
      <vt:lpstr>Passagem de objetos por referência </vt:lpstr>
      <vt:lpstr>Passagem de objetos por referência </vt:lpstr>
      <vt:lpstr>Passagem de objetos por referência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a Objetos</dc:title>
  <dc:creator>Henrique Silva</dc:creator>
  <cp:lastModifiedBy>Henrique Silva</cp:lastModifiedBy>
  <cp:revision>7</cp:revision>
  <dcterms:created xsi:type="dcterms:W3CDTF">2018-02-11T14:17:17Z</dcterms:created>
  <dcterms:modified xsi:type="dcterms:W3CDTF">2019-12-15T12:32:51Z</dcterms:modified>
</cp:coreProperties>
</file>