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352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8" r:id="rId38"/>
    <p:sldId id="389" r:id="rId39"/>
    <p:sldId id="390" r:id="rId40"/>
    <p:sldId id="391" r:id="rId41"/>
    <p:sldId id="392" r:id="rId42"/>
    <p:sldId id="393" r:id="rId43"/>
    <p:sldId id="394" r:id="rId44"/>
    <p:sldId id="395" r:id="rId45"/>
    <p:sldId id="351" r:id="rId46"/>
    <p:sldId id="322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A46E6-4E1A-4B8F-BBB0-8F81F0BEFED5}" type="datetimeFigureOut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A3877-CFC2-4E99-9BC4-1D697B204C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62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D1163-60F6-4F22-86C8-670E0FA60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BA9ED4-ACEA-4ACC-8DAC-6C63083FF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F6C650-8FC0-49CD-B119-66852C6C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84E9E-323C-4D76-A562-03B613FAD81B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A2E52-FEA0-4537-948B-2CE740D4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D5B61-39B0-476C-82D8-6A274813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96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42203-CF54-49CA-AD8B-761AA3F5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F37979-6810-4383-BF97-99B2AC978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FB1D4-F54D-4EB6-9D8A-A0E36BB6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870D-AB5E-4E43-BE72-FB0AA547E1D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537510-9BDC-44E1-94C4-36BDBAD9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DCCADF-7E89-4B86-ADC5-9420D32F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864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0145-BFF4-4A17-9C09-153C61AF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C971E0-B851-49C3-AA85-0024836C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68237-E2AB-49A6-9C81-9D90DE83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AFEDA-71E8-478E-AEA0-A956738C44F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2ACFDC-DDE5-4DF9-871E-67C7F69D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D82344-9DA3-4E39-B5BC-061B6ECB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77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8CE12-45DE-4297-BD62-FFAEA016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3DA2C8-2F5A-43C4-934F-D6FCE6205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7EEAAE-B5F8-4328-9B5F-7098DF892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1DA8EB-99A8-462E-B55F-4EC99C5B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FA5F-3ECD-4943-AD38-87D0A7BC01A0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F8C566-C4E5-4069-8C81-EC8A1D7BF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7AFBB-5AB4-4371-B126-947049CE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3E3B0-12E6-4737-854E-2C0ADB87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25948B-30B3-43CA-9EB4-BF7A86DB1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A88E36-0E77-4458-BEEA-0203B12FF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7D26F1-B391-4AA6-B3D0-8018811CC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C89788-AA18-4375-BBB1-525990456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35B540-9654-421E-8B90-0D7E6A55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73E-2034-44A9-BC05-27157DC5EDD4}" type="datetime1">
              <a:rPr lang="pt-BR" smtClean="0"/>
              <a:t>10/08/2019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1F0D045-A705-41B1-AF62-C26B9D29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DE1DD05-ADF9-4EC0-AC9E-7BED1A59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96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0CD46-0311-49DC-A680-4D2168D5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EE21C9-00B5-4C41-838A-7646BD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267CE-6D9A-4045-969F-DE11DDF0BA3D}" type="datetime1">
              <a:rPr lang="pt-BR" smtClean="0"/>
              <a:t>10/08/2019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D8561D-5B0B-4075-BEB5-50450C76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879B8-A2E4-46F0-AE48-1CADCC4A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903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2C69467-1396-4E55-8F17-64388AD0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A7E11-01E9-4384-A103-DBAE017CA503}" type="datetime1">
              <a:rPr lang="pt-BR" smtClean="0"/>
              <a:t>10/08/2019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9699F9B-5E17-4AF2-917A-C3885745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F6F98C-0D2A-42CC-8517-376439B7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79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96ECB-6ADD-4457-ADC0-DA36CE80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3C315D-D135-4D42-B4CD-37E6DEA8B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A26CF8-5BDE-44D5-BCCD-F879E51C9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EC748D-F65D-4F69-A0F5-243D8032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42E-2906-4461-8A97-7A27C05C7B1A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CE6625-A646-499A-A5F2-FB1C8758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C3103-0145-4401-AC66-477F1471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75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C3DFA-41F0-4C64-A868-C1763A7B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8D3609-D05B-4246-804F-4CA0FE0FC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7914C3-D139-497A-B3F6-5D609AF74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8151E0-D270-47CA-B1BC-F3326536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E00C2-E0AC-460E-929B-7079F0347316}" type="datetime1">
              <a:rPr lang="pt-BR" smtClean="0"/>
              <a:t>10/08/2019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7C8D2-1A91-4E49-BBA2-46C28729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22B3A6-8ABF-4DC3-8CD4-0640A73F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31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8C317-32EE-4448-941D-6DA2D519A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7D88EA-C228-47E1-B5B6-ABA9B7C6E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83E368-D67D-48F3-8F59-95CEE749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25D0-E3BB-4E8E-8FE6-D9B00EC27CAE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D1D1D-AA27-4EF1-8A78-895F87D9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510510-F0B4-4C33-BE66-9E83434F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275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2CE5FF-CEDD-446B-9E3D-A7E5CC1BB2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88983C-2490-482C-A7F4-2A8A7608F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6C5D19-47BE-40CF-B809-7DB5F122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E8A-ECEE-473C-A1E9-7321E45784D7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8C711-DCD6-4635-8AC0-C6DA03B2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97A7E8-ECED-4141-B514-9C35AB05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41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605902-0991-41A4-96C1-077ED554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1F0E4C-86B8-4716-A9E6-510FF979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8DBE3-D1BA-4C3F-ABBE-51A48E5CFE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C1123-A8E1-472A-8A44-06236134FE11}" type="datetime1">
              <a:rPr lang="pt-BR" smtClean="0"/>
              <a:t>10/08/2019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E578F-3C6C-4EC4-BBDB-1A428C2AD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8F652-25C0-4C1C-9B59-3E726DE3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C09F4-CE31-4E9A-B94D-5BDD27720B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26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www2.dcc.ufmg.br/livros/algoritmos-java/implementacoes-03.ph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D16D4-E005-4D0C-9908-F530AAEB8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0A62BC-D0C4-41EF-A98E-C7A2DCD6F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D476C4-E6DF-4F4C-92EC-C4F3F2B4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4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1"/>
                <a:ext cx="8229600" cy="247756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Árvore completamente balanceada:</a:t>
                </a:r>
              </a:p>
              <a:p>
                <a:pPr lvl="1"/>
                <a:r>
                  <a:rPr lang="pt-BR" dirty="0"/>
                  <a:t>Árvores cujo nível das folhas difere no máximo de 1 (ou uma árvore binária é balanceada se, em cada um de seus nós, a altura das </a:t>
                </a:r>
                <a:r>
                  <a:rPr lang="pt-BR" dirty="0" err="1"/>
                  <a:t>subárvores</a:t>
                </a:r>
                <a:r>
                  <a:rPr lang="pt-BR" dirty="0"/>
                  <a:t> esquerda e direita diferem em no máximo 1 unidade). Uma árvore binária balanceada 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nós tem altura próxima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Árvore completamente balanceada: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1"/>
                <a:ext cx="8229600" cy="2477568"/>
              </a:xfrm>
              <a:blipFill>
                <a:blip r:embed="rId2"/>
                <a:stretch>
                  <a:fillRect l="-1333" t="-5665" r="-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5591944" y="56519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5621121" y="5651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6" name="Conector reto 5"/>
          <p:cNvCxnSpPr>
            <a:endCxn id="4" idx="1"/>
          </p:cNvCxnSpPr>
          <p:nvPr/>
        </p:nvCxnSpPr>
        <p:spPr>
          <a:xfrm>
            <a:off x="5194245" y="528357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/>
          <p:cNvSpPr/>
          <p:nvPr/>
        </p:nvSpPr>
        <p:spPr>
          <a:xfrm>
            <a:off x="5807968" y="427451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4886931" y="496697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832847" y="497626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7500156" y="56519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4151784" y="564266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7" idx="5"/>
            <a:endCxn id="9" idx="1"/>
          </p:cNvCxnSpPr>
          <p:nvPr/>
        </p:nvCxnSpPr>
        <p:spPr>
          <a:xfrm>
            <a:off x="6115282" y="458182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9" idx="5"/>
            <a:endCxn id="10" idx="1"/>
          </p:cNvCxnSpPr>
          <p:nvPr/>
        </p:nvCxnSpPr>
        <p:spPr>
          <a:xfrm>
            <a:off x="7140161" y="5283577"/>
            <a:ext cx="412723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3"/>
            <a:endCxn id="8" idx="7"/>
          </p:cNvCxnSpPr>
          <p:nvPr/>
        </p:nvCxnSpPr>
        <p:spPr>
          <a:xfrm flipH="1">
            <a:off x="5194245" y="458182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8" idx="3"/>
            <a:endCxn id="12" idx="7"/>
          </p:cNvCxnSpPr>
          <p:nvPr/>
        </p:nvCxnSpPr>
        <p:spPr>
          <a:xfrm flipH="1">
            <a:off x="4459098" y="527428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5837145" y="42698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862024" y="49669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529333" y="5651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910126" y="49439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180961" y="5642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282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1"/>
                <a:ext cx="8229600" cy="247756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Árvore completamente balanceada:</a:t>
                </a:r>
              </a:p>
              <a:p>
                <a:pPr lvl="1"/>
                <a:r>
                  <a:rPr lang="pt-BR" dirty="0"/>
                  <a:t>Árvores cujo nível das folhas difere no máximo de 1 (ou uma árvore binária é balanceada se, em cada um de seus nós, a altura das </a:t>
                </a:r>
                <a:r>
                  <a:rPr lang="pt-BR" dirty="0" err="1"/>
                  <a:t>subárvores</a:t>
                </a:r>
                <a:r>
                  <a:rPr lang="pt-BR" dirty="0"/>
                  <a:t> esquerda e direita diferem em no máximo 1 unidade). Uma árvore binária balanceada com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nós tem altura próxima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Árvore completamente balanceada: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1"/>
                <a:ext cx="8229600" cy="2477568"/>
              </a:xfrm>
              <a:blipFill>
                <a:blip r:embed="rId2"/>
                <a:stretch>
                  <a:fillRect l="-1333" t="-5665" r="-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5591944" y="56519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5621121" y="5651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6" name="Conector reto 5"/>
          <p:cNvCxnSpPr>
            <a:endCxn id="4" idx="1"/>
          </p:cNvCxnSpPr>
          <p:nvPr/>
        </p:nvCxnSpPr>
        <p:spPr>
          <a:xfrm>
            <a:off x="5194245" y="528357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/>
          <p:cNvSpPr/>
          <p:nvPr/>
        </p:nvSpPr>
        <p:spPr>
          <a:xfrm>
            <a:off x="5807968" y="427451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4886931" y="496697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832847" y="497626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4151784" y="564266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7" idx="5"/>
            <a:endCxn id="9" idx="1"/>
          </p:cNvCxnSpPr>
          <p:nvPr/>
        </p:nvCxnSpPr>
        <p:spPr>
          <a:xfrm>
            <a:off x="6115282" y="458182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3"/>
            <a:endCxn id="8" idx="7"/>
          </p:cNvCxnSpPr>
          <p:nvPr/>
        </p:nvCxnSpPr>
        <p:spPr>
          <a:xfrm flipH="1">
            <a:off x="5194245" y="458182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8" idx="3"/>
            <a:endCxn id="12" idx="7"/>
          </p:cNvCxnSpPr>
          <p:nvPr/>
        </p:nvCxnSpPr>
        <p:spPr>
          <a:xfrm flipH="1">
            <a:off x="4459098" y="527428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5837145" y="42698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862024" y="49669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910126" y="49439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180961" y="5642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0590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1"/>
                <a:ext cx="8229600" cy="247756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Árvore completamente balanceada:</a:t>
                </a:r>
              </a:p>
              <a:p>
                <a:pPr lvl="1"/>
                <a:r>
                  <a:rPr lang="pt-BR" dirty="0"/>
                  <a:t>Árvores cujo nível das folhas difere no máximo de 1 (ou uma árvore binária é balanceada se, em cada um de seus nós, a altura das </a:t>
                </a:r>
                <a:r>
                  <a:rPr lang="pt-BR" dirty="0" err="1"/>
                  <a:t>subárvores</a:t>
                </a:r>
                <a:r>
                  <a:rPr lang="pt-BR" dirty="0"/>
                  <a:t> esquerda e direita diferem em no máximo 1 unidade). Uma árvore binária balanceada com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nós tem altura próxima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Árvore </a:t>
                </a:r>
                <a:r>
                  <a:rPr lang="pt-BR" b="1" dirty="0"/>
                  <a:t>não</a:t>
                </a:r>
                <a:r>
                  <a:rPr lang="pt-BR" dirty="0"/>
                  <a:t> balanceada: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1"/>
                <a:ext cx="8229600" cy="2477568"/>
              </a:xfrm>
              <a:blipFill>
                <a:blip r:embed="rId2"/>
                <a:stretch>
                  <a:fillRect l="-1333" t="-5665" r="-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5591944" y="565195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5621121" y="56519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6" name="Conector reto 5"/>
          <p:cNvCxnSpPr>
            <a:endCxn id="4" idx="1"/>
          </p:cNvCxnSpPr>
          <p:nvPr/>
        </p:nvCxnSpPr>
        <p:spPr>
          <a:xfrm>
            <a:off x="5194245" y="5283577"/>
            <a:ext cx="450427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/>
          <p:cNvSpPr/>
          <p:nvPr/>
        </p:nvSpPr>
        <p:spPr>
          <a:xfrm>
            <a:off x="5807968" y="427451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4886931" y="496697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832847" y="497626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4151784" y="564266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7" idx="5"/>
            <a:endCxn id="9" idx="1"/>
          </p:cNvCxnSpPr>
          <p:nvPr/>
        </p:nvCxnSpPr>
        <p:spPr>
          <a:xfrm>
            <a:off x="6115282" y="458182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3"/>
            <a:endCxn id="8" idx="7"/>
          </p:cNvCxnSpPr>
          <p:nvPr/>
        </p:nvCxnSpPr>
        <p:spPr>
          <a:xfrm flipH="1">
            <a:off x="5194245" y="4581825"/>
            <a:ext cx="666451" cy="437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8" idx="3"/>
            <a:endCxn id="12" idx="7"/>
          </p:cNvCxnSpPr>
          <p:nvPr/>
        </p:nvCxnSpPr>
        <p:spPr>
          <a:xfrm flipH="1">
            <a:off x="4459098" y="5274285"/>
            <a:ext cx="480561" cy="421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5837145" y="42698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6862024" y="49669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910126" y="49439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180961" y="56426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0" name="Elipse 19"/>
          <p:cNvSpPr/>
          <p:nvPr/>
        </p:nvSpPr>
        <p:spPr>
          <a:xfrm>
            <a:off x="3503712" y="630932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reto 20"/>
          <p:cNvCxnSpPr>
            <a:stCxn id="12" idx="3"/>
            <a:endCxn id="20" idx="7"/>
          </p:cNvCxnSpPr>
          <p:nvPr/>
        </p:nvCxnSpPr>
        <p:spPr>
          <a:xfrm flipH="1">
            <a:off x="3811025" y="5949977"/>
            <a:ext cx="393486" cy="412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3532889" y="6309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63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20688"/>
          </a:xfrm>
        </p:spPr>
        <p:txBody>
          <a:bodyPr>
            <a:normAutofit/>
          </a:bodyPr>
          <a:lstStyle/>
          <a:p>
            <a:r>
              <a:rPr lang="pt-BR" dirty="0"/>
              <a:t>Encontrar o elemento 6 na árvore não balanceada:</a:t>
            </a:r>
          </a:p>
        </p:txBody>
      </p:sp>
      <p:sp>
        <p:nvSpPr>
          <p:cNvPr id="4" name="Elipse 3"/>
          <p:cNvSpPr/>
          <p:nvPr/>
        </p:nvSpPr>
        <p:spPr>
          <a:xfrm>
            <a:off x="4796521" y="2569550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821400" y="327130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5"/>
            <a:endCxn id="5" idx="1"/>
          </p:cNvCxnSpPr>
          <p:nvPr/>
        </p:nvCxnSpPr>
        <p:spPr>
          <a:xfrm>
            <a:off x="5103835" y="2876863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4825698" y="2564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850577" y="3262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6893379" y="390982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7918258" y="461157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9" idx="5"/>
            <a:endCxn id="10" idx="1"/>
          </p:cNvCxnSpPr>
          <p:nvPr/>
        </p:nvCxnSpPr>
        <p:spPr>
          <a:xfrm>
            <a:off x="7200693" y="421713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922556" y="3905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947435" y="46022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6152264" y="3526481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935833" y="52948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endCxn id="17" idx="1"/>
          </p:cNvCxnSpPr>
          <p:nvPr/>
        </p:nvCxnSpPr>
        <p:spPr>
          <a:xfrm>
            <a:off x="8218268" y="490043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965010" y="5285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2950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20688"/>
          </a:xfrm>
        </p:spPr>
        <p:txBody>
          <a:bodyPr>
            <a:normAutofit/>
          </a:bodyPr>
          <a:lstStyle/>
          <a:p>
            <a:r>
              <a:rPr lang="pt-BR" dirty="0"/>
              <a:t>Encontrar o elemento 6 na árvore não balanceada:</a:t>
            </a:r>
          </a:p>
        </p:txBody>
      </p:sp>
      <p:sp>
        <p:nvSpPr>
          <p:cNvPr id="4" name="Elipse 3"/>
          <p:cNvSpPr/>
          <p:nvPr/>
        </p:nvSpPr>
        <p:spPr>
          <a:xfrm>
            <a:off x="4796521" y="25695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821400" y="327130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5"/>
            <a:endCxn id="5" idx="1"/>
          </p:cNvCxnSpPr>
          <p:nvPr/>
        </p:nvCxnSpPr>
        <p:spPr>
          <a:xfrm>
            <a:off x="5103835" y="2876863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4825698" y="2564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850577" y="3262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6893379" y="390982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7918258" y="461157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9" idx="5"/>
            <a:endCxn id="10" idx="1"/>
          </p:cNvCxnSpPr>
          <p:nvPr/>
        </p:nvCxnSpPr>
        <p:spPr>
          <a:xfrm>
            <a:off x="7200693" y="421713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922556" y="3905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947435" y="46022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6152264" y="3526481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935833" y="52948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endCxn id="17" idx="1"/>
          </p:cNvCxnSpPr>
          <p:nvPr/>
        </p:nvCxnSpPr>
        <p:spPr>
          <a:xfrm>
            <a:off x="8218268" y="490043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965010" y="5285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278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20688"/>
          </a:xfrm>
        </p:spPr>
        <p:txBody>
          <a:bodyPr>
            <a:normAutofit/>
          </a:bodyPr>
          <a:lstStyle/>
          <a:p>
            <a:r>
              <a:rPr lang="pt-BR" dirty="0"/>
              <a:t>Encontrar o elemento 6 na árvore não balanceada:</a:t>
            </a:r>
          </a:p>
        </p:txBody>
      </p:sp>
      <p:sp>
        <p:nvSpPr>
          <p:cNvPr id="4" name="Elipse 3"/>
          <p:cNvSpPr/>
          <p:nvPr/>
        </p:nvSpPr>
        <p:spPr>
          <a:xfrm>
            <a:off x="4796521" y="25695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821400" y="327130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5"/>
            <a:endCxn id="5" idx="1"/>
          </p:cNvCxnSpPr>
          <p:nvPr/>
        </p:nvCxnSpPr>
        <p:spPr>
          <a:xfrm>
            <a:off x="5103835" y="2876863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4825698" y="2564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850577" y="3262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6893379" y="390982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7918258" y="461157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9" idx="5"/>
            <a:endCxn id="10" idx="1"/>
          </p:cNvCxnSpPr>
          <p:nvPr/>
        </p:nvCxnSpPr>
        <p:spPr>
          <a:xfrm>
            <a:off x="7200693" y="421713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922556" y="3905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947435" y="46022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6152264" y="3526481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935833" y="52948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endCxn id="17" idx="1"/>
          </p:cNvCxnSpPr>
          <p:nvPr/>
        </p:nvCxnSpPr>
        <p:spPr>
          <a:xfrm>
            <a:off x="8218268" y="490043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965010" y="5285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8810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20688"/>
          </a:xfrm>
        </p:spPr>
        <p:txBody>
          <a:bodyPr>
            <a:normAutofit/>
          </a:bodyPr>
          <a:lstStyle/>
          <a:p>
            <a:r>
              <a:rPr lang="pt-BR" dirty="0"/>
              <a:t>Encontrar o elemento 6 na árvore não balanceada:</a:t>
            </a:r>
          </a:p>
        </p:txBody>
      </p:sp>
      <p:sp>
        <p:nvSpPr>
          <p:cNvPr id="4" name="Elipse 3"/>
          <p:cNvSpPr/>
          <p:nvPr/>
        </p:nvSpPr>
        <p:spPr>
          <a:xfrm>
            <a:off x="4796521" y="25695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821400" y="327130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5"/>
            <a:endCxn id="5" idx="1"/>
          </p:cNvCxnSpPr>
          <p:nvPr/>
        </p:nvCxnSpPr>
        <p:spPr>
          <a:xfrm>
            <a:off x="5103835" y="2876863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4825698" y="2564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850577" y="3262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6893379" y="390982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7918258" y="461157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9" idx="5"/>
            <a:endCxn id="10" idx="1"/>
          </p:cNvCxnSpPr>
          <p:nvPr/>
        </p:nvCxnSpPr>
        <p:spPr>
          <a:xfrm>
            <a:off x="7200693" y="421713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922556" y="3905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947435" y="46022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6152264" y="3526481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935833" y="52948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endCxn id="17" idx="1"/>
          </p:cNvCxnSpPr>
          <p:nvPr/>
        </p:nvCxnSpPr>
        <p:spPr>
          <a:xfrm>
            <a:off x="8218268" y="490043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965010" y="5285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25405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20688"/>
          </a:xfrm>
        </p:spPr>
        <p:txBody>
          <a:bodyPr>
            <a:normAutofit/>
          </a:bodyPr>
          <a:lstStyle/>
          <a:p>
            <a:r>
              <a:rPr lang="pt-BR" dirty="0"/>
              <a:t>Encontrar o elemento 6 na árvore não balanceada:</a:t>
            </a:r>
          </a:p>
        </p:txBody>
      </p:sp>
      <p:sp>
        <p:nvSpPr>
          <p:cNvPr id="4" name="Elipse 3"/>
          <p:cNvSpPr/>
          <p:nvPr/>
        </p:nvSpPr>
        <p:spPr>
          <a:xfrm>
            <a:off x="4796521" y="25695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821400" y="327130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5"/>
            <a:endCxn id="5" idx="1"/>
          </p:cNvCxnSpPr>
          <p:nvPr/>
        </p:nvCxnSpPr>
        <p:spPr>
          <a:xfrm>
            <a:off x="5103835" y="2876863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4825698" y="25649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850577" y="3262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6893379" y="390982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7918258" y="461157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9" idx="5"/>
            <a:endCxn id="10" idx="1"/>
          </p:cNvCxnSpPr>
          <p:nvPr/>
        </p:nvCxnSpPr>
        <p:spPr>
          <a:xfrm>
            <a:off x="7200693" y="4217139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922556" y="3905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7947435" y="46022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6152264" y="3526481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8935833" y="529487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endCxn id="17" idx="1"/>
          </p:cNvCxnSpPr>
          <p:nvPr/>
        </p:nvCxnSpPr>
        <p:spPr>
          <a:xfrm>
            <a:off x="8218268" y="4900435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8965010" y="52855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4105379" y="5285582"/>
            <a:ext cx="3021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São necessárias 5 comparação</a:t>
            </a:r>
          </a:p>
        </p:txBody>
      </p:sp>
      <p:cxnSp>
        <p:nvCxnSpPr>
          <p:cNvPr id="20" name="Conector de seta reta 19"/>
          <p:cNvCxnSpPr/>
          <p:nvPr/>
        </p:nvCxnSpPr>
        <p:spPr>
          <a:xfrm flipV="1">
            <a:off x="7307269" y="5491399"/>
            <a:ext cx="1296144" cy="46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63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20688"/>
          </a:xfrm>
        </p:spPr>
        <p:txBody>
          <a:bodyPr>
            <a:normAutofit/>
          </a:bodyPr>
          <a:lstStyle/>
          <a:p>
            <a:r>
              <a:rPr lang="pt-BR" dirty="0"/>
              <a:t>Encontrar o elemento 6 na árvore balanceada:</a:t>
            </a:r>
          </a:p>
        </p:txBody>
      </p:sp>
      <p:sp>
        <p:nvSpPr>
          <p:cNvPr id="4" name="Elipse 3"/>
          <p:cNvSpPr/>
          <p:nvPr/>
        </p:nvSpPr>
        <p:spPr>
          <a:xfrm>
            <a:off x="4645678" y="389867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821400" y="327130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005719" y="3578615"/>
            <a:ext cx="868409" cy="500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4674855" y="38940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850577" y="3262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6893379" y="390982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821400" y="459220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endCxn id="10" idx="7"/>
          </p:cNvCxnSpPr>
          <p:nvPr/>
        </p:nvCxnSpPr>
        <p:spPr>
          <a:xfrm flipH="1">
            <a:off x="6128714" y="4155120"/>
            <a:ext cx="764667" cy="489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922556" y="3905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850577" y="45829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6152264" y="3526481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7941808" y="455729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endCxn id="17" idx="1"/>
          </p:cNvCxnSpPr>
          <p:nvPr/>
        </p:nvCxnSpPr>
        <p:spPr>
          <a:xfrm>
            <a:off x="7224243" y="4162852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7970985" y="4547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1094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20688"/>
          </a:xfrm>
        </p:spPr>
        <p:txBody>
          <a:bodyPr/>
          <a:lstStyle/>
          <a:p>
            <a:r>
              <a:rPr lang="pt-BR" dirty="0"/>
              <a:t>Encontrar o elemento 6 na árvore balanceada:</a:t>
            </a:r>
          </a:p>
        </p:txBody>
      </p:sp>
      <p:sp>
        <p:nvSpPr>
          <p:cNvPr id="4" name="Elipse 3"/>
          <p:cNvSpPr/>
          <p:nvPr/>
        </p:nvSpPr>
        <p:spPr>
          <a:xfrm>
            <a:off x="4645678" y="389867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821400" y="327130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005719" y="3578615"/>
            <a:ext cx="868409" cy="500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4674855" y="38940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850577" y="3262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6893379" y="390982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821400" y="459220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endCxn id="10" idx="7"/>
          </p:cNvCxnSpPr>
          <p:nvPr/>
        </p:nvCxnSpPr>
        <p:spPr>
          <a:xfrm flipH="1">
            <a:off x="6128714" y="4155120"/>
            <a:ext cx="764667" cy="489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922556" y="3905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850577" y="45829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6152264" y="3526481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7941808" y="455729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endCxn id="17" idx="1"/>
          </p:cNvCxnSpPr>
          <p:nvPr/>
        </p:nvCxnSpPr>
        <p:spPr>
          <a:xfrm>
            <a:off x="7224243" y="4162852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7970985" y="4547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18888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820688"/>
          </a:xfrm>
        </p:spPr>
        <p:txBody>
          <a:bodyPr/>
          <a:lstStyle/>
          <a:p>
            <a:r>
              <a:rPr lang="pt-BR" dirty="0"/>
              <a:t>Encontrar o elemento 6 na árvore balanceada:</a:t>
            </a:r>
          </a:p>
        </p:txBody>
      </p:sp>
      <p:sp>
        <p:nvSpPr>
          <p:cNvPr id="4" name="Elipse 3"/>
          <p:cNvSpPr/>
          <p:nvPr/>
        </p:nvSpPr>
        <p:spPr>
          <a:xfrm>
            <a:off x="4645678" y="389867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5821400" y="327130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005719" y="3578615"/>
            <a:ext cx="868409" cy="5000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4674855" y="38940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850577" y="32620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6893379" y="390982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821400" y="459220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endCxn id="10" idx="7"/>
          </p:cNvCxnSpPr>
          <p:nvPr/>
        </p:nvCxnSpPr>
        <p:spPr>
          <a:xfrm flipH="1">
            <a:off x="6128714" y="4155120"/>
            <a:ext cx="764667" cy="489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6922556" y="39051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5850577" y="45829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16" name="Conector reto 15"/>
          <p:cNvCxnSpPr/>
          <p:nvPr/>
        </p:nvCxnSpPr>
        <p:spPr>
          <a:xfrm>
            <a:off x="6152264" y="3526481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/>
          <p:cNvSpPr/>
          <p:nvPr/>
        </p:nvSpPr>
        <p:spPr>
          <a:xfrm>
            <a:off x="7941808" y="4557291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endCxn id="17" idx="1"/>
          </p:cNvCxnSpPr>
          <p:nvPr/>
        </p:nvCxnSpPr>
        <p:spPr>
          <a:xfrm>
            <a:off x="7224243" y="4162852"/>
            <a:ext cx="770293" cy="44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7970985" y="45479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6528294" y="5882894"/>
            <a:ext cx="3021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São necessárias 3 comparação</a:t>
            </a:r>
          </a:p>
        </p:txBody>
      </p:sp>
      <p:cxnSp>
        <p:nvCxnSpPr>
          <p:cNvPr id="21" name="Conector de seta reta 20"/>
          <p:cNvCxnSpPr/>
          <p:nvPr/>
        </p:nvCxnSpPr>
        <p:spPr>
          <a:xfrm flipV="1">
            <a:off x="8121828" y="5157194"/>
            <a:ext cx="0" cy="6480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010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Minimiza tempo médio de pesquisa para uma distribuição uniforme das chaves:</a:t>
            </a:r>
          </a:p>
          <a:p>
            <a:pPr lvl="1"/>
            <a:r>
              <a:rPr lang="pt-BR" dirty="0"/>
              <a:t>cada chave é igualmente provável de ser usada em uma pesquisa.</a:t>
            </a:r>
          </a:p>
          <a:p>
            <a:r>
              <a:rPr lang="pt-BR" dirty="0"/>
              <a:t>Contudo, custo para manter a árvore completamente balanceada após cada inserção é muito alto.</a:t>
            </a:r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8074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Árvores Binárias de Pesquisa com Balanceamento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Deve-se encontrar uma forma de contornar este problema:</a:t>
            </a:r>
          </a:p>
          <a:p>
            <a:pPr lvl="1"/>
            <a:r>
              <a:rPr lang="pt-BR" dirty="0"/>
              <a:t>Procurar solução intermediária que possa manter árvore “quase balanceada”.</a:t>
            </a:r>
          </a:p>
          <a:p>
            <a:pPr lvl="1"/>
            <a:r>
              <a:rPr lang="pt-BR" dirty="0"/>
              <a:t>Objetivo: Procurar obter bons tempos de pesquisa, próximos do tempo ótimo da árvore completamente balanceada, mas sem pagar muito para inserir ou retirar da árvore.</a:t>
            </a:r>
          </a:p>
        </p:txBody>
      </p:sp>
    </p:spTree>
    <p:extLst>
      <p:ext uri="{BB962C8B-B14F-4D97-AF65-F5344CB8AC3E}">
        <p14:creationId xmlns:p14="http://schemas.microsoft.com/office/powerpoint/2010/main" val="2479601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Árvore AVL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Adelson-</a:t>
            </a:r>
            <a:r>
              <a:rPr lang="pt-BR" dirty="0" err="1"/>
              <a:t>Velskii</a:t>
            </a:r>
            <a:r>
              <a:rPr lang="pt-BR" dirty="0"/>
              <a:t> e Landis (1962)</a:t>
            </a:r>
          </a:p>
          <a:p>
            <a:r>
              <a:rPr lang="pt-BR" dirty="0"/>
              <a:t>Heurística : a altura das sub árvores esquerda e direita de qualquer nó pode ser diferente em apenas uma unidade.</a:t>
            </a:r>
          </a:p>
          <a:p>
            <a:endParaRPr lang="pt-BR" dirty="0"/>
          </a:p>
          <a:p>
            <a:r>
              <a:rPr lang="pt-BR" dirty="0"/>
              <a:t>Árvores AVL: </a:t>
            </a:r>
          </a:p>
          <a:p>
            <a:endParaRPr lang="pt-BR" dirty="0"/>
          </a:p>
          <a:p>
            <a:r>
              <a:rPr lang="pt-BR" dirty="0"/>
              <a:t>Árvores não AVL: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010" y="3933056"/>
            <a:ext cx="44672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519" y="5373217"/>
            <a:ext cx="3724275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844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AVL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Objetivo:</a:t>
            </a:r>
          </a:p>
          <a:p>
            <a:pPr lvl="1"/>
            <a:r>
              <a:rPr lang="pt-BR" dirty="0"/>
              <a:t>Transformar uma árvore binária em outra preservando o balanceamento.</a:t>
            </a:r>
          </a:p>
          <a:p>
            <a:pPr lvl="1"/>
            <a:endParaRPr lang="pt-BR" dirty="0"/>
          </a:p>
          <a:p>
            <a:r>
              <a:rPr lang="pt-BR" dirty="0"/>
              <a:t>Os algoritmos de balanceamento de árvore são chamados algoritmos AVL e as árvores são chamadas árvores AVL.</a:t>
            </a:r>
          </a:p>
        </p:txBody>
      </p:sp>
    </p:spTree>
    <p:extLst>
      <p:ext uri="{BB962C8B-B14F-4D97-AF65-F5344CB8AC3E}">
        <p14:creationId xmlns:p14="http://schemas.microsoft.com/office/powerpoint/2010/main" val="2817024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Inserção na AVL:</a:t>
            </a:r>
          </a:p>
          <a:p>
            <a:pPr lvl="1"/>
            <a:r>
              <a:rPr lang="pt-BR" dirty="0"/>
              <a:t>Apenas os nós que estão no caminho entre a raiz e o nó recém inserido são afetados.</a:t>
            </a:r>
          </a:p>
          <a:p>
            <a:pPr lvl="1"/>
            <a:endParaRPr lang="pt-BR" dirty="0"/>
          </a:p>
          <a:p>
            <a:r>
              <a:rPr lang="pt-BR" dirty="0"/>
              <a:t>Caso 1: A altura da sub árvore de raiz 4 difere de mais de 1 unidade da de chave 7.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531514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495046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5257774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53105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49411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6907848" y="5381115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6937025" y="5376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4" name="Conector reto 13"/>
          <p:cNvCxnSpPr>
            <a:stCxn id="5" idx="5"/>
            <a:endCxn id="9" idx="1"/>
          </p:cNvCxnSpPr>
          <p:nvPr/>
        </p:nvCxnSpPr>
        <p:spPr>
          <a:xfrm>
            <a:off x="6570483" y="5257774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4799856" y="568287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24" idx="6"/>
          </p:cNvCxnSpPr>
          <p:nvPr/>
        </p:nvCxnSpPr>
        <p:spPr>
          <a:xfrm flipV="1">
            <a:off x="5159896" y="5625501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4829033" y="56782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7" name="Elipse 26"/>
          <p:cNvSpPr/>
          <p:nvPr/>
        </p:nvSpPr>
        <p:spPr>
          <a:xfrm>
            <a:off x="6156875" y="574884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6186052" y="57441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29" name="Conector reto 28"/>
          <p:cNvCxnSpPr>
            <a:endCxn id="27" idx="1"/>
          </p:cNvCxnSpPr>
          <p:nvPr/>
        </p:nvCxnSpPr>
        <p:spPr>
          <a:xfrm>
            <a:off x="5910870" y="5625501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5521652" y="618241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5550829" y="61777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33" name="Conector reto 32"/>
          <p:cNvCxnSpPr>
            <a:stCxn id="24" idx="5"/>
            <a:endCxn id="31" idx="1"/>
          </p:cNvCxnSpPr>
          <p:nvPr/>
        </p:nvCxnSpPr>
        <p:spPr>
          <a:xfrm>
            <a:off x="5107169" y="5990187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027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1.1: Lado esquerdo desbalanceado:</a:t>
            </a:r>
          </a:p>
          <a:p>
            <a:pPr lvl="1"/>
            <a:r>
              <a:rPr lang="pt-BR" dirty="0"/>
              <a:t>Rotação simples para a direita.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013" y="3645024"/>
            <a:ext cx="437197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9637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1.1: Lado esquerdo desbalanceado:</a:t>
            </a:r>
          </a:p>
          <a:p>
            <a:pPr lvl="1"/>
            <a:r>
              <a:rPr lang="pt-BR" dirty="0"/>
              <a:t>Rotação simples para a direita.</a:t>
            </a:r>
          </a:p>
        </p:txBody>
      </p:sp>
      <p:sp>
        <p:nvSpPr>
          <p:cNvPr id="4" name="Elipse 3"/>
          <p:cNvSpPr/>
          <p:nvPr/>
        </p:nvSpPr>
        <p:spPr>
          <a:xfrm>
            <a:off x="2929596" y="397055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641937" y="360586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3289636" y="391318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2958773" y="3965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671114" y="3596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4286615" y="403652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315792" y="40318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3949250" y="391318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2178623" y="43382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2538663" y="428090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2207800" y="43336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3535642" y="44042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564819" y="43996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3289637" y="4280909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900419" y="483782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929596" y="48331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20" name="Conector reto 19"/>
          <p:cNvCxnSpPr>
            <a:stCxn id="12" idx="5"/>
            <a:endCxn id="18" idx="1"/>
          </p:cNvCxnSpPr>
          <p:nvPr/>
        </p:nvCxnSpPr>
        <p:spPr>
          <a:xfrm>
            <a:off x="2485936" y="4645595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/>
          <p:cNvSpPr txBox="1"/>
          <p:nvPr/>
        </p:nvSpPr>
        <p:spPr>
          <a:xfrm>
            <a:off x="2178623" y="5555960"/>
            <a:ext cx="378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1: Seja Y (4) o </a:t>
            </a:r>
            <a:r>
              <a:rPr lang="pt-BR" dirty="0" err="1"/>
              <a:t>ﬁlho</a:t>
            </a:r>
            <a:r>
              <a:rPr lang="pt-BR" dirty="0"/>
              <a:t> à esquerda de X (6)</a:t>
            </a:r>
          </a:p>
        </p:txBody>
      </p:sp>
    </p:spTree>
    <p:extLst>
      <p:ext uri="{BB962C8B-B14F-4D97-AF65-F5344CB8AC3E}">
        <p14:creationId xmlns:p14="http://schemas.microsoft.com/office/powerpoint/2010/main" val="356660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1.1: Lado esquerdo desbalanceado:</a:t>
            </a:r>
          </a:p>
          <a:p>
            <a:pPr lvl="1"/>
            <a:r>
              <a:rPr lang="pt-BR" dirty="0"/>
              <a:t>Rotação simples para a direita.</a:t>
            </a:r>
          </a:p>
        </p:txBody>
      </p:sp>
      <p:sp>
        <p:nvSpPr>
          <p:cNvPr id="4" name="Elipse 3"/>
          <p:cNvSpPr/>
          <p:nvPr/>
        </p:nvSpPr>
        <p:spPr>
          <a:xfrm>
            <a:off x="2929596" y="397055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641937" y="360586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3289636" y="391318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2958773" y="3965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671114" y="3596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4286615" y="403652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315792" y="40318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3949250" y="391318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2178623" y="43382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2538663" y="428090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2207800" y="43336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3535642" y="44042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564819" y="43996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3289637" y="4280909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900419" y="483782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929596" y="48331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20" name="Conector reto 19"/>
          <p:cNvCxnSpPr>
            <a:stCxn id="12" idx="5"/>
            <a:endCxn id="18" idx="1"/>
          </p:cNvCxnSpPr>
          <p:nvPr/>
        </p:nvCxnSpPr>
        <p:spPr>
          <a:xfrm>
            <a:off x="2485936" y="4645595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5317241" y="40232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/>
          <p:cNvSpPr/>
          <p:nvPr/>
        </p:nvSpPr>
        <p:spPr>
          <a:xfrm>
            <a:off x="6029582" y="3658595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1" idx="6"/>
            <a:endCxn id="22" idx="3"/>
          </p:cNvCxnSpPr>
          <p:nvPr/>
        </p:nvCxnSpPr>
        <p:spPr>
          <a:xfrm flipV="1">
            <a:off x="5677281" y="396590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346418" y="40186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058759" y="36493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6" name="Elipse 25"/>
          <p:cNvSpPr/>
          <p:nvPr/>
        </p:nvSpPr>
        <p:spPr>
          <a:xfrm>
            <a:off x="6674260" y="40892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/>
          <p:cNvSpPr txBox="1"/>
          <p:nvPr/>
        </p:nvSpPr>
        <p:spPr>
          <a:xfrm>
            <a:off x="6703437" y="40846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8" name="Conector reto 27"/>
          <p:cNvCxnSpPr>
            <a:stCxn id="22" idx="5"/>
            <a:endCxn id="26" idx="1"/>
          </p:cNvCxnSpPr>
          <p:nvPr/>
        </p:nvCxnSpPr>
        <p:spPr>
          <a:xfrm>
            <a:off x="6336895" y="3965909"/>
            <a:ext cx="390092" cy="1760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5746555" y="464628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5775732" y="4641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31" name="Conector reto 30"/>
          <p:cNvCxnSpPr>
            <a:stCxn id="21" idx="5"/>
            <a:endCxn id="29" idx="1"/>
          </p:cNvCxnSpPr>
          <p:nvPr/>
        </p:nvCxnSpPr>
        <p:spPr>
          <a:xfrm>
            <a:off x="5624554" y="4330594"/>
            <a:ext cx="174728" cy="368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7419606" y="458427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/>
          <p:cNvSpPr txBox="1"/>
          <p:nvPr/>
        </p:nvSpPr>
        <p:spPr>
          <a:xfrm>
            <a:off x="7448783" y="45796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34" name="Conector reto 33"/>
          <p:cNvCxnSpPr>
            <a:endCxn id="32" idx="1"/>
          </p:cNvCxnSpPr>
          <p:nvPr/>
        </p:nvCxnSpPr>
        <p:spPr>
          <a:xfrm>
            <a:off x="7005123" y="4392045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/>
          <p:nvPr/>
        </p:nvSpPr>
        <p:spPr>
          <a:xfrm>
            <a:off x="6312024" y="464164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/>
          <p:cNvSpPr txBox="1"/>
          <p:nvPr/>
        </p:nvSpPr>
        <p:spPr>
          <a:xfrm>
            <a:off x="6341201" y="46369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2178623" y="5555960"/>
            <a:ext cx="37898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1: Seja Y (4) o </a:t>
            </a:r>
            <a:r>
              <a:rPr lang="pt-BR" dirty="0" err="1"/>
              <a:t>ﬁlho</a:t>
            </a:r>
            <a:r>
              <a:rPr lang="pt-BR" dirty="0"/>
              <a:t> à esquerda de X (6)</a:t>
            </a:r>
          </a:p>
          <a:p>
            <a:r>
              <a:rPr lang="pt-BR" dirty="0"/>
              <a:t>2: Torne X (6) o </a:t>
            </a:r>
            <a:r>
              <a:rPr lang="pt-BR" dirty="0" err="1"/>
              <a:t>ﬁlho</a:t>
            </a:r>
            <a:r>
              <a:rPr lang="pt-BR" dirty="0"/>
              <a:t> à direita de Y (4)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0846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1.1: Lado esquerdo desbalanceado:</a:t>
            </a:r>
          </a:p>
          <a:p>
            <a:pPr lvl="1"/>
            <a:r>
              <a:rPr lang="pt-BR" dirty="0"/>
              <a:t>Rotação simples para a direita.</a:t>
            </a:r>
          </a:p>
        </p:txBody>
      </p:sp>
      <p:sp>
        <p:nvSpPr>
          <p:cNvPr id="4" name="Elipse 3"/>
          <p:cNvSpPr/>
          <p:nvPr/>
        </p:nvSpPr>
        <p:spPr>
          <a:xfrm>
            <a:off x="2929596" y="3970554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641937" y="360586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3289636" y="391318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2958773" y="3965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671114" y="3596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4286615" y="403652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315792" y="40318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3949250" y="391318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2178623" y="43382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2538663" y="428090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2207800" y="43336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3535642" y="44042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564819" y="43996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3289637" y="4280909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900419" y="483782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929596" y="48331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20" name="Conector reto 19"/>
          <p:cNvCxnSpPr>
            <a:stCxn id="12" idx="5"/>
            <a:endCxn id="18" idx="1"/>
          </p:cNvCxnSpPr>
          <p:nvPr/>
        </p:nvCxnSpPr>
        <p:spPr>
          <a:xfrm>
            <a:off x="2485936" y="4645595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5317241" y="40232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/>
          <p:cNvSpPr/>
          <p:nvPr/>
        </p:nvSpPr>
        <p:spPr>
          <a:xfrm>
            <a:off x="6029582" y="3658595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1" idx="6"/>
            <a:endCxn id="22" idx="3"/>
          </p:cNvCxnSpPr>
          <p:nvPr/>
        </p:nvCxnSpPr>
        <p:spPr>
          <a:xfrm flipV="1">
            <a:off x="5677281" y="396590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346418" y="40186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6058759" y="36493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6" name="Elipse 25"/>
          <p:cNvSpPr/>
          <p:nvPr/>
        </p:nvSpPr>
        <p:spPr>
          <a:xfrm>
            <a:off x="6674260" y="40892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/>
          <p:cNvSpPr txBox="1"/>
          <p:nvPr/>
        </p:nvSpPr>
        <p:spPr>
          <a:xfrm>
            <a:off x="6703437" y="40846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8" name="Conector reto 27"/>
          <p:cNvCxnSpPr>
            <a:stCxn id="22" idx="5"/>
            <a:endCxn id="26" idx="1"/>
          </p:cNvCxnSpPr>
          <p:nvPr/>
        </p:nvCxnSpPr>
        <p:spPr>
          <a:xfrm>
            <a:off x="6336895" y="3965909"/>
            <a:ext cx="390092" cy="1760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5746555" y="464628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5775732" y="4641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31" name="Conector reto 30"/>
          <p:cNvCxnSpPr>
            <a:stCxn id="21" idx="5"/>
            <a:endCxn id="29" idx="1"/>
          </p:cNvCxnSpPr>
          <p:nvPr/>
        </p:nvCxnSpPr>
        <p:spPr>
          <a:xfrm>
            <a:off x="5624554" y="4330594"/>
            <a:ext cx="174728" cy="368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/>
          <p:cNvSpPr/>
          <p:nvPr/>
        </p:nvSpPr>
        <p:spPr>
          <a:xfrm>
            <a:off x="7419606" y="458427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/>
          <p:cNvSpPr txBox="1"/>
          <p:nvPr/>
        </p:nvSpPr>
        <p:spPr>
          <a:xfrm>
            <a:off x="7448783" y="45796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34" name="Conector reto 33"/>
          <p:cNvCxnSpPr>
            <a:endCxn id="32" idx="1"/>
          </p:cNvCxnSpPr>
          <p:nvPr/>
        </p:nvCxnSpPr>
        <p:spPr>
          <a:xfrm>
            <a:off x="7005123" y="4392045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/>
          <p:nvPr/>
        </p:nvSpPr>
        <p:spPr>
          <a:xfrm>
            <a:off x="6312024" y="464164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/>
          <p:cNvSpPr txBox="1"/>
          <p:nvPr/>
        </p:nvSpPr>
        <p:spPr>
          <a:xfrm>
            <a:off x="6341201" y="46369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7" name="Elipse 36"/>
          <p:cNvSpPr/>
          <p:nvPr/>
        </p:nvSpPr>
        <p:spPr>
          <a:xfrm>
            <a:off x="8090786" y="402548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8803127" y="3660796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reto 38"/>
          <p:cNvCxnSpPr>
            <a:stCxn id="37" idx="6"/>
            <a:endCxn id="38" idx="3"/>
          </p:cNvCxnSpPr>
          <p:nvPr/>
        </p:nvCxnSpPr>
        <p:spPr>
          <a:xfrm flipV="1">
            <a:off x="8450826" y="3968110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8119963" y="40208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8832304" y="36515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42" name="Elipse 41"/>
          <p:cNvSpPr/>
          <p:nvPr/>
        </p:nvSpPr>
        <p:spPr>
          <a:xfrm>
            <a:off x="9447805" y="409145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/>
          <p:cNvSpPr txBox="1"/>
          <p:nvPr/>
        </p:nvSpPr>
        <p:spPr>
          <a:xfrm>
            <a:off x="9476982" y="40868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44" name="Conector reto 43"/>
          <p:cNvCxnSpPr>
            <a:stCxn id="38" idx="5"/>
            <a:endCxn id="42" idx="1"/>
          </p:cNvCxnSpPr>
          <p:nvPr/>
        </p:nvCxnSpPr>
        <p:spPr>
          <a:xfrm>
            <a:off x="9110440" y="3968110"/>
            <a:ext cx="390092" cy="176069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8520100" y="464849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/>
          <p:cNvSpPr txBox="1"/>
          <p:nvPr/>
        </p:nvSpPr>
        <p:spPr>
          <a:xfrm>
            <a:off x="8549277" y="46438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cxnSp>
        <p:nvCxnSpPr>
          <p:cNvPr id="47" name="Conector reto 46"/>
          <p:cNvCxnSpPr>
            <a:stCxn id="37" idx="5"/>
            <a:endCxn id="45" idx="1"/>
          </p:cNvCxnSpPr>
          <p:nvPr/>
        </p:nvCxnSpPr>
        <p:spPr>
          <a:xfrm>
            <a:off x="8398099" y="4332795"/>
            <a:ext cx="174728" cy="368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10193151" y="458647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aixaDeTexto 48"/>
          <p:cNvSpPr txBox="1"/>
          <p:nvPr/>
        </p:nvSpPr>
        <p:spPr>
          <a:xfrm>
            <a:off x="10222328" y="458182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50" name="Conector reto 49"/>
          <p:cNvCxnSpPr>
            <a:endCxn id="48" idx="1"/>
          </p:cNvCxnSpPr>
          <p:nvPr/>
        </p:nvCxnSpPr>
        <p:spPr>
          <a:xfrm>
            <a:off x="9778668" y="4394246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/>
          <p:cNvSpPr/>
          <p:nvPr/>
        </p:nvSpPr>
        <p:spPr>
          <a:xfrm>
            <a:off x="9085569" y="464384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/>
          <p:cNvSpPr txBox="1"/>
          <p:nvPr/>
        </p:nvSpPr>
        <p:spPr>
          <a:xfrm>
            <a:off x="9114746" y="46391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54" name="Conector reto 53"/>
          <p:cNvCxnSpPr>
            <a:stCxn id="42" idx="3"/>
            <a:endCxn id="51" idx="7"/>
          </p:cNvCxnSpPr>
          <p:nvPr/>
        </p:nvCxnSpPr>
        <p:spPr>
          <a:xfrm flipH="1">
            <a:off x="9392882" y="4398765"/>
            <a:ext cx="107650" cy="2978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8700120" y="5291916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Balanceada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2178624" y="5555961"/>
            <a:ext cx="58666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1: Seja Y (4) o </a:t>
            </a:r>
            <a:r>
              <a:rPr lang="pt-BR" dirty="0" err="1"/>
              <a:t>ﬁlho</a:t>
            </a:r>
            <a:r>
              <a:rPr lang="pt-BR" dirty="0"/>
              <a:t> à esquerda de X (6)</a:t>
            </a:r>
          </a:p>
          <a:p>
            <a:r>
              <a:rPr lang="pt-BR" dirty="0"/>
              <a:t>2: Torne X (6) o </a:t>
            </a:r>
            <a:r>
              <a:rPr lang="pt-BR" dirty="0" err="1"/>
              <a:t>ﬁlho</a:t>
            </a:r>
            <a:r>
              <a:rPr lang="pt-BR" dirty="0"/>
              <a:t> à direita de Y (4)</a:t>
            </a:r>
          </a:p>
          <a:p>
            <a:r>
              <a:rPr lang="pt-BR" dirty="0"/>
              <a:t>3: Torne o </a:t>
            </a:r>
            <a:r>
              <a:rPr lang="pt-BR" dirty="0" err="1"/>
              <a:t>ﬁlho</a:t>
            </a:r>
            <a:r>
              <a:rPr lang="pt-BR" dirty="0"/>
              <a:t> à direita de Y (4) o </a:t>
            </a:r>
            <a:r>
              <a:rPr lang="pt-BR" dirty="0" err="1"/>
              <a:t>ﬁlho</a:t>
            </a:r>
            <a:r>
              <a:rPr lang="pt-BR" dirty="0"/>
              <a:t> à esquerda de X (6).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4525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1.2: Lado direito desbalanceado:</a:t>
            </a:r>
          </a:p>
          <a:p>
            <a:pPr lvl="1"/>
            <a:r>
              <a:rPr lang="pt-BR" dirty="0"/>
              <a:t>Rotação simples para a esquerda.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8" y="3573017"/>
            <a:ext cx="4162425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4630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1.2: Lado direito desbalanceado:</a:t>
            </a:r>
          </a:p>
          <a:p>
            <a:pPr lvl="1"/>
            <a:r>
              <a:rPr lang="pt-BR" dirty="0"/>
              <a:t>Rotação simples para a esquerda.</a:t>
            </a:r>
          </a:p>
        </p:txBody>
      </p:sp>
      <p:sp>
        <p:nvSpPr>
          <p:cNvPr id="4" name="Elipse 3"/>
          <p:cNvSpPr/>
          <p:nvPr/>
        </p:nvSpPr>
        <p:spPr>
          <a:xfrm>
            <a:off x="2958541" y="321762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584100" y="46624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298771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613277" y="46531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9" name="Elipse 8"/>
          <p:cNvSpPr/>
          <p:nvPr/>
        </p:nvSpPr>
        <p:spPr>
          <a:xfrm>
            <a:off x="4079776" y="409529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108953" y="40906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cxnSp>
        <p:nvCxnSpPr>
          <p:cNvPr id="11" name="Conector reto 10"/>
          <p:cNvCxnSpPr/>
          <p:nvPr/>
        </p:nvCxnSpPr>
        <p:spPr>
          <a:xfrm>
            <a:off x="3914963" y="3933056"/>
            <a:ext cx="220394" cy="207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2207568" y="358534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2567608" y="3527977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2236745" y="35807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5" name="Elipse 14"/>
          <p:cNvSpPr/>
          <p:nvPr/>
        </p:nvSpPr>
        <p:spPr>
          <a:xfrm>
            <a:off x="3564587" y="365131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593764" y="36466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3318582" y="3527977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929364" y="408488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958541" y="40802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0" name="Conector reto 19"/>
          <p:cNvCxnSpPr>
            <a:endCxn id="18" idx="6"/>
          </p:cNvCxnSpPr>
          <p:nvPr/>
        </p:nvCxnSpPr>
        <p:spPr>
          <a:xfrm flipH="1">
            <a:off x="3289405" y="3950036"/>
            <a:ext cx="304361" cy="314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9" idx="3"/>
            <a:endCxn id="5" idx="7"/>
          </p:cNvCxnSpPr>
          <p:nvPr/>
        </p:nvCxnSpPr>
        <p:spPr>
          <a:xfrm flipH="1">
            <a:off x="3891413" y="4402613"/>
            <a:ext cx="241090" cy="312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2178624" y="5555961"/>
            <a:ext cx="352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1: Seja Y (7) o </a:t>
            </a:r>
            <a:r>
              <a:rPr lang="pt-BR" dirty="0" err="1"/>
              <a:t>ﬁlho</a:t>
            </a:r>
            <a:r>
              <a:rPr lang="pt-BR" dirty="0"/>
              <a:t> à direita de X (5)</a:t>
            </a:r>
          </a:p>
        </p:txBody>
      </p:sp>
    </p:spTree>
    <p:extLst>
      <p:ext uri="{BB962C8B-B14F-4D97-AF65-F5344CB8AC3E}">
        <p14:creationId xmlns:p14="http://schemas.microsoft.com/office/powerpoint/2010/main" val="3952749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1.2: Lado direito desbalanceado:</a:t>
            </a:r>
          </a:p>
          <a:p>
            <a:pPr lvl="1"/>
            <a:r>
              <a:rPr lang="pt-BR" dirty="0"/>
              <a:t>Rotação simples para a esquerda.</a:t>
            </a:r>
          </a:p>
        </p:txBody>
      </p:sp>
      <p:sp>
        <p:nvSpPr>
          <p:cNvPr id="4" name="Elipse 3"/>
          <p:cNvSpPr/>
          <p:nvPr/>
        </p:nvSpPr>
        <p:spPr>
          <a:xfrm>
            <a:off x="2958541" y="321762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584100" y="46624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298771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613277" y="46531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9" name="Elipse 8"/>
          <p:cNvSpPr/>
          <p:nvPr/>
        </p:nvSpPr>
        <p:spPr>
          <a:xfrm>
            <a:off x="4079776" y="409529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108953" y="40906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cxnSp>
        <p:nvCxnSpPr>
          <p:cNvPr id="11" name="Conector reto 10"/>
          <p:cNvCxnSpPr/>
          <p:nvPr/>
        </p:nvCxnSpPr>
        <p:spPr>
          <a:xfrm>
            <a:off x="3914963" y="3933056"/>
            <a:ext cx="220394" cy="207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2207568" y="358534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2567608" y="3527977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2236745" y="35807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5" name="Elipse 14"/>
          <p:cNvSpPr/>
          <p:nvPr/>
        </p:nvSpPr>
        <p:spPr>
          <a:xfrm>
            <a:off x="3564587" y="365131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593764" y="36466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3318582" y="3527977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929364" y="408488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958541" y="40802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0" name="Conector reto 19"/>
          <p:cNvCxnSpPr>
            <a:endCxn id="18" idx="6"/>
          </p:cNvCxnSpPr>
          <p:nvPr/>
        </p:nvCxnSpPr>
        <p:spPr>
          <a:xfrm flipH="1">
            <a:off x="3289405" y="3950036"/>
            <a:ext cx="304361" cy="314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9" idx="3"/>
            <a:endCxn id="5" idx="7"/>
          </p:cNvCxnSpPr>
          <p:nvPr/>
        </p:nvCxnSpPr>
        <p:spPr>
          <a:xfrm flipH="1">
            <a:off x="3891413" y="4402613"/>
            <a:ext cx="241090" cy="312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6198901" y="372167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/>
          <p:cNvSpPr/>
          <p:nvPr/>
        </p:nvSpPr>
        <p:spPr>
          <a:xfrm>
            <a:off x="7012486" y="414690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6228078" y="37170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7041663" y="41376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Elipse 26"/>
          <p:cNvSpPr/>
          <p:nvPr/>
        </p:nvSpPr>
        <p:spPr>
          <a:xfrm>
            <a:off x="7380869" y="372632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7410046" y="37216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cxnSp>
        <p:nvCxnSpPr>
          <p:cNvPr id="29" name="Conector reto 28"/>
          <p:cNvCxnSpPr/>
          <p:nvPr/>
        </p:nvCxnSpPr>
        <p:spPr>
          <a:xfrm>
            <a:off x="7216056" y="3564081"/>
            <a:ext cx="220394" cy="207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/>
          <p:cNvSpPr/>
          <p:nvPr/>
        </p:nvSpPr>
        <p:spPr>
          <a:xfrm>
            <a:off x="5447928" y="4089405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/>
          <p:cNvCxnSpPr>
            <a:stCxn id="30" idx="6"/>
          </p:cNvCxnSpPr>
          <p:nvPr/>
        </p:nvCxnSpPr>
        <p:spPr>
          <a:xfrm flipV="1">
            <a:off x="5807968" y="4032033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5477105" y="40847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3" name="Elipse 32"/>
          <p:cNvSpPr/>
          <p:nvPr/>
        </p:nvSpPr>
        <p:spPr>
          <a:xfrm>
            <a:off x="6857674" y="336163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/>
          <p:cNvSpPr txBox="1"/>
          <p:nvPr/>
        </p:nvSpPr>
        <p:spPr>
          <a:xfrm>
            <a:off x="6886851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35" name="Conector reto 34"/>
          <p:cNvCxnSpPr>
            <a:stCxn id="23" idx="7"/>
            <a:endCxn id="33" idx="2"/>
          </p:cNvCxnSpPr>
          <p:nvPr/>
        </p:nvCxnSpPr>
        <p:spPr>
          <a:xfrm flipV="1">
            <a:off x="6506214" y="3541659"/>
            <a:ext cx="351460" cy="2327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6555988" y="41553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/>
          <p:cNvSpPr txBox="1"/>
          <p:nvPr/>
        </p:nvSpPr>
        <p:spPr>
          <a:xfrm>
            <a:off x="6585165" y="4150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39" name="Conector reto 38"/>
          <p:cNvCxnSpPr>
            <a:stCxn id="27" idx="3"/>
            <a:endCxn id="24" idx="7"/>
          </p:cNvCxnSpPr>
          <p:nvPr/>
        </p:nvCxnSpPr>
        <p:spPr>
          <a:xfrm flipH="1">
            <a:off x="7319800" y="4033637"/>
            <a:ext cx="113797" cy="165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2178624" y="5555961"/>
            <a:ext cx="3934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1: Seja Y (7) o </a:t>
            </a:r>
            <a:r>
              <a:rPr lang="pt-BR" dirty="0" err="1"/>
              <a:t>ﬁlho</a:t>
            </a:r>
            <a:r>
              <a:rPr lang="pt-BR" dirty="0"/>
              <a:t> à direita de X (5)</a:t>
            </a:r>
          </a:p>
          <a:p>
            <a:r>
              <a:rPr lang="pt-BR" dirty="0"/>
              <a:t>2: Torne X (5) o </a:t>
            </a:r>
            <a:r>
              <a:rPr lang="pt-BR" dirty="0" err="1"/>
              <a:t>ﬁlho</a:t>
            </a:r>
            <a:r>
              <a:rPr lang="pt-BR" dirty="0"/>
              <a:t> à esquerda de Y (7)</a:t>
            </a:r>
          </a:p>
        </p:txBody>
      </p:sp>
    </p:spTree>
    <p:extLst>
      <p:ext uri="{BB962C8B-B14F-4D97-AF65-F5344CB8AC3E}">
        <p14:creationId xmlns:p14="http://schemas.microsoft.com/office/powerpoint/2010/main" val="2553392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1.2: Lado direito desbalanceado:</a:t>
            </a:r>
          </a:p>
          <a:p>
            <a:pPr lvl="1"/>
            <a:r>
              <a:rPr lang="pt-BR" dirty="0"/>
              <a:t>Rotação simples para a esquerda.</a:t>
            </a:r>
          </a:p>
        </p:txBody>
      </p:sp>
      <p:sp>
        <p:nvSpPr>
          <p:cNvPr id="4" name="Elipse 3"/>
          <p:cNvSpPr/>
          <p:nvPr/>
        </p:nvSpPr>
        <p:spPr>
          <a:xfrm>
            <a:off x="2958541" y="321762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584100" y="46624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298771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613277" y="46531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9" name="Elipse 8"/>
          <p:cNvSpPr/>
          <p:nvPr/>
        </p:nvSpPr>
        <p:spPr>
          <a:xfrm>
            <a:off x="4079776" y="409529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4108953" y="40906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cxnSp>
        <p:nvCxnSpPr>
          <p:cNvPr id="11" name="Conector reto 10"/>
          <p:cNvCxnSpPr/>
          <p:nvPr/>
        </p:nvCxnSpPr>
        <p:spPr>
          <a:xfrm>
            <a:off x="3914963" y="3933056"/>
            <a:ext cx="220394" cy="207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2207568" y="358534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2567608" y="3527977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2236745" y="358070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5" name="Elipse 14"/>
          <p:cNvSpPr/>
          <p:nvPr/>
        </p:nvSpPr>
        <p:spPr>
          <a:xfrm>
            <a:off x="3564587" y="365131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593764" y="36466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3318582" y="3527977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2929364" y="408488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2958541" y="40802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0" name="Conector reto 19"/>
          <p:cNvCxnSpPr>
            <a:endCxn id="18" idx="6"/>
          </p:cNvCxnSpPr>
          <p:nvPr/>
        </p:nvCxnSpPr>
        <p:spPr>
          <a:xfrm flipH="1">
            <a:off x="3289405" y="3950036"/>
            <a:ext cx="304361" cy="3148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/>
          <p:cNvSpPr txBox="1"/>
          <p:nvPr/>
        </p:nvSpPr>
        <p:spPr>
          <a:xfrm>
            <a:off x="9054492" y="510725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Balanceada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2178624" y="5555961"/>
            <a:ext cx="57496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1: Seja Y (7) o </a:t>
            </a:r>
            <a:r>
              <a:rPr lang="pt-BR" dirty="0" err="1"/>
              <a:t>ﬁlho</a:t>
            </a:r>
            <a:r>
              <a:rPr lang="pt-BR" dirty="0"/>
              <a:t> à direita de X (5)</a:t>
            </a:r>
          </a:p>
          <a:p>
            <a:r>
              <a:rPr lang="pt-BR" dirty="0"/>
              <a:t>2: Torne X (5) o </a:t>
            </a:r>
            <a:r>
              <a:rPr lang="pt-BR" dirty="0" err="1"/>
              <a:t>ﬁlho</a:t>
            </a:r>
            <a:r>
              <a:rPr lang="pt-BR" dirty="0"/>
              <a:t> à esquerda de Y (7)</a:t>
            </a:r>
          </a:p>
          <a:p>
            <a:r>
              <a:rPr lang="pt-BR" dirty="0"/>
              <a:t>3: Torne o </a:t>
            </a:r>
            <a:r>
              <a:rPr lang="pt-BR" dirty="0" err="1"/>
              <a:t>ﬁlho</a:t>
            </a:r>
            <a:r>
              <a:rPr lang="pt-BR" dirty="0"/>
              <a:t> à esquerda de Y (7) o </a:t>
            </a:r>
            <a:r>
              <a:rPr lang="pt-BR" dirty="0" err="1"/>
              <a:t>ﬁlho</a:t>
            </a:r>
            <a:r>
              <a:rPr lang="pt-BR" dirty="0"/>
              <a:t> à direita de X (5).</a:t>
            </a:r>
          </a:p>
          <a:p>
            <a:endParaRPr lang="pt-BR" dirty="0"/>
          </a:p>
        </p:txBody>
      </p:sp>
      <p:cxnSp>
        <p:nvCxnSpPr>
          <p:cNvPr id="64" name="Conector reto 63"/>
          <p:cNvCxnSpPr>
            <a:stCxn id="9" idx="3"/>
            <a:endCxn id="5" idx="7"/>
          </p:cNvCxnSpPr>
          <p:nvPr/>
        </p:nvCxnSpPr>
        <p:spPr>
          <a:xfrm flipH="1">
            <a:off x="3891413" y="4402613"/>
            <a:ext cx="241090" cy="312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6198901" y="372167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/>
          <p:cNvSpPr/>
          <p:nvPr/>
        </p:nvSpPr>
        <p:spPr>
          <a:xfrm>
            <a:off x="7012486" y="414690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6228078" y="37170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7041663" y="41376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27" name="Elipse 26"/>
          <p:cNvSpPr/>
          <p:nvPr/>
        </p:nvSpPr>
        <p:spPr>
          <a:xfrm>
            <a:off x="7380869" y="372632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7410046" y="37216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cxnSp>
        <p:nvCxnSpPr>
          <p:cNvPr id="29" name="Conector reto 28"/>
          <p:cNvCxnSpPr/>
          <p:nvPr/>
        </p:nvCxnSpPr>
        <p:spPr>
          <a:xfrm>
            <a:off x="7216056" y="3564081"/>
            <a:ext cx="220394" cy="207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/>
          <p:cNvSpPr/>
          <p:nvPr/>
        </p:nvSpPr>
        <p:spPr>
          <a:xfrm>
            <a:off x="5447928" y="4089405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/>
          <p:cNvCxnSpPr>
            <a:stCxn id="30" idx="6"/>
          </p:cNvCxnSpPr>
          <p:nvPr/>
        </p:nvCxnSpPr>
        <p:spPr>
          <a:xfrm flipV="1">
            <a:off x="5807968" y="4032033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5477105" y="40847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3" name="Elipse 32"/>
          <p:cNvSpPr/>
          <p:nvPr/>
        </p:nvSpPr>
        <p:spPr>
          <a:xfrm>
            <a:off x="6857674" y="336163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/>
          <p:cNvSpPr txBox="1"/>
          <p:nvPr/>
        </p:nvSpPr>
        <p:spPr>
          <a:xfrm>
            <a:off x="6886851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35" name="Conector reto 34"/>
          <p:cNvCxnSpPr>
            <a:stCxn id="23" idx="7"/>
            <a:endCxn id="33" idx="2"/>
          </p:cNvCxnSpPr>
          <p:nvPr/>
        </p:nvCxnSpPr>
        <p:spPr>
          <a:xfrm flipV="1">
            <a:off x="6506214" y="3541659"/>
            <a:ext cx="351460" cy="2327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/>
          <p:cNvSpPr/>
          <p:nvPr/>
        </p:nvSpPr>
        <p:spPr>
          <a:xfrm>
            <a:off x="6555988" y="41553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/>
          <p:cNvSpPr txBox="1"/>
          <p:nvPr/>
        </p:nvSpPr>
        <p:spPr>
          <a:xfrm>
            <a:off x="6585165" y="4150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39" name="Conector reto 38"/>
          <p:cNvCxnSpPr>
            <a:stCxn id="27" idx="3"/>
            <a:endCxn id="24" idx="7"/>
          </p:cNvCxnSpPr>
          <p:nvPr/>
        </p:nvCxnSpPr>
        <p:spPr>
          <a:xfrm flipH="1">
            <a:off x="7319800" y="4033637"/>
            <a:ext cx="113797" cy="165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8874472" y="372167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9688057" y="414690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/>
          <p:cNvSpPr txBox="1"/>
          <p:nvPr/>
        </p:nvSpPr>
        <p:spPr>
          <a:xfrm>
            <a:off x="8903649" y="37170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9717234" y="41376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44" name="Elipse 43"/>
          <p:cNvSpPr/>
          <p:nvPr/>
        </p:nvSpPr>
        <p:spPr>
          <a:xfrm>
            <a:off x="10056440" y="372632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/>
          <p:cNvSpPr txBox="1"/>
          <p:nvPr/>
        </p:nvSpPr>
        <p:spPr>
          <a:xfrm>
            <a:off x="10085617" y="37216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cxnSp>
        <p:nvCxnSpPr>
          <p:cNvPr id="46" name="Conector reto 45"/>
          <p:cNvCxnSpPr/>
          <p:nvPr/>
        </p:nvCxnSpPr>
        <p:spPr>
          <a:xfrm>
            <a:off x="9891627" y="3564081"/>
            <a:ext cx="220394" cy="207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/>
          <p:cNvSpPr/>
          <p:nvPr/>
        </p:nvSpPr>
        <p:spPr>
          <a:xfrm>
            <a:off x="8123499" y="4089405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/>
          <p:cNvCxnSpPr>
            <a:stCxn id="47" idx="6"/>
          </p:cNvCxnSpPr>
          <p:nvPr/>
        </p:nvCxnSpPr>
        <p:spPr>
          <a:xfrm flipV="1">
            <a:off x="8483539" y="4032033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/>
          <p:cNvSpPr txBox="1"/>
          <p:nvPr/>
        </p:nvSpPr>
        <p:spPr>
          <a:xfrm>
            <a:off x="8152676" y="40847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9533245" y="336163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CaixaDeTexto 50"/>
          <p:cNvSpPr txBox="1"/>
          <p:nvPr/>
        </p:nvSpPr>
        <p:spPr>
          <a:xfrm>
            <a:off x="9562422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52" name="Conector reto 51"/>
          <p:cNvCxnSpPr>
            <a:stCxn id="40" idx="7"/>
            <a:endCxn id="50" idx="2"/>
          </p:cNvCxnSpPr>
          <p:nvPr/>
        </p:nvCxnSpPr>
        <p:spPr>
          <a:xfrm flipV="1">
            <a:off x="9181785" y="3541659"/>
            <a:ext cx="351460" cy="232747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Elipse 53"/>
          <p:cNvSpPr/>
          <p:nvPr/>
        </p:nvSpPr>
        <p:spPr>
          <a:xfrm>
            <a:off x="9231559" y="41553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/>
          <p:cNvSpPr txBox="1"/>
          <p:nvPr/>
        </p:nvSpPr>
        <p:spPr>
          <a:xfrm>
            <a:off x="9260736" y="4150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57" name="Conector reto 56"/>
          <p:cNvCxnSpPr>
            <a:stCxn id="44" idx="3"/>
            <a:endCxn id="41" idx="7"/>
          </p:cNvCxnSpPr>
          <p:nvPr/>
        </p:nvCxnSpPr>
        <p:spPr>
          <a:xfrm flipH="1">
            <a:off x="9995371" y="4033637"/>
            <a:ext cx="113797" cy="165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54" idx="1"/>
            <a:endCxn id="40" idx="5"/>
          </p:cNvCxnSpPr>
          <p:nvPr/>
        </p:nvCxnSpPr>
        <p:spPr>
          <a:xfrm flipH="1" flipV="1">
            <a:off x="9181786" y="4028991"/>
            <a:ext cx="102501" cy="1791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779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2: Lado esquerdo desbalanceado. Se um nó estiver desbalanceado e seu </a:t>
            </a:r>
            <a:r>
              <a:rPr lang="pt-BR" dirty="0" err="1"/>
              <a:t>ﬁlho</a:t>
            </a:r>
            <a:r>
              <a:rPr lang="pt-BR" dirty="0"/>
              <a:t> estiver inclinado no sentido inverso ao pai:</a:t>
            </a:r>
          </a:p>
          <a:p>
            <a:pPr lvl="1"/>
            <a:r>
              <a:rPr lang="pt-BR" dirty="0"/>
              <a:t>Rotação dupla para a direita.</a:t>
            </a:r>
          </a:p>
          <a:p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3" y="4077072"/>
            <a:ext cx="4962525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0074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340768"/>
            <a:ext cx="8229600" cy="2188840"/>
          </a:xfrm>
        </p:spPr>
        <p:txBody>
          <a:bodyPr>
            <a:normAutofit/>
          </a:bodyPr>
          <a:lstStyle/>
          <a:p>
            <a:r>
              <a:rPr lang="pt-BR" sz="2400" dirty="0"/>
              <a:t>Caso 2.1: Lado esquerdo desbalanceado. Se um nó estiver desbalanceado (nó 3) e seu </a:t>
            </a:r>
            <a:r>
              <a:rPr lang="pt-BR" sz="2400" dirty="0" err="1"/>
              <a:t>ﬁlho</a:t>
            </a:r>
            <a:r>
              <a:rPr lang="pt-BR" sz="2400" dirty="0"/>
              <a:t> (nó 5) estiver inclinado no sentido inverso ao pai:</a:t>
            </a:r>
          </a:p>
          <a:p>
            <a:pPr lvl="1"/>
            <a:r>
              <a:rPr lang="pt-BR" sz="2000" dirty="0"/>
              <a:t>Rotação dupla para a direita.</a:t>
            </a:r>
          </a:p>
        </p:txBody>
      </p:sp>
      <p:sp>
        <p:nvSpPr>
          <p:cNvPr id="5" name="Elipse 4"/>
          <p:cNvSpPr/>
          <p:nvPr/>
        </p:nvSpPr>
        <p:spPr>
          <a:xfrm>
            <a:off x="2454485" y="35844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000529" y="314918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5" idx="6"/>
            <a:endCxn id="6" idx="3"/>
          </p:cNvCxnSpPr>
          <p:nvPr/>
        </p:nvCxnSpPr>
        <p:spPr>
          <a:xfrm flipV="1">
            <a:off x="2814526" y="3456493"/>
            <a:ext cx="1238731" cy="30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483662" y="3579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029706" y="31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" name="Elipse 9"/>
          <p:cNvSpPr/>
          <p:nvPr/>
        </p:nvSpPr>
        <p:spPr>
          <a:xfrm>
            <a:off x="5326827" y="35905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5356004" y="35858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cxnSp>
        <p:nvCxnSpPr>
          <p:cNvPr id="12" name="Conector reto 11"/>
          <p:cNvCxnSpPr>
            <a:stCxn id="6" idx="5"/>
            <a:endCxn id="10" idx="1"/>
          </p:cNvCxnSpPr>
          <p:nvPr/>
        </p:nvCxnSpPr>
        <p:spPr>
          <a:xfrm>
            <a:off x="4307842" y="3456493"/>
            <a:ext cx="1071712" cy="186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1703512" y="395220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13" idx="6"/>
          </p:cNvCxnSpPr>
          <p:nvPr/>
        </p:nvCxnSpPr>
        <p:spPr>
          <a:xfrm flipV="1">
            <a:off x="2063552" y="3894836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732689" y="39475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6" name="Elipse 15"/>
          <p:cNvSpPr/>
          <p:nvPr/>
        </p:nvSpPr>
        <p:spPr>
          <a:xfrm>
            <a:off x="3060531" y="4018177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3089708" y="40135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8" name="Conector reto 17"/>
          <p:cNvCxnSpPr>
            <a:endCxn id="16" idx="1"/>
          </p:cNvCxnSpPr>
          <p:nvPr/>
        </p:nvCxnSpPr>
        <p:spPr>
          <a:xfrm>
            <a:off x="2814526" y="3894836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3805877" y="45044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3835054" y="4499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1" name="Conector reto 20"/>
          <p:cNvCxnSpPr>
            <a:endCxn id="19" idx="1"/>
          </p:cNvCxnSpPr>
          <p:nvPr/>
        </p:nvCxnSpPr>
        <p:spPr>
          <a:xfrm>
            <a:off x="3391394" y="4312249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2356354" y="440797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5" idx="6"/>
          </p:cNvCxnSpPr>
          <p:nvPr/>
        </p:nvCxnSpPr>
        <p:spPr>
          <a:xfrm flipV="1">
            <a:off x="2716394" y="4350598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385531" y="4403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2567609" y="6093297"/>
            <a:ext cx="3068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Rotação simples à esquerda, e </a:t>
            </a:r>
          </a:p>
          <a:p>
            <a:r>
              <a:rPr lang="pt-BR" dirty="0"/>
              <a:t>Rotação simples à Direita.</a:t>
            </a:r>
          </a:p>
        </p:txBody>
      </p:sp>
    </p:spTree>
    <p:extLst>
      <p:ext uri="{BB962C8B-B14F-4D97-AF65-F5344CB8AC3E}">
        <p14:creationId xmlns:p14="http://schemas.microsoft.com/office/powerpoint/2010/main" val="2429312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340768"/>
            <a:ext cx="8229600" cy="2188840"/>
          </a:xfrm>
        </p:spPr>
        <p:txBody>
          <a:bodyPr>
            <a:normAutofit/>
          </a:bodyPr>
          <a:lstStyle/>
          <a:p>
            <a:r>
              <a:rPr lang="pt-BR" sz="2400" dirty="0"/>
              <a:t>Caso 2.1: Lado esquerdo desbalanceado. Se um nó estiver desbalanceado (nó 3) e seu </a:t>
            </a:r>
            <a:r>
              <a:rPr lang="pt-BR" sz="2400" dirty="0" err="1"/>
              <a:t>ﬁlho</a:t>
            </a:r>
            <a:r>
              <a:rPr lang="pt-BR" sz="2400" dirty="0"/>
              <a:t> (nó 5) estiver inclinado no sentido inverso ao pai:</a:t>
            </a:r>
          </a:p>
          <a:p>
            <a:pPr lvl="1"/>
            <a:r>
              <a:rPr lang="pt-BR" sz="2000" dirty="0"/>
              <a:t>Rotação dupla para a direita.</a:t>
            </a:r>
          </a:p>
        </p:txBody>
      </p:sp>
      <p:sp>
        <p:nvSpPr>
          <p:cNvPr id="5" name="Elipse 4"/>
          <p:cNvSpPr/>
          <p:nvPr/>
        </p:nvSpPr>
        <p:spPr>
          <a:xfrm>
            <a:off x="2454485" y="35844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000529" y="314918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5" idx="6"/>
            <a:endCxn id="6" idx="3"/>
          </p:cNvCxnSpPr>
          <p:nvPr/>
        </p:nvCxnSpPr>
        <p:spPr>
          <a:xfrm flipV="1">
            <a:off x="2814526" y="3456493"/>
            <a:ext cx="1238731" cy="30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483662" y="3579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029706" y="31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" name="Elipse 9"/>
          <p:cNvSpPr/>
          <p:nvPr/>
        </p:nvSpPr>
        <p:spPr>
          <a:xfrm>
            <a:off x="5326827" y="35905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5356004" y="35858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cxnSp>
        <p:nvCxnSpPr>
          <p:cNvPr id="12" name="Conector reto 11"/>
          <p:cNvCxnSpPr>
            <a:stCxn id="6" idx="5"/>
            <a:endCxn id="10" idx="1"/>
          </p:cNvCxnSpPr>
          <p:nvPr/>
        </p:nvCxnSpPr>
        <p:spPr>
          <a:xfrm>
            <a:off x="4307842" y="3456493"/>
            <a:ext cx="1071712" cy="186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1703512" y="395220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13" idx="6"/>
          </p:cNvCxnSpPr>
          <p:nvPr/>
        </p:nvCxnSpPr>
        <p:spPr>
          <a:xfrm flipV="1">
            <a:off x="2063552" y="3894836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732689" y="39475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6" name="Elipse 15"/>
          <p:cNvSpPr/>
          <p:nvPr/>
        </p:nvSpPr>
        <p:spPr>
          <a:xfrm>
            <a:off x="3060531" y="4018177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3089708" y="40135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8" name="Conector reto 17"/>
          <p:cNvCxnSpPr>
            <a:endCxn id="16" idx="1"/>
          </p:cNvCxnSpPr>
          <p:nvPr/>
        </p:nvCxnSpPr>
        <p:spPr>
          <a:xfrm>
            <a:off x="2814526" y="3894836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3805877" y="45044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3835054" y="4499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1" name="Conector reto 20"/>
          <p:cNvCxnSpPr>
            <a:endCxn id="19" idx="1"/>
          </p:cNvCxnSpPr>
          <p:nvPr/>
        </p:nvCxnSpPr>
        <p:spPr>
          <a:xfrm>
            <a:off x="3391394" y="4312249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2356354" y="440797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5" idx="6"/>
          </p:cNvCxnSpPr>
          <p:nvPr/>
        </p:nvCxnSpPr>
        <p:spPr>
          <a:xfrm flipV="1">
            <a:off x="2716394" y="4350598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385531" y="4403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2567609" y="6093297"/>
            <a:ext cx="3068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Rotação simples à esquerda</a:t>
            </a:r>
            <a:r>
              <a:rPr lang="pt-BR" dirty="0"/>
              <a:t>, e </a:t>
            </a:r>
          </a:p>
          <a:p>
            <a:r>
              <a:rPr lang="pt-BR" dirty="0"/>
              <a:t>Rotação simples à Direita.</a:t>
            </a:r>
          </a:p>
        </p:txBody>
      </p:sp>
    </p:spTree>
    <p:extLst>
      <p:ext uri="{BB962C8B-B14F-4D97-AF65-F5344CB8AC3E}">
        <p14:creationId xmlns:p14="http://schemas.microsoft.com/office/powerpoint/2010/main" val="1693682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340768"/>
            <a:ext cx="8229600" cy="2188840"/>
          </a:xfrm>
        </p:spPr>
        <p:txBody>
          <a:bodyPr>
            <a:normAutofit/>
          </a:bodyPr>
          <a:lstStyle/>
          <a:p>
            <a:r>
              <a:rPr lang="pt-BR" sz="2400" dirty="0"/>
              <a:t>Caso 2.1: Lado esquerdo desbalanceado. Se um nó estiver desbalanceado (nó 3) e seu </a:t>
            </a:r>
            <a:r>
              <a:rPr lang="pt-BR" sz="2400" dirty="0" err="1"/>
              <a:t>ﬁlho</a:t>
            </a:r>
            <a:r>
              <a:rPr lang="pt-BR" sz="2400" dirty="0"/>
              <a:t> (nó 5) estiver inclinado no sentido inverso ao pai:</a:t>
            </a:r>
          </a:p>
          <a:p>
            <a:pPr lvl="1"/>
            <a:r>
              <a:rPr lang="pt-BR" sz="2000" dirty="0"/>
              <a:t>Rotação dupla para a direita.</a:t>
            </a:r>
          </a:p>
        </p:txBody>
      </p:sp>
      <p:sp>
        <p:nvSpPr>
          <p:cNvPr id="5" name="Elipse 4"/>
          <p:cNvSpPr/>
          <p:nvPr/>
        </p:nvSpPr>
        <p:spPr>
          <a:xfrm>
            <a:off x="2454485" y="35844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000529" y="314918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5" idx="6"/>
            <a:endCxn id="6" idx="3"/>
          </p:cNvCxnSpPr>
          <p:nvPr/>
        </p:nvCxnSpPr>
        <p:spPr>
          <a:xfrm flipV="1">
            <a:off x="2814526" y="3456493"/>
            <a:ext cx="1238731" cy="30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483662" y="3579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029706" y="31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" name="Elipse 9"/>
          <p:cNvSpPr/>
          <p:nvPr/>
        </p:nvSpPr>
        <p:spPr>
          <a:xfrm>
            <a:off x="5326827" y="35905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5356004" y="35858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cxnSp>
        <p:nvCxnSpPr>
          <p:cNvPr id="12" name="Conector reto 11"/>
          <p:cNvCxnSpPr>
            <a:stCxn id="6" idx="5"/>
            <a:endCxn id="10" idx="1"/>
          </p:cNvCxnSpPr>
          <p:nvPr/>
        </p:nvCxnSpPr>
        <p:spPr>
          <a:xfrm>
            <a:off x="4307842" y="3456493"/>
            <a:ext cx="1071712" cy="186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1703512" y="395220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13" idx="6"/>
          </p:cNvCxnSpPr>
          <p:nvPr/>
        </p:nvCxnSpPr>
        <p:spPr>
          <a:xfrm flipV="1">
            <a:off x="2063552" y="3894836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732689" y="39475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6" name="Elipse 15"/>
          <p:cNvSpPr/>
          <p:nvPr/>
        </p:nvSpPr>
        <p:spPr>
          <a:xfrm>
            <a:off x="3060531" y="4018177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3089708" y="40135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8" name="Conector reto 17"/>
          <p:cNvCxnSpPr>
            <a:endCxn id="16" idx="1"/>
          </p:cNvCxnSpPr>
          <p:nvPr/>
        </p:nvCxnSpPr>
        <p:spPr>
          <a:xfrm>
            <a:off x="2814526" y="3894836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3805877" y="45044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3835054" y="4499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1" name="Conector reto 20"/>
          <p:cNvCxnSpPr>
            <a:endCxn id="19" idx="1"/>
          </p:cNvCxnSpPr>
          <p:nvPr/>
        </p:nvCxnSpPr>
        <p:spPr>
          <a:xfrm>
            <a:off x="3391394" y="4312249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2356354" y="440797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5" idx="6"/>
          </p:cNvCxnSpPr>
          <p:nvPr/>
        </p:nvCxnSpPr>
        <p:spPr>
          <a:xfrm flipV="1">
            <a:off x="2716394" y="4350598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385531" y="4403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2567609" y="6093297"/>
            <a:ext cx="3068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Rotação simples à esquerda</a:t>
            </a:r>
            <a:r>
              <a:rPr lang="pt-BR" dirty="0"/>
              <a:t>, e </a:t>
            </a:r>
          </a:p>
          <a:p>
            <a:r>
              <a:rPr lang="pt-BR" dirty="0"/>
              <a:t>Rotação simples à Direita.</a:t>
            </a:r>
          </a:p>
        </p:txBody>
      </p:sp>
      <p:sp>
        <p:nvSpPr>
          <p:cNvPr id="29" name="Elipse 28"/>
          <p:cNvSpPr/>
          <p:nvPr/>
        </p:nvSpPr>
        <p:spPr>
          <a:xfrm>
            <a:off x="7048470" y="415469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8427043" y="3078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7077647" y="415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84562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Elipse 33"/>
          <p:cNvSpPr/>
          <p:nvPr/>
        </p:nvSpPr>
        <p:spPr>
          <a:xfrm>
            <a:off x="9753341" y="351960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/>
          <p:cNvSpPr txBox="1"/>
          <p:nvPr/>
        </p:nvSpPr>
        <p:spPr>
          <a:xfrm>
            <a:off x="9782518" y="35149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cxnSp>
        <p:nvCxnSpPr>
          <p:cNvPr id="36" name="Conector reto 35"/>
          <p:cNvCxnSpPr>
            <a:stCxn id="30" idx="6"/>
            <a:endCxn id="34" idx="1"/>
          </p:cNvCxnSpPr>
          <p:nvPr/>
        </p:nvCxnSpPr>
        <p:spPr>
          <a:xfrm>
            <a:off x="8787084" y="3258273"/>
            <a:ext cx="1018985" cy="314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6384032" y="452242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reto 37"/>
          <p:cNvCxnSpPr>
            <a:stCxn id="37" idx="6"/>
          </p:cNvCxnSpPr>
          <p:nvPr/>
        </p:nvCxnSpPr>
        <p:spPr>
          <a:xfrm flipV="1">
            <a:off x="6744073" y="4465049"/>
            <a:ext cx="333575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6413209" y="45177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40" name="Elipse 39"/>
          <p:cNvSpPr/>
          <p:nvPr/>
        </p:nvSpPr>
        <p:spPr>
          <a:xfrm>
            <a:off x="7698600" y="365216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/>
          <p:cNvSpPr txBox="1"/>
          <p:nvPr/>
        </p:nvSpPr>
        <p:spPr>
          <a:xfrm>
            <a:off x="7727777" y="36475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3" name="Elipse 42"/>
          <p:cNvSpPr/>
          <p:nvPr/>
        </p:nvSpPr>
        <p:spPr>
          <a:xfrm>
            <a:off x="8427043" y="413872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/>
          <p:cNvSpPr txBox="1"/>
          <p:nvPr/>
        </p:nvSpPr>
        <p:spPr>
          <a:xfrm>
            <a:off x="8456220" y="41340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45" name="Conector reto 44"/>
          <p:cNvCxnSpPr>
            <a:endCxn id="43" idx="1"/>
          </p:cNvCxnSpPr>
          <p:nvPr/>
        </p:nvCxnSpPr>
        <p:spPr>
          <a:xfrm>
            <a:off x="8012560" y="3946497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698600" y="459267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/>
          <p:cNvCxnSpPr/>
          <p:nvPr/>
        </p:nvCxnSpPr>
        <p:spPr>
          <a:xfrm flipV="1">
            <a:off x="7354463" y="3984583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7727777" y="45880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49" name="Conector reto 48"/>
          <p:cNvCxnSpPr>
            <a:endCxn id="46" idx="1"/>
          </p:cNvCxnSpPr>
          <p:nvPr/>
        </p:nvCxnSpPr>
        <p:spPr>
          <a:xfrm>
            <a:off x="7351493" y="4457656"/>
            <a:ext cx="399835" cy="187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>
            <a:stCxn id="40" idx="7"/>
            <a:endCxn id="30" idx="3"/>
          </p:cNvCxnSpPr>
          <p:nvPr/>
        </p:nvCxnSpPr>
        <p:spPr>
          <a:xfrm flipV="1">
            <a:off x="8005914" y="3385565"/>
            <a:ext cx="473857" cy="31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0DA8F5F2-E423-4267-B3D3-8C07076EC0AA}"/>
              </a:ext>
            </a:extLst>
          </p:cNvPr>
          <p:cNvSpPr txBox="1"/>
          <p:nvPr/>
        </p:nvSpPr>
        <p:spPr>
          <a:xfrm>
            <a:off x="6087445" y="5845146"/>
            <a:ext cx="57496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1: Seja Y (5) o </a:t>
            </a:r>
            <a:r>
              <a:rPr lang="pt-BR" dirty="0" err="1"/>
              <a:t>ﬁlho</a:t>
            </a:r>
            <a:r>
              <a:rPr lang="pt-BR" dirty="0"/>
              <a:t> à direita de X (3)</a:t>
            </a:r>
          </a:p>
          <a:p>
            <a:r>
              <a:rPr lang="pt-BR" dirty="0"/>
              <a:t>2: Torne X (3) o </a:t>
            </a:r>
            <a:r>
              <a:rPr lang="pt-BR" dirty="0" err="1"/>
              <a:t>ﬁlho</a:t>
            </a:r>
            <a:r>
              <a:rPr lang="pt-BR" dirty="0"/>
              <a:t> à esquerda de Y (5)</a:t>
            </a:r>
          </a:p>
          <a:p>
            <a:r>
              <a:rPr lang="pt-BR" dirty="0"/>
              <a:t>3: Torne o </a:t>
            </a:r>
            <a:r>
              <a:rPr lang="pt-BR" dirty="0" err="1"/>
              <a:t>ﬁlho</a:t>
            </a:r>
            <a:r>
              <a:rPr lang="pt-BR" dirty="0"/>
              <a:t> à esquerda de Y (5) o </a:t>
            </a:r>
            <a:r>
              <a:rPr lang="pt-BR" dirty="0" err="1"/>
              <a:t>ﬁlho</a:t>
            </a:r>
            <a:r>
              <a:rPr lang="pt-BR" dirty="0"/>
              <a:t> à direita de X (3).</a:t>
            </a:r>
          </a:p>
        </p:txBody>
      </p:sp>
    </p:spTree>
    <p:extLst>
      <p:ext uri="{BB962C8B-B14F-4D97-AF65-F5344CB8AC3E}">
        <p14:creationId xmlns:p14="http://schemas.microsoft.com/office/powerpoint/2010/main" val="3784313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340768"/>
            <a:ext cx="8229600" cy="2188840"/>
          </a:xfrm>
        </p:spPr>
        <p:txBody>
          <a:bodyPr>
            <a:normAutofit/>
          </a:bodyPr>
          <a:lstStyle/>
          <a:p>
            <a:r>
              <a:rPr lang="pt-BR" sz="2400" dirty="0"/>
              <a:t>Caso 2.1: Lado esquerdo desbalanceado. Se um nó estiver desbalanceado (nó 3) e seu </a:t>
            </a:r>
            <a:r>
              <a:rPr lang="pt-BR" sz="2400" dirty="0" err="1"/>
              <a:t>ﬁlho</a:t>
            </a:r>
            <a:r>
              <a:rPr lang="pt-BR" sz="2400" dirty="0"/>
              <a:t> (nó 5) estiver inclinado no sentido inverso ao pai:</a:t>
            </a:r>
          </a:p>
          <a:p>
            <a:pPr lvl="1"/>
            <a:r>
              <a:rPr lang="pt-BR" sz="2000" dirty="0"/>
              <a:t>Rotação dupla para a direita.</a:t>
            </a:r>
          </a:p>
        </p:txBody>
      </p:sp>
      <p:sp>
        <p:nvSpPr>
          <p:cNvPr id="5" name="Elipse 4"/>
          <p:cNvSpPr/>
          <p:nvPr/>
        </p:nvSpPr>
        <p:spPr>
          <a:xfrm>
            <a:off x="2454485" y="35844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000529" y="314918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5" idx="6"/>
            <a:endCxn id="6" idx="3"/>
          </p:cNvCxnSpPr>
          <p:nvPr/>
        </p:nvCxnSpPr>
        <p:spPr>
          <a:xfrm flipV="1">
            <a:off x="2814526" y="3456493"/>
            <a:ext cx="1238731" cy="30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483662" y="3579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029706" y="31398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0" name="Elipse 9"/>
          <p:cNvSpPr/>
          <p:nvPr/>
        </p:nvSpPr>
        <p:spPr>
          <a:xfrm>
            <a:off x="5326827" y="359053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5356004" y="35858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cxnSp>
        <p:nvCxnSpPr>
          <p:cNvPr id="12" name="Conector reto 11"/>
          <p:cNvCxnSpPr>
            <a:stCxn id="6" idx="5"/>
            <a:endCxn id="10" idx="1"/>
          </p:cNvCxnSpPr>
          <p:nvPr/>
        </p:nvCxnSpPr>
        <p:spPr>
          <a:xfrm>
            <a:off x="4307842" y="3456493"/>
            <a:ext cx="1071712" cy="186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1703512" y="395220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13" idx="6"/>
          </p:cNvCxnSpPr>
          <p:nvPr/>
        </p:nvCxnSpPr>
        <p:spPr>
          <a:xfrm flipV="1">
            <a:off x="2063552" y="3894836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732689" y="39475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6" name="Elipse 15"/>
          <p:cNvSpPr/>
          <p:nvPr/>
        </p:nvSpPr>
        <p:spPr>
          <a:xfrm>
            <a:off x="3060531" y="4018177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/>
          <p:cNvSpPr txBox="1"/>
          <p:nvPr/>
        </p:nvSpPr>
        <p:spPr>
          <a:xfrm>
            <a:off x="3089708" y="40135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8" name="Conector reto 17"/>
          <p:cNvCxnSpPr>
            <a:endCxn id="16" idx="1"/>
          </p:cNvCxnSpPr>
          <p:nvPr/>
        </p:nvCxnSpPr>
        <p:spPr>
          <a:xfrm>
            <a:off x="2814526" y="3894836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3805877" y="450447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3835054" y="44998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21" name="Conector reto 20"/>
          <p:cNvCxnSpPr>
            <a:endCxn id="19" idx="1"/>
          </p:cNvCxnSpPr>
          <p:nvPr/>
        </p:nvCxnSpPr>
        <p:spPr>
          <a:xfrm>
            <a:off x="3391394" y="4312249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2356354" y="440797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/>
          <p:cNvCxnSpPr>
            <a:stCxn id="25" idx="6"/>
          </p:cNvCxnSpPr>
          <p:nvPr/>
        </p:nvCxnSpPr>
        <p:spPr>
          <a:xfrm flipV="1">
            <a:off x="2716394" y="4350598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385531" y="44033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2567609" y="6093297"/>
            <a:ext cx="3068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Rotação simples à esquerda, e </a:t>
            </a:r>
          </a:p>
          <a:p>
            <a:r>
              <a:rPr lang="pt-BR" dirty="0">
                <a:solidFill>
                  <a:srgbClr val="FF0000"/>
                </a:solidFill>
              </a:rPr>
              <a:t>Rotação simples à Direita</a:t>
            </a:r>
            <a:r>
              <a:rPr lang="pt-BR" dirty="0"/>
              <a:t>.</a:t>
            </a:r>
          </a:p>
        </p:txBody>
      </p:sp>
      <p:sp>
        <p:nvSpPr>
          <p:cNvPr id="29" name="Elipse 28"/>
          <p:cNvSpPr/>
          <p:nvPr/>
        </p:nvSpPr>
        <p:spPr>
          <a:xfrm>
            <a:off x="7048470" y="415469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8427043" y="307825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7077647" y="4150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845622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34" name="Elipse 33"/>
          <p:cNvSpPr/>
          <p:nvPr/>
        </p:nvSpPr>
        <p:spPr>
          <a:xfrm>
            <a:off x="9753341" y="351960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/>
          <p:cNvSpPr txBox="1"/>
          <p:nvPr/>
        </p:nvSpPr>
        <p:spPr>
          <a:xfrm>
            <a:off x="9782518" y="35149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cxnSp>
        <p:nvCxnSpPr>
          <p:cNvPr id="36" name="Conector reto 35"/>
          <p:cNvCxnSpPr>
            <a:stCxn id="30" idx="6"/>
            <a:endCxn id="34" idx="1"/>
          </p:cNvCxnSpPr>
          <p:nvPr/>
        </p:nvCxnSpPr>
        <p:spPr>
          <a:xfrm>
            <a:off x="8787084" y="3258273"/>
            <a:ext cx="1018985" cy="314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/>
          <p:cNvSpPr/>
          <p:nvPr/>
        </p:nvSpPr>
        <p:spPr>
          <a:xfrm>
            <a:off x="6384032" y="452242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reto 37"/>
          <p:cNvCxnSpPr>
            <a:stCxn id="37" idx="6"/>
          </p:cNvCxnSpPr>
          <p:nvPr/>
        </p:nvCxnSpPr>
        <p:spPr>
          <a:xfrm flipV="1">
            <a:off x="6744073" y="4465049"/>
            <a:ext cx="333575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6413209" y="45177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40" name="Elipse 39"/>
          <p:cNvSpPr/>
          <p:nvPr/>
        </p:nvSpPr>
        <p:spPr>
          <a:xfrm>
            <a:off x="7698600" y="3652162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/>
          <p:cNvSpPr txBox="1"/>
          <p:nvPr/>
        </p:nvSpPr>
        <p:spPr>
          <a:xfrm>
            <a:off x="7727777" y="36475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43" name="Elipse 42"/>
          <p:cNvSpPr/>
          <p:nvPr/>
        </p:nvSpPr>
        <p:spPr>
          <a:xfrm>
            <a:off x="8427043" y="413872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/>
          <p:cNvSpPr txBox="1"/>
          <p:nvPr/>
        </p:nvSpPr>
        <p:spPr>
          <a:xfrm>
            <a:off x="8456220" y="41340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45" name="Conector reto 44"/>
          <p:cNvCxnSpPr>
            <a:endCxn id="43" idx="1"/>
          </p:cNvCxnSpPr>
          <p:nvPr/>
        </p:nvCxnSpPr>
        <p:spPr>
          <a:xfrm>
            <a:off x="8012560" y="3946497"/>
            <a:ext cx="467210" cy="244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45"/>
          <p:cNvSpPr/>
          <p:nvPr/>
        </p:nvSpPr>
        <p:spPr>
          <a:xfrm>
            <a:off x="7698600" y="459267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7" name="Conector reto 46"/>
          <p:cNvCxnSpPr/>
          <p:nvPr/>
        </p:nvCxnSpPr>
        <p:spPr>
          <a:xfrm flipV="1">
            <a:off x="7354463" y="3984583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7727777" y="45880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49" name="Conector reto 48"/>
          <p:cNvCxnSpPr>
            <a:endCxn id="46" idx="1"/>
          </p:cNvCxnSpPr>
          <p:nvPr/>
        </p:nvCxnSpPr>
        <p:spPr>
          <a:xfrm>
            <a:off x="7351493" y="4457656"/>
            <a:ext cx="399835" cy="187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>
            <a:stCxn id="40" idx="7"/>
            <a:endCxn id="30" idx="3"/>
          </p:cNvCxnSpPr>
          <p:nvPr/>
        </p:nvCxnSpPr>
        <p:spPr>
          <a:xfrm flipV="1">
            <a:off x="8005914" y="3385565"/>
            <a:ext cx="473857" cy="319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/>
          <p:cNvSpPr/>
          <p:nvPr/>
        </p:nvSpPr>
        <p:spPr>
          <a:xfrm>
            <a:off x="7048470" y="5952402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Elipse 53"/>
          <p:cNvSpPr/>
          <p:nvPr/>
        </p:nvSpPr>
        <p:spPr>
          <a:xfrm>
            <a:off x="8966612" y="565964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/>
          <p:cNvSpPr txBox="1"/>
          <p:nvPr/>
        </p:nvSpPr>
        <p:spPr>
          <a:xfrm>
            <a:off x="7077647" y="59477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8995789" y="56503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57" name="Elipse 56"/>
          <p:cNvSpPr/>
          <p:nvPr/>
        </p:nvSpPr>
        <p:spPr>
          <a:xfrm>
            <a:off x="9776891" y="6318115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/>
          <p:cNvSpPr txBox="1"/>
          <p:nvPr/>
        </p:nvSpPr>
        <p:spPr>
          <a:xfrm>
            <a:off x="9806068" y="63134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cxnSp>
        <p:nvCxnSpPr>
          <p:cNvPr id="59" name="Conector reto 58"/>
          <p:cNvCxnSpPr>
            <a:stCxn id="54" idx="5"/>
            <a:endCxn id="57" idx="1"/>
          </p:cNvCxnSpPr>
          <p:nvPr/>
        </p:nvCxnSpPr>
        <p:spPr>
          <a:xfrm>
            <a:off x="9273926" y="5966956"/>
            <a:ext cx="555693" cy="403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6384032" y="632012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1" name="Conector reto 60"/>
          <p:cNvCxnSpPr>
            <a:stCxn id="60" idx="6"/>
          </p:cNvCxnSpPr>
          <p:nvPr/>
        </p:nvCxnSpPr>
        <p:spPr>
          <a:xfrm flipV="1">
            <a:off x="6744073" y="6262757"/>
            <a:ext cx="333575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/>
          <p:cNvSpPr txBox="1"/>
          <p:nvPr/>
        </p:nvSpPr>
        <p:spPr>
          <a:xfrm>
            <a:off x="6413209" y="63154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63" name="Elipse 62"/>
          <p:cNvSpPr/>
          <p:nvPr/>
        </p:nvSpPr>
        <p:spPr>
          <a:xfrm>
            <a:off x="7698600" y="5449870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CaixaDeTexto 63"/>
          <p:cNvSpPr txBox="1"/>
          <p:nvPr/>
        </p:nvSpPr>
        <p:spPr>
          <a:xfrm>
            <a:off x="7727777" y="544522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65" name="Elipse 64"/>
          <p:cNvSpPr/>
          <p:nvPr/>
        </p:nvSpPr>
        <p:spPr>
          <a:xfrm>
            <a:off x="8427043" y="6385735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CaixaDeTexto 65"/>
          <p:cNvSpPr txBox="1"/>
          <p:nvPr/>
        </p:nvSpPr>
        <p:spPr>
          <a:xfrm>
            <a:off x="8456220" y="63810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67" name="Conector reto 66"/>
          <p:cNvCxnSpPr>
            <a:stCxn id="54" idx="3"/>
            <a:endCxn id="65" idx="1"/>
          </p:cNvCxnSpPr>
          <p:nvPr/>
        </p:nvCxnSpPr>
        <p:spPr>
          <a:xfrm flipH="1">
            <a:off x="8479771" y="5966956"/>
            <a:ext cx="539569" cy="4715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7698600" y="639038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9" name="Conector reto 68"/>
          <p:cNvCxnSpPr>
            <a:cxnSpLocks/>
          </p:cNvCxnSpPr>
          <p:nvPr/>
        </p:nvCxnSpPr>
        <p:spPr>
          <a:xfrm flipV="1">
            <a:off x="7354463" y="5782291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7727777" y="63857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71" name="Conector reto 70"/>
          <p:cNvCxnSpPr>
            <a:endCxn id="68" idx="1"/>
          </p:cNvCxnSpPr>
          <p:nvPr/>
        </p:nvCxnSpPr>
        <p:spPr>
          <a:xfrm>
            <a:off x="7351493" y="6255364"/>
            <a:ext cx="399835" cy="187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>
            <a:stCxn id="63" idx="6"/>
            <a:endCxn id="54" idx="2"/>
          </p:cNvCxnSpPr>
          <p:nvPr/>
        </p:nvCxnSpPr>
        <p:spPr>
          <a:xfrm>
            <a:off x="8058640" y="5629891"/>
            <a:ext cx="907972" cy="209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13F07EEF-FB4D-4DFA-BB5A-AF3931F2FC3C}"/>
              </a:ext>
            </a:extLst>
          </p:cNvPr>
          <p:cNvSpPr txBox="1"/>
          <p:nvPr/>
        </p:nvSpPr>
        <p:spPr>
          <a:xfrm>
            <a:off x="8432846" y="4492406"/>
            <a:ext cx="37906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1: Seja Y (5) o </a:t>
            </a:r>
            <a:r>
              <a:rPr lang="pt-BR" dirty="0" err="1"/>
              <a:t>ﬁlho</a:t>
            </a:r>
            <a:r>
              <a:rPr lang="pt-BR" dirty="0"/>
              <a:t> à esquerda de X (7)</a:t>
            </a:r>
          </a:p>
          <a:p>
            <a:r>
              <a:rPr lang="pt-BR" dirty="0"/>
              <a:t>2: Torne X (7) o </a:t>
            </a:r>
            <a:r>
              <a:rPr lang="pt-BR" dirty="0" err="1"/>
              <a:t>ﬁlho</a:t>
            </a:r>
            <a:r>
              <a:rPr lang="pt-BR" dirty="0"/>
              <a:t> à direita de Y (5)</a:t>
            </a:r>
          </a:p>
          <a:p>
            <a:r>
              <a:rPr lang="pt-BR" dirty="0"/>
              <a:t>3: Torne o </a:t>
            </a:r>
            <a:r>
              <a:rPr lang="pt-BR" dirty="0" err="1"/>
              <a:t>ﬁlho</a:t>
            </a:r>
            <a:r>
              <a:rPr lang="pt-BR" dirty="0"/>
              <a:t> à direita de Y (5) o </a:t>
            </a:r>
            <a:r>
              <a:rPr lang="pt-BR" dirty="0" err="1"/>
              <a:t>ﬁlho</a:t>
            </a:r>
            <a:r>
              <a:rPr lang="pt-BR" dirty="0"/>
              <a:t> à esquerda de X (7).</a:t>
            </a:r>
          </a:p>
        </p:txBody>
      </p:sp>
    </p:spTree>
    <p:extLst>
      <p:ext uri="{BB962C8B-B14F-4D97-AF65-F5344CB8AC3E}">
        <p14:creationId xmlns:p14="http://schemas.microsoft.com/office/powerpoint/2010/main" val="3143274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 2.2: Lado direito desbalanceado. Se um nó estiver desbalanceado e seu </a:t>
            </a:r>
            <a:r>
              <a:rPr lang="pt-BR" dirty="0" err="1"/>
              <a:t>ﬁlho</a:t>
            </a:r>
            <a:r>
              <a:rPr lang="pt-BR" dirty="0"/>
              <a:t> estiver inclinado no sentido inverso ao pai:</a:t>
            </a:r>
          </a:p>
          <a:p>
            <a:pPr lvl="1"/>
            <a:r>
              <a:rPr lang="pt-BR" dirty="0"/>
              <a:t>Rotação dupla para a esquerda.</a:t>
            </a:r>
          </a:p>
          <a:p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76" y="3931122"/>
            <a:ext cx="4438650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CE9B1B1-9F80-4407-9365-A256EB650E1C}"/>
              </a:ext>
            </a:extLst>
          </p:cNvPr>
          <p:cNvSpPr txBox="1"/>
          <p:nvPr/>
        </p:nvSpPr>
        <p:spPr>
          <a:xfrm>
            <a:off x="2567609" y="6093297"/>
            <a:ext cx="2847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Rotação simples à direita, e </a:t>
            </a:r>
          </a:p>
          <a:p>
            <a:r>
              <a:rPr lang="pt-BR" dirty="0"/>
              <a:t>Rotação simples à esquerda.</a:t>
            </a:r>
          </a:p>
        </p:txBody>
      </p:sp>
    </p:spTree>
    <p:extLst>
      <p:ext uri="{BB962C8B-B14F-4D97-AF65-F5344CB8AC3E}">
        <p14:creationId xmlns:p14="http://schemas.microsoft.com/office/powerpoint/2010/main" val="1754704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de Inserções em Árvore AVL:</a:t>
            </a:r>
          </a:p>
          <a:p>
            <a:pPr lvl="1"/>
            <a:r>
              <a:rPr lang="pt-BR" dirty="0"/>
              <a:t>Árvore começa apenas com o nó com chave 5 e, em seguida, foram acrescentados os nós com chaves: 4, 2, 8, 7 e 6, nesta ordem: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730" y="3321894"/>
            <a:ext cx="8667750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0802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Remoção:</a:t>
            </a:r>
          </a:p>
          <a:p>
            <a:pPr lvl="1"/>
            <a:r>
              <a:rPr lang="pt-BR" dirty="0"/>
              <a:t>Remover um nó de uma árvore AVL consiste em remover diretamente o nó caso ele seja uma folha e </a:t>
            </a:r>
            <a:r>
              <a:rPr lang="pt-BR" dirty="0" err="1"/>
              <a:t>veriﬁcar</a:t>
            </a:r>
            <a:r>
              <a:rPr lang="pt-BR" dirty="0"/>
              <a:t> o balanceamento realizando as rotações se necessárias.</a:t>
            </a:r>
          </a:p>
          <a:p>
            <a:pPr lvl="1"/>
            <a:r>
              <a:rPr lang="pt-BR" dirty="0"/>
              <a:t>Caso não seja um nó folha, troca-se com o nó mais à direita do </a:t>
            </a:r>
            <a:r>
              <a:rPr lang="pt-BR" dirty="0" err="1"/>
              <a:t>ﬁlho</a:t>
            </a:r>
            <a:r>
              <a:rPr lang="pt-BR" dirty="0"/>
              <a:t> esquerdo.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5794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188840"/>
          </a:xfrm>
        </p:spPr>
        <p:txBody>
          <a:bodyPr/>
          <a:lstStyle/>
          <a:p>
            <a:r>
              <a:rPr lang="pt-BR" dirty="0"/>
              <a:t>Remover: 5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6907848" y="356068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937025" y="3556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6570483" y="343734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6156875" y="392841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6186052" y="39237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5910870" y="3805069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827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188840"/>
          </a:xfrm>
        </p:spPr>
        <p:txBody>
          <a:bodyPr/>
          <a:lstStyle/>
          <a:p>
            <a:r>
              <a:rPr lang="pt-BR" dirty="0"/>
              <a:t>Remover: 5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6907848" y="356068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937025" y="3556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6570483" y="343734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6156875" y="3928410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6186052" y="39237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5910870" y="3805069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4253552" y="5229200"/>
            <a:ext cx="4379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 folha, remover e verificar balanceamento</a:t>
            </a:r>
          </a:p>
        </p:txBody>
      </p:sp>
      <p:cxnSp>
        <p:nvCxnSpPr>
          <p:cNvPr id="20" name="Conector de seta reta 19"/>
          <p:cNvCxnSpPr/>
          <p:nvPr/>
        </p:nvCxnSpPr>
        <p:spPr>
          <a:xfrm>
            <a:off x="6336895" y="4509120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507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188840"/>
          </a:xfrm>
        </p:spPr>
        <p:txBody>
          <a:bodyPr/>
          <a:lstStyle/>
          <a:p>
            <a:r>
              <a:rPr lang="pt-BR" dirty="0"/>
              <a:t>Remover: 5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6907848" y="356068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937025" y="3556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6570483" y="343734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888425" y="5233257"/>
            <a:ext cx="2514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Árvore ainda balanceada</a:t>
            </a:r>
          </a:p>
        </p:txBody>
      </p:sp>
      <p:cxnSp>
        <p:nvCxnSpPr>
          <p:cNvPr id="20" name="Conector de seta reta 19"/>
          <p:cNvCxnSpPr/>
          <p:nvPr/>
        </p:nvCxnSpPr>
        <p:spPr>
          <a:xfrm>
            <a:off x="6336895" y="4509120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888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188840"/>
          </a:xfrm>
        </p:spPr>
        <p:txBody>
          <a:bodyPr/>
          <a:lstStyle/>
          <a:p>
            <a:r>
              <a:rPr lang="pt-BR" dirty="0"/>
              <a:t>Remover: 7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6907848" y="3560683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937025" y="3556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6570483" y="343734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004525" y="4762541"/>
            <a:ext cx="4379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Nó folha, remover e verificar balanceamento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7087868" y="4042461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8042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892695"/>
          </a:xfrm>
        </p:spPr>
        <p:txBody>
          <a:bodyPr/>
          <a:lstStyle/>
          <a:p>
            <a:r>
              <a:rPr lang="pt-BR" dirty="0"/>
              <a:t>Remover: 7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4151784" y="4762541"/>
            <a:ext cx="4711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Árvore desbalanceada, realizar rotação à direita.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443190" y="3939095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7740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892695"/>
          </a:xfrm>
        </p:spPr>
        <p:txBody>
          <a:bodyPr/>
          <a:lstStyle/>
          <a:p>
            <a:r>
              <a:rPr lang="pt-BR" dirty="0"/>
              <a:t>Remover: 7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5909716" y="4515159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765763" y="5504899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6528048" y="587262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/>
          <p:cNvCxnSpPr>
            <a:stCxn id="15" idx="5"/>
            <a:endCxn id="16" idx="2"/>
          </p:cNvCxnSpPr>
          <p:nvPr/>
        </p:nvCxnSpPr>
        <p:spPr>
          <a:xfrm>
            <a:off x="6073076" y="5812212"/>
            <a:ext cx="454972" cy="240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5794940" y="55002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557225" y="58633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2" name="Elipse 21"/>
          <p:cNvSpPr/>
          <p:nvPr/>
        </p:nvSpPr>
        <p:spPr>
          <a:xfrm>
            <a:off x="5014790" y="5872626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/>
          <p:cNvCxnSpPr>
            <a:stCxn id="22" idx="6"/>
          </p:cNvCxnSpPr>
          <p:nvPr/>
        </p:nvCxnSpPr>
        <p:spPr>
          <a:xfrm flipV="1">
            <a:off x="5374830" y="5815254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043967" y="58679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833387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188840"/>
          </a:xfrm>
        </p:spPr>
        <p:txBody>
          <a:bodyPr/>
          <a:lstStyle/>
          <a:p>
            <a:r>
              <a:rPr lang="pt-BR" dirty="0"/>
              <a:t>Remover: 6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6907848" y="356068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937025" y="3556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6570483" y="343734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6156875" y="392841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6186052" y="39237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5910870" y="3805069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4309013" y="5301209"/>
            <a:ext cx="416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Nó não folha, trocar com o nó mais à direita do </a:t>
            </a:r>
            <a:r>
              <a:rPr lang="pt-BR" dirty="0" err="1"/>
              <a:t>ﬁlho</a:t>
            </a:r>
            <a:r>
              <a:rPr lang="pt-BR" dirty="0"/>
              <a:t> esquerdo. 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92355" y="4581128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106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188840"/>
          </a:xfrm>
        </p:spPr>
        <p:txBody>
          <a:bodyPr/>
          <a:lstStyle/>
          <a:p>
            <a:r>
              <a:rPr lang="pt-BR" dirty="0"/>
              <a:t>Remover: 6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9" name="Elipse 8"/>
          <p:cNvSpPr/>
          <p:nvPr/>
        </p:nvSpPr>
        <p:spPr>
          <a:xfrm>
            <a:off x="6907848" y="356068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937025" y="3556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6570483" y="343734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6156875" y="3928410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6186052" y="39237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5910870" y="3805069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4309013" y="5301209"/>
            <a:ext cx="416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Nó não folha, trocar com o nó mais à direita do </a:t>
            </a:r>
            <a:r>
              <a:rPr lang="pt-BR" dirty="0" err="1"/>
              <a:t>ﬁlho</a:t>
            </a:r>
            <a:r>
              <a:rPr lang="pt-BR" dirty="0"/>
              <a:t> esquerdo. 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92355" y="4581128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0932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188840"/>
          </a:xfrm>
        </p:spPr>
        <p:txBody>
          <a:bodyPr/>
          <a:lstStyle/>
          <a:p>
            <a:r>
              <a:rPr lang="pt-BR" dirty="0"/>
              <a:t>Remover: 6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9" name="Elipse 8"/>
          <p:cNvSpPr/>
          <p:nvPr/>
        </p:nvSpPr>
        <p:spPr>
          <a:xfrm>
            <a:off x="6907848" y="356068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937025" y="3556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6570483" y="343734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5" name="Elipse 14"/>
          <p:cNvSpPr/>
          <p:nvPr/>
        </p:nvSpPr>
        <p:spPr>
          <a:xfrm>
            <a:off x="6156875" y="3928410"/>
            <a:ext cx="360040" cy="360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6186052" y="39237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17" name="Conector reto 16"/>
          <p:cNvCxnSpPr>
            <a:endCxn id="15" idx="1"/>
          </p:cNvCxnSpPr>
          <p:nvPr/>
        </p:nvCxnSpPr>
        <p:spPr>
          <a:xfrm>
            <a:off x="5910870" y="3805069"/>
            <a:ext cx="298733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4309013" y="5301209"/>
            <a:ext cx="416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Exclui o nó, que agora é nó folha. E verificar o balanceamento da árvore.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92355" y="4581128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610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Rebalanceamento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188840"/>
          </a:xfrm>
        </p:spPr>
        <p:txBody>
          <a:bodyPr/>
          <a:lstStyle/>
          <a:p>
            <a:r>
              <a:rPr lang="pt-BR" dirty="0"/>
              <a:t>Remover: 6</a:t>
            </a:r>
          </a:p>
        </p:txBody>
      </p:sp>
      <p:sp>
        <p:nvSpPr>
          <p:cNvPr id="4" name="Elipse 3"/>
          <p:cNvSpPr/>
          <p:nvPr/>
        </p:nvSpPr>
        <p:spPr>
          <a:xfrm>
            <a:off x="5550829" y="349471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6263170" y="313002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/>
          <p:cNvCxnSpPr>
            <a:stCxn id="4" idx="6"/>
            <a:endCxn id="5" idx="3"/>
          </p:cNvCxnSpPr>
          <p:nvPr/>
        </p:nvCxnSpPr>
        <p:spPr>
          <a:xfrm flipV="1">
            <a:off x="5910869" y="3437342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580006" y="3490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92347" y="31207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9" name="Elipse 8"/>
          <p:cNvSpPr/>
          <p:nvPr/>
        </p:nvSpPr>
        <p:spPr>
          <a:xfrm>
            <a:off x="6907848" y="3560683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937025" y="35560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cxnSp>
        <p:nvCxnSpPr>
          <p:cNvPr id="11" name="Conector reto 10"/>
          <p:cNvCxnSpPr>
            <a:stCxn id="5" idx="5"/>
            <a:endCxn id="9" idx="1"/>
          </p:cNvCxnSpPr>
          <p:nvPr/>
        </p:nvCxnSpPr>
        <p:spPr>
          <a:xfrm>
            <a:off x="6570483" y="3437342"/>
            <a:ext cx="390092" cy="176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/>
          <p:cNvSpPr/>
          <p:nvPr/>
        </p:nvSpPr>
        <p:spPr>
          <a:xfrm>
            <a:off x="4799856" y="3862441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reto 12"/>
          <p:cNvCxnSpPr>
            <a:stCxn id="12" idx="6"/>
          </p:cNvCxnSpPr>
          <p:nvPr/>
        </p:nvCxnSpPr>
        <p:spPr>
          <a:xfrm flipV="1">
            <a:off x="5159896" y="3805069"/>
            <a:ext cx="405028" cy="23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829033" y="38577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5130719" y="5311959"/>
            <a:ext cx="2456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Árvore Balanceada</a:t>
            </a:r>
          </a:p>
        </p:txBody>
      </p:sp>
      <p:cxnSp>
        <p:nvCxnSpPr>
          <p:cNvPr id="19" name="Conector de seta reta 18"/>
          <p:cNvCxnSpPr/>
          <p:nvPr/>
        </p:nvCxnSpPr>
        <p:spPr>
          <a:xfrm>
            <a:off x="6392355" y="4581128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9016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5FB842-64CE-4C79-88AE-4F0E5400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7954CF-68ED-4100-B6A5-72DD4F411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pt-BR" dirty="0"/>
              <a:t>Represente a árvore binária obtida a partir da inserção de elementos com as seguintes chaves: 5 / 6 / 9 / 2 / 1 / 4 / 7 / 10. </a:t>
            </a:r>
          </a:p>
          <a:p>
            <a:pPr lvl="0"/>
            <a:r>
              <a:rPr lang="pt-BR" dirty="0"/>
              <a:t>Para a árvore da questão anterior, represente a árvore após a remoção dos elementos: 10 e 5 (nesta ordem). </a:t>
            </a:r>
          </a:p>
          <a:p>
            <a:pPr lvl="0"/>
            <a:r>
              <a:rPr lang="pt-BR" dirty="0"/>
              <a:t>Represente a árvore AVL obtida a partir da inserção dos mesmos elementos da questão anterior (5 / 6 / 9 / 2 / 1 / 4 / 7 / 10)</a:t>
            </a:r>
          </a:p>
          <a:p>
            <a:r>
              <a:rPr lang="pt-BR" dirty="0"/>
              <a:t>Para a árvore AVL da questão anterior, represente a árvore após a remoção dos elementos com as chaves: 1 e 4 (nesta ordem).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2F2004-58C0-4673-B936-CC16A57C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C09F4-CE31-4E9A-B94D-5BDD27720B7E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082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F26DA-75B4-487A-B11B-5D869494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4D3B92-A177-461C-9DEA-B52FD332C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9141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Material adaptado do livro:</a:t>
            </a:r>
          </a:p>
          <a:p>
            <a:pPr marL="0" indent="0">
              <a:buNone/>
            </a:pPr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Os código presentes nos slides estão disponíveis no site do autor (link no último slide) </a:t>
            </a:r>
          </a:p>
        </p:txBody>
      </p:sp>
      <p:pic>
        <p:nvPicPr>
          <p:cNvPr id="1026" name="Picture 2" descr="http://www2.dcc.ufmg.br/livros/algoritmos-java/imagens/cabecalho-livro.gif">
            <a:extLst>
              <a:ext uri="{FF2B5EF4-FFF2-40B4-BE49-F238E27FC236}">
                <a16:creationId xmlns:a16="http://schemas.microsoft.com/office/drawing/2014/main" id="{8426892B-F111-4D68-B326-E045E17B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924" y="202826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6D2B7F-8E03-44F5-9925-E282002B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8373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Baseado no material de aulas de: </a:t>
            </a:r>
          </a:p>
          <a:p>
            <a:pPr lvl="1"/>
            <a:r>
              <a:rPr lang="pt-BR" dirty="0"/>
              <a:t>ZIVIANI, </a:t>
            </a:r>
            <a:r>
              <a:rPr lang="pt-BR" dirty="0" err="1"/>
              <a:t>Nivio</a:t>
            </a:r>
            <a:r>
              <a:rPr lang="pt-BR" dirty="0"/>
              <a:t>. Projeto de algoritmos: com implementações em Java e C++. São Paulo: Thomson Learning, c2007. 621 p. </a:t>
            </a:r>
          </a:p>
          <a:p>
            <a:pPr lvl="1"/>
            <a:r>
              <a:rPr lang="pt-BR" dirty="0"/>
              <a:t>Para downloads dos códigos em Java:</a:t>
            </a:r>
          </a:p>
          <a:p>
            <a:pPr lvl="1"/>
            <a:r>
              <a:rPr lang="pt-BR" dirty="0">
                <a:hlinkClick r:id="rId2"/>
              </a:rPr>
              <a:t>http://www2.dcc.ufmg.br/livros/algoritmos-java/implementacoes-03.php</a:t>
            </a:r>
            <a:endParaRPr lang="pt-BR" dirty="0"/>
          </a:p>
          <a:p>
            <a:endParaRPr lang="pt-BR" dirty="0"/>
          </a:p>
          <a:p>
            <a:r>
              <a:rPr lang="pt-BR" dirty="0"/>
              <a:t>Outras referências:</a:t>
            </a:r>
          </a:p>
          <a:p>
            <a:pPr lvl="1"/>
            <a:r>
              <a:rPr lang="pt-BR" dirty="0"/>
              <a:t>CORMEN, Thomas H. et al. Algoritmos: teoria e prática. Rio de Janeiro: Campus, 2002. 916p. ISBN 8535209263 (Disponível no Acervo).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DROZDEK, Adam. Estrutura de dados e algoritmos em C++. São Paulo: Pioneira Thomson Learning, 2002. </a:t>
            </a:r>
            <a:r>
              <a:rPr lang="pt-BR" dirty="0" err="1"/>
              <a:t>xviii</a:t>
            </a:r>
            <a:r>
              <a:rPr lang="pt-BR" dirty="0"/>
              <a:t>, 579p. ISBN 8522102953 (Disponível no Acervo).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4E0C8-41CC-4E84-AFA6-B349EB45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643-BBD7-4320-B3DC-96FA131D374A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86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1971</Words>
  <Application>Microsoft Office PowerPoint</Application>
  <PresentationFormat>Widescreen</PresentationFormat>
  <Paragraphs>418</Paragraphs>
  <Slides>46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Tema do Office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Árvores Binárias de Pesquisa com Balanceamento</vt:lpstr>
      <vt:lpstr>Árvore AVL</vt:lpstr>
      <vt:lpstr>Árvore AVL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Rebalanceamento</vt:lpstr>
      <vt:lpstr>Exercícios</vt:lpstr>
      <vt:lpstr>Referências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 - Fila</dc:title>
  <dc:creator>Henrique Silva</dc:creator>
  <cp:lastModifiedBy>Henrique Silva</cp:lastModifiedBy>
  <cp:revision>61</cp:revision>
  <dcterms:created xsi:type="dcterms:W3CDTF">2018-02-11T20:18:47Z</dcterms:created>
  <dcterms:modified xsi:type="dcterms:W3CDTF">2019-08-10T15:35:43Z</dcterms:modified>
</cp:coreProperties>
</file>