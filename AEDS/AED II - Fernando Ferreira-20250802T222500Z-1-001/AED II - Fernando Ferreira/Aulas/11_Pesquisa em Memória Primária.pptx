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2"/>
  </p:notesMasterIdLst>
  <p:sldIdLst>
    <p:sldId id="257" r:id="rId2"/>
    <p:sldId id="352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3" r:id="rId43"/>
    <p:sldId id="394" r:id="rId44"/>
    <p:sldId id="395" r:id="rId45"/>
    <p:sldId id="396" r:id="rId46"/>
    <p:sldId id="397" r:id="rId47"/>
    <p:sldId id="398" r:id="rId48"/>
    <p:sldId id="399" r:id="rId49"/>
    <p:sldId id="400" r:id="rId50"/>
    <p:sldId id="401" r:id="rId51"/>
    <p:sldId id="402" r:id="rId52"/>
    <p:sldId id="487" r:id="rId53"/>
    <p:sldId id="403" r:id="rId54"/>
    <p:sldId id="405" r:id="rId55"/>
    <p:sldId id="406" r:id="rId56"/>
    <p:sldId id="452" r:id="rId57"/>
    <p:sldId id="407" r:id="rId58"/>
    <p:sldId id="408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6" r:id="rId77"/>
    <p:sldId id="427" r:id="rId78"/>
    <p:sldId id="428" r:id="rId79"/>
    <p:sldId id="429" r:id="rId80"/>
    <p:sldId id="430" r:id="rId81"/>
    <p:sldId id="431" r:id="rId82"/>
    <p:sldId id="432" r:id="rId83"/>
    <p:sldId id="433" r:id="rId84"/>
    <p:sldId id="434" r:id="rId85"/>
    <p:sldId id="435" r:id="rId86"/>
    <p:sldId id="436" r:id="rId87"/>
    <p:sldId id="437" r:id="rId88"/>
    <p:sldId id="438" r:id="rId89"/>
    <p:sldId id="453" r:id="rId90"/>
    <p:sldId id="439" r:id="rId91"/>
    <p:sldId id="440" r:id="rId92"/>
    <p:sldId id="441" r:id="rId93"/>
    <p:sldId id="442" r:id="rId94"/>
    <p:sldId id="443" r:id="rId95"/>
    <p:sldId id="444" r:id="rId96"/>
    <p:sldId id="445" r:id="rId97"/>
    <p:sldId id="446" r:id="rId98"/>
    <p:sldId id="447" r:id="rId99"/>
    <p:sldId id="455" r:id="rId100"/>
    <p:sldId id="456" r:id="rId101"/>
    <p:sldId id="457" r:id="rId102"/>
    <p:sldId id="458" r:id="rId103"/>
    <p:sldId id="459" r:id="rId104"/>
    <p:sldId id="460" r:id="rId105"/>
    <p:sldId id="461" r:id="rId106"/>
    <p:sldId id="462" r:id="rId107"/>
    <p:sldId id="463" r:id="rId108"/>
    <p:sldId id="464" r:id="rId109"/>
    <p:sldId id="466" r:id="rId110"/>
    <p:sldId id="465" r:id="rId111"/>
    <p:sldId id="467" r:id="rId112"/>
    <p:sldId id="468" r:id="rId113"/>
    <p:sldId id="470" r:id="rId114"/>
    <p:sldId id="471" r:id="rId115"/>
    <p:sldId id="472" r:id="rId116"/>
    <p:sldId id="473" r:id="rId117"/>
    <p:sldId id="474" r:id="rId118"/>
    <p:sldId id="475" r:id="rId119"/>
    <p:sldId id="476" r:id="rId120"/>
    <p:sldId id="477" r:id="rId121"/>
    <p:sldId id="478" r:id="rId122"/>
    <p:sldId id="479" r:id="rId123"/>
    <p:sldId id="513" r:id="rId124"/>
    <p:sldId id="480" r:id="rId125"/>
    <p:sldId id="481" r:id="rId126"/>
    <p:sldId id="482" r:id="rId127"/>
    <p:sldId id="483" r:id="rId128"/>
    <p:sldId id="484" r:id="rId129"/>
    <p:sldId id="485" r:id="rId130"/>
    <p:sldId id="489" r:id="rId131"/>
    <p:sldId id="490" r:id="rId132"/>
    <p:sldId id="491" r:id="rId133"/>
    <p:sldId id="492" r:id="rId134"/>
    <p:sldId id="493" r:id="rId135"/>
    <p:sldId id="494" r:id="rId136"/>
    <p:sldId id="495" r:id="rId137"/>
    <p:sldId id="496" r:id="rId138"/>
    <p:sldId id="497" r:id="rId139"/>
    <p:sldId id="500" r:id="rId140"/>
    <p:sldId id="498" r:id="rId141"/>
    <p:sldId id="486" r:id="rId142"/>
    <p:sldId id="501" r:id="rId143"/>
    <p:sldId id="502" r:id="rId144"/>
    <p:sldId id="503" r:id="rId145"/>
    <p:sldId id="504" r:id="rId146"/>
    <p:sldId id="505" r:id="rId147"/>
    <p:sldId id="506" r:id="rId148"/>
    <p:sldId id="507" r:id="rId149"/>
    <p:sldId id="508" r:id="rId150"/>
    <p:sldId id="509" r:id="rId151"/>
    <p:sldId id="510" r:id="rId152"/>
    <p:sldId id="511" r:id="rId153"/>
    <p:sldId id="512" r:id="rId154"/>
    <p:sldId id="448" r:id="rId155"/>
    <p:sldId id="514" r:id="rId156"/>
    <p:sldId id="449" r:id="rId157"/>
    <p:sldId id="450" r:id="rId158"/>
    <p:sldId id="451" r:id="rId159"/>
    <p:sldId id="351" r:id="rId160"/>
    <p:sldId id="322" r:id="rId1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recuperar informação a partir de uma grande massa de informação previamente armazenada?</a:t>
            </a:r>
          </a:p>
          <a:p>
            <a:r>
              <a:rPr lang="pt-BR" dirty="0"/>
              <a:t>A informação é dividida em registros:</a:t>
            </a:r>
          </a:p>
          <a:p>
            <a:pPr lvl="1"/>
            <a:r>
              <a:rPr lang="pt-BR" dirty="0"/>
              <a:t>Cada registro possui uma chave de pesquisa.</a:t>
            </a:r>
          </a:p>
          <a:p>
            <a:r>
              <a:rPr lang="pt-BR" dirty="0"/>
              <a:t>O objetivo:</a:t>
            </a:r>
          </a:p>
          <a:p>
            <a:pPr lvl="1"/>
            <a:r>
              <a:rPr lang="pt-BR" dirty="0"/>
              <a:t>encontrar ocorrências de registros com chaves iguais à chave da pesquisa. </a:t>
            </a:r>
          </a:p>
          <a:p>
            <a:pPr lvl="1"/>
            <a:r>
              <a:rPr lang="pt-BR" dirty="0"/>
              <a:t>A pesquisa pode ser com sucesso ou sem sucesso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07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diversos métodos de pesquisa;</a:t>
            </a:r>
          </a:p>
          <a:p>
            <a:r>
              <a:rPr lang="pt-BR" dirty="0"/>
              <a:t>A escolha do método mais apropriado, depende:</a:t>
            </a:r>
          </a:p>
          <a:p>
            <a:pPr lvl="1"/>
            <a:r>
              <a:rPr lang="pt-BR" dirty="0"/>
              <a:t>Quantidade dos dados envolvidos;</a:t>
            </a:r>
          </a:p>
          <a:p>
            <a:pPr lvl="1"/>
            <a:r>
              <a:rPr lang="pt-BR" dirty="0"/>
              <a:t>Arquivo estar sujeito a inserções e retiradas frequentes (o objetivo é minimizar o tempo de pesquisa, sem preocupação com o tempo de estruturar o arquivo).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929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TADs</a:t>
            </a:r>
            <a:r>
              <a:rPr lang="pt-BR" dirty="0"/>
              <a:t> de Pesquisa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Importante considerar os algoritmos de pesquisa como </a:t>
            </a:r>
            <a:r>
              <a:rPr lang="pt-BR" b="1" dirty="0"/>
              <a:t>tipos abstratos de dados: </a:t>
            </a:r>
          </a:p>
          <a:p>
            <a:pPr lvl="1"/>
            <a:r>
              <a:rPr lang="pt-BR" dirty="0"/>
              <a:t>um conjunto de operações associado a uma estrutura de dados</a:t>
            </a:r>
          </a:p>
          <a:p>
            <a:r>
              <a:rPr lang="pt-BR" dirty="0"/>
              <a:t>Deve haver uma independência de implementação para as operações.</a:t>
            </a:r>
          </a:p>
          <a:p>
            <a:r>
              <a:rPr lang="pt-BR" dirty="0"/>
              <a:t>Operações mais comuns</a:t>
            </a:r>
          </a:p>
          <a:p>
            <a:pPr lvl="1"/>
            <a:r>
              <a:rPr lang="pt-BR" dirty="0"/>
              <a:t>Inicializar a estrutura de dados.</a:t>
            </a:r>
          </a:p>
          <a:p>
            <a:pPr lvl="1"/>
            <a:r>
              <a:rPr lang="pt-BR" dirty="0"/>
              <a:t>Pesquisar um ou mais registros com determinada chave.</a:t>
            </a:r>
          </a:p>
        </p:txBody>
      </p:sp>
    </p:spTree>
    <p:extLst>
      <p:ext uri="{BB962C8B-B14F-4D97-AF65-F5344CB8AC3E}">
        <p14:creationId xmlns:p14="http://schemas.microsoft.com/office/powerpoint/2010/main" val="3770575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TADs</a:t>
            </a:r>
            <a:r>
              <a:rPr lang="pt-BR" dirty="0"/>
              <a:t> de Pesquisa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Operações mais comuns (cont...)</a:t>
            </a:r>
          </a:p>
          <a:p>
            <a:pPr lvl="1"/>
            <a:r>
              <a:rPr lang="pt-BR" dirty="0"/>
              <a:t>Inserir um novo registro.</a:t>
            </a:r>
          </a:p>
          <a:p>
            <a:pPr lvl="1"/>
            <a:r>
              <a:rPr lang="pt-BR" dirty="0"/>
              <a:t>Retirar um registro específico.</a:t>
            </a:r>
          </a:p>
          <a:p>
            <a:pPr lvl="1"/>
            <a:r>
              <a:rPr lang="pt-BR" dirty="0"/>
              <a:t>Ordenar um arquivo para obter todos os registros em ordem de acordo com a chave.</a:t>
            </a:r>
          </a:p>
          <a:p>
            <a:pPr lvl="1"/>
            <a:r>
              <a:rPr lang="pt-BR" dirty="0"/>
              <a:t>Juntar dois arquivos para formar um arquivo maior.</a:t>
            </a:r>
          </a:p>
        </p:txBody>
      </p:sp>
    </p:spTree>
    <p:extLst>
      <p:ext uri="{BB962C8B-B14F-4D97-AF65-F5344CB8AC3E}">
        <p14:creationId xmlns:p14="http://schemas.microsoft.com/office/powerpoint/2010/main" val="355334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Dicionário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Nome comumente utilizado para descrever uma estrutura de dados para pesquisa</a:t>
            </a:r>
          </a:p>
          <a:p>
            <a:r>
              <a:rPr lang="pt-BR" dirty="0"/>
              <a:t>Dicionário é um tipo abstrato de dados com as operações:</a:t>
            </a:r>
          </a:p>
          <a:p>
            <a:pPr lvl="1"/>
            <a:r>
              <a:rPr lang="pt-BR" dirty="0"/>
              <a:t>Inicializa</a:t>
            </a:r>
          </a:p>
          <a:p>
            <a:pPr lvl="1"/>
            <a:r>
              <a:rPr lang="pt-BR" dirty="0"/>
              <a:t>Pesquisa</a:t>
            </a:r>
          </a:p>
          <a:p>
            <a:pPr lvl="1"/>
            <a:r>
              <a:rPr lang="pt-BR" dirty="0"/>
              <a:t>Insere</a:t>
            </a:r>
          </a:p>
          <a:p>
            <a:pPr lvl="1"/>
            <a:r>
              <a:rPr lang="pt-BR" dirty="0"/>
              <a:t>Retira</a:t>
            </a:r>
          </a:p>
        </p:txBody>
      </p:sp>
    </p:spTree>
    <p:extLst>
      <p:ext uri="{BB962C8B-B14F-4D97-AF65-F5344CB8AC3E}">
        <p14:creationId xmlns:p14="http://schemas.microsoft.com/office/powerpoint/2010/main" val="983347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Dicionário</a:t>
            </a:r>
          </a:p>
        </p:txBody>
      </p:sp>
      <p:sp>
        <p:nvSpPr>
          <p:cNvPr id="4" name="Retângulo 3"/>
          <p:cNvSpPr/>
          <p:nvPr/>
        </p:nvSpPr>
        <p:spPr>
          <a:xfrm>
            <a:off x="4943872" y="2348880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983347" y="2348880"/>
            <a:ext cx="1120765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4943872" y="2780928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983347" y="2780928"/>
            <a:ext cx="11207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4943872" y="3212976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983347" y="3212976"/>
            <a:ext cx="11207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4943872" y="3645024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983347" y="3645024"/>
            <a:ext cx="11207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4943872" y="4077072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983347" y="4077072"/>
            <a:ext cx="11207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4943872" y="4509120"/>
            <a:ext cx="5760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5983347" y="4509120"/>
            <a:ext cx="112076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4854878" y="1979548"/>
            <a:ext cx="75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86718" y="1988840"/>
            <a:ext cx="945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Registro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5608930" y="2528900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5608930" y="2924944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591944" y="3392996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5591944" y="3810778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5591944" y="4293096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5591944" y="4689140"/>
            <a:ext cx="2710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081061" y="2339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5087888" y="2771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087888" y="3203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087888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087888" y="40677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087888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88372" y="2339588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Ana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096000" y="2780928"/>
            <a:ext cx="87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Patrícia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96001" y="320368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Amanda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6096000" y="3645024"/>
            <a:ext cx="88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Alberto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168009" y="4067780"/>
            <a:ext cx="734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Pedro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6187190" y="4504474"/>
            <a:ext cx="70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Laura</a:t>
            </a:r>
          </a:p>
        </p:txBody>
      </p:sp>
    </p:spTree>
    <p:extLst>
      <p:ext uri="{BB962C8B-B14F-4D97-AF65-F5344CB8AC3E}">
        <p14:creationId xmlns:p14="http://schemas.microsoft.com/office/powerpoint/2010/main" val="218878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de pesquisa mais simples: </a:t>
            </a:r>
          </a:p>
          <a:p>
            <a:pPr lvl="1"/>
            <a:r>
              <a:rPr lang="pt-BR" dirty="0"/>
              <a:t>a partir do primeiro registro, pesquise sequencialmente até encontrar a chave procurada; então pare.</a:t>
            </a:r>
          </a:p>
          <a:p>
            <a:r>
              <a:rPr lang="pt-BR" dirty="0"/>
              <a:t>Armazenamento de um conjunto de registros por meio do tipo estruturado arranjo</a:t>
            </a:r>
          </a:p>
        </p:txBody>
      </p:sp>
    </p:spTree>
    <p:extLst>
      <p:ext uri="{BB962C8B-B14F-4D97-AF65-F5344CB8AC3E}">
        <p14:creationId xmlns:p14="http://schemas.microsoft.com/office/powerpoint/2010/main" val="56022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EF4E6E-20E4-4B7C-95CA-516CF23070C3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FB092B0-BBB9-47DC-A7D0-5E2126A23FBA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1560A2-7AA9-422D-BBD7-C5B27519A8F0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121713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245B887-6BA4-4FD7-9641-9487AF064408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5CCD988-FFCF-400C-A1F9-09BCCAF4557D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0F9F097-1C44-4850-A6A5-267EBD60F7B3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918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705409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A54BCC1D-6777-4DF7-8029-305A0A533429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3DBDF9-1F92-4096-AC41-F054CE1B65FC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7C04691-3DCA-4016-84A1-7EF683D7D0B6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i = 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.n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0527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705409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8BE1B4F-5830-418D-B555-7EF38AE0D6F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9ADCA6-D6CC-408E-BE24-D82AE2DDFD58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A53A323-3C4B-4C35-AB5E-0886600B9373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349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082570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6DC4C58-BC77-4497-B515-29292E8F5063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C94EE7-1061-4F6E-AC63-69A0EEC4FEA0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4B6A019-B19B-48C3-863D-2106F447866D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2248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434498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8D92BFB-09C0-44CF-9BE5-C5E8417EC522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F9B6C8-BBDB-4594-904E-CD9150CD79D6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B7C38EB-0D1A-4F25-AF4F-97EAFD67E813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7088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78642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0ABCBBD-9C81-4C63-9DED-4B57511A1A78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3F86AA-E0A1-4037-B323-E436FA30C2C5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390AC96-2E36-49E3-9541-94229118E53C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564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087888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17FE840-09DB-48E6-9B72-B37A8ED06EDD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2305E5E-A197-4C5E-9847-01A43D91525C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28CF5B-0210-41D3-B820-67B7E55F6597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263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490282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1890CE60-4650-445C-9EBA-CF6B8C63907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1153E69-879C-4A34-ADCE-499D16C4586F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AB0DF8B-E327-4B7F-B91B-8F44161819EA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8910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791744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0F4AD5B-C4A1-4EE6-99C3-86AD14943081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1FB5896-B3F7-49D2-8302-7E37BBFA33FB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8C15890-3EBE-40E8-AA91-5EF8841BCB4D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138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791744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13E5AD2E-0251-48FD-A2BD-7D73010F1EFC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71590F2-0B4C-4D0D-B6F6-FC6E67D466D1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266C0D4-9849-4AED-89A0-C3983A1CDA3F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6568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9F35338-A72C-49A5-9816-9B3629A6DEBA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9247CB-D941-4A51-A77D-30FB1BB084AD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5DA0DA9-A142-4D72-B8A4-BDE21BD170B1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688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3277F2D-F550-4D5E-A7EA-BBE097C8188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284BC4-1E65-49C3-851C-01BFC0560366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17A8C56-71F6-42E0-AEAF-307ACC6FC47B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8988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68017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28BB641-B31F-4E25-B56F-6CE8FB157022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A6F3B3-D6C4-490D-AD53-26FD0080DFD7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CD949A4-EF6E-4836-A132-9FBD50A9E7C6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i = 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.n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24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68017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6508A05-1939-4CD7-A615-5608BBB3A331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1629AFB-7E4B-42C9-AD17-0E70E5859559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70F0E0E-636E-40E8-90E3-59BB7DEF349D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[i].chave() !=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6808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68017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D4B80B3-8E48-4A3B-B54A-CE62EBB004D7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95989DA-0DB2-407A-8007-BFC1BBA52EFB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FB64963-F194-498E-BA66-08DBD9FB6E7C}"/>
              </a:ext>
            </a:extLst>
          </p:cNvPr>
          <p:cNvSpPr/>
          <p:nvPr/>
        </p:nvSpPr>
        <p:spPr>
          <a:xfrm>
            <a:off x="527720" y="4184551"/>
            <a:ext cx="80887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1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266335-F0BC-4D07-A5C9-4B55D693A6EB}"/>
              </a:ext>
            </a:extLst>
          </p:cNvPr>
          <p:cNvSpPr/>
          <p:nvPr/>
        </p:nvSpPr>
        <p:spPr>
          <a:xfrm>
            <a:off x="838200" y="1509579"/>
            <a:ext cx="8349762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Tabela {</a:t>
            </a:r>
          </a:p>
          <a:p>
            <a:pPr lvl="1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Item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pPr lvl="1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pt-BR" sz="1400" dirty="0">
              <a:latin typeface="Consolas" panose="020B0609020204030204" pitchFamily="49" charset="0"/>
            </a:endParaRPr>
          </a:p>
          <a:p>
            <a:pPr lvl="1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Tabela(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maxN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Item[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maxN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pPr lvl="2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400" dirty="0">
              <a:latin typeface="Consolas" panose="020B0609020204030204" pitchFamily="49" charset="0"/>
            </a:endParaRPr>
          </a:p>
          <a:p>
            <a:pPr lvl="1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pesquisa(Item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[0]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400" u="sng" dirty="0">
                <a:solidFill>
                  <a:srgbClr val="3F7F5F"/>
                </a:solidFill>
                <a:latin typeface="Consolas" panose="020B0609020204030204" pitchFamily="49" charset="0"/>
              </a:rPr>
              <a:t>sentinela</a:t>
            </a:r>
          </a:p>
          <a:p>
            <a:pPr lvl="2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 !=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3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2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400" dirty="0"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(Item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pPr lvl="2"/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(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- 1))</a:t>
            </a:r>
          </a:p>
          <a:p>
            <a:pPr lvl="3"/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latin typeface="Consolas" panose="020B0609020204030204" pitchFamily="49" charset="0"/>
              </a:rPr>
              <a:t>"Erro: A tabela esta cheia"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[++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866874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Cada registro contém um campo chave que identifica o registro.</a:t>
            </a:r>
          </a:p>
          <a:p>
            <a:r>
              <a:rPr lang="pt-BR" dirty="0"/>
              <a:t>Além da chave, podem existir outros componentes em um registro, os quais não têm influência nos algoritmos.</a:t>
            </a:r>
          </a:p>
          <a:p>
            <a:r>
              <a:rPr lang="pt-BR" dirty="0"/>
              <a:t>O método pesquisa retorna o índice do registro que contém a chave passada como parâmetro no registro </a:t>
            </a:r>
            <a:r>
              <a:rPr lang="pt-BR" dirty="0" err="1"/>
              <a:t>reg</a:t>
            </a:r>
            <a:r>
              <a:rPr lang="pt-BR" dirty="0"/>
              <a:t>; caso não esteja presente, o valor retornado é zero.</a:t>
            </a:r>
          </a:p>
        </p:txBody>
      </p:sp>
    </p:spTree>
    <p:extLst>
      <p:ext uri="{BB962C8B-B14F-4D97-AF65-F5344CB8AC3E}">
        <p14:creationId xmlns:p14="http://schemas.microsoft.com/office/powerpoint/2010/main" val="44792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Utilização de um registro sentinela</a:t>
            </a:r>
            <a:r>
              <a:rPr lang="pt-BR" b="1" dirty="0"/>
              <a:t> </a:t>
            </a:r>
            <a:r>
              <a:rPr lang="pt-BR" dirty="0"/>
              <a:t>na posição zero do vetor:</a:t>
            </a:r>
          </a:p>
          <a:p>
            <a:pPr lvl="1"/>
            <a:r>
              <a:rPr lang="pt-BR" dirty="0"/>
              <a:t>Garante que a pesquisa sempre termina: se o índice retornado por Pesquisa for zero, a pesquisa foi sem sucesso.</a:t>
            </a:r>
          </a:p>
          <a:p>
            <a:pPr lvl="1"/>
            <a:r>
              <a:rPr lang="pt-BR" dirty="0"/>
              <a:t>Não é necessário testar se i &gt; 0, devido a isto:</a:t>
            </a:r>
          </a:p>
          <a:p>
            <a:pPr lvl="2"/>
            <a:r>
              <a:rPr lang="pt-BR" dirty="0"/>
              <a:t>o índice i é decrementado e a chave de pesquisa é comparada com a chave que está no registro.</a:t>
            </a:r>
          </a:p>
        </p:txBody>
      </p:sp>
    </p:spTree>
    <p:extLst>
      <p:ext uri="{BB962C8B-B14F-4D97-AF65-F5344CB8AC3E}">
        <p14:creationId xmlns:p14="http://schemas.microsoft.com/office/powerpoint/2010/main" val="1970821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Análise de custo:</a:t>
                </a:r>
              </a:p>
              <a:p>
                <a:pPr lvl="1"/>
                <a:r>
                  <a:rPr lang="pt-BR" dirty="0"/>
                  <a:t>Pesquisa com sucesso:</a:t>
                </a:r>
              </a:p>
              <a:p>
                <a:pPr lvl="2"/>
                <a:r>
                  <a:rPr lang="pt-BR" dirty="0"/>
                  <a:t>melhor caso: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=1</m:t>
                    </m:r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+1)/2</m:t>
                    </m:r>
                  </m:oMath>
                </a14:m>
                <a:endParaRPr lang="pt-BR" dirty="0"/>
              </a:p>
              <a:p>
                <a:pPr lvl="2"/>
                <a:endParaRPr lang="pt-BR" dirty="0"/>
              </a:p>
              <a:p>
                <a:pPr lvl="1"/>
                <a:r>
                  <a:rPr lang="pt-BR" dirty="0"/>
                  <a:t>Pesquisa sem sucesso: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612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Implemente uma versão da busca sequencial para encontrar a chave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em um vetor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elementos. Faça com que seu programa retorne também quantas operações de comparação foram necessárias para recuperar a chave pesquisada.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169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Pesquisa em tabela pode ser mais eficiente</a:t>
            </a:r>
          </a:p>
          <a:p>
            <a:pPr lvl="1"/>
            <a:r>
              <a:rPr lang="pt-BR" dirty="0"/>
              <a:t>Desde que registros sejam mantidos em ordem.</a:t>
            </a:r>
          </a:p>
          <a:p>
            <a:r>
              <a:rPr lang="pt-BR" dirty="0"/>
              <a:t>Para saber se uma chave está presente na tabela: </a:t>
            </a:r>
          </a:p>
          <a:p>
            <a:pPr lvl="1"/>
            <a:r>
              <a:rPr lang="pt-BR" dirty="0"/>
              <a:t>Compare a chave com o registro que está na posição do meio da tabela.</a:t>
            </a:r>
          </a:p>
          <a:p>
            <a:pPr lvl="1"/>
            <a:r>
              <a:rPr lang="pt-BR" b="1" dirty="0"/>
              <a:t>Se </a:t>
            </a:r>
            <a:r>
              <a:rPr lang="pt-BR" dirty="0"/>
              <a:t>a chave é menor </a:t>
            </a:r>
            <a:r>
              <a:rPr lang="pt-BR" b="1" dirty="0"/>
              <a:t>então </a:t>
            </a:r>
            <a:r>
              <a:rPr lang="pt-BR" dirty="0"/>
              <a:t>o registro procurado está na primeira metade da tabela. </a:t>
            </a:r>
          </a:p>
          <a:p>
            <a:pPr lvl="1"/>
            <a:r>
              <a:rPr lang="pt-BR" b="1" dirty="0"/>
              <a:t>Se </a:t>
            </a:r>
            <a:r>
              <a:rPr lang="pt-BR" dirty="0"/>
              <a:t>a chave é maior </a:t>
            </a:r>
            <a:r>
              <a:rPr lang="pt-BR" b="1" dirty="0"/>
              <a:t>então </a:t>
            </a:r>
            <a:r>
              <a:rPr lang="pt-BR" dirty="0"/>
              <a:t>o registro procurado está na segunda metade da tabela.</a:t>
            </a:r>
          </a:p>
        </p:txBody>
      </p:sp>
    </p:spTree>
    <p:extLst>
      <p:ext uri="{BB962C8B-B14F-4D97-AF65-F5344CB8AC3E}">
        <p14:creationId xmlns:p14="http://schemas.microsoft.com/office/powerpoint/2010/main" val="950418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Repita o processo até que a chave seja encontrada, ou fique apenas um registro cuja chave é diferente da procurada, significando uma pesquisa sem sucesso.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05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716D3F-B817-4C7F-8F23-4024E2C8657A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73319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9626841-DB6A-4C8D-A091-4CAA9F68074C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 =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050093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E4CCF01-E57D-40DE-8F37-CBD16855D484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210088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40FCA94-9A57-47F7-9862-78625FF184E7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i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16255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F6569FC-7C6D-4CB4-B473-17FFD0F71A26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 &amp;&amp;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70102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59D10B2-B248-4615-8CCF-F663D232CC2A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 =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8951385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C215DAD-4B5F-4D64-A6A5-454A5482E933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548716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9A99F3-DDD9-4268-B7E9-65C3AE64F7D0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i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18323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34B9C36-F331-4C79-A2B3-6F61AF50BADE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 &amp;&amp;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4178859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37B2AE-F904-47CE-A2B3-CA032FC042A6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 =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972165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AB76E5B-2748-4756-9F1E-F59CB8932972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29604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BDE84F4-80D1-41D5-BD5E-A0919FB044E0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i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3305664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49813F9-E67E-4791-BC29-DA24660DD764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 &amp;&amp;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664918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680195E-F5BD-482A-824A-E457945FECDE}"/>
              </a:ext>
            </a:extLst>
          </p:cNvPr>
          <p:cNvSpPr/>
          <p:nvPr/>
        </p:nvSpPr>
        <p:spPr>
          <a:xfrm>
            <a:off x="61428" y="3534013"/>
            <a:ext cx="77780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() == </a:t>
            </a:r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.registros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[i].chave())</a:t>
            </a:r>
          </a:p>
          <a:p>
            <a:pPr lvl="2"/>
            <a:r>
              <a:rPr lang="pt-B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97165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3CAE78-F6FE-419E-92E0-2C7BEE40E0FC}"/>
              </a:ext>
            </a:extLst>
          </p:cNvPr>
          <p:cNvSpPr/>
          <p:nvPr/>
        </p:nvSpPr>
        <p:spPr>
          <a:xfrm>
            <a:off x="838200" y="1690688"/>
            <a:ext cx="10934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binaria(Item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</a:p>
          <a:p>
            <a:pPr lvl="2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pt-BR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1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lvl="2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3"/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lvl="2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!=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].chave()) &amp;&amp;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endParaRPr lang="pt-BR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registros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lvl="2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93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3200" dirty="0"/>
                  <a:t>Análise:</a:t>
                </a:r>
              </a:p>
              <a:p>
                <a:pPr lvl="1"/>
                <a:r>
                  <a:rPr lang="pt-BR" sz="2800" dirty="0"/>
                  <a:t>A cada iteração do algoritmo, o tamanho da tabela é dividido ao meio.</a:t>
                </a:r>
              </a:p>
              <a:p>
                <a:pPr lvl="1"/>
                <a:r>
                  <a:rPr lang="pt-BR" sz="2800" dirty="0"/>
                  <a:t>Número de vezes que o tamanho da tabela é dividido ao meio é cerca de </a:t>
                </a:r>
                <a:r>
                  <a:rPr lang="pt-BR" sz="2800" i="1" dirty="0"/>
                  <a:t>log n</a:t>
                </a:r>
                <a:r>
                  <a:rPr lang="pt-BR" sz="2800" dirty="0"/>
                  <a:t>.</a:t>
                </a:r>
              </a:p>
              <a:p>
                <a:pPr lvl="1"/>
                <a:r>
                  <a:rPr lang="pt-BR" sz="2800" dirty="0"/>
                  <a:t>Entretanto, o custo para manter a tabela ordenada é alto:</a:t>
                </a:r>
              </a:p>
              <a:p>
                <a:pPr lvl="2"/>
                <a:r>
                  <a:rPr lang="pt-BR" sz="2400" dirty="0"/>
                  <a:t>a cada inserção na posição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da tabela implica no deslocamento dos registros a partir da posição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para as posições seguintes.</a:t>
                </a:r>
              </a:p>
              <a:p>
                <a:pPr lvl="1"/>
                <a:r>
                  <a:rPr lang="pt-BR" sz="2800" dirty="0"/>
                  <a:t>Não deve ser usada para aplicações muito dinâmicas.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1410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Repita o mesmo procedimento do exercício realizado anteriormente (utilizando busca sequencial), mas agora utilizando busca binária.</a:t>
            </a:r>
          </a:p>
          <a:p>
            <a:r>
              <a:rPr lang="pt-BR" dirty="0"/>
              <a:t>Retorne também quantas operações de comparação foram necessárias para recuperar a chave pesquisada.</a:t>
            </a:r>
          </a:p>
          <a:p>
            <a:r>
              <a:rPr lang="pt-BR" dirty="0"/>
              <a:t>Compare o resultado o obtido na busca binária com a busca sequencial.</a:t>
            </a:r>
          </a:p>
          <a:p>
            <a:r>
              <a:rPr lang="pt-BR" dirty="0"/>
              <a:t>Lembre-se que para busca binária, o vetor deve estar ordenado, para isto, faça um procedimento para sempre inserir uma nova chave de forma sempre ordenada no vetor ou ordene o vetor após a inserção de todos os elementos (utilize os algoritmos de ordenação estudados em sala).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86992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de dados muito eficiente para armazenar informação.</a:t>
            </a:r>
          </a:p>
          <a:p>
            <a:r>
              <a:rPr lang="pt-BR" dirty="0"/>
              <a:t>Adequada quando existe necessidade de considerar todos ou alguma combinação de:</a:t>
            </a:r>
          </a:p>
          <a:p>
            <a:pPr lvl="1"/>
            <a:r>
              <a:rPr lang="pt-BR" dirty="0"/>
              <a:t>Acessos eficientes.</a:t>
            </a:r>
          </a:p>
          <a:p>
            <a:pPr lvl="1"/>
            <a:r>
              <a:rPr lang="pt-BR" dirty="0"/>
              <a:t>Facilidade de inserção e retirada de registros.</a:t>
            </a:r>
          </a:p>
          <a:p>
            <a:pPr lvl="1"/>
            <a:r>
              <a:rPr lang="pt-BR" dirty="0"/>
              <a:t>Boa taxa de utilização de memória.</a:t>
            </a:r>
          </a:p>
          <a:p>
            <a:pPr lvl="1"/>
            <a:r>
              <a:rPr lang="pt-BR" dirty="0"/>
              <a:t>Utilização de memória primária e secundária.</a:t>
            </a:r>
          </a:p>
        </p:txBody>
      </p:sp>
    </p:spTree>
    <p:extLst>
      <p:ext uri="{BB962C8B-B14F-4D97-AF65-F5344CB8AC3E}">
        <p14:creationId xmlns:p14="http://schemas.microsoft.com/office/powerpoint/2010/main" val="574518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Para qualquer nó que contenha um registro: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Tem-se a relação invariante: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Todos os registros com chaves </a:t>
            </a:r>
            <a:r>
              <a:rPr lang="pt-BR" b="1" dirty="0"/>
              <a:t>menores</a:t>
            </a:r>
            <a:r>
              <a:rPr lang="pt-BR" dirty="0"/>
              <a:t> estão na sub árvore à </a:t>
            </a:r>
            <a:r>
              <a:rPr lang="pt-BR" b="1" dirty="0"/>
              <a:t>esquerda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Todos os registros com chaves </a:t>
            </a:r>
            <a:r>
              <a:rPr lang="pt-BR" b="1" dirty="0"/>
              <a:t>maiores</a:t>
            </a:r>
            <a:r>
              <a:rPr lang="pt-BR" dirty="0"/>
              <a:t> estão na sub árvore à </a:t>
            </a:r>
            <a:r>
              <a:rPr lang="pt-BR" b="1" dirty="0"/>
              <a:t>direita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763" y="1988840"/>
            <a:ext cx="2669565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4077072"/>
            <a:ext cx="4751635" cy="555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de Pesquisa sem balanceamento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789041"/>
                <a:ext cx="8229600" cy="233712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O </a:t>
                </a:r>
                <a:r>
                  <a:rPr lang="pt-BR" b="1" dirty="0"/>
                  <a:t>nível</a:t>
                </a:r>
                <a:r>
                  <a:rPr lang="pt-BR" dirty="0"/>
                  <a:t> do nó raiz é 0.</a:t>
                </a:r>
              </a:p>
              <a:p>
                <a:r>
                  <a:rPr lang="pt-BR" dirty="0"/>
                  <a:t>Se um nó está no </a:t>
                </a:r>
                <a:r>
                  <a:rPr lang="pt-BR" b="1" dirty="0"/>
                  <a:t>nível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então a raiz de suas sub árvores estão no </a:t>
                </a:r>
                <a:r>
                  <a:rPr lang="pt-BR" b="1" dirty="0"/>
                  <a:t>nível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altura</a:t>
                </a:r>
                <a:r>
                  <a:rPr lang="pt-BR" dirty="0"/>
                  <a:t> de um nó é o comprimento do caminho mais longo deste nó até um nó folha.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altura</a:t>
                </a:r>
                <a:r>
                  <a:rPr lang="pt-BR" dirty="0"/>
                  <a:t> de uma árvore é a altura do nó raiz.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789041"/>
                <a:ext cx="8229600" cy="2337123"/>
              </a:xfrm>
              <a:blipFill>
                <a:blip r:embed="rId2"/>
                <a:stretch>
                  <a:fillRect l="-1111" t="-6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402" y="1484784"/>
            <a:ext cx="3507774" cy="2104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8920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C156B-290C-46E5-9BEE-113CA90B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 – alguns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17D066-E74A-4FA4-B89E-9C274881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Raiz da árvore: nó que não tem antecedente  </a:t>
            </a:r>
          </a:p>
          <a:p>
            <a:r>
              <a:rPr lang="pt-BR" dirty="0"/>
              <a:t>Folha: nós que não tem descendentes (os outros são os nós internos) </a:t>
            </a:r>
          </a:p>
          <a:p>
            <a:r>
              <a:rPr lang="pt-BR" dirty="0"/>
              <a:t>A altura de um nó na árvore é o caminho de maior comprimento que se pode fazer deste nó a uma folha.  </a:t>
            </a:r>
          </a:p>
          <a:p>
            <a:r>
              <a:rPr lang="pt-BR" dirty="0"/>
              <a:t>A altura da árvore é a altura de sua raiz. </a:t>
            </a:r>
          </a:p>
          <a:p>
            <a:r>
              <a:rPr lang="pt-BR" dirty="0"/>
              <a:t>A profundidade de um nó é o comprimento da raiz até o nó (só existe um caminho)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79ED4E-CBDB-4DFB-880B-D402EA66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6424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do TAD Dicionário usando  Árvore Binária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Estrutura de dados:</a:t>
            </a:r>
          </a:p>
          <a:p>
            <a:pPr lvl="1"/>
            <a:r>
              <a:rPr lang="pt-BR" sz="2800" dirty="0"/>
              <a:t>Contém as operações </a:t>
            </a:r>
          </a:p>
          <a:p>
            <a:pPr lvl="2"/>
            <a:r>
              <a:rPr lang="pt-BR" sz="2400" dirty="0"/>
              <a:t>Inicializa</a:t>
            </a:r>
          </a:p>
          <a:p>
            <a:pPr lvl="2"/>
            <a:r>
              <a:rPr lang="pt-BR" sz="2400" dirty="0"/>
              <a:t>Pesquisa</a:t>
            </a:r>
          </a:p>
          <a:p>
            <a:pPr lvl="2"/>
            <a:r>
              <a:rPr lang="pt-BR" sz="2400" dirty="0"/>
              <a:t>Insere</a:t>
            </a:r>
          </a:p>
          <a:p>
            <a:pPr lvl="2"/>
            <a:r>
              <a:rPr lang="pt-BR" sz="2400" dirty="0"/>
              <a:t>retira.</a:t>
            </a:r>
          </a:p>
          <a:p>
            <a:pPr lvl="1"/>
            <a:r>
              <a:rPr lang="pt-BR" sz="2800" dirty="0"/>
              <a:t>A operação </a:t>
            </a:r>
            <a:r>
              <a:rPr lang="pt-BR" sz="2800" i="1" dirty="0"/>
              <a:t>inicializa</a:t>
            </a:r>
            <a:r>
              <a:rPr lang="pt-BR" sz="2800" dirty="0"/>
              <a:t> é implementada pelo construtor da classe </a:t>
            </a:r>
            <a:r>
              <a:rPr lang="pt-BR" sz="2800" i="1" dirty="0" err="1"/>
              <a:t>ArvoreBinaria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918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encontrar um registro com uma chave </a:t>
            </a:r>
            <a:r>
              <a:rPr lang="pt-BR" i="1" dirty="0" err="1"/>
              <a:t>reg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Compare-a com a chave que está na raiz .</a:t>
            </a:r>
          </a:p>
          <a:p>
            <a:pPr lvl="1"/>
            <a:r>
              <a:rPr lang="pt-BR" dirty="0"/>
              <a:t>Se é menor, vá para a sub árvore esquerda.</a:t>
            </a:r>
          </a:p>
          <a:p>
            <a:pPr lvl="1"/>
            <a:r>
              <a:rPr lang="pt-BR" dirty="0"/>
              <a:t>Se é maior, vá para a sub árvore direita.</a:t>
            </a:r>
          </a:p>
          <a:p>
            <a:pPr lvl="1"/>
            <a:r>
              <a:rPr lang="pt-BR" dirty="0"/>
              <a:t>Repita o processo recursivamente, até que a chave procurada seja encontrada ou um nó folha é atingido.</a:t>
            </a:r>
          </a:p>
          <a:p>
            <a:pPr lvl="1"/>
            <a:r>
              <a:rPr lang="pt-BR" dirty="0"/>
              <a:t>Se a pesquisa tiver sucesso então o registro contendo a chave passada em </a:t>
            </a:r>
            <a:r>
              <a:rPr lang="pt-BR" i="1" dirty="0" err="1"/>
              <a:t>reg</a:t>
            </a:r>
            <a:r>
              <a:rPr lang="pt-BR" dirty="0"/>
              <a:t> é retornado.</a:t>
            </a:r>
          </a:p>
        </p:txBody>
      </p:sp>
    </p:spTree>
    <p:extLst>
      <p:ext uri="{BB962C8B-B14F-4D97-AF65-F5344CB8AC3E}">
        <p14:creationId xmlns:p14="http://schemas.microsoft.com/office/powerpoint/2010/main" val="1427247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2CE5A1-E6EC-4354-BA12-4F9A04DF9D79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38709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2CE5A1-E6EC-4354-BA12-4F9A04DF9D79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912345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5156643" y="5201153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437041" y="4576889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C0FBDC86-20C9-4349-9E1E-79F70384F519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014066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168049" y="567171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448447" y="531341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for maior, vá para a sub árvore direita.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9C4F0B1-B818-4EE2-9BAA-C57FD817E8D3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0172379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425802" y="6021288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824192" y="5264040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direita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37756AD-C8A1-47B9-8802-AC11105DE082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37265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108592" y="4495649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506982" y="4098442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O No p é a sub árvore direita.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6B38817-D80C-44DB-BB2F-3391EDD8D45F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15712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103917" y="5192361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384315" y="4568097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8989FE6-D78B-4BBD-A8FD-C49ED6D9EB6D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89821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137769" y="5436432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536159" y="4679184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esquerda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9E8853B-762C-4DE5-B303-51C5D7EA2524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48186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224500" y="4463818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068590" y="4140652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O No p é a sub árvore esquerda.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FD4604A-7CC0-4F67-9381-E88217F60237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851775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5156643" y="5174777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8437041" y="4550513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E28AB29-A4D2-4E6F-8BB1-EF67D764D39E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1855466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5156643" y="568050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8437041" y="5056238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maior, vá para a sub árvore direita.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3BD408D-2DBB-4E4E-9129-B0CEE8336D26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33517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3079370" y="642595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359768" y="5934670"/>
            <a:ext cx="368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Pesquisa obteve sucesso: retorne o registro contendo a chave reg.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DB2D139-3052-4CE3-8043-C1A81086DA3C}"/>
              </a:ext>
            </a:extLst>
          </p:cNvPr>
          <p:cNvSpPr/>
          <p:nvPr/>
        </p:nvSpPr>
        <p:spPr>
          <a:xfrm>
            <a:off x="152400" y="4283080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Item pesquisa(Item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Registro não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econtrado</a:t>
            </a:r>
            <a:endParaRPr lang="pt-BR" sz="1600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p.reg;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278327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pesquisar por um registro, atingir uma referência </a:t>
            </a:r>
            <a:r>
              <a:rPr lang="pt-BR" b="1" dirty="0" err="1"/>
              <a:t>null</a:t>
            </a:r>
            <a:r>
              <a:rPr lang="pt-BR" dirty="0"/>
              <a:t> em um processo de pesquisa significa uma pesquisa sem sucesso.</a:t>
            </a:r>
          </a:p>
          <a:p>
            <a:r>
              <a:rPr lang="pt-BR" dirty="0"/>
              <a:t>Caso queira inseri-lo na árvore, a referência </a:t>
            </a:r>
            <a:r>
              <a:rPr lang="pt-BR" b="1" dirty="0" err="1"/>
              <a:t>null</a:t>
            </a:r>
            <a:r>
              <a:rPr lang="pt-BR" dirty="0"/>
              <a:t> atingida é justamente o ponto de inserção.</a:t>
            </a:r>
          </a:p>
        </p:txBody>
      </p:sp>
    </p:spTree>
    <p:extLst>
      <p:ext uri="{BB962C8B-B14F-4D97-AF65-F5344CB8AC3E}">
        <p14:creationId xmlns:p14="http://schemas.microsoft.com/office/powerpoint/2010/main" val="9569993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2F157B2-9CA9-42C6-BBFD-E10D17107F5A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14482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4383792" y="4197281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664190" y="3429000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p = </a:t>
            </a:r>
            <a:r>
              <a:rPr lang="pt-BR" i="1" dirty="0" err="1"/>
              <a:t>null</a:t>
            </a:r>
            <a:r>
              <a:rPr lang="pt-BR" i="1" dirty="0"/>
              <a:t>, árvore está vazia, então cria-se um novo No p para a árvore, que conterá apenas um elemento.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98133F5-2F9D-4C14-83EA-2BC0AE58D825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5401181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6096000" y="4922971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140072" y="4298707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9ECAAD9-20EA-4FEC-89A9-A9689B00876F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649861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6183519" y="5158407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227591" y="4401159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esquerda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F0D1C4A-6FD9-43CA-BFDD-B62E0946FBD2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FF0000"/>
                </a:solidFill>
                <a:latin typeface="Consolas" panose="020B0609020204030204" pitchFamily="49" charset="0"/>
              </a:rPr>
              <a:t>p.esq = insere(reg, p.esq);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536260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4626618" y="4053265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907016" y="3284984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p = </a:t>
            </a:r>
            <a:r>
              <a:rPr lang="pt-BR" i="1" dirty="0" err="1"/>
              <a:t>null</a:t>
            </a:r>
            <a:r>
              <a:rPr lang="pt-BR" i="1" dirty="0"/>
              <a:t>, árvore está vazia, então cria-se um novo No p para a árvore, que conterá apenas um elemento.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0289861-F198-4AF4-972F-3E30A4F4C623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661439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570923" y="4922971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614995" y="4298707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150B2FB-7F27-4D15-80AE-AEB903D97F10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758403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976863" y="5412180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020935" y="4787916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maior, vá para a sub árvore direita.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14E40D1-8F81-4040-A43A-9EAF36242A24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p.reg.chave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96850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606949" y="5675949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651021" y="4619637"/>
            <a:ext cx="2520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direita.</a:t>
            </a:r>
          </a:p>
          <a:p>
            <a:r>
              <a:rPr lang="pt-BR" i="1" dirty="0"/>
              <a:t>Obs.: Neste momento, </a:t>
            </a:r>
            <a:r>
              <a:rPr lang="pt-BR" i="1" dirty="0" err="1"/>
              <a:t>p.dir</a:t>
            </a:r>
            <a:r>
              <a:rPr lang="pt-BR" i="1" dirty="0"/>
              <a:t> = </a:t>
            </a:r>
            <a:r>
              <a:rPr lang="pt-BR" i="1" dirty="0" err="1"/>
              <a:t>null</a:t>
            </a:r>
            <a:endParaRPr lang="pt-BR" i="1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9EFC52F-9802-4E35-8647-15DA4483AAD9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8597880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1B43BE7-1E6A-48B6-812D-0E0BD6BFDA57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92595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4995788" y="4222171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444060" y="385284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Cria-se um novo nó, e insere o registro nele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4B6D0D8-8609-468A-9BA8-B1012702B7AC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p = new No(); p.reg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048233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030947" y="4488137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479219" y="3852840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Como o novo nó inserido não tem nós filhos, as sub árvores esquerda e direita serão nulas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7710A9C-323D-4A1A-8E00-A9EDBF227A18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202153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3964938" y="6368554"/>
            <a:ext cx="400327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040216" y="602303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Retorna o novo nó para a função.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8C4284E-258D-4DA8-9535-754C784A832A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453737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141944" y="5636915"/>
            <a:ext cx="117136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385316" y="5158407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A sub árvore direita do nó (3) recebe o novo nó (4) como nó filho.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23" name="Conector reto 22"/>
          <p:cNvCxnSpPr>
            <a:stCxn id="5" idx="5"/>
            <a:endCxn id="30" idx="1"/>
          </p:cNvCxnSpPr>
          <p:nvPr/>
        </p:nvCxnSpPr>
        <p:spPr>
          <a:xfrm>
            <a:off x="4978221" y="255656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1CBB8146-A2FA-4921-A007-CE3999ED0B29}"/>
              </a:ext>
            </a:extLst>
          </p:cNvPr>
          <p:cNvSpPr/>
          <p:nvPr/>
        </p:nvSpPr>
        <p:spPr>
          <a:xfrm>
            <a:off x="178514" y="3545527"/>
            <a:ext cx="81291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insere(Item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No();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insere(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insere(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existente"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339190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retirada de um registro não é tão simples quanto a inserção. </a:t>
            </a:r>
          </a:p>
          <a:p>
            <a:r>
              <a:rPr lang="pt-BR" dirty="0"/>
              <a:t>Se o nó que contém o registro a ser retirado possui no máximo um descendente: a operação é simples.</a:t>
            </a:r>
          </a:p>
          <a:p>
            <a:r>
              <a:rPr lang="pt-BR" dirty="0"/>
              <a:t>No caso do nó conter dois descendentes o registro a ser retirado deve ser primeiro:</a:t>
            </a:r>
          </a:p>
          <a:p>
            <a:pPr lvl="1"/>
            <a:r>
              <a:rPr lang="pt-BR" dirty="0"/>
              <a:t>substituído pelo 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direita na sub árvore esquerda</a:t>
            </a:r>
            <a:r>
              <a:rPr lang="pt-BR" dirty="0"/>
              <a:t>; </a:t>
            </a:r>
          </a:p>
          <a:p>
            <a:pPr lvl="1"/>
            <a:r>
              <a:rPr lang="pt-BR" dirty="0"/>
              <a:t>ou pelo 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esquerda na sub árvore direita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75514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3933057"/>
            <a:ext cx="8229600" cy="2193107"/>
          </a:xfrm>
        </p:spPr>
        <p:txBody>
          <a:bodyPr>
            <a:normAutofit/>
          </a:bodyPr>
          <a:lstStyle/>
          <a:p>
            <a:r>
              <a:rPr lang="pt-BR" dirty="0"/>
              <a:t>Retirar o registro com chave 5:</a:t>
            </a:r>
          </a:p>
          <a:p>
            <a:pPr lvl="1"/>
            <a:r>
              <a:rPr lang="pt-BR" dirty="0"/>
              <a:t>trocá-lo pelo registro com chave 4 (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direita na sub árvore esquerda</a:t>
            </a:r>
            <a:r>
              <a:rPr lang="pt-BR" dirty="0"/>
              <a:t>) ou pelo registro com chave 6 (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esquerda na sub árvore direita</a:t>
            </a:r>
            <a:r>
              <a:rPr lang="pt-BR" dirty="0"/>
              <a:t>), e então retirar o nó que recebeu o registro com chave 5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7" y="1628800"/>
            <a:ext cx="3809549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21652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99C86F-DDB4-448C-95DC-36F7A69036C9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87828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168008" y="1741073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616280" y="1105776"/>
            <a:ext cx="194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Pesquisa o elemento a ser removido na árvore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600AB97-C61C-477B-B3D3-F7786F0B7F45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138487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9" name="Conector de seta reta 28"/>
          <p:cNvCxnSpPr/>
          <p:nvPr/>
        </p:nvCxnSpPr>
        <p:spPr>
          <a:xfrm>
            <a:off x="4607534" y="5455587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7646471" y="4437112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não existir a sub árvore </a:t>
            </a:r>
            <a:r>
              <a:rPr lang="pt-BR" i="1" dirty="0" err="1"/>
              <a:t>dir</a:t>
            </a:r>
            <a:r>
              <a:rPr lang="pt-BR" i="1" dirty="0"/>
              <a:t>, a raiz da sub árvore </a:t>
            </a:r>
            <a:r>
              <a:rPr lang="pt-BR" i="1" dirty="0" err="1"/>
              <a:t>esq</a:t>
            </a:r>
            <a:r>
              <a:rPr lang="pt-BR" i="1" dirty="0"/>
              <a:t> passa a ser a raiz da árvore.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0250A7A-0FC0-4345-A050-0647075A82BA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0777601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6" name="Conector de seta reta 25"/>
          <p:cNvCxnSpPr/>
          <p:nvPr/>
        </p:nvCxnSpPr>
        <p:spPr>
          <a:xfrm>
            <a:off x="5036286" y="5700943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968208" y="4708594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não existir a sub árvore </a:t>
            </a:r>
            <a:r>
              <a:rPr lang="pt-BR" i="1" dirty="0" err="1"/>
              <a:t>esq</a:t>
            </a:r>
            <a:r>
              <a:rPr lang="pt-BR" i="1" dirty="0"/>
              <a:t>, a raiz da sub árvore </a:t>
            </a:r>
            <a:r>
              <a:rPr lang="pt-BR" i="1" dirty="0" err="1"/>
              <a:t>dir</a:t>
            </a:r>
            <a:r>
              <a:rPr lang="pt-BR" i="1" dirty="0"/>
              <a:t> passa a ser a raiz da árvore.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F6E42FF-ADAF-4213-B929-D2AB79B210B4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else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== null)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92535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208338" y="5950934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256240" y="4941168"/>
            <a:ext cx="216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Caso exista sub árvore </a:t>
            </a:r>
            <a:r>
              <a:rPr lang="pt-BR" i="1" dirty="0" err="1"/>
              <a:t>esq</a:t>
            </a:r>
            <a:r>
              <a:rPr lang="pt-BR" i="1" dirty="0"/>
              <a:t> e </a:t>
            </a:r>
            <a:r>
              <a:rPr lang="pt-BR" i="1" dirty="0" err="1"/>
              <a:t>dir</a:t>
            </a:r>
            <a:r>
              <a:rPr lang="pt-BR" i="1" dirty="0"/>
              <a:t>, calcular o elemento mais a direta da sub árvore esquerda de p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70EB9E6-F637-4302-A3A1-5473C40E42B1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antecessor(p,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849809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122946"/>
            <a:ext cx="21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existe uma sub árvore direita, continuar pesquisa até encontrar o elemento mais a direita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01317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319016" y="224460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7AF53E8-535A-4F84-BECF-74CB240A480F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820060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122946"/>
            <a:ext cx="21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existe uma sub árvore direita, continuar pesquisa até encontrar o elemento mais a direita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01317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319016" y="224460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7AF53E8-535A-4F84-BECF-74CB240A480F}"/>
              </a:ext>
            </a:extLst>
          </p:cNvPr>
          <p:cNvSpPr/>
          <p:nvPr/>
        </p:nvSpPr>
        <p:spPr>
          <a:xfrm>
            <a:off x="6990310" y="4518898"/>
            <a:ext cx="4729836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1594042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437113"/>
            <a:ext cx="2160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Ao encontrar o elemento mais a direita, q recebe r (o elemento mais a direita), e r recebe sua sub árvore a esquerda 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327342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022872" y="292959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B215607-B2FD-4F16-A6D3-B3559899F942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q.reg = r.reg;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r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670744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5302950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Retorna a sub árvore a esquerda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600273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022872" y="292959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157F157-D0C6-42DC-B6EC-03B686787F2F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r;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432447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4E8B648-5959-489F-8885-E146F49D897C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92BC0C7-050B-4F3A-99ED-A67BAADCB75B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antecessor(p,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9172943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58F68E4C-3677-4CE1-A6F6-25C7E85FE673}"/>
              </a:ext>
            </a:extLst>
          </p:cNvPr>
          <p:cNvSpPr/>
          <p:nvPr/>
        </p:nvSpPr>
        <p:spPr>
          <a:xfrm>
            <a:off x="0" y="3554433"/>
            <a:ext cx="736035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...</a:t>
            </a:r>
            <a:endParaRPr lang="pt-BR" sz="16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3734504" y="639390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004656" y="5847656"/>
            <a:ext cx="1439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a nova raiz da árvore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E0B75FA-D07D-409A-AD87-521808EA24DA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338121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A476D19-D505-4187-A0EC-FDC7653E0059}"/>
              </a:ext>
            </a:extLst>
          </p:cNvPr>
          <p:cNvSpPr/>
          <p:nvPr/>
        </p:nvSpPr>
        <p:spPr>
          <a:xfrm>
            <a:off x="6990310" y="4518898"/>
            <a:ext cx="45891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antecessor(No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7BCA50-0835-4FC9-90B0-D206000ADDC7}"/>
              </a:ext>
            </a:extLst>
          </p:cNvPr>
          <p:cNvSpPr/>
          <p:nvPr/>
        </p:nvSpPr>
        <p:spPr>
          <a:xfrm>
            <a:off x="175846" y="2339102"/>
            <a:ext cx="7360354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No retira(Item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"Erro: Registro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nao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encontrado"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600" dirty="0"/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retira(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lvl="3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lvl="3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</a:p>
          <a:p>
            <a:pPr lvl="3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antecessor(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843379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 (ou Em-ordem)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Após construída a árvore, pode ser necessário percorrer todos os registros que compõem a tabela ou arquivo.</a:t>
            </a:r>
          </a:p>
          <a:p>
            <a:r>
              <a:rPr lang="pt-BR" dirty="0"/>
              <a:t>Existe mais de uma ordem de </a:t>
            </a:r>
            <a:r>
              <a:rPr lang="pt-BR" b="1" dirty="0"/>
              <a:t>caminhamento </a:t>
            </a:r>
            <a:r>
              <a:rPr lang="pt-BR" dirty="0"/>
              <a:t>em árvores, mas a mais útil é a chamada ordem de </a:t>
            </a:r>
            <a:r>
              <a:rPr lang="pt-BR" b="1" dirty="0"/>
              <a:t>caminhamento central</a:t>
            </a:r>
            <a:r>
              <a:rPr lang="pt-BR" dirty="0"/>
              <a:t>.</a:t>
            </a:r>
          </a:p>
          <a:p>
            <a:r>
              <a:rPr lang="pt-BR" dirty="0"/>
              <a:t>O caminhamento central é melhor expresso em termos recursivos.</a:t>
            </a:r>
          </a:p>
        </p:txBody>
      </p:sp>
    </p:spTree>
    <p:extLst>
      <p:ext uri="{BB962C8B-B14F-4D97-AF65-F5344CB8AC3E}">
        <p14:creationId xmlns:p14="http://schemas.microsoft.com/office/powerpoint/2010/main" val="4758965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central lista o </a:t>
            </a:r>
            <a:r>
              <a:rPr lang="pt-BR" b="1" dirty="0"/>
              <a:t>nó filho da </a:t>
            </a:r>
            <a:r>
              <a:rPr lang="pt-BR" b="1" dirty="0" err="1"/>
              <a:t>subárvore</a:t>
            </a:r>
            <a:r>
              <a:rPr lang="pt-BR" b="1" dirty="0"/>
              <a:t> mais à esquerda</a:t>
            </a:r>
            <a:r>
              <a:rPr lang="pt-BR" dirty="0"/>
              <a:t>, lista o </a:t>
            </a:r>
            <a:r>
              <a:rPr lang="pt-BR" b="1" dirty="0"/>
              <a:t>nó raiz </a:t>
            </a:r>
            <a:r>
              <a:rPr lang="pt-BR" dirty="0"/>
              <a:t>desta </a:t>
            </a:r>
            <a:r>
              <a:rPr lang="pt-BR" dirty="0" err="1"/>
              <a:t>subárvore</a:t>
            </a:r>
            <a:r>
              <a:rPr lang="pt-BR" dirty="0"/>
              <a:t> e então o </a:t>
            </a:r>
            <a:r>
              <a:rPr lang="pt-BR" b="1" dirty="0"/>
              <a:t>nó filho à direita</a:t>
            </a:r>
            <a:r>
              <a:rPr lang="pt-BR" dirty="0"/>
              <a:t>. (em cada </a:t>
            </a:r>
            <a:r>
              <a:rPr lang="pt-BR" dirty="0" err="1"/>
              <a:t>subárvore</a:t>
            </a:r>
            <a:r>
              <a:rPr lang="pt-BR" dirty="0"/>
              <a:t>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 </a:t>
            </a:r>
            <a:r>
              <a:rPr lang="pt-BR" b="1" dirty="0"/>
              <a:t>nós filhos à esquerda</a:t>
            </a:r>
            <a:r>
              <a:rPr lang="pt-BR" dirty="0"/>
              <a:t>, </a:t>
            </a:r>
            <a:r>
              <a:rPr lang="pt-BR" b="1" dirty="0"/>
              <a:t>raiz</a:t>
            </a:r>
            <a:r>
              <a:rPr lang="pt-BR" dirty="0"/>
              <a:t> e </a:t>
            </a:r>
            <a:r>
              <a:rPr lang="pt-BR" b="1" dirty="0"/>
              <a:t>nós filhos à direita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Uma característica importante do caminhamento central é que os nós são visitados de </a:t>
            </a:r>
            <a:r>
              <a:rPr lang="pt-BR" b="1" dirty="0"/>
              <a:t>forma ordenada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3901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Percorrer a árvore: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Usando caminhamento central recupera as chaves na ordem 1, 2, 3, 4, 5, 6 e 7.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5" y="2132857"/>
            <a:ext cx="3529885" cy="216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537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496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8803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58932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07284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42537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9326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851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38A0240-932B-4907-B2CD-9B34FFF5575E}"/>
              </a:ext>
            </a:extLst>
          </p:cNvPr>
          <p:cNvCxnSpPr/>
          <p:nvPr/>
        </p:nvCxnSpPr>
        <p:spPr>
          <a:xfrm flipH="1">
            <a:off x="3754315" y="4060088"/>
            <a:ext cx="318334" cy="309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C4A49F-78C2-4029-A4AE-414E51CC058B}"/>
              </a:ext>
            </a:extLst>
          </p:cNvPr>
          <p:cNvSpPr txBox="1"/>
          <p:nvPr/>
        </p:nvSpPr>
        <p:spPr>
          <a:xfrm>
            <a:off x="3381434" y="431758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93071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out.println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p.reg.toString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34056-DA63-411E-B2A1-AA094382E505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</p:spTree>
    <p:extLst>
      <p:ext uri="{BB962C8B-B14F-4D97-AF65-F5344CB8AC3E}">
        <p14:creationId xmlns:p14="http://schemas.microsoft.com/office/powerpoint/2010/main" val="42049302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FA28734-5A4A-49B9-A284-D870266F2FF3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</p:spTree>
    <p:extLst>
      <p:ext uri="{BB962C8B-B14F-4D97-AF65-F5344CB8AC3E}">
        <p14:creationId xmlns:p14="http://schemas.microsoft.com/office/powerpoint/2010/main" val="14248852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265646-A72A-4EB0-84AA-3537F935E91B}"/>
              </a:ext>
            </a:extLst>
          </p:cNvPr>
          <p:cNvCxnSpPr>
            <a:cxnSpLocks/>
          </p:cNvCxnSpPr>
          <p:nvPr/>
        </p:nvCxnSpPr>
        <p:spPr>
          <a:xfrm>
            <a:off x="4350786" y="4096100"/>
            <a:ext cx="372881" cy="376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D523EEF-5F55-43F6-BBFB-5FE87154191E}"/>
              </a:ext>
            </a:extLst>
          </p:cNvPr>
          <p:cNvSpPr txBox="1"/>
          <p:nvPr/>
        </p:nvSpPr>
        <p:spPr>
          <a:xfrm>
            <a:off x="4447444" y="438476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FF218B-FF35-4A1C-AE5B-782E5BEF3021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</p:spTree>
    <p:extLst>
      <p:ext uri="{BB962C8B-B14F-4D97-AF65-F5344CB8AC3E}">
        <p14:creationId xmlns:p14="http://schemas.microsoft.com/office/powerpoint/2010/main" val="18384554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10D97CC9-E252-4745-A093-5A55DC2BDB5B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E3EE08-C595-4953-9663-BB6198DA584D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04400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out.println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p.reg.toString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249455A-C784-42E3-BE6C-D86E0973F0CD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</p:spTree>
    <p:extLst>
      <p:ext uri="{BB962C8B-B14F-4D97-AF65-F5344CB8AC3E}">
        <p14:creationId xmlns:p14="http://schemas.microsoft.com/office/powerpoint/2010/main" val="282477308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B5FE5D9-5732-48D2-B20F-DA9A0FDD9819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</p:spTree>
    <p:extLst>
      <p:ext uri="{BB962C8B-B14F-4D97-AF65-F5344CB8AC3E}">
        <p14:creationId xmlns:p14="http://schemas.microsoft.com/office/powerpoint/2010/main" val="2906933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2B0082-D367-4279-9E16-07E838452B69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</p:spTree>
    <p:extLst>
      <p:ext uri="{BB962C8B-B14F-4D97-AF65-F5344CB8AC3E}">
        <p14:creationId xmlns:p14="http://schemas.microsoft.com/office/powerpoint/2010/main" val="2072611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6FEB23F-8B92-44DC-9696-A3E550433D1C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</p:spTree>
    <p:extLst>
      <p:ext uri="{BB962C8B-B14F-4D97-AF65-F5344CB8AC3E}">
        <p14:creationId xmlns:p14="http://schemas.microsoft.com/office/powerpoint/2010/main" val="187849098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38A0240-932B-4907-B2CD-9B34FFF5575E}"/>
              </a:ext>
            </a:extLst>
          </p:cNvPr>
          <p:cNvCxnSpPr/>
          <p:nvPr/>
        </p:nvCxnSpPr>
        <p:spPr>
          <a:xfrm flipH="1">
            <a:off x="5178669" y="4060088"/>
            <a:ext cx="318334" cy="309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C4A49F-78C2-4029-A4AE-414E51CC058B}"/>
              </a:ext>
            </a:extLst>
          </p:cNvPr>
          <p:cNvSpPr txBox="1"/>
          <p:nvPr/>
        </p:nvSpPr>
        <p:spPr>
          <a:xfrm>
            <a:off x="4805788" y="431758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B780678-FD6A-4D95-A5BB-8814ED271E63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</p:spTree>
    <p:extLst>
      <p:ext uri="{BB962C8B-B14F-4D97-AF65-F5344CB8AC3E}">
        <p14:creationId xmlns:p14="http://schemas.microsoft.com/office/powerpoint/2010/main" val="410607799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out.println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p.reg.toString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3EBED01-B20E-4931-B327-4D97EBBC35A6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</p:spTree>
    <p:extLst>
      <p:ext uri="{BB962C8B-B14F-4D97-AF65-F5344CB8AC3E}">
        <p14:creationId xmlns:p14="http://schemas.microsoft.com/office/powerpoint/2010/main" val="73662460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013040A-CBBF-40DD-A688-C7BE6A04D73E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</p:spTree>
    <p:extLst>
      <p:ext uri="{BB962C8B-B14F-4D97-AF65-F5344CB8AC3E}">
        <p14:creationId xmlns:p14="http://schemas.microsoft.com/office/powerpoint/2010/main" val="32225407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265646-A72A-4EB0-84AA-3537F935E91B}"/>
              </a:ext>
            </a:extLst>
          </p:cNvPr>
          <p:cNvCxnSpPr>
            <a:cxnSpLocks/>
          </p:cNvCxnSpPr>
          <p:nvPr/>
        </p:nvCxnSpPr>
        <p:spPr>
          <a:xfrm>
            <a:off x="5792725" y="4096100"/>
            <a:ext cx="372881" cy="376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D523EEF-5F55-43F6-BBFB-5FE87154191E}"/>
              </a:ext>
            </a:extLst>
          </p:cNvPr>
          <p:cNvSpPr txBox="1"/>
          <p:nvPr/>
        </p:nvSpPr>
        <p:spPr>
          <a:xfrm>
            <a:off x="5889383" y="438476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D0E46D2-E86E-4461-865C-F96BD4AF287A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</p:spTree>
    <p:extLst>
      <p:ext uri="{BB962C8B-B14F-4D97-AF65-F5344CB8AC3E}">
        <p14:creationId xmlns:p14="http://schemas.microsoft.com/office/powerpoint/2010/main" val="403139495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8230BB4B-65C3-4FCE-ADBB-79B336B8C121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D653E7C-3939-4165-BDE9-AEBCF3461024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</p:spTree>
    <p:extLst>
      <p:ext uri="{BB962C8B-B14F-4D97-AF65-F5344CB8AC3E}">
        <p14:creationId xmlns:p14="http://schemas.microsoft.com/office/powerpoint/2010/main" val="35902707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A31F8389-C77A-4045-A764-99B8E5E2FD3E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635F110-06BF-40E0-81E9-9CD0172CDFED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</p:spTree>
    <p:extLst>
      <p:ext uri="{BB962C8B-B14F-4D97-AF65-F5344CB8AC3E}">
        <p14:creationId xmlns:p14="http://schemas.microsoft.com/office/powerpoint/2010/main" val="316408303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out.println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p.reg.toString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E67CB13-A168-405B-A86B-B04923A62D41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</p:spTree>
    <p:extLst>
      <p:ext uri="{BB962C8B-B14F-4D97-AF65-F5344CB8AC3E}">
        <p14:creationId xmlns:p14="http://schemas.microsoft.com/office/powerpoint/2010/main" val="11908543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BC9485-6B03-4857-9CAC-7833B964C0B4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</p:spTree>
    <p:extLst>
      <p:ext uri="{BB962C8B-B14F-4D97-AF65-F5344CB8AC3E}">
        <p14:creationId xmlns:p14="http://schemas.microsoft.com/office/powerpoint/2010/main" val="25238004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!=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2CB7DD-60CD-4C73-9CC8-DAF24916B13F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</p:spTree>
    <p:extLst>
      <p:ext uri="{BB962C8B-B14F-4D97-AF65-F5344CB8AC3E}">
        <p14:creationId xmlns:p14="http://schemas.microsoft.com/office/powerpoint/2010/main" val="7998471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5A6835B-45BB-44FE-9FE1-70C6D06666CA}"/>
              </a:ext>
            </a:extLst>
          </p:cNvPr>
          <p:cNvCxnSpPr/>
          <p:nvPr/>
        </p:nvCxnSpPr>
        <p:spPr>
          <a:xfrm flipH="1">
            <a:off x="6439018" y="3340961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4F0D0C-CF11-4BDB-93C6-72A19B6EBC04}"/>
              </a:ext>
            </a:extLst>
          </p:cNvPr>
          <p:cNvSpPr txBox="1"/>
          <p:nvPr/>
        </p:nvSpPr>
        <p:spPr>
          <a:xfrm>
            <a:off x="6099201" y="3773671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2CB7DD-60CD-4C73-9CC8-DAF24916B13F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</p:spTree>
    <p:extLst>
      <p:ext uri="{BB962C8B-B14F-4D97-AF65-F5344CB8AC3E}">
        <p14:creationId xmlns:p14="http://schemas.microsoft.com/office/powerpoint/2010/main" val="294733559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out.println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p.reg.toString</a:t>
            </a:r>
            <a:r>
              <a:rPr lang="pt-BR" sz="1600" i="1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EBD67D2-8327-4A30-96F6-E8B9D1E0A594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</p:spTree>
    <p:extLst>
      <p:ext uri="{BB962C8B-B14F-4D97-AF65-F5344CB8AC3E}">
        <p14:creationId xmlns:p14="http://schemas.microsoft.com/office/powerpoint/2010/main" val="165212585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p.dir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7E78B729-2716-46A5-902D-20B670985868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7031849" y="3340961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5304A09-A699-46D9-B4FD-8A0C4AC9EDBB}"/>
              </a:ext>
            </a:extLst>
          </p:cNvPr>
          <p:cNvSpPr txBox="1"/>
          <p:nvPr/>
        </p:nvSpPr>
        <p:spPr>
          <a:xfrm>
            <a:off x="7252879" y="3773671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B35695C-4060-427A-9944-D0345F716184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</p:spTree>
    <p:extLst>
      <p:ext uri="{BB962C8B-B14F-4D97-AF65-F5344CB8AC3E}">
        <p14:creationId xmlns:p14="http://schemas.microsoft.com/office/powerpoint/2010/main" val="58744791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FF8176C7-A69E-4F22-9187-83F62F1E23A1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CE16B3-B493-447C-888A-A99D4BEE79BA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</p:spTree>
    <p:extLst>
      <p:ext uri="{BB962C8B-B14F-4D97-AF65-F5344CB8AC3E}">
        <p14:creationId xmlns:p14="http://schemas.microsoft.com/office/powerpoint/2010/main" val="2118901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318940A-1B02-492A-841D-C23FECF5CE9A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2036B97-87CB-46F2-B390-D988CD6B7D2C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</p:spTree>
    <p:extLst>
      <p:ext uri="{BB962C8B-B14F-4D97-AF65-F5344CB8AC3E}">
        <p14:creationId xmlns:p14="http://schemas.microsoft.com/office/powerpoint/2010/main" val="42102747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784C7D-4F51-4DFE-A963-1832B502920B}"/>
              </a:ext>
            </a:extLst>
          </p:cNvPr>
          <p:cNvSpPr/>
          <p:nvPr/>
        </p:nvSpPr>
        <p:spPr>
          <a:xfrm>
            <a:off x="573551" y="4595249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central(No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reg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central(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E0F7206-38AC-471F-A628-B334F67B75F2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300DE7-FFAF-4922-97DE-AFE2E2B17327}"/>
              </a:ext>
            </a:extLst>
          </p:cNvPr>
          <p:cNvSpPr/>
          <p:nvPr/>
        </p:nvSpPr>
        <p:spPr>
          <a:xfrm>
            <a:off x="7055398" y="4595248"/>
            <a:ext cx="42585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Uma característica importante do caminhamento central é que os nós são visitados de </a:t>
            </a:r>
            <a:r>
              <a:rPr lang="pt-BR" b="1" dirty="0"/>
              <a:t>forma ordenada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77062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3374-482B-483F-AB77-023FA0F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99F83-7EA1-4F16-9F83-79ED00C1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em </a:t>
            </a:r>
            <a:r>
              <a:rPr lang="pt-BR" b="1" dirty="0" err="1"/>
              <a:t>pré</a:t>
            </a:r>
            <a:r>
              <a:rPr lang="pt-BR" b="1" dirty="0"/>
              <a:t>-ordem</a:t>
            </a:r>
            <a:r>
              <a:rPr lang="pt-BR" dirty="0"/>
              <a:t> lista o </a:t>
            </a:r>
            <a:r>
              <a:rPr lang="pt-BR" b="1" dirty="0"/>
              <a:t>nó raiz da sub árvore</a:t>
            </a:r>
            <a:r>
              <a:rPr lang="pt-BR" dirty="0"/>
              <a:t>, </a:t>
            </a:r>
            <a:r>
              <a:rPr lang="pt-BR" b="1" dirty="0"/>
              <a:t>o nó filho da sub árvore à esquerda </a:t>
            </a:r>
            <a:r>
              <a:rPr lang="pt-BR" dirty="0"/>
              <a:t>e lista o </a:t>
            </a:r>
            <a:r>
              <a:rPr lang="pt-BR" b="1" dirty="0"/>
              <a:t>nó filho à direita</a:t>
            </a:r>
            <a:r>
              <a:rPr lang="pt-BR" dirty="0"/>
              <a:t>. (em cada </a:t>
            </a:r>
            <a:r>
              <a:rPr lang="pt-BR" dirty="0" err="1"/>
              <a:t>subárvore</a:t>
            </a:r>
            <a:r>
              <a:rPr lang="pt-BR" dirty="0"/>
              <a:t>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 </a:t>
            </a:r>
            <a:r>
              <a:rPr lang="pt-BR" b="1" dirty="0"/>
              <a:t>raiz, nós filhos à esquerda</a:t>
            </a:r>
            <a:r>
              <a:rPr lang="pt-BR" dirty="0"/>
              <a:t> e </a:t>
            </a:r>
            <a:r>
              <a:rPr lang="pt-BR" b="1" dirty="0"/>
              <a:t>nós filhos à direita</a:t>
            </a:r>
            <a:r>
              <a:rPr lang="pt-BR" dirty="0"/>
              <a:t>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F2D1B0-E9F2-47A4-B68F-187479D3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97116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13750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FA505D-5BEC-4479-8B16-193D67A7874E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</a:t>
            </a:r>
          </a:p>
        </p:txBody>
      </p:sp>
    </p:spTree>
    <p:extLst>
      <p:ext uri="{BB962C8B-B14F-4D97-AF65-F5344CB8AC3E}">
        <p14:creationId xmlns:p14="http://schemas.microsoft.com/office/powerpoint/2010/main" val="215194722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6D839E-2A2A-4EA9-B3CD-5DBDC691F7B4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</a:t>
            </a:r>
          </a:p>
        </p:txBody>
      </p:sp>
    </p:spTree>
    <p:extLst>
      <p:ext uri="{BB962C8B-B14F-4D97-AF65-F5344CB8AC3E}">
        <p14:creationId xmlns:p14="http://schemas.microsoft.com/office/powerpoint/2010/main" val="305647449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240242E-3827-44BC-BFFF-568520AD1F3A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</a:t>
            </a:r>
          </a:p>
        </p:txBody>
      </p:sp>
    </p:spTree>
    <p:extLst>
      <p:ext uri="{BB962C8B-B14F-4D97-AF65-F5344CB8AC3E}">
        <p14:creationId xmlns:p14="http://schemas.microsoft.com/office/powerpoint/2010/main" val="164377059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9FF6FA1-6C2D-413D-843D-38F5D6E3048B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</a:t>
            </a:r>
          </a:p>
        </p:txBody>
      </p:sp>
    </p:spTree>
    <p:extLst>
      <p:ext uri="{BB962C8B-B14F-4D97-AF65-F5344CB8AC3E}">
        <p14:creationId xmlns:p14="http://schemas.microsoft.com/office/powerpoint/2010/main" val="272347756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33B53A-325C-452E-94AF-A6A4D12225C4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319067691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7444C2-3188-4258-A046-FBE185661383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22529152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4B321C-82A8-4956-9E85-981956618CEE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394475066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FCC0237-DD95-4F81-8F8B-D66D2E234677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</p:spTree>
    <p:extLst>
      <p:ext uri="{BB962C8B-B14F-4D97-AF65-F5344CB8AC3E}">
        <p14:creationId xmlns:p14="http://schemas.microsoft.com/office/powerpoint/2010/main" val="34550162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B2BB66-2959-45B6-8263-7A2CAFA39E33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</p:spTree>
    <p:extLst>
      <p:ext uri="{BB962C8B-B14F-4D97-AF65-F5344CB8AC3E}">
        <p14:creationId xmlns:p14="http://schemas.microsoft.com/office/powerpoint/2010/main" val="264649538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CCB270-99DC-4454-BBC4-F19F1990767F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008F3E-C56E-4B74-BA08-6AD26AF513C4}"/>
              </a:ext>
            </a:extLst>
          </p:cNvPr>
          <p:cNvSpPr/>
          <p:nvPr/>
        </p:nvSpPr>
        <p:spPr>
          <a:xfrm>
            <a:off x="7055398" y="4996820"/>
            <a:ext cx="42585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Observe que o nó raiz de cada sub árvore é listado primeiro.</a:t>
            </a:r>
          </a:p>
        </p:txBody>
      </p:sp>
    </p:spTree>
    <p:extLst>
      <p:ext uri="{BB962C8B-B14F-4D97-AF65-F5344CB8AC3E}">
        <p14:creationId xmlns:p14="http://schemas.microsoft.com/office/powerpoint/2010/main" val="13108085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3374-482B-483F-AB77-023FA0F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99F83-7EA1-4F16-9F83-79ED00C1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em </a:t>
            </a:r>
            <a:r>
              <a:rPr lang="pt-BR" b="1" dirty="0"/>
              <a:t>pós-ordem</a:t>
            </a:r>
            <a:r>
              <a:rPr lang="pt-BR" dirty="0"/>
              <a:t> lista os </a:t>
            </a:r>
            <a:r>
              <a:rPr lang="pt-BR" b="1" dirty="0"/>
              <a:t>nós filhos à esquerda </a:t>
            </a:r>
            <a:r>
              <a:rPr lang="pt-BR" dirty="0"/>
              <a:t>da sub árvore, os </a:t>
            </a:r>
            <a:r>
              <a:rPr lang="pt-BR" b="1" dirty="0"/>
              <a:t>nós filhos da sub árvore à direita </a:t>
            </a:r>
            <a:r>
              <a:rPr lang="pt-BR" dirty="0"/>
              <a:t>e lista o </a:t>
            </a:r>
            <a:r>
              <a:rPr lang="pt-BR" b="1" dirty="0"/>
              <a:t>nó raiz </a:t>
            </a:r>
            <a:r>
              <a:rPr lang="pt-BR" dirty="0"/>
              <a:t>da sub árvore. (em cada sub árvore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</a:t>
            </a:r>
            <a:r>
              <a:rPr lang="pt-BR" b="1" dirty="0"/>
              <a:t> nós filhos à esquerda</a:t>
            </a:r>
            <a:r>
              <a:rPr lang="pt-BR" dirty="0"/>
              <a:t>, </a:t>
            </a:r>
            <a:r>
              <a:rPr lang="pt-BR" b="1" dirty="0"/>
              <a:t>nós filhos à direita </a:t>
            </a:r>
            <a:r>
              <a:rPr lang="pt-BR" dirty="0"/>
              <a:t>e </a:t>
            </a:r>
            <a:r>
              <a:rPr lang="pt-BR" b="1" dirty="0"/>
              <a:t>raiz</a:t>
            </a:r>
            <a:r>
              <a:rPr lang="pt-BR" dirty="0"/>
              <a:t>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F2D1B0-E9F2-47A4-B68F-187479D3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7859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09747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87542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7698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240242E-3827-44BC-BFFF-568520AD1F3A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38974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9FF6FA1-6C2D-413D-843D-38F5D6E3048B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67294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33B53A-325C-452E-94AF-A6A4D12225C4}"/>
              </a:ext>
            </a:extLst>
          </p:cNvPr>
          <p:cNvSpPr txBox="1"/>
          <p:nvPr/>
        </p:nvSpPr>
        <p:spPr>
          <a:xfrm>
            <a:off x="7084575" y="5688623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</a:t>
            </a:r>
          </a:p>
        </p:txBody>
      </p:sp>
    </p:spTree>
    <p:extLst>
      <p:ext uri="{BB962C8B-B14F-4D97-AF65-F5344CB8AC3E}">
        <p14:creationId xmlns:p14="http://schemas.microsoft.com/office/powerpoint/2010/main" val="393988551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7444C2-3188-4258-A046-FBE185661383}"/>
              </a:ext>
            </a:extLst>
          </p:cNvPr>
          <p:cNvSpPr txBox="1"/>
          <p:nvPr/>
        </p:nvSpPr>
        <p:spPr>
          <a:xfrm>
            <a:off x="7084575" y="5688623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</a:t>
            </a:r>
          </a:p>
        </p:txBody>
      </p:sp>
    </p:spTree>
    <p:extLst>
      <p:ext uri="{BB962C8B-B14F-4D97-AF65-F5344CB8AC3E}">
        <p14:creationId xmlns:p14="http://schemas.microsoft.com/office/powerpoint/2010/main" val="412972786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4B321C-82A8-4956-9E85-981956618CEE}"/>
              </a:ext>
            </a:extLst>
          </p:cNvPr>
          <p:cNvSpPr txBox="1"/>
          <p:nvPr/>
        </p:nvSpPr>
        <p:spPr>
          <a:xfrm>
            <a:off x="7084575" y="5688623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</a:t>
            </a:r>
          </a:p>
        </p:txBody>
      </p:sp>
    </p:spTree>
    <p:extLst>
      <p:ext uri="{BB962C8B-B14F-4D97-AF65-F5344CB8AC3E}">
        <p14:creationId xmlns:p14="http://schemas.microsoft.com/office/powerpoint/2010/main" val="36170456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FCC0237-DD95-4F81-8F8B-D66D2E234677}"/>
              </a:ext>
            </a:extLst>
          </p:cNvPr>
          <p:cNvSpPr txBox="1"/>
          <p:nvPr/>
        </p:nvSpPr>
        <p:spPr>
          <a:xfrm>
            <a:off x="7084575" y="5688623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</a:t>
            </a:r>
          </a:p>
        </p:txBody>
      </p:sp>
    </p:spTree>
    <p:extLst>
      <p:ext uri="{BB962C8B-B14F-4D97-AF65-F5344CB8AC3E}">
        <p14:creationId xmlns:p14="http://schemas.microsoft.com/office/powerpoint/2010/main" val="278316188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B2BB66-2959-45B6-8263-7A2CAFA39E33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2   4   3   8   5</a:t>
            </a:r>
          </a:p>
        </p:txBody>
      </p:sp>
    </p:spTree>
    <p:extLst>
      <p:ext uri="{BB962C8B-B14F-4D97-AF65-F5344CB8AC3E}">
        <p14:creationId xmlns:p14="http://schemas.microsoft.com/office/powerpoint/2010/main" val="341653425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CCB270-99DC-4454-BBC4-F19F1990767F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2   4   3   8   5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008F3E-C56E-4B74-BA08-6AD26AF513C4}"/>
              </a:ext>
            </a:extLst>
          </p:cNvPr>
          <p:cNvSpPr/>
          <p:nvPr/>
        </p:nvSpPr>
        <p:spPr>
          <a:xfrm>
            <a:off x="7055398" y="4996820"/>
            <a:ext cx="42585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Observe que o nó raiz de cada sub árvore é listado por último.</a:t>
            </a:r>
          </a:p>
        </p:txBody>
      </p:sp>
    </p:spTree>
    <p:extLst>
      <p:ext uri="{BB962C8B-B14F-4D97-AF65-F5344CB8AC3E}">
        <p14:creationId xmlns:p14="http://schemas.microsoft.com/office/powerpoint/2010/main" val="293492357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7EFFF-EC40-40D2-A273-E9F2DD66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sobre caminhamento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B20B3-E58F-4E90-BAE5-DBB5DFAB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153</a:t>
            </a:fld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FA3F53E-FF5F-40AA-BC48-2F36EA7D0525}"/>
              </a:ext>
            </a:extLst>
          </p:cNvPr>
          <p:cNvSpPr/>
          <p:nvPr/>
        </p:nvSpPr>
        <p:spPr>
          <a:xfrm>
            <a:off x="5488640" y="186590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67FB7AB-5212-4D2A-BE4E-5E947E2FAE25}"/>
              </a:ext>
            </a:extLst>
          </p:cNvPr>
          <p:cNvSpPr/>
          <p:nvPr/>
        </p:nvSpPr>
        <p:spPr>
          <a:xfrm>
            <a:off x="4567603" y="25583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77B4B89-96BB-46E2-87B5-873AFDAA36F9}"/>
              </a:ext>
            </a:extLst>
          </p:cNvPr>
          <p:cNvSpPr/>
          <p:nvPr/>
        </p:nvSpPr>
        <p:spPr>
          <a:xfrm>
            <a:off x="6513519" y="25676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ED4DFA4-5816-4A21-873F-7217C619F665}"/>
              </a:ext>
            </a:extLst>
          </p:cNvPr>
          <p:cNvSpPr/>
          <p:nvPr/>
        </p:nvSpPr>
        <p:spPr>
          <a:xfrm>
            <a:off x="3832456" y="32340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12C2A22-E874-44C6-B76D-300D29F40217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5795954" y="2173217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4782BB-0792-4A75-9087-3143EE900AA0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4874917" y="2173217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8916C7D-3BD8-44E4-A580-5C70ADF98957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4139770" y="2865677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B63D4D-BBA3-4E19-BC3D-CD9BC6C71BA6}"/>
              </a:ext>
            </a:extLst>
          </p:cNvPr>
          <p:cNvSpPr txBox="1"/>
          <p:nvPr/>
        </p:nvSpPr>
        <p:spPr>
          <a:xfrm>
            <a:off x="5517817" y="1861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277BED-7786-43CF-B0D0-87893FE6164E}"/>
              </a:ext>
            </a:extLst>
          </p:cNvPr>
          <p:cNvSpPr txBox="1"/>
          <p:nvPr/>
        </p:nvSpPr>
        <p:spPr>
          <a:xfrm>
            <a:off x="6542696" y="2558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1368F3-8F69-4F46-9944-A4D081686D2D}"/>
              </a:ext>
            </a:extLst>
          </p:cNvPr>
          <p:cNvSpPr txBox="1"/>
          <p:nvPr/>
        </p:nvSpPr>
        <p:spPr>
          <a:xfrm>
            <a:off x="4590798" y="25353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A38AFE2-1302-4C14-8E37-6546857881BE}"/>
              </a:ext>
            </a:extLst>
          </p:cNvPr>
          <p:cNvSpPr txBox="1"/>
          <p:nvPr/>
        </p:nvSpPr>
        <p:spPr>
          <a:xfrm>
            <a:off x="3861633" y="32340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844C1D-8A56-46BA-A7FB-D349E6483292}"/>
              </a:ext>
            </a:extLst>
          </p:cNvPr>
          <p:cNvSpPr txBox="1"/>
          <p:nvPr/>
        </p:nvSpPr>
        <p:spPr>
          <a:xfrm>
            <a:off x="5300153" y="3250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3B27E32-510F-4A3C-8D76-9EADC38E0B31}"/>
              </a:ext>
            </a:extLst>
          </p:cNvPr>
          <p:cNvCxnSpPr/>
          <p:nvPr/>
        </p:nvCxnSpPr>
        <p:spPr>
          <a:xfrm>
            <a:off x="4873277" y="288244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5F9CCB01-F73B-488B-9617-F2A5CDEFE8FC}"/>
              </a:ext>
            </a:extLst>
          </p:cNvPr>
          <p:cNvSpPr/>
          <p:nvPr/>
        </p:nvSpPr>
        <p:spPr>
          <a:xfrm>
            <a:off x="5260613" y="32675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06F1296-BBD0-415C-B220-1D584599DA73}"/>
              </a:ext>
            </a:extLst>
          </p:cNvPr>
          <p:cNvSpPr/>
          <p:nvPr/>
        </p:nvSpPr>
        <p:spPr>
          <a:xfrm>
            <a:off x="4512278" y="39600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753E458-D3F3-4D48-B6E1-24B8D3566DB9}"/>
              </a:ext>
            </a:extLst>
          </p:cNvPr>
          <p:cNvCxnSpPr>
            <a:endCxn id="19" idx="7"/>
          </p:cNvCxnSpPr>
          <p:nvPr/>
        </p:nvCxnSpPr>
        <p:spPr>
          <a:xfrm flipH="1">
            <a:off x="4819592" y="3591673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F90227E-B297-462E-ACBD-D5D0A7A9277C}"/>
              </a:ext>
            </a:extLst>
          </p:cNvPr>
          <p:cNvSpPr txBox="1"/>
          <p:nvPr/>
        </p:nvSpPr>
        <p:spPr>
          <a:xfrm>
            <a:off x="4541455" y="39600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2D08024-4766-4F17-9339-465AD84F12E1}"/>
              </a:ext>
            </a:extLst>
          </p:cNvPr>
          <p:cNvSpPr txBox="1"/>
          <p:nvPr/>
        </p:nvSpPr>
        <p:spPr>
          <a:xfrm>
            <a:off x="5979975" y="39768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1A907F0-2E97-4711-8787-A4BF13D7DE1F}"/>
              </a:ext>
            </a:extLst>
          </p:cNvPr>
          <p:cNvCxnSpPr/>
          <p:nvPr/>
        </p:nvCxnSpPr>
        <p:spPr>
          <a:xfrm>
            <a:off x="5553099" y="3608441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3684DDC1-E898-4ED2-A34B-1BCAEA87AFC8}"/>
              </a:ext>
            </a:extLst>
          </p:cNvPr>
          <p:cNvSpPr/>
          <p:nvPr/>
        </p:nvSpPr>
        <p:spPr>
          <a:xfrm>
            <a:off x="5940435" y="39935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0505CF-3AE8-4FE4-8681-BE8768C21A9D}"/>
              </a:ext>
            </a:extLst>
          </p:cNvPr>
          <p:cNvSpPr txBox="1"/>
          <p:nvPr/>
        </p:nvSpPr>
        <p:spPr>
          <a:xfrm>
            <a:off x="7271258" y="32340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553736F-079C-4867-AE9D-96CD1BCBE780}"/>
              </a:ext>
            </a:extLst>
          </p:cNvPr>
          <p:cNvCxnSpPr/>
          <p:nvPr/>
        </p:nvCxnSpPr>
        <p:spPr>
          <a:xfrm>
            <a:off x="6844382" y="286567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F56E07CB-7D08-4C30-99B5-69A54468AE52}"/>
              </a:ext>
            </a:extLst>
          </p:cNvPr>
          <p:cNvSpPr/>
          <p:nvPr/>
        </p:nvSpPr>
        <p:spPr>
          <a:xfrm>
            <a:off x="7231718" y="325082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98E8786-4E51-474A-A8B1-08FA11F37F13}"/>
              </a:ext>
            </a:extLst>
          </p:cNvPr>
          <p:cNvSpPr/>
          <p:nvPr/>
        </p:nvSpPr>
        <p:spPr>
          <a:xfrm>
            <a:off x="6566245" y="397924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99B7635-E0D4-43C0-ACAF-8D69BD565073}"/>
              </a:ext>
            </a:extLst>
          </p:cNvPr>
          <p:cNvCxnSpPr>
            <a:endCxn id="28" idx="7"/>
          </p:cNvCxnSpPr>
          <p:nvPr/>
        </p:nvCxnSpPr>
        <p:spPr>
          <a:xfrm flipH="1">
            <a:off x="6873559" y="3610864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0F6597B-D409-442A-973E-066DC5868D83}"/>
              </a:ext>
            </a:extLst>
          </p:cNvPr>
          <p:cNvSpPr txBox="1"/>
          <p:nvPr/>
        </p:nvSpPr>
        <p:spPr>
          <a:xfrm>
            <a:off x="6595422" y="39792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C52B124-44BF-4F0B-86DA-66208CCCDFB3}"/>
              </a:ext>
            </a:extLst>
          </p:cNvPr>
          <p:cNvSpPr txBox="1"/>
          <p:nvPr/>
        </p:nvSpPr>
        <p:spPr>
          <a:xfrm>
            <a:off x="421241" y="4976593"/>
            <a:ext cx="10299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Pré</a:t>
            </a:r>
            <a:r>
              <a:rPr lang="pt-BR" sz="2000" dirty="0"/>
              <a:t>-ordem: 6 – 2 – 1 – 4 – 3 – 5 – 7 – 9 – 8 (para cada sub árvore, a raiz é listada primeiro: </a:t>
            </a:r>
            <a:r>
              <a:rPr lang="pt-BR" sz="2000" b="1" dirty="0" err="1"/>
              <a:t>pré</a:t>
            </a:r>
            <a:r>
              <a:rPr lang="pt-BR" sz="2000" dirty="0"/>
              <a:t>) </a:t>
            </a:r>
          </a:p>
          <a:p>
            <a:r>
              <a:rPr lang="pt-BR" sz="2000" dirty="0"/>
              <a:t>Central: 1 – 2 – 3 – 4 – 5 – 6 – 7 – 8 – 9 (para cada sub árvore, a raiz é listada no centro: </a:t>
            </a:r>
            <a:r>
              <a:rPr lang="pt-BR" sz="2000" b="1" dirty="0"/>
              <a:t>central</a:t>
            </a:r>
            <a:r>
              <a:rPr lang="pt-BR" sz="2000" dirty="0"/>
              <a:t>) </a:t>
            </a:r>
          </a:p>
          <a:p>
            <a:r>
              <a:rPr lang="pt-BR" sz="2000" dirty="0"/>
              <a:t>Pós-Ordem: 1 – 3 – 5 – 4 – 2 – 8 – 9 – 7 – 6 (para cada sub árvore, a raiz é listada por último: </a:t>
            </a:r>
            <a:r>
              <a:rPr lang="pt-BR" sz="2000" b="1" dirty="0"/>
              <a:t>pós</a:t>
            </a:r>
            <a:r>
              <a:rPr lang="pt-BR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1689183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O número de comparações em uma pesquisa com sucesso:</a:t>
                </a:r>
              </a:p>
              <a:p>
                <a:pPr lvl="1"/>
                <a:r>
                  <a:rPr lang="pt-BR" dirty="0"/>
                  <a:t>melhor caso: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(1)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  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=(</m:t>
                    </m:r>
                    <m:r>
                      <a:rPr lang="pt-BR" b="0" i="1" smtClean="0">
                        <a:latin typeface="Cambria Math"/>
                      </a:rPr>
                      <m:t>𝐿𝑜𝑔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942FCC7-092F-48F4-92B9-EA4F9F30354B}"/>
              </a:ext>
            </a:extLst>
          </p:cNvPr>
          <p:cNvCxnSpPr>
            <a:cxnSpLocks/>
          </p:cNvCxnSpPr>
          <p:nvPr/>
        </p:nvCxnSpPr>
        <p:spPr>
          <a:xfrm flipH="1">
            <a:off x="5181600" y="2899955"/>
            <a:ext cx="1262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C43760-0502-401C-BF85-7E32E25C78E9}"/>
              </a:ext>
            </a:extLst>
          </p:cNvPr>
          <p:cNvSpPr txBox="1"/>
          <p:nvPr/>
        </p:nvSpPr>
        <p:spPr>
          <a:xfrm>
            <a:off x="6574972" y="26999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51724369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O número de comparações em uma pesquisa com sucesso:</a:t>
                </a:r>
              </a:p>
              <a:p>
                <a:pPr lvl="1"/>
                <a:r>
                  <a:rPr lang="pt-BR" dirty="0"/>
                  <a:t>melhor caso: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(1)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  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=(</m:t>
                    </m:r>
                    <m:r>
                      <a:rPr lang="pt-BR" b="0" i="1" smtClean="0">
                        <a:latin typeface="Cambria Math"/>
                      </a:rPr>
                      <m:t>𝐿𝑜𝑔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:endParaRPr lang="pt-BR" dirty="0"/>
              </a:p>
              <a:p>
                <a:r>
                  <a:rPr lang="pt-BR" dirty="0"/>
                  <a:t>O tempo de execução dos algoritmos para árvores binárias de pesquisa depende muito do </a:t>
                </a:r>
                <a:r>
                  <a:rPr lang="pt-BR" b="1" dirty="0"/>
                  <a:t>formato das árvores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942FCC7-092F-48F4-92B9-EA4F9F30354B}"/>
              </a:ext>
            </a:extLst>
          </p:cNvPr>
          <p:cNvCxnSpPr>
            <a:cxnSpLocks/>
          </p:cNvCxnSpPr>
          <p:nvPr/>
        </p:nvCxnSpPr>
        <p:spPr>
          <a:xfrm flipH="1">
            <a:off x="5181600" y="2899955"/>
            <a:ext cx="1262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C43760-0502-401C-BF85-7E32E25C78E9}"/>
              </a:ext>
            </a:extLst>
          </p:cNvPr>
          <p:cNvSpPr txBox="1"/>
          <p:nvPr/>
        </p:nvSpPr>
        <p:spPr>
          <a:xfrm>
            <a:off x="6574972" y="26999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21567719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Para obter o pior caso basta que as chaves sejam inseridas em ordem crescente ou decrescente.</a:t>
                </a:r>
              </a:p>
              <a:p>
                <a:pPr lvl="1"/>
                <a:r>
                  <a:rPr lang="pt-BR" dirty="0"/>
                  <a:t>Árvore se torna uma lista linear.</a:t>
                </a:r>
              </a:p>
              <a:p>
                <a:pPr lvl="1"/>
                <a:r>
                  <a:rPr lang="pt-BR" dirty="0"/>
                  <a:t>tempo médio de comparações: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</m:t>
                    </m:r>
                    <m:r>
                      <a:rPr lang="pt-BR" i="1">
                        <a:latin typeface="Cambria Math"/>
                      </a:rPr>
                      <m:t>)</m:t>
                    </m:r>
                    <m:r>
                      <a:rPr lang="pt-BR" b="0" i="1" smtClean="0">
                        <a:latin typeface="Cambria Math"/>
                      </a:rPr>
                      <m:t>/2.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365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Implemente a classe </a:t>
            </a:r>
            <a:r>
              <a:rPr lang="pt-BR" dirty="0" err="1"/>
              <a:t>ArvoreBinaria</a:t>
            </a:r>
            <a:r>
              <a:rPr lang="pt-BR" dirty="0"/>
              <a:t>, apresentada em sala, e teste você deve criar e inserir, pesquisar e remover uma série de elementos de uma árvore de pesquisa binária.</a:t>
            </a:r>
          </a:p>
          <a:p>
            <a:r>
              <a:rPr lang="pt-BR" dirty="0"/>
              <a:t>Você deve acrescentar métodos à classe Arvore que permitam imprimir todas as informações dos elementos ou apenas as suas chaves durante a realização de caminhamentos (central, </a:t>
            </a:r>
            <a:r>
              <a:rPr lang="pt-BR" dirty="0" err="1"/>
              <a:t>pré</a:t>
            </a:r>
            <a:r>
              <a:rPr lang="pt-BR" dirty="0"/>
              <a:t>-ordem e pós-ordem).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36841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Modifique sua implementação de modo a contabilizar para sua classe árvore o número de comparações realizadas durante as operações de inserção, de pesquisa e de remoção.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2836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12419</Words>
  <Application>Microsoft Office PowerPoint</Application>
  <PresentationFormat>Widescreen</PresentationFormat>
  <Paragraphs>2521</Paragraphs>
  <Slides>160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160</vt:i4>
      </vt:variant>
    </vt:vector>
  </HeadingPairs>
  <TitlesOfParts>
    <vt:vector size="166" baseType="lpstr">
      <vt:lpstr>Arial</vt:lpstr>
      <vt:lpstr>Calibri</vt:lpstr>
      <vt:lpstr>Calibri Light</vt:lpstr>
      <vt:lpstr>Cambria Math</vt:lpstr>
      <vt:lpstr>Consolas</vt:lpstr>
      <vt:lpstr>Tema do Office</vt:lpstr>
      <vt:lpstr>Pesquisa em Memória Primária</vt:lpstr>
      <vt:lpstr>Pesquisa em Memória Primária</vt:lpstr>
      <vt:lpstr>Pesquisa em Memória Primária</vt:lpstr>
      <vt:lpstr>TADs de Pesquisa </vt:lpstr>
      <vt:lpstr>TADs de Pesquisa </vt:lpstr>
      <vt:lpstr>Dicionário</vt:lpstr>
      <vt:lpstr>Dicionário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Exercícios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Exercícios</vt:lpstr>
      <vt:lpstr>Árvores de Pesquisa</vt:lpstr>
      <vt:lpstr>Árvores de Pesquisa</vt:lpstr>
      <vt:lpstr>Árvores de Pesquisa sem balanceamento</vt:lpstr>
      <vt:lpstr>Árvores de Pesquisa – alguns conceitos</vt:lpstr>
      <vt:lpstr>Implementação do TAD Dicionário usando  Árvore Binária de Pesquisa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Caminhamento Central (ou Em-ordem)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Resumo sobre caminhamento</vt:lpstr>
      <vt:lpstr>Análise</vt:lpstr>
      <vt:lpstr>Análise</vt:lpstr>
      <vt:lpstr>Análise</vt:lpstr>
      <vt:lpstr>Exercícios</vt:lpstr>
      <vt:lpstr>Exercícios</vt:lpstr>
      <vt:lpstr>Referências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77</cp:revision>
  <dcterms:created xsi:type="dcterms:W3CDTF">2018-02-11T20:18:47Z</dcterms:created>
  <dcterms:modified xsi:type="dcterms:W3CDTF">2019-08-10T15:34:47Z</dcterms:modified>
</cp:coreProperties>
</file>