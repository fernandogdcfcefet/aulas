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7" r:id="rId2"/>
    <p:sldId id="323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281" r:id="rId34"/>
    <p:sldId id="282" r:id="rId35"/>
    <p:sldId id="283" r:id="rId36"/>
    <p:sldId id="309" r:id="rId37"/>
    <p:sldId id="319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320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21" r:id="rId62"/>
    <p:sldId id="324" r:id="rId63"/>
    <p:sldId id="325" r:id="rId64"/>
    <p:sldId id="326" r:id="rId65"/>
    <p:sldId id="351" r:id="rId66"/>
    <p:sldId id="329" r:id="rId67"/>
    <p:sldId id="330" r:id="rId68"/>
    <p:sldId id="331" r:id="rId69"/>
    <p:sldId id="332" r:id="rId70"/>
    <p:sldId id="333" r:id="rId71"/>
    <p:sldId id="334" r:id="rId72"/>
    <p:sldId id="336" r:id="rId73"/>
    <p:sldId id="337" r:id="rId74"/>
    <p:sldId id="338" r:id="rId75"/>
    <p:sldId id="352" r:id="rId76"/>
    <p:sldId id="353" r:id="rId77"/>
    <p:sldId id="354" r:id="rId78"/>
    <p:sldId id="355" r:id="rId79"/>
    <p:sldId id="356" r:id="rId80"/>
    <p:sldId id="357" r:id="rId81"/>
    <p:sldId id="358" r:id="rId82"/>
    <p:sldId id="359" r:id="rId83"/>
    <p:sldId id="349" r:id="rId84"/>
    <p:sldId id="360" r:id="rId85"/>
    <p:sldId id="364" r:id="rId86"/>
    <p:sldId id="365" r:id="rId87"/>
    <p:sldId id="379" r:id="rId88"/>
    <p:sldId id="380" r:id="rId89"/>
    <p:sldId id="381" r:id="rId90"/>
    <p:sldId id="382" r:id="rId91"/>
    <p:sldId id="383" r:id="rId92"/>
    <p:sldId id="385" r:id="rId93"/>
    <p:sldId id="361" r:id="rId94"/>
    <p:sldId id="386" r:id="rId95"/>
    <p:sldId id="322" r:id="rId9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6E6-4E1A-4B8F-BBB0-8F81F0BEFED5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A3877-CFC2-4E99-9BC4-1D697B204C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6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D1163-60F6-4F22-86C8-670E0FA60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9ED4-ACEA-4ACC-8DAC-6C63083FF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6C650-8FC0-49CD-B119-66852C6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4E9E-323C-4D76-A562-03B613FAD81B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E52-FEA0-4537-948B-2CE740D4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D5B61-39B0-476C-82D8-6A27481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9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2203-CF54-49CA-AD8B-761AA3F5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7979-6810-4383-BF97-99B2AC97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B1D4-F54D-4EB6-9D8A-A0E36BB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870D-AB5E-4E43-BE72-FB0AA547E1D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37510-9BDC-44E1-94C4-36BDBAD9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CCADF-7E89-4B86-ADC5-9420D32F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4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0145-BFF4-4A17-9C09-153C61AF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971E0-B851-49C3-AA85-0024836C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68237-E2AB-49A6-9C81-9D90DE8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FEDA-71E8-478E-AEA0-A956738C44F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ACFDC-DDE5-4DF9-871E-67C7F69D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82344-9DA3-4E39-B5BC-061B6ECB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8CE12-45DE-4297-BD62-FFAEA016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DA2C8-2F5A-43C4-934F-D6FCE620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7EEAAE-B5F8-4328-9B5F-7098DF89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DA8EB-99A8-462E-B55F-4EC99C5B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FA5F-3ECD-4943-AD38-87D0A7BC01A0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8C566-C4E5-4069-8C81-EC8A1D7B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7AFBB-5AB4-4371-B126-947049CE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E3B0-12E6-4737-854E-2C0ADB8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5948B-30B3-43CA-9EB4-BF7A86D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8E36-0E77-4458-BEEA-0203B12F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7D26F1-B391-4AA6-B3D0-8018811C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89788-AA18-4375-BBB1-525990456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35B540-9654-421E-8B90-0D7E6A55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73E-2034-44A9-BC05-27157DC5EDD4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F0D045-A705-41B1-AF62-C26B9D2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E1DD05-ADF9-4EC0-AC9E-7BED1A59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0CD46-0311-49DC-A680-4D2168D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E21C9-00B5-4C41-838A-7646BD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267CE-6D9A-4045-969F-DE11DDF0BA3D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D8561D-5B0B-4075-BEB5-50450C76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879B8-A2E4-46F0-AE48-1CADCC4A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0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69467-1396-4E55-8F17-64388AD0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7E11-01E9-4384-A103-DBAE017CA503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699F9B-5E17-4AF2-917A-C3885745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F6F98C-0D2A-42CC-8517-376439B7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6ECB-6ADD-4457-ADC0-DA36CE8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C315D-D135-4D42-B4CD-37E6DEA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26CF8-5BDE-44D5-BCCD-F879E51C9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C748D-F65D-4F69-A0F5-243D803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42E-2906-4461-8A97-7A27C05C7B1A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E6625-A646-499A-A5F2-FB1C8758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3103-0145-4401-AC66-477F147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7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3DFA-41F0-4C64-A868-C1763A7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8D3609-D05B-4246-804F-4CA0FE0FC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7914C3-D139-497A-B3F6-5D609AF7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151E0-D270-47CA-B1BC-F3326536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00C2-E0AC-460E-929B-7079F0347316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7C8D2-1A91-4E49-BBA2-46C2872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2B3A6-8ABF-4DC3-8CD4-0640A73F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1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C317-32EE-4448-941D-6DA2D519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D88EA-C228-47E1-B5B6-ABA9B7C6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3E368-D67D-48F3-8F59-95CEE74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25D0-E3BB-4E8E-8FE6-D9B00EC27CAE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D1D1D-AA27-4EF1-8A78-895F87D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10510-F0B4-4C33-BE66-9E83434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7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2CE5FF-CEDD-446B-9E3D-A7E5CC1BB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8983C-2490-482C-A7F4-2A8A7608F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C5D19-47BE-40CF-B809-7DB5F122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E8A-ECEE-473C-A1E9-7321E45784D7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8C711-DCD6-4635-8AC0-C6DA03B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7A7E8-ECED-4141-B514-9C35AB05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41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605902-0991-41A4-96C1-077ED55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1F0E4C-86B8-4716-A9E6-510FF97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8DBE3-D1BA-4C3F-ABBE-51A48E5CF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C1123-A8E1-472A-8A44-06236134FE1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E578F-3C6C-4EC4-BBDB-1A428C2AD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8F652-25C0-4C1C-9B59-3E726DE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26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TAD - Fila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Lista linear em que todas as inserções são realizadas em um extremo da lista e todas as retiradas e (e os acessos) são realizados no outro extremo da lista.</a:t>
            </a:r>
          </a:p>
          <a:p>
            <a:endParaRPr lang="pt-BR" dirty="0"/>
          </a:p>
          <a:p>
            <a:r>
              <a:rPr lang="pt-BR" dirty="0"/>
              <a:t>O modelo intuitivo de uma fila:</a:t>
            </a:r>
          </a:p>
          <a:p>
            <a:pPr lvl="1"/>
            <a:r>
              <a:rPr lang="pt-BR" dirty="0"/>
              <a:t>fila de espera em que as pessoas no início da fila são servidas primeiro e as pessoas que chegam entram no fim da fila.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CA52BC-D22F-400A-9B12-6BD4E681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4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São </a:t>
            </a:r>
            <a:r>
              <a:rPr lang="en-US" dirty="0" err="1"/>
              <a:t>chamadas</a:t>
            </a:r>
            <a:r>
              <a:rPr lang="en-US" dirty="0"/>
              <a:t> </a:t>
            </a:r>
            <a:r>
              <a:rPr lang="en-US" dirty="0" err="1"/>
              <a:t>listas</a:t>
            </a:r>
            <a:r>
              <a:rPr lang="en-US" dirty="0"/>
              <a:t> </a:t>
            </a:r>
            <a:r>
              <a:rPr lang="en-US" b="1" dirty="0" err="1"/>
              <a:t>fifo</a:t>
            </a:r>
            <a:r>
              <a:rPr lang="en-US" b="1" dirty="0"/>
              <a:t> </a:t>
            </a:r>
            <a:r>
              <a:rPr lang="en-US" dirty="0"/>
              <a:t>(“first-in”, “first-out”).</a:t>
            </a:r>
          </a:p>
          <a:p>
            <a:endParaRPr lang="pt-BR" dirty="0"/>
          </a:p>
          <a:p>
            <a:r>
              <a:rPr lang="pt-BR" dirty="0"/>
              <a:t>Existe uma ordem linear para filas que é a “ordem de chegada”.</a:t>
            </a:r>
          </a:p>
          <a:p>
            <a:endParaRPr lang="pt-BR" dirty="0"/>
          </a:p>
          <a:p>
            <a:r>
              <a:rPr lang="pt-BR" dirty="0"/>
              <a:t>São utilizadas para processar itens de acordo com a ordem “primeiro-que-chega, primeiro-atendido”.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2834BA-FC2A-4A9F-8505-9EC81E11C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33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Sistemas operacionais utilizam filas para regular a ordem na qual tarefas (processos) devem receber processamento e recursos devem ser alocados a processos.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F4FDD1-2916-4438-B469-6799DA0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16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TAD Filas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Operações básicas:</a:t>
                </a:r>
              </a:p>
              <a:p>
                <a:pPr lvl="1"/>
                <a:r>
                  <a:rPr lang="pt-BR" dirty="0"/>
                  <a:t>Criar uma fila vazia.</a:t>
                </a:r>
              </a:p>
              <a:p>
                <a:pPr lvl="1"/>
                <a:r>
                  <a:rPr lang="pt-BR" dirty="0"/>
                  <a:t>Enfileirar o item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no final da fila.</a:t>
                </a:r>
              </a:p>
              <a:p>
                <a:pPr lvl="1"/>
                <a:r>
                  <a:rPr lang="pt-BR" dirty="0" err="1"/>
                  <a:t>Desenfileirar</a:t>
                </a:r>
                <a:r>
                  <a:rPr lang="pt-BR" dirty="0"/>
                  <a:t>: retorna o item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no início da fila e o retira da fila.</a:t>
                </a:r>
              </a:p>
              <a:p>
                <a:pPr lvl="1"/>
                <a:r>
                  <a:rPr lang="pt-BR" dirty="0"/>
                  <a:t>Verificar se a fila está vazia. Essa função retorna </a:t>
                </a:r>
                <a:r>
                  <a:rPr lang="pt-BR" i="1" dirty="0" err="1"/>
                  <a:t>true</a:t>
                </a:r>
                <a:r>
                  <a:rPr lang="pt-BR" i="1" dirty="0"/>
                  <a:t> </a:t>
                </a:r>
                <a:r>
                  <a:rPr lang="pt-BR" dirty="0"/>
                  <a:t>se a fila está vazia; do contrário, retorna </a:t>
                </a:r>
                <a:r>
                  <a:rPr lang="pt-BR" i="1" dirty="0"/>
                  <a:t>false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531FEF-C8BF-41CD-8815-ED4873B6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07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itens são armazenados em posições contíguas de memória.</a:t>
            </a:r>
          </a:p>
          <a:p>
            <a:r>
              <a:rPr lang="pt-BR" dirty="0"/>
              <a:t>A operação enfileira faz a parte de trás da fila expandir-se.</a:t>
            </a:r>
          </a:p>
          <a:p>
            <a:r>
              <a:rPr lang="pt-BR" dirty="0"/>
              <a:t>A operação </a:t>
            </a:r>
            <a:r>
              <a:rPr lang="pt-BR" dirty="0" err="1"/>
              <a:t>desenfileira</a:t>
            </a:r>
            <a:r>
              <a:rPr lang="pt-BR" dirty="0"/>
              <a:t> faz a parte da frente da fila contrair-se.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904802-DA5F-4AC6-985E-9D1EE3DC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5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908919"/>
          </a:xfrm>
        </p:spPr>
        <p:txBody>
          <a:bodyPr>
            <a:normAutofit/>
          </a:bodyPr>
          <a:lstStyle/>
          <a:p>
            <a:r>
              <a:rPr lang="pt-BR" dirty="0"/>
              <a:t>Imaginar o arranjo como um círculo. A primeira posição segue a última.</a:t>
            </a:r>
          </a:p>
          <a:p>
            <a:r>
              <a:rPr lang="pt-BR" dirty="0"/>
              <a:t>Para enfileirar, basta mover o apontador (objeto) </a:t>
            </a:r>
            <a:r>
              <a:rPr lang="pt-BR" b="1" i="1" dirty="0" err="1"/>
              <a:t>tras</a:t>
            </a:r>
            <a:r>
              <a:rPr lang="pt-BR" i="1" dirty="0"/>
              <a:t> </a:t>
            </a:r>
            <a:r>
              <a:rPr lang="pt-BR" dirty="0"/>
              <a:t>uma posição no sentido horário. </a:t>
            </a:r>
          </a:p>
          <a:p>
            <a:r>
              <a:rPr lang="pt-BR" dirty="0"/>
              <a:t>Para </a:t>
            </a:r>
            <a:r>
              <a:rPr lang="pt-BR" dirty="0" err="1"/>
              <a:t>desenfileirar</a:t>
            </a:r>
            <a:r>
              <a:rPr lang="pt-BR" dirty="0"/>
              <a:t>, basta mover o apontador (objeto) </a:t>
            </a:r>
            <a:r>
              <a:rPr lang="pt-BR" b="1" i="1" dirty="0"/>
              <a:t>frente</a:t>
            </a:r>
            <a:r>
              <a:rPr lang="pt-BR" dirty="0"/>
              <a:t> uma posição no sentido horário.</a:t>
            </a:r>
          </a:p>
          <a:p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4653137"/>
            <a:ext cx="3999102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2107B1-AAF5-4C8A-B53A-ED738A53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B7F52F-7931-46D5-A6FF-51FD335E61F0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90933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703512" y="266827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 Vazia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174140" y="3146010"/>
            <a:ext cx="8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 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59641" y="3419708"/>
            <a:ext cx="59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r>
              <a:rPr lang="pt-BR" dirty="0"/>
              <a:t> </a:t>
            </a:r>
          </a:p>
        </p:txBody>
      </p:sp>
      <p:sp>
        <p:nvSpPr>
          <p:cNvPr id="31" name="Espaço Reservado para Número de Slide 30">
            <a:extLst>
              <a:ext uri="{FF2B5EF4-FFF2-40B4-BE49-F238E27FC236}">
                <a16:creationId xmlns:a16="http://schemas.microsoft.com/office/drawing/2014/main" id="{A6C683FB-C063-4205-92C1-A3D9156B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88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768092" y="3146010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9261200-28C1-4E32-8846-0B1DCD94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636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7214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EC7A217-6355-4E92-9C85-11BDB69C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51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776204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FD91448-3EBD-415C-A67E-991F516D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794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280260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1DF86BA-4E20-4D55-83C9-ABF9064C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056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784316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E04D42C-1DC3-4696-B5C4-928AC8B5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05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288372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19C72F2-E9A5-4A0C-AAE9-1B1A8596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983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869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103BBA-C9DF-4A02-A6EC-C7D9E472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722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719736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84D5E2F-96C2-4283-A4FF-EE6C7117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225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223792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84DFE68-A6FA-4345-B37D-00BB5E5F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04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727848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E163C3C-F4F9-433B-B2B9-ECDDAA44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0580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231904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5003292-746D-4076-BA29-F49A549B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800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73596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AEE3311-A707-4201-B585-BDEE6EF9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846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231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2" y="2668270"/>
            <a:ext cx="129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Desenfileira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A552F3F-8973-4B2C-B905-71B7CB3E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82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703513" y="2668271"/>
            <a:ext cx="1623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 novamente</a:t>
            </a:r>
          </a:p>
          <a:p>
            <a:r>
              <a:rPr lang="pt-BR" dirty="0"/>
              <a:t>vazia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792428" y="341970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5381741-A3EF-4492-95FF-FD3DC265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45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7302381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F5AD69B-A436-4A61-A174-DE184DEE01C5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1037D7-50A3-4803-9359-D22C7282FAEC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E1AA00A-A7A0-452B-A4A4-739E30A972E0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A479D4E-AA09-4429-B5BF-DB756F6D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216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7812336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F5AD69B-A436-4A61-A174-DE184DEE01C5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C47AAFD-7AED-47AB-8A67-9A5FBFDBED56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4FBD061-C182-420D-8066-9AAD9CEFBC2D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362240C-AF6F-4796-A5F9-79C0A58289F5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B4EC939-6F31-4266-AAA4-E7918EF8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372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8304703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F5AD69B-A436-4A61-A174-DE184DEE01C5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C47AAFD-7AED-47AB-8A67-9A5FBFDBED56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336ED21-F1B9-41C4-BA86-09AB3AB2DA21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52A1618-E9BF-4A18-9289-CB5284A8C659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A4213DE-A4F8-420C-8A0A-6ABE7F2245CE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5879121-0E83-4B58-AD7F-D71ACB1A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467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01884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F5AD69B-A436-4A61-A174-DE184DEE01C5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C47AAFD-7AED-47AB-8A67-9A5FBFDBED56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336ED21-F1B9-41C4-BA86-09AB3AB2DA21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A0C55EA-BA64-4F56-9DA6-3265C1DEA233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853EA05-3060-4E60-A461-11675C755F8A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9003B2C-54FB-4AD2-9387-707EA5C8D04C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D44979-8E20-4F17-A187-96DC7D31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375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B9A1210-207F-443E-9847-FE503D5F8F9A}"/>
              </a:ext>
            </a:extLst>
          </p:cNvPr>
          <p:cNvSpPr txBox="1"/>
          <p:nvPr/>
        </p:nvSpPr>
        <p:spPr>
          <a:xfrm>
            <a:off x="3359697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147B10B-8ECB-43CE-A664-0900C737CC9C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7F384F0-E343-4903-84C2-03E4A2E7A556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BC33FCD-82A0-4692-AA68-4FC2FEFF0526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3A57B0B-D0E5-4C97-9B55-2D37EEC6334D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95E04E6-AACD-46D2-AF18-9477F3B96D11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51C15FE-417F-4FB2-853A-54E00BABBC23}"/>
              </a:ext>
            </a:extLst>
          </p:cNvPr>
          <p:cNvSpPr txBox="1"/>
          <p:nvPr/>
        </p:nvSpPr>
        <p:spPr>
          <a:xfrm>
            <a:off x="3759084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DA60838-843E-4C21-ADF7-F5D9B0F652FE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BB67C05-0772-4944-B10A-D031E564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16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277829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B9A1210-207F-443E-9847-FE503D5F8F9A}"/>
              </a:ext>
            </a:extLst>
          </p:cNvPr>
          <p:cNvSpPr txBox="1"/>
          <p:nvPr/>
        </p:nvSpPr>
        <p:spPr>
          <a:xfrm>
            <a:off x="3359697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BB401D3-3259-423D-A924-E8FB0BBA9441}"/>
              </a:ext>
            </a:extLst>
          </p:cNvPr>
          <p:cNvSpPr txBox="1"/>
          <p:nvPr/>
        </p:nvSpPr>
        <p:spPr>
          <a:xfrm>
            <a:off x="384240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13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A1091BD-9357-4AC9-AF30-C4CE77F9A05B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C233BA7-8107-4EBF-AA62-C490E9E30D61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2756ADB8-1E41-4D7F-B2D1-E6BFB1FFB674}"/>
                  </a:ext>
                </a:extLst>
              </p:cNvPr>
              <p:cNvSpPr/>
              <p:nvPr/>
            </p:nvSpPr>
            <p:spPr>
              <a:xfrm>
                <a:off x="1703512" y="4437113"/>
                <a:ext cx="496984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A implementação utiliza aritmética modular para enfileirar e </a:t>
                </a:r>
                <a:r>
                  <a:rPr lang="pt-BR" dirty="0" err="1"/>
                  <a:t>desenfileirar</a:t>
                </a:r>
                <a:r>
                  <a:rPr lang="pt-BR" dirty="0"/>
                  <a:t>. A posição “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– 1</m:t>
                    </m:r>
                  </m:oMath>
                </a14:m>
                <a:r>
                  <a:rPr lang="pt-BR" dirty="0"/>
                  <a:t>” do arranjo, apenas, é irrelevante para saber se a Fila está cheia. </a:t>
                </a:r>
              </a:p>
            </p:txBody>
          </p:sp>
        </mc:Choice>
        <mc:Fallback xmlns=""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2756ADB8-1E41-4D7F-B2D1-E6BFB1FFB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437113"/>
                <a:ext cx="4969848" cy="1200329"/>
              </a:xfrm>
              <a:prstGeom prst="rect">
                <a:avLst/>
              </a:prstGeom>
              <a:blipFill>
                <a:blip r:embed="rId2"/>
                <a:stretch>
                  <a:fillRect l="-980" t="-3046" b="-71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aixaDeTexto 38">
            <a:extLst>
              <a:ext uri="{FF2B5EF4-FFF2-40B4-BE49-F238E27FC236}">
                <a16:creationId xmlns:a16="http://schemas.microsoft.com/office/drawing/2014/main" id="{E501F500-078A-42BB-91FB-EC6CD9C7F614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3F420594-FE44-4C0E-AF99-2A95D8B9F804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CEACC20-39C4-495E-B372-161DF53AC3DF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C0AA0A2-4248-4192-ABD5-BCB0C4561F00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D54D56-CF6A-4F6F-B028-E2CBE2BA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036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B9A1210-207F-443E-9847-FE503D5F8F9A}"/>
              </a:ext>
            </a:extLst>
          </p:cNvPr>
          <p:cNvSpPr txBox="1"/>
          <p:nvPr/>
        </p:nvSpPr>
        <p:spPr>
          <a:xfrm>
            <a:off x="3359697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BB401D3-3259-423D-A924-E8FB0BBA9441}"/>
              </a:ext>
            </a:extLst>
          </p:cNvPr>
          <p:cNvSpPr txBox="1"/>
          <p:nvPr/>
        </p:nvSpPr>
        <p:spPr>
          <a:xfrm>
            <a:off x="384240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13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A1091BD-9357-4AC9-AF30-C4CE77F9A05B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C233BA7-8107-4EBF-AA62-C490E9E30D61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715EDC-ADDD-4F9D-8B10-38A7BE353438}"/>
              </a:ext>
            </a:extLst>
          </p:cNvPr>
          <p:cNvSpPr txBox="1"/>
          <p:nvPr/>
        </p:nvSpPr>
        <p:spPr>
          <a:xfrm>
            <a:off x="4344410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14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8638B9B-EE02-4E83-81E5-9BE5D8DBA363}"/>
              </a:ext>
            </a:extLst>
          </p:cNvPr>
          <p:cNvSpPr txBox="1"/>
          <p:nvPr/>
        </p:nvSpPr>
        <p:spPr>
          <a:xfrm>
            <a:off x="4871991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15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B4E090A-D16C-4875-B736-9973AEC2497E}"/>
              </a:ext>
            </a:extLst>
          </p:cNvPr>
          <p:cNvSpPr txBox="1"/>
          <p:nvPr/>
        </p:nvSpPr>
        <p:spPr>
          <a:xfrm>
            <a:off x="5399512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16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F80407A-2515-456B-B6D2-77426B15DC09}"/>
              </a:ext>
            </a:extLst>
          </p:cNvPr>
          <p:cNvSpPr txBox="1"/>
          <p:nvPr/>
        </p:nvSpPr>
        <p:spPr>
          <a:xfrm>
            <a:off x="588010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17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57F72FE-C0AE-4441-BD92-772D8D5B048E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91E3C77-850D-4F38-913C-F544AFA7BF32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C6E8819-3A66-4117-B6C3-948AA83A378C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3EE274A-0752-412F-92C8-CF31D57B6A6C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id="{CC8C9AD1-F6DF-4312-862F-34261BF2E184}"/>
                  </a:ext>
                </a:extLst>
              </p:cNvPr>
              <p:cNvSpPr/>
              <p:nvPr/>
            </p:nvSpPr>
            <p:spPr>
              <a:xfrm>
                <a:off x="1703512" y="4437113"/>
                <a:ext cx="496984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A fila cheia é observada quando: </a:t>
                </a:r>
                <a:r>
                  <a:rPr lang="pt-BR" i="1" dirty="0" err="1"/>
                  <a:t>tras</a:t>
                </a:r>
                <a:r>
                  <a:rPr lang="pt-BR" dirty="0"/>
                  <a:t> + 1 é igual a </a:t>
                </a:r>
                <a:r>
                  <a:rPr lang="pt-BR" i="1" dirty="0"/>
                  <a:t>frente. </a:t>
                </a:r>
                <a:r>
                  <a:rPr lang="pt-BR" dirty="0"/>
                  <a:t>Esta verificação é obtida pela aritmética modular</a:t>
                </a:r>
                <a:r>
                  <a:rPr lang="pt-BR" i="1" dirty="0"/>
                  <a:t>: (</a:t>
                </a:r>
                <a:r>
                  <a:rPr lang="pt-BR" i="1" dirty="0" err="1"/>
                  <a:t>tras</a:t>
                </a:r>
                <a:r>
                  <a:rPr lang="pt-BR" i="1" dirty="0"/>
                  <a:t> + 1 ) %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==</a:t>
                </a:r>
                <a:r>
                  <a:rPr lang="pt-BR" i="1" dirty="0"/>
                  <a:t> frente.</a:t>
                </a:r>
              </a:p>
              <a:p>
                <a:endParaRPr lang="pt-BR" dirty="0"/>
              </a:p>
              <a:p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é o tamanho do arranjo.</a:t>
                </a:r>
              </a:p>
            </p:txBody>
          </p:sp>
        </mc:Choice>
        <mc:Fallback xmlns=""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id="{CC8C9AD1-F6DF-4312-862F-34261BF2E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437113"/>
                <a:ext cx="4969848" cy="1477328"/>
              </a:xfrm>
              <a:prstGeom prst="rect">
                <a:avLst/>
              </a:prstGeom>
              <a:blipFill>
                <a:blip r:embed="rId2"/>
                <a:stretch>
                  <a:fillRect l="-980" t="-2479" b="-57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ixaDeTexto 45">
            <a:extLst>
              <a:ext uri="{FF2B5EF4-FFF2-40B4-BE49-F238E27FC236}">
                <a16:creationId xmlns:a16="http://schemas.microsoft.com/office/drawing/2014/main" id="{78AA8122-1C01-4A59-BEF3-E71C1183D805}"/>
              </a:ext>
            </a:extLst>
          </p:cNvPr>
          <p:cNvSpPr txBox="1"/>
          <p:nvPr/>
        </p:nvSpPr>
        <p:spPr>
          <a:xfrm>
            <a:off x="6308850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07FC70-6959-4C46-A184-51204C73A8E6}"/>
              </a:ext>
            </a:extLst>
          </p:cNvPr>
          <p:cNvSpPr txBox="1"/>
          <p:nvPr/>
        </p:nvSpPr>
        <p:spPr>
          <a:xfrm>
            <a:off x="7389704" y="3763198"/>
            <a:ext cx="4167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Posição “</a:t>
            </a:r>
            <a:r>
              <a:rPr lang="pt-BR" dirty="0" err="1"/>
              <a:t>tras</a:t>
            </a:r>
            <a:r>
              <a:rPr lang="pt-BR" dirty="0"/>
              <a:t>” fica sempre vazia para auxiliar a verificação de fila cheia.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61A9F0DA-CBE2-45CD-9287-A4B73A0AFDBB}"/>
              </a:ext>
            </a:extLst>
          </p:cNvPr>
          <p:cNvCxnSpPr>
            <a:stCxn id="8" idx="1"/>
            <a:endCxn id="46" idx="2"/>
          </p:cNvCxnSpPr>
          <p:nvPr/>
        </p:nvCxnSpPr>
        <p:spPr>
          <a:xfrm rot="10800000">
            <a:off x="6577546" y="3510300"/>
            <a:ext cx="812158" cy="5760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ço Reservado para Número de Slide 26">
            <a:extLst>
              <a:ext uri="{FF2B5EF4-FFF2-40B4-BE49-F238E27FC236}">
                <a16:creationId xmlns:a16="http://schemas.microsoft.com/office/drawing/2014/main" id="{18BD8120-DC94-4E6B-9073-DDF857F4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088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Propriedade das Filas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A1091BD-9357-4AC9-AF30-C4CE77F9A05B}"/>
              </a:ext>
            </a:extLst>
          </p:cNvPr>
          <p:cNvSpPr txBox="1"/>
          <p:nvPr/>
        </p:nvSpPr>
        <p:spPr>
          <a:xfrm>
            <a:off x="1703512" y="2668270"/>
            <a:ext cx="94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Enfileira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57F72FE-C0AE-4441-BD92-772D8D5B048E}"/>
              </a:ext>
            </a:extLst>
          </p:cNvPr>
          <p:cNvSpPr txBox="1"/>
          <p:nvPr/>
        </p:nvSpPr>
        <p:spPr>
          <a:xfrm>
            <a:off x="6885649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91E3C77-850D-4F38-913C-F544AFA7BF32}"/>
              </a:ext>
            </a:extLst>
          </p:cNvPr>
          <p:cNvSpPr txBox="1"/>
          <p:nvPr/>
        </p:nvSpPr>
        <p:spPr>
          <a:xfrm>
            <a:off x="73897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C6E8819-3A66-4117-B6C3-948AA83A378C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id="{CC8C9AD1-F6DF-4312-862F-34261BF2E184}"/>
                  </a:ext>
                </a:extLst>
              </p:cNvPr>
              <p:cNvSpPr/>
              <p:nvPr/>
            </p:nvSpPr>
            <p:spPr>
              <a:xfrm>
                <a:off x="1703512" y="4437113"/>
                <a:ext cx="496984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Outra situação em que a fila é considerada cheia. Observe a situação onde a aritmética modula é necessária.</a:t>
                </a:r>
              </a:p>
              <a:p>
                <a:endParaRPr lang="pt-BR" dirty="0"/>
              </a:p>
              <a:p>
                <a:r>
                  <a:rPr lang="pt-BR" i="1" dirty="0"/>
                  <a:t>(</a:t>
                </a:r>
                <a:r>
                  <a:rPr lang="pt-BR" i="1" dirty="0" err="1"/>
                  <a:t>tras</a:t>
                </a:r>
                <a:r>
                  <a:rPr lang="pt-BR" i="1" dirty="0"/>
                  <a:t> + 1 ) %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==</a:t>
                </a:r>
                <a:r>
                  <a:rPr lang="pt-BR" i="1" dirty="0"/>
                  <a:t> frente.</a:t>
                </a:r>
              </a:p>
            </p:txBody>
          </p:sp>
        </mc:Choice>
        <mc:Fallback xmlns=""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id="{CC8C9AD1-F6DF-4312-862F-34261BF2E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437113"/>
                <a:ext cx="4969848" cy="1477328"/>
              </a:xfrm>
              <a:prstGeom prst="rect">
                <a:avLst/>
              </a:prstGeom>
              <a:blipFill>
                <a:blip r:embed="rId2"/>
                <a:stretch>
                  <a:fillRect l="-980" t="-2479" b="-57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aixaDeTexto 39">
            <a:extLst>
              <a:ext uri="{FF2B5EF4-FFF2-40B4-BE49-F238E27FC236}">
                <a16:creationId xmlns:a16="http://schemas.microsoft.com/office/drawing/2014/main" id="{1375F421-90B3-4AF0-A430-69AE17107CD0}"/>
              </a:ext>
            </a:extLst>
          </p:cNvPr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F6A9EA2-0A9C-4BE6-B213-5FFBC37AECF1}"/>
              </a:ext>
            </a:extLst>
          </p:cNvPr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2C36387-141E-421D-AB67-A15A3C4EA5D5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EAC8553-FDE0-4F96-AC7C-755859C4DC26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3760D5D-3986-4DA5-B10F-04ABA328D974}"/>
              </a:ext>
            </a:extLst>
          </p:cNvPr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6785BC1-B298-4043-AE71-26BC0FF2E634}"/>
              </a:ext>
            </a:extLst>
          </p:cNvPr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D934A42D-A1CC-4861-9207-407ABB9E5131}"/>
              </a:ext>
            </a:extLst>
          </p:cNvPr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19FCE4D-4C10-4FFE-9119-6FEEDD89B6D7}"/>
              </a:ext>
            </a:extLst>
          </p:cNvPr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9D04AC1-630E-4FA8-B58F-FDFBB316C584}"/>
              </a:ext>
            </a:extLst>
          </p:cNvPr>
          <p:cNvSpPr txBox="1"/>
          <p:nvPr/>
        </p:nvSpPr>
        <p:spPr>
          <a:xfrm>
            <a:off x="8348663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4C0184-650A-4B54-BFB6-70F0FB1A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531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tamanho máximo do arranjo circular é definido por uma valor constante.</a:t>
            </a:r>
          </a:p>
          <a:p>
            <a:r>
              <a:rPr lang="pt-BR" dirty="0"/>
              <a:t>Os outros campos da classe Fila contêm referências para a parte da frente e de trás da fila.</a:t>
            </a:r>
          </a:p>
          <a:p>
            <a:r>
              <a:rPr lang="pt-BR" dirty="0"/>
              <a:t>Fila cheia e fila vazia:</a:t>
            </a:r>
          </a:p>
          <a:p>
            <a:pPr lvl="1"/>
            <a:r>
              <a:rPr lang="pt-BR" dirty="0"/>
              <a:t>Os apontadores </a:t>
            </a:r>
            <a:r>
              <a:rPr lang="pt-BR" b="1" i="1" dirty="0"/>
              <a:t>frente</a:t>
            </a:r>
            <a:r>
              <a:rPr lang="pt-BR" dirty="0"/>
              <a:t> e </a:t>
            </a:r>
            <a:r>
              <a:rPr lang="pt-BR" b="1" i="1" dirty="0" err="1"/>
              <a:t>tras</a:t>
            </a:r>
            <a:r>
              <a:rPr lang="pt-BR" i="1" dirty="0"/>
              <a:t> </a:t>
            </a:r>
            <a:r>
              <a:rPr lang="pt-BR" dirty="0"/>
              <a:t>apontam para a mesma posição do círculo.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BCDBB0-9F9D-4F52-9C4C-1B86B96C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1002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Arranjos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distinguir as duas situações (fila cheia e fila vazia):</a:t>
            </a:r>
          </a:p>
          <a:p>
            <a:pPr lvl="1"/>
            <a:r>
              <a:rPr lang="pt-BR" dirty="0"/>
              <a:t>deixar uma posição vazia no arranjo.</a:t>
            </a:r>
          </a:p>
          <a:p>
            <a:pPr lvl="1"/>
            <a:r>
              <a:rPr lang="pt-BR" dirty="0"/>
              <a:t>Neste caso, a fila está cheia quando </a:t>
            </a:r>
            <a:r>
              <a:rPr lang="pt-BR" b="1" i="1" dirty="0"/>
              <a:t>trás</a:t>
            </a:r>
            <a:r>
              <a:rPr lang="pt-BR" b="1" dirty="0"/>
              <a:t>+1 for igual a frente</a:t>
            </a:r>
            <a:r>
              <a:rPr lang="pt-BR" dirty="0"/>
              <a:t>.</a:t>
            </a:r>
          </a:p>
          <a:p>
            <a:r>
              <a:rPr lang="pt-BR" dirty="0"/>
              <a:t>A implementação utiliza aritmética modular para enfileirar e </a:t>
            </a:r>
            <a:r>
              <a:rPr lang="pt-BR" dirty="0" err="1"/>
              <a:t>desenfileirar</a:t>
            </a:r>
            <a:r>
              <a:rPr lang="pt-BR" dirty="0"/>
              <a:t> (“</a:t>
            </a:r>
            <a:r>
              <a:rPr lang="pt-BR" b="1" dirty="0"/>
              <a:t>%”</a:t>
            </a:r>
            <a:r>
              <a:rPr lang="pt-BR" dirty="0"/>
              <a:t> em C e Java).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C51D6-A038-42E1-803A-27606527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478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Implementação de Filas por meio de Arranjos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199560-8920-4168-BEB5-6FD5E49AC4A2}"/>
              </a:ext>
            </a:extLst>
          </p:cNvPr>
          <p:cNvSpPr/>
          <p:nvPr/>
        </p:nvSpPr>
        <p:spPr>
          <a:xfrm>
            <a:off x="838200" y="1027906"/>
            <a:ext cx="75057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 ()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Object[1000];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maxTam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Object[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maxTam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cheia"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endParaRPr lang="pt-BR" sz="1600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D431069-D423-4097-BA21-E977BA421688}"/>
              </a:ext>
            </a:extLst>
          </p:cNvPr>
          <p:cNvCxnSpPr/>
          <p:nvPr/>
        </p:nvCxnSpPr>
        <p:spPr>
          <a:xfrm flipH="1">
            <a:off x="4592515" y="1951892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084B11-7F6E-4327-A6C9-A1075E56C303}"/>
              </a:ext>
            </a:extLst>
          </p:cNvPr>
          <p:cNvSpPr txBox="1"/>
          <p:nvPr/>
        </p:nvSpPr>
        <p:spPr>
          <a:xfrm>
            <a:off x="6224954" y="1767226"/>
            <a:ext cx="5451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Fazem referência ao início e fim da fila, respectivamente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A2DE927-C83F-4710-9794-3E81F110D661}"/>
              </a:ext>
            </a:extLst>
          </p:cNvPr>
          <p:cNvCxnSpPr/>
          <p:nvPr/>
        </p:nvCxnSpPr>
        <p:spPr>
          <a:xfrm flipH="1">
            <a:off x="3716215" y="2406582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BB9BC43-9D16-4400-8B11-F9046780D816}"/>
              </a:ext>
            </a:extLst>
          </p:cNvPr>
          <p:cNvSpPr txBox="1"/>
          <p:nvPr/>
        </p:nvSpPr>
        <p:spPr>
          <a:xfrm>
            <a:off x="5348654" y="2221916"/>
            <a:ext cx="5292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Cria um fila vazia. Observe que </a:t>
            </a:r>
            <a:r>
              <a:rPr lang="pt-BR" i="1" dirty="0"/>
              <a:t>frente</a:t>
            </a:r>
            <a:r>
              <a:rPr lang="pt-BR" dirty="0"/>
              <a:t> e </a:t>
            </a:r>
            <a:r>
              <a:rPr lang="pt-BR" i="1" dirty="0" err="1"/>
              <a:t>tras</a:t>
            </a:r>
            <a:r>
              <a:rPr lang="pt-BR" dirty="0"/>
              <a:t> são iguais.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2FFF152-660B-413C-AF9B-745F523350B9}"/>
              </a:ext>
            </a:extLst>
          </p:cNvPr>
          <p:cNvCxnSpPr/>
          <p:nvPr/>
        </p:nvCxnSpPr>
        <p:spPr>
          <a:xfrm flipH="1">
            <a:off x="4299438" y="3637856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702783-8ED8-448D-BB98-610BC1F075CF}"/>
              </a:ext>
            </a:extLst>
          </p:cNvPr>
          <p:cNvSpPr txBox="1"/>
          <p:nvPr/>
        </p:nvSpPr>
        <p:spPr>
          <a:xfrm>
            <a:off x="5931877" y="3453190"/>
            <a:ext cx="5909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Cria um fila vazia com tamanho máximo definido pelo </a:t>
            </a:r>
            <a:r>
              <a:rPr lang="pt-BR" dirty="0" err="1"/>
              <a:t>usário</a:t>
            </a:r>
            <a:r>
              <a:rPr lang="pt-BR" dirty="0"/>
              <a:t>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66D8720-62C3-41A2-A4FE-11327275D08F}"/>
              </a:ext>
            </a:extLst>
          </p:cNvPr>
          <p:cNvCxnSpPr/>
          <p:nvPr/>
        </p:nvCxnSpPr>
        <p:spPr>
          <a:xfrm flipH="1">
            <a:off x="6981092" y="4880811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46D789-9BD5-48FE-B671-8CC37AF900B9}"/>
              </a:ext>
            </a:extLst>
          </p:cNvPr>
          <p:cNvSpPr txBox="1"/>
          <p:nvPr/>
        </p:nvSpPr>
        <p:spPr>
          <a:xfrm>
            <a:off x="8578363" y="3925464"/>
            <a:ext cx="36136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Enfileira novo objeto: observe a verifica da fila cheia pela aritmética modular.  Se a fila não estiver cheia, o novo elemento será sempre inserido na posição “</a:t>
            </a:r>
            <a:r>
              <a:rPr lang="pt-BR" i="1" dirty="0" err="1"/>
              <a:t>tras</a:t>
            </a:r>
            <a:r>
              <a:rPr lang="pt-BR" dirty="0"/>
              <a:t>”. </a:t>
            </a:r>
          </a:p>
          <a:p>
            <a:endParaRPr lang="pt-BR" dirty="0"/>
          </a:p>
          <a:p>
            <a:r>
              <a:rPr lang="pt-BR" dirty="0"/>
              <a:t>Observe que “</a:t>
            </a:r>
            <a:r>
              <a:rPr lang="pt-BR" i="1" dirty="0" err="1"/>
              <a:t>tras</a:t>
            </a:r>
            <a:r>
              <a:rPr lang="pt-BR" i="1" dirty="0"/>
              <a:t>”</a:t>
            </a:r>
            <a:r>
              <a:rPr lang="pt-BR" dirty="0"/>
              <a:t> é incrementado também usando aritmética modular, pois lembre-se de que a fila é circular)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3F53A26-E461-4BBB-9159-6097CDA0D879}"/>
              </a:ext>
            </a:extLst>
          </p:cNvPr>
          <p:cNvCxnSpPr/>
          <p:nvPr/>
        </p:nvCxnSpPr>
        <p:spPr>
          <a:xfrm flipH="1">
            <a:off x="3716215" y="1697239"/>
            <a:ext cx="1503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DDC362F-7C21-4800-986C-790F3C1A5888}"/>
              </a:ext>
            </a:extLst>
          </p:cNvPr>
          <p:cNvSpPr txBox="1"/>
          <p:nvPr/>
        </p:nvSpPr>
        <p:spPr>
          <a:xfrm>
            <a:off x="5269199" y="1494637"/>
            <a:ext cx="219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Tipo genérico do Java</a:t>
            </a:r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5ADB6C36-BAD5-46D3-BF55-BC214349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35</a:t>
            </a:fld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B175FD4-A046-4BA7-A8EF-0EF29B29D6CC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864510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Implementação de Filas por meio de Arranjos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2598EF-9496-41D6-B4BB-C31D3F03DEF4}"/>
              </a:ext>
            </a:extLst>
          </p:cNvPr>
          <p:cNvSpPr/>
          <p:nvPr/>
        </p:nvSpPr>
        <p:spPr>
          <a:xfrm>
            <a:off x="838200" y="1436704"/>
            <a:ext cx="930812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Object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vazia 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imprime 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 %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4ABFFE7-05A8-46AD-9950-6E97ED5F87F6}"/>
              </a:ext>
            </a:extLst>
          </p:cNvPr>
          <p:cNvCxnSpPr/>
          <p:nvPr/>
        </p:nvCxnSpPr>
        <p:spPr>
          <a:xfrm flipH="1">
            <a:off x="5770685" y="2373923"/>
            <a:ext cx="1658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493A18-40A4-417F-9B69-599E9E5A2B13}"/>
              </a:ext>
            </a:extLst>
          </p:cNvPr>
          <p:cNvSpPr txBox="1"/>
          <p:nvPr/>
        </p:nvSpPr>
        <p:spPr>
          <a:xfrm>
            <a:off x="7552593" y="1773758"/>
            <a:ext cx="4519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remoção ocorre sempre na posição “</a:t>
            </a:r>
            <a:r>
              <a:rPr lang="pt-BR" i="1" dirty="0"/>
              <a:t>frente</a:t>
            </a:r>
            <a:r>
              <a:rPr lang="pt-BR" dirty="0"/>
              <a:t>” da fila (primeiro a ser inserido). “</a:t>
            </a:r>
            <a:r>
              <a:rPr lang="pt-BR" i="1" dirty="0"/>
              <a:t>frente</a:t>
            </a:r>
            <a:r>
              <a:rPr lang="pt-BR" dirty="0"/>
              <a:t>” é incrementado também pela aritmética modular.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1ACA1C-2A0F-488B-835F-36F23E22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36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C80C0F5-9369-4F79-A536-75BD18EA7AFE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964024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794BE-02A1-4202-BDA5-BC37C6053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620"/>
            <a:ext cx="10515600" cy="1325563"/>
          </a:xfrm>
        </p:spPr>
        <p:txBody>
          <a:bodyPr/>
          <a:lstStyle/>
          <a:p>
            <a:r>
              <a:rPr lang="pt-BR" dirty="0"/>
              <a:t>Implementação de Fila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334DC3D-D158-4AB1-B0DB-C38CE13A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595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Há uma célula </a:t>
                </a:r>
                <a:r>
                  <a:rPr lang="pt-BR" i="1" dirty="0" err="1"/>
                  <a:t>head</a:t>
                </a:r>
                <a:r>
                  <a:rPr lang="pt-BR" dirty="0"/>
                  <a:t> para facilitar a implementação das operações enfileira e </a:t>
                </a:r>
                <a:r>
                  <a:rPr lang="pt-BR" dirty="0" err="1"/>
                  <a:t>desenfileira</a:t>
                </a:r>
                <a:r>
                  <a:rPr lang="pt-BR" dirty="0"/>
                  <a:t> quando a fila está vazia.</a:t>
                </a:r>
              </a:p>
              <a:p>
                <a:r>
                  <a:rPr lang="pt-BR" dirty="0"/>
                  <a:t>Fila vazia:</a:t>
                </a:r>
              </a:p>
              <a:p>
                <a:pPr lvl="1"/>
                <a:r>
                  <a:rPr lang="pt-BR" i="1" dirty="0"/>
                  <a:t>frente</a:t>
                </a:r>
                <a:r>
                  <a:rPr lang="pt-BR" dirty="0"/>
                  <a:t> e </a:t>
                </a:r>
                <a:r>
                  <a:rPr lang="pt-BR" i="1" dirty="0"/>
                  <a:t>trás </a:t>
                </a:r>
                <a:r>
                  <a:rPr lang="pt-BR" dirty="0"/>
                  <a:t>referenciam para a mesma célula (</a:t>
                </a:r>
                <a:r>
                  <a:rPr lang="pt-BR" i="1" dirty="0" err="1"/>
                  <a:t>head</a:t>
                </a:r>
                <a:r>
                  <a:rPr lang="pt-BR" dirty="0"/>
                  <a:t>).</a:t>
                </a:r>
              </a:p>
              <a:p>
                <a:r>
                  <a:rPr lang="pt-BR" dirty="0"/>
                  <a:t>Enfileirar um novo item:</a:t>
                </a:r>
              </a:p>
              <a:p>
                <a:pPr lvl="1"/>
                <a:r>
                  <a:rPr lang="pt-BR" dirty="0"/>
                  <a:t>Criar uma célula nova, ligá-la após a célula que contém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/>
                  <a:t> e colocar nela o novo item.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0304EC-11F8-4CBB-8703-8C813757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096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 err="1"/>
                  <a:t>Desenfileirar</a:t>
                </a:r>
                <a:r>
                  <a:rPr lang="pt-BR" dirty="0"/>
                  <a:t> 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: </a:t>
                </a:r>
              </a:p>
              <a:p>
                <a:pPr lvl="1"/>
                <a:r>
                  <a:rPr lang="pt-BR" dirty="0"/>
                  <a:t>desligar a célula </a:t>
                </a:r>
                <a:r>
                  <a:rPr lang="pt-BR" i="1" dirty="0" err="1"/>
                  <a:t>head</a:t>
                </a:r>
                <a:r>
                  <a:rPr lang="pt-BR" dirty="0"/>
                  <a:t> da lista e a célula que contém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passa a ser a célula </a:t>
                </a:r>
                <a:r>
                  <a:rPr lang="pt-BR" i="1" dirty="0" err="1"/>
                  <a:t>head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9" y="3964286"/>
            <a:ext cx="454342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5FD698-98A7-48CC-9241-648C1F97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410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Fila Vazia (frente e trás referenciam célula </a:t>
            </a:r>
            <a:r>
              <a:rPr lang="pt-BR" i="1" dirty="0" err="1"/>
              <a:t>head</a:t>
            </a:r>
            <a:r>
              <a:rPr lang="pt-BR" dirty="0"/>
              <a:t>)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cxnSp>
        <p:nvCxnSpPr>
          <p:cNvPr id="16" name="Conector de seta reta 15"/>
          <p:cNvCxnSpPr>
            <a:stCxn id="14" idx="3"/>
            <a:endCxn id="17" idx="1"/>
          </p:cNvCxnSpPr>
          <p:nvPr/>
        </p:nvCxnSpPr>
        <p:spPr>
          <a:xfrm flipV="1">
            <a:off x="370543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470126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089370" y="4643844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A26AC76-2424-4B3D-8777-2DCA8B3C9E0D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803CDF-23AB-476D-9935-64F37C4B6BB4}"/>
              </a:ext>
            </a:extLst>
          </p:cNvPr>
          <p:cNvSpPr/>
          <p:nvPr/>
        </p:nvSpPr>
        <p:spPr>
          <a:xfrm>
            <a:off x="8346831" y="5415860"/>
            <a:ext cx="384516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 () {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C80421-EA54-4EDD-9FCF-D14D9476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422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cxnSp>
        <p:nvCxnSpPr>
          <p:cNvPr id="16" name="Conector de seta reta 15"/>
          <p:cNvCxnSpPr>
            <a:stCxn id="14" idx="3"/>
            <a:endCxn id="17" idx="1"/>
          </p:cNvCxnSpPr>
          <p:nvPr/>
        </p:nvCxnSpPr>
        <p:spPr>
          <a:xfrm flipV="1">
            <a:off x="370543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470126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089370" y="4643844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486CC23-0787-4CF1-80B6-72FEDFB4B507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43C98C-4014-4D5E-8A6A-7C87DC809BF9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98D2FB-4F10-4625-83FB-4D68A6B3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390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089370" y="4643844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/>
          <p:cNvCxnSpPr>
            <a:stCxn id="28" idx="2"/>
            <a:endCxn id="28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33" name="Conector em curva 32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650783-379D-49F7-B602-A844BBCDF349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3B0BD09-1A3C-4B0A-B028-501B7C0E2776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6CF65F-DFB9-41EB-A9F2-5403139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401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89938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2" name="Elipse 21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2"/>
            <a:endCxn id="22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27" name="Conector em curva 26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0E1D2A4-1E6D-42D2-B2A5-19CADC308177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DDE67BC-F3B6-4C8D-BB62-8EAB148DA8BB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02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89938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/>
          <p:cNvCxnSpPr>
            <a:stCxn id="28" idx="2"/>
            <a:endCxn id="28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33" name="Conector em curva 32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713C2B0-AF6B-4A0E-9BA1-87FFC273FFB3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8999477-FF89-4780-85AE-BBFCF8FC7A82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this.tras.item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x;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F254CF-CE90-4034-9572-A139DD70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44</a:t>
            </a:fld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EA648FD-C533-4953-B72C-9189EF33C4D5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7763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cxnSp>
        <p:nvCxnSpPr>
          <p:cNvPr id="16" name="Conector de seta reta 15"/>
          <p:cNvCxnSpPr>
            <a:endCxn id="17" idx="1"/>
          </p:cNvCxnSpPr>
          <p:nvPr/>
        </p:nvCxnSpPr>
        <p:spPr>
          <a:xfrm flipV="1">
            <a:off x="5519936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515766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89938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542607" y="2853815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3339519-F806-4CCC-942B-345A7478B5B7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7EA2378-D2BD-4AD1-9A3A-EBB452DB29E6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B67DA8-6832-4709-9974-8F071C40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45</a:t>
            </a:fld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2BDDEB4-6865-4937-8DA0-5C67CFA9BBD2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29841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89938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6667142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337884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52F7E29-7F31-46AE-9886-C55CD02509DE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B26F060-B0A5-4551-B037-CABA356E5467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8D25DB-F360-4CEE-B7D6-85F18D05D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46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1072131-C556-431F-AB27-53B736110421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14781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6667142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337884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051D975-62B4-4495-A8D9-253701393050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A2D5756-AC55-41E5-9924-0451A2FB883D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7EE134-6CEA-4C67-A838-8EB331A4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47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5138A5A-50F2-4490-81B5-B147282DD98D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44939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337884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051D975-62B4-4495-A8D9-253701393050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6F7B475-691E-4D4A-8A18-DE4C49258EA1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this.tras.item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x;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FC855F-BE09-4354-AB8A-EB000889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48</a:t>
            </a:fld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5A82F45-1058-45E7-BA98-9AEC53C4D3C7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6462BD2-1442-4C30-8B64-3E874364F1B1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55907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337884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4101E7A-E972-48B5-B0AA-7E299FCB0763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CE93714-9B62-43E1-BCE8-2797225D847C}"/>
              </a:ext>
            </a:extLst>
          </p:cNvPr>
          <p:cNvSpPr/>
          <p:nvPr/>
        </p:nvSpPr>
        <p:spPr>
          <a:xfrm>
            <a:off x="8001000" y="528834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.tras.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this.tras.prox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09DD5D-7E55-43D5-8036-32E2245C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49</a:t>
            </a:fld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DDEDACC-1A1C-4152-B904-225CC3D4D4BA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3E832E7-050A-4905-AFE6-EA410493AFFD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5440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Enfileira novo elemento na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33788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51182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CDF9710-3710-4B50-A07C-B82D16433287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D97C8D-8344-4017-8495-FDF764E8D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50</a:t>
            </a:fld>
            <a:endParaRPr lang="pt-BR"/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DCCC8B24-F3C6-4AE7-AC5F-AF61833993DF}"/>
              </a:ext>
            </a:extLst>
          </p:cNvPr>
          <p:cNvCxnSpPr>
            <a:cxnSpLocks/>
          </p:cNvCxnSpPr>
          <p:nvPr/>
        </p:nvCxnSpPr>
        <p:spPr>
          <a:xfrm flipV="1">
            <a:off x="3394185" y="4778797"/>
            <a:ext cx="0" cy="649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7D7A43B-3E9C-4D71-A77F-A9696DE1DC1F}"/>
              </a:ext>
            </a:extLst>
          </p:cNvPr>
          <p:cNvSpPr txBox="1"/>
          <p:nvPr/>
        </p:nvSpPr>
        <p:spPr>
          <a:xfrm>
            <a:off x="2890128" y="5433020"/>
            <a:ext cx="4055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</a:t>
            </a:r>
            <a:r>
              <a:rPr lang="pt-BR" i="1" dirty="0" err="1"/>
              <a:t>head</a:t>
            </a:r>
            <a:r>
              <a:rPr lang="pt-BR" dirty="0"/>
              <a:t> é apenas uma célula para auxiliar as operações. O atributo “item” de </a:t>
            </a:r>
            <a:r>
              <a:rPr lang="pt-BR" i="1" dirty="0" err="1"/>
              <a:t>head</a:t>
            </a:r>
            <a:r>
              <a:rPr lang="pt-BR" dirty="0"/>
              <a:t> não armazena nenhuma do itens da fila.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60214D7-6BFF-4FC6-A03E-1CDB7162E922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C7D975A-58F8-4E7F-9B47-220F562BF04B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71260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 err="1"/>
              <a:t>Desenfileirar</a:t>
            </a:r>
            <a:r>
              <a:rPr lang="pt-BR" dirty="0"/>
              <a:t> um item no inicio da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4AE6C9E-4B29-4A62-8BFC-E319505048A1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886A6BA-52CF-4D61-B65F-24B6C4736921}"/>
              </a:ext>
            </a:extLst>
          </p:cNvPr>
          <p:cNvSpPr txBox="1"/>
          <p:nvPr/>
        </p:nvSpPr>
        <p:spPr>
          <a:xfrm>
            <a:off x="633788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3DCAF1D-9767-4316-8D6F-50CD27DED27F}"/>
              </a:ext>
            </a:extLst>
          </p:cNvPr>
          <p:cNvSpPr txBox="1"/>
          <p:nvPr/>
        </p:nvSpPr>
        <p:spPr>
          <a:xfrm>
            <a:off x="451182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165DEFD-D370-40A9-8D6B-9D17F97E867A}"/>
              </a:ext>
            </a:extLst>
          </p:cNvPr>
          <p:cNvSpPr/>
          <p:nvPr/>
        </p:nvSpPr>
        <p:spPr>
          <a:xfrm>
            <a:off x="5934808" y="5042118"/>
            <a:ext cx="62571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D6B7D-02D5-4B4B-BA65-9DB91158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51</a:t>
            </a:fld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B8B12DA-EC84-4CEB-B5F6-6A52F44CEE2D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E5CBB9F-E689-40C4-9E91-F99E119F10DA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880410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 err="1"/>
              <a:t>Desenfileirar</a:t>
            </a:r>
            <a:r>
              <a:rPr lang="pt-BR" dirty="0"/>
              <a:t> um item no inicio da fila.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763602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347C5D9-2B70-4B35-889D-414302377587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987659-42D1-41B2-A8D4-2CADB7726305}"/>
              </a:ext>
            </a:extLst>
          </p:cNvPr>
          <p:cNvSpPr/>
          <p:nvPr/>
        </p:nvSpPr>
        <p:spPr>
          <a:xfrm>
            <a:off x="5934808" y="5042118"/>
            <a:ext cx="62571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this.frente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this.frente.prox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F82E473-BB80-4A65-A369-6F68DD7A03DF}"/>
              </a:ext>
            </a:extLst>
          </p:cNvPr>
          <p:cNvSpPr txBox="1"/>
          <p:nvPr/>
        </p:nvSpPr>
        <p:spPr>
          <a:xfrm>
            <a:off x="633788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7A60EC-0677-423E-ACF4-B7958CEA7E54}"/>
              </a:ext>
            </a:extLst>
          </p:cNvPr>
          <p:cNvSpPr txBox="1"/>
          <p:nvPr/>
        </p:nvSpPr>
        <p:spPr>
          <a:xfrm>
            <a:off x="451182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280CA534-8474-41CB-A560-A7E7552372F4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7C77E4B-AF73-40AE-A806-C2BB78079AA2}"/>
              </a:ext>
            </a:extLst>
          </p:cNvPr>
          <p:cNvCxnSpPr>
            <a:stCxn id="36" idx="2"/>
            <a:endCxn id="36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5633381-754E-4F7D-92BB-248C96F71494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CF64B4E-9FFF-4B37-8F85-ACDD749B334B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40" name="Conector em curva 25">
            <a:extLst>
              <a:ext uri="{FF2B5EF4-FFF2-40B4-BE49-F238E27FC236}">
                <a16:creationId xmlns:a16="http://schemas.microsoft.com/office/drawing/2014/main" id="{D5869824-3ED2-4557-BDC8-541F68786C63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1A8CAB-1E7D-4670-AB74-01DEFA0B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52</a:t>
            </a:fld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170A7A6-2F94-4CAB-A7EB-DF72A67283AA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ADA2B34-94B9-43DE-BA67-77BF1918CC03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734710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 err="1"/>
              <a:t>Desenfileirar</a:t>
            </a:r>
            <a:r>
              <a:rPr lang="pt-BR" dirty="0"/>
              <a:t> um item no inicio da fila.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763602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40A3552-56BE-4B2C-8C33-256E29056903}"/>
              </a:ext>
            </a:extLst>
          </p:cNvPr>
          <p:cNvSpPr/>
          <p:nvPr/>
        </p:nvSpPr>
        <p:spPr>
          <a:xfrm>
            <a:off x="5934808" y="5042118"/>
            <a:ext cx="62571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item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this.frente.item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item;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42D0F77-AFA1-445C-A851-8A97CAA91FB3}"/>
              </a:ext>
            </a:extLst>
          </p:cNvPr>
          <p:cNvSpPr txBox="1"/>
          <p:nvPr/>
        </p:nvSpPr>
        <p:spPr>
          <a:xfrm>
            <a:off x="633788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2º elemento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DF53DF0-0214-4758-9678-5E3669FB77F4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A078BB0-550C-41B8-96C4-1DF8C4517A9F}"/>
              </a:ext>
            </a:extLst>
          </p:cNvPr>
          <p:cNvSpPr txBox="1"/>
          <p:nvPr/>
        </p:nvSpPr>
        <p:spPr>
          <a:xfrm>
            <a:off x="451182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8F3C3C86-FDDB-4577-B59A-E47706B0591C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CA19A92-9F8F-4047-8FB3-9C80C2D4A0B3}"/>
              </a:ext>
            </a:extLst>
          </p:cNvPr>
          <p:cNvCxnSpPr>
            <a:stCxn id="39" idx="2"/>
            <a:endCxn id="39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51D4835-B256-4049-8F67-390BC7A9B2C0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282E0EE-305E-4AF1-BF30-BD19EDC80E1B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43" name="Conector em curva 25">
            <a:extLst>
              <a:ext uri="{FF2B5EF4-FFF2-40B4-BE49-F238E27FC236}">
                <a16:creationId xmlns:a16="http://schemas.microsoft.com/office/drawing/2014/main" id="{8CABB1DE-E021-40DA-9D69-C1E5EC8D3671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AD0A50-0414-4A70-88D3-994EB5B1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53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C2B038C-4D42-41BF-9587-53E06274C633}"/>
              </a:ext>
            </a:extLst>
          </p:cNvPr>
          <p:cNvSpPr txBox="1"/>
          <p:nvPr/>
        </p:nvSpPr>
        <p:spPr>
          <a:xfrm>
            <a:off x="4986030" y="347374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23E72E3-ABFD-4576-BFAE-6A71E1AD633E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37787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 err="1"/>
              <a:t>Desenfileirar</a:t>
            </a:r>
            <a:r>
              <a:rPr lang="pt-BR" dirty="0"/>
              <a:t> um item no inicio da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763602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17C0327-1179-473F-B9AE-94433764CC4C}"/>
              </a:ext>
            </a:extLst>
          </p:cNvPr>
          <p:cNvSpPr txBox="1"/>
          <p:nvPr/>
        </p:nvSpPr>
        <p:spPr>
          <a:xfrm>
            <a:off x="4836161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3AEADF6-6072-47B2-85A3-9AD1065B321A}"/>
              </a:ext>
            </a:extLst>
          </p:cNvPr>
          <p:cNvSpPr/>
          <p:nvPr/>
        </p:nvSpPr>
        <p:spPr>
          <a:xfrm>
            <a:off x="5934808" y="5042118"/>
            <a:ext cx="62571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7F38876-F687-4B82-AC65-C9D3AA91AD3B}"/>
              </a:ext>
            </a:extLst>
          </p:cNvPr>
          <p:cNvSpPr txBox="1"/>
          <p:nvPr/>
        </p:nvSpPr>
        <p:spPr>
          <a:xfrm>
            <a:off x="633788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8D15C082-0FB3-449F-A1B6-3B10C6B81B74}"/>
              </a:ext>
            </a:extLst>
          </p:cNvPr>
          <p:cNvCxnSpPr>
            <a:cxnSpLocks/>
          </p:cNvCxnSpPr>
          <p:nvPr/>
        </p:nvCxnSpPr>
        <p:spPr>
          <a:xfrm flipV="1">
            <a:off x="3359696" y="4475956"/>
            <a:ext cx="0" cy="649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F9BFEBC-E82A-4A92-AF6C-17626A3FA9AD}"/>
              </a:ext>
            </a:extLst>
          </p:cNvPr>
          <p:cNvSpPr txBox="1"/>
          <p:nvPr/>
        </p:nvSpPr>
        <p:spPr>
          <a:xfrm>
            <a:off x="2855640" y="5130179"/>
            <a:ext cx="1382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B6006C-E4E4-4A70-87E7-2FD6AA51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54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9EB375C-9E90-40BF-87A3-9AF5E6879C8B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99797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 err="1"/>
              <a:t>Desenfileirar</a:t>
            </a:r>
            <a:r>
              <a:rPr lang="pt-BR" dirty="0"/>
              <a:t> um item no inicio da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577542" y="4653136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38D1A6-3133-4D04-A142-B8CB9EA50E79}"/>
              </a:ext>
            </a:extLst>
          </p:cNvPr>
          <p:cNvSpPr txBox="1"/>
          <p:nvPr/>
        </p:nvSpPr>
        <p:spPr>
          <a:xfrm>
            <a:off x="4836161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B8B9846-B88E-46D0-AA2D-B5D67DB3DD0E}"/>
              </a:ext>
            </a:extLst>
          </p:cNvPr>
          <p:cNvSpPr/>
          <p:nvPr/>
        </p:nvSpPr>
        <p:spPr>
          <a:xfrm>
            <a:off x="5934808" y="5042118"/>
            <a:ext cx="62571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this.frente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this.frente.prox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item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this.frente.item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item;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25D402C-937F-4942-BC22-16170F43A4C0}"/>
              </a:ext>
            </a:extLst>
          </p:cNvPr>
          <p:cNvSpPr txBox="1"/>
          <p:nvPr/>
        </p:nvSpPr>
        <p:spPr>
          <a:xfrm>
            <a:off x="6337885" y="2852936"/>
            <a:ext cx="135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1º elemento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D04D481E-F3EC-4FFA-A4CB-3CF874FCFDAC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60E2C52-39FA-491D-A188-ADE89A5B6F48}"/>
              </a:ext>
            </a:extLst>
          </p:cNvPr>
          <p:cNvCxnSpPr>
            <a:stCxn id="38" idx="2"/>
            <a:endCxn id="38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4F87440-4178-4192-A18D-A91C57AD1A0B}"/>
              </a:ext>
            </a:extLst>
          </p:cNvPr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DF718CA-F35F-4529-8AC4-F1B51DB8C690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42" name="Conector em curva 31">
            <a:extLst>
              <a:ext uri="{FF2B5EF4-FFF2-40B4-BE49-F238E27FC236}">
                <a16:creationId xmlns:a16="http://schemas.microsoft.com/office/drawing/2014/main" id="{20B0CDF0-7042-431C-92F7-6712A882A1AE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17547E-1063-4208-A44E-D3244D94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55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44F9830-19A4-418A-888D-61E1EBF03D76}"/>
              </a:ext>
            </a:extLst>
          </p:cNvPr>
          <p:cNvSpPr txBox="1"/>
          <p:nvPr/>
        </p:nvSpPr>
        <p:spPr>
          <a:xfrm>
            <a:off x="6777230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20441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 err="1"/>
              <a:t>Desenfileirar</a:t>
            </a:r>
            <a:r>
              <a:rPr lang="pt-BR" dirty="0"/>
              <a:t> um item no inicio da fila.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6577542" y="4653136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689770" y="4355812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0" name="Elipse 19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reto 21"/>
          <p:cNvCxnSpPr>
            <a:stCxn id="20" idx="2"/>
            <a:endCxn id="20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cxnSp>
        <p:nvCxnSpPr>
          <p:cNvPr id="26" name="Conector em curva 25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7" idx="2"/>
            <a:endCxn id="27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6667142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2" name="Conector em curva 31"/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endCxn id="33" idx="1"/>
          </p:cNvCxnSpPr>
          <p:nvPr/>
        </p:nvCxnSpPr>
        <p:spPr>
          <a:xfrm flipV="1">
            <a:off x="7303702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8299532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7693693" y="5412560"/>
            <a:ext cx="188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A Fila está vazia: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5FD43A6-3300-4EFE-9F26-D6670C28FDC8}"/>
              </a:ext>
            </a:extLst>
          </p:cNvPr>
          <p:cNvSpPr txBox="1"/>
          <p:nvPr/>
        </p:nvSpPr>
        <p:spPr>
          <a:xfrm>
            <a:off x="6638582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5E018D-C1F1-4560-B589-E296DFDA08B6}"/>
              </a:ext>
            </a:extLst>
          </p:cNvPr>
          <p:cNvSpPr/>
          <p:nvPr/>
        </p:nvSpPr>
        <p:spPr>
          <a:xfrm>
            <a:off x="7549661" y="5837967"/>
            <a:ext cx="443425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vazia 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pt-BR" sz="1600" dirty="0"/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B318A615-FB51-49FB-B3A1-75FC8D53B8A1}"/>
              </a:ext>
            </a:extLst>
          </p:cNvPr>
          <p:cNvCxnSpPr>
            <a:cxnSpLocks/>
          </p:cNvCxnSpPr>
          <p:nvPr/>
        </p:nvCxnSpPr>
        <p:spPr>
          <a:xfrm flipV="1">
            <a:off x="3359696" y="4475956"/>
            <a:ext cx="0" cy="649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D8296FE-2ADD-4AFA-B94A-96A5F80863DF}"/>
              </a:ext>
            </a:extLst>
          </p:cNvPr>
          <p:cNvSpPr txBox="1"/>
          <p:nvPr/>
        </p:nvSpPr>
        <p:spPr>
          <a:xfrm>
            <a:off x="2855640" y="5130179"/>
            <a:ext cx="1382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2CB7398-79F5-4F26-9427-113CCCA9C44E}"/>
              </a:ext>
            </a:extLst>
          </p:cNvPr>
          <p:cNvCxnSpPr>
            <a:cxnSpLocks/>
          </p:cNvCxnSpPr>
          <p:nvPr/>
        </p:nvCxnSpPr>
        <p:spPr>
          <a:xfrm flipV="1">
            <a:off x="5159896" y="4475956"/>
            <a:ext cx="0" cy="649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28307BA-274A-4A2D-9461-0542904C837E}"/>
              </a:ext>
            </a:extLst>
          </p:cNvPr>
          <p:cNvSpPr txBox="1"/>
          <p:nvPr/>
        </p:nvSpPr>
        <p:spPr>
          <a:xfrm>
            <a:off x="4655840" y="5130179"/>
            <a:ext cx="1382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F2C9C7-D708-4AA9-8B7F-7C320737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590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Implementação de Filas por meio de</a:t>
            </a:r>
            <a:br>
              <a:rPr lang="pt-BR" dirty="0"/>
            </a:br>
            <a:r>
              <a:rPr lang="pt-BR" dirty="0"/>
              <a:t>Estruturas Auto Referenciadas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fila é implementada por meio de células.</a:t>
            </a:r>
          </a:p>
          <a:p>
            <a:endParaRPr lang="pt-BR" dirty="0"/>
          </a:p>
          <a:p>
            <a:r>
              <a:rPr lang="pt-BR" dirty="0"/>
              <a:t>Cada célula contém um item da fila e uma referência para outra célula.</a:t>
            </a:r>
          </a:p>
          <a:p>
            <a:endParaRPr lang="pt-BR" dirty="0"/>
          </a:p>
          <a:p>
            <a:r>
              <a:rPr lang="pt-BR" dirty="0"/>
              <a:t>A classe Fila contém uma referência para a frente da fila (célula </a:t>
            </a:r>
            <a:r>
              <a:rPr lang="pt-BR" i="1" dirty="0" err="1"/>
              <a:t>head</a:t>
            </a:r>
            <a:r>
              <a:rPr lang="pt-BR" dirty="0"/>
              <a:t>) e uma referência para a parte de trás da fila.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FFCCE6-6C94-4D79-9CA9-1EC10E3D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2007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Filas usando Estruturas Auto Referenciadas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12B74DF-F958-4FD0-BE1E-7395EE127A59}"/>
              </a:ext>
            </a:extLst>
          </p:cNvPr>
          <p:cNvSpPr/>
          <p:nvPr/>
        </p:nvSpPr>
        <p:spPr>
          <a:xfrm>
            <a:off x="838200" y="1113512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 () { 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enfileira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Celula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E071ED-2AB3-4DFA-AA62-84EBEF97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58</a:t>
            </a:fld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B1D9BD3-D359-42E3-97B2-A7368A59FC02}"/>
              </a:ext>
            </a:extLst>
          </p:cNvPr>
          <p:cNvCxnSpPr/>
          <p:nvPr/>
        </p:nvCxnSpPr>
        <p:spPr>
          <a:xfrm flipH="1">
            <a:off x="4805082" y="1936376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A3953A5-31B7-453C-BC96-0524BC07E32C}"/>
              </a:ext>
            </a:extLst>
          </p:cNvPr>
          <p:cNvSpPr txBox="1"/>
          <p:nvPr/>
        </p:nvSpPr>
        <p:spPr>
          <a:xfrm>
            <a:off x="5997388" y="1456905"/>
            <a:ext cx="580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a classe Fila contem a classe “</a:t>
            </a:r>
            <a:r>
              <a:rPr lang="pt-BR" dirty="0" err="1"/>
              <a:t>Celula</a:t>
            </a:r>
            <a:r>
              <a:rPr lang="pt-BR" dirty="0"/>
              <a:t>”. Esta classe possui um objeto </a:t>
            </a:r>
            <a:r>
              <a:rPr lang="pt-BR" i="1" dirty="0"/>
              <a:t>item</a:t>
            </a:r>
            <a:r>
              <a:rPr lang="pt-BR" dirty="0"/>
              <a:t> (tipo genérico) e um objeto “</a:t>
            </a:r>
            <a:r>
              <a:rPr lang="pt-BR" dirty="0" err="1"/>
              <a:t>prox</a:t>
            </a:r>
            <a:r>
              <a:rPr lang="pt-BR" dirty="0"/>
              <a:t>” que é uma referência para a própria classe “</a:t>
            </a:r>
            <a:r>
              <a:rPr lang="pt-BR" dirty="0" err="1"/>
              <a:t>Celula</a:t>
            </a:r>
            <a:r>
              <a:rPr lang="pt-BR" dirty="0"/>
              <a:t>”. 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67FE249-9491-4752-8575-E6838BF13EAA}"/>
              </a:ext>
            </a:extLst>
          </p:cNvPr>
          <p:cNvCxnSpPr/>
          <p:nvPr/>
        </p:nvCxnSpPr>
        <p:spPr>
          <a:xfrm flipH="1">
            <a:off x="3612776" y="2905472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F150B2-E5E0-419E-9D81-3A71C3C77E44}"/>
              </a:ext>
            </a:extLst>
          </p:cNvPr>
          <p:cNvSpPr txBox="1"/>
          <p:nvPr/>
        </p:nvSpPr>
        <p:spPr>
          <a:xfrm>
            <a:off x="4805082" y="2582306"/>
            <a:ext cx="580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“frente” e “</a:t>
            </a:r>
            <a:r>
              <a:rPr lang="pt-BR" dirty="0" err="1"/>
              <a:t>tras</a:t>
            </a:r>
            <a:r>
              <a:rPr lang="pt-BR" dirty="0"/>
              <a:t>” são do tipo “</a:t>
            </a:r>
            <a:r>
              <a:rPr lang="pt-BR" dirty="0" err="1"/>
              <a:t>Celula</a:t>
            </a:r>
            <a:r>
              <a:rPr lang="pt-BR" dirty="0"/>
              <a:t>”, pois sempre irá armazenar a célula dos elementos da Fila. 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87E864D-3573-40AC-8BD9-60F77B91AEB7}"/>
              </a:ext>
            </a:extLst>
          </p:cNvPr>
          <p:cNvCxnSpPr/>
          <p:nvPr/>
        </p:nvCxnSpPr>
        <p:spPr>
          <a:xfrm flipH="1">
            <a:off x="5047129" y="3874566"/>
            <a:ext cx="10488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0720165-CA07-47DF-8B22-A7AA31A504B6}"/>
              </a:ext>
            </a:extLst>
          </p:cNvPr>
          <p:cNvSpPr txBox="1"/>
          <p:nvPr/>
        </p:nvSpPr>
        <p:spPr>
          <a:xfrm>
            <a:off x="6239435" y="3376859"/>
            <a:ext cx="5809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Criando uma Fila vazia. Observe que “frente” é instanciado criando uma nova célula vazia (que não contém item). Como a fila está vazia, “traz” e “frente” fazem referência para a mesma célula (chamada </a:t>
            </a:r>
            <a:r>
              <a:rPr lang="pt-BR" i="1" dirty="0" err="1"/>
              <a:t>head</a:t>
            </a:r>
            <a:r>
              <a:rPr lang="pt-BR" dirty="0"/>
              <a:t>).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7CDBE83-F3F8-4648-A72F-CA7F36BCD74B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23696762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Filas usando Estruturas Auto Referenciadas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255FAAB-039A-4308-B8B6-C9846207C394}"/>
              </a:ext>
            </a:extLst>
          </p:cNvPr>
          <p:cNvSpPr/>
          <p:nvPr/>
        </p:nvSpPr>
        <p:spPr>
          <a:xfrm>
            <a:off x="838200" y="1377694"/>
            <a:ext cx="778705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.vazia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())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throw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A fila esta vazia"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item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vazia 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tras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imprime () {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Celula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frente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item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aux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prox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707921-9E3F-477D-A6AA-1476E94E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59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A92281-B752-4728-9AFB-85F78BEFB8E6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</p:spTree>
    <p:extLst>
      <p:ext uri="{BB962C8B-B14F-4D97-AF65-F5344CB8AC3E}">
        <p14:creationId xmlns:p14="http://schemas.microsoft.com/office/powerpoint/2010/main" val="33164145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da Fila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F26940D-55BF-4B59-AC98-6258791D6F95}"/>
              </a:ext>
            </a:extLst>
          </p:cNvPr>
          <p:cNvSpPr/>
          <p:nvPr/>
        </p:nvSpPr>
        <p:spPr>
          <a:xfrm>
            <a:off x="838199" y="1379541"/>
            <a:ext cx="954551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TestaFila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 (String[]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Fila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fila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Fila();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Integer </a:t>
            </a:r>
            <a:r>
              <a:rPr lang="sv-SE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sv-SE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Integer[1000];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java.util.Random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Gera uma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permutacao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aleatoria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de chaves entre 0 e </a:t>
            </a:r>
            <a:r>
              <a:rPr lang="pt-BR" sz="1600" u="sng" dirty="0" err="1">
                <a:solidFill>
                  <a:srgbClr val="3F7F5F"/>
                </a:solidFill>
                <a:latin typeface="Consolas" panose="020B0609020204030204" pitchFamily="49" charset="0"/>
              </a:rPr>
              <a:t>max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 - 1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 %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abs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random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 %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endParaRPr lang="pt-BR" sz="16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656F715-E2FD-4099-8D63-11EE2FCAE962}"/>
              </a:ext>
            </a:extLst>
          </p:cNvPr>
          <p:cNvSpPr txBox="1"/>
          <p:nvPr/>
        </p:nvSpPr>
        <p:spPr>
          <a:xfrm>
            <a:off x="8767485" y="1690688"/>
            <a:ext cx="2490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Utilize a classe ao lado para testar a fila por vetor e com estruturas auto referenciadas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2F5DDCC-3E6A-4454-AE2C-1E4DE865C217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A9B61A-6F72-46BE-9236-626AE311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0774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da Fila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E87B318-762D-427F-803A-6586BFC773D2}"/>
              </a:ext>
            </a:extLst>
          </p:cNvPr>
          <p:cNvSpPr/>
          <p:nvPr/>
        </p:nvSpPr>
        <p:spPr>
          <a:xfrm>
            <a:off x="838199" y="1325022"/>
            <a:ext cx="912348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Insere cada chave na fila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fila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"Enfileirou:"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vetor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fila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.imprime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Retira cada chave da fila</a:t>
            </a:r>
          </a:p>
          <a:p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n-NO" sz="1600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max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fila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6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Desenfileirou</a:t>
            </a:r>
            <a:r>
              <a:rPr lang="pt-BR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: "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.toString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fila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.desenfileira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pt-BR" sz="1600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.getMessage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fila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.imprime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2EEFAE-43F8-4D0C-8AE4-B2B413979B32}"/>
              </a:ext>
            </a:extLst>
          </p:cNvPr>
          <p:cNvSpPr/>
          <p:nvPr/>
        </p:nvSpPr>
        <p:spPr>
          <a:xfrm>
            <a:off x="0" y="6581001"/>
            <a:ext cx="83732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Referência: ZIVIANI, </a:t>
            </a:r>
            <a:r>
              <a:rPr lang="pt-BR" sz="1200" dirty="0" err="1"/>
              <a:t>Nivio</a:t>
            </a:r>
            <a:r>
              <a:rPr lang="pt-BR" sz="1200" dirty="0"/>
              <a:t>. Projeto de algoritmos: com implementações em Java e C++. São Paulo: Thomson Learning, c2007.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C9CAFA-6443-433A-8198-08179888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1661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794BE-02A1-4202-BDA5-BC37C6053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620"/>
            <a:ext cx="10515600" cy="1325563"/>
          </a:xfrm>
        </p:spPr>
        <p:txBody>
          <a:bodyPr/>
          <a:lstStyle/>
          <a:p>
            <a:r>
              <a:rPr lang="pt-BR" dirty="0"/>
              <a:t>Deques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334DC3D-D158-4AB1-B0DB-C38CE13A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571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 é </a:t>
            </a:r>
            <a:r>
              <a:rPr lang="pt-BR"/>
              <a:t>uma generalização de </a:t>
            </a:r>
            <a:r>
              <a:rPr lang="pt-BR" dirty="0"/>
              <a:t>uma Fila, em que as inserções e remoções de elementos podem ocorrer em qualquer uma das extremidades. </a:t>
            </a:r>
          </a:p>
          <a:p>
            <a:endParaRPr lang="pt-BR" dirty="0"/>
          </a:p>
          <a:p>
            <a:r>
              <a:rPr lang="pt-BR" dirty="0"/>
              <a:t>Deque (</a:t>
            </a:r>
            <a:r>
              <a:rPr lang="pt-BR" b="1" dirty="0" err="1"/>
              <a:t>d</a:t>
            </a:r>
            <a:r>
              <a:rPr lang="pt-BR" dirty="0" err="1"/>
              <a:t>ouble</a:t>
            </a:r>
            <a:r>
              <a:rPr lang="pt-BR" dirty="0"/>
              <a:t> </a:t>
            </a:r>
            <a:r>
              <a:rPr lang="pt-BR" b="1" dirty="0" err="1"/>
              <a:t>e</a:t>
            </a:r>
            <a:r>
              <a:rPr lang="pt-BR" dirty="0" err="1"/>
              <a:t>nded</a:t>
            </a:r>
            <a:r>
              <a:rPr lang="pt-BR" dirty="0"/>
              <a:t> </a:t>
            </a:r>
            <a:r>
              <a:rPr lang="pt-BR" b="1" dirty="0" err="1"/>
              <a:t>que</a:t>
            </a:r>
            <a:r>
              <a:rPr lang="pt-BR" dirty="0" err="1"/>
              <a:t>ue</a:t>
            </a:r>
            <a:r>
              <a:rPr lang="pt-BR" dirty="0"/>
              <a:t>) </a:t>
            </a:r>
          </a:p>
          <a:p>
            <a:endParaRPr lang="pt-BR" dirty="0"/>
          </a:p>
          <a:p>
            <a:r>
              <a:rPr lang="pt-BR" dirty="0"/>
              <a:t>Para implementação por meio de vetores (arranjos) a estrutura circular, com na Fila, também é utilizada.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BCDBB0-9F9D-4F52-9C4C-1B86B96C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6862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B852A-1AC0-4F59-A350-DBAF206B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A026B6-848A-4BF6-A020-81A6D87E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64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5FB25B-D1C9-42B7-A935-415A7966DA48}"/>
              </a:ext>
            </a:extLst>
          </p:cNvPr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AD8AC8-C494-43E1-8F07-11D175CC95E8}"/>
              </a:ext>
            </a:extLst>
          </p:cNvPr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02EB40-7DC9-4D4C-B087-BC163D785B77}"/>
              </a:ext>
            </a:extLst>
          </p:cNvPr>
          <p:cNvSpPr txBox="1"/>
          <p:nvPr/>
        </p:nvSpPr>
        <p:spPr>
          <a:xfrm>
            <a:off x="1703512" y="2668270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Deque Vazio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D96D9993-1E6C-4C7B-8D6B-930D76F6C099}"/>
              </a:ext>
            </a:extLst>
          </p:cNvPr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0F77982-5258-45E1-8AA0-0F3CEC66E80D}"/>
              </a:ext>
            </a:extLst>
          </p:cNvPr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2572D1A-4B1C-4B42-8924-5A57B2828310}"/>
              </a:ext>
            </a:extLst>
          </p:cNvPr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0F56ED3-C2F8-4E82-B065-BFB1A0241D54}"/>
              </a:ext>
            </a:extLst>
          </p:cNvPr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0D435DC-F8FB-4AEE-9D46-0963D3112628}"/>
              </a:ext>
            </a:extLst>
          </p:cNvPr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1831D3D-69D9-45FD-B6ED-A838D879EEA4}"/>
              </a:ext>
            </a:extLst>
          </p:cNvPr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CD85E54-5835-4A16-920F-9041FB96839A}"/>
              </a:ext>
            </a:extLst>
          </p:cNvPr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4DC216C2-D5E5-47A0-97A0-D075929D49EF}"/>
              </a:ext>
            </a:extLst>
          </p:cNvPr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67461F0-AF00-42A5-98EB-D2374F06F418}"/>
              </a:ext>
            </a:extLst>
          </p:cNvPr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286193C9-6916-4F8E-835E-0C09AF37E728}"/>
              </a:ext>
            </a:extLst>
          </p:cNvPr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860FF99-6BCF-4172-AC6E-8740839D2A40}"/>
              </a:ext>
            </a:extLst>
          </p:cNvPr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4F00BA37-FCAF-4F79-B7E3-A4BF83464AE0}"/>
              </a:ext>
            </a:extLst>
          </p:cNvPr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4466083-6B18-4258-99FB-3E34FA9B68B1}"/>
              </a:ext>
            </a:extLst>
          </p:cNvPr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BFA9FA67-3072-4160-88A0-BAB71081568B}"/>
              </a:ext>
            </a:extLst>
          </p:cNvPr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1A9872F-5034-4751-8244-C653C85CBFFD}"/>
              </a:ext>
            </a:extLst>
          </p:cNvPr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97D0C87-AFBD-41BA-B73C-5AA6FDF29A33}"/>
              </a:ext>
            </a:extLst>
          </p:cNvPr>
          <p:cNvSpPr txBox="1"/>
          <p:nvPr/>
        </p:nvSpPr>
        <p:spPr>
          <a:xfrm>
            <a:off x="3174140" y="3146010"/>
            <a:ext cx="8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 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FF85B71-E8E4-4F60-939C-92D03DCDBB3E}"/>
              </a:ext>
            </a:extLst>
          </p:cNvPr>
          <p:cNvSpPr txBox="1"/>
          <p:nvPr/>
        </p:nvSpPr>
        <p:spPr>
          <a:xfrm>
            <a:off x="3259641" y="3419708"/>
            <a:ext cx="59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r>
              <a:rPr lang="pt-BR" dirty="0"/>
              <a:t>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D66D7DA-EF32-4B7A-B66B-905BCB592AD0}"/>
              </a:ext>
            </a:extLst>
          </p:cNvPr>
          <p:cNvSpPr txBox="1"/>
          <p:nvPr/>
        </p:nvSpPr>
        <p:spPr>
          <a:xfrm>
            <a:off x="1178169" y="3938954"/>
            <a:ext cx="650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 (regra de deque vazio: frente = 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34029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B852A-1AC0-4F59-A350-DBAF206B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A026B6-848A-4BF6-A020-81A6D87E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65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5FB25B-D1C9-42B7-A935-415A7966DA48}"/>
              </a:ext>
            </a:extLst>
          </p:cNvPr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AD8AC8-C494-43E1-8F07-11D175CC95E8}"/>
              </a:ext>
            </a:extLst>
          </p:cNvPr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02EB40-7DC9-4D4C-B087-BC163D785B77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D96D9993-1E6C-4C7B-8D6B-930D76F6C099}"/>
              </a:ext>
            </a:extLst>
          </p:cNvPr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0F77982-5258-45E1-8AA0-0F3CEC66E80D}"/>
              </a:ext>
            </a:extLst>
          </p:cNvPr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2572D1A-4B1C-4B42-8924-5A57B2828310}"/>
              </a:ext>
            </a:extLst>
          </p:cNvPr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0F56ED3-C2F8-4E82-B065-BFB1A0241D54}"/>
              </a:ext>
            </a:extLst>
          </p:cNvPr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0D435DC-F8FB-4AEE-9D46-0963D3112628}"/>
              </a:ext>
            </a:extLst>
          </p:cNvPr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1831D3D-69D9-45FD-B6ED-A838D879EEA4}"/>
              </a:ext>
            </a:extLst>
          </p:cNvPr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CD85E54-5835-4A16-920F-9041FB96839A}"/>
              </a:ext>
            </a:extLst>
          </p:cNvPr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4DC216C2-D5E5-47A0-97A0-D075929D49EF}"/>
              </a:ext>
            </a:extLst>
          </p:cNvPr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67461F0-AF00-42A5-98EB-D2374F06F418}"/>
              </a:ext>
            </a:extLst>
          </p:cNvPr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286193C9-6916-4F8E-835E-0C09AF37E728}"/>
              </a:ext>
            </a:extLst>
          </p:cNvPr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860FF99-6BCF-4172-AC6E-8740839D2A40}"/>
              </a:ext>
            </a:extLst>
          </p:cNvPr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4F00BA37-FCAF-4F79-B7E3-A4BF83464AE0}"/>
              </a:ext>
            </a:extLst>
          </p:cNvPr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4466083-6B18-4258-99FB-3E34FA9B68B1}"/>
              </a:ext>
            </a:extLst>
          </p:cNvPr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BFA9FA67-3072-4160-88A0-BAB71081568B}"/>
              </a:ext>
            </a:extLst>
          </p:cNvPr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1A9872F-5034-4751-8244-C653C85CBFFD}"/>
              </a:ext>
            </a:extLst>
          </p:cNvPr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97D0C87-AFBD-41BA-B73C-5AA6FDF29A33}"/>
              </a:ext>
            </a:extLst>
          </p:cNvPr>
          <p:cNvSpPr txBox="1"/>
          <p:nvPr/>
        </p:nvSpPr>
        <p:spPr>
          <a:xfrm>
            <a:off x="3174140" y="3146010"/>
            <a:ext cx="8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D2BCD0-96ED-4851-A1A1-9C99C9A95FC6}"/>
              </a:ext>
            </a:extLst>
          </p:cNvPr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160B1A8-B0E0-469A-9088-453A9B4DDD57}"/>
              </a:ext>
            </a:extLst>
          </p:cNvPr>
          <p:cNvSpPr txBox="1"/>
          <p:nvPr/>
        </p:nvSpPr>
        <p:spPr>
          <a:xfrm>
            <a:off x="3768092" y="3146010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1C17E4-8C2F-4044-B6EE-2F9E18A9E52C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4806731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27214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EC7A217-6355-4E92-9C85-11BDB69C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66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8BF4556-E7A2-4C2F-8D0D-AD230509E07D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A8BC183-69E1-4551-A2FF-3C5E9ADFB239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15571217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4776204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FD91448-3EBD-415C-A67E-991F516D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67</a:t>
            </a:fld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A0F5A6-4817-445D-BC54-B32243993964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094DFF9-B88D-4030-B24F-82E79F025D0F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352483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280260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1DF86BA-4E20-4D55-83C9-ABF9064C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68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5871896-9511-4F26-83AA-72057702C621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42D0767-3648-4602-89E0-FF0CBBEB8F33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6790826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784316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E04D42C-1DC3-4696-B5C4-928AC8B5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69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C426CC7-42A1-4039-87A5-440B5A4C7360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95883D5-E957-4E88-9709-8D253A643445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38854444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288372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19C72F2-E9A5-4A0C-AAE9-1B1A8596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70</a:t>
            </a:fld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5988AA0-4C97-45AA-9E53-39EE94C8C1FA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AC562D6-B05B-40B4-81E7-36193D0E08D9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11833462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71</a:t>
            </a:fld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E1AAEF0-94F9-4026-8032-360D586AE1C1}"/>
              </a:ext>
            </a:extLst>
          </p:cNvPr>
          <p:cNvSpPr txBox="1"/>
          <p:nvPr/>
        </p:nvSpPr>
        <p:spPr>
          <a:xfrm>
            <a:off x="1703512" y="2668270"/>
            <a:ext cx="139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3BDDD61-58DA-42D9-85C2-A1E18DBECF1D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34136983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719736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84D5E2F-96C2-4283-A4FF-EE6C7117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72</a:t>
            </a:fld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524AF5-1AD1-47DB-8734-89B2CD6DB359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Remoção no início (frente)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208C4BF-B25A-4D21-B0E5-F4B95C8DAC19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5025787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223792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84DFE68-A6FA-4345-B37D-00BB5E5F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73</a:t>
            </a:fld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6FDAF38-62F9-4EC1-B71A-870DF2A364AE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Remoção no início (frente)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72C0ADA-AB2E-4F15-872C-460BCDCD4DFD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12019406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727848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E163C3C-F4F9-433B-B2B9-ECDDAA44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74</a:t>
            </a:fld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9F4DAE6-3A0B-4CD2-B6D5-DDDEB8801F5C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Remoção no início (frente)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8DDB6B0-2258-4F2B-BD37-FCBC52A3CD4F}"/>
              </a:ext>
            </a:extLst>
          </p:cNvPr>
          <p:cNvSpPr txBox="1"/>
          <p:nvPr/>
        </p:nvSpPr>
        <p:spPr>
          <a:xfrm>
            <a:off x="1178169" y="3938954"/>
            <a:ext cx="2980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Conforme ocorre em uma Fila</a:t>
            </a:r>
          </a:p>
        </p:txBody>
      </p:sp>
    </p:spTree>
    <p:extLst>
      <p:ext uri="{BB962C8B-B14F-4D97-AF65-F5344CB8AC3E}">
        <p14:creationId xmlns:p14="http://schemas.microsoft.com/office/powerpoint/2010/main" val="28823211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223792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84DFE68-A6FA-4345-B37D-00BB5E5F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75</a:t>
            </a:fld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6FDAF38-62F9-4EC1-B71A-870DF2A364AE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início (frente)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9520F38-7CCF-4B98-B0F3-855422EBBCA2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inserção também pode ocorrer na extremidade “início”.</a:t>
            </a:r>
          </a:p>
        </p:txBody>
      </p:sp>
    </p:spTree>
    <p:extLst>
      <p:ext uri="{BB962C8B-B14F-4D97-AF65-F5344CB8AC3E}">
        <p14:creationId xmlns:p14="http://schemas.microsoft.com/office/powerpoint/2010/main" val="29200965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719736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84D5E2F-96C2-4283-A4FF-EE6C7117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76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B4638AE-4398-47E6-A0B0-0C3BA9F14567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AE809E3-C047-46A8-8E37-AB33EBDCF9D3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início (frente)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F7A3A59-3A8F-42C2-A755-48D424AE03AA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inserção também pode ocorrer na extremidade “início”.</a:t>
            </a:r>
          </a:p>
        </p:txBody>
      </p:sp>
    </p:spTree>
    <p:extLst>
      <p:ext uri="{BB962C8B-B14F-4D97-AF65-F5344CB8AC3E}">
        <p14:creationId xmlns:p14="http://schemas.microsoft.com/office/powerpoint/2010/main" val="5444868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174140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77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64BE3-5C7C-431B-8FDE-9F0D8449CCF9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6E4ECC-206B-44D1-9D2A-61A172CA9E9C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094370-725F-4318-88A6-4A1CC83D7D16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início (frente)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C779959-6F38-4B04-993B-9733C46AF027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inserção também pode ocorrer na extremidade “início”.</a:t>
            </a:r>
          </a:p>
        </p:txBody>
      </p:sp>
    </p:spTree>
    <p:extLst>
      <p:ext uri="{BB962C8B-B14F-4D97-AF65-F5344CB8AC3E}">
        <p14:creationId xmlns:p14="http://schemas.microsoft.com/office/powerpoint/2010/main" val="31501076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8238503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78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64BE3-5C7C-431B-8FDE-9F0D8449CCF9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6E4ECC-206B-44D1-9D2A-61A172CA9E9C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094370-725F-4318-88A6-4A1CC83D7D16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início (frente)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97D2A4F-1401-4ACD-9729-02E71B6A2B05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66BBCA1-D735-4E53-9739-D2F27838F5A6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inserção também pode ocorrer na extremidade “início”.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030E9D5-2F6C-466D-BFBD-4376F68D787D}"/>
              </a:ext>
            </a:extLst>
          </p:cNvPr>
          <p:cNvSpPr/>
          <p:nvPr/>
        </p:nvSpPr>
        <p:spPr>
          <a:xfrm>
            <a:off x="1178169" y="5193535"/>
            <a:ext cx="5469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Observe que a estrutura também é circular (como a Fila)</a:t>
            </a:r>
          </a:p>
        </p:txBody>
      </p:sp>
    </p:spTree>
    <p:extLst>
      <p:ext uri="{BB962C8B-B14F-4D97-AF65-F5344CB8AC3E}">
        <p14:creationId xmlns:p14="http://schemas.microsoft.com/office/powerpoint/2010/main" val="33221899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728548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792428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381594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7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79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64BE3-5C7C-431B-8FDE-9F0D8449CCF9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6E4ECC-206B-44D1-9D2A-61A172CA9E9C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094370-725F-4318-88A6-4A1CC83D7D16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inserção no início (frente)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97D2A4F-1401-4ACD-9729-02E71B6A2B05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BCA92D2-8943-4A2D-9304-76A9FF5CEF54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73D56D1-3A9B-4F07-BD83-C4A917259001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inserção também pode ocorrer na extremidade “início”.</a:t>
            </a:r>
          </a:p>
        </p:txBody>
      </p:sp>
    </p:spTree>
    <p:extLst>
      <p:ext uri="{BB962C8B-B14F-4D97-AF65-F5344CB8AC3E}">
        <p14:creationId xmlns:p14="http://schemas.microsoft.com/office/powerpoint/2010/main" val="39713365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728548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308851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880103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6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80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64BE3-5C7C-431B-8FDE-9F0D8449CCF9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6E4ECC-206B-44D1-9D2A-61A172CA9E9C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094370-725F-4318-88A6-4A1CC83D7D16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remoção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97D2A4F-1401-4ACD-9729-02E71B6A2B05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BCA92D2-8943-4A2D-9304-76A9FF5CEF54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FC20BEB-C1B0-4A22-8E8F-C2EE69F2F9CB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remoção também pode ocorrer na extremidade “final”.</a:t>
            </a:r>
          </a:p>
        </p:txBody>
      </p:sp>
    </p:spTree>
    <p:extLst>
      <p:ext uri="{BB962C8B-B14F-4D97-AF65-F5344CB8AC3E}">
        <p14:creationId xmlns:p14="http://schemas.microsoft.com/office/powerpoint/2010/main" val="7346529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728548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825274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99512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5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81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64BE3-5C7C-431B-8FDE-9F0D8449CCF9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6E4ECC-206B-44D1-9D2A-61A172CA9E9C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094370-725F-4318-88A6-4A1CC83D7D16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remoção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97D2A4F-1401-4ACD-9729-02E71B6A2B05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BCA92D2-8943-4A2D-9304-76A9FF5CEF54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D949393-FADB-4041-8760-B7320F063BE7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remoção também pode ocorrer na extremidade “final”.</a:t>
            </a:r>
          </a:p>
        </p:txBody>
      </p:sp>
    </p:spTree>
    <p:extLst>
      <p:ext uri="{BB962C8B-B14F-4D97-AF65-F5344CB8AC3E}">
        <p14:creationId xmlns:p14="http://schemas.microsoft.com/office/powerpoint/2010/main" val="28502976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728548" y="3146010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324113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631732-66B8-46B9-8447-0212E089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82</a:t>
            </a:fld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764BE3-5C7C-431B-8FDE-9F0D8449CCF9}"/>
              </a:ext>
            </a:extLst>
          </p:cNvPr>
          <p:cNvSpPr txBox="1"/>
          <p:nvPr/>
        </p:nvSpPr>
        <p:spPr>
          <a:xfrm>
            <a:off x="3840226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6E4ECC-206B-44D1-9D2A-61A172CA9E9C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094370-725F-4318-88A6-4A1CC83D7D16}"/>
              </a:ext>
            </a:extLst>
          </p:cNvPr>
          <p:cNvSpPr txBox="1"/>
          <p:nvPr/>
        </p:nvSpPr>
        <p:spPr>
          <a:xfrm>
            <a:off x="1600200" y="2668270"/>
            <a:ext cx="149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remoção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97D2A4F-1401-4ACD-9729-02E71B6A2B05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BCA92D2-8943-4A2D-9304-76A9FF5CEF54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D7F1905-4A47-4B48-9821-A195F2FEE87E}"/>
              </a:ext>
            </a:extLst>
          </p:cNvPr>
          <p:cNvSpPr txBox="1"/>
          <p:nvPr/>
        </p:nvSpPr>
        <p:spPr>
          <a:xfrm>
            <a:off x="1178169" y="3938954"/>
            <a:ext cx="508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Especialização de uma Fila (Deque). A remoção também pode ocorrer na extremidade “final”.</a:t>
            </a:r>
          </a:p>
        </p:txBody>
      </p:sp>
    </p:spTree>
    <p:extLst>
      <p:ext uri="{BB962C8B-B14F-4D97-AF65-F5344CB8AC3E}">
        <p14:creationId xmlns:p14="http://schemas.microsoft.com/office/powerpoint/2010/main" val="30288669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(arranjos)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87688" y="2564904"/>
            <a:ext cx="5544616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87688" y="205155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Fila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379174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29580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479985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30391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580796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12024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>
            <a:off x="6816080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7320136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>
            <a:off x="7824192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/>
          <p:nvPr/>
        </p:nvCxnSpPr>
        <p:spPr>
          <a:xfrm>
            <a:off x="8328248" y="256490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BB401D3-3259-423D-A924-E8FB0BBA9441}"/>
              </a:ext>
            </a:extLst>
          </p:cNvPr>
          <p:cNvSpPr txBox="1"/>
          <p:nvPr/>
        </p:nvSpPr>
        <p:spPr>
          <a:xfrm>
            <a:off x="3842408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9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A1091BD-9357-4AC9-AF30-C4CE77F9A05B}"/>
              </a:ext>
            </a:extLst>
          </p:cNvPr>
          <p:cNvSpPr txBox="1"/>
          <p:nvPr/>
        </p:nvSpPr>
        <p:spPr>
          <a:xfrm>
            <a:off x="1703512" y="266827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Deque cheio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C233BA7-8107-4EBF-AA62-C490E9E30D61}"/>
              </a:ext>
            </a:extLst>
          </p:cNvPr>
          <p:cNvSpPr txBox="1"/>
          <p:nvPr/>
        </p:nvSpPr>
        <p:spPr>
          <a:xfrm>
            <a:off x="6744072" y="3140968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715EDC-ADDD-4F9D-8B10-38A7BE353438}"/>
              </a:ext>
            </a:extLst>
          </p:cNvPr>
          <p:cNvSpPr txBox="1"/>
          <p:nvPr/>
        </p:nvSpPr>
        <p:spPr>
          <a:xfrm>
            <a:off x="4344410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8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8638B9B-EE02-4E83-81E5-9BE5D8DBA363}"/>
              </a:ext>
            </a:extLst>
          </p:cNvPr>
          <p:cNvSpPr txBox="1"/>
          <p:nvPr/>
        </p:nvSpPr>
        <p:spPr>
          <a:xfrm>
            <a:off x="4871991" y="266827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4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B4E090A-D16C-4875-B736-9973AEC2497E}"/>
              </a:ext>
            </a:extLst>
          </p:cNvPr>
          <p:cNvSpPr txBox="1"/>
          <p:nvPr/>
        </p:nvSpPr>
        <p:spPr>
          <a:xfrm>
            <a:off x="5399512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F80407A-2515-456B-B6D2-77426B15DC09}"/>
              </a:ext>
            </a:extLst>
          </p:cNvPr>
          <p:cNvSpPr txBox="1"/>
          <p:nvPr/>
        </p:nvSpPr>
        <p:spPr>
          <a:xfrm>
            <a:off x="588010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14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57F72FE-C0AE-4441-BD92-772D8D5B048E}"/>
              </a:ext>
            </a:extLst>
          </p:cNvPr>
          <p:cNvSpPr txBox="1"/>
          <p:nvPr/>
        </p:nvSpPr>
        <p:spPr>
          <a:xfrm>
            <a:off x="6885649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16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91E3C77-850D-4F38-913C-F544AFA7BF32}"/>
              </a:ext>
            </a:extLst>
          </p:cNvPr>
          <p:cNvSpPr txBox="1"/>
          <p:nvPr/>
        </p:nvSpPr>
        <p:spPr>
          <a:xfrm>
            <a:off x="73897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15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C6E8819-3A66-4117-B6C3-948AA83A378C}"/>
              </a:ext>
            </a:extLst>
          </p:cNvPr>
          <p:cNvSpPr txBox="1"/>
          <p:nvPr/>
        </p:nvSpPr>
        <p:spPr>
          <a:xfrm>
            <a:off x="7875243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12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3EE274A-0752-412F-92C8-CF31D57B6A6C}"/>
              </a:ext>
            </a:extLst>
          </p:cNvPr>
          <p:cNvSpPr txBox="1"/>
          <p:nvPr/>
        </p:nvSpPr>
        <p:spPr>
          <a:xfrm>
            <a:off x="8379298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id="{CC8C9AD1-F6DF-4312-862F-34261BF2E184}"/>
                  </a:ext>
                </a:extLst>
              </p:cNvPr>
              <p:cNvSpPr/>
              <p:nvPr/>
            </p:nvSpPr>
            <p:spPr>
              <a:xfrm>
                <a:off x="1703512" y="4437113"/>
                <a:ext cx="496984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Como na Fila, o Deque cheio é observada quando: </a:t>
                </a:r>
                <a:r>
                  <a:rPr lang="pt-BR" i="1" dirty="0" err="1"/>
                  <a:t>tras</a:t>
                </a:r>
                <a:r>
                  <a:rPr lang="pt-BR" dirty="0"/>
                  <a:t> + 1 é igual a </a:t>
                </a:r>
                <a:r>
                  <a:rPr lang="pt-BR" i="1" dirty="0"/>
                  <a:t>frente. </a:t>
                </a:r>
                <a:r>
                  <a:rPr lang="pt-BR" dirty="0"/>
                  <a:t>Esta verificação é obtida pela aritmética modular</a:t>
                </a:r>
                <a:r>
                  <a:rPr lang="pt-BR" i="1" dirty="0"/>
                  <a:t>: (</a:t>
                </a:r>
                <a:r>
                  <a:rPr lang="pt-BR" i="1" dirty="0" err="1"/>
                  <a:t>tras</a:t>
                </a:r>
                <a:r>
                  <a:rPr lang="pt-BR" i="1" dirty="0"/>
                  <a:t> + 1 ) %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==</a:t>
                </a:r>
                <a:r>
                  <a:rPr lang="pt-BR" i="1" dirty="0"/>
                  <a:t> frente.</a:t>
                </a:r>
              </a:p>
              <a:p>
                <a:endParaRPr lang="pt-BR" dirty="0"/>
              </a:p>
              <a:p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é o tamanho do arranjo.</a:t>
                </a:r>
              </a:p>
            </p:txBody>
          </p:sp>
        </mc:Choice>
        <mc:Fallback xmlns="">
          <p:sp>
            <p:nvSpPr>
              <p:cNvPr id="45" name="Retângulo 44">
                <a:extLst>
                  <a:ext uri="{FF2B5EF4-FFF2-40B4-BE49-F238E27FC236}">
                    <a16:creationId xmlns:a16="http://schemas.microsoft.com/office/drawing/2014/main" id="{CC8C9AD1-F6DF-4312-862F-34261BF2E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437113"/>
                <a:ext cx="4969848" cy="1477328"/>
              </a:xfrm>
              <a:prstGeom prst="rect">
                <a:avLst/>
              </a:prstGeom>
              <a:blipFill>
                <a:blip r:embed="rId2"/>
                <a:stretch>
                  <a:fillRect l="-980" t="-2479" b="-57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ixaDeTexto 45">
            <a:extLst>
              <a:ext uri="{FF2B5EF4-FFF2-40B4-BE49-F238E27FC236}">
                <a16:creationId xmlns:a16="http://schemas.microsoft.com/office/drawing/2014/main" id="{78AA8122-1C01-4A59-BEF3-E71C1183D805}"/>
              </a:ext>
            </a:extLst>
          </p:cNvPr>
          <p:cNvSpPr txBox="1"/>
          <p:nvPr/>
        </p:nvSpPr>
        <p:spPr>
          <a:xfrm>
            <a:off x="6308850" y="3140968"/>
            <a:ext cx="53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07FC70-6959-4C46-A184-51204C73A8E6}"/>
              </a:ext>
            </a:extLst>
          </p:cNvPr>
          <p:cNvSpPr txBox="1"/>
          <p:nvPr/>
        </p:nvSpPr>
        <p:spPr>
          <a:xfrm>
            <a:off x="7389704" y="3763198"/>
            <a:ext cx="4167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Posição “</a:t>
            </a:r>
            <a:r>
              <a:rPr lang="pt-BR" dirty="0" err="1"/>
              <a:t>tras</a:t>
            </a:r>
            <a:r>
              <a:rPr lang="pt-BR" dirty="0"/>
              <a:t>” fica sempre vazia para auxiliar a verificação de Deque cheio.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61A9F0DA-CBE2-45CD-9287-A4B73A0AFDBB}"/>
              </a:ext>
            </a:extLst>
          </p:cNvPr>
          <p:cNvCxnSpPr>
            <a:stCxn id="8" idx="1"/>
            <a:endCxn id="46" idx="2"/>
          </p:cNvCxnSpPr>
          <p:nvPr/>
        </p:nvCxnSpPr>
        <p:spPr>
          <a:xfrm rot="10800000">
            <a:off x="6577546" y="3510300"/>
            <a:ext cx="812158" cy="5760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ço Reservado para Número de Slide 26">
            <a:extLst>
              <a:ext uri="{FF2B5EF4-FFF2-40B4-BE49-F238E27FC236}">
                <a16:creationId xmlns:a16="http://schemas.microsoft.com/office/drawing/2014/main" id="{18BD8120-DC94-4E6B-9073-DDF857F4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83</a:t>
            </a:fld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1146814-7090-4F13-A187-CD550D365FD7}"/>
              </a:ext>
            </a:extLst>
          </p:cNvPr>
          <p:cNvSpPr txBox="1"/>
          <p:nvPr/>
        </p:nvSpPr>
        <p:spPr>
          <a:xfrm>
            <a:off x="3349404" y="266827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245755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A24DC-701B-4CB1-AE81-66908C29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6F6EE1-11F2-42A3-BB8C-60283CB3D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um Fila com implementação por meio de estruturas auto referenciadas, há uma célula </a:t>
            </a:r>
            <a:r>
              <a:rPr lang="pt-BR" i="1" dirty="0" err="1"/>
              <a:t>head</a:t>
            </a:r>
            <a:r>
              <a:rPr lang="pt-BR" dirty="0"/>
              <a:t> (cabeça) para facilitar a implementação das operações enfileira e </a:t>
            </a:r>
            <a:r>
              <a:rPr lang="pt-BR" dirty="0" err="1"/>
              <a:t>desenfileira</a:t>
            </a:r>
            <a:r>
              <a:rPr lang="pt-BR" dirty="0"/>
              <a:t> quando a fila está vazia.</a:t>
            </a:r>
          </a:p>
          <a:p>
            <a:r>
              <a:rPr lang="pt-BR" dirty="0"/>
              <a:t>Em um Deque, além da célula </a:t>
            </a:r>
            <a:r>
              <a:rPr lang="pt-BR" i="1" dirty="0" err="1"/>
              <a:t>head</a:t>
            </a:r>
            <a:r>
              <a:rPr lang="pt-BR" dirty="0"/>
              <a:t>, há a célula </a:t>
            </a:r>
            <a:r>
              <a:rPr lang="pt-BR" i="1" dirty="0" err="1"/>
              <a:t>tail</a:t>
            </a:r>
            <a:r>
              <a:rPr lang="pt-BR" dirty="0"/>
              <a:t> (calda) para auxiliar as operações de remoção e inserção no final do Deque (também conhecido como </a:t>
            </a:r>
            <a:r>
              <a:rPr lang="pt-BR" i="1" dirty="0" err="1"/>
              <a:t>head-tail</a:t>
            </a:r>
            <a:r>
              <a:rPr lang="pt-BR" i="1" dirty="0"/>
              <a:t> </a:t>
            </a:r>
            <a:r>
              <a:rPr lang="pt-BR" i="1" dirty="0" err="1"/>
              <a:t>linked</a:t>
            </a:r>
            <a:r>
              <a:rPr lang="pt-BR" i="1" dirty="0"/>
              <a:t> </a:t>
            </a:r>
            <a:r>
              <a:rPr lang="pt-BR" i="1" dirty="0" err="1"/>
              <a:t>list</a:t>
            </a:r>
            <a:r>
              <a:rPr lang="pt-BR" dirty="0"/>
              <a:t>).</a:t>
            </a:r>
          </a:p>
          <a:p>
            <a:r>
              <a:rPr lang="pt-BR" dirty="0"/>
              <a:t>Deque vazio:</a:t>
            </a:r>
          </a:p>
          <a:p>
            <a:pPr lvl="1"/>
            <a:r>
              <a:rPr lang="pt-BR" i="1" dirty="0"/>
              <a:t>Frente (</a:t>
            </a:r>
            <a:r>
              <a:rPr lang="pt-BR" i="1" dirty="0" err="1"/>
              <a:t>head</a:t>
            </a:r>
            <a:r>
              <a:rPr lang="pt-BR" i="1" dirty="0"/>
              <a:t>)</a:t>
            </a:r>
            <a:r>
              <a:rPr lang="pt-BR" dirty="0"/>
              <a:t> referencia a célula </a:t>
            </a:r>
            <a:r>
              <a:rPr lang="pt-BR" i="1" dirty="0"/>
              <a:t>trás (</a:t>
            </a:r>
            <a:r>
              <a:rPr lang="pt-BR" i="1" dirty="0" err="1"/>
              <a:t>tail</a:t>
            </a:r>
            <a:r>
              <a:rPr lang="pt-BR" i="1" dirty="0"/>
              <a:t>)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D4DE7D-E19C-4C6C-9539-3C43D7DF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860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Deque inicialmente vazio.</a:t>
            </a:r>
          </a:p>
        </p:txBody>
      </p:sp>
      <p:sp>
        <p:nvSpPr>
          <p:cNvPr id="11" name="Elipse 10"/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/>
          <p:cNvCxnSpPr>
            <a:stCxn id="11" idx="2"/>
            <a:endCxn id="11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900585" y="437128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reto 28"/>
          <p:cNvCxnSpPr>
            <a:stCxn id="28" idx="2"/>
            <a:endCxn id="28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48718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3" name="Conector em curva 32"/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650783-379D-49F7-B602-A844BBCDF349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6CF65F-DFB9-41EB-A9F2-5403139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85</a:t>
            </a:fld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BA32CE9-BDC9-492B-BC89-34ECE228361A}"/>
              </a:ext>
            </a:extLst>
          </p:cNvPr>
          <p:cNvSpPr txBox="1"/>
          <p:nvPr/>
        </p:nvSpPr>
        <p:spPr>
          <a:xfrm>
            <a:off x="4900634" y="299058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22" name="Conector de seta reta 15">
            <a:extLst>
              <a:ext uri="{FF2B5EF4-FFF2-40B4-BE49-F238E27FC236}">
                <a16:creationId xmlns:a16="http://schemas.microsoft.com/office/drawing/2014/main" id="{C1A73394-6B57-4DAF-AA52-6A7876DC29B4}"/>
              </a:ext>
            </a:extLst>
          </p:cNvPr>
          <p:cNvCxnSpPr>
            <a:endCxn id="23" idx="1"/>
          </p:cNvCxnSpPr>
          <p:nvPr/>
        </p:nvCxnSpPr>
        <p:spPr>
          <a:xfrm flipV="1">
            <a:off x="5516651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3B8D7DD-03F1-4EE2-AC60-52E737F2BE5C}"/>
              </a:ext>
            </a:extLst>
          </p:cNvPr>
          <p:cNvSpPr txBox="1"/>
          <p:nvPr/>
        </p:nvSpPr>
        <p:spPr>
          <a:xfrm>
            <a:off x="6512481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118202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Inserção de um elemento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86</a:t>
            </a:fld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65AB4B-9DA1-4539-A9D5-0AC2CDC9ABB8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14F272A-5A5F-47A2-A180-F2B33C2EB56E}"/>
              </a:ext>
            </a:extLst>
          </p:cNvPr>
          <p:cNvCxnSpPr>
            <a:stCxn id="20" idx="2"/>
            <a:endCxn id="20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C96E443-F278-4F4C-BAC8-B2B161044012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02A87E9-B7A6-4658-8F7A-E644AFD367DD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32D138A-F107-4016-B39D-786C6AEE08CA}"/>
              </a:ext>
            </a:extLst>
          </p:cNvPr>
          <p:cNvSpPr txBox="1"/>
          <p:nvPr/>
        </p:nvSpPr>
        <p:spPr>
          <a:xfrm>
            <a:off x="6738177" y="437128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em curva 32">
            <a:extLst>
              <a:ext uri="{FF2B5EF4-FFF2-40B4-BE49-F238E27FC236}">
                <a16:creationId xmlns:a16="http://schemas.microsoft.com/office/drawing/2014/main" id="{D34C2EB2-B45A-4076-B701-FF8361EAD7DA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950DA40-05EB-40E6-BB22-F9A984D0A053}"/>
              </a:ext>
            </a:extLst>
          </p:cNvPr>
          <p:cNvSpPr txBox="1"/>
          <p:nvPr/>
        </p:nvSpPr>
        <p:spPr>
          <a:xfrm>
            <a:off x="6747019" y="299058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40" name="Conector de seta reta 15">
            <a:extLst>
              <a:ext uri="{FF2B5EF4-FFF2-40B4-BE49-F238E27FC236}">
                <a16:creationId xmlns:a16="http://schemas.microsoft.com/office/drawing/2014/main" id="{48CAA87F-08D8-45EF-8892-64E1BF64B956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7292698" y="404460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4A298D9-8A83-4FA5-90D4-F5CE0977CBB2}"/>
              </a:ext>
            </a:extLst>
          </p:cNvPr>
          <p:cNvSpPr txBox="1"/>
          <p:nvPr/>
        </p:nvSpPr>
        <p:spPr>
          <a:xfrm>
            <a:off x="8288528" y="38599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F00D6C87-DF97-42B8-A4B0-6F808BCCD07A}"/>
              </a:ext>
            </a:extLst>
          </p:cNvPr>
          <p:cNvSpPr txBox="1"/>
          <p:nvPr/>
        </p:nvSpPr>
        <p:spPr>
          <a:xfrm>
            <a:off x="6667142" y="350012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72B046B-1596-43F5-92F1-CF6C583E8170}"/>
              </a:ext>
            </a:extLst>
          </p:cNvPr>
          <p:cNvSpPr txBox="1"/>
          <p:nvPr/>
        </p:nvSpPr>
        <p:spPr>
          <a:xfrm>
            <a:off x="4517877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E84B1FB-4F8A-464A-A1E7-85EDC9B9C1B7}"/>
              </a:ext>
            </a:extLst>
          </p:cNvPr>
          <p:cNvSpPr txBox="1"/>
          <p:nvPr/>
        </p:nvSpPr>
        <p:spPr>
          <a:xfrm>
            <a:off x="4986841" y="346952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89100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Inserção de um elemento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87</a:t>
            </a:fld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65AB4B-9DA1-4539-A9D5-0AC2CDC9ABB8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14F272A-5A5F-47A2-A180-F2B33C2EB56E}"/>
              </a:ext>
            </a:extLst>
          </p:cNvPr>
          <p:cNvCxnSpPr>
            <a:stCxn id="20" idx="2"/>
            <a:endCxn id="20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C96E443-F278-4F4C-BAC8-B2B161044012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02A87E9-B7A6-4658-8F7A-E644AFD367DD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em curva 32">
            <a:extLst>
              <a:ext uri="{FF2B5EF4-FFF2-40B4-BE49-F238E27FC236}">
                <a16:creationId xmlns:a16="http://schemas.microsoft.com/office/drawing/2014/main" id="{D34C2EB2-B45A-4076-B701-FF8361EAD7DA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72B046B-1596-43F5-92F1-CF6C583E8170}"/>
              </a:ext>
            </a:extLst>
          </p:cNvPr>
          <p:cNvSpPr txBox="1"/>
          <p:nvPr/>
        </p:nvSpPr>
        <p:spPr>
          <a:xfrm>
            <a:off x="6311506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1D68A4D-E2ED-4EA5-B104-C6C22EB5AC74}"/>
              </a:ext>
            </a:extLst>
          </p:cNvPr>
          <p:cNvSpPr txBox="1"/>
          <p:nvPr/>
        </p:nvSpPr>
        <p:spPr>
          <a:xfrm>
            <a:off x="8543532" y="437421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6CDA139-B2EE-45BB-B75D-6E2B7678F2CB}"/>
              </a:ext>
            </a:extLst>
          </p:cNvPr>
          <p:cNvSpPr txBox="1"/>
          <p:nvPr/>
        </p:nvSpPr>
        <p:spPr>
          <a:xfrm>
            <a:off x="8552374" y="299351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42" name="Conector de seta reta 15">
            <a:extLst>
              <a:ext uri="{FF2B5EF4-FFF2-40B4-BE49-F238E27FC236}">
                <a16:creationId xmlns:a16="http://schemas.microsoft.com/office/drawing/2014/main" id="{78F1D110-AE8F-44E0-8298-D9AD70098295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9098053" y="4047534"/>
            <a:ext cx="995830" cy="1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5D1553C-DBBD-4221-A0CB-BA5975F3A05B}"/>
              </a:ext>
            </a:extLst>
          </p:cNvPr>
          <p:cNvSpPr txBox="1"/>
          <p:nvPr/>
        </p:nvSpPr>
        <p:spPr>
          <a:xfrm>
            <a:off x="10093883" y="386286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A8A7749E-D4B0-4A18-87BD-9EBD5D5EC6BA}"/>
              </a:ext>
            </a:extLst>
          </p:cNvPr>
          <p:cNvSpPr/>
          <p:nvPr/>
        </p:nvSpPr>
        <p:spPr>
          <a:xfrm>
            <a:off x="8256472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B1C8BD17-09B8-4FCA-960D-21D88FD57C22}"/>
              </a:ext>
            </a:extLst>
          </p:cNvPr>
          <p:cNvCxnSpPr>
            <a:stCxn id="44" idx="2"/>
            <a:endCxn id="44" idx="6"/>
          </p:cNvCxnSpPr>
          <p:nvPr/>
        </p:nvCxnSpPr>
        <p:spPr>
          <a:xfrm>
            <a:off x="8256472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54A101D-FE25-420F-9362-B42A88BD824D}"/>
              </a:ext>
            </a:extLst>
          </p:cNvPr>
          <p:cNvSpPr txBox="1"/>
          <p:nvPr/>
        </p:nvSpPr>
        <p:spPr>
          <a:xfrm>
            <a:off x="8472497" y="350305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C35A920-4EBE-41F4-A0D0-539634295A09}"/>
              </a:ext>
            </a:extLst>
          </p:cNvPr>
          <p:cNvSpPr txBox="1"/>
          <p:nvPr/>
        </p:nvSpPr>
        <p:spPr>
          <a:xfrm>
            <a:off x="8452116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48" name="Conector em curva 31">
            <a:extLst>
              <a:ext uri="{FF2B5EF4-FFF2-40B4-BE49-F238E27FC236}">
                <a16:creationId xmlns:a16="http://schemas.microsoft.com/office/drawing/2014/main" id="{A565F838-01BC-401E-BF51-CAA0024C72C1}"/>
              </a:ext>
            </a:extLst>
          </p:cNvPr>
          <p:cNvCxnSpPr/>
          <p:nvPr/>
        </p:nvCxnSpPr>
        <p:spPr>
          <a:xfrm flipV="1">
            <a:off x="7544461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8472811-E0E4-4BA1-9C1A-9C86FD95C2EE}"/>
              </a:ext>
            </a:extLst>
          </p:cNvPr>
          <p:cNvSpPr txBox="1"/>
          <p:nvPr/>
        </p:nvSpPr>
        <p:spPr>
          <a:xfrm>
            <a:off x="4986841" y="346952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AAEA0EB-72D1-4266-81FB-D627319687F7}"/>
              </a:ext>
            </a:extLst>
          </p:cNvPr>
          <p:cNvSpPr txBox="1"/>
          <p:nvPr/>
        </p:nvSpPr>
        <p:spPr>
          <a:xfrm>
            <a:off x="6782118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7A2EBFE4-4DBD-4B17-B3C9-55EA5D9DAE9B}"/>
              </a:ext>
            </a:extLst>
          </p:cNvPr>
          <p:cNvSpPr txBox="1"/>
          <p:nvPr/>
        </p:nvSpPr>
        <p:spPr>
          <a:xfrm>
            <a:off x="305955" y="5276809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operação que insere no final de um Deque deve percorrer toda a lista a partir do elemento “</a:t>
            </a:r>
            <a:r>
              <a:rPr lang="pt-BR" i="1" dirty="0"/>
              <a:t>frente</a:t>
            </a:r>
            <a:r>
              <a:rPr lang="pt-BR" dirty="0"/>
              <a:t>” até encontrar o elemento que referencia “</a:t>
            </a:r>
            <a:r>
              <a:rPr lang="pt-BR" i="1" dirty="0" err="1"/>
              <a:t>tras</a:t>
            </a:r>
            <a:r>
              <a:rPr lang="pt-BR" dirty="0"/>
              <a:t>” (em um Deque vazio, este elemento é o próprio “</a:t>
            </a:r>
            <a:r>
              <a:rPr lang="pt-BR" i="1" dirty="0"/>
              <a:t>frente</a:t>
            </a:r>
            <a:r>
              <a:rPr lang="pt-BR" dirty="0"/>
              <a:t>”). Então, esta célula que referencia “</a:t>
            </a:r>
            <a:r>
              <a:rPr lang="pt-BR" i="1" dirty="0" err="1"/>
              <a:t>tras</a:t>
            </a:r>
            <a:r>
              <a:rPr lang="pt-BR" dirty="0"/>
              <a:t>” deve referenciar um nova célula que, por sua vez, passa a referenciar “</a:t>
            </a:r>
            <a:r>
              <a:rPr lang="pt-BR" i="1" dirty="0" err="1"/>
              <a:t>tras</a:t>
            </a:r>
            <a:r>
              <a:rPr lang="pt-BR" dirty="0"/>
              <a:t>”.    </a:t>
            </a:r>
          </a:p>
        </p:txBody>
      </p:sp>
    </p:spTree>
    <p:extLst>
      <p:ext uri="{BB962C8B-B14F-4D97-AF65-F5344CB8AC3E}">
        <p14:creationId xmlns:p14="http://schemas.microsoft.com/office/powerpoint/2010/main" val="28570223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Inserção de um elemento no início (frente)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88</a:t>
            </a:fld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65AB4B-9DA1-4539-A9D5-0AC2CDC9ABB8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14F272A-5A5F-47A2-A180-F2B33C2EB56E}"/>
              </a:ext>
            </a:extLst>
          </p:cNvPr>
          <p:cNvCxnSpPr>
            <a:stCxn id="20" idx="2"/>
            <a:endCxn id="20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C96E443-F278-4F4C-BAC8-B2B161044012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02A87E9-B7A6-4658-8F7A-E644AFD367DD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em curva 32">
            <a:extLst>
              <a:ext uri="{FF2B5EF4-FFF2-40B4-BE49-F238E27FC236}">
                <a16:creationId xmlns:a16="http://schemas.microsoft.com/office/drawing/2014/main" id="{D34C2EB2-B45A-4076-B701-FF8361EAD7DA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8472811-E0E4-4BA1-9C1A-9C86FD95C2EE}"/>
              </a:ext>
            </a:extLst>
          </p:cNvPr>
          <p:cNvSpPr txBox="1"/>
          <p:nvPr/>
        </p:nvSpPr>
        <p:spPr>
          <a:xfrm>
            <a:off x="4986841" y="346952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3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AAEA0EB-72D1-4266-81FB-D627319687F7}"/>
              </a:ext>
            </a:extLst>
          </p:cNvPr>
          <p:cNvSpPr txBox="1"/>
          <p:nvPr/>
        </p:nvSpPr>
        <p:spPr>
          <a:xfrm>
            <a:off x="6782118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01B02F5-8ECA-4CBF-831A-7A9486A85C2C}"/>
              </a:ext>
            </a:extLst>
          </p:cNvPr>
          <p:cNvSpPr txBox="1"/>
          <p:nvPr/>
        </p:nvSpPr>
        <p:spPr>
          <a:xfrm>
            <a:off x="4482707" y="2852936"/>
            <a:ext cx="127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Nova célula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EDF6CFC-169C-43B7-9013-A92A32837B51}"/>
              </a:ext>
            </a:extLst>
          </p:cNvPr>
          <p:cNvSpPr txBox="1"/>
          <p:nvPr/>
        </p:nvSpPr>
        <p:spPr>
          <a:xfrm>
            <a:off x="10328370" y="437421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4161993-3395-46FD-B7AD-251FCC30DB95}"/>
              </a:ext>
            </a:extLst>
          </p:cNvPr>
          <p:cNvSpPr txBox="1"/>
          <p:nvPr/>
        </p:nvSpPr>
        <p:spPr>
          <a:xfrm>
            <a:off x="10337212" y="299351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52" name="Conector de seta reta 15">
            <a:extLst>
              <a:ext uri="{FF2B5EF4-FFF2-40B4-BE49-F238E27FC236}">
                <a16:creationId xmlns:a16="http://schemas.microsoft.com/office/drawing/2014/main" id="{5BDBDDE4-8276-43BE-ACCC-AA8D1273A501}"/>
              </a:ext>
            </a:extLst>
          </p:cNvPr>
          <p:cNvCxnSpPr>
            <a:cxnSpLocks/>
          </p:cNvCxnSpPr>
          <p:nvPr/>
        </p:nvCxnSpPr>
        <p:spPr>
          <a:xfrm flipV="1">
            <a:off x="10882891" y="4048644"/>
            <a:ext cx="47090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54DB545-87B5-431D-B7A0-77CFFE8582E4}"/>
              </a:ext>
            </a:extLst>
          </p:cNvPr>
          <p:cNvSpPr txBox="1"/>
          <p:nvPr/>
        </p:nvSpPr>
        <p:spPr>
          <a:xfrm>
            <a:off x="11483068" y="386286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3245E792-0455-4602-B85D-49F8268EDB2E}"/>
              </a:ext>
            </a:extLst>
          </p:cNvPr>
          <p:cNvSpPr/>
          <p:nvPr/>
        </p:nvSpPr>
        <p:spPr>
          <a:xfrm>
            <a:off x="10041310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8A797F76-DFE6-421D-8FF2-86A0C98B7925}"/>
              </a:ext>
            </a:extLst>
          </p:cNvPr>
          <p:cNvCxnSpPr>
            <a:stCxn id="56" idx="2"/>
            <a:endCxn id="56" idx="6"/>
          </p:cNvCxnSpPr>
          <p:nvPr/>
        </p:nvCxnSpPr>
        <p:spPr>
          <a:xfrm>
            <a:off x="10041310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F54C3D-8613-4128-9F2D-A2074AF22FB0}"/>
              </a:ext>
            </a:extLst>
          </p:cNvPr>
          <p:cNvSpPr txBox="1"/>
          <p:nvPr/>
        </p:nvSpPr>
        <p:spPr>
          <a:xfrm>
            <a:off x="10257335" y="350305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EE6CF08-C400-4748-8428-5D1E25240122}"/>
              </a:ext>
            </a:extLst>
          </p:cNvPr>
          <p:cNvSpPr txBox="1"/>
          <p:nvPr/>
        </p:nvSpPr>
        <p:spPr>
          <a:xfrm>
            <a:off x="10236954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63" name="Conector em curva 31">
            <a:extLst>
              <a:ext uri="{FF2B5EF4-FFF2-40B4-BE49-F238E27FC236}">
                <a16:creationId xmlns:a16="http://schemas.microsoft.com/office/drawing/2014/main" id="{2EDA2D6C-EEF8-4A3F-992C-804E5D460455}"/>
              </a:ext>
            </a:extLst>
          </p:cNvPr>
          <p:cNvCxnSpPr/>
          <p:nvPr/>
        </p:nvCxnSpPr>
        <p:spPr>
          <a:xfrm flipV="1">
            <a:off x="9329299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950A5B2C-CFE6-43F4-BCE7-97EA2C1040E0}"/>
              </a:ext>
            </a:extLst>
          </p:cNvPr>
          <p:cNvSpPr/>
          <p:nvPr/>
        </p:nvSpPr>
        <p:spPr>
          <a:xfrm>
            <a:off x="8256472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6A247B5E-1629-4F0A-96A6-8FAF3B841F59}"/>
              </a:ext>
            </a:extLst>
          </p:cNvPr>
          <p:cNvCxnSpPr>
            <a:stCxn id="70" idx="2"/>
            <a:endCxn id="70" idx="6"/>
          </p:cNvCxnSpPr>
          <p:nvPr/>
        </p:nvCxnSpPr>
        <p:spPr>
          <a:xfrm>
            <a:off x="8256472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EFEDD89-22B6-474F-9644-5D9AFAD30B1E}"/>
              </a:ext>
            </a:extLst>
          </p:cNvPr>
          <p:cNvSpPr txBox="1"/>
          <p:nvPr/>
        </p:nvSpPr>
        <p:spPr>
          <a:xfrm>
            <a:off x="8452116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74" name="Conector em curva 31">
            <a:extLst>
              <a:ext uri="{FF2B5EF4-FFF2-40B4-BE49-F238E27FC236}">
                <a16:creationId xmlns:a16="http://schemas.microsoft.com/office/drawing/2014/main" id="{966B3408-3B4D-424F-8699-2A27174A05FF}"/>
              </a:ext>
            </a:extLst>
          </p:cNvPr>
          <p:cNvCxnSpPr/>
          <p:nvPr/>
        </p:nvCxnSpPr>
        <p:spPr>
          <a:xfrm flipV="1">
            <a:off x="7544461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5706984-DCA1-4925-B134-B4F67DABBB4D}"/>
              </a:ext>
            </a:extLst>
          </p:cNvPr>
          <p:cNvSpPr txBox="1"/>
          <p:nvPr/>
        </p:nvSpPr>
        <p:spPr>
          <a:xfrm>
            <a:off x="8583694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945E6AB4-5806-4ED9-8415-9A184C924DE9}"/>
              </a:ext>
            </a:extLst>
          </p:cNvPr>
          <p:cNvSpPr txBox="1"/>
          <p:nvPr/>
        </p:nvSpPr>
        <p:spPr>
          <a:xfrm>
            <a:off x="305955" y="5276809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operação que insere no início de um Deque deve inserir uma nova célula a partir do elemento “</a:t>
            </a:r>
            <a:r>
              <a:rPr lang="pt-BR" i="1" dirty="0"/>
              <a:t>frente</a:t>
            </a:r>
            <a:r>
              <a:rPr lang="pt-BR" dirty="0"/>
              <a:t>”. Então, a célula “</a:t>
            </a:r>
            <a:r>
              <a:rPr lang="pt-BR" i="1" dirty="0"/>
              <a:t>frente</a:t>
            </a:r>
            <a:r>
              <a:rPr lang="pt-BR" dirty="0"/>
              <a:t>” deve referenciar um nova célula que, por sua vez, passa a referenciar a próxima célula (em um Deque vazio será a célula “</a:t>
            </a:r>
            <a:r>
              <a:rPr lang="pt-BR" i="1" dirty="0" err="1"/>
              <a:t>tras</a:t>
            </a:r>
            <a:r>
              <a:rPr lang="pt-BR" dirty="0"/>
              <a:t>”).    </a:t>
            </a:r>
          </a:p>
        </p:txBody>
      </p:sp>
    </p:spTree>
    <p:extLst>
      <p:ext uri="{BB962C8B-B14F-4D97-AF65-F5344CB8AC3E}">
        <p14:creationId xmlns:p14="http://schemas.microsoft.com/office/powerpoint/2010/main" val="40935597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 no início (frente)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89</a:t>
            </a:fld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65AB4B-9DA1-4539-A9D5-0AC2CDC9ABB8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14F272A-5A5F-47A2-A180-F2B33C2EB56E}"/>
              </a:ext>
            </a:extLst>
          </p:cNvPr>
          <p:cNvCxnSpPr>
            <a:stCxn id="20" idx="2"/>
            <a:endCxn id="20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C96E443-F278-4F4C-BAC8-B2B161044012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02A87E9-B7A6-4658-8F7A-E644AFD367DD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2999657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em curva 32">
            <a:extLst>
              <a:ext uri="{FF2B5EF4-FFF2-40B4-BE49-F238E27FC236}">
                <a16:creationId xmlns:a16="http://schemas.microsoft.com/office/drawing/2014/main" id="{D34C2EB2-B45A-4076-B701-FF8361EAD7DA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3033738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8472811-E0E4-4BA1-9C1A-9C86FD95C2EE}"/>
              </a:ext>
            </a:extLst>
          </p:cNvPr>
          <p:cNvSpPr txBox="1"/>
          <p:nvPr/>
        </p:nvSpPr>
        <p:spPr>
          <a:xfrm>
            <a:off x="4986841" y="346952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AAEA0EB-72D1-4266-81FB-D627319687F7}"/>
              </a:ext>
            </a:extLst>
          </p:cNvPr>
          <p:cNvSpPr txBox="1"/>
          <p:nvPr/>
        </p:nvSpPr>
        <p:spPr>
          <a:xfrm>
            <a:off x="6782118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EDF6CFC-169C-43B7-9013-A92A32837B51}"/>
              </a:ext>
            </a:extLst>
          </p:cNvPr>
          <p:cNvSpPr txBox="1"/>
          <p:nvPr/>
        </p:nvSpPr>
        <p:spPr>
          <a:xfrm>
            <a:off x="10328370" y="437421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4161993-3395-46FD-B7AD-251FCC30DB95}"/>
              </a:ext>
            </a:extLst>
          </p:cNvPr>
          <p:cNvSpPr txBox="1"/>
          <p:nvPr/>
        </p:nvSpPr>
        <p:spPr>
          <a:xfrm>
            <a:off x="10337212" y="299351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52" name="Conector de seta reta 15">
            <a:extLst>
              <a:ext uri="{FF2B5EF4-FFF2-40B4-BE49-F238E27FC236}">
                <a16:creationId xmlns:a16="http://schemas.microsoft.com/office/drawing/2014/main" id="{5BDBDDE4-8276-43BE-ACCC-AA8D1273A501}"/>
              </a:ext>
            </a:extLst>
          </p:cNvPr>
          <p:cNvCxnSpPr>
            <a:cxnSpLocks/>
          </p:cNvCxnSpPr>
          <p:nvPr/>
        </p:nvCxnSpPr>
        <p:spPr>
          <a:xfrm flipV="1">
            <a:off x="10882891" y="4048644"/>
            <a:ext cx="47090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54DB545-87B5-431D-B7A0-77CFFE8582E4}"/>
              </a:ext>
            </a:extLst>
          </p:cNvPr>
          <p:cNvSpPr txBox="1"/>
          <p:nvPr/>
        </p:nvSpPr>
        <p:spPr>
          <a:xfrm>
            <a:off x="11483068" y="386286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3245E792-0455-4602-B85D-49F8268EDB2E}"/>
              </a:ext>
            </a:extLst>
          </p:cNvPr>
          <p:cNvSpPr/>
          <p:nvPr/>
        </p:nvSpPr>
        <p:spPr>
          <a:xfrm>
            <a:off x="10041310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8A797F76-DFE6-421D-8FF2-86A0C98B7925}"/>
              </a:ext>
            </a:extLst>
          </p:cNvPr>
          <p:cNvCxnSpPr>
            <a:stCxn id="56" idx="2"/>
            <a:endCxn id="56" idx="6"/>
          </p:cNvCxnSpPr>
          <p:nvPr/>
        </p:nvCxnSpPr>
        <p:spPr>
          <a:xfrm>
            <a:off x="10041310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F54C3D-8613-4128-9F2D-A2074AF22FB0}"/>
              </a:ext>
            </a:extLst>
          </p:cNvPr>
          <p:cNvSpPr txBox="1"/>
          <p:nvPr/>
        </p:nvSpPr>
        <p:spPr>
          <a:xfrm>
            <a:off x="10257335" y="350305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EE6CF08-C400-4748-8428-5D1E25240122}"/>
              </a:ext>
            </a:extLst>
          </p:cNvPr>
          <p:cNvSpPr txBox="1"/>
          <p:nvPr/>
        </p:nvSpPr>
        <p:spPr>
          <a:xfrm>
            <a:off x="10236954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63" name="Conector em curva 31">
            <a:extLst>
              <a:ext uri="{FF2B5EF4-FFF2-40B4-BE49-F238E27FC236}">
                <a16:creationId xmlns:a16="http://schemas.microsoft.com/office/drawing/2014/main" id="{2EDA2D6C-EEF8-4A3F-992C-804E5D460455}"/>
              </a:ext>
            </a:extLst>
          </p:cNvPr>
          <p:cNvCxnSpPr/>
          <p:nvPr/>
        </p:nvCxnSpPr>
        <p:spPr>
          <a:xfrm flipV="1">
            <a:off x="9329299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950A5B2C-CFE6-43F4-BCE7-97EA2C1040E0}"/>
              </a:ext>
            </a:extLst>
          </p:cNvPr>
          <p:cNvSpPr/>
          <p:nvPr/>
        </p:nvSpPr>
        <p:spPr>
          <a:xfrm>
            <a:off x="8256472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6A247B5E-1629-4F0A-96A6-8FAF3B841F59}"/>
              </a:ext>
            </a:extLst>
          </p:cNvPr>
          <p:cNvCxnSpPr>
            <a:stCxn id="70" idx="2"/>
            <a:endCxn id="70" idx="6"/>
          </p:cNvCxnSpPr>
          <p:nvPr/>
        </p:nvCxnSpPr>
        <p:spPr>
          <a:xfrm>
            <a:off x="8256472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EFEDD89-22B6-474F-9644-5D9AFAD30B1E}"/>
              </a:ext>
            </a:extLst>
          </p:cNvPr>
          <p:cNvSpPr txBox="1"/>
          <p:nvPr/>
        </p:nvSpPr>
        <p:spPr>
          <a:xfrm>
            <a:off x="8452116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74" name="Conector em curva 31">
            <a:extLst>
              <a:ext uri="{FF2B5EF4-FFF2-40B4-BE49-F238E27FC236}">
                <a16:creationId xmlns:a16="http://schemas.microsoft.com/office/drawing/2014/main" id="{966B3408-3B4D-424F-8699-2A27174A05FF}"/>
              </a:ext>
            </a:extLst>
          </p:cNvPr>
          <p:cNvCxnSpPr/>
          <p:nvPr/>
        </p:nvCxnSpPr>
        <p:spPr>
          <a:xfrm flipV="1">
            <a:off x="7544461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5706984-DCA1-4925-B134-B4F67DABBB4D}"/>
              </a:ext>
            </a:extLst>
          </p:cNvPr>
          <p:cNvSpPr txBox="1"/>
          <p:nvPr/>
        </p:nvSpPr>
        <p:spPr>
          <a:xfrm>
            <a:off x="8583694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36DDC13-C3B8-43E2-A0C6-567D322E8FD2}"/>
              </a:ext>
            </a:extLst>
          </p:cNvPr>
          <p:cNvCxnSpPr/>
          <p:nvPr/>
        </p:nvCxnSpPr>
        <p:spPr>
          <a:xfrm>
            <a:off x="5152291" y="2839915"/>
            <a:ext cx="0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FBE38CF-F082-4E03-BAD4-EB43F4154D7B}"/>
              </a:ext>
            </a:extLst>
          </p:cNvPr>
          <p:cNvSpPr txBox="1"/>
          <p:nvPr/>
        </p:nvSpPr>
        <p:spPr>
          <a:xfrm>
            <a:off x="3192360" y="2433661"/>
            <a:ext cx="5077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Retornar elemento referenciado pela célula “</a:t>
            </a:r>
            <a:r>
              <a:rPr lang="pt-BR" i="1" dirty="0"/>
              <a:t>frente</a:t>
            </a:r>
            <a:r>
              <a:rPr lang="pt-BR" dirty="0"/>
              <a:t>” 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1DDB6E4-03C5-4830-94C6-A36B0AB5FF70}"/>
              </a:ext>
            </a:extLst>
          </p:cNvPr>
          <p:cNvSpPr txBox="1"/>
          <p:nvPr/>
        </p:nvSpPr>
        <p:spPr>
          <a:xfrm>
            <a:off x="305955" y="527680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operação que remove elemento de um Deque no início é semelhante a operação de </a:t>
            </a:r>
            <a:r>
              <a:rPr lang="pt-BR" i="1" dirty="0" err="1"/>
              <a:t>desenfileira</a:t>
            </a:r>
            <a:r>
              <a:rPr lang="pt-BR" dirty="0"/>
              <a:t> de uma Fila. Atenção apenas se para indicação de Deque vazio, onde “</a:t>
            </a:r>
            <a:r>
              <a:rPr lang="pt-BR" i="1" dirty="0"/>
              <a:t>frente</a:t>
            </a:r>
            <a:r>
              <a:rPr lang="pt-BR" dirty="0"/>
              <a:t>” passa a referenciar a célula “</a:t>
            </a:r>
            <a:r>
              <a:rPr lang="pt-BR" i="1" dirty="0" err="1"/>
              <a:t>tras</a:t>
            </a:r>
            <a:r>
              <a:rPr lang="pt-BR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8911170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 no início (frente)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90</a:t>
            </a:fld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65AB4B-9DA1-4539-A9D5-0AC2CDC9ABB8}"/>
              </a:ext>
            </a:extLst>
          </p:cNvPr>
          <p:cNvSpPr/>
          <p:nvPr/>
        </p:nvSpPr>
        <p:spPr>
          <a:xfrm>
            <a:off x="2855640" y="3356992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14F272A-5A5F-47A2-A180-F2B33C2EB56E}"/>
              </a:ext>
            </a:extLst>
          </p:cNvPr>
          <p:cNvCxnSpPr>
            <a:stCxn id="20" idx="2"/>
            <a:endCxn id="20" idx="6"/>
          </p:cNvCxnSpPr>
          <p:nvPr/>
        </p:nvCxnSpPr>
        <p:spPr>
          <a:xfrm>
            <a:off x="2855640" y="3861048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C96E443-F278-4F4C-BAC8-B2B161044012}"/>
              </a:ext>
            </a:extLst>
          </p:cNvPr>
          <p:cNvSpPr txBox="1"/>
          <p:nvPr/>
        </p:nvSpPr>
        <p:spPr>
          <a:xfrm>
            <a:off x="3071665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item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02A87E9-B7A6-4658-8F7A-E644AFD367DD}"/>
              </a:ext>
            </a:extLst>
          </p:cNvPr>
          <p:cNvSpPr txBox="1"/>
          <p:nvPr/>
        </p:nvSpPr>
        <p:spPr>
          <a:xfrm>
            <a:off x="30512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4802080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37" name="Conector em curva 32">
            <a:extLst>
              <a:ext uri="{FF2B5EF4-FFF2-40B4-BE49-F238E27FC236}">
                <a16:creationId xmlns:a16="http://schemas.microsoft.com/office/drawing/2014/main" id="{D34C2EB2-B45A-4076-B701-FF8361EAD7DA}"/>
              </a:ext>
            </a:extLst>
          </p:cNvPr>
          <p:cNvCxnSpPr/>
          <p:nvPr/>
        </p:nvCxnSpPr>
        <p:spPr>
          <a:xfrm flipV="1">
            <a:off x="3935759" y="3685675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4836161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AAEA0EB-72D1-4266-81FB-D627319687F7}"/>
              </a:ext>
            </a:extLst>
          </p:cNvPr>
          <p:cNvSpPr txBox="1"/>
          <p:nvPr/>
        </p:nvSpPr>
        <p:spPr>
          <a:xfrm>
            <a:off x="6782118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EDF6CFC-169C-43B7-9013-A92A32837B51}"/>
              </a:ext>
            </a:extLst>
          </p:cNvPr>
          <p:cNvSpPr txBox="1"/>
          <p:nvPr/>
        </p:nvSpPr>
        <p:spPr>
          <a:xfrm>
            <a:off x="10328370" y="437421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4161993-3395-46FD-B7AD-251FCC30DB95}"/>
              </a:ext>
            </a:extLst>
          </p:cNvPr>
          <p:cNvSpPr txBox="1"/>
          <p:nvPr/>
        </p:nvSpPr>
        <p:spPr>
          <a:xfrm>
            <a:off x="10337212" y="299351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52" name="Conector de seta reta 15">
            <a:extLst>
              <a:ext uri="{FF2B5EF4-FFF2-40B4-BE49-F238E27FC236}">
                <a16:creationId xmlns:a16="http://schemas.microsoft.com/office/drawing/2014/main" id="{5BDBDDE4-8276-43BE-ACCC-AA8D1273A501}"/>
              </a:ext>
            </a:extLst>
          </p:cNvPr>
          <p:cNvCxnSpPr>
            <a:cxnSpLocks/>
          </p:cNvCxnSpPr>
          <p:nvPr/>
        </p:nvCxnSpPr>
        <p:spPr>
          <a:xfrm flipV="1">
            <a:off x="10882891" y="4048644"/>
            <a:ext cx="47090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54DB545-87B5-431D-B7A0-77CFFE8582E4}"/>
              </a:ext>
            </a:extLst>
          </p:cNvPr>
          <p:cNvSpPr txBox="1"/>
          <p:nvPr/>
        </p:nvSpPr>
        <p:spPr>
          <a:xfrm>
            <a:off x="11483068" y="386286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3245E792-0455-4602-B85D-49F8268EDB2E}"/>
              </a:ext>
            </a:extLst>
          </p:cNvPr>
          <p:cNvSpPr/>
          <p:nvPr/>
        </p:nvSpPr>
        <p:spPr>
          <a:xfrm>
            <a:off x="10041310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8A797F76-DFE6-421D-8FF2-86A0C98B7925}"/>
              </a:ext>
            </a:extLst>
          </p:cNvPr>
          <p:cNvCxnSpPr>
            <a:stCxn id="56" idx="2"/>
            <a:endCxn id="56" idx="6"/>
          </p:cNvCxnSpPr>
          <p:nvPr/>
        </p:nvCxnSpPr>
        <p:spPr>
          <a:xfrm>
            <a:off x="10041310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F54C3D-8613-4128-9F2D-A2074AF22FB0}"/>
              </a:ext>
            </a:extLst>
          </p:cNvPr>
          <p:cNvSpPr txBox="1"/>
          <p:nvPr/>
        </p:nvSpPr>
        <p:spPr>
          <a:xfrm>
            <a:off x="10257335" y="350305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EE6CF08-C400-4748-8428-5D1E25240122}"/>
              </a:ext>
            </a:extLst>
          </p:cNvPr>
          <p:cNvSpPr txBox="1"/>
          <p:nvPr/>
        </p:nvSpPr>
        <p:spPr>
          <a:xfrm>
            <a:off x="10236954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63" name="Conector em curva 31">
            <a:extLst>
              <a:ext uri="{FF2B5EF4-FFF2-40B4-BE49-F238E27FC236}">
                <a16:creationId xmlns:a16="http://schemas.microsoft.com/office/drawing/2014/main" id="{2EDA2D6C-EEF8-4A3F-992C-804E5D460455}"/>
              </a:ext>
            </a:extLst>
          </p:cNvPr>
          <p:cNvCxnSpPr/>
          <p:nvPr/>
        </p:nvCxnSpPr>
        <p:spPr>
          <a:xfrm flipV="1">
            <a:off x="9329299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950A5B2C-CFE6-43F4-BCE7-97EA2C1040E0}"/>
              </a:ext>
            </a:extLst>
          </p:cNvPr>
          <p:cNvSpPr/>
          <p:nvPr/>
        </p:nvSpPr>
        <p:spPr>
          <a:xfrm>
            <a:off x="8256472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6A247B5E-1629-4F0A-96A6-8FAF3B841F59}"/>
              </a:ext>
            </a:extLst>
          </p:cNvPr>
          <p:cNvCxnSpPr>
            <a:stCxn id="70" idx="2"/>
            <a:endCxn id="70" idx="6"/>
          </p:cNvCxnSpPr>
          <p:nvPr/>
        </p:nvCxnSpPr>
        <p:spPr>
          <a:xfrm>
            <a:off x="8256472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EFEDD89-22B6-474F-9644-5D9AFAD30B1E}"/>
              </a:ext>
            </a:extLst>
          </p:cNvPr>
          <p:cNvSpPr txBox="1"/>
          <p:nvPr/>
        </p:nvSpPr>
        <p:spPr>
          <a:xfrm>
            <a:off x="8452116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74" name="Conector em curva 31">
            <a:extLst>
              <a:ext uri="{FF2B5EF4-FFF2-40B4-BE49-F238E27FC236}">
                <a16:creationId xmlns:a16="http://schemas.microsoft.com/office/drawing/2014/main" id="{966B3408-3B4D-424F-8699-2A27174A05FF}"/>
              </a:ext>
            </a:extLst>
          </p:cNvPr>
          <p:cNvCxnSpPr/>
          <p:nvPr/>
        </p:nvCxnSpPr>
        <p:spPr>
          <a:xfrm flipV="1">
            <a:off x="7544461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5706984-DCA1-4925-B134-B4F67DABBB4D}"/>
              </a:ext>
            </a:extLst>
          </p:cNvPr>
          <p:cNvSpPr txBox="1"/>
          <p:nvPr/>
        </p:nvSpPr>
        <p:spPr>
          <a:xfrm>
            <a:off x="8583694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945E6AB4-5806-4ED9-8415-9A184C924DE9}"/>
              </a:ext>
            </a:extLst>
          </p:cNvPr>
          <p:cNvSpPr txBox="1"/>
          <p:nvPr/>
        </p:nvSpPr>
        <p:spPr>
          <a:xfrm>
            <a:off x="305955" y="527680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operação que remove elemento de um Deque no início é semelhante a operação de </a:t>
            </a:r>
            <a:r>
              <a:rPr lang="pt-BR" i="1" dirty="0" err="1"/>
              <a:t>desenfileira</a:t>
            </a:r>
            <a:r>
              <a:rPr lang="pt-BR" dirty="0"/>
              <a:t> de uma Fila. Atenção apenas se para indicação de Deque vazio, onde “</a:t>
            </a:r>
            <a:r>
              <a:rPr lang="pt-BR" i="1" dirty="0"/>
              <a:t>frente</a:t>
            </a:r>
            <a:r>
              <a:rPr lang="pt-BR" dirty="0"/>
              <a:t>” passa a referenciar a célula “</a:t>
            </a:r>
            <a:r>
              <a:rPr lang="pt-BR" i="1" dirty="0" err="1"/>
              <a:t>tras</a:t>
            </a:r>
            <a:r>
              <a:rPr lang="pt-BR" dirty="0"/>
              <a:t>”.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489D0D9-12AE-42BC-82F3-268593A4B8C3}"/>
              </a:ext>
            </a:extLst>
          </p:cNvPr>
          <p:cNvSpPr txBox="1"/>
          <p:nvPr/>
        </p:nvSpPr>
        <p:spPr>
          <a:xfrm>
            <a:off x="4861152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42D8E0EB-D04F-4CC5-A858-53DDA99C72E6}"/>
              </a:ext>
            </a:extLst>
          </p:cNvPr>
          <p:cNvCxnSpPr/>
          <p:nvPr/>
        </p:nvCxnSpPr>
        <p:spPr>
          <a:xfrm>
            <a:off x="3366062" y="2904697"/>
            <a:ext cx="0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3247869-D735-4E0C-A434-81FDC004202D}"/>
              </a:ext>
            </a:extLst>
          </p:cNvPr>
          <p:cNvSpPr txBox="1"/>
          <p:nvPr/>
        </p:nvSpPr>
        <p:spPr>
          <a:xfrm>
            <a:off x="1934666" y="2483604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</p:spTree>
    <p:extLst>
      <p:ext uri="{BB962C8B-B14F-4D97-AF65-F5344CB8AC3E}">
        <p14:creationId xmlns:p14="http://schemas.microsoft.com/office/powerpoint/2010/main" val="12681687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91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4802080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4836161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AAEA0EB-72D1-4266-81FB-D627319687F7}"/>
              </a:ext>
            </a:extLst>
          </p:cNvPr>
          <p:cNvSpPr txBox="1"/>
          <p:nvPr/>
        </p:nvSpPr>
        <p:spPr>
          <a:xfrm>
            <a:off x="6782118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EDF6CFC-169C-43B7-9013-A92A32837B51}"/>
              </a:ext>
            </a:extLst>
          </p:cNvPr>
          <p:cNvSpPr txBox="1"/>
          <p:nvPr/>
        </p:nvSpPr>
        <p:spPr>
          <a:xfrm>
            <a:off x="10328370" y="437421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4161993-3395-46FD-B7AD-251FCC30DB95}"/>
              </a:ext>
            </a:extLst>
          </p:cNvPr>
          <p:cNvSpPr txBox="1"/>
          <p:nvPr/>
        </p:nvSpPr>
        <p:spPr>
          <a:xfrm>
            <a:off x="10337212" y="299351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52" name="Conector de seta reta 15">
            <a:extLst>
              <a:ext uri="{FF2B5EF4-FFF2-40B4-BE49-F238E27FC236}">
                <a16:creationId xmlns:a16="http://schemas.microsoft.com/office/drawing/2014/main" id="{5BDBDDE4-8276-43BE-ACCC-AA8D1273A501}"/>
              </a:ext>
            </a:extLst>
          </p:cNvPr>
          <p:cNvCxnSpPr>
            <a:cxnSpLocks/>
          </p:cNvCxnSpPr>
          <p:nvPr/>
        </p:nvCxnSpPr>
        <p:spPr>
          <a:xfrm flipV="1">
            <a:off x="10882891" y="4048644"/>
            <a:ext cx="47090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54DB545-87B5-431D-B7A0-77CFFE8582E4}"/>
              </a:ext>
            </a:extLst>
          </p:cNvPr>
          <p:cNvSpPr txBox="1"/>
          <p:nvPr/>
        </p:nvSpPr>
        <p:spPr>
          <a:xfrm>
            <a:off x="11483068" y="386286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3245E792-0455-4602-B85D-49F8268EDB2E}"/>
              </a:ext>
            </a:extLst>
          </p:cNvPr>
          <p:cNvSpPr/>
          <p:nvPr/>
        </p:nvSpPr>
        <p:spPr>
          <a:xfrm>
            <a:off x="10041310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8A797F76-DFE6-421D-8FF2-86A0C98B7925}"/>
              </a:ext>
            </a:extLst>
          </p:cNvPr>
          <p:cNvCxnSpPr>
            <a:stCxn id="56" idx="2"/>
            <a:endCxn id="56" idx="6"/>
          </p:cNvCxnSpPr>
          <p:nvPr/>
        </p:nvCxnSpPr>
        <p:spPr>
          <a:xfrm>
            <a:off x="10041310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F54C3D-8613-4128-9F2D-A2074AF22FB0}"/>
              </a:ext>
            </a:extLst>
          </p:cNvPr>
          <p:cNvSpPr txBox="1"/>
          <p:nvPr/>
        </p:nvSpPr>
        <p:spPr>
          <a:xfrm>
            <a:off x="10257335" y="350305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EE6CF08-C400-4748-8428-5D1E25240122}"/>
              </a:ext>
            </a:extLst>
          </p:cNvPr>
          <p:cNvSpPr txBox="1"/>
          <p:nvPr/>
        </p:nvSpPr>
        <p:spPr>
          <a:xfrm>
            <a:off x="10236954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63" name="Conector em curva 31">
            <a:extLst>
              <a:ext uri="{FF2B5EF4-FFF2-40B4-BE49-F238E27FC236}">
                <a16:creationId xmlns:a16="http://schemas.microsoft.com/office/drawing/2014/main" id="{2EDA2D6C-EEF8-4A3F-992C-804E5D460455}"/>
              </a:ext>
            </a:extLst>
          </p:cNvPr>
          <p:cNvCxnSpPr/>
          <p:nvPr/>
        </p:nvCxnSpPr>
        <p:spPr>
          <a:xfrm flipV="1">
            <a:off x="9329299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950A5B2C-CFE6-43F4-BCE7-97EA2C1040E0}"/>
              </a:ext>
            </a:extLst>
          </p:cNvPr>
          <p:cNvSpPr/>
          <p:nvPr/>
        </p:nvSpPr>
        <p:spPr>
          <a:xfrm>
            <a:off x="8256472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6A247B5E-1629-4F0A-96A6-8FAF3B841F59}"/>
              </a:ext>
            </a:extLst>
          </p:cNvPr>
          <p:cNvCxnSpPr>
            <a:stCxn id="70" idx="2"/>
            <a:endCxn id="70" idx="6"/>
          </p:cNvCxnSpPr>
          <p:nvPr/>
        </p:nvCxnSpPr>
        <p:spPr>
          <a:xfrm>
            <a:off x="8256472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EFEDD89-22B6-474F-9644-5D9AFAD30B1E}"/>
              </a:ext>
            </a:extLst>
          </p:cNvPr>
          <p:cNvSpPr txBox="1"/>
          <p:nvPr/>
        </p:nvSpPr>
        <p:spPr>
          <a:xfrm>
            <a:off x="8452116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74" name="Conector em curva 31">
            <a:extLst>
              <a:ext uri="{FF2B5EF4-FFF2-40B4-BE49-F238E27FC236}">
                <a16:creationId xmlns:a16="http://schemas.microsoft.com/office/drawing/2014/main" id="{966B3408-3B4D-424F-8699-2A27174A05FF}"/>
              </a:ext>
            </a:extLst>
          </p:cNvPr>
          <p:cNvCxnSpPr/>
          <p:nvPr/>
        </p:nvCxnSpPr>
        <p:spPr>
          <a:xfrm flipV="1">
            <a:off x="7544461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5706984-DCA1-4925-B134-B4F67DABBB4D}"/>
              </a:ext>
            </a:extLst>
          </p:cNvPr>
          <p:cNvSpPr txBox="1"/>
          <p:nvPr/>
        </p:nvSpPr>
        <p:spPr>
          <a:xfrm>
            <a:off x="8583694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FF0000"/>
                </a:solidFill>
              </a:rPr>
              <a:t>X</a:t>
            </a:r>
            <a:r>
              <a:rPr lang="pt-BR" i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489D0D9-12AE-42BC-82F3-268593A4B8C3}"/>
              </a:ext>
            </a:extLst>
          </p:cNvPr>
          <p:cNvSpPr txBox="1"/>
          <p:nvPr/>
        </p:nvSpPr>
        <p:spPr>
          <a:xfrm>
            <a:off x="4861152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364095CC-923F-4644-94D2-5E1F3A5158A8}"/>
              </a:ext>
            </a:extLst>
          </p:cNvPr>
          <p:cNvCxnSpPr/>
          <p:nvPr/>
        </p:nvCxnSpPr>
        <p:spPr>
          <a:xfrm>
            <a:off x="8750554" y="2911787"/>
            <a:ext cx="0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46AEE76-ACFA-44C2-9C9E-5D7093BFF7DB}"/>
              </a:ext>
            </a:extLst>
          </p:cNvPr>
          <p:cNvSpPr txBox="1"/>
          <p:nvPr/>
        </p:nvSpPr>
        <p:spPr>
          <a:xfrm>
            <a:off x="6790623" y="2505533"/>
            <a:ext cx="480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Retornar elemento que referencia a célula “</a:t>
            </a:r>
            <a:r>
              <a:rPr lang="pt-BR" i="1" dirty="0" err="1"/>
              <a:t>tras</a:t>
            </a:r>
            <a:r>
              <a:rPr lang="pt-BR" dirty="0"/>
              <a:t>” 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FFF0396-0C53-41E0-B17B-68412C713ACB}"/>
              </a:ext>
            </a:extLst>
          </p:cNvPr>
          <p:cNvSpPr txBox="1"/>
          <p:nvPr/>
        </p:nvSpPr>
        <p:spPr>
          <a:xfrm>
            <a:off x="305955" y="5276809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operação que remove elemento de um Deque no final deve percorrer toda a lista a partir do elemento “</a:t>
            </a:r>
            <a:r>
              <a:rPr lang="pt-BR" i="1" dirty="0"/>
              <a:t>frente</a:t>
            </a:r>
            <a:r>
              <a:rPr lang="pt-BR" dirty="0"/>
              <a:t>” até encontrar o elemento que referencia “</a:t>
            </a:r>
            <a:r>
              <a:rPr lang="pt-BR" i="1" dirty="0" err="1"/>
              <a:t>tras</a:t>
            </a:r>
            <a:r>
              <a:rPr lang="pt-BR" dirty="0"/>
              <a:t>” e retornar o item deste elemento. Então, a célula “</a:t>
            </a:r>
            <a:r>
              <a:rPr lang="pt-BR" dirty="0" err="1"/>
              <a:t>aux</a:t>
            </a:r>
            <a:r>
              <a:rPr lang="pt-BR" dirty="0"/>
              <a:t>” passa a referenciar a célula “</a:t>
            </a:r>
            <a:r>
              <a:rPr lang="pt-BR" i="1" dirty="0" err="1"/>
              <a:t>tras</a:t>
            </a:r>
            <a:r>
              <a:rPr lang="pt-BR" dirty="0"/>
              <a:t>”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9D1D06EC-DC3D-425C-A8C9-63254AB693B4}"/>
              </a:ext>
            </a:extLst>
          </p:cNvPr>
          <p:cNvSpPr/>
          <p:nvPr/>
        </p:nvSpPr>
        <p:spPr>
          <a:xfrm>
            <a:off x="6696748" y="4364225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5018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Deques (lista auto referenciadas)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396751"/>
          </a:xfrm>
        </p:spPr>
        <p:txBody>
          <a:bodyPr/>
          <a:lstStyle/>
          <a:p>
            <a:r>
              <a:rPr lang="pt-BR" dirty="0"/>
              <a:t>Remoção de um elemento no final (</a:t>
            </a:r>
            <a:r>
              <a:rPr lang="pt-BR" dirty="0" err="1"/>
              <a:t>tras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63062-14D5-4D07-9825-9F7EED0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92</a:t>
            </a:fld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84C85C8-9EBB-48B0-8859-CF876B59A9E4}"/>
              </a:ext>
            </a:extLst>
          </p:cNvPr>
          <p:cNvSpPr txBox="1"/>
          <p:nvPr/>
        </p:nvSpPr>
        <p:spPr>
          <a:xfrm>
            <a:off x="4802080" y="436510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4286FD7-7BB7-47EC-BEC8-B38C05259F8D}"/>
              </a:ext>
            </a:extLst>
          </p:cNvPr>
          <p:cNvSpPr/>
          <p:nvPr/>
        </p:nvSpPr>
        <p:spPr>
          <a:xfrm>
            <a:off x="4655840" y="3356992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BFFBCCF-1EBD-44C0-884A-9B40550047CF}"/>
              </a:ext>
            </a:extLst>
          </p:cNvPr>
          <p:cNvCxnSpPr>
            <a:stCxn id="33" idx="2"/>
            <a:endCxn id="33" idx="6"/>
          </p:cNvCxnSpPr>
          <p:nvPr/>
        </p:nvCxnSpPr>
        <p:spPr>
          <a:xfrm>
            <a:off x="4655840" y="3861048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DCA1F04-44B7-4F8A-8EEE-13607DC8FE38}"/>
              </a:ext>
            </a:extLst>
          </p:cNvPr>
          <p:cNvSpPr txBox="1"/>
          <p:nvPr/>
        </p:nvSpPr>
        <p:spPr>
          <a:xfrm>
            <a:off x="4851484" y="3861048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40E167E-CAF6-475E-B75A-2877BCDB9EDE}"/>
              </a:ext>
            </a:extLst>
          </p:cNvPr>
          <p:cNvSpPr txBox="1"/>
          <p:nvPr/>
        </p:nvSpPr>
        <p:spPr>
          <a:xfrm>
            <a:off x="4836161" y="298765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E989EB72-3B67-452C-B8A2-3489A0F8A868}"/>
              </a:ext>
            </a:extLst>
          </p:cNvPr>
          <p:cNvSpPr/>
          <p:nvPr/>
        </p:nvSpPr>
        <p:spPr>
          <a:xfrm>
            <a:off x="6451117" y="335611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CC61E1C-3176-448B-B50D-D2DBEA6DA58B}"/>
              </a:ext>
            </a:extLst>
          </p:cNvPr>
          <p:cNvCxnSpPr>
            <a:stCxn id="54" idx="2"/>
            <a:endCxn id="54" idx="6"/>
          </p:cNvCxnSpPr>
          <p:nvPr/>
        </p:nvCxnSpPr>
        <p:spPr>
          <a:xfrm>
            <a:off x="6451117" y="386016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23F73C5-E48C-4439-B79B-F4B8FA05AF61}"/>
              </a:ext>
            </a:extLst>
          </p:cNvPr>
          <p:cNvSpPr txBox="1"/>
          <p:nvPr/>
        </p:nvSpPr>
        <p:spPr>
          <a:xfrm>
            <a:off x="6646761" y="386016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59" name="Conector em curva 31">
            <a:extLst>
              <a:ext uri="{FF2B5EF4-FFF2-40B4-BE49-F238E27FC236}">
                <a16:creationId xmlns:a16="http://schemas.microsoft.com/office/drawing/2014/main" id="{E3D0FB27-37F0-441B-823A-4295F9C74B4B}"/>
              </a:ext>
            </a:extLst>
          </p:cNvPr>
          <p:cNvCxnSpPr/>
          <p:nvPr/>
        </p:nvCxnSpPr>
        <p:spPr>
          <a:xfrm flipV="1">
            <a:off x="5731036" y="3684796"/>
            <a:ext cx="606848" cy="39835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AAEA0EB-72D1-4266-81FB-D627319687F7}"/>
              </a:ext>
            </a:extLst>
          </p:cNvPr>
          <p:cNvSpPr txBox="1"/>
          <p:nvPr/>
        </p:nvSpPr>
        <p:spPr>
          <a:xfrm>
            <a:off x="6782118" y="34698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EDF6CFC-169C-43B7-9013-A92A32837B51}"/>
              </a:ext>
            </a:extLst>
          </p:cNvPr>
          <p:cNvSpPr txBox="1"/>
          <p:nvPr/>
        </p:nvSpPr>
        <p:spPr>
          <a:xfrm>
            <a:off x="10328370" y="4374213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4161993-3395-46FD-B7AD-251FCC30DB95}"/>
              </a:ext>
            </a:extLst>
          </p:cNvPr>
          <p:cNvSpPr txBox="1"/>
          <p:nvPr/>
        </p:nvSpPr>
        <p:spPr>
          <a:xfrm>
            <a:off x="10337212" y="2993519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tail</a:t>
            </a:r>
            <a:endParaRPr lang="pt-BR" i="1" dirty="0"/>
          </a:p>
        </p:txBody>
      </p:sp>
      <p:cxnSp>
        <p:nvCxnSpPr>
          <p:cNvPr id="52" name="Conector de seta reta 15">
            <a:extLst>
              <a:ext uri="{FF2B5EF4-FFF2-40B4-BE49-F238E27FC236}">
                <a16:creationId xmlns:a16="http://schemas.microsoft.com/office/drawing/2014/main" id="{5BDBDDE4-8276-43BE-ACCC-AA8D1273A501}"/>
              </a:ext>
            </a:extLst>
          </p:cNvPr>
          <p:cNvCxnSpPr>
            <a:cxnSpLocks/>
          </p:cNvCxnSpPr>
          <p:nvPr/>
        </p:nvCxnSpPr>
        <p:spPr>
          <a:xfrm flipV="1">
            <a:off x="10882891" y="4048644"/>
            <a:ext cx="470909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54DB545-87B5-431D-B7A0-77CFFE8582E4}"/>
              </a:ext>
            </a:extLst>
          </p:cNvPr>
          <p:cNvSpPr txBox="1"/>
          <p:nvPr/>
        </p:nvSpPr>
        <p:spPr>
          <a:xfrm>
            <a:off x="11483068" y="386286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3245E792-0455-4602-B85D-49F8268EDB2E}"/>
              </a:ext>
            </a:extLst>
          </p:cNvPr>
          <p:cNvSpPr/>
          <p:nvPr/>
        </p:nvSpPr>
        <p:spPr>
          <a:xfrm>
            <a:off x="10041310" y="3359043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8A797F76-DFE6-421D-8FF2-86A0C98B7925}"/>
              </a:ext>
            </a:extLst>
          </p:cNvPr>
          <p:cNvCxnSpPr>
            <a:stCxn id="56" idx="2"/>
            <a:endCxn id="56" idx="6"/>
          </p:cNvCxnSpPr>
          <p:nvPr/>
        </p:nvCxnSpPr>
        <p:spPr>
          <a:xfrm>
            <a:off x="10041310" y="3863099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7F54C3D-8613-4128-9F2D-A2074AF22FB0}"/>
              </a:ext>
            </a:extLst>
          </p:cNvPr>
          <p:cNvSpPr txBox="1"/>
          <p:nvPr/>
        </p:nvSpPr>
        <p:spPr>
          <a:xfrm>
            <a:off x="10257335" y="3503059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EE6CF08-C400-4748-8428-5D1E25240122}"/>
              </a:ext>
            </a:extLst>
          </p:cNvPr>
          <p:cNvSpPr txBox="1"/>
          <p:nvPr/>
        </p:nvSpPr>
        <p:spPr>
          <a:xfrm>
            <a:off x="10236954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Prox.</a:t>
            </a:r>
          </a:p>
        </p:txBody>
      </p:sp>
      <p:cxnSp>
        <p:nvCxnSpPr>
          <p:cNvPr id="63" name="Conector em curva 31">
            <a:extLst>
              <a:ext uri="{FF2B5EF4-FFF2-40B4-BE49-F238E27FC236}">
                <a16:creationId xmlns:a16="http://schemas.microsoft.com/office/drawing/2014/main" id="{2EDA2D6C-EEF8-4A3F-992C-804E5D460455}"/>
              </a:ext>
            </a:extLst>
          </p:cNvPr>
          <p:cNvCxnSpPr/>
          <p:nvPr/>
        </p:nvCxnSpPr>
        <p:spPr>
          <a:xfrm flipV="1">
            <a:off x="9329299" y="3684796"/>
            <a:ext cx="606848" cy="398351"/>
          </a:xfrm>
          <a:prstGeom prst="curvedConnector3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>
            <a:extLst>
              <a:ext uri="{FF2B5EF4-FFF2-40B4-BE49-F238E27FC236}">
                <a16:creationId xmlns:a16="http://schemas.microsoft.com/office/drawing/2014/main" id="{950A5B2C-CFE6-43F4-BCE7-97EA2C1040E0}"/>
              </a:ext>
            </a:extLst>
          </p:cNvPr>
          <p:cNvSpPr/>
          <p:nvPr/>
        </p:nvSpPr>
        <p:spPr>
          <a:xfrm>
            <a:off x="8256472" y="3359043"/>
            <a:ext cx="1008112" cy="1008112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6A247B5E-1629-4F0A-96A6-8FAF3B841F59}"/>
              </a:ext>
            </a:extLst>
          </p:cNvPr>
          <p:cNvCxnSpPr>
            <a:stCxn id="70" idx="2"/>
            <a:endCxn id="70" idx="6"/>
          </p:cNvCxnSpPr>
          <p:nvPr/>
        </p:nvCxnSpPr>
        <p:spPr>
          <a:xfrm>
            <a:off x="8256472" y="3863099"/>
            <a:ext cx="10081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EFEDD89-22B6-474F-9644-5D9AFAD30B1E}"/>
              </a:ext>
            </a:extLst>
          </p:cNvPr>
          <p:cNvSpPr txBox="1"/>
          <p:nvPr/>
        </p:nvSpPr>
        <p:spPr>
          <a:xfrm>
            <a:off x="8452116" y="3863099"/>
            <a:ext cx="65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Prox.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5706984-DCA1-4925-B134-B4F67DABBB4D}"/>
              </a:ext>
            </a:extLst>
          </p:cNvPr>
          <p:cNvSpPr txBox="1"/>
          <p:nvPr/>
        </p:nvSpPr>
        <p:spPr>
          <a:xfrm>
            <a:off x="8583694" y="350100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65000"/>
                  </a:schemeClr>
                </a:solidFill>
              </a:rPr>
              <a:t>X</a:t>
            </a:r>
            <a:r>
              <a:rPr lang="pt-BR" i="1" baseline="-25000" dirty="0">
                <a:solidFill>
                  <a:schemeClr val="bg1">
                    <a:lumMod val="65000"/>
                  </a:schemeClr>
                </a:solidFill>
              </a:rPr>
              <a:t>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489D0D9-12AE-42BC-82F3-268593A4B8C3}"/>
              </a:ext>
            </a:extLst>
          </p:cNvPr>
          <p:cNvSpPr txBox="1"/>
          <p:nvPr/>
        </p:nvSpPr>
        <p:spPr>
          <a:xfrm>
            <a:off x="4861152" y="3501008"/>
            <a:ext cx="61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item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364095CC-923F-4644-94D2-5E1F3A5158A8}"/>
              </a:ext>
            </a:extLst>
          </p:cNvPr>
          <p:cNvCxnSpPr/>
          <p:nvPr/>
        </p:nvCxnSpPr>
        <p:spPr>
          <a:xfrm>
            <a:off x="8750554" y="2911787"/>
            <a:ext cx="0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46AEE76-ACFA-44C2-9C9E-5D7093BFF7DB}"/>
              </a:ext>
            </a:extLst>
          </p:cNvPr>
          <p:cNvSpPr txBox="1"/>
          <p:nvPr/>
        </p:nvSpPr>
        <p:spPr>
          <a:xfrm>
            <a:off x="7319158" y="2490694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D09422D0-E366-461A-8FE5-AF91802EEFCB}"/>
              </a:ext>
            </a:extLst>
          </p:cNvPr>
          <p:cNvCxnSpPr/>
          <p:nvPr/>
        </p:nvCxnSpPr>
        <p:spPr>
          <a:xfrm rot="5400000" flipH="1" flipV="1">
            <a:off x="8743999" y="2800571"/>
            <a:ext cx="879" cy="2932724"/>
          </a:xfrm>
          <a:prstGeom prst="bentConnector3">
            <a:avLst>
              <a:gd name="adj1" fmla="val -428026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72955BB-F106-47F8-91C5-52F0E1A25BA1}"/>
              </a:ext>
            </a:extLst>
          </p:cNvPr>
          <p:cNvSpPr txBox="1"/>
          <p:nvPr/>
        </p:nvSpPr>
        <p:spPr>
          <a:xfrm>
            <a:off x="305955" y="5276809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operação que remove elemento de um Deque no final deve percorrer toda a lista a partir do elemento “</a:t>
            </a:r>
            <a:r>
              <a:rPr lang="pt-BR" i="1" dirty="0"/>
              <a:t>frente</a:t>
            </a:r>
            <a:r>
              <a:rPr lang="pt-BR" dirty="0"/>
              <a:t>” até encontrar o elemento que referencia “</a:t>
            </a:r>
            <a:r>
              <a:rPr lang="pt-BR" i="1" dirty="0" err="1"/>
              <a:t>tras</a:t>
            </a:r>
            <a:r>
              <a:rPr lang="pt-BR" dirty="0"/>
              <a:t>” e retornar o item deste elemento. Então, a célula “</a:t>
            </a:r>
            <a:r>
              <a:rPr lang="pt-BR" dirty="0" err="1"/>
              <a:t>aux</a:t>
            </a:r>
            <a:r>
              <a:rPr lang="pt-BR" dirty="0"/>
              <a:t>” passa a referenciar a célula “</a:t>
            </a:r>
            <a:r>
              <a:rPr lang="pt-BR" i="1" dirty="0" err="1"/>
              <a:t>tras</a:t>
            </a:r>
            <a:r>
              <a:rPr lang="pt-BR" dirty="0"/>
              <a:t>”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0C875FE-B32F-41C6-B009-DDACCF9EB244}"/>
              </a:ext>
            </a:extLst>
          </p:cNvPr>
          <p:cNvSpPr/>
          <p:nvPr/>
        </p:nvSpPr>
        <p:spPr>
          <a:xfrm>
            <a:off x="6696748" y="4364225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/>
              <a:t>aux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17102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FDC5B-74D0-4A94-B280-D2202FC1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Deques (lista duplamente ligadas)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B50CED-132C-4D56-9C2B-EA540C847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Remoção e inserção na extremidade “</a:t>
            </a:r>
            <a:r>
              <a:rPr lang="pt-BR" i="1" dirty="0" err="1"/>
              <a:t>tras</a:t>
            </a:r>
            <a:r>
              <a:rPr lang="pt-BR" dirty="0"/>
              <a:t>” são mais eficientes pois não precisa percorrer toda a lista até encontrar a referência para a célula “</a:t>
            </a:r>
            <a:r>
              <a:rPr lang="pt-BR" i="1" dirty="0" err="1"/>
              <a:t>tras</a:t>
            </a:r>
            <a:r>
              <a:rPr lang="pt-BR" dirty="0"/>
              <a:t>”. Torna-se uma solução melhor para Deques.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84E07E-604B-4DA2-A505-E952BD18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93</a:t>
            </a:fld>
            <a:endParaRPr lang="pt-BR"/>
          </a:p>
        </p:txBody>
      </p:sp>
      <p:cxnSp>
        <p:nvCxnSpPr>
          <p:cNvPr id="5" name="Conector em curva 44">
            <a:extLst>
              <a:ext uri="{FF2B5EF4-FFF2-40B4-BE49-F238E27FC236}">
                <a16:creationId xmlns:a16="http://schemas.microsoft.com/office/drawing/2014/main" id="{0F944492-4680-4796-8159-69167133A98D}"/>
              </a:ext>
            </a:extLst>
          </p:cNvPr>
          <p:cNvCxnSpPr/>
          <p:nvPr/>
        </p:nvCxnSpPr>
        <p:spPr>
          <a:xfrm flipV="1">
            <a:off x="3935760" y="44220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em curva 46">
            <a:extLst>
              <a:ext uri="{FF2B5EF4-FFF2-40B4-BE49-F238E27FC236}">
                <a16:creationId xmlns:a16="http://schemas.microsoft.com/office/drawing/2014/main" id="{60D7A508-3722-4A5E-A2E4-BA434D4B8749}"/>
              </a:ext>
            </a:extLst>
          </p:cNvPr>
          <p:cNvCxnSpPr/>
          <p:nvPr/>
        </p:nvCxnSpPr>
        <p:spPr>
          <a:xfrm flipV="1">
            <a:off x="5803689" y="4395881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198747-7D11-423A-AAB5-A70F1F1F6609}"/>
              </a:ext>
            </a:extLst>
          </p:cNvPr>
          <p:cNvSpPr txBox="1"/>
          <p:nvPr/>
        </p:nvSpPr>
        <p:spPr>
          <a:xfrm>
            <a:off x="2999656" y="375042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head</a:t>
            </a:r>
            <a:endParaRPr lang="pt-BR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465AB43-C3BF-440D-95A3-5BDCEE200400}"/>
              </a:ext>
            </a:extLst>
          </p:cNvPr>
          <p:cNvSpPr txBox="1"/>
          <p:nvPr/>
        </p:nvSpPr>
        <p:spPr>
          <a:xfrm>
            <a:off x="8629003" y="3752165"/>
            <a:ext cx="48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i="1" dirty="0" err="1"/>
              <a:t>tail</a:t>
            </a:r>
            <a:endParaRPr lang="pt-BR" i="1" dirty="0"/>
          </a:p>
        </p:txBody>
      </p:sp>
      <p:grpSp>
        <p:nvGrpSpPr>
          <p:cNvPr id="9" name="Grupo 49">
            <a:extLst>
              <a:ext uri="{FF2B5EF4-FFF2-40B4-BE49-F238E27FC236}">
                <a16:creationId xmlns:a16="http://schemas.microsoft.com/office/drawing/2014/main" id="{609A30F4-FBC8-485E-AA22-88862D4B4B37}"/>
              </a:ext>
            </a:extLst>
          </p:cNvPr>
          <p:cNvGrpSpPr/>
          <p:nvPr/>
        </p:nvGrpSpPr>
        <p:grpSpPr>
          <a:xfrm>
            <a:off x="4655840" y="4149081"/>
            <a:ext cx="1008112" cy="1009853"/>
            <a:chOff x="3059832" y="4653136"/>
            <a:chExt cx="1008112" cy="1009853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E097282-1C7B-409C-9983-A70479994D2E}"/>
                </a:ext>
              </a:extLst>
            </p:cNvPr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4740823-3F78-4436-B598-57BA3E89DDA9}"/>
                </a:ext>
              </a:extLst>
            </p:cNvPr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08073220-BD4D-4888-8D57-D8D840793274}"/>
                </a:ext>
              </a:extLst>
            </p:cNvPr>
            <p:cNvCxnSpPr>
              <a:stCxn id="11" idx="2"/>
              <a:endCxn id="11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04D76C4-2FAE-467B-9EAF-CFB782C2C670}"/>
                </a:ext>
              </a:extLst>
            </p:cNvPr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76B77894-9F7D-4B6F-AD63-8C1744790D47}"/>
                </a:ext>
              </a:extLst>
            </p:cNvPr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56">
            <a:extLst>
              <a:ext uri="{FF2B5EF4-FFF2-40B4-BE49-F238E27FC236}">
                <a16:creationId xmlns:a16="http://schemas.microsoft.com/office/drawing/2014/main" id="{A3E6B2F1-8C7A-42F3-ACFD-408632C96BD6}"/>
              </a:ext>
            </a:extLst>
          </p:cNvPr>
          <p:cNvGrpSpPr/>
          <p:nvPr/>
        </p:nvGrpSpPr>
        <p:grpSpPr>
          <a:xfrm>
            <a:off x="6456040" y="4149081"/>
            <a:ext cx="1008112" cy="1009853"/>
            <a:chOff x="3059832" y="4653136"/>
            <a:chExt cx="1008112" cy="1009853"/>
          </a:xfrm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89787A1-311E-429F-A709-193CEC0FE6A5}"/>
                </a:ext>
              </a:extLst>
            </p:cNvPr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10C924B5-DFDD-444B-999F-D012F3524F58}"/>
                </a:ext>
              </a:extLst>
            </p:cNvPr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3EFCB46A-3CEE-40EA-96A3-108F449E3A44}"/>
                </a:ext>
              </a:extLst>
            </p:cNvPr>
            <p:cNvCxnSpPr>
              <a:stCxn id="18" idx="2"/>
              <a:endCxn id="18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FC35B22-15B9-49DD-B379-BD69B12B1D0A}"/>
                </a:ext>
              </a:extLst>
            </p:cNvPr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166EEB15-E21B-4E73-A3FB-3EC7657D9D6C}"/>
                </a:ext>
              </a:extLst>
            </p:cNvPr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63">
            <a:extLst>
              <a:ext uri="{FF2B5EF4-FFF2-40B4-BE49-F238E27FC236}">
                <a16:creationId xmlns:a16="http://schemas.microsoft.com/office/drawing/2014/main" id="{05C06FBB-8077-493E-88EE-4836CFC1D903}"/>
              </a:ext>
            </a:extLst>
          </p:cNvPr>
          <p:cNvGrpSpPr/>
          <p:nvPr/>
        </p:nvGrpSpPr>
        <p:grpSpPr>
          <a:xfrm>
            <a:off x="2855640" y="4149081"/>
            <a:ext cx="1008112" cy="1009853"/>
            <a:chOff x="3059832" y="4653136"/>
            <a:chExt cx="1008112" cy="1009853"/>
          </a:xfrm>
        </p:grpSpPr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67BE070D-8286-4ACB-A001-FAB09BBBBB3F}"/>
                </a:ext>
              </a:extLst>
            </p:cNvPr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51A348FB-C09E-425A-A452-10A58F99598F}"/>
                </a:ext>
              </a:extLst>
            </p:cNvPr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57AEA4B3-2915-423F-8EB0-AEC0E865E5C0}"/>
                </a:ext>
              </a:extLst>
            </p:cNvPr>
            <p:cNvCxnSpPr>
              <a:stCxn id="25" idx="2"/>
              <a:endCxn id="25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5576535F-C355-446D-9464-FA415ACD932C}"/>
                </a:ext>
              </a:extLst>
            </p:cNvPr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5A39FCB3-0578-4DC8-9D41-4DB98CC03860}"/>
                </a:ext>
              </a:extLst>
            </p:cNvPr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E982029-86D5-4A3B-87A6-A6D521CA476A}"/>
                </a:ext>
              </a:extLst>
            </p:cNvPr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Conector em curva 70">
            <a:extLst>
              <a:ext uri="{FF2B5EF4-FFF2-40B4-BE49-F238E27FC236}">
                <a16:creationId xmlns:a16="http://schemas.microsoft.com/office/drawing/2014/main" id="{13F716B9-DDC1-405C-A1D0-F3C13FD3C234}"/>
              </a:ext>
            </a:extLst>
          </p:cNvPr>
          <p:cNvCxnSpPr/>
          <p:nvPr/>
        </p:nvCxnSpPr>
        <p:spPr>
          <a:xfrm rot="10800000">
            <a:off x="3935760" y="4422015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em curva 71">
            <a:extLst>
              <a:ext uri="{FF2B5EF4-FFF2-40B4-BE49-F238E27FC236}">
                <a16:creationId xmlns:a16="http://schemas.microsoft.com/office/drawing/2014/main" id="{EFC65076-A375-4969-A82D-A99CBFFF66E8}"/>
              </a:ext>
            </a:extLst>
          </p:cNvPr>
          <p:cNvCxnSpPr/>
          <p:nvPr/>
        </p:nvCxnSpPr>
        <p:spPr>
          <a:xfrm rot="10800000">
            <a:off x="57359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72">
            <a:extLst>
              <a:ext uri="{FF2B5EF4-FFF2-40B4-BE49-F238E27FC236}">
                <a16:creationId xmlns:a16="http://schemas.microsoft.com/office/drawing/2014/main" id="{1DF4B3E6-2D40-4DE8-9D4A-D23BAC3DECCB}"/>
              </a:ext>
            </a:extLst>
          </p:cNvPr>
          <p:cNvCxnSpPr/>
          <p:nvPr/>
        </p:nvCxnSpPr>
        <p:spPr>
          <a:xfrm flipH="1">
            <a:off x="2279576" y="5005044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D7EFD0-AB89-477C-839C-F47E2621ABDC}"/>
              </a:ext>
            </a:extLst>
          </p:cNvPr>
          <p:cNvSpPr txBox="1"/>
          <p:nvPr/>
        </p:nvSpPr>
        <p:spPr>
          <a:xfrm>
            <a:off x="1631504" y="479715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grpSp>
        <p:nvGrpSpPr>
          <p:cNvPr id="34" name="Grupo 74">
            <a:extLst>
              <a:ext uri="{FF2B5EF4-FFF2-40B4-BE49-F238E27FC236}">
                <a16:creationId xmlns:a16="http://schemas.microsoft.com/office/drawing/2014/main" id="{86C2C472-B2AA-4206-9BDF-F5DFCFB7D024}"/>
              </a:ext>
            </a:extLst>
          </p:cNvPr>
          <p:cNvGrpSpPr/>
          <p:nvPr/>
        </p:nvGrpSpPr>
        <p:grpSpPr>
          <a:xfrm>
            <a:off x="8328248" y="4149081"/>
            <a:ext cx="1008112" cy="1009853"/>
            <a:chOff x="3059832" y="4653136"/>
            <a:chExt cx="1008112" cy="1009853"/>
          </a:xfrm>
        </p:grpSpPr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B2934659-6881-4E0B-A3D4-4EC9A6C067CF}"/>
                </a:ext>
              </a:extLst>
            </p:cNvPr>
            <p:cNvSpPr txBox="1"/>
            <p:nvPr/>
          </p:nvSpPr>
          <p:spPr>
            <a:xfrm>
              <a:off x="3300166" y="5106089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Prox.</a:t>
              </a: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B2E01316-4FEA-4122-81CA-9231A75A9CA0}"/>
                </a:ext>
              </a:extLst>
            </p:cNvPr>
            <p:cNvSpPr/>
            <p:nvPr/>
          </p:nvSpPr>
          <p:spPr>
            <a:xfrm>
              <a:off x="3059832" y="4653136"/>
              <a:ext cx="1008112" cy="1008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C2EDE9A7-EBE4-470E-A7DC-6A1BEF0EF946}"/>
                </a:ext>
              </a:extLst>
            </p:cNvPr>
            <p:cNvCxnSpPr>
              <a:stCxn id="36" idx="2"/>
              <a:endCxn id="36" idx="6"/>
            </p:cNvCxnSpPr>
            <p:nvPr/>
          </p:nvCxnSpPr>
          <p:spPr>
            <a:xfrm>
              <a:off x="3059832" y="5157192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CF8036EB-02FC-4284-8564-85AC125C2C07}"/>
                </a:ext>
              </a:extLst>
            </p:cNvPr>
            <p:cNvSpPr txBox="1"/>
            <p:nvPr/>
          </p:nvSpPr>
          <p:spPr>
            <a:xfrm>
              <a:off x="3258002" y="4797152"/>
              <a:ext cx="611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item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3F044E4-5F5F-445F-B82F-1750D071B644}"/>
                </a:ext>
              </a:extLst>
            </p:cNvPr>
            <p:cNvSpPr txBox="1"/>
            <p:nvPr/>
          </p:nvSpPr>
          <p:spPr>
            <a:xfrm>
              <a:off x="3291604" y="535521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Prev.</a:t>
              </a:r>
            </a:p>
          </p:txBody>
        </p: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26F4BA3A-2255-4BFB-A69C-4DC0CB8112A9}"/>
                </a:ext>
              </a:extLst>
            </p:cNvPr>
            <p:cNvCxnSpPr/>
            <p:nvPr/>
          </p:nvCxnSpPr>
          <p:spPr>
            <a:xfrm flipH="1">
              <a:off x="3131840" y="5373216"/>
              <a:ext cx="8640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Conector em curva 81">
            <a:extLst>
              <a:ext uri="{FF2B5EF4-FFF2-40B4-BE49-F238E27FC236}">
                <a16:creationId xmlns:a16="http://schemas.microsoft.com/office/drawing/2014/main" id="{FC12D729-1533-4980-9972-B0BB15A530BD}"/>
              </a:ext>
            </a:extLst>
          </p:cNvPr>
          <p:cNvCxnSpPr/>
          <p:nvPr/>
        </p:nvCxnSpPr>
        <p:spPr>
          <a:xfrm flipV="1">
            <a:off x="7603889" y="4388913"/>
            <a:ext cx="648072" cy="360040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83">
            <a:extLst>
              <a:ext uri="{FF2B5EF4-FFF2-40B4-BE49-F238E27FC236}">
                <a16:creationId xmlns:a16="http://schemas.microsoft.com/office/drawing/2014/main" id="{3B8C8B02-6781-46FB-BF3A-1B878263D4DD}"/>
              </a:ext>
            </a:extLst>
          </p:cNvPr>
          <p:cNvCxnSpPr/>
          <p:nvPr/>
        </p:nvCxnSpPr>
        <p:spPr>
          <a:xfrm>
            <a:off x="9408368" y="4782053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24149EC-7E58-4156-967C-91862F876A6C}"/>
              </a:ext>
            </a:extLst>
          </p:cNvPr>
          <p:cNvSpPr txBox="1"/>
          <p:nvPr/>
        </p:nvSpPr>
        <p:spPr>
          <a:xfrm>
            <a:off x="9955716" y="45811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NULL</a:t>
            </a:r>
          </a:p>
        </p:txBody>
      </p:sp>
      <p:cxnSp>
        <p:nvCxnSpPr>
          <p:cNvPr id="44" name="Conector em curva 85">
            <a:extLst>
              <a:ext uri="{FF2B5EF4-FFF2-40B4-BE49-F238E27FC236}">
                <a16:creationId xmlns:a16="http://schemas.microsoft.com/office/drawing/2014/main" id="{0AECC85D-83D0-467B-88EA-0069C10DAE4F}"/>
              </a:ext>
            </a:extLst>
          </p:cNvPr>
          <p:cNvCxnSpPr/>
          <p:nvPr/>
        </p:nvCxnSpPr>
        <p:spPr>
          <a:xfrm rot="10800000">
            <a:off x="7536160" y="4437113"/>
            <a:ext cx="792088" cy="583031"/>
          </a:xfrm>
          <a:prstGeom prst="curved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8B6E00E-EBD7-4C14-A80C-AEFA36A7D362}"/>
              </a:ext>
            </a:extLst>
          </p:cNvPr>
          <p:cNvSpPr txBox="1"/>
          <p:nvPr/>
        </p:nvSpPr>
        <p:spPr>
          <a:xfrm>
            <a:off x="4971856" y="4270452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CBC995E-6D6C-436E-86DB-4C2222A16D49}"/>
              </a:ext>
            </a:extLst>
          </p:cNvPr>
          <p:cNvSpPr txBox="1"/>
          <p:nvPr/>
        </p:nvSpPr>
        <p:spPr>
          <a:xfrm>
            <a:off x="6786797" y="427582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X</a:t>
            </a:r>
            <a:r>
              <a:rPr lang="pt-BR" i="1" baseline="-25000" dirty="0"/>
              <a:t>2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C6AF66E-7CC8-474B-B6F5-4B944F8FB320}"/>
              </a:ext>
            </a:extLst>
          </p:cNvPr>
          <p:cNvSpPr txBox="1"/>
          <p:nvPr/>
        </p:nvSpPr>
        <p:spPr>
          <a:xfrm>
            <a:off x="2960389" y="5166484"/>
            <a:ext cx="79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Frente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E0E419A-EEE5-43C1-B0B9-E13C6733F7DD}"/>
              </a:ext>
            </a:extLst>
          </p:cNvPr>
          <p:cNvSpPr txBox="1"/>
          <p:nvPr/>
        </p:nvSpPr>
        <p:spPr>
          <a:xfrm>
            <a:off x="8591268" y="5184777"/>
            <a:ext cx="55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Tras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38900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5CF47-3E7A-4110-8945-1C7A483A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A5D854-CE24-4C0B-96BC-82A7B7746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Implemente e teste a classe Fila (com vetor e com listas ligadas) estudada nesta aula. </a:t>
            </a:r>
          </a:p>
          <a:p>
            <a:endParaRPr lang="pt-BR" dirty="0"/>
          </a:p>
          <a:p>
            <a:r>
              <a:rPr lang="pt-BR" dirty="0"/>
              <a:t>A partir da classe Fila, Implemente a classe Deque (com vetor e com listas ligadas). Devem ser feitas algumas modificações nos métodos existentes da Fila e a implementação de dois novos métodos para inserir na extremidade “</a:t>
            </a:r>
            <a:r>
              <a:rPr lang="pt-BR" i="1" dirty="0"/>
              <a:t>frente</a:t>
            </a:r>
            <a:r>
              <a:rPr lang="pt-BR" dirty="0"/>
              <a:t>” e remover na extremidade “</a:t>
            </a:r>
            <a:r>
              <a:rPr lang="pt-BR" i="1" dirty="0" err="1"/>
              <a:t>tras</a:t>
            </a:r>
            <a:r>
              <a:rPr lang="pt-BR" dirty="0"/>
              <a:t>”.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91E584-158E-46B1-954A-FA4DFF77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94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3323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95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5306</Words>
  <Application>Microsoft Office PowerPoint</Application>
  <PresentationFormat>Widescreen</PresentationFormat>
  <Paragraphs>1244</Paragraphs>
  <Slides>95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95</vt:i4>
      </vt:variant>
    </vt:vector>
  </HeadingPairs>
  <TitlesOfParts>
    <vt:vector size="101" baseType="lpstr">
      <vt:lpstr>Arial</vt:lpstr>
      <vt:lpstr>Calibri</vt:lpstr>
      <vt:lpstr>Calibri Light</vt:lpstr>
      <vt:lpstr>Cambria Math</vt:lpstr>
      <vt:lpstr>Consolas</vt:lpstr>
      <vt:lpstr>Tema do Office</vt:lpstr>
      <vt:lpstr>TAD - Fila</vt:lpstr>
      <vt:lpstr>Referências</vt:lpstr>
      <vt:lpstr>Filas</vt:lpstr>
      <vt:lpstr>Filas</vt:lpstr>
      <vt:lpstr>Filas</vt:lpstr>
      <vt:lpstr>TAD Filas</vt:lpstr>
      <vt:lpstr>Implementação de Filas por meio de Arranjos</vt:lpstr>
      <vt:lpstr>Implementação de Filas por meio de Arranjos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Propriedade das Filas</vt:lpstr>
      <vt:lpstr>Implementação de Filas por meio de Arranjos</vt:lpstr>
      <vt:lpstr>Implementação de Filas por meio de Arranjos</vt:lpstr>
      <vt:lpstr>Implementação de Filas por meio de Arranjos</vt:lpstr>
      <vt:lpstr>Implementação de Filas por meio de Arranjos</vt:lpstr>
      <vt:lpstr>Implementação de Fila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Implementação de Filas por meio de Estruturas Auto Referenciadas</vt:lpstr>
      <vt:lpstr>Filas usando Estruturas Auto Referenciadas</vt:lpstr>
      <vt:lpstr>Filas usando Estruturas Auto Referenciadas</vt:lpstr>
      <vt:lpstr>Teste da Fila</vt:lpstr>
      <vt:lpstr>Teste da Fila</vt:lpstr>
      <vt:lpstr>Deques</vt:lpstr>
      <vt:lpstr>Deques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(arranjos)</vt:lpstr>
      <vt:lpstr>Deques (lista auto referenciadas)</vt:lpstr>
      <vt:lpstr>Deques (lista auto referenciadas)</vt:lpstr>
      <vt:lpstr>Deques (lista auto referenciadas)</vt:lpstr>
      <vt:lpstr>Deques (lista auto referenciadas)</vt:lpstr>
      <vt:lpstr>Deques (lista auto referenciadas)</vt:lpstr>
      <vt:lpstr>Deques (lista auto referenciadas)</vt:lpstr>
      <vt:lpstr>Deques (lista auto referenciadas)</vt:lpstr>
      <vt:lpstr>Deques (lista auto referenciadas)</vt:lpstr>
      <vt:lpstr>Deques (lista auto referenciadas)</vt:lpstr>
      <vt:lpstr>Deques (lista duplamente ligadas)</vt:lpstr>
      <vt:lpstr>Exercícios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Fila</dc:title>
  <dc:creator>Henrique Silva</dc:creator>
  <cp:lastModifiedBy>Henrique Silva</cp:lastModifiedBy>
  <cp:revision>45</cp:revision>
  <dcterms:created xsi:type="dcterms:W3CDTF">2018-02-11T20:18:47Z</dcterms:created>
  <dcterms:modified xsi:type="dcterms:W3CDTF">2019-08-10T15:33:38Z</dcterms:modified>
</cp:coreProperties>
</file>