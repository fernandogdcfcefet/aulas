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31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94" r:id="rId16"/>
    <p:sldId id="295" r:id="rId17"/>
    <p:sldId id="296" r:id="rId18"/>
    <p:sldId id="270" r:id="rId19"/>
    <p:sldId id="271" r:id="rId20"/>
    <p:sldId id="272" r:id="rId21"/>
    <p:sldId id="273" r:id="rId22"/>
    <p:sldId id="274" r:id="rId23"/>
    <p:sldId id="297" r:id="rId24"/>
    <p:sldId id="298" r:id="rId25"/>
    <p:sldId id="276" r:id="rId26"/>
    <p:sldId id="277" r:id="rId27"/>
    <p:sldId id="299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301" r:id="rId37"/>
    <p:sldId id="302" r:id="rId38"/>
    <p:sldId id="300" r:id="rId39"/>
    <p:sldId id="287" r:id="rId40"/>
    <p:sldId id="303" r:id="rId41"/>
    <p:sldId id="304" r:id="rId42"/>
    <p:sldId id="308" r:id="rId43"/>
    <p:sldId id="310" r:id="rId44"/>
    <p:sldId id="309" r:id="rId45"/>
    <p:sldId id="289" r:id="rId46"/>
    <p:sldId id="290" r:id="rId47"/>
    <p:sldId id="291" r:id="rId48"/>
    <p:sldId id="292" r:id="rId49"/>
    <p:sldId id="306" r:id="rId50"/>
    <p:sldId id="293" r:id="rId5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15" autoAdjust="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0763A-A23E-4256-B67F-01A5D51D7E18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6ED6A-AABC-4080-A9CB-D1030A1C53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8808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https://www.devmedia.com.br/java-object-class-entendendo-a-classe-object/30513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6ED6A-AABC-4080-A9CB-D1030A1C53C4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26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11EFC-9A33-477F-A020-AF88E9B8B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A3A734-049A-42A8-A159-27E46C7A3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8E4A22-B1BC-47E4-B4A4-6EAB4C54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6F6E-BD69-4E14-A59B-82E95B0ABDD0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C3A096-BEB0-423F-8B90-59D77852E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4F20B7-BAAA-4E04-A977-A1C336E4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2457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36A57-060D-4D40-859E-7A4AA5261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FBCB91-2322-420A-BF97-E890F67BA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C4489E-85B9-4AE8-9E3B-493FC656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A2F59-5FD7-4CDC-B2E4-53BCC285EDA3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8C8C52-4F9E-4D9A-BAEF-F94BABCA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B41CC4-B37A-445C-B7B0-259F24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3480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F532E-B708-490C-8525-7923F6AAB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C62EC1-5885-41B5-B0DC-9E613C0CC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3C682D-8151-4193-86BB-A81EFF03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619AE-B67E-460C-95BC-93E886D5E655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1BB731-2D0D-4AF0-9A67-7B3BBAFE0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BEFFC3-F091-4132-B5E2-EFC69214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338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342CE-B9A2-4292-9F3E-C21A57FC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5197F-D91D-4F00-981A-F65466451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9709AE-C610-496E-9166-32BBC69A9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B0107F-D68E-4C9C-8897-93246D22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8D93-EA03-4DB7-97BD-C407DDCF14CD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24C27F-CE3A-4593-A5BF-284A87CCD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517A67-2BAE-45DC-85FC-02808BA9E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6521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64E6B-AC45-49CB-A88A-3BD4D9848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22F7AB-FDF7-4A90-BF48-A5A7033AB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7443BE-DFB1-4DD0-BE64-3EB3E26B0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CC5C587-7002-4A48-8BA1-4454908B5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3DA17D-7CF8-4893-8D85-7644F587E1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4AC2034-1D05-41A1-981E-10B2CAAD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3707A-1CD2-43F9-B5C0-EF097D5F4D64}" type="datetime1">
              <a:rPr lang="pt-BR" smtClean="0"/>
              <a:t>10/08/2019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31CBE3F-1BA1-4062-983F-264BF8156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612E04A-AB0B-4CE0-8177-25792CED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2376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5DEA5-1E60-4846-B62F-748A4658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EAB056B-E473-4E49-ACC1-EE104326E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8207A-C1D1-4FBA-AE69-C09808966D35}" type="datetime1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C4AD132-DFFE-4D0E-B8A8-E943F1F5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87A97E5-CC8C-425B-BF51-183CEF55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941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838D325-8C74-4145-ADCF-7BAF80D9B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7A70-CAB2-4B7F-A774-35771EE7213B}" type="datetime1">
              <a:rPr lang="pt-BR" smtClean="0"/>
              <a:t>10/08/2019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86420C-282C-4FC8-933C-99BF97E1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6473F6-55BF-4B31-BFFC-9A4C27870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2646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29BF0-3A8C-47C8-BA08-54A6BE4FB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B3F7C7-8E2B-4E39-AC87-8D4698748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D71C13-99FC-462F-AACE-A928F47BE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818987-1C3B-48A5-BE16-7C1938776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33A4D-3510-4BF3-AD78-715DA5B59453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3A1646-3271-4B4B-A79D-3A07CFF7D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2557CD-652D-4093-BE6C-4E6492E9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021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C7C39B-F7FF-4ABB-B9F3-DC8BAD45E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179A1B8-629D-4847-98D9-CA8D61D65B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E16D70-F53C-4A37-8555-94ED29874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4565D4-583E-4E05-BDF1-E6C4F5AD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515C3-8888-4732-A64C-AD4605C69B9E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E0A21C-3133-4BF5-A201-E52C80195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4838A5-B42A-4C5B-B962-A7FBD8F5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8138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7C7D16-EB07-4E3D-AEC1-9EC34083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D28815D-955C-478E-93A5-374B66B8B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11BEE5-BCB2-4216-811A-9D8772EF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F64E2-3FFE-45F5-ABFD-23222DB7BE62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F3257D-984F-4FEF-AFD4-279515641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4F532A-936C-46D9-AE72-3BB74E137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957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526625-7279-4889-B801-137DFBA41E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D06F84-B6C5-455A-A1BB-69ABD1971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7EF771-44F3-480A-B8B8-AED2FB86D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7D6A0-AACA-444D-B98E-D22D342A8E09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E72B6A-8420-4318-8F7C-5CBA978B3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4880EB-969B-41D3-8331-708117F57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5425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15750B9-ED88-4627-B962-EF045EC8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3230DE-20E2-4C90-99BA-F43DE6A49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30B4E5-03CA-4A67-93EF-8AA070631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0D536-DC28-4610-B5E8-74B24E47FB85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A8A14C-AA3E-4227-A2A9-9B78799B7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9452CE-0C6B-4C5D-A92C-ABD6AF081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B2643-BBD7-4320-B3DC-96FA131D37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29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://www2.dcc.ufmg.br/livros/algoritmos-java/implementacoes-03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D16D4-E005-4D0C-9908-F530AAEB8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TAD - Pilha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0A62BC-D0C4-41EF-A98E-C7A2DCD6F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CE307B-93DF-4252-A048-BC34BDEE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45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F26DA-75B4-487A-B11B-5D8694948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4D3B92-A177-461C-9DEA-B52FD332C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9141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Material adaptado do livro:</a:t>
            </a:r>
          </a:p>
          <a:p>
            <a:pPr marL="0" indent="0">
              <a:buNone/>
            </a:pPr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Os código presentes nos slides estão disponíveis no site do autor (link no último slide) </a:t>
            </a:r>
          </a:p>
        </p:txBody>
      </p:sp>
      <p:pic>
        <p:nvPicPr>
          <p:cNvPr id="1026" name="Picture 2" descr="http://www2.dcc.ufmg.br/livros/algoritmos-java/imagens/cabecalho-livro.gif">
            <a:extLst>
              <a:ext uri="{FF2B5EF4-FFF2-40B4-BE49-F238E27FC236}">
                <a16:creationId xmlns:a16="http://schemas.microsoft.com/office/drawing/2014/main" id="{8426892B-F111-4D68-B326-E045E17B7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924" y="202826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6D2B7F-8E03-44F5-9925-E282002B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837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Pilhas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aplicações para listas lineares nas quais inserções, retiradas e acessos aos itens ocorrem em um dos extremos da lista.</a:t>
            </a:r>
          </a:p>
          <a:p>
            <a:endParaRPr lang="pt-BR" dirty="0"/>
          </a:p>
          <a:p>
            <a:r>
              <a:rPr lang="pt-BR" dirty="0"/>
              <a:t>Pilha é uma lista linear em que todas as inserções, retiradas e, geralmente, todos os acessos são feitos em apenas um extremo da lista.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3F8B24-F3DC-4ED5-A311-98D439EC3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742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Pilhas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itens são colocados um sobre o outro. O item inserido mais recentemente está no topo e o inserido menos recentemente no fundo.</a:t>
            </a:r>
          </a:p>
          <a:p>
            <a:endParaRPr lang="pt-BR" dirty="0"/>
          </a:p>
          <a:p>
            <a:r>
              <a:rPr lang="pt-BR" dirty="0"/>
              <a:t>O modelo intuitivo é o de um monte de pratos em uma prateleira:</a:t>
            </a:r>
          </a:p>
          <a:p>
            <a:pPr lvl="1"/>
            <a:r>
              <a:rPr lang="pt-BR" dirty="0"/>
              <a:t>É conveniente retirar ou adicionar pratos na parte superior.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393F223-7E14-4002-B4E3-DB120A4DA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4667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Pilhas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último item inserido é o primeiro item que pode ser retirado da lista.</a:t>
            </a:r>
          </a:p>
          <a:p>
            <a:pPr lvl="1"/>
            <a:r>
              <a:rPr lang="en-US" dirty="0" err="1"/>
              <a:t>Chamadas</a:t>
            </a:r>
            <a:r>
              <a:rPr lang="en-US" dirty="0"/>
              <a:t> </a:t>
            </a:r>
            <a:r>
              <a:rPr lang="en-US" dirty="0" err="1"/>
              <a:t>listas</a:t>
            </a:r>
            <a:r>
              <a:rPr lang="en-US" dirty="0"/>
              <a:t> </a:t>
            </a:r>
            <a:r>
              <a:rPr lang="en-US" b="1" dirty="0" err="1"/>
              <a:t>lifo</a:t>
            </a:r>
            <a:r>
              <a:rPr lang="en-US" b="1" dirty="0"/>
              <a:t> </a:t>
            </a:r>
            <a:r>
              <a:rPr lang="en-US" dirty="0"/>
              <a:t>(“last-in, first-out”).</a:t>
            </a:r>
          </a:p>
          <a:p>
            <a:r>
              <a:rPr lang="pt-BR" dirty="0"/>
              <a:t>Existe uma ordem linear para pilhas, do “mais recente para o menos recente”.</a:t>
            </a:r>
          </a:p>
          <a:p>
            <a:r>
              <a:rPr lang="pt-BR" dirty="0"/>
              <a:t>É ideal para processamento de estruturas aninhadas de profundidade imprevisível.</a:t>
            </a:r>
          </a:p>
          <a:p>
            <a:pPr lvl="1"/>
            <a:r>
              <a:rPr lang="pt-BR" dirty="0"/>
              <a:t>A ordem de remoção garante que as estruturas mais internas serão processadas antes das mais externas.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02E577-CC70-47D9-A6ED-67B3AB6C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983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 das Pilhas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Aplicações em estruturas aninhadas:</a:t>
            </a:r>
          </a:p>
          <a:p>
            <a:pPr lvl="1"/>
            <a:r>
              <a:rPr lang="pt-BR" sz="2800" dirty="0"/>
              <a:t>Quando é necessário caminhar em um conjunto de dados e guardar uma lista de coisas a fazer posteriormente.</a:t>
            </a:r>
          </a:p>
          <a:p>
            <a:pPr lvl="2"/>
            <a:r>
              <a:rPr lang="pt-BR" sz="2400" dirty="0"/>
              <a:t>O controle de sequências de chamadas de subprogramas.</a:t>
            </a:r>
          </a:p>
          <a:p>
            <a:pPr lvl="2"/>
            <a:r>
              <a:rPr lang="pt-BR" sz="2400" dirty="0"/>
              <a:t>A sintaxe de expressões aritméticas.</a:t>
            </a:r>
          </a:p>
          <a:p>
            <a:r>
              <a:rPr lang="pt-BR" sz="3200" dirty="0"/>
              <a:t>São utilizadas para implementar a recursividade.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7EB780-ACBB-43D2-A281-9E4CA27B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8319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 das Pilhas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6744072" y="2420888"/>
            <a:ext cx="1728192" cy="331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216287" y="205155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647728" y="5363924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 Vazia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5231904" y="5548590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5799FE65-B3D2-44A6-A09B-5610B8E5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915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 das Pilhas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6744072" y="2420888"/>
            <a:ext cx="1728192" cy="331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816080" y="5157192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7392144" y="522920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216287" y="205155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2135561" y="5230942"/>
            <a:ext cx="3135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Inserção do primeiro elemento </a:t>
            </a:r>
          </a:p>
          <a:p>
            <a:r>
              <a:rPr lang="pt-BR" dirty="0"/>
              <a:t>(topo da pilha)</a:t>
            </a:r>
          </a:p>
        </p:txBody>
      </p:sp>
      <p:cxnSp>
        <p:nvCxnSpPr>
          <p:cNvPr id="18" name="Conector de seta reta 17"/>
          <p:cNvCxnSpPr/>
          <p:nvPr/>
        </p:nvCxnSpPr>
        <p:spPr>
          <a:xfrm>
            <a:off x="5231904" y="5548590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1991544" y="1663261"/>
            <a:ext cx="5058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pt-BR" sz="2800" dirty="0"/>
              <a:t>Inserção de elementos da Pilha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89CBC2-2C5A-4975-9712-AE774DE8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1423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 das Pilhas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6744072" y="2420888"/>
            <a:ext cx="1728192" cy="331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816080" y="5157192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6816080" y="4581128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7392144" y="522920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392144" y="4653136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216287" y="205155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cxnSp>
        <p:nvCxnSpPr>
          <p:cNvPr id="18" name="Conector de seta reta 17"/>
          <p:cNvCxnSpPr/>
          <p:nvPr/>
        </p:nvCxnSpPr>
        <p:spPr>
          <a:xfrm>
            <a:off x="5231904" y="5548590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3653958" y="4725144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cxnSp>
        <p:nvCxnSpPr>
          <p:cNvPr id="22" name="Conector de seta reta 21"/>
          <p:cNvCxnSpPr/>
          <p:nvPr/>
        </p:nvCxnSpPr>
        <p:spPr>
          <a:xfrm>
            <a:off x="5231904" y="4941168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991544" y="1663261"/>
            <a:ext cx="5058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pt-BR" sz="2800" dirty="0"/>
              <a:t>Inserção de elementos da Pilha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07B5398-0CA6-4A37-88AC-3F2DE4E64542}"/>
              </a:ext>
            </a:extLst>
          </p:cNvPr>
          <p:cNvSpPr txBox="1"/>
          <p:nvPr/>
        </p:nvSpPr>
        <p:spPr>
          <a:xfrm>
            <a:off x="3003982" y="5363924"/>
            <a:ext cx="1939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Primeiro elemento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C03E781-5607-49F6-BEA4-BEDE1C7AC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412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 das Pilhas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6744072" y="2420888"/>
            <a:ext cx="1728192" cy="331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816080" y="5157192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6816080" y="4581128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6816080" y="4005064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7392144" y="522920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392144" y="4653136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7392144" y="407707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216287" y="205155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3653958" y="4077072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cxnSp>
        <p:nvCxnSpPr>
          <p:cNvPr id="20" name="Conector de seta reta 19"/>
          <p:cNvCxnSpPr/>
          <p:nvPr/>
        </p:nvCxnSpPr>
        <p:spPr>
          <a:xfrm>
            <a:off x="5231904" y="4293096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>
            <a:off x="5231904" y="5548590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991544" y="1663261"/>
            <a:ext cx="5058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pt-BR" sz="2800" dirty="0"/>
              <a:t>Inserção de elementos da Pilha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862EF64-DC22-45B9-A27A-E427EB705343}"/>
              </a:ext>
            </a:extLst>
          </p:cNvPr>
          <p:cNvSpPr txBox="1"/>
          <p:nvPr/>
        </p:nvSpPr>
        <p:spPr>
          <a:xfrm>
            <a:off x="3003982" y="5363924"/>
            <a:ext cx="1939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Primeiro elemento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9B78EC8-6DB7-453D-94F0-CAEFA04DD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8693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 das Pilhas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6744072" y="2420888"/>
            <a:ext cx="1728192" cy="331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816080" y="5157192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6816080" y="4581128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6816080" y="4005064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6816080" y="3429000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7392144" y="522920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392144" y="4653136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7392144" y="407707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7392144" y="3501008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  <a:r>
              <a:rPr lang="pt-BR" i="1" dirty="0"/>
              <a:t> </a:t>
            </a:r>
            <a:endParaRPr lang="pt-BR" i="1" baseline="-25000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7216287" y="205155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3653958" y="350100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cxnSp>
        <p:nvCxnSpPr>
          <p:cNvPr id="20" name="Conector de seta reta 19"/>
          <p:cNvCxnSpPr/>
          <p:nvPr/>
        </p:nvCxnSpPr>
        <p:spPr>
          <a:xfrm>
            <a:off x="5231904" y="3717032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>
            <a:off x="5231904" y="5548590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991544" y="1663261"/>
            <a:ext cx="5058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pt-BR" sz="2800" dirty="0"/>
              <a:t>Inserção de elementos da Pilha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3595E17-AF46-42AA-8241-C7A58F952EE3}"/>
              </a:ext>
            </a:extLst>
          </p:cNvPr>
          <p:cNvSpPr txBox="1"/>
          <p:nvPr/>
        </p:nvSpPr>
        <p:spPr>
          <a:xfrm>
            <a:off x="3003982" y="5363924"/>
            <a:ext cx="1939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Primeiro elemento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20F029C-3A59-4A97-BE8B-A042E038A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633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 das Pilhas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6744072" y="2420888"/>
            <a:ext cx="1728192" cy="331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816080" y="5157192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6816080" y="4581128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6816080" y="4005064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6816080" y="3429000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6816080" y="2852936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7392144" y="522920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392144" y="4653136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7392144" y="407707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7392144" y="3501008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  <a:r>
              <a:rPr lang="pt-BR" i="1" dirty="0"/>
              <a:t> </a:t>
            </a:r>
            <a:endParaRPr lang="pt-BR" i="1" baseline="-25000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7392144" y="2924944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216287" y="205155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653958" y="2924944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cxnSp>
        <p:nvCxnSpPr>
          <p:cNvPr id="18" name="Conector de seta reta 17"/>
          <p:cNvCxnSpPr/>
          <p:nvPr/>
        </p:nvCxnSpPr>
        <p:spPr>
          <a:xfrm>
            <a:off x="5231904" y="3140968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>
            <a:off x="5231904" y="5548590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1991544" y="1663261"/>
            <a:ext cx="5058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pt-BR" sz="2800" dirty="0"/>
              <a:t>Inserção de elementos da Pilha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8A35B6C-1463-479C-8E6B-5642DDA6C585}"/>
              </a:ext>
            </a:extLst>
          </p:cNvPr>
          <p:cNvSpPr txBox="1"/>
          <p:nvPr/>
        </p:nvSpPr>
        <p:spPr>
          <a:xfrm>
            <a:off x="3003982" y="5363924"/>
            <a:ext cx="1939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Primeiro elemento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59D689F9-F8F5-46A3-8613-EBFE613A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143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 das Pilhas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6744072" y="2420888"/>
            <a:ext cx="1728192" cy="331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816080" y="5157192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6816080" y="4581128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6816080" y="4005064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6816080" y="3429000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7392144" y="522920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392144" y="4653136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7392144" y="407707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7392144" y="3501008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  <a:r>
              <a:rPr lang="pt-BR" i="1" dirty="0"/>
              <a:t> </a:t>
            </a:r>
            <a:endParaRPr lang="pt-BR" i="1" baseline="-25000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7216287" y="205155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653958" y="350100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cxnSp>
        <p:nvCxnSpPr>
          <p:cNvPr id="18" name="Conector de seta reta 17"/>
          <p:cNvCxnSpPr/>
          <p:nvPr/>
        </p:nvCxnSpPr>
        <p:spPr>
          <a:xfrm>
            <a:off x="5231904" y="3717032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>
            <a:off x="5231904" y="5548590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1991543" y="1663261"/>
            <a:ext cx="5184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pt-BR" sz="2800" dirty="0"/>
              <a:t>Remoção de elementos da Pilha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B12E00E-CA23-4B51-9420-DC5618EC4CBF}"/>
              </a:ext>
            </a:extLst>
          </p:cNvPr>
          <p:cNvSpPr txBox="1"/>
          <p:nvPr/>
        </p:nvSpPr>
        <p:spPr>
          <a:xfrm>
            <a:off x="3003982" y="5363924"/>
            <a:ext cx="1939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Primeiro elemento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D5DE7E2-54F0-4DCF-B697-F9A05FC9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2456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 das Pilhas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6744072" y="2420888"/>
            <a:ext cx="1728192" cy="331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816080" y="5157192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6816080" y="4581128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6816080" y="4005064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7392144" y="522920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392144" y="4653136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7392144" y="407707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216287" y="205155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653958" y="4067780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cxnSp>
        <p:nvCxnSpPr>
          <p:cNvPr id="18" name="Conector de seta reta 17"/>
          <p:cNvCxnSpPr/>
          <p:nvPr/>
        </p:nvCxnSpPr>
        <p:spPr>
          <a:xfrm>
            <a:off x="5231904" y="4283804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3003982" y="5363924"/>
            <a:ext cx="1939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Primeiro elemento</a:t>
            </a:r>
          </a:p>
        </p:txBody>
      </p:sp>
      <p:cxnSp>
        <p:nvCxnSpPr>
          <p:cNvPr id="20" name="Conector de seta reta 19"/>
          <p:cNvCxnSpPr/>
          <p:nvPr/>
        </p:nvCxnSpPr>
        <p:spPr>
          <a:xfrm>
            <a:off x="5231904" y="5548590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1991543" y="1663261"/>
            <a:ext cx="5184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pt-BR" sz="2800" dirty="0"/>
              <a:t>Remoção de elementos da Pilha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478A911-F3AF-4D33-9A5F-A74F47F5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6810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 das Pilhas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6744072" y="2420888"/>
            <a:ext cx="1728192" cy="331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816080" y="5157192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6816080" y="4581128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7392144" y="522920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392144" y="4653136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216287" y="205155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3003982" y="5363924"/>
            <a:ext cx="1939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Primeiro elemento</a:t>
            </a:r>
          </a:p>
        </p:txBody>
      </p:sp>
      <p:cxnSp>
        <p:nvCxnSpPr>
          <p:cNvPr id="20" name="Conector de seta reta 19"/>
          <p:cNvCxnSpPr/>
          <p:nvPr/>
        </p:nvCxnSpPr>
        <p:spPr>
          <a:xfrm>
            <a:off x="5231904" y="5548590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1991543" y="1663261"/>
            <a:ext cx="5184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pt-BR" sz="2800" dirty="0"/>
              <a:t>Remoção de elementos da Pilha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EDA2D76-F8D7-487F-AA62-705A4792E206}"/>
              </a:ext>
            </a:extLst>
          </p:cNvPr>
          <p:cNvSpPr txBox="1"/>
          <p:nvPr/>
        </p:nvSpPr>
        <p:spPr>
          <a:xfrm>
            <a:off x="3653958" y="4725144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cxnSp>
        <p:nvCxnSpPr>
          <p:cNvPr id="23" name="Conector de seta reta 21">
            <a:extLst>
              <a:ext uri="{FF2B5EF4-FFF2-40B4-BE49-F238E27FC236}">
                <a16:creationId xmlns:a16="http://schemas.microsoft.com/office/drawing/2014/main" id="{E90C3E94-B310-453B-AC3E-76A0CC711D5E}"/>
              </a:ext>
            </a:extLst>
          </p:cNvPr>
          <p:cNvCxnSpPr/>
          <p:nvPr/>
        </p:nvCxnSpPr>
        <p:spPr>
          <a:xfrm>
            <a:off x="5231904" y="4941168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6DF9AB8-9939-4A35-BDBC-71149A4C9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9252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 das Pilhas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6744072" y="2420888"/>
            <a:ext cx="1728192" cy="331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816080" y="5157192"/>
            <a:ext cx="158417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7392144" y="522920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216287" y="205155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cxnSp>
        <p:nvCxnSpPr>
          <p:cNvPr id="20" name="Conector de seta reta 19"/>
          <p:cNvCxnSpPr/>
          <p:nvPr/>
        </p:nvCxnSpPr>
        <p:spPr>
          <a:xfrm>
            <a:off x="5231904" y="5548590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1991543" y="1663261"/>
            <a:ext cx="5184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pt-BR" sz="2800" dirty="0"/>
              <a:t>Remoção de elementos da Pilha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D5C171B-71B8-4BB1-AAF4-306253010F62}"/>
              </a:ext>
            </a:extLst>
          </p:cNvPr>
          <p:cNvSpPr txBox="1"/>
          <p:nvPr/>
        </p:nvSpPr>
        <p:spPr>
          <a:xfrm>
            <a:off x="3137888" y="5230942"/>
            <a:ext cx="1995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primeiro elemento </a:t>
            </a:r>
          </a:p>
          <a:p>
            <a:pPr algn="ctr"/>
            <a:r>
              <a:rPr lang="pt-BR" dirty="0"/>
              <a:t>(topo da pilha)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EF98645-B259-4FB7-B3E4-C5BD3FE54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9176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 das Pilhas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6744072" y="2420888"/>
            <a:ext cx="1728192" cy="331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216287" y="205155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647728" y="5363924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 Vazia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5231904" y="5548590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37516BF-4A13-4386-8063-5465C653D394}"/>
              </a:ext>
            </a:extLst>
          </p:cNvPr>
          <p:cNvSpPr txBox="1"/>
          <p:nvPr/>
        </p:nvSpPr>
        <p:spPr>
          <a:xfrm>
            <a:off x="1991543" y="1663261"/>
            <a:ext cx="5184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pt-BR" sz="2800" dirty="0"/>
              <a:t>Remoção de elementos da Pilha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269D0EA-C2F6-4524-8C2E-5D1BF912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3197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TAD Pilhas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Conjunto de operações:</a:t>
                </a:r>
              </a:p>
              <a:p>
                <a:pPr lvl="1"/>
                <a:r>
                  <a:rPr lang="pt-BR" dirty="0"/>
                  <a:t>Cria uma pilha Vazia.</a:t>
                </a:r>
              </a:p>
              <a:p>
                <a:pPr lvl="1"/>
                <a:r>
                  <a:rPr lang="pt-BR" dirty="0"/>
                  <a:t>Verifica se a lista está vazia. Retorna </a:t>
                </a:r>
                <a:r>
                  <a:rPr lang="pt-BR" i="1" dirty="0" err="1"/>
                  <a:t>true</a:t>
                </a:r>
                <a:r>
                  <a:rPr lang="pt-BR" i="1" dirty="0"/>
                  <a:t> </a:t>
                </a:r>
                <a:r>
                  <a:rPr lang="pt-BR" dirty="0"/>
                  <a:t>se a pilha está vazia; caso contrário, retorna </a:t>
                </a:r>
                <a:r>
                  <a:rPr lang="pt-BR" i="1" dirty="0"/>
                  <a:t>false</a:t>
                </a:r>
                <a:r>
                  <a:rPr lang="pt-BR" dirty="0"/>
                  <a:t>.</a:t>
                </a:r>
              </a:p>
              <a:p>
                <a:pPr lvl="1"/>
                <a:r>
                  <a:rPr lang="pt-BR" dirty="0"/>
                  <a:t>Empilhar o item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 no topo da pilha.</a:t>
                </a:r>
              </a:p>
              <a:p>
                <a:pPr lvl="1"/>
                <a:r>
                  <a:rPr lang="pt-BR" dirty="0"/>
                  <a:t>Desempilhar o item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 no topo da pilha, retirando-o da pilha.</a:t>
                </a:r>
              </a:p>
              <a:p>
                <a:pPr lvl="1"/>
                <a:r>
                  <a:rPr lang="pt-BR" dirty="0"/>
                  <a:t>Verificar o tamanho atual da pilha.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73559E7-D327-41FC-AF21-F45EC0C71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742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TAD Pilhas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várias opções de estruturas de dados que podem ser usadas para representar pilhas.</a:t>
            </a:r>
          </a:p>
          <a:p>
            <a:r>
              <a:rPr lang="pt-BR" dirty="0"/>
              <a:t>Representações mais utilizadas:</a:t>
            </a:r>
          </a:p>
          <a:p>
            <a:pPr lvl="1"/>
            <a:r>
              <a:rPr lang="pt-BR" dirty="0"/>
              <a:t>Por meio de </a:t>
            </a:r>
            <a:r>
              <a:rPr lang="pt-BR" i="1" dirty="0"/>
              <a:t>arranjos e</a:t>
            </a:r>
          </a:p>
          <a:p>
            <a:pPr lvl="1"/>
            <a:r>
              <a:rPr lang="pt-BR" i="1" dirty="0"/>
              <a:t>Estruturas auto referenciadas </a:t>
            </a:r>
            <a:r>
              <a:rPr lang="pt-BR" dirty="0"/>
              <a:t>(listas ligadas ou encadeadas).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4DB56C-9023-491C-802C-963AC596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866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Implementação de Pilhas por meio de Arranjos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2332856"/>
          </a:xfrm>
        </p:spPr>
        <p:txBody>
          <a:bodyPr/>
          <a:lstStyle/>
          <a:p>
            <a:r>
              <a:rPr lang="pt-BR" dirty="0"/>
              <a:t>Os itens da pilha são armazenados em posições contíguas de memória</a:t>
            </a:r>
          </a:p>
          <a:p>
            <a:r>
              <a:rPr lang="pt-BR" dirty="0"/>
              <a:t>Inserções e as retiradas ocorrem no topo da pilha: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128" y="3717032"/>
            <a:ext cx="2447925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2423593" y="3645024"/>
            <a:ext cx="43924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>
              <a:buFont typeface="Arial" pitchFamily="34" charset="0"/>
              <a:buChar char="•"/>
            </a:pPr>
            <a:r>
              <a:rPr lang="pt-BR" sz="2800" dirty="0"/>
              <a:t>Uso de um cursor chamado </a:t>
            </a:r>
            <a:r>
              <a:rPr lang="pt-BR" sz="2800" b="1" dirty="0"/>
              <a:t>Topo</a:t>
            </a:r>
            <a:r>
              <a:rPr lang="pt-BR" sz="2800" dirty="0"/>
              <a:t> para controlar a posição do item no topo da pilha.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3EB6D469-C4A3-4F66-ABD7-08DEC38CF94B}"/>
              </a:ext>
            </a:extLst>
          </p:cNvPr>
          <p:cNvCxnSpPr/>
          <p:nvPr/>
        </p:nvCxnSpPr>
        <p:spPr>
          <a:xfrm>
            <a:off x="10032023" y="3868615"/>
            <a:ext cx="0" cy="1424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70B6306-FCC6-440D-A029-DDE4256ED097}"/>
              </a:ext>
            </a:extLst>
          </p:cNvPr>
          <p:cNvSpPr txBox="1"/>
          <p:nvPr/>
        </p:nvSpPr>
        <p:spPr>
          <a:xfrm>
            <a:off x="10348547" y="3933057"/>
            <a:ext cx="14155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Direção de inserção da pilha da figura ao lado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0556746-623A-4193-A2B4-180855E01FEE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212597D-9E47-44CE-B064-378A4A2D4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4204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Implementação de Pilhas por meio de Arranjos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Itens são armazenados em um arranjo de tamanho suficiente para conter a pilha.</a:t>
            </a:r>
          </a:p>
          <a:p>
            <a:endParaRPr lang="pt-BR" dirty="0"/>
          </a:p>
          <a:p>
            <a:r>
              <a:rPr lang="pt-BR" dirty="0"/>
              <a:t>O outro campo do mesmo registro contém uma referência para o item no topo da pilha</a:t>
            </a:r>
          </a:p>
          <a:p>
            <a:endParaRPr lang="pt-BR" dirty="0"/>
          </a:p>
          <a:p>
            <a:r>
              <a:rPr lang="pt-BR" dirty="0"/>
              <a:t>Uma constante define o </a:t>
            </a:r>
            <a:r>
              <a:rPr lang="pt-BR" b="1" dirty="0"/>
              <a:t>tamanho máximo </a:t>
            </a:r>
            <a:r>
              <a:rPr lang="pt-BR" dirty="0"/>
              <a:t>permitido para a pilha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9F30A78-3F64-42C3-9220-7A161C048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092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Implementação de Pilhas por meio de Arranjos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27B3485-2A8E-4043-951A-EF18DC22D040}"/>
              </a:ext>
            </a:extLst>
          </p:cNvPr>
          <p:cNvSpPr/>
          <p:nvPr/>
        </p:nvSpPr>
        <p:spPr>
          <a:xfrm>
            <a:off x="838200" y="1393825"/>
            <a:ext cx="650337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600" dirty="0">
              <a:latin typeface="Consolas" panose="020B0609020204030204" pitchFamily="49" charset="0"/>
            </a:endParaRPr>
          </a:p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Pilha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Pilha () {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Object[1000];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Pilha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maxTam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Object[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maxTam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empilha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(Object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pilha esta cheia"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++] =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endParaRPr lang="pt-BR" sz="1600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FBFD74AC-AED0-4F02-B514-5956CB2A85DF}"/>
              </a:ext>
            </a:extLst>
          </p:cNvPr>
          <p:cNvCxnSpPr/>
          <p:nvPr/>
        </p:nvCxnSpPr>
        <p:spPr>
          <a:xfrm flipH="1">
            <a:off x="3859823" y="1994645"/>
            <a:ext cx="1266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3F4551C6-6ECF-4BB1-B77B-3295F80B5D14}"/>
              </a:ext>
            </a:extLst>
          </p:cNvPr>
          <p:cNvSpPr txBox="1"/>
          <p:nvPr/>
        </p:nvSpPr>
        <p:spPr>
          <a:xfrm>
            <a:off x="5272281" y="1809979"/>
            <a:ext cx="5375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Estrutura (Vetor) do tipo </a:t>
            </a:r>
            <a:r>
              <a:rPr lang="pt-BR" dirty="0" err="1"/>
              <a:t>Object</a:t>
            </a:r>
            <a:r>
              <a:rPr lang="pt-BR" dirty="0"/>
              <a:t> (tipo genérico em Java)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7F1C4C8F-91A8-4849-933B-B0DCC4463B1A}"/>
              </a:ext>
            </a:extLst>
          </p:cNvPr>
          <p:cNvCxnSpPr/>
          <p:nvPr/>
        </p:nvCxnSpPr>
        <p:spPr>
          <a:xfrm flipH="1">
            <a:off x="3859823" y="2346937"/>
            <a:ext cx="1266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B75B6455-C634-4214-9C05-BB229FB5BE63}"/>
              </a:ext>
            </a:extLst>
          </p:cNvPr>
          <p:cNvSpPr txBox="1"/>
          <p:nvPr/>
        </p:nvSpPr>
        <p:spPr>
          <a:xfrm>
            <a:off x="5272281" y="2162271"/>
            <a:ext cx="5375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Variável que controla (armazena) a posição do elemento do topo da pilha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204AEFBD-6AD5-45DA-A77F-0B0779C08AA6}"/>
              </a:ext>
            </a:extLst>
          </p:cNvPr>
          <p:cNvCxnSpPr/>
          <p:nvPr/>
        </p:nvCxnSpPr>
        <p:spPr>
          <a:xfrm flipH="1">
            <a:off x="6405798" y="3064113"/>
            <a:ext cx="1266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678840B-A715-4443-96FB-A4BB53AFDFA5}"/>
              </a:ext>
            </a:extLst>
          </p:cNvPr>
          <p:cNvSpPr txBox="1"/>
          <p:nvPr/>
        </p:nvSpPr>
        <p:spPr>
          <a:xfrm>
            <a:off x="7701715" y="2779972"/>
            <a:ext cx="4508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Construtor: cria uma pilha vazia com tamanho máximo definido. Observe que quando a pilha está vazia “topo” é igual a zero.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0EAD96B6-4964-4536-80E3-37678857B880}"/>
              </a:ext>
            </a:extLst>
          </p:cNvPr>
          <p:cNvCxnSpPr/>
          <p:nvPr/>
        </p:nvCxnSpPr>
        <p:spPr>
          <a:xfrm flipH="1">
            <a:off x="6611988" y="4032301"/>
            <a:ext cx="1266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2657122-0602-4C47-A2D7-DB47E0AFFF20}"/>
              </a:ext>
            </a:extLst>
          </p:cNvPr>
          <p:cNvSpPr txBox="1"/>
          <p:nvPr/>
        </p:nvSpPr>
        <p:spPr>
          <a:xfrm>
            <a:off x="7960036" y="3784019"/>
            <a:ext cx="3719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Construtor: cria uma pilha vazia com tamanho máximo definido pelo usuário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5438013C-7F25-40EC-96BC-3821B92B1083}"/>
              </a:ext>
            </a:extLst>
          </p:cNvPr>
          <p:cNvCxnSpPr/>
          <p:nvPr/>
        </p:nvCxnSpPr>
        <p:spPr>
          <a:xfrm flipH="1">
            <a:off x="7245034" y="5251501"/>
            <a:ext cx="1266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A284BBE-72F8-4F31-A249-219E53D1DDA8}"/>
              </a:ext>
            </a:extLst>
          </p:cNvPr>
          <p:cNvSpPr txBox="1"/>
          <p:nvPr/>
        </p:nvSpPr>
        <p:spPr>
          <a:xfrm>
            <a:off x="8593082" y="5003219"/>
            <a:ext cx="3719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Método empilha: empilha novo item se houver espaço na pilha. Observe que a cada novo elemento inserido, “topo” é incrementado.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0A5D24A-A1CD-4C87-AFE7-B7CC44FAAC08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A0E2A3-1652-471F-91EC-F4BAE71E6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4227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Implementação de Pilhas por meio de Arranjos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3293DDB-5511-4B21-AD63-27590E7C8958}"/>
              </a:ext>
            </a:extLst>
          </p:cNvPr>
          <p:cNvSpPr/>
          <p:nvPr/>
        </p:nvSpPr>
        <p:spPr>
          <a:xfrm>
            <a:off x="838200" y="1690688"/>
            <a:ext cx="7162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desempilha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pilha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   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[--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vazia ()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0);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tamanho ()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337C2EC-E99F-4636-8D66-4C17313EBE88}"/>
              </a:ext>
            </a:extLst>
          </p:cNvPr>
          <p:cNvCxnSpPr/>
          <p:nvPr/>
        </p:nvCxnSpPr>
        <p:spPr>
          <a:xfrm flipH="1">
            <a:off x="6551648" y="1906806"/>
            <a:ext cx="1266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5AE23796-B76C-46E9-831D-C617709FC835}"/>
              </a:ext>
            </a:extLst>
          </p:cNvPr>
          <p:cNvSpPr txBox="1"/>
          <p:nvPr/>
        </p:nvSpPr>
        <p:spPr>
          <a:xfrm>
            <a:off x="7899696" y="1658524"/>
            <a:ext cx="37193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Método desempilha: desempilha o item do topo se a pilha não estiver vazia (quando topo é igual a zero). Observe que a cada elemento removido, “topo” é decrementado. 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B923122A-ABD1-4181-8147-6B783F3F0602}"/>
              </a:ext>
            </a:extLst>
          </p:cNvPr>
          <p:cNvCxnSpPr/>
          <p:nvPr/>
        </p:nvCxnSpPr>
        <p:spPr>
          <a:xfrm flipH="1">
            <a:off x="4310472" y="3623521"/>
            <a:ext cx="1266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3059AF93-9199-4AEE-BD08-C816B6030341}"/>
              </a:ext>
            </a:extLst>
          </p:cNvPr>
          <p:cNvSpPr txBox="1"/>
          <p:nvPr/>
        </p:nvSpPr>
        <p:spPr>
          <a:xfrm>
            <a:off x="5694379" y="3412867"/>
            <a:ext cx="371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Retorna </a:t>
            </a:r>
            <a:r>
              <a:rPr lang="pt-BR" i="1" dirty="0" err="1"/>
              <a:t>true</a:t>
            </a:r>
            <a:r>
              <a:rPr lang="pt-BR" dirty="0"/>
              <a:t> se a pilha estiver vazia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2CA73C0-0309-414B-ADEB-EE55286A149B}"/>
              </a:ext>
            </a:extLst>
          </p:cNvPr>
          <p:cNvCxnSpPr/>
          <p:nvPr/>
        </p:nvCxnSpPr>
        <p:spPr>
          <a:xfrm flipH="1">
            <a:off x="3754660" y="4601613"/>
            <a:ext cx="1266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9D6F494D-F324-49E1-96F8-34DCA1B5FAC7}"/>
              </a:ext>
            </a:extLst>
          </p:cNvPr>
          <p:cNvSpPr txBox="1"/>
          <p:nvPr/>
        </p:nvSpPr>
        <p:spPr>
          <a:xfrm>
            <a:off x="5138567" y="4390959"/>
            <a:ext cx="3719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Retorna </a:t>
            </a:r>
            <a:r>
              <a:rPr lang="pt-BR" i="1" dirty="0"/>
              <a:t>a quantidade</a:t>
            </a:r>
            <a:r>
              <a:rPr lang="pt-BR" dirty="0"/>
              <a:t> de elementos da pilha.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894A765-52C2-4941-8335-A3FE093DC9C9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4EA279FB-52D4-4E56-B609-A8C3527BA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1801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794BE-02A1-4202-BDA5-BC37C6053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5620"/>
            <a:ext cx="10515600" cy="1325563"/>
          </a:xfrm>
        </p:spPr>
        <p:txBody>
          <a:bodyPr/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334DC3D-D158-4AB1-B0DB-C38CE13A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8595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dirty="0"/>
                  <a:t>Ao contrário da implementação de listas lineares, por meio e estruturas auto referenciadas não há necessidade de manter uma célula </a:t>
                </a:r>
                <a:r>
                  <a:rPr lang="pt-BR" i="1" dirty="0" err="1"/>
                  <a:t>head</a:t>
                </a:r>
                <a:r>
                  <a:rPr lang="pt-BR" dirty="0"/>
                  <a:t>: </a:t>
                </a:r>
              </a:p>
              <a:p>
                <a:pPr lvl="1"/>
                <a:r>
                  <a:rPr lang="pt-BR" dirty="0"/>
                  <a:t>Mantem-se o controle pelo topo da pilha.</a:t>
                </a:r>
              </a:p>
              <a:p>
                <a:endParaRPr lang="pt-BR" dirty="0"/>
              </a:p>
              <a:p>
                <a:r>
                  <a:rPr lang="pt-BR" dirty="0"/>
                  <a:t>Para desempilhar um item, basta “desconectar” a célula que contém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dirty="0"/>
                  <a:t> e a célula que contém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pt-BR" dirty="0"/>
                  <a:t> passa a ser a célula de topo.</a:t>
                </a:r>
              </a:p>
              <a:p>
                <a:endParaRPr lang="pt-BR" dirty="0"/>
              </a:p>
              <a:p>
                <a:r>
                  <a:rPr lang="pt-BR" dirty="0"/>
                  <a:t>Não há mais controle sobre o tamanho máximo da pilha, que pode crescer enquanto houver memória disponível no sistema.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0B2725-2A16-4214-9616-2E06E0BFB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547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684784"/>
          </a:xfrm>
        </p:spPr>
        <p:txBody>
          <a:bodyPr/>
          <a:lstStyle/>
          <a:p>
            <a:r>
              <a:rPr lang="pt-BR" dirty="0"/>
              <a:t>Para empilhar um novo item, basta fazer a operação contrária, criando uma nova célula para receber o novo item.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3012590"/>
            <a:ext cx="2400300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B2243AC-0FD5-4BD9-B7B0-B97AD796A6BF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2C4E0C-4ACD-4E71-9DE8-29A282763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37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Pilha com apenas um elemento:</a:t>
            </a:r>
          </a:p>
        </p:txBody>
      </p:sp>
      <p:sp>
        <p:nvSpPr>
          <p:cNvPr id="4" name="Elipse 3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/>
          <p:cNvCxnSpPr>
            <a:stCxn id="4" idx="2"/>
            <a:endCxn id="4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10" name="Conector de seta reta 9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FE66F5A-5157-4FEF-BFC2-762ED7CE6587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87388F7-E2CF-44AE-80B6-46F4B3397470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590567A-3CC1-44FB-856B-816685D18657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34C6AA9-1085-4811-B279-2CCDBA19941E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61B6C7B-53D1-489A-9940-2891B1208773}"/>
              </a:ext>
            </a:extLst>
          </p:cNvPr>
          <p:cNvSpPr txBox="1"/>
          <p:nvPr/>
        </p:nvSpPr>
        <p:spPr>
          <a:xfrm>
            <a:off x="9734111" y="4198877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64CFAA1-EA59-43C0-AA8D-CE5B1326E5D8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1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EFB1430-D1EA-44CB-B571-E3A33C60A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27</a:t>
            </a:fld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DF38C22-76A6-4AAD-9BAA-52F2D18C9588}"/>
              </a:ext>
            </a:extLst>
          </p:cNvPr>
          <p:cNvSpPr txBox="1"/>
          <p:nvPr/>
        </p:nvSpPr>
        <p:spPr>
          <a:xfrm>
            <a:off x="3044480" y="4365104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0A3A803-E121-4C0A-964D-7F9C83CC6DDF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80632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12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Inserção de novos elementos na pilha (empilha):</a:t>
            </a:r>
          </a:p>
        </p:txBody>
      </p:sp>
      <p:sp>
        <p:nvSpPr>
          <p:cNvPr id="15" name="Elipse 14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" name="Conector reto 15"/>
          <p:cNvCxnSpPr>
            <a:stCxn id="15" idx="2"/>
            <a:endCxn id="15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3044480" y="4365104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cxnSp>
        <p:nvCxnSpPr>
          <p:cNvPr id="20" name="Conector de seta reta 19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090579" y="4571836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FF0000"/>
                </a:solidFill>
              </a:rPr>
              <a:t>aux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B504B1C-5E68-4510-BB4A-80164AA188A6}"/>
              </a:ext>
            </a:extLst>
          </p:cNvPr>
          <p:cNvSpPr/>
          <p:nvPr/>
        </p:nvSpPr>
        <p:spPr>
          <a:xfrm>
            <a:off x="7735880" y="4880193"/>
            <a:ext cx="44561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empilha (Object </a:t>
            </a:r>
            <a:r>
              <a:rPr lang="fr-F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this.topo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0ED539D-2338-4D23-96AC-A2F8297AB071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76D4A7E-15D7-47EC-B5E6-AAF83BBAC5AF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DB869F5-54A3-418D-886E-CF3C7344BE63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ECB9564-7057-46AF-9A83-ECCFA94F4056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4475EA9-F744-41B5-9126-F39F0F2216C6}"/>
              </a:ext>
            </a:extLst>
          </p:cNvPr>
          <p:cNvSpPr txBox="1"/>
          <p:nvPr/>
        </p:nvSpPr>
        <p:spPr>
          <a:xfrm>
            <a:off x="9734111" y="4198877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DE48024-5952-4CA0-92A7-C88341F27984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8AD2FB-724D-4668-8444-59C49C46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28</a:t>
            </a:fld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C4DFF5B-184E-4906-82EF-D628C0821B87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900085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Inserção de novos elementos na pilha (empilha):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799856" y="4365104"/>
            <a:ext cx="624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48718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542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3036790" y="436510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aux</a:t>
            </a:r>
            <a:endParaRPr lang="pt-BR" dirty="0"/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F079268-D6B8-4A1D-9296-26C77E424F8A}"/>
              </a:ext>
            </a:extLst>
          </p:cNvPr>
          <p:cNvSpPr/>
          <p:nvPr/>
        </p:nvSpPr>
        <p:spPr>
          <a:xfrm>
            <a:off x="7735880" y="4880193"/>
            <a:ext cx="44561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empilha (Object </a:t>
            </a:r>
            <a:r>
              <a:rPr lang="fr-F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this.topo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= new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7AE7A4D-F0D1-4941-8D77-EA2276329E98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7E95139C-FA95-48D8-985C-C73058967773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0CC8797-E8D1-4500-984D-1CF7D584A7F1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480C29D-A3EC-4804-8835-F8490D651622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3F3A2C2-E60F-4162-ABCF-14D332671D97}"/>
              </a:ext>
            </a:extLst>
          </p:cNvPr>
          <p:cNvSpPr txBox="1"/>
          <p:nvPr/>
        </p:nvSpPr>
        <p:spPr>
          <a:xfrm>
            <a:off x="9734111" y="3625134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8E7AF61-74C7-491F-B04C-91252F5CD624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1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918A16FF-36D0-4BBF-963F-4ACA406B5227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C3E3BB-1A23-41FF-92BA-7BA4729E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29</a:t>
            </a:fld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535C4A5-B8A6-46B9-933C-CAFE785554FB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264710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Inserção de novos elementos na pilha (empilha):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799856" y="4365104"/>
            <a:ext cx="624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542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3036790" y="436510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aux</a:t>
            </a:r>
            <a:endParaRPr lang="pt-BR" dirty="0"/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EBEEFB0-649C-4158-BA0D-3E477C17335F}"/>
              </a:ext>
            </a:extLst>
          </p:cNvPr>
          <p:cNvSpPr/>
          <p:nvPr/>
        </p:nvSpPr>
        <p:spPr>
          <a:xfrm>
            <a:off x="7735880" y="4880193"/>
            <a:ext cx="44561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empilha (Object </a:t>
            </a:r>
            <a:r>
              <a:rPr lang="fr-F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this.topo.item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= x;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93813D20-D93A-4203-8C22-8BED6DEA9720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3F1FA6C-D627-4690-B3EB-8E1198FEA568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6566585-3005-4102-83F8-B7BFECB1C0FF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295A818-BD08-427F-BEF2-98CA1528EF4B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60B759A-3919-4DBD-A1F5-7BA8A649EBD3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1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5AB4EC6-0541-42A1-B55D-250FD2FECFF6}"/>
              </a:ext>
            </a:extLst>
          </p:cNvPr>
          <p:cNvSpPr txBox="1"/>
          <p:nvPr/>
        </p:nvSpPr>
        <p:spPr>
          <a:xfrm>
            <a:off x="9734111" y="3625134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5B8AA221-2C0A-4A60-83E9-FEA932C3B1F8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C3713F1-5E7E-48A9-B81B-0F43CF8EED67}"/>
              </a:ext>
            </a:extLst>
          </p:cNvPr>
          <p:cNvSpPr txBox="1"/>
          <p:nvPr/>
        </p:nvSpPr>
        <p:spPr>
          <a:xfrm>
            <a:off x="10646332" y="3609566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CFCDE1-DF1C-4D2C-B330-A1E4DA2C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30</a:t>
            </a:fld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FC01AF5-99B9-4988-9FF8-02CE06BC01B7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B43D748A-5C2D-4603-B3AB-0CA191BFFC1E}"/>
              </a:ext>
            </a:extLst>
          </p:cNvPr>
          <p:cNvSpPr txBox="1"/>
          <p:nvPr/>
        </p:nvSpPr>
        <p:spPr>
          <a:xfrm>
            <a:off x="4986030" y="3502657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22165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Inserção de novos elementos na pilha (empilha):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799856" y="4365104"/>
            <a:ext cx="624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542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3036790" y="436510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aux</a:t>
            </a:r>
            <a:endParaRPr lang="pt-BR" dirty="0"/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21" name="Conector em curva 20"/>
          <p:cNvCxnSpPr/>
          <p:nvPr/>
        </p:nvCxnSpPr>
        <p:spPr>
          <a:xfrm rot="10800000">
            <a:off x="3935760" y="3685674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>
            <a:extLst>
              <a:ext uri="{FF2B5EF4-FFF2-40B4-BE49-F238E27FC236}">
                <a16:creationId xmlns:a16="http://schemas.microsoft.com/office/drawing/2014/main" id="{56AD344C-2D9C-4EA6-A8BF-F6F1244C3405}"/>
              </a:ext>
            </a:extLst>
          </p:cNvPr>
          <p:cNvSpPr/>
          <p:nvPr/>
        </p:nvSpPr>
        <p:spPr>
          <a:xfrm>
            <a:off x="7735880" y="4880193"/>
            <a:ext cx="44561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empilha (Object </a:t>
            </a:r>
            <a:r>
              <a:rPr lang="fr-F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this.topo.prox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dirty="0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0FEF9DF-EE01-4091-B46B-45A02D205517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D3A03C60-8FE6-46A3-806C-D63E5C37BF9A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FAB23E3D-6802-4856-9309-6D4912B21A40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8EEEF01-803D-4F11-B8CE-C285FA446B11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2AF5578-7C4A-4F5D-81B6-2E04E39CE180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1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929E7AD-9435-429E-A9A1-5B9E3173FE05}"/>
              </a:ext>
            </a:extLst>
          </p:cNvPr>
          <p:cNvSpPr txBox="1"/>
          <p:nvPr/>
        </p:nvSpPr>
        <p:spPr>
          <a:xfrm>
            <a:off x="9734111" y="3625134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2919D3E5-073C-4E1E-9FF7-07656C478A2D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5B1A1C8-44AF-4B1B-B7A3-EF42F78887D4}"/>
              </a:ext>
            </a:extLst>
          </p:cNvPr>
          <p:cNvSpPr txBox="1"/>
          <p:nvPr/>
        </p:nvSpPr>
        <p:spPr>
          <a:xfrm>
            <a:off x="10646332" y="3609566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1B6425-762A-4BFB-9C5B-A728AD4F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31</a:t>
            </a:fld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1DCADC2-7497-4453-BF39-EDCBE6849060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331A2D1-A2F3-460A-B652-10B2670F7E6D}"/>
              </a:ext>
            </a:extLst>
          </p:cNvPr>
          <p:cNvSpPr txBox="1"/>
          <p:nvPr/>
        </p:nvSpPr>
        <p:spPr>
          <a:xfrm>
            <a:off x="4986030" y="3502657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61819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Inserção de novos elementos na pilha (empilha):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799856" y="4365104"/>
            <a:ext cx="624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542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3036790" y="436510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aux</a:t>
            </a:r>
            <a:endParaRPr lang="pt-BR" dirty="0"/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21" name="Conector em curva 20"/>
          <p:cNvCxnSpPr/>
          <p:nvPr/>
        </p:nvCxnSpPr>
        <p:spPr>
          <a:xfrm rot="10800000">
            <a:off x="3935760" y="3685674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>
            <a:extLst>
              <a:ext uri="{FF2B5EF4-FFF2-40B4-BE49-F238E27FC236}">
                <a16:creationId xmlns:a16="http://schemas.microsoft.com/office/drawing/2014/main" id="{221A3675-C42D-4BA0-B84D-1835D29286B2}"/>
              </a:ext>
            </a:extLst>
          </p:cNvPr>
          <p:cNvSpPr/>
          <p:nvPr/>
        </p:nvSpPr>
        <p:spPr>
          <a:xfrm>
            <a:off x="7735880" y="4880193"/>
            <a:ext cx="44561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empilha (Object </a:t>
            </a:r>
            <a:r>
              <a:rPr lang="fr-F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this.tam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dirty="0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2DCC8C27-AAD1-4C1C-9FF8-92A2F023D593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239626C-E163-4DE1-BFB9-0D348270DC9F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00FDA65-4CD8-4C15-8522-5F380F089DE5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01ECB9D-28C0-48C7-BFF6-F87C975EB8B2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F1C3F7D-EBC4-463A-8DCD-FD866A8F681D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FF0000"/>
                </a:solidFill>
              </a:rPr>
              <a:t>tam</a:t>
            </a:r>
            <a:r>
              <a:rPr lang="pt-BR" dirty="0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DAE1C9B-5B3A-43EB-8FF1-6FAB21E88864}"/>
              </a:ext>
            </a:extLst>
          </p:cNvPr>
          <p:cNvSpPr txBox="1"/>
          <p:nvPr/>
        </p:nvSpPr>
        <p:spPr>
          <a:xfrm>
            <a:off x="9734111" y="3625134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A9A23C2C-A8E9-4EA8-8F41-1B9AD8F49531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F70DED7-EAA7-47FD-B28F-6B8DC5BB274B}"/>
              </a:ext>
            </a:extLst>
          </p:cNvPr>
          <p:cNvSpPr txBox="1"/>
          <p:nvPr/>
        </p:nvSpPr>
        <p:spPr>
          <a:xfrm>
            <a:off x="10646332" y="3609566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FA206A-D941-4006-83F3-D57568F84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32</a:t>
            </a:fld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48D28E92-F850-4311-B891-239442C62E6E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E6B366BB-B6D1-4B8C-9961-FAC2966EAB9A}"/>
              </a:ext>
            </a:extLst>
          </p:cNvPr>
          <p:cNvSpPr txBox="1"/>
          <p:nvPr/>
        </p:nvSpPr>
        <p:spPr>
          <a:xfrm>
            <a:off x="4986030" y="3502657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90153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Inserção de novos elementos na pilha (empilha):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21" name="Conector em curva 20"/>
          <p:cNvCxnSpPr/>
          <p:nvPr/>
        </p:nvCxnSpPr>
        <p:spPr>
          <a:xfrm rot="10800000">
            <a:off x="3935760" y="3685674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>
            <a:extLst>
              <a:ext uri="{FF2B5EF4-FFF2-40B4-BE49-F238E27FC236}">
                <a16:creationId xmlns:a16="http://schemas.microsoft.com/office/drawing/2014/main" id="{E6C64E69-5CE0-4C73-B472-6F9F45DC336A}"/>
              </a:ext>
            </a:extLst>
          </p:cNvPr>
          <p:cNvSpPr/>
          <p:nvPr/>
        </p:nvSpPr>
        <p:spPr>
          <a:xfrm>
            <a:off x="7735880" y="4880193"/>
            <a:ext cx="44561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empilha (Object </a:t>
            </a:r>
            <a:r>
              <a:rPr lang="fr-F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this.topo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dirty="0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5BE09A80-14DA-4826-BA8B-AF8F216CA2A7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F864E1E6-9E78-43B7-A912-48C9F723A2CF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ED5B04A-F1F3-4A5B-8FED-8980E1DF3210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25F1F81A-4D81-44F9-9B4F-4192AB4E48E5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36B80F7-BC6F-4961-8391-EB224A3A11FC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2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93DB5D1E-563F-4DC7-A438-2ECFAB571B8D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6A996283-B3ED-435B-89BD-D2A3683D80AA}"/>
              </a:ext>
            </a:extLst>
          </p:cNvPr>
          <p:cNvSpPr txBox="1"/>
          <p:nvPr/>
        </p:nvSpPr>
        <p:spPr>
          <a:xfrm>
            <a:off x="10646332" y="3609566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EBAC0419-3A69-47E0-B663-F395AA203705}"/>
              </a:ext>
            </a:extLst>
          </p:cNvPr>
          <p:cNvSpPr txBox="1"/>
          <p:nvPr/>
        </p:nvSpPr>
        <p:spPr>
          <a:xfrm>
            <a:off x="9734111" y="3625134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C37AAF-0563-4802-AE47-E730901FC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33</a:t>
            </a:fld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974766B-FA4D-4E68-AA86-39A593645FA0}"/>
              </a:ext>
            </a:extLst>
          </p:cNvPr>
          <p:cNvSpPr txBox="1"/>
          <p:nvPr/>
        </p:nvSpPr>
        <p:spPr>
          <a:xfrm>
            <a:off x="4856624" y="4571836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FF0000"/>
                </a:solidFill>
              </a:rPr>
              <a:t>aux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3CBF4DD-8F81-43CA-8207-D3FE5739D893}"/>
              </a:ext>
            </a:extLst>
          </p:cNvPr>
          <p:cNvSpPr txBox="1"/>
          <p:nvPr/>
        </p:nvSpPr>
        <p:spPr>
          <a:xfrm>
            <a:off x="4799856" y="4365104"/>
            <a:ext cx="624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A5A78D4-3432-49B2-B860-4A90CE231551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573A64E-7CB5-41C0-A17D-447BECC15938}"/>
              </a:ext>
            </a:extLst>
          </p:cNvPr>
          <p:cNvSpPr txBox="1"/>
          <p:nvPr/>
        </p:nvSpPr>
        <p:spPr>
          <a:xfrm>
            <a:off x="4986030" y="3502657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592248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Inserção de novos elementos na pilha (empilha):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71864" y="436510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aux</a:t>
            </a:r>
            <a:endParaRPr lang="pt-BR" dirty="0"/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21" name="Conector em curva 20"/>
          <p:cNvCxnSpPr/>
          <p:nvPr/>
        </p:nvCxnSpPr>
        <p:spPr>
          <a:xfrm rot="10800000">
            <a:off x="3935760" y="3685674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6680400" y="436584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30" name="Elipse 29"/>
          <p:cNvSpPr/>
          <p:nvPr/>
        </p:nvSpPr>
        <p:spPr>
          <a:xfrm>
            <a:off x="6497265" y="3347700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30" idx="2"/>
            <a:endCxn id="30" idx="6"/>
          </p:cNvCxnSpPr>
          <p:nvPr/>
        </p:nvCxnSpPr>
        <p:spPr>
          <a:xfrm>
            <a:off x="6497265" y="3851756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6713290" y="3491716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6692909" y="3851756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384032" y="2844523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9A5F0E13-2E05-48B8-9506-AD6431897B12}"/>
              </a:ext>
            </a:extLst>
          </p:cNvPr>
          <p:cNvSpPr/>
          <p:nvPr/>
        </p:nvSpPr>
        <p:spPr>
          <a:xfrm>
            <a:off x="7735880" y="4880193"/>
            <a:ext cx="44561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empilha (Object </a:t>
            </a:r>
            <a:r>
              <a:rPr lang="fr-F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this.topo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= new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dirty="0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96AFCCD8-31B5-4A33-86A1-1CD3EB1975A5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C69294FB-FEC2-4D10-87DB-48BC5FB7C48F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F9BC9F2-4B46-4AA7-BABC-E57D21F8BD71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DA49118-9D94-467E-9121-E0BCD95D3CB1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1A9CDE58-DF6F-49E5-80EF-8BE0A464DC33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2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BCBCA71C-CB73-4C6A-922F-B0D0819B8EA4}"/>
              </a:ext>
            </a:extLst>
          </p:cNvPr>
          <p:cNvSpPr/>
          <p:nvPr/>
        </p:nvSpPr>
        <p:spPr>
          <a:xfrm>
            <a:off x="10466079" y="2962750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40A434E2-DAA2-42FE-9C5D-525FE7E546F8}"/>
              </a:ext>
            </a:extLst>
          </p:cNvPr>
          <p:cNvSpPr txBox="1"/>
          <p:nvPr/>
        </p:nvSpPr>
        <p:spPr>
          <a:xfrm>
            <a:off x="9734111" y="309621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1DB7289E-0450-4C7C-A19A-10E77A5DB907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7228A74-6A07-42BA-BF72-C10DD2FD6707}"/>
              </a:ext>
            </a:extLst>
          </p:cNvPr>
          <p:cNvSpPr txBox="1"/>
          <p:nvPr/>
        </p:nvSpPr>
        <p:spPr>
          <a:xfrm>
            <a:off x="10646332" y="3609566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676360-A3FF-4A78-B9F2-CA1541AD7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34</a:t>
            </a:fld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F8CAC09-7EC9-4756-A2C6-1E864BBA19DB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97AAFBC-E0D3-4346-A20C-4535D571C0ED}"/>
              </a:ext>
            </a:extLst>
          </p:cNvPr>
          <p:cNvSpPr txBox="1"/>
          <p:nvPr/>
        </p:nvSpPr>
        <p:spPr>
          <a:xfrm>
            <a:off x="4986030" y="3502657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81935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Inserção de novos elementos na pilha (empilha):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71864" y="436510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aux</a:t>
            </a:r>
            <a:endParaRPr lang="pt-BR" dirty="0"/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21" name="Conector em curva 20"/>
          <p:cNvCxnSpPr/>
          <p:nvPr/>
        </p:nvCxnSpPr>
        <p:spPr>
          <a:xfrm rot="10800000">
            <a:off x="3935760" y="3685674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6680401" y="436584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30" name="Elipse 29"/>
          <p:cNvSpPr/>
          <p:nvPr/>
        </p:nvSpPr>
        <p:spPr>
          <a:xfrm>
            <a:off x="6497266" y="3347700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30" idx="2"/>
            <a:endCxn id="30" idx="6"/>
          </p:cNvCxnSpPr>
          <p:nvPr/>
        </p:nvCxnSpPr>
        <p:spPr>
          <a:xfrm>
            <a:off x="6497266" y="3851756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6692910" y="3851756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384033" y="2844523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290A328D-6C40-46CD-B399-16B6F3D5973F}"/>
              </a:ext>
            </a:extLst>
          </p:cNvPr>
          <p:cNvSpPr/>
          <p:nvPr/>
        </p:nvSpPr>
        <p:spPr>
          <a:xfrm>
            <a:off x="7735880" y="4880193"/>
            <a:ext cx="44561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empilha (Object </a:t>
            </a:r>
            <a:r>
              <a:rPr lang="fr-F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this.topo.item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= x;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dirty="0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0C623C6F-9E25-477D-A612-58BD32013859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B2E64AE1-4C70-4551-A185-3E46F4D5487C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8934B34-2575-4CB3-86EE-D424292086FD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0932FE7-D99A-41E7-A881-84265E4D7E4D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D2D82FB-14CF-4E25-A536-A14BEA383E4D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2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FD13B858-68A6-44FD-AD43-C886C0F4864D}"/>
              </a:ext>
            </a:extLst>
          </p:cNvPr>
          <p:cNvSpPr/>
          <p:nvPr/>
        </p:nvSpPr>
        <p:spPr>
          <a:xfrm>
            <a:off x="10466079" y="2962750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9E2E4144-5983-47E7-A383-690E061C171D}"/>
              </a:ext>
            </a:extLst>
          </p:cNvPr>
          <p:cNvSpPr txBox="1"/>
          <p:nvPr/>
        </p:nvSpPr>
        <p:spPr>
          <a:xfrm>
            <a:off x="10646332" y="303350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3DEA5E7-EE9A-4989-89AC-FBEAA66EE1A3}"/>
              </a:ext>
            </a:extLst>
          </p:cNvPr>
          <p:cNvSpPr txBox="1"/>
          <p:nvPr/>
        </p:nvSpPr>
        <p:spPr>
          <a:xfrm>
            <a:off x="9734111" y="309621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EB4D1BC1-9F95-49A0-AFCE-6C075B18CDFC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895A277-CD81-4579-8774-528555D20316}"/>
              </a:ext>
            </a:extLst>
          </p:cNvPr>
          <p:cNvSpPr txBox="1"/>
          <p:nvPr/>
        </p:nvSpPr>
        <p:spPr>
          <a:xfrm>
            <a:off x="10646332" y="3609566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18BFB9-D193-428F-B43A-82EA23434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35</a:t>
            </a:fld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CAB055D-0C3E-4F6D-A744-4645BD7CE158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47037AE-B44F-4951-868D-8FC56FAF5539}"/>
              </a:ext>
            </a:extLst>
          </p:cNvPr>
          <p:cNvSpPr txBox="1"/>
          <p:nvPr/>
        </p:nvSpPr>
        <p:spPr>
          <a:xfrm>
            <a:off x="4986030" y="3502657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CC9976C3-241D-46E8-B79E-18168BA0CD5C}"/>
              </a:ext>
            </a:extLst>
          </p:cNvPr>
          <p:cNvSpPr txBox="1"/>
          <p:nvPr/>
        </p:nvSpPr>
        <p:spPr>
          <a:xfrm>
            <a:off x="6813248" y="350041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82018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Inserção de novos elementos na pilha (empilha):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71864" y="436510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aux</a:t>
            </a:r>
            <a:endParaRPr lang="pt-BR" dirty="0"/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21" name="Conector em curva 20"/>
          <p:cNvCxnSpPr/>
          <p:nvPr/>
        </p:nvCxnSpPr>
        <p:spPr>
          <a:xfrm rot="10800000">
            <a:off x="3935760" y="3685674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6680401" y="436584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30" name="Elipse 29"/>
          <p:cNvSpPr/>
          <p:nvPr/>
        </p:nvSpPr>
        <p:spPr>
          <a:xfrm>
            <a:off x="6497266" y="3347700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30" idx="2"/>
            <a:endCxn id="30" idx="6"/>
          </p:cNvCxnSpPr>
          <p:nvPr/>
        </p:nvCxnSpPr>
        <p:spPr>
          <a:xfrm>
            <a:off x="6497266" y="3851756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6692910" y="3851756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Prox.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384033" y="2844523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23" name="Conector em curva 22"/>
          <p:cNvCxnSpPr/>
          <p:nvPr/>
        </p:nvCxnSpPr>
        <p:spPr>
          <a:xfrm rot="10800000">
            <a:off x="5735961" y="3678723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tângulo 37">
            <a:extLst>
              <a:ext uri="{FF2B5EF4-FFF2-40B4-BE49-F238E27FC236}">
                <a16:creationId xmlns:a16="http://schemas.microsoft.com/office/drawing/2014/main" id="{290A328D-6C40-46CD-B399-16B6F3D5973F}"/>
              </a:ext>
            </a:extLst>
          </p:cNvPr>
          <p:cNvSpPr/>
          <p:nvPr/>
        </p:nvSpPr>
        <p:spPr>
          <a:xfrm>
            <a:off x="7735880" y="4880193"/>
            <a:ext cx="44561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empilha (Object </a:t>
            </a:r>
            <a:r>
              <a:rPr lang="fr-F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this.topo.prox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dirty="0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0C623C6F-9E25-477D-A612-58BD32013859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B2E64AE1-4C70-4551-A185-3E46F4D5487C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8934B34-2575-4CB3-86EE-D424292086FD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0932FE7-D99A-41E7-A881-84265E4D7E4D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D2D82FB-14CF-4E25-A536-A14BEA383E4D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2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FD13B858-68A6-44FD-AD43-C886C0F4864D}"/>
              </a:ext>
            </a:extLst>
          </p:cNvPr>
          <p:cNvSpPr/>
          <p:nvPr/>
        </p:nvSpPr>
        <p:spPr>
          <a:xfrm>
            <a:off x="10466079" y="2962750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9E2E4144-5983-47E7-A383-690E061C171D}"/>
              </a:ext>
            </a:extLst>
          </p:cNvPr>
          <p:cNvSpPr txBox="1"/>
          <p:nvPr/>
        </p:nvSpPr>
        <p:spPr>
          <a:xfrm>
            <a:off x="10646332" y="303350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3DEA5E7-EE9A-4989-89AC-FBEAA66EE1A3}"/>
              </a:ext>
            </a:extLst>
          </p:cNvPr>
          <p:cNvSpPr txBox="1"/>
          <p:nvPr/>
        </p:nvSpPr>
        <p:spPr>
          <a:xfrm>
            <a:off x="9734111" y="309621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EB4D1BC1-9F95-49A0-AFCE-6C075B18CDFC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895A277-CD81-4579-8774-528555D20316}"/>
              </a:ext>
            </a:extLst>
          </p:cNvPr>
          <p:cNvSpPr txBox="1"/>
          <p:nvPr/>
        </p:nvSpPr>
        <p:spPr>
          <a:xfrm>
            <a:off x="10646332" y="3609566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79E1B1-E62C-429B-8A1D-426D3276E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36</a:t>
            </a:fld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54D36E0-FC98-4172-8714-2250E5761A0D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15F7247-4832-41D7-99C8-2736D4B68A45}"/>
              </a:ext>
            </a:extLst>
          </p:cNvPr>
          <p:cNvSpPr txBox="1"/>
          <p:nvPr/>
        </p:nvSpPr>
        <p:spPr>
          <a:xfrm>
            <a:off x="4986030" y="3502657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CE082CF0-04C5-48AB-A2C8-11FAEFB973DD}"/>
              </a:ext>
            </a:extLst>
          </p:cNvPr>
          <p:cNvSpPr txBox="1"/>
          <p:nvPr/>
        </p:nvSpPr>
        <p:spPr>
          <a:xfrm>
            <a:off x="6813248" y="350041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597314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Inserção de novos elementos na pilha (empilha):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71864" y="436510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aux</a:t>
            </a:r>
            <a:endParaRPr lang="pt-BR" dirty="0"/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21" name="Conector em curva 20"/>
          <p:cNvCxnSpPr/>
          <p:nvPr/>
        </p:nvCxnSpPr>
        <p:spPr>
          <a:xfrm rot="10800000">
            <a:off x="3935760" y="3685674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6680401" y="436584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30" name="Elipse 29"/>
          <p:cNvSpPr/>
          <p:nvPr/>
        </p:nvSpPr>
        <p:spPr>
          <a:xfrm>
            <a:off x="6497266" y="3347700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30" idx="2"/>
            <a:endCxn id="30" idx="6"/>
          </p:cNvCxnSpPr>
          <p:nvPr/>
        </p:nvCxnSpPr>
        <p:spPr>
          <a:xfrm>
            <a:off x="6497266" y="3851756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6692910" y="3851756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384033" y="2844523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23" name="Conector em curva 22"/>
          <p:cNvCxnSpPr/>
          <p:nvPr/>
        </p:nvCxnSpPr>
        <p:spPr>
          <a:xfrm rot="10800000">
            <a:off x="5735961" y="3678723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tângulo 37">
            <a:extLst>
              <a:ext uri="{FF2B5EF4-FFF2-40B4-BE49-F238E27FC236}">
                <a16:creationId xmlns:a16="http://schemas.microsoft.com/office/drawing/2014/main" id="{290A328D-6C40-46CD-B399-16B6F3D5973F}"/>
              </a:ext>
            </a:extLst>
          </p:cNvPr>
          <p:cNvSpPr/>
          <p:nvPr/>
        </p:nvSpPr>
        <p:spPr>
          <a:xfrm>
            <a:off x="7735880" y="4880193"/>
            <a:ext cx="44561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empilha (Object </a:t>
            </a:r>
            <a:r>
              <a:rPr lang="fr-F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this.tam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dirty="0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0C623C6F-9E25-477D-A612-58BD32013859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B2E64AE1-4C70-4551-A185-3E46F4D5487C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8934B34-2575-4CB3-86EE-D424292086FD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0932FE7-D99A-41E7-A881-84265E4D7E4D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D2D82FB-14CF-4E25-A536-A14BEA383E4D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FF0000"/>
                </a:solidFill>
              </a:rPr>
              <a:t>tam</a:t>
            </a:r>
            <a:r>
              <a:rPr lang="pt-BR" dirty="0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FD13B858-68A6-44FD-AD43-C886C0F4864D}"/>
              </a:ext>
            </a:extLst>
          </p:cNvPr>
          <p:cNvSpPr/>
          <p:nvPr/>
        </p:nvSpPr>
        <p:spPr>
          <a:xfrm>
            <a:off x="10466079" y="2962750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9E2E4144-5983-47E7-A383-690E061C171D}"/>
              </a:ext>
            </a:extLst>
          </p:cNvPr>
          <p:cNvSpPr txBox="1"/>
          <p:nvPr/>
        </p:nvSpPr>
        <p:spPr>
          <a:xfrm>
            <a:off x="10646332" y="303350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3DEA5E7-EE9A-4989-89AC-FBEAA66EE1A3}"/>
              </a:ext>
            </a:extLst>
          </p:cNvPr>
          <p:cNvSpPr txBox="1"/>
          <p:nvPr/>
        </p:nvSpPr>
        <p:spPr>
          <a:xfrm>
            <a:off x="9734111" y="309621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EB4D1BC1-9F95-49A0-AFCE-6C075B18CDFC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895A277-CD81-4579-8774-528555D20316}"/>
              </a:ext>
            </a:extLst>
          </p:cNvPr>
          <p:cNvSpPr txBox="1"/>
          <p:nvPr/>
        </p:nvSpPr>
        <p:spPr>
          <a:xfrm>
            <a:off x="10646332" y="3609566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26D68B-4F82-4B9D-8119-536A784D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37</a:t>
            </a:fld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09A5992-C23A-4171-B1B8-B915B3B21642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DF1B8EC-42BC-48D9-97CA-8996B2D30A89}"/>
              </a:ext>
            </a:extLst>
          </p:cNvPr>
          <p:cNvSpPr txBox="1"/>
          <p:nvPr/>
        </p:nvSpPr>
        <p:spPr>
          <a:xfrm>
            <a:off x="4986030" y="3502657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198C5E3D-DD4B-43D6-8B48-BCF9D7B3386B}"/>
              </a:ext>
            </a:extLst>
          </p:cNvPr>
          <p:cNvSpPr txBox="1"/>
          <p:nvPr/>
        </p:nvSpPr>
        <p:spPr>
          <a:xfrm>
            <a:off x="6813248" y="350041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46522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Inserção de novos elementos na pilha (empilha):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71864" y="436510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>
                    <a:lumMod val="65000"/>
                  </a:schemeClr>
                </a:solidFill>
              </a:rPr>
              <a:t>aux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21" name="Conector em curva 20"/>
          <p:cNvCxnSpPr/>
          <p:nvPr/>
        </p:nvCxnSpPr>
        <p:spPr>
          <a:xfrm rot="10800000">
            <a:off x="3935760" y="3685674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6680401" y="436584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30" name="Elipse 29"/>
          <p:cNvSpPr/>
          <p:nvPr/>
        </p:nvSpPr>
        <p:spPr>
          <a:xfrm>
            <a:off x="6497266" y="3347700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30" idx="2"/>
            <a:endCxn id="30" idx="6"/>
          </p:cNvCxnSpPr>
          <p:nvPr/>
        </p:nvCxnSpPr>
        <p:spPr>
          <a:xfrm>
            <a:off x="6497266" y="3851756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6692910" y="3851756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384033" y="2844523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23" name="Conector em curva 22"/>
          <p:cNvCxnSpPr/>
          <p:nvPr/>
        </p:nvCxnSpPr>
        <p:spPr>
          <a:xfrm rot="10800000">
            <a:off x="5735961" y="3678723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tângulo 37">
            <a:extLst>
              <a:ext uri="{FF2B5EF4-FFF2-40B4-BE49-F238E27FC236}">
                <a16:creationId xmlns:a16="http://schemas.microsoft.com/office/drawing/2014/main" id="{290A328D-6C40-46CD-B399-16B6F3D5973F}"/>
              </a:ext>
            </a:extLst>
          </p:cNvPr>
          <p:cNvSpPr/>
          <p:nvPr/>
        </p:nvSpPr>
        <p:spPr>
          <a:xfrm>
            <a:off x="7735880" y="4880193"/>
            <a:ext cx="44561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empilha (Object </a:t>
            </a:r>
            <a:r>
              <a:rPr lang="fr-F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pt-BR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dirty="0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0C623C6F-9E25-477D-A612-58BD32013859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B2E64AE1-4C70-4551-A185-3E46F4D5487C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8934B34-2575-4CB3-86EE-D424292086FD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0932FE7-D99A-41E7-A881-84265E4D7E4D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D2D82FB-14CF-4E25-A536-A14BEA383E4D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3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FD13B858-68A6-44FD-AD43-C886C0F4864D}"/>
              </a:ext>
            </a:extLst>
          </p:cNvPr>
          <p:cNvSpPr/>
          <p:nvPr/>
        </p:nvSpPr>
        <p:spPr>
          <a:xfrm>
            <a:off x="10466079" y="2962750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9E2E4144-5983-47E7-A383-690E061C171D}"/>
              </a:ext>
            </a:extLst>
          </p:cNvPr>
          <p:cNvSpPr txBox="1"/>
          <p:nvPr/>
        </p:nvSpPr>
        <p:spPr>
          <a:xfrm>
            <a:off x="10646332" y="303350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3DEA5E7-EE9A-4989-89AC-FBEAA66EE1A3}"/>
              </a:ext>
            </a:extLst>
          </p:cNvPr>
          <p:cNvSpPr txBox="1"/>
          <p:nvPr/>
        </p:nvSpPr>
        <p:spPr>
          <a:xfrm>
            <a:off x="9734111" y="309621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EB4D1BC1-9F95-49A0-AFCE-6C075B18CDFC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895A277-CD81-4579-8774-528555D20316}"/>
              </a:ext>
            </a:extLst>
          </p:cNvPr>
          <p:cNvSpPr txBox="1"/>
          <p:nvPr/>
        </p:nvSpPr>
        <p:spPr>
          <a:xfrm>
            <a:off x="10646332" y="3609566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FDDD91-9FFB-4616-960A-F7F0B0D9E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38</a:t>
            </a:fld>
            <a:endParaRPr lang="pt-BR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5E274238-46FD-491A-9965-46E2B8A03F93}"/>
              </a:ext>
            </a:extLst>
          </p:cNvPr>
          <p:cNvCxnSpPr>
            <a:cxnSpLocks/>
          </p:cNvCxnSpPr>
          <p:nvPr/>
        </p:nvCxnSpPr>
        <p:spPr>
          <a:xfrm>
            <a:off x="7019365" y="5342965"/>
            <a:ext cx="11923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4BF7AE5-1690-45A8-BEC0-539A634B76E7}"/>
              </a:ext>
            </a:extLst>
          </p:cNvPr>
          <p:cNvSpPr txBox="1"/>
          <p:nvPr/>
        </p:nvSpPr>
        <p:spPr>
          <a:xfrm>
            <a:off x="3515740" y="5132784"/>
            <a:ext cx="3560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Ao final do método </a:t>
            </a:r>
            <a:r>
              <a:rPr lang="pt-BR" i="1" dirty="0"/>
              <a:t>empilha</a:t>
            </a:r>
            <a:r>
              <a:rPr lang="pt-BR" dirty="0"/>
              <a:t>, “</a:t>
            </a:r>
            <a:r>
              <a:rPr lang="pt-BR" dirty="0" err="1"/>
              <a:t>aux</a:t>
            </a:r>
            <a:r>
              <a:rPr lang="pt-BR" dirty="0"/>
              <a:t>” deixa de existir fora do escopo da função. 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FF34CCB-6749-4449-97A6-1254437F5CA2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5648AA90-EA8F-46F1-89FB-6C274B0053FA}"/>
              </a:ext>
            </a:extLst>
          </p:cNvPr>
          <p:cNvSpPr txBox="1"/>
          <p:nvPr/>
        </p:nvSpPr>
        <p:spPr>
          <a:xfrm>
            <a:off x="4986030" y="3502657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C262DDC5-760B-4DAD-A1E0-CF5919FA3783}"/>
              </a:ext>
            </a:extLst>
          </p:cNvPr>
          <p:cNvSpPr txBox="1"/>
          <p:nvPr/>
        </p:nvSpPr>
        <p:spPr>
          <a:xfrm>
            <a:off x="6813248" y="350041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394761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Remoção de itens na pilha (desempilha):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21" name="Conector em curva 20"/>
          <p:cNvCxnSpPr/>
          <p:nvPr/>
        </p:nvCxnSpPr>
        <p:spPr>
          <a:xfrm rot="10800000">
            <a:off x="3935760" y="3685674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6680401" y="436584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30" name="Elipse 29"/>
          <p:cNvSpPr/>
          <p:nvPr/>
        </p:nvSpPr>
        <p:spPr>
          <a:xfrm>
            <a:off x="6497266" y="3347700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30" idx="2"/>
            <a:endCxn id="30" idx="6"/>
          </p:cNvCxnSpPr>
          <p:nvPr/>
        </p:nvCxnSpPr>
        <p:spPr>
          <a:xfrm>
            <a:off x="6497266" y="3851756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6692910" y="3851756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3" name="Conector em curva 22"/>
          <p:cNvCxnSpPr/>
          <p:nvPr/>
        </p:nvCxnSpPr>
        <p:spPr>
          <a:xfrm rot="10800000">
            <a:off x="5735961" y="3678723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1EE7203E-01E1-4011-8091-058CD7D02805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7D07B6ED-7939-428A-9F7C-417135C21FF5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11C5633-07CA-4194-8DD6-0E786969B790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99B6EDC-1825-48A4-9597-C81765B080A7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E1C3673-D4E4-4439-9A94-7F27B38B7D5A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3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1E3BB301-1560-4588-8F23-7C88671DF59C}"/>
              </a:ext>
            </a:extLst>
          </p:cNvPr>
          <p:cNvSpPr/>
          <p:nvPr/>
        </p:nvSpPr>
        <p:spPr>
          <a:xfrm>
            <a:off x="10466079" y="2962750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EF18964-B93F-4F65-861C-C1DF7E58D540}"/>
              </a:ext>
            </a:extLst>
          </p:cNvPr>
          <p:cNvSpPr txBox="1"/>
          <p:nvPr/>
        </p:nvSpPr>
        <p:spPr>
          <a:xfrm>
            <a:off x="10646332" y="303350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2E43CF8-31C0-4C18-9425-921B06C75EFC}"/>
              </a:ext>
            </a:extLst>
          </p:cNvPr>
          <p:cNvSpPr txBox="1"/>
          <p:nvPr/>
        </p:nvSpPr>
        <p:spPr>
          <a:xfrm>
            <a:off x="9734111" y="309621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85CD0C6F-B89B-4B1E-B745-F0CD9D680E12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A7F258A-C7B5-49FA-A654-659152CE6F12}"/>
              </a:ext>
            </a:extLst>
          </p:cNvPr>
          <p:cNvSpPr txBox="1"/>
          <p:nvPr/>
        </p:nvSpPr>
        <p:spPr>
          <a:xfrm>
            <a:off x="10646332" y="3609566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4D9F421-48D0-40C6-94BB-D7E922AD0094}"/>
              </a:ext>
            </a:extLst>
          </p:cNvPr>
          <p:cNvSpPr/>
          <p:nvPr/>
        </p:nvSpPr>
        <p:spPr>
          <a:xfrm>
            <a:off x="5852244" y="5016294"/>
            <a:ext cx="632182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desempilha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pilha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Object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B2CE93E-2475-48F0-AFF1-1B7FC1035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39</a:t>
            </a:fld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177C0B0D-A08A-4986-AB44-FDC596A881AD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42F8AACD-F62D-4E75-AB62-4ED62FDE140B}"/>
              </a:ext>
            </a:extLst>
          </p:cNvPr>
          <p:cNvSpPr txBox="1"/>
          <p:nvPr/>
        </p:nvSpPr>
        <p:spPr>
          <a:xfrm>
            <a:off x="4986030" y="3502657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F028E0A0-4B0B-4868-A8C5-6B58CD2ADE2A}"/>
              </a:ext>
            </a:extLst>
          </p:cNvPr>
          <p:cNvSpPr txBox="1"/>
          <p:nvPr/>
        </p:nvSpPr>
        <p:spPr>
          <a:xfrm>
            <a:off x="6813248" y="350041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840796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Remoção de itens na pilha (desempilha):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21" name="Conector em curva 20"/>
          <p:cNvCxnSpPr/>
          <p:nvPr/>
        </p:nvCxnSpPr>
        <p:spPr>
          <a:xfrm rot="10800000">
            <a:off x="3935760" y="3685674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6680401" y="436584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30" name="Elipse 29"/>
          <p:cNvSpPr/>
          <p:nvPr/>
        </p:nvSpPr>
        <p:spPr>
          <a:xfrm>
            <a:off x="6497266" y="3347700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30" idx="2"/>
            <a:endCxn id="30" idx="6"/>
          </p:cNvCxnSpPr>
          <p:nvPr/>
        </p:nvCxnSpPr>
        <p:spPr>
          <a:xfrm>
            <a:off x="6497266" y="3851756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6692910" y="3851756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3" name="Conector em curva 22"/>
          <p:cNvCxnSpPr/>
          <p:nvPr/>
        </p:nvCxnSpPr>
        <p:spPr>
          <a:xfrm rot="10800000">
            <a:off x="5735961" y="3678723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1EE7203E-01E1-4011-8091-058CD7D02805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7D07B6ED-7939-428A-9F7C-417135C21FF5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11C5633-07CA-4194-8DD6-0E786969B790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99B6EDC-1825-48A4-9597-C81765B080A7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E1C3673-D4E4-4439-9A94-7F27B38B7D5A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3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1E3BB301-1560-4588-8F23-7C88671DF59C}"/>
              </a:ext>
            </a:extLst>
          </p:cNvPr>
          <p:cNvSpPr/>
          <p:nvPr/>
        </p:nvSpPr>
        <p:spPr>
          <a:xfrm>
            <a:off x="10466079" y="2962750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EF18964-B93F-4F65-861C-C1DF7E58D540}"/>
              </a:ext>
            </a:extLst>
          </p:cNvPr>
          <p:cNvSpPr txBox="1"/>
          <p:nvPr/>
        </p:nvSpPr>
        <p:spPr>
          <a:xfrm>
            <a:off x="10646332" y="303350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2E43CF8-31C0-4C18-9425-921B06C75EFC}"/>
              </a:ext>
            </a:extLst>
          </p:cNvPr>
          <p:cNvSpPr txBox="1"/>
          <p:nvPr/>
        </p:nvSpPr>
        <p:spPr>
          <a:xfrm>
            <a:off x="9734111" y="309621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85CD0C6F-B89B-4B1E-B745-F0CD9D680E12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A7F258A-C7B5-49FA-A654-659152CE6F12}"/>
              </a:ext>
            </a:extLst>
          </p:cNvPr>
          <p:cNvSpPr txBox="1"/>
          <p:nvPr/>
        </p:nvSpPr>
        <p:spPr>
          <a:xfrm>
            <a:off x="10646332" y="3609566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4D9F421-48D0-40C6-94BB-D7E922AD0094}"/>
              </a:ext>
            </a:extLst>
          </p:cNvPr>
          <p:cNvSpPr/>
          <p:nvPr/>
        </p:nvSpPr>
        <p:spPr>
          <a:xfrm>
            <a:off x="5852244" y="5016294"/>
            <a:ext cx="632182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desempilha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pilha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Object item 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this.topo.item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3399BA-9498-4094-8429-1112CEA53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40</a:t>
            </a:fld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D01C4110-1DF9-4821-B316-7B67C501EC68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5A8FD260-DE7C-4CBB-9FA8-27DF918ABC93}"/>
              </a:ext>
            </a:extLst>
          </p:cNvPr>
          <p:cNvSpPr txBox="1"/>
          <p:nvPr/>
        </p:nvSpPr>
        <p:spPr>
          <a:xfrm>
            <a:off x="4986030" y="3502657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28796695-A9BC-4672-9E4A-9AB837CF1FF0}"/>
              </a:ext>
            </a:extLst>
          </p:cNvPr>
          <p:cNvSpPr txBox="1"/>
          <p:nvPr/>
        </p:nvSpPr>
        <p:spPr>
          <a:xfrm>
            <a:off x="6813248" y="350041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066629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Remoção de itens na pilha (desempilha):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21" name="Conector em curva 20"/>
          <p:cNvCxnSpPr/>
          <p:nvPr/>
        </p:nvCxnSpPr>
        <p:spPr>
          <a:xfrm rot="10800000">
            <a:off x="3935760" y="3685674"/>
            <a:ext cx="720080" cy="398348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4842635" y="436584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30" name="Elipse 29"/>
          <p:cNvSpPr/>
          <p:nvPr/>
        </p:nvSpPr>
        <p:spPr>
          <a:xfrm>
            <a:off x="6497266" y="3347700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30" idx="2"/>
            <a:endCxn id="30" idx="6"/>
          </p:cNvCxnSpPr>
          <p:nvPr/>
        </p:nvCxnSpPr>
        <p:spPr>
          <a:xfrm>
            <a:off x="6497266" y="3851756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6692910" y="3851756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cxnSp>
        <p:nvCxnSpPr>
          <p:cNvPr id="23" name="Conector em curva 22"/>
          <p:cNvCxnSpPr/>
          <p:nvPr/>
        </p:nvCxnSpPr>
        <p:spPr>
          <a:xfrm rot="10800000">
            <a:off x="5735961" y="3678723"/>
            <a:ext cx="720080" cy="398348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1EE7203E-01E1-4011-8091-058CD7D02805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7D07B6ED-7939-428A-9F7C-417135C21FF5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11C5633-07CA-4194-8DD6-0E786969B790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99B6EDC-1825-48A4-9597-C81765B080A7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E1C3673-D4E4-4439-9A94-7F27B38B7D5A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2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1E3BB301-1560-4588-8F23-7C88671DF59C}"/>
              </a:ext>
            </a:extLst>
          </p:cNvPr>
          <p:cNvSpPr/>
          <p:nvPr/>
        </p:nvSpPr>
        <p:spPr>
          <a:xfrm>
            <a:off x="10466079" y="2962750"/>
            <a:ext cx="727612" cy="502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EF18964-B93F-4F65-861C-C1DF7E58D540}"/>
              </a:ext>
            </a:extLst>
          </p:cNvPr>
          <p:cNvSpPr txBox="1"/>
          <p:nvPr/>
        </p:nvSpPr>
        <p:spPr>
          <a:xfrm>
            <a:off x="10646332" y="303350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85CD0C6F-B89B-4B1E-B745-F0CD9D680E12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A7F258A-C7B5-49FA-A654-659152CE6F12}"/>
              </a:ext>
            </a:extLst>
          </p:cNvPr>
          <p:cNvSpPr txBox="1"/>
          <p:nvPr/>
        </p:nvSpPr>
        <p:spPr>
          <a:xfrm>
            <a:off x="10646332" y="3609566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4D9F421-48D0-40C6-94BB-D7E922AD0094}"/>
              </a:ext>
            </a:extLst>
          </p:cNvPr>
          <p:cNvSpPr/>
          <p:nvPr/>
        </p:nvSpPr>
        <p:spPr>
          <a:xfrm>
            <a:off x="5852244" y="5016294"/>
            <a:ext cx="632182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desempilha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pilha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Object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this.topo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this.topo.prox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this.tam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136D83B-5E29-4701-A393-C61948AAF305}"/>
              </a:ext>
            </a:extLst>
          </p:cNvPr>
          <p:cNvSpPr txBox="1"/>
          <p:nvPr/>
        </p:nvSpPr>
        <p:spPr>
          <a:xfrm>
            <a:off x="9734111" y="3634099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FBC6DBDF-FB05-40E6-A393-E56C0F164B12}"/>
              </a:ext>
            </a:extLst>
          </p:cNvPr>
          <p:cNvCxnSpPr/>
          <p:nvPr/>
        </p:nvCxnSpPr>
        <p:spPr>
          <a:xfrm>
            <a:off x="9336360" y="3218329"/>
            <a:ext cx="9371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6D3FFB9C-7382-4162-9A20-2FC73A5B59D2}"/>
              </a:ext>
            </a:extLst>
          </p:cNvPr>
          <p:cNvSpPr txBox="1"/>
          <p:nvPr/>
        </p:nvSpPr>
        <p:spPr>
          <a:xfrm>
            <a:off x="8269059" y="2752485"/>
            <a:ext cx="1382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Lixo de memória (inacessível)</a:t>
            </a:r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B380576B-EB82-4EBC-A043-C668A38BE303}"/>
              </a:ext>
            </a:extLst>
          </p:cNvPr>
          <p:cNvCxnSpPr>
            <a:stCxn id="7" idx="1"/>
            <a:endCxn id="30" idx="0"/>
          </p:cNvCxnSpPr>
          <p:nvPr/>
        </p:nvCxnSpPr>
        <p:spPr>
          <a:xfrm rot="10800000" flipV="1">
            <a:off x="7001323" y="3214150"/>
            <a:ext cx="1267737" cy="1335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7F30E33-4F90-4F5F-A75F-C7FFADEC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41</a:t>
            </a:fld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87F7D80-854B-4D32-A85F-F772940DFB0D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F2E31F9-2C73-4BAE-B121-23D6AC1E29C4}"/>
              </a:ext>
            </a:extLst>
          </p:cNvPr>
          <p:cNvSpPr txBox="1"/>
          <p:nvPr/>
        </p:nvSpPr>
        <p:spPr>
          <a:xfrm>
            <a:off x="4986030" y="3502657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7BD7E08E-71A0-46BD-8AB2-2897A608EC34}"/>
              </a:ext>
            </a:extLst>
          </p:cNvPr>
          <p:cNvSpPr txBox="1"/>
          <p:nvPr/>
        </p:nvSpPr>
        <p:spPr>
          <a:xfrm>
            <a:off x="6813248" y="350041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963337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Remoção de itens na pilha (desempilha):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21" name="Conector em curva 20"/>
          <p:cNvCxnSpPr/>
          <p:nvPr/>
        </p:nvCxnSpPr>
        <p:spPr>
          <a:xfrm rot="10800000">
            <a:off x="3935760" y="3685674"/>
            <a:ext cx="720080" cy="398348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1EE7203E-01E1-4011-8091-058CD7D02805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7D07B6ED-7939-428A-9F7C-417135C21FF5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11C5633-07CA-4194-8DD6-0E786969B790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99B6EDC-1825-48A4-9597-C81765B080A7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E1C3673-D4E4-4439-9A94-7F27B38B7D5A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1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2E43CF8-31C0-4C18-9425-921B06C75EFC}"/>
              </a:ext>
            </a:extLst>
          </p:cNvPr>
          <p:cNvSpPr txBox="1"/>
          <p:nvPr/>
        </p:nvSpPr>
        <p:spPr>
          <a:xfrm>
            <a:off x="9734111" y="4207841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85CD0C6F-B89B-4B1E-B745-F0CD9D680E12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A7F258A-C7B5-49FA-A654-659152CE6F12}"/>
              </a:ext>
            </a:extLst>
          </p:cNvPr>
          <p:cNvSpPr txBox="1"/>
          <p:nvPr/>
        </p:nvSpPr>
        <p:spPr>
          <a:xfrm>
            <a:off x="10646332" y="3609566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4D9F421-48D0-40C6-94BB-D7E922AD0094}"/>
              </a:ext>
            </a:extLst>
          </p:cNvPr>
          <p:cNvSpPr/>
          <p:nvPr/>
        </p:nvSpPr>
        <p:spPr>
          <a:xfrm>
            <a:off x="5852244" y="5016294"/>
            <a:ext cx="632182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desempilha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pilha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Object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  <a:endParaRPr lang="pt-BR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7C1C2A0-DB6F-4621-A240-99B42BDBD50F}"/>
              </a:ext>
            </a:extLst>
          </p:cNvPr>
          <p:cNvSpPr txBox="1"/>
          <p:nvPr/>
        </p:nvSpPr>
        <p:spPr>
          <a:xfrm>
            <a:off x="3049694" y="436584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A200BE98-78F2-48F0-AAFA-471A37F5B10C}"/>
              </a:ext>
            </a:extLst>
          </p:cNvPr>
          <p:cNvSpPr/>
          <p:nvPr/>
        </p:nvSpPr>
        <p:spPr>
          <a:xfrm>
            <a:off x="10466079" y="2962750"/>
            <a:ext cx="727612" cy="502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599FF5A8-A9FC-4447-88CC-FC361F6CF943}"/>
              </a:ext>
            </a:extLst>
          </p:cNvPr>
          <p:cNvSpPr txBox="1"/>
          <p:nvPr/>
        </p:nvSpPr>
        <p:spPr>
          <a:xfrm>
            <a:off x="10646332" y="303350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87B10D0D-2B92-4858-98AD-548911D7E48B}"/>
              </a:ext>
            </a:extLst>
          </p:cNvPr>
          <p:cNvSpPr/>
          <p:nvPr/>
        </p:nvSpPr>
        <p:spPr>
          <a:xfrm>
            <a:off x="6497266" y="3347700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D7863C8A-4E51-4BC3-B7BD-45319792911D}"/>
              </a:ext>
            </a:extLst>
          </p:cNvPr>
          <p:cNvCxnSpPr>
            <a:stCxn id="50" idx="2"/>
            <a:endCxn id="50" idx="6"/>
          </p:cNvCxnSpPr>
          <p:nvPr/>
        </p:nvCxnSpPr>
        <p:spPr>
          <a:xfrm>
            <a:off x="6497266" y="3851756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FE42C738-8154-4265-B916-A8C76FD0471B}"/>
              </a:ext>
            </a:extLst>
          </p:cNvPr>
          <p:cNvSpPr txBox="1"/>
          <p:nvPr/>
        </p:nvSpPr>
        <p:spPr>
          <a:xfrm>
            <a:off x="6692910" y="3851756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cxnSp>
        <p:nvCxnSpPr>
          <p:cNvPr id="54" name="Conector em curva 22">
            <a:extLst>
              <a:ext uri="{FF2B5EF4-FFF2-40B4-BE49-F238E27FC236}">
                <a16:creationId xmlns:a16="http://schemas.microsoft.com/office/drawing/2014/main" id="{F91C0A4C-6ED2-49A0-BC76-F815E73EAAE5}"/>
              </a:ext>
            </a:extLst>
          </p:cNvPr>
          <p:cNvCxnSpPr/>
          <p:nvPr/>
        </p:nvCxnSpPr>
        <p:spPr>
          <a:xfrm rot="10800000">
            <a:off x="5735961" y="3678723"/>
            <a:ext cx="720080" cy="398348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525015F5-DEAB-41BD-A88B-5A87149D0C83}"/>
              </a:ext>
            </a:extLst>
          </p:cNvPr>
          <p:cNvCxnSpPr/>
          <p:nvPr/>
        </p:nvCxnSpPr>
        <p:spPr>
          <a:xfrm flipV="1">
            <a:off x="3352801" y="4765594"/>
            <a:ext cx="0" cy="798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879BFF6-2954-44BE-B070-E0FC5DB97821}"/>
              </a:ext>
            </a:extLst>
          </p:cNvPr>
          <p:cNvSpPr txBox="1"/>
          <p:nvPr/>
        </p:nvSpPr>
        <p:spPr>
          <a:xfrm>
            <a:off x="161375" y="5492823"/>
            <a:ext cx="48947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 o primeiro elemento inserido na pilha sempre faz referência para NULL. Quando este elemento for removido, topo passará a referências NULL, caracterizando </a:t>
            </a:r>
            <a:r>
              <a:rPr lang="pt-BR" b="1" dirty="0"/>
              <a:t>pilha vazia</a:t>
            </a:r>
            <a:r>
              <a:rPr lang="pt-BR" dirty="0"/>
              <a:t>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1E0667-2EF6-4E09-9516-E362E58B2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42</a:t>
            </a:fld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B973143-1122-4169-8196-ACB85210B038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E3998A5-EEF7-4E4A-804A-6AF71414BF61}"/>
              </a:ext>
            </a:extLst>
          </p:cNvPr>
          <p:cNvSpPr txBox="1"/>
          <p:nvPr/>
        </p:nvSpPr>
        <p:spPr>
          <a:xfrm>
            <a:off x="4986030" y="3502657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EDC91589-D1BD-46F4-A8F3-F9CB32402589}"/>
              </a:ext>
            </a:extLst>
          </p:cNvPr>
          <p:cNvSpPr txBox="1"/>
          <p:nvPr/>
        </p:nvSpPr>
        <p:spPr>
          <a:xfrm>
            <a:off x="6813248" y="350041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823765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Remoção de itens na pilha (desempilha):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21" name="Conector em curva 20"/>
          <p:cNvCxnSpPr/>
          <p:nvPr/>
        </p:nvCxnSpPr>
        <p:spPr>
          <a:xfrm rot="10800000">
            <a:off x="3935760" y="3685674"/>
            <a:ext cx="720080" cy="398348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1EE7203E-01E1-4011-8091-058CD7D02805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7D07B6ED-7939-428A-9F7C-417135C21FF5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11C5633-07CA-4194-8DD6-0E786969B790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99B6EDC-1825-48A4-9597-C81765B080A7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E1C3673-D4E4-4439-9A94-7F27B38B7D5A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1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2E43CF8-31C0-4C18-9425-921B06C75EFC}"/>
              </a:ext>
            </a:extLst>
          </p:cNvPr>
          <p:cNvSpPr txBox="1"/>
          <p:nvPr/>
        </p:nvSpPr>
        <p:spPr>
          <a:xfrm>
            <a:off x="9734111" y="4207841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85CD0C6F-B89B-4B1E-B745-F0CD9D680E12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A7F258A-C7B5-49FA-A654-659152CE6F12}"/>
              </a:ext>
            </a:extLst>
          </p:cNvPr>
          <p:cNvSpPr txBox="1"/>
          <p:nvPr/>
        </p:nvSpPr>
        <p:spPr>
          <a:xfrm>
            <a:off x="10646332" y="3609566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4D9F421-48D0-40C6-94BB-D7E922AD0094}"/>
              </a:ext>
            </a:extLst>
          </p:cNvPr>
          <p:cNvSpPr/>
          <p:nvPr/>
        </p:nvSpPr>
        <p:spPr>
          <a:xfrm>
            <a:off x="5852244" y="5016294"/>
            <a:ext cx="632182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desempilha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pilha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Object item 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this.topo.item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  <a:endParaRPr lang="pt-BR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7C1C2A0-DB6F-4621-A240-99B42BDBD50F}"/>
              </a:ext>
            </a:extLst>
          </p:cNvPr>
          <p:cNvSpPr txBox="1"/>
          <p:nvPr/>
        </p:nvSpPr>
        <p:spPr>
          <a:xfrm>
            <a:off x="3049694" y="436584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A200BE98-78F2-48F0-AAFA-471A37F5B10C}"/>
              </a:ext>
            </a:extLst>
          </p:cNvPr>
          <p:cNvSpPr/>
          <p:nvPr/>
        </p:nvSpPr>
        <p:spPr>
          <a:xfrm>
            <a:off x="10466079" y="2962750"/>
            <a:ext cx="727612" cy="502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599FF5A8-A9FC-4447-88CC-FC361F6CF943}"/>
              </a:ext>
            </a:extLst>
          </p:cNvPr>
          <p:cNvSpPr txBox="1"/>
          <p:nvPr/>
        </p:nvSpPr>
        <p:spPr>
          <a:xfrm>
            <a:off x="10646332" y="303350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87B10D0D-2B92-4858-98AD-548911D7E48B}"/>
              </a:ext>
            </a:extLst>
          </p:cNvPr>
          <p:cNvSpPr/>
          <p:nvPr/>
        </p:nvSpPr>
        <p:spPr>
          <a:xfrm>
            <a:off x="6497266" y="3347700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D7863C8A-4E51-4BC3-B7BD-45319792911D}"/>
              </a:ext>
            </a:extLst>
          </p:cNvPr>
          <p:cNvCxnSpPr>
            <a:stCxn id="50" idx="2"/>
            <a:endCxn id="50" idx="6"/>
          </p:cNvCxnSpPr>
          <p:nvPr/>
        </p:nvCxnSpPr>
        <p:spPr>
          <a:xfrm>
            <a:off x="6497266" y="3851756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FE42C738-8154-4265-B916-A8C76FD0471B}"/>
              </a:ext>
            </a:extLst>
          </p:cNvPr>
          <p:cNvSpPr txBox="1"/>
          <p:nvPr/>
        </p:nvSpPr>
        <p:spPr>
          <a:xfrm>
            <a:off x="6692910" y="3851756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cxnSp>
        <p:nvCxnSpPr>
          <p:cNvPr id="54" name="Conector em curva 22">
            <a:extLst>
              <a:ext uri="{FF2B5EF4-FFF2-40B4-BE49-F238E27FC236}">
                <a16:creationId xmlns:a16="http://schemas.microsoft.com/office/drawing/2014/main" id="{F91C0A4C-6ED2-49A0-BC76-F815E73EAAE5}"/>
              </a:ext>
            </a:extLst>
          </p:cNvPr>
          <p:cNvCxnSpPr/>
          <p:nvPr/>
        </p:nvCxnSpPr>
        <p:spPr>
          <a:xfrm rot="10800000">
            <a:off x="5735961" y="3678723"/>
            <a:ext cx="720080" cy="398348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FAB95225-28DC-45C8-8A3F-0A1C2BC3122C}"/>
              </a:ext>
            </a:extLst>
          </p:cNvPr>
          <p:cNvCxnSpPr/>
          <p:nvPr/>
        </p:nvCxnSpPr>
        <p:spPr>
          <a:xfrm flipV="1">
            <a:off x="3352801" y="4765594"/>
            <a:ext cx="0" cy="798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48D9425-3548-4307-BFCC-28738B51E51F}"/>
              </a:ext>
            </a:extLst>
          </p:cNvPr>
          <p:cNvSpPr txBox="1"/>
          <p:nvPr/>
        </p:nvSpPr>
        <p:spPr>
          <a:xfrm>
            <a:off x="161375" y="5492823"/>
            <a:ext cx="48947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 o primeiro elemento inserido na pilha sempre faz referência para NULL. Quando este elemento for removido, topo passará a referências NULL, caracterizando </a:t>
            </a:r>
            <a:r>
              <a:rPr lang="pt-BR" b="1" dirty="0"/>
              <a:t>pilha vazia</a:t>
            </a:r>
            <a:r>
              <a:rPr lang="pt-BR" dirty="0"/>
              <a:t>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A24A4E-5A65-437A-BE25-1A1A2A45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43</a:t>
            </a:fld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3D19E90-0831-4BD3-B23B-0452AF19BE8A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4AF47066-8FCF-43C7-843C-96D628C63CDA}"/>
              </a:ext>
            </a:extLst>
          </p:cNvPr>
          <p:cNvSpPr txBox="1"/>
          <p:nvPr/>
        </p:nvSpPr>
        <p:spPr>
          <a:xfrm>
            <a:off x="4986030" y="3502657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B510088-8ADA-43A4-8973-8153F03A0790}"/>
              </a:ext>
            </a:extLst>
          </p:cNvPr>
          <p:cNvSpPr txBox="1"/>
          <p:nvPr/>
        </p:nvSpPr>
        <p:spPr>
          <a:xfrm>
            <a:off x="6813248" y="350041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548155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Pilhas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36712"/>
          </a:xfrm>
        </p:spPr>
        <p:txBody>
          <a:bodyPr>
            <a:normAutofit/>
          </a:bodyPr>
          <a:lstStyle/>
          <a:p>
            <a:r>
              <a:rPr lang="pt-BR" dirty="0"/>
              <a:t>Remoção de itens na pilha (desempilha):</a:t>
            </a:r>
          </a:p>
        </p:txBody>
      </p:sp>
      <p:sp>
        <p:nvSpPr>
          <p:cNvPr id="17" name="Elipse 16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7" idx="2"/>
            <a:endCxn id="17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sp>
        <p:nvSpPr>
          <p:cNvPr id="26" name="Elipse 25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>
            <a:stCxn id="26" idx="2"/>
            <a:endCxn id="2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581966" y="4077073"/>
            <a:ext cx="446406" cy="581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1877592" y="38993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21" name="Conector em curva 20"/>
          <p:cNvCxnSpPr/>
          <p:nvPr/>
        </p:nvCxnSpPr>
        <p:spPr>
          <a:xfrm rot="10800000">
            <a:off x="3935760" y="3685674"/>
            <a:ext cx="720080" cy="398348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1EE7203E-01E1-4011-8091-058CD7D02805}"/>
              </a:ext>
            </a:extLst>
          </p:cNvPr>
          <p:cNvSpPr/>
          <p:nvPr/>
        </p:nvSpPr>
        <p:spPr>
          <a:xfrm>
            <a:off x="10430054" y="2168315"/>
            <a:ext cx="793758" cy="2521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7D07B6ED-7939-428A-9F7C-417135C21FF5}"/>
              </a:ext>
            </a:extLst>
          </p:cNvPr>
          <p:cNvSpPr/>
          <p:nvPr/>
        </p:nvSpPr>
        <p:spPr>
          <a:xfrm>
            <a:off x="10466079" y="4114878"/>
            <a:ext cx="727612" cy="502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11C5633-07CA-4194-8DD6-0E786969B790}"/>
              </a:ext>
            </a:extLst>
          </p:cNvPr>
          <p:cNvSpPr txBox="1"/>
          <p:nvPr/>
        </p:nvSpPr>
        <p:spPr>
          <a:xfrm>
            <a:off x="10646332" y="4185630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99B6EDC-1825-48A4-9597-C81765B080A7}"/>
              </a:ext>
            </a:extLst>
          </p:cNvPr>
          <p:cNvSpPr txBox="1"/>
          <p:nvPr/>
        </p:nvSpPr>
        <p:spPr>
          <a:xfrm>
            <a:off x="10470475" y="184170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Pilha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E1C3673-D4E4-4439-9A94-7F27B38B7D5A}"/>
              </a:ext>
            </a:extLst>
          </p:cNvPr>
          <p:cNvSpPr txBox="1"/>
          <p:nvPr/>
        </p:nvSpPr>
        <p:spPr>
          <a:xfrm>
            <a:off x="11228523" y="4185630"/>
            <a:ext cx="89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tam</a:t>
            </a:r>
            <a:r>
              <a:rPr lang="pt-BR" dirty="0"/>
              <a:t> = 0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85CD0C6F-B89B-4B1E-B745-F0CD9D680E12}"/>
              </a:ext>
            </a:extLst>
          </p:cNvPr>
          <p:cNvSpPr/>
          <p:nvPr/>
        </p:nvSpPr>
        <p:spPr>
          <a:xfrm>
            <a:off x="10466079" y="3538814"/>
            <a:ext cx="727612" cy="502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A7F258A-C7B5-49FA-A654-659152CE6F12}"/>
              </a:ext>
            </a:extLst>
          </p:cNvPr>
          <p:cNvSpPr txBox="1"/>
          <p:nvPr/>
        </p:nvSpPr>
        <p:spPr>
          <a:xfrm>
            <a:off x="10646332" y="3609566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4D9F421-48D0-40C6-94BB-D7E922AD0094}"/>
              </a:ext>
            </a:extLst>
          </p:cNvPr>
          <p:cNvSpPr/>
          <p:nvPr/>
        </p:nvSpPr>
        <p:spPr>
          <a:xfrm>
            <a:off x="5852244" y="5016294"/>
            <a:ext cx="632182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desempilha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pilha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Object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this.topo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this.topo.prox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this.tam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7C1C2A0-DB6F-4621-A240-99B42BDBD50F}"/>
              </a:ext>
            </a:extLst>
          </p:cNvPr>
          <p:cNvSpPr txBox="1"/>
          <p:nvPr/>
        </p:nvSpPr>
        <p:spPr>
          <a:xfrm>
            <a:off x="3049694" y="4365848"/>
            <a:ext cx="64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topo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A200BE98-78F2-48F0-AAFA-471A37F5B10C}"/>
              </a:ext>
            </a:extLst>
          </p:cNvPr>
          <p:cNvSpPr/>
          <p:nvPr/>
        </p:nvSpPr>
        <p:spPr>
          <a:xfrm>
            <a:off x="10466079" y="2962750"/>
            <a:ext cx="727612" cy="5028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599FF5A8-A9FC-4447-88CC-FC361F6CF943}"/>
              </a:ext>
            </a:extLst>
          </p:cNvPr>
          <p:cNvSpPr txBox="1"/>
          <p:nvPr/>
        </p:nvSpPr>
        <p:spPr>
          <a:xfrm>
            <a:off x="10646332" y="303350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87B10D0D-2B92-4858-98AD-548911D7E48B}"/>
              </a:ext>
            </a:extLst>
          </p:cNvPr>
          <p:cNvSpPr/>
          <p:nvPr/>
        </p:nvSpPr>
        <p:spPr>
          <a:xfrm>
            <a:off x="6497266" y="3347700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D7863C8A-4E51-4BC3-B7BD-45319792911D}"/>
              </a:ext>
            </a:extLst>
          </p:cNvPr>
          <p:cNvCxnSpPr>
            <a:stCxn id="50" idx="2"/>
            <a:endCxn id="50" idx="6"/>
          </p:cNvCxnSpPr>
          <p:nvPr/>
        </p:nvCxnSpPr>
        <p:spPr>
          <a:xfrm>
            <a:off x="6497266" y="3851756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FE42C738-8154-4265-B916-A8C76FD0471B}"/>
              </a:ext>
            </a:extLst>
          </p:cNvPr>
          <p:cNvSpPr txBox="1"/>
          <p:nvPr/>
        </p:nvSpPr>
        <p:spPr>
          <a:xfrm>
            <a:off x="6692910" y="3851756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cxnSp>
        <p:nvCxnSpPr>
          <p:cNvPr id="54" name="Conector em curva 22">
            <a:extLst>
              <a:ext uri="{FF2B5EF4-FFF2-40B4-BE49-F238E27FC236}">
                <a16:creationId xmlns:a16="http://schemas.microsoft.com/office/drawing/2014/main" id="{F91C0A4C-6ED2-49A0-BC76-F815E73EAAE5}"/>
              </a:ext>
            </a:extLst>
          </p:cNvPr>
          <p:cNvCxnSpPr/>
          <p:nvPr/>
        </p:nvCxnSpPr>
        <p:spPr>
          <a:xfrm rot="10800000">
            <a:off x="5735961" y="3678723"/>
            <a:ext cx="720080" cy="398348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Curvo 5">
            <a:extLst>
              <a:ext uri="{FF2B5EF4-FFF2-40B4-BE49-F238E27FC236}">
                <a16:creationId xmlns:a16="http://schemas.microsoft.com/office/drawing/2014/main" id="{A4993FE4-A045-49AB-AFF8-0ECCD4BDFA42}"/>
              </a:ext>
            </a:extLst>
          </p:cNvPr>
          <p:cNvCxnSpPr>
            <a:stCxn id="45" idx="1"/>
            <a:endCxn id="32" idx="2"/>
          </p:cNvCxnSpPr>
          <p:nvPr/>
        </p:nvCxnSpPr>
        <p:spPr>
          <a:xfrm rot="10800000">
            <a:off x="2215986" y="4268688"/>
            <a:ext cx="833708" cy="28182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5549B33B-969C-42C1-BDAF-E8ADB34A4AD0}"/>
              </a:ext>
            </a:extLst>
          </p:cNvPr>
          <p:cNvCxnSpPr/>
          <p:nvPr/>
        </p:nvCxnSpPr>
        <p:spPr>
          <a:xfrm flipV="1">
            <a:off x="3352801" y="4765594"/>
            <a:ext cx="0" cy="798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EF3D7CB-E9CF-44CE-A243-75C5A84D197C}"/>
              </a:ext>
            </a:extLst>
          </p:cNvPr>
          <p:cNvSpPr txBox="1"/>
          <p:nvPr/>
        </p:nvSpPr>
        <p:spPr>
          <a:xfrm>
            <a:off x="161375" y="5492823"/>
            <a:ext cx="48947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 o primeiro elemento inserido na pilha sempre faz referência para NULL. Quando este elemento for removido, topo passará a referências NULL, caracterizando </a:t>
            </a:r>
            <a:r>
              <a:rPr lang="pt-BR" b="1" dirty="0"/>
              <a:t>pilha vazia</a:t>
            </a:r>
            <a:r>
              <a:rPr lang="pt-BR" dirty="0"/>
              <a:t>.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61E244-DE86-46F8-B850-5C71CB7B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44</a:t>
            </a:fld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B4292D6-F61E-4091-9C6B-4EA035E6FB34}"/>
              </a:ext>
            </a:extLst>
          </p:cNvPr>
          <p:cNvSpPr txBox="1"/>
          <p:nvPr/>
        </p:nvSpPr>
        <p:spPr>
          <a:xfrm>
            <a:off x="3168216" y="3496995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03E6AB34-4764-4B99-AEAB-EBD755F07675}"/>
              </a:ext>
            </a:extLst>
          </p:cNvPr>
          <p:cNvSpPr txBox="1"/>
          <p:nvPr/>
        </p:nvSpPr>
        <p:spPr>
          <a:xfrm>
            <a:off x="4986030" y="3502657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3037022-1768-4565-A195-67F8FC2DD673}"/>
              </a:ext>
            </a:extLst>
          </p:cNvPr>
          <p:cNvSpPr txBox="1"/>
          <p:nvPr/>
        </p:nvSpPr>
        <p:spPr>
          <a:xfrm>
            <a:off x="6813248" y="3500412"/>
            <a:ext cx="38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701524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Operações sobre Pilhas Usando 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campo </a:t>
            </a:r>
            <a:r>
              <a:rPr lang="pt-BR" i="1" dirty="0" err="1"/>
              <a:t>tam</a:t>
            </a:r>
            <a:r>
              <a:rPr lang="pt-BR" dirty="0"/>
              <a:t> evita a contagem do número de itens no método </a:t>
            </a:r>
            <a:r>
              <a:rPr lang="pt-BR" i="1" dirty="0"/>
              <a:t>tamanho</a:t>
            </a:r>
            <a:r>
              <a:rPr lang="pt-BR" dirty="0"/>
              <a:t>.</a:t>
            </a:r>
          </a:p>
          <a:p>
            <a:r>
              <a:rPr lang="pt-BR" dirty="0"/>
              <a:t>Cada célula de uma pilha contém um item da pilha e uma referência para outra célula.</a:t>
            </a:r>
          </a:p>
          <a:p>
            <a:r>
              <a:rPr lang="pt-BR" dirty="0"/>
              <a:t>A classe Pilha contém uma referência para o topo da pilha.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004B06-3BBD-46D2-B0C0-6CEA18D81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0096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Pilhas Usando Estruturas Auto Referenciadas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0934CCA-E9AE-4304-92A4-F6B23995CBBA}"/>
              </a:ext>
            </a:extLst>
          </p:cNvPr>
          <p:cNvSpPr/>
          <p:nvPr/>
        </p:nvSpPr>
        <p:spPr>
          <a:xfrm>
            <a:off x="838200" y="1502671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Pilha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pt-BR" sz="1600" dirty="0"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Pilha () {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empilha (Object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461A4156-89BE-49CB-ACD1-C8DEB7202CC8}"/>
              </a:ext>
            </a:extLst>
          </p:cNvPr>
          <p:cNvCxnSpPr/>
          <p:nvPr/>
        </p:nvCxnSpPr>
        <p:spPr>
          <a:xfrm flipH="1">
            <a:off x="4805082" y="1936376"/>
            <a:ext cx="1048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4A9C09D-7B77-443B-B313-10A0DD38BA9A}"/>
              </a:ext>
            </a:extLst>
          </p:cNvPr>
          <p:cNvSpPr txBox="1"/>
          <p:nvPr/>
        </p:nvSpPr>
        <p:spPr>
          <a:xfrm>
            <a:off x="5997388" y="1456905"/>
            <a:ext cx="5809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 a classe pilha contém a classe “</a:t>
            </a:r>
            <a:r>
              <a:rPr lang="pt-BR" dirty="0" err="1"/>
              <a:t>Celula</a:t>
            </a:r>
            <a:r>
              <a:rPr lang="pt-BR" dirty="0"/>
              <a:t>”. Esta classe possui um objeto item (tipo genérico) e um objeto “</a:t>
            </a:r>
            <a:r>
              <a:rPr lang="pt-BR" dirty="0" err="1"/>
              <a:t>prox</a:t>
            </a:r>
            <a:r>
              <a:rPr lang="pt-BR" dirty="0"/>
              <a:t>” que é uma referência para a própria classe “</a:t>
            </a:r>
            <a:r>
              <a:rPr lang="pt-BR" dirty="0" err="1"/>
              <a:t>Celula</a:t>
            </a:r>
            <a:r>
              <a:rPr lang="pt-BR" dirty="0"/>
              <a:t>”. 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D16B51F7-E49C-4595-93AD-C1D4997BE2EB}"/>
              </a:ext>
            </a:extLst>
          </p:cNvPr>
          <p:cNvCxnSpPr/>
          <p:nvPr/>
        </p:nvCxnSpPr>
        <p:spPr>
          <a:xfrm flipH="1">
            <a:off x="3612776" y="2905472"/>
            <a:ext cx="1048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4D6D8F81-94CD-40EE-92AD-5B7101139B20}"/>
              </a:ext>
            </a:extLst>
          </p:cNvPr>
          <p:cNvSpPr txBox="1"/>
          <p:nvPr/>
        </p:nvSpPr>
        <p:spPr>
          <a:xfrm>
            <a:off x="4805082" y="2582306"/>
            <a:ext cx="5809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“topo” é do tipo “</a:t>
            </a:r>
            <a:r>
              <a:rPr lang="pt-BR" dirty="0" err="1"/>
              <a:t>Celula</a:t>
            </a:r>
            <a:r>
              <a:rPr lang="pt-BR" dirty="0"/>
              <a:t>”, pois sempre irá armazenar a célula do elemento do topo da pilha. 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BA6AA9F-20CC-4D04-8DC1-F0051357160F}"/>
              </a:ext>
            </a:extLst>
          </p:cNvPr>
          <p:cNvCxnSpPr/>
          <p:nvPr/>
        </p:nvCxnSpPr>
        <p:spPr>
          <a:xfrm flipH="1">
            <a:off x="5047129" y="3874566"/>
            <a:ext cx="1048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4CDF00D-C37C-4C09-9E67-686A3597FAB6}"/>
              </a:ext>
            </a:extLst>
          </p:cNvPr>
          <p:cNvSpPr txBox="1"/>
          <p:nvPr/>
        </p:nvSpPr>
        <p:spPr>
          <a:xfrm>
            <a:off x="6239435" y="3551400"/>
            <a:ext cx="5809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Criando uma pilha vazia. “topo” é um objeto não instanciado e portanto faz referência para NULL. 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FD46C34-7BA7-4FAC-BB32-F8F28C40D491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  <p:sp>
        <p:nvSpPr>
          <p:cNvPr id="14" name="Espaço Reservado para Número de Slide 13">
            <a:extLst>
              <a:ext uri="{FF2B5EF4-FFF2-40B4-BE49-F238E27FC236}">
                <a16:creationId xmlns:a16="http://schemas.microsoft.com/office/drawing/2014/main" id="{F36A39DF-74E7-444D-98B5-1969B233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4871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Pilhas Usando Estruturas Auto Referenciadas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7D66C56-605D-491F-8282-23E2981E3CAB}"/>
              </a:ext>
            </a:extLst>
          </p:cNvPr>
          <p:cNvSpPr/>
          <p:nvPr/>
        </p:nvSpPr>
        <p:spPr>
          <a:xfrm>
            <a:off x="838199" y="1812302"/>
            <a:ext cx="753483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desempilha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Exception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pilha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Object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  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vazia ()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topo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tamanho ()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tam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3BC1D64-D1C3-462E-BB30-10837C309D39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BCA7673-68B3-4108-BB48-47AFDEA9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65124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da pilha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080E70F-6652-4CD4-A0E1-AD0CE7C00512}"/>
              </a:ext>
            </a:extLst>
          </p:cNvPr>
          <p:cNvSpPr/>
          <p:nvPr/>
        </p:nvSpPr>
        <p:spPr>
          <a:xfrm>
            <a:off x="838199" y="1582952"/>
            <a:ext cx="7660341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TestaPilha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 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Pilha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pilha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Pilha ();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Integer </a:t>
            </a:r>
            <a:r>
              <a:rPr lang="sv-SE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sv-SE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Integer[1000];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java.util.Random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random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java.util.Random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10;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Gera uma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permutacao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aleatoria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 de chaves entre 0 e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max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 - 1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n-NO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n-NO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random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()) % 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random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()) % 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  <a:endParaRPr lang="pt-BR" sz="16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4D5907-BC98-44C4-860C-93953C1E1009}"/>
              </a:ext>
            </a:extLst>
          </p:cNvPr>
          <p:cNvSpPr txBox="1"/>
          <p:nvPr/>
        </p:nvSpPr>
        <p:spPr>
          <a:xfrm>
            <a:off x="8767485" y="1690688"/>
            <a:ext cx="2490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Utilize a classe ao lado para testar a pilha por vetor e com estruturas auto referenciadas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AE52A51-7B3E-488C-A9B9-FF7025D32F19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0FB0A4A-AF10-443A-A52D-400D74B97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72393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500DF-9CD4-46D3-8DF5-C85D8169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 da pilha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70F9D8E-FD2C-46D7-A53B-1329189CC801}"/>
              </a:ext>
            </a:extLst>
          </p:cNvPr>
          <p:cNvSpPr/>
          <p:nvPr/>
        </p:nvSpPr>
        <p:spPr>
          <a:xfrm>
            <a:off x="838199" y="1690688"/>
            <a:ext cx="8485095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Insere cada chave na pilha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n-NO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pilha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.empilha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"Empilhou: 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i="1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"Tamanho da pilha: 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pilha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.tamanho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Desempilha cada chave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n-NO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pilha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.desempilha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"Desempilhou: 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pilha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.desempilha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.getMessage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"Tamanho da pilha: 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pilha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.tamanho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F041F4B-1B48-40AA-B41F-DF1F0B68453A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D08F450-B5D7-4AD3-A44F-D138FC16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24952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Baseado no material de aulas de: </a:t>
            </a:r>
          </a:p>
          <a:p>
            <a:pPr lvl="1"/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</a:t>
            </a:r>
          </a:p>
          <a:p>
            <a:pPr lvl="1"/>
            <a:r>
              <a:rPr lang="pt-BR" dirty="0"/>
              <a:t>Para downloads dos códigos em Java:</a:t>
            </a:r>
          </a:p>
          <a:p>
            <a:pPr lvl="1"/>
            <a:r>
              <a:rPr lang="pt-BR" dirty="0">
                <a:hlinkClick r:id="rId2"/>
              </a:rPr>
              <a:t>http://www2.dcc.ufmg.br/livros/algoritmos-java/implementacoes-03.php</a:t>
            </a:r>
            <a:endParaRPr lang="pt-BR" dirty="0"/>
          </a:p>
          <a:p>
            <a:endParaRPr lang="pt-BR" dirty="0"/>
          </a:p>
          <a:p>
            <a:r>
              <a:rPr lang="pt-BR" dirty="0"/>
              <a:t>Outras referências:</a:t>
            </a:r>
          </a:p>
          <a:p>
            <a:pPr lvl="1"/>
            <a:r>
              <a:rPr lang="pt-BR" dirty="0"/>
              <a:t>CORMEN, Thomas H. et al. Algoritmos: teoria e prática. Rio de Janeiro: Campus, 2002. 916p. ISBN 8535209263 (Disponível no Acervo).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DROZDEK, Adam. Estrutura de dados e algoritmos em C++. São Paulo: Pioneira Thomson Learning, 2002. </a:t>
            </a:r>
            <a:r>
              <a:rPr lang="pt-BR" dirty="0" err="1"/>
              <a:t>xviii</a:t>
            </a:r>
            <a:r>
              <a:rPr lang="pt-BR" dirty="0"/>
              <a:t>, 579p. ISBN 8522102953 (Disponível no Acervo).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24E0C8-41CC-4E84-AFA6-B349EB45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8691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3776</Words>
  <Application>Microsoft Office PowerPoint</Application>
  <PresentationFormat>Widescreen</PresentationFormat>
  <Paragraphs>737</Paragraphs>
  <Slides>50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Calibri Light</vt:lpstr>
      <vt:lpstr>Cambria Math</vt:lpstr>
      <vt:lpstr>Consolas</vt:lpstr>
      <vt:lpstr>Tema do Office</vt:lpstr>
      <vt:lpstr>TAD - Pilha</vt:lpstr>
      <vt:lpstr>Referências</vt:lpstr>
      <vt:lpstr>Pilhas</vt:lpstr>
      <vt:lpstr>Pilhas</vt:lpstr>
      <vt:lpstr>Propriedade das Pilhas</vt:lpstr>
      <vt:lpstr>Propriedade das Pilhas</vt:lpstr>
      <vt:lpstr>Propriedade das Pilhas</vt:lpstr>
      <vt:lpstr>Propriedade das Pilhas</vt:lpstr>
      <vt:lpstr>Propriedade das Pilhas</vt:lpstr>
      <vt:lpstr>Propriedade das Pilhas</vt:lpstr>
      <vt:lpstr>Propriedade das Pilhas</vt:lpstr>
      <vt:lpstr>Propriedade das Pilhas</vt:lpstr>
      <vt:lpstr>Propriedade das Pilhas</vt:lpstr>
      <vt:lpstr>Propriedade das Pilhas</vt:lpstr>
      <vt:lpstr>Propriedade das Pilhas</vt:lpstr>
      <vt:lpstr>Propriedade das Pilhas</vt:lpstr>
      <vt:lpstr>Propriedade das Pilhas</vt:lpstr>
      <vt:lpstr>TAD Pilhas</vt:lpstr>
      <vt:lpstr>TAD Pilhas</vt:lpstr>
      <vt:lpstr>Implementação de Pilhas por meio de Arranjos</vt:lpstr>
      <vt:lpstr>Implementação de Pilhas por meio de Arranjos</vt:lpstr>
      <vt:lpstr>Implementação de Pilhas por meio de Arranjos</vt:lpstr>
      <vt:lpstr>Implementação de Pilhas por meio de Arranjos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Implementação de Pilhas por meio de Estruturas Auto Referenciadas</vt:lpstr>
      <vt:lpstr>Operações sobre Pilhas Usando Estruturas Auto Referenciadas</vt:lpstr>
      <vt:lpstr>Pilhas Usando Estruturas Auto Referenciadas</vt:lpstr>
      <vt:lpstr>Pilhas Usando Estruturas Auto Referenciadas</vt:lpstr>
      <vt:lpstr>Teste da pilha</vt:lpstr>
      <vt:lpstr>Teste da pilha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TAD - Pilha</dc:title>
  <dc:creator>Henrique Silva</dc:creator>
  <cp:lastModifiedBy>Henrique Silva</cp:lastModifiedBy>
  <cp:revision>22</cp:revision>
  <dcterms:created xsi:type="dcterms:W3CDTF">2018-02-11T15:51:37Z</dcterms:created>
  <dcterms:modified xsi:type="dcterms:W3CDTF">2019-08-10T15:33:12Z</dcterms:modified>
</cp:coreProperties>
</file>