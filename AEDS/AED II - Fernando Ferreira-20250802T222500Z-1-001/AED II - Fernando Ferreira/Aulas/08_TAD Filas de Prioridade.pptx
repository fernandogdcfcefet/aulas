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22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A46E6-4E1A-4B8F-BBB0-8F81F0BEFED5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A3877-CFC2-4E99-9BC4-1D697B204C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62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D1163-60F6-4F22-86C8-670E0FA60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BA9ED4-ACEA-4ACC-8DAC-6C63083FF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F6C650-8FC0-49CD-B119-66852C6C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84E9E-323C-4D76-A562-03B613FAD81B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A2E52-FEA0-4537-948B-2CE740D4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D5B61-39B0-476C-82D8-6A274813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696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42203-CF54-49CA-AD8B-761AA3F5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37979-6810-4383-BF97-99B2AC978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FB1D4-F54D-4EB6-9D8A-A0E36BB6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870D-AB5E-4E43-BE72-FB0AA547E1D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537510-9BDC-44E1-94C4-36BDBAD9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DCCADF-7E89-4B86-ADC5-9420D32F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864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0145-BFF4-4A17-9C09-153C61AF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C971E0-B851-49C3-AA85-0024836C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468237-E2AB-49A6-9C81-9D90DE83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AFEDA-71E8-478E-AEA0-A956738C44F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2ACFDC-DDE5-4DF9-871E-67C7F69D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D82344-9DA3-4E39-B5BC-061B6ECB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77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8CE12-45DE-4297-BD62-FFAEA016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3DA2C8-2F5A-43C4-934F-D6FCE6205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7EEAAE-B5F8-4328-9B5F-7098DF892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1DA8EB-99A8-462E-B55F-4EC99C5B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FA5F-3ECD-4943-AD38-87D0A7BC01A0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F8C566-C4E5-4069-8C81-EC8A1D7B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7AFBB-5AB4-4371-B126-947049CE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3E3B0-12E6-4737-854E-2C0ADB87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25948B-30B3-43CA-9EB4-BF7A86DB1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A88E36-0E77-4458-BEEA-0203B12FF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7D26F1-B391-4AA6-B3D0-8018811CC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C89788-AA18-4375-BBB1-525990456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35B540-9654-421E-8B90-0D7E6A55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73E-2034-44A9-BC05-27157DC5EDD4}" type="datetime1">
              <a:rPr lang="pt-BR" smtClean="0"/>
              <a:t>10/08/2019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F0D045-A705-41B1-AF62-C26B9D29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E1DD05-ADF9-4EC0-AC9E-7BED1A59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96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0CD46-0311-49DC-A680-4D2168D5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EE21C9-00B5-4C41-838A-7646BD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267CE-6D9A-4045-969F-DE11DDF0BA3D}" type="datetime1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D8561D-5B0B-4075-BEB5-50450C76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879B8-A2E4-46F0-AE48-1CADCC4A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90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C69467-1396-4E55-8F17-64388AD0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7E11-01E9-4384-A103-DBAE017CA503}" type="datetime1">
              <a:rPr lang="pt-BR" smtClean="0"/>
              <a:t>10/08/2019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699F9B-5E17-4AF2-917A-C3885745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F6F98C-0D2A-42CC-8517-376439B7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79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96ECB-6ADD-4457-ADC0-DA36CE80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3C315D-D135-4D42-B4CD-37E6DEA8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A26CF8-5BDE-44D5-BCCD-F879E51C9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EC748D-F65D-4F69-A0F5-243D8032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42E-2906-4461-8A97-7A27C05C7B1A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CE6625-A646-499A-A5F2-FB1C8758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C3103-0145-4401-AC66-477F1471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7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C3DFA-41F0-4C64-A868-C1763A7B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8D3609-D05B-4246-804F-4CA0FE0FC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7914C3-D139-497A-B3F6-5D609AF74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8151E0-D270-47CA-B1BC-F3326536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E00C2-E0AC-460E-929B-7079F0347316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D7C8D2-1A91-4E49-BBA2-46C28729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22B3A6-8ABF-4DC3-8CD4-0640A73F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31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8C317-32EE-4448-941D-6DA2D519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7D88EA-C228-47E1-B5B6-ABA9B7C6E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83E368-D67D-48F3-8F59-95CEE749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25D0-E3BB-4E8E-8FE6-D9B00EC27CAE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D1D1D-AA27-4EF1-8A78-895F87D9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510510-F0B4-4C33-BE66-9E83434F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75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2CE5FF-CEDD-446B-9E3D-A7E5CC1BB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88983C-2490-482C-A7F4-2A8A7608F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6C5D19-47BE-40CF-B809-7DB5F122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E8A-ECEE-473C-A1E9-7321E45784D7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8C711-DCD6-4635-8AC0-C6DA03B2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97A7E8-ECED-4141-B514-9C35AB05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41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605902-0991-41A4-96C1-077ED554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1F0E4C-86B8-4716-A9E6-510FF979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28DBE3-D1BA-4C3F-ABBE-51A48E5CF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C1123-A8E1-472A-8A44-06236134FE1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EE578F-3C6C-4EC4-BBDB-1A428C2AD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98F652-25C0-4C1C-9B59-3E726DE3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26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www2.dcc.ufmg.br/livros/algoritmos-java/implementacoes-03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D16D4-E005-4D0C-9908-F530AAEB8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TAD – Fila de Prioridades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0A62BC-D0C4-41EF-A98E-C7A2DCD6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D476C4-E6DF-4F4C-92EC-C4F3F2B4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45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Fila de prioridades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fila de prioridades é um tipo abstrato de dados em que um conjunto de elementos é armazenado (semelhante a uma lista linear).</a:t>
            </a:r>
          </a:p>
          <a:p>
            <a:r>
              <a:rPr lang="pt-BR" dirty="0"/>
              <a:t>Contudo a cada elemento irá se associar um valor denominado prioridade do elemento.</a:t>
            </a:r>
          </a:p>
          <a:p>
            <a:r>
              <a:rPr lang="pt-BR" dirty="0"/>
              <a:t>Elementos de maior prioridade deixarão o conjunto antes dos elementos de menor prioridade.</a:t>
            </a:r>
          </a:p>
          <a:p>
            <a:r>
              <a:rPr lang="pt-BR" dirty="0"/>
              <a:t>Pode ser representada por um lista linear ordenada ou uma lista linear não ordenada</a:t>
            </a:r>
          </a:p>
        </p:txBody>
      </p:sp>
    </p:spTree>
    <p:extLst>
      <p:ext uri="{BB962C8B-B14F-4D97-AF65-F5344CB8AC3E}">
        <p14:creationId xmlns:p14="http://schemas.microsoft.com/office/powerpoint/2010/main" val="3890602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Fila de prioridades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 prioridade do elemento pode ser um valor, denominado prioridade, ou até mesmo, o valor da própria chave (item).</a:t>
            </a:r>
          </a:p>
          <a:p>
            <a:r>
              <a:rPr lang="pt-BR" sz="3200" dirty="0"/>
              <a:t>Exemplo:</a:t>
            </a:r>
          </a:p>
          <a:p>
            <a:pPr lvl="1"/>
            <a:r>
              <a:rPr lang="pt-BR" sz="2800" dirty="0"/>
              <a:t>Fila de processo para serem executados: processos com maior prioridade (por exemplo: maior tempo na fila) são removidos primeiro da lista.</a:t>
            </a:r>
          </a:p>
        </p:txBody>
      </p:sp>
    </p:spTree>
    <p:extLst>
      <p:ext uri="{BB962C8B-B14F-4D97-AF65-F5344CB8AC3E}">
        <p14:creationId xmlns:p14="http://schemas.microsoft.com/office/powerpoint/2010/main" val="367012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Fila de prioridades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 fila de prioridade contém duas operações básicas:</a:t>
            </a:r>
          </a:p>
          <a:p>
            <a:pPr lvl="1"/>
            <a:r>
              <a:rPr lang="pt-BR" sz="2800" dirty="0"/>
              <a:t>Inserção de um elementos.</a:t>
            </a:r>
          </a:p>
          <a:p>
            <a:pPr lvl="1"/>
            <a:r>
              <a:rPr lang="pt-BR" sz="2800" dirty="0"/>
              <a:t>Remoção do elemento de maior prioridade.</a:t>
            </a:r>
          </a:p>
          <a:p>
            <a:r>
              <a:rPr lang="pt-BR" sz="3200" dirty="0"/>
              <a:t>Existem várias formas de implementar filas de prioridade.</a:t>
            </a:r>
          </a:p>
          <a:p>
            <a:r>
              <a:rPr lang="pt-BR" sz="3200" dirty="0"/>
              <a:t>Algumas eficientes para inserção de elementos, outras eficientes na remoção dos elementos. </a:t>
            </a:r>
          </a:p>
        </p:txBody>
      </p:sp>
    </p:spTree>
    <p:extLst>
      <p:ext uri="{BB962C8B-B14F-4D97-AF65-F5344CB8AC3E}">
        <p14:creationId xmlns:p14="http://schemas.microsoft.com/office/powerpoint/2010/main" val="1802422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Fila de prioridades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Uma maneira de representar Filas de Prioridade, é manter uma lista encadeada com seus elementos sempre </a:t>
                </a:r>
                <a:r>
                  <a:rPr lang="pt-BR" b="1" dirty="0"/>
                  <a:t>ordenados de forma decrescente</a:t>
                </a:r>
                <a:r>
                  <a:rPr lang="pt-BR" dirty="0"/>
                  <a:t> (pelo valor do item).</a:t>
                </a:r>
              </a:p>
              <a:p>
                <a:pPr lvl="1"/>
                <a:r>
                  <a:rPr lang="pt-BR" dirty="0"/>
                  <a:t>O primeiro elemento da fila será sempre o de maior prioridade.</a:t>
                </a:r>
              </a:p>
              <a:p>
                <a:pPr lvl="1"/>
                <a:r>
                  <a:rPr lang="pt-BR" dirty="0"/>
                  <a:t>Para remover um elemento da fila, remova o primeiro </a:t>
                </a:r>
                <a:r>
                  <a:rPr lang="pt-BR" dirty="0">
                    <a:sym typeface="Wingdings" pitchFamily="2" charset="2"/>
                  </a:rPr>
                  <a:t> tempo computacional constante (não requer operação para percorrer a lista) </a:t>
                </a:r>
                <a:endParaRPr lang="pt-BR" dirty="0"/>
              </a:p>
              <a:p>
                <a:pPr lvl="1"/>
                <a:r>
                  <a:rPr lang="pt-BR" dirty="0"/>
                  <a:t>Para inserir um novo elemento: no pior caso, tempo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  <a:sym typeface="Wingdings" pitchFamily="2" charset="2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/>
                        <a:sym typeface="Wingdings" pitchFamily="2" charset="2"/>
                      </a:rPr>
                      <m:t>, </m:t>
                    </m:r>
                  </m:oMath>
                </a14:m>
                <a:r>
                  <a:rPr lang="pt-BR" dirty="0"/>
                  <a:t> ou seja, deve-se percorrer toda a lista até encontrar a posição do elemento (deve manter a fila sempre ordenada). </a:t>
                </a:r>
              </a:p>
              <a:p>
                <a:pPr lvl="2"/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é a quantidade de elementos da Fila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69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Fila de prioridades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3200" dirty="0"/>
                  <a:t>Alternativa: Não manter a fila ordenada, inserir de forma aleatória. Neste caso:</a:t>
                </a:r>
              </a:p>
              <a:p>
                <a:pPr lvl="1"/>
                <a:r>
                  <a:rPr lang="pt-BR" sz="2800" dirty="0"/>
                  <a:t>Inserir um novo elemento no final da fila </a:t>
                </a:r>
                <a:r>
                  <a:rPr lang="pt-BR" sz="2800" dirty="0">
                    <a:sym typeface="Wingdings" pitchFamily="2" charset="2"/>
                  </a:rPr>
                  <a:t> custo constante.</a:t>
                </a:r>
                <a:endParaRPr lang="pt-BR" sz="2800" dirty="0"/>
              </a:p>
              <a:p>
                <a:pPr lvl="1"/>
                <a:r>
                  <a:rPr lang="pt-BR" sz="2800" dirty="0"/>
                  <a:t>Para remover um elemento é necessário percorrer a lista para obter o elemento de maior prioridade. Custo é sempre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/>
                            <a:sym typeface="Wingdings" pitchFamily="2" charset="2"/>
                          </a:rPr>
                          <m:t>𝑛</m:t>
                        </m:r>
                      </m:e>
                    </m:d>
                    <m:r>
                      <a:rPr lang="pt-BR" sz="2800" i="1">
                        <a:latin typeface="Cambria Math"/>
                        <a:sym typeface="Wingdings" pitchFamily="2" charset="2"/>
                      </a:rPr>
                      <m:t>, </m:t>
                    </m:r>
                  </m:oMath>
                </a14:m>
                <a:r>
                  <a:rPr lang="pt-BR" sz="2800" dirty="0"/>
                  <a:t>para encontrar o elemento de maior prioridade.</a:t>
                </a:r>
              </a:p>
              <a:p>
                <a:endParaRPr lang="pt-BR" sz="3200" dirty="0"/>
              </a:p>
              <a:p>
                <a:endParaRPr lang="pt-BR" sz="32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9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44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89938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19" idx="1"/>
          </p:cNvCxnSpPr>
          <p:nvPr/>
        </p:nvCxnSpPr>
        <p:spPr>
          <a:xfrm flipV="1">
            <a:off x="551993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651576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714DCBB-8CBB-4951-B56B-B3776EC87B47}"/>
              </a:ext>
            </a:extLst>
          </p:cNvPr>
          <p:cNvSpPr txBox="1"/>
          <p:nvPr/>
        </p:nvSpPr>
        <p:spPr>
          <a:xfrm>
            <a:off x="8941777" y="1951892"/>
            <a:ext cx="28647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Observe que a prioridade é definida pelo valor da chave do elemento (maior valor, maior prioridade)</a:t>
            </a:r>
          </a:p>
        </p:txBody>
      </p:sp>
    </p:spTree>
    <p:extLst>
      <p:ext uri="{BB962C8B-B14F-4D97-AF65-F5344CB8AC3E}">
        <p14:creationId xmlns:p14="http://schemas.microsoft.com/office/powerpoint/2010/main" val="1042972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fila: x = </a:t>
            </a:r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89938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19" idx="1"/>
          </p:cNvCxnSpPr>
          <p:nvPr/>
        </p:nvCxnSpPr>
        <p:spPr>
          <a:xfrm flipV="1">
            <a:off x="551993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651576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76510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64560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7" idx="2"/>
            <a:endCxn id="17" idx="6"/>
          </p:cNvCxnSpPr>
          <p:nvPr/>
        </p:nvCxnSpPr>
        <p:spPr>
          <a:xfrm>
            <a:off x="64560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8024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6516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8" name="Conector em curva 27"/>
          <p:cNvCxnSpPr/>
          <p:nvPr/>
        </p:nvCxnSpPr>
        <p:spPr>
          <a:xfrm flipV="1">
            <a:off x="57359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endCxn id="30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562414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fila: x = </a:t>
            </a:r>
            <a:r>
              <a:rPr lang="pt-BR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64560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7" idx="2"/>
            <a:endCxn id="17" idx="6"/>
          </p:cNvCxnSpPr>
          <p:nvPr/>
        </p:nvCxnSpPr>
        <p:spPr>
          <a:xfrm>
            <a:off x="64560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8024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6516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8" name="Conector em curva 27"/>
          <p:cNvCxnSpPr/>
          <p:nvPr/>
        </p:nvCxnSpPr>
        <p:spPr>
          <a:xfrm flipV="1">
            <a:off x="57359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endCxn id="30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864" y="4365104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2360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fila: x = </a:t>
            </a:r>
            <a:r>
              <a:rPr lang="pt-BR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em curva 27"/>
          <p:cNvCxnSpPr/>
          <p:nvPr/>
        </p:nvCxnSpPr>
        <p:spPr>
          <a:xfrm flipV="1">
            <a:off x="57359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64560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64560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8024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6516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cxnSp>
        <p:nvCxnSpPr>
          <p:cNvPr id="37" name="Conector de seta reta 36"/>
          <p:cNvCxnSpPr>
            <a:endCxn id="38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699484" y="4757734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2877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fila: x = </a:t>
            </a:r>
            <a:r>
              <a:rPr lang="pt-BR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417962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1842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7" idx="2"/>
            <a:endCxn id="17" idx="6"/>
          </p:cNvCxnSpPr>
          <p:nvPr/>
        </p:nvCxnSpPr>
        <p:spPr>
          <a:xfrm>
            <a:off x="81842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85306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83798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9" name="Conector de seta reta 28"/>
          <p:cNvCxnSpPr>
            <a:endCxn id="30" idx="1"/>
          </p:cNvCxnSpPr>
          <p:nvPr/>
        </p:nvCxnSpPr>
        <p:spPr>
          <a:xfrm flipV="1">
            <a:off x="9031894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10027724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Elipse 30"/>
          <p:cNvSpPr/>
          <p:nvPr/>
        </p:nvSpPr>
        <p:spPr>
          <a:xfrm>
            <a:off x="64560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64560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8024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6516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312024" y="2915652"/>
            <a:ext cx="129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1271280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fila: x = </a:t>
            </a:r>
            <a:r>
              <a:rPr lang="pt-BR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417962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1842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7" idx="2"/>
            <a:endCxn id="17" idx="6"/>
          </p:cNvCxnSpPr>
          <p:nvPr/>
        </p:nvCxnSpPr>
        <p:spPr>
          <a:xfrm>
            <a:off x="81842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85306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83798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8" name="Conector em curva 27"/>
          <p:cNvCxnSpPr/>
          <p:nvPr/>
        </p:nvCxnSpPr>
        <p:spPr>
          <a:xfrm flipV="1">
            <a:off x="57359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endCxn id="30" idx="1"/>
          </p:cNvCxnSpPr>
          <p:nvPr/>
        </p:nvCxnSpPr>
        <p:spPr>
          <a:xfrm flipV="1">
            <a:off x="9031894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10027724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Elipse 30"/>
          <p:cNvSpPr/>
          <p:nvPr/>
        </p:nvSpPr>
        <p:spPr>
          <a:xfrm>
            <a:off x="64560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64560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8024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6516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312024" y="2915652"/>
            <a:ext cx="129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447351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fila: x = </a:t>
            </a:r>
            <a:r>
              <a:rPr lang="pt-BR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417962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1842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7" idx="2"/>
            <a:endCxn id="17" idx="6"/>
          </p:cNvCxnSpPr>
          <p:nvPr/>
        </p:nvCxnSpPr>
        <p:spPr>
          <a:xfrm>
            <a:off x="81842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85306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83798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8" name="Conector em curva 27"/>
          <p:cNvCxnSpPr/>
          <p:nvPr/>
        </p:nvCxnSpPr>
        <p:spPr>
          <a:xfrm flipV="1">
            <a:off x="57359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endCxn id="30" idx="1"/>
          </p:cNvCxnSpPr>
          <p:nvPr/>
        </p:nvCxnSpPr>
        <p:spPr>
          <a:xfrm flipV="1">
            <a:off x="9031894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10027724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Elipse 30"/>
          <p:cNvSpPr/>
          <p:nvPr/>
        </p:nvSpPr>
        <p:spPr>
          <a:xfrm>
            <a:off x="64560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64560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8024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6516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7505376" y="3678722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6312024" y="2915652"/>
            <a:ext cx="129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DEAABB16-B0BC-44F0-A9F5-2FDB3137F752}"/>
                  </a:ext>
                </a:extLst>
              </p:cNvPr>
              <p:cNvSpPr txBox="1"/>
              <p:nvPr/>
            </p:nvSpPr>
            <p:spPr>
              <a:xfrm>
                <a:off x="180755" y="5375720"/>
                <a:ext cx="555520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/>
                  <a:t>Observe que a inserção tem o custo de percorrer a fila de prioridade para encontrar a posição correta do novo elemento. No pior caso, percorre-se toda a lista com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000" dirty="0"/>
                  <a:t> elementos: </a:t>
                </a: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DEAABB16-B0BC-44F0-A9F5-2FDB3137F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55" y="5375720"/>
                <a:ext cx="5555204" cy="1323439"/>
              </a:xfrm>
              <a:prstGeom prst="rect">
                <a:avLst/>
              </a:prstGeom>
              <a:blipFill>
                <a:blip r:embed="rId2"/>
                <a:stretch>
                  <a:fillRect l="-1207" t="-2765" r="-988" b="-73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8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um elemento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417962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1842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7" idx="2"/>
            <a:endCxn id="17" idx="6"/>
          </p:cNvCxnSpPr>
          <p:nvPr/>
        </p:nvCxnSpPr>
        <p:spPr>
          <a:xfrm>
            <a:off x="81842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85306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83798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8" name="Conector em curva 27"/>
          <p:cNvCxnSpPr/>
          <p:nvPr/>
        </p:nvCxnSpPr>
        <p:spPr>
          <a:xfrm flipV="1">
            <a:off x="57359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endCxn id="30" idx="1"/>
          </p:cNvCxnSpPr>
          <p:nvPr/>
        </p:nvCxnSpPr>
        <p:spPr>
          <a:xfrm flipV="1">
            <a:off x="9031894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10027724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Elipse 30"/>
          <p:cNvSpPr/>
          <p:nvPr/>
        </p:nvSpPr>
        <p:spPr>
          <a:xfrm>
            <a:off x="64560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64560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8024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6516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7505376" y="3678722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853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um elemento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7278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417962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1842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7" idx="2"/>
            <a:endCxn id="17" idx="6"/>
          </p:cNvCxnSpPr>
          <p:nvPr/>
        </p:nvCxnSpPr>
        <p:spPr>
          <a:xfrm>
            <a:off x="81842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85306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83798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8" name="Conector em curva 27"/>
          <p:cNvCxnSpPr/>
          <p:nvPr/>
        </p:nvCxnSpPr>
        <p:spPr>
          <a:xfrm flipV="1">
            <a:off x="57359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endCxn id="30" idx="1"/>
          </p:cNvCxnSpPr>
          <p:nvPr/>
        </p:nvCxnSpPr>
        <p:spPr>
          <a:xfrm flipV="1">
            <a:off x="9031894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10027724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Elipse 30"/>
          <p:cNvSpPr/>
          <p:nvPr/>
        </p:nvSpPr>
        <p:spPr>
          <a:xfrm>
            <a:off x="64560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64560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8024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6516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7505376" y="3678722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D37572B-19ED-4B7E-98BA-D24A5E85D918}"/>
              </a:ext>
            </a:extLst>
          </p:cNvPr>
          <p:cNvCxnSpPr/>
          <p:nvPr/>
        </p:nvCxnSpPr>
        <p:spPr>
          <a:xfrm flipV="1">
            <a:off x="5125915" y="4914900"/>
            <a:ext cx="0" cy="633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678B08-2C67-463A-9F18-FC3D7D89A573}"/>
              </a:ext>
            </a:extLst>
          </p:cNvPr>
          <p:cNvSpPr txBox="1"/>
          <p:nvPr/>
        </p:nvSpPr>
        <p:spPr>
          <a:xfrm>
            <a:off x="3505234" y="5547946"/>
            <a:ext cx="33581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Primeiro elemento removido: elemento de maior prioridade</a:t>
            </a:r>
          </a:p>
        </p:txBody>
      </p:sp>
    </p:spTree>
    <p:extLst>
      <p:ext uri="{BB962C8B-B14F-4D97-AF65-F5344CB8AC3E}">
        <p14:creationId xmlns:p14="http://schemas.microsoft.com/office/powerpoint/2010/main" val="919358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um elemento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5280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417962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1842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7" idx="2"/>
            <a:endCxn id="17" idx="6"/>
          </p:cNvCxnSpPr>
          <p:nvPr/>
        </p:nvCxnSpPr>
        <p:spPr>
          <a:xfrm>
            <a:off x="81842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85306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83798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8" name="Conector em curva 27"/>
          <p:cNvCxnSpPr/>
          <p:nvPr/>
        </p:nvCxnSpPr>
        <p:spPr>
          <a:xfrm flipV="1">
            <a:off x="57359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endCxn id="30" idx="1"/>
          </p:cNvCxnSpPr>
          <p:nvPr/>
        </p:nvCxnSpPr>
        <p:spPr>
          <a:xfrm flipV="1">
            <a:off x="9031894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10027724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Elipse 30"/>
          <p:cNvSpPr/>
          <p:nvPr/>
        </p:nvSpPr>
        <p:spPr>
          <a:xfrm>
            <a:off x="64560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64560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8024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6516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7505376" y="3678722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48CD2B20-FD26-4BB5-B80A-6367C28F435B}"/>
              </a:ext>
            </a:extLst>
          </p:cNvPr>
          <p:cNvCxnSpPr/>
          <p:nvPr/>
        </p:nvCxnSpPr>
        <p:spPr>
          <a:xfrm flipV="1">
            <a:off x="6924593" y="4879731"/>
            <a:ext cx="0" cy="633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91ABD2A-24BC-487F-A126-FDCF9B38EA2C}"/>
              </a:ext>
            </a:extLst>
          </p:cNvPr>
          <p:cNvSpPr txBox="1"/>
          <p:nvPr/>
        </p:nvSpPr>
        <p:spPr>
          <a:xfrm>
            <a:off x="5303912" y="5512777"/>
            <a:ext cx="335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Segundo elemento removido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41EB43B-1925-4B53-AF05-1EFDFB3CF9D1}"/>
              </a:ext>
            </a:extLst>
          </p:cNvPr>
          <p:cNvSpPr txBox="1"/>
          <p:nvPr/>
        </p:nvSpPr>
        <p:spPr>
          <a:xfrm>
            <a:off x="180755" y="5375720"/>
            <a:ext cx="44750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Observe que a remoção é trivial, pois a lista encontra-se ordenada pela maior prioridade. Assim, basta remover o elemento na frente da lista.</a:t>
            </a:r>
          </a:p>
        </p:txBody>
      </p:sp>
    </p:spTree>
    <p:extLst>
      <p:ext uri="{BB962C8B-B14F-4D97-AF65-F5344CB8AC3E}">
        <p14:creationId xmlns:p14="http://schemas.microsoft.com/office/powerpoint/2010/main" val="4124069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Inserção de elemento na Fila </a:t>
            </a:r>
            <a:r>
              <a:rPr lang="pt-BR" b="1" dirty="0"/>
              <a:t>não ordenada</a:t>
            </a:r>
            <a:r>
              <a:rPr lang="pt-BR" dirty="0"/>
              <a:t>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endCxn id="38" idx="1"/>
          </p:cNvCxnSpPr>
          <p:nvPr/>
        </p:nvCxnSpPr>
        <p:spPr>
          <a:xfrm flipV="1">
            <a:off x="551993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651576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29276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48895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3119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Inserção de elemento na Fila </a:t>
            </a:r>
            <a:r>
              <a:rPr lang="pt-BR" b="1" dirty="0"/>
              <a:t>não ordenada</a:t>
            </a:r>
            <a:r>
              <a:rPr lang="pt-BR" dirty="0"/>
              <a:t>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6240016" y="2915652"/>
            <a:ext cx="129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29276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8" name="Elipse 17"/>
          <p:cNvSpPr/>
          <p:nvPr/>
        </p:nvSpPr>
        <p:spPr>
          <a:xfrm>
            <a:off x="63840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2"/>
            <a:endCxn id="18" idx="6"/>
          </p:cNvCxnSpPr>
          <p:nvPr/>
        </p:nvCxnSpPr>
        <p:spPr>
          <a:xfrm>
            <a:off x="63840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7304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5796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6" name="Conector de seta reta 25"/>
          <p:cNvCxnSpPr>
            <a:endCxn id="28" idx="1"/>
          </p:cNvCxnSpPr>
          <p:nvPr/>
        </p:nvCxnSpPr>
        <p:spPr>
          <a:xfrm flipV="1">
            <a:off x="7248128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8243958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6617762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cxnSp>
        <p:nvCxnSpPr>
          <p:cNvPr id="30" name="Conector em curva 29"/>
          <p:cNvCxnSpPr/>
          <p:nvPr/>
        </p:nvCxnSpPr>
        <p:spPr>
          <a:xfrm flipV="1">
            <a:off x="5705176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859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Inserção de elemento na Fila </a:t>
            </a:r>
            <a:r>
              <a:rPr lang="pt-BR" b="1" dirty="0"/>
              <a:t>não ordenada</a:t>
            </a:r>
            <a:r>
              <a:rPr lang="pt-BR" dirty="0"/>
              <a:t>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29276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8" name="Elipse 17"/>
          <p:cNvSpPr/>
          <p:nvPr/>
        </p:nvSpPr>
        <p:spPr>
          <a:xfrm>
            <a:off x="63840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2"/>
            <a:endCxn id="18" idx="6"/>
          </p:cNvCxnSpPr>
          <p:nvPr/>
        </p:nvCxnSpPr>
        <p:spPr>
          <a:xfrm>
            <a:off x="63840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7304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5796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0" name="Conector em curva 29"/>
          <p:cNvCxnSpPr/>
          <p:nvPr/>
        </p:nvCxnSpPr>
        <p:spPr>
          <a:xfrm flipV="1">
            <a:off x="5705176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809579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2" idx="2"/>
            <a:endCxn id="32" idx="6"/>
          </p:cNvCxnSpPr>
          <p:nvPr/>
        </p:nvCxnSpPr>
        <p:spPr>
          <a:xfrm>
            <a:off x="809579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844217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829143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de seta reta 36"/>
          <p:cNvCxnSpPr>
            <a:endCxn id="38" idx="1"/>
          </p:cNvCxnSpPr>
          <p:nvPr/>
        </p:nvCxnSpPr>
        <p:spPr>
          <a:xfrm flipV="1">
            <a:off x="895988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995571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832952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cxnSp>
        <p:nvCxnSpPr>
          <p:cNvPr id="42" name="Conector em curva 41"/>
          <p:cNvCxnSpPr/>
          <p:nvPr/>
        </p:nvCxnSpPr>
        <p:spPr>
          <a:xfrm flipV="1">
            <a:off x="7416934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7896412" y="2915652"/>
            <a:ext cx="129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83C6E9C-67E1-485B-8A3D-9F76C972A116}"/>
              </a:ext>
            </a:extLst>
          </p:cNvPr>
          <p:cNvSpPr txBox="1"/>
          <p:nvPr/>
        </p:nvSpPr>
        <p:spPr>
          <a:xfrm>
            <a:off x="180755" y="5375720"/>
            <a:ext cx="55552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Observe que, com a lista não ordenada, a inserção é trivial.</a:t>
            </a:r>
          </a:p>
        </p:txBody>
      </p:sp>
    </p:spTree>
    <p:extLst>
      <p:ext uri="{BB962C8B-B14F-4D97-AF65-F5344CB8AC3E}">
        <p14:creationId xmlns:p14="http://schemas.microsoft.com/office/powerpoint/2010/main" val="1495770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elemento na Fila não ordenada (de maior prioridade):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29276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8" name="Elipse 17"/>
          <p:cNvSpPr/>
          <p:nvPr/>
        </p:nvSpPr>
        <p:spPr>
          <a:xfrm>
            <a:off x="63840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2"/>
            <a:endCxn id="18" idx="6"/>
          </p:cNvCxnSpPr>
          <p:nvPr/>
        </p:nvCxnSpPr>
        <p:spPr>
          <a:xfrm>
            <a:off x="63840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7304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5796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0" name="Conector em curva 29"/>
          <p:cNvCxnSpPr/>
          <p:nvPr/>
        </p:nvCxnSpPr>
        <p:spPr>
          <a:xfrm flipV="1">
            <a:off x="5705176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809579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2" idx="2"/>
            <a:endCxn id="32" idx="6"/>
          </p:cNvCxnSpPr>
          <p:nvPr/>
        </p:nvCxnSpPr>
        <p:spPr>
          <a:xfrm>
            <a:off x="809579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844217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829143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de seta reta 36"/>
          <p:cNvCxnSpPr>
            <a:endCxn id="38" idx="1"/>
          </p:cNvCxnSpPr>
          <p:nvPr/>
        </p:nvCxnSpPr>
        <p:spPr>
          <a:xfrm flipV="1">
            <a:off x="895988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995571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832952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cxnSp>
        <p:nvCxnSpPr>
          <p:cNvPr id="42" name="Conector em curva 41"/>
          <p:cNvCxnSpPr/>
          <p:nvPr/>
        </p:nvCxnSpPr>
        <p:spPr>
          <a:xfrm flipV="1">
            <a:off x="7416934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15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elemento na Fila não ordenada (de maior prioridade):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29276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8" name="Elipse 17"/>
          <p:cNvSpPr/>
          <p:nvPr/>
        </p:nvSpPr>
        <p:spPr>
          <a:xfrm>
            <a:off x="63840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2"/>
            <a:endCxn id="18" idx="6"/>
          </p:cNvCxnSpPr>
          <p:nvPr/>
        </p:nvCxnSpPr>
        <p:spPr>
          <a:xfrm>
            <a:off x="63840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7304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5796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0" name="Conector em curva 29"/>
          <p:cNvCxnSpPr/>
          <p:nvPr/>
        </p:nvCxnSpPr>
        <p:spPr>
          <a:xfrm flipV="1">
            <a:off x="5705176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809579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2" idx="2"/>
            <a:endCxn id="32" idx="6"/>
          </p:cNvCxnSpPr>
          <p:nvPr/>
        </p:nvCxnSpPr>
        <p:spPr>
          <a:xfrm>
            <a:off x="809579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844217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829143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de seta reta 36"/>
          <p:cNvCxnSpPr>
            <a:endCxn id="38" idx="1"/>
          </p:cNvCxnSpPr>
          <p:nvPr/>
        </p:nvCxnSpPr>
        <p:spPr>
          <a:xfrm flipV="1">
            <a:off x="895988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995571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832952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cxnSp>
        <p:nvCxnSpPr>
          <p:cNvPr id="42" name="Conector em curva 41"/>
          <p:cNvCxnSpPr/>
          <p:nvPr/>
        </p:nvCxnSpPr>
        <p:spPr>
          <a:xfrm flipV="1">
            <a:off x="7416934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4871864" y="4365104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4257036" y="4653136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Maior_Prioridade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2711624" y="5517232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Maior_Prioridade</a:t>
            </a:r>
            <a:r>
              <a:rPr lang="pt-BR" dirty="0"/>
              <a:t> = </a:t>
            </a:r>
            <a:r>
              <a:rPr lang="pt-BR" dirty="0" err="1"/>
              <a:t>aux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11751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elemento na Fila não ordenada (de maior prioridade):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29276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8" name="Elipse 17"/>
          <p:cNvSpPr/>
          <p:nvPr/>
        </p:nvSpPr>
        <p:spPr>
          <a:xfrm>
            <a:off x="63840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2"/>
            <a:endCxn id="18" idx="6"/>
          </p:cNvCxnSpPr>
          <p:nvPr/>
        </p:nvCxnSpPr>
        <p:spPr>
          <a:xfrm>
            <a:off x="63840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7304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5796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0" name="Conector em curva 29"/>
          <p:cNvCxnSpPr/>
          <p:nvPr/>
        </p:nvCxnSpPr>
        <p:spPr>
          <a:xfrm flipV="1">
            <a:off x="5705176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809579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2" idx="2"/>
            <a:endCxn id="32" idx="6"/>
          </p:cNvCxnSpPr>
          <p:nvPr/>
        </p:nvCxnSpPr>
        <p:spPr>
          <a:xfrm>
            <a:off x="809579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844217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829143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de seta reta 36"/>
          <p:cNvCxnSpPr>
            <a:endCxn id="38" idx="1"/>
          </p:cNvCxnSpPr>
          <p:nvPr/>
        </p:nvCxnSpPr>
        <p:spPr>
          <a:xfrm flipV="1">
            <a:off x="895988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995571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832952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cxnSp>
        <p:nvCxnSpPr>
          <p:cNvPr id="42" name="Conector em curva 41"/>
          <p:cNvCxnSpPr/>
          <p:nvPr/>
        </p:nvCxnSpPr>
        <p:spPr>
          <a:xfrm flipV="1">
            <a:off x="7416934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6600056" y="4365104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4257036" y="436510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Maior_Prioridade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2711624" y="5517232"/>
            <a:ext cx="3424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Maior_Prioridade.item</a:t>
            </a:r>
            <a:r>
              <a:rPr lang="pt-BR" dirty="0"/>
              <a:t> &gt; </a:t>
            </a:r>
            <a:r>
              <a:rPr lang="pt-BR" dirty="0" err="1"/>
              <a:t>aux.item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70525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elemento na Fila não ordenada (de maior prioridade):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29276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8" name="Elipse 17"/>
          <p:cNvSpPr/>
          <p:nvPr/>
        </p:nvSpPr>
        <p:spPr>
          <a:xfrm>
            <a:off x="63840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2"/>
            <a:endCxn id="18" idx="6"/>
          </p:cNvCxnSpPr>
          <p:nvPr/>
        </p:nvCxnSpPr>
        <p:spPr>
          <a:xfrm>
            <a:off x="63840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7304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5796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0" name="Conector em curva 29"/>
          <p:cNvCxnSpPr/>
          <p:nvPr/>
        </p:nvCxnSpPr>
        <p:spPr>
          <a:xfrm flipV="1">
            <a:off x="5705176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809579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2" idx="2"/>
            <a:endCxn id="32" idx="6"/>
          </p:cNvCxnSpPr>
          <p:nvPr/>
        </p:nvCxnSpPr>
        <p:spPr>
          <a:xfrm>
            <a:off x="809579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844217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829143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de seta reta 36"/>
          <p:cNvCxnSpPr>
            <a:endCxn id="38" idx="1"/>
          </p:cNvCxnSpPr>
          <p:nvPr/>
        </p:nvCxnSpPr>
        <p:spPr>
          <a:xfrm flipV="1">
            <a:off x="895988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995571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832952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cxnSp>
        <p:nvCxnSpPr>
          <p:cNvPr id="42" name="Conector em curva 41"/>
          <p:cNvCxnSpPr/>
          <p:nvPr/>
        </p:nvCxnSpPr>
        <p:spPr>
          <a:xfrm flipV="1">
            <a:off x="7416934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2711624" y="5517232"/>
            <a:ext cx="3424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Maior_Prioridade.item</a:t>
            </a:r>
            <a:r>
              <a:rPr lang="pt-BR" dirty="0"/>
              <a:t> &gt; </a:t>
            </a:r>
            <a:r>
              <a:rPr lang="pt-BR" dirty="0" err="1"/>
              <a:t>aux.item</a:t>
            </a:r>
            <a:r>
              <a:rPr lang="pt-BR" dirty="0"/>
              <a:t>;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8328248" y="4653136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4257036" y="436510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Maior_Prioridade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5421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elemento na Fila não ordenada (de maior prioridade):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0222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29276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8" name="Elipse 17"/>
          <p:cNvSpPr/>
          <p:nvPr/>
        </p:nvSpPr>
        <p:spPr>
          <a:xfrm>
            <a:off x="63840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2"/>
            <a:endCxn id="18" idx="6"/>
          </p:cNvCxnSpPr>
          <p:nvPr/>
        </p:nvCxnSpPr>
        <p:spPr>
          <a:xfrm>
            <a:off x="63840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7304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5796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0" name="Conector em curva 29"/>
          <p:cNvCxnSpPr/>
          <p:nvPr/>
        </p:nvCxnSpPr>
        <p:spPr>
          <a:xfrm flipV="1">
            <a:off x="5705176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809579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2" idx="2"/>
            <a:endCxn id="32" idx="6"/>
          </p:cNvCxnSpPr>
          <p:nvPr/>
        </p:nvCxnSpPr>
        <p:spPr>
          <a:xfrm>
            <a:off x="809579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844217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829143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de seta reta 36"/>
          <p:cNvCxnSpPr>
            <a:endCxn id="38" idx="1"/>
          </p:cNvCxnSpPr>
          <p:nvPr/>
        </p:nvCxnSpPr>
        <p:spPr>
          <a:xfrm flipV="1">
            <a:off x="895988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995571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832952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cxnSp>
        <p:nvCxnSpPr>
          <p:cNvPr id="42" name="Conector em curva 41"/>
          <p:cNvCxnSpPr/>
          <p:nvPr/>
        </p:nvCxnSpPr>
        <p:spPr>
          <a:xfrm flipV="1">
            <a:off x="7416934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4257036" y="436510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Maior_Prioridade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6408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elemento na Fila não ordenada (de maior prioridade):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60" y="3685674"/>
            <a:ext cx="2232249" cy="398352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2927649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8" name="Elipse 17"/>
          <p:cNvSpPr/>
          <p:nvPr/>
        </p:nvSpPr>
        <p:spPr>
          <a:xfrm>
            <a:off x="638403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2"/>
            <a:endCxn id="18" idx="6"/>
          </p:cNvCxnSpPr>
          <p:nvPr/>
        </p:nvCxnSpPr>
        <p:spPr>
          <a:xfrm>
            <a:off x="638403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73041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57967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2" name="Elipse 31"/>
          <p:cNvSpPr/>
          <p:nvPr/>
        </p:nvSpPr>
        <p:spPr>
          <a:xfrm>
            <a:off x="809579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2" idx="2"/>
            <a:endCxn id="32" idx="6"/>
          </p:cNvCxnSpPr>
          <p:nvPr/>
        </p:nvCxnSpPr>
        <p:spPr>
          <a:xfrm>
            <a:off x="809579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8442176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829143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de seta reta 36"/>
          <p:cNvCxnSpPr>
            <a:endCxn id="38" idx="1"/>
          </p:cNvCxnSpPr>
          <p:nvPr/>
        </p:nvCxnSpPr>
        <p:spPr>
          <a:xfrm flipV="1">
            <a:off x="895988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995571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832952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cxnSp>
        <p:nvCxnSpPr>
          <p:cNvPr id="42" name="Conector em curva 41"/>
          <p:cNvCxnSpPr/>
          <p:nvPr/>
        </p:nvCxnSpPr>
        <p:spPr>
          <a:xfrm flipV="1">
            <a:off x="7416934" y="3717033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B345635-0A25-4C83-9DCF-3646A8D14C6C}"/>
              </a:ext>
            </a:extLst>
          </p:cNvPr>
          <p:cNvSpPr txBox="1"/>
          <p:nvPr/>
        </p:nvSpPr>
        <p:spPr>
          <a:xfrm>
            <a:off x="180755" y="5375720"/>
            <a:ext cx="5555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Observe que a remoção tem o custo de percorrer a fila de prioridade para encontrar o elemento de maior prioridade. </a:t>
            </a:r>
          </a:p>
        </p:txBody>
      </p:sp>
    </p:spTree>
    <p:extLst>
      <p:ext uri="{BB962C8B-B14F-4D97-AF65-F5344CB8AC3E}">
        <p14:creationId xmlns:p14="http://schemas.microsoft.com/office/powerpoint/2010/main" val="1510266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Implemente uma fila de prioridade e as seguintes operações:</a:t>
            </a:r>
          </a:p>
          <a:p>
            <a:pPr lvl="1"/>
            <a:r>
              <a:rPr lang="pt-BR" sz="2800" dirty="0"/>
              <a:t>Para a fila de prioridades, implemente uma função </a:t>
            </a:r>
            <a:r>
              <a:rPr lang="pt-BR" sz="2800" b="1" dirty="0"/>
              <a:t>insere</a:t>
            </a:r>
            <a:r>
              <a:rPr lang="pt-BR" sz="2800" dirty="0"/>
              <a:t> responsável por armazenar um novo elemento juntamente com o valor de sua prioridade. </a:t>
            </a:r>
          </a:p>
          <a:p>
            <a:pPr lvl="1"/>
            <a:r>
              <a:rPr lang="pt-BR" sz="2800" dirty="0"/>
              <a:t>Implemente uma função </a:t>
            </a:r>
            <a:r>
              <a:rPr lang="pt-BR" sz="2800" b="1" dirty="0"/>
              <a:t>remove, </a:t>
            </a:r>
            <a:r>
              <a:rPr lang="pt-BR" sz="2800" dirty="0"/>
              <a:t>responsável por retirar do conjunto o elemento de mais prioritário e retornar para que a chamou.</a:t>
            </a:r>
          </a:p>
        </p:txBody>
      </p:sp>
    </p:spTree>
    <p:extLst>
      <p:ext uri="{BB962C8B-B14F-4D97-AF65-F5344CB8AC3E}">
        <p14:creationId xmlns:p14="http://schemas.microsoft.com/office/powerpoint/2010/main" val="132762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Você deve implementar quatro versões da fila de prioridades: </a:t>
            </a:r>
          </a:p>
          <a:p>
            <a:pPr lvl="1"/>
            <a:r>
              <a:rPr lang="pt-BR" sz="2800" dirty="0"/>
              <a:t>Implementada através de um conjunto contínuo (vetor) desordenado</a:t>
            </a:r>
          </a:p>
          <a:p>
            <a:pPr lvl="1"/>
            <a:r>
              <a:rPr lang="pt-BR" sz="2800" dirty="0"/>
              <a:t>Implementada através de um conjunto contínuo (vetor) ordenado pelo valor da prioridade</a:t>
            </a:r>
          </a:p>
          <a:p>
            <a:pPr lvl="1"/>
            <a:r>
              <a:rPr lang="pt-BR" sz="2800" dirty="0"/>
              <a:t>Implementada através de uma lista encadeada desordenada</a:t>
            </a:r>
          </a:p>
          <a:p>
            <a:pPr lvl="1"/>
            <a:r>
              <a:rPr lang="pt-BR" sz="2800" dirty="0"/>
              <a:t>Implementada através de uma lista encadeada ordenada pelo valor da prioridade</a:t>
            </a:r>
          </a:p>
        </p:txBody>
      </p:sp>
    </p:spTree>
    <p:extLst>
      <p:ext uri="{BB962C8B-B14F-4D97-AF65-F5344CB8AC3E}">
        <p14:creationId xmlns:p14="http://schemas.microsoft.com/office/powerpoint/2010/main" val="206532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06671-8B91-4BF4-92C1-BCF1CC6A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B9824E-D9EB-4FE0-8A60-692BC37B0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400" dirty="0"/>
              <a:t>Escreva um programa que simule o controle de tráfego aéreo (“prateleiras”) de um aeroporto. O aeroporto contém uma pista usada exclusivamente para pouso de aviões. Porém, alguns aviões que se aproximam do aeroporto e entram na fila de pouso, podem ter maior prioridade do que outros. Neste  caso, a prioridade é definida pela quantidade de combustível restante (quanto menor, maior a prioridade). Neste programa, o usuário deve ser capaz de realizar as seguintes tarefas: </a:t>
            </a:r>
          </a:p>
          <a:p>
            <a:pPr lvl="1"/>
            <a:r>
              <a:rPr lang="pt-BR" sz="2000" dirty="0"/>
              <a:t>Listar o número de aviões aguardando na prateleira para pousar; </a:t>
            </a:r>
          </a:p>
          <a:p>
            <a:pPr lvl="1"/>
            <a:r>
              <a:rPr lang="pt-BR" sz="2000" dirty="0"/>
              <a:t>Autorizar o pouso de um avião da fila; </a:t>
            </a:r>
          </a:p>
          <a:p>
            <a:pPr lvl="1"/>
            <a:r>
              <a:rPr lang="pt-BR" sz="2000" dirty="0"/>
              <a:t>Adicionar um avião à fila de espera;  </a:t>
            </a:r>
          </a:p>
          <a:p>
            <a:pPr lvl="1"/>
            <a:r>
              <a:rPr lang="pt-BR" sz="2000" dirty="0"/>
              <a:t>Listar todos os aviões na fila de espera;  </a:t>
            </a:r>
          </a:p>
          <a:p>
            <a:r>
              <a:rPr lang="pt-BR" sz="2400" dirty="0"/>
              <a:t>Considere que os aviões possuem um nome, um número inteiro como identificador e um inteiro para a quantidade de combustível.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29C2D8-E8F9-4DEE-A12C-3F53EA73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308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Baseado no material de aulas de: </a:t>
            </a:r>
          </a:p>
          <a:p>
            <a:pPr lvl="1"/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pPr lvl="1"/>
            <a:r>
              <a:rPr lang="pt-BR" dirty="0"/>
              <a:t>Para downloads dos códigos em Java:</a:t>
            </a:r>
          </a:p>
          <a:p>
            <a:pPr lvl="1"/>
            <a:r>
              <a:rPr lang="pt-BR" dirty="0">
                <a:hlinkClick r:id="rId2"/>
              </a:rPr>
              <a:t>http://www2.dcc.ufmg.br/livros/algoritmos-java/implementacoes-03.php</a:t>
            </a:r>
            <a:endParaRPr lang="pt-BR" dirty="0"/>
          </a:p>
          <a:p>
            <a:endParaRPr lang="pt-BR" dirty="0"/>
          </a:p>
          <a:p>
            <a:r>
              <a:rPr lang="pt-BR" dirty="0"/>
              <a:t>Outras referências:</a:t>
            </a:r>
          </a:p>
          <a:p>
            <a:pPr lvl="1"/>
            <a:r>
              <a:rPr lang="pt-BR" dirty="0"/>
              <a:t>CORMEN, Thomas H. et al. Algoritmos: teoria e prática. Rio de Janeiro: Campus, 2002. 916p. ISBN 8535209263 (Disponível no Acervo).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DROZDEK, Adam. Estrutura de dados e algoritmos em C++. São Paulo: Pioneira Thomson Learning, 2002. </a:t>
            </a:r>
            <a:r>
              <a:rPr lang="pt-BR" dirty="0" err="1"/>
              <a:t>xviii</a:t>
            </a:r>
            <a:r>
              <a:rPr lang="pt-BR" dirty="0"/>
              <a:t>, 579p. ISBN 8522102953 (Disponível no Acervo).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4E0C8-41CC-4E84-AFA6-B349EB45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869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1475</Words>
  <Application>Microsoft Office PowerPoint</Application>
  <PresentationFormat>Widescreen</PresentationFormat>
  <Paragraphs>319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Tema do Office</vt:lpstr>
      <vt:lpstr>TAD – Fila de Prioridades</vt:lpstr>
      <vt:lpstr>Fila de prioridades</vt:lpstr>
      <vt:lpstr>Fila de prioridades</vt:lpstr>
      <vt:lpstr>Fila de prioridades</vt:lpstr>
      <vt:lpstr>Fila de prioridades</vt:lpstr>
      <vt:lpstr>Fila de prioridades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Exercícios</vt:lpstr>
      <vt:lpstr>Exercícios</vt:lpstr>
      <vt:lpstr>Exercícios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 - Fila</dc:title>
  <dc:creator>Henrique Silva</dc:creator>
  <cp:lastModifiedBy>Henrique Silva</cp:lastModifiedBy>
  <cp:revision>50</cp:revision>
  <dcterms:created xsi:type="dcterms:W3CDTF">2018-02-11T20:18:47Z</dcterms:created>
  <dcterms:modified xsi:type="dcterms:W3CDTF">2019-08-10T15:34:21Z</dcterms:modified>
</cp:coreProperties>
</file>