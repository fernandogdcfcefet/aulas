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1"/>
  </p:notesMasterIdLst>
  <p:sldIdLst>
    <p:sldId id="257" r:id="rId2"/>
    <p:sldId id="352" r:id="rId3"/>
    <p:sldId id="353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4" r:id="rId20"/>
    <p:sldId id="379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8" r:id="rId38"/>
    <p:sldId id="400" r:id="rId39"/>
    <p:sldId id="401" r:id="rId40"/>
    <p:sldId id="402" r:id="rId41"/>
    <p:sldId id="487" r:id="rId42"/>
    <p:sldId id="403" r:id="rId43"/>
    <p:sldId id="405" r:id="rId44"/>
    <p:sldId id="406" r:id="rId45"/>
    <p:sldId id="452" r:id="rId46"/>
    <p:sldId id="407" r:id="rId47"/>
    <p:sldId id="408" r:id="rId48"/>
    <p:sldId id="409" r:id="rId49"/>
    <p:sldId id="410" r:id="rId50"/>
    <p:sldId id="411" r:id="rId51"/>
    <p:sldId id="412" r:id="rId52"/>
    <p:sldId id="413" r:id="rId53"/>
    <p:sldId id="414" r:id="rId54"/>
    <p:sldId id="415" r:id="rId55"/>
    <p:sldId id="416" r:id="rId56"/>
    <p:sldId id="417" r:id="rId57"/>
    <p:sldId id="418" r:id="rId58"/>
    <p:sldId id="419" r:id="rId59"/>
    <p:sldId id="420" r:id="rId60"/>
    <p:sldId id="421" r:id="rId61"/>
    <p:sldId id="422" r:id="rId62"/>
    <p:sldId id="423" r:id="rId63"/>
    <p:sldId id="424" r:id="rId64"/>
    <p:sldId id="425" r:id="rId65"/>
    <p:sldId id="426" r:id="rId66"/>
    <p:sldId id="427" r:id="rId67"/>
    <p:sldId id="428" r:id="rId68"/>
    <p:sldId id="429" r:id="rId69"/>
    <p:sldId id="430" r:id="rId70"/>
    <p:sldId id="431" r:id="rId71"/>
    <p:sldId id="432" r:id="rId72"/>
    <p:sldId id="433" r:id="rId73"/>
    <p:sldId id="434" r:id="rId74"/>
    <p:sldId id="435" r:id="rId75"/>
    <p:sldId id="436" r:id="rId76"/>
    <p:sldId id="516" r:id="rId77"/>
    <p:sldId id="438" r:id="rId78"/>
    <p:sldId id="453" r:id="rId79"/>
    <p:sldId id="517" r:id="rId80"/>
    <p:sldId id="518" r:id="rId81"/>
    <p:sldId id="440" r:id="rId82"/>
    <p:sldId id="441" r:id="rId83"/>
    <p:sldId id="442" r:id="rId84"/>
    <p:sldId id="444" r:id="rId85"/>
    <p:sldId id="445" r:id="rId86"/>
    <p:sldId id="446" r:id="rId87"/>
    <p:sldId id="447" r:id="rId88"/>
    <p:sldId id="455" r:id="rId89"/>
    <p:sldId id="456" r:id="rId90"/>
    <p:sldId id="457" r:id="rId91"/>
    <p:sldId id="458" r:id="rId92"/>
    <p:sldId id="459" r:id="rId93"/>
    <p:sldId id="460" r:id="rId94"/>
    <p:sldId id="461" r:id="rId95"/>
    <p:sldId id="462" r:id="rId96"/>
    <p:sldId id="463" r:id="rId97"/>
    <p:sldId id="464" r:id="rId98"/>
    <p:sldId id="466" r:id="rId99"/>
    <p:sldId id="465" r:id="rId100"/>
    <p:sldId id="467" r:id="rId101"/>
    <p:sldId id="468" r:id="rId102"/>
    <p:sldId id="470" r:id="rId103"/>
    <p:sldId id="471" r:id="rId104"/>
    <p:sldId id="472" r:id="rId105"/>
    <p:sldId id="473" r:id="rId106"/>
    <p:sldId id="474" r:id="rId107"/>
    <p:sldId id="475" r:id="rId108"/>
    <p:sldId id="476" r:id="rId109"/>
    <p:sldId id="477" r:id="rId110"/>
    <p:sldId id="478" r:id="rId111"/>
    <p:sldId id="479" r:id="rId112"/>
    <p:sldId id="513" r:id="rId113"/>
    <p:sldId id="480" r:id="rId114"/>
    <p:sldId id="481" r:id="rId115"/>
    <p:sldId id="482" r:id="rId116"/>
    <p:sldId id="483" r:id="rId117"/>
    <p:sldId id="484" r:id="rId118"/>
    <p:sldId id="485" r:id="rId119"/>
    <p:sldId id="489" r:id="rId120"/>
    <p:sldId id="490" r:id="rId121"/>
    <p:sldId id="491" r:id="rId122"/>
    <p:sldId id="492" r:id="rId123"/>
    <p:sldId id="493" r:id="rId124"/>
    <p:sldId id="494" r:id="rId125"/>
    <p:sldId id="495" r:id="rId126"/>
    <p:sldId id="496" r:id="rId127"/>
    <p:sldId id="497" r:id="rId128"/>
    <p:sldId id="500" r:id="rId129"/>
    <p:sldId id="498" r:id="rId130"/>
    <p:sldId id="486" r:id="rId131"/>
    <p:sldId id="501" r:id="rId132"/>
    <p:sldId id="502" r:id="rId133"/>
    <p:sldId id="503" r:id="rId134"/>
    <p:sldId id="504" r:id="rId135"/>
    <p:sldId id="505" r:id="rId136"/>
    <p:sldId id="506" r:id="rId137"/>
    <p:sldId id="507" r:id="rId138"/>
    <p:sldId id="508" r:id="rId139"/>
    <p:sldId id="509" r:id="rId140"/>
    <p:sldId id="510" r:id="rId141"/>
    <p:sldId id="511" r:id="rId142"/>
    <p:sldId id="512" r:id="rId143"/>
    <p:sldId id="448" r:id="rId144"/>
    <p:sldId id="514" r:id="rId145"/>
    <p:sldId id="449" r:id="rId146"/>
    <p:sldId id="450" r:id="rId147"/>
    <p:sldId id="451" r:id="rId148"/>
    <p:sldId id="351" r:id="rId149"/>
    <p:sldId id="322" r:id="rId1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A46E6-4E1A-4B8F-BBB0-8F81F0BEFED5}" type="datetimeFigureOut">
              <a:rPr lang="pt-BR" smtClean="0"/>
              <a:t>29/10/2018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A3877-CFC2-4E99-9BC4-1D697B204C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6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D1163-60F6-4F22-86C8-670E0FA60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BA9ED4-ACEA-4ACC-8DAC-6C63083FF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6C650-8FC0-49CD-B119-66852C6C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4E9E-323C-4D76-A562-03B613FAD81B}" type="datetime1">
              <a:rPr lang="pt-BR" smtClean="0"/>
              <a:t>29/10/2018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2E52-FEA0-4537-948B-2CE740D4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D5B61-39B0-476C-82D8-6A274813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9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42203-CF54-49CA-AD8B-761AA3F5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37979-6810-4383-BF97-99B2AC97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B1D4-F54D-4EB6-9D8A-A0E36BB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870D-AB5E-4E43-BE72-FB0AA547E1D1}" type="datetime1">
              <a:rPr lang="pt-BR" smtClean="0"/>
              <a:t>29/10/2018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37510-9BDC-44E1-94C4-36BDBAD9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CCADF-7E89-4B86-ADC5-9420D32F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64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0145-BFF4-4A17-9C09-153C61AF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971E0-B851-49C3-AA85-0024836C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68237-E2AB-49A6-9C81-9D90DE8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FEDA-71E8-478E-AEA0-A956738C44F1}" type="datetime1">
              <a:rPr lang="pt-BR" smtClean="0"/>
              <a:t>29/10/2018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2ACFDC-DDE5-4DF9-871E-67C7F69D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D82344-9DA3-4E39-B5BC-061B6ECB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7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8CE12-45DE-4297-BD62-FFAEA016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3DA2C8-2F5A-43C4-934F-D6FCE620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7EEAAE-B5F8-4328-9B5F-7098DF89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DA8EB-99A8-462E-B55F-4EC99C5B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FA5F-3ECD-4943-AD38-87D0A7BC01A0}" type="datetime1">
              <a:rPr lang="pt-BR" smtClean="0"/>
              <a:t>29/10/2018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8C566-C4E5-4069-8C81-EC8A1D7B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7AFBB-5AB4-4371-B126-947049CE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E3B0-12E6-4737-854E-2C0ADB87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5948B-30B3-43CA-9EB4-BF7A86DB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A88E36-0E77-4458-BEEA-0203B12F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7D26F1-B391-4AA6-B3D0-8018811CC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C89788-AA18-4375-BBB1-525990456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35B540-9654-421E-8B90-0D7E6A55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73E-2034-44A9-BC05-27157DC5EDD4}" type="datetime1">
              <a:rPr lang="pt-BR" smtClean="0"/>
              <a:t>29/10/2018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F0D045-A705-41B1-AF62-C26B9D2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E1DD05-ADF9-4EC0-AC9E-7BED1A59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96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0CD46-0311-49DC-A680-4D2168D5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EE21C9-00B5-4C41-838A-7646BD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267CE-6D9A-4045-969F-DE11DDF0BA3D}" type="datetime1">
              <a:rPr lang="pt-BR" smtClean="0"/>
              <a:t>29/10/2018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D8561D-5B0B-4075-BEB5-50450C76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879B8-A2E4-46F0-AE48-1CADCC4A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0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69467-1396-4E55-8F17-64388AD0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7E11-01E9-4384-A103-DBAE017CA503}" type="datetime1">
              <a:rPr lang="pt-BR" smtClean="0"/>
              <a:t>29/10/2018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699F9B-5E17-4AF2-917A-C3885745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F6F98C-0D2A-42CC-8517-376439B7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96ECB-6ADD-4457-ADC0-DA36CE8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C315D-D135-4D42-B4CD-37E6DEA8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26CF8-5BDE-44D5-BCCD-F879E51C9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EC748D-F65D-4F69-A0F5-243D8032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42E-2906-4461-8A97-7A27C05C7B1A}" type="datetime1">
              <a:rPr lang="pt-BR" smtClean="0"/>
              <a:t>29/10/2018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E6625-A646-499A-A5F2-FB1C8758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C3103-0145-4401-AC66-477F1471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7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3DFA-41F0-4C64-A868-C1763A7B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8D3609-D05B-4246-804F-4CA0FE0FC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7914C3-D139-497A-B3F6-5D609AF7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151E0-D270-47CA-B1BC-F3326536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E00C2-E0AC-460E-929B-7079F0347316}" type="datetime1">
              <a:rPr lang="pt-BR" smtClean="0"/>
              <a:t>29/10/2018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7C8D2-1A91-4E49-BBA2-46C2872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22B3A6-8ABF-4DC3-8CD4-0640A73F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1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8C317-32EE-4448-941D-6DA2D519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D88EA-C228-47E1-B5B6-ABA9B7C6E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83E368-D67D-48F3-8F59-95CEE749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25D0-E3BB-4E8E-8FE6-D9B00EC27CAE}" type="datetime1">
              <a:rPr lang="pt-BR" smtClean="0"/>
              <a:t>29/10/2018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D1D1D-AA27-4EF1-8A78-895F87D9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10510-F0B4-4C33-BE66-9E83434F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7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2CE5FF-CEDD-446B-9E3D-A7E5CC1BB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88983C-2490-482C-A7F4-2A8A7608F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C5D19-47BE-40CF-B809-7DB5F122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E8A-ECEE-473C-A1E9-7321E45784D7}" type="datetime1">
              <a:rPr lang="pt-BR" smtClean="0"/>
              <a:t>29/10/2018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8C711-DCD6-4635-8AC0-C6DA03B2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7A7E8-ECED-4141-B514-9C35AB05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41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605902-0991-41A4-96C1-077ED554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1F0E4C-86B8-4716-A9E6-510FF979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8DBE3-D1BA-4C3F-ABBE-51A48E5CF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C1123-A8E1-472A-8A44-06236134FE11}" type="datetime1">
              <a:rPr lang="pt-BR" smtClean="0"/>
              <a:t>29/10/2018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E578F-3C6C-4EC4-BBDB-1A428C2AD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8F652-25C0-4C1C-9B59-3E726DE3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26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Pesquisa em Memória Primária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r>
              <a:rPr lang="pt-BR" dirty="0"/>
              <a:t>henriquebsilva@outlook.com.br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D476C4-E6DF-4F4C-92EC-C4F3F2B4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em Memória Primária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recuperar informação a partir de uma grande massa de informação previamente armazenada?</a:t>
            </a:r>
          </a:p>
          <a:p>
            <a:r>
              <a:rPr lang="pt-BR" dirty="0"/>
              <a:t>A informação é dividida em registros:</a:t>
            </a:r>
          </a:p>
          <a:p>
            <a:pPr lvl="1"/>
            <a:r>
              <a:rPr lang="pt-BR" dirty="0"/>
              <a:t>Cada registro possui uma chave de pesquisa.</a:t>
            </a:r>
          </a:p>
          <a:p>
            <a:r>
              <a:rPr lang="pt-BR" dirty="0"/>
              <a:t>O objetivo:</a:t>
            </a:r>
          </a:p>
          <a:p>
            <a:pPr lvl="1"/>
            <a:r>
              <a:rPr lang="pt-BR" dirty="0"/>
              <a:t>encontrar ocorrências de registros com chaves iguais à chave da pesquisa. </a:t>
            </a:r>
          </a:p>
          <a:p>
            <a:pPr lvl="1"/>
            <a:r>
              <a:rPr lang="pt-BR" dirty="0"/>
              <a:t>A pesquisa pode ser com sucesso ou sem sucesso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07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em Memória Primária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Há diversos métodos de pesquisa;</a:t>
            </a:r>
          </a:p>
          <a:p>
            <a:r>
              <a:rPr lang="pt-BR" dirty="0"/>
              <a:t>A escolha do método mais apropriado, depende:</a:t>
            </a:r>
          </a:p>
          <a:p>
            <a:pPr lvl="1"/>
            <a:r>
              <a:rPr lang="pt-BR" dirty="0"/>
              <a:t>Quantidade dos dados envolvidos;</a:t>
            </a:r>
          </a:p>
          <a:p>
            <a:pPr lvl="1"/>
            <a:r>
              <a:rPr lang="pt-BR" dirty="0"/>
              <a:t>Arquivo estar sujeito a inserções e retiradas frequentes (o objetivo é minimizar o tempo de pesquisa, sem preocupação com o tempo de estruturar o arquivo).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9295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Método de pesquisa mais simples: </a:t>
            </a:r>
          </a:p>
          <a:p>
            <a:pPr lvl="1"/>
            <a:r>
              <a:rPr lang="pt-BR" dirty="0"/>
              <a:t>a partir do primeiro registro, pesquise sequencialmente até encontrar a chave procurada; então pare.</a:t>
            </a:r>
          </a:p>
          <a:p>
            <a:r>
              <a:rPr lang="pt-BR" dirty="0"/>
              <a:t>Armazenamento de um conjunto de registros por meio do tipo estruturado arranjo</a:t>
            </a:r>
          </a:p>
        </p:txBody>
      </p:sp>
    </p:spTree>
    <p:extLst>
      <p:ext uri="{BB962C8B-B14F-4D97-AF65-F5344CB8AC3E}">
        <p14:creationId xmlns:p14="http://schemas.microsoft.com/office/powerpoint/2010/main" val="56022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FB092B0-BBB9-47DC-A7D0-5E2126A23FBA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1560A2-7AA9-422D-BBD7-C5B27519A8F0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121713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1245B887-6BA4-4FD7-9641-9487AF064408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5CCD988-FFCF-400C-A1F9-09BCCAF4557D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149918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705409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A54BCC1D-6777-4DF7-8029-305A0A533429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3DBDF9-1F92-4096-AC41-F054CE1B65FC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3290527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705409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8BE1B4F-5830-418D-B555-7EF38AE0D6FB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49ADCA6-D6CC-408E-BE24-D82AE2DDFD58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211349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082570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6DC4C58-BC77-4497-B515-29292E8F5063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4C94EE7-1061-4F6E-AC63-69A0EEC4FEA0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418224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434498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8D92BFB-09C0-44CF-9BE5-C5E8417EC522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F9B6C8-BBDB-4594-904E-CD9150CD79D6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2627088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786426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0ABCBBD-9C81-4C63-9DED-4B57511A1A78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03F86AA-E0A1-4037-B323-E436FA30C2C5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310564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087888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17FE840-09DB-48E6-9B72-B37A8ED06EDD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2305E5E-A197-4C5E-9847-01A43D91525C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304263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490282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1890CE60-4650-445C-9EBA-CF6B8C63907B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1153E69-879C-4A34-ADCE-499D16C4586F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395891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791744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0F4AD5B-C4A1-4EE6-99C3-86AD14943081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1FB5896-B3F7-49D2-8302-7E37BBFA33FB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3451381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9" y="1700808"/>
            <a:ext cx="3454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2 – pior caso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791744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13E5AD2E-0251-48FD-A2BD-7D73010F1EFC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71590F2-0B4C-4D0D-B6F6-FC6E67D466D1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666568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9F35338-A72C-49A5-9816-9B3629A6DEBA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29247CB-D941-4A51-A77D-30FB1BB084AD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956880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3277F2D-F550-4D5E-A7EA-BBE097C8188B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D284BC4-1E65-49C3-851C-01BFC0560366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2648988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680176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228BB641-B31F-4E25-B56F-6CE8FB157022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7A6F3B3-D6C4-490D-AD53-26FD0080DFD7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20802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p:sp>
        <p:nvSpPr>
          <p:cNvPr id="4" name="Retângulo 3"/>
          <p:cNvSpPr/>
          <p:nvPr/>
        </p:nvSpPr>
        <p:spPr>
          <a:xfrm>
            <a:off x="299965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etângulo 4"/>
          <p:cNvSpPr/>
          <p:nvPr/>
        </p:nvSpPr>
        <p:spPr>
          <a:xfrm>
            <a:off x="364772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295800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43872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591944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240016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888088" y="2492896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536160" y="2492896"/>
            <a:ext cx="576064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376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pesquisa: </a:t>
            </a:r>
            <a:r>
              <a:rPr lang="pt-BR" dirty="0" err="1"/>
              <a:t>reg</a:t>
            </a:r>
            <a:r>
              <a:rPr lang="pt-BR" dirty="0"/>
              <a:t> = 8 – Melhor caso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680176" y="308693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FD4B80B3-8E48-4A3B-B54A-CE62EBB004D7}"/>
              </a:ext>
            </a:extLst>
          </p:cNvPr>
          <p:cNvCxnSpPr/>
          <p:nvPr/>
        </p:nvCxnSpPr>
        <p:spPr>
          <a:xfrm flipV="1">
            <a:off x="3297115" y="3094892"/>
            <a:ext cx="0" cy="3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95989DA-0DB2-407A-8007-BFC1BBA52EFB}"/>
              </a:ext>
            </a:extLst>
          </p:cNvPr>
          <p:cNvSpPr txBox="1"/>
          <p:nvPr/>
        </p:nvSpPr>
        <p:spPr>
          <a:xfrm>
            <a:off x="2759594" y="3468216"/>
            <a:ext cx="105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Sentinela</a:t>
            </a:r>
          </a:p>
        </p:txBody>
      </p:sp>
    </p:spTree>
    <p:extLst>
      <p:ext uri="{BB962C8B-B14F-4D97-AF65-F5344CB8AC3E}">
        <p14:creationId xmlns:p14="http://schemas.microsoft.com/office/powerpoint/2010/main" val="3371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Sequencial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Análise de custo:</a:t>
                </a:r>
              </a:p>
              <a:p>
                <a:pPr lvl="1"/>
                <a:r>
                  <a:rPr lang="pt-BR" dirty="0"/>
                  <a:t>Pesquisa com sucesso:</a:t>
                </a:r>
              </a:p>
              <a:p>
                <a:pPr lvl="2"/>
                <a:r>
                  <a:rPr lang="pt-BR" dirty="0"/>
                  <a:t>melhor caso: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=1</m:t>
                    </m:r>
                  </m:oMath>
                </a14:m>
                <a:endParaRPr lang="pt-BR" dirty="0"/>
              </a:p>
              <a:p>
                <a:pPr lvl="2"/>
                <a:r>
                  <a:rPr lang="pt-BR" dirty="0"/>
                  <a:t>pior caso: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:pPr lvl="2"/>
                <a:r>
                  <a:rPr lang="pt-BR" dirty="0"/>
                  <a:t>caso médio: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+1)/2</m:t>
                    </m:r>
                  </m:oMath>
                </a14:m>
                <a:endParaRPr lang="pt-BR" dirty="0"/>
              </a:p>
              <a:p>
                <a:pPr lvl="2"/>
                <a:endParaRPr lang="pt-BR" dirty="0"/>
              </a:p>
              <a:p>
                <a:pPr lvl="1"/>
                <a:r>
                  <a:rPr lang="pt-BR" dirty="0"/>
                  <a:t>Pesquisa sem sucesso: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+1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612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Pesquisa em tabela pode ser mais eficiente</a:t>
            </a:r>
          </a:p>
          <a:p>
            <a:pPr lvl="1"/>
            <a:r>
              <a:rPr lang="pt-BR" dirty="0"/>
              <a:t>Desde que registros sejam mantidos em ordem.</a:t>
            </a:r>
          </a:p>
          <a:p>
            <a:r>
              <a:rPr lang="pt-BR" dirty="0"/>
              <a:t>Para saber se uma chave está presente na tabela: </a:t>
            </a:r>
          </a:p>
          <a:p>
            <a:pPr lvl="1"/>
            <a:r>
              <a:rPr lang="pt-BR" dirty="0"/>
              <a:t>Compare a chave com o registro que está na posição do meio da tabela.</a:t>
            </a:r>
          </a:p>
          <a:p>
            <a:pPr lvl="1"/>
            <a:r>
              <a:rPr lang="pt-BR" b="1" dirty="0"/>
              <a:t>Se </a:t>
            </a:r>
            <a:r>
              <a:rPr lang="pt-BR" dirty="0"/>
              <a:t>a chave é menor </a:t>
            </a:r>
            <a:r>
              <a:rPr lang="pt-BR" b="1" dirty="0"/>
              <a:t>então </a:t>
            </a:r>
            <a:r>
              <a:rPr lang="pt-BR" dirty="0"/>
              <a:t>o registro procurado está na primeira metade da tabela. </a:t>
            </a:r>
          </a:p>
          <a:p>
            <a:pPr lvl="1"/>
            <a:r>
              <a:rPr lang="pt-BR" b="1" dirty="0"/>
              <a:t>Se </a:t>
            </a:r>
            <a:r>
              <a:rPr lang="pt-BR" dirty="0"/>
              <a:t>a chave é maior </a:t>
            </a:r>
            <a:r>
              <a:rPr lang="pt-BR" b="1" dirty="0"/>
              <a:t>então </a:t>
            </a:r>
            <a:r>
              <a:rPr lang="pt-BR" dirty="0"/>
              <a:t>o registro procurado está na segunda metade da tabela.</a:t>
            </a:r>
          </a:p>
        </p:txBody>
      </p:sp>
    </p:spTree>
    <p:extLst>
      <p:ext uri="{BB962C8B-B14F-4D97-AF65-F5344CB8AC3E}">
        <p14:creationId xmlns:p14="http://schemas.microsoft.com/office/powerpoint/2010/main" val="950418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/>
              <a:t>Repita o processo até que a chave seja encontrada, ou fique apenas um registro cuja chave é diferente da procurada, significando uma pesquisa sem sucesso.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4205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3568098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3319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3568098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50093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3568098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10088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916255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5642410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870102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895138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0386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48716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8323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6938554" y="306896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17885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72165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112224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9604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816080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0566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816080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64918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p:sp>
        <p:nvSpPr>
          <p:cNvPr id="4" name="Retângulo 3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51784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99856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447928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392144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040216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207568" y="1700808"/>
            <a:ext cx="182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 pesquisa </a:t>
            </a:r>
            <a:r>
              <a:rPr lang="pt-BR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50371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647728" y="2267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8214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3021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57829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36160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8170578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855640" y="2611760"/>
            <a:ext cx="57606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99656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816080" y="306736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dir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7456530" y="30689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esq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7586626" y="34197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</a:t>
            </a:r>
          </a:p>
        </p:txBody>
      </p:sp>
      <p:sp>
        <p:nvSpPr>
          <p:cNvPr id="27" name="Retângulo 26"/>
          <p:cNvSpPr/>
          <p:nvPr/>
        </p:nvSpPr>
        <p:spPr>
          <a:xfrm>
            <a:off x="6096000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744072" y="2611760"/>
            <a:ext cx="576064" cy="457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F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226362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88808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97165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Binária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3200" dirty="0"/>
                  <a:t>Análise:</a:t>
                </a:r>
              </a:p>
              <a:p>
                <a:pPr lvl="1"/>
                <a:r>
                  <a:rPr lang="pt-BR" sz="2800" dirty="0"/>
                  <a:t>A cada iteração do algoritmo, o tamanho da tabela é dividido ao meio.</a:t>
                </a:r>
              </a:p>
              <a:p>
                <a:pPr lvl="1"/>
                <a:r>
                  <a:rPr lang="pt-BR" sz="2800" dirty="0"/>
                  <a:t>Número de vezes que o tamanho da tabela é dividido ao meio é cerca de </a:t>
                </a:r>
                <a:r>
                  <a:rPr lang="pt-BR" sz="2800" i="1" dirty="0"/>
                  <a:t>log n</a:t>
                </a:r>
                <a:r>
                  <a:rPr lang="pt-BR" sz="2800" dirty="0"/>
                  <a:t>.</a:t>
                </a:r>
              </a:p>
              <a:p>
                <a:pPr lvl="1"/>
                <a:r>
                  <a:rPr lang="pt-BR" sz="2800" dirty="0"/>
                  <a:t>Entretanto, o custo para manter a tabela ordenada é alto:</a:t>
                </a:r>
              </a:p>
              <a:p>
                <a:pPr lvl="2"/>
                <a:r>
                  <a:rPr lang="pt-BR" sz="2400" dirty="0"/>
                  <a:t>a cada inserção na posição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da tabela implica no deslocamento dos registros a partir da posição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para as posições seguintes.</a:t>
                </a:r>
              </a:p>
              <a:p>
                <a:pPr lvl="1"/>
                <a:r>
                  <a:rPr lang="pt-BR" sz="2800" dirty="0"/>
                  <a:t>Não deve ser usada para aplicações muito dinâmicas.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141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Pesquisa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de dados muito eficiente para armazenar informação.</a:t>
            </a:r>
          </a:p>
          <a:p>
            <a:r>
              <a:rPr lang="pt-BR" dirty="0"/>
              <a:t>Adequada quando existe necessidade de considerar todos ou alguma combinação de:</a:t>
            </a:r>
          </a:p>
          <a:p>
            <a:pPr lvl="1"/>
            <a:r>
              <a:rPr lang="pt-BR" dirty="0"/>
              <a:t>Acessos eficientes.</a:t>
            </a:r>
          </a:p>
          <a:p>
            <a:pPr lvl="1"/>
            <a:r>
              <a:rPr lang="pt-BR" dirty="0"/>
              <a:t>Facilidade de inserção e retirada de registros.</a:t>
            </a:r>
          </a:p>
          <a:p>
            <a:pPr lvl="1"/>
            <a:r>
              <a:rPr lang="pt-BR" dirty="0"/>
              <a:t>Boa taxa de utilização de memória.</a:t>
            </a:r>
          </a:p>
          <a:p>
            <a:pPr lvl="1"/>
            <a:r>
              <a:rPr lang="pt-BR" dirty="0"/>
              <a:t>Utilização de memória primária e secundária.</a:t>
            </a:r>
          </a:p>
        </p:txBody>
      </p:sp>
    </p:spTree>
    <p:extLst>
      <p:ext uri="{BB962C8B-B14F-4D97-AF65-F5344CB8AC3E}">
        <p14:creationId xmlns:p14="http://schemas.microsoft.com/office/powerpoint/2010/main" val="574518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Pesquisa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Para qualquer nó que contenha um registro: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Tem-se a relação invariante:</a:t>
            </a:r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Todos os registros com chaves </a:t>
            </a:r>
            <a:r>
              <a:rPr lang="pt-BR" b="1" dirty="0"/>
              <a:t>menores</a:t>
            </a:r>
            <a:r>
              <a:rPr lang="pt-BR" dirty="0"/>
              <a:t> estão na sub árvore à </a:t>
            </a:r>
            <a:r>
              <a:rPr lang="pt-BR" b="1" dirty="0"/>
              <a:t>esquerda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Todos os registros com chaves </a:t>
            </a:r>
            <a:r>
              <a:rPr lang="pt-BR" b="1" dirty="0"/>
              <a:t>maiores</a:t>
            </a:r>
            <a:r>
              <a:rPr lang="pt-BR" dirty="0"/>
              <a:t> estão na sub árvore à </a:t>
            </a:r>
            <a:r>
              <a:rPr lang="pt-BR" b="1" dirty="0"/>
              <a:t>direita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763" y="1988840"/>
            <a:ext cx="2669565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9" y="4077072"/>
            <a:ext cx="4751635" cy="555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de Pesquisa sem balanceamento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789041"/>
                <a:ext cx="8229600" cy="233712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dirty="0"/>
                  <a:t>O </a:t>
                </a:r>
                <a:r>
                  <a:rPr lang="pt-BR" b="1" dirty="0"/>
                  <a:t>nível</a:t>
                </a:r>
                <a:r>
                  <a:rPr lang="pt-BR" dirty="0"/>
                  <a:t> do nó raiz é 0.</a:t>
                </a:r>
              </a:p>
              <a:p>
                <a:r>
                  <a:rPr lang="pt-BR" dirty="0"/>
                  <a:t>Se um nó está no </a:t>
                </a:r>
                <a:r>
                  <a:rPr lang="pt-BR" b="1" dirty="0"/>
                  <a:t>nível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 então a raiz de suas sub árvores estão no </a:t>
                </a:r>
                <a:r>
                  <a:rPr lang="pt-BR" b="1" dirty="0"/>
                  <a:t>nível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dirty="0"/>
                  <a:t>altura</a:t>
                </a:r>
                <a:r>
                  <a:rPr lang="pt-BR" dirty="0"/>
                  <a:t> de um nó é o comprimento do caminho mais longo deste nó até um nó folha.</a:t>
                </a:r>
              </a:p>
              <a:p>
                <a:r>
                  <a:rPr lang="pt-BR" dirty="0"/>
                  <a:t>A </a:t>
                </a:r>
                <a:r>
                  <a:rPr lang="pt-BR" b="1" dirty="0"/>
                  <a:t>altura</a:t>
                </a:r>
                <a:r>
                  <a:rPr lang="pt-BR" dirty="0"/>
                  <a:t> de uma árvore é a altura do nó raiz.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3789041"/>
                <a:ext cx="8229600" cy="2337123"/>
              </a:xfrm>
              <a:blipFill>
                <a:blip r:embed="rId2"/>
                <a:stretch>
                  <a:fillRect l="-1111" t="-6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402" y="1484784"/>
            <a:ext cx="3507774" cy="2104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8920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C156B-290C-46E5-9BEE-113CA90B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Pesquisa – alguns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17D066-E74A-4FA4-B89E-9C274881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Raiz da árvore: nó que não tem antecedente  </a:t>
            </a:r>
          </a:p>
          <a:p>
            <a:r>
              <a:rPr lang="pt-BR" dirty="0"/>
              <a:t>Folha: nós que não tem descendentes (os outros são os nós internos) </a:t>
            </a:r>
          </a:p>
          <a:p>
            <a:r>
              <a:rPr lang="pt-BR" dirty="0"/>
              <a:t>A altura de um nó na árvore é o caminho de maior comprimento que se pode fazer deste nó a uma folha.  </a:t>
            </a:r>
          </a:p>
          <a:p>
            <a:r>
              <a:rPr lang="pt-BR" dirty="0"/>
              <a:t>A altura da árvore é a altura de sua raiz. </a:t>
            </a:r>
          </a:p>
          <a:p>
            <a:r>
              <a:rPr lang="pt-BR" dirty="0"/>
              <a:t>A profundidade de um nó é o comprimento da raiz até o nó (só existe um caminho)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79ED4E-CBDB-4DFB-880B-D402EA66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642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do TAD Dicionário usando  Árvore Binária de Pesquisa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Estrutura de dados:</a:t>
            </a:r>
          </a:p>
          <a:p>
            <a:pPr lvl="1"/>
            <a:r>
              <a:rPr lang="pt-BR" sz="2800" dirty="0"/>
              <a:t>Contém as operações </a:t>
            </a:r>
          </a:p>
          <a:p>
            <a:pPr lvl="2"/>
            <a:r>
              <a:rPr lang="pt-BR" sz="2400" dirty="0"/>
              <a:t>Inicializa</a:t>
            </a:r>
          </a:p>
          <a:p>
            <a:pPr lvl="2"/>
            <a:r>
              <a:rPr lang="pt-BR" sz="2400" dirty="0"/>
              <a:t>Pesquisa</a:t>
            </a:r>
          </a:p>
          <a:p>
            <a:pPr lvl="2"/>
            <a:r>
              <a:rPr lang="pt-BR" sz="2400" dirty="0"/>
              <a:t>Insere</a:t>
            </a:r>
          </a:p>
          <a:p>
            <a:pPr lvl="2"/>
            <a:r>
              <a:rPr lang="pt-BR" sz="2400" dirty="0"/>
              <a:t>retira.</a:t>
            </a:r>
          </a:p>
          <a:p>
            <a:pPr marL="457200" lvl="1" indent="0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54918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encontrar um registro com uma chave </a:t>
            </a:r>
            <a:r>
              <a:rPr lang="pt-BR" i="1" dirty="0" err="1"/>
              <a:t>reg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Compare-a com a chave que está na raiz .</a:t>
            </a:r>
          </a:p>
          <a:p>
            <a:pPr lvl="1"/>
            <a:r>
              <a:rPr lang="pt-BR" dirty="0"/>
              <a:t>Se é menor, vá para a sub árvore esquerda.</a:t>
            </a:r>
          </a:p>
          <a:p>
            <a:pPr lvl="1"/>
            <a:r>
              <a:rPr lang="pt-BR" dirty="0"/>
              <a:t>Se é maior, vá para a sub árvore direita.</a:t>
            </a:r>
          </a:p>
          <a:p>
            <a:pPr lvl="1"/>
            <a:r>
              <a:rPr lang="pt-BR" dirty="0"/>
              <a:t>Repita o processo recursivamente, até que a chave procurada seja encontrada ou um nó folha é atingido.</a:t>
            </a:r>
          </a:p>
          <a:p>
            <a:pPr lvl="1"/>
            <a:r>
              <a:rPr lang="pt-BR" dirty="0"/>
              <a:t>Se a pesquisa tiver sucesso então o registro contendo a chave passada em </a:t>
            </a:r>
            <a:r>
              <a:rPr lang="pt-BR" i="1" dirty="0" err="1"/>
              <a:t>reg</a:t>
            </a:r>
            <a:r>
              <a:rPr lang="pt-BR" dirty="0"/>
              <a:t> é retornado.</a:t>
            </a:r>
          </a:p>
        </p:txBody>
      </p:sp>
    </p:spTree>
    <p:extLst>
      <p:ext uri="{BB962C8B-B14F-4D97-AF65-F5344CB8AC3E}">
        <p14:creationId xmlns:p14="http://schemas.microsoft.com/office/powerpoint/2010/main" val="142724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658792D-C08F-43B2-9A6A-368085582E4A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87097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43A9C87-F74E-4C72-886E-CFAC5C764F3C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(*p == NULL)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1234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5156643" y="5201153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8437041" y="4576889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D08BE2A-BDB5-4241-8792-0EACC71DA26D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(x-&gt;Chave &lt;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1406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168049" y="5671712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448447" y="5313414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for maior, vá para a sub árvore direita.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A1B1662-A1EC-48D3-A482-CC36E8093EF4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(x-&gt;Chave &gt;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72379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425802" y="6021288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824192" y="5264040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direita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269474E-7638-4951-841F-5F51D7E99713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Pesquisa(x, &amp;(*p)-&gt;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3726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108592" y="4495649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506982" y="4098442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O No p é a sub árvore direita.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F63DCBF-ABCD-40A3-8E90-0D14ED01AB10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(*p == NULL)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15712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5103917" y="5192361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384315" y="4568097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18A7A41-349A-4DE8-A3F7-19C32B5BF74A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(x-&gt;Chave &lt;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98219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5137769" y="5436432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7536159" y="4679184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esquerda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0A301AF-8C47-4101-A885-9E0D2292B934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Pesquisa(x, &amp;(*p)-&gt;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81865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224500" y="4463818"/>
            <a:ext cx="2254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068590" y="4140652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O No p é a sub árvore esquerda.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6CB9702-71A8-412C-9C3B-55293E645896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(*p == NULL)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51775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34" name="Conector de seta reta 33"/>
          <p:cNvCxnSpPr/>
          <p:nvPr/>
        </p:nvCxnSpPr>
        <p:spPr>
          <a:xfrm>
            <a:off x="5156643" y="5174777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8437041" y="4550513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53C953B-001F-49B2-BA5F-E6D6C50210BB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(x-&gt;Chave &lt;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55466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34" name="Conector de seta reta 33"/>
          <p:cNvCxnSpPr/>
          <p:nvPr/>
        </p:nvCxnSpPr>
        <p:spPr>
          <a:xfrm>
            <a:off x="5156643" y="5680502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8437041" y="5056238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maior, vá para a sub árvore direita.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C968EDB-EEFC-4075-8E85-4BFC5F07D114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(x-&gt;Chave &gt;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3517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para Pesquisar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4899619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364795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032104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771964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423648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1" name="Conector reto 10"/>
          <p:cNvCxnSpPr>
            <a:stCxn id="4" idx="5"/>
            <a:endCxn id="6" idx="1"/>
          </p:cNvCxnSpPr>
          <p:nvPr/>
        </p:nvCxnSpPr>
        <p:spPr>
          <a:xfrm>
            <a:off x="5899258" y="1864105"/>
            <a:ext cx="518265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5"/>
            <a:endCxn id="7" idx="1"/>
          </p:cNvCxnSpPr>
          <p:nvPr/>
        </p:nvCxnSpPr>
        <p:spPr>
          <a:xfrm>
            <a:off x="6672109" y="2556565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3"/>
            <a:endCxn id="5" idx="7"/>
          </p:cNvCxnSpPr>
          <p:nvPr/>
        </p:nvCxnSpPr>
        <p:spPr>
          <a:xfrm flipH="1">
            <a:off x="5206933" y="1864105"/>
            <a:ext cx="437739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6" idx="3"/>
            <a:endCxn id="8" idx="7"/>
          </p:cNvCxnSpPr>
          <p:nvPr/>
        </p:nvCxnSpPr>
        <p:spPr>
          <a:xfrm flipH="1">
            <a:off x="6079278" y="2556565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" idx="3"/>
            <a:endCxn id="9" idx="7"/>
          </p:cNvCxnSpPr>
          <p:nvPr/>
        </p:nvCxnSpPr>
        <p:spPr>
          <a:xfrm flipH="1">
            <a:off x="4543794" y="2556565"/>
            <a:ext cx="40855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93972" y="22399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784273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7061281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922814" y="22262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26565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6</a:t>
            </a:r>
          </a:p>
        </p:txBody>
      </p:sp>
      <p:cxnSp>
        <p:nvCxnSpPr>
          <p:cNvPr id="34" name="Conector de seta reta 33"/>
          <p:cNvCxnSpPr/>
          <p:nvPr/>
        </p:nvCxnSpPr>
        <p:spPr>
          <a:xfrm>
            <a:off x="3079370" y="6425952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359768" y="5934670"/>
            <a:ext cx="368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Pesquisa obteve sucesso: retorne o registro contendo a chave reg.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3B36147-8B2B-46F1-B2C5-2D7368761AC2}"/>
              </a:ext>
            </a:extLst>
          </p:cNvPr>
          <p:cNvSpPr/>
          <p:nvPr/>
        </p:nvSpPr>
        <p:spPr>
          <a:xfrm>
            <a:off x="152400" y="4140019"/>
            <a:ext cx="6519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"Erro: Registro nao esta presente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(x-&gt;</a:t>
            </a:r>
            <a:r>
              <a:rPr lang="pt-BR" sz="1400" dirty="0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Pesquisa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*x =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78327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pesquisar por um registro, atingir uma referência </a:t>
            </a:r>
            <a:r>
              <a:rPr lang="pt-BR" b="1" dirty="0" err="1"/>
              <a:t>null</a:t>
            </a:r>
            <a:r>
              <a:rPr lang="pt-BR" dirty="0"/>
              <a:t> em um processo de pesquisa significa uma pesquisa sem sucesso.</a:t>
            </a:r>
          </a:p>
          <a:p>
            <a:r>
              <a:rPr lang="pt-BR" dirty="0"/>
              <a:t>Caso queira inseri-lo na árvore, a referência </a:t>
            </a:r>
            <a:r>
              <a:rPr lang="pt-BR" b="1" dirty="0" err="1"/>
              <a:t>null</a:t>
            </a:r>
            <a:r>
              <a:rPr lang="pt-BR" dirty="0"/>
              <a:t> atingida é justamente o ponto de inserção.</a:t>
            </a:r>
          </a:p>
        </p:txBody>
      </p:sp>
    </p:spTree>
    <p:extLst>
      <p:ext uri="{BB962C8B-B14F-4D97-AF65-F5344CB8AC3E}">
        <p14:creationId xmlns:p14="http://schemas.microsoft.com/office/powerpoint/2010/main" val="956999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20EEAF0-797E-44D1-90C3-395A1C852E64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482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>
            <a:cxnSpLocks/>
          </p:cNvCxnSpPr>
          <p:nvPr/>
        </p:nvCxnSpPr>
        <p:spPr>
          <a:xfrm>
            <a:off x="6133461" y="4197281"/>
            <a:ext cx="183237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209312" y="3429000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p = </a:t>
            </a:r>
            <a:r>
              <a:rPr lang="pt-BR" i="1" dirty="0" err="1"/>
              <a:t>null</a:t>
            </a:r>
            <a:r>
              <a:rPr lang="pt-BR" i="1" dirty="0"/>
              <a:t>, árvore está vazia, então cria-se um novo No p para a árvore, que conterá apenas um elemento.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FFAB9FD-0639-4628-A284-E2DE24BC3B09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(*p == NULL)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1181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932791" y="5171380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6976863" y="4547116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010E8DA-AD35-459C-A6A2-5174BF75F8DF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x.Chave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9861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6183519" y="5413384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227591" y="4656136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esquerda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2309732-0B9F-405F-ADF4-159532CC3ED6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Insere(x, &amp;(*p)-&gt;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6260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4626618" y="4053265"/>
            <a:ext cx="313638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7907016" y="3284984"/>
            <a:ext cx="2520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p = </a:t>
            </a:r>
            <a:r>
              <a:rPr lang="pt-BR" i="1" dirty="0" err="1"/>
              <a:t>null</a:t>
            </a:r>
            <a:r>
              <a:rPr lang="pt-BR" i="1" dirty="0"/>
              <a:t>, árvore está vazia, então cria-se um novo No p para a árvore, que conterá apenas um elemento.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D771649-DD7D-4A60-A3AB-F77699B64A28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(*p == NULL)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1439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570923" y="4922971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614995" y="4298707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menor, vá para a sub árvore esquerda.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74614C9-CA47-492C-868C-73008ADA47D2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x.Chave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8403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976863" y="5412180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020935" y="4787916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Compare </a:t>
            </a:r>
            <a:r>
              <a:rPr lang="pt-BR" i="1" dirty="0" err="1"/>
              <a:t>reg</a:t>
            </a:r>
            <a:r>
              <a:rPr lang="pt-BR" i="1" dirty="0"/>
              <a:t> com a chave que está na raiz. Se for maior, vá para a sub árvore direita.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68E9508-38C2-4564-B526-245E00126BCD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x.Chave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505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606949" y="5675949"/>
            <a:ext cx="972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651021" y="4619637"/>
            <a:ext cx="2520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Repita o processo recursivamente, passando para a função apenas a sub árvore direita.</a:t>
            </a:r>
          </a:p>
          <a:p>
            <a:r>
              <a:rPr lang="pt-BR" i="1" dirty="0"/>
              <a:t>Obs.: Neste momento, </a:t>
            </a:r>
            <a:r>
              <a:rPr lang="pt-BR" i="1" dirty="0" err="1"/>
              <a:t>p.dir</a:t>
            </a:r>
            <a:r>
              <a:rPr lang="pt-BR" i="1" dirty="0"/>
              <a:t> = </a:t>
            </a:r>
            <a:r>
              <a:rPr lang="pt-BR" i="1" dirty="0" err="1"/>
              <a:t>null</a:t>
            </a:r>
            <a:endParaRPr lang="pt-BR" i="1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2C965D9-FCFF-4231-A257-80EA6D4153AB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Insere(x, &amp;(*p)-&gt;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7880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DB7F487-380E-45F9-95A3-C9D5AF35EE04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(*p == NULL)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95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4995788" y="4222171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444060" y="385284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Cria-se um novo nó, e insere o registro nele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0CA50EF-377B-41B8-AD7D-29E751A1A4B8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89CBC86-E77D-487C-A174-A6A665E64FCD}"/>
              </a:ext>
            </a:extLst>
          </p:cNvPr>
          <p:cNvCxnSpPr/>
          <p:nvPr/>
        </p:nvCxnSpPr>
        <p:spPr>
          <a:xfrm>
            <a:off x="4978221" y="2556565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2339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5030947" y="4488137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479219" y="3852840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Como o novo nó inserido não tem nós filhos, as sub árvores esquerda e direita serão nulas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28A80A7-3DD0-40BB-8A53-AB5EF66F360C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NULL;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 NULL;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AF9A8B5A-B2FC-4507-A84C-BC1C275DFA0C}"/>
              </a:ext>
            </a:extLst>
          </p:cNvPr>
          <p:cNvCxnSpPr/>
          <p:nvPr/>
        </p:nvCxnSpPr>
        <p:spPr>
          <a:xfrm>
            <a:off x="4978221" y="2556565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2153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3144037" y="4817108"/>
            <a:ext cx="400327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336860" y="4609325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Retorno para a função.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A37F5A6-F98D-4531-83F1-2360CFDAF258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BDAECEA-784C-41A0-8D37-42CB869F0018}"/>
              </a:ext>
            </a:extLst>
          </p:cNvPr>
          <p:cNvCxnSpPr/>
          <p:nvPr/>
        </p:nvCxnSpPr>
        <p:spPr>
          <a:xfrm>
            <a:off x="4978221" y="2556565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3737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Inserir na Árvore</a:t>
            </a:r>
          </a:p>
        </p:txBody>
      </p:sp>
      <p:sp>
        <p:nvSpPr>
          <p:cNvPr id="4" name="Elipse 3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4" idx="5"/>
            <a:endCxn id="6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5"/>
            <a:endCxn id="7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3"/>
            <a:endCxn id="5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8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9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4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247452" y="5856722"/>
            <a:ext cx="117136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490824" y="5378214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A sub árvore direita do nó (3) recebe o novo nó (4) como nó filho.</a:t>
            </a:r>
          </a:p>
        </p:txBody>
      </p:sp>
      <p:sp>
        <p:nvSpPr>
          <p:cNvPr id="30" name="Elipse 29"/>
          <p:cNvSpPr/>
          <p:nvPr/>
        </p:nvSpPr>
        <p:spPr>
          <a:xfrm>
            <a:off x="537592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40509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23" name="Conector reto 22"/>
          <p:cNvCxnSpPr>
            <a:stCxn id="5" idx="5"/>
            <a:endCxn id="30" idx="1"/>
          </p:cNvCxnSpPr>
          <p:nvPr/>
        </p:nvCxnSpPr>
        <p:spPr>
          <a:xfrm>
            <a:off x="4978221" y="2556565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C5E553B6-3F8F-4E4F-AD46-96241404B480}"/>
              </a:ext>
            </a:extLst>
          </p:cNvPr>
          <p:cNvSpPr/>
          <p:nvPr/>
        </p:nvSpPr>
        <p:spPr>
          <a:xfrm>
            <a:off x="91144" y="3373706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(*p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*p =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TipoNo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Insere(x, &amp;(*p)-&gt;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"Erro : Registro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ja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existe na arvore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1904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retirada de um registro não é tão simples quanto a inserção. </a:t>
            </a:r>
          </a:p>
          <a:p>
            <a:r>
              <a:rPr lang="pt-BR" dirty="0"/>
              <a:t>Se o nó que contém o registro a ser retirado possui no máximo um descendente: a operação é simples.</a:t>
            </a:r>
          </a:p>
          <a:p>
            <a:r>
              <a:rPr lang="pt-BR" dirty="0"/>
              <a:t>No caso do nó conter dois descendentes o registro a ser retirado deve ser primeiro:</a:t>
            </a:r>
          </a:p>
          <a:p>
            <a:pPr lvl="1"/>
            <a:r>
              <a:rPr lang="pt-BR" dirty="0"/>
              <a:t>substituído pelo 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direita na sub árvore esquerda</a:t>
            </a:r>
            <a:r>
              <a:rPr lang="pt-BR" dirty="0"/>
              <a:t>; </a:t>
            </a:r>
          </a:p>
          <a:p>
            <a:pPr lvl="1"/>
            <a:r>
              <a:rPr lang="pt-BR" dirty="0"/>
              <a:t>ou pelo 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esquerda na sub árvore direita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75514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3933057"/>
            <a:ext cx="8229600" cy="2193107"/>
          </a:xfrm>
        </p:spPr>
        <p:txBody>
          <a:bodyPr>
            <a:normAutofit/>
          </a:bodyPr>
          <a:lstStyle/>
          <a:p>
            <a:r>
              <a:rPr lang="pt-BR" dirty="0"/>
              <a:t>Retirar o registro com chave 5:</a:t>
            </a:r>
          </a:p>
          <a:p>
            <a:pPr lvl="1"/>
            <a:r>
              <a:rPr lang="pt-BR" dirty="0"/>
              <a:t>trocá-lo pelo registro com chave 4 (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direita na sub árvore esquerda</a:t>
            </a:r>
            <a:r>
              <a:rPr lang="pt-BR" dirty="0"/>
              <a:t>) ou pelo registro com chave 6 (</a:t>
            </a:r>
            <a:r>
              <a:rPr lang="pt-BR" b="1" dirty="0"/>
              <a:t>registro</a:t>
            </a:r>
            <a:r>
              <a:rPr lang="pt-BR" dirty="0"/>
              <a:t> </a:t>
            </a:r>
            <a:r>
              <a:rPr lang="pt-BR" b="1" dirty="0"/>
              <a:t>mais à esquerda na sub árvore direita</a:t>
            </a:r>
            <a:r>
              <a:rPr lang="pt-BR" dirty="0"/>
              <a:t>), e então retirar o nó que recebeu o registro com chave 5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7" y="1628800"/>
            <a:ext cx="3809549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21652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AAF0353-6601-407A-8556-4BCD18B0506A}"/>
              </a:ext>
            </a:extLst>
          </p:cNvPr>
          <p:cNvSpPr/>
          <p:nvPr/>
        </p:nvSpPr>
        <p:spPr>
          <a:xfrm>
            <a:off x="18391" y="3294767"/>
            <a:ext cx="72548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828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6168008" y="1741073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616280" y="1105776"/>
            <a:ext cx="1944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Pesquisa o elemento a ser removido na árvore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993A9FA-9304-4A19-9D52-0F3370AA07E5}"/>
              </a:ext>
            </a:extLst>
          </p:cNvPr>
          <p:cNvSpPr/>
          <p:nvPr/>
        </p:nvSpPr>
        <p:spPr>
          <a:xfrm>
            <a:off x="18391" y="3294767"/>
            <a:ext cx="72548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487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9" name="Conector de seta reta 28"/>
          <p:cNvCxnSpPr/>
          <p:nvPr/>
        </p:nvCxnSpPr>
        <p:spPr>
          <a:xfrm>
            <a:off x="4763852" y="5191818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7646471" y="4437112"/>
            <a:ext cx="1944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não existir a sub árvore </a:t>
            </a:r>
            <a:r>
              <a:rPr lang="pt-BR" i="1" dirty="0" err="1"/>
              <a:t>dir</a:t>
            </a:r>
            <a:r>
              <a:rPr lang="pt-BR" i="1" dirty="0"/>
              <a:t>, a raiz da sub árvore </a:t>
            </a:r>
            <a:r>
              <a:rPr lang="pt-BR" i="1" dirty="0" err="1"/>
              <a:t>esq</a:t>
            </a:r>
            <a:r>
              <a:rPr lang="pt-BR" i="1" dirty="0"/>
              <a:t> passa a ser a raiz da árvore.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40BE6B2-1685-4156-9468-DF4690C120C3}"/>
              </a:ext>
            </a:extLst>
          </p:cNvPr>
          <p:cNvSpPr/>
          <p:nvPr/>
        </p:nvSpPr>
        <p:spPr>
          <a:xfrm>
            <a:off x="18391" y="3294767"/>
            <a:ext cx="72548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== NULL)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7601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6" name="Conector de seta reta 25"/>
          <p:cNvCxnSpPr/>
          <p:nvPr/>
        </p:nvCxnSpPr>
        <p:spPr>
          <a:xfrm>
            <a:off x="5030947" y="5929543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7968208" y="4708594"/>
            <a:ext cx="1944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não existir a sub árvore </a:t>
            </a:r>
            <a:r>
              <a:rPr lang="pt-BR" i="1" dirty="0" err="1"/>
              <a:t>esq</a:t>
            </a:r>
            <a:r>
              <a:rPr lang="pt-BR" i="1" dirty="0"/>
              <a:t>, a raiz da sub árvore </a:t>
            </a:r>
            <a:r>
              <a:rPr lang="pt-BR" i="1" dirty="0" err="1"/>
              <a:t>dir</a:t>
            </a:r>
            <a:r>
              <a:rPr lang="pt-BR" i="1" dirty="0"/>
              <a:t> passa a ser a raiz da árvore.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94A15F4-9A0C-4776-B7A8-5F0DDBD99DDC}"/>
              </a:ext>
            </a:extLst>
          </p:cNvPr>
          <p:cNvSpPr/>
          <p:nvPr/>
        </p:nvSpPr>
        <p:spPr>
          <a:xfrm>
            <a:off x="18391" y="3294767"/>
            <a:ext cx="72548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 != NULL)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535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4907868" y="6170853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895756" y="5117014"/>
            <a:ext cx="2160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Caso exista sub árvore </a:t>
            </a:r>
            <a:r>
              <a:rPr lang="pt-BR" i="1" dirty="0" err="1"/>
              <a:t>esq</a:t>
            </a:r>
            <a:r>
              <a:rPr lang="pt-BR" i="1" dirty="0"/>
              <a:t> e </a:t>
            </a:r>
            <a:r>
              <a:rPr lang="pt-BR" i="1" dirty="0" err="1"/>
              <a:t>dir</a:t>
            </a:r>
            <a:r>
              <a:rPr lang="pt-BR" i="1" dirty="0"/>
              <a:t>, calcular o elemento mais a direta da sub árvore esquerda de p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1F62E25-8EE2-4A48-BD0F-CB1CAF251274}"/>
              </a:ext>
            </a:extLst>
          </p:cNvPr>
          <p:cNvSpPr/>
          <p:nvPr/>
        </p:nvSpPr>
        <p:spPr>
          <a:xfrm>
            <a:off x="18391" y="3294767"/>
            <a:ext cx="72548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Antecessor(*p, &amp;(*p)-&gt;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7618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207568" y="4122946"/>
            <a:ext cx="216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existe uma sub árvore direita, continuar pesquisa até encontrar o elemento mais a direita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4483353" y="5013176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231904" y="14847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319016" y="224460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E861452-5C66-4435-AE49-8B22E5E650AC}"/>
              </a:ext>
            </a:extLst>
          </p:cNvPr>
          <p:cNvSpPr/>
          <p:nvPr/>
        </p:nvSpPr>
        <p:spPr>
          <a:xfrm>
            <a:off x="6251755" y="45188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*r)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(q, &amp;(*r)-&gt;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 = *r;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*r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0060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207568" y="4122946"/>
            <a:ext cx="216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existe uma sub árvore direita, continuar pesquisa até encontrar o elemento mais a direita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4483353" y="5013176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231904" y="14847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319016" y="224460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2879ED2-884A-4A75-93A0-D55066A84345}"/>
              </a:ext>
            </a:extLst>
          </p:cNvPr>
          <p:cNvSpPr/>
          <p:nvPr/>
        </p:nvSpPr>
        <p:spPr>
          <a:xfrm>
            <a:off x="6251755" y="45188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*r)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((*r)-&gt;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!= NULL) {</a:t>
            </a:r>
          </a:p>
          <a:p>
            <a:pPr lvl="2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(q, &amp;(*r)-&gt;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 = *r;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*r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042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207568" y="4122946"/>
            <a:ext cx="216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Se existe uma sub árvore direita, continuar pesquisa até encontrar o elemento mais a direita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4483353" y="5013176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231904" y="14847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319016" y="224460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29A9799-F924-40BA-A091-B4FD05BFCF0C}"/>
              </a:ext>
            </a:extLst>
          </p:cNvPr>
          <p:cNvSpPr/>
          <p:nvPr/>
        </p:nvSpPr>
        <p:spPr>
          <a:xfrm>
            <a:off x="6251755" y="45188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*r)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(q, &amp;(*r)-&gt;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q-&gt;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(*r)-&gt;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 = *r;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*r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508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349825" y="20876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2981754" y="292959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8C99F8B-BAF0-4653-B198-1D455035CECE}"/>
              </a:ext>
            </a:extLst>
          </p:cNvPr>
          <p:cNvSpPr/>
          <p:nvPr/>
        </p:nvSpPr>
        <p:spPr>
          <a:xfrm>
            <a:off x="6251755" y="45188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*r)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(q, &amp;(*r)-&gt;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q = *r;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*r = (*r)-&gt;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4B1E062-0666-4AD0-BEB9-FC7538A997C5}"/>
              </a:ext>
            </a:extLst>
          </p:cNvPr>
          <p:cNvSpPr txBox="1"/>
          <p:nvPr/>
        </p:nvSpPr>
        <p:spPr>
          <a:xfrm>
            <a:off x="2207568" y="4437113"/>
            <a:ext cx="2160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Ao encontrar o elemento mais a direita, q recebe r (o elemento mais a direita), e r recebe sua sub árvore a esquerda </a:t>
            </a:r>
          </a:p>
        </p:txBody>
      </p:sp>
      <p:cxnSp>
        <p:nvCxnSpPr>
          <p:cNvPr id="33" name="Conector de seta reta 24">
            <a:extLst>
              <a:ext uri="{FF2B5EF4-FFF2-40B4-BE49-F238E27FC236}">
                <a16:creationId xmlns:a16="http://schemas.microsoft.com/office/drawing/2014/main" id="{D920D4BF-A7BF-4444-B245-24C7B2C54E3E}"/>
              </a:ext>
            </a:extLst>
          </p:cNvPr>
          <p:cNvCxnSpPr/>
          <p:nvPr/>
        </p:nvCxnSpPr>
        <p:spPr>
          <a:xfrm flipH="1">
            <a:off x="4483353" y="5327342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2357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935760" y="29249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7" idx="3"/>
            <a:endCxn id="11" idx="7"/>
          </p:cNvCxnSpPr>
          <p:nvPr/>
        </p:nvCxnSpPr>
        <p:spPr>
          <a:xfrm flipH="1">
            <a:off x="4243074" y="255656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4937" y="29249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804697" y="6085466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Retorna a sub árvore a esquerda</a:t>
            </a:r>
          </a:p>
        </p:txBody>
      </p:sp>
      <p:cxnSp>
        <p:nvCxnSpPr>
          <p:cNvPr id="25" name="Conector de seta reta 24"/>
          <p:cNvCxnSpPr/>
          <p:nvPr/>
        </p:nvCxnSpPr>
        <p:spPr>
          <a:xfrm flipH="1">
            <a:off x="3882184" y="6567426"/>
            <a:ext cx="20170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3309436" y="2920298"/>
            <a:ext cx="62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r.esq</a:t>
            </a:r>
            <a:endParaRPr lang="pt-BR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B07F2B3-2AF1-489D-8FB4-048E29068E2E}"/>
              </a:ext>
            </a:extLst>
          </p:cNvPr>
          <p:cNvSpPr/>
          <p:nvPr/>
        </p:nvSpPr>
        <p:spPr>
          <a:xfrm>
            <a:off x="6251755" y="45188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*r)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(q, &amp;(*r)-&gt;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 = *r;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*r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(q);</a:t>
            </a:r>
          </a:p>
          <a:p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784A9BC-7BDB-4A0A-9C23-87068ACC0FE4}"/>
              </a:ext>
            </a:extLst>
          </p:cNvPr>
          <p:cNvSpPr txBox="1"/>
          <p:nvPr/>
        </p:nvSpPr>
        <p:spPr>
          <a:xfrm>
            <a:off x="4349825" y="20876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D9406AA-05D6-4016-B728-4FE4D694E480}"/>
              </a:ext>
            </a:extLst>
          </p:cNvPr>
          <p:cNvSpPr txBox="1"/>
          <p:nvPr/>
        </p:nvSpPr>
        <p:spPr>
          <a:xfrm>
            <a:off x="2981754" y="292959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6432447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392E9EA-6AB3-4498-ADF0-14C3412A2FB6}"/>
              </a:ext>
            </a:extLst>
          </p:cNvPr>
          <p:cNvSpPr/>
          <p:nvPr/>
        </p:nvSpPr>
        <p:spPr>
          <a:xfrm>
            <a:off x="6251755" y="45188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*r)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(q, &amp;(*r)-&gt;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 = *r;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*r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0998745-2A79-4828-81F9-283F3D4D00A8}"/>
              </a:ext>
            </a:extLst>
          </p:cNvPr>
          <p:cNvSpPr/>
          <p:nvPr/>
        </p:nvSpPr>
        <p:spPr>
          <a:xfrm>
            <a:off x="18391" y="3294767"/>
            <a:ext cx="72548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Antecessor(*p, &amp;(*p)-&gt;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2943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92A93809-0B89-4C24-898C-10B6AF99DD91}"/>
              </a:ext>
            </a:extLst>
          </p:cNvPr>
          <p:cNvSpPr/>
          <p:nvPr/>
        </p:nvSpPr>
        <p:spPr>
          <a:xfrm>
            <a:off x="18391" y="3294767"/>
            <a:ext cx="72548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TipoRegistro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*p) {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Retira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(x,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(*p, &amp;(*p)-&gt;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*p; *p = (*p)-&gt;</a:t>
            </a:r>
            <a:r>
              <a:rPr lang="pt-B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Aux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Procedimento para Retirar um elemento </a:t>
            </a:r>
            <a:r>
              <a:rPr lang="pt-BR" i="1" dirty="0"/>
              <a:t>x </a:t>
            </a:r>
            <a:r>
              <a:rPr lang="pt-BR" dirty="0"/>
              <a:t>da Árvore</a:t>
            </a:r>
          </a:p>
        </p:txBody>
      </p:sp>
      <p:sp>
        <p:nvSpPr>
          <p:cNvPr id="6" name="Elipse 5"/>
          <p:cNvSpPr/>
          <p:nvPr/>
        </p:nvSpPr>
        <p:spPr>
          <a:xfrm>
            <a:off x="5591944" y="155679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670907" y="224925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616823" y="22585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728413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023992" y="29342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6" idx="5"/>
            <a:endCxn id="8" idx="1"/>
          </p:cNvCxnSpPr>
          <p:nvPr/>
        </p:nvCxnSpPr>
        <p:spPr>
          <a:xfrm>
            <a:off x="5899258" y="186410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5"/>
            <a:endCxn id="9" idx="1"/>
          </p:cNvCxnSpPr>
          <p:nvPr/>
        </p:nvCxnSpPr>
        <p:spPr>
          <a:xfrm>
            <a:off x="6924137" y="256585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6" idx="3"/>
            <a:endCxn id="7" idx="7"/>
          </p:cNvCxnSpPr>
          <p:nvPr/>
        </p:nvCxnSpPr>
        <p:spPr>
          <a:xfrm flipH="1">
            <a:off x="4978221" y="186410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10" idx="7"/>
          </p:cNvCxnSpPr>
          <p:nvPr/>
        </p:nvCxnSpPr>
        <p:spPr>
          <a:xfrm flipH="1">
            <a:off x="6331306" y="2565857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621121" y="15521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46000" y="2249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036301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313309" y="293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94102" y="22262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991544" y="1556792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reg</a:t>
            </a:r>
            <a:r>
              <a:rPr lang="pt-BR" dirty="0"/>
              <a:t> = 5</a:t>
            </a:r>
          </a:p>
        </p:txBody>
      </p:sp>
      <p:cxnSp>
        <p:nvCxnSpPr>
          <p:cNvPr id="11" name="Conector de seta reta 10"/>
          <p:cNvCxnSpPr>
            <a:cxnSpLocks/>
          </p:cNvCxnSpPr>
          <p:nvPr/>
        </p:nvCxnSpPr>
        <p:spPr>
          <a:xfrm>
            <a:off x="4490887" y="6024627"/>
            <a:ext cx="51376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004656" y="5673060"/>
            <a:ext cx="1439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a nova raiz da árvore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8B0EC79-8918-406D-AEB5-7E95B068197B}"/>
              </a:ext>
            </a:extLst>
          </p:cNvPr>
          <p:cNvSpPr/>
          <p:nvPr/>
        </p:nvSpPr>
        <p:spPr>
          <a:xfrm>
            <a:off x="6251755" y="45188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*r)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Antecessor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(q, &amp;(*r)-&gt;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q = *r;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*r = (*r)-&gt;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(q);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121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 (ou Em-ordem)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Após construída a árvore, pode ser necessário percorrer todos os registros que compõem a tabela ou arquivo.</a:t>
            </a:r>
          </a:p>
          <a:p>
            <a:r>
              <a:rPr lang="pt-BR" dirty="0"/>
              <a:t>Existe mais de uma ordem de </a:t>
            </a:r>
            <a:r>
              <a:rPr lang="pt-BR" b="1" dirty="0"/>
              <a:t>caminhamento </a:t>
            </a:r>
            <a:r>
              <a:rPr lang="pt-BR" dirty="0"/>
              <a:t>em árvores, mas a mais útil é a chamada ordem de </a:t>
            </a:r>
            <a:r>
              <a:rPr lang="pt-BR" b="1" dirty="0"/>
              <a:t>caminhamento central</a:t>
            </a:r>
            <a:r>
              <a:rPr lang="pt-BR" dirty="0"/>
              <a:t>.</a:t>
            </a:r>
          </a:p>
          <a:p>
            <a:r>
              <a:rPr lang="pt-BR" dirty="0"/>
              <a:t>O caminhamento central é melhor expresso em termos recursivos.</a:t>
            </a:r>
          </a:p>
        </p:txBody>
      </p:sp>
    </p:spTree>
    <p:extLst>
      <p:ext uri="{BB962C8B-B14F-4D97-AF65-F5344CB8AC3E}">
        <p14:creationId xmlns:p14="http://schemas.microsoft.com/office/powerpoint/2010/main" val="4758965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caminhamento central lista o </a:t>
            </a:r>
            <a:r>
              <a:rPr lang="pt-BR" b="1" dirty="0"/>
              <a:t>nó filho da </a:t>
            </a:r>
            <a:r>
              <a:rPr lang="pt-BR" b="1" dirty="0" err="1"/>
              <a:t>subárvore</a:t>
            </a:r>
            <a:r>
              <a:rPr lang="pt-BR" b="1" dirty="0"/>
              <a:t> mais à esquerda</a:t>
            </a:r>
            <a:r>
              <a:rPr lang="pt-BR" dirty="0"/>
              <a:t>, lista o </a:t>
            </a:r>
            <a:r>
              <a:rPr lang="pt-BR" b="1" dirty="0"/>
              <a:t>nó raiz </a:t>
            </a:r>
            <a:r>
              <a:rPr lang="pt-BR" dirty="0"/>
              <a:t>desta </a:t>
            </a:r>
            <a:r>
              <a:rPr lang="pt-BR" dirty="0" err="1"/>
              <a:t>subárvore</a:t>
            </a:r>
            <a:r>
              <a:rPr lang="pt-BR" dirty="0"/>
              <a:t> e então o </a:t>
            </a:r>
            <a:r>
              <a:rPr lang="pt-BR" b="1" dirty="0"/>
              <a:t>nó filho à direita</a:t>
            </a:r>
            <a:r>
              <a:rPr lang="pt-BR" dirty="0"/>
              <a:t>. (em cada </a:t>
            </a:r>
            <a:r>
              <a:rPr lang="pt-BR" dirty="0" err="1"/>
              <a:t>subárvore</a:t>
            </a:r>
            <a:r>
              <a:rPr lang="pt-BR" dirty="0"/>
              <a:t> lista os nós sempre da esquerda para a direita). O procedimento é aplicado recursivamente a toda árvore.</a:t>
            </a:r>
          </a:p>
          <a:p>
            <a:pPr lvl="1"/>
            <a:r>
              <a:rPr lang="pt-BR" dirty="0"/>
              <a:t>Em resumo: os nós de cada sub árvore são listados nesta ordem: </a:t>
            </a:r>
            <a:r>
              <a:rPr lang="pt-BR" b="1" dirty="0"/>
              <a:t>nós filhos à esquerda</a:t>
            </a:r>
            <a:r>
              <a:rPr lang="pt-BR" dirty="0"/>
              <a:t>, </a:t>
            </a:r>
            <a:r>
              <a:rPr lang="pt-BR" b="1" dirty="0"/>
              <a:t>raiz</a:t>
            </a:r>
            <a:r>
              <a:rPr lang="pt-BR" dirty="0"/>
              <a:t> e </a:t>
            </a:r>
            <a:r>
              <a:rPr lang="pt-BR" b="1" dirty="0"/>
              <a:t>nós filhos à direita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Uma característica importante do caminhamento central é que os nós são visitados de </a:t>
            </a:r>
            <a:r>
              <a:rPr lang="pt-BR" b="1" dirty="0"/>
              <a:t>forma ordenada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73901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Percorrer a árvore: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Usando caminhamento central recupera as chaves na ordem 1, 2, 3, 4, 5, 6 e 7.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5" y="2132857"/>
            <a:ext cx="3529885" cy="2167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2537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1B6D197-995E-4D8E-AE5B-E42EF0ACDA96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44969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11E8146-6E14-4D0C-A80F-2916524A6862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8803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3C29385-CC91-4310-BA1B-79ECD03A9D15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5893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44A61A3-3C70-40AD-A522-258A53BC5BF2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0728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6593985-D499-41EA-9712-CE4E0A94F7BC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4253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94A55EA-5AF9-4EDC-88D5-0443E0E664E4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93262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9C5D9A7-9EC7-4437-900C-195EC54E7D68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51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38A0240-932B-4907-B2CD-9B34FFF5575E}"/>
              </a:ext>
            </a:extLst>
          </p:cNvPr>
          <p:cNvCxnSpPr/>
          <p:nvPr/>
        </p:nvCxnSpPr>
        <p:spPr>
          <a:xfrm flipH="1">
            <a:off x="3754315" y="4060088"/>
            <a:ext cx="318334" cy="3096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C4A49F-78C2-4029-A4AE-414E51CC058B}"/>
              </a:ext>
            </a:extLst>
          </p:cNvPr>
          <p:cNvSpPr txBox="1"/>
          <p:nvPr/>
        </p:nvSpPr>
        <p:spPr>
          <a:xfrm>
            <a:off x="3381434" y="4317584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BF74FF1-C037-4FC3-8A48-EE8D33D576DC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3071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34056-DA63-411E-B2A1-AA094382E505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87DCFF5-CBB0-41BB-B295-66BD0CFCA100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("%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\n", 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302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FA28734-5A4A-49B9-A284-D870266F2FF3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0CDA972-A7F7-4DBB-8ED7-43B336BC070A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8852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D265646-A72A-4EB0-84AA-3537F935E91B}"/>
              </a:ext>
            </a:extLst>
          </p:cNvPr>
          <p:cNvCxnSpPr>
            <a:cxnSpLocks/>
          </p:cNvCxnSpPr>
          <p:nvPr/>
        </p:nvCxnSpPr>
        <p:spPr>
          <a:xfrm>
            <a:off x="4350786" y="4096100"/>
            <a:ext cx="372881" cy="376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D523EEF-5F55-43F6-BBFB-5FE87154191E}"/>
              </a:ext>
            </a:extLst>
          </p:cNvPr>
          <p:cNvSpPr txBox="1"/>
          <p:nvPr/>
        </p:nvSpPr>
        <p:spPr>
          <a:xfrm>
            <a:off x="4447444" y="4384766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FF218B-FF35-4A1C-AE5B-782E5BEF3021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4DE5FC6-FE00-462A-BE9A-F9CB0EE61A55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45542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10D97CC9-E252-4745-A093-5A55DC2BDB5B}"/>
              </a:ext>
            </a:extLst>
          </p:cNvPr>
          <p:cNvSpPr/>
          <p:nvPr/>
        </p:nvSpPr>
        <p:spPr>
          <a:xfrm>
            <a:off x="191160" y="6176963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5E3EE08-C595-4953-9663-BB6198DA584D}"/>
              </a:ext>
            </a:extLst>
          </p:cNvPr>
          <p:cNvSpPr txBox="1"/>
          <p:nvPr/>
        </p:nvSpPr>
        <p:spPr>
          <a:xfrm>
            <a:off x="7084575" y="568862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1191271-BBCF-4072-8708-F79112CBC86F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44001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249455A-C784-42E3-BE6C-D86E0973F0CD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6F13536-E3BD-4F8B-B064-0B8F15FA2A53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("%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\n", 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77308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B5FE5D9-5732-48D2-B20F-DA9A0FDD9819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9FB7D7E-53BE-49C6-BF77-AD1D0796D437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933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C2B0082-D367-4279-9E16-07E838452B69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F21107B-0044-4B4B-B9E6-633C2927F775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6113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6FEB23F-8B92-44DC-9696-A3E550433D1C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4C55DD7-27F5-4F0F-A975-44EE96CCB6CF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4909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38A0240-932B-4907-B2CD-9B34FFF5575E}"/>
              </a:ext>
            </a:extLst>
          </p:cNvPr>
          <p:cNvCxnSpPr/>
          <p:nvPr/>
        </p:nvCxnSpPr>
        <p:spPr>
          <a:xfrm flipH="1">
            <a:off x="5178669" y="4060088"/>
            <a:ext cx="318334" cy="3096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C4A49F-78C2-4029-A4AE-414E51CC058B}"/>
              </a:ext>
            </a:extLst>
          </p:cNvPr>
          <p:cNvSpPr txBox="1"/>
          <p:nvPr/>
        </p:nvSpPr>
        <p:spPr>
          <a:xfrm>
            <a:off x="4805788" y="4317584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B780678-FD6A-4D95-A5BB-8814ED271E63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CC285DD-E907-4D1E-9879-7A5649CB1970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07799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3EBED01-B20E-4931-B327-4D97EBBC35A6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5070E5B-0B3A-4626-8768-59487FBA6AE3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("%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\n", 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62460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013040A-CBBF-40DD-A688-C7BE6A04D73E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CD426F5-35E8-454A-A4E5-D9D2B57BED27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407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D265646-A72A-4EB0-84AA-3537F935E91B}"/>
              </a:ext>
            </a:extLst>
          </p:cNvPr>
          <p:cNvCxnSpPr>
            <a:cxnSpLocks/>
          </p:cNvCxnSpPr>
          <p:nvPr/>
        </p:nvCxnSpPr>
        <p:spPr>
          <a:xfrm>
            <a:off x="5792725" y="4096100"/>
            <a:ext cx="372881" cy="376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D523EEF-5F55-43F6-BBFB-5FE87154191E}"/>
              </a:ext>
            </a:extLst>
          </p:cNvPr>
          <p:cNvSpPr txBox="1"/>
          <p:nvPr/>
        </p:nvSpPr>
        <p:spPr>
          <a:xfrm>
            <a:off x="5889383" y="4384766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D0E46D2-E86E-4461-865C-F96BD4AF287A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B3E85D0-FE11-48FA-AC4B-927752D5B1D1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39495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D653E7C-3939-4165-BDE9-AEBCF3461024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961078D-D30A-4FA2-830F-DF6CFE15F153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A00426D7-2F49-461B-8031-8F383B92705A}"/>
              </a:ext>
            </a:extLst>
          </p:cNvPr>
          <p:cNvSpPr/>
          <p:nvPr/>
        </p:nvSpPr>
        <p:spPr>
          <a:xfrm>
            <a:off x="158527" y="6190518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27076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A31F8389-C77A-4045-A764-99B8E5E2FD3E}"/>
              </a:ext>
            </a:extLst>
          </p:cNvPr>
          <p:cNvSpPr/>
          <p:nvPr/>
        </p:nvSpPr>
        <p:spPr>
          <a:xfrm>
            <a:off x="158527" y="6190518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635F110-06BF-40E0-81E9-9CD0172CDFED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966082A-A753-4A2E-9DF7-FC568C42C196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08303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E67CB13-A168-405B-A86B-B04923A62D41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A58FA18-2DF5-4EC7-BD18-7485CAD72AD3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("%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\n", 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8543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CBC9485-6B03-4857-9CAC-7833B964C0B4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809D9FC-2D93-4AA7-933E-71B75AC35E06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004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02CB7DD-60CD-4C73-9CC8-DAF24916B13F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2F9671C-D88D-4A6A-8DC0-409A8AD6FEC4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(p == NULL)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4713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05A6835B-45BB-44FE-9FE1-70C6D06666CA}"/>
              </a:ext>
            </a:extLst>
          </p:cNvPr>
          <p:cNvCxnSpPr/>
          <p:nvPr/>
        </p:nvCxnSpPr>
        <p:spPr>
          <a:xfrm flipH="1">
            <a:off x="6439018" y="3340961"/>
            <a:ext cx="338245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4F0D0C-CF11-4BDB-93C6-72A19B6EBC04}"/>
              </a:ext>
            </a:extLst>
          </p:cNvPr>
          <p:cNvSpPr txBox="1"/>
          <p:nvPr/>
        </p:nvSpPr>
        <p:spPr>
          <a:xfrm>
            <a:off x="6099201" y="3773671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02CB7DD-60CD-4C73-9CC8-DAF24916B13F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EB2F4F9-DA74-46B8-B1C1-45840680156B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3355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EBD67D2-8327-4A30-96F6-E8B9D1E0A594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5CECCE6-8B6B-4ED4-B216-7FBD1943542F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("%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\n", 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Reg.Chave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2585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7E78B729-2716-46A5-902D-20B670985868}"/>
              </a:ext>
            </a:extLst>
          </p:cNvPr>
          <p:cNvCxnSpPr>
            <a:cxnSpLocks/>
            <a:stCxn id="38" idx="5"/>
          </p:cNvCxnSpPr>
          <p:nvPr/>
        </p:nvCxnSpPr>
        <p:spPr>
          <a:xfrm>
            <a:off x="7031849" y="3340961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5304A09-A699-46D9-B4FD-8A0C4AC9EDBB}"/>
              </a:ext>
            </a:extLst>
          </p:cNvPr>
          <p:cNvSpPr txBox="1"/>
          <p:nvPr/>
        </p:nvSpPr>
        <p:spPr>
          <a:xfrm>
            <a:off x="7252879" y="3773671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Null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B35695C-4060-427A-9944-D0345F716184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44F5334-8BA4-4C47-A4E7-A17F740EE376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Central(p-&gt;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44791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FF8176C7-A69E-4F22-9187-83F62F1E23A1}"/>
              </a:ext>
            </a:extLst>
          </p:cNvPr>
          <p:cNvSpPr/>
          <p:nvPr/>
        </p:nvSpPr>
        <p:spPr>
          <a:xfrm>
            <a:off x="184637" y="6168171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0CE16B3-B493-447C-888A-A99D4BEE79BA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3864FA8-9175-4364-8C12-34B0CB961B5A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9018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F318940A-1B02-492A-841D-C23FECF5CE9A}"/>
              </a:ext>
            </a:extLst>
          </p:cNvPr>
          <p:cNvSpPr/>
          <p:nvPr/>
        </p:nvSpPr>
        <p:spPr>
          <a:xfrm>
            <a:off x="184637" y="6168171"/>
            <a:ext cx="309342" cy="17393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2036B97-87CB-46F2-B390-D988CD6B7D2C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3EA3818-1C3A-4B16-8560-7D6034FC5CE3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2747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Central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central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E0F7206-38AC-471F-A628-B334F67B75F2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2   3   4   5   8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300DE7-FFAF-4922-97DE-AFE2E2B17327}"/>
              </a:ext>
            </a:extLst>
          </p:cNvPr>
          <p:cNvSpPr/>
          <p:nvPr/>
        </p:nvSpPr>
        <p:spPr>
          <a:xfrm>
            <a:off x="7055398" y="4595248"/>
            <a:ext cx="42585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Uma característica importante do caminhamento central é que os nós são visitados de </a:t>
            </a:r>
            <a:r>
              <a:rPr lang="pt-BR" b="1" dirty="0"/>
              <a:t>forma ordenada</a:t>
            </a:r>
            <a:r>
              <a:rPr lang="pt-BR" dirty="0"/>
              <a:t>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BC3F1BD-7560-408B-B834-1671A7747915}"/>
              </a:ext>
            </a:extLst>
          </p:cNvPr>
          <p:cNvSpPr/>
          <p:nvPr/>
        </p:nvSpPr>
        <p:spPr>
          <a:xfrm>
            <a:off x="573551" y="4619493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TipoApontador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p) {</a:t>
            </a:r>
          </a:p>
          <a:p>
            <a:pPr lvl="1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Esq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ld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Chave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795E26"/>
                </a:solidFill>
                <a:latin typeface="Consolas" panose="020B0609020204030204" pitchFamily="49" charset="0"/>
              </a:rPr>
              <a:t>Central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(p-&gt;</a:t>
            </a:r>
            <a:r>
              <a:rPr lang="pt-B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0627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33374-482B-483F-AB77-023FA0F9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99F83-7EA1-4F16-9F83-79ED00C18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caminhamento em </a:t>
            </a:r>
            <a:r>
              <a:rPr lang="pt-BR" b="1" dirty="0" err="1"/>
              <a:t>pré</a:t>
            </a:r>
            <a:r>
              <a:rPr lang="pt-BR" b="1" dirty="0"/>
              <a:t>-ordem</a:t>
            </a:r>
            <a:r>
              <a:rPr lang="pt-BR" dirty="0"/>
              <a:t> lista o </a:t>
            </a:r>
            <a:r>
              <a:rPr lang="pt-BR" b="1" dirty="0"/>
              <a:t>nó raiz da sub árvore</a:t>
            </a:r>
            <a:r>
              <a:rPr lang="pt-BR" dirty="0"/>
              <a:t>, </a:t>
            </a:r>
            <a:r>
              <a:rPr lang="pt-BR" b="1" dirty="0"/>
              <a:t>o nó filho da sub árvore à esquerda </a:t>
            </a:r>
            <a:r>
              <a:rPr lang="pt-BR" dirty="0"/>
              <a:t>e lista o </a:t>
            </a:r>
            <a:r>
              <a:rPr lang="pt-BR" b="1" dirty="0"/>
              <a:t>nó filho à direita</a:t>
            </a:r>
            <a:r>
              <a:rPr lang="pt-BR" dirty="0"/>
              <a:t>. (em cada </a:t>
            </a:r>
            <a:r>
              <a:rPr lang="pt-BR" dirty="0" err="1"/>
              <a:t>subárvore</a:t>
            </a:r>
            <a:r>
              <a:rPr lang="pt-BR" dirty="0"/>
              <a:t> lista os nós sempre da esquerda para a direita). O procedimento é aplicado recursivamente a toda árvore.</a:t>
            </a:r>
          </a:p>
          <a:p>
            <a:pPr lvl="1"/>
            <a:r>
              <a:rPr lang="pt-BR" dirty="0"/>
              <a:t>Em resumo: os nós de cada sub árvore são listados nesta ordem: </a:t>
            </a:r>
            <a:r>
              <a:rPr lang="pt-BR" b="1" dirty="0"/>
              <a:t>raiz, nós filhos à esquerda</a:t>
            </a:r>
            <a:r>
              <a:rPr lang="pt-BR" dirty="0"/>
              <a:t> e </a:t>
            </a:r>
            <a:r>
              <a:rPr lang="pt-BR" b="1" dirty="0"/>
              <a:t>nós filhos à direita</a:t>
            </a:r>
            <a:r>
              <a:rPr lang="pt-BR" dirty="0"/>
              <a:t>.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F2D1B0-E9F2-47A4-B68F-187479D3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97116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13750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FA505D-5BEC-4479-8B16-193D67A7874E}"/>
              </a:ext>
            </a:extLst>
          </p:cNvPr>
          <p:cNvSpPr txBox="1"/>
          <p:nvPr/>
        </p:nvSpPr>
        <p:spPr>
          <a:xfrm>
            <a:off x="7084575" y="5688623"/>
            <a:ext cx="487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</a:t>
            </a:r>
          </a:p>
        </p:txBody>
      </p:sp>
    </p:spTree>
    <p:extLst>
      <p:ext uri="{BB962C8B-B14F-4D97-AF65-F5344CB8AC3E}">
        <p14:creationId xmlns:p14="http://schemas.microsoft.com/office/powerpoint/2010/main" val="215194722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56D839E-2A2A-4EA9-B3CD-5DBDC691F7B4}"/>
              </a:ext>
            </a:extLst>
          </p:cNvPr>
          <p:cNvSpPr txBox="1"/>
          <p:nvPr/>
        </p:nvSpPr>
        <p:spPr>
          <a:xfrm>
            <a:off x="7084575" y="5688623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</a:t>
            </a:r>
          </a:p>
        </p:txBody>
      </p:sp>
    </p:spTree>
    <p:extLst>
      <p:ext uri="{BB962C8B-B14F-4D97-AF65-F5344CB8AC3E}">
        <p14:creationId xmlns:p14="http://schemas.microsoft.com/office/powerpoint/2010/main" val="305647449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240242E-3827-44BC-BFFF-568520AD1F3A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</a:t>
            </a:r>
          </a:p>
        </p:txBody>
      </p:sp>
    </p:spTree>
    <p:extLst>
      <p:ext uri="{BB962C8B-B14F-4D97-AF65-F5344CB8AC3E}">
        <p14:creationId xmlns:p14="http://schemas.microsoft.com/office/powerpoint/2010/main" val="16437705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9FF6FA1-6C2D-413D-843D-38F5D6E3048B}"/>
              </a:ext>
            </a:extLst>
          </p:cNvPr>
          <p:cNvSpPr txBox="1"/>
          <p:nvPr/>
        </p:nvSpPr>
        <p:spPr>
          <a:xfrm>
            <a:off x="7084575" y="5688623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</a:t>
            </a:r>
          </a:p>
        </p:txBody>
      </p:sp>
    </p:spTree>
    <p:extLst>
      <p:ext uri="{BB962C8B-B14F-4D97-AF65-F5344CB8AC3E}">
        <p14:creationId xmlns:p14="http://schemas.microsoft.com/office/powerpoint/2010/main" val="272347756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133B53A-325C-452E-94AF-A6A4D12225C4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</a:t>
            </a:r>
          </a:p>
        </p:txBody>
      </p:sp>
    </p:spTree>
    <p:extLst>
      <p:ext uri="{BB962C8B-B14F-4D97-AF65-F5344CB8AC3E}">
        <p14:creationId xmlns:p14="http://schemas.microsoft.com/office/powerpoint/2010/main" val="319067691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7444C2-3188-4258-A046-FBE185661383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</a:t>
            </a:r>
          </a:p>
        </p:txBody>
      </p:sp>
    </p:spTree>
    <p:extLst>
      <p:ext uri="{BB962C8B-B14F-4D97-AF65-F5344CB8AC3E}">
        <p14:creationId xmlns:p14="http://schemas.microsoft.com/office/powerpoint/2010/main" val="225291529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4B321C-82A8-4956-9E85-981956618CEE}"/>
              </a:ext>
            </a:extLst>
          </p:cNvPr>
          <p:cNvSpPr txBox="1"/>
          <p:nvPr/>
        </p:nvSpPr>
        <p:spPr>
          <a:xfrm>
            <a:off x="7084575" y="568862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</a:t>
            </a:r>
          </a:p>
        </p:txBody>
      </p:sp>
    </p:spTree>
    <p:extLst>
      <p:ext uri="{BB962C8B-B14F-4D97-AF65-F5344CB8AC3E}">
        <p14:creationId xmlns:p14="http://schemas.microsoft.com/office/powerpoint/2010/main" val="394475066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FCC0237-DD95-4F81-8F8B-D66D2E234677}"/>
              </a:ext>
            </a:extLst>
          </p:cNvPr>
          <p:cNvSpPr txBox="1"/>
          <p:nvPr/>
        </p:nvSpPr>
        <p:spPr>
          <a:xfrm>
            <a:off x="7084575" y="5688623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5   3   2   4   8   </a:t>
            </a:r>
          </a:p>
        </p:txBody>
      </p:sp>
    </p:spTree>
    <p:extLst>
      <p:ext uri="{BB962C8B-B14F-4D97-AF65-F5344CB8AC3E}">
        <p14:creationId xmlns:p14="http://schemas.microsoft.com/office/powerpoint/2010/main" val="34550162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B2BB66-2959-45B6-8263-7A2CAFA39E33}"/>
              </a:ext>
            </a:extLst>
          </p:cNvPr>
          <p:cNvSpPr txBox="1"/>
          <p:nvPr/>
        </p:nvSpPr>
        <p:spPr>
          <a:xfrm>
            <a:off x="7084575" y="5688623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5   3   2   4   8   </a:t>
            </a:r>
          </a:p>
        </p:txBody>
      </p:sp>
    </p:spTree>
    <p:extLst>
      <p:ext uri="{BB962C8B-B14F-4D97-AF65-F5344CB8AC3E}">
        <p14:creationId xmlns:p14="http://schemas.microsoft.com/office/powerpoint/2010/main" val="264649538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</a:t>
            </a:r>
            <a:r>
              <a:rPr lang="pt-BR" dirty="0" err="1"/>
              <a:t>Pré</a:t>
            </a:r>
            <a:r>
              <a:rPr lang="pt-BR" dirty="0"/>
              <a:t>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CCB270-99DC-4454-BBC4-F19F1990767F}"/>
              </a:ext>
            </a:extLst>
          </p:cNvPr>
          <p:cNvSpPr txBox="1"/>
          <p:nvPr/>
        </p:nvSpPr>
        <p:spPr>
          <a:xfrm>
            <a:off x="7084575" y="5688623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5   3   2   4   8   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6008F3E-C56E-4B74-BA08-6AD26AF513C4}"/>
              </a:ext>
            </a:extLst>
          </p:cNvPr>
          <p:cNvSpPr/>
          <p:nvPr/>
        </p:nvSpPr>
        <p:spPr>
          <a:xfrm>
            <a:off x="7055398" y="4996820"/>
            <a:ext cx="42585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Observe que o nó raiz de cada sub árvore é listado primeiro.</a:t>
            </a:r>
          </a:p>
        </p:txBody>
      </p:sp>
    </p:spTree>
    <p:extLst>
      <p:ext uri="{BB962C8B-B14F-4D97-AF65-F5344CB8AC3E}">
        <p14:creationId xmlns:p14="http://schemas.microsoft.com/office/powerpoint/2010/main" val="13108085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33374-482B-483F-AB77-023FA0F9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99F83-7EA1-4F16-9F83-79ED00C18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caminhamento em </a:t>
            </a:r>
            <a:r>
              <a:rPr lang="pt-BR" b="1" dirty="0"/>
              <a:t>pós-ordem</a:t>
            </a:r>
            <a:r>
              <a:rPr lang="pt-BR" dirty="0"/>
              <a:t> lista os </a:t>
            </a:r>
            <a:r>
              <a:rPr lang="pt-BR" b="1" dirty="0"/>
              <a:t>nós filhos à esquerda </a:t>
            </a:r>
            <a:r>
              <a:rPr lang="pt-BR" dirty="0"/>
              <a:t>da sub árvore, os </a:t>
            </a:r>
            <a:r>
              <a:rPr lang="pt-BR" b="1" dirty="0"/>
              <a:t>nós filhos da sub árvore à direita </a:t>
            </a:r>
            <a:r>
              <a:rPr lang="pt-BR" dirty="0"/>
              <a:t>e lista o </a:t>
            </a:r>
            <a:r>
              <a:rPr lang="pt-BR" b="1" dirty="0"/>
              <a:t>nó raiz </a:t>
            </a:r>
            <a:r>
              <a:rPr lang="pt-BR" dirty="0"/>
              <a:t>da sub árvore. (em cada sub árvore lista os nós sempre da esquerda para a direita). O procedimento é aplicado recursivamente a toda árvore.</a:t>
            </a:r>
          </a:p>
          <a:p>
            <a:pPr lvl="1"/>
            <a:r>
              <a:rPr lang="pt-BR" dirty="0"/>
              <a:t>Em resumo: os nós de cada sub árvore são listados nesta ordem:</a:t>
            </a:r>
            <a:r>
              <a:rPr lang="pt-BR" b="1" dirty="0"/>
              <a:t> nós filhos à esquerda</a:t>
            </a:r>
            <a:r>
              <a:rPr lang="pt-BR" dirty="0"/>
              <a:t>, </a:t>
            </a:r>
            <a:r>
              <a:rPr lang="pt-BR" b="1" dirty="0"/>
              <a:t>nós filhos à direita </a:t>
            </a:r>
            <a:r>
              <a:rPr lang="pt-BR" dirty="0"/>
              <a:t>e </a:t>
            </a:r>
            <a:r>
              <a:rPr lang="pt-BR" b="1" dirty="0"/>
              <a:t>raiz</a:t>
            </a:r>
            <a:r>
              <a:rPr lang="pt-BR" dirty="0"/>
              <a:t>.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F2D1B0-E9F2-47A4-B68F-187479D3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785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09747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87542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76983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240242E-3827-44BC-BFFF-568520AD1F3A}"/>
              </a:ext>
            </a:extLst>
          </p:cNvPr>
          <p:cNvSpPr txBox="1"/>
          <p:nvPr/>
        </p:nvSpPr>
        <p:spPr>
          <a:xfrm>
            <a:off x="7084575" y="568862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38974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9FF6FA1-6C2D-413D-843D-38F5D6E3048B}"/>
              </a:ext>
            </a:extLst>
          </p:cNvPr>
          <p:cNvSpPr txBox="1"/>
          <p:nvPr/>
        </p:nvSpPr>
        <p:spPr>
          <a:xfrm>
            <a:off x="7084575" y="568862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267294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133B53A-325C-452E-94AF-A6A4D12225C4}"/>
              </a:ext>
            </a:extLst>
          </p:cNvPr>
          <p:cNvSpPr txBox="1"/>
          <p:nvPr/>
        </p:nvSpPr>
        <p:spPr>
          <a:xfrm>
            <a:off x="7084575" y="5688623"/>
            <a:ext cx="61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</a:t>
            </a:r>
          </a:p>
        </p:txBody>
      </p:sp>
    </p:spTree>
    <p:extLst>
      <p:ext uri="{BB962C8B-B14F-4D97-AF65-F5344CB8AC3E}">
        <p14:creationId xmlns:p14="http://schemas.microsoft.com/office/powerpoint/2010/main" val="393988551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7444C2-3188-4258-A046-FBE185661383}"/>
              </a:ext>
            </a:extLst>
          </p:cNvPr>
          <p:cNvSpPr txBox="1"/>
          <p:nvPr/>
        </p:nvSpPr>
        <p:spPr>
          <a:xfrm>
            <a:off x="7084575" y="5688623"/>
            <a:ext cx="920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</a:t>
            </a:r>
          </a:p>
        </p:txBody>
      </p:sp>
    </p:spTree>
    <p:extLst>
      <p:ext uri="{BB962C8B-B14F-4D97-AF65-F5344CB8AC3E}">
        <p14:creationId xmlns:p14="http://schemas.microsoft.com/office/powerpoint/2010/main" val="412972786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4B321C-82A8-4956-9E85-981956618CEE}"/>
              </a:ext>
            </a:extLst>
          </p:cNvPr>
          <p:cNvSpPr txBox="1"/>
          <p:nvPr/>
        </p:nvSpPr>
        <p:spPr>
          <a:xfrm>
            <a:off x="7084575" y="5688623"/>
            <a:ext cx="920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</a:t>
            </a:r>
          </a:p>
        </p:txBody>
      </p:sp>
    </p:spTree>
    <p:extLst>
      <p:ext uri="{BB962C8B-B14F-4D97-AF65-F5344CB8AC3E}">
        <p14:creationId xmlns:p14="http://schemas.microsoft.com/office/powerpoint/2010/main" val="36170456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FCC0237-DD95-4F81-8F8B-D66D2E234677}"/>
              </a:ext>
            </a:extLst>
          </p:cNvPr>
          <p:cNvSpPr txBox="1"/>
          <p:nvPr/>
        </p:nvSpPr>
        <p:spPr>
          <a:xfrm>
            <a:off x="7084575" y="5688623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2   4   3   8</a:t>
            </a:r>
          </a:p>
        </p:txBody>
      </p:sp>
    </p:spTree>
    <p:extLst>
      <p:ext uri="{BB962C8B-B14F-4D97-AF65-F5344CB8AC3E}">
        <p14:creationId xmlns:p14="http://schemas.microsoft.com/office/powerpoint/2010/main" val="278316188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B2BB66-2959-45B6-8263-7A2CAFA39E33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2   4   3   8   5</a:t>
            </a:r>
          </a:p>
        </p:txBody>
      </p:sp>
    </p:spTree>
    <p:extLst>
      <p:ext uri="{BB962C8B-B14F-4D97-AF65-F5344CB8AC3E}">
        <p14:creationId xmlns:p14="http://schemas.microsoft.com/office/powerpoint/2010/main" val="341653425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Pós-ordem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Caminhamento Pós-ordem e impressão da árvore: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4F1066B-2693-43CF-B813-11039D761DC7}"/>
              </a:ext>
            </a:extLst>
          </p:cNvPr>
          <p:cNvSpPr/>
          <p:nvPr/>
        </p:nvSpPr>
        <p:spPr>
          <a:xfrm>
            <a:off x="5699656" y="233189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8877F66-B509-4D7B-9151-A9B085CA2609}"/>
              </a:ext>
            </a:extLst>
          </p:cNvPr>
          <p:cNvSpPr/>
          <p:nvPr/>
        </p:nvSpPr>
        <p:spPr>
          <a:xfrm>
            <a:off x="4778619" y="30243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8E81032-2C22-455E-BEB0-ED94332B5D57}"/>
              </a:ext>
            </a:extLst>
          </p:cNvPr>
          <p:cNvSpPr/>
          <p:nvPr/>
        </p:nvSpPr>
        <p:spPr>
          <a:xfrm>
            <a:off x="6724535" y="30336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ABE4428-EDB2-4289-8577-59E8A93F8A79}"/>
              </a:ext>
            </a:extLst>
          </p:cNvPr>
          <p:cNvSpPr/>
          <p:nvPr/>
        </p:nvSpPr>
        <p:spPr>
          <a:xfrm>
            <a:off x="4043472" y="370004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E728EC22-B44E-4352-9EC3-B47635752A5D}"/>
              </a:ext>
            </a:extLst>
          </p:cNvPr>
          <p:cNvCxnSpPr>
            <a:stCxn id="36" idx="5"/>
            <a:endCxn id="38" idx="1"/>
          </p:cNvCxnSpPr>
          <p:nvPr/>
        </p:nvCxnSpPr>
        <p:spPr>
          <a:xfrm>
            <a:off x="6006970" y="263920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97A174-655D-4F03-8A1C-D239138F7A66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085933" y="2639209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D7BB5F6-A32D-4E98-80E4-293959BA2252}"/>
              </a:ext>
            </a:extLst>
          </p:cNvPr>
          <p:cNvCxnSpPr>
            <a:stCxn id="37" idx="3"/>
            <a:endCxn id="41" idx="7"/>
          </p:cNvCxnSpPr>
          <p:nvPr/>
        </p:nvCxnSpPr>
        <p:spPr>
          <a:xfrm flipH="1">
            <a:off x="4350786" y="3331669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07FEF2C-E8A8-4B21-87F1-40795B0E4D8D}"/>
              </a:ext>
            </a:extLst>
          </p:cNvPr>
          <p:cNvSpPr txBox="1"/>
          <p:nvPr/>
        </p:nvSpPr>
        <p:spPr>
          <a:xfrm>
            <a:off x="5728833" y="23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55C1DF6-7975-4314-9534-C194E06B09EF}"/>
              </a:ext>
            </a:extLst>
          </p:cNvPr>
          <p:cNvSpPr txBox="1"/>
          <p:nvPr/>
        </p:nvSpPr>
        <p:spPr>
          <a:xfrm>
            <a:off x="6753712" y="3024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9D04AEB-1618-48DC-9D62-E845AB17A471}"/>
              </a:ext>
            </a:extLst>
          </p:cNvPr>
          <p:cNvSpPr txBox="1"/>
          <p:nvPr/>
        </p:nvSpPr>
        <p:spPr>
          <a:xfrm>
            <a:off x="4801814" y="3001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1910EAE-2471-46B3-90AF-9C3B54199D9D}"/>
              </a:ext>
            </a:extLst>
          </p:cNvPr>
          <p:cNvSpPr txBox="1"/>
          <p:nvPr/>
        </p:nvSpPr>
        <p:spPr>
          <a:xfrm>
            <a:off x="4072649" y="370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A3C2059-53C5-49AE-BCEC-A34217E40F17}"/>
              </a:ext>
            </a:extLst>
          </p:cNvPr>
          <p:cNvSpPr txBox="1"/>
          <p:nvPr/>
        </p:nvSpPr>
        <p:spPr>
          <a:xfrm>
            <a:off x="5511169" y="3716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5CFBA1-DAF1-4055-81D2-24B4545872D0}"/>
              </a:ext>
            </a:extLst>
          </p:cNvPr>
          <p:cNvCxnSpPr/>
          <p:nvPr/>
        </p:nvCxnSpPr>
        <p:spPr>
          <a:xfrm>
            <a:off x="5084293" y="334843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8D7136AA-5794-4250-8080-B3F421628CC0}"/>
              </a:ext>
            </a:extLst>
          </p:cNvPr>
          <p:cNvSpPr/>
          <p:nvPr/>
        </p:nvSpPr>
        <p:spPr>
          <a:xfrm>
            <a:off x="5471629" y="373358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CCB270-99DC-4454-BBC4-F19F1990767F}"/>
              </a:ext>
            </a:extLst>
          </p:cNvPr>
          <p:cNvSpPr txBox="1"/>
          <p:nvPr/>
        </p:nvSpPr>
        <p:spPr>
          <a:xfrm>
            <a:off x="7084575" y="5688623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2   4   3   8   5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6008F3E-C56E-4B74-BA08-6AD26AF513C4}"/>
              </a:ext>
            </a:extLst>
          </p:cNvPr>
          <p:cNvSpPr/>
          <p:nvPr/>
        </p:nvSpPr>
        <p:spPr>
          <a:xfrm>
            <a:off x="7055398" y="4996820"/>
            <a:ext cx="42585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Observe que o nó raiz de cada sub árvore é listado por último.</a:t>
            </a:r>
          </a:p>
        </p:txBody>
      </p:sp>
    </p:spTree>
    <p:extLst>
      <p:ext uri="{BB962C8B-B14F-4D97-AF65-F5344CB8AC3E}">
        <p14:creationId xmlns:p14="http://schemas.microsoft.com/office/powerpoint/2010/main" val="293492357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7EFFF-EC40-40D2-A273-E9F2DD66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 sobre caminhamento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0B20B3-E58F-4E90-BAE5-DBB5DFAB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142</a:t>
            </a:fld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FA3F53E-FF5F-40AA-BC48-2F36EA7D0525}"/>
              </a:ext>
            </a:extLst>
          </p:cNvPr>
          <p:cNvSpPr/>
          <p:nvPr/>
        </p:nvSpPr>
        <p:spPr>
          <a:xfrm>
            <a:off x="5488640" y="186590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67FB7AB-5212-4D2A-BE4E-5E947E2FAE25}"/>
              </a:ext>
            </a:extLst>
          </p:cNvPr>
          <p:cNvSpPr/>
          <p:nvPr/>
        </p:nvSpPr>
        <p:spPr>
          <a:xfrm>
            <a:off x="4567603" y="25583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77B4B89-96BB-46E2-87B5-873AFDAA36F9}"/>
              </a:ext>
            </a:extLst>
          </p:cNvPr>
          <p:cNvSpPr/>
          <p:nvPr/>
        </p:nvSpPr>
        <p:spPr>
          <a:xfrm>
            <a:off x="6513519" y="25676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ED4DFA4-5816-4A21-873F-7217C619F665}"/>
              </a:ext>
            </a:extLst>
          </p:cNvPr>
          <p:cNvSpPr/>
          <p:nvPr/>
        </p:nvSpPr>
        <p:spPr>
          <a:xfrm>
            <a:off x="3832456" y="32340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12C2A22-E874-44C6-B76D-300D29F40217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5795954" y="2173217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84782BB-0792-4A75-9087-3143EE900AA0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4874917" y="2173217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8916C7D-3BD8-44E4-A580-5C70ADF98957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4139770" y="2865677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FB63D4D-BBA3-4E19-BC3D-CD9BC6C71BA6}"/>
              </a:ext>
            </a:extLst>
          </p:cNvPr>
          <p:cNvSpPr txBox="1"/>
          <p:nvPr/>
        </p:nvSpPr>
        <p:spPr>
          <a:xfrm>
            <a:off x="5517817" y="1861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277BED-7786-43CF-B0D0-87893FE6164E}"/>
              </a:ext>
            </a:extLst>
          </p:cNvPr>
          <p:cNvSpPr txBox="1"/>
          <p:nvPr/>
        </p:nvSpPr>
        <p:spPr>
          <a:xfrm>
            <a:off x="6542696" y="2558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1368F3-8F69-4F46-9944-A4D081686D2D}"/>
              </a:ext>
            </a:extLst>
          </p:cNvPr>
          <p:cNvSpPr txBox="1"/>
          <p:nvPr/>
        </p:nvSpPr>
        <p:spPr>
          <a:xfrm>
            <a:off x="4590798" y="25353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A38AFE2-1302-4C14-8E37-6546857881BE}"/>
              </a:ext>
            </a:extLst>
          </p:cNvPr>
          <p:cNvSpPr txBox="1"/>
          <p:nvPr/>
        </p:nvSpPr>
        <p:spPr>
          <a:xfrm>
            <a:off x="3861633" y="32340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4844C1D-8A56-46BA-A7FB-D349E6483292}"/>
              </a:ext>
            </a:extLst>
          </p:cNvPr>
          <p:cNvSpPr txBox="1"/>
          <p:nvPr/>
        </p:nvSpPr>
        <p:spPr>
          <a:xfrm>
            <a:off x="5300153" y="32508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3B27E32-510F-4A3C-8D76-9EADC38E0B31}"/>
              </a:ext>
            </a:extLst>
          </p:cNvPr>
          <p:cNvCxnSpPr/>
          <p:nvPr/>
        </p:nvCxnSpPr>
        <p:spPr>
          <a:xfrm>
            <a:off x="4873277" y="2882445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5F9CCB01-F73B-488B-9617-F2A5CDEFE8FC}"/>
              </a:ext>
            </a:extLst>
          </p:cNvPr>
          <p:cNvSpPr/>
          <p:nvPr/>
        </p:nvSpPr>
        <p:spPr>
          <a:xfrm>
            <a:off x="5260613" y="326759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06F1296-BBD0-415C-B220-1D584599DA73}"/>
              </a:ext>
            </a:extLst>
          </p:cNvPr>
          <p:cNvSpPr/>
          <p:nvPr/>
        </p:nvSpPr>
        <p:spPr>
          <a:xfrm>
            <a:off x="4512278" y="39600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753E458-D3F3-4D48-B6E1-24B8D3566DB9}"/>
              </a:ext>
            </a:extLst>
          </p:cNvPr>
          <p:cNvCxnSpPr>
            <a:endCxn id="19" idx="7"/>
          </p:cNvCxnSpPr>
          <p:nvPr/>
        </p:nvCxnSpPr>
        <p:spPr>
          <a:xfrm flipH="1">
            <a:off x="4819592" y="3591673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F90227E-B297-462E-ACBD-D5D0A7A9277C}"/>
              </a:ext>
            </a:extLst>
          </p:cNvPr>
          <p:cNvSpPr txBox="1"/>
          <p:nvPr/>
        </p:nvSpPr>
        <p:spPr>
          <a:xfrm>
            <a:off x="4541455" y="39600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2D08024-4766-4F17-9339-465AD84F12E1}"/>
              </a:ext>
            </a:extLst>
          </p:cNvPr>
          <p:cNvSpPr txBox="1"/>
          <p:nvPr/>
        </p:nvSpPr>
        <p:spPr>
          <a:xfrm>
            <a:off x="5979975" y="39768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51A907F0-2E97-4711-8787-A4BF13D7DE1F}"/>
              </a:ext>
            </a:extLst>
          </p:cNvPr>
          <p:cNvCxnSpPr/>
          <p:nvPr/>
        </p:nvCxnSpPr>
        <p:spPr>
          <a:xfrm>
            <a:off x="5553099" y="3608441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3684DDC1-E898-4ED2-A34B-1BCAEA87AFC8}"/>
              </a:ext>
            </a:extLst>
          </p:cNvPr>
          <p:cNvSpPr/>
          <p:nvPr/>
        </p:nvSpPr>
        <p:spPr>
          <a:xfrm>
            <a:off x="5940435" y="39935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50505CF-3AE8-4FE4-8681-BE8768C21A9D}"/>
              </a:ext>
            </a:extLst>
          </p:cNvPr>
          <p:cNvSpPr txBox="1"/>
          <p:nvPr/>
        </p:nvSpPr>
        <p:spPr>
          <a:xfrm>
            <a:off x="7271258" y="32340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553736F-079C-4867-AE9D-96CD1BCBE780}"/>
              </a:ext>
            </a:extLst>
          </p:cNvPr>
          <p:cNvCxnSpPr/>
          <p:nvPr/>
        </p:nvCxnSpPr>
        <p:spPr>
          <a:xfrm>
            <a:off x="6844382" y="286567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F56E07CB-7D08-4C30-99B5-69A54468AE52}"/>
              </a:ext>
            </a:extLst>
          </p:cNvPr>
          <p:cNvSpPr/>
          <p:nvPr/>
        </p:nvSpPr>
        <p:spPr>
          <a:xfrm>
            <a:off x="7231718" y="325082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98E8786-4E51-474A-A8B1-08FA11F37F13}"/>
              </a:ext>
            </a:extLst>
          </p:cNvPr>
          <p:cNvSpPr/>
          <p:nvPr/>
        </p:nvSpPr>
        <p:spPr>
          <a:xfrm>
            <a:off x="6566245" y="397924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299B7635-E0D4-43C0-ACAF-8D69BD565073}"/>
              </a:ext>
            </a:extLst>
          </p:cNvPr>
          <p:cNvCxnSpPr>
            <a:endCxn id="28" idx="7"/>
          </p:cNvCxnSpPr>
          <p:nvPr/>
        </p:nvCxnSpPr>
        <p:spPr>
          <a:xfrm flipH="1">
            <a:off x="6873559" y="3610864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0F6597B-D409-442A-973E-066DC5868D83}"/>
              </a:ext>
            </a:extLst>
          </p:cNvPr>
          <p:cNvSpPr txBox="1"/>
          <p:nvPr/>
        </p:nvSpPr>
        <p:spPr>
          <a:xfrm>
            <a:off x="6595422" y="39792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C52B124-44BF-4F0B-86DA-66208CCCDFB3}"/>
              </a:ext>
            </a:extLst>
          </p:cNvPr>
          <p:cNvSpPr txBox="1"/>
          <p:nvPr/>
        </p:nvSpPr>
        <p:spPr>
          <a:xfrm>
            <a:off x="421241" y="4976593"/>
            <a:ext cx="102993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Pré</a:t>
            </a:r>
            <a:r>
              <a:rPr lang="pt-BR" sz="2000" dirty="0"/>
              <a:t>-ordem: 6 – 2 – 1 – 4 – 3 – 5 – 7 – 9 – 8 (para cada sub árvore, a raiz é listada primeiro: </a:t>
            </a:r>
            <a:r>
              <a:rPr lang="pt-BR" sz="2000" b="1" dirty="0" err="1"/>
              <a:t>pré</a:t>
            </a:r>
            <a:r>
              <a:rPr lang="pt-BR" sz="2000" dirty="0"/>
              <a:t>) </a:t>
            </a:r>
          </a:p>
          <a:p>
            <a:r>
              <a:rPr lang="pt-BR" sz="2000" dirty="0"/>
              <a:t>Central: 1 – 2 – 3 – 4 – 5 – 6 – 7 – 8 – 9 (para cada sub árvore, a raiz é listada no centro: </a:t>
            </a:r>
            <a:r>
              <a:rPr lang="pt-BR" sz="2000" b="1" dirty="0"/>
              <a:t>central</a:t>
            </a:r>
            <a:r>
              <a:rPr lang="pt-BR" sz="2000" dirty="0"/>
              <a:t>) </a:t>
            </a:r>
          </a:p>
          <a:p>
            <a:r>
              <a:rPr lang="pt-BR" sz="2000" dirty="0"/>
              <a:t>Pós-Ordem: 1 – 3 – 5 – 4 – 2 – 8 – 9 – 7 – 6 (para cada sub árvore, a raiz é listada por último: </a:t>
            </a:r>
            <a:r>
              <a:rPr lang="pt-BR" sz="2000" b="1" dirty="0"/>
              <a:t>pós</a:t>
            </a:r>
            <a:r>
              <a:rPr lang="pt-BR" sz="20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1689183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O número de comparações em uma pesquisa com sucesso:</a:t>
                </a:r>
              </a:p>
              <a:p>
                <a:pPr lvl="1"/>
                <a:r>
                  <a:rPr lang="pt-BR" dirty="0"/>
                  <a:t>melhor caso:  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(1)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pior caso: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  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caso médio: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=(</m:t>
                    </m:r>
                    <m:r>
                      <a:rPr lang="pt-BR" b="0" i="1" smtClean="0">
                        <a:latin typeface="Cambria Math"/>
                      </a:rPr>
                      <m:t>𝐿𝑜𝑔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942FCC7-092F-48F4-92B9-EA4F9F30354B}"/>
              </a:ext>
            </a:extLst>
          </p:cNvPr>
          <p:cNvCxnSpPr>
            <a:cxnSpLocks/>
          </p:cNvCxnSpPr>
          <p:nvPr/>
        </p:nvCxnSpPr>
        <p:spPr>
          <a:xfrm flipH="1">
            <a:off x="5181600" y="2899955"/>
            <a:ext cx="1262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C43760-0502-401C-BF85-7E32E25C78E9}"/>
              </a:ext>
            </a:extLst>
          </p:cNvPr>
          <p:cNvSpPr txBox="1"/>
          <p:nvPr/>
        </p:nvSpPr>
        <p:spPr>
          <a:xfrm>
            <a:off x="6574972" y="269990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51724369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O número de comparações em uma pesquisa com sucesso:</a:t>
                </a:r>
              </a:p>
              <a:p>
                <a:pPr lvl="1"/>
                <a:r>
                  <a:rPr lang="pt-BR" dirty="0"/>
                  <a:t>melhor caso:  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(1)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pior caso: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  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caso médio: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</m:t>
                    </m:r>
                    <m:r>
                      <a:rPr lang="pt-BR" b="0" i="1" smtClean="0">
                        <a:latin typeface="Cambria Math"/>
                      </a:rPr>
                      <m:t>   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=(</m:t>
                    </m:r>
                    <m:r>
                      <a:rPr lang="pt-BR" b="0" i="1" smtClean="0">
                        <a:latin typeface="Cambria Math"/>
                      </a:rPr>
                      <m:t>𝐿𝑜𝑔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/>
                <a:endParaRPr lang="pt-BR" dirty="0"/>
              </a:p>
              <a:p>
                <a:r>
                  <a:rPr lang="pt-BR" dirty="0"/>
                  <a:t>O tempo de execução dos algoritmos para árvores binárias de pesquisa depende muito do </a:t>
                </a:r>
                <a:r>
                  <a:rPr lang="pt-BR" b="1" dirty="0"/>
                  <a:t>formato das árvores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942FCC7-092F-48F4-92B9-EA4F9F30354B}"/>
              </a:ext>
            </a:extLst>
          </p:cNvPr>
          <p:cNvCxnSpPr>
            <a:cxnSpLocks/>
          </p:cNvCxnSpPr>
          <p:nvPr/>
        </p:nvCxnSpPr>
        <p:spPr>
          <a:xfrm flipH="1">
            <a:off x="5181600" y="2899955"/>
            <a:ext cx="1262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C43760-0502-401C-BF85-7E32E25C78E9}"/>
              </a:ext>
            </a:extLst>
          </p:cNvPr>
          <p:cNvSpPr txBox="1"/>
          <p:nvPr/>
        </p:nvSpPr>
        <p:spPr>
          <a:xfrm>
            <a:off x="6574972" y="269990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21567719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Para obter o pior caso basta que as chaves sejam inseridas em ordem crescente ou decrescente.</a:t>
                </a:r>
              </a:p>
              <a:p>
                <a:pPr lvl="1"/>
                <a:r>
                  <a:rPr lang="pt-BR" dirty="0"/>
                  <a:t>Árvore se torna uma lista linear.</a:t>
                </a:r>
              </a:p>
              <a:p>
                <a:pPr lvl="1"/>
                <a:r>
                  <a:rPr lang="pt-BR" dirty="0"/>
                  <a:t>tempo médio de comparações: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+1</m:t>
                    </m:r>
                    <m:r>
                      <a:rPr lang="pt-BR" i="1">
                        <a:latin typeface="Cambria Math"/>
                      </a:rPr>
                      <m:t>)</m:t>
                    </m:r>
                    <m:r>
                      <a:rPr lang="pt-BR" b="0" i="1" smtClean="0">
                        <a:latin typeface="Cambria Math"/>
                      </a:rPr>
                      <m:t>/2.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365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Implemente a classe </a:t>
            </a:r>
            <a:r>
              <a:rPr lang="pt-BR" dirty="0" err="1"/>
              <a:t>ArvoreBinaria</a:t>
            </a:r>
            <a:r>
              <a:rPr lang="pt-BR" dirty="0"/>
              <a:t>, apresentada em sala, e teste você deve criar e inserir, pesquisar e remover uma série de elementos de uma árvore de pesquisa binária.</a:t>
            </a:r>
          </a:p>
          <a:p>
            <a:r>
              <a:rPr lang="pt-BR" dirty="0"/>
              <a:t>Você deve acrescentar métodos à classe Arvore que permitam imprimir todas as informações dos elementos ou apenas as suas chaves durante a realização de caminhamentos (central, </a:t>
            </a:r>
            <a:r>
              <a:rPr lang="pt-BR" dirty="0" err="1"/>
              <a:t>pré</a:t>
            </a:r>
            <a:r>
              <a:rPr lang="pt-BR" dirty="0"/>
              <a:t>-ordem e pós-ordem).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368416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Modifique sua implementação de modo a contabilizar para sua classe árvore o número de comparações realizadas durante as operações de inserção, de pesquisa e de remoção.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2836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26DA-75B4-487A-B11B-5D869494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D3B92-A177-461C-9DEA-B52FD33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1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Material adaptado do livro:</a:t>
            </a:r>
          </a:p>
          <a:p>
            <a:pPr marL="0" indent="0">
              <a:buNone/>
            </a:pPr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código presentes nos slides estão disponíveis no site do autor (link no último slide) </a:t>
            </a:r>
          </a:p>
        </p:txBody>
      </p:sp>
      <p:pic>
        <p:nvPicPr>
          <p:cNvPr id="1026" name="Picture 2" descr="http://www2.dcc.ufmg.br/livros/algoritmos-java/imagens/cabecalho-livro.gif">
            <a:extLst>
              <a:ext uri="{FF2B5EF4-FFF2-40B4-BE49-F238E27FC236}">
                <a16:creationId xmlns:a16="http://schemas.microsoft.com/office/drawing/2014/main" id="{8426892B-F111-4D68-B326-E045E17B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24" y="202826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6D2B7F-8E03-44F5-9925-E282002B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3733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9460</Words>
  <Application>Microsoft Office PowerPoint</Application>
  <PresentationFormat>Widescreen</PresentationFormat>
  <Paragraphs>2164</Paragraphs>
  <Slides>149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149</vt:i4>
      </vt:variant>
    </vt:vector>
  </HeadingPairs>
  <TitlesOfParts>
    <vt:vector size="155" baseType="lpstr">
      <vt:lpstr>Arial</vt:lpstr>
      <vt:lpstr>Calibri</vt:lpstr>
      <vt:lpstr>Calibri Light</vt:lpstr>
      <vt:lpstr>Cambria Math</vt:lpstr>
      <vt:lpstr>Consolas</vt:lpstr>
      <vt:lpstr>Tema do Office</vt:lpstr>
      <vt:lpstr>Pesquisa em Memória Primária</vt:lpstr>
      <vt:lpstr>Pesquisa em Memória Primária</vt:lpstr>
      <vt:lpstr>Pesquisa em Memória Primária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Sequencial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Pesquisa Binária</vt:lpstr>
      <vt:lpstr>Árvores de Pesquisa</vt:lpstr>
      <vt:lpstr>Árvores de Pesquisa</vt:lpstr>
      <vt:lpstr>Árvores de Pesquisa sem balanceamento</vt:lpstr>
      <vt:lpstr>Árvores de Pesquisa – alguns conceitos</vt:lpstr>
      <vt:lpstr>Implementação do TAD Dicionário usando  Árvore Binária de Pesquisa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Método para Pesquisar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Inserir na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Procedimento para Retirar um elemento x da Árvore</vt:lpstr>
      <vt:lpstr>Caminhamento Central (ou Em-ordem)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Central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Pré-ordem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Caminhamento Pós-ordem</vt:lpstr>
      <vt:lpstr>Resumo sobre caminhamento</vt:lpstr>
      <vt:lpstr>Análise</vt:lpstr>
      <vt:lpstr>Análise</vt:lpstr>
      <vt:lpstr>Análise</vt:lpstr>
      <vt:lpstr>Exercícios</vt:lpstr>
      <vt:lpstr>Exercícios</vt:lpstr>
      <vt:lpstr>Referências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- Fila</dc:title>
  <dc:creator>Henrique Silva</dc:creator>
  <cp:lastModifiedBy>Henrique Silva</cp:lastModifiedBy>
  <cp:revision>86</cp:revision>
  <dcterms:created xsi:type="dcterms:W3CDTF">2018-02-11T20:18:47Z</dcterms:created>
  <dcterms:modified xsi:type="dcterms:W3CDTF">2018-10-30T10:27:29Z</dcterms:modified>
</cp:coreProperties>
</file>