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8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82" r:id="rId20"/>
    <p:sldId id="356" r:id="rId21"/>
    <p:sldId id="357" r:id="rId22"/>
    <p:sldId id="358" r:id="rId23"/>
    <p:sldId id="359" r:id="rId24"/>
    <p:sldId id="277" r:id="rId25"/>
    <p:sldId id="360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361" r:id="rId35"/>
    <p:sldId id="286" r:id="rId36"/>
    <p:sldId id="287" r:id="rId37"/>
    <p:sldId id="288" r:id="rId38"/>
    <p:sldId id="362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366" r:id="rId50"/>
    <p:sldId id="367" r:id="rId51"/>
    <p:sldId id="368" r:id="rId52"/>
    <p:sldId id="375" r:id="rId53"/>
    <p:sldId id="376" r:id="rId54"/>
    <p:sldId id="377" r:id="rId55"/>
    <p:sldId id="378" r:id="rId56"/>
    <p:sldId id="299" r:id="rId57"/>
    <p:sldId id="300" r:id="rId58"/>
    <p:sldId id="301" r:id="rId59"/>
    <p:sldId id="302" r:id="rId60"/>
    <p:sldId id="303" r:id="rId61"/>
    <p:sldId id="304" r:id="rId62"/>
    <p:sldId id="306" r:id="rId63"/>
    <p:sldId id="307" r:id="rId64"/>
    <p:sldId id="363" r:id="rId65"/>
    <p:sldId id="364" r:id="rId66"/>
    <p:sldId id="365" r:id="rId67"/>
    <p:sldId id="381" r:id="rId68"/>
    <p:sldId id="379" r:id="rId69"/>
    <p:sldId id="380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7" r:id="rId85"/>
    <p:sldId id="328" r:id="rId86"/>
    <p:sldId id="329" r:id="rId87"/>
    <p:sldId id="330" r:id="rId88"/>
    <p:sldId id="332" r:id="rId89"/>
    <p:sldId id="334" r:id="rId90"/>
    <p:sldId id="335" r:id="rId91"/>
    <p:sldId id="336" r:id="rId92"/>
    <p:sldId id="338" r:id="rId93"/>
    <p:sldId id="339" r:id="rId94"/>
    <p:sldId id="340" r:id="rId95"/>
    <p:sldId id="341" r:id="rId96"/>
    <p:sldId id="258" r:id="rId9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DC9F9-7B8F-46A6-B85A-63F866BD9959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0623-BB8C-461C-AE81-AE71C17D21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856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7E8D8-0FC8-4595-A572-4D252D268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9C0C3F-D95D-4D9B-8222-A4D7EBE22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BAB238-C21E-4824-BAC5-F740F51C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591B-89E0-44CF-8782-5078842401C9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97518B-620C-4AA5-AF47-3FB40091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CEF13B-D212-4686-978E-C8B269F9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4306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80BFC-48C4-483F-9C63-2F39897BB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D9A8D3-B82C-4F0D-B9C9-353FA2E33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460597-A692-49F2-A58C-500111DF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5274-B392-4884-A339-35150E5EB2D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FCE518-E4EB-42C9-8225-1EF3E109C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F32781-3EAB-496F-8799-0A3CEB4F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78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ABB71-7BBC-48AE-BEEB-ABFF3D1CD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1D9A13-7B5B-4AC0-B848-DDE787F29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85CE8E-A332-4ECA-9691-883102CAF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5DA94-F307-413C-A99B-198A613BA17A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CDE98-3A6C-46C3-8AF9-BCF09D46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8E784D-29B0-4E5E-A0C3-02734E22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55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7865B-CB5B-4B04-9B27-B9F67894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DD399B-CBC9-41F8-94A0-065164B8C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40A36D-D7A5-4309-AD69-D7CA35FD5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B3C5D2-B11C-448F-983D-2A2D9DA2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8A97-3253-4AC3-9187-F5700926AAAE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BB6371-F054-45A6-9619-39F8C3CC1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7AD980-98E3-4A70-AD3C-25F14964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2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CEC13-C3B7-4DC0-84A8-5F4038B3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543940-83AF-4E35-BBB4-D398E4028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306E24-BD90-44ED-88B1-9BD86DE05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FAC9936-79B5-4276-B5B1-7C8D5B38D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506135-FE13-407D-9FDF-96F8DE986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DC6404-9C75-4533-8530-BEF9756C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C6FFF-8AB1-4147-97E4-13C6F4C3E7F1}" type="datetime1">
              <a:rPr lang="pt-BR" smtClean="0"/>
              <a:t>10/08/2019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B787796-E259-4AB5-B57A-B133B146F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A47DF9-3310-42B4-8879-E348962F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54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A3909-32F6-45E0-A70B-FB3AABBA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C30971-F508-465F-B585-8F4F5CBE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535B-8C0E-4A1C-9D19-8BCF6F4F7E13}" type="datetime1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9B0DC2-546D-4719-9BC5-8CE737A5B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963FFC-3F31-4243-BFAB-2EC35E01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34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7755F-4FC0-42EC-B216-3496986D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E6C2-75E1-49DA-934F-BB6D2AE07C5E}" type="datetime1">
              <a:rPr lang="pt-BR" smtClean="0"/>
              <a:t>10/08/2019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7CFC5EE-6DE3-479B-B6D2-77D176D4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450497-48A7-4FCF-BE22-CFF59A02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41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D1C16-D87B-4D9C-BE1A-76B4B9C6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7CB5A9-9876-41C6-A38C-A0F0B0325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F4A3C3-09B4-4BAD-B730-8C317CBD6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CAFC7F-C623-4117-96D7-4A1E4A87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B575-10CC-4ED6-A4AC-5D1809C48382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5F418E-BC2B-4539-99A8-309CC9253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AFE26B-BBAC-4BEC-8622-F70201C4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52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F0E92-6C86-4B6B-9C95-7DEF39422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C05110-0968-4B7B-933C-19FC82BBC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F85468-9475-4888-B5EE-5A686A838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AE059A-80CA-4DA5-A4EE-AEBAFE07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23F-7630-46A6-AD12-CB41250D4307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8D9387-67AD-4111-944D-08E7F851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A71F2B-6EB9-49C1-9F93-DE698203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34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6B634-00CD-4FC2-8C93-29B2E48E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D4D5A9-763F-4F19-BA46-DE012B12E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14866B-EC80-4196-9421-FBD4FF2AC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D2FE-FCA2-480A-95AD-785C64FBD4B0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94022B-D1A9-44C5-9A7C-846871FF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F06EC6-0B7A-489A-9804-EFE33CDC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257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611BC8-E6C7-45ED-93C0-9C636BBF5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7C8263-D93C-4126-B278-9AD8D92D0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361C09-6D9D-43D4-8145-730B23845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5F09-8B42-4508-84BC-01A1A68F8279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F9879-9599-4C45-B995-5211C1C9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CA51B9-794C-4AB5-8055-0967A807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384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AEBDFBF-044C-43D3-91EF-EA78D667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24D326-18ED-4A27-994F-8DB552897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82BCDA-505F-4FEF-BCC9-078F765BA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078A6-9599-4C68-AEF0-28A110D60FBF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188CED-BA90-461F-81CA-273E9E53E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8664D-96CB-4EDC-B3ED-8D47600FE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45C75-5422-40BC-8F03-B9A926834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70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://www2.dcc.ufmg.br/livros/algoritmos-java/implementacoes-03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D16D4-E005-4D0C-9908-F530AAEB8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TAD – Listas Lineares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0A62BC-D0C4-41EF-A98E-C7A2DCD6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D476C4-E6DF-4F4C-92EC-C4F3F2B4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F26DA-75B4-487A-B11B-5D869494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4D3B92-A177-461C-9DEA-B52FD332C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141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Material adaptado do livro:</a:t>
            </a:r>
          </a:p>
          <a:p>
            <a:pPr marL="0" indent="0">
              <a:buNone/>
            </a:pPr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Os código presentes nos slides estão disponíveis no site do autor (link no último slide) </a:t>
            </a:r>
          </a:p>
        </p:txBody>
      </p:sp>
      <p:pic>
        <p:nvPicPr>
          <p:cNvPr id="1026" name="Picture 2" descr="http://www2.dcc.ufmg.br/livros/algoritmos-java/imagens/cabecalho-livro.gif">
            <a:extLst>
              <a:ext uri="{FF2B5EF4-FFF2-40B4-BE49-F238E27FC236}">
                <a16:creationId xmlns:a16="http://schemas.microsoft.com/office/drawing/2014/main" id="{8426892B-F111-4D68-B326-E045E17B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924" y="202826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6D2B7F-8E03-44F5-9925-E282002B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3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Lineares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das formas mais simples de interligar os elementos de um conjunto.</a:t>
            </a:r>
          </a:p>
          <a:p>
            <a:r>
              <a:rPr lang="pt-BR" dirty="0"/>
              <a:t>Estrutura em que as operações inserir, retirar e localizar são definidas.</a:t>
            </a:r>
          </a:p>
          <a:p>
            <a:r>
              <a:rPr lang="pt-BR" dirty="0"/>
              <a:t>São estruturas flexíveis:</a:t>
            </a:r>
          </a:p>
          <a:p>
            <a:pPr lvl="1"/>
            <a:r>
              <a:rPr lang="pt-BR" dirty="0"/>
              <a:t>podem crescer ou diminuir de tamanho durante a execução de um programa.</a:t>
            </a:r>
          </a:p>
          <a:p>
            <a:r>
              <a:rPr lang="pt-BR" dirty="0"/>
              <a:t>Itens de uma lista podem ser:</a:t>
            </a:r>
          </a:p>
          <a:p>
            <a:pPr lvl="1"/>
            <a:r>
              <a:rPr lang="pt-BR" dirty="0"/>
              <a:t>Acessados;</a:t>
            </a:r>
          </a:p>
          <a:p>
            <a:pPr lvl="1"/>
            <a:r>
              <a:rPr lang="pt-BR" dirty="0"/>
              <a:t>Inseridos; </a:t>
            </a:r>
          </a:p>
          <a:p>
            <a:pPr lvl="1"/>
            <a:r>
              <a:rPr lang="pt-BR" dirty="0"/>
              <a:t>retirados.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72D5F9-8629-4578-B661-4637704E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5518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Lineares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Duas listas podem ser concatenadas para formar uma lista única, ou uma pode ser partida em duas ou mais listas.</a:t>
            </a:r>
          </a:p>
          <a:p>
            <a:r>
              <a:rPr lang="pt-BR" dirty="0"/>
              <a:t>As listas são adequadas quando não é possível prever a demanda por memória, permitem:</a:t>
            </a:r>
          </a:p>
          <a:p>
            <a:pPr lvl="1"/>
            <a:r>
              <a:rPr lang="pt-BR" dirty="0"/>
              <a:t>Manipulação de quantidades imprevisíveis de dados.</a:t>
            </a:r>
          </a:p>
          <a:p>
            <a:pPr lvl="1"/>
            <a:r>
              <a:rPr lang="pt-BR" dirty="0"/>
              <a:t>Manipulação de dados de formato também imprevisível.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0666FF-F61F-413C-8E2A-6D9C2817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330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Lineares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São úteis em aplicações tais como manipulação simbólica, gerência de memória, simulação e compiladores.</a:t>
                </a:r>
              </a:p>
              <a:p>
                <a:endParaRPr lang="pt-BR" dirty="0"/>
              </a:p>
              <a:p>
                <a:r>
                  <a:rPr lang="pt-BR" dirty="0"/>
                  <a:t>Uma lista linear é uma sequência de zero ou mais itens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dirty="0"/>
                  <a:t>, na qual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é de uma determinado tipo 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representa o tamanho da lista linear.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74B83E-68B2-4AB6-B33B-1568CF39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707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Lineares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Sua principal propriedade estrutural envolve as posições relativas dos itens em uma dimensão.</a:t>
                </a:r>
              </a:p>
              <a:p>
                <a:pPr lvl="1"/>
                <a:r>
                  <a:rPr lang="pt-BR" dirty="0"/>
                  <a:t>Assumindo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≥1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o primeiro item da lista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dirty="0"/>
                  <a:t> é o último item da lista.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precede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𝑖</m:t>
                        </m:r>
                        <m:r>
                          <a:rPr lang="pt-BR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pt-BR" dirty="0"/>
                  <a:t> para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𝑖</m:t>
                    </m:r>
                    <m:r>
                      <a:rPr lang="pt-BR" b="0" i="1" smtClean="0">
                        <a:latin typeface="Cambria Math"/>
                      </a:rPr>
                      <m:t>=1,2,…,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−1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sucede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𝑖</m:t>
                        </m:r>
                        <m:r>
                          <a:rPr lang="pt-BR" b="0" i="1" smtClean="0">
                            <a:latin typeface="Cambria Math"/>
                          </a:rPr>
                          <m:t>−</m:t>
                        </m:r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𝑖</m:t>
                    </m:r>
                    <m:r>
                      <a:rPr lang="pt-BR" i="1">
                        <a:latin typeface="Cambria Math"/>
                      </a:rPr>
                      <m:t>=2,3,…,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é dito estar na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𝑖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posição da lista.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b="-22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D7819D-94F9-468C-9619-E1E41EC2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436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Operação sobre Listas Lineares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Para criar uma TAD Lista, precisa-se definir um conjunto de operação.</a:t>
                </a:r>
              </a:p>
              <a:p>
                <a:r>
                  <a:rPr lang="pt-BR" sz="2400" dirty="0"/>
                  <a:t>O conjunto de operações a ser definido depende de cada aplicação.</a:t>
                </a:r>
              </a:p>
              <a:p>
                <a:r>
                  <a:rPr lang="pt-BR" sz="2400" dirty="0"/>
                  <a:t>No entanto, há um conjunto de operações necessário a uma maioria de aplicações, entre elas:</a:t>
                </a:r>
              </a:p>
              <a:p>
                <a:pPr lvl="1"/>
                <a:r>
                  <a:rPr lang="pt-BR" sz="2000" dirty="0"/>
                  <a:t>Criar uma lista linear vazia</a:t>
                </a:r>
              </a:p>
              <a:p>
                <a:pPr lvl="1"/>
                <a:r>
                  <a:rPr lang="pt-BR" sz="2000" dirty="0"/>
                  <a:t>Inserir um novo item imediatamente após o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/>
                      </a:rPr>
                      <m:t>𝑖</m:t>
                    </m:r>
                  </m:oMath>
                </a14:m>
                <a:r>
                  <a:rPr lang="pt-BR" sz="2000" dirty="0"/>
                  <a:t>-</a:t>
                </a:r>
                <a:r>
                  <a:rPr lang="pt-BR" sz="2000" dirty="0" err="1"/>
                  <a:t>ésimo</a:t>
                </a:r>
                <a:r>
                  <a:rPr lang="pt-BR" sz="2000" dirty="0"/>
                  <a:t> item.</a:t>
                </a:r>
              </a:p>
              <a:p>
                <a:pPr lvl="1"/>
                <a:r>
                  <a:rPr lang="pt-BR" sz="2000" dirty="0"/>
                  <a:t>Retirar o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/>
                      </a:rPr>
                      <m:t>𝑖</m:t>
                    </m:r>
                  </m:oMath>
                </a14:m>
                <a:r>
                  <a:rPr lang="pt-BR" sz="2000" dirty="0"/>
                  <a:t>-</a:t>
                </a:r>
                <a:r>
                  <a:rPr lang="pt-BR" sz="2000" dirty="0" err="1"/>
                  <a:t>ésimo</a:t>
                </a:r>
                <a:r>
                  <a:rPr lang="pt-BR" sz="2000" dirty="0"/>
                  <a:t> item.</a:t>
                </a:r>
              </a:p>
              <a:p>
                <a:pPr lvl="1"/>
                <a:r>
                  <a:rPr lang="pt-BR" sz="2000" dirty="0"/>
                  <a:t>Localizar o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/>
                      </a:rPr>
                      <m:t>𝑖</m:t>
                    </m:r>
                  </m:oMath>
                </a14:m>
                <a:r>
                  <a:rPr lang="pt-BR" sz="2000" dirty="0"/>
                  <a:t>-</a:t>
                </a:r>
                <a:r>
                  <a:rPr lang="pt-BR" sz="2000" dirty="0" err="1"/>
                  <a:t>ésimo</a:t>
                </a:r>
                <a:r>
                  <a:rPr lang="pt-BR" sz="2000" dirty="0"/>
                  <a:t> item para examinar e/ou alterar o conteúdo de seus componentes.</a:t>
                </a:r>
              </a:p>
              <a:p>
                <a:pPr lvl="1"/>
                <a:r>
                  <a:rPr lang="pt-BR" sz="2000" dirty="0"/>
                  <a:t>Fazer uma cópia da lista linear.</a:t>
                </a:r>
              </a:p>
              <a:p>
                <a:pPr lvl="1"/>
                <a:r>
                  <a:rPr lang="pt-BR" sz="2000" dirty="0"/>
                  <a:t>Ordenar os itens da lista em ordem ascendente ou descendente, de acordo com alguns de seus componentes.</a:t>
                </a:r>
              </a:p>
              <a:p>
                <a:pPr lvl="1"/>
                <a:r>
                  <a:rPr lang="pt-BR" sz="2000" dirty="0"/>
                  <a:t>Pesquisar a ocorrência de um item com um valor particular em algum componente.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b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45E8E2-9208-482A-A06B-757D8677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312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Representação de Listas Lineares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várias estruturas de dados que podem ser usadas para representar listas lineares:</a:t>
            </a:r>
          </a:p>
          <a:p>
            <a:r>
              <a:rPr lang="pt-BR" dirty="0"/>
              <a:t>As duas representações mais utilizadas são:</a:t>
            </a:r>
          </a:p>
          <a:p>
            <a:pPr lvl="1"/>
            <a:r>
              <a:rPr lang="pt-BR" dirty="0"/>
              <a:t>por meio de arranjos; e </a:t>
            </a:r>
          </a:p>
          <a:p>
            <a:pPr lvl="1"/>
            <a:r>
              <a:rPr lang="pt-BR" dirty="0"/>
              <a:t>estruturas auto referenciadas (ou apontadores para linguagens como C e C++).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19144A-C0C9-4A35-B2FB-2A065D4E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853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Listas Lineares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3200" dirty="0"/>
                  <a:t>Exemplos de Operações:</a:t>
                </a:r>
              </a:p>
              <a:p>
                <a:pPr lvl="1"/>
                <a:r>
                  <a:rPr lang="pt-BR" sz="2800" dirty="0"/>
                  <a:t>Lista(</a:t>
                </a:r>
                <a:r>
                  <a:rPr lang="pt-BR" sz="2800" dirty="0" err="1"/>
                  <a:t>maxTam</a:t>
                </a:r>
                <a:r>
                  <a:rPr lang="pt-BR" sz="2800" dirty="0"/>
                  <a:t>). Cria uma lista vazia.</a:t>
                </a:r>
              </a:p>
              <a:p>
                <a:pPr lvl="1"/>
                <a:r>
                  <a:rPr lang="pt-BR" sz="2800" dirty="0"/>
                  <a:t>insere(x). Insere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> após o último item da lista.</a:t>
                </a:r>
              </a:p>
              <a:p>
                <a:pPr lvl="1"/>
                <a:r>
                  <a:rPr lang="pt-BR" sz="2800" dirty="0"/>
                  <a:t>retira(x). Retorna o item x que está na posição p da lista, retirando-o da lista e deslocando os itens a partir da posição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pt-BR" sz="2800" dirty="0"/>
                  <a:t> para as posições anteriores.</a:t>
                </a:r>
              </a:p>
              <a:p>
                <a:pPr lvl="1"/>
                <a:r>
                  <a:rPr lang="pt-BR" sz="2800" dirty="0"/>
                  <a:t>vazia(). Esta função retorna </a:t>
                </a:r>
                <a:r>
                  <a:rPr lang="pt-BR" sz="2800" i="1" dirty="0" err="1"/>
                  <a:t>true</a:t>
                </a:r>
                <a:r>
                  <a:rPr lang="pt-BR" sz="2800" i="1" dirty="0"/>
                  <a:t> </a:t>
                </a:r>
                <a:r>
                  <a:rPr lang="pt-BR" sz="2800" dirty="0"/>
                  <a:t>se lista vazia; senão retorna </a:t>
                </a:r>
                <a:r>
                  <a:rPr lang="pt-BR" sz="2800" i="1" dirty="0"/>
                  <a:t>false</a:t>
                </a:r>
                <a:r>
                  <a:rPr lang="pt-BR" sz="2800" dirty="0"/>
                  <a:t>.</a:t>
                </a:r>
              </a:p>
              <a:p>
                <a:pPr lvl="1"/>
                <a:r>
                  <a:rPr lang="pt-BR" sz="2800" dirty="0"/>
                  <a:t>imprime(). Imprime os itens da lista na ordem de ocorrência.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941" r="-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E75C98-C8E5-4CE3-8283-04BA45FF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755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Arranjos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itens são armazenados em um arranjo de tamanho suficiente para armazenar a lista.</a:t>
            </a:r>
          </a:p>
          <a:p>
            <a:r>
              <a:rPr lang="pt-BR" dirty="0"/>
              <a:t>Os itens da lista são armazenados em posições contíguas de memória.</a:t>
            </a:r>
          </a:p>
          <a:p>
            <a:r>
              <a:rPr lang="pt-BR" dirty="0"/>
              <a:t>A lista pode ser percorrida em qualquer direção.</a:t>
            </a:r>
          </a:p>
          <a:p>
            <a:r>
              <a:rPr lang="pt-BR" dirty="0"/>
              <a:t>Inserção de um novo item:</a:t>
            </a:r>
          </a:p>
          <a:p>
            <a:pPr lvl="1"/>
            <a:r>
              <a:rPr lang="pt-BR" dirty="0"/>
              <a:t>após o último item com custo constante.</a:t>
            </a:r>
          </a:p>
          <a:p>
            <a:pPr lvl="1"/>
            <a:r>
              <a:rPr lang="pt-BR" dirty="0"/>
              <a:t>no meio da lista requer um deslocamento de todos os itens localizados após o ponto de inserção.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5A022D-B507-48C1-9024-3D3345FB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65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Arranjos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Retirar um item do início da lista requer um deslocamento de itens para preencher o espaço deixado vazio.</a:t>
            </a:r>
          </a:p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000" y="3501008"/>
            <a:ext cx="2629145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594220-D377-4E65-82A3-86A2C6A9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11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E3E0CD-7AA5-4434-B60F-0AE1DB667597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375823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Listas Lineares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5784316" y="314096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ultim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E04D42C-1DC3-4696-B5C4-928AC8B5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12</a:t>
            </a:fld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DA2378F-9283-4E76-99AA-2F6C70C6FE0B}"/>
              </a:ext>
            </a:extLst>
          </p:cNvPr>
          <p:cNvSpPr txBox="1"/>
          <p:nvPr/>
        </p:nvSpPr>
        <p:spPr>
          <a:xfrm>
            <a:off x="1703512" y="2668270"/>
            <a:ext cx="76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7842A4-4D31-4B05-BE28-758BA10FC1FF}"/>
              </a:ext>
            </a:extLst>
          </p:cNvPr>
          <p:cNvSpPr txBox="1"/>
          <p:nvPr/>
        </p:nvSpPr>
        <p:spPr>
          <a:xfrm>
            <a:off x="1169377" y="4783015"/>
            <a:ext cx="715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inserção padrão dos elementos na lista é na posição último. Porém, é possível também fazer inserção em qualquer posição.</a:t>
            </a:r>
          </a:p>
        </p:txBody>
      </p:sp>
    </p:spTree>
    <p:extLst>
      <p:ext uri="{BB962C8B-B14F-4D97-AF65-F5344CB8AC3E}">
        <p14:creationId xmlns:p14="http://schemas.microsoft.com/office/powerpoint/2010/main" val="3880056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Listas Lineares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6288372" y="314096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ultim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19C72F2-E9A5-4A0C-AAE9-1B1A8596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13</a:t>
            </a:fld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786CE89-308C-4DC5-BDAB-FC4C59960CE4}"/>
              </a:ext>
            </a:extLst>
          </p:cNvPr>
          <p:cNvSpPr txBox="1"/>
          <p:nvPr/>
        </p:nvSpPr>
        <p:spPr>
          <a:xfrm>
            <a:off x="1703512" y="2668270"/>
            <a:ext cx="76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Insere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9B734B3-586D-4CE8-85BE-286610795B50}"/>
              </a:ext>
            </a:extLst>
          </p:cNvPr>
          <p:cNvSpPr txBox="1"/>
          <p:nvPr/>
        </p:nvSpPr>
        <p:spPr>
          <a:xfrm>
            <a:off x="1169377" y="4783015"/>
            <a:ext cx="715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inserção padrão dos elementos na lista é na posição último. Porém, é possível também fazer inserção em qualquer posição.</a:t>
            </a:r>
          </a:p>
        </p:txBody>
      </p:sp>
    </p:spTree>
    <p:extLst>
      <p:ext uri="{BB962C8B-B14F-4D97-AF65-F5344CB8AC3E}">
        <p14:creationId xmlns:p14="http://schemas.microsoft.com/office/powerpoint/2010/main" val="2162983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Listas Lineares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ultim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631732-66B8-46B9-8447-0212E08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14</a:t>
            </a:fld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D7EE737-3E98-47C6-8FD7-0DC16FC8AF51}"/>
              </a:ext>
            </a:extLst>
          </p:cNvPr>
          <p:cNvSpPr txBox="1"/>
          <p:nvPr/>
        </p:nvSpPr>
        <p:spPr>
          <a:xfrm>
            <a:off x="1703512" y="2668270"/>
            <a:ext cx="76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Insere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1C9C689-4B50-42BA-92D6-84CAB3C12E1D}"/>
              </a:ext>
            </a:extLst>
          </p:cNvPr>
          <p:cNvSpPr txBox="1"/>
          <p:nvPr/>
        </p:nvSpPr>
        <p:spPr>
          <a:xfrm>
            <a:off x="1169377" y="4783015"/>
            <a:ext cx="715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inserção padrão dos elementos na lista é na posição último. Porém, é possível também fazer inserção em qualquer posição.</a:t>
            </a:r>
          </a:p>
        </p:txBody>
      </p:sp>
    </p:spTree>
    <p:extLst>
      <p:ext uri="{BB962C8B-B14F-4D97-AF65-F5344CB8AC3E}">
        <p14:creationId xmlns:p14="http://schemas.microsoft.com/office/powerpoint/2010/main" val="655869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Listas Lineares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ultim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3103BBA-C9DF-4A02-A6EC-C7D9E472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15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170FDB7-6512-4265-A7A7-3B90BA617803}"/>
              </a:ext>
            </a:extLst>
          </p:cNvPr>
          <p:cNvSpPr txBox="1"/>
          <p:nvPr/>
        </p:nvSpPr>
        <p:spPr>
          <a:xfrm>
            <a:off x="1703512" y="2668270"/>
            <a:ext cx="89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7AC4B9-68B8-4378-9D9A-B0BE9EC1E965}"/>
              </a:ext>
            </a:extLst>
          </p:cNvPr>
          <p:cNvSpPr txBox="1"/>
          <p:nvPr/>
        </p:nvSpPr>
        <p:spPr>
          <a:xfrm>
            <a:off x="1703512" y="4158762"/>
            <a:ext cx="1139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Remover: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1E5B7FD-D1EE-4757-8ED5-686C4B9262E1}"/>
              </a:ext>
            </a:extLst>
          </p:cNvPr>
          <p:cNvSpPr txBox="1"/>
          <p:nvPr/>
        </p:nvSpPr>
        <p:spPr>
          <a:xfrm>
            <a:off x="2842670" y="415876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96722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Listas Lineares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ultim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3103BBA-C9DF-4A02-A6EC-C7D9E472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16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170FDB7-6512-4265-A7A7-3B90BA617803}"/>
              </a:ext>
            </a:extLst>
          </p:cNvPr>
          <p:cNvSpPr txBox="1"/>
          <p:nvPr/>
        </p:nvSpPr>
        <p:spPr>
          <a:xfrm>
            <a:off x="1703512" y="2668270"/>
            <a:ext cx="89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7AC4B9-68B8-4378-9D9A-B0BE9EC1E965}"/>
              </a:ext>
            </a:extLst>
          </p:cNvPr>
          <p:cNvSpPr txBox="1"/>
          <p:nvPr/>
        </p:nvSpPr>
        <p:spPr>
          <a:xfrm>
            <a:off x="1703512" y="4158762"/>
            <a:ext cx="3640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Remover:</a:t>
            </a:r>
          </a:p>
          <a:p>
            <a:r>
              <a:rPr lang="pt-BR" dirty="0"/>
              <a:t>Pesquisar até encontrar o elemento.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1E5B7FD-D1EE-4757-8ED5-686C4B9262E1}"/>
              </a:ext>
            </a:extLst>
          </p:cNvPr>
          <p:cNvSpPr txBox="1"/>
          <p:nvPr/>
        </p:nvSpPr>
        <p:spPr>
          <a:xfrm>
            <a:off x="2842670" y="415876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7D7B8929-AEF1-46EF-BB55-F0470FB97BAB}"/>
              </a:ext>
            </a:extLst>
          </p:cNvPr>
          <p:cNvCxnSpPr/>
          <p:nvPr/>
        </p:nvCxnSpPr>
        <p:spPr>
          <a:xfrm>
            <a:off x="3541123" y="2022231"/>
            <a:ext cx="0" cy="404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312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Listas Lineares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ultim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3103BBA-C9DF-4A02-A6EC-C7D9E472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17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170FDB7-6512-4265-A7A7-3B90BA617803}"/>
              </a:ext>
            </a:extLst>
          </p:cNvPr>
          <p:cNvSpPr txBox="1"/>
          <p:nvPr/>
        </p:nvSpPr>
        <p:spPr>
          <a:xfrm>
            <a:off x="1703512" y="2668270"/>
            <a:ext cx="89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1E5B7FD-D1EE-4757-8ED5-686C4B9262E1}"/>
              </a:ext>
            </a:extLst>
          </p:cNvPr>
          <p:cNvSpPr txBox="1"/>
          <p:nvPr/>
        </p:nvSpPr>
        <p:spPr>
          <a:xfrm>
            <a:off x="2842670" y="415876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6E7EBEB8-F28B-45CD-86C3-CA1DC72A6401}"/>
              </a:ext>
            </a:extLst>
          </p:cNvPr>
          <p:cNvCxnSpPr/>
          <p:nvPr/>
        </p:nvCxnSpPr>
        <p:spPr>
          <a:xfrm>
            <a:off x="4042284" y="2016442"/>
            <a:ext cx="0" cy="404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AA343F7-B45C-402F-A6E0-C729F2D89989}"/>
              </a:ext>
            </a:extLst>
          </p:cNvPr>
          <p:cNvSpPr txBox="1"/>
          <p:nvPr/>
        </p:nvSpPr>
        <p:spPr>
          <a:xfrm>
            <a:off x="1703512" y="4158762"/>
            <a:ext cx="3640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Remover:</a:t>
            </a:r>
          </a:p>
          <a:p>
            <a:r>
              <a:rPr lang="pt-BR" dirty="0"/>
              <a:t>Pesquisar até encontrar o elemento. </a:t>
            </a:r>
          </a:p>
        </p:txBody>
      </p:sp>
    </p:spTree>
    <p:extLst>
      <p:ext uri="{BB962C8B-B14F-4D97-AF65-F5344CB8AC3E}">
        <p14:creationId xmlns:p14="http://schemas.microsoft.com/office/powerpoint/2010/main" val="1338772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Listas Lineares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ultim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3103BBA-C9DF-4A02-A6EC-C7D9E472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18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170FDB7-6512-4265-A7A7-3B90BA617803}"/>
              </a:ext>
            </a:extLst>
          </p:cNvPr>
          <p:cNvSpPr txBox="1"/>
          <p:nvPr/>
        </p:nvSpPr>
        <p:spPr>
          <a:xfrm>
            <a:off x="1703512" y="2668270"/>
            <a:ext cx="89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1E5B7FD-D1EE-4757-8ED5-686C4B9262E1}"/>
              </a:ext>
            </a:extLst>
          </p:cNvPr>
          <p:cNvSpPr txBox="1"/>
          <p:nvPr/>
        </p:nvSpPr>
        <p:spPr>
          <a:xfrm>
            <a:off x="2842670" y="415876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6E7EBEB8-F28B-45CD-86C3-CA1DC72A6401}"/>
              </a:ext>
            </a:extLst>
          </p:cNvPr>
          <p:cNvCxnSpPr/>
          <p:nvPr/>
        </p:nvCxnSpPr>
        <p:spPr>
          <a:xfrm>
            <a:off x="4517069" y="2016442"/>
            <a:ext cx="0" cy="404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8F954D0-EBFC-4D04-9E20-94F188AFB35C}"/>
              </a:ext>
            </a:extLst>
          </p:cNvPr>
          <p:cNvSpPr txBox="1"/>
          <p:nvPr/>
        </p:nvSpPr>
        <p:spPr>
          <a:xfrm>
            <a:off x="1703512" y="4158762"/>
            <a:ext cx="3640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Remover:</a:t>
            </a:r>
          </a:p>
          <a:p>
            <a:r>
              <a:rPr lang="pt-BR" dirty="0"/>
              <a:t>Pesquisar até encontrar o elemento. 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D8B1BD70-B534-42A8-9150-B49CFEB73147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8801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Listas Lineares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ultim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3103BBA-C9DF-4A02-A6EC-C7D9E472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19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170FDB7-6512-4265-A7A7-3B90BA617803}"/>
              </a:ext>
            </a:extLst>
          </p:cNvPr>
          <p:cNvSpPr txBox="1"/>
          <p:nvPr/>
        </p:nvSpPr>
        <p:spPr>
          <a:xfrm>
            <a:off x="1703512" y="2668270"/>
            <a:ext cx="89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1E5B7FD-D1EE-4757-8ED5-686C4B9262E1}"/>
              </a:ext>
            </a:extLst>
          </p:cNvPr>
          <p:cNvSpPr txBox="1"/>
          <p:nvPr/>
        </p:nvSpPr>
        <p:spPr>
          <a:xfrm>
            <a:off x="2842670" y="415876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6E7EBEB8-F28B-45CD-86C3-CA1DC72A6401}"/>
              </a:ext>
            </a:extLst>
          </p:cNvPr>
          <p:cNvCxnSpPr/>
          <p:nvPr/>
        </p:nvCxnSpPr>
        <p:spPr>
          <a:xfrm>
            <a:off x="4517069" y="2016442"/>
            <a:ext cx="0" cy="404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8F954D0-EBFC-4D04-9E20-94F188AFB35C}"/>
              </a:ext>
            </a:extLst>
          </p:cNvPr>
          <p:cNvSpPr txBox="1"/>
          <p:nvPr/>
        </p:nvSpPr>
        <p:spPr>
          <a:xfrm>
            <a:off x="1703512" y="4158762"/>
            <a:ext cx="3640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Remover:</a:t>
            </a:r>
          </a:p>
          <a:p>
            <a:r>
              <a:rPr lang="pt-BR" dirty="0"/>
              <a:t>Pesquisar até encontrar o elemento. </a:t>
            </a:r>
          </a:p>
        </p:txBody>
      </p:sp>
    </p:spTree>
    <p:extLst>
      <p:ext uri="{BB962C8B-B14F-4D97-AF65-F5344CB8AC3E}">
        <p14:creationId xmlns:p14="http://schemas.microsoft.com/office/powerpoint/2010/main" val="1535509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Listas Lineares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6256097" y="3140968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ultim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34556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73087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353678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855169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3103BBA-C9DF-4A02-A6EC-C7D9E472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20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170FDB7-6512-4265-A7A7-3B90BA617803}"/>
              </a:ext>
            </a:extLst>
          </p:cNvPr>
          <p:cNvSpPr txBox="1"/>
          <p:nvPr/>
        </p:nvSpPr>
        <p:spPr>
          <a:xfrm>
            <a:off x="1703512" y="2668270"/>
            <a:ext cx="89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1E5B7FD-D1EE-4757-8ED5-686C4B9262E1}"/>
              </a:ext>
            </a:extLst>
          </p:cNvPr>
          <p:cNvSpPr txBox="1"/>
          <p:nvPr/>
        </p:nvSpPr>
        <p:spPr>
          <a:xfrm>
            <a:off x="2842670" y="415876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8A1BB46-D525-4BC8-9F47-44FE55A846E8}"/>
              </a:ext>
            </a:extLst>
          </p:cNvPr>
          <p:cNvSpPr txBox="1"/>
          <p:nvPr/>
        </p:nvSpPr>
        <p:spPr>
          <a:xfrm>
            <a:off x="1703512" y="4158762"/>
            <a:ext cx="587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Remover:</a:t>
            </a:r>
          </a:p>
          <a:p>
            <a:r>
              <a:rPr lang="pt-BR" dirty="0"/>
              <a:t>Ao encontrar, remover e deslocar todos os demais elementos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941E406-197D-4C60-BE83-B833735149B4}"/>
              </a:ext>
            </a:extLst>
          </p:cNvPr>
          <p:cNvCxnSpPr/>
          <p:nvPr/>
        </p:nvCxnSpPr>
        <p:spPr>
          <a:xfrm flipH="1">
            <a:off x="4873087" y="2426677"/>
            <a:ext cx="8640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04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4CB19-F9F4-4E31-9856-E5B68897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por meio de Arranjos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BF4AE0-492A-4C64-A87D-F966AF80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21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FDF30F7-856D-46A2-AFAD-45E7604BB64C}"/>
              </a:ext>
            </a:extLst>
          </p:cNvPr>
          <p:cNvSpPr/>
          <p:nvPr/>
        </p:nvSpPr>
        <p:spPr>
          <a:xfrm>
            <a:off x="838199" y="1090830"/>
            <a:ext cx="1027527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Lista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Lista () {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Object[1000];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-1;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Lista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Object[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maxTam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-1;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pesquisa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||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].equals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2D16EA0-B9F0-4DB2-B0B6-3CA3AA16E597}"/>
              </a:ext>
            </a:extLst>
          </p:cNvPr>
          <p:cNvCxnSpPr/>
          <p:nvPr/>
        </p:nvCxnSpPr>
        <p:spPr>
          <a:xfrm flipH="1">
            <a:off x="5032130" y="2013438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779265-2C30-49E0-B8B3-85D0B22056F2}"/>
              </a:ext>
            </a:extLst>
          </p:cNvPr>
          <p:cNvSpPr txBox="1"/>
          <p:nvPr/>
        </p:nvSpPr>
        <p:spPr>
          <a:xfrm>
            <a:off x="6664569" y="1828772"/>
            <a:ext cx="3921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Fazem referência ao início e fim da lista.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9DBB7EA-2A7B-4FA7-B7E3-7394884E48A6}"/>
              </a:ext>
            </a:extLst>
          </p:cNvPr>
          <p:cNvCxnSpPr/>
          <p:nvPr/>
        </p:nvCxnSpPr>
        <p:spPr>
          <a:xfrm flipH="1">
            <a:off x="6816966" y="2714313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CF49CD-3F1F-4D03-B412-A15BA0B56F42}"/>
              </a:ext>
            </a:extLst>
          </p:cNvPr>
          <p:cNvSpPr txBox="1"/>
          <p:nvPr/>
        </p:nvSpPr>
        <p:spPr>
          <a:xfrm>
            <a:off x="8493369" y="2260435"/>
            <a:ext cx="3373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 um lista vazia com tamanho fixo. Observe que “primeiro” e “ultimo são iguais”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41F94E26-2771-4D23-A88B-A74AB7A6BF83}"/>
              </a:ext>
            </a:extLst>
          </p:cNvPr>
          <p:cNvCxnSpPr/>
          <p:nvPr/>
        </p:nvCxnSpPr>
        <p:spPr>
          <a:xfrm flipH="1">
            <a:off x="4155830" y="1758785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6785783-436D-4921-B642-461565D0E0DB}"/>
              </a:ext>
            </a:extLst>
          </p:cNvPr>
          <p:cNvSpPr txBox="1"/>
          <p:nvPr/>
        </p:nvSpPr>
        <p:spPr>
          <a:xfrm>
            <a:off x="5708814" y="1556183"/>
            <a:ext cx="219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Tipo genérico do Java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3BCA837-3290-4ECE-83DD-6BC47142A9E9}"/>
              </a:ext>
            </a:extLst>
          </p:cNvPr>
          <p:cNvCxnSpPr/>
          <p:nvPr/>
        </p:nvCxnSpPr>
        <p:spPr>
          <a:xfrm flipH="1">
            <a:off x="6816966" y="3691181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73FE5F1-A755-4CD6-9EB0-C5F94BAA5C52}"/>
              </a:ext>
            </a:extLst>
          </p:cNvPr>
          <p:cNvSpPr txBox="1"/>
          <p:nvPr/>
        </p:nvSpPr>
        <p:spPr>
          <a:xfrm>
            <a:off x="8493369" y="3346857"/>
            <a:ext cx="3373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 um lista vazia com tamanho definido pelo usuário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171C52B-8157-45BD-823D-0C8A72CA4E17}"/>
              </a:ext>
            </a:extLst>
          </p:cNvPr>
          <p:cNvCxnSpPr/>
          <p:nvPr/>
        </p:nvCxnSpPr>
        <p:spPr>
          <a:xfrm flipH="1">
            <a:off x="7107115" y="4942620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981CD32-F5E1-4DFE-B9E3-9C247C7F1C7E}"/>
              </a:ext>
            </a:extLst>
          </p:cNvPr>
          <p:cNvSpPr txBox="1"/>
          <p:nvPr/>
        </p:nvSpPr>
        <p:spPr>
          <a:xfrm>
            <a:off x="8686803" y="4619454"/>
            <a:ext cx="33733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Pesquisa um elemento na lista se a mesma não estiver vazia. Observe que basta percorrer a lista da posição zero até a posição do ultimo elementos da lista.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59A3CF8-9735-4CAF-ADC4-B23290566F79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660147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4CB19-F9F4-4E31-9856-E5B68897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por meio de Arranjos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BF4AE0-492A-4C64-A87D-F966AF80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22</a:t>
            </a:fld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03215B5-A535-4F10-8F59-97E082E59F6A}"/>
              </a:ext>
            </a:extLst>
          </p:cNvPr>
          <p:cNvSpPr/>
          <p:nvPr/>
        </p:nvSpPr>
        <p:spPr>
          <a:xfrm>
            <a:off x="838200" y="1409334"/>
            <a:ext cx="1041595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lista esta cheia"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||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 : A lista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].equals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    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8095D8E-C9E3-46EC-B24F-BC3E7ACAF7DC}"/>
              </a:ext>
            </a:extLst>
          </p:cNvPr>
          <p:cNvCxnSpPr/>
          <p:nvPr/>
        </p:nvCxnSpPr>
        <p:spPr>
          <a:xfrm flipH="1">
            <a:off x="7230205" y="1773536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CC4B90-433E-44E5-A246-0DF879F875D4}"/>
              </a:ext>
            </a:extLst>
          </p:cNvPr>
          <p:cNvSpPr txBox="1"/>
          <p:nvPr/>
        </p:nvSpPr>
        <p:spPr>
          <a:xfrm>
            <a:off x="8897815" y="993448"/>
            <a:ext cx="33733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Insere um novo elementos se a lista não estiver cheia na posição “ultimo” e atualiza o ultimo para referenciar a primeira posição livre da lista.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C78F4F9-43EC-4955-822B-45E83BBC5205}"/>
              </a:ext>
            </a:extLst>
          </p:cNvPr>
          <p:cNvCxnSpPr/>
          <p:nvPr/>
        </p:nvCxnSpPr>
        <p:spPr>
          <a:xfrm flipH="1">
            <a:off x="7303474" y="2817745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4112A8C-4529-4502-AA4D-AB7B43CCD1F4}"/>
              </a:ext>
            </a:extLst>
          </p:cNvPr>
          <p:cNvSpPr txBox="1"/>
          <p:nvPr/>
        </p:nvSpPr>
        <p:spPr>
          <a:xfrm>
            <a:off x="8897815" y="2601774"/>
            <a:ext cx="31124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remoção é necessário pesquisa se o elemento existe. Se encontrar o elemento, ele será removido e todos os elementos posteriores a ele são deslocados para não deixar o vetor com posições vazias. 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D8AB472-13FD-4762-B9A7-E1FC333D74CD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1372209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4CB19-F9F4-4E31-9856-E5B68897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por meio de Arranjos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BF4AE0-492A-4C64-A87D-F966AF80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23</a:t>
            </a:fld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B344A43-0A74-4BB8-8BEE-328749BE29A4}"/>
              </a:ext>
            </a:extLst>
          </p:cNvPr>
          <p:cNvSpPr/>
          <p:nvPr/>
        </p:nvSpPr>
        <p:spPr>
          <a:xfrm>
            <a:off x="838200" y="1469888"/>
            <a:ext cx="966860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retiraPrimeiro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(</a:t>
            </a:r>
            <a:r>
              <a:rPr lang="en-US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Erro</a:t>
            </a:r>
            <a:r>
              <a:rPr lang="en-US" sz="1600" dirty="0">
                <a:solidFill>
                  <a:srgbClr val="2A00FF"/>
                </a:solidFill>
                <a:latin typeface="Consolas" panose="020B0609020204030204" pitchFamily="49" charset="0"/>
              </a:rPr>
              <a:t> : A </a:t>
            </a:r>
            <a:r>
              <a:rPr lang="en-US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lista</a:t>
            </a:r>
            <a:r>
              <a:rPr lang="en-US" sz="1600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esta</a:t>
            </a:r>
            <a:r>
              <a:rPr lang="en-US" sz="1600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vazia</a:t>
            </a:r>
            <a:r>
              <a:rPr lang="en-US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[0];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vazia () {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imprime () {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i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i="1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primeiro 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-1;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.proximo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proximo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CA1B13-6AD8-49E5-8B48-2BE7DCB98AEA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373674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Arranjos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Vantagem: </a:t>
            </a:r>
          </a:p>
          <a:p>
            <a:pPr lvl="1"/>
            <a:r>
              <a:rPr lang="pt-BR" sz="2800" dirty="0"/>
              <a:t>Economia de memória (os apontadores são implícitos nesta estrutura).</a:t>
            </a:r>
          </a:p>
          <a:p>
            <a:r>
              <a:rPr lang="pt-BR" sz="3200" dirty="0"/>
              <a:t>Desvantagens: </a:t>
            </a:r>
          </a:p>
          <a:p>
            <a:pPr lvl="1"/>
            <a:r>
              <a:rPr lang="pt-BR" sz="2800" dirty="0"/>
              <a:t>Custo para inserir ou retirar itens da lista</a:t>
            </a:r>
          </a:p>
          <a:p>
            <a:pPr lvl="2"/>
            <a:r>
              <a:rPr lang="pt-BR" sz="2400" dirty="0"/>
              <a:t>No pior caso: deslocamento de todos os itens.</a:t>
            </a:r>
          </a:p>
          <a:p>
            <a:pPr lvl="1"/>
            <a:r>
              <a:rPr lang="pt-BR" sz="2800" dirty="0"/>
              <a:t>Em aplicações em que não existe previsão sobre o crescimento da lista</a:t>
            </a:r>
          </a:p>
          <a:p>
            <a:pPr lvl="2"/>
            <a:r>
              <a:rPr lang="pt-BR" sz="2400" dirty="0"/>
              <a:t>Exige a realocação de memória.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23EB1-F669-40C3-BB2B-170E6CC5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2463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794BE-02A1-4202-BDA5-BC37C6053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5620"/>
            <a:ext cx="10515600" cy="1325563"/>
          </a:xfrm>
        </p:spPr>
        <p:txBody>
          <a:bodyPr/>
          <a:lstStyle/>
          <a:p>
            <a:r>
              <a:rPr lang="pt-BR" dirty="0"/>
              <a:t>Implementação de Lista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334DC3D-D158-4AB1-B0DB-C38CE13A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595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Também podem ser chamadas de listas encadeadas ou listas ligadas.</a:t>
            </a:r>
          </a:p>
          <a:p>
            <a:r>
              <a:rPr lang="pt-BR" dirty="0"/>
              <a:t>Cada item da lista contém a informação que é necessária para alcançar o próximo item.</a:t>
            </a:r>
          </a:p>
          <a:p>
            <a:r>
              <a:rPr lang="pt-BR" dirty="0"/>
              <a:t>Permite utilizar posições não contíguas de memória.</a:t>
            </a:r>
          </a:p>
          <a:p>
            <a:r>
              <a:rPr lang="pt-BR" dirty="0"/>
              <a:t>Inserir e retirar elementos: </a:t>
            </a:r>
          </a:p>
          <a:p>
            <a:pPr lvl="1"/>
            <a:r>
              <a:rPr lang="pt-BR" dirty="0"/>
              <a:t>Não há necessidade de deslocar os itens seguintes da lista.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CF2E51-5D40-4A3F-AAF9-A4A7BB8F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485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Há uma célula cabeça (</a:t>
            </a:r>
            <a:r>
              <a:rPr lang="pt-BR" i="1" dirty="0" err="1"/>
              <a:t>head</a:t>
            </a:r>
            <a:r>
              <a:rPr lang="pt-BR" dirty="0"/>
              <a:t>):</a:t>
            </a:r>
          </a:p>
          <a:p>
            <a:pPr lvl="1"/>
            <a:r>
              <a:rPr lang="pt-BR" dirty="0"/>
              <a:t>simplifica as operações sobre a lista</a:t>
            </a:r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473" y="3501008"/>
            <a:ext cx="6528725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C2A4AE-2ACA-43CD-81AA-DEC5AA86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127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900808"/>
          </a:xfrm>
        </p:spPr>
        <p:txBody>
          <a:bodyPr>
            <a:normAutofit/>
          </a:bodyPr>
          <a:lstStyle/>
          <a:p>
            <a:r>
              <a:rPr lang="pt-BR" dirty="0"/>
              <a:t>A lista é constituída de células:</a:t>
            </a:r>
          </a:p>
          <a:p>
            <a:pPr lvl="1"/>
            <a:r>
              <a:rPr lang="pt-BR" dirty="0"/>
              <a:t>Cada uma contém um item da lista e uma referência para a célula seguinte.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8" name="Elipse 7"/>
          <p:cNvSpPr/>
          <p:nvPr/>
        </p:nvSpPr>
        <p:spPr>
          <a:xfrm>
            <a:off x="4583832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8" idx="2"/>
            <a:endCxn id="8" idx="6"/>
          </p:cNvCxnSpPr>
          <p:nvPr/>
        </p:nvCxnSpPr>
        <p:spPr>
          <a:xfrm>
            <a:off x="4583832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4799857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779476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2" name="Elipse 11"/>
          <p:cNvSpPr/>
          <p:nvPr/>
        </p:nvSpPr>
        <p:spPr>
          <a:xfrm>
            <a:off x="6384032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6384032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6600057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579676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6" name="Elipse 15"/>
          <p:cNvSpPr/>
          <p:nvPr/>
        </p:nvSpPr>
        <p:spPr>
          <a:xfrm>
            <a:off x="8112224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/>
          <p:cNvCxnSpPr>
            <a:stCxn id="16" idx="2"/>
            <a:endCxn id="16" idx="6"/>
          </p:cNvCxnSpPr>
          <p:nvPr/>
        </p:nvCxnSpPr>
        <p:spPr>
          <a:xfrm>
            <a:off x="8112224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8328249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07868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0" name="Conector em curva 19"/>
          <p:cNvCxnSpPr/>
          <p:nvPr/>
        </p:nvCxnSpPr>
        <p:spPr>
          <a:xfrm flipV="1">
            <a:off x="3863752" y="4405754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em curva 20"/>
          <p:cNvCxnSpPr/>
          <p:nvPr/>
        </p:nvCxnSpPr>
        <p:spPr>
          <a:xfrm flipV="1">
            <a:off x="5663952" y="4437112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em curva 21"/>
          <p:cNvCxnSpPr/>
          <p:nvPr/>
        </p:nvCxnSpPr>
        <p:spPr>
          <a:xfrm flipV="1">
            <a:off x="7392144" y="4437112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2999656" y="508518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07946" y="508692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sp>
        <p:nvSpPr>
          <p:cNvPr id="25" name="Espaço Reservado para Número de Slide 24">
            <a:extLst>
              <a:ext uri="{FF2B5EF4-FFF2-40B4-BE49-F238E27FC236}">
                <a16:creationId xmlns:a16="http://schemas.microsoft.com/office/drawing/2014/main" id="{03E6B687-DAC8-41DB-ABE9-303476BB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3883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/>
          <a:lstStyle/>
          <a:p>
            <a:r>
              <a:rPr lang="pt-BR" dirty="0"/>
              <a:t>Construção de uma Lista vazia:</a:t>
            </a:r>
          </a:p>
        </p:txBody>
      </p:sp>
      <p:sp>
        <p:nvSpPr>
          <p:cNvPr id="45" name="Elipse 44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/>
          <p:cNvCxnSpPr>
            <a:stCxn id="45" idx="2"/>
            <a:endCxn id="45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49" name="CaixaDeTexto 48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50" name="CaixaDeTexto 49"/>
          <p:cNvSpPr txBox="1"/>
          <p:nvPr/>
        </p:nvSpPr>
        <p:spPr>
          <a:xfrm>
            <a:off x="2851362" y="4715911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51" name="Conector de seta reta 50"/>
          <p:cNvCxnSpPr/>
          <p:nvPr/>
        </p:nvCxnSpPr>
        <p:spPr>
          <a:xfrm>
            <a:off x="3676444" y="407707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/>
          <p:cNvSpPr txBox="1"/>
          <p:nvPr/>
        </p:nvSpPr>
        <p:spPr>
          <a:xfrm>
            <a:off x="4970714" y="38982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5D7214-7FE6-4FF5-8497-2E3DE3CD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529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851362" y="4715911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3676444" y="407707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4970714" y="38982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CD077B88-5C78-4428-8A0A-76BEFB85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30</a:t>
            </a:fld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19AF3CD-A8D8-4B72-A23D-D9E562EAE134}"/>
              </a:ext>
            </a:extLst>
          </p:cNvPr>
          <p:cNvSpPr/>
          <p:nvPr/>
        </p:nvSpPr>
        <p:spPr>
          <a:xfrm>
            <a:off x="7713748" y="5257799"/>
            <a:ext cx="4314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1910650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718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851362" y="4715911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5BA425DD-EB16-4AA8-95A7-6B5FBC08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31</a:t>
            </a:fld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D60A9B3-A8E5-4A1E-9161-240C5E75F793}"/>
              </a:ext>
            </a:extLst>
          </p:cNvPr>
          <p:cNvSpPr/>
          <p:nvPr/>
        </p:nvSpPr>
        <p:spPr>
          <a:xfrm>
            <a:off x="7713748" y="5257799"/>
            <a:ext cx="4314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this.ultimo.prox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();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648873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718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651562" y="436684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F4EDF396-19EF-4C64-8E07-3BC66929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32</a:t>
            </a:fld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63B3021-29B6-456B-822C-50CD75399FF8}"/>
              </a:ext>
            </a:extLst>
          </p:cNvPr>
          <p:cNvSpPr/>
          <p:nvPr/>
        </p:nvSpPr>
        <p:spPr>
          <a:xfrm>
            <a:off x="7713748" y="5257799"/>
            <a:ext cx="4314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this.ultimo.prox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456957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651562" y="436684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A88C60F2-D2A8-45E3-A993-85EEDFAD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33</a:t>
            </a:fld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83F771-B7BC-43E0-BA19-FCF869F0715F}"/>
              </a:ext>
            </a:extLst>
          </p:cNvPr>
          <p:cNvSpPr/>
          <p:nvPr/>
        </p:nvSpPr>
        <p:spPr>
          <a:xfrm>
            <a:off x="7713748" y="5257799"/>
            <a:ext cx="4314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this.ultimo.item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x;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CEF626B-8721-4B25-A438-16E49FB6609C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55748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651562" y="436684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16" name="Conector de seta reta 15"/>
          <p:cNvCxnSpPr/>
          <p:nvPr/>
        </p:nvCxnSpPr>
        <p:spPr>
          <a:xfrm>
            <a:off x="5493094" y="407707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6787364" y="38982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A88C60F2-D2A8-45E3-A993-85EEDFAD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34</a:t>
            </a:fld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83F771-B7BC-43E0-BA19-FCF869F0715F}"/>
              </a:ext>
            </a:extLst>
          </p:cNvPr>
          <p:cNvSpPr/>
          <p:nvPr/>
        </p:nvSpPr>
        <p:spPr>
          <a:xfrm>
            <a:off x="7713748" y="5257799"/>
            <a:ext cx="4314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this.ultimo.prox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9EDC5B0-541B-409C-878E-6B0C5161051E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563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651562" y="436684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7231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387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C197F0DB-D337-441B-8AAF-65A4FB11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35</a:t>
            </a:fld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6109343-3E54-4F83-BBC7-FF16440FA08E}"/>
              </a:ext>
            </a:extLst>
          </p:cNvPr>
          <p:cNvSpPr/>
          <p:nvPr/>
        </p:nvSpPr>
        <p:spPr>
          <a:xfrm>
            <a:off x="7713748" y="5257799"/>
            <a:ext cx="4314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this.ultimo.prox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();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C746DF4-716C-438E-857F-CEAC00E1F445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1040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7231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387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F320516E-8F8B-403A-8D3D-3EC6EAB1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36</a:t>
            </a:fld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3D62CC5-7FDF-4341-B320-F562C5CB8CC2}"/>
              </a:ext>
            </a:extLst>
          </p:cNvPr>
          <p:cNvSpPr/>
          <p:nvPr/>
        </p:nvSpPr>
        <p:spPr>
          <a:xfrm>
            <a:off x="7713748" y="5257799"/>
            <a:ext cx="4314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this.ultimo.prox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1BACF2A-4F42-4FDB-BB0A-C5FAE31CD977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49199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387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CC34057A-2BD0-4ABA-B40E-29CDDDA8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37</a:t>
            </a:fld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DFA7CF7-F714-440D-AEC0-494DF6A22BC0}"/>
              </a:ext>
            </a:extLst>
          </p:cNvPr>
          <p:cNvSpPr/>
          <p:nvPr/>
        </p:nvSpPr>
        <p:spPr>
          <a:xfrm>
            <a:off x="7713748" y="5257799"/>
            <a:ext cx="4314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this.ultimo.item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x;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32767BF-D2AC-4E14-9AEC-AEC90E94ADC4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EE567CF-379D-4D18-937A-B06EADF31392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726906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387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CC34057A-2BD0-4ABA-B40E-29CDDDA8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38</a:t>
            </a:fld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DFA7CF7-F714-440D-AEC0-494DF6A22BC0}"/>
              </a:ext>
            </a:extLst>
          </p:cNvPr>
          <p:cNvSpPr/>
          <p:nvPr/>
        </p:nvSpPr>
        <p:spPr>
          <a:xfrm>
            <a:off x="7713748" y="5257799"/>
            <a:ext cx="4314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this.ultimo.prox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8E392CA-648C-4503-B174-EE24E628DCB2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CED851F-CA09-4CDC-8FE6-265089C67E86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460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Inserção de um novo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455868" y="29342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328076" y="2924944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2º elemento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817F1C27-B947-4228-8793-0B1FE503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39</a:t>
            </a:fld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E15C9B6-8648-4578-AC25-BA8639F32E2F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FEC888B-681B-4412-BB90-5EF2790BF6FD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265091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7005262" y="285293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5793964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A8FCC80A-CD34-4DAF-8DB0-91DB2E941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40</a:t>
            </a:fld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7196787-5CD1-433E-8BC3-D8114E4EE732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68D86BA-7051-4C9A-882E-4D92EEBA267F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FB09C66-2528-4848-97E3-504A50DA5259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272569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071664" y="4643844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cxnSp>
        <p:nvCxnSpPr>
          <p:cNvPr id="32" name="Conector de seta reta 31"/>
          <p:cNvCxnSpPr/>
          <p:nvPr/>
        </p:nvCxnSpPr>
        <p:spPr>
          <a:xfrm>
            <a:off x="7005262" y="285293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5793964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0D15DC4-F2D9-4A9B-ABD8-19096FD1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41</a:t>
            </a:fld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B7C93BA-4DE9-484A-9473-1E8FE7C8D257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this.primeiro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9DB5F517-C90D-4F35-B7CA-A5A882183879}"/>
              </a:ext>
            </a:extLst>
          </p:cNvPr>
          <p:cNvCxnSpPr/>
          <p:nvPr/>
        </p:nvCxnSpPr>
        <p:spPr>
          <a:xfrm flipH="1">
            <a:off x="6559062" y="5477608"/>
            <a:ext cx="11166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A8417D-F766-4A4C-BE24-A83B8BA30B89}"/>
              </a:ext>
            </a:extLst>
          </p:cNvPr>
          <p:cNvSpPr txBox="1"/>
          <p:nvPr/>
        </p:nvSpPr>
        <p:spPr>
          <a:xfrm>
            <a:off x="8071338" y="5205046"/>
            <a:ext cx="38158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o objeto “primeiro” não armazena o primeiro elemento da lista, e sim é uma referência à célula </a:t>
            </a:r>
            <a:r>
              <a:rPr lang="pt-BR" i="1" dirty="0" err="1"/>
              <a:t>head</a:t>
            </a:r>
            <a:r>
              <a:rPr lang="pt-BR" dirty="0"/>
              <a:t> que referencia o primeiro elemento.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631B1B8-848A-4EED-80EE-4D5D8F67A8DF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9F85190-3DBD-4235-92A7-F72E36376C1F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59828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071664" y="4643844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93964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C67C09A-0F3F-4816-BEE3-083DD04B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42</a:t>
            </a:fld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11E02DE-8D3F-45FF-8210-6BA8FF0626A2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aux.prox.item.equals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(chave))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cxnSp>
        <p:nvCxnSpPr>
          <p:cNvPr id="34" name="Conector de seta reta 31">
            <a:extLst>
              <a:ext uri="{FF2B5EF4-FFF2-40B4-BE49-F238E27FC236}">
                <a16:creationId xmlns:a16="http://schemas.microsoft.com/office/drawing/2014/main" id="{462DA6D9-4B12-47E1-9A38-0133DB663B0C}"/>
              </a:ext>
            </a:extLst>
          </p:cNvPr>
          <p:cNvCxnSpPr/>
          <p:nvPr/>
        </p:nvCxnSpPr>
        <p:spPr>
          <a:xfrm>
            <a:off x="7005262" y="2852936"/>
            <a:ext cx="0" cy="43204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DB51B7E-1B78-4AD2-BD64-1756DB8F7C1E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75D564-A70D-4B26-BE2E-F9E3A070151C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18811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871864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93964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F0D2BFA6-C88B-4D62-8908-E626096C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43</a:t>
            </a:fld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2500212-7C5D-4978-B097-B0740C045343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cxnSp>
        <p:nvCxnSpPr>
          <p:cNvPr id="34" name="Conector de seta reta 31">
            <a:extLst>
              <a:ext uri="{FF2B5EF4-FFF2-40B4-BE49-F238E27FC236}">
                <a16:creationId xmlns:a16="http://schemas.microsoft.com/office/drawing/2014/main" id="{2264D58D-C59C-4251-A8F2-1A2A04B98764}"/>
              </a:ext>
            </a:extLst>
          </p:cNvPr>
          <p:cNvCxnSpPr/>
          <p:nvPr/>
        </p:nvCxnSpPr>
        <p:spPr>
          <a:xfrm>
            <a:off x="7005262" y="2852936"/>
            <a:ext cx="0" cy="43204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0B3ED4C-FC26-4D9D-86AD-BDA0534A5EC9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07A46D3-99B3-4B8D-9DCC-FC753C1E55B0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941329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871864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93964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AEB4CB43-870B-49CF-97D4-D4617719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44</a:t>
            </a:fld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0A381427-8FCB-40DF-8714-C58FAF57B48B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aux.prox.item.equals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(chave))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cxnSp>
        <p:nvCxnSpPr>
          <p:cNvPr id="34" name="Conector de seta reta 31">
            <a:extLst>
              <a:ext uri="{FF2B5EF4-FFF2-40B4-BE49-F238E27FC236}">
                <a16:creationId xmlns:a16="http://schemas.microsoft.com/office/drawing/2014/main" id="{9BB582C8-5151-4400-AF6B-6D68E58AFA0F}"/>
              </a:ext>
            </a:extLst>
          </p:cNvPr>
          <p:cNvCxnSpPr/>
          <p:nvPr/>
        </p:nvCxnSpPr>
        <p:spPr>
          <a:xfrm>
            <a:off x="7005262" y="2852936"/>
            <a:ext cx="0" cy="43204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B727638-3BDC-4BEB-A685-A6FC5151DAE1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193AB84-DAA2-4D7A-87FA-79891A05481A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393642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871864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93964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869626" y="48691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7F37ABE3-BFDE-4DE4-8331-6DD17429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45</a:t>
            </a:fld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FD63A1A-148A-42AE-8632-35B57CCB8602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q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cxnSp>
        <p:nvCxnSpPr>
          <p:cNvPr id="35" name="Conector de seta reta 31">
            <a:extLst>
              <a:ext uri="{FF2B5EF4-FFF2-40B4-BE49-F238E27FC236}">
                <a16:creationId xmlns:a16="http://schemas.microsoft.com/office/drawing/2014/main" id="{03FFCA03-52B0-4CC3-A560-28C7C3D6DE73}"/>
              </a:ext>
            </a:extLst>
          </p:cNvPr>
          <p:cNvCxnSpPr/>
          <p:nvPr/>
        </p:nvCxnSpPr>
        <p:spPr>
          <a:xfrm>
            <a:off x="7005262" y="2852936"/>
            <a:ext cx="0" cy="43204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7380ED7-C831-4DF7-8CF8-9BA4FBB011B0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9681A27-4DC4-41D0-B804-49E4D9AA4DBD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760815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36CD1BC4-2B3A-4D50-8A9D-2DC9D384A5F6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item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q.item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871864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93964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869626" y="48691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6717231" y="6174596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941366" y="5704205"/>
            <a:ext cx="184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Recupera o objeto a ser removido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EC9F6EA0-990B-437F-845B-116C8B2E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46</a:t>
            </a:fld>
            <a:endParaRPr lang="pt-BR"/>
          </a:p>
        </p:txBody>
      </p:sp>
      <p:cxnSp>
        <p:nvCxnSpPr>
          <p:cNvPr id="34" name="Conector de seta reta 31">
            <a:extLst>
              <a:ext uri="{FF2B5EF4-FFF2-40B4-BE49-F238E27FC236}">
                <a16:creationId xmlns:a16="http://schemas.microsoft.com/office/drawing/2014/main" id="{817BCE82-6DE9-4DA3-BC2A-6E058E521368}"/>
              </a:ext>
            </a:extLst>
          </p:cNvPr>
          <p:cNvCxnSpPr/>
          <p:nvPr/>
        </p:nvCxnSpPr>
        <p:spPr>
          <a:xfrm>
            <a:off x="7005262" y="2852936"/>
            <a:ext cx="0" cy="43204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47D1565-8517-45FA-B4D0-37DE278350BC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BB4A78F-18C0-48B1-8745-DAE10688F56E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042400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id="{37971B4B-1478-49AB-A20D-5D3DA87CE947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q.prox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rot="5400000" flipH="1" flipV="1">
            <a:off x="5542960" y="3523152"/>
            <a:ext cx="791209" cy="45889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871864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93964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869626" y="48691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807968" y="298678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8097714" y="5766476"/>
            <a:ext cx="3938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Faça </a:t>
            </a:r>
            <a:r>
              <a:rPr lang="pt-BR" dirty="0" err="1"/>
              <a:t>aux.prox</a:t>
            </a:r>
            <a:r>
              <a:rPr lang="pt-BR" dirty="0"/>
              <a:t> referenciar o próximo </a:t>
            </a:r>
          </a:p>
          <a:p>
            <a:r>
              <a:rPr lang="pt-BR" dirty="0"/>
              <a:t>elemento da lista. Neste caso nulo, pois </a:t>
            </a:r>
          </a:p>
          <a:p>
            <a:r>
              <a:rPr lang="pt-BR" dirty="0"/>
              <a:t>não há mais elementos. 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87AED66-B49E-4266-8BF1-30510DB2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47</a:t>
            </a:fld>
            <a:endParaRPr lang="pt-BR"/>
          </a:p>
        </p:txBody>
      </p:sp>
      <p:cxnSp>
        <p:nvCxnSpPr>
          <p:cNvPr id="38" name="Conector de seta reta 9">
            <a:extLst>
              <a:ext uri="{FF2B5EF4-FFF2-40B4-BE49-F238E27FC236}">
                <a16:creationId xmlns:a16="http://schemas.microsoft.com/office/drawing/2014/main" id="{B457F62A-1A8D-425B-B092-64F97F2419AD}"/>
              </a:ext>
            </a:extLst>
          </p:cNvPr>
          <p:cNvCxnSpPr/>
          <p:nvPr/>
        </p:nvCxnSpPr>
        <p:spPr>
          <a:xfrm>
            <a:off x="6717231" y="6174596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1">
            <a:extLst>
              <a:ext uri="{FF2B5EF4-FFF2-40B4-BE49-F238E27FC236}">
                <a16:creationId xmlns:a16="http://schemas.microsoft.com/office/drawing/2014/main" id="{684216E7-4C8A-492B-B8B7-47595091B650}"/>
              </a:ext>
            </a:extLst>
          </p:cNvPr>
          <p:cNvCxnSpPr/>
          <p:nvPr/>
        </p:nvCxnSpPr>
        <p:spPr>
          <a:xfrm>
            <a:off x="7005262" y="2852936"/>
            <a:ext cx="0" cy="43204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6C8DEA2-8F31-4BEF-936A-25601480C00E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2868F3E-9E4F-4C52-A0A7-EFF28BD6CC1E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968182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NULL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651562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rot="5400000" flipH="1" flipV="1">
            <a:off x="5542960" y="3523152"/>
            <a:ext cx="791209" cy="45889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>
            <a:off x="7005262" y="2852936"/>
            <a:ext cx="0" cy="43204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007672" y="2420888"/>
            <a:ext cx="4917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removido (lixo de memória - inacessível)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869626" y="435581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q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807968" y="298678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B3E59B62-8DA2-43EE-B39A-BD082C2F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48</a:t>
            </a:fld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D3B94AA-DB0E-4F8C-A5E1-E226ED1F2909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if (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== null)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this.ultimo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= aux;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item;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cxnSp>
        <p:nvCxnSpPr>
          <p:cNvPr id="37" name="Conector de seta reta 20">
            <a:extLst>
              <a:ext uri="{FF2B5EF4-FFF2-40B4-BE49-F238E27FC236}">
                <a16:creationId xmlns:a16="http://schemas.microsoft.com/office/drawing/2014/main" id="{A0EBFD48-0669-49E2-BBE5-74F6571527B8}"/>
              </a:ext>
            </a:extLst>
          </p:cNvPr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39C51A18-DB2D-4683-9324-5F2684C03D4D}"/>
              </a:ext>
            </a:extLst>
          </p:cNvPr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69A913AB-F0F9-42C6-BC47-943B0F1935CE}"/>
              </a:ext>
            </a:extLst>
          </p:cNvPr>
          <p:cNvCxnSpPr>
            <a:stCxn id="38" idx="2"/>
            <a:endCxn id="38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8153535-574C-4F0E-AED3-16D03D2457B7}"/>
              </a:ext>
            </a:extLst>
          </p:cNvPr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3E865A4-E9FA-4B69-B0D3-D546E1391028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4301E68-705F-46A5-A013-960F4BDA84DC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688644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5141295" y="285293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929997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A8FCC80A-CD34-4DAF-8DB0-91DB2E941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49</a:t>
            </a:fld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7196787-5CD1-433E-8BC3-D8114E4EE732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B8C8FCF-530D-42D8-A466-2945835B12BD}"/>
              </a:ext>
            </a:extLst>
          </p:cNvPr>
          <p:cNvSpPr txBox="1"/>
          <p:nvPr/>
        </p:nvSpPr>
        <p:spPr>
          <a:xfrm>
            <a:off x="7966058" y="2345104"/>
            <a:ext cx="3598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 se o elemento a ser removido não for o último elemento da lista?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2520B40-2380-4B5B-82A2-7EE103889ABB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2BF289A-1946-4B52-9D17-0D4C64DD64F0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797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071664" y="4643844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0D15DC4-F2D9-4A9B-ABD8-19096FD1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50</a:t>
            </a:fld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B7C93BA-4DE9-484A-9473-1E8FE7C8D257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this.primeiro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9DB5F517-C90D-4F35-B7CA-A5A882183879}"/>
              </a:ext>
            </a:extLst>
          </p:cNvPr>
          <p:cNvCxnSpPr/>
          <p:nvPr/>
        </p:nvCxnSpPr>
        <p:spPr>
          <a:xfrm flipH="1">
            <a:off x="6559062" y="5477608"/>
            <a:ext cx="11166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A8417D-F766-4A4C-BE24-A83B8BA30B89}"/>
              </a:ext>
            </a:extLst>
          </p:cNvPr>
          <p:cNvSpPr txBox="1"/>
          <p:nvPr/>
        </p:nvSpPr>
        <p:spPr>
          <a:xfrm>
            <a:off x="8071338" y="5205046"/>
            <a:ext cx="38158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o objeto “primeiro” não armazena o primeiro elemento da lista, e sim é uma referência à célula </a:t>
            </a:r>
            <a:r>
              <a:rPr lang="pt-BR" i="1" dirty="0" err="1"/>
              <a:t>head</a:t>
            </a:r>
            <a:r>
              <a:rPr lang="pt-BR" dirty="0"/>
              <a:t> que referencia o primeiro elemento.</a:t>
            </a:r>
          </a:p>
        </p:txBody>
      </p:sp>
      <p:cxnSp>
        <p:nvCxnSpPr>
          <p:cNvPr id="34" name="Conector de seta reta 10">
            <a:extLst>
              <a:ext uri="{FF2B5EF4-FFF2-40B4-BE49-F238E27FC236}">
                <a16:creationId xmlns:a16="http://schemas.microsoft.com/office/drawing/2014/main" id="{3BC4D4B0-0541-4819-B943-5AF606984AE5}"/>
              </a:ext>
            </a:extLst>
          </p:cNvPr>
          <p:cNvCxnSpPr/>
          <p:nvPr/>
        </p:nvCxnSpPr>
        <p:spPr>
          <a:xfrm>
            <a:off x="5141295" y="285293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9DBED28-3B9D-4FDF-B6A8-69A98209F23A}"/>
              </a:ext>
            </a:extLst>
          </p:cNvPr>
          <p:cNvSpPr txBox="1"/>
          <p:nvPr/>
        </p:nvSpPr>
        <p:spPr>
          <a:xfrm>
            <a:off x="3929997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C4A09F9-453B-4EB5-B05E-3F8F41890AB4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D567E08-D3F6-4E40-87D6-1661C602CEE6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993333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071664" y="4643844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C67C09A-0F3F-4816-BEE3-083DD04B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51</a:t>
            </a:fld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11E02DE-8D3F-45FF-8210-6BA8FF0626A2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aux.prox.item.equals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(chave))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cxnSp>
        <p:nvCxnSpPr>
          <p:cNvPr id="32" name="Conector de seta reta 10">
            <a:extLst>
              <a:ext uri="{FF2B5EF4-FFF2-40B4-BE49-F238E27FC236}">
                <a16:creationId xmlns:a16="http://schemas.microsoft.com/office/drawing/2014/main" id="{32C1695D-62C7-45D5-8E07-9C7EBB47A08A}"/>
              </a:ext>
            </a:extLst>
          </p:cNvPr>
          <p:cNvCxnSpPr/>
          <p:nvPr/>
        </p:nvCxnSpPr>
        <p:spPr>
          <a:xfrm>
            <a:off x="5141295" y="285293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0C85420-7889-4F44-A109-28822996E37D}"/>
              </a:ext>
            </a:extLst>
          </p:cNvPr>
          <p:cNvSpPr txBox="1"/>
          <p:nvPr/>
        </p:nvSpPr>
        <p:spPr>
          <a:xfrm>
            <a:off x="3929997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BEBC3A2-D522-46DA-8083-81B9AC92593E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7A79813-0856-4D55-AA6B-DBAB97ECEC7B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623482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071664" y="4643844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C67C09A-0F3F-4816-BEE3-083DD04B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52</a:t>
            </a:fld>
            <a:endParaRPr lang="pt-BR"/>
          </a:p>
        </p:txBody>
      </p:sp>
      <p:cxnSp>
        <p:nvCxnSpPr>
          <p:cNvPr id="32" name="Conector de seta reta 10">
            <a:extLst>
              <a:ext uri="{FF2B5EF4-FFF2-40B4-BE49-F238E27FC236}">
                <a16:creationId xmlns:a16="http://schemas.microsoft.com/office/drawing/2014/main" id="{32C1695D-62C7-45D5-8E07-9C7EBB47A08A}"/>
              </a:ext>
            </a:extLst>
          </p:cNvPr>
          <p:cNvCxnSpPr/>
          <p:nvPr/>
        </p:nvCxnSpPr>
        <p:spPr>
          <a:xfrm>
            <a:off x="5141295" y="285293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0C85420-7889-4F44-A109-28822996E37D}"/>
              </a:ext>
            </a:extLst>
          </p:cNvPr>
          <p:cNvSpPr txBox="1"/>
          <p:nvPr/>
        </p:nvSpPr>
        <p:spPr>
          <a:xfrm>
            <a:off x="3929997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F46C31E-B6AA-40E8-A90F-4765DCBD0F06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q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95A078A-74E1-4718-9686-644F63C38875}"/>
              </a:ext>
            </a:extLst>
          </p:cNvPr>
          <p:cNvSpPr txBox="1"/>
          <p:nvPr/>
        </p:nvSpPr>
        <p:spPr>
          <a:xfrm>
            <a:off x="4988048" y="45452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A176AF7-F239-4ADE-8927-F40B1849A499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623DB0E-0811-4E51-BFA3-0A1ECD8DA176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838921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863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071664" y="4643844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C67C09A-0F3F-4816-BEE3-083DD04B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53</a:t>
            </a:fld>
            <a:endParaRPr lang="pt-BR"/>
          </a:p>
        </p:txBody>
      </p:sp>
      <p:cxnSp>
        <p:nvCxnSpPr>
          <p:cNvPr id="32" name="Conector de seta reta 10">
            <a:extLst>
              <a:ext uri="{FF2B5EF4-FFF2-40B4-BE49-F238E27FC236}">
                <a16:creationId xmlns:a16="http://schemas.microsoft.com/office/drawing/2014/main" id="{32C1695D-62C7-45D5-8E07-9C7EBB47A08A}"/>
              </a:ext>
            </a:extLst>
          </p:cNvPr>
          <p:cNvCxnSpPr/>
          <p:nvPr/>
        </p:nvCxnSpPr>
        <p:spPr>
          <a:xfrm>
            <a:off x="5141295" y="285293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0C85420-7889-4F44-A109-28822996E37D}"/>
              </a:ext>
            </a:extLst>
          </p:cNvPr>
          <p:cNvSpPr txBox="1"/>
          <p:nvPr/>
        </p:nvSpPr>
        <p:spPr>
          <a:xfrm>
            <a:off x="3929997" y="2420888"/>
            <a:ext cx="253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Elemento a ser removido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E2D1EEA-5EFF-4003-9D35-86D34437BE08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item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q.item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cxnSp>
        <p:nvCxnSpPr>
          <p:cNvPr id="36" name="Conector de seta reta 9">
            <a:extLst>
              <a:ext uri="{FF2B5EF4-FFF2-40B4-BE49-F238E27FC236}">
                <a16:creationId xmlns:a16="http://schemas.microsoft.com/office/drawing/2014/main" id="{D1416C69-09D6-4861-8714-33AA1A2BC6A3}"/>
              </a:ext>
            </a:extLst>
          </p:cNvPr>
          <p:cNvCxnSpPr/>
          <p:nvPr/>
        </p:nvCxnSpPr>
        <p:spPr>
          <a:xfrm>
            <a:off x="6717231" y="6174596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EE4E335-8534-4004-BA79-A9B31E9DD22A}"/>
              </a:ext>
            </a:extLst>
          </p:cNvPr>
          <p:cNvSpPr txBox="1"/>
          <p:nvPr/>
        </p:nvSpPr>
        <p:spPr>
          <a:xfrm>
            <a:off x="7941366" y="5704205"/>
            <a:ext cx="184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Recupera o objeto a ser removido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86F8155-8DFE-44BA-A625-44820D0500EC}"/>
              </a:ext>
            </a:extLst>
          </p:cNvPr>
          <p:cNvSpPr txBox="1"/>
          <p:nvPr/>
        </p:nvSpPr>
        <p:spPr>
          <a:xfrm>
            <a:off x="4988048" y="45452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650505C-F410-4BC6-969E-CE2DF49825A0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E606830-F9C7-4F10-B711-3EB404632CEE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92063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071664" y="4643844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C67C09A-0F3F-4816-BEE3-083DD04B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54</a:t>
            </a:fld>
            <a:endParaRPr lang="pt-BR"/>
          </a:p>
        </p:txBody>
      </p:sp>
      <p:cxnSp>
        <p:nvCxnSpPr>
          <p:cNvPr id="32" name="Conector de seta reta 10">
            <a:extLst>
              <a:ext uri="{FF2B5EF4-FFF2-40B4-BE49-F238E27FC236}">
                <a16:creationId xmlns:a16="http://schemas.microsoft.com/office/drawing/2014/main" id="{32C1695D-62C7-45D5-8E07-9C7EBB47A08A}"/>
              </a:ext>
            </a:extLst>
          </p:cNvPr>
          <p:cNvCxnSpPr/>
          <p:nvPr/>
        </p:nvCxnSpPr>
        <p:spPr>
          <a:xfrm>
            <a:off x="5141295" y="285293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0C85420-7889-4F44-A109-28822996E37D}"/>
              </a:ext>
            </a:extLst>
          </p:cNvPr>
          <p:cNvSpPr txBox="1"/>
          <p:nvPr/>
        </p:nvSpPr>
        <p:spPr>
          <a:xfrm>
            <a:off x="3929997" y="2420888"/>
            <a:ext cx="29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E3E177E-221A-4FA6-8515-428A75B79EDD}"/>
              </a:ext>
            </a:extLst>
          </p:cNvPr>
          <p:cNvSpPr txBox="1"/>
          <p:nvPr/>
        </p:nvSpPr>
        <p:spPr>
          <a:xfrm>
            <a:off x="4988048" y="45452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69BEEAF-9924-4D48-B5ED-61A29CD369CB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q.prox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4B78092-32CE-4794-AF0E-F841E8BD1D1C}"/>
              </a:ext>
            </a:extLst>
          </p:cNvPr>
          <p:cNvSpPr txBox="1"/>
          <p:nvPr/>
        </p:nvSpPr>
        <p:spPr>
          <a:xfrm>
            <a:off x="8097714" y="5766476"/>
            <a:ext cx="3938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Faça </a:t>
            </a:r>
            <a:r>
              <a:rPr lang="pt-BR" dirty="0" err="1"/>
              <a:t>aux.prox</a:t>
            </a:r>
            <a:r>
              <a:rPr lang="pt-BR" dirty="0"/>
              <a:t> referenciar o próximo </a:t>
            </a:r>
          </a:p>
          <a:p>
            <a:r>
              <a:rPr lang="pt-BR" dirty="0"/>
              <a:t>elemento da lista. Neste caso, o último elemento.</a:t>
            </a:r>
          </a:p>
        </p:txBody>
      </p:sp>
      <p:cxnSp>
        <p:nvCxnSpPr>
          <p:cNvPr id="39" name="Conector de seta reta 9">
            <a:extLst>
              <a:ext uri="{FF2B5EF4-FFF2-40B4-BE49-F238E27FC236}">
                <a16:creationId xmlns:a16="http://schemas.microsoft.com/office/drawing/2014/main" id="{C66EF984-7595-45CA-BF1D-B995107A40DA}"/>
              </a:ext>
            </a:extLst>
          </p:cNvPr>
          <p:cNvCxnSpPr/>
          <p:nvPr/>
        </p:nvCxnSpPr>
        <p:spPr>
          <a:xfrm>
            <a:off x="6717231" y="6174596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53DA0B5F-7C27-434D-98C4-F2F60DC0B01A}"/>
              </a:ext>
            </a:extLst>
          </p:cNvPr>
          <p:cNvCxnSpPr>
            <a:stCxn id="4" idx="5"/>
            <a:endCxn id="24" idx="3"/>
          </p:cNvCxnSpPr>
          <p:nvPr/>
        </p:nvCxnSpPr>
        <p:spPr>
          <a:xfrm rot="5400000" flipH="1" flipV="1">
            <a:off x="5182039" y="2750668"/>
            <a:ext cx="879" cy="2932724"/>
          </a:xfrm>
          <a:prstGeom prst="bentConnector3">
            <a:avLst>
              <a:gd name="adj1" fmla="val -428026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EB8D970-5C21-4D00-ACDB-9FC7F0FD3838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40C09A8-946B-4F95-8A0E-E0306D7FF95A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69569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Remoção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7365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659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501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501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696850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496928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709118" y="3788161"/>
            <a:ext cx="648072" cy="360040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071664" y="4643844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C67C09A-0F3F-4816-BEE3-083DD04B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55</a:t>
            </a:fld>
            <a:endParaRPr lang="pt-BR"/>
          </a:p>
        </p:txBody>
      </p:sp>
      <p:cxnSp>
        <p:nvCxnSpPr>
          <p:cNvPr id="32" name="Conector de seta reta 10">
            <a:extLst>
              <a:ext uri="{FF2B5EF4-FFF2-40B4-BE49-F238E27FC236}">
                <a16:creationId xmlns:a16="http://schemas.microsoft.com/office/drawing/2014/main" id="{32C1695D-62C7-45D5-8E07-9C7EBB47A08A}"/>
              </a:ext>
            </a:extLst>
          </p:cNvPr>
          <p:cNvCxnSpPr/>
          <p:nvPr/>
        </p:nvCxnSpPr>
        <p:spPr>
          <a:xfrm>
            <a:off x="5141295" y="285293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0C85420-7889-4F44-A109-28822996E37D}"/>
              </a:ext>
            </a:extLst>
          </p:cNvPr>
          <p:cNvSpPr txBox="1"/>
          <p:nvPr/>
        </p:nvSpPr>
        <p:spPr>
          <a:xfrm>
            <a:off x="3929997" y="2420888"/>
            <a:ext cx="29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E3E177E-221A-4FA6-8515-428A75B79EDD}"/>
              </a:ext>
            </a:extLst>
          </p:cNvPr>
          <p:cNvSpPr txBox="1"/>
          <p:nvPr/>
        </p:nvSpPr>
        <p:spPr>
          <a:xfrm>
            <a:off x="4988048" y="45452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53DA0B5F-7C27-434D-98C4-F2F60DC0B01A}"/>
              </a:ext>
            </a:extLst>
          </p:cNvPr>
          <p:cNvCxnSpPr>
            <a:stCxn id="4" idx="5"/>
            <a:endCxn id="24" idx="3"/>
          </p:cNvCxnSpPr>
          <p:nvPr/>
        </p:nvCxnSpPr>
        <p:spPr>
          <a:xfrm rot="5400000" flipH="1" flipV="1">
            <a:off x="5182039" y="2750668"/>
            <a:ext cx="879" cy="2932724"/>
          </a:xfrm>
          <a:prstGeom prst="bentConnector3">
            <a:avLst>
              <a:gd name="adj1" fmla="val -428026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951DFCE7-59C8-447A-B6BF-E4715A6573B0}"/>
              </a:ext>
            </a:extLst>
          </p:cNvPr>
          <p:cNvSpPr/>
          <p:nvPr/>
        </p:nvSpPr>
        <p:spPr>
          <a:xfrm>
            <a:off x="0" y="4930118"/>
            <a:ext cx="68441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item;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77AA2A9-133C-485A-871E-A71500364B3C}"/>
              </a:ext>
            </a:extLst>
          </p:cNvPr>
          <p:cNvSpPr txBox="1"/>
          <p:nvPr/>
        </p:nvSpPr>
        <p:spPr>
          <a:xfrm>
            <a:off x="6328076" y="2924944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8CF033F-C3C0-4159-A001-92CE42BEC016}"/>
              </a:ext>
            </a:extLst>
          </p:cNvPr>
          <p:cNvSpPr txBox="1"/>
          <p:nvPr/>
        </p:nvSpPr>
        <p:spPr>
          <a:xfrm>
            <a:off x="4988487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A12F22B-3214-4869-874F-B3AE6669864D}"/>
              </a:ext>
            </a:extLst>
          </p:cNvPr>
          <p:cNvSpPr txBox="1"/>
          <p:nvPr/>
        </p:nvSpPr>
        <p:spPr>
          <a:xfrm>
            <a:off x="6831396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810692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423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423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639617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6192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567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60239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6023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6370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2196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5231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8733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9408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7869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7869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8242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8065002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865080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7077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4223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4223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4583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4194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3431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279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8E558C-0206-4082-B839-1D14CB20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56</a:t>
            </a:fld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20EF1A9-46F0-4B43-BF12-84D5E75A5CC4}"/>
              </a:ext>
            </a:extLst>
          </p:cNvPr>
          <p:cNvSpPr/>
          <p:nvPr/>
        </p:nvSpPr>
        <p:spPr>
          <a:xfrm>
            <a:off x="99481" y="4984936"/>
            <a:ext cx="65725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pesquisa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   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400948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423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423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639617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6192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567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60239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6023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6370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2196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5231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8733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9408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7869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7869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8242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8065002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865080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7077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42237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4223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4583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4194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3431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279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619042" y="4571836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F1691C94-9060-41B6-863C-9DCF72B0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57</a:t>
            </a:fld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A836BD33-50FA-4120-9269-B8A17169D229}"/>
              </a:ext>
            </a:extLst>
          </p:cNvPr>
          <p:cNvSpPr/>
          <p:nvPr/>
        </p:nvSpPr>
        <p:spPr>
          <a:xfrm>
            <a:off x="99481" y="4984936"/>
            <a:ext cx="65725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pesquisa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   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8173424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423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423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639617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6192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567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60239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6023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6370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2196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5231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8733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9408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7869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7869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8242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8065002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865080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7077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42237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4223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4583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4194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3431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279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619042" y="4571836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7C21786-0429-474D-B577-19724BDF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58</a:t>
            </a:fld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5EF9973C-D93D-4DB1-9DE9-973E85166331}"/>
              </a:ext>
            </a:extLst>
          </p:cNvPr>
          <p:cNvSpPr/>
          <p:nvPr/>
        </p:nvSpPr>
        <p:spPr>
          <a:xfrm>
            <a:off x="99481" y="4984936"/>
            <a:ext cx="65725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pesquisa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if (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aux.prox.item.equals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))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   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8053408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423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423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639617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6192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567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6023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6023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6370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2196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5231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8733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9408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7869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7869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8242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8065002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865080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7077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4223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4223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4583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4194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3431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279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439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517C0CC7-3DF7-4C1A-B580-46AC6E0B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59</a:t>
            </a:fld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EE69605C-255D-4116-9C95-9135910E155E}"/>
              </a:ext>
            </a:extLst>
          </p:cNvPr>
          <p:cNvSpPr/>
          <p:nvPr/>
        </p:nvSpPr>
        <p:spPr>
          <a:xfrm>
            <a:off x="99481" y="4984936"/>
            <a:ext cx="65725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pesquisa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   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9429884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423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423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639617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6192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567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6023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6023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6370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2196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5231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8733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9408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7869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7869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8242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8065002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865080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7077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4223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4223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4583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4194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3431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279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439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544626BE-2E6E-47C5-9F46-3490BEC9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60</a:t>
            </a:fld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B7F1DB0-7212-45B4-8502-2D47315533CD}"/>
              </a:ext>
            </a:extLst>
          </p:cNvPr>
          <p:cNvSpPr/>
          <p:nvPr/>
        </p:nvSpPr>
        <p:spPr>
          <a:xfrm>
            <a:off x="99481" y="4984936"/>
            <a:ext cx="65725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pesquisa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   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9336394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2423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423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639617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6192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567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6023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6023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6370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2196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5231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8733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9408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7869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7869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8242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8065002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865080" y="4365967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7077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4223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4223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4583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419436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3431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279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</a:t>
            </a:r>
            <a:r>
              <a:rPr lang="pt-BR" dirty="0">
                <a:solidFill>
                  <a:srgbClr val="FF0000"/>
                </a:solidFill>
              </a:rPr>
              <a:t>2</a:t>
            </a:r>
            <a:r>
              <a:rPr lang="pt-BR" dirty="0"/>
              <a:t>);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439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E5ABEA6-D51D-4513-AED9-4B2C7BAD4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61</a:t>
            </a:fld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052A9EB-0B32-4BD2-BB40-BD5C300241F1}"/>
              </a:ext>
            </a:extLst>
          </p:cNvPr>
          <p:cNvSpPr/>
          <p:nvPr/>
        </p:nvSpPr>
        <p:spPr>
          <a:xfrm>
            <a:off x="99481" y="4984936"/>
            <a:ext cx="65725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pesquisa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if (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aux.prox.item.equals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)) return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aux.prox.item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   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1359111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classe Lista contém: </a:t>
            </a:r>
          </a:p>
          <a:p>
            <a:pPr lvl="1"/>
            <a:r>
              <a:rPr lang="pt-BR" dirty="0"/>
              <a:t>uma referência para a célula </a:t>
            </a:r>
            <a:r>
              <a:rPr lang="pt-BR" i="1" dirty="0" err="1"/>
              <a:t>head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uma referência para a última célula da lista; e </a:t>
            </a:r>
          </a:p>
          <a:p>
            <a:pPr lvl="1"/>
            <a:r>
              <a:rPr lang="pt-BR" dirty="0"/>
              <a:t>uma referência para armazenar a posição corrente na lista.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B66AB9-CD20-4BDB-9BD1-48898C4E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9078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Filas usando Estruturas Auto Referenciadas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84781F3-C939-4B5A-AD2A-FE6B70B0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63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77A78A9-3BC2-4CE9-8AAD-56043FF32025}"/>
              </a:ext>
            </a:extLst>
          </p:cNvPr>
          <p:cNvSpPr/>
          <p:nvPr/>
        </p:nvSpPr>
        <p:spPr>
          <a:xfrm>
            <a:off x="838200" y="1290628"/>
            <a:ext cx="9973407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Lista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Object </a:t>
            </a:r>
            <a:r>
              <a:rPr lang="en-US" sz="14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Lista () {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();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  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pesquisa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() ||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pPr lvl="2"/>
            <a:r>
              <a:rPr lang="en-US" sz="14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   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insere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();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0A188D6-B8E6-4F52-82EA-DD68214CADC4}"/>
              </a:ext>
            </a:extLst>
          </p:cNvPr>
          <p:cNvCxnSpPr/>
          <p:nvPr/>
        </p:nvCxnSpPr>
        <p:spPr>
          <a:xfrm flipH="1">
            <a:off x="4189621" y="1690688"/>
            <a:ext cx="1048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AC0606-940F-4A06-955C-D7198676369C}"/>
              </a:ext>
            </a:extLst>
          </p:cNvPr>
          <p:cNvSpPr txBox="1"/>
          <p:nvPr/>
        </p:nvSpPr>
        <p:spPr>
          <a:xfrm>
            <a:off x="5381927" y="1211217"/>
            <a:ext cx="5809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a classe Lista contém a classe “</a:t>
            </a:r>
            <a:r>
              <a:rPr lang="pt-BR" dirty="0" err="1"/>
              <a:t>Celula</a:t>
            </a:r>
            <a:r>
              <a:rPr lang="pt-BR" dirty="0"/>
              <a:t>”. Esta classe possui um objeto item (tipo genérico) e um objeto “</a:t>
            </a:r>
            <a:r>
              <a:rPr lang="pt-BR" dirty="0" err="1"/>
              <a:t>prox</a:t>
            </a:r>
            <a:r>
              <a:rPr lang="pt-BR" dirty="0"/>
              <a:t>” que é uma referência para a própria classe “</a:t>
            </a:r>
            <a:r>
              <a:rPr lang="pt-BR" dirty="0" err="1"/>
              <a:t>Celula</a:t>
            </a:r>
            <a:r>
              <a:rPr lang="pt-BR" dirty="0"/>
              <a:t>”. 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F3F33CE-5DEB-43B6-B6DF-F944D75EA606}"/>
              </a:ext>
            </a:extLst>
          </p:cNvPr>
          <p:cNvCxnSpPr/>
          <p:nvPr/>
        </p:nvCxnSpPr>
        <p:spPr>
          <a:xfrm flipH="1">
            <a:off x="5047129" y="2537124"/>
            <a:ext cx="1048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8F567573-0BDA-4376-90B3-C84164860AD4}"/>
              </a:ext>
            </a:extLst>
          </p:cNvPr>
          <p:cNvSpPr txBox="1"/>
          <p:nvPr/>
        </p:nvSpPr>
        <p:spPr>
          <a:xfrm>
            <a:off x="6239435" y="2213958"/>
            <a:ext cx="5809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Objetos do tipo “</a:t>
            </a:r>
            <a:r>
              <a:rPr lang="pt-BR" dirty="0" err="1"/>
              <a:t>Celula</a:t>
            </a:r>
            <a:r>
              <a:rPr lang="pt-BR" dirty="0"/>
              <a:t>”, sempre irão fazer referência ao tipo célula.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1A8307A-D5C4-4DA3-83ED-88CD5B5AC934}"/>
              </a:ext>
            </a:extLst>
          </p:cNvPr>
          <p:cNvCxnSpPr/>
          <p:nvPr/>
        </p:nvCxnSpPr>
        <p:spPr>
          <a:xfrm flipH="1">
            <a:off x="7129268" y="3115553"/>
            <a:ext cx="1048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AE277C9-B303-49B3-AEA1-457A5B83241B}"/>
              </a:ext>
            </a:extLst>
          </p:cNvPr>
          <p:cNvSpPr txBox="1"/>
          <p:nvPr/>
        </p:nvSpPr>
        <p:spPr>
          <a:xfrm>
            <a:off x="8321574" y="2792387"/>
            <a:ext cx="3520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Criando uma Lista vazia. Observe que “primeiro” é igual a “ultimo”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B1DFB16-B137-47F8-AA49-0F18578C1778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42849898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Filas usando Estruturas Auto Referenciadas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84781F3-C939-4B5A-AD2A-FE6B70B0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64</a:t>
            </a:fld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A3218F-E050-4020-B84B-C1F6E4106946}"/>
              </a:ext>
            </a:extLst>
          </p:cNvPr>
          <p:cNvSpPr/>
          <p:nvPr/>
        </p:nvSpPr>
        <p:spPr>
          <a:xfrm>
            <a:off x="838200" y="1279525"/>
            <a:ext cx="9914792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Insere antes do primeiro item da lista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inserePrimeiro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||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Lista vazia ou chave invalida"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C2007CB-D104-46B5-A0ED-5B6727764B70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26314420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Filas usando Estruturas Auto Referenciadas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84781F3-C939-4B5A-AD2A-FE6B70B0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65</a:t>
            </a:fld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609C08A-C140-45FD-ABCD-9BB0DCEB2483}"/>
              </a:ext>
            </a:extLst>
          </p:cNvPr>
          <p:cNvSpPr/>
          <p:nvPr/>
        </p:nvSpPr>
        <p:spPr>
          <a:xfrm>
            <a:off x="838200" y="1425763"/>
            <a:ext cx="980635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retiraPrimeiro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())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Exception 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Erro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Lista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vazia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  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vazia () {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ultimo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}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imprime 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i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i="1" dirty="0">
                <a:solidFill>
                  <a:srgbClr val="000000"/>
                </a:solidFill>
                <a:latin typeface="Consolas" panose="020B0609020204030204" pitchFamily="49" charset="0"/>
              </a:rPr>
              <a:t> ()); </a:t>
            </a:r>
            <a:r>
              <a:rPr lang="pt-BR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i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estaNaLista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obj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.pesquisa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obj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502A83-36C1-4DA1-9D58-7A6010A6884D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3670813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Filas usando Estruturas Auto Referenciadas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84781F3-C939-4B5A-AD2A-FE6B70B0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66</a:t>
            </a:fld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609C08A-C140-45FD-ABCD-9BB0DCEB2483}"/>
              </a:ext>
            </a:extLst>
          </p:cNvPr>
          <p:cNvSpPr/>
          <p:nvPr/>
        </p:nvSpPr>
        <p:spPr>
          <a:xfrm>
            <a:off x="838200" y="1425763"/>
            <a:ext cx="980635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primeiro 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Retorna o primeiro item da lista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primeiro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.proximo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proximo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pt-BR" u="sng" dirty="0">
                <a:solidFill>
                  <a:srgbClr val="3F7F5F"/>
                </a:solidFill>
                <a:latin typeface="Consolas" panose="020B0609020204030204" pitchFamily="49" charset="0"/>
              </a:rPr>
              <a:t>Retorna o próximo item da lista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pos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E5F3BE2-FA2E-4E54-9617-FADDA0BA6A50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556511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9E52A-01A1-4C69-B3CD-1F928706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da Lista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635478-5E60-4894-896E-A2A5B7FF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67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0B0AA21-0500-4B9E-BAE3-9F047C9F6AEC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1F8103-3D9C-4B80-B30D-9E9AFC94C3A7}"/>
              </a:ext>
            </a:extLst>
          </p:cNvPr>
          <p:cNvSpPr/>
          <p:nvPr/>
        </p:nvSpPr>
        <p:spPr>
          <a:xfrm>
            <a:off x="838200" y="1297109"/>
            <a:ext cx="891833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TestaLista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Lista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Lista();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Integer </a:t>
            </a:r>
            <a:r>
              <a:rPr lang="sv-SE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sv-SE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Integer[1000];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random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Gera uma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permutacao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aleatoria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 de chaves entre 0 e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max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 - 1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random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 %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random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 %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67C721C-F923-4FAD-B670-3DF714E73673}"/>
              </a:ext>
            </a:extLst>
          </p:cNvPr>
          <p:cNvSpPr txBox="1"/>
          <p:nvPr/>
        </p:nvSpPr>
        <p:spPr>
          <a:xfrm>
            <a:off x="8767485" y="1690688"/>
            <a:ext cx="2490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Utilize a classe ao lado para testar a Lista por vetor e com estruturas auto referenciadas</a:t>
            </a:r>
          </a:p>
        </p:txBody>
      </p:sp>
    </p:spTree>
    <p:extLst>
      <p:ext uri="{BB962C8B-B14F-4D97-AF65-F5344CB8AC3E}">
        <p14:creationId xmlns:p14="http://schemas.microsoft.com/office/powerpoint/2010/main" val="40045938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9E52A-01A1-4C69-B3CD-1F928706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da Lista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635478-5E60-4894-896E-A2A5B7FF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68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3A4D925-FA0A-4A9D-B868-164E0DFBAEF8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4E63D9B-40DB-4A6F-B820-5F5A403E85EE}"/>
              </a:ext>
            </a:extLst>
          </p:cNvPr>
          <p:cNvSpPr/>
          <p:nvPr/>
        </p:nvSpPr>
        <p:spPr>
          <a:xfrm>
            <a:off x="933760" y="1307190"/>
            <a:ext cx="872019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Insere cada chave na lista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.insere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"Inseriu 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.imprime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Pesquisa cada chave da lista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.pesquisa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"Item: 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Pesquisa sem sucesso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.pesquisa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(100));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"Item 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nao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 encontrado"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5367982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9E52A-01A1-4C69-B3CD-1F928706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da Lista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635478-5E60-4894-896E-A2A5B7FF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69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CE9108B-0A24-4B74-9C30-A72055AF5459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35B04C-DE08-4304-9424-114856F8314E}"/>
              </a:ext>
            </a:extLst>
          </p:cNvPr>
          <p:cNvSpPr/>
          <p:nvPr/>
        </p:nvSpPr>
        <p:spPr>
          <a:xfrm>
            <a:off x="838200" y="1690688"/>
            <a:ext cx="7772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Retira cada chave da lista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.retira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"Retirou: 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.retiraPrimeiro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.getMessage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.imprime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79396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Vantagem:</a:t>
            </a:r>
          </a:p>
          <a:p>
            <a:pPr lvl="1"/>
            <a:r>
              <a:rPr lang="pt-BR" dirty="0"/>
              <a:t>Permite inserir ou retirar itens do meio da lista a um custo constante</a:t>
            </a:r>
          </a:p>
          <a:p>
            <a:pPr lvl="2"/>
            <a:r>
              <a:rPr lang="pt-BR" dirty="0"/>
              <a:t>importante para lista de </a:t>
            </a:r>
            <a:r>
              <a:rPr lang="pt-BR"/>
              <a:t>elementos ordenados.</a:t>
            </a:r>
            <a:endParaRPr lang="pt-BR" dirty="0"/>
          </a:p>
          <a:p>
            <a:pPr lvl="1"/>
            <a:r>
              <a:rPr lang="pt-BR" dirty="0"/>
              <a:t>Bom para aplicações em que não existe previsão sobre o crescimento da lista</a:t>
            </a:r>
          </a:p>
          <a:p>
            <a:pPr lvl="2"/>
            <a:r>
              <a:rPr lang="pt-BR" dirty="0"/>
              <a:t>o tamanho máximo da lista não precisa ser definido.</a:t>
            </a:r>
          </a:p>
          <a:p>
            <a:endParaRPr lang="pt-BR" dirty="0"/>
          </a:p>
          <a:p>
            <a:r>
              <a:rPr lang="pt-BR" dirty="0"/>
              <a:t>Desvantagens:</a:t>
            </a:r>
          </a:p>
          <a:p>
            <a:pPr lvl="1"/>
            <a:r>
              <a:rPr lang="pt-BR" dirty="0"/>
              <a:t>utilização de memória extra para armazenar as referências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3617EB-336E-4314-8F3A-AD279975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11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Implementar classe Lista (por vetor) e Lista (encadeada), e implementar, para cada tipo de lista, um programa que:</a:t>
            </a:r>
          </a:p>
          <a:p>
            <a:pPr lvl="1"/>
            <a:r>
              <a:rPr lang="pt-BR" dirty="0"/>
              <a:t>Construa a lista vazia;</a:t>
            </a:r>
          </a:p>
          <a:p>
            <a:pPr lvl="1"/>
            <a:r>
              <a:rPr lang="pt-BR" dirty="0"/>
              <a:t>Insira novos elementos na lista;</a:t>
            </a:r>
          </a:p>
          <a:p>
            <a:pPr lvl="1"/>
            <a:r>
              <a:rPr lang="pt-BR" dirty="0"/>
              <a:t>Pesquisa um elemento;</a:t>
            </a:r>
          </a:p>
          <a:p>
            <a:pPr lvl="1"/>
            <a:r>
              <a:rPr lang="pt-BR" dirty="0"/>
              <a:t>Retire um elemento.</a:t>
            </a:r>
          </a:p>
          <a:p>
            <a:r>
              <a:rPr lang="pt-BR" dirty="0"/>
              <a:t>Para a Lista (por vetor), implemente uma função para realocar o tamanho do vetor de itens da lista.</a:t>
            </a:r>
          </a:p>
          <a:p>
            <a:r>
              <a:rPr lang="pt-BR" dirty="0"/>
              <a:t>Implemente uma função para Lista (Lista encadeada) para inserir um elemento em qualquer posição da lista ordenada.</a:t>
            </a:r>
          </a:p>
          <a:p>
            <a:pPr lvl="1"/>
            <a:r>
              <a:rPr lang="pt-BR" dirty="0"/>
              <a:t>Crie a lista com os elementos: 1, 2, 3, 5, 6.</a:t>
            </a:r>
          </a:p>
          <a:p>
            <a:pPr lvl="1"/>
            <a:r>
              <a:rPr lang="pt-BR" dirty="0"/>
              <a:t>Insira o elemento 4 de forma ordenada na lista.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6D674F-6117-462B-BEF8-A0C9C88A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0058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Operações de remoção de uma elemento indica um problema inerente às listas ligadas.</a:t>
            </a:r>
          </a:p>
          <a:p>
            <a:endParaRPr lang="pt-BR" dirty="0"/>
          </a:p>
          <a:p>
            <a:r>
              <a:rPr lang="pt-BR" dirty="0"/>
              <a:t>As células das listas contém apenas a referência para os seus sucessores. </a:t>
            </a:r>
          </a:p>
          <a:p>
            <a:endParaRPr lang="pt-BR" dirty="0"/>
          </a:p>
          <a:p>
            <a:r>
              <a:rPr lang="pt-BR" dirty="0"/>
              <a:t>Não existe um acesso imediato aos seus predecessores.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FBF448-4885-4CC0-A42C-681A853E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8770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remover o último elemento da lista deve-se percorrer toda a lista até encontrar o penúltimo elemento. </a:t>
            </a:r>
          </a:p>
          <a:p>
            <a:endParaRPr lang="pt-BR" dirty="0"/>
          </a:p>
          <a:p>
            <a:r>
              <a:rPr lang="pt-BR" dirty="0"/>
              <a:t>Para listas longas e muita utilização da remoção do ultimo elemento, podem impactar no processamento rápido da lista.  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0F40AA-C1C0-4487-A08B-742E991A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4048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listas duplamente ligadas (ou duplamente encadeadas) cada célula da lista contem duas referências:</a:t>
            </a:r>
          </a:p>
          <a:p>
            <a:pPr lvl="1"/>
            <a:r>
              <a:rPr lang="pt-BR" dirty="0"/>
              <a:t>Uma para o sucessor (igual nas listas ligadas)</a:t>
            </a:r>
          </a:p>
          <a:p>
            <a:pPr lvl="1"/>
            <a:r>
              <a:rPr lang="pt-BR" dirty="0"/>
              <a:t>Outra para o predecessor. </a:t>
            </a:r>
          </a:p>
        </p:txBody>
      </p:sp>
      <p:cxnSp>
        <p:nvCxnSpPr>
          <p:cNvPr id="20" name="Conector em curva 19"/>
          <p:cNvCxnSpPr/>
          <p:nvPr/>
        </p:nvCxnSpPr>
        <p:spPr>
          <a:xfrm flipV="1">
            <a:off x="3935760" y="4926069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em curva 20"/>
          <p:cNvCxnSpPr/>
          <p:nvPr/>
        </p:nvCxnSpPr>
        <p:spPr>
          <a:xfrm flipV="1">
            <a:off x="5708340" y="4899937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em curva 21"/>
          <p:cNvCxnSpPr/>
          <p:nvPr/>
        </p:nvCxnSpPr>
        <p:spPr>
          <a:xfrm flipV="1">
            <a:off x="7459873" y="4899937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2999656" y="566124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07946" y="5662990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grpSp>
        <p:nvGrpSpPr>
          <p:cNvPr id="71" name="Grupo 70"/>
          <p:cNvGrpSpPr/>
          <p:nvPr/>
        </p:nvGrpSpPr>
        <p:grpSpPr>
          <a:xfrm>
            <a:off x="4655840" y="4653137"/>
            <a:ext cx="1008112" cy="1009853"/>
            <a:chOff x="3059832" y="4653136"/>
            <a:chExt cx="1008112" cy="1009853"/>
          </a:xfrm>
        </p:grpSpPr>
        <p:sp>
          <p:nvSpPr>
            <p:cNvPr id="7" name="CaixaDeTexto 6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" name="Conector reto 8"/>
            <p:cNvCxnSpPr>
              <a:stCxn id="8" idx="2"/>
              <a:endCxn id="8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aixaDeTexto 26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34" name="Conector reto 33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upo 71"/>
          <p:cNvGrpSpPr/>
          <p:nvPr/>
        </p:nvGrpSpPr>
        <p:grpSpPr>
          <a:xfrm>
            <a:off x="6384032" y="4653137"/>
            <a:ext cx="1008112" cy="1009853"/>
            <a:chOff x="3059832" y="4653136"/>
            <a:chExt cx="1008112" cy="1009853"/>
          </a:xfrm>
        </p:grpSpPr>
        <p:sp>
          <p:nvSpPr>
            <p:cNvPr id="73" name="CaixaDeTexto 72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74" name="Elipse 73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5" name="Conector reto 74"/>
            <p:cNvCxnSpPr>
              <a:stCxn id="74" idx="2"/>
              <a:endCxn id="74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CaixaDeTexto 76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78" name="Conector reto 77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upo 78"/>
          <p:cNvGrpSpPr/>
          <p:nvPr/>
        </p:nvGrpSpPr>
        <p:grpSpPr>
          <a:xfrm>
            <a:off x="8112224" y="4653137"/>
            <a:ext cx="1008112" cy="1009853"/>
            <a:chOff x="3059832" y="4653136"/>
            <a:chExt cx="1008112" cy="1009853"/>
          </a:xfrm>
        </p:grpSpPr>
        <p:sp>
          <p:nvSpPr>
            <p:cNvPr id="80" name="CaixaDeTexto 79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81" name="Elipse 80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2" name="Conector reto 81"/>
            <p:cNvCxnSpPr>
              <a:stCxn id="81" idx="2"/>
              <a:endCxn id="81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CaixaDeTexto 83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85" name="Conector reto 84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upo 85"/>
          <p:cNvGrpSpPr/>
          <p:nvPr/>
        </p:nvGrpSpPr>
        <p:grpSpPr>
          <a:xfrm>
            <a:off x="2855640" y="4653137"/>
            <a:ext cx="1008112" cy="1009853"/>
            <a:chOff x="3059832" y="4653136"/>
            <a:chExt cx="1008112" cy="1009853"/>
          </a:xfrm>
        </p:grpSpPr>
        <p:sp>
          <p:nvSpPr>
            <p:cNvPr id="87" name="CaixaDeTexto 86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88" name="Elipse 87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9" name="Conector reto 88"/>
            <p:cNvCxnSpPr>
              <a:stCxn id="88" idx="2"/>
              <a:endCxn id="88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CaixaDeTexto 89"/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92" name="Conector reto 91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4" name="Conector em curva 93"/>
          <p:cNvCxnSpPr/>
          <p:nvPr/>
        </p:nvCxnSpPr>
        <p:spPr>
          <a:xfrm rot="10800000">
            <a:off x="3935760" y="4926071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em curva 94"/>
          <p:cNvCxnSpPr/>
          <p:nvPr/>
        </p:nvCxnSpPr>
        <p:spPr>
          <a:xfrm rot="10800000">
            <a:off x="5663952" y="4934201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em curva 95"/>
          <p:cNvCxnSpPr/>
          <p:nvPr/>
        </p:nvCxnSpPr>
        <p:spPr>
          <a:xfrm rot="10800000">
            <a:off x="7392144" y="4941169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de seta reta 97"/>
          <p:cNvCxnSpPr/>
          <p:nvPr/>
        </p:nvCxnSpPr>
        <p:spPr>
          <a:xfrm flipH="1">
            <a:off x="2279576" y="5509100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de seta reta 99"/>
          <p:cNvCxnSpPr/>
          <p:nvPr/>
        </p:nvCxnSpPr>
        <p:spPr>
          <a:xfrm>
            <a:off x="9192344" y="5286109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/>
          <p:cNvSpPr txBox="1"/>
          <p:nvPr/>
        </p:nvSpPr>
        <p:spPr>
          <a:xfrm>
            <a:off x="9739692" y="508518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102" name="CaixaDeTexto 101"/>
          <p:cNvSpPr txBox="1"/>
          <p:nvPr/>
        </p:nvSpPr>
        <p:spPr>
          <a:xfrm>
            <a:off x="1631504" y="530120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60CA06-BB51-4E7F-AFF0-5CFE3E08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74</a:t>
            </a:fld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D6E7155-C018-4AAB-A623-4A1AE729F9C1}"/>
              </a:ext>
            </a:extLst>
          </p:cNvPr>
          <p:cNvSpPr txBox="1"/>
          <p:nvPr/>
        </p:nvSpPr>
        <p:spPr>
          <a:xfrm>
            <a:off x="4975852" y="4779151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D481D952-086D-4573-BC37-30173422EEDB}"/>
              </a:ext>
            </a:extLst>
          </p:cNvPr>
          <p:cNvSpPr txBox="1"/>
          <p:nvPr/>
        </p:nvSpPr>
        <p:spPr>
          <a:xfrm>
            <a:off x="6703952" y="479715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B8C2F065-6735-4E3B-84B3-4932C5B0A055}"/>
              </a:ext>
            </a:extLst>
          </p:cNvPr>
          <p:cNvSpPr txBox="1"/>
          <p:nvPr/>
        </p:nvSpPr>
        <p:spPr>
          <a:xfrm>
            <a:off x="8433582" y="480775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545850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612776"/>
          </a:xfrm>
        </p:spPr>
        <p:txBody>
          <a:bodyPr/>
          <a:lstStyle/>
          <a:p>
            <a:r>
              <a:rPr lang="pt-BR" dirty="0"/>
              <a:t>Inserção de um novo elemento a lista:</a:t>
            </a:r>
          </a:p>
          <a:p>
            <a:pPr lvl="1"/>
            <a:r>
              <a:rPr lang="pt-BR" dirty="0"/>
              <a:t>Lista com dois elementos:</a:t>
            </a:r>
          </a:p>
          <a:p>
            <a:endParaRPr lang="pt-BR" dirty="0"/>
          </a:p>
        </p:txBody>
      </p:sp>
      <p:cxnSp>
        <p:nvCxnSpPr>
          <p:cNvPr id="44" name="Conector em curva 43"/>
          <p:cNvCxnSpPr/>
          <p:nvPr/>
        </p:nvCxnSpPr>
        <p:spPr>
          <a:xfrm flipV="1">
            <a:off x="3935760" y="44220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em curva 45"/>
          <p:cNvCxnSpPr/>
          <p:nvPr/>
        </p:nvCxnSpPr>
        <p:spPr>
          <a:xfrm flipV="1">
            <a:off x="5803689" y="439588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2999656" y="515719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6451762" y="5158934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grpSp>
        <p:nvGrpSpPr>
          <p:cNvPr id="49" name="Grupo 48"/>
          <p:cNvGrpSpPr/>
          <p:nvPr/>
        </p:nvGrpSpPr>
        <p:grpSpPr>
          <a:xfrm>
            <a:off x="4655840" y="4149081"/>
            <a:ext cx="1008112" cy="1009853"/>
            <a:chOff x="3059832" y="4653136"/>
            <a:chExt cx="1008112" cy="1009853"/>
          </a:xfrm>
        </p:grpSpPr>
        <p:sp>
          <p:nvSpPr>
            <p:cNvPr id="50" name="CaixaDeTexto 49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51" name="Elipse 50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2" name="Conector reto 51"/>
            <p:cNvCxnSpPr>
              <a:stCxn id="51" idx="2"/>
              <a:endCxn id="51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CaixaDeTexto 53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55" name="Conector reto 54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o 62"/>
          <p:cNvGrpSpPr/>
          <p:nvPr/>
        </p:nvGrpSpPr>
        <p:grpSpPr>
          <a:xfrm>
            <a:off x="6456040" y="4149081"/>
            <a:ext cx="1008112" cy="1009853"/>
            <a:chOff x="3059832" y="4653136"/>
            <a:chExt cx="1008112" cy="1009853"/>
          </a:xfrm>
        </p:grpSpPr>
        <p:sp>
          <p:nvSpPr>
            <p:cNvPr id="64" name="CaixaDeTexto 63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65" name="Elipse 64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6" name="Conector reto 65"/>
            <p:cNvCxnSpPr>
              <a:stCxn id="65" idx="2"/>
              <a:endCxn id="65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aixaDeTexto 67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69" name="Conector reto 68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upo 69"/>
          <p:cNvGrpSpPr/>
          <p:nvPr/>
        </p:nvGrpSpPr>
        <p:grpSpPr>
          <a:xfrm>
            <a:off x="2855640" y="4149081"/>
            <a:ext cx="1008112" cy="1009853"/>
            <a:chOff x="3059832" y="4653136"/>
            <a:chExt cx="1008112" cy="1009853"/>
          </a:xfrm>
        </p:grpSpPr>
        <p:sp>
          <p:nvSpPr>
            <p:cNvPr id="71" name="CaixaDeTexto 70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72" name="Elipse 71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3" name="Conector reto 72"/>
            <p:cNvCxnSpPr>
              <a:stCxn id="72" idx="2"/>
              <a:endCxn id="72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aixaDeTexto 73"/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75" name="CaixaDeTexto 74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76" name="Conector reto 75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Conector em curva 76"/>
          <p:cNvCxnSpPr/>
          <p:nvPr/>
        </p:nvCxnSpPr>
        <p:spPr>
          <a:xfrm rot="10800000">
            <a:off x="3935760" y="4422015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em curva 78"/>
          <p:cNvCxnSpPr/>
          <p:nvPr/>
        </p:nvCxnSpPr>
        <p:spPr>
          <a:xfrm rot="10800000">
            <a:off x="57359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2279576" y="5005044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1631504" y="4797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7536160" y="4782053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8083508" y="45811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2F4FE1-DA1C-45FB-B1D9-D9FB96D25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75</a:t>
            </a:fld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AEAC01A-C90E-4022-B593-A04C403ED362}"/>
              </a:ext>
            </a:extLst>
          </p:cNvPr>
          <p:cNvSpPr txBox="1"/>
          <p:nvPr/>
        </p:nvSpPr>
        <p:spPr>
          <a:xfrm>
            <a:off x="4968274" y="429476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A55DE62-1B4B-426F-80A6-6869872C0EA2}"/>
              </a:ext>
            </a:extLst>
          </p:cNvPr>
          <p:cNvSpPr txBox="1"/>
          <p:nvPr/>
        </p:nvSpPr>
        <p:spPr>
          <a:xfrm>
            <a:off x="6765365" y="429723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58637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612776"/>
          </a:xfrm>
        </p:spPr>
        <p:txBody>
          <a:bodyPr/>
          <a:lstStyle/>
          <a:p>
            <a:r>
              <a:rPr lang="pt-BR" dirty="0"/>
              <a:t>Inserção de um novo elemento a lista:</a:t>
            </a:r>
          </a:p>
          <a:p>
            <a:pPr lvl="1"/>
            <a:r>
              <a:rPr lang="pt-BR" dirty="0"/>
              <a:t>Uma nova célula é criada e seus três atributos são inicializados:</a:t>
            </a:r>
          </a:p>
          <a:p>
            <a:endParaRPr lang="pt-BR" dirty="0"/>
          </a:p>
        </p:txBody>
      </p:sp>
      <p:cxnSp>
        <p:nvCxnSpPr>
          <p:cNvPr id="44" name="Conector em curva 43"/>
          <p:cNvCxnSpPr/>
          <p:nvPr/>
        </p:nvCxnSpPr>
        <p:spPr>
          <a:xfrm flipV="1">
            <a:off x="3935760" y="44220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em curva 45"/>
          <p:cNvCxnSpPr/>
          <p:nvPr/>
        </p:nvCxnSpPr>
        <p:spPr>
          <a:xfrm flipV="1">
            <a:off x="5803689" y="439588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2999656" y="515719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6451762" y="5158934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grpSp>
        <p:nvGrpSpPr>
          <p:cNvPr id="49" name="Grupo 48"/>
          <p:cNvGrpSpPr/>
          <p:nvPr/>
        </p:nvGrpSpPr>
        <p:grpSpPr>
          <a:xfrm>
            <a:off x="4655840" y="4149081"/>
            <a:ext cx="1008112" cy="1009853"/>
            <a:chOff x="3059832" y="4653136"/>
            <a:chExt cx="1008112" cy="1009853"/>
          </a:xfrm>
        </p:grpSpPr>
        <p:sp>
          <p:nvSpPr>
            <p:cNvPr id="50" name="CaixaDeTexto 49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51" name="Elipse 50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2" name="Conector reto 51"/>
            <p:cNvCxnSpPr>
              <a:stCxn id="51" idx="2"/>
              <a:endCxn id="51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CaixaDeTexto 53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55" name="Conector reto 54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o 62"/>
          <p:cNvGrpSpPr/>
          <p:nvPr/>
        </p:nvGrpSpPr>
        <p:grpSpPr>
          <a:xfrm>
            <a:off x="6456040" y="4149081"/>
            <a:ext cx="1008112" cy="1009853"/>
            <a:chOff x="3059832" y="4653136"/>
            <a:chExt cx="1008112" cy="1009853"/>
          </a:xfrm>
        </p:grpSpPr>
        <p:sp>
          <p:nvSpPr>
            <p:cNvPr id="64" name="CaixaDeTexto 63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65" name="Elipse 64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6" name="Conector reto 65"/>
            <p:cNvCxnSpPr>
              <a:stCxn id="65" idx="2"/>
              <a:endCxn id="65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aixaDeTexto 67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69" name="Conector reto 68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upo 69"/>
          <p:cNvGrpSpPr/>
          <p:nvPr/>
        </p:nvGrpSpPr>
        <p:grpSpPr>
          <a:xfrm>
            <a:off x="2855640" y="4149081"/>
            <a:ext cx="1008112" cy="1009853"/>
            <a:chOff x="3059832" y="4653136"/>
            <a:chExt cx="1008112" cy="1009853"/>
          </a:xfrm>
        </p:grpSpPr>
        <p:sp>
          <p:nvSpPr>
            <p:cNvPr id="71" name="CaixaDeTexto 70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72" name="Elipse 71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3" name="Conector reto 72"/>
            <p:cNvCxnSpPr>
              <a:stCxn id="72" idx="2"/>
              <a:endCxn id="72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aixaDeTexto 73"/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75" name="CaixaDeTexto 74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76" name="Conector reto 75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Conector em curva 76"/>
          <p:cNvCxnSpPr/>
          <p:nvPr/>
        </p:nvCxnSpPr>
        <p:spPr>
          <a:xfrm rot="10800000">
            <a:off x="3935760" y="4422015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em curva 78"/>
          <p:cNvCxnSpPr/>
          <p:nvPr/>
        </p:nvCxnSpPr>
        <p:spPr>
          <a:xfrm rot="10800000">
            <a:off x="57359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2279576" y="5005044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1631504" y="4797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grpSp>
        <p:nvGrpSpPr>
          <p:cNvPr id="84" name="Grupo 83"/>
          <p:cNvGrpSpPr/>
          <p:nvPr/>
        </p:nvGrpSpPr>
        <p:grpSpPr>
          <a:xfrm>
            <a:off x="8328248" y="4149081"/>
            <a:ext cx="1008112" cy="1009853"/>
            <a:chOff x="3059832" y="4653136"/>
            <a:chExt cx="1008112" cy="1009853"/>
          </a:xfrm>
        </p:grpSpPr>
        <p:sp>
          <p:nvSpPr>
            <p:cNvPr id="85" name="CaixaDeTexto 84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86" name="Elipse 85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7" name="Conector reto 86"/>
            <p:cNvCxnSpPr>
              <a:stCxn id="86" idx="2"/>
              <a:endCxn id="86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aixaDeTexto 88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90" name="Conector reto 89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Conector em curva 90"/>
          <p:cNvCxnSpPr/>
          <p:nvPr/>
        </p:nvCxnSpPr>
        <p:spPr>
          <a:xfrm flipV="1">
            <a:off x="7603889" y="43889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/>
          <p:cNvSpPr txBox="1"/>
          <p:nvPr/>
        </p:nvSpPr>
        <p:spPr>
          <a:xfrm>
            <a:off x="8210092" y="3717032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418D11-CCD5-4D22-99AD-A14998A3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76</a:t>
            </a:fld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2F7EB1A-92FA-4959-9833-30957F73A595}"/>
              </a:ext>
            </a:extLst>
          </p:cNvPr>
          <p:cNvSpPr txBox="1"/>
          <p:nvPr/>
        </p:nvSpPr>
        <p:spPr>
          <a:xfrm>
            <a:off x="4968274" y="429476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2C817E0-2B15-4FE1-BBC1-BE9139795575}"/>
              </a:ext>
            </a:extLst>
          </p:cNvPr>
          <p:cNvSpPr txBox="1"/>
          <p:nvPr/>
        </p:nvSpPr>
        <p:spPr>
          <a:xfrm>
            <a:off x="6765365" y="429723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865ADCA-4707-43EF-B355-4F2C43FB0B6A}"/>
              </a:ext>
            </a:extLst>
          </p:cNvPr>
          <p:cNvSpPr txBox="1"/>
          <p:nvPr/>
        </p:nvSpPr>
        <p:spPr>
          <a:xfrm>
            <a:off x="8660610" y="430492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48911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612776"/>
          </a:xfrm>
        </p:spPr>
        <p:txBody>
          <a:bodyPr/>
          <a:lstStyle/>
          <a:p>
            <a:r>
              <a:rPr lang="pt-BR" dirty="0"/>
              <a:t>Inserção de um novo elemento a lista:</a:t>
            </a:r>
          </a:p>
          <a:p>
            <a:pPr lvl="1"/>
            <a:r>
              <a:rPr lang="pt-BR" dirty="0"/>
              <a:t>“</a:t>
            </a:r>
            <a:r>
              <a:rPr lang="pt-BR" dirty="0" err="1"/>
              <a:t>prox</a:t>
            </a:r>
            <a:r>
              <a:rPr lang="pt-BR" dirty="0"/>
              <a:t>” da nova célula referencia nulo:</a:t>
            </a:r>
          </a:p>
          <a:p>
            <a:endParaRPr lang="pt-BR" dirty="0"/>
          </a:p>
        </p:txBody>
      </p:sp>
      <p:cxnSp>
        <p:nvCxnSpPr>
          <p:cNvPr id="44" name="Conector em curva 43"/>
          <p:cNvCxnSpPr/>
          <p:nvPr/>
        </p:nvCxnSpPr>
        <p:spPr>
          <a:xfrm flipV="1">
            <a:off x="3935760" y="44220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em curva 45"/>
          <p:cNvCxnSpPr/>
          <p:nvPr/>
        </p:nvCxnSpPr>
        <p:spPr>
          <a:xfrm flipV="1">
            <a:off x="5803689" y="439588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2999656" y="515719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6451762" y="5158934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grpSp>
        <p:nvGrpSpPr>
          <p:cNvPr id="49" name="Grupo 48"/>
          <p:cNvGrpSpPr/>
          <p:nvPr/>
        </p:nvGrpSpPr>
        <p:grpSpPr>
          <a:xfrm>
            <a:off x="4655840" y="4149081"/>
            <a:ext cx="1008112" cy="1009853"/>
            <a:chOff x="3059832" y="4653136"/>
            <a:chExt cx="1008112" cy="1009853"/>
          </a:xfrm>
        </p:grpSpPr>
        <p:sp>
          <p:nvSpPr>
            <p:cNvPr id="50" name="CaixaDeTexto 49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51" name="Elipse 50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2" name="Conector reto 51"/>
            <p:cNvCxnSpPr>
              <a:stCxn id="51" idx="2"/>
              <a:endCxn id="51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CaixaDeTexto 53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55" name="Conector reto 54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o 62"/>
          <p:cNvGrpSpPr/>
          <p:nvPr/>
        </p:nvGrpSpPr>
        <p:grpSpPr>
          <a:xfrm>
            <a:off x="6456040" y="4149081"/>
            <a:ext cx="1008112" cy="1009853"/>
            <a:chOff x="3059832" y="4653136"/>
            <a:chExt cx="1008112" cy="1009853"/>
          </a:xfrm>
        </p:grpSpPr>
        <p:sp>
          <p:nvSpPr>
            <p:cNvPr id="64" name="CaixaDeTexto 63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65" name="Elipse 64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6" name="Conector reto 65"/>
            <p:cNvCxnSpPr>
              <a:stCxn id="65" idx="2"/>
              <a:endCxn id="65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aixaDeTexto 67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69" name="Conector reto 68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upo 69"/>
          <p:cNvGrpSpPr/>
          <p:nvPr/>
        </p:nvGrpSpPr>
        <p:grpSpPr>
          <a:xfrm>
            <a:off x="2855640" y="4149081"/>
            <a:ext cx="1008112" cy="1009853"/>
            <a:chOff x="3059832" y="4653136"/>
            <a:chExt cx="1008112" cy="1009853"/>
          </a:xfrm>
        </p:grpSpPr>
        <p:sp>
          <p:nvSpPr>
            <p:cNvPr id="71" name="CaixaDeTexto 70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72" name="Elipse 71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3" name="Conector reto 72"/>
            <p:cNvCxnSpPr>
              <a:stCxn id="72" idx="2"/>
              <a:endCxn id="72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aixaDeTexto 73"/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75" name="CaixaDeTexto 74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76" name="Conector reto 75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Conector em curva 76"/>
          <p:cNvCxnSpPr/>
          <p:nvPr/>
        </p:nvCxnSpPr>
        <p:spPr>
          <a:xfrm rot="10800000">
            <a:off x="3935760" y="4422015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em curva 78"/>
          <p:cNvCxnSpPr/>
          <p:nvPr/>
        </p:nvCxnSpPr>
        <p:spPr>
          <a:xfrm rot="10800000">
            <a:off x="57359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2279576" y="5005044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1631504" y="4797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grpSp>
        <p:nvGrpSpPr>
          <p:cNvPr id="84" name="Grupo 83"/>
          <p:cNvGrpSpPr/>
          <p:nvPr/>
        </p:nvGrpSpPr>
        <p:grpSpPr>
          <a:xfrm>
            <a:off x="8328248" y="4149081"/>
            <a:ext cx="1008112" cy="1009853"/>
            <a:chOff x="3059832" y="4653136"/>
            <a:chExt cx="1008112" cy="1009853"/>
          </a:xfrm>
        </p:grpSpPr>
        <p:sp>
          <p:nvSpPr>
            <p:cNvPr id="85" name="CaixaDeTexto 84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86" name="Elipse 85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7" name="Conector reto 86"/>
            <p:cNvCxnSpPr>
              <a:stCxn id="86" idx="2"/>
              <a:endCxn id="86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aixaDeTexto 88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90" name="Conector reto 89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Conector em curva 90"/>
          <p:cNvCxnSpPr/>
          <p:nvPr/>
        </p:nvCxnSpPr>
        <p:spPr>
          <a:xfrm flipV="1">
            <a:off x="7603889" y="43889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/>
          <p:cNvSpPr txBox="1"/>
          <p:nvPr/>
        </p:nvSpPr>
        <p:spPr>
          <a:xfrm>
            <a:off x="8210092" y="3717032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9408368" y="4782053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9955716" y="45811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AE9E44-72E7-4197-BECC-58C67BC02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77</a:t>
            </a:fld>
            <a:endParaRPr lang="pt-BR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601129B8-3380-4AA0-A9B5-9C29C4C3D6D7}"/>
              </a:ext>
            </a:extLst>
          </p:cNvPr>
          <p:cNvSpPr txBox="1"/>
          <p:nvPr/>
        </p:nvSpPr>
        <p:spPr>
          <a:xfrm>
            <a:off x="4968274" y="429476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37B2F8E-6D7F-498D-93AF-E7F1251B24EE}"/>
              </a:ext>
            </a:extLst>
          </p:cNvPr>
          <p:cNvSpPr txBox="1"/>
          <p:nvPr/>
        </p:nvSpPr>
        <p:spPr>
          <a:xfrm>
            <a:off x="6765365" y="429723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BEB7F8C2-063E-420D-9BCC-B8611EB3E4AF}"/>
              </a:ext>
            </a:extLst>
          </p:cNvPr>
          <p:cNvSpPr txBox="1"/>
          <p:nvPr/>
        </p:nvSpPr>
        <p:spPr>
          <a:xfrm>
            <a:off x="8660610" y="430492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10812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612776"/>
          </a:xfrm>
        </p:spPr>
        <p:txBody>
          <a:bodyPr/>
          <a:lstStyle/>
          <a:p>
            <a:r>
              <a:rPr lang="pt-BR" dirty="0"/>
              <a:t>Inserção de um novo elemento a lista:</a:t>
            </a:r>
          </a:p>
          <a:p>
            <a:pPr lvl="1"/>
            <a:r>
              <a:rPr lang="pt-BR" dirty="0"/>
              <a:t>“</a:t>
            </a:r>
            <a:r>
              <a:rPr lang="pt-BR" dirty="0" err="1"/>
              <a:t>prev</a:t>
            </a:r>
            <a:r>
              <a:rPr lang="pt-BR" dirty="0"/>
              <a:t>” referencia o (até então) último elemento da lista:</a:t>
            </a:r>
          </a:p>
          <a:p>
            <a:endParaRPr lang="pt-BR" dirty="0"/>
          </a:p>
        </p:txBody>
      </p:sp>
      <p:cxnSp>
        <p:nvCxnSpPr>
          <p:cNvPr id="44" name="Conector em curva 43"/>
          <p:cNvCxnSpPr/>
          <p:nvPr/>
        </p:nvCxnSpPr>
        <p:spPr>
          <a:xfrm flipV="1">
            <a:off x="3935760" y="44220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em curva 45"/>
          <p:cNvCxnSpPr/>
          <p:nvPr/>
        </p:nvCxnSpPr>
        <p:spPr>
          <a:xfrm flipV="1">
            <a:off x="5803689" y="439588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2999656" y="515719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6451762" y="5158934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grpSp>
        <p:nvGrpSpPr>
          <p:cNvPr id="49" name="Grupo 48"/>
          <p:cNvGrpSpPr/>
          <p:nvPr/>
        </p:nvGrpSpPr>
        <p:grpSpPr>
          <a:xfrm>
            <a:off x="4655840" y="4149081"/>
            <a:ext cx="1008112" cy="1009853"/>
            <a:chOff x="3059832" y="4653136"/>
            <a:chExt cx="1008112" cy="1009853"/>
          </a:xfrm>
        </p:grpSpPr>
        <p:sp>
          <p:nvSpPr>
            <p:cNvPr id="50" name="CaixaDeTexto 49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51" name="Elipse 50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2" name="Conector reto 51"/>
            <p:cNvCxnSpPr>
              <a:stCxn id="51" idx="2"/>
              <a:endCxn id="51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CaixaDeTexto 53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55" name="Conector reto 54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o 62"/>
          <p:cNvGrpSpPr/>
          <p:nvPr/>
        </p:nvGrpSpPr>
        <p:grpSpPr>
          <a:xfrm>
            <a:off x="6456040" y="4149081"/>
            <a:ext cx="1008112" cy="1009853"/>
            <a:chOff x="3059832" y="4653136"/>
            <a:chExt cx="1008112" cy="1009853"/>
          </a:xfrm>
        </p:grpSpPr>
        <p:sp>
          <p:nvSpPr>
            <p:cNvPr id="64" name="CaixaDeTexto 63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65" name="Elipse 64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6" name="Conector reto 65"/>
            <p:cNvCxnSpPr>
              <a:stCxn id="65" idx="2"/>
              <a:endCxn id="65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aixaDeTexto 67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69" name="Conector reto 68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upo 69"/>
          <p:cNvGrpSpPr/>
          <p:nvPr/>
        </p:nvGrpSpPr>
        <p:grpSpPr>
          <a:xfrm>
            <a:off x="2855640" y="4149081"/>
            <a:ext cx="1008112" cy="1009853"/>
            <a:chOff x="3059832" y="4653136"/>
            <a:chExt cx="1008112" cy="1009853"/>
          </a:xfrm>
        </p:grpSpPr>
        <p:sp>
          <p:nvSpPr>
            <p:cNvPr id="71" name="CaixaDeTexto 70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72" name="Elipse 71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3" name="Conector reto 72"/>
            <p:cNvCxnSpPr>
              <a:stCxn id="72" idx="2"/>
              <a:endCxn id="72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aixaDeTexto 73"/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75" name="CaixaDeTexto 74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76" name="Conector reto 75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Conector em curva 76"/>
          <p:cNvCxnSpPr/>
          <p:nvPr/>
        </p:nvCxnSpPr>
        <p:spPr>
          <a:xfrm rot="10800000">
            <a:off x="3935760" y="4422015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em curva 78"/>
          <p:cNvCxnSpPr/>
          <p:nvPr/>
        </p:nvCxnSpPr>
        <p:spPr>
          <a:xfrm rot="10800000">
            <a:off x="57359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2279576" y="5005044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1631504" y="4797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grpSp>
        <p:nvGrpSpPr>
          <p:cNvPr id="84" name="Grupo 83"/>
          <p:cNvGrpSpPr/>
          <p:nvPr/>
        </p:nvGrpSpPr>
        <p:grpSpPr>
          <a:xfrm>
            <a:off x="8328248" y="4149081"/>
            <a:ext cx="1008112" cy="1009853"/>
            <a:chOff x="3059832" y="4653136"/>
            <a:chExt cx="1008112" cy="1009853"/>
          </a:xfrm>
        </p:grpSpPr>
        <p:sp>
          <p:nvSpPr>
            <p:cNvPr id="85" name="CaixaDeTexto 84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86" name="Elipse 85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7" name="Conector reto 86"/>
            <p:cNvCxnSpPr>
              <a:stCxn id="86" idx="2"/>
              <a:endCxn id="86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aixaDeTexto 88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90" name="Conector reto 89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Conector em curva 90"/>
          <p:cNvCxnSpPr/>
          <p:nvPr/>
        </p:nvCxnSpPr>
        <p:spPr>
          <a:xfrm flipV="1">
            <a:off x="7603889" y="43889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/>
          <p:cNvSpPr txBox="1"/>
          <p:nvPr/>
        </p:nvSpPr>
        <p:spPr>
          <a:xfrm>
            <a:off x="8210092" y="3717032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9408368" y="4782053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9955716" y="45811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45" name="Conector em curva 44"/>
          <p:cNvCxnSpPr/>
          <p:nvPr/>
        </p:nvCxnSpPr>
        <p:spPr>
          <a:xfrm rot="10800000">
            <a:off x="75361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DDF868-342F-4A8F-8D2B-23C46FA0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78</a:t>
            </a:fld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AF4B8916-A840-49A9-AECB-ABAD2FD8D2ED}"/>
              </a:ext>
            </a:extLst>
          </p:cNvPr>
          <p:cNvSpPr txBox="1"/>
          <p:nvPr/>
        </p:nvSpPr>
        <p:spPr>
          <a:xfrm>
            <a:off x="4968274" y="429476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C9190B54-D0D0-4CD9-B304-44C95C6019C5}"/>
              </a:ext>
            </a:extLst>
          </p:cNvPr>
          <p:cNvSpPr txBox="1"/>
          <p:nvPr/>
        </p:nvSpPr>
        <p:spPr>
          <a:xfrm>
            <a:off x="6765365" y="429723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5F7BD5D-63F2-4386-8E07-262CA6F96C9C}"/>
              </a:ext>
            </a:extLst>
          </p:cNvPr>
          <p:cNvSpPr txBox="1"/>
          <p:nvPr/>
        </p:nvSpPr>
        <p:spPr>
          <a:xfrm>
            <a:off x="8660610" y="430492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84655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612776"/>
          </a:xfrm>
        </p:spPr>
        <p:txBody>
          <a:bodyPr/>
          <a:lstStyle/>
          <a:p>
            <a:r>
              <a:rPr lang="pt-BR" dirty="0"/>
              <a:t>Inserção de um novo elemento a lista:</a:t>
            </a:r>
          </a:p>
          <a:p>
            <a:pPr lvl="1"/>
            <a:r>
              <a:rPr lang="pt-BR" dirty="0"/>
              <a:t>“ultimo” é ajustado para o novo elemento inserido:</a:t>
            </a:r>
          </a:p>
          <a:p>
            <a:endParaRPr lang="pt-BR" dirty="0"/>
          </a:p>
        </p:txBody>
      </p:sp>
      <p:cxnSp>
        <p:nvCxnSpPr>
          <p:cNvPr id="44" name="Conector em curva 43"/>
          <p:cNvCxnSpPr/>
          <p:nvPr/>
        </p:nvCxnSpPr>
        <p:spPr>
          <a:xfrm flipV="1">
            <a:off x="3935760" y="44220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em curva 45"/>
          <p:cNvCxnSpPr/>
          <p:nvPr/>
        </p:nvCxnSpPr>
        <p:spPr>
          <a:xfrm flipV="1">
            <a:off x="5803689" y="439588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2999656" y="515719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8328249" y="5158934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grpSp>
        <p:nvGrpSpPr>
          <p:cNvPr id="49" name="Grupo 48"/>
          <p:cNvGrpSpPr/>
          <p:nvPr/>
        </p:nvGrpSpPr>
        <p:grpSpPr>
          <a:xfrm>
            <a:off x="4655840" y="4149081"/>
            <a:ext cx="1008112" cy="1009853"/>
            <a:chOff x="3059832" y="4653136"/>
            <a:chExt cx="1008112" cy="1009853"/>
          </a:xfrm>
        </p:grpSpPr>
        <p:sp>
          <p:nvSpPr>
            <p:cNvPr id="50" name="CaixaDeTexto 49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51" name="Elipse 50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2" name="Conector reto 51"/>
            <p:cNvCxnSpPr>
              <a:stCxn id="51" idx="2"/>
              <a:endCxn id="51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CaixaDeTexto 53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55" name="Conector reto 54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o 62"/>
          <p:cNvGrpSpPr/>
          <p:nvPr/>
        </p:nvGrpSpPr>
        <p:grpSpPr>
          <a:xfrm>
            <a:off x="6456040" y="4149081"/>
            <a:ext cx="1008112" cy="1009853"/>
            <a:chOff x="3059832" y="4653136"/>
            <a:chExt cx="1008112" cy="1009853"/>
          </a:xfrm>
        </p:grpSpPr>
        <p:sp>
          <p:nvSpPr>
            <p:cNvPr id="64" name="CaixaDeTexto 63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65" name="Elipse 64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6" name="Conector reto 65"/>
            <p:cNvCxnSpPr>
              <a:stCxn id="65" idx="2"/>
              <a:endCxn id="65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aixaDeTexto 67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69" name="Conector reto 68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upo 69"/>
          <p:cNvGrpSpPr/>
          <p:nvPr/>
        </p:nvGrpSpPr>
        <p:grpSpPr>
          <a:xfrm>
            <a:off x="2855640" y="4149081"/>
            <a:ext cx="1008112" cy="1009853"/>
            <a:chOff x="3059832" y="4653136"/>
            <a:chExt cx="1008112" cy="1009853"/>
          </a:xfrm>
        </p:grpSpPr>
        <p:sp>
          <p:nvSpPr>
            <p:cNvPr id="71" name="CaixaDeTexto 70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72" name="Elipse 71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3" name="Conector reto 72"/>
            <p:cNvCxnSpPr>
              <a:stCxn id="72" idx="2"/>
              <a:endCxn id="72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aixaDeTexto 73"/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75" name="CaixaDeTexto 74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76" name="Conector reto 75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Conector em curva 76"/>
          <p:cNvCxnSpPr/>
          <p:nvPr/>
        </p:nvCxnSpPr>
        <p:spPr>
          <a:xfrm rot="10800000">
            <a:off x="3935760" y="4422015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em curva 78"/>
          <p:cNvCxnSpPr/>
          <p:nvPr/>
        </p:nvCxnSpPr>
        <p:spPr>
          <a:xfrm rot="10800000">
            <a:off x="57359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2279576" y="5005044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1631504" y="4797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grpSp>
        <p:nvGrpSpPr>
          <p:cNvPr id="84" name="Grupo 83"/>
          <p:cNvGrpSpPr/>
          <p:nvPr/>
        </p:nvGrpSpPr>
        <p:grpSpPr>
          <a:xfrm>
            <a:off x="8328248" y="4149081"/>
            <a:ext cx="1008112" cy="1009853"/>
            <a:chOff x="3059832" y="4653136"/>
            <a:chExt cx="1008112" cy="1009853"/>
          </a:xfrm>
        </p:grpSpPr>
        <p:sp>
          <p:nvSpPr>
            <p:cNvPr id="85" name="CaixaDeTexto 84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86" name="Elipse 85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7" name="Conector reto 86"/>
            <p:cNvCxnSpPr>
              <a:stCxn id="86" idx="2"/>
              <a:endCxn id="86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aixaDeTexto 88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90" name="Conector reto 89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Conector em curva 90"/>
          <p:cNvCxnSpPr/>
          <p:nvPr/>
        </p:nvCxnSpPr>
        <p:spPr>
          <a:xfrm flipV="1">
            <a:off x="7603889" y="43889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/>
          <p:cNvSpPr txBox="1"/>
          <p:nvPr/>
        </p:nvSpPr>
        <p:spPr>
          <a:xfrm>
            <a:off x="8210092" y="3717032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9408368" y="4782053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9955716" y="45811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45" name="Conector em curva 44"/>
          <p:cNvCxnSpPr/>
          <p:nvPr/>
        </p:nvCxnSpPr>
        <p:spPr>
          <a:xfrm rot="10800000">
            <a:off x="75361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D9DE8F-A61A-41F3-AAD6-94A10EFA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79</a:t>
            </a:fld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94B28A5-AC6A-4642-BE43-718C18FEB8B6}"/>
              </a:ext>
            </a:extLst>
          </p:cNvPr>
          <p:cNvSpPr txBox="1"/>
          <p:nvPr/>
        </p:nvSpPr>
        <p:spPr>
          <a:xfrm>
            <a:off x="4968274" y="429476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960B54E-5F6A-4ACC-9965-035567BEE33F}"/>
              </a:ext>
            </a:extLst>
          </p:cNvPr>
          <p:cNvSpPr txBox="1"/>
          <p:nvPr/>
        </p:nvSpPr>
        <p:spPr>
          <a:xfrm>
            <a:off x="6765365" y="429723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473C3A0-1E66-41A7-B397-A49D53B6A56E}"/>
              </a:ext>
            </a:extLst>
          </p:cNvPr>
          <p:cNvSpPr txBox="1"/>
          <p:nvPr/>
        </p:nvSpPr>
        <p:spPr>
          <a:xfrm>
            <a:off x="8660610" y="430492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686526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Remoção do último elemento da lista:</a:t>
            </a:r>
          </a:p>
          <a:p>
            <a:pPr lvl="1"/>
            <a:r>
              <a:rPr lang="pt-BR" dirty="0"/>
              <a:t>Remover o último elemento de uma lista duplamente ligada é simples pois há acesso direto do ultimo elemento ao seu predecessor, e nenhum laço é necessário para remover o último elemento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9BE5D1-0DD2-4569-8881-E427EB60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5799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Remoção do ultimo elemento da lista:</a:t>
            </a:r>
          </a:p>
          <a:p>
            <a:pPr lvl="1"/>
            <a:r>
              <a:rPr lang="pt-BR" dirty="0"/>
              <a:t>Não é necessário percorrer a lista.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cxnSp>
        <p:nvCxnSpPr>
          <p:cNvPr id="45" name="Conector em curva 44"/>
          <p:cNvCxnSpPr/>
          <p:nvPr/>
        </p:nvCxnSpPr>
        <p:spPr>
          <a:xfrm flipV="1">
            <a:off x="3935760" y="44220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em curva 46"/>
          <p:cNvCxnSpPr/>
          <p:nvPr/>
        </p:nvCxnSpPr>
        <p:spPr>
          <a:xfrm flipV="1">
            <a:off x="5803689" y="439588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2999656" y="515719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49" name="CaixaDeTexto 48"/>
          <p:cNvSpPr txBox="1"/>
          <p:nvPr/>
        </p:nvSpPr>
        <p:spPr>
          <a:xfrm>
            <a:off x="8328249" y="5158934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grpSp>
        <p:nvGrpSpPr>
          <p:cNvPr id="50" name="Grupo 49"/>
          <p:cNvGrpSpPr/>
          <p:nvPr/>
        </p:nvGrpSpPr>
        <p:grpSpPr>
          <a:xfrm>
            <a:off x="4655840" y="4149081"/>
            <a:ext cx="1008112" cy="1009853"/>
            <a:chOff x="3059832" y="4653136"/>
            <a:chExt cx="1008112" cy="1009853"/>
          </a:xfrm>
        </p:grpSpPr>
        <p:sp>
          <p:nvSpPr>
            <p:cNvPr id="51" name="CaixaDeTexto 50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52" name="Elipse 51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3" name="Conector reto 52"/>
            <p:cNvCxnSpPr>
              <a:stCxn id="52" idx="2"/>
              <a:endCxn id="52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CaixaDeTexto 54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56" name="Conector reto 55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upo 56"/>
          <p:cNvGrpSpPr/>
          <p:nvPr/>
        </p:nvGrpSpPr>
        <p:grpSpPr>
          <a:xfrm>
            <a:off x="6456040" y="4149081"/>
            <a:ext cx="1008112" cy="1009853"/>
            <a:chOff x="3059832" y="4653136"/>
            <a:chExt cx="1008112" cy="1009853"/>
          </a:xfrm>
        </p:grpSpPr>
        <p:sp>
          <p:nvSpPr>
            <p:cNvPr id="58" name="CaixaDeTexto 57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59" name="Elipse 58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0" name="Conector reto 59"/>
            <p:cNvCxnSpPr>
              <a:stCxn id="59" idx="2"/>
              <a:endCxn id="59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aixaDeTexto 61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63" name="Conector reto 62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upo 63"/>
          <p:cNvGrpSpPr/>
          <p:nvPr/>
        </p:nvGrpSpPr>
        <p:grpSpPr>
          <a:xfrm>
            <a:off x="2855640" y="4149081"/>
            <a:ext cx="1008112" cy="1009853"/>
            <a:chOff x="3059832" y="4653136"/>
            <a:chExt cx="1008112" cy="1009853"/>
          </a:xfrm>
        </p:grpSpPr>
        <p:sp>
          <p:nvSpPr>
            <p:cNvPr id="65" name="CaixaDeTexto 64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66" name="Elipse 65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7" name="Conector reto 66"/>
            <p:cNvCxnSpPr>
              <a:stCxn id="66" idx="2"/>
              <a:endCxn id="66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aixaDeTexto 67"/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69" name="CaixaDeTexto 68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70" name="Conector reto 69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Conector em curva 70"/>
          <p:cNvCxnSpPr/>
          <p:nvPr/>
        </p:nvCxnSpPr>
        <p:spPr>
          <a:xfrm rot="10800000">
            <a:off x="3935760" y="4422015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em curva 71"/>
          <p:cNvCxnSpPr/>
          <p:nvPr/>
        </p:nvCxnSpPr>
        <p:spPr>
          <a:xfrm rot="10800000">
            <a:off x="57359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/>
          <p:nvPr/>
        </p:nvCxnSpPr>
        <p:spPr>
          <a:xfrm flipH="1">
            <a:off x="2279576" y="5005044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/>
          <p:cNvSpPr txBox="1"/>
          <p:nvPr/>
        </p:nvSpPr>
        <p:spPr>
          <a:xfrm>
            <a:off x="1631504" y="4797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grpSp>
        <p:nvGrpSpPr>
          <p:cNvPr id="75" name="Grupo 74"/>
          <p:cNvGrpSpPr/>
          <p:nvPr/>
        </p:nvGrpSpPr>
        <p:grpSpPr>
          <a:xfrm>
            <a:off x="8328248" y="4149081"/>
            <a:ext cx="1008112" cy="1009853"/>
            <a:chOff x="3059832" y="4653136"/>
            <a:chExt cx="1008112" cy="1009853"/>
          </a:xfrm>
        </p:grpSpPr>
        <p:sp>
          <p:nvSpPr>
            <p:cNvPr id="76" name="CaixaDeTexto 75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77" name="Elipse 76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8" name="Conector reto 77"/>
            <p:cNvCxnSpPr>
              <a:stCxn id="77" idx="2"/>
              <a:endCxn id="77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CaixaDeTexto 79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81" name="Conector reto 80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Conector em curva 81"/>
          <p:cNvCxnSpPr/>
          <p:nvPr/>
        </p:nvCxnSpPr>
        <p:spPr>
          <a:xfrm flipV="1">
            <a:off x="7603889" y="43889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>
            <a:off x="9408368" y="4782053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/>
          <p:cNvSpPr txBox="1"/>
          <p:nvPr/>
        </p:nvSpPr>
        <p:spPr>
          <a:xfrm>
            <a:off x="9955716" y="45811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86" name="Conector em curva 85"/>
          <p:cNvCxnSpPr/>
          <p:nvPr/>
        </p:nvCxnSpPr>
        <p:spPr>
          <a:xfrm rot="10800000">
            <a:off x="75361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72DAC5-BF0F-4824-8417-905C4179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81</a:t>
            </a:fld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490A4F40-D194-4487-B885-A8C1D926469A}"/>
              </a:ext>
            </a:extLst>
          </p:cNvPr>
          <p:cNvSpPr txBox="1"/>
          <p:nvPr/>
        </p:nvSpPr>
        <p:spPr>
          <a:xfrm>
            <a:off x="4968274" y="429476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BADAF2D0-5235-45AD-9A4B-3F9F638901B2}"/>
              </a:ext>
            </a:extLst>
          </p:cNvPr>
          <p:cNvSpPr txBox="1"/>
          <p:nvPr/>
        </p:nvSpPr>
        <p:spPr>
          <a:xfrm>
            <a:off x="6765365" y="429723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6AC8D318-6011-4313-99DE-FAE1065D55D7}"/>
              </a:ext>
            </a:extLst>
          </p:cNvPr>
          <p:cNvSpPr txBox="1"/>
          <p:nvPr/>
        </p:nvSpPr>
        <p:spPr>
          <a:xfrm>
            <a:off x="8660610" y="430492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96251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Remoção do ultimo elemento da lista:</a:t>
            </a:r>
          </a:p>
          <a:p>
            <a:pPr lvl="1"/>
            <a:r>
              <a:rPr lang="pt-BR" dirty="0"/>
              <a:t>Após recuperar o item a ser removido, “</a:t>
            </a:r>
            <a:r>
              <a:rPr lang="pt-BR" dirty="0" err="1"/>
              <a:t>prox</a:t>
            </a:r>
            <a:r>
              <a:rPr lang="pt-BR" dirty="0"/>
              <a:t>” do predecessor passa a referenciar NULL 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cxnSp>
        <p:nvCxnSpPr>
          <p:cNvPr id="4" name="Conector em curva 3"/>
          <p:cNvCxnSpPr/>
          <p:nvPr/>
        </p:nvCxnSpPr>
        <p:spPr>
          <a:xfrm flipV="1">
            <a:off x="3935760" y="44220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em curva 4"/>
          <p:cNvCxnSpPr/>
          <p:nvPr/>
        </p:nvCxnSpPr>
        <p:spPr>
          <a:xfrm flipV="1">
            <a:off x="5803689" y="439588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999656" y="515719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328249" y="5158934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4655840" y="4149081"/>
            <a:ext cx="1008112" cy="1009853"/>
            <a:chOff x="3059832" y="4653136"/>
            <a:chExt cx="1008112" cy="1009853"/>
          </a:xfrm>
        </p:grpSpPr>
        <p:sp>
          <p:nvSpPr>
            <p:cNvPr id="9" name="CaixaDeTexto 8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Conector reto 10"/>
            <p:cNvCxnSpPr>
              <a:stCxn id="10" idx="2"/>
              <a:endCxn id="10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14" name="Conector reto 13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o 14"/>
          <p:cNvGrpSpPr/>
          <p:nvPr/>
        </p:nvGrpSpPr>
        <p:grpSpPr>
          <a:xfrm>
            <a:off x="6456040" y="4149081"/>
            <a:ext cx="1008112" cy="1009853"/>
            <a:chOff x="3059832" y="4653136"/>
            <a:chExt cx="1008112" cy="1009853"/>
          </a:xfrm>
        </p:grpSpPr>
        <p:sp>
          <p:nvSpPr>
            <p:cNvPr id="16" name="CaixaDeTexto 15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17" name="Elipse 16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8" name="Conector reto 17"/>
            <p:cNvCxnSpPr>
              <a:stCxn id="17" idx="2"/>
              <a:endCxn id="17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21" name="Conector reto 20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o 21"/>
          <p:cNvGrpSpPr/>
          <p:nvPr/>
        </p:nvGrpSpPr>
        <p:grpSpPr>
          <a:xfrm>
            <a:off x="2855640" y="4149081"/>
            <a:ext cx="1008112" cy="1009853"/>
            <a:chOff x="3059832" y="4653136"/>
            <a:chExt cx="1008112" cy="1009853"/>
          </a:xfrm>
        </p:grpSpPr>
        <p:sp>
          <p:nvSpPr>
            <p:cNvPr id="23" name="CaixaDeTexto 22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24" name="Elipse 23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5" name="Conector reto 24"/>
            <p:cNvCxnSpPr>
              <a:stCxn id="24" idx="2"/>
              <a:endCxn id="24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aixaDeTexto 25"/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27" name="CaixaDeTexto 26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28" name="Conector reto 27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Conector em curva 28"/>
          <p:cNvCxnSpPr/>
          <p:nvPr/>
        </p:nvCxnSpPr>
        <p:spPr>
          <a:xfrm rot="10800000">
            <a:off x="3935760" y="4422015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em curva 29"/>
          <p:cNvCxnSpPr/>
          <p:nvPr/>
        </p:nvCxnSpPr>
        <p:spPr>
          <a:xfrm rot="10800000">
            <a:off x="57359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2279576" y="5005044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631504" y="4797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40" name="Conector em curva 39"/>
          <p:cNvCxnSpPr/>
          <p:nvPr/>
        </p:nvCxnSpPr>
        <p:spPr>
          <a:xfrm rot="5400000" flipH="1" flipV="1">
            <a:off x="7522117" y="4230855"/>
            <a:ext cx="599873" cy="436327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/>
          <p:nvPr/>
        </p:nvCxnSpPr>
        <p:spPr>
          <a:xfrm>
            <a:off x="9408368" y="4782053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9955716" y="45811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44" name="Conector em curva 43"/>
          <p:cNvCxnSpPr/>
          <p:nvPr/>
        </p:nvCxnSpPr>
        <p:spPr>
          <a:xfrm rot="10800000">
            <a:off x="75361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7723468" y="378904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1" name="Espaço Reservado para Número de Slide 40">
            <a:extLst>
              <a:ext uri="{FF2B5EF4-FFF2-40B4-BE49-F238E27FC236}">
                <a16:creationId xmlns:a16="http://schemas.microsoft.com/office/drawing/2014/main" id="{D6073C07-025C-4DA4-A0F2-5E0A5F21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82</a:t>
            </a:fld>
            <a:endParaRPr lang="pt-BR"/>
          </a:p>
        </p:txBody>
      </p:sp>
      <p:grpSp>
        <p:nvGrpSpPr>
          <p:cNvPr id="47" name="Grupo 74">
            <a:extLst>
              <a:ext uri="{FF2B5EF4-FFF2-40B4-BE49-F238E27FC236}">
                <a16:creationId xmlns:a16="http://schemas.microsoft.com/office/drawing/2014/main" id="{3B98B157-6C03-4ED1-BDD0-901D795F81FE}"/>
              </a:ext>
            </a:extLst>
          </p:cNvPr>
          <p:cNvGrpSpPr/>
          <p:nvPr/>
        </p:nvGrpSpPr>
        <p:grpSpPr>
          <a:xfrm>
            <a:off x="8328248" y="4149081"/>
            <a:ext cx="1008112" cy="1009853"/>
            <a:chOff x="3059832" y="4653136"/>
            <a:chExt cx="1008112" cy="1009853"/>
          </a:xfrm>
        </p:grpSpPr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D9C8CDA3-C386-4601-90EF-957AB7B7D40C}"/>
                </a:ext>
              </a:extLst>
            </p:cNvPr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61742CB-17BD-48B6-8100-EC3F0573E9CA}"/>
                </a:ext>
              </a:extLst>
            </p:cNvPr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0" name="Conector reto 49">
              <a:extLst>
                <a:ext uri="{FF2B5EF4-FFF2-40B4-BE49-F238E27FC236}">
                  <a16:creationId xmlns:a16="http://schemas.microsoft.com/office/drawing/2014/main" id="{02EE75F3-E2E0-4566-9F66-A9EAAF3DA5D2}"/>
                </a:ext>
              </a:extLst>
            </p:cNvPr>
            <p:cNvCxnSpPr>
              <a:stCxn id="49" idx="2"/>
              <a:endCxn id="49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EE29D591-DD90-4972-872D-CDD0B707EF40}"/>
                </a:ext>
              </a:extLst>
            </p:cNvPr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53" name="Conector reto 52">
              <a:extLst>
                <a:ext uri="{FF2B5EF4-FFF2-40B4-BE49-F238E27FC236}">
                  <a16:creationId xmlns:a16="http://schemas.microsoft.com/office/drawing/2014/main" id="{021B33B0-8F54-45F3-97C6-E9927735D270}"/>
                </a:ext>
              </a:extLst>
            </p:cNvPr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99B59D3F-5336-4A08-A43C-843268761E67}"/>
              </a:ext>
            </a:extLst>
          </p:cNvPr>
          <p:cNvSpPr txBox="1"/>
          <p:nvPr/>
        </p:nvSpPr>
        <p:spPr>
          <a:xfrm>
            <a:off x="4968274" y="429476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AD716D2-78E8-439E-8ED9-A27D675ABDE0}"/>
              </a:ext>
            </a:extLst>
          </p:cNvPr>
          <p:cNvSpPr txBox="1"/>
          <p:nvPr/>
        </p:nvSpPr>
        <p:spPr>
          <a:xfrm>
            <a:off x="6765365" y="429723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106154D2-40E4-47B2-A60A-FFE019EE0BE5}"/>
              </a:ext>
            </a:extLst>
          </p:cNvPr>
          <p:cNvSpPr txBox="1"/>
          <p:nvPr/>
        </p:nvSpPr>
        <p:spPr>
          <a:xfrm>
            <a:off x="8660610" y="430492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19949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Remoção do ultimo elemento da lista:</a:t>
            </a:r>
          </a:p>
          <a:p>
            <a:pPr lvl="1"/>
            <a:r>
              <a:rPr lang="pt-BR" dirty="0"/>
              <a:t>Ultimo elemento é ajustado para o predecessor do elemento a ser removido.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cxnSp>
        <p:nvCxnSpPr>
          <p:cNvPr id="4" name="Conector em curva 3"/>
          <p:cNvCxnSpPr/>
          <p:nvPr/>
        </p:nvCxnSpPr>
        <p:spPr>
          <a:xfrm flipV="1">
            <a:off x="3935760" y="44220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em curva 4"/>
          <p:cNvCxnSpPr/>
          <p:nvPr/>
        </p:nvCxnSpPr>
        <p:spPr>
          <a:xfrm flipV="1">
            <a:off x="5803689" y="439588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999656" y="515719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451762" y="5158934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4655840" y="4149081"/>
            <a:ext cx="1008112" cy="1009853"/>
            <a:chOff x="3059832" y="4653136"/>
            <a:chExt cx="1008112" cy="1009853"/>
          </a:xfrm>
        </p:grpSpPr>
        <p:sp>
          <p:nvSpPr>
            <p:cNvPr id="9" name="CaixaDeTexto 8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Conector reto 10"/>
            <p:cNvCxnSpPr>
              <a:stCxn id="10" idx="2"/>
              <a:endCxn id="10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14" name="Conector reto 13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o 14"/>
          <p:cNvGrpSpPr/>
          <p:nvPr/>
        </p:nvGrpSpPr>
        <p:grpSpPr>
          <a:xfrm>
            <a:off x="6456040" y="4149081"/>
            <a:ext cx="1008112" cy="1009853"/>
            <a:chOff x="3059832" y="4653136"/>
            <a:chExt cx="1008112" cy="1009853"/>
          </a:xfrm>
        </p:grpSpPr>
        <p:sp>
          <p:nvSpPr>
            <p:cNvPr id="16" name="CaixaDeTexto 15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17" name="Elipse 16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8" name="Conector reto 17"/>
            <p:cNvCxnSpPr>
              <a:stCxn id="17" idx="2"/>
              <a:endCxn id="17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21" name="Conector reto 20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o 21"/>
          <p:cNvGrpSpPr/>
          <p:nvPr/>
        </p:nvGrpSpPr>
        <p:grpSpPr>
          <a:xfrm>
            <a:off x="2855640" y="4149081"/>
            <a:ext cx="1008112" cy="1009853"/>
            <a:chOff x="3059832" y="4653136"/>
            <a:chExt cx="1008112" cy="1009853"/>
          </a:xfrm>
        </p:grpSpPr>
        <p:sp>
          <p:nvSpPr>
            <p:cNvPr id="23" name="CaixaDeTexto 22"/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24" name="Elipse 23"/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5" name="Conector reto 24"/>
            <p:cNvCxnSpPr>
              <a:stCxn id="24" idx="2"/>
              <a:endCxn id="24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aixaDeTexto 25"/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27" name="CaixaDeTexto 26"/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28" name="Conector reto 27"/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Conector em curva 28"/>
          <p:cNvCxnSpPr/>
          <p:nvPr/>
        </p:nvCxnSpPr>
        <p:spPr>
          <a:xfrm rot="10800000">
            <a:off x="3935760" y="4422015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em curva 29"/>
          <p:cNvCxnSpPr/>
          <p:nvPr/>
        </p:nvCxnSpPr>
        <p:spPr>
          <a:xfrm rot="10800000">
            <a:off x="57359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2279576" y="5005044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631504" y="4797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40" name="Conector em curva 39"/>
          <p:cNvCxnSpPr/>
          <p:nvPr/>
        </p:nvCxnSpPr>
        <p:spPr>
          <a:xfrm rot="5400000" flipH="1" flipV="1">
            <a:off x="7522117" y="4230855"/>
            <a:ext cx="599873" cy="436327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em curva 43"/>
          <p:cNvCxnSpPr/>
          <p:nvPr/>
        </p:nvCxnSpPr>
        <p:spPr>
          <a:xfrm rot="10800000">
            <a:off x="7536160" y="4437113"/>
            <a:ext cx="792088" cy="58303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7723468" y="378904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1" name="Espaço Reservado para Número de Slide 40">
            <a:extLst>
              <a:ext uri="{FF2B5EF4-FFF2-40B4-BE49-F238E27FC236}">
                <a16:creationId xmlns:a16="http://schemas.microsoft.com/office/drawing/2014/main" id="{92EF1DD6-926B-48D5-BB2C-47C26CD7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83</a:t>
            </a:fld>
            <a:endParaRPr lang="pt-BR"/>
          </a:p>
        </p:txBody>
      </p:sp>
      <p:grpSp>
        <p:nvGrpSpPr>
          <p:cNvPr id="47" name="Grupo 32">
            <a:extLst>
              <a:ext uri="{FF2B5EF4-FFF2-40B4-BE49-F238E27FC236}">
                <a16:creationId xmlns:a16="http://schemas.microsoft.com/office/drawing/2014/main" id="{3908F6A0-6CC7-4805-8F09-127039959D86}"/>
              </a:ext>
            </a:extLst>
          </p:cNvPr>
          <p:cNvGrpSpPr/>
          <p:nvPr/>
        </p:nvGrpSpPr>
        <p:grpSpPr>
          <a:xfrm>
            <a:off x="8328248" y="4149081"/>
            <a:ext cx="1008112" cy="1009853"/>
            <a:chOff x="3059832" y="4653136"/>
            <a:chExt cx="1008112" cy="1009853"/>
          </a:xfrm>
        </p:grpSpPr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AD7B5EAC-F75B-4080-9DCB-BEA84D1A1D3A}"/>
                </a:ext>
              </a:extLst>
            </p:cNvPr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>
                      <a:lumMod val="65000"/>
                    </a:schemeClr>
                  </a:solidFill>
                </a:rPr>
                <a:t>Prox.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9C4D6EDD-09AD-46F4-8160-378BD7A1BECF}"/>
                </a:ext>
              </a:extLst>
            </p:cNvPr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0" name="Conector reto 49">
              <a:extLst>
                <a:ext uri="{FF2B5EF4-FFF2-40B4-BE49-F238E27FC236}">
                  <a16:creationId xmlns:a16="http://schemas.microsoft.com/office/drawing/2014/main" id="{0073204C-86C7-4533-991D-D72B00DEADA8}"/>
                </a:ext>
              </a:extLst>
            </p:cNvPr>
            <p:cNvCxnSpPr>
              <a:stCxn id="49" idx="2"/>
              <a:endCxn id="49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14799514-863D-4C7A-9E94-4DBE1B174B04}"/>
                </a:ext>
              </a:extLst>
            </p:cNvPr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bg1">
                      <a:lumMod val="65000"/>
                    </a:schemeClr>
                  </a:solidFill>
                </a:rPr>
                <a:t>Prev.</a:t>
              </a:r>
            </a:p>
          </p:txBody>
        </p:sp>
        <p:cxnSp>
          <p:nvCxnSpPr>
            <p:cNvPr id="53" name="Conector reto 52">
              <a:extLst>
                <a:ext uri="{FF2B5EF4-FFF2-40B4-BE49-F238E27FC236}">
                  <a16:creationId xmlns:a16="http://schemas.microsoft.com/office/drawing/2014/main" id="{516ED814-87A4-4FA4-90DD-9DC3600DF3AA}"/>
                </a:ext>
              </a:extLst>
            </p:cNvPr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Conector de seta reta 41">
            <a:extLst>
              <a:ext uri="{FF2B5EF4-FFF2-40B4-BE49-F238E27FC236}">
                <a16:creationId xmlns:a16="http://schemas.microsoft.com/office/drawing/2014/main" id="{6B3CE517-F953-4EED-93E6-A7CBE51D2048}"/>
              </a:ext>
            </a:extLst>
          </p:cNvPr>
          <p:cNvCxnSpPr/>
          <p:nvPr/>
        </p:nvCxnSpPr>
        <p:spPr>
          <a:xfrm>
            <a:off x="9408368" y="4782053"/>
            <a:ext cx="576064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97173A7-2DA8-454E-B83D-83984FB1350B}"/>
              </a:ext>
            </a:extLst>
          </p:cNvPr>
          <p:cNvSpPr txBox="1"/>
          <p:nvPr/>
        </p:nvSpPr>
        <p:spPr>
          <a:xfrm>
            <a:off x="9955716" y="4581128"/>
            <a:ext cx="67678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NULL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DBE0F30B-B44E-4496-AC2C-1259A13CEACB}"/>
              </a:ext>
            </a:extLst>
          </p:cNvPr>
          <p:cNvCxnSpPr/>
          <p:nvPr/>
        </p:nvCxnSpPr>
        <p:spPr>
          <a:xfrm>
            <a:off x="8809892" y="3516923"/>
            <a:ext cx="0" cy="474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800C195D-26E4-462D-877E-38E9487533BC}"/>
              </a:ext>
            </a:extLst>
          </p:cNvPr>
          <p:cNvSpPr txBox="1"/>
          <p:nvPr/>
        </p:nvSpPr>
        <p:spPr>
          <a:xfrm>
            <a:off x="8526418" y="3050931"/>
            <a:ext cx="29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B70D970-56C8-4479-826A-6160E3B05CA5}"/>
              </a:ext>
            </a:extLst>
          </p:cNvPr>
          <p:cNvSpPr txBox="1"/>
          <p:nvPr/>
        </p:nvSpPr>
        <p:spPr>
          <a:xfrm>
            <a:off x="4968274" y="429476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26C04E55-2834-48FD-8945-1F4024773917}"/>
              </a:ext>
            </a:extLst>
          </p:cNvPr>
          <p:cNvSpPr txBox="1"/>
          <p:nvPr/>
        </p:nvSpPr>
        <p:spPr>
          <a:xfrm>
            <a:off x="6765365" y="429723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AEEDB9E9-66DA-4EC6-B24B-6BBD95FB25F1}"/>
              </a:ext>
            </a:extLst>
          </p:cNvPr>
          <p:cNvSpPr txBox="1"/>
          <p:nvPr/>
        </p:nvSpPr>
        <p:spPr>
          <a:xfrm>
            <a:off x="8660610" y="430492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7342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Duplamente Ligadas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Devido a imediata acessibilidade ao ultimo elemento, tanto a operação de inserção quanto a remoção do ultimo elemento são executadas sem a necessidade de percorrer a lista.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1BAF94-F10F-4AB0-B923-F820F7588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0532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São listas na qual as células formam um anel:</a:t>
            </a:r>
          </a:p>
          <a:p>
            <a:pPr lvl="1"/>
            <a:r>
              <a:rPr lang="pt-BR" dirty="0"/>
              <a:t>A lista é finita; e</a:t>
            </a:r>
          </a:p>
          <a:p>
            <a:pPr lvl="1"/>
            <a:r>
              <a:rPr lang="pt-BR" dirty="0"/>
              <a:t>Cada célula tem um sucessor.</a:t>
            </a:r>
          </a:p>
          <a:p>
            <a:r>
              <a:rPr lang="pt-BR" dirty="0"/>
              <a:t>O sucessor do último elemento é o primeiro elemento da lista.</a:t>
            </a:r>
          </a:p>
          <a:p>
            <a:r>
              <a:rPr lang="pt-BR" dirty="0"/>
              <a:t>Uma mudança na lista linear:</a:t>
            </a:r>
          </a:p>
          <a:p>
            <a:pPr lvl="1"/>
            <a:r>
              <a:rPr lang="pt-BR" dirty="0"/>
              <a:t>O campo </a:t>
            </a:r>
            <a:r>
              <a:rPr lang="pt-BR" i="1" dirty="0" err="1"/>
              <a:t>prox</a:t>
            </a:r>
            <a:r>
              <a:rPr lang="pt-BR" dirty="0"/>
              <a:t> do ultimo elemento referencia o primeiro elemento, ou invés de nulo.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CBA14F-8A5C-4121-A09B-6874E2B9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2799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Neste caso, pode-se usar somente uma referência permanente: o primeiro elemento da lista, ao contrário da lista ligada que utilizava duas: primeiro (</a:t>
            </a:r>
            <a:r>
              <a:rPr lang="pt-BR" i="1" dirty="0" err="1"/>
              <a:t>head</a:t>
            </a:r>
            <a:r>
              <a:rPr lang="pt-BR" dirty="0"/>
              <a:t>) e ultimo.</a:t>
            </a:r>
          </a:p>
          <a:p>
            <a:pPr lvl="1"/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7F0729-76F2-4A75-8ACA-B36C5334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8697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Lista circular vazia (note que não há mais a referência ao ultimo elemento):</a:t>
            </a:r>
          </a:p>
        </p:txBody>
      </p:sp>
      <p:sp>
        <p:nvSpPr>
          <p:cNvPr id="14" name="Elipse 13"/>
          <p:cNvSpPr/>
          <p:nvPr/>
        </p:nvSpPr>
        <p:spPr>
          <a:xfrm>
            <a:off x="2855640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>
            <a:stCxn id="14" idx="2"/>
            <a:endCxn id="14" idx="6"/>
          </p:cNvCxnSpPr>
          <p:nvPr/>
        </p:nvCxnSpPr>
        <p:spPr>
          <a:xfrm>
            <a:off x="2855640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071665" y="3911285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051284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999656" y="478786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grpSp>
        <p:nvGrpSpPr>
          <p:cNvPr id="95" name="Grupo 94"/>
          <p:cNvGrpSpPr/>
          <p:nvPr/>
        </p:nvGrpSpPr>
        <p:grpSpPr>
          <a:xfrm>
            <a:off x="2495600" y="4095952"/>
            <a:ext cx="1728192" cy="1205257"/>
            <a:chOff x="971600" y="4095951"/>
            <a:chExt cx="1728192" cy="1205257"/>
          </a:xfrm>
        </p:grpSpPr>
        <p:cxnSp>
          <p:nvCxnSpPr>
            <p:cNvPr id="88" name="Conector reto 87"/>
            <p:cNvCxnSpPr/>
            <p:nvPr/>
          </p:nvCxnSpPr>
          <p:spPr>
            <a:xfrm>
              <a:off x="2411760" y="4455991"/>
              <a:ext cx="2880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to 88"/>
            <p:cNvCxnSpPr/>
            <p:nvPr/>
          </p:nvCxnSpPr>
          <p:spPr>
            <a:xfrm>
              <a:off x="2699792" y="4455991"/>
              <a:ext cx="0" cy="8452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to 90"/>
            <p:cNvCxnSpPr/>
            <p:nvPr/>
          </p:nvCxnSpPr>
          <p:spPr>
            <a:xfrm flipV="1">
              <a:off x="971600" y="4095951"/>
              <a:ext cx="0" cy="12052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/>
            <p:cNvCxnSpPr/>
            <p:nvPr/>
          </p:nvCxnSpPr>
          <p:spPr>
            <a:xfrm>
              <a:off x="971600" y="4095951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to 93"/>
            <p:cNvCxnSpPr/>
            <p:nvPr/>
          </p:nvCxnSpPr>
          <p:spPr>
            <a:xfrm flipH="1">
              <a:off x="971600" y="5301208"/>
              <a:ext cx="17281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F48AA5-A28C-475A-9780-8CDA42497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7620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Inserção de um novo elemento na lista.</a:t>
            </a:r>
          </a:p>
        </p:txBody>
      </p:sp>
      <p:sp>
        <p:nvSpPr>
          <p:cNvPr id="14" name="Elipse 13"/>
          <p:cNvSpPr/>
          <p:nvPr/>
        </p:nvSpPr>
        <p:spPr>
          <a:xfrm>
            <a:off x="2855640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>
            <a:stCxn id="14" idx="2"/>
            <a:endCxn id="14" idx="6"/>
          </p:cNvCxnSpPr>
          <p:nvPr/>
        </p:nvCxnSpPr>
        <p:spPr>
          <a:xfrm>
            <a:off x="2855640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071665" y="3911285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051284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999656" y="478786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0" name="Elipse 9"/>
          <p:cNvSpPr/>
          <p:nvPr/>
        </p:nvSpPr>
        <p:spPr>
          <a:xfrm>
            <a:off x="4583832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10" idx="2"/>
            <a:endCxn id="10" idx="6"/>
          </p:cNvCxnSpPr>
          <p:nvPr/>
        </p:nvCxnSpPr>
        <p:spPr>
          <a:xfrm>
            <a:off x="45838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47794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grpSp>
        <p:nvGrpSpPr>
          <p:cNvPr id="47" name="Grupo 46"/>
          <p:cNvGrpSpPr/>
          <p:nvPr/>
        </p:nvGrpSpPr>
        <p:grpSpPr>
          <a:xfrm>
            <a:off x="2495600" y="4095952"/>
            <a:ext cx="3384376" cy="1205257"/>
            <a:chOff x="1043608" y="4095951"/>
            <a:chExt cx="3384376" cy="1205257"/>
          </a:xfrm>
        </p:grpSpPr>
        <p:cxnSp>
          <p:nvCxnSpPr>
            <p:cNvPr id="32" name="Conector reto 31"/>
            <p:cNvCxnSpPr/>
            <p:nvPr/>
          </p:nvCxnSpPr>
          <p:spPr>
            <a:xfrm>
              <a:off x="4139952" y="4455991"/>
              <a:ext cx="2880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to 33"/>
            <p:cNvCxnSpPr/>
            <p:nvPr/>
          </p:nvCxnSpPr>
          <p:spPr>
            <a:xfrm>
              <a:off x="4427984" y="4455991"/>
              <a:ext cx="0" cy="8452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to 35"/>
            <p:cNvCxnSpPr/>
            <p:nvPr/>
          </p:nvCxnSpPr>
          <p:spPr>
            <a:xfrm flipH="1">
              <a:off x="1043608" y="5301208"/>
              <a:ext cx="33843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to 43"/>
            <p:cNvCxnSpPr/>
            <p:nvPr/>
          </p:nvCxnSpPr>
          <p:spPr>
            <a:xfrm flipV="1">
              <a:off x="1043608" y="4095951"/>
              <a:ext cx="0" cy="12052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/>
            <p:nvPr/>
          </p:nvCxnSpPr>
          <p:spPr>
            <a:xfrm>
              <a:off x="1043608" y="4095951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Conector em curva 49"/>
          <p:cNvCxnSpPr/>
          <p:nvPr/>
        </p:nvCxnSpPr>
        <p:spPr>
          <a:xfrm flipV="1">
            <a:off x="3863752" y="4095951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465676" y="3356992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A91F1C-09FB-4837-B57C-7E507D0E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88</a:t>
            </a:fld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6D38139-0F8E-4B68-9B67-98280EC93D70}"/>
              </a:ext>
            </a:extLst>
          </p:cNvPr>
          <p:cNvSpPr txBox="1"/>
          <p:nvPr/>
        </p:nvSpPr>
        <p:spPr>
          <a:xfrm>
            <a:off x="4912808" y="389691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651275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Inserção de um novo elemento na lista.</a:t>
            </a:r>
          </a:p>
        </p:txBody>
      </p:sp>
      <p:sp>
        <p:nvSpPr>
          <p:cNvPr id="14" name="Elipse 13"/>
          <p:cNvSpPr/>
          <p:nvPr/>
        </p:nvSpPr>
        <p:spPr>
          <a:xfrm>
            <a:off x="2855640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>
            <a:stCxn id="14" idx="2"/>
            <a:endCxn id="14" idx="6"/>
          </p:cNvCxnSpPr>
          <p:nvPr/>
        </p:nvCxnSpPr>
        <p:spPr>
          <a:xfrm>
            <a:off x="2855640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071665" y="3911285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051284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999656" y="478786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0" name="Elipse 9"/>
          <p:cNvSpPr/>
          <p:nvPr/>
        </p:nvSpPr>
        <p:spPr>
          <a:xfrm>
            <a:off x="4583832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10" idx="2"/>
            <a:endCxn id="10" idx="6"/>
          </p:cNvCxnSpPr>
          <p:nvPr/>
        </p:nvCxnSpPr>
        <p:spPr>
          <a:xfrm>
            <a:off x="45838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47794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0" name="Conector em curva 49"/>
          <p:cNvCxnSpPr/>
          <p:nvPr/>
        </p:nvCxnSpPr>
        <p:spPr>
          <a:xfrm flipV="1">
            <a:off x="3863752" y="4095951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/>
          <p:nvPr/>
        </p:nvSpPr>
        <p:spPr>
          <a:xfrm>
            <a:off x="6384032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/>
          <p:cNvCxnSpPr>
            <a:stCxn id="35" idx="2"/>
            <a:endCxn id="35" idx="6"/>
          </p:cNvCxnSpPr>
          <p:nvPr/>
        </p:nvCxnSpPr>
        <p:spPr>
          <a:xfrm>
            <a:off x="63840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65796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40" name="Conector em curva 39"/>
          <p:cNvCxnSpPr/>
          <p:nvPr/>
        </p:nvCxnSpPr>
        <p:spPr>
          <a:xfrm flipV="1">
            <a:off x="5663952" y="4117722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/>
          <p:nvPr/>
        </p:nvCxnSpPr>
        <p:spPr>
          <a:xfrm flipH="1">
            <a:off x="2495600" y="5301208"/>
            <a:ext cx="5184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 flipV="1">
            <a:off x="2495600" y="4095952"/>
            <a:ext cx="0" cy="1205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2495600" y="4095951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flipV="1">
            <a:off x="7680176" y="4477762"/>
            <a:ext cx="0" cy="823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 flipH="1">
            <a:off x="7464152" y="4455991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6265876" y="3356992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3640FB-7045-4CE8-AA12-330873D5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89</a:t>
            </a:fld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2B28D26-C0BB-4E0A-9378-8FF796474437}"/>
              </a:ext>
            </a:extLst>
          </p:cNvPr>
          <p:cNvSpPr txBox="1"/>
          <p:nvPr/>
        </p:nvSpPr>
        <p:spPr>
          <a:xfrm>
            <a:off x="4912808" y="389691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21BB3FC-3584-404D-839A-917A6583AD94}"/>
              </a:ext>
            </a:extLst>
          </p:cNvPr>
          <p:cNvSpPr txBox="1"/>
          <p:nvPr/>
        </p:nvSpPr>
        <p:spPr>
          <a:xfrm>
            <a:off x="6744540" y="389105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71171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Removendo o ultimo elemento da lista.</a:t>
            </a:r>
          </a:p>
        </p:txBody>
      </p:sp>
      <p:sp>
        <p:nvSpPr>
          <p:cNvPr id="14" name="Elipse 13"/>
          <p:cNvSpPr/>
          <p:nvPr/>
        </p:nvSpPr>
        <p:spPr>
          <a:xfrm>
            <a:off x="2855640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>
            <a:stCxn id="14" idx="2"/>
            <a:endCxn id="14" idx="6"/>
          </p:cNvCxnSpPr>
          <p:nvPr/>
        </p:nvCxnSpPr>
        <p:spPr>
          <a:xfrm>
            <a:off x="2855640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071665" y="3911285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051284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999656" y="478786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0" name="Elipse 9"/>
          <p:cNvSpPr/>
          <p:nvPr/>
        </p:nvSpPr>
        <p:spPr>
          <a:xfrm>
            <a:off x="4583832" y="3767269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10" idx="2"/>
            <a:endCxn id="10" idx="6"/>
          </p:cNvCxnSpPr>
          <p:nvPr/>
        </p:nvCxnSpPr>
        <p:spPr>
          <a:xfrm>
            <a:off x="45838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47794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0" name="Conector em curva 49"/>
          <p:cNvCxnSpPr/>
          <p:nvPr/>
        </p:nvCxnSpPr>
        <p:spPr>
          <a:xfrm flipV="1">
            <a:off x="3863752" y="4095951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/>
          <p:nvPr/>
        </p:nvSpPr>
        <p:spPr>
          <a:xfrm>
            <a:off x="6384032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/>
          <p:cNvCxnSpPr>
            <a:stCxn id="35" idx="2"/>
            <a:endCxn id="35" idx="6"/>
          </p:cNvCxnSpPr>
          <p:nvPr/>
        </p:nvCxnSpPr>
        <p:spPr>
          <a:xfrm>
            <a:off x="63840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65796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40" name="Conector em curva 39"/>
          <p:cNvCxnSpPr/>
          <p:nvPr/>
        </p:nvCxnSpPr>
        <p:spPr>
          <a:xfrm flipV="1">
            <a:off x="5663952" y="4117722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/>
          <p:nvPr/>
        </p:nvCxnSpPr>
        <p:spPr>
          <a:xfrm flipH="1">
            <a:off x="2495600" y="5301208"/>
            <a:ext cx="5184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 flipV="1">
            <a:off x="2495600" y="4095952"/>
            <a:ext cx="0" cy="1205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2495600" y="4095951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flipV="1">
            <a:off x="7680176" y="4477762"/>
            <a:ext cx="0" cy="823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 flipH="1">
            <a:off x="7464152" y="4455991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3071664" y="3429000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B47479-B5C9-4BC9-8992-771BE6C8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90</a:t>
            </a:fld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6ED95EB-6335-4947-8D61-8CD7BC31FA0C}"/>
              </a:ext>
            </a:extLst>
          </p:cNvPr>
          <p:cNvSpPr txBox="1"/>
          <p:nvPr/>
        </p:nvSpPr>
        <p:spPr>
          <a:xfrm>
            <a:off x="4912808" y="389691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473119D-E9A1-4BF9-8792-805C130C2760}"/>
              </a:ext>
            </a:extLst>
          </p:cNvPr>
          <p:cNvSpPr txBox="1"/>
          <p:nvPr/>
        </p:nvSpPr>
        <p:spPr>
          <a:xfrm>
            <a:off x="6744540" y="389105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865707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Removendo o ultimo elemento da lista.</a:t>
            </a:r>
          </a:p>
        </p:txBody>
      </p:sp>
      <p:sp>
        <p:nvSpPr>
          <p:cNvPr id="14" name="Elipse 13"/>
          <p:cNvSpPr/>
          <p:nvPr/>
        </p:nvSpPr>
        <p:spPr>
          <a:xfrm>
            <a:off x="2855640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>
            <a:stCxn id="14" idx="2"/>
            <a:endCxn id="14" idx="6"/>
          </p:cNvCxnSpPr>
          <p:nvPr/>
        </p:nvCxnSpPr>
        <p:spPr>
          <a:xfrm>
            <a:off x="2855640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071665" y="3911285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051284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999656" y="478786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0" name="Elipse 9"/>
          <p:cNvSpPr/>
          <p:nvPr/>
        </p:nvSpPr>
        <p:spPr>
          <a:xfrm>
            <a:off x="4583832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10" idx="2"/>
            <a:endCxn id="10" idx="6"/>
          </p:cNvCxnSpPr>
          <p:nvPr/>
        </p:nvCxnSpPr>
        <p:spPr>
          <a:xfrm>
            <a:off x="45838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47794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0" name="Conector em curva 49"/>
          <p:cNvCxnSpPr/>
          <p:nvPr/>
        </p:nvCxnSpPr>
        <p:spPr>
          <a:xfrm flipV="1">
            <a:off x="3863752" y="4095951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/>
          <p:nvPr/>
        </p:nvSpPr>
        <p:spPr>
          <a:xfrm>
            <a:off x="6384032" y="3767269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/>
          <p:cNvCxnSpPr>
            <a:stCxn id="35" idx="2"/>
            <a:endCxn id="35" idx="6"/>
          </p:cNvCxnSpPr>
          <p:nvPr/>
        </p:nvCxnSpPr>
        <p:spPr>
          <a:xfrm>
            <a:off x="63840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65796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40" name="Conector em curva 39"/>
          <p:cNvCxnSpPr/>
          <p:nvPr/>
        </p:nvCxnSpPr>
        <p:spPr>
          <a:xfrm flipV="1">
            <a:off x="5663952" y="4117722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/>
          <p:nvPr/>
        </p:nvCxnSpPr>
        <p:spPr>
          <a:xfrm flipH="1">
            <a:off x="2495600" y="5301208"/>
            <a:ext cx="5184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 flipV="1">
            <a:off x="2495600" y="4095952"/>
            <a:ext cx="0" cy="1205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2495600" y="4095951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flipV="1">
            <a:off x="7680176" y="4477762"/>
            <a:ext cx="0" cy="823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 flipH="1">
            <a:off x="7464152" y="4455991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799856" y="3429000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9A9842-D75B-41B7-A2C5-FDDCA547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91</a:t>
            </a:fld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89F9330-4207-4B26-A77D-66F497F43678}"/>
              </a:ext>
            </a:extLst>
          </p:cNvPr>
          <p:cNvSpPr txBox="1"/>
          <p:nvPr/>
        </p:nvSpPr>
        <p:spPr>
          <a:xfrm>
            <a:off x="4912808" y="389691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BB72464-D780-46D9-AF8A-3371CBA048CA}"/>
              </a:ext>
            </a:extLst>
          </p:cNvPr>
          <p:cNvSpPr txBox="1"/>
          <p:nvPr/>
        </p:nvSpPr>
        <p:spPr>
          <a:xfrm>
            <a:off x="6744540" y="389105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980342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Removendo um elemento da lista.</a:t>
            </a:r>
          </a:p>
        </p:txBody>
      </p:sp>
      <p:sp>
        <p:nvSpPr>
          <p:cNvPr id="14" name="Elipse 13"/>
          <p:cNvSpPr/>
          <p:nvPr/>
        </p:nvSpPr>
        <p:spPr>
          <a:xfrm>
            <a:off x="2855640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>
            <a:stCxn id="14" idx="2"/>
            <a:endCxn id="14" idx="6"/>
          </p:cNvCxnSpPr>
          <p:nvPr/>
        </p:nvCxnSpPr>
        <p:spPr>
          <a:xfrm>
            <a:off x="2855640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071665" y="3911285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051284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999656" y="478786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0" name="Elipse 9"/>
          <p:cNvSpPr/>
          <p:nvPr/>
        </p:nvSpPr>
        <p:spPr>
          <a:xfrm>
            <a:off x="4583832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10" idx="2"/>
            <a:endCxn id="10" idx="6"/>
          </p:cNvCxnSpPr>
          <p:nvPr/>
        </p:nvCxnSpPr>
        <p:spPr>
          <a:xfrm>
            <a:off x="45838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47794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0" name="Conector em curva 49"/>
          <p:cNvCxnSpPr/>
          <p:nvPr/>
        </p:nvCxnSpPr>
        <p:spPr>
          <a:xfrm flipV="1">
            <a:off x="3863752" y="4095951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/>
          <p:nvPr/>
        </p:nvSpPr>
        <p:spPr>
          <a:xfrm>
            <a:off x="6384032" y="3767269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/>
          <p:cNvCxnSpPr>
            <a:stCxn id="35" idx="2"/>
            <a:endCxn id="35" idx="6"/>
          </p:cNvCxnSpPr>
          <p:nvPr/>
        </p:nvCxnSpPr>
        <p:spPr>
          <a:xfrm>
            <a:off x="63840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65796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40" name="Conector em curva 39"/>
          <p:cNvCxnSpPr/>
          <p:nvPr/>
        </p:nvCxnSpPr>
        <p:spPr>
          <a:xfrm flipV="1">
            <a:off x="5663952" y="4117722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/>
          <p:nvPr/>
        </p:nvCxnSpPr>
        <p:spPr>
          <a:xfrm flipH="1">
            <a:off x="2495600" y="5301208"/>
            <a:ext cx="5184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 flipV="1">
            <a:off x="2495600" y="4095952"/>
            <a:ext cx="0" cy="1205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2495600" y="4095951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flipV="1">
            <a:off x="7680176" y="4477762"/>
            <a:ext cx="0" cy="823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 flipH="1">
            <a:off x="7464152" y="4455991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25610" y="47251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799856" y="3429000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197106" y="4640657"/>
            <a:ext cx="2244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Recupera o elemento </a:t>
            </a:r>
          </a:p>
          <a:p>
            <a:r>
              <a:rPr lang="pt-BR" dirty="0"/>
              <a:t>a ser removido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93BCAF-37BA-4C03-ACA3-328EAC1B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92</a:t>
            </a:fld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23AA0FC-A3A8-47FA-B408-1B62AE967D4C}"/>
              </a:ext>
            </a:extLst>
          </p:cNvPr>
          <p:cNvSpPr txBox="1"/>
          <p:nvPr/>
        </p:nvSpPr>
        <p:spPr>
          <a:xfrm>
            <a:off x="4912808" y="389691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309797F-BD3C-4B53-84BE-186B9C6D9E0D}"/>
              </a:ext>
            </a:extLst>
          </p:cNvPr>
          <p:cNvSpPr txBox="1"/>
          <p:nvPr/>
        </p:nvSpPr>
        <p:spPr>
          <a:xfrm>
            <a:off x="6744540" y="389105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09953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Removendo um elemento da lista.</a:t>
            </a:r>
          </a:p>
        </p:txBody>
      </p:sp>
      <p:sp>
        <p:nvSpPr>
          <p:cNvPr id="14" name="Elipse 13"/>
          <p:cNvSpPr/>
          <p:nvPr/>
        </p:nvSpPr>
        <p:spPr>
          <a:xfrm>
            <a:off x="2855640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>
            <a:stCxn id="14" idx="2"/>
            <a:endCxn id="14" idx="6"/>
          </p:cNvCxnSpPr>
          <p:nvPr/>
        </p:nvCxnSpPr>
        <p:spPr>
          <a:xfrm>
            <a:off x="2855640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071665" y="3911285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051284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999656" y="4787860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0" name="Elipse 9"/>
          <p:cNvSpPr/>
          <p:nvPr/>
        </p:nvSpPr>
        <p:spPr>
          <a:xfrm>
            <a:off x="4583832" y="3767269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10" idx="2"/>
            <a:endCxn id="10" idx="6"/>
          </p:cNvCxnSpPr>
          <p:nvPr/>
        </p:nvCxnSpPr>
        <p:spPr>
          <a:xfrm>
            <a:off x="4583832" y="4271325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47794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0" name="Conector em curva 49"/>
          <p:cNvCxnSpPr/>
          <p:nvPr/>
        </p:nvCxnSpPr>
        <p:spPr>
          <a:xfrm flipV="1">
            <a:off x="3863752" y="4095951"/>
            <a:ext cx="668454" cy="36004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/>
          <p:nvPr/>
        </p:nvSpPr>
        <p:spPr>
          <a:xfrm>
            <a:off x="6384032" y="3767269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/>
          <p:cNvCxnSpPr>
            <a:stCxn id="35" idx="2"/>
            <a:endCxn id="35" idx="6"/>
          </p:cNvCxnSpPr>
          <p:nvPr/>
        </p:nvCxnSpPr>
        <p:spPr>
          <a:xfrm>
            <a:off x="6384032" y="4271325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6579676" y="4271325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45" name="Conector reto 44"/>
          <p:cNvCxnSpPr/>
          <p:nvPr/>
        </p:nvCxnSpPr>
        <p:spPr>
          <a:xfrm flipH="1">
            <a:off x="2495600" y="5301208"/>
            <a:ext cx="3384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 flipV="1">
            <a:off x="2495600" y="4095952"/>
            <a:ext cx="0" cy="1205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2495600" y="4095951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flipV="1">
            <a:off x="5879976" y="4477762"/>
            <a:ext cx="0" cy="823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 flipH="1">
            <a:off x="5663952" y="4455991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25610" y="47251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q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799856" y="3429000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687562" y="5385695"/>
            <a:ext cx="5175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Ao invés de referenciar nulo, passa a</a:t>
            </a:r>
          </a:p>
          <a:p>
            <a:r>
              <a:rPr lang="pt-BR" dirty="0"/>
              <a:t>referenciar o primeiro elemento (próximo elemento).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D067DA-5F9C-4C60-B989-FDA5D990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93</a:t>
            </a:fld>
            <a:endParaRPr lang="pt-BR"/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86838798-5F2B-4370-BF77-8AC1A9AACA1E}"/>
              </a:ext>
            </a:extLst>
          </p:cNvPr>
          <p:cNvCxnSpPr/>
          <p:nvPr/>
        </p:nvCxnSpPr>
        <p:spPr>
          <a:xfrm>
            <a:off x="6863150" y="3104494"/>
            <a:ext cx="0" cy="474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377A540-10F3-4F39-938C-365FB1C4D1C3}"/>
              </a:ext>
            </a:extLst>
          </p:cNvPr>
          <p:cNvSpPr txBox="1"/>
          <p:nvPr/>
        </p:nvSpPr>
        <p:spPr>
          <a:xfrm>
            <a:off x="6579676" y="2638502"/>
            <a:ext cx="29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CF4DD25-4D32-45AD-A97A-29D921CC0793}"/>
              </a:ext>
            </a:extLst>
          </p:cNvPr>
          <p:cNvSpPr txBox="1"/>
          <p:nvPr/>
        </p:nvSpPr>
        <p:spPr>
          <a:xfrm>
            <a:off x="4912808" y="389691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1F5F3D4-071D-43F2-8618-E9A74212F26D}"/>
              </a:ext>
            </a:extLst>
          </p:cNvPr>
          <p:cNvSpPr txBox="1"/>
          <p:nvPr/>
        </p:nvSpPr>
        <p:spPr>
          <a:xfrm>
            <a:off x="6744540" y="389105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686616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Circulares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nas listas lineares, para remover o ultimo elemento é necessário percorrer toda a lista.</a:t>
            </a:r>
          </a:p>
          <a:p>
            <a:endParaRPr lang="pt-BR" dirty="0"/>
          </a:p>
          <a:p>
            <a:r>
              <a:rPr lang="pt-BR" dirty="0"/>
              <a:t>No entanto, com listas circulares é possível acessar qualquer elemento de qualquer ponto da lista (uma vez que a partir do último é possível acessar o primeiro).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BE0C22-09A2-49B8-A2D3-156598F2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94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4149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Baseado na implementação da lista ligada (lista auto referenciada ou encadeada) apresentada em aula, implemente as listas Duplamente Encadeada e a Lista Circular e suas operações básicas.</a:t>
            </a:r>
          </a:p>
          <a:p>
            <a:r>
              <a:rPr lang="pt-BR" dirty="0"/>
              <a:t>Para a lista Duplamente Encadeada implemente operações que:</a:t>
            </a:r>
          </a:p>
          <a:p>
            <a:pPr lvl="1"/>
            <a:r>
              <a:rPr lang="pt-BR" dirty="0"/>
              <a:t>Insere novo elemento no meio da lista (ordenada);</a:t>
            </a:r>
          </a:p>
          <a:p>
            <a:pPr lvl="1"/>
            <a:r>
              <a:rPr lang="pt-BR" dirty="0"/>
              <a:t>Remove ultimo elemento;</a:t>
            </a:r>
          </a:p>
          <a:p>
            <a:pPr lvl="1"/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5903CD-C954-4A90-BDCE-5A946671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C75-5422-40BC-8F03-B9A926834876}" type="slidenum">
              <a:rPr lang="pt-BR" smtClean="0"/>
              <a:t>95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71149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Baseado no material de aulas de: </a:t>
            </a:r>
          </a:p>
          <a:p>
            <a:pPr lvl="1"/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pPr lvl="1"/>
            <a:r>
              <a:rPr lang="pt-BR" dirty="0"/>
              <a:t>Para downloads dos códigos em Java:</a:t>
            </a:r>
          </a:p>
          <a:p>
            <a:pPr lvl="1"/>
            <a:r>
              <a:rPr lang="pt-BR" dirty="0">
                <a:hlinkClick r:id="rId2"/>
              </a:rPr>
              <a:t>http://www2.dcc.ufmg.br/livros/algoritmos-java/implementacoes-03.php</a:t>
            </a:r>
            <a:endParaRPr lang="pt-BR" dirty="0"/>
          </a:p>
          <a:p>
            <a:endParaRPr lang="pt-BR" dirty="0"/>
          </a:p>
          <a:p>
            <a:r>
              <a:rPr lang="pt-BR" dirty="0"/>
              <a:t>Outras referências:</a:t>
            </a:r>
          </a:p>
          <a:p>
            <a:pPr lvl="1"/>
            <a:r>
              <a:rPr lang="pt-BR" dirty="0"/>
              <a:t>CORMEN, Thomas H. et al. Algoritmos: teoria e prática. Rio de Janeiro: Campus, 2002. 916p. ISBN 8535209263 (Disponível no Acervo).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DROZDEK, Adam. Estrutura de dados e algoritmos em C++. São Paulo: Pioneira Thomson Learning, 2002. </a:t>
            </a:r>
            <a:r>
              <a:rPr lang="pt-BR" dirty="0" err="1"/>
              <a:t>xviii</a:t>
            </a:r>
            <a:r>
              <a:rPr lang="pt-BR" dirty="0"/>
              <a:t>, 579p. ISBN 8522102953 (Disponível no Acervo).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4E0C8-41CC-4E84-AFA6-B349EB4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96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86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8179</Words>
  <Application>Microsoft Office PowerPoint</Application>
  <PresentationFormat>Widescreen</PresentationFormat>
  <Paragraphs>1532</Paragraphs>
  <Slides>96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96</vt:i4>
      </vt:variant>
    </vt:vector>
  </HeadingPairs>
  <TitlesOfParts>
    <vt:vector size="102" baseType="lpstr">
      <vt:lpstr>Arial</vt:lpstr>
      <vt:lpstr>Calibri</vt:lpstr>
      <vt:lpstr>Calibri Light</vt:lpstr>
      <vt:lpstr>Cambria Math</vt:lpstr>
      <vt:lpstr>Consolas</vt:lpstr>
      <vt:lpstr>Tema do Office</vt:lpstr>
      <vt:lpstr>TAD – Listas Lineares</vt:lpstr>
      <vt:lpstr>Referências</vt:lpstr>
      <vt:lpstr>Listas Lineares</vt:lpstr>
      <vt:lpstr>Listas Lineares</vt:lpstr>
      <vt:lpstr>Listas Lineares</vt:lpstr>
      <vt:lpstr>Listas Lineares</vt:lpstr>
      <vt:lpstr>Operação sobre Listas Lineares</vt:lpstr>
      <vt:lpstr>Representação de Listas Lineares</vt:lpstr>
      <vt:lpstr>Representação de Listas Lineares</vt:lpstr>
      <vt:lpstr>Implementação de Listas por meio de Arranjos</vt:lpstr>
      <vt:lpstr>Implementação de Listas por meio de Arranjos</vt:lpstr>
      <vt:lpstr>Propriedade das Listas Lineares</vt:lpstr>
      <vt:lpstr>Propriedade das Listas Lineares</vt:lpstr>
      <vt:lpstr>Propriedade das Listas Lineares</vt:lpstr>
      <vt:lpstr>Propriedade das Listas Lineares</vt:lpstr>
      <vt:lpstr>Propriedade das Listas Lineares</vt:lpstr>
      <vt:lpstr>Propriedade das Listas Lineares</vt:lpstr>
      <vt:lpstr>Propriedade das Listas Lineares</vt:lpstr>
      <vt:lpstr>Propriedade das Listas Lineares</vt:lpstr>
      <vt:lpstr>Propriedade das Listas Lineares</vt:lpstr>
      <vt:lpstr>Listas por meio de Arranjos</vt:lpstr>
      <vt:lpstr>Listas por meio de Arranjos</vt:lpstr>
      <vt:lpstr>Listas por meio de Arranjos</vt:lpstr>
      <vt:lpstr>Implementação de Listas por meio de Arranjos</vt:lpstr>
      <vt:lpstr>Implementação de Lista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Filas usando Estruturas Auto Referenciadas</vt:lpstr>
      <vt:lpstr>Filas usando Estruturas Auto Referenciadas</vt:lpstr>
      <vt:lpstr>Filas usando Estruturas Auto Referenciadas</vt:lpstr>
      <vt:lpstr>Filas usando Estruturas Auto Referenciadas</vt:lpstr>
      <vt:lpstr>Teste da Lista</vt:lpstr>
      <vt:lpstr>Teste da Lista</vt:lpstr>
      <vt:lpstr>Teste da Lista</vt:lpstr>
      <vt:lpstr>Implementação de Listas por meio de Estruturas Auto Referenciadas</vt:lpstr>
      <vt:lpstr>Exercícios</vt:lpstr>
      <vt:lpstr>Listas Duplamente Ligadas</vt:lpstr>
      <vt:lpstr>Listas Duplamente Ligadas</vt:lpstr>
      <vt:lpstr>Listas Duplamente Ligadas</vt:lpstr>
      <vt:lpstr>Listas Duplamente Ligadas</vt:lpstr>
      <vt:lpstr>Listas Duplamente Ligadas</vt:lpstr>
      <vt:lpstr>Listas Duplamente Ligadas</vt:lpstr>
      <vt:lpstr>Listas Duplamente Ligadas</vt:lpstr>
      <vt:lpstr>Listas Duplamente Ligadas</vt:lpstr>
      <vt:lpstr>Listas Duplamente Ligadas</vt:lpstr>
      <vt:lpstr>Listas Duplamente Ligadas</vt:lpstr>
      <vt:lpstr>Listas Duplamente Ligadas</vt:lpstr>
      <vt:lpstr>Listas Duplamente Ligadas</vt:lpstr>
      <vt:lpstr>Listas Duplamente Ligadas</vt:lpstr>
      <vt:lpstr>Listas Circulares</vt:lpstr>
      <vt:lpstr>Listas Circulares</vt:lpstr>
      <vt:lpstr>Listas Circulares</vt:lpstr>
      <vt:lpstr>Listas Circulares</vt:lpstr>
      <vt:lpstr>Listas Circulares</vt:lpstr>
      <vt:lpstr>Listas Circulares</vt:lpstr>
      <vt:lpstr>Listas Circulares</vt:lpstr>
      <vt:lpstr>Listas Circulares</vt:lpstr>
      <vt:lpstr>Listas Circulares</vt:lpstr>
      <vt:lpstr>Listas Circulares</vt:lpstr>
      <vt:lpstr>Exercícios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 – Listas Lineares</dc:title>
  <dc:creator>Henrique Silva</dc:creator>
  <cp:lastModifiedBy>Henrique Silva</cp:lastModifiedBy>
  <cp:revision>23</cp:revision>
  <dcterms:created xsi:type="dcterms:W3CDTF">2018-02-12T01:38:28Z</dcterms:created>
  <dcterms:modified xsi:type="dcterms:W3CDTF">2019-08-10T15:33:01Z</dcterms:modified>
</cp:coreProperties>
</file>