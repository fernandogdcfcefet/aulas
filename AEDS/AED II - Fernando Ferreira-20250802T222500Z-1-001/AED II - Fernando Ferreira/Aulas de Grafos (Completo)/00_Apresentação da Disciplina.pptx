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Grafos e Algoritmos Computacionais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Disciplina:</a:t>
            </a:r>
            <a:r>
              <a:rPr lang="pt-BR" dirty="0"/>
              <a:t> Grafos e Algoritmos Computacionais</a:t>
            </a:r>
          </a:p>
          <a:p>
            <a:r>
              <a:rPr lang="pt-BR" b="1" dirty="0"/>
              <a:t>Carga Horaria:</a:t>
            </a:r>
            <a:r>
              <a:rPr lang="pt-BR" dirty="0"/>
              <a:t> 68 horas</a:t>
            </a:r>
          </a:p>
          <a:p>
            <a:r>
              <a:rPr lang="pt-BR" b="1" dirty="0"/>
              <a:t>Curso:</a:t>
            </a:r>
            <a:r>
              <a:rPr lang="pt-BR" dirty="0"/>
              <a:t> Sistemas de Informação </a:t>
            </a:r>
          </a:p>
          <a:p>
            <a:r>
              <a:rPr lang="pt-BR" b="1" dirty="0"/>
              <a:t>Professor:</a:t>
            </a:r>
            <a:r>
              <a:rPr lang="pt-BR" dirty="0"/>
              <a:t> Henrique Batista da Silva </a:t>
            </a:r>
          </a:p>
          <a:p>
            <a:r>
              <a:rPr lang="pt-BR" b="1" dirty="0"/>
              <a:t>Período Letivo:</a:t>
            </a:r>
            <a:r>
              <a:rPr lang="pt-BR" dirty="0"/>
              <a:t> 2016/2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872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Introdução</a:t>
            </a:r>
          </a:p>
          <a:p>
            <a:pPr lvl="1"/>
            <a:r>
              <a:rPr lang="pt-BR" dirty="0"/>
              <a:t>Conceitos, estruturas de dados.</a:t>
            </a:r>
          </a:p>
          <a:p>
            <a:r>
              <a:rPr lang="pt-BR" dirty="0"/>
              <a:t>Caminhos e circuitos</a:t>
            </a:r>
          </a:p>
          <a:p>
            <a:pPr lvl="1"/>
            <a:r>
              <a:rPr lang="pt-BR" dirty="0"/>
              <a:t>Algoritmos de travessia, grafos </a:t>
            </a:r>
            <a:r>
              <a:rPr lang="pt-BR" dirty="0" err="1"/>
              <a:t>Eulerianos</a:t>
            </a:r>
            <a:r>
              <a:rPr lang="pt-BR" dirty="0"/>
              <a:t> e Hamiltonianos.</a:t>
            </a:r>
          </a:p>
          <a:p>
            <a:r>
              <a:rPr lang="pt-BR" dirty="0"/>
              <a:t>Conectividade de vértices e arestas. </a:t>
            </a:r>
          </a:p>
          <a:p>
            <a:r>
              <a:rPr lang="pt-BR" dirty="0"/>
              <a:t>Fluxos de redes.</a:t>
            </a:r>
          </a:p>
          <a:p>
            <a:r>
              <a:rPr lang="pt-BR" dirty="0"/>
              <a:t>Árvores.</a:t>
            </a:r>
          </a:p>
          <a:p>
            <a:r>
              <a:rPr lang="pt-BR" dirty="0"/>
              <a:t>Coloração.</a:t>
            </a:r>
          </a:p>
          <a:p>
            <a:r>
              <a:rPr lang="pt-BR" dirty="0" err="1"/>
              <a:t>Particionamento</a:t>
            </a:r>
            <a:endParaRPr lang="pt-BR" dirty="0"/>
          </a:p>
          <a:p>
            <a:pPr lvl="1"/>
            <a:r>
              <a:rPr lang="pt-BR" dirty="0"/>
              <a:t>Independência e dominância, cobertura e vértices e arestas.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99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avaliação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processo de avaliação será baseado em dois módulos valendo 40 pontos e o Trabalho Interdisciplinar no valor de 20 pontos.</a:t>
            </a:r>
          </a:p>
          <a:p>
            <a:r>
              <a:rPr lang="pt-BR" dirty="0"/>
              <a:t>Módulo 1</a:t>
            </a:r>
          </a:p>
          <a:p>
            <a:pPr lvl="1"/>
            <a:r>
              <a:rPr lang="pt-BR" dirty="0"/>
              <a:t>P1 – Primeira prova – 30 pontos (individual e sem consulta).</a:t>
            </a:r>
          </a:p>
          <a:p>
            <a:pPr lvl="1"/>
            <a:r>
              <a:rPr lang="pt-BR" dirty="0"/>
              <a:t>E1 – Exercícios em sala e extraclasse – 10 pontos.</a:t>
            </a:r>
          </a:p>
          <a:p>
            <a:r>
              <a:rPr lang="pt-BR" dirty="0"/>
              <a:t>Módulo 2</a:t>
            </a:r>
          </a:p>
          <a:p>
            <a:pPr lvl="1"/>
            <a:r>
              <a:rPr lang="pt-BR" dirty="0"/>
              <a:t>P2 – Segunda prova – 30 pontos (individual e sem consulta).</a:t>
            </a:r>
          </a:p>
          <a:p>
            <a:pPr lvl="1"/>
            <a:r>
              <a:rPr lang="pt-BR" dirty="0"/>
              <a:t>E2 – Exercícios em sala e extraclasse – 10 pontos.</a:t>
            </a:r>
          </a:p>
          <a:p>
            <a:r>
              <a:rPr lang="pt-BR" dirty="0"/>
              <a:t>Trabalho interdisciplinar - 20 pontos.</a:t>
            </a:r>
          </a:p>
          <a:p>
            <a:endParaRPr lang="pt-BR" dirty="0"/>
          </a:p>
          <a:p>
            <a:r>
              <a:rPr lang="pt-BR" dirty="0"/>
              <a:t>Reavaliação: o aluno que não atingir </a:t>
            </a:r>
            <a:r>
              <a:rPr lang="pt-BR" b="1" dirty="0"/>
              <a:t>60 pontos </a:t>
            </a:r>
            <a:r>
              <a:rPr lang="pt-BR" dirty="0"/>
              <a:t>poderá realizar uma prova de reavaliação no valor de </a:t>
            </a:r>
            <a:r>
              <a:rPr lang="pt-BR" b="1" dirty="0"/>
              <a:t>40 pontos</a:t>
            </a:r>
            <a:r>
              <a:rPr lang="pt-BR" dirty="0"/>
              <a:t>. A nota da reavaliação substituirá a menor nota obtida em um dos dois módulos supracitados. </a:t>
            </a:r>
          </a:p>
        </p:txBody>
      </p:sp>
    </p:spTree>
    <p:extLst>
      <p:ext uri="{BB962C8B-B14F-4D97-AF65-F5344CB8AC3E}">
        <p14:creationId xmlns:p14="http://schemas.microsoft.com/office/powerpoint/2010/main" val="284897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03/Outubro </a:t>
            </a:r>
            <a:r>
              <a:rPr lang="pt-BR" dirty="0"/>
              <a:t>- Prova 1 - 30 pontos.</a:t>
            </a:r>
          </a:p>
          <a:p>
            <a:r>
              <a:rPr lang="pt-BR" dirty="0">
                <a:solidFill>
                  <a:srgbClr val="FF0000"/>
                </a:solidFill>
              </a:rPr>
              <a:t>21/Novembro </a:t>
            </a:r>
            <a:r>
              <a:rPr lang="pt-BR" dirty="0"/>
              <a:t>- Prova 2 - 30 pontos.</a:t>
            </a:r>
          </a:p>
          <a:p>
            <a:r>
              <a:rPr lang="pt-BR" dirty="0">
                <a:solidFill>
                  <a:srgbClr val="FF0000"/>
                </a:solidFill>
              </a:rPr>
              <a:t>28/Novembro </a:t>
            </a:r>
            <a:r>
              <a:rPr lang="pt-BR" dirty="0"/>
              <a:t>- Reavaliação - 40 pontos.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04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1026" name="Picture 2" descr="G:\Aulas-p-Henrique\Grafos\Plano de Aula\imagem\cormen-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34" y="1556792"/>
            <a:ext cx="1905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G:\Aulas-p-Henrique\Grafos\Plano de Aula\imagem\cormen-p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84" y="4130824"/>
            <a:ext cx="17907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059832" y="1844824"/>
            <a:ext cx="5940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</a:t>
            </a:r>
          </a:p>
          <a:p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</a:t>
            </a:r>
          </a:p>
          <a:p>
            <a:r>
              <a:rPr lang="pt-BR" dirty="0"/>
              <a:t>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063483" y="4363481"/>
            <a:ext cx="59365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2002]</a:t>
            </a:r>
          </a:p>
          <a:p>
            <a:r>
              <a:rPr lang="pt-BR" dirty="0"/>
              <a:t>Algoritmos: Teoria e Prática – Tradução da segunda edição em inglês.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2002, 936 pp.</a:t>
            </a:r>
          </a:p>
          <a:p>
            <a:r>
              <a:rPr lang="pt-BR" dirty="0"/>
              <a:t>Editora Campus, ISBN 8535209263.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2050" name="Picture 2" descr="G:\Aulas-p-Henrique\Grafos\Plano de Aula\imagem\sedgewic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63" y="4077072"/>
            <a:ext cx="154305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vro - Grafos - Introdução e Prát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64" y="1484784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059832" y="1844824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</a:t>
            </a:r>
          </a:p>
          <a:p>
            <a:r>
              <a:rPr lang="pt-BR" dirty="0"/>
              <a:t>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059832" y="4221088"/>
            <a:ext cx="41962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</a:t>
            </a:r>
          </a:p>
          <a:p>
            <a:r>
              <a:rPr lang="pt-BR" dirty="0" err="1"/>
              <a:t>Algorithms</a:t>
            </a:r>
            <a:r>
              <a:rPr lang="pt-BR" dirty="0"/>
              <a:t> in C++.</a:t>
            </a:r>
          </a:p>
          <a:p>
            <a:r>
              <a:rPr lang="pt-BR" dirty="0"/>
              <a:t>Robert </a:t>
            </a:r>
            <a:r>
              <a:rPr lang="pt-BR" dirty="0" err="1"/>
              <a:t>Segdewick</a:t>
            </a:r>
            <a:r>
              <a:rPr lang="pt-BR" dirty="0"/>
              <a:t>.</a:t>
            </a:r>
          </a:p>
          <a:p>
            <a:r>
              <a:rPr lang="pt-BR" dirty="0"/>
              <a:t>c1992, 656 pp.</a:t>
            </a:r>
          </a:p>
          <a:p>
            <a:r>
              <a:rPr lang="en-US" dirty="0"/>
              <a:t>Boston: Addison Wesley, ISBN 0201510596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66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3074" name="Picture 2" descr="Grafos: Conceitos, Algorítmos e Aplicaçõ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83623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131841" y="1916832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pic>
        <p:nvPicPr>
          <p:cNvPr id="3075" name="Picture 3" descr="G:\Aulas-p-Henrique\Grafos\Plano de Aula\imagem\zivian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64" y="4077072"/>
            <a:ext cx="18002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203848" y="4437112"/>
            <a:ext cx="5730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</a:t>
            </a:r>
          </a:p>
          <a:p>
            <a:r>
              <a:rPr lang="pt-BR" dirty="0"/>
              <a:t>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</a:t>
            </a:r>
          </a:p>
          <a:p>
            <a:r>
              <a:rPr lang="pt-BR" dirty="0"/>
              <a:t>2006, 642 pp.</a:t>
            </a:r>
          </a:p>
          <a:p>
            <a:r>
              <a:rPr lang="pt-BR" dirty="0"/>
              <a:t>Editora Thomson, ISBN 8522105251.</a:t>
            </a:r>
          </a:p>
        </p:txBody>
      </p:sp>
    </p:spTree>
    <p:extLst>
      <p:ext uri="{BB962C8B-B14F-4D97-AF65-F5344CB8AC3E}">
        <p14:creationId xmlns:p14="http://schemas.microsoft.com/office/powerpoint/2010/main" val="130964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1026" name="Picture 2" descr="Cap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1440160" cy="210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2699792" y="2060848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</a:p>
          <a:p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1627508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432</Words>
  <Application>Microsoft Office PowerPoint</Application>
  <PresentationFormat>Apresentação na tela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do Office</vt:lpstr>
      <vt:lpstr>Grafos e Algoritmos Computacionais</vt:lpstr>
      <vt:lpstr>Descrição</vt:lpstr>
      <vt:lpstr>Ementa</vt:lpstr>
      <vt:lpstr>Processo de avaliação</vt:lpstr>
      <vt:lpstr>Datas</vt:lpstr>
      <vt:lpstr>Bibliografia</vt:lpstr>
      <vt:lpstr>Bibliografia</vt:lpstr>
      <vt:lpstr>Bibliografia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10</cp:revision>
  <dcterms:created xsi:type="dcterms:W3CDTF">2011-08-03T02:09:11Z</dcterms:created>
  <dcterms:modified xsi:type="dcterms:W3CDTF">2016-08-01T18:32:33Z</dcterms:modified>
</cp:coreProperties>
</file>