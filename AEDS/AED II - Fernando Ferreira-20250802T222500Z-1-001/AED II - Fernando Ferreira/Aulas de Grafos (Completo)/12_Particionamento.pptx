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6" r:id="rId2"/>
    <p:sldId id="265" r:id="rId3"/>
    <p:sldId id="266" r:id="rId4"/>
    <p:sldId id="267" r:id="rId5"/>
    <p:sldId id="321" r:id="rId6"/>
    <p:sldId id="270" r:id="rId7"/>
    <p:sldId id="282" r:id="rId8"/>
    <p:sldId id="277" r:id="rId9"/>
    <p:sldId id="278" r:id="rId10"/>
    <p:sldId id="273" r:id="rId11"/>
    <p:sldId id="274" r:id="rId12"/>
    <p:sldId id="280" r:id="rId13"/>
    <p:sldId id="269" r:id="rId14"/>
    <p:sldId id="283" r:id="rId15"/>
    <p:sldId id="289" r:id="rId16"/>
    <p:sldId id="290" r:id="rId17"/>
    <p:sldId id="291" r:id="rId18"/>
    <p:sldId id="292" r:id="rId19"/>
    <p:sldId id="293" r:id="rId20"/>
    <p:sldId id="284" r:id="rId21"/>
    <p:sldId id="314" r:id="rId22"/>
    <p:sldId id="315" r:id="rId23"/>
    <p:sldId id="294" r:id="rId24"/>
    <p:sldId id="295" r:id="rId25"/>
    <p:sldId id="296" r:id="rId26"/>
    <p:sldId id="297" r:id="rId27"/>
    <p:sldId id="298" r:id="rId28"/>
    <p:sldId id="300" r:id="rId29"/>
    <p:sldId id="301" r:id="rId30"/>
    <p:sldId id="302" r:id="rId31"/>
    <p:sldId id="303" r:id="rId32"/>
    <p:sldId id="304" r:id="rId33"/>
    <p:sldId id="305" r:id="rId34"/>
    <p:sldId id="311" r:id="rId35"/>
    <p:sldId id="306" r:id="rId36"/>
    <p:sldId id="307" r:id="rId37"/>
    <p:sldId id="312" r:id="rId38"/>
    <p:sldId id="308" r:id="rId39"/>
    <p:sldId id="309" r:id="rId40"/>
    <p:sldId id="310" r:id="rId41"/>
    <p:sldId id="348" r:id="rId42"/>
    <p:sldId id="349" r:id="rId43"/>
    <p:sldId id="319" r:id="rId44"/>
    <p:sldId id="322" r:id="rId45"/>
    <p:sldId id="323" r:id="rId46"/>
    <p:sldId id="326" r:id="rId47"/>
    <p:sldId id="325" r:id="rId48"/>
    <p:sldId id="316" r:id="rId49"/>
    <p:sldId id="318" r:id="rId50"/>
    <p:sldId id="320" r:id="rId51"/>
    <p:sldId id="324" r:id="rId52"/>
    <p:sldId id="327" r:id="rId53"/>
    <p:sldId id="328" r:id="rId54"/>
    <p:sldId id="329" r:id="rId55"/>
    <p:sldId id="330" r:id="rId56"/>
    <p:sldId id="317" r:id="rId57"/>
    <p:sldId id="331" r:id="rId58"/>
    <p:sldId id="343" r:id="rId59"/>
    <p:sldId id="344" r:id="rId60"/>
    <p:sldId id="332" r:id="rId61"/>
    <p:sldId id="334" r:id="rId62"/>
    <p:sldId id="335" r:id="rId63"/>
    <p:sldId id="336" r:id="rId64"/>
    <p:sldId id="337" r:id="rId65"/>
    <p:sldId id="338" r:id="rId66"/>
    <p:sldId id="339" r:id="rId67"/>
    <p:sldId id="340" r:id="rId68"/>
    <p:sldId id="341" r:id="rId69"/>
    <p:sldId id="342" r:id="rId70"/>
    <p:sldId id="350" r:id="rId71"/>
    <p:sldId id="351" r:id="rId72"/>
    <p:sldId id="352" r:id="rId73"/>
    <p:sldId id="353" r:id="rId74"/>
    <p:sldId id="354" r:id="rId75"/>
    <p:sldId id="355" r:id="rId76"/>
    <p:sldId id="356" r:id="rId77"/>
    <p:sldId id="357" r:id="rId78"/>
    <p:sldId id="359" r:id="rId79"/>
    <p:sldId id="264" r:id="rId80"/>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CA96ABA-4632-4C8D-91A7-E6C98A32620A}">
          <p14:sldIdLst>
            <p14:sldId id="256"/>
            <p14:sldId id="265"/>
            <p14:sldId id="266"/>
            <p14:sldId id="267"/>
            <p14:sldId id="321"/>
            <p14:sldId id="270"/>
            <p14:sldId id="282"/>
            <p14:sldId id="277"/>
            <p14:sldId id="278"/>
            <p14:sldId id="273"/>
            <p14:sldId id="274"/>
            <p14:sldId id="280"/>
            <p14:sldId id="269"/>
            <p14:sldId id="283"/>
            <p14:sldId id="289"/>
            <p14:sldId id="290"/>
            <p14:sldId id="291"/>
            <p14:sldId id="292"/>
            <p14:sldId id="293"/>
            <p14:sldId id="284"/>
            <p14:sldId id="314"/>
            <p14:sldId id="315"/>
            <p14:sldId id="294"/>
            <p14:sldId id="295"/>
            <p14:sldId id="296"/>
            <p14:sldId id="297"/>
            <p14:sldId id="298"/>
            <p14:sldId id="300"/>
            <p14:sldId id="301"/>
            <p14:sldId id="302"/>
            <p14:sldId id="303"/>
            <p14:sldId id="304"/>
            <p14:sldId id="305"/>
            <p14:sldId id="311"/>
            <p14:sldId id="306"/>
            <p14:sldId id="307"/>
            <p14:sldId id="312"/>
            <p14:sldId id="308"/>
            <p14:sldId id="309"/>
            <p14:sldId id="310"/>
            <p14:sldId id="348"/>
            <p14:sldId id="349"/>
            <p14:sldId id="319"/>
            <p14:sldId id="322"/>
            <p14:sldId id="323"/>
            <p14:sldId id="326"/>
            <p14:sldId id="325"/>
            <p14:sldId id="316"/>
            <p14:sldId id="318"/>
            <p14:sldId id="320"/>
            <p14:sldId id="324"/>
            <p14:sldId id="327"/>
            <p14:sldId id="328"/>
            <p14:sldId id="329"/>
            <p14:sldId id="330"/>
            <p14:sldId id="317"/>
            <p14:sldId id="331"/>
            <p14:sldId id="343"/>
            <p14:sldId id="344"/>
            <p14:sldId id="332"/>
            <p14:sldId id="334"/>
            <p14:sldId id="335"/>
            <p14:sldId id="336"/>
            <p14:sldId id="337"/>
            <p14:sldId id="338"/>
            <p14:sldId id="339"/>
            <p14:sldId id="340"/>
            <p14:sldId id="341"/>
            <p14:sldId id="342"/>
            <p14:sldId id="350"/>
            <p14:sldId id="351"/>
            <p14:sldId id="352"/>
            <p14:sldId id="353"/>
            <p14:sldId id="354"/>
            <p14:sldId id="355"/>
            <p14:sldId id="356"/>
            <p14:sldId id="357"/>
            <p14:sldId id="359"/>
            <p14:sldId id="26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48" autoAdjust="0"/>
  </p:normalViewPr>
  <p:slideViewPr>
    <p:cSldViewPr>
      <p:cViewPr varScale="1">
        <p:scale>
          <a:sx n="99" d="100"/>
          <a:sy n="99" d="100"/>
        </p:scale>
        <p:origin x="194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822745-E8A0-41D8-974D-E5EBB8AB81CE}" type="datetimeFigureOut">
              <a:rPr lang="pt-BR" smtClean="0"/>
              <a:t>15/11/2018</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5C25C4-A4B6-4EFC-9897-5A7EA12A6522}" type="slidenum">
              <a:rPr lang="pt-BR" smtClean="0"/>
              <a:t>‹nº›</a:t>
            </a:fld>
            <a:endParaRPr lang="pt-BR"/>
          </a:p>
        </p:txBody>
      </p:sp>
    </p:spTree>
    <p:extLst>
      <p:ext uri="{BB962C8B-B14F-4D97-AF65-F5344CB8AC3E}">
        <p14:creationId xmlns:p14="http://schemas.microsoft.com/office/powerpoint/2010/main" val="742190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fld id="{035C25C4-A4B6-4EFC-9897-5A7EA12A6522}" type="slidenum">
              <a:rPr lang="pt-BR" smtClean="0"/>
              <a:t>37</a:t>
            </a:fld>
            <a:endParaRPr lang="pt-BR"/>
          </a:p>
        </p:txBody>
      </p:sp>
    </p:spTree>
    <p:extLst>
      <p:ext uri="{BB962C8B-B14F-4D97-AF65-F5344CB8AC3E}">
        <p14:creationId xmlns:p14="http://schemas.microsoft.com/office/powerpoint/2010/main" val="3109821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35C25C4-A4B6-4EFC-9897-5A7EA12A6522}" type="slidenum">
              <a:rPr lang="pt-BR" smtClean="0"/>
              <a:t>50</a:t>
            </a:fld>
            <a:endParaRPr lang="pt-BR"/>
          </a:p>
        </p:txBody>
      </p:sp>
    </p:spTree>
    <p:extLst>
      <p:ext uri="{BB962C8B-B14F-4D97-AF65-F5344CB8AC3E}">
        <p14:creationId xmlns:p14="http://schemas.microsoft.com/office/powerpoint/2010/main" val="4249328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t>15/11/2018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2E700DB3-DBF0-4086-B675-117E7A9610B8}" type="datetimeFigureOut">
              <a:rPr lang="pt-BR" smtClean="0"/>
              <a:t>15/11/2018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t>15/11/2018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2E700DB3-DBF0-4086-B675-117E7A9610B8}" type="datetimeFigureOut">
              <a:rPr lang="pt-BR" smtClean="0"/>
              <a:t>15/11/2018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2E700DB3-DBF0-4086-B675-117E7A9610B8}" type="datetimeFigureOut">
              <a:rPr lang="pt-BR" smtClean="0"/>
              <a:t>15/11/2018</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2E700DB3-DBF0-4086-B675-117E7A9610B8}" type="datetimeFigureOut">
              <a:rPr lang="pt-BR" smtClean="0"/>
              <a:t>15/11/2018</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E700DB3-DBF0-4086-B675-117E7A9610B8}" type="datetimeFigureOut">
              <a:rPr lang="pt-BR" smtClean="0"/>
              <a:t>15/11/2018</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t>15/11/2018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t>15/11/2018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2E700DB3-DBF0-4086-B675-117E7A9610B8}" type="datetimeFigureOut">
              <a:rPr lang="pt-BR" smtClean="0"/>
              <a:t>15/11/2018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2E700DB3-DBF0-4086-B675-117E7A9610B8}" type="datetimeFigureOut">
              <a:rPr lang="pt-BR" smtClean="0"/>
              <a:t>15/11/2018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00DB3-DBF0-4086-B675-117E7A9610B8}" type="datetimeFigureOut">
              <a:rPr lang="pt-BR" smtClean="0"/>
              <a:t>15/11/2018</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D8CF-8DEC-4D9F-84EE-ADF04DFF3391}"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pt-BR" dirty="0"/>
              <a:t>Unidade VIII </a:t>
            </a:r>
            <a:br>
              <a:rPr lang="pt-BR" dirty="0"/>
            </a:br>
            <a:r>
              <a:rPr lang="pt-BR" dirty="0" err="1"/>
              <a:t>Particionamento</a:t>
            </a:r>
            <a:endParaRPr lang="pt-BR" dirty="0"/>
          </a:p>
        </p:txBody>
      </p:sp>
      <p:sp>
        <p:nvSpPr>
          <p:cNvPr id="3" name="Subtítulo 2"/>
          <p:cNvSpPr>
            <a:spLocks noGrp="1"/>
          </p:cNvSpPr>
          <p:nvPr>
            <p:ph type="subTitle" idx="1"/>
          </p:nvPr>
        </p:nvSpPr>
        <p:spPr/>
        <p:txBody>
          <a:bodyPr>
            <a:normAutofit/>
          </a:bodyPr>
          <a:lstStyle/>
          <a:p>
            <a:r>
              <a:rPr lang="pt-BR" dirty="0"/>
              <a:t>Prof. Henrique Batista da Silva</a:t>
            </a:r>
          </a:p>
          <a:p>
            <a:endParaRPr lang="pt-BR" dirty="0"/>
          </a:p>
        </p:txBody>
      </p:sp>
    </p:spTree>
    <p:extLst>
      <p:ext uri="{BB962C8B-B14F-4D97-AF65-F5344CB8AC3E}">
        <p14:creationId xmlns:p14="http://schemas.microsoft.com/office/powerpoint/2010/main" val="1917654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Seja </a:t>
                </a:r>
                <a14:m>
                  <m:oMath xmlns:m="http://schemas.openxmlformats.org/officeDocument/2006/math">
                    <m:r>
                      <a:rPr lang="pt-BR" sz="2400" i="1" dirty="0" smtClean="0">
                        <a:latin typeface="Cambria Math"/>
                      </a:rPr>
                      <m:t>𝐺</m:t>
                    </m:r>
                    <m:r>
                      <a:rPr lang="pt-BR" sz="2400" i="1" dirty="0" smtClean="0">
                        <a:latin typeface="Cambria Math"/>
                      </a:rPr>
                      <m:t>=(</m:t>
                    </m:r>
                    <m:r>
                      <a:rPr lang="pt-BR" sz="2400" i="1" dirty="0" smtClean="0">
                        <a:latin typeface="Cambria Math"/>
                      </a:rPr>
                      <m:t>𝑉</m:t>
                    </m:r>
                    <m:r>
                      <a:rPr lang="pt-BR" sz="2400" i="1" dirty="0" smtClean="0">
                        <a:latin typeface="Cambria Math"/>
                      </a:rPr>
                      <m:t>, </m:t>
                    </m:r>
                    <m:r>
                      <a:rPr lang="pt-BR" sz="2400" i="1" dirty="0" smtClean="0">
                        <a:latin typeface="Cambria Math"/>
                      </a:rPr>
                      <m:t>𝐸</m:t>
                    </m:r>
                    <m:r>
                      <a:rPr lang="pt-BR" sz="2400" i="1" dirty="0">
                        <a:latin typeface="Cambria Math"/>
                      </a:rPr>
                      <m:t>) </m:t>
                    </m:r>
                  </m:oMath>
                </a14:m>
                <a:r>
                  <a:rPr lang="pt-BR" sz="2400" dirty="0"/>
                  <a:t>um grafo.</a:t>
                </a:r>
              </a:p>
              <a:p>
                <a:r>
                  <a:rPr lang="pt-BR" sz="2400" dirty="0"/>
                  <a:t>Um subconjunto </a:t>
                </a:r>
                <a14:m>
                  <m:oMath xmlns:m="http://schemas.openxmlformats.org/officeDocument/2006/math">
                    <m:r>
                      <a:rPr lang="pt-BR" sz="2400" b="0" i="1" smtClean="0">
                        <a:latin typeface="Cambria Math"/>
                      </a:rPr>
                      <m:t>𝑆</m:t>
                    </m:r>
                    <m:r>
                      <a:rPr lang="pt-BR" sz="2400" b="0" i="1" smtClean="0">
                        <a:latin typeface="Cambria Math"/>
                        <a:ea typeface="Cambria Math"/>
                      </a:rPr>
                      <m:t>⊆</m:t>
                    </m:r>
                    <m:r>
                      <a:rPr lang="pt-BR" sz="2400" b="0" i="1" smtClean="0">
                        <a:latin typeface="Cambria Math"/>
                        <a:ea typeface="Cambria Math"/>
                      </a:rPr>
                      <m:t>𝑉</m:t>
                    </m:r>
                  </m:oMath>
                </a14:m>
                <a:r>
                  <a:rPr lang="pt-BR" sz="2400" dirty="0"/>
                  <a:t> é um </a:t>
                </a:r>
                <a:r>
                  <a:rPr lang="pt-BR" sz="2400" b="1" dirty="0"/>
                  <a:t>subconjunto independente </a:t>
                </a:r>
                <a:r>
                  <a:rPr lang="pt-BR" sz="2400" dirty="0"/>
                  <a:t>se </a:t>
                </a:r>
                <a14:m>
                  <m:oMath xmlns:m="http://schemas.openxmlformats.org/officeDocument/2006/math">
                    <m:r>
                      <a:rPr lang="pt-BR" sz="2400" i="1" smtClean="0">
                        <a:latin typeface="Cambria Math"/>
                        <a:ea typeface="Cambria Math"/>
                      </a:rPr>
                      <m:t>∀</m:t>
                    </m:r>
                    <m:r>
                      <a:rPr lang="pt-BR" sz="2400" b="0" i="1" smtClean="0">
                        <a:latin typeface="Cambria Math"/>
                        <a:ea typeface="Cambria Math"/>
                      </a:rPr>
                      <m:t> </m:t>
                    </m:r>
                    <m:r>
                      <a:rPr lang="pt-BR" sz="2400" b="0" i="1" smtClean="0">
                        <a:latin typeface="Cambria Math"/>
                        <a:ea typeface="Cambria Math"/>
                      </a:rPr>
                      <m:t>𝑣</m:t>
                    </m:r>
                    <m:r>
                      <a:rPr lang="pt-BR" sz="2400" b="0" i="1" smtClean="0">
                        <a:latin typeface="Cambria Math"/>
                        <a:ea typeface="Cambria Math"/>
                      </a:rPr>
                      <m:t>, </m:t>
                    </m:r>
                    <m:r>
                      <a:rPr lang="pt-BR" sz="2400" b="0" i="1" smtClean="0">
                        <a:latin typeface="Cambria Math"/>
                        <a:ea typeface="Cambria Math"/>
                      </a:rPr>
                      <m:t>𝑤</m:t>
                    </m:r>
                    <m:r>
                      <a:rPr lang="pt-BR" sz="2400" b="0" i="1" smtClean="0">
                        <a:latin typeface="Cambria Math"/>
                        <a:ea typeface="Cambria Math"/>
                      </a:rPr>
                      <m:t>∈</m:t>
                    </m:r>
                    <m:r>
                      <a:rPr lang="pt-BR" sz="2400" b="0" i="1" smtClean="0">
                        <a:latin typeface="Cambria Math"/>
                        <a:ea typeface="Cambria Math"/>
                      </a:rPr>
                      <m:t>𝑆</m:t>
                    </m:r>
                  </m:oMath>
                </a14:m>
                <a:r>
                  <a:rPr lang="pt-BR" sz="2400" dirty="0"/>
                  <a:t>, tem-se </a:t>
                </a:r>
                <a14:m>
                  <m:oMath xmlns:m="http://schemas.openxmlformats.org/officeDocument/2006/math">
                    <m:r>
                      <a:rPr lang="pt-BR" sz="2400" b="0" i="1" smtClean="0">
                        <a:latin typeface="Cambria Math"/>
                      </a:rPr>
                      <m:t>(</m:t>
                    </m:r>
                    <m:r>
                      <a:rPr lang="pt-BR" sz="2400" b="0" i="1" smtClean="0">
                        <a:latin typeface="Cambria Math"/>
                      </a:rPr>
                      <m:t>𝑣</m:t>
                    </m:r>
                    <m:r>
                      <a:rPr lang="pt-BR" sz="2400" b="0" i="1" smtClean="0">
                        <a:latin typeface="Cambria Math"/>
                      </a:rPr>
                      <m:t>, </m:t>
                    </m:r>
                    <m:r>
                      <a:rPr lang="pt-BR" sz="2400" b="0" i="1" smtClean="0">
                        <a:latin typeface="Cambria Math"/>
                      </a:rPr>
                      <m:t>𝑤</m:t>
                    </m:r>
                    <m:r>
                      <a:rPr lang="pt-BR" sz="2400" b="0" i="1" smtClean="0">
                        <a:latin typeface="Cambria Math"/>
                      </a:rPr>
                      <m:t>)∉</m:t>
                    </m:r>
                    <m:r>
                      <a:rPr lang="pt-BR" sz="2400" b="0" i="1" smtClean="0">
                        <a:latin typeface="Cambria Math"/>
                        <a:ea typeface="Cambria Math"/>
                      </a:rPr>
                      <m:t>𝐸</m:t>
                    </m:r>
                  </m:oMath>
                </a14:m>
                <a:r>
                  <a:rPr lang="pt-BR" sz="2400" dirty="0"/>
                  <a:t>.</a:t>
                </a:r>
              </a:p>
              <a:p>
                <a:pPr lvl="1"/>
                <a14:m>
                  <m:oMath xmlns:m="http://schemas.openxmlformats.org/officeDocument/2006/math">
                    <m:r>
                      <a:rPr lang="pt-BR" sz="2000" i="1" dirty="0" smtClean="0">
                        <a:latin typeface="Cambria Math"/>
                      </a:rPr>
                      <m:t>𝑆</m:t>
                    </m:r>
                  </m:oMath>
                </a14:m>
                <a:r>
                  <a:rPr lang="pt-BR" sz="2000" dirty="0"/>
                  <a:t> pode ser chamado de </a:t>
                </a:r>
                <a:r>
                  <a:rPr lang="pt-BR" sz="2000" b="1" dirty="0" err="1"/>
                  <a:t>S</a:t>
                </a:r>
                <a:r>
                  <a:rPr lang="pt-BR" sz="2000" dirty="0" err="1"/>
                  <a:t>ub</a:t>
                </a:r>
                <a:r>
                  <a:rPr lang="pt-BR" sz="2000" b="1" dirty="0" err="1"/>
                  <a:t>C</a:t>
                </a:r>
                <a:r>
                  <a:rPr lang="pt-BR" sz="2000" dirty="0" err="1"/>
                  <a:t>onjunto</a:t>
                </a:r>
                <a:r>
                  <a:rPr lang="pt-BR" sz="2000" dirty="0"/>
                  <a:t> </a:t>
                </a:r>
                <a:r>
                  <a:rPr lang="pt-BR" sz="2000" b="1" dirty="0"/>
                  <a:t>I</a:t>
                </a:r>
                <a:r>
                  <a:rPr lang="pt-BR" sz="2000" dirty="0"/>
                  <a:t>nternamente </a:t>
                </a:r>
                <a:r>
                  <a:rPr lang="pt-BR" sz="2000" b="1" dirty="0"/>
                  <a:t>E</a:t>
                </a:r>
                <a:r>
                  <a:rPr lang="pt-BR" sz="2000" dirty="0"/>
                  <a:t>stável ou SCIE.</a:t>
                </a:r>
              </a:p>
              <a:p>
                <a:pPr lvl="1"/>
                <a14:m>
                  <m:oMath xmlns:m="http://schemas.openxmlformats.org/officeDocument/2006/math">
                    <m:r>
                      <a:rPr lang="pt-BR" sz="2000" i="1" dirty="0" smtClean="0">
                        <a:latin typeface="Cambria Math"/>
                      </a:rPr>
                      <m:t>𝑆</m:t>
                    </m:r>
                  </m:oMath>
                </a14:m>
                <a:r>
                  <a:rPr lang="pt-BR" sz="2000" dirty="0"/>
                  <a:t> é um </a:t>
                </a:r>
                <a:r>
                  <a:rPr lang="pt-BR" sz="2000" dirty="0" err="1"/>
                  <a:t>subgrafo</a:t>
                </a:r>
                <a:r>
                  <a:rPr lang="pt-BR" sz="2000" dirty="0"/>
                  <a:t> totalmente desconectado. </a:t>
                </a:r>
              </a:p>
              <a:p>
                <a:r>
                  <a:rPr lang="pt-BR" sz="2400" dirty="0"/>
                  <a:t>É o </a:t>
                </a:r>
                <a:r>
                  <a:rPr lang="pt-BR" sz="2400" b="1" dirty="0"/>
                  <a:t>maior</a:t>
                </a:r>
                <a:r>
                  <a:rPr lang="pt-BR" sz="2400" dirty="0"/>
                  <a:t> conjunto de vértices que não tem arestas entre si</a:t>
                </a:r>
              </a:p>
              <a:p>
                <a:endParaRPr lang="pt-BR" sz="20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963" t="-1078"/>
                </a:stretch>
              </a:blipFill>
            </p:spPr>
            <p:txBody>
              <a:bodyPr/>
              <a:lstStyle/>
              <a:p>
                <a:r>
                  <a:rPr lang="pt-BR">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720" y="4093420"/>
            <a:ext cx="4389512" cy="1855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2360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134" y="521816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7" idx="6"/>
            <a:endCxn id="32"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Elipse 38"/>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40" name="Conector reto 39"/>
          <p:cNvCxnSpPr>
            <a:stCxn id="5" idx="5"/>
            <a:endCxn id="39"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32" idx="6"/>
            <a:endCxn id="39"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12" idx="7"/>
            <a:endCxn id="39"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4897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134" y="5218169"/>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7" idx="6"/>
            <a:endCxn id="32"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Elipse 38"/>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40" name="Conector reto 39"/>
          <p:cNvCxnSpPr>
            <a:stCxn id="5" idx="5"/>
            <a:endCxn id="39"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32" idx="6"/>
            <a:endCxn id="39"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12" idx="7"/>
            <a:endCxn id="39"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332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704"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lumMod val="75000"/>
                  </a:schemeClr>
                </a:solidFill>
              </a:rPr>
              <a:t>3</a:t>
            </a:r>
          </a:p>
        </p:txBody>
      </p:sp>
      <p:sp>
        <p:nvSpPr>
          <p:cNvPr id="8" name="Elipse 7"/>
          <p:cNvSpPr/>
          <p:nvPr/>
        </p:nvSpPr>
        <p:spPr>
          <a:xfrm>
            <a:off x="2549134" y="5218169"/>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2939" y="4677364"/>
            <a:ext cx="735216" cy="600898"/>
          </a:xfrm>
          <a:prstGeom prst="line">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70325" y="4323250"/>
            <a:ext cx="543381" cy="410344"/>
          </a:xfrm>
          <a:prstGeom prst="ellipse">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lumMod val="75000"/>
                  </a:schemeClr>
                </a:solidFill>
              </a:rPr>
              <a:t>4</a:t>
            </a:r>
          </a:p>
        </p:txBody>
      </p:sp>
      <p:cxnSp>
        <p:nvCxnSpPr>
          <p:cNvPr id="33" name="Conector reto 32"/>
          <p:cNvCxnSpPr>
            <a:stCxn id="5" idx="4"/>
            <a:endCxn id="32" idx="0"/>
          </p:cNvCxnSpPr>
          <p:nvPr/>
        </p:nvCxnSpPr>
        <p:spPr>
          <a:xfrm>
            <a:off x="5139438" y="3767336"/>
            <a:ext cx="2578" cy="55591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flipH="1">
            <a:off x="5139439" y="4733594"/>
            <a:ext cx="2577" cy="49901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7" idx="6"/>
            <a:endCxn id="32" idx="2"/>
          </p:cNvCxnSpPr>
          <p:nvPr/>
        </p:nvCxnSpPr>
        <p:spPr>
          <a:xfrm flipV="1">
            <a:off x="4211960" y="4528422"/>
            <a:ext cx="658365" cy="386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9" name="Elipse 38"/>
          <p:cNvSpPr/>
          <p:nvPr/>
        </p:nvSpPr>
        <p:spPr>
          <a:xfrm>
            <a:off x="6044843" y="4327113"/>
            <a:ext cx="543381" cy="410344"/>
          </a:xfrm>
          <a:prstGeom prst="ellipse">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lumMod val="75000"/>
                  </a:schemeClr>
                </a:solidFill>
              </a:rPr>
              <a:t>5</a:t>
            </a:r>
          </a:p>
        </p:txBody>
      </p:sp>
      <p:cxnSp>
        <p:nvCxnSpPr>
          <p:cNvPr id="40" name="Conector reto 39"/>
          <p:cNvCxnSpPr>
            <a:stCxn id="5" idx="5"/>
            <a:endCxn id="39" idx="1"/>
          </p:cNvCxnSpPr>
          <p:nvPr/>
        </p:nvCxnSpPr>
        <p:spPr>
          <a:xfrm>
            <a:off x="5331552" y="3707243"/>
            <a:ext cx="792867" cy="67996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32" idx="6"/>
            <a:endCxn id="39" idx="2"/>
          </p:cNvCxnSpPr>
          <p:nvPr/>
        </p:nvCxnSpPr>
        <p:spPr>
          <a:xfrm>
            <a:off x="5413706" y="4528422"/>
            <a:ext cx="631137" cy="386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12" idx="7"/>
            <a:endCxn id="39" idx="3"/>
          </p:cNvCxnSpPr>
          <p:nvPr/>
        </p:nvCxnSpPr>
        <p:spPr>
          <a:xfrm flipV="1">
            <a:off x="5331553" y="4677364"/>
            <a:ext cx="792866" cy="61533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441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p:cNvSpPr>
                <a:spLocks noGrp="1"/>
              </p:cNvSpPr>
              <p:nvPr>
                <p:ph type="title"/>
              </p:nvPr>
            </p:nvSpPr>
            <p:spPr/>
            <p:txBody>
              <a:bodyPr>
                <a:normAutofit/>
              </a:bodyPr>
              <a:lstStyle/>
              <a:p>
                <a:r>
                  <a:rPr lang="pt-BR" sz="3600" dirty="0"/>
                  <a:t>Conjuntos Independentes Maximal e </a:t>
                </a:r>
                <a14:m>
                  <m:oMath xmlns:m="http://schemas.openxmlformats.org/officeDocument/2006/math">
                    <m:r>
                      <a:rPr lang="pt-BR" sz="3600" i="1" smtClean="0">
                        <a:latin typeface="Cambria Math"/>
                        <a:ea typeface="Cambria Math"/>
                      </a:rPr>
                      <m:t>𝛽</m:t>
                    </m:r>
                    <m:r>
                      <a:rPr lang="pt-BR" sz="3600" b="0" i="1" smtClean="0">
                        <a:latin typeface="Cambria Math"/>
                        <a:ea typeface="Cambria Math"/>
                      </a:rPr>
                      <m:t>(</m:t>
                    </m:r>
                    <m:r>
                      <a:rPr lang="pt-BR" sz="3600" b="0" i="1" smtClean="0">
                        <a:latin typeface="Cambria Math"/>
                        <a:ea typeface="Cambria Math"/>
                      </a:rPr>
                      <m:t>𝐺</m:t>
                    </m:r>
                    <m:r>
                      <a:rPr lang="pt-BR" sz="3600" b="0" i="1" smtClean="0">
                        <a:latin typeface="Cambria Math"/>
                        <a:ea typeface="Cambria Math"/>
                      </a:rPr>
                      <m:t>)</m:t>
                    </m:r>
                  </m:oMath>
                </a14:m>
                <a:endParaRPr lang="pt-BR" sz="3600" dirty="0"/>
              </a:p>
            </p:txBody>
          </p:sp>
        </mc:Choice>
        <mc:Fallback xmlns="">
          <p:sp>
            <p:nvSpPr>
              <p:cNvPr id="2" name="Título 1"/>
              <p:cNvSpPr>
                <a:spLocks noGrp="1" noRot="1" noChangeAspect="1" noMove="1" noResize="1" noEditPoints="1" noAdjustHandles="1" noChangeArrowheads="1" noChangeShapeType="1" noTextEdit="1"/>
              </p:cNvSpPr>
              <p:nvPr>
                <p:ph type="title"/>
              </p:nvPr>
            </p:nvSpPr>
            <p:spPr>
              <a:blipFill rotWithShape="1">
                <a:blip r:embed="rId2"/>
                <a:stretch>
                  <a:fillRect l="-125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 e </a:t>
                </a:r>
                <a14:m>
                  <m:oMath xmlns:m="http://schemas.openxmlformats.org/officeDocument/2006/math">
                    <m:r>
                      <a:rPr lang="pt-BR" sz="2800" i="1">
                        <a:latin typeface="Cambria Math"/>
                      </a:rPr>
                      <m:t>𝑆</m:t>
                    </m:r>
                    <m:r>
                      <a:rPr lang="pt-BR" sz="2800" i="1">
                        <a:latin typeface="Cambria Math"/>
                      </a:rPr>
                      <m:t> </m:t>
                    </m:r>
                  </m:oMath>
                </a14:m>
                <a:r>
                  <a:rPr lang="pt-BR" sz="2800" dirty="0"/>
                  <a:t>um conjunto independente de G </a:t>
                </a:r>
              </a:p>
              <a:p>
                <a:r>
                  <a:rPr lang="pt-BR" sz="2800" dirty="0"/>
                  <a:t>Dizemos que </a:t>
                </a:r>
                <a14:m>
                  <m:oMath xmlns:m="http://schemas.openxmlformats.org/officeDocument/2006/math">
                    <m:r>
                      <a:rPr lang="pt-BR" sz="2800" i="1">
                        <a:latin typeface="Cambria Math"/>
                      </a:rPr>
                      <m:t>𝑆</m:t>
                    </m:r>
                  </m:oMath>
                </a14:m>
                <a:r>
                  <a:rPr lang="pt-BR" sz="2800" dirty="0"/>
                  <a:t> é um conjunto independente maximal de </a:t>
                </a:r>
                <a14:m>
                  <m:oMath xmlns:m="http://schemas.openxmlformats.org/officeDocument/2006/math">
                    <m:r>
                      <a:rPr lang="pt-BR" sz="2800" i="1" dirty="0" smtClean="0">
                        <a:latin typeface="Cambria Math"/>
                      </a:rPr>
                      <m:t>𝐺</m:t>
                    </m:r>
                  </m:oMath>
                </a14:m>
                <a:r>
                  <a:rPr lang="pt-BR" sz="2800" dirty="0"/>
                  <a:t> se não existir outro conjunto independente </a:t>
                </a:r>
                <a14:m>
                  <m:oMath xmlns:m="http://schemas.openxmlformats.org/officeDocument/2006/math">
                    <m:r>
                      <a:rPr lang="pt-BR" sz="2800" i="1" dirty="0" smtClean="0">
                        <a:latin typeface="Cambria Math"/>
                      </a:rPr>
                      <m:t>𝐴</m:t>
                    </m:r>
                  </m:oMath>
                </a14:m>
                <a:r>
                  <a:rPr lang="pt-BR" sz="2800" dirty="0"/>
                  <a:t> de </a:t>
                </a:r>
                <a14:m>
                  <m:oMath xmlns:m="http://schemas.openxmlformats.org/officeDocument/2006/math">
                    <m:r>
                      <a:rPr lang="pt-BR" sz="2800" i="1" dirty="0" smtClean="0">
                        <a:latin typeface="Cambria Math"/>
                      </a:rPr>
                      <m:t>𝐺</m:t>
                    </m:r>
                  </m:oMath>
                </a14:m>
                <a:r>
                  <a:rPr lang="pt-BR" sz="2800" dirty="0"/>
                  <a:t>, tal que </a:t>
                </a:r>
                <a14:m>
                  <m:oMath xmlns:m="http://schemas.openxmlformats.org/officeDocument/2006/math">
                    <m:r>
                      <a:rPr lang="pt-BR" sz="2800" i="1">
                        <a:latin typeface="Cambria Math"/>
                      </a:rPr>
                      <m:t>𝑆</m:t>
                    </m:r>
                    <m:r>
                      <a:rPr lang="pt-BR" sz="2800" i="1" smtClean="0">
                        <a:latin typeface="Cambria Math"/>
                        <a:ea typeface="Cambria Math"/>
                      </a:rPr>
                      <m:t>⊆</m:t>
                    </m:r>
                    <m:r>
                      <a:rPr lang="pt-BR" sz="2800" b="0" i="1" smtClean="0">
                        <a:latin typeface="Cambria Math"/>
                        <a:ea typeface="Cambria Math"/>
                      </a:rPr>
                      <m:t>𝐴</m:t>
                    </m:r>
                  </m:oMath>
                </a14:m>
                <a:r>
                  <a:rPr lang="pt-BR" sz="2800" dirty="0"/>
                  <a:t>.</a:t>
                </a:r>
              </a:p>
              <a:p>
                <a:r>
                  <a:rPr lang="pt-BR" sz="2800" dirty="0"/>
                  <a:t>O número de estabilidade interna </a:t>
                </a:r>
                <a14:m>
                  <m:oMath xmlns:m="http://schemas.openxmlformats.org/officeDocument/2006/math">
                    <m:r>
                      <a:rPr lang="pt-BR" sz="2800" i="1">
                        <a:latin typeface="Cambria Math"/>
                        <a:ea typeface="Cambria Math"/>
                      </a:rPr>
                      <m:t>𝛽</m:t>
                    </m:r>
                    <m:r>
                      <a:rPr lang="pt-BR" sz="2800" i="1">
                        <a:latin typeface="Cambria Math"/>
                        <a:ea typeface="Cambria Math"/>
                      </a:rPr>
                      <m:t>(</m:t>
                    </m:r>
                    <m:r>
                      <a:rPr lang="pt-BR" sz="2800" i="1">
                        <a:latin typeface="Cambria Math"/>
                        <a:ea typeface="Cambria Math"/>
                      </a:rPr>
                      <m:t>𝐺</m:t>
                    </m:r>
                    <m:r>
                      <a:rPr lang="pt-BR" sz="2800" i="1">
                        <a:latin typeface="Cambria Math"/>
                        <a:ea typeface="Cambria Math"/>
                      </a:rPr>
                      <m:t>)</m:t>
                    </m:r>
                  </m:oMath>
                </a14:m>
                <a:r>
                  <a:rPr lang="pt-BR" sz="2800" dirty="0"/>
                  <a:t> é igual à cardinalidade do maior conjunto independente de </a:t>
                </a:r>
                <a14:m>
                  <m:oMath xmlns:m="http://schemas.openxmlformats.org/officeDocument/2006/math">
                    <m:r>
                      <a:rPr lang="pt-BR" sz="2800" i="1">
                        <a:latin typeface="Cambria Math"/>
                      </a:rPr>
                      <m:t>𝑆</m:t>
                    </m:r>
                  </m:oMath>
                </a14:m>
                <a:endParaRPr lang="pt-BR" sz="2800" dirty="0"/>
              </a:p>
              <a:p>
                <a:r>
                  <a:rPr lang="pt-BR" sz="2800" dirty="0"/>
                  <a:t>Se </a:t>
                </a:r>
                <a14:m>
                  <m:oMath xmlns:m="http://schemas.openxmlformats.org/officeDocument/2006/math">
                    <m:r>
                      <a:rPr lang="pt-BR" sz="2800" i="1">
                        <a:latin typeface="Cambria Math"/>
                      </a:rPr>
                      <m:t>𝑆</m:t>
                    </m:r>
                  </m:oMath>
                </a14:m>
                <a:r>
                  <a:rPr lang="pt-BR" sz="2800" dirty="0"/>
                  <a:t> é um conjunto independente de </a:t>
                </a:r>
                <a14:m>
                  <m:oMath xmlns:m="http://schemas.openxmlformats.org/officeDocument/2006/math">
                    <m:r>
                      <a:rPr lang="pt-BR" sz="2800" i="1" dirty="0" smtClean="0">
                        <a:latin typeface="Cambria Math"/>
                      </a:rPr>
                      <m:t>𝐺</m:t>
                    </m:r>
                  </m:oMath>
                </a14:m>
                <a:r>
                  <a:rPr lang="pt-BR" sz="2800" dirty="0"/>
                  <a:t>, então </a:t>
                </a:r>
                <a14:m>
                  <m:oMath xmlns:m="http://schemas.openxmlformats.org/officeDocument/2006/math">
                    <m:r>
                      <a:rPr lang="pt-BR" sz="2800" i="1" dirty="0" smtClean="0">
                        <a:latin typeface="Cambria Math"/>
                      </a:rPr>
                      <m:t>𝑆</m:t>
                    </m:r>
                  </m:oMath>
                </a14:m>
                <a:r>
                  <a:rPr lang="pt-BR" sz="2800" dirty="0"/>
                  <a:t> também é uma clique em </a:t>
                </a:r>
                <a14:m>
                  <m:oMath xmlns:m="http://schemas.openxmlformats.org/officeDocument/2006/math">
                    <m:r>
                      <a:rPr lang="pt-BR" sz="2800" i="1" dirty="0" smtClean="0">
                        <a:latin typeface="Cambria Math"/>
                      </a:rPr>
                      <m:t>𝐶</m:t>
                    </m:r>
                    <m:r>
                      <a:rPr lang="pt-BR" sz="2800" i="1" dirty="0" smtClean="0">
                        <a:latin typeface="Cambria Math"/>
                      </a:rPr>
                      <m:t>(</m:t>
                    </m:r>
                    <m:r>
                      <a:rPr lang="pt-BR" sz="2800" i="1" dirty="0" smtClean="0">
                        <a:latin typeface="Cambria Math"/>
                      </a:rPr>
                      <m:t>𝐺</m:t>
                    </m:r>
                    <m:r>
                      <a:rPr lang="pt-BR" sz="2800" i="1" dirty="0" smtClean="0">
                        <a:latin typeface="Cambria Math"/>
                      </a:rPr>
                      <m:t>)</m:t>
                    </m:r>
                  </m:oMath>
                </a14:m>
                <a:r>
                  <a:rPr lang="pt-BR" sz="2800" dirty="0"/>
                  <a:t> – complemento de G ou </a:t>
                </a:r>
                <a14:m>
                  <m:oMath xmlns:m="http://schemas.openxmlformats.org/officeDocument/2006/math">
                    <m:acc>
                      <m:accPr>
                        <m:chr m:val="̅"/>
                        <m:ctrlPr>
                          <a:rPr lang="pt-BR" sz="2800" i="1" smtClean="0">
                            <a:latin typeface="Cambria Math" panose="02040503050406030204" pitchFamily="18" charset="0"/>
                          </a:rPr>
                        </m:ctrlPr>
                      </m:accPr>
                      <m:e>
                        <m:r>
                          <a:rPr lang="pt-BR" sz="2800" b="0" i="1" smtClean="0">
                            <a:latin typeface="Cambria Math" panose="02040503050406030204" pitchFamily="18" charset="0"/>
                          </a:rPr>
                          <m:t>𝐺</m:t>
                        </m:r>
                      </m:e>
                    </m:acc>
                  </m:oMath>
                </a14:m>
                <a:r>
                  <a:rPr lang="pt-BR" sz="2800" dirty="0"/>
                  <a:t>.</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3"/>
                <a:stretch>
                  <a:fillRect l="-1333" t="-1348" r="-1481" b="-5795"/>
                </a:stretch>
              </a:blipFill>
            </p:spPr>
            <p:txBody>
              <a:bodyPr/>
              <a:lstStyle/>
              <a:p>
                <a:r>
                  <a:rPr lang="pt-BR">
                    <a:noFill/>
                  </a:rPr>
                  <a:t> </a:t>
                </a:r>
              </a:p>
            </p:txBody>
          </p:sp>
        </mc:Fallback>
      </mc:AlternateContent>
    </p:spTree>
    <p:extLst>
      <p:ext uri="{BB962C8B-B14F-4D97-AF65-F5344CB8AC3E}">
        <p14:creationId xmlns:p14="http://schemas.microsoft.com/office/powerpoint/2010/main" val="4046713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Clique</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a:t>
                </a:r>
              </a:p>
              <a:p>
                <a:r>
                  <a:rPr lang="pt-BR" sz="2800" dirty="0"/>
                  <a:t>Um subconjunto </a:t>
                </a:r>
                <a14:m>
                  <m:oMath xmlns:m="http://schemas.openxmlformats.org/officeDocument/2006/math">
                    <m:r>
                      <a:rPr lang="pt-BR" sz="2800" i="1">
                        <a:latin typeface="Cambria Math"/>
                      </a:rPr>
                      <m:t>𝑆</m:t>
                    </m:r>
                    <m:r>
                      <a:rPr lang="pt-BR" sz="2800" i="1">
                        <a:latin typeface="Cambria Math"/>
                        <a:ea typeface="Cambria Math"/>
                      </a:rPr>
                      <m:t>⊆</m:t>
                    </m:r>
                    <m:r>
                      <a:rPr lang="pt-BR" sz="2800" i="1">
                        <a:latin typeface="Cambria Math"/>
                        <a:ea typeface="Cambria Math"/>
                      </a:rPr>
                      <m:t>𝑉</m:t>
                    </m:r>
                  </m:oMath>
                </a14:m>
                <a:r>
                  <a:rPr lang="pt-BR" sz="2800" dirty="0"/>
                  <a:t> é uma clique de </a:t>
                </a:r>
                <a14:m>
                  <m:oMath xmlns:m="http://schemas.openxmlformats.org/officeDocument/2006/math">
                    <m:r>
                      <a:rPr lang="pt-BR" sz="2800" i="1" dirty="0" smtClean="0">
                        <a:latin typeface="Cambria Math" panose="02040503050406030204" pitchFamily="18" charset="0"/>
                      </a:rPr>
                      <m:t>𝐺</m:t>
                    </m:r>
                  </m:oMath>
                </a14:m>
                <a:r>
                  <a:rPr lang="pt-BR" sz="2800" dirty="0"/>
                  <a:t> se </a:t>
                </a:r>
                <a14:m>
                  <m:oMath xmlns:m="http://schemas.openxmlformats.org/officeDocument/2006/math">
                    <m:r>
                      <a:rPr lang="pt-BR" sz="2800" i="1">
                        <a:latin typeface="Cambria Math"/>
                        <a:ea typeface="Cambria Math"/>
                      </a:rPr>
                      <m:t>∀ </m:t>
                    </m:r>
                    <m:r>
                      <a:rPr lang="pt-BR" sz="2800" i="1">
                        <a:latin typeface="Cambria Math"/>
                        <a:ea typeface="Cambria Math"/>
                      </a:rPr>
                      <m:t>𝑣</m:t>
                    </m:r>
                    <m:r>
                      <a:rPr lang="pt-BR" sz="2800" i="1">
                        <a:latin typeface="Cambria Math"/>
                        <a:ea typeface="Cambria Math"/>
                      </a:rPr>
                      <m:t>, </m:t>
                    </m:r>
                    <m:r>
                      <a:rPr lang="pt-BR" sz="2800" i="1">
                        <a:latin typeface="Cambria Math"/>
                        <a:ea typeface="Cambria Math"/>
                      </a:rPr>
                      <m:t>𝑤</m:t>
                    </m:r>
                    <m:r>
                      <a:rPr lang="pt-BR" sz="2800" i="1">
                        <a:latin typeface="Cambria Math"/>
                        <a:ea typeface="Cambria Math"/>
                      </a:rPr>
                      <m:t>∈</m:t>
                    </m:r>
                    <m:r>
                      <a:rPr lang="pt-BR" sz="2800" i="1">
                        <a:latin typeface="Cambria Math"/>
                        <a:ea typeface="Cambria Math"/>
                      </a:rPr>
                      <m:t>𝑆</m:t>
                    </m:r>
                  </m:oMath>
                </a14:m>
                <a:r>
                  <a:rPr lang="pt-BR" sz="2800" dirty="0"/>
                  <a:t>, tem-se </a:t>
                </a:r>
                <a14:m>
                  <m:oMath xmlns:m="http://schemas.openxmlformats.org/officeDocument/2006/math">
                    <m:r>
                      <a:rPr lang="pt-BR" sz="2800" i="1">
                        <a:latin typeface="Cambria Math"/>
                      </a:rPr>
                      <m:t>(</m:t>
                    </m:r>
                    <m:r>
                      <a:rPr lang="pt-BR" sz="2800" i="1">
                        <a:latin typeface="Cambria Math"/>
                      </a:rPr>
                      <m:t>𝑣</m:t>
                    </m:r>
                    <m:r>
                      <a:rPr lang="pt-BR" sz="2800" i="1">
                        <a:latin typeface="Cambria Math"/>
                      </a:rPr>
                      <m:t>, </m:t>
                    </m:r>
                    <m:r>
                      <a:rPr lang="pt-BR" sz="2800" i="1">
                        <a:latin typeface="Cambria Math"/>
                      </a:rPr>
                      <m:t>𝑤</m:t>
                    </m:r>
                    <m:r>
                      <a:rPr lang="pt-BR" sz="2800" i="1">
                        <a:latin typeface="Cambria Math"/>
                      </a:rPr>
                      <m:t>)∈</m:t>
                    </m:r>
                    <m:r>
                      <a:rPr lang="pt-BR" sz="2800" i="1">
                        <a:latin typeface="Cambria Math"/>
                        <a:ea typeface="Cambria Math"/>
                      </a:rPr>
                      <m:t>𝐸</m:t>
                    </m:r>
                  </m:oMath>
                </a14:m>
                <a:r>
                  <a:rPr lang="pt-BR" sz="2800" dirty="0"/>
                  <a:t>.</a:t>
                </a:r>
              </a:p>
              <a:p>
                <a:pPr lvl="1"/>
                <a14:m>
                  <m:oMath xmlns:m="http://schemas.openxmlformats.org/officeDocument/2006/math">
                    <m:r>
                      <a:rPr lang="pt-BR" i="1" dirty="0">
                        <a:latin typeface="Cambria Math"/>
                      </a:rPr>
                      <m:t>𝑆</m:t>
                    </m:r>
                  </m:oMath>
                </a14:m>
                <a:r>
                  <a:rPr lang="pt-BR" dirty="0"/>
                  <a:t> é um </a:t>
                </a:r>
                <a:r>
                  <a:rPr lang="pt-BR" dirty="0" err="1"/>
                  <a:t>subgrafo</a:t>
                </a:r>
                <a:r>
                  <a:rPr lang="pt-BR" dirty="0"/>
                  <a:t> completo. </a:t>
                </a:r>
              </a:p>
              <a:p>
                <a:endParaRPr lang="pt-BR" sz="40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333" t="-1348"/>
                </a:stretch>
              </a:blipFill>
            </p:spPr>
            <p:txBody>
              <a:bodyPr/>
              <a:lstStyle/>
              <a:p>
                <a:r>
                  <a:rPr lang="pt-BR">
                    <a:noFill/>
                  </a:rPr>
                  <a:t> </a:t>
                </a:r>
              </a:p>
            </p:txBody>
          </p:sp>
        </mc:Fallback>
      </mc:AlternateContent>
    </p:spTree>
    <p:extLst>
      <p:ext uri="{BB962C8B-B14F-4D97-AF65-F5344CB8AC3E}">
        <p14:creationId xmlns:p14="http://schemas.microsoft.com/office/powerpoint/2010/main" val="3881777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3539" y="4677364"/>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67746"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flipH="1">
            <a:off x="5139437" y="3767336"/>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a:off x="5139437" y="4733594"/>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83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r>
                  <a:rPr lang="pt-BR" dirty="0"/>
                  <a:t>Obtendo </a:t>
                </a:r>
                <a14:m>
                  <m:oMath xmlns:m="http://schemas.openxmlformats.org/officeDocument/2006/math">
                    <m:r>
                      <a:rPr lang="pt-BR" i="1" dirty="0" smtClean="0">
                        <a:latin typeface="Cambria Math"/>
                      </a:rPr>
                      <m:t>𝐶</m:t>
                    </m:r>
                    <m:r>
                      <a:rPr lang="pt-BR" i="1" dirty="0" smtClean="0">
                        <a:latin typeface="Cambria Math"/>
                      </a:rPr>
                      <m:t>(</m:t>
                    </m:r>
                    <m:r>
                      <a:rPr lang="pt-BR" i="1" dirty="0" smtClean="0">
                        <a:latin typeface="Cambria Math"/>
                      </a:rPr>
                      <m:t>𝐺</m:t>
                    </m:r>
                    <m:r>
                      <a:rPr lang="pt-BR" i="1" dirty="0" smtClean="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3539" y="4677364"/>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67746"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flipH="1">
            <a:off x="5139437" y="3767336"/>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a:off x="5139437" y="4733594"/>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ector em curva 29"/>
          <p:cNvCxnSpPr>
            <a:stCxn id="5" idx="3"/>
            <a:endCxn id="8" idx="6"/>
          </p:cNvCxnSpPr>
          <p:nvPr/>
        </p:nvCxnSpPr>
        <p:spPr>
          <a:xfrm rot="5400000">
            <a:off x="3154953" y="3645405"/>
            <a:ext cx="1730533" cy="18542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4" name="Conector em curva 33"/>
          <p:cNvCxnSpPr>
            <a:stCxn id="6" idx="5"/>
            <a:endCxn id="12" idx="2"/>
          </p:cNvCxnSpPr>
          <p:nvPr/>
        </p:nvCxnSpPr>
        <p:spPr>
          <a:xfrm rot="16200000" flipH="1">
            <a:off x="3075077" y="3645104"/>
            <a:ext cx="1730533" cy="1854809"/>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5"/>
            <a:endCxn id="32" idx="1"/>
          </p:cNvCxnSpPr>
          <p:nvPr/>
        </p:nvCxnSpPr>
        <p:spPr>
          <a:xfrm>
            <a:off x="3012939" y="3707243"/>
            <a:ext cx="1934383" cy="676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6"/>
            <a:endCxn id="32" idx="3"/>
          </p:cNvCxnSpPr>
          <p:nvPr/>
        </p:nvCxnSpPr>
        <p:spPr>
          <a:xfrm flipV="1">
            <a:off x="3093115" y="4673501"/>
            <a:ext cx="1854207" cy="764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ector em curva 49"/>
          <p:cNvCxnSpPr>
            <a:stCxn id="5" idx="6"/>
            <a:endCxn id="12" idx="6"/>
          </p:cNvCxnSpPr>
          <p:nvPr/>
        </p:nvCxnSpPr>
        <p:spPr>
          <a:xfrm>
            <a:off x="5411128" y="3562164"/>
            <a:ext cx="1" cy="1875612"/>
          </a:xfrm>
          <a:prstGeom prst="curvedConnector3">
            <a:avLst>
              <a:gd name="adj1" fmla="val 22860100000"/>
            </a:avLst>
          </a:prstGeom>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7" idx="6"/>
            <a:endCxn id="32" idx="2"/>
          </p:cNvCxnSpPr>
          <p:nvPr/>
        </p:nvCxnSpPr>
        <p:spPr>
          <a:xfrm flipV="1">
            <a:off x="4211960" y="4528422"/>
            <a:ext cx="655786" cy="38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017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r>
                  <a:rPr lang="pt-BR" dirty="0"/>
                  <a:t>Obtendo </a:t>
                </a:r>
                <a14:m>
                  <m:oMath xmlns:m="http://schemas.openxmlformats.org/officeDocument/2006/math">
                    <m:r>
                      <a:rPr lang="pt-BR" i="1" dirty="0">
                        <a:latin typeface="Cambria Math"/>
                      </a:rPr>
                      <m:t>𝐶</m:t>
                    </m:r>
                    <m:r>
                      <a:rPr lang="pt-BR" i="1" dirty="0">
                        <a:latin typeface="Cambria Math"/>
                      </a:rPr>
                      <m:t>(</m:t>
                    </m:r>
                    <m:r>
                      <a:rPr lang="pt-BR" i="1" dirty="0">
                        <a:latin typeface="Cambria Math"/>
                      </a:rPr>
                      <m:t>𝐺</m:t>
                    </m:r>
                    <m:r>
                      <a:rPr lang="pt-BR" i="1" dirty="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sp>
        <p:nvSpPr>
          <p:cNvPr id="32" name="Elipse 31"/>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ector em curva 29"/>
          <p:cNvCxnSpPr>
            <a:stCxn id="5" idx="3"/>
            <a:endCxn id="8" idx="6"/>
          </p:cNvCxnSpPr>
          <p:nvPr/>
        </p:nvCxnSpPr>
        <p:spPr>
          <a:xfrm rot="5400000">
            <a:off x="3154953" y="3645405"/>
            <a:ext cx="1730533" cy="18542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4" name="Conector em curva 33"/>
          <p:cNvCxnSpPr>
            <a:stCxn id="6" idx="5"/>
            <a:endCxn id="12" idx="2"/>
          </p:cNvCxnSpPr>
          <p:nvPr/>
        </p:nvCxnSpPr>
        <p:spPr>
          <a:xfrm rot="16200000" flipH="1">
            <a:off x="3075077" y="3645104"/>
            <a:ext cx="1730533" cy="1854809"/>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5"/>
            <a:endCxn id="32" idx="1"/>
          </p:cNvCxnSpPr>
          <p:nvPr/>
        </p:nvCxnSpPr>
        <p:spPr>
          <a:xfrm>
            <a:off x="3012939" y="3707243"/>
            <a:ext cx="1936962" cy="676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6"/>
            <a:endCxn id="32" idx="3"/>
          </p:cNvCxnSpPr>
          <p:nvPr/>
        </p:nvCxnSpPr>
        <p:spPr>
          <a:xfrm flipV="1">
            <a:off x="3093115" y="4673501"/>
            <a:ext cx="1856786" cy="764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ector em curva 49"/>
          <p:cNvCxnSpPr>
            <a:stCxn id="5" idx="6"/>
            <a:endCxn id="12" idx="6"/>
          </p:cNvCxnSpPr>
          <p:nvPr/>
        </p:nvCxnSpPr>
        <p:spPr>
          <a:xfrm>
            <a:off x="5411128" y="3562164"/>
            <a:ext cx="1" cy="1875612"/>
          </a:xfrm>
          <a:prstGeom prst="curvedConnector3">
            <a:avLst>
              <a:gd name="adj1" fmla="val 22860100000"/>
            </a:avLst>
          </a:prstGeom>
        </p:spPr>
        <p:style>
          <a:lnRef idx="1">
            <a:schemeClr val="accent1"/>
          </a:lnRef>
          <a:fillRef idx="0">
            <a:schemeClr val="accent1"/>
          </a:fillRef>
          <a:effectRef idx="0">
            <a:schemeClr val="accent1"/>
          </a:effectRef>
          <a:fontRef idx="minor">
            <a:schemeClr val="tx1"/>
          </a:fontRef>
        </p:style>
      </p:cxnSp>
      <p:cxnSp>
        <p:nvCxnSpPr>
          <p:cNvPr id="10" name="Conector reto 9"/>
          <p:cNvCxnSpPr>
            <a:stCxn id="7" idx="6"/>
            <a:endCxn id="32" idx="2"/>
          </p:cNvCxnSpPr>
          <p:nvPr/>
        </p:nvCxnSpPr>
        <p:spPr>
          <a:xfrm flipV="1">
            <a:off x="4211960" y="4528422"/>
            <a:ext cx="658365" cy="38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406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r>
                  <a:rPr lang="pt-BR" dirty="0"/>
                  <a:t>Obtendo </a:t>
                </a:r>
                <a14:m>
                  <m:oMath xmlns:m="http://schemas.openxmlformats.org/officeDocument/2006/math">
                    <m:r>
                      <a:rPr lang="pt-BR" i="1" dirty="0">
                        <a:latin typeface="Cambria Math"/>
                      </a:rPr>
                      <m:t>𝐶</m:t>
                    </m:r>
                    <m:r>
                      <a:rPr lang="pt-BR" i="1" dirty="0">
                        <a:latin typeface="Cambria Math"/>
                      </a:rPr>
                      <m:t>(</m:t>
                    </m:r>
                    <m:r>
                      <a:rPr lang="pt-BR" i="1" dirty="0">
                        <a:latin typeface="Cambria Math"/>
                      </a:rPr>
                      <m:t>𝐺</m:t>
                    </m:r>
                    <m:r>
                      <a:rPr lang="pt-BR" i="1" dirty="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827584"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sp>
        <p:nvSpPr>
          <p:cNvPr id="32" name="Elipse 31"/>
          <p:cNvSpPr/>
          <p:nvPr/>
        </p:nvSpPr>
        <p:spPr>
          <a:xfrm>
            <a:off x="1940387"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3"/>
            <a:endCxn id="32" idx="0"/>
          </p:cNvCxnSpPr>
          <p:nvPr/>
        </p:nvCxnSpPr>
        <p:spPr>
          <a:xfrm flipH="1">
            <a:off x="2212078" y="3707243"/>
            <a:ext cx="416632" cy="6160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1"/>
            <a:endCxn id="32" idx="4"/>
          </p:cNvCxnSpPr>
          <p:nvPr/>
        </p:nvCxnSpPr>
        <p:spPr>
          <a:xfrm flipH="1" flipV="1">
            <a:off x="2212078" y="4733594"/>
            <a:ext cx="417232" cy="559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to 9"/>
          <p:cNvCxnSpPr>
            <a:stCxn id="7" idx="6"/>
            <a:endCxn id="32" idx="2"/>
          </p:cNvCxnSpPr>
          <p:nvPr/>
        </p:nvCxnSpPr>
        <p:spPr>
          <a:xfrm flipV="1">
            <a:off x="1370965" y="4528422"/>
            <a:ext cx="569422" cy="38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em curva 23"/>
          <p:cNvCxnSpPr>
            <a:stCxn id="6" idx="5"/>
            <a:endCxn id="12" idx="2"/>
          </p:cNvCxnSpPr>
          <p:nvPr/>
        </p:nvCxnSpPr>
        <p:spPr>
          <a:xfrm rot="16200000" flipH="1">
            <a:off x="3075077" y="3645104"/>
            <a:ext cx="1730533" cy="1854809"/>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26" name="Conector em curva 25"/>
          <p:cNvCxnSpPr>
            <a:stCxn id="5" idx="3"/>
            <a:endCxn id="8" idx="6"/>
          </p:cNvCxnSpPr>
          <p:nvPr/>
        </p:nvCxnSpPr>
        <p:spPr>
          <a:xfrm rot="5400000">
            <a:off x="3154953" y="3645405"/>
            <a:ext cx="1730533" cy="18542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28" name="Conector em curva 27"/>
          <p:cNvCxnSpPr>
            <a:stCxn id="5" idx="6"/>
            <a:endCxn id="12" idx="6"/>
          </p:cNvCxnSpPr>
          <p:nvPr/>
        </p:nvCxnSpPr>
        <p:spPr>
          <a:xfrm>
            <a:off x="5411128" y="3562164"/>
            <a:ext cx="1" cy="1875612"/>
          </a:xfrm>
          <a:prstGeom prst="curvedConnector3">
            <a:avLst>
              <a:gd name="adj1" fmla="val 2286010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591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d>
                      <m:dPr>
                        <m:begChr m:val="{"/>
                        <m:endChr m:val="}"/>
                        <m:ctrlPr>
                          <a:rPr lang="pt-BR" i="1" dirty="0">
                            <a:latin typeface="Cambria Math" panose="02040503050406030204" pitchFamily="18" charset="0"/>
                          </a:rPr>
                        </m:ctrlPr>
                      </m:dPr>
                      <m:e>
                        <m:r>
                          <a:rPr lang="pt-BR" i="1" dirty="0">
                            <a:latin typeface="Cambria Math"/>
                          </a:rPr>
                          <m:t>0, 2, 1, 6</m:t>
                        </m:r>
                      </m:e>
                    </m:d>
                    <m:r>
                      <a:rPr lang="pt-BR" b="0" i="1" dirty="0" smtClean="0">
                        <a:latin typeface="Cambria Math"/>
                      </a:rPr>
                      <m:t>=</m:t>
                    </m:r>
                    <m:r>
                      <a:rPr lang="pt-BR" b="0" i="1" dirty="0" smtClean="0">
                        <a:latin typeface="Cambria Math"/>
                      </a:rPr>
                      <m:t>𝐶𝑙𝑖𝑞𝑢𝑒</m:t>
                    </m:r>
                    <m:r>
                      <a:rPr lang="pt-BR" b="0" i="1" dirty="0" smtClean="0">
                        <a:latin typeface="Cambria Math"/>
                      </a:rPr>
                      <m:t> </m:t>
                    </m:r>
                    <m:r>
                      <a:rPr lang="pt-BR" b="0" i="1" dirty="0" smtClean="0">
                        <a:latin typeface="Cambria Math"/>
                      </a:rPr>
                      <m:t>𝑒𝑚</m:t>
                    </m:r>
                    <m:r>
                      <a:rPr lang="pt-BR" b="0" i="1" dirty="0" smtClean="0">
                        <a:latin typeface="Cambria Math"/>
                      </a:rPr>
                      <m:t> </m:t>
                    </m:r>
                    <m:r>
                      <a:rPr lang="pt-BR" b="0" i="1" dirty="0" smtClean="0">
                        <a:latin typeface="Cambria Math"/>
                      </a:rPr>
                      <m:t>𝐶</m:t>
                    </m:r>
                    <m:r>
                      <a:rPr lang="pt-BR" b="0" i="1" dirty="0" smtClean="0">
                        <a:latin typeface="Cambria Math"/>
                      </a:rPr>
                      <m:t>(</m:t>
                    </m:r>
                    <m:r>
                      <a:rPr lang="pt-BR" b="0" i="1" dirty="0" smtClean="0">
                        <a:latin typeface="Cambria Math"/>
                      </a:rPr>
                      <m:t>𝐺</m:t>
                    </m:r>
                    <m:r>
                      <a:rPr lang="pt-BR" b="0" i="1" dirty="0" smtClean="0">
                        <a:latin typeface="Cambria Math"/>
                      </a:rPr>
                      <m:t>)</m:t>
                    </m:r>
                  </m:oMath>
                </a14:m>
                <a:r>
                  <a:rPr lang="pt-BR" dirty="0"/>
                  <a:t>.</a:t>
                </a:r>
              </a:p>
              <a:p>
                <a:pPr lvl="1"/>
                <a:r>
                  <a:rPr lang="pt-BR" dirty="0"/>
                  <a:t>Obtendo </a:t>
                </a:r>
                <a14:m>
                  <m:oMath xmlns:m="http://schemas.openxmlformats.org/officeDocument/2006/math">
                    <m:r>
                      <a:rPr lang="pt-BR" i="1" dirty="0">
                        <a:latin typeface="Cambria Math"/>
                      </a:rPr>
                      <m:t>𝐶</m:t>
                    </m:r>
                    <m:r>
                      <a:rPr lang="pt-BR" i="1" dirty="0">
                        <a:latin typeface="Cambria Math"/>
                      </a:rPr>
                      <m:t>(</m:t>
                    </m:r>
                    <m:r>
                      <a:rPr lang="pt-BR" i="1" dirty="0">
                        <a:latin typeface="Cambria Math"/>
                      </a:rPr>
                      <m:t>𝐺</m:t>
                    </m:r>
                    <m:r>
                      <a:rPr lang="pt-BR" i="1" dirty="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827584"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sp>
        <p:nvSpPr>
          <p:cNvPr id="32" name="Elipse 31"/>
          <p:cNvSpPr/>
          <p:nvPr/>
        </p:nvSpPr>
        <p:spPr>
          <a:xfrm>
            <a:off x="1940387"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3"/>
            <a:endCxn id="32" idx="0"/>
          </p:cNvCxnSpPr>
          <p:nvPr/>
        </p:nvCxnSpPr>
        <p:spPr>
          <a:xfrm flipH="1">
            <a:off x="2212078" y="3707243"/>
            <a:ext cx="416632" cy="6160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1"/>
            <a:endCxn id="32" idx="4"/>
          </p:cNvCxnSpPr>
          <p:nvPr/>
        </p:nvCxnSpPr>
        <p:spPr>
          <a:xfrm flipH="1" flipV="1">
            <a:off x="2212078" y="4733594"/>
            <a:ext cx="417232" cy="559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to 9"/>
          <p:cNvCxnSpPr>
            <a:stCxn id="7" idx="6"/>
            <a:endCxn id="32" idx="2"/>
          </p:cNvCxnSpPr>
          <p:nvPr/>
        </p:nvCxnSpPr>
        <p:spPr>
          <a:xfrm flipV="1">
            <a:off x="1370965" y="4528422"/>
            <a:ext cx="569422" cy="38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p:cNvCxnSpPr>
            <a:stCxn id="6" idx="5"/>
            <a:endCxn id="12" idx="1"/>
          </p:cNvCxnSpPr>
          <p:nvPr/>
        </p:nvCxnSpPr>
        <p:spPr>
          <a:xfrm>
            <a:off x="3012939" y="3707243"/>
            <a:ext cx="1934385" cy="1585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5" idx="3"/>
            <a:endCxn id="8" idx="7"/>
          </p:cNvCxnSpPr>
          <p:nvPr/>
        </p:nvCxnSpPr>
        <p:spPr>
          <a:xfrm flipH="1">
            <a:off x="3013539" y="3707243"/>
            <a:ext cx="1933784" cy="1585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5" idx="4"/>
            <a:endCxn id="12" idx="0"/>
          </p:cNvCxnSpPr>
          <p:nvPr/>
        </p:nvCxnSpPr>
        <p:spPr>
          <a:xfrm>
            <a:off x="5139438" y="3767336"/>
            <a:ext cx="1" cy="14652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498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noAutofit/>
          </a:bodyPr>
          <a:lstStyle/>
          <a:p>
            <a:r>
              <a:rPr lang="pt-BR" dirty="0"/>
              <a:t>Aplicação</a:t>
            </a:r>
            <a:r>
              <a:rPr lang="pt-BR" sz="2400" dirty="0"/>
              <a:t>:</a:t>
            </a:r>
          </a:p>
          <a:p>
            <a:pPr lvl="1"/>
            <a:r>
              <a:rPr lang="pt-BR" sz="2400" dirty="0"/>
              <a:t>Exemplo: identificar localizações para instalação de franquias.</a:t>
            </a:r>
          </a:p>
          <a:p>
            <a:pPr lvl="1"/>
            <a:r>
              <a:rPr lang="pt-BR" sz="2400" dirty="0"/>
              <a:t>Duas localizações não podem estar perto o suficiente para competir entre si.</a:t>
            </a:r>
          </a:p>
          <a:p>
            <a:pPr lvl="1"/>
            <a:r>
              <a:rPr lang="pt-BR" sz="2400" dirty="0"/>
              <a:t>Solução: construir um grafo em que possíveis localizações são representadas por vértices, e arestas são criadas entre duas localizações que estão próximas o suficiente para interferir.</a:t>
            </a:r>
          </a:p>
          <a:p>
            <a:pPr lvl="1"/>
            <a:r>
              <a:rPr lang="pt-BR" sz="2400" dirty="0"/>
              <a:t>O maior conjunto independente fornece o maior número de franquias que podem ser concedidas sem prejudicar as vendas.</a:t>
            </a:r>
          </a:p>
        </p:txBody>
      </p:sp>
    </p:spTree>
    <p:extLst>
      <p:ext uri="{BB962C8B-B14F-4D97-AF65-F5344CB8AC3E}">
        <p14:creationId xmlns:p14="http://schemas.microsoft.com/office/powerpoint/2010/main" val="2744814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I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I = I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5" name="CaixaDeTexto 4"/>
          <p:cNvSpPr txBox="1"/>
          <p:nvPr/>
        </p:nvSpPr>
        <p:spPr>
          <a:xfrm>
            <a:off x="827585" y="4789601"/>
            <a:ext cx="7488832" cy="1200329"/>
          </a:xfrm>
          <a:prstGeom prst="rect">
            <a:avLst/>
          </a:prstGeom>
          <a:noFill/>
        </p:spPr>
        <p:txBody>
          <a:bodyPr wrap="square" rtlCol="0">
            <a:spAutoFit/>
          </a:bodyPr>
          <a:lstStyle/>
          <a:p>
            <a:r>
              <a:rPr lang="pt-BR" sz="2400" dirty="0"/>
              <a:t>Comece com o vértice de </a:t>
            </a:r>
            <a:r>
              <a:rPr lang="pt-BR" sz="2400" b="1" dirty="0"/>
              <a:t>menor</a:t>
            </a:r>
            <a:r>
              <a:rPr lang="pt-BR" sz="2400" dirty="0"/>
              <a:t> grau em G, elimine-o do conjunto V (junto com seus adjacentes) e o insira no conjunto I (conjunto independente).</a:t>
            </a:r>
          </a:p>
        </p:txBody>
      </p:sp>
    </p:spTree>
    <p:extLst>
      <p:ext uri="{BB962C8B-B14F-4D97-AF65-F5344CB8AC3E}">
        <p14:creationId xmlns:p14="http://schemas.microsoft.com/office/powerpoint/2010/main" val="1397439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I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I = I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657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88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946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430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9175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Transformação Polinomial (mais nas próximas aulas)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Problema de decisão: Seja </a:t>
                </a:r>
                <a14:m>
                  <m:oMath xmlns:m="http://schemas.openxmlformats.org/officeDocument/2006/math">
                    <m:r>
                      <a:rPr lang="pt-BR" i="1" dirty="0">
                        <a:latin typeface="Cambria Math"/>
                      </a:rPr>
                      <m:t>𝐺</m:t>
                    </m:r>
                    <m:r>
                      <a:rPr lang="pt-BR" i="1" dirty="0">
                        <a:latin typeface="Cambria Math"/>
                      </a:rPr>
                      <m:t>=(</m:t>
                    </m:r>
                    <m:r>
                      <a:rPr lang="pt-BR" i="1" dirty="0">
                        <a:latin typeface="Cambria Math"/>
                      </a:rPr>
                      <m:t>𝑉</m:t>
                    </m:r>
                    <m:r>
                      <a:rPr lang="pt-BR" i="1" dirty="0">
                        <a:latin typeface="Cambria Math"/>
                      </a:rPr>
                      <m:t>, </m:t>
                    </m:r>
                    <m:r>
                      <a:rPr lang="pt-BR" i="1" dirty="0">
                        <a:latin typeface="Cambria Math"/>
                      </a:rPr>
                      <m:t>𝐸</m:t>
                    </m:r>
                    <m:r>
                      <a:rPr lang="pt-BR" i="1" dirty="0">
                        <a:latin typeface="Cambria Math"/>
                      </a:rPr>
                      <m:t>) </m:t>
                    </m:r>
                  </m:oMath>
                </a14:m>
                <a:r>
                  <a:rPr lang="pt-BR" dirty="0"/>
                  <a:t>um grafo e um inteiro </a:t>
                </a:r>
                <a14:m>
                  <m:oMath xmlns:m="http://schemas.openxmlformats.org/officeDocument/2006/math">
                    <m:r>
                      <a:rPr lang="pt-BR" i="1" dirty="0" smtClean="0">
                        <a:latin typeface="Cambria Math"/>
                      </a:rPr>
                      <m:t>𝑘</m:t>
                    </m:r>
                  </m:oMath>
                </a14:m>
                <a:r>
                  <a:rPr lang="pt-BR" dirty="0"/>
                  <a:t>, existe um conjunto independente com no mínimo </a:t>
                </a:r>
                <a14:m>
                  <m:oMath xmlns:m="http://schemas.openxmlformats.org/officeDocument/2006/math">
                    <m:r>
                      <a:rPr lang="pt-BR" i="1" dirty="0" smtClean="0">
                        <a:latin typeface="Cambria Math"/>
                      </a:rPr>
                      <m:t>𝑘</m:t>
                    </m:r>
                  </m:oMath>
                </a14:m>
                <a:r>
                  <a:rPr lang="pt-BR" dirty="0"/>
                  <a:t> vértices?</a:t>
                </a:r>
              </a:p>
              <a:p>
                <a:endParaRPr lang="pt-BR" dirty="0"/>
              </a:p>
              <a:p>
                <a:r>
                  <a:rPr lang="pt-BR" dirty="0"/>
                  <a:t>Problema de decisão: Seja </a:t>
                </a:r>
                <a14:m>
                  <m:oMath xmlns:m="http://schemas.openxmlformats.org/officeDocument/2006/math">
                    <m:r>
                      <a:rPr lang="pt-BR" i="1" dirty="0">
                        <a:latin typeface="Cambria Math"/>
                      </a:rPr>
                      <m:t>𝐺</m:t>
                    </m:r>
                    <m:r>
                      <a:rPr lang="pt-BR" i="1" dirty="0">
                        <a:latin typeface="Cambria Math"/>
                      </a:rPr>
                      <m:t>=(</m:t>
                    </m:r>
                    <m:r>
                      <a:rPr lang="pt-BR" i="1" dirty="0">
                        <a:latin typeface="Cambria Math"/>
                      </a:rPr>
                      <m:t>𝑉</m:t>
                    </m:r>
                    <m:r>
                      <a:rPr lang="pt-BR" i="1" dirty="0">
                        <a:latin typeface="Cambria Math"/>
                      </a:rPr>
                      <m:t>, </m:t>
                    </m:r>
                    <m:r>
                      <a:rPr lang="pt-BR" i="1" dirty="0">
                        <a:latin typeface="Cambria Math"/>
                      </a:rPr>
                      <m:t>𝐸</m:t>
                    </m:r>
                    <m:r>
                      <a:rPr lang="pt-BR" i="1" dirty="0">
                        <a:latin typeface="Cambria Math"/>
                      </a:rPr>
                      <m:t>) </m:t>
                    </m:r>
                  </m:oMath>
                </a14:m>
                <a:r>
                  <a:rPr lang="pt-BR" dirty="0"/>
                  <a:t>um grafo e um inteiro </a:t>
                </a:r>
                <a14:m>
                  <m:oMath xmlns:m="http://schemas.openxmlformats.org/officeDocument/2006/math">
                    <m:r>
                      <a:rPr lang="pt-BR" i="1" dirty="0" smtClean="0">
                        <a:latin typeface="Cambria Math"/>
                      </a:rPr>
                      <m:t>𝑘</m:t>
                    </m:r>
                  </m:oMath>
                </a14:m>
                <a:r>
                  <a:rPr lang="pt-BR" dirty="0"/>
                  <a:t>, existe uma clique em </a:t>
                </a:r>
                <a14:m>
                  <m:oMath xmlns:m="http://schemas.openxmlformats.org/officeDocument/2006/math">
                    <m:r>
                      <a:rPr lang="pt-BR" i="1" dirty="0" smtClean="0">
                        <a:latin typeface="Cambria Math"/>
                      </a:rPr>
                      <m:t>𝐺</m:t>
                    </m:r>
                  </m:oMath>
                </a14:m>
                <a:r>
                  <a:rPr lang="pt-BR" dirty="0"/>
                  <a:t> com no mínimo </a:t>
                </a:r>
                <a14:m>
                  <m:oMath xmlns:m="http://schemas.openxmlformats.org/officeDocument/2006/math">
                    <m:r>
                      <a:rPr lang="pt-BR" i="1" dirty="0" smtClean="0">
                        <a:latin typeface="Cambria Math"/>
                      </a:rPr>
                      <m:t>𝑘</m:t>
                    </m:r>
                  </m:oMath>
                </a14:m>
                <a:r>
                  <a:rPr lang="pt-BR" dirty="0"/>
                  <a:t> vértices?</a:t>
                </a:r>
              </a:p>
              <a:p>
                <a:endParaRPr lang="pt-BR" dirty="0"/>
              </a:p>
              <a:p>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pt-BR">
                    <a:noFill/>
                  </a:rPr>
                  <a:t> </a:t>
                </a:r>
              </a:p>
            </p:txBody>
          </p:sp>
        </mc:Fallback>
      </mc:AlternateContent>
    </p:spTree>
    <p:extLst>
      <p:ext uri="{BB962C8B-B14F-4D97-AF65-F5344CB8AC3E}">
        <p14:creationId xmlns:p14="http://schemas.microsoft.com/office/powerpoint/2010/main" val="1294948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Transformação Polinomial (mais nas próximas aulas)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Autofit/>
              </a:bodyPr>
              <a:lstStyle/>
              <a:p>
                <a:r>
                  <a:rPr lang="pt-BR" sz="2400" dirty="0"/>
                  <a:t>Sejam P</a:t>
                </a:r>
                <a:r>
                  <a:rPr lang="pt-BR" sz="2400" baseline="-25000" dirty="0"/>
                  <a:t>1</a:t>
                </a:r>
                <a:r>
                  <a:rPr lang="pt-BR" sz="2400" dirty="0"/>
                  <a:t> o problema da Clique e P</a:t>
                </a:r>
                <a:r>
                  <a:rPr lang="pt-BR" sz="2400" baseline="-25000" dirty="0"/>
                  <a:t>2</a:t>
                </a:r>
                <a:r>
                  <a:rPr lang="pt-BR" sz="2400" dirty="0"/>
                  <a:t> o problema do conjunto independente. </a:t>
                </a:r>
              </a:p>
              <a:p>
                <a:r>
                  <a:rPr lang="pt-BR" sz="2400" dirty="0">
                    <a:ea typeface="Cambria Math"/>
                  </a:rPr>
                  <a:t>Transformação polinomial de </a:t>
                </a:r>
                <a:r>
                  <a:rPr lang="pt-BR" sz="2400" dirty="0"/>
                  <a:t>P</a:t>
                </a:r>
                <a:r>
                  <a:rPr lang="pt-BR" sz="2400" baseline="-25000" dirty="0"/>
                  <a:t>1  </a:t>
                </a:r>
                <a:r>
                  <a:rPr lang="pt-BR" sz="2400" dirty="0">
                    <a:ea typeface="Cambria Math"/>
                  </a:rPr>
                  <a:t>para </a:t>
                </a:r>
                <a:r>
                  <a:rPr lang="pt-BR" sz="2400" dirty="0"/>
                  <a:t>P</a:t>
                </a:r>
                <a:r>
                  <a:rPr lang="pt-BR" sz="2400" baseline="-25000" dirty="0"/>
                  <a:t>2</a:t>
                </a:r>
                <a:r>
                  <a:rPr lang="pt-BR" sz="2400" dirty="0">
                    <a:ea typeface="Cambria Math"/>
                  </a:rPr>
                  <a:t> (</a:t>
                </a:r>
                <a:r>
                  <a:rPr lang="pt-BR" sz="2400" dirty="0"/>
                  <a:t>P</a:t>
                </a:r>
                <a:r>
                  <a:rPr lang="pt-BR" sz="2400" baseline="-25000" dirty="0"/>
                  <a:t>1</a:t>
                </a:r>
                <a:r>
                  <a:rPr lang="pt-BR" sz="2400" dirty="0">
                    <a:ea typeface="Cambria Math"/>
                  </a:rPr>
                  <a:t> </a:t>
                </a:r>
                <a14:m>
                  <m:oMath xmlns:m="http://schemas.openxmlformats.org/officeDocument/2006/math">
                    <m:r>
                      <a:rPr lang="pt-BR" sz="2400" i="1">
                        <a:latin typeface="Cambria Math"/>
                        <a:ea typeface="Cambria Math"/>
                      </a:rPr>
                      <m:t>∝</m:t>
                    </m:r>
                  </m:oMath>
                </a14:m>
                <a:r>
                  <a:rPr lang="pt-BR" sz="2400" dirty="0">
                    <a:ea typeface="Cambria Math"/>
                  </a:rPr>
                  <a:t> </a:t>
                </a:r>
                <a:r>
                  <a:rPr lang="pt-BR" sz="2400" dirty="0"/>
                  <a:t>P</a:t>
                </a:r>
                <a:r>
                  <a:rPr lang="pt-BR" sz="2400" baseline="-25000" dirty="0"/>
                  <a:t>2</a:t>
                </a:r>
                <a:r>
                  <a:rPr lang="pt-BR" sz="2400" dirty="0">
                    <a:ea typeface="Cambria Math"/>
                  </a:rPr>
                  <a:t>)</a:t>
                </a:r>
              </a:p>
              <a:p>
                <a:pPr lvl="1"/>
                <a:r>
                  <a:rPr lang="pt-BR" sz="2000" dirty="0">
                    <a:ea typeface="Cambria Math"/>
                  </a:rPr>
                  <a:t>Seja uma instância genérica da Clique definida por um grafo </a:t>
                </a:r>
                <a14:m>
                  <m:oMath xmlns:m="http://schemas.openxmlformats.org/officeDocument/2006/math">
                    <m:r>
                      <a:rPr lang="pt-BR" sz="2000" i="1" dirty="0">
                        <a:latin typeface="Cambria Math"/>
                      </a:rPr>
                      <m:t>𝐺</m:t>
                    </m:r>
                    <m:r>
                      <a:rPr lang="pt-BR" sz="2000" i="1" dirty="0">
                        <a:latin typeface="Cambria Math"/>
                      </a:rPr>
                      <m:t>=(</m:t>
                    </m:r>
                    <m:r>
                      <a:rPr lang="pt-BR" sz="2000" i="1" dirty="0">
                        <a:latin typeface="Cambria Math"/>
                      </a:rPr>
                      <m:t>𝑉</m:t>
                    </m:r>
                    <m:r>
                      <a:rPr lang="pt-BR" sz="2000" i="1" dirty="0">
                        <a:latin typeface="Cambria Math"/>
                      </a:rPr>
                      <m:t>, </m:t>
                    </m:r>
                    <m:r>
                      <a:rPr lang="pt-BR" sz="2000" i="1" dirty="0">
                        <a:latin typeface="Cambria Math"/>
                      </a:rPr>
                      <m:t>𝐸</m:t>
                    </m:r>
                    <m:r>
                      <a:rPr lang="pt-BR" sz="2000" i="1" dirty="0">
                        <a:latin typeface="Cambria Math"/>
                      </a:rPr>
                      <m:t>) </m:t>
                    </m:r>
                  </m:oMath>
                </a14:m>
                <a:r>
                  <a:rPr lang="pt-BR" sz="2000" dirty="0"/>
                  <a:t>e um inteiro </a:t>
                </a:r>
                <a14:m>
                  <m:oMath xmlns:m="http://schemas.openxmlformats.org/officeDocument/2006/math">
                    <m:r>
                      <a:rPr lang="pt-BR" sz="2000" i="1" dirty="0">
                        <a:latin typeface="Cambria Math"/>
                      </a:rPr>
                      <m:t>𝑘</m:t>
                    </m:r>
                    <m:r>
                      <a:rPr lang="pt-BR" sz="2000" i="1" dirty="0" smtClean="0">
                        <a:latin typeface="Cambria Math"/>
                        <a:ea typeface="Cambria Math"/>
                      </a:rPr>
                      <m:t>&gt;</m:t>
                    </m:r>
                    <m:r>
                      <a:rPr lang="pt-BR" sz="2000" b="0" i="1" dirty="0" smtClean="0">
                        <a:latin typeface="Cambria Math"/>
                        <a:ea typeface="Cambria Math"/>
                      </a:rPr>
                      <m:t>0</m:t>
                    </m:r>
                  </m:oMath>
                </a14:m>
                <a:r>
                  <a:rPr lang="pt-BR" sz="2000" dirty="0"/>
                  <a:t>.</a:t>
                </a:r>
              </a:p>
              <a:p>
                <a:pPr lvl="1"/>
                <a:r>
                  <a:rPr lang="pt-BR" sz="2000" dirty="0"/>
                  <a:t>Criamos uma instância do conjunto independente considerando o grafo complementar </a:t>
                </a:r>
                <a14:m>
                  <m:oMath xmlns:m="http://schemas.openxmlformats.org/officeDocument/2006/math">
                    <m:acc>
                      <m:accPr>
                        <m:chr m:val="̅"/>
                        <m:ctrlPr>
                          <a:rPr lang="pt-BR" sz="2000" i="1" dirty="0" smtClean="0">
                            <a:latin typeface="Cambria Math" panose="02040503050406030204" pitchFamily="18" charset="0"/>
                          </a:rPr>
                        </m:ctrlPr>
                      </m:accPr>
                      <m:e>
                        <m:r>
                          <a:rPr lang="pt-BR" sz="2000" b="0" i="1" dirty="0" smtClean="0">
                            <a:latin typeface="Cambria Math"/>
                          </a:rPr>
                          <m:t>𝐺</m:t>
                        </m:r>
                      </m:e>
                    </m:acc>
                  </m:oMath>
                </a14:m>
                <a:r>
                  <a:rPr lang="pt-BR" sz="2000" dirty="0"/>
                  <a:t> de </a:t>
                </a:r>
                <a14:m>
                  <m:oMath xmlns:m="http://schemas.openxmlformats.org/officeDocument/2006/math">
                    <m:r>
                      <a:rPr lang="pt-BR" sz="2000" i="1" dirty="0">
                        <a:latin typeface="Cambria Math"/>
                      </a:rPr>
                      <m:t>𝐺</m:t>
                    </m:r>
                  </m:oMath>
                </a14:m>
                <a:r>
                  <a:rPr lang="pt-BR" sz="2000" dirty="0"/>
                  <a:t> e o mesmo inteiro </a:t>
                </a:r>
                <a14:m>
                  <m:oMath xmlns:m="http://schemas.openxmlformats.org/officeDocument/2006/math">
                    <m:r>
                      <a:rPr lang="pt-BR" sz="2000" i="1" dirty="0">
                        <a:latin typeface="Cambria Math"/>
                      </a:rPr>
                      <m:t>𝑘</m:t>
                    </m:r>
                  </m:oMath>
                </a14:m>
                <a:r>
                  <a:rPr lang="pt-BR" sz="2000" dirty="0"/>
                  <a:t>.</a:t>
                </a:r>
              </a:p>
              <a:p>
                <a:r>
                  <a:rPr lang="pt-BR" sz="2400" dirty="0"/>
                  <a:t>A transformação é polinomial pois:</a:t>
                </a:r>
              </a:p>
              <a:p>
                <a:pPr lvl="1"/>
                <a:r>
                  <a:rPr lang="pt-BR" sz="2000" dirty="0"/>
                  <a:t>O grafo complementar </a:t>
                </a:r>
                <a14:m>
                  <m:oMath xmlns:m="http://schemas.openxmlformats.org/officeDocument/2006/math">
                    <m:acc>
                      <m:accPr>
                        <m:chr m:val="̅"/>
                        <m:ctrlPr>
                          <a:rPr lang="pt-BR" sz="2000" i="1" dirty="0">
                            <a:latin typeface="Cambria Math" panose="02040503050406030204" pitchFamily="18" charset="0"/>
                          </a:rPr>
                        </m:ctrlPr>
                      </m:accPr>
                      <m:e>
                        <m:r>
                          <a:rPr lang="pt-BR" sz="2000" i="1" dirty="0">
                            <a:latin typeface="Cambria Math"/>
                          </a:rPr>
                          <m:t>𝐺</m:t>
                        </m:r>
                      </m:e>
                    </m:acc>
                  </m:oMath>
                </a14:m>
                <a:r>
                  <a:rPr lang="pt-BR" sz="2000" dirty="0"/>
                  <a:t> pode ser obtido em tempo polinomial (</a:t>
                </a:r>
                <a14:m>
                  <m:oMath xmlns:m="http://schemas.openxmlformats.org/officeDocument/2006/math">
                    <m:r>
                      <a:rPr lang="pt-BR" sz="2000" b="0" i="1" smtClean="0">
                        <a:latin typeface="Cambria Math"/>
                      </a:rPr>
                      <m:t>𝑂</m:t>
                    </m:r>
                    <m:r>
                      <a:rPr lang="pt-BR" sz="2000" b="0" i="1" smtClean="0">
                        <a:latin typeface="Cambria Math"/>
                      </a:rPr>
                      <m:t>(</m:t>
                    </m:r>
                    <m:sSup>
                      <m:sSupPr>
                        <m:ctrlPr>
                          <a:rPr lang="pt-BR" sz="2000" b="0" i="1" smtClean="0">
                            <a:latin typeface="Cambria Math" panose="02040503050406030204" pitchFamily="18" charset="0"/>
                          </a:rPr>
                        </m:ctrlPr>
                      </m:sSupPr>
                      <m:e>
                        <m:r>
                          <a:rPr lang="pt-BR" sz="2000" b="0" i="1" smtClean="0">
                            <a:latin typeface="Cambria Math"/>
                          </a:rPr>
                          <m:t>𝑉</m:t>
                        </m:r>
                      </m:e>
                      <m:sup>
                        <m:r>
                          <a:rPr lang="pt-BR" sz="2000" b="0" i="1" smtClean="0">
                            <a:latin typeface="Cambria Math"/>
                          </a:rPr>
                          <m:t>2</m:t>
                        </m:r>
                      </m:sup>
                    </m:sSup>
                    <m:r>
                      <a:rPr lang="pt-BR" sz="2000" b="0" i="1" smtClean="0">
                        <a:latin typeface="Cambria Math"/>
                      </a:rPr>
                      <m:t>)</m:t>
                    </m:r>
                  </m:oMath>
                </a14:m>
                <a:r>
                  <a:rPr lang="pt-BR" sz="2000" dirty="0"/>
                  <a:t>).</a:t>
                </a:r>
              </a:p>
              <a:p>
                <a:pPr lvl="1"/>
                <a14:m>
                  <m:oMath xmlns:m="http://schemas.openxmlformats.org/officeDocument/2006/math">
                    <m:r>
                      <a:rPr lang="pt-BR" sz="2000" i="1" dirty="0">
                        <a:latin typeface="Cambria Math"/>
                      </a:rPr>
                      <m:t>𝐺</m:t>
                    </m:r>
                  </m:oMath>
                </a14:m>
                <a:r>
                  <a:rPr lang="pt-BR" sz="2000" dirty="0"/>
                  <a:t> possui uma clique de tamanho </a:t>
                </a:r>
                <a14:m>
                  <m:oMath xmlns:m="http://schemas.openxmlformats.org/officeDocument/2006/math">
                    <m:r>
                      <a:rPr lang="pt-BR" sz="2000" i="1" dirty="0" smtClean="0">
                        <a:latin typeface="Cambria Math"/>
                        <a:ea typeface="Cambria Math"/>
                      </a:rPr>
                      <m:t>≥</m:t>
                    </m:r>
                    <m:r>
                      <a:rPr lang="pt-BR" sz="2000" i="1" dirty="0">
                        <a:latin typeface="Cambria Math"/>
                      </a:rPr>
                      <m:t>𝑘</m:t>
                    </m:r>
                    <m:r>
                      <a:rPr lang="pt-BR" sz="2000" i="1" dirty="0">
                        <a:latin typeface="Cambria Math"/>
                      </a:rPr>
                      <m:t> </m:t>
                    </m:r>
                  </m:oMath>
                </a14:m>
                <a:r>
                  <a:rPr lang="pt-BR" sz="2000" dirty="0"/>
                  <a:t>se e somente se </a:t>
                </a:r>
                <a14:m>
                  <m:oMath xmlns:m="http://schemas.openxmlformats.org/officeDocument/2006/math">
                    <m:acc>
                      <m:accPr>
                        <m:chr m:val="̅"/>
                        <m:ctrlPr>
                          <a:rPr lang="pt-BR" sz="2000" i="1" dirty="0">
                            <a:latin typeface="Cambria Math" panose="02040503050406030204" pitchFamily="18" charset="0"/>
                          </a:rPr>
                        </m:ctrlPr>
                      </m:accPr>
                      <m:e>
                        <m:r>
                          <a:rPr lang="pt-BR" sz="2000" i="1" dirty="0">
                            <a:latin typeface="Cambria Math"/>
                          </a:rPr>
                          <m:t>𝐺</m:t>
                        </m:r>
                      </m:e>
                    </m:acc>
                  </m:oMath>
                </a14:m>
                <a:r>
                  <a:rPr lang="pt-BR" sz="2000" dirty="0"/>
                  <a:t> tem conjunto independente de tamanho </a:t>
                </a:r>
                <a14:m>
                  <m:oMath xmlns:m="http://schemas.openxmlformats.org/officeDocument/2006/math">
                    <m:r>
                      <a:rPr lang="pt-BR" sz="2000" i="1" dirty="0">
                        <a:latin typeface="Cambria Math"/>
                        <a:ea typeface="Cambria Math"/>
                      </a:rPr>
                      <m:t>≥</m:t>
                    </m:r>
                    <m:r>
                      <a:rPr lang="pt-BR" sz="2000" i="1" dirty="0">
                        <a:latin typeface="Cambria Math"/>
                      </a:rPr>
                      <m:t>𝑘</m:t>
                    </m:r>
                    <m:r>
                      <a:rPr lang="pt-BR" sz="2000" i="1" dirty="0">
                        <a:latin typeface="Cambria Math"/>
                      </a:rPr>
                      <m:t> </m:t>
                    </m:r>
                  </m:oMath>
                </a14:m>
                <a:r>
                  <a:rPr lang="pt-BR" sz="2000" dirty="0"/>
                  <a:t>.</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963" t="-1078" r="-519"/>
                </a:stretch>
              </a:blipFill>
            </p:spPr>
            <p:txBody>
              <a:bodyPr/>
              <a:lstStyle/>
              <a:p>
                <a:r>
                  <a:rPr lang="pt-BR">
                    <a:noFill/>
                  </a:rPr>
                  <a:t> </a:t>
                </a:r>
              </a:p>
            </p:txBody>
          </p:sp>
        </mc:Fallback>
      </mc:AlternateContent>
    </p:spTree>
    <p:extLst>
      <p:ext uri="{BB962C8B-B14F-4D97-AF65-F5344CB8AC3E}">
        <p14:creationId xmlns:p14="http://schemas.microsoft.com/office/powerpoint/2010/main" val="159027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Problema NP-Completo (mais nas próximas aulas)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Um problema P</a:t>
                </a:r>
                <a:r>
                  <a:rPr lang="pt-BR" baseline="-25000" dirty="0"/>
                  <a:t>1</a:t>
                </a:r>
                <a:r>
                  <a:rPr lang="pt-BR" dirty="0"/>
                  <a:t> é NP-Completo se:</a:t>
                </a:r>
              </a:p>
              <a:p>
                <a:pPr marL="971550" lvl="1" indent="-514350">
                  <a:buFont typeface="+mj-lt"/>
                  <a:buAutoNum type="arabicParenR"/>
                </a:pPr>
                <a:r>
                  <a:rPr lang="pt-BR" dirty="0"/>
                  <a:t>P</a:t>
                </a:r>
                <a:r>
                  <a:rPr lang="pt-BR" baseline="-25000" dirty="0"/>
                  <a:t>1 </a:t>
                </a:r>
                <a14:m>
                  <m:oMath xmlns:m="http://schemas.openxmlformats.org/officeDocument/2006/math">
                    <m:r>
                      <a:rPr lang="pt-BR" i="1" dirty="0" smtClean="0">
                        <a:latin typeface="Cambria Math"/>
                        <a:ea typeface="Cambria Math"/>
                      </a:rPr>
                      <m:t>∈</m:t>
                    </m:r>
                    <m:r>
                      <a:rPr lang="pt-BR" b="0" i="1" dirty="0" smtClean="0">
                        <a:latin typeface="Cambria Math"/>
                        <a:ea typeface="Cambria Math"/>
                      </a:rPr>
                      <m:t> </m:t>
                    </m:r>
                  </m:oMath>
                </a14:m>
                <a:r>
                  <a:rPr lang="pt-BR" dirty="0"/>
                  <a:t>NP</a:t>
                </a:r>
              </a:p>
              <a:p>
                <a:pPr marL="971550" lvl="1" indent="-514350">
                  <a:buFont typeface="+mj-lt"/>
                  <a:buAutoNum type="arabicParenR"/>
                </a:pPr>
                <a:r>
                  <a:rPr lang="pt-BR" dirty="0"/>
                  <a:t>P’ </a:t>
                </a:r>
                <a14:m>
                  <m:oMath xmlns:m="http://schemas.openxmlformats.org/officeDocument/2006/math">
                    <m:r>
                      <a:rPr lang="pt-BR" i="1">
                        <a:latin typeface="Cambria Math"/>
                        <a:ea typeface="Cambria Math"/>
                      </a:rPr>
                      <m:t>∝</m:t>
                    </m:r>
                  </m:oMath>
                </a14:m>
                <a:r>
                  <a:rPr lang="pt-BR" dirty="0"/>
                  <a:t> P</a:t>
                </a:r>
                <a:r>
                  <a:rPr lang="pt-BR" baseline="-25000" dirty="0"/>
                  <a:t>1  </a:t>
                </a:r>
                <a:r>
                  <a:rPr lang="pt-BR" dirty="0"/>
                  <a:t>para todo P’ </a:t>
                </a:r>
                <a14:m>
                  <m:oMath xmlns:m="http://schemas.openxmlformats.org/officeDocument/2006/math">
                    <m:r>
                      <a:rPr lang="pt-BR" i="1" dirty="0">
                        <a:latin typeface="Cambria Math"/>
                        <a:ea typeface="Cambria Math"/>
                      </a:rPr>
                      <m:t>∈ </m:t>
                    </m:r>
                  </m:oMath>
                </a14:m>
                <a:r>
                  <a:rPr lang="pt-BR" dirty="0"/>
                  <a:t>NP-Completo</a:t>
                </a:r>
              </a:p>
              <a:p>
                <a:pPr marL="457200" lvl="1" indent="0">
                  <a:buNone/>
                </a:pPr>
                <a:endParaRPr lang="pt-BR" dirty="0"/>
              </a:p>
              <a:p>
                <a:r>
                  <a:rPr lang="pt-BR" dirty="0"/>
                  <a:t>Quando P</a:t>
                </a:r>
                <a:r>
                  <a:rPr lang="pt-BR" baseline="-25000" dirty="0"/>
                  <a:t>1</a:t>
                </a:r>
                <a:r>
                  <a:rPr lang="pt-BR" dirty="0"/>
                  <a:t> é NP-Difícil?</a:t>
                </a:r>
              </a:p>
              <a:p>
                <a:pPr lvl="1"/>
                <a:r>
                  <a:rPr lang="pt-BR" dirty="0"/>
                  <a:t>Quanto apenas a propriedade 2 for válida.</a:t>
                </a:r>
              </a:p>
              <a:p>
                <a:pPr marL="0" indent="0">
                  <a:buNone/>
                </a:pPr>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Tree>
    <p:extLst>
      <p:ext uri="{BB962C8B-B14F-4D97-AF65-F5344CB8AC3E}">
        <p14:creationId xmlns:p14="http://schemas.microsoft.com/office/powerpoint/2010/main" val="239929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Seja </a:t>
                </a:r>
                <a14:m>
                  <m:oMath xmlns:m="http://schemas.openxmlformats.org/officeDocument/2006/math">
                    <m:r>
                      <a:rPr lang="pt-BR" sz="2400" i="1" dirty="0">
                        <a:latin typeface="Cambria Math"/>
                      </a:rPr>
                      <m:t>𝐺</m:t>
                    </m:r>
                    <m:r>
                      <a:rPr lang="pt-BR" sz="2400" i="1" dirty="0">
                        <a:latin typeface="Cambria Math"/>
                      </a:rPr>
                      <m:t>=(</m:t>
                    </m:r>
                    <m:r>
                      <a:rPr lang="pt-BR" sz="2400" i="1" dirty="0">
                        <a:latin typeface="Cambria Math"/>
                      </a:rPr>
                      <m:t>𝑉</m:t>
                    </m:r>
                    <m:r>
                      <a:rPr lang="pt-BR" sz="2400" i="1" dirty="0">
                        <a:latin typeface="Cambria Math"/>
                      </a:rPr>
                      <m:t>, </m:t>
                    </m:r>
                    <m:r>
                      <a:rPr lang="pt-BR" sz="2400" i="1" dirty="0">
                        <a:latin typeface="Cambria Math"/>
                      </a:rPr>
                      <m:t>𝐸</m:t>
                    </m:r>
                    <m:r>
                      <a:rPr lang="pt-BR" sz="2400" i="1" dirty="0">
                        <a:latin typeface="Cambria Math"/>
                      </a:rPr>
                      <m:t>) </m:t>
                    </m:r>
                  </m:oMath>
                </a14:m>
                <a:r>
                  <a:rPr lang="pt-BR" sz="2400" dirty="0"/>
                  <a:t>um grafo.</a:t>
                </a:r>
              </a:p>
              <a:p>
                <a:r>
                  <a:rPr lang="pt-BR" sz="2400" dirty="0"/>
                  <a:t>Um subconjunto </a:t>
                </a:r>
                <a14:m>
                  <m:oMath xmlns:m="http://schemas.openxmlformats.org/officeDocument/2006/math">
                    <m:r>
                      <a:rPr lang="pt-BR" sz="2400" i="1">
                        <a:latin typeface="Cambria Math"/>
                      </a:rPr>
                      <m:t>𝑆</m:t>
                    </m:r>
                    <m:r>
                      <a:rPr lang="pt-BR" sz="2400" i="1">
                        <a:latin typeface="Cambria Math"/>
                        <a:ea typeface="Cambria Math"/>
                      </a:rPr>
                      <m:t>⊆</m:t>
                    </m:r>
                    <m:r>
                      <a:rPr lang="pt-BR" sz="2400" i="1">
                        <a:latin typeface="Cambria Math"/>
                        <a:ea typeface="Cambria Math"/>
                      </a:rPr>
                      <m:t>𝑉</m:t>
                    </m:r>
                  </m:oMath>
                </a14:m>
                <a:r>
                  <a:rPr lang="pt-BR" sz="2400" dirty="0"/>
                  <a:t> é um subconjunto dominante se </a:t>
                </a:r>
                <a14:m>
                  <m:oMath xmlns:m="http://schemas.openxmlformats.org/officeDocument/2006/math">
                    <m:r>
                      <a:rPr lang="pt-BR" sz="2400" i="1">
                        <a:latin typeface="Cambria Math"/>
                        <a:ea typeface="Cambria Math"/>
                      </a:rPr>
                      <m:t>∀ </m:t>
                    </m:r>
                    <m:r>
                      <a:rPr lang="pt-BR" sz="2400" i="1">
                        <a:latin typeface="Cambria Math"/>
                        <a:ea typeface="Cambria Math"/>
                      </a:rPr>
                      <m:t>𝑣</m:t>
                    </m:r>
                    <m:r>
                      <a:rPr lang="pt-BR" sz="2400" i="1">
                        <a:latin typeface="Cambria Math"/>
                      </a:rPr>
                      <m:t>∉</m:t>
                    </m:r>
                    <m:r>
                      <a:rPr lang="pt-BR" sz="2400" i="1">
                        <a:latin typeface="Cambria Math"/>
                        <a:ea typeface="Cambria Math"/>
                      </a:rPr>
                      <m:t>𝑆</m:t>
                    </m:r>
                  </m:oMath>
                </a14:m>
                <a:r>
                  <a:rPr lang="pt-BR" sz="2400" dirty="0"/>
                  <a:t>, existe </a:t>
                </a:r>
                <a14:m>
                  <m:oMath xmlns:m="http://schemas.openxmlformats.org/officeDocument/2006/math">
                    <m:r>
                      <a:rPr lang="pt-BR" sz="2400" i="1">
                        <a:latin typeface="Cambria Math"/>
                      </a:rPr>
                      <m:t>𝑤</m:t>
                    </m:r>
                    <m:r>
                      <a:rPr lang="pt-BR" sz="2400" i="1" smtClean="0">
                        <a:latin typeface="Cambria Math"/>
                        <a:ea typeface="Cambria Math"/>
                      </a:rPr>
                      <m:t>∈</m:t>
                    </m:r>
                    <m:r>
                      <a:rPr lang="pt-BR" sz="2400" b="0" i="1" smtClean="0">
                        <a:latin typeface="Cambria Math"/>
                        <a:ea typeface="Cambria Math"/>
                      </a:rPr>
                      <m:t>𝑆</m:t>
                    </m:r>
                  </m:oMath>
                </a14:m>
                <a:r>
                  <a:rPr lang="pt-BR" sz="2400" dirty="0"/>
                  <a:t>, tal que </a:t>
                </a:r>
                <a14:m>
                  <m:oMath xmlns:m="http://schemas.openxmlformats.org/officeDocument/2006/math">
                    <m:r>
                      <a:rPr lang="pt-BR" sz="2400" i="1">
                        <a:latin typeface="Cambria Math"/>
                      </a:rPr>
                      <m:t>(</m:t>
                    </m:r>
                    <m:r>
                      <a:rPr lang="pt-BR" sz="2400" i="1">
                        <a:latin typeface="Cambria Math"/>
                      </a:rPr>
                      <m:t>𝑣</m:t>
                    </m:r>
                    <m:r>
                      <a:rPr lang="pt-BR" sz="2400" i="1">
                        <a:latin typeface="Cambria Math"/>
                      </a:rPr>
                      <m:t>, </m:t>
                    </m:r>
                    <m:r>
                      <a:rPr lang="pt-BR" sz="2400" i="1">
                        <a:latin typeface="Cambria Math"/>
                      </a:rPr>
                      <m:t>𝑤</m:t>
                    </m:r>
                    <m:r>
                      <a:rPr lang="pt-BR" sz="2400" i="1">
                        <a:latin typeface="Cambria Math"/>
                      </a:rPr>
                      <m:t>)∈</m:t>
                    </m:r>
                    <m:r>
                      <a:rPr lang="pt-BR" sz="2400" i="1">
                        <a:latin typeface="Cambria Math"/>
                        <a:ea typeface="Cambria Math"/>
                      </a:rPr>
                      <m:t>𝐸</m:t>
                    </m:r>
                  </m:oMath>
                </a14:m>
                <a:r>
                  <a:rPr lang="pt-BR" sz="2400" dirty="0"/>
                  <a:t>.</a:t>
                </a:r>
              </a:p>
              <a:p>
                <a:pPr lvl="1"/>
                <a:r>
                  <a:rPr lang="pt-BR" sz="2000" dirty="0"/>
                  <a:t>S pode ser chamado de </a:t>
                </a:r>
                <a:r>
                  <a:rPr lang="pt-BR" sz="2000" b="1" dirty="0" err="1"/>
                  <a:t>S</a:t>
                </a:r>
                <a:r>
                  <a:rPr lang="pt-BR" sz="2000" dirty="0" err="1"/>
                  <a:t>ub</a:t>
                </a:r>
                <a:r>
                  <a:rPr lang="pt-BR" sz="2000" b="1" dirty="0" err="1"/>
                  <a:t>S</a:t>
                </a:r>
                <a:r>
                  <a:rPr lang="pt-BR" sz="2000" dirty="0" err="1"/>
                  <a:t>onjunto</a:t>
                </a:r>
                <a:r>
                  <a:rPr lang="pt-BR" sz="2000" dirty="0"/>
                  <a:t> </a:t>
                </a:r>
                <a:r>
                  <a:rPr lang="pt-BR" sz="2000" b="1" dirty="0"/>
                  <a:t>E</a:t>
                </a:r>
                <a:r>
                  <a:rPr lang="pt-BR" sz="2000" dirty="0"/>
                  <a:t>xternamente </a:t>
                </a:r>
                <a:r>
                  <a:rPr lang="pt-BR" sz="2000" b="1" dirty="0"/>
                  <a:t>E</a:t>
                </a:r>
                <a:r>
                  <a:rPr lang="pt-BR" sz="2000" dirty="0"/>
                  <a:t>stável ou SCEE.</a:t>
                </a:r>
              </a:p>
              <a:p>
                <a:pPr lvl="1"/>
                <a:r>
                  <a:rPr lang="pt-BR" sz="2000" dirty="0"/>
                  <a:t>É o </a:t>
                </a:r>
                <a:r>
                  <a:rPr lang="pt-BR" sz="2000" b="1" dirty="0"/>
                  <a:t>menor</a:t>
                </a:r>
                <a:r>
                  <a:rPr lang="pt-BR" sz="2000" dirty="0"/>
                  <a:t> conjunto de vértices que é vizinho a todos os outros vértices.</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963" t="-1078"/>
                </a:stretch>
              </a:blipFill>
            </p:spPr>
            <p:txBody>
              <a:bodyPr/>
              <a:lstStyle/>
              <a:p>
                <a:r>
                  <a:rPr lang="pt-BR">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4005064"/>
            <a:ext cx="3530899" cy="1849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578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p:cNvSpPr>
                <a:spLocks noGrp="1"/>
              </p:cNvSpPr>
              <p:nvPr>
                <p:ph type="title"/>
              </p:nvPr>
            </p:nvSpPr>
            <p:spPr/>
            <p:txBody>
              <a:bodyPr>
                <a:normAutofit/>
              </a:bodyPr>
              <a:lstStyle/>
              <a:p>
                <a:r>
                  <a:rPr lang="pt-BR" sz="3600" dirty="0"/>
                  <a:t>Conjuntos Dominantes Mínimos e </a:t>
                </a:r>
                <a14:m>
                  <m:oMath xmlns:m="http://schemas.openxmlformats.org/officeDocument/2006/math">
                    <m:r>
                      <m:rPr>
                        <m:sty m:val="p"/>
                      </m:rPr>
                      <a:rPr lang="el-GR" sz="3600" i="1" smtClean="0">
                        <a:latin typeface="Cambria Math"/>
                        <a:ea typeface="Cambria Math"/>
                      </a:rPr>
                      <m:t>α</m:t>
                    </m:r>
                    <m:r>
                      <a:rPr lang="pt-BR" sz="3600" i="1">
                        <a:latin typeface="Cambria Math"/>
                        <a:ea typeface="Cambria Math"/>
                      </a:rPr>
                      <m:t>(</m:t>
                    </m:r>
                    <m:r>
                      <a:rPr lang="pt-BR" sz="3600" i="1">
                        <a:latin typeface="Cambria Math"/>
                        <a:ea typeface="Cambria Math"/>
                      </a:rPr>
                      <m:t>𝐺</m:t>
                    </m:r>
                    <m:r>
                      <a:rPr lang="pt-BR" sz="3600" i="1">
                        <a:latin typeface="Cambria Math"/>
                        <a:ea typeface="Cambria Math"/>
                      </a:rPr>
                      <m:t>)</m:t>
                    </m:r>
                  </m:oMath>
                </a14:m>
                <a:r>
                  <a:rPr lang="pt-BR" sz="3600" dirty="0"/>
                  <a:t> </a:t>
                </a:r>
              </a:p>
            </p:txBody>
          </p:sp>
        </mc:Choice>
        <mc:Fallback xmlns="">
          <p:sp>
            <p:nvSpPr>
              <p:cNvPr id="2" name="Título 1"/>
              <p:cNvSpPr>
                <a:spLocks noGrp="1"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 e </a:t>
                </a:r>
                <a14:m>
                  <m:oMath xmlns:m="http://schemas.openxmlformats.org/officeDocument/2006/math">
                    <m:r>
                      <a:rPr lang="pt-BR" sz="2800" i="1">
                        <a:latin typeface="Cambria Math"/>
                      </a:rPr>
                      <m:t>𝑆</m:t>
                    </m:r>
                    <m:r>
                      <a:rPr lang="pt-BR" sz="2800" i="1">
                        <a:latin typeface="Cambria Math"/>
                      </a:rPr>
                      <m:t> </m:t>
                    </m:r>
                  </m:oMath>
                </a14:m>
                <a:r>
                  <a:rPr lang="pt-BR" sz="2800" dirty="0"/>
                  <a:t>um conjunto dominante de </a:t>
                </a:r>
                <a14:m>
                  <m:oMath xmlns:m="http://schemas.openxmlformats.org/officeDocument/2006/math">
                    <m:r>
                      <a:rPr lang="pt-BR" sz="2800" i="1" dirty="0" smtClean="0">
                        <a:latin typeface="Cambria Math"/>
                      </a:rPr>
                      <m:t>𝐺</m:t>
                    </m:r>
                  </m:oMath>
                </a14:m>
                <a:r>
                  <a:rPr lang="pt-BR" sz="2800" dirty="0"/>
                  <a:t> </a:t>
                </a:r>
              </a:p>
              <a:p>
                <a:r>
                  <a:rPr lang="pt-BR" sz="2800" dirty="0"/>
                  <a:t>Dizemos que </a:t>
                </a:r>
                <a14:m>
                  <m:oMath xmlns:m="http://schemas.openxmlformats.org/officeDocument/2006/math">
                    <m:r>
                      <a:rPr lang="pt-BR" sz="2800" i="1">
                        <a:latin typeface="Cambria Math"/>
                      </a:rPr>
                      <m:t>𝑆</m:t>
                    </m:r>
                  </m:oMath>
                </a14:m>
                <a:r>
                  <a:rPr lang="pt-BR" sz="2800" dirty="0"/>
                  <a:t> é um conjunto dominante Mínimo de </a:t>
                </a:r>
                <a14:m>
                  <m:oMath xmlns:m="http://schemas.openxmlformats.org/officeDocument/2006/math">
                    <m:r>
                      <a:rPr lang="pt-BR" sz="2800" i="1" dirty="0">
                        <a:latin typeface="Cambria Math"/>
                      </a:rPr>
                      <m:t>𝐺</m:t>
                    </m:r>
                  </m:oMath>
                </a14:m>
                <a:r>
                  <a:rPr lang="pt-BR" sz="2800" dirty="0"/>
                  <a:t> se não existir outro conjunto dominante </a:t>
                </a:r>
                <a14:m>
                  <m:oMath xmlns:m="http://schemas.openxmlformats.org/officeDocument/2006/math">
                    <m:r>
                      <a:rPr lang="pt-BR" sz="2800" i="1" dirty="0">
                        <a:latin typeface="Cambria Math"/>
                      </a:rPr>
                      <m:t>𝐴</m:t>
                    </m:r>
                  </m:oMath>
                </a14:m>
                <a:r>
                  <a:rPr lang="pt-BR" sz="2800" dirty="0"/>
                  <a:t> de </a:t>
                </a:r>
                <a14:m>
                  <m:oMath xmlns:m="http://schemas.openxmlformats.org/officeDocument/2006/math">
                    <m:r>
                      <a:rPr lang="pt-BR" sz="2800" i="1" dirty="0">
                        <a:latin typeface="Cambria Math"/>
                      </a:rPr>
                      <m:t>𝐺</m:t>
                    </m:r>
                  </m:oMath>
                </a14:m>
                <a:r>
                  <a:rPr lang="pt-BR" sz="2800" dirty="0"/>
                  <a:t>, tal que </a:t>
                </a:r>
                <a14:m>
                  <m:oMath xmlns:m="http://schemas.openxmlformats.org/officeDocument/2006/math">
                    <m:r>
                      <m:rPr>
                        <m:sty m:val="p"/>
                      </m:rPr>
                      <a:rPr lang="pt-BR" sz="2800" b="0" i="0" smtClean="0">
                        <a:latin typeface="Cambria Math"/>
                      </a:rPr>
                      <m:t>A</m:t>
                    </m:r>
                    <m:r>
                      <a:rPr lang="pt-BR" sz="2800" i="1">
                        <a:latin typeface="Cambria Math"/>
                        <a:ea typeface="Cambria Math"/>
                      </a:rPr>
                      <m:t>⊆</m:t>
                    </m:r>
                    <m:r>
                      <a:rPr lang="pt-BR" sz="2800" b="0" i="1" smtClean="0">
                        <a:latin typeface="Cambria Math"/>
                        <a:ea typeface="Cambria Math"/>
                      </a:rPr>
                      <m:t>𝑆</m:t>
                    </m:r>
                  </m:oMath>
                </a14:m>
                <a:r>
                  <a:rPr lang="pt-BR" sz="2800" dirty="0"/>
                  <a:t>.</a:t>
                </a:r>
              </a:p>
              <a:p>
                <a:r>
                  <a:rPr lang="pt-BR" sz="2800" dirty="0"/>
                  <a:t>O número de estabilidade externa </a:t>
                </a:r>
                <a14:m>
                  <m:oMath xmlns:m="http://schemas.openxmlformats.org/officeDocument/2006/math">
                    <m:r>
                      <m:rPr>
                        <m:sty m:val="p"/>
                      </m:rPr>
                      <a:rPr lang="el-GR" sz="2800" i="1">
                        <a:latin typeface="Cambria Math"/>
                        <a:ea typeface="Cambria Math"/>
                      </a:rPr>
                      <m:t>α</m:t>
                    </m:r>
                    <m:r>
                      <a:rPr lang="pt-BR" sz="2800" i="1">
                        <a:latin typeface="Cambria Math"/>
                        <a:ea typeface="Cambria Math"/>
                      </a:rPr>
                      <m:t>(</m:t>
                    </m:r>
                    <m:r>
                      <a:rPr lang="pt-BR" sz="2800" i="1">
                        <a:latin typeface="Cambria Math"/>
                        <a:ea typeface="Cambria Math"/>
                      </a:rPr>
                      <m:t>𝐺</m:t>
                    </m:r>
                    <m:r>
                      <a:rPr lang="pt-BR" sz="2800" i="1">
                        <a:latin typeface="Cambria Math"/>
                        <a:ea typeface="Cambria Math"/>
                      </a:rPr>
                      <m:t>)</m:t>
                    </m:r>
                  </m:oMath>
                </a14:m>
                <a:r>
                  <a:rPr lang="pt-BR" sz="2800" dirty="0"/>
                  <a:t> é igual à cardinalidade do menor conjunto dominante de </a:t>
                </a:r>
                <a14:m>
                  <m:oMath xmlns:m="http://schemas.openxmlformats.org/officeDocument/2006/math">
                    <m:r>
                      <a:rPr lang="pt-BR" sz="2800" i="1">
                        <a:latin typeface="Cambria Math"/>
                      </a:rPr>
                      <m:t>𝑆</m:t>
                    </m:r>
                  </m:oMath>
                </a14:m>
                <a:endParaRPr lang="pt-BR" sz="28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3"/>
                <a:stretch>
                  <a:fillRect l="-1333" t="-1348" r="-1259"/>
                </a:stretch>
              </a:blipFill>
            </p:spPr>
            <p:txBody>
              <a:bodyPr/>
              <a:lstStyle/>
              <a:p>
                <a:r>
                  <a:rPr lang="pt-BR">
                    <a:noFill/>
                  </a:rPr>
                  <a:t> </a:t>
                </a:r>
              </a:p>
            </p:txBody>
          </p:sp>
        </mc:Fallback>
      </mc:AlternateContent>
    </p:spTree>
    <p:extLst>
      <p:ext uri="{BB962C8B-B14F-4D97-AF65-F5344CB8AC3E}">
        <p14:creationId xmlns:p14="http://schemas.microsoft.com/office/powerpoint/2010/main" val="3248188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dos Bancos 24 Horas</a:t>
            </a:r>
          </a:p>
        </p:txBody>
      </p:sp>
      <p:sp>
        <p:nvSpPr>
          <p:cNvPr id="3" name="Espaço Reservado para Conteúdo 2"/>
          <p:cNvSpPr>
            <a:spLocks noGrp="1"/>
          </p:cNvSpPr>
          <p:nvPr>
            <p:ph idx="1"/>
          </p:nvPr>
        </p:nvSpPr>
        <p:spPr/>
        <p:txBody>
          <a:bodyPr>
            <a:noAutofit/>
          </a:bodyPr>
          <a:lstStyle/>
          <a:p>
            <a:r>
              <a:rPr lang="pt-BR" sz="2400" dirty="0"/>
              <a:t>Um banco deseja instalar terminais de 24 horas de modo a atender N pontos de uma cidade.</a:t>
            </a:r>
          </a:p>
          <a:p>
            <a:r>
              <a:rPr lang="pt-BR" sz="2400" dirty="0"/>
              <a:t>Qual é o menor número de postos a serem instalados de modo que pontos sem terminais não estejam distantes em mais de d Km de algum terminal?</a:t>
            </a:r>
          </a:p>
          <a:p>
            <a:r>
              <a:rPr lang="pt-BR" sz="2400" dirty="0"/>
              <a:t>Monte um grafo da seguinte forma:</a:t>
            </a:r>
          </a:p>
          <a:p>
            <a:pPr lvl="1"/>
            <a:r>
              <a:rPr lang="pt-BR" sz="2000" dirty="0"/>
              <a:t>Vértices = pontos de interesse</a:t>
            </a:r>
          </a:p>
          <a:p>
            <a:pPr lvl="1"/>
            <a:r>
              <a:rPr lang="pt-BR" sz="2000" dirty="0"/>
              <a:t>Arestas entre pontos com distância menor que d </a:t>
            </a:r>
          </a:p>
          <a:p>
            <a:pPr lvl="1"/>
            <a:r>
              <a:rPr lang="pt-BR" sz="2000" dirty="0"/>
              <a:t>Solução: Encontrar um conjunto dominante do grafo com o menor número possível de vértices</a:t>
            </a:r>
          </a:p>
          <a:p>
            <a:r>
              <a:rPr lang="pt-BR" sz="2400" dirty="0"/>
              <a:t>Idêntico ao Problema das Torres de Vigia</a:t>
            </a:r>
          </a:p>
        </p:txBody>
      </p:sp>
    </p:spTree>
    <p:extLst>
      <p:ext uri="{BB962C8B-B14F-4D97-AF65-F5344CB8AC3E}">
        <p14:creationId xmlns:p14="http://schemas.microsoft.com/office/powerpoint/2010/main" val="2851426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dos Bancos 24 Horas</a:t>
            </a:r>
          </a:p>
        </p:txBody>
      </p:sp>
      <p:sp>
        <p:nvSpPr>
          <p:cNvPr id="3" name="Espaço Reservado para Conteúdo 2"/>
          <p:cNvSpPr>
            <a:spLocks noGrp="1"/>
          </p:cNvSpPr>
          <p:nvPr>
            <p:ph idx="1"/>
          </p:nvPr>
        </p:nvSpPr>
        <p:spPr/>
        <p:txBody>
          <a:bodyPr/>
          <a:lstStyle/>
          <a:p>
            <a:pPr marL="342900" lvl="1" indent="-342900">
              <a:buFont typeface="Arial" pitchFamily="34" charset="0"/>
              <a:buChar char="•"/>
            </a:pPr>
            <a:r>
              <a:rPr lang="pt-BR" sz="2000" dirty="0"/>
              <a:t>Vértices = pontos de interesse</a:t>
            </a:r>
          </a:p>
          <a:p>
            <a:pPr marL="342900" lvl="1" indent="-342900">
              <a:buFont typeface="Arial" pitchFamily="34" charset="0"/>
              <a:buChar char="•"/>
            </a:pPr>
            <a:r>
              <a:rPr lang="pt-BR" sz="2000" dirty="0"/>
              <a:t>Arestas entre pontos com distância menor que d Km</a:t>
            </a:r>
          </a:p>
          <a:p>
            <a:pPr marL="342900" lvl="1" indent="-342900">
              <a:buFont typeface="Arial" pitchFamily="34" charset="0"/>
              <a:buChar char="•"/>
            </a:pPr>
            <a:r>
              <a:rPr lang="pt-BR" sz="2000" dirty="0"/>
              <a:t>Solução: Encontrar um conjunto dominante do grafo com o menor número possível de vértices</a:t>
            </a:r>
          </a:p>
          <a:p>
            <a:pPr marL="342900" lvl="1" indent="-342900">
              <a:buFont typeface="Arial" pitchFamily="34" charset="0"/>
              <a:buChar char="•"/>
            </a:pPr>
            <a:endParaRPr lang="pt-BR" sz="2000" dirty="0"/>
          </a:p>
        </p:txBody>
      </p:sp>
      <p:sp>
        <p:nvSpPr>
          <p:cNvPr id="4" name="Elipse 3"/>
          <p:cNvSpPr/>
          <p:nvPr/>
        </p:nvSpPr>
        <p:spPr>
          <a:xfrm>
            <a:off x="4867747"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091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dos Bancos 24 Horas</a:t>
            </a:r>
          </a:p>
        </p:txBody>
      </p:sp>
      <p:sp>
        <p:nvSpPr>
          <p:cNvPr id="3" name="Espaço Reservado para Conteúdo 2"/>
          <p:cNvSpPr>
            <a:spLocks noGrp="1"/>
          </p:cNvSpPr>
          <p:nvPr>
            <p:ph idx="1"/>
          </p:nvPr>
        </p:nvSpPr>
        <p:spPr/>
        <p:txBody>
          <a:bodyPr/>
          <a:lstStyle/>
          <a:p>
            <a:pPr marL="342900" lvl="1" indent="-342900">
              <a:buFont typeface="Arial" pitchFamily="34" charset="0"/>
              <a:buChar char="•"/>
            </a:pPr>
            <a:r>
              <a:rPr lang="pt-BR" sz="2000" dirty="0"/>
              <a:t>Vértices = pontos de interesse</a:t>
            </a:r>
          </a:p>
          <a:p>
            <a:pPr marL="342900" lvl="1" indent="-342900">
              <a:buFont typeface="Arial" pitchFamily="34" charset="0"/>
              <a:buChar char="•"/>
            </a:pPr>
            <a:r>
              <a:rPr lang="pt-BR" sz="2000" dirty="0"/>
              <a:t>Arestas entre pontos com distância menor que d Km</a:t>
            </a:r>
          </a:p>
          <a:p>
            <a:pPr marL="342900" lvl="1" indent="-342900">
              <a:buFont typeface="Arial" pitchFamily="34" charset="0"/>
              <a:buChar char="•"/>
            </a:pPr>
            <a:r>
              <a:rPr lang="pt-BR" sz="2000" dirty="0"/>
              <a:t>Solução: Encontrar um conjunto dominante do grafo com o menor número possível de vértices</a:t>
            </a:r>
          </a:p>
          <a:p>
            <a:pPr marL="342900" lvl="1" indent="-342900">
              <a:buFont typeface="Arial" pitchFamily="34" charset="0"/>
              <a:buChar char="•"/>
            </a:pPr>
            <a:endParaRPr lang="pt-BR" sz="2000" dirty="0"/>
          </a:p>
        </p:txBody>
      </p:sp>
      <p:sp>
        <p:nvSpPr>
          <p:cNvPr id="4" name="Elipse 3"/>
          <p:cNvSpPr/>
          <p:nvPr/>
        </p:nvSpPr>
        <p:spPr>
          <a:xfrm>
            <a:off x="4867747"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651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D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D = D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5" name="CaixaDeTexto 4"/>
          <p:cNvSpPr txBox="1"/>
          <p:nvPr/>
        </p:nvSpPr>
        <p:spPr>
          <a:xfrm>
            <a:off x="827585" y="4789601"/>
            <a:ext cx="7488832" cy="1015663"/>
          </a:xfrm>
          <a:prstGeom prst="rect">
            <a:avLst/>
          </a:prstGeom>
          <a:noFill/>
        </p:spPr>
        <p:txBody>
          <a:bodyPr wrap="square" rtlCol="0">
            <a:spAutoFit/>
          </a:bodyPr>
          <a:lstStyle/>
          <a:p>
            <a:r>
              <a:rPr lang="pt-BR" sz="2000" dirty="0"/>
              <a:t>Comece com o vértice de </a:t>
            </a:r>
            <a:r>
              <a:rPr lang="pt-BR" sz="2000" b="1" dirty="0"/>
              <a:t>maior</a:t>
            </a:r>
            <a:r>
              <a:rPr lang="pt-BR" sz="2000" dirty="0"/>
              <a:t> grau em G, elimine-o do conjunto V (junto com seus adjacentes) e o insira no conjunto D (conjunto dominante).</a:t>
            </a:r>
          </a:p>
        </p:txBody>
      </p:sp>
    </p:spTree>
    <p:extLst>
      <p:ext uri="{BB962C8B-B14F-4D97-AF65-F5344CB8AC3E}">
        <p14:creationId xmlns:p14="http://schemas.microsoft.com/office/powerpoint/2010/main" val="1158060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D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D = D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18" name="Elipse 17"/>
          <p:cNvSpPr/>
          <p:nvPr/>
        </p:nvSpPr>
        <p:spPr>
          <a:xfrm>
            <a:off x="6855977" y="403594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19" name="Elipse 18"/>
          <p:cNvSpPr/>
          <p:nvPr/>
        </p:nvSpPr>
        <p:spPr>
          <a:xfrm>
            <a:off x="4537364" y="403594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20" name="Elipse 19"/>
          <p:cNvSpPr/>
          <p:nvPr/>
        </p:nvSpPr>
        <p:spPr>
          <a:xfrm>
            <a:off x="5656809" y="500606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21" name="Elipse 20"/>
          <p:cNvSpPr/>
          <p:nvPr/>
        </p:nvSpPr>
        <p:spPr>
          <a:xfrm>
            <a:off x="4537364" y="5897118"/>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22" name="Conector reto 21"/>
          <p:cNvCxnSpPr>
            <a:stCxn id="20" idx="1"/>
            <a:endCxn id="19" idx="5"/>
          </p:cNvCxnSpPr>
          <p:nvPr/>
        </p:nvCxnSpPr>
        <p:spPr>
          <a:xfrm flipH="1" flipV="1">
            <a:off x="5001169" y="4386192"/>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ipse 22"/>
          <p:cNvSpPr/>
          <p:nvPr/>
        </p:nvSpPr>
        <p:spPr>
          <a:xfrm>
            <a:off x="6855978" y="591155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24" name="Conector de seta reta 23"/>
          <p:cNvCxnSpPr>
            <a:stCxn id="18" idx="3"/>
            <a:endCxn id="20" idx="7"/>
          </p:cNvCxnSpPr>
          <p:nvPr/>
        </p:nvCxnSpPr>
        <p:spPr>
          <a:xfrm flipH="1">
            <a:off x="6120614" y="4386192"/>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23" idx="1"/>
            <a:endCxn id="20" idx="5"/>
          </p:cNvCxnSpPr>
          <p:nvPr/>
        </p:nvCxnSpPr>
        <p:spPr>
          <a:xfrm flipH="1" flipV="1">
            <a:off x="6120614" y="5356313"/>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20" idx="3"/>
            <a:endCxn id="21" idx="7"/>
          </p:cNvCxnSpPr>
          <p:nvPr/>
        </p:nvCxnSpPr>
        <p:spPr>
          <a:xfrm flipH="1">
            <a:off x="5001169" y="5356313"/>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ipse 26"/>
          <p:cNvSpPr/>
          <p:nvPr/>
        </p:nvSpPr>
        <p:spPr>
          <a:xfrm>
            <a:off x="6858555" y="500219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28" name="Conector reto 27"/>
          <p:cNvCxnSpPr>
            <a:stCxn id="18" idx="4"/>
            <a:endCxn id="27" idx="0"/>
          </p:cNvCxnSpPr>
          <p:nvPr/>
        </p:nvCxnSpPr>
        <p:spPr>
          <a:xfrm>
            <a:off x="7127668" y="4446285"/>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27" idx="4"/>
            <a:endCxn id="23" idx="0"/>
          </p:cNvCxnSpPr>
          <p:nvPr/>
        </p:nvCxnSpPr>
        <p:spPr>
          <a:xfrm flipH="1">
            <a:off x="7127669" y="5412543"/>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20" idx="6"/>
            <a:endCxn id="27" idx="2"/>
          </p:cNvCxnSpPr>
          <p:nvPr/>
        </p:nvCxnSpPr>
        <p:spPr>
          <a:xfrm flipV="1">
            <a:off x="6200190" y="5207371"/>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Elipse 30"/>
          <p:cNvSpPr/>
          <p:nvPr/>
        </p:nvSpPr>
        <p:spPr>
          <a:xfrm>
            <a:off x="8033073" y="500606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32" name="Conector reto 31"/>
          <p:cNvCxnSpPr>
            <a:stCxn id="18" idx="5"/>
            <a:endCxn id="31" idx="1"/>
          </p:cNvCxnSpPr>
          <p:nvPr/>
        </p:nvCxnSpPr>
        <p:spPr>
          <a:xfrm>
            <a:off x="7319782" y="4386192"/>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27" idx="6"/>
            <a:endCxn id="31" idx="2"/>
          </p:cNvCxnSpPr>
          <p:nvPr/>
        </p:nvCxnSpPr>
        <p:spPr>
          <a:xfrm>
            <a:off x="7401936" y="5207371"/>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23" idx="7"/>
            <a:endCxn id="31" idx="3"/>
          </p:cNvCxnSpPr>
          <p:nvPr/>
        </p:nvCxnSpPr>
        <p:spPr>
          <a:xfrm flipV="1">
            <a:off x="7319783" y="5356313"/>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0054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18" name="Elipse 17"/>
          <p:cNvSpPr/>
          <p:nvPr/>
        </p:nvSpPr>
        <p:spPr>
          <a:xfrm>
            <a:off x="6855977"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19" name="Elipse 18"/>
          <p:cNvSpPr/>
          <p:nvPr/>
        </p:nvSpPr>
        <p:spPr>
          <a:xfrm>
            <a:off x="4537364"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20" name="Elipse 19"/>
          <p:cNvSpPr/>
          <p:nvPr/>
        </p:nvSpPr>
        <p:spPr>
          <a:xfrm>
            <a:off x="5656809" y="500606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21" name="Elipse 20"/>
          <p:cNvSpPr/>
          <p:nvPr/>
        </p:nvSpPr>
        <p:spPr>
          <a:xfrm>
            <a:off x="4537364" y="5897118"/>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22" name="Conector reto 21"/>
          <p:cNvCxnSpPr>
            <a:stCxn id="20" idx="1"/>
            <a:endCxn id="19" idx="5"/>
          </p:cNvCxnSpPr>
          <p:nvPr/>
        </p:nvCxnSpPr>
        <p:spPr>
          <a:xfrm flipH="1" flipV="1">
            <a:off x="5001169" y="4386192"/>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ipse 22"/>
          <p:cNvSpPr/>
          <p:nvPr/>
        </p:nvSpPr>
        <p:spPr>
          <a:xfrm>
            <a:off x="6855978" y="5911553"/>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24" name="Conector de seta reta 23"/>
          <p:cNvCxnSpPr>
            <a:stCxn id="18" idx="3"/>
            <a:endCxn id="20" idx="7"/>
          </p:cNvCxnSpPr>
          <p:nvPr/>
        </p:nvCxnSpPr>
        <p:spPr>
          <a:xfrm flipH="1">
            <a:off x="6120614" y="4386192"/>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23" idx="1"/>
            <a:endCxn id="20" idx="5"/>
          </p:cNvCxnSpPr>
          <p:nvPr/>
        </p:nvCxnSpPr>
        <p:spPr>
          <a:xfrm flipH="1" flipV="1">
            <a:off x="6120614" y="5356313"/>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20" idx="3"/>
            <a:endCxn id="21" idx="7"/>
          </p:cNvCxnSpPr>
          <p:nvPr/>
        </p:nvCxnSpPr>
        <p:spPr>
          <a:xfrm flipH="1">
            <a:off x="5001169" y="5356313"/>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ipse 26"/>
          <p:cNvSpPr/>
          <p:nvPr/>
        </p:nvSpPr>
        <p:spPr>
          <a:xfrm>
            <a:off x="6858555" y="5002199"/>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28" name="Conector reto 27"/>
          <p:cNvCxnSpPr>
            <a:stCxn id="18" idx="4"/>
            <a:endCxn id="27" idx="0"/>
          </p:cNvCxnSpPr>
          <p:nvPr/>
        </p:nvCxnSpPr>
        <p:spPr>
          <a:xfrm>
            <a:off x="7127668" y="4446285"/>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27" idx="4"/>
            <a:endCxn id="23" idx="0"/>
          </p:cNvCxnSpPr>
          <p:nvPr/>
        </p:nvCxnSpPr>
        <p:spPr>
          <a:xfrm flipH="1">
            <a:off x="7127669" y="5412543"/>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20" idx="6"/>
            <a:endCxn id="27" idx="2"/>
          </p:cNvCxnSpPr>
          <p:nvPr/>
        </p:nvCxnSpPr>
        <p:spPr>
          <a:xfrm flipV="1">
            <a:off x="6200190" y="5207371"/>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Elipse 30"/>
          <p:cNvSpPr/>
          <p:nvPr/>
        </p:nvSpPr>
        <p:spPr>
          <a:xfrm>
            <a:off x="8033073" y="500606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32" name="Conector reto 31"/>
          <p:cNvCxnSpPr>
            <a:stCxn id="18" idx="5"/>
            <a:endCxn id="31" idx="1"/>
          </p:cNvCxnSpPr>
          <p:nvPr/>
        </p:nvCxnSpPr>
        <p:spPr>
          <a:xfrm>
            <a:off x="7319782" y="4386192"/>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27" idx="6"/>
            <a:endCxn id="31" idx="2"/>
          </p:cNvCxnSpPr>
          <p:nvPr/>
        </p:nvCxnSpPr>
        <p:spPr>
          <a:xfrm>
            <a:off x="7401936" y="5207371"/>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23" idx="7"/>
            <a:endCxn id="31" idx="3"/>
          </p:cNvCxnSpPr>
          <p:nvPr/>
        </p:nvCxnSpPr>
        <p:spPr>
          <a:xfrm flipV="1">
            <a:off x="7319783" y="5356313"/>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761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18" name="Elipse 17"/>
          <p:cNvSpPr/>
          <p:nvPr/>
        </p:nvSpPr>
        <p:spPr>
          <a:xfrm>
            <a:off x="6855977"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19" name="Elipse 18"/>
          <p:cNvSpPr/>
          <p:nvPr/>
        </p:nvSpPr>
        <p:spPr>
          <a:xfrm>
            <a:off x="4537364"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20" name="Elipse 19"/>
          <p:cNvSpPr/>
          <p:nvPr/>
        </p:nvSpPr>
        <p:spPr>
          <a:xfrm>
            <a:off x="5656809" y="500606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21" name="Elipse 20"/>
          <p:cNvSpPr/>
          <p:nvPr/>
        </p:nvSpPr>
        <p:spPr>
          <a:xfrm>
            <a:off x="4537364" y="5897118"/>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22" name="Conector reto 21"/>
          <p:cNvCxnSpPr>
            <a:stCxn id="20" idx="1"/>
            <a:endCxn id="19" idx="5"/>
          </p:cNvCxnSpPr>
          <p:nvPr/>
        </p:nvCxnSpPr>
        <p:spPr>
          <a:xfrm flipH="1" flipV="1">
            <a:off x="5001169" y="4386192"/>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ipse 22"/>
          <p:cNvSpPr/>
          <p:nvPr/>
        </p:nvSpPr>
        <p:spPr>
          <a:xfrm>
            <a:off x="6855978" y="5911553"/>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24" name="Conector de seta reta 23"/>
          <p:cNvCxnSpPr>
            <a:stCxn id="18" idx="3"/>
            <a:endCxn id="20" idx="7"/>
          </p:cNvCxnSpPr>
          <p:nvPr/>
        </p:nvCxnSpPr>
        <p:spPr>
          <a:xfrm flipH="1">
            <a:off x="6120614" y="4386192"/>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23" idx="1"/>
            <a:endCxn id="20" idx="5"/>
          </p:cNvCxnSpPr>
          <p:nvPr/>
        </p:nvCxnSpPr>
        <p:spPr>
          <a:xfrm flipH="1" flipV="1">
            <a:off x="6120614" y="5356313"/>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20" idx="3"/>
            <a:endCxn id="21" idx="7"/>
          </p:cNvCxnSpPr>
          <p:nvPr/>
        </p:nvCxnSpPr>
        <p:spPr>
          <a:xfrm flipH="1">
            <a:off x="5001169" y="5356313"/>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ipse 26"/>
          <p:cNvSpPr/>
          <p:nvPr/>
        </p:nvSpPr>
        <p:spPr>
          <a:xfrm>
            <a:off x="6858555" y="5002199"/>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28" name="Conector reto 27"/>
          <p:cNvCxnSpPr>
            <a:stCxn id="18" idx="4"/>
            <a:endCxn id="27" idx="0"/>
          </p:cNvCxnSpPr>
          <p:nvPr/>
        </p:nvCxnSpPr>
        <p:spPr>
          <a:xfrm>
            <a:off x="7127668" y="4446285"/>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27" idx="4"/>
            <a:endCxn id="23" idx="0"/>
          </p:cNvCxnSpPr>
          <p:nvPr/>
        </p:nvCxnSpPr>
        <p:spPr>
          <a:xfrm flipH="1">
            <a:off x="7127669" y="5412543"/>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20" idx="6"/>
            <a:endCxn id="27" idx="2"/>
          </p:cNvCxnSpPr>
          <p:nvPr/>
        </p:nvCxnSpPr>
        <p:spPr>
          <a:xfrm flipV="1">
            <a:off x="6200190" y="5207371"/>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Elipse 30"/>
          <p:cNvSpPr/>
          <p:nvPr/>
        </p:nvSpPr>
        <p:spPr>
          <a:xfrm>
            <a:off x="8033073" y="500606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32" name="Conector reto 31"/>
          <p:cNvCxnSpPr>
            <a:stCxn id="18" idx="5"/>
            <a:endCxn id="31" idx="1"/>
          </p:cNvCxnSpPr>
          <p:nvPr/>
        </p:nvCxnSpPr>
        <p:spPr>
          <a:xfrm>
            <a:off x="7319782" y="4386192"/>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27" idx="6"/>
            <a:endCxn id="31" idx="2"/>
          </p:cNvCxnSpPr>
          <p:nvPr/>
        </p:nvCxnSpPr>
        <p:spPr>
          <a:xfrm>
            <a:off x="7401936" y="5207371"/>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23" idx="7"/>
            <a:endCxn id="31" idx="3"/>
          </p:cNvCxnSpPr>
          <p:nvPr/>
        </p:nvCxnSpPr>
        <p:spPr>
          <a:xfrm flipV="1">
            <a:off x="7319783" y="5356313"/>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945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Vértices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a:t>
                </a:r>
              </a:p>
              <a:p>
                <a:r>
                  <a:rPr lang="pt-BR" sz="2800" dirty="0"/>
                  <a:t>Um subconjunto </a:t>
                </a:r>
                <a14:m>
                  <m:oMath xmlns:m="http://schemas.openxmlformats.org/officeDocument/2006/math">
                    <m:r>
                      <a:rPr lang="pt-BR" sz="2800" b="0" i="1" smtClean="0">
                        <a:latin typeface="Cambria Math"/>
                      </a:rPr>
                      <m:t>𝐶</m:t>
                    </m:r>
                    <m:r>
                      <a:rPr lang="pt-BR" sz="2800" i="1">
                        <a:latin typeface="Cambria Math"/>
                        <a:ea typeface="Cambria Math"/>
                      </a:rPr>
                      <m:t>⊆</m:t>
                    </m:r>
                    <m:r>
                      <a:rPr lang="pt-BR" sz="2800" i="1">
                        <a:latin typeface="Cambria Math"/>
                        <a:ea typeface="Cambria Math"/>
                      </a:rPr>
                      <m:t>𝑉</m:t>
                    </m:r>
                  </m:oMath>
                </a14:m>
                <a:r>
                  <a:rPr lang="pt-BR" sz="2800" dirty="0"/>
                  <a:t> é uma cobertura de vértices se </a:t>
                </a:r>
                <a14:m>
                  <m:oMath xmlns:m="http://schemas.openxmlformats.org/officeDocument/2006/math">
                    <m:r>
                      <a:rPr lang="pt-BR" sz="2800" i="1">
                        <a:latin typeface="Cambria Math"/>
                        <a:ea typeface="Cambria Math"/>
                      </a:rPr>
                      <m:t>∀ </m:t>
                    </m:r>
                    <m:r>
                      <a:rPr lang="pt-BR" sz="2800" b="0" i="1" smtClean="0">
                        <a:latin typeface="Cambria Math"/>
                        <a:ea typeface="Cambria Math"/>
                      </a:rPr>
                      <m:t>(</m:t>
                    </m:r>
                    <m:r>
                      <a:rPr lang="pt-BR" sz="2800" i="1">
                        <a:latin typeface="Cambria Math"/>
                        <a:ea typeface="Cambria Math"/>
                      </a:rPr>
                      <m:t>𝑣</m:t>
                    </m:r>
                    <m:r>
                      <a:rPr lang="pt-BR" sz="2800" b="0" i="1" smtClean="0">
                        <a:latin typeface="Cambria Math"/>
                        <a:ea typeface="Cambria Math"/>
                      </a:rPr>
                      <m:t>, </m:t>
                    </m:r>
                    <m:r>
                      <a:rPr lang="pt-BR" sz="2800" b="0" i="1" smtClean="0">
                        <a:latin typeface="Cambria Math"/>
                        <a:ea typeface="Cambria Math"/>
                      </a:rPr>
                      <m:t>𝑤</m:t>
                    </m:r>
                    <m:r>
                      <a:rPr lang="pt-BR" sz="2800" b="0" i="1" smtClean="0">
                        <a:latin typeface="Cambria Math"/>
                        <a:ea typeface="Cambria Math"/>
                      </a:rPr>
                      <m:t>)∈</m:t>
                    </m:r>
                    <m:r>
                      <a:rPr lang="pt-BR" sz="2800" b="0" i="1" smtClean="0">
                        <a:latin typeface="Cambria Math"/>
                      </a:rPr>
                      <m:t>𝐸</m:t>
                    </m:r>
                  </m:oMath>
                </a14:m>
                <a:r>
                  <a:rPr lang="pt-BR" sz="2800" dirty="0"/>
                  <a:t>, tem se </a:t>
                </a:r>
                <a14:m>
                  <m:oMath xmlns:m="http://schemas.openxmlformats.org/officeDocument/2006/math">
                    <m:r>
                      <m:rPr>
                        <m:sty m:val="p"/>
                      </m:rPr>
                      <a:rPr lang="pt-BR" sz="2800" b="0" i="0" smtClean="0">
                        <a:latin typeface="Cambria Math"/>
                        <a:ea typeface="Cambria Math"/>
                      </a:rPr>
                      <m:t>v</m:t>
                    </m:r>
                    <m:r>
                      <a:rPr lang="pt-BR" sz="2800" i="1">
                        <a:latin typeface="Cambria Math"/>
                        <a:ea typeface="Cambria Math"/>
                      </a:rPr>
                      <m:t>∈</m:t>
                    </m:r>
                    <m:r>
                      <a:rPr lang="pt-BR" sz="2800" b="0" i="1" smtClean="0">
                        <a:latin typeface="Cambria Math"/>
                        <a:ea typeface="Cambria Math"/>
                      </a:rPr>
                      <m:t>𝐶</m:t>
                    </m:r>
                  </m:oMath>
                </a14:m>
                <a:r>
                  <a:rPr lang="pt-BR" sz="2800" dirty="0"/>
                  <a:t> e/ou </a:t>
                </a:r>
                <a14:m>
                  <m:oMath xmlns:m="http://schemas.openxmlformats.org/officeDocument/2006/math">
                    <m:r>
                      <a:rPr lang="pt-BR" sz="2800" i="1">
                        <a:latin typeface="Cambria Math"/>
                      </a:rPr>
                      <m:t>𝑤</m:t>
                    </m:r>
                    <m:r>
                      <a:rPr lang="pt-BR" sz="2800" i="1">
                        <a:latin typeface="Cambria Math"/>
                      </a:rPr>
                      <m:t>∈</m:t>
                    </m:r>
                    <m:r>
                      <a:rPr lang="pt-BR" sz="2800" b="0" i="1" smtClean="0">
                        <a:latin typeface="Cambria Math"/>
                      </a:rPr>
                      <m:t>𝐶</m:t>
                    </m:r>
                  </m:oMath>
                </a14:m>
                <a:r>
                  <a:rPr lang="pt-BR" sz="2800" dirty="0"/>
                  <a:t>.</a:t>
                </a:r>
              </a:p>
              <a:p>
                <a:pPr lvl="1"/>
                <a:r>
                  <a:rPr lang="pt-BR" sz="2400" dirty="0"/>
                  <a:t>É o </a:t>
                </a:r>
                <a:r>
                  <a:rPr lang="pt-BR" sz="2400" b="1" dirty="0"/>
                  <a:t>menor</a:t>
                </a:r>
                <a:r>
                  <a:rPr lang="pt-BR" sz="2400" dirty="0"/>
                  <a:t> conjunto de vértices incidente a todas as arestas.</a:t>
                </a:r>
                <a:endParaRPr lang="pt-BR" sz="32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259" t="-1213" r="-222"/>
                </a:stretch>
              </a:blipFill>
            </p:spPr>
            <p:txBody>
              <a:bodyPr/>
              <a:lstStyle/>
              <a:p>
                <a:r>
                  <a:rPr lang="pt-BR">
                    <a:noFill/>
                  </a:rPr>
                  <a:t> </a:t>
                </a:r>
              </a:p>
            </p:txBody>
          </p:sp>
        </mc:Fallback>
      </mc:AlternateContent>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4306593"/>
            <a:ext cx="3521424" cy="18609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8859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Vértices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a:t>
                </a:r>
              </a:p>
              <a:p>
                <a:r>
                  <a:rPr lang="pt-BR" sz="2800" dirty="0"/>
                  <a:t>Se </a:t>
                </a:r>
                <a14:m>
                  <m:oMath xmlns:m="http://schemas.openxmlformats.org/officeDocument/2006/math">
                    <m:r>
                      <a:rPr lang="pt-BR" sz="2800" i="1" dirty="0" smtClean="0">
                        <a:latin typeface="Cambria Math"/>
                      </a:rPr>
                      <m:t>𝐶</m:t>
                    </m:r>
                  </m:oMath>
                </a14:m>
                <a:r>
                  <a:rPr lang="pt-BR" sz="2800" dirty="0"/>
                  <a:t> é uma cobertura de vértice, então o conjunto </a:t>
                </a:r>
                <a14:m>
                  <m:oMath xmlns:m="http://schemas.openxmlformats.org/officeDocument/2006/math">
                    <m:r>
                      <a:rPr lang="pt-BR" sz="2800" b="0" i="1" dirty="0" smtClean="0">
                        <a:latin typeface="Cambria Math"/>
                      </a:rPr>
                      <m:t>𝑉</m:t>
                    </m:r>
                    <m:r>
                      <a:rPr lang="pt-BR" sz="2800" i="1" dirty="0" smtClean="0">
                        <a:latin typeface="Cambria Math"/>
                      </a:rPr>
                      <m:t> − </m:t>
                    </m:r>
                    <m:r>
                      <a:rPr lang="pt-BR" sz="2800" i="1" dirty="0" smtClean="0">
                        <a:latin typeface="Cambria Math"/>
                      </a:rPr>
                      <m:t>𝐶</m:t>
                    </m:r>
                  </m:oMath>
                </a14:m>
                <a:r>
                  <a:rPr lang="pt-BR" sz="2800" dirty="0"/>
                  <a:t> é um conjunto independente.</a:t>
                </a:r>
              </a:p>
              <a:p>
                <a:r>
                  <a:rPr lang="pt-BR" sz="2800" dirty="0"/>
                  <a:t>Se </a:t>
                </a:r>
                <a14:m>
                  <m:oMath xmlns:m="http://schemas.openxmlformats.org/officeDocument/2006/math">
                    <m:r>
                      <a:rPr lang="pt-BR" sz="2800" b="0" i="1" dirty="0" smtClean="0">
                        <a:latin typeface="Cambria Math"/>
                      </a:rPr>
                      <m:t>𝑆</m:t>
                    </m:r>
                  </m:oMath>
                </a14:m>
                <a:r>
                  <a:rPr lang="pt-BR" sz="2800" dirty="0"/>
                  <a:t> é um conjunto independente, então </a:t>
                </a:r>
                <a14:m>
                  <m:oMath xmlns:m="http://schemas.openxmlformats.org/officeDocument/2006/math">
                    <m:r>
                      <a:rPr lang="pt-BR" sz="2800" i="1" dirty="0">
                        <a:latin typeface="Cambria Math"/>
                      </a:rPr>
                      <m:t>𝑉</m:t>
                    </m:r>
                    <m:r>
                      <a:rPr lang="pt-BR" sz="2800" i="1" dirty="0">
                        <a:latin typeface="Cambria Math"/>
                      </a:rPr>
                      <m:t> −</m:t>
                    </m:r>
                    <m:r>
                      <a:rPr lang="pt-BR" sz="2800" b="0" i="1" dirty="0" smtClean="0">
                        <a:latin typeface="Cambria Math"/>
                      </a:rPr>
                      <m:t>𝑆</m:t>
                    </m:r>
                  </m:oMath>
                </a14:m>
                <a:r>
                  <a:rPr lang="pt-BR" sz="2800" dirty="0"/>
                  <a:t> é uma cobertura de vértice.</a:t>
                </a:r>
              </a:p>
              <a:p>
                <a:pPr lvl="1"/>
                <a:r>
                  <a:rPr lang="pt-BR" sz="2400" dirty="0"/>
                  <a:t>Assim: um conjunto independente </a:t>
                </a:r>
                <a14:m>
                  <m:oMath xmlns:m="http://schemas.openxmlformats.org/officeDocument/2006/math">
                    <m:r>
                      <a:rPr lang="pt-BR" sz="2400" i="1" dirty="0">
                        <a:latin typeface="Cambria Math"/>
                      </a:rPr>
                      <m:t>𝑆</m:t>
                    </m:r>
                  </m:oMath>
                </a14:m>
                <a:r>
                  <a:rPr lang="pt-BR" sz="2400" dirty="0"/>
                  <a:t> é maximal se e somente se a cobertura de vértice </a:t>
                </a:r>
                <a14:m>
                  <m:oMath xmlns:m="http://schemas.openxmlformats.org/officeDocument/2006/math">
                    <m:r>
                      <a:rPr lang="pt-BR" sz="2400" i="1" dirty="0">
                        <a:latin typeface="Cambria Math"/>
                      </a:rPr>
                      <m:t>𝑉</m:t>
                    </m:r>
                    <m:r>
                      <a:rPr lang="pt-BR" sz="2400" i="1" dirty="0">
                        <a:latin typeface="Cambria Math"/>
                      </a:rPr>
                      <m:t> − </m:t>
                    </m:r>
                    <m:r>
                      <a:rPr lang="pt-BR" sz="2400" i="1" dirty="0">
                        <a:latin typeface="Cambria Math"/>
                      </a:rPr>
                      <m:t>𝑆</m:t>
                    </m:r>
                  </m:oMath>
                </a14:m>
                <a:r>
                  <a:rPr lang="pt-BR" sz="2400" dirty="0"/>
                  <a:t> é mínima.</a:t>
                </a:r>
              </a:p>
              <a:p>
                <a:pPr lvl="1"/>
                <a:r>
                  <a:rPr lang="pt-BR" sz="2400" dirty="0"/>
                  <a:t>Conclusão: Encontrar um conjunto independente maximal é o mesmo que encontrar uma cobertura de vértice mínima.</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259" t="-1213" r="-444"/>
                </a:stretch>
              </a:blipFill>
            </p:spPr>
            <p:txBody>
              <a:bodyPr/>
              <a:lstStyle/>
              <a:p>
                <a:r>
                  <a:rPr lang="pt-BR">
                    <a:noFill/>
                  </a:rPr>
                  <a:t> </a:t>
                </a:r>
              </a:p>
            </p:txBody>
          </p:sp>
        </mc:Fallback>
      </mc:AlternateContent>
    </p:spTree>
    <p:extLst>
      <p:ext uri="{BB962C8B-B14F-4D97-AF65-F5344CB8AC3E}">
        <p14:creationId xmlns:p14="http://schemas.microsoft.com/office/powerpoint/2010/main" val="1050344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Vértices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Assim, se o problema de encontrar um conjunto independente maximal é NP-Completo, então o problema de encontrar uma cobertura de vértice mínima também é.</a:t>
                </a:r>
              </a:p>
              <a:p>
                <a:r>
                  <a:rPr lang="pt-BR" sz="2800" dirty="0">
                    <a:ea typeface="Cambria Math"/>
                  </a:rPr>
                  <a:t>Dissemos que: </a:t>
                </a:r>
                <a:r>
                  <a:rPr lang="pt-BR" sz="2800" dirty="0"/>
                  <a:t>cobertura de vértice </a:t>
                </a:r>
                <a14:m>
                  <m:oMath xmlns:m="http://schemas.openxmlformats.org/officeDocument/2006/math">
                    <m:r>
                      <a:rPr lang="pt-BR" sz="2800" i="1">
                        <a:latin typeface="Cambria Math"/>
                        <a:ea typeface="Cambria Math"/>
                      </a:rPr>
                      <m:t>∝</m:t>
                    </m:r>
                  </m:oMath>
                </a14:m>
                <a:r>
                  <a:rPr lang="pt-BR" sz="2800" dirty="0"/>
                  <a:t> conjunto independente.</a:t>
                </a:r>
              </a:p>
              <a:p>
                <a:pPr lvl="1"/>
                <a:r>
                  <a:rPr lang="pt-BR" sz="2400" dirty="0">
                    <a:ea typeface="Cambria Math"/>
                  </a:rPr>
                  <a:t>Cobertura de Vértice é </a:t>
                </a:r>
                <a:r>
                  <a:rPr lang="pt-BR" sz="2400" dirty="0" err="1">
                    <a:ea typeface="Cambria Math"/>
                  </a:rPr>
                  <a:t>polinomialmente</a:t>
                </a:r>
                <a:r>
                  <a:rPr lang="pt-BR" sz="2400" dirty="0">
                    <a:ea typeface="Cambria Math"/>
                  </a:rPr>
                  <a:t> redutível (transformável) ao </a:t>
                </a:r>
                <a:r>
                  <a:rPr lang="pt-BR" sz="2400" dirty="0"/>
                  <a:t>conjunto independente</a:t>
                </a:r>
              </a:p>
              <a:p>
                <a:endParaRPr lang="pt-BR" sz="40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259" t="-1213"/>
                </a:stretch>
              </a:blipFill>
            </p:spPr>
            <p:txBody>
              <a:bodyPr/>
              <a:lstStyle/>
              <a:p>
                <a:r>
                  <a:rPr lang="pt-BR">
                    <a:noFill/>
                  </a:rPr>
                  <a:t> </a:t>
                </a:r>
              </a:p>
            </p:txBody>
          </p:sp>
        </mc:Fallback>
      </mc:AlternateContent>
    </p:spTree>
    <p:extLst>
      <p:ext uri="{BB962C8B-B14F-4D97-AF65-F5344CB8AC3E}">
        <p14:creationId xmlns:p14="http://schemas.microsoft.com/office/powerpoint/2010/main" val="564791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Cobertura de Vértices e Conjunto Independente </a:t>
            </a:r>
          </a:p>
        </p:txBody>
      </p:sp>
      <p:sp>
        <p:nvSpPr>
          <p:cNvPr id="3" name="Espaço Reservado para Conteúdo 2"/>
          <p:cNvSpPr>
            <a:spLocks noGrp="1"/>
          </p:cNvSpPr>
          <p:nvPr>
            <p:ph idx="1"/>
          </p:nvPr>
        </p:nvSpPr>
        <p:spPr/>
        <p:txBody>
          <a:bodyPr>
            <a:normAutofit/>
          </a:bodyPr>
          <a:lstStyle/>
          <a:p>
            <a:r>
              <a:rPr lang="pt-BR" sz="2800" dirty="0"/>
              <a:t>Conjunto Independente: </a:t>
            </a:r>
            <a:r>
              <a:rPr lang="pt-BR" sz="2800" b="1" dirty="0"/>
              <a:t>maior</a:t>
            </a:r>
            <a:r>
              <a:rPr lang="pt-BR" sz="2800" dirty="0"/>
              <a:t> conjunto de vértices não adjacentes (encontrado em tempo </a:t>
            </a:r>
            <a:r>
              <a:rPr lang="pt-BR" sz="2800" b="1" dirty="0"/>
              <a:t>não</a:t>
            </a:r>
            <a:r>
              <a:rPr lang="pt-BR" sz="2800" dirty="0"/>
              <a:t> polinomial).</a:t>
            </a:r>
          </a:p>
        </p:txBody>
      </p:sp>
      <p:sp>
        <p:nvSpPr>
          <p:cNvPr id="4" name="Elipse 3"/>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953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Cobertura de Vértices e Conjunto Independente </a:t>
            </a:r>
          </a:p>
        </p:txBody>
      </p:sp>
      <p:sp>
        <p:nvSpPr>
          <p:cNvPr id="3" name="Espaço Reservado para Conteúdo 2"/>
          <p:cNvSpPr>
            <a:spLocks noGrp="1"/>
          </p:cNvSpPr>
          <p:nvPr>
            <p:ph idx="1"/>
          </p:nvPr>
        </p:nvSpPr>
        <p:spPr/>
        <p:txBody>
          <a:bodyPr>
            <a:normAutofit/>
          </a:bodyPr>
          <a:lstStyle/>
          <a:p>
            <a:r>
              <a:rPr lang="pt-BR" sz="2400" dirty="0"/>
              <a:t>Cobertura de vértices: </a:t>
            </a:r>
            <a:r>
              <a:rPr lang="pt-BR" sz="2400" b="1" dirty="0"/>
              <a:t>menor</a:t>
            </a:r>
            <a:r>
              <a:rPr lang="pt-BR" sz="2400" dirty="0"/>
              <a:t> conjunto de vértices incidente a todas as arestas (encontrado em tempo </a:t>
            </a:r>
            <a:r>
              <a:rPr lang="pt-BR" sz="2400" b="1" dirty="0"/>
              <a:t>não</a:t>
            </a:r>
            <a:r>
              <a:rPr lang="pt-BR" sz="2400" dirty="0"/>
              <a:t> polinomial).</a:t>
            </a:r>
          </a:p>
          <a:p>
            <a:pPr lvl="1"/>
            <a:r>
              <a:rPr lang="pt-BR" sz="2000" dirty="0"/>
              <a:t>Mas pode ser obtido a partir do problema de Conjunto Independente em tempo polinomial. Como? </a:t>
            </a:r>
          </a:p>
        </p:txBody>
      </p:sp>
      <p:sp>
        <p:nvSpPr>
          <p:cNvPr id="4" name="Elipse 3"/>
          <p:cNvSpPr/>
          <p:nvPr/>
        </p:nvSpPr>
        <p:spPr>
          <a:xfrm>
            <a:off x="4867747"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007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Cobertura de Vértices e Conjunto Independente </a:t>
            </a:r>
          </a:p>
        </p:txBody>
      </p:sp>
      <p:sp>
        <p:nvSpPr>
          <p:cNvPr id="3" name="Espaço Reservado para Conteúdo 2"/>
          <p:cNvSpPr>
            <a:spLocks noGrp="1"/>
          </p:cNvSpPr>
          <p:nvPr>
            <p:ph idx="1"/>
          </p:nvPr>
        </p:nvSpPr>
        <p:spPr/>
        <p:txBody>
          <a:bodyPr>
            <a:normAutofit/>
          </a:bodyPr>
          <a:lstStyle/>
          <a:p>
            <a:r>
              <a:rPr lang="pt-BR" sz="2400" dirty="0"/>
              <a:t>Cobertura de vértices: </a:t>
            </a:r>
            <a:r>
              <a:rPr lang="pt-BR" sz="2400" b="1" dirty="0"/>
              <a:t>menor</a:t>
            </a:r>
            <a:r>
              <a:rPr lang="pt-BR" sz="2400" dirty="0"/>
              <a:t> conjunto de vértices incidente a todas as arestas (encontrado em tempo </a:t>
            </a:r>
            <a:r>
              <a:rPr lang="pt-BR" sz="2400" b="1" dirty="0"/>
              <a:t>não</a:t>
            </a:r>
            <a:r>
              <a:rPr lang="pt-BR" sz="2400" dirty="0"/>
              <a:t> polinomial).</a:t>
            </a:r>
          </a:p>
          <a:p>
            <a:pPr lvl="1"/>
            <a:r>
              <a:rPr lang="pt-BR" sz="2000" dirty="0"/>
              <a:t>Mas pode ser obtido a partir do problema de Conjunto Independente em tempo polinomial. Como? </a:t>
            </a:r>
          </a:p>
        </p:txBody>
      </p:sp>
      <p:sp>
        <p:nvSpPr>
          <p:cNvPr id="4" name="Elipse 3"/>
          <p:cNvSpPr/>
          <p:nvPr/>
        </p:nvSpPr>
        <p:spPr>
          <a:xfrm>
            <a:off x="4867747"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CaixaDeTexto 20"/>
              <p:cNvSpPr txBox="1"/>
              <p:nvPr/>
            </p:nvSpPr>
            <p:spPr>
              <a:xfrm>
                <a:off x="1187625" y="5877272"/>
                <a:ext cx="7056783" cy="646331"/>
              </a:xfrm>
              <a:prstGeom prst="rect">
                <a:avLst/>
              </a:prstGeom>
              <a:noFill/>
            </p:spPr>
            <p:txBody>
              <a:bodyPr wrap="square" rtlCol="0">
                <a:spAutoFit/>
              </a:bodyPr>
              <a:lstStyle/>
              <a:p>
                <a:r>
                  <a:rPr lang="pt-BR" dirty="0"/>
                  <a:t>R.: Se </a:t>
                </a:r>
                <a14:m>
                  <m:oMath xmlns:m="http://schemas.openxmlformats.org/officeDocument/2006/math">
                    <m:r>
                      <a:rPr lang="pt-BR" i="1" dirty="0">
                        <a:latin typeface="Cambria Math"/>
                      </a:rPr>
                      <m:t>𝑆</m:t>
                    </m:r>
                  </m:oMath>
                </a14:m>
                <a:r>
                  <a:rPr lang="pt-BR" dirty="0"/>
                  <a:t> é um conjunto independente, então </a:t>
                </a:r>
                <a14:m>
                  <m:oMath xmlns:m="http://schemas.openxmlformats.org/officeDocument/2006/math">
                    <m:r>
                      <a:rPr lang="pt-BR" i="1" dirty="0">
                        <a:latin typeface="Cambria Math"/>
                      </a:rPr>
                      <m:t>𝑉</m:t>
                    </m:r>
                    <m:r>
                      <a:rPr lang="pt-BR" i="1" dirty="0">
                        <a:latin typeface="Cambria Math"/>
                      </a:rPr>
                      <m:t> − </m:t>
                    </m:r>
                    <m:r>
                      <a:rPr lang="pt-BR" i="1" dirty="0">
                        <a:latin typeface="Cambria Math"/>
                      </a:rPr>
                      <m:t>𝑆</m:t>
                    </m:r>
                  </m:oMath>
                </a14:m>
                <a:r>
                  <a:rPr lang="pt-BR" dirty="0"/>
                  <a:t> é uma cobertura de vértice.</a:t>
                </a:r>
              </a:p>
            </p:txBody>
          </p:sp>
        </mc:Choice>
        <mc:Fallback xmlns="">
          <p:sp>
            <p:nvSpPr>
              <p:cNvPr id="21" name="CaixaDeTexto 20"/>
              <p:cNvSpPr txBox="1">
                <a:spLocks noRot="1" noChangeAspect="1" noMove="1" noResize="1" noEditPoints="1" noAdjustHandles="1" noChangeArrowheads="1" noChangeShapeType="1" noTextEdit="1"/>
              </p:cNvSpPr>
              <p:nvPr/>
            </p:nvSpPr>
            <p:spPr>
              <a:xfrm>
                <a:off x="1187625" y="5877272"/>
                <a:ext cx="7056783" cy="646331"/>
              </a:xfrm>
              <a:prstGeom prst="rect">
                <a:avLst/>
              </a:prstGeom>
              <a:blipFill rotWithShape="1">
                <a:blip r:embed="rId3"/>
                <a:stretch>
                  <a:fillRect l="-778" t="-4717" b="-14151"/>
                </a:stretch>
              </a:blipFill>
            </p:spPr>
            <p:txBody>
              <a:bodyPr/>
              <a:lstStyle/>
              <a:p>
                <a:r>
                  <a:rPr lang="pt-BR">
                    <a:noFill/>
                  </a:rPr>
                  <a:t> </a:t>
                </a:r>
              </a:p>
            </p:txBody>
          </p:sp>
        </mc:Fallback>
      </mc:AlternateContent>
    </p:spTree>
    <p:extLst>
      <p:ext uri="{BB962C8B-B14F-4D97-AF65-F5344CB8AC3E}">
        <p14:creationId xmlns:p14="http://schemas.microsoft.com/office/powerpoint/2010/main" val="3040466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Arestas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Seja </a:t>
                </a:r>
                <a14:m>
                  <m:oMath xmlns:m="http://schemas.openxmlformats.org/officeDocument/2006/math">
                    <m:r>
                      <a:rPr lang="pt-BR" sz="2400" i="1" dirty="0">
                        <a:latin typeface="Cambria Math"/>
                      </a:rPr>
                      <m:t>𝐺</m:t>
                    </m:r>
                    <m:r>
                      <a:rPr lang="pt-BR" sz="2400" i="1" dirty="0">
                        <a:latin typeface="Cambria Math"/>
                      </a:rPr>
                      <m:t>=(</m:t>
                    </m:r>
                    <m:r>
                      <a:rPr lang="pt-BR" sz="2400" i="1" dirty="0">
                        <a:latin typeface="Cambria Math"/>
                      </a:rPr>
                      <m:t>𝑉</m:t>
                    </m:r>
                    <m:r>
                      <a:rPr lang="pt-BR" sz="2400" i="1" dirty="0">
                        <a:latin typeface="Cambria Math"/>
                      </a:rPr>
                      <m:t>, </m:t>
                    </m:r>
                    <m:r>
                      <a:rPr lang="pt-BR" sz="2400" i="1" dirty="0">
                        <a:latin typeface="Cambria Math"/>
                      </a:rPr>
                      <m:t>𝐸</m:t>
                    </m:r>
                    <m:r>
                      <a:rPr lang="pt-BR" sz="2400" i="1" dirty="0">
                        <a:latin typeface="Cambria Math"/>
                      </a:rPr>
                      <m:t>) </m:t>
                    </m:r>
                  </m:oMath>
                </a14:m>
                <a:r>
                  <a:rPr lang="pt-BR" sz="2400" dirty="0"/>
                  <a:t>um grafo.</a:t>
                </a:r>
              </a:p>
              <a:p>
                <a:r>
                  <a:rPr lang="pt-BR" sz="2400" dirty="0"/>
                  <a:t>Um subconjunto </a:t>
                </a:r>
                <a14:m>
                  <m:oMath xmlns:m="http://schemas.openxmlformats.org/officeDocument/2006/math">
                    <m:r>
                      <a:rPr lang="pt-BR" sz="2400" i="1">
                        <a:latin typeface="Cambria Math"/>
                      </a:rPr>
                      <m:t>𝐶</m:t>
                    </m:r>
                    <m:r>
                      <a:rPr lang="pt-BR" sz="2400" i="1">
                        <a:latin typeface="Cambria Math"/>
                        <a:ea typeface="Cambria Math"/>
                      </a:rPr>
                      <m:t>⊆</m:t>
                    </m:r>
                    <m:r>
                      <a:rPr lang="pt-BR" sz="2400" b="0" i="1" smtClean="0">
                        <a:latin typeface="Cambria Math"/>
                        <a:ea typeface="Cambria Math"/>
                      </a:rPr>
                      <m:t>𝐸</m:t>
                    </m:r>
                  </m:oMath>
                </a14:m>
                <a:r>
                  <a:rPr lang="pt-BR" sz="2400" dirty="0"/>
                  <a:t> é uma cobertura de arestas se todo </a:t>
                </a:r>
                <a14:m>
                  <m:oMath xmlns:m="http://schemas.openxmlformats.org/officeDocument/2006/math">
                    <m:r>
                      <a:rPr lang="pt-BR" sz="2400" i="1">
                        <a:latin typeface="Cambria Math"/>
                        <a:ea typeface="Cambria Math"/>
                      </a:rPr>
                      <m:t>𝑣</m:t>
                    </m:r>
                    <m:r>
                      <a:rPr lang="pt-BR" sz="2400" i="1">
                        <a:latin typeface="Cambria Math"/>
                        <a:ea typeface="Cambria Math"/>
                      </a:rPr>
                      <m:t>∈</m:t>
                    </m:r>
                    <m:r>
                      <a:rPr lang="pt-BR" sz="2400" b="0" i="1" smtClean="0">
                        <a:latin typeface="Cambria Math"/>
                      </a:rPr>
                      <m:t>𝑉</m:t>
                    </m:r>
                  </m:oMath>
                </a14:m>
                <a:r>
                  <a:rPr lang="pt-BR" sz="2400" dirty="0"/>
                  <a:t> for extremidade de alguma aresta </a:t>
                </a:r>
                <a14:m>
                  <m:oMath xmlns:m="http://schemas.openxmlformats.org/officeDocument/2006/math">
                    <m:r>
                      <a:rPr lang="pt-BR" sz="2400" b="0" i="1" smtClean="0">
                        <a:latin typeface="Cambria Math"/>
                      </a:rPr>
                      <m:t>𝑒</m:t>
                    </m:r>
                    <m:r>
                      <a:rPr lang="pt-BR" sz="2400" i="1">
                        <a:latin typeface="Cambria Math"/>
                      </a:rPr>
                      <m:t>∈</m:t>
                    </m:r>
                    <m:r>
                      <a:rPr lang="pt-BR" sz="2400" i="1">
                        <a:latin typeface="Cambria Math"/>
                      </a:rPr>
                      <m:t>𝐶</m:t>
                    </m:r>
                  </m:oMath>
                </a14:m>
                <a:r>
                  <a:rPr lang="pt-BR" sz="2400" dirty="0"/>
                  <a:t>.</a:t>
                </a:r>
              </a:p>
              <a:p>
                <a:pPr lvl="1"/>
                <a:r>
                  <a:rPr lang="pt-BR" sz="2000" dirty="0"/>
                  <a:t>É o </a:t>
                </a:r>
                <a:r>
                  <a:rPr lang="pt-BR" sz="2000" b="1" dirty="0"/>
                  <a:t>menor</a:t>
                </a:r>
                <a:r>
                  <a:rPr lang="pt-BR" sz="2000" dirty="0"/>
                  <a:t> conjunto de arestas incidente a todas os vértices.</a:t>
                </a:r>
              </a:p>
              <a:p>
                <a:pPr lvl="1"/>
                <a:r>
                  <a:rPr lang="pt-BR" sz="2000" dirty="0"/>
                  <a:t>Determinar a menor cobertura de arestas de um grafo é um problema polinomial.</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963" t="-1078" r="-444"/>
                </a:stretch>
              </a:blipFill>
            </p:spPr>
            <p:txBody>
              <a:bodyPr/>
              <a:lstStyle/>
              <a:p>
                <a:r>
                  <a:rPr lang="pt-BR">
                    <a:noFill/>
                  </a:rPr>
                  <a:t> </a:t>
                </a:r>
              </a:p>
            </p:txBody>
          </p:sp>
        </mc:Fallback>
      </mc:AlternateContent>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4077072"/>
            <a:ext cx="3528392" cy="1832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293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Policiamento de Ruas</a:t>
            </a:r>
          </a:p>
        </p:txBody>
      </p:sp>
      <p:sp>
        <p:nvSpPr>
          <p:cNvPr id="3" name="Espaço Reservado para Conteúdo 2"/>
          <p:cNvSpPr>
            <a:spLocks noGrp="1"/>
          </p:cNvSpPr>
          <p:nvPr>
            <p:ph idx="1"/>
          </p:nvPr>
        </p:nvSpPr>
        <p:spPr/>
        <p:txBody>
          <a:bodyPr>
            <a:normAutofit/>
          </a:bodyPr>
          <a:lstStyle/>
          <a:p>
            <a:r>
              <a:rPr lang="pt-BR" sz="2400" dirty="0"/>
              <a:t>Dado um conjunto de ruas de um bairro, quais esquinas deverão receber postos de vigilância de modo que todos os quarteirões recebam um posto em pelo menos uma de suas esquinas?</a:t>
            </a:r>
          </a:p>
          <a:p>
            <a:r>
              <a:rPr lang="pt-BR" sz="2400" dirty="0"/>
              <a:t>Em quais ruas devemos posicionar vigias de modo que as esquinas sejam sempre vigiadas?</a:t>
            </a:r>
          </a:p>
        </p:txBody>
      </p:sp>
      <p:sp>
        <p:nvSpPr>
          <p:cNvPr id="4" name="Elipse 3"/>
          <p:cNvSpPr/>
          <p:nvPr/>
        </p:nvSpPr>
        <p:spPr>
          <a:xfrm>
            <a:off x="2915816"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37799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4644008"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55801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2915816"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37799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4644008"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55801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2915816"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37799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p:cNvSpPr/>
          <p:nvPr/>
        </p:nvSpPr>
        <p:spPr>
          <a:xfrm>
            <a:off x="4644008"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Elipse 14"/>
          <p:cNvSpPr/>
          <p:nvPr/>
        </p:nvSpPr>
        <p:spPr>
          <a:xfrm>
            <a:off x="55801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reto 16"/>
          <p:cNvCxnSpPr>
            <a:stCxn id="4" idx="6"/>
            <a:endCxn id="5" idx="2"/>
          </p:cNvCxnSpPr>
          <p:nvPr/>
        </p:nvCxnSpPr>
        <p:spPr>
          <a:xfrm>
            <a:off x="3059832" y="458112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6" idx="6"/>
            <a:endCxn id="7" idx="2"/>
          </p:cNvCxnSpPr>
          <p:nvPr/>
        </p:nvCxnSpPr>
        <p:spPr>
          <a:xfrm>
            <a:off x="4788024" y="458112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a:stCxn id="4" idx="4"/>
            <a:endCxn id="8" idx="0"/>
          </p:cNvCxnSpPr>
          <p:nvPr/>
        </p:nvCxnSpPr>
        <p:spPr>
          <a:xfrm>
            <a:off x="2987824"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to 26"/>
          <p:cNvCxnSpPr>
            <a:stCxn id="12" idx="6"/>
            <a:endCxn id="13" idx="2"/>
          </p:cNvCxnSpPr>
          <p:nvPr/>
        </p:nvCxnSpPr>
        <p:spPr>
          <a:xfrm>
            <a:off x="3059832"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13" idx="6"/>
            <a:endCxn id="14" idx="2"/>
          </p:cNvCxnSpPr>
          <p:nvPr/>
        </p:nvCxnSpPr>
        <p:spPr>
          <a:xfrm>
            <a:off x="3923928"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11" idx="4"/>
            <a:endCxn id="15" idx="0"/>
          </p:cNvCxnSpPr>
          <p:nvPr/>
        </p:nvCxnSpPr>
        <p:spPr>
          <a:xfrm>
            <a:off x="56521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8" idx="6"/>
            <a:endCxn id="9" idx="2"/>
          </p:cNvCxnSpPr>
          <p:nvPr/>
        </p:nvCxnSpPr>
        <p:spPr>
          <a:xfrm>
            <a:off x="3059832"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9" idx="6"/>
            <a:endCxn id="10" idx="2"/>
          </p:cNvCxnSpPr>
          <p:nvPr/>
        </p:nvCxnSpPr>
        <p:spPr>
          <a:xfrm>
            <a:off x="3923928"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10" idx="6"/>
            <a:endCxn id="11" idx="2"/>
          </p:cNvCxnSpPr>
          <p:nvPr/>
        </p:nvCxnSpPr>
        <p:spPr>
          <a:xfrm>
            <a:off x="4788024" y="530120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5" idx="4"/>
            <a:endCxn id="9" idx="0"/>
          </p:cNvCxnSpPr>
          <p:nvPr/>
        </p:nvCxnSpPr>
        <p:spPr>
          <a:xfrm>
            <a:off x="3851920"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6" idx="4"/>
            <a:endCxn id="10" idx="0"/>
          </p:cNvCxnSpPr>
          <p:nvPr/>
        </p:nvCxnSpPr>
        <p:spPr>
          <a:xfrm>
            <a:off x="4716016"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9" idx="4"/>
            <a:endCxn id="13" idx="0"/>
          </p:cNvCxnSpPr>
          <p:nvPr/>
        </p:nvCxnSpPr>
        <p:spPr>
          <a:xfrm>
            <a:off x="38519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0" idx="4"/>
            <a:endCxn id="14" idx="0"/>
          </p:cNvCxnSpPr>
          <p:nvPr/>
        </p:nvCxnSpPr>
        <p:spPr>
          <a:xfrm>
            <a:off x="4716016"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8" idx="5"/>
            <a:endCxn id="13" idx="1"/>
          </p:cNvCxnSpPr>
          <p:nvPr/>
        </p:nvCxnSpPr>
        <p:spPr>
          <a:xfrm>
            <a:off x="3038741" y="5352125"/>
            <a:ext cx="762262"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ector reto 56"/>
          <p:cNvCxnSpPr>
            <a:stCxn id="9" idx="7"/>
            <a:endCxn id="7" idx="3"/>
          </p:cNvCxnSpPr>
          <p:nvPr/>
        </p:nvCxnSpPr>
        <p:spPr>
          <a:xfrm flipV="1">
            <a:off x="3902837" y="4632045"/>
            <a:ext cx="1698366"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ector reto 58"/>
          <p:cNvCxnSpPr>
            <a:stCxn id="14" idx="7"/>
            <a:endCxn id="11" idx="3"/>
          </p:cNvCxnSpPr>
          <p:nvPr/>
        </p:nvCxnSpPr>
        <p:spPr>
          <a:xfrm flipV="1">
            <a:off x="4766933" y="5352125"/>
            <a:ext cx="834270"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ector reto 60"/>
          <p:cNvCxnSpPr>
            <a:stCxn id="5" idx="6"/>
            <a:endCxn id="6" idx="2"/>
          </p:cNvCxnSpPr>
          <p:nvPr/>
        </p:nvCxnSpPr>
        <p:spPr>
          <a:xfrm>
            <a:off x="3923928" y="458112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ector reto 62"/>
          <p:cNvCxnSpPr>
            <a:stCxn id="8" idx="4"/>
            <a:endCxn id="12" idx="0"/>
          </p:cNvCxnSpPr>
          <p:nvPr/>
        </p:nvCxnSpPr>
        <p:spPr>
          <a:xfrm>
            <a:off x="2987824"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Conector reto 64"/>
          <p:cNvCxnSpPr>
            <a:stCxn id="14" idx="6"/>
            <a:endCxn id="15" idx="2"/>
          </p:cNvCxnSpPr>
          <p:nvPr/>
        </p:nvCxnSpPr>
        <p:spPr>
          <a:xfrm>
            <a:off x="4788024" y="602128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ector reto 66"/>
          <p:cNvCxnSpPr>
            <a:stCxn id="7" idx="4"/>
            <a:endCxn id="11" idx="0"/>
          </p:cNvCxnSpPr>
          <p:nvPr/>
        </p:nvCxnSpPr>
        <p:spPr>
          <a:xfrm>
            <a:off x="5652120"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Conector reto 68"/>
          <p:cNvCxnSpPr>
            <a:stCxn id="13" idx="7"/>
            <a:endCxn id="10" idx="3"/>
          </p:cNvCxnSpPr>
          <p:nvPr/>
        </p:nvCxnSpPr>
        <p:spPr>
          <a:xfrm flipV="1">
            <a:off x="3902837" y="5352125"/>
            <a:ext cx="762262"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Conector reto 70"/>
          <p:cNvCxnSpPr>
            <a:stCxn id="4" idx="5"/>
            <a:endCxn id="9" idx="1"/>
          </p:cNvCxnSpPr>
          <p:nvPr/>
        </p:nvCxnSpPr>
        <p:spPr>
          <a:xfrm>
            <a:off x="3038741" y="4632045"/>
            <a:ext cx="762262" cy="6182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498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Policiamento de Ruas</a:t>
            </a:r>
          </a:p>
        </p:txBody>
      </p:sp>
      <p:sp>
        <p:nvSpPr>
          <p:cNvPr id="3" name="Espaço Reservado para Conteúdo 2"/>
          <p:cNvSpPr>
            <a:spLocks noGrp="1"/>
          </p:cNvSpPr>
          <p:nvPr>
            <p:ph idx="1"/>
          </p:nvPr>
        </p:nvSpPr>
        <p:spPr/>
        <p:txBody>
          <a:bodyPr>
            <a:normAutofit/>
          </a:bodyPr>
          <a:lstStyle/>
          <a:p>
            <a:r>
              <a:rPr lang="pt-BR" sz="2400" dirty="0"/>
              <a:t>Dado um conjunto de ruas de um bairro, quais esquinas deverão receber postos de vigilância de modo que todos os quarteirões recebam um posto em pelo menos uma de suas esquinas?</a:t>
            </a:r>
          </a:p>
          <a:p>
            <a:r>
              <a:rPr lang="pt-BR" sz="2400" dirty="0"/>
              <a:t>Em quais ruas devemos posicionar vigias de modo que as esquinas sejam sempre vigiadas?</a:t>
            </a:r>
          </a:p>
        </p:txBody>
      </p:sp>
      <p:sp>
        <p:nvSpPr>
          <p:cNvPr id="4" name="Elipse 3"/>
          <p:cNvSpPr/>
          <p:nvPr/>
        </p:nvSpPr>
        <p:spPr>
          <a:xfrm>
            <a:off x="2915816"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37799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4644008"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55801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2915816"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37799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4644008"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55801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2915816"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37799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p:cNvSpPr/>
          <p:nvPr/>
        </p:nvSpPr>
        <p:spPr>
          <a:xfrm>
            <a:off x="4644008"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Elipse 14"/>
          <p:cNvSpPr/>
          <p:nvPr/>
        </p:nvSpPr>
        <p:spPr>
          <a:xfrm>
            <a:off x="55801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reto 16"/>
          <p:cNvCxnSpPr>
            <a:stCxn id="4" idx="6"/>
            <a:endCxn id="5" idx="2"/>
          </p:cNvCxnSpPr>
          <p:nvPr/>
        </p:nvCxnSpPr>
        <p:spPr>
          <a:xfrm>
            <a:off x="3059832" y="458112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5" idx="6"/>
            <a:endCxn id="6" idx="2"/>
          </p:cNvCxnSpPr>
          <p:nvPr/>
        </p:nvCxnSpPr>
        <p:spPr>
          <a:xfrm>
            <a:off x="3923928" y="4581128"/>
            <a:ext cx="7200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6" idx="6"/>
            <a:endCxn id="7" idx="2"/>
          </p:cNvCxnSpPr>
          <p:nvPr/>
        </p:nvCxnSpPr>
        <p:spPr>
          <a:xfrm>
            <a:off x="4788024" y="458112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a:stCxn id="4" idx="4"/>
            <a:endCxn id="8" idx="0"/>
          </p:cNvCxnSpPr>
          <p:nvPr/>
        </p:nvCxnSpPr>
        <p:spPr>
          <a:xfrm>
            <a:off x="2987824"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to 24"/>
          <p:cNvCxnSpPr>
            <a:stCxn id="8" idx="4"/>
            <a:endCxn id="12" idx="0"/>
          </p:cNvCxnSpPr>
          <p:nvPr/>
        </p:nvCxnSpPr>
        <p:spPr>
          <a:xfrm>
            <a:off x="2987824" y="5373216"/>
            <a:ext cx="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Conector reto 26"/>
          <p:cNvCxnSpPr>
            <a:stCxn id="12" idx="6"/>
            <a:endCxn id="13" idx="2"/>
          </p:cNvCxnSpPr>
          <p:nvPr/>
        </p:nvCxnSpPr>
        <p:spPr>
          <a:xfrm>
            <a:off x="3059832"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13" idx="6"/>
            <a:endCxn id="14" idx="2"/>
          </p:cNvCxnSpPr>
          <p:nvPr/>
        </p:nvCxnSpPr>
        <p:spPr>
          <a:xfrm>
            <a:off x="3923928"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ector reto 30"/>
          <p:cNvCxnSpPr>
            <a:stCxn id="14" idx="6"/>
            <a:endCxn id="15" idx="2"/>
          </p:cNvCxnSpPr>
          <p:nvPr/>
        </p:nvCxnSpPr>
        <p:spPr>
          <a:xfrm>
            <a:off x="4788024" y="6021288"/>
            <a:ext cx="79208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11" idx="4"/>
            <a:endCxn id="15" idx="0"/>
          </p:cNvCxnSpPr>
          <p:nvPr/>
        </p:nvCxnSpPr>
        <p:spPr>
          <a:xfrm>
            <a:off x="56521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7" idx="4"/>
            <a:endCxn id="11" idx="0"/>
          </p:cNvCxnSpPr>
          <p:nvPr/>
        </p:nvCxnSpPr>
        <p:spPr>
          <a:xfrm>
            <a:off x="5652120" y="4653136"/>
            <a:ext cx="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8" idx="6"/>
            <a:endCxn id="9" idx="2"/>
          </p:cNvCxnSpPr>
          <p:nvPr/>
        </p:nvCxnSpPr>
        <p:spPr>
          <a:xfrm>
            <a:off x="3059832"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9" idx="6"/>
            <a:endCxn id="10" idx="2"/>
          </p:cNvCxnSpPr>
          <p:nvPr/>
        </p:nvCxnSpPr>
        <p:spPr>
          <a:xfrm>
            <a:off x="3923928"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10" idx="6"/>
            <a:endCxn id="11" idx="2"/>
          </p:cNvCxnSpPr>
          <p:nvPr/>
        </p:nvCxnSpPr>
        <p:spPr>
          <a:xfrm>
            <a:off x="4788024" y="530120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5" idx="4"/>
            <a:endCxn id="9" idx="0"/>
          </p:cNvCxnSpPr>
          <p:nvPr/>
        </p:nvCxnSpPr>
        <p:spPr>
          <a:xfrm>
            <a:off x="3851920"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6" idx="4"/>
            <a:endCxn id="10" idx="0"/>
          </p:cNvCxnSpPr>
          <p:nvPr/>
        </p:nvCxnSpPr>
        <p:spPr>
          <a:xfrm>
            <a:off x="4716016"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9" idx="4"/>
            <a:endCxn id="13" idx="0"/>
          </p:cNvCxnSpPr>
          <p:nvPr/>
        </p:nvCxnSpPr>
        <p:spPr>
          <a:xfrm>
            <a:off x="38519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0" idx="4"/>
            <a:endCxn id="14" idx="0"/>
          </p:cNvCxnSpPr>
          <p:nvPr/>
        </p:nvCxnSpPr>
        <p:spPr>
          <a:xfrm>
            <a:off x="4716016"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4" idx="5"/>
            <a:endCxn id="9" idx="1"/>
          </p:cNvCxnSpPr>
          <p:nvPr/>
        </p:nvCxnSpPr>
        <p:spPr>
          <a:xfrm>
            <a:off x="3038741" y="4632045"/>
            <a:ext cx="762262" cy="618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8" idx="5"/>
            <a:endCxn id="13" idx="1"/>
          </p:cNvCxnSpPr>
          <p:nvPr/>
        </p:nvCxnSpPr>
        <p:spPr>
          <a:xfrm>
            <a:off x="3038741" y="5352125"/>
            <a:ext cx="762262"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ector reto 54"/>
          <p:cNvCxnSpPr>
            <a:stCxn id="13" idx="7"/>
            <a:endCxn id="10" idx="3"/>
          </p:cNvCxnSpPr>
          <p:nvPr/>
        </p:nvCxnSpPr>
        <p:spPr>
          <a:xfrm flipV="1">
            <a:off x="3902837" y="5352125"/>
            <a:ext cx="762262" cy="618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Conector reto 56"/>
          <p:cNvCxnSpPr>
            <a:stCxn id="9" idx="7"/>
            <a:endCxn id="7" idx="3"/>
          </p:cNvCxnSpPr>
          <p:nvPr/>
        </p:nvCxnSpPr>
        <p:spPr>
          <a:xfrm flipV="1">
            <a:off x="3902837" y="4632045"/>
            <a:ext cx="1698366"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ector reto 58"/>
          <p:cNvCxnSpPr>
            <a:stCxn id="14" idx="7"/>
            <a:endCxn id="11" idx="3"/>
          </p:cNvCxnSpPr>
          <p:nvPr/>
        </p:nvCxnSpPr>
        <p:spPr>
          <a:xfrm flipV="1">
            <a:off x="4766933" y="5352125"/>
            <a:ext cx="834270" cy="6182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544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das 8 rainhas (n-rainhas)</a:t>
            </a:r>
          </a:p>
        </p:txBody>
      </p:sp>
      <p:sp>
        <p:nvSpPr>
          <p:cNvPr id="3" name="Espaço Reservado para Conteúdo 2"/>
          <p:cNvSpPr>
            <a:spLocks noGrp="1"/>
          </p:cNvSpPr>
          <p:nvPr>
            <p:ph idx="1"/>
          </p:nvPr>
        </p:nvSpPr>
        <p:spPr/>
        <p:txBody>
          <a:bodyPr/>
          <a:lstStyle/>
          <a:p>
            <a:r>
              <a:rPr lang="pt-BR" dirty="0"/>
              <a:t>Como dispor as 8 rainhas em um tabuleiro 8x8 de forma que nenhuma rainha capture a outra? </a:t>
            </a:r>
          </a:p>
        </p:txBody>
      </p:sp>
      <p:pic>
        <p:nvPicPr>
          <p:cNvPr id="4" name="Imagem 3"/>
          <p:cNvPicPr>
            <a:picLocks noChangeAspect="1"/>
          </p:cNvPicPr>
          <p:nvPr/>
        </p:nvPicPr>
        <p:blipFill>
          <a:blip r:embed="rId2"/>
          <a:stretch>
            <a:fillRect/>
          </a:stretch>
        </p:blipFill>
        <p:spPr>
          <a:xfrm>
            <a:off x="4860032" y="2849227"/>
            <a:ext cx="3096344" cy="3351868"/>
          </a:xfrm>
          <a:prstGeom prst="rect">
            <a:avLst/>
          </a:prstGeom>
        </p:spPr>
      </p:pic>
      <p:sp>
        <p:nvSpPr>
          <p:cNvPr id="5" name="CaixaDeTexto 4"/>
          <p:cNvSpPr txBox="1"/>
          <p:nvPr/>
        </p:nvSpPr>
        <p:spPr>
          <a:xfrm>
            <a:off x="4860032" y="6323528"/>
            <a:ext cx="2864823" cy="369332"/>
          </a:xfrm>
          <a:prstGeom prst="rect">
            <a:avLst/>
          </a:prstGeom>
          <a:noFill/>
        </p:spPr>
        <p:txBody>
          <a:bodyPr wrap="none" rtlCol="0">
            <a:spAutoFit/>
          </a:bodyPr>
          <a:lstStyle/>
          <a:p>
            <a:r>
              <a:rPr lang="pt-BR" dirty="0"/>
              <a:t>Fonte da imagem: </a:t>
            </a:r>
            <a:r>
              <a:rPr lang="pt-BR" dirty="0" err="1"/>
              <a:t>Wikipedia</a:t>
            </a:r>
            <a:endParaRPr lang="pt-BR" dirty="0"/>
          </a:p>
        </p:txBody>
      </p:sp>
    </p:spTree>
    <p:extLst>
      <p:ext uri="{BB962C8B-B14F-4D97-AF65-F5344CB8AC3E}">
        <p14:creationId xmlns:p14="http://schemas.microsoft.com/office/powerpoint/2010/main" val="949331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das 8 rainhas (n-rainhas)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fontScale="92500"/>
              </a:bodyPr>
              <a:lstStyle/>
              <a:p>
                <a:r>
                  <a:rPr lang="pt-BR" dirty="0"/>
                  <a:t>Grafo G: </a:t>
                </a:r>
              </a:p>
              <a:p>
                <a:pPr lvl="1"/>
                <a:r>
                  <a:rPr lang="pt-BR" sz="3200" dirty="0"/>
                  <a:t>Vértices = uma “casa” tabuleiro</a:t>
                </a:r>
              </a:p>
              <a:p>
                <a:pPr lvl="1"/>
                <a:r>
                  <a:rPr lang="pt-BR" sz="3200" dirty="0"/>
                  <a:t>Arestas = irá existir uma aresta entre </a:t>
                </a:r>
                <a14:m>
                  <m:oMath xmlns:m="http://schemas.openxmlformats.org/officeDocument/2006/math">
                    <m:sSub>
                      <m:sSubPr>
                        <m:ctrlPr>
                          <a:rPr lang="pt-BR" sz="3200" i="1" smtClean="0">
                            <a:latin typeface="Cambria Math" panose="02040503050406030204" pitchFamily="18" charset="0"/>
                          </a:rPr>
                        </m:ctrlPr>
                      </m:sSubPr>
                      <m:e>
                        <m:r>
                          <a:rPr lang="pt-BR" sz="3200" b="0" i="1" smtClean="0">
                            <a:latin typeface="Cambria Math" panose="02040503050406030204" pitchFamily="18" charset="0"/>
                          </a:rPr>
                          <m:t>𝑣</m:t>
                        </m:r>
                      </m:e>
                      <m:sub>
                        <m:r>
                          <a:rPr lang="pt-BR" sz="3200" b="0" i="1" smtClean="0">
                            <a:latin typeface="Cambria Math" panose="02040503050406030204" pitchFamily="18" charset="0"/>
                          </a:rPr>
                          <m:t>𝑖</m:t>
                        </m:r>
                      </m:sub>
                    </m:sSub>
                  </m:oMath>
                </a14:m>
                <a:r>
                  <a:rPr lang="pt-BR" sz="3200" dirty="0"/>
                  <a:t> e </a:t>
                </a:r>
                <a14:m>
                  <m:oMath xmlns:m="http://schemas.openxmlformats.org/officeDocument/2006/math">
                    <m:sSub>
                      <m:sSubPr>
                        <m:ctrlPr>
                          <a:rPr lang="pt-BR" sz="3200" i="1">
                            <a:latin typeface="Cambria Math" panose="02040503050406030204" pitchFamily="18" charset="0"/>
                          </a:rPr>
                        </m:ctrlPr>
                      </m:sSubPr>
                      <m:e>
                        <m:r>
                          <a:rPr lang="pt-BR" sz="3200" i="1">
                            <a:latin typeface="Cambria Math" panose="02040503050406030204" pitchFamily="18" charset="0"/>
                          </a:rPr>
                          <m:t>𝑣</m:t>
                        </m:r>
                      </m:e>
                      <m:sub>
                        <m:r>
                          <a:rPr lang="pt-BR" sz="3200" b="0" i="1" smtClean="0">
                            <a:latin typeface="Cambria Math" panose="02040503050406030204" pitchFamily="18" charset="0"/>
                          </a:rPr>
                          <m:t>𝑗</m:t>
                        </m:r>
                      </m:sub>
                    </m:sSub>
                  </m:oMath>
                </a14:m>
                <a:r>
                  <a:rPr lang="pt-BR" sz="3200" dirty="0"/>
                  <a:t> se a rainha da posição </a:t>
                </a:r>
                <a14:m>
                  <m:oMath xmlns:m="http://schemas.openxmlformats.org/officeDocument/2006/math">
                    <m:r>
                      <a:rPr lang="pt-BR" sz="3200" i="1" dirty="0" smtClean="0">
                        <a:latin typeface="Cambria Math" panose="02040503050406030204" pitchFamily="18" charset="0"/>
                      </a:rPr>
                      <m:t>𝑖</m:t>
                    </m:r>
                  </m:oMath>
                </a14:m>
                <a:r>
                  <a:rPr lang="pt-BR" sz="3200" dirty="0"/>
                  <a:t> pode alcançar a posição </a:t>
                </a:r>
                <a14:m>
                  <m:oMath xmlns:m="http://schemas.openxmlformats.org/officeDocument/2006/math">
                    <m:r>
                      <a:rPr lang="pt-BR" sz="3200" i="1" dirty="0" smtClean="0">
                        <a:latin typeface="Cambria Math" panose="02040503050406030204" pitchFamily="18" charset="0"/>
                      </a:rPr>
                      <m:t>𝑗</m:t>
                    </m:r>
                  </m:oMath>
                </a14:m>
                <a:r>
                  <a:rPr lang="pt-BR" sz="3200" dirty="0"/>
                  <a:t>.</a:t>
                </a:r>
              </a:p>
              <a:p>
                <a:r>
                  <a:rPr lang="pt-BR" dirty="0"/>
                  <a:t>Solução: </a:t>
                </a:r>
              </a:p>
              <a:p>
                <a:pPr lvl="1"/>
                <a:r>
                  <a:rPr lang="pt-BR" dirty="0"/>
                  <a:t>Calcule o conjunto independente </a:t>
                </a:r>
                <a14:m>
                  <m:oMath xmlns:m="http://schemas.openxmlformats.org/officeDocument/2006/math">
                    <m:r>
                      <a:rPr lang="pt-BR" i="1" dirty="0" smtClean="0">
                        <a:latin typeface="Cambria Math" panose="02040503050406030204" pitchFamily="18" charset="0"/>
                      </a:rPr>
                      <m:t>𝐶</m:t>
                    </m:r>
                  </m:oMath>
                </a14:m>
                <a:r>
                  <a:rPr lang="pt-BR" dirty="0"/>
                  <a:t> em </a:t>
                </a:r>
                <a14:m>
                  <m:oMath xmlns:m="http://schemas.openxmlformats.org/officeDocument/2006/math">
                    <m:r>
                      <a:rPr lang="pt-BR" i="1" dirty="0" smtClean="0">
                        <a:latin typeface="Cambria Math" panose="02040503050406030204" pitchFamily="18" charset="0"/>
                      </a:rPr>
                      <m:t>𝐺</m:t>
                    </m:r>
                  </m:oMath>
                </a14:m>
                <a:r>
                  <a:rPr lang="pt-BR" dirty="0"/>
                  <a:t>, os vértices pertencentes a </a:t>
                </a:r>
                <a14:m>
                  <m:oMath xmlns:m="http://schemas.openxmlformats.org/officeDocument/2006/math">
                    <m:r>
                      <a:rPr lang="pt-BR" i="1" dirty="0" smtClean="0">
                        <a:latin typeface="Cambria Math" panose="02040503050406030204" pitchFamily="18" charset="0"/>
                      </a:rPr>
                      <m:t>𝐶</m:t>
                    </m:r>
                  </m:oMath>
                </a14:m>
                <a:r>
                  <a:rPr lang="pt-BR" dirty="0"/>
                  <a:t> não terão arestas entre si, ou seja, uma rainha em qualquer posição dos vértices em </a:t>
                </a:r>
                <a14:m>
                  <m:oMath xmlns:m="http://schemas.openxmlformats.org/officeDocument/2006/math">
                    <m:r>
                      <a:rPr lang="pt-BR" i="1" dirty="0" smtClean="0">
                        <a:latin typeface="Cambria Math" panose="02040503050406030204" pitchFamily="18" charset="0"/>
                      </a:rPr>
                      <m:t>𝐶</m:t>
                    </m:r>
                  </m:oMath>
                </a14:m>
                <a:r>
                  <a:rPr lang="pt-BR" dirty="0"/>
                  <a:t> não pode alcançar a outra. </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a:blip r:embed="rId2"/>
                <a:stretch>
                  <a:fillRect l="-1481" t="-1617" r="-1704"/>
                </a:stretch>
              </a:blipFill>
            </p:spPr>
            <p:txBody>
              <a:bodyPr/>
              <a:lstStyle/>
              <a:p>
                <a:r>
                  <a:rPr lang="pt-BR">
                    <a:noFill/>
                  </a:rPr>
                  <a:t> </a:t>
                </a:r>
              </a:p>
            </p:txBody>
          </p:sp>
        </mc:Fallback>
      </mc:AlternateContent>
    </p:spTree>
    <p:extLst>
      <p:ext uri="{BB962C8B-B14F-4D97-AF65-F5344CB8AC3E}">
        <p14:creationId xmlns:p14="http://schemas.microsoft.com/office/powerpoint/2010/main" val="2518394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8003232" cy="4525963"/>
              </a:xfrm>
            </p:spPr>
            <p:txBody>
              <a:bodyPr>
                <a:normAutofit/>
              </a:bodyPr>
              <a:lstStyle/>
              <a:p>
                <a:r>
                  <a:rPr lang="pt-BR" sz="2400" dirty="0"/>
                  <a:t>Seja </a:t>
                </a:r>
                <a14:m>
                  <m:oMath xmlns:m="http://schemas.openxmlformats.org/officeDocument/2006/math">
                    <m:r>
                      <a:rPr lang="pt-BR" sz="2400" i="1" dirty="0">
                        <a:latin typeface="Cambria Math"/>
                      </a:rPr>
                      <m:t>𝐺</m:t>
                    </m:r>
                    <m:r>
                      <a:rPr lang="pt-BR" sz="2400" i="1" dirty="0">
                        <a:latin typeface="Cambria Math"/>
                      </a:rPr>
                      <m:t>=(</m:t>
                    </m:r>
                    <m:r>
                      <a:rPr lang="pt-BR" sz="2400" i="1" dirty="0">
                        <a:latin typeface="Cambria Math"/>
                      </a:rPr>
                      <m:t>𝑉</m:t>
                    </m:r>
                    <m:r>
                      <a:rPr lang="pt-BR" sz="2400" i="1" dirty="0">
                        <a:latin typeface="Cambria Math"/>
                      </a:rPr>
                      <m:t>, </m:t>
                    </m:r>
                    <m:r>
                      <a:rPr lang="pt-BR" sz="2400" i="1" dirty="0">
                        <a:latin typeface="Cambria Math"/>
                      </a:rPr>
                      <m:t>𝐸</m:t>
                    </m:r>
                    <m:r>
                      <a:rPr lang="pt-BR" sz="2400" i="1" dirty="0">
                        <a:latin typeface="Cambria Math"/>
                      </a:rPr>
                      <m:t>) </m:t>
                    </m:r>
                  </m:oMath>
                </a14:m>
                <a:r>
                  <a:rPr lang="pt-BR" sz="2400" dirty="0"/>
                  <a:t>um grafo não dirigido.</a:t>
                </a:r>
              </a:p>
              <a:p>
                <a:r>
                  <a:rPr lang="pt-BR" sz="2400" dirty="0"/>
                  <a:t>Um casamento (</a:t>
                </a:r>
                <a:r>
                  <a:rPr lang="pt-BR" sz="2400" i="1" dirty="0" err="1"/>
                  <a:t>matching</a:t>
                </a:r>
                <a:r>
                  <a:rPr lang="pt-BR" sz="2400" dirty="0"/>
                  <a:t>) em </a:t>
                </a:r>
                <a14:m>
                  <m:oMath xmlns:m="http://schemas.openxmlformats.org/officeDocument/2006/math">
                    <m:r>
                      <a:rPr lang="pt-BR" sz="2400" i="1" dirty="0" smtClean="0">
                        <a:latin typeface="Cambria Math" panose="02040503050406030204" pitchFamily="18" charset="0"/>
                      </a:rPr>
                      <m:t>𝐺</m:t>
                    </m:r>
                  </m:oMath>
                </a14:m>
                <a:r>
                  <a:rPr lang="pt-BR" sz="2400" dirty="0"/>
                  <a:t> é um conjunto M de arestas não adjacentes duas-a-duas (conjunto independente de arestas).</a:t>
                </a:r>
              </a:p>
              <a:p>
                <a:r>
                  <a:rPr lang="pt-BR" sz="2400" dirty="0"/>
                  <a:t>No casamento, duas arestas não compartilham o mesmo vértice.</a:t>
                </a:r>
              </a:p>
              <a:p>
                <a:endParaRPr lang="pt-BR" sz="2400" dirty="0"/>
              </a:p>
              <a:p>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8003232" cy="4525963"/>
              </a:xfrm>
              <a:blipFill rotWithShape="0">
                <a:blip r:embed="rId2"/>
                <a:stretch>
                  <a:fillRect l="-990" t="-1078" r="-1676"/>
                </a:stretch>
              </a:blipFill>
            </p:spPr>
            <p:txBody>
              <a:bodyPr/>
              <a:lstStyle/>
              <a:p>
                <a:r>
                  <a:rPr lang="pt-BR">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1369" y="4374705"/>
            <a:ext cx="5158903" cy="1375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09797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dirty="0"/>
              <a:t>Quando nenhuma aresta puder ser incluída em M, dizemos que M é </a:t>
            </a:r>
            <a:r>
              <a:rPr lang="pt-BR" b="1" dirty="0"/>
              <a:t>maximal</a:t>
            </a:r>
            <a:r>
              <a:rPr lang="pt-BR" dirty="0"/>
              <a:t>.</a:t>
            </a:r>
          </a:p>
          <a:p>
            <a:pPr lvl="1"/>
            <a:r>
              <a:rPr lang="pt-BR" dirty="0"/>
              <a:t>A inclusão de qualquer aresta, faz com que M não seja mais um </a:t>
            </a:r>
            <a:r>
              <a:rPr lang="pt-BR" dirty="0" err="1"/>
              <a:t>matching</a:t>
            </a:r>
            <a:endParaRPr lang="pt-BR" dirty="0"/>
          </a:p>
          <a:p>
            <a:endParaRPr lang="pt-BR" dirty="0"/>
          </a:p>
          <a:p>
            <a:endParaRPr lang="pt-BR" dirty="0"/>
          </a:p>
          <a:p>
            <a:endParaRPr lang="pt-BR" dirty="0"/>
          </a:p>
          <a:p>
            <a:endParaRPr lang="pt-BR" dirty="0"/>
          </a:p>
          <a:p>
            <a:endParaRPr lang="pt-BR" dirty="0"/>
          </a:p>
          <a:p>
            <a:endParaRPr lang="pt-BR"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3933056"/>
            <a:ext cx="2759971"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488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dirty="0"/>
                  <a:t>Um </a:t>
                </a:r>
                <a:r>
                  <a:rPr lang="pt-BR" dirty="0" err="1"/>
                  <a:t>matching</a:t>
                </a:r>
                <a:r>
                  <a:rPr lang="pt-BR" dirty="0"/>
                  <a:t> M é </a:t>
                </a:r>
                <a:r>
                  <a:rPr lang="pt-BR" b="1" dirty="0"/>
                  <a:t>máximo</a:t>
                </a:r>
                <a:r>
                  <a:rPr lang="pt-BR" dirty="0"/>
                  <a:t> se |M| for máximo em </a:t>
                </a:r>
                <a14:m>
                  <m:oMath xmlns:m="http://schemas.openxmlformats.org/officeDocument/2006/math">
                    <m:r>
                      <a:rPr lang="pt-BR" i="1" dirty="0" smtClean="0">
                        <a:latin typeface="Cambria Math" panose="02040503050406030204" pitchFamily="18" charset="0"/>
                      </a:rPr>
                      <m:t>𝐺</m:t>
                    </m:r>
                  </m:oMath>
                </a14:m>
                <a:r>
                  <a:rPr lang="pt-BR" dirty="0"/>
                  <a:t>.</a:t>
                </a:r>
              </a:p>
              <a:p>
                <a:pPr lvl="1"/>
                <a:r>
                  <a:rPr lang="pt-BR" dirty="0"/>
                  <a:t>Um </a:t>
                </a:r>
                <a:r>
                  <a:rPr lang="pt-BR" dirty="0" err="1"/>
                  <a:t>matching</a:t>
                </a:r>
                <a:r>
                  <a:rPr lang="pt-BR" dirty="0"/>
                  <a:t> com maior número de arestas possíveis em </a:t>
                </a:r>
                <a14:m>
                  <m:oMath xmlns:m="http://schemas.openxmlformats.org/officeDocument/2006/math">
                    <m:r>
                      <a:rPr lang="pt-BR" i="1" dirty="0" smtClean="0">
                        <a:latin typeface="Cambria Math" panose="02040503050406030204" pitchFamily="18" charset="0"/>
                      </a:rPr>
                      <m:t>𝐺</m:t>
                    </m:r>
                    <m:r>
                      <a:rPr lang="pt-BR" i="1" dirty="0" smtClean="0">
                        <a:latin typeface="Cambria Math" panose="02040503050406030204" pitchFamily="18" charset="0"/>
                      </a:rPr>
                      <m:t> </m:t>
                    </m:r>
                  </m:oMath>
                </a14:m>
                <a:r>
                  <a:rPr lang="pt-BR" dirty="0"/>
                  <a:t>(também é um </a:t>
                </a:r>
                <a:r>
                  <a:rPr lang="pt-BR" dirty="0" err="1"/>
                  <a:t>matching</a:t>
                </a:r>
                <a:r>
                  <a:rPr lang="pt-BR" dirty="0"/>
                  <a:t> maximal).</a:t>
                </a:r>
              </a:p>
              <a:p>
                <a:pPr lvl="1"/>
                <a:endParaRPr lang="pt-BR" dirty="0"/>
              </a:p>
              <a:p>
                <a:pPr lvl="1"/>
                <a:endParaRPr lang="pt-BR" dirty="0"/>
              </a:p>
              <a:p>
                <a:pPr lvl="1"/>
                <a:endParaRPr lang="pt-BR" dirty="0"/>
              </a:p>
              <a:p>
                <a:pPr lvl="1"/>
                <a:endParaRPr lang="pt-BR" dirty="0"/>
              </a:p>
              <a:p>
                <a:pPr marL="0" indent="0">
                  <a:buNone/>
                </a:pPr>
                <a:endParaRPr lang="pt-BR" dirty="0"/>
              </a:p>
              <a:p>
                <a:endParaRPr lang="pt-BR" dirty="0"/>
              </a:p>
              <a:p>
                <a:endParaRPr lang="pt-BR" dirty="0"/>
              </a:p>
              <a:p>
                <a:endParaRPr lang="pt-BR" dirty="0"/>
              </a:p>
              <a:p>
                <a:endParaRPr lang="pt-BR" dirty="0"/>
              </a:p>
              <a:p>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704" t="-1752" r="-2296"/>
                </a:stretch>
              </a:blipFill>
            </p:spPr>
            <p:txBody>
              <a:bodyPr/>
              <a:lstStyle/>
              <a:p>
                <a:r>
                  <a:rPr lang="pt-BR">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854754"/>
            <a:ext cx="2754176" cy="1518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4701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Um </a:t>
            </a:r>
            <a:r>
              <a:rPr lang="pt-BR" sz="2800" dirty="0" err="1"/>
              <a:t>matching</a:t>
            </a:r>
            <a:r>
              <a:rPr lang="pt-BR" sz="2800" dirty="0"/>
              <a:t> M é </a:t>
            </a:r>
            <a:r>
              <a:rPr lang="pt-BR" sz="2800" b="1" dirty="0"/>
              <a:t>completo</a:t>
            </a:r>
            <a:r>
              <a:rPr lang="pt-BR" sz="2800" dirty="0"/>
              <a:t> (perfeito) se todos os vértices do grafos estão em M.</a:t>
            </a:r>
            <a:r>
              <a:rPr lang="pt-BR" sz="2800" b="1" dirty="0"/>
              <a:t> </a:t>
            </a:r>
          </a:p>
          <a:p>
            <a:pPr lvl="1"/>
            <a:r>
              <a:rPr lang="pt-BR" sz="2400" dirty="0"/>
              <a:t>Vértices e arestas podem ser livres ou associados (ao </a:t>
            </a:r>
            <a:r>
              <a:rPr lang="pt-BR" sz="2400" dirty="0" err="1"/>
              <a:t>matching</a:t>
            </a:r>
            <a:r>
              <a:rPr lang="pt-BR" sz="2400" dirty="0"/>
              <a:t>).</a:t>
            </a:r>
          </a:p>
          <a:p>
            <a:pPr lvl="1"/>
            <a:r>
              <a:rPr lang="pt-BR" sz="2400" dirty="0"/>
              <a:t>Um </a:t>
            </a:r>
            <a:r>
              <a:rPr lang="pt-BR" sz="2400" dirty="0" err="1"/>
              <a:t>matching</a:t>
            </a:r>
            <a:r>
              <a:rPr lang="pt-BR" sz="2400" dirty="0"/>
              <a:t> perfeito não possui vértices livres.</a:t>
            </a:r>
          </a:p>
          <a:p>
            <a:pPr lvl="1"/>
            <a:r>
              <a:rPr lang="pt-BR" sz="2400" dirty="0"/>
              <a:t>Todo </a:t>
            </a:r>
            <a:r>
              <a:rPr lang="pt-BR" sz="2400" dirty="0" err="1"/>
              <a:t>matching</a:t>
            </a:r>
            <a:r>
              <a:rPr lang="pt-BR" sz="2400" dirty="0"/>
              <a:t> perfeito é máximo (e maximal).</a:t>
            </a:r>
          </a:p>
          <a:p>
            <a:endParaRPr lang="pt-BR" sz="2800" dirty="0"/>
          </a:p>
        </p:txBody>
      </p:sp>
      <p:sp>
        <p:nvSpPr>
          <p:cNvPr id="4" name="Elipse 3"/>
          <p:cNvSpPr/>
          <p:nvPr/>
        </p:nvSpPr>
        <p:spPr>
          <a:xfrm>
            <a:off x="3592587" y="46531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6084168" y="46531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592588" y="5689926"/>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660467" y="5130765"/>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3" name="Elipse 12"/>
          <p:cNvSpPr/>
          <p:nvPr/>
        </p:nvSpPr>
        <p:spPr>
          <a:xfrm>
            <a:off x="4794334" y="568606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6"/>
            <a:endCxn id="13" idx="2"/>
          </p:cNvCxnSpPr>
          <p:nvPr/>
        </p:nvCxnSpPr>
        <p:spPr>
          <a:xfrm flipV="1">
            <a:off x="4135969" y="5891235"/>
            <a:ext cx="658365" cy="38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4791756" y="4653136"/>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29" name="Conector reto 28"/>
          <p:cNvCxnSpPr>
            <a:stCxn id="4" idx="6"/>
            <a:endCxn id="17" idx="2"/>
          </p:cNvCxnSpPr>
          <p:nvPr/>
        </p:nvCxnSpPr>
        <p:spPr>
          <a:xfrm>
            <a:off x="4135968" y="4858308"/>
            <a:ext cx="6557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ector reto 30"/>
          <p:cNvCxnSpPr>
            <a:stCxn id="4" idx="4"/>
            <a:endCxn id="6" idx="0"/>
          </p:cNvCxnSpPr>
          <p:nvPr/>
        </p:nvCxnSpPr>
        <p:spPr>
          <a:xfrm>
            <a:off x="3864278" y="5063480"/>
            <a:ext cx="1" cy="626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17" idx="4"/>
            <a:endCxn id="13" idx="0"/>
          </p:cNvCxnSpPr>
          <p:nvPr/>
        </p:nvCxnSpPr>
        <p:spPr>
          <a:xfrm>
            <a:off x="5063447" y="5063480"/>
            <a:ext cx="2578" cy="6225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4" idx="2"/>
            <a:endCxn id="7" idx="7"/>
          </p:cNvCxnSpPr>
          <p:nvPr/>
        </p:nvCxnSpPr>
        <p:spPr>
          <a:xfrm flipH="1">
            <a:off x="3124272" y="4858308"/>
            <a:ext cx="468315" cy="3325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6" idx="2"/>
            <a:endCxn id="7" idx="5"/>
          </p:cNvCxnSpPr>
          <p:nvPr/>
        </p:nvCxnSpPr>
        <p:spPr>
          <a:xfrm flipH="1" flipV="1">
            <a:off x="3124272" y="5481016"/>
            <a:ext cx="468316" cy="414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17" idx="6"/>
            <a:endCxn id="5" idx="2"/>
          </p:cNvCxnSpPr>
          <p:nvPr/>
        </p:nvCxnSpPr>
        <p:spPr>
          <a:xfrm>
            <a:off x="5335137" y="4858308"/>
            <a:ext cx="74903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4335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3600" dirty="0" err="1"/>
                  <a:t>Matching</a:t>
                </a:r>
                <a:r>
                  <a:rPr lang="pt-BR" sz="3600" dirty="0"/>
                  <a:t> completo (grafos bipartidos):</a:t>
                </a:r>
              </a:p>
              <a:p>
                <a:pPr lvl="1"/>
                <a:r>
                  <a:rPr lang="pt-BR" sz="3200" dirty="0"/>
                  <a:t>Seja </a:t>
                </a:r>
                <a14:m>
                  <m:oMath xmlns:m="http://schemas.openxmlformats.org/officeDocument/2006/math">
                    <m:r>
                      <a:rPr lang="pt-BR" sz="3200" i="1" dirty="0">
                        <a:latin typeface="Cambria Math"/>
                      </a:rPr>
                      <m:t>𝐺</m:t>
                    </m:r>
                    <m:r>
                      <a:rPr lang="pt-BR" sz="3200" i="1" dirty="0">
                        <a:latin typeface="Cambria Math"/>
                      </a:rPr>
                      <m:t>=(</m:t>
                    </m:r>
                    <m:r>
                      <a:rPr lang="pt-BR" sz="3200" b="0" i="1" dirty="0" smtClean="0">
                        <a:latin typeface="Cambria Math"/>
                      </a:rPr>
                      <m:t>𝑋</m:t>
                    </m:r>
                    <m:r>
                      <a:rPr lang="pt-BR" sz="3200" b="0" i="1" dirty="0" smtClean="0">
                        <a:latin typeface="Cambria Math"/>
                        <a:ea typeface="Cambria Math"/>
                      </a:rPr>
                      <m:t>∪</m:t>
                    </m:r>
                    <m:r>
                      <a:rPr lang="pt-BR" sz="3200" b="0" i="1" dirty="0" smtClean="0">
                        <a:latin typeface="Cambria Math"/>
                      </a:rPr>
                      <m:t>𝑌</m:t>
                    </m:r>
                    <m:r>
                      <a:rPr lang="pt-BR" sz="3200" i="1" dirty="0">
                        <a:latin typeface="Cambria Math"/>
                      </a:rPr>
                      <m:t>, </m:t>
                    </m:r>
                    <m:r>
                      <a:rPr lang="pt-BR" sz="3200" i="1" dirty="0">
                        <a:latin typeface="Cambria Math"/>
                      </a:rPr>
                      <m:t>𝐸</m:t>
                    </m:r>
                    <m:r>
                      <a:rPr lang="pt-BR" sz="3200" i="1" dirty="0">
                        <a:latin typeface="Cambria Math"/>
                      </a:rPr>
                      <m:t>) </m:t>
                    </m:r>
                  </m:oMath>
                </a14:m>
                <a:r>
                  <a:rPr lang="pt-BR" sz="3200" dirty="0"/>
                  <a:t>um grafo bipartido.</a:t>
                </a:r>
              </a:p>
              <a:p>
                <a:pPr lvl="1"/>
                <a:r>
                  <a:rPr lang="pt-BR" sz="3200" dirty="0"/>
                  <a:t>Um </a:t>
                </a:r>
                <a:r>
                  <a:rPr lang="pt-BR" sz="3200" dirty="0" err="1"/>
                  <a:t>matching</a:t>
                </a:r>
                <a:r>
                  <a:rPr lang="pt-BR" sz="3200" dirty="0"/>
                  <a:t> completo de </a:t>
                </a:r>
                <a14:m>
                  <m:oMath xmlns:m="http://schemas.openxmlformats.org/officeDocument/2006/math">
                    <m:r>
                      <a:rPr lang="pt-BR" sz="3200" i="1" dirty="0" smtClean="0">
                        <a:latin typeface="Cambria Math" panose="02040503050406030204" pitchFamily="18" charset="0"/>
                      </a:rPr>
                      <m:t>𝑋</m:t>
                    </m:r>
                  </m:oMath>
                </a14:m>
                <a:r>
                  <a:rPr lang="pt-BR" sz="3200" dirty="0"/>
                  <a:t> para </a:t>
                </a:r>
                <a14:m>
                  <m:oMath xmlns:m="http://schemas.openxmlformats.org/officeDocument/2006/math">
                    <m:r>
                      <a:rPr lang="pt-BR" sz="3200" i="1" dirty="0" smtClean="0">
                        <a:latin typeface="Cambria Math" panose="02040503050406030204" pitchFamily="18" charset="0"/>
                      </a:rPr>
                      <m:t>𝑌</m:t>
                    </m:r>
                  </m:oMath>
                </a14:m>
                <a:r>
                  <a:rPr lang="pt-BR" sz="3200" dirty="0"/>
                  <a:t> é um </a:t>
                </a:r>
                <a:r>
                  <a:rPr lang="pt-BR" sz="3200" dirty="0" err="1"/>
                  <a:t>matching</a:t>
                </a:r>
                <a:r>
                  <a:rPr lang="pt-BR" sz="3200" dirty="0"/>
                  <a:t> em que nenhum vértice de </a:t>
                </a:r>
                <a14:m>
                  <m:oMath xmlns:m="http://schemas.openxmlformats.org/officeDocument/2006/math">
                    <m:r>
                      <a:rPr lang="pt-BR" sz="3200" i="1" dirty="0" smtClean="0">
                        <a:latin typeface="Cambria Math" panose="02040503050406030204" pitchFamily="18" charset="0"/>
                      </a:rPr>
                      <m:t>𝑋</m:t>
                    </m:r>
                  </m:oMath>
                </a14:m>
                <a:r>
                  <a:rPr lang="pt-BR" sz="3200" dirty="0"/>
                  <a:t> está livre.</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2000" t="-2156" r="-1926"/>
                </a:stretch>
              </a:blipFill>
            </p:spPr>
            <p:txBody>
              <a:bodyPr/>
              <a:lstStyle/>
              <a:p>
                <a:r>
                  <a:rPr lang="pt-BR">
                    <a:noFill/>
                  </a:rPr>
                  <a:t> </a:t>
                </a:r>
              </a:p>
            </p:txBody>
          </p:sp>
        </mc:Fallback>
      </mc:AlternateContent>
    </p:spTree>
    <p:extLst>
      <p:ext uri="{BB962C8B-B14F-4D97-AF65-F5344CB8AC3E}">
        <p14:creationId xmlns:p14="http://schemas.microsoft.com/office/powerpoint/2010/main" val="3958546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Se existe um finito conjunto de garotas, cada uma delas conhece vários garotos. Sobre quais condições todas as garotas podem se casar com os garotos, de tal forma que cada garota se case com um garoto que ela conheça.</a:t>
            </a:r>
          </a:p>
        </p:txBody>
      </p:sp>
      <p:graphicFrame>
        <p:nvGraphicFramePr>
          <p:cNvPr id="4" name="Tabela 3"/>
          <p:cNvGraphicFramePr>
            <a:graphicFrameLocks noGrp="1"/>
          </p:cNvGraphicFramePr>
          <p:nvPr>
            <p:extLst>
              <p:ext uri="{D42A27DB-BD31-4B8C-83A1-F6EECF244321}">
                <p14:modId xmlns:p14="http://schemas.microsoft.com/office/powerpoint/2010/main" val="276722501"/>
              </p:ext>
            </p:extLst>
          </p:nvPr>
        </p:nvGraphicFramePr>
        <p:xfrm>
          <a:off x="1763688" y="4454525"/>
          <a:ext cx="3600400" cy="185420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lgn="l"/>
                      <a:r>
                        <a:rPr lang="pt-BR" dirty="0"/>
                        <a:t>garota</a:t>
                      </a:r>
                    </a:p>
                  </a:txBody>
                  <a:tcPr/>
                </a:tc>
                <a:tc>
                  <a:txBody>
                    <a:bodyPr/>
                    <a:lstStyle/>
                    <a:p>
                      <a:pPr algn="l"/>
                      <a:r>
                        <a:rPr lang="pt-BR" dirty="0"/>
                        <a:t>rapaz</a:t>
                      </a:r>
                    </a:p>
                  </a:txBody>
                  <a:tcPr/>
                </a:tc>
                <a:extLst>
                  <a:ext uri="{0D108BD9-81ED-4DB2-BD59-A6C34878D82A}">
                    <a16:rowId xmlns:a16="http://schemas.microsoft.com/office/drawing/2014/main" val="10000"/>
                  </a:ext>
                </a:extLst>
              </a:tr>
              <a:tr h="370840">
                <a:tc>
                  <a:txBody>
                    <a:bodyPr/>
                    <a:lstStyle/>
                    <a:p>
                      <a:pPr algn="l"/>
                      <a:r>
                        <a:rPr lang="pt-BR" dirty="0"/>
                        <a:t>g1</a:t>
                      </a:r>
                    </a:p>
                  </a:txBody>
                  <a:tcPr/>
                </a:tc>
                <a:tc>
                  <a:txBody>
                    <a:bodyPr/>
                    <a:lstStyle/>
                    <a:p>
                      <a:pPr algn="l"/>
                      <a:r>
                        <a:rPr lang="pt-BR" dirty="0"/>
                        <a:t>r1</a:t>
                      </a:r>
                      <a:r>
                        <a:rPr lang="pt-BR" baseline="0" dirty="0"/>
                        <a:t>      r4      r5</a:t>
                      </a:r>
                      <a:endParaRPr lang="pt-BR" dirty="0"/>
                    </a:p>
                  </a:txBody>
                  <a:tcPr/>
                </a:tc>
                <a:extLst>
                  <a:ext uri="{0D108BD9-81ED-4DB2-BD59-A6C34878D82A}">
                    <a16:rowId xmlns:a16="http://schemas.microsoft.com/office/drawing/2014/main" val="10001"/>
                  </a:ext>
                </a:extLst>
              </a:tr>
              <a:tr h="370840">
                <a:tc>
                  <a:txBody>
                    <a:bodyPr/>
                    <a:lstStyle/>
                    <a:p>
                      <a:pPr algn="l"/>
                      <a:r>
                        <a:rPr lang="pt-BR" dirty="0"/>
                        <a:t>g2</a:t>
                      </a:r>
                    </a:p>
                  </a:txBody>
                  <a:tcPr/>
                </a:tc>
                <a:tc>
                  <a:txBody>
                    <a:bodyPr/>
                    <a:lstStyle/>
                    <a:p>
                      <a:pPr algn="l"/>
                      <a:r>
                        <a:rPr lang="pt-BR" dirty="0"/>
                        <a:t>r1</a:t>
                      </a:r>
                    </a:p>
                  </a:txBody>
                  <a:tcPr/>
                </a:tc>
                <a:extLst>
                  <a:ext uri="{0D108BD9-81ED-4DB2-BD59-A6C34878D82A}">
                    <a16:rowId xmlns:a16="http://schemas.microsoft.com/office/drawing/2014/main" val="10002"/>
                  </a:ext>
                </a:extLst>
              </a:tr>
              <a:tr h="370840">
                <a:tc>
                  <a:txBody>
                    <a:bodyPr/>
                    <a:lstStyle/>
                    <a:p>
                      <a:pPr algn="l"/>
                      <a:r>
                        <a:rPr lang="pt-BR" dirty="0"/>
                        <a:t>g3</a:t>
                      </a:r>
                    </a:p>
                  </a:txBody>
                  <a:tcPr/>
                </a:tc>
                <a:tc>
                  <a:txBody>
                    <a:bodyPr/>
                    <a:lstStyle/>
                    <a:p>
                      <a:pPr algn="l"/>
                      <a:r>
                        <a:rPr lang="pt-BR" dirty="0"/>
                        <a:t>r2      r3      r4</a:t>
                      </a:r>
                    </a:p>
                  </a:txBody>
                  <a:tcPr/>
                </a:tc>
                <a:extLst>
                  <a:ext uri="{0D108BD9-81ED-4DB2-BD59-A6C34878D82A}">
                    <a16:rowId xmlns:a16="http://schemas.microsoft.com/office/drawing/2014/main" val="10003"/>
                  </a:ext>
                </a:extLst>
              </a:tr>
              <a:tr h="370840">
                <a:tc>
                  <a:txBody>
                    <a:bodyPr/>
                    <a:lstStyle/>
                    <a:p>
                      <a:pPr algn="l"/>
                      <a:r>
                        <a:rPr lang="pt-BR" dirty="0"/>
                        <a:t>g4</a:t>
                      </a:r>
                    </a:p>
                  </a:txBody>
                  <a:tcPr/>
                </a:tc>
                <a:tc>
                  <a:txBody>
                    <a:bodyPr/>
                    <a:lstStyle/>
                    <a:p>
                      <a:pPr algn="l"/>
                      <a:r>
                        <a:rPr lang="pt-BR" dirty="0"/>
                        <a:t>r2      r4</a:t>
                      </a:r>
                    </a:p>
                  </a:txBody>
                  <a:tcPr/>
                </a:tc>
                <a:extLst>
                  <a:ext uri="{0D108BD9-81ED-4DB2-BD59-A6C34878D82A}">
                    <a16:rowId xmlns:a16="http://schemas.microsoft.com/office/drawing/2014/main" val="10004"/>
                  </a:ext>
                </a:extLst>
              </a:tr>
            </a:tbl>
          </a:graphicData>
        </a:graphic>
      </p:graphicFrame>
      <p:sp>
        <p:nvSpPr>
          <p:cNvPr id="5" name="CaixaDeTexto 4"/>
          <p:cNvSpPr txBox="1"/>
          <p:nvPr/>
        </p:nvSpPr>
        <p:spPr>
          <a:xfrm>
            <a:off x="2555776" y="4022477"/>
            <a:ext cx="1705532" cy="369332"/>
          </a:xfrm>
          <a:prstGeom prst="rect">
            <a:avLst/>
          </a:prstGeom>
          <a:noFill/>
        </p:spPr>
        <p:txBody>
          <a:bodyPr wrap="none" rtlCol="0">
            <a:spAutoFit/>
          </a:bodyPr>
          <a:lstStyle/>
          <a:p>
            <a:r>
              <a:rPr lang="pt-BR" dirty="0"/>
              <a:t>Relacionamento</a:t>
            </a:r>
          </a:p>
        </p:txBody>
      </p:sp>
    </p:spTree>
    <p:extLst>
      <p:ext uri="{BB962C8B-B14F-4D97-AF65-F5344CB8AC3E}">
        <p14:creationId xmlns:p14="http://schemas.microsoft.com/office/powerpoint/2010/main" val="34789312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Se existe um finito conjunto de garotas, cada uma delas conhece vários garotos. Sobre quais condições todas as garotas podem se casar com os garotos, de tal forma que cada garota se case com um garoto que ela conheça.</a:t>
            </a:r>
          </a:p>
        </p:txBody>
      </p:sp>
      <p:graphicFrame>
        <p:nvGraphicFramePr>
          <p:cNvPr id="4" name="Tabela 3"/>
          <p:cNvGraphicFramePr>
            <a:graphicFrameLocks noGrp="1"/>
          </p:cNvGraphicFramePr>
          <p:nvPr>
            <p:extLst>
              <p:ext uri="{D42A27DB-BD31-4B8C-83A1-F6EECF244321}">
                <p14:modId xmlns:p14="http://schemas.microsoft.com/office/powerpoint/2010/main" val="1937395695"/>
              </p:ext>
            </p:extLst>
          </p:nvPr>
        </p:nvGraphicFramePr>
        <p:xfrm>
          <a:off x="1763688" y="4454525"/>
          <a:ext cx="3600400" cy="185420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lgn="l"/>
                      <a:r>
                        <a:rPr lang="pt-BR" dirty="0"/>
                        <a:t>garota</a:t>
                      </a:r>
                    </a:p>
                  </a:txBody>
                  <a:tcPr/>
                </a:tc>
                <a:tc>
                  <a:txBody>
                    <a:bodyPr/>
                    <a:lstStyle/>
                    <a:p>
                      <a:pPr algn="l"/>
                      <a:r>
                        <a:rPr lang="pt-BR" dirty="0"/>
                        <a:t>rapaz</a:t>
                      </a:r>
                    </a:p>
                  </a:txBody>
                  <a:tcPr/>
                </a:tc>
                <a:extLst>
                  <a:ext uri="{0D108BD9-81ED-4DB2-BD59-A6C34878D82A}">
                    <a16:rowId xmlns:a16="http://schemas.microsoft.com/office/drawing/2014/main" val="10000"/>
                  </a:ext>
                </a:extLst>
              </a:tr>
              <a:tr h="370840">
                <a:tc>
                  <a:txBody>
                    <a:bodyPr/>
                    <a:lstStyle/>
                    <a:p>
                      <a:pPr algn="l"/>
                      <a:r>
                        <a:rPr lang="pt-BR" dirty="0"/>
                        <a:t>g1</a:t>
                      </a:r>
                    </a:p>
                  </a:txBody>
                  <a:tcPr/>
                </a:tc>
                <a:tc>
                  <a:txBody>
                    <a:bodyPr/>
                    <a:lstStyle/>
                    <a:p>
                      <a:pPr algn="l"/>
                      <a:r>
                        <a:rPr lang="pt-BR" dirty="0"/>
                        <a:t>r1</a:t>
                      </a:r>
                      <a:r>
                        <a:rPr lang="pt-BR" baseline="0" dirty="0"/>
                        <a:t>      </a:t>
                      </a:r>
                      <a:r>
                        <a:rPr lang="pt-BR" baseline="0" dirty="0">
                          <a:solidFill>
                            <a:srgbClr val="FF0000"/>
                          </a:solidFill>
                        </a:rPr>
                        <a:t>r4</a:t>
                      </a:r>
                      <a:r>
                        <a:rPr lang="pt-BR" baseline="0" dirty="0"/>
                        <a:t>      r5</a:t>
                      </a:r>
                      <a:endParaRPr lang="pt-BR" dirty="0"/>
                    </a:p>
                  </a:txBody>
                  <a:tcPr/>
                </a:tc>
                <a:extLst>
                  <a:ext uri="{0D108BD9-81ED-4DB2-BD59-A6C34878D82A}">
                    <a16:rowId xmlns:a16="http://schemas.microsoft.com/office/drawing/2014/main" val="10001"/>
                  </a:ext>
                </a:extLst>
              </a:tr>
              <a:tr h="370840">
                <a:tc>
                  <a:txBody>
                    <a:bodyPr/>
                    <a:lstStyle/>
                    <a:p>
                      <a:pPr algn="l"/>
                      <a:r>
                        <a:rPr lang="pt-BR" dirty="0"/>
                        <a:t>g2</a:t>
                      </a:r>
                    </a:p>
                  </a:txBody>
                  <a:tcPr/>
                </a:tc>
                <a:tc>
                  <a:txBody>
                    <a:bodyPr/>
                    <a:lstStyle/>
                    <a:p>
                      <a:pPr algn="l"/>
                      <a:r>
                        <a:rPr lang="pt-BR" dirty="0">
                          <a:solidFill>
                            <a:srgbClr val="FF0000"/>
                          </a:solidFill>
                        </a:rPr>
                        <a:t>r1</a:t>
                      </a:r>
                    </a:p>
                  </a:txBody>
                  <a:tcPr/>
                </a:tc>
                <a:extLst>
                  <a:ext uri="{0D108BD9-81ED-4DB2-BD59-A6C34878D82A}">
                    <a16:rowId xmlns:a16="http://schemas.microsoft.com/office/drawing/2014/main" val="10002"/>
                  </a:ext>
                </a:extLst>
              </a:tr>
              <a:tr h="370840">
                <a:tc>
                  <a:txBody>
                    <a:bodyPr/>
                    <a:lstStyle/>
                    <a:p>
                      <a:pPr algn="l"/>
                      <a:r>
                        <a:rPr lang="pt-BR" dirty="0"/>
                        <a:t>g3</a:t>
                      </a:r>
                    </a:p>
                  </a:txBody>
                  <a:tcPr/>
                </a:tc>
                <a:tc>
                  <a:txBody>
                    <a:bodyPr/>
                    <a:lstStyle/>
                    <a:p>
                      <a:pPr algn="l"/>
                      <a:r>
                        <a:rPr lang="pt-BR" dirty="0"/>
                        <a:t>r2      </a:t>
                      </a:r>
                      <a:r>
                        <a:rPr lang="pt-BR" dirty="0">
                          <a:solidFill>
                            <a:srgbClr val="FF0000"/>
                          </a:solidFill>
                        </a:rPr>
                        <a:t>r3</a:t>
                      </a:r>
                      <a:r>
                        <a:rPr lang="pt-BR" dirty="0"/>
                        <a:t>      r4</a:t>
                      </a:r>
                    </a:p>
                  </a:txBody>
                  <a:tcPr/>
                </a:tc>
                <a:extLst>
                  <a:ext uri="{0D108BD9-81ED-4DB2-BD59-A6C34878D82A}">
                    <a16:rowId xmlns:a16="http://schemas.microsoft.com/office/drawing/2014/main" val="10003"/>
                  </a:ext>
                </a:extLst>
              </a:tr>
              <a:tr h="370840">
                <a:tc>
                  <a:txBody>
                    <a:bodyPr/>
                    <a:lstStyle/>
                    <a:p>
                      <a:pPr algn="l"/>
                      <a:r>
                        <a:rPr lang="pt-BR" dirty="0"/>
                        <a:t>g4</a:t>
                      </a:r>
                    </a:p>
                  </a:txBody>
                  <a:tcPr/>
                </a:tc>
                <a:tc>
                  <a:txBody>
                    <a:bodyPr/>
                    <a:lstStyle/>
                    <a:p>
                      <a:pPr algn="l"/>
                      <a:r>
                        <a:rPr lang="pt-BR" dirty="0">
                          <a:solidFill>
                            <a:srgbClr val="FF0000"/>
                          </a:solidFill>
                        </a:rPr>
                        <a:t>r2</a:t>
                      </a:r>
                      <a:r>
                        <a:rPr lang="pt-BR" dirty="0"/>
                        <a:t>      </a:t>
                      </a:r>
                      <a:r>
                        <a:rPr lang="pt-BR" dirty="0">
                          <a:solidFill>
                            <a:schemeClr val="tx1"/>
                          </a:solidFill>
                        </a:rPr>
                        <a:t>r4</a:t>
                      </a:r>
                    </a:p>
                  </a:txBody>
                  <a:tcPr/>
                </a:tc>
                <a:extLst>
                  <a:ext uri="{0D108BD9-81ED-4DB2-BD59-A6C34878D82A}">
                    <a16:rowId xmlns:a16="http://schemas.microsoft.com/office/drawing/2014/main" val="10004"/>
                  </a:ext>
                </a:extLst>
              </a:tr>
            </a:tbl>
          </a:graphicData>
        </a:graphic>
      </p:graphicFrame>
      <p:sp>
        <p:nvSpPr>
          <p:cNvPr id="5" name="CaixaDeTexto 4"/>
          <p:cNvSpPr txBox="1"/>
          <p:nvPr/>
        </p:nvSpPr>
        <p:spPr>
          <a:xfrm>
            <a:off x="2555776" y="4022477"/>
            <a:ext cx="1705532" cy="369332"/>
          </a:xfrm>
          <a:prstGeom prst="rect">
            <a:avLst/>
          </a:prstGeom>
          <a:noFill/>
        </p:spPr>
        <p:txBody>
          <a:bodyPr wrap="none" rtlCol="0">
            <a:spAutoFit/>
          </a:bodyPr>
          <a:lstStyle/>
          <a:p>
            <a:r>
              <a:rPr lang="pt-BR" dirty="0"/>
              <a:t>Relacionamento</a:t>
            </a:r>
          </a:p>
        </p:txBody>
      </p:sp>
    </p:spTree>
    <p:extLst>
      <p:ext uri="{BB962C8B-B14F-4D97-AF65-F5344CB8AC3E}">
        <p14:creationId xmlns:p14="http://schemas.microsoft.com/office/powerpoint/2010/main" val="1472773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Se existe um finito conjunto de garotas, cada uma delas conhece vários garotos. Sobre quais condições todas as garotas podem se casar com os garotos, de tal forma que cada garota se case com um garoto que ela conheça.</a:t>
            </a:r>
          </a:p>
        </p:txBody>
      </p:sp>
      <p:graphicFrame>
        <p:nvGraphicFramePr>
          <p:cNvPr id="4" name="Tabela 3"/>
          <p:cNvGraphicFramePr>
            <a:graphicFrameLocks noGrp="1"/>
          </p:cNvGraphicFramePr>
          <p:nvPr>
            <p:extLst>
              <p:ext uri="{D42A27DB-BD31-4B8C-83A1-F6EECF244321}">
                <p14:modId xmlns:p14="http://schemas.microsoft.com/office/powerpoint/2010/main" val="2653420502"/>
              </p:ext>
            </p:extLst>
          </p:nvPr>
        </p:nvGraphicFramePr>
        <p:xfrm>
          <a:off x="1763688" y="4454525"/>
          <a:ext cx="3600400" cy="185420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lgn="l"/>
                      <a:r>
                        <a:rPr lang="pt-BR" dirty="0"/>
                        <a:t>garota</a:t>
                      </a:r>
                    </a:p>
                  </a:txBody>
                  <a:tcPr/>
                </a:tc>
                <a:tc>
                  <a:txBody>
                    <a:bodyPr/>
                    <a:lstStyle/>
                    <a:p>
                      <a:pPr algn="l"/>
                      <a:r>
                        <a:rPr lang="pt-BR" dirty="0"/>
                        <a:t>rapaz</a:t>
                      </a:r>
                    </a:p>
                  </a:txBody>
                  <a:tcPr/>
                </a:tc>
                <a:extLst>
                  <a:ext uri="{0D108BD9-81ED-4DB2-BD59-A6C34878D82A}">
                    <a16:rowId xmlns:a16="http://schemas.microsoft.com/office/drawing/2014/main" val="10000"/>
                  </a:ext>
                </a:extLst>
              </a:tr>
              <a:tr h="370840">
                <a:tc>
                  <a:txBody>
                    <a:bodyPr/>
                    <a:lstStyle/>
                    <a:p>
                      <a:pPr algn="l"/>
                      <a:r>
                        <a:rPr lang="pt-BR" dirty="0"/>
                        <a:t>g1</a:t>
                      </a:r>
                    </a:p>
                  </a:txBody>
                  <a:tcPr/>
                </a:tc>
                <a:tc>
                  <a:txBody>
                    <a:bodyPr/>
                    <a:lstStyle/>
                    <a:p>
                      <a:pPr algn="l"/>
                      <a:r>
                        <a:rPr lang="pt-BR" dirty="0"/>
                        <a:t>r1</a:t>
                      </a:r>
                      <a:r>
                        <a:rPr lang="pt-BR" baseline="0" dirty="0"/>
                        <a:t>      </a:t>
                      </a:r>
                      <a:r>
                        <a:rPr lang="pt-BR" baseline="0" dirty="0">
                          <a:solidFill>
                            <a:srgbClr val="FF0000"/>
                          </a:solidFill>
                        </a:rPr>
                        <a:t>r4</a:t>
                      </a:r>
                      <a:r>
                        <a:rPr lang="pt-BR" baseline="0" dirty="0"/>
                        <a:t>      r5</a:t>
                      </a:r>
                      <a:endParaRPr lang="pt-BR" dirty="0"/>
                    </a:p>
                  </a:txBody>
                  <a:tcPr/>
                </a:tc>
                <a:extLst>
                  <a:ext uri="{0D108BD9-81ED-4DB2-BD59-A6C34878D82A}">
                    <a16:rowId xmlns:a16="http://schemas.microsoft.com/office/drawing/2014/main" val="10001"/>
                  </a:ext>
                </a:extLst>
              </a:tr>
              <a:tr h="370840">
                <a:tc>
                  <a:txBody>
                    <a:bodyPr/>
                    <a:lstStyle/>
                    <a:p>
                      <a:pPr algn="l"/>
                      <a:r>
                        <a:rPr lang="pt-BR" dirty="0"/>
                        <a:t>g2</a:t>
                      </a:r>
                    </a:p>
                  </a:txBody>
                  <a:tcPr/>
                </a:tc>
                <a:tc>
                  <a:txBody>
                    <a:bodyPr/>
                    <a:lstStyle/>
                    <a:p>
                      <a:pPr algn="l"/>
                      <a:r>
                        <a:rPr lang="pt-BR" dirty="0">
                          <a:solidFill>
                            <a:srgbClr val="FF0000"/>
                          </a:solidFill>
                        </a:rPr>
                        <a:t>r1</a:t>
                      </a:r>
                    </a:p>
                  </a:txBody>
                  <a:tcPr/>
                </a:tc>
                <a:extLst>
                  <a:ext uri="{0D108BD9-81ED-4DB2-BD59-A6C34878D82A}">
                    <a16:rowId xmlns:a16="http://schemas.microsoft.com/office/drawing/2014/main" val="10002"/>
                  </a:ext>
                </a:extLst>
              </a:tr>
              <a:tr h="370840">
                <a:tc>
                  <a:txBody>
                    <a:bodyPr/>
                    <a:lstStyle/>
                    <a:p>
                      <a:pPr algn="l"/>
                      <a:r>
                        <a:rPr lang="pt-BR" dirty="0"/>
                        <a:t>g3</a:t>
                      </a:r>
                    </a:p>
                  </a:txBody>
                  <a:tcPr/>
                </a:tc>
                <a:tc>
                  <a:txBody>
                    <a:bodyPr/>
                    <a:lstStyle/>
                    <a:p>
                      <a:pPr algn="l"/>
                      <a:r>
                        <a:rPr lang="pt-BR" dirty="0"/>
                        <a:t>r2      </a:t>
                      </a:r>
                      <a:r>
                        <a:rPr lang="pt-BR" dirty="0">
                          <a:solidFill>
                            <a:srgbClr val="FF0000"/>
                          </a:solidFill>
                        </a:rPr>
                        <a:t>r3</a:t>
                      </a:r>
                      <a:r>
                        <a:rPr lang="pt-BR" dirty="0"/>
                        <a:t>      r4</a:t>
                      </a:r>
                    </a:p>
                  </a:txBody>
                  <a:tcPr/>
                </a:tc>
                <a:extLst>
                  <a:ext uri="{0D108BD9-81ED-4DB2-BD59-A6C34878D82A}">
                    <a16:rowId xmlns:a16="http://schemas.microsoft.com/office/drawing/2014/main" val="10003"/>
                  </a:ext>
                </a:extLst>
              </a:tr>
              <a:tr h="370840">
                <a:tc>
                  <a:txBody>
                    <a:bodyPr/>
                    <a:lstStyle/>
                    <a:p>
                      <a:pPr algn="l"/>
                      <a:r>
                        <a:rPr lang="pt-BR" dirty="0"/>
                        <a:t>g4</a:t>
                      </a:r>
                    </a:p>
                  </a:txBody>
                  <a:tcPr/>
                </a:tc>
                <a:tc>
                  <a:txBody>
                    <a:bodyPr/>
                    <a:lstStyle/>
                    <a:p>
                      <a:pPr algn="l"/>
                      <a:r>
                        <a:rPr lang="pt-BR" dirty="0">
                          <a:solidFill>
                            <a:srgbClr val="FF0000"/>
                          </a:solidFill>
                        </a:rPr>
                        <a:t>r2</a:t>
                      </a:r>
                      <a:r>
                        <a:rPr lang="pt-BR" dirty="0"/>
                        <a:t>      </a:t>
                      </a:r>
                      <a:r>
                        <a:rPr lang="pt-BR" dirty="0">
                          <a:solidFill>
                            <a:schemeClr val="tx1"/>
                          </a:solidFill>
                        </a:rPr>
                        <a:t>r4</a:t>
                      </a:r>
                    </a:p>
                  </a:txBody>
                  <a:tcPr/>
                </a:tc>
                <a:extLst>
                  <a:ext uri="{0D108BD9-81ED-4DB2-BD59-A6C34878D82A}">
                    <a16:rowId xmlns:a16="http://schemas.microsoft.com/office/drawing/2014/main" val="10004"/>
                  </a:ext>
                </a:extLst>
              </a:tr>
            </a:tbl>
          </a:graphicData>
        </a:graphic>
      </p:graphicFrame>
      <p:sp>
        <p:nvSpPr>
          <p:cNvPr id="5" name="CaixaDeTexto 4"/>
          <p:cNvSpPr txBox="1"/>
          <p:nvPr/>
        </p:nvSpPr>
        <p:spPr>
          <a:xfrm>
            <a:off x="2555776" y="4022477"/>
            <a:ext cx="1705532" cy="369332"/>
          </a:xfrm>
          <a:prstGeom prst="rect">
            <a:avLst/>
          </a:prstGeom>
          <a:noFill/>
        </p:spPr>
        <p:txBody>
          <a:bodyPr wrap="none" rtlCol="0">
            <a:spAutoFit/>
          </a:bodyPr>
          <a:lstStyle/>
          <a:p>
            <a:r>
              <a:rPr lang="pt-BR" dirty="0"/>
              <a:t>Relacionamento</a:t>
            </a:r>
          </a:p>
        </p:txBody>
      </p:sp>
      <p:sp>
        <p:nvSpPr>
          <p:cNvPr id="6" name="Elipse 5"/>
          <p:cNvSpPr/>
          <p:nvPr/>
        </p:nvSpPr>
        <p:spPr>
          <a:xfrm>
            <a:off x="6402046" y="4247793"/>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405560" y="4797152"/>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6398532" y="53607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6402046" y="5910139"/>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808846" y="3940383"/>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12360" y="4489742"/>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5332" y="505337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7808846" y="5602729"/>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p:cNvSpPr/>
          <p:nvPr/>
        </p:nvSpPr>
        <p:spPr>
          <a:xfrm>
            <a:off x="7813025" y="6210086"/>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reto 15"/>
          <p:cNvCxnSpPr>
            <a:stCxn id="6" idx="7"/>
            <a:endCxn id="10" idx="2"/>
          </p:cNvCxnSpPr>
          <p:nvPr/>
        </p:nvCxnSpPr>
        <p:spPr>
          <a:xfrm flipV="1">
            <a:off x="6524971" y="4012391"/>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3" idx="1"/>
          </p:cNvCxnSpPr>
          <p:nvPr/>
        </p:nvCxnSpPr>
        <p:spPr>
          <a:xfrm>
            <a:off x="6546062" y="4319801"/>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6" idx="5"/>
            <a:endCxn id="14" idx="2"/>
          </p:cNvCxnSpPr>
          <p:nvPr/>
        </p:nvCxnSpPr>
        <p:spPr>
          <a:xfrm>
            <a:off x="6524971" y="4370718"/>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a:stCxn id="7" idx="7"/>
            <a:endCxn id="10" idx="3"/>
          </p:cNvCxnSpPr>
          <p:nvPr/>
        </p:nvCxnSpPr>
        <p:spPr>
          <a:xfrm flipV="1">
            <a:off x="6528485" y="4063308"/>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Conector reto 24"/>
          <p:cNvCxnSpPr>
            <a:stCxn id="8" idx="7"/>
            <a:endCxn id="11" idx="2"/>
          </p:cNvCxnSpPr>
          <p:nvPr/>
        </p:nvCxnSpPr>
        <p:spPr>
          <a:xfrm flipV="1">
            <a:off x="6521457" y="4561750"/>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to 26"/>
          <p:cNvCxnSpPr>
            <a:stCxn id="8" idx="6"/>
            <a:endCxn id="12" idx="2"/>
          </p:cNvCxnSpPr>
          <p:nvPr/>
        </p:nvCxnSpPr>
        <p:spPr>
          <a:xfrm flipV="1">
            <a:off x="6542548" y="5125378"/>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8" idx="5"/>
            <a:endCxn id="13" idx="2"/>
          </p:cNvCxnSpPr>
          <p:nvPr/>
        </p:nvCxnSpPr>
        <p:spPr>
          <a:xfrm>
            <a:off x="6521457" y="5483705"/>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ector reto 31"/>
          <p:cNvCxnSpPr>
            <a:stCxn id="9" idx="7"/>
            <a:endCxn id="11" idx="3"/>
          </p:cNvCxnSpPr>
          <p:nvPr/>
        </p:nvCxnSpPr>
        <p:spPr>
          <a:xfrm flipV="1">
            <a:off x="6524971" y="4612667"/>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9" idx="5"/>
            <a:endCxn id="13" idx="3"/>
          </p:cNvCxnSpPr>
          <p:nvPr/>
        </p:nvCxnSpPr>
        <p:spPr>
          <a:xfrm flipV="1">
            <a:off x="6524971" y="5725654"/>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35" name="CaixaDeTexto 34"/>
          <p:cNvSpPr txBox="1"/>
          <p:nvPr/>
        </p:nvSpPr>
        <p:spPr>
          <a:xfrm>
            <a:off x="6012160" y="4067780"/>
            <a:ext cx="410690" cy="369332"/>
          </a:xfrm>
          <a:prstGeom prst="rect">
            <a:avLst/>
          </a:prstGeom>
          <a:noFill/>
        </p:spPr>
        <p:txBody>
          <a:bodyPr wrap="none" rtlCol="0">
            <a:spAutoFit/>
          </a:bodyPr>
          <a:lstStyle/>
          <a:p>
            <a:r>
              <a:rPr lang="pt-BR" dirty="0"/>
              <a:t>g1</a:t>
            </a:r>
          </a:p>
        </p:txBody>
      </p:sp>
      <p:sp>
        <p:nvSpPr>
          <p:cNvPr id="36" name="CaixaDeTexto 35"/>
          <p:cNvSpPr txBox="1"/>
          <p:nvPr/>
        </p:nvSpPr>
        <p:spPr>
          <a:xfrm>
            <a:off x="6012160" y="4653136"/>
            <a:ext cx="410690" cy="369332"/>
          </a:xfrm>
          <a:prstGeom prst="rect">
            <a:avLst/>
          </a:prstGeom>
          <a:noFill/>
        </p:spPr>
        <p:txBody>
          <a:bodyPr wrap="none" rtlCol="0">
            <a:spAutoFit/>
          </a:bodyPr>
          <a:lstStyle/>
          <a:p>
            <a:r>
              <a:rPr lang="pt-BR" dirty="0"/>
              <a:t>g2</a:t>
            </a:r>
          </a:p>
        </p:txBody>
      </p:sp>
      <p:sp>
        <p:nvSpPr>
          <p:cNvPr id="37" name="CaixaDeTexto 36"/>
          <p:cNvSpPr txBox="1"/>
          <p:nvPr/>
        </p:nvSpPr>
        <p:spPr>
          <a:xfrm>
            <a:off x="6010170" y="5223147"/>
            <a:ext cx="410690" cy="369332"/>
          </a:xfrm>
          <a:prstGeom prst="rect">
            <a:avLst/>
          </a:prstGeom>
          <a:noFill/>
        </p:spPr>
        <p:txBody>
          <a:bodyPr wrap="none" rtlCol="0">
            <a:spAutoFit/>
          </a:bodyPr>
          <a:lstStyle/>
          <a:p>
            <a:r>
              <a:rPr lang="pt-BR" dirty="0"/>
              <a:t>g3</a:t>
            </a:r>
          </a:p>
        </p:txBody>
      </p:sp>
      <p:sp>
        <p:nvSpPr>
          <p:cNvPr id="38" name="CaixaDeTexto 37"/>
          <p:cNvSpPr txBox="1"/>
          <p:nvPr/>
        </p:nvSpPr>
        <p:spPr>
          <a:xfrm>
            <a:off x="6010170" y="5784640"/>
            <a:ext cx="410690" cy="369332"/>
          </a:xfrm>
          <a:prstGeom prst="rect">
            <a:avLst/>
          </a:prstGeom>
          <a:noFill/>
        </p:spPr>
        <p:txBody>
          <a:bodyPr wrap="none" rtlCol="0">
            <a:spAutoFit/>
          </a:bodyPr>
          <a:lstStyle/>
          <a:p>
            <a:r>
              <a:rPr lang="pt-BR" dirty="0"/>
              <a:t>g4</a:t>
            </a:r>
          </a:p>
        </p:txBody>
      </p:sp>
      <p:sp>
        <p:nvSpPr>
          <p:cNvPr id="39" name="CaixaDeTexto 38"/>
          <p:cNvSpPr txBox="1"/>
          <p:nvPr/>
        </p:nvSpPr>
        <p:spPr>
          <a:xfrm>
            <a:off x="7995837" y="3734445"/>
            <a:ext cx="381836" cy="369332"/>
          </a:xfrm>
          <a:prstGeom prst="rect">
            <a:avLst/>
          </a:prstGeom>
          <a:noFill/>
        </p:spPr>
        <p:txBody>
          <a:bodyPr wrap="none" rtlCol="0">
            <a:spAutoFit/>
          </a:bodyPr>
          <a:lstStyle/>
          <a:p>
            <a:r>
              <a:rPr lang="pt-BR" dirty="0"/>
              <a:t>r1</a:t>
            </a:r>
          </a:p>
        </p:txBody>
      </p:sp>
      <p:sp>
        <p:nvSpPr>
          <p:cNvPr id="40" name="CaixaDeTexto 39"/>
          <p:cNvSpPr txBox="1"/>
          <p:nvPr/>
        </p:nvSpPr>
        <p:spPr>
          <a:xfrm>
            <a:off x="7995837" y="4319801"/>
            <a:ext cx="381836" cy="369332"/>
          </a:xfrm>
          <a:prstGeom prst="rect">
            <a:avLst/>
          </a:prstGeom>
          <a:noFill/>
        </p:spPr>
        <p:txBody>
          <a:bodyPr wrap="none" rtlCol="0">
            <a:spAutoFit/>
          </a:bodyPr>
          <a:lstStyle/>
          <a:p>
            <a:r>
              <a:rPr lang="pt-BR" dirty="0"/>
              <a:t>r2</a:t>
            </a:r>
          </a:p>
        </p:txBody>
      </p:sp>
      <p:sp>
        <p:nvSpPr>
          <p:cNvPr id="41" name="CaixaDeTexto 40"/>
          <p:cNvSpPr txBox="1"/>
          <p:nvPr/>
        </p:nvSpPr>
        <p:spPr>
          <a:xfrm>
            <a:off x="7993847" y="4889812"/>
            <a:ext cx="381836" cy="369332"/>
          </a:xfrm>
          <a:prstGeom prst="rect">
            <a:avLst/>
          </a:prstGeom>
          <a:noFill/>
        </p:spPr>
        <p:txBody>
          <a:bodyPr wrap="none" rtlCol="0">
            <a:spAutoFit/>
          </a:bodyPr>
          <a:lstStyle/>
          <a:p>
            <a:r>
              <a:rPr lang="pt-BR" dirty="0"/>
              <a:t>r3</a:t>
            </a:r>
          </a:p>
        </p:txBody>
      </p:sp>
      <p:sp>
        <p:nvSpPr>
          <p:cNvPr id="42" name="CaixaDeTexto 41"/>
          <p:cNvSpPr txBox="1"/>
          <p:nvPr/>
        </p:nvSpPr>
        <p:spPr>
          <a:xfrm>
            <a:off x="7993847" y="5451305"/>
            <a:ext cx="381836" cy="369332"/>
          </a:xfrm>
          <a:prstGeom prst="rect">
            <a:avLst/>
          </a:prstGeom>
          <a:noFill/>
        </p:spPr>
        <p:txBody>
          <a:bodyPr wrap="none" rtlCol="0">
            <a:spAutoFit/>
          </a:bodyPr>
          <a:lstStyle/>
          <a:p>
            <a:r>
              <a:rPr lang="pt-BR" dirty="0"/>
              <a:t>r4</a:t>
            </a:r>
          </a:p>
        </p:txBody>
      </p:sp>
      <p:sp>
        <p:nvSpPr>
          <p:cNvPr id="43" name="CaixaDeTexto 42"/>
          <p:cNvSpPr txBox="1"/>
          <p:nvPr/>
        </p:nvSpPr>
        <p:spPr>
          <a:xfrm>
            <a:off x="7997693" y="6094260"/>
            <a:ext cx="381836" cy="369332"/>
          </a:xfrm>
          <a:prstGeom prst="rect">
            <a:avLst/>
          </a:prstGeom>
          <a:noFill/>
        </p:spPr>
        <p:txBody>
          <a:bodyPr wrap="none" rtlCol="0">
            <a:spAutoFit/>
          </a:bodyPr>
          <a:lstStyle/>
          <a:p>
            <a:r>
              <a:rPr lang="pt-BR" dirty="0"/>
              <a:t>r5</a:t>
            </a:r>
          </a:p>
        </p:txBody>
      </p:sp>
    </p:spTree>
    <p:extLst>
      <p:ext uri="{BB962C8B-B14F-4D97-AF65-F5344CB8AC3E}">
        <p14:creationId xmlns:p14="http://schemas.microsoft.com/office/powerpoint/2010/main" val="32140917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Tree>
    <p:extLst>
      <p:ext uri="{BB962C8B-B14F-4D97-AF65-F5344CB8AC3E}">
        <p14:creationId xmlns:p14="http://schemas.microsoft.com/office/powerpoint/2010/main" val="36568028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53091" y="5888022"/>
            <a:ext cx="1090298" cy="369332"/>
          </a:xfrm>
          <a:prstGeom prst="rect">
            <a:avLst/>
          </a:prstGeom>
          <a:noFill/>
        </p:spPr>
        <p:txBody>
          <a:bodyPr wrap="none" rtlCol="0">
            <a:spAutoFit/>
          </a:bodyPr>
          <a:lstStyle/>
          <a:p>
            <a:r>
              <a:rPr lang="pt-BR" dirty="0"/>
              <a:t>Para k = 1</a:t>
            </a:r>
          </a:p>
        </p:txBody>
      </p:sp>
    </p:spTree>
    <p:extLst>
      <p:ext uri="{BB962C8B-B14F-4D97-AF65-F5344CB8AC3E}">
        <p14:creationId xmlns:p14="http://schemas.microsoft.com/office/powerpoint/2010/main" val="34521011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53091" y="5888022"/>
            <a:ext cx="1090298" cy="369332"/>
          </a:xfrm>
          <a:prstGeom prst="rect">
            <a:avLst/>
          </a:prstGeom>
          <a:noFill/>
        </p:spPr>
        <p:txBody>
          <a:bodyPr wrap="none" rtlCol="0">
            <a:spAutoFit/>
          </a:bodyPr>
          <a:lstStyle/>
          <a:p>
            <a:r>
              <a:rPr lang="pt-BR" dirty="0"/>
              <a:t>Para k = 2</a:t>
            </a:r>
          </a:p>
        </p:txBody>
      </p:sp>
    </p:spTree>
    <p:extLst>
      <p:ext uri="{BB962C8B-B14F-4D97-AF65-F5344CB8AC3E}">
        <p14:creationId xmlns:p14="http://schemas.microsoft.com/office/powerpoint/2010/main" val="3836250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53091" y="5888022"/>
            <a:ext cx="1090298" cy="369332"/>
          </a:xfrm>
          <a:prstGeom prst="rect">
            <a:avLst/>
          </a:prstGeom>
          <a:noFill/>
        </p:spPr>
        <p:txBody>
          <a:bodyPr wrap="none" rtlCol="0">
            <a:spAutoFit/>
          </a:bodyPr>
          <a:lstStyle/>
          <a:p>
            <a:r>
              <a:rPr lang="pt-BR" dirty="0"/>
              <a:t>Para k = 3</a:t>
            </a:r>
          </a:p>
        </p:txBody>
      </p:sp>
    </p:spTree>
    <p:extLst>
      <p:ext uri="{BB962C8B-B14F-4D97-AF65-F5344CB8AC3E}">
        <p14:creationId xmlns:p14="http://schemas.microsoft.com/office/powerpoint/2010/main" val="7134453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10170" y="1700808"/>
            <a:ext cx="2882311" cy="1200329"/>
          </a:xfrm>
          <a:prstGeom prst="rect">
            <a:avLst/>
          </a:prstGeom>
          <a:noFill/>
        </p:spPr>
        <p:txBody>
          <a:bodyPr wrap="square" rtlCol="0">
            <a:spAutoFit/>
          </a:bodyPr>
          <a:lstStyle/>
          <a:p>
            <a:r>
              <a:rPr lang="pt-BR" dirty="0"/>
              <a:t>Neste exemplo, o número de garotas é sempre menor que o números de rapazes que elas conhecem </a:t>
            </a:r>
          </a:p>
        </p:txBody>
      </p:sp>
      <p:sp>
        <p:nvSpPr>
          <p:cNvPr id="32" name="CaixaDeTexto 31"/>
          <p:cNvSpPr txBox="1"/>
          <p:nvPr/>
        </p:nvSpPr>
        <p:spPr>
          <a:xfrm>
            <a:off x="6053091" y="5888022"/>
            <a:ext cx="1090298" cy="369332"/>
          </a:xfrm>
          <a:prstGeom prst="rect">
            <a:avLst/>
          </a:prstGeom>
          <a:noFill/>
        </p:spPr>
        <p:txBody>
          <a:bodyPr wrap="none" rtlCol="0">
            <a:spAutoFit/>
          </a:bodyPr>
          <a:lstStyle/>
          <a:p>
            <a:r>
              <a:rPr lang="pt-BR" dirty="0"/>
              <a:t>Para k = 4</a:t>
            </a:r>
          </a:p>
        </p:txBody>
      </p:sp>
    </p:spTree>
    <p:extLst>
      <p:ext uri="{BB962C8B-B14F-4D97-AF65-F5344CB8AC3E}">
        <p14:creationId xmlns:p14="http://schemas.microsoft.com/office/powerpoint/2010/main" val="30390920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Teorema de Hall:</a:t>
                </a:r>
              </a:p>
              <a:p>
                <a:pPr lvl="1"/>
                <a:r>
                  <a:rPr lang="pt-BR" dirty="0"/>
                  <a:t>Seja </a:t>
                </a:r>
                <a14:m>
                  <m:oMath xmlns:m="http://schemas.openxmlformats.org/officeDocument/2006/math">
                    <m:r>
                      <a:rPr lang="pt-BR" i="1" dirty="0">
                        <a:latin typeface="Cambria Math"/>
                      </a:rPr>
                      <m:t>𝐺</m:t>
                    </m:r>
                    <m:r>
                      <a:rPr lang="pt-BR" i="1" dirty="0">
                        <a:latin typeface="Cambria Math"/>
                      </a:rPr>
                      <m:t>=(</m:t>
                    </m:r>
                    <m:r>
                      <a:rPr lang="pt-BR" i="1" dirty="0">
                        <a:latin typeface="Cambria Math"/>
                      </a:rPr>
                      <m:t>𝑋</m:t>
                    </m:r>
                    <m:r>
                      <a:rPr lang="pt-BR" i="1" dirty="0">
                        <a:latin typeface="Cambria Math"/>
                        <a:ea typeface="Cambria Math"/>
                      </a:rPr>
                      <m:t>∪</m:t>
                    </m:r>
                    <m:r>
                      <a:rPr lang="pt-BR" i="1" dirty="0">
                        <a:latin typeface="Cambria Math"/>
                      </a:rPr>
                      <m:t>𝑌</m:t>
                    </m:r>
                    <m:r>
                      <a:rPr lang="pt-BR" i="1" dirty="0">
                        <a:latin typeface="Cambria Math"/>
                      </a:rPr>
                      <m:t>, </m:t>
                    </m:r>
                    <m:r>
                      <a:rPr lang="pt-BR" i="1" dirty="0">
                        <a:latin typeface="Cambria Math"/>
                      </a:rPr>
                      <m:t>𝐸</m:t>
                    </m:r>
                    <m:r>
                      <a:rPr lang="pt-BR" i="1" dirty="0">
                        <a:latin typeface="Cambria Math"/>
                      </a:rPr>
                      <m:t>) </m:t>
                    </m:r>
                  </m:oMath>
                </a14:m>
                <a:r>
                  <a:rPr lang="pt-BR" dirty="0"/>
                  <a:t>um grafo bipartido</a:t>
                </a:r>
              </a:p>
              <a:p>
                <a:pPr lvl="1"/>
                <a:r>
                  <a:rPr lang="pt-BR" dirty="0"/>
                  <a:t>Existe um </a:t>
                </a:r>
                <a:r>
                  <a:rPr lang="pt-BR" dirty="0" err="1"/>
                  <a:t>matching</a:t>
                </a:r>
                <a:r>
                  <a:rPr lang="pt-BR" dirty="0"/>
                  <a:t> completo de </a:t>
                </a:r>
                <a14:m>
                  <m:oMath xmlns:m="http://schemas.openxmlformats.org/officeDocument/2006/math">
                    <m:r>
                      <a:rPr lang="pt-BR" i="1" dirty="0" smtClean="0">
                        <a:latin typeface="Cambria Math" panose="02040503050406030204" pitchFamily="18" charset="0"/>
                      </a:rPr>
                      <m:t>𝑋</m:t>
                    </m:r>
                    <m:r>
                      <a:rPr lang="pt-BR" i="1" dirty="0" smtClean="0">
                        <a:latin typeface="Cambria Math" panose="02040503050406030204" pitchFamily="18" charset="0"/>
                      </a:rPr>
                      <m:t> </m:t>
                    </m:r>
                  </m:oMath>
                </a14:m>
                <a:r>
                  <a:rPr lang="pt-BR" dirty="0"/>
                  <a:t>para </a:t>
                </a:r>
                <a14:m>
                  <m:oMath xmlns:m="http://schemas.openxmlformats.org/officeDocument/2006/math">
                    <m:r>
                      <a:rPr lang="pt-BR" i="1" dirty="0" smtClean="0">
                        <a:latin typeface="Cambria Math" panose="02040503050406030204" pitchFamily="18" charset="0"/>
                      </a:rPr>
                      <m:t>𝑌</m:t>
                    </m:r>
                  </m:oMath>
                </a14:m>
                <a:r>
                  <a:rPr lang="pt-BR" dirty="0"/>
                  <a:t> se e somente se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Γ</m:t>
                    </m:r>
                    <m:d>
                      <m:dPr>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𝑆</m:t>
                        </m:r>
                      </m:e>
                    </m:d>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𝑆</m:t>
                    </m:r>
                    <m:r>
                      <a:rPr lang="pt-BR" b="0" i="1" smtClean="0">
                        <a:latin typeface="Cambria Math" panose="02040503050406030204" pitchFamily="18" charset="0"/>
                        <a:ea typeface="Cambria Math" panose="02040503050406030204" pitchFamily="18" charset="0"/>
                      </a:rPr>
                      <m:t>|</m:t>
                    </m:r>
                  </m:oMath>
                </a14:m>
                <a:r>
                  <a:rPr lang="pt-BR" dirty="0"/>
                  <a:t> para todo </a:t>
                </a:r>
                <a14:m>
                  <m:oMath xmlns:m="http://schemas.openxmlformats.org/officeDocument/2006/math">
                    <m:r>
                      <a:rPr lang="pt-BR" b="0" i="1" smtClean="0">
                        <a:latin typeface="Cambria Math" panose="02040503050406030204" pitchFamily="18" charset="0"/>
                      </a:rPr>
                      <m:t>𝑆</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𝑋</m:t>
                    </m:r>
                  </m:oMath>
                </a14:m>
                <a:r>
                  <a:rPr lang="pt-BR" dirty="0"/>
                  <a:t>.</a:t>
                </a:r>
              </a:p>
              <a:p>
                <a:pPr lvl="2"/>
                <a:r>
                  <a:rPr lang="pt-BR" dirty="0">
                    <a:ea typeface="Cambria Math" panose="02040503050406030204" pitchFamily="18" charset="0"/>
                  </a:rPr>
                  <a:t>Obs.: </a:t>
                </a:r>
                <a14:m>
                  <m:oMath xmlns:m="http://schemas.openxmlformats.org/officeDocument/2006/math">
                    <m:d>
                      <m:dPr>
                        <m:begChr m:val="|"/>
                        <m:endChr m:val="|"/>
                        <m:ctrlPr>
                          <a:rPr lang="pt-BR" i="1">
                            <a:latin typeface="Cambria Math" panose="02040503050406030204" pitchFamily="18" charset="0"/>
                            <a:ea typeface="Cambria Math" panose="02040503050406030204" pitchFamily="18" charset="0"/>
                          </a:rPr>
                        </m:ctrlPr>
                      </m:dPr>
                      <m:e>
                        <m:r>
                          <m:rPr>
                            <m:sty m:val="p"/>
                          </m:rPr>
                          <a:rPr lang="el-GR" i="1">
                            <a:latin typeface="Cambria Math" panose="02040503050406030204" pitchFamily="18" charset="0"/>
                            <a:ea typeface="Cambria Math" panose="02040503050406030204" pitchFamily="18" charset="0"/>
                          </a:rPr>
                          <m:t>Γ</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𝑆</m:t>
                            </m:r>
                          </m:e>
                        </m:d>
                      </m:e>
                    </m:d>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𝑎𝑑𝑗</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𝑆</m:t>
                    </m:r>
                    <m:r>
                      <a:rPr lang="pt-BR" b="0" i="1" smtClean="0">
                        <a:latin typeface="Cambria Math" panose="02040503050406030204" pitchFamily="18" charset="0"/>
                        <a:ea typeface="Cambria Math" panose="02040503050406030204" pitchFamily="18" charset="0"/>
                      </a:rPr>
                      <m:t>)</m:t>
                    </m:r>
                  </m:oMath>
                </a14:m>
                <a:r>
                  <a:rPr lang="pt-BR" dirty="0"/>
                  <a:t>. Ou seja, é a quantidade de vértices adjacentes aos vértices do conjunto S.</a:t>
                </a:r>
              </a:p>
              <a:p>
                <a:pPr marL="914400" lvl="2" indent="0">
                  <a:buNone/>
                </a:pPr>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704" t="-1752"/>
                </a:stretch>
              </a:blipFill>
            </p:spPr>
            <p:txBody>
              <a:bodyPr/>
              <a:lstStyle/>
              <a:p>
                <a:r>
                  <a:rPr lang="pt-BR">
                    <a:noFill/>
                  </a:rPr>
                  <a:t> </a:t>
                </a:r>
              </a:p>
            </p:txBody>
          </p:sp>
        </mc:Fallback>
      </mc:AlternateContent>
    </p:spTree>
    <p:extLst>
      <p:ext uri="{BB962C8B-B14F-4D97-AF65-F5344CB8AC3E}">
        <p14:creationId xmlns:p14="http://schemas.microsoft.com/office/powerpoint/2010/main" val="3818233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Emparelhamento máximo</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Considere que cada aresta </a:t>
                </a:r>
                <a14:m>
                  <m:oMath xmlns:m="http://schemas.openxmlformats.org/officeDocument/2006/math">
                    <m:r>
                      <a:rPr lang="pt-BR" sz="2800" i="1" dirty="0" smtClean="0">
                        <a:latin typeface="Cambria Math" panose="02040503050406030204" pitchFamily="18" charset="0"/>
                      </a:rPr>
                      <m:t>𝑒</m:t>
                    </m:r>
                  </m:oMath>
                </a14:m>
                <a:r>
                  <a:rPr lang="pt-BR" sz="2800" dirty="0"/>
                  <a:t> de </a:t>
                </a:r>
                <a14:m>
                  <m:oMath xmlns:m="http://schemas.openxmlformats.org/officeDocument/2006/math">
                    <m:r>
                      <a:rPr lang="pt-BR" sz="2800" i="1" dirty="0" smtClean="0">
                        <a:latin typeface="Cambria Math" panose="02040503050406030204" pitchFamily="18" charset="0"/>
                      </a:rPr>
                      <m:t>𝐺</m:t>
                    </m:r>
                  </m:oMath>
                </a14:m>
                <a:r>
                  <a:rPr lang="pt-BR" sz="2800" dirty="0"/>
                  <a:t> receba um peso associado </a:t>
                </a:r>
                <a14:m>
                  <m:oMath xmlns:m="http://schemas.openxmlformats.org/officeDocument/2006/math">
                    <m:sSub>
                      <m:sSubPr>
                        <m:ctrlPr>
                          <a:rPr lang="pt-BR" sz="2800" i="1" smtClean="0">
                            <a:latin typeface="Cambria Math" panose="02040503050406030204" pitchFamily="18" charset="0"/>
                          </a:rPr>
                        </m:ctrlPr>
                      </m:sSubPr>
                      <m:e>
                        <m:r>
                          <a:rPr lang="pt-BR" sz="2800" b="0" i="1" smtClean="0">
                            <a:latin typeface="Cambria Math" panose="02040503050406030204" pitchFamily="18" charset="0"/>
                          </a:rPr>
                          <m:t>𝑤</m:t>
                        </m:r>
                      </m:e>
                      <m:sub>
                        <m:r>
                          <a:rPr lang="pt-BR" sz="2800" b="0" i="1" smtClean="0">
                            <a:latin typeface="Cambria Math" panose="02040503050406030204" pitchFamily="18" charset="0"/>
                          </a:rPr>
                          <m:t>𝑒</m:t>
                        </m:r>
                      </m:sub>
                    </m:sSub>
                  </m:oMath>
                </a14:m>
                <a:endParaRPr lang="pt-BR" sz="2800" dirty="0"/>
              </a:p>
              <a:p>
                <a:r>
                  <a:rPr lang="pt-BR" sz="2800" dirty="0"/>
                  <a:t>O peso de um </a:t>
                </a:r>
                <a:r>
                  <a:rPr lang="pt-BR" sz="2800" dirty="0" err="1"/>
                  <a:t>matching</a:t>
                </a:r>
                <a:r>
                  <a:rPr lang="pt-BR" sz="2800" dirty="0"/>
                  <a:t> é dado pelo somatório do peso de suas arestas.</a:t>
                </a:r>
              </a:p>
              <a:p>
                <a:r>
                  <a:rPr lang="pt-BR" sz="2800" dirty="0"/>
                  <a:t>Um </a:t>
                </a:r>
                <a:r>
                  <a:rPr lang="pt-BR" sz="2800" dirty="0" err="1"/>
                  <a:t>matching</a:t>
                </a:r>
                <a:r>
                  <a:rPr lang="pt-BR" sz="2800" dirty="0"/>
                  <a:t> M é um </a:t>
                </a:r>
                <a:r>
                  <a:rPr lang="pt-BR" sz="2800" dirty="0" err="1"/>
                  <a:t>matching</a:t>
                </a:r>
                <a:r>
                  <a:rPr lang="pt-BR" sz="2800" dirty="0"/>
                  <a:t> de peso máximo se o somatório de seus pesos for o máximo em </a:t>
                </a:r>
                <a14:m>
                  <m:oMath xmlns:m="http://schemas.openxmlformats.org/officeDocument/2006/math">
                    <m:r>
                      <a:rPr lang="pt-BR" sz="2800" i="1" dirty="0" smtClean="0">
                        <a:latin typeface="Cambria Math" panose="02040503050406030204" pitchFamily="18" charset="0"/>
                      </a:rPr>
                      <m:t>𝐺</m:t>
                    </m:r>
                  </m:oMath>
                </a14:m>
                <a:r>
                  <a:rPr lang="pt-BR" sz="2800" dirty="0"/>
                  <a:t>. </a:t>
                </a:r>
              </a:p>
              <a:p>
                <a:r>
                  <a:rPr lang="pt-BR" sz="2800" dirty="0"/>
                  <a:t>Problema:  Encontrar um emparelhamento máximo num grafo não-dirigido. </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333" t="-1348" r="-2000"/>
                </a:stretch>
              </a:blipFill>
            </p:spPr>
            <p:txBody>
              <a:bodyPr/>
              <a:lstStyle/>
              <a:p>
                <a:r>
                  <a:rPr lang="pt-BR">
                    <a:noFill/>
                  </a:rPr>
                  <a:t> </a:t>
                </a:r>
              </a:p>
            </p:txBody>
          </p:sp>
        </mc:Fallback>
      </mc:AlternateContent>
    </p:spTree>
    <p:extLst>
      <p:ext uri="{BB962C8B-B14F-4D97-AF65-F5344CB8AC3E}">
        <p14:creationId xmlns:p14="http://schemas.microsoft.com/office/powerpoint/2010/main" val="23980756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Considere que há </a:t>
                </a:r>
                <a14:m>
                  <m:oMath xmlns:m="http://schemas.openxmlformats.org/officeDocument/2006/math">
                    <m:r>
                      <a:rPr lang="pt-BR" sz="2400" i="1" dirty="0" smtClean="0">
                        <a:latin typeface="Cambria Math" panose="02040503050406030204" pitchFamily="18" charset="0"/>
                      </a:rPr>
                      <m:t>𝑛</m:t>
                    </m:r>
                  </m:oMath>
                </a14:m>
                <a:r>
                  <a:rPr lang="pt-BR" sz="2400" dirty="0"/>
                  <a:t> funcionários (conjunto C) que deverão ser escolhidos para executarem </a:t>
                </a:r>
                <a14:m>
                  <m:oMath xmlns:m="http://schemas.openxmlformats.org/officeDocument/2006/math">
                    <m:r>
                      <a:rPr lang="pt-BR" sz="2400" i="1" dirty="0" smtClean="0">
                        <a:latin typeface="Cambria Math" panose="02040503050406030204" pitchFamily="18" charset="0"/>
                      </a:rPr>
                      <m:t>𝑛</m:t>
                    </m:r>
                  </m:oMath>
                </a14:m>
                <a:r>
                  <a:rPr lang="pt-BR" sz="2400" dirty="0"/>
                  <a:t> tarefas (conjunto T).</a:t>
                </a:r>
              </a:p>
              <a:p>
                <a14:m>
                  <m:oMath xmlns:m="http://schemas.openxmlformats.org/officeDocument/2006/math">
                    <m:sSub>
                      <m:sSubPr>
                        <m:ctrlPr>
                          <a:rPr lang="pt-BR" sz="2400" i="1" smtClean="0">
                            <a:latin typeface="Cambria Math" panose="02040503050406030204" pitchFamily="18" charset="0"/>
                          </a:rPr>
                        </m:ctrlPr>
                      </m:sSubPr>
                      <m:e>
                        <m:r>
                          <a:rPr lang="pt-BR" sz="2400" b="0" i="1" smtClean="0">
                            <a:latin typeface="Cambria Math" panose="02040503050406030204" pitchFamily="18" charset="0"/>
                          </a:rPr>
                          <m:t>𝑤</m:t>
                        </m:r>
                      </m:e>
                      <m:sub>
                        <m:r>
                          <a:rPr lang="pt-BR" sz="2400" b="0" i="1" smtClean="0">
                            <a:latin typeface="Cambria Math" panose="02040503050406030204" pitchFamily="18" charset="0"/>
                          </a:rPr>
                          <m:t>𝑖𝑗</m:t>
                        </m:r>
                      </m:sub>
                    </m:sSub>
                  </m:oMath>
                </a14:m>
                <a:r>
                  <a:rPr lang="pt-BR" sz="2400" dirty="0"/>
                  <a:t> = capacidade do funcionário </a:t>
                </a:r>
                <a14:m>
                  <m:oMath xmlns:m="http://schemas.openxmlformats.org/officeDocument/2006/math">
                    <m:r>
                      <a:rPr lang="pt-BR" sz="2400" i="1" dirty="0" smtClean="0">
                        <a:latin typeface="Cambria Math" panose="02040503050406030204" pitchFamily="18" charset="0"/>
                      </a:rPr>
                      <m:t>𝑖</m:t>
                    </m:r>
                  </m:oMath>
                </a14:m>
                <a:r>
                  <a:rPr lang="pt-BR" sz="2400" dirty="0"/>
                  <a:t> executar a tarefa</a:t>
                </a:r>
                <a14:m>
                  <m:oMath xmlns:m="http://schemas.openxmlformats.org/officeDocument/2006/math">
                    <m:r>
                      <a:rPr lang="pt-BR" sz="2400" i="1" dirty="0" smtClean="0">
                        <a:latin typeface="Cambria Math" panose="02040503050406030204" pitchFamily="18" charset="0"/>
                      </a:rPr>
                      <m:t> </m:t>
                    </m:r>
                    <m:r>
                      <a:rPr lang="pt-BR" sz="2400" i="1" dirty="0" smtClean="0">
                        <a:latin typeface="Cambria Math" panose="02040503050406030204" pitchFamily="18" charset="0"/>
                      </a:rPr>
                      <m:t>𝑗</m:t>
                    </m:r>
                  </m:oMath>
                </a14:m>
                <a:r>
                  <a:rPr lang="pt-BR" sz="2400" dirty="0"/>
                  <a:t>.</a:t>
                </a:r>
              </a:p>
              <a:p>
                <a:r>
                  <a:rPr lang="pt-BR" sz="2400" dirty="0"/>
                  <a:t>Determinar quais funcionários deverão ser escalados para cada tarefa de modo a obtermos a maior soma das capacidades possível</a:t>
                </a:r>
              </a:p>
              <a:p>
                <a:r>
                  <a:rPr lang="pt-BR" sz="2400" dirty="0"/>
                  <a:t>Grafo: </a:t>
                </a:r>
              </a:p>
              <a:p>
                <a:pPr lvl="1"/>
                <a:r>
                  <a:rPr lang="pt-BR" sz="2000" dirty="0"/>
                  <a:t>Vértices = </a:t>
                </a:r>
                <a14:m>
                  <m:oMath xmlns:m="http://schemas.openxmlformats.org/officeDocument/2006/math">
                    <m:r>
                      <a:rPr lang="pt-BR" sz="2000" b="0" i="1" smtClean="0">
                        <a:latin typeface="Cambria Math" panose="02040503050406030204" pitchFamily="18" charset="0"/>
                      </a:rPr>
                      <m:t>𝐶</m:t>
                    </m:r>
                    <m:r>
                      <a:rPr lang="pt-BR" sz="2000" b="0" i="1" smtClean="0">
                        <a:latin typeface="Cambria Math" panose="02040503050406030204" pitchFamily="18" charset="0"/>
                        <a:ea typeface="Cambria Math" panose="02040503050406030204" pitchFamily="18" charset="0"/>
                      </a:rPr>
                      <m:t>∪</m:t>
                    </m:r>
                    <m:r>
                      <a:rPr lang="pt-BR" sz="2000" b="0" i="1" smtClean="0">
                        <a:latin typeface="Cambria Math" panose="02040503050406030204" pitchFamily="18" charset="0"/>
                        <a:ea typeface="Cambria Math" panose="02040503050406030204" pitchFamily="18" charset="0"/>
                      </a:rPr>
                      <m:t>𝑇</m:t>
                    </m:r>
                  </m:oMath>
                </a14:m>
                <a:endParaRPr lang="pt-BR" sz="2000" dirty="0"/>
              </a:p>
              <a:p>
                <a:pPr lvl="1"/>
                <a:r>
                  <a:rPr lang="pt-BR" sz="2000" dirty="0"/>
                  <a:t>Arestas = </a:t>
                </a:r>
                <a14:m>
                  <m:oMath xmlns:m="http://schemas.openxmlformats.org/officeDocument/2006/math">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𝑐</m:t>
                        </m:r>
                        <m:r>
                          <a:rPr lang="pt-BR" sz="2000" b="0" i="1" smtClean="0">
                            <a:latin typeface="Cambria Math" panose="02040503050406030204" pitchFamily="18" charset="0"/>
                          </a:rPr>
                          <m:t>, </m:t>
                        </m:r>
                        <m:r>
                          <a:rPr lang="pt-BR" sz="2000" b="0" i="1" smtClean="0">
                            <a:latin typeface="Cambria Math" panose="02040503050406030204" pitchFamily="18" charset="0"/>
                          </a:rPr>
                          <m:t>𝑡</m:t>
                        </m:r>
                      </m:e>
                    </m:d>
                    <m:r>
                      <a:rPr lang="pt-BR" sz="2000" b="0" i="1" smtClean="0">
                        <a:latin typeface="Cambria Math" panose="02040503050406030204" pitchFamily="18" charset="0"/>
                      </a:rPr>
                      <m:t>, </m:t>
                    </m:r>
                    <m:r>
                      <a:rPr lang="pt-BR" sz="2000" b="0" i="1" smtClean="0">
                        <a:latin typeface="Cambria Math" panose="02040503050406030204" pitchFamily="18" charset="0"/>
                      </a:rPr>
                      <m:t>𝑐</m:t>
                    </m:r>
                    <m:r>
                      <a:rPr lang="pt-BR" sz="2000" b="0" i="1" smtClean="0">
                        <a:latin typeface="Cambria Math" panose="02040503050406030204" pitchFamily="18" charset="0"/>
                        <a:ea typeface="Cambria Math" panose="02040503050406030204" pitchFamily="18" charset="0"/>
                      </a:rPr>
                      <m:t>∈</m:t>
                    </m:r>
                    <m:r>
                      <a:rPr lang="pt-BR" sz="2000" b="0" i="1" smtClean="0">
                        <a:latin typeface="Cambria Math" panose="02040503050406030204" pitchFamily="18" charset="0"/>
                        <a:ea typeface="Cambria Math" panose="02040503050406030204" pitchFamily="18" charset="0"/>
                      </a:rPr>
                      <m:t>𝐶</m:t>
                    </m:r>
                    <m:r>
                      <a:rPr lang="pt-BR" sz="2000" b="0" i="1" smtClean="0">
                        <a:latin typeface="Cambria Math" panose="02040503050406030204" pitchFamily="18" charset="0"/>
                        <a:ea typeface="Cambria Math" panose="02040503050406030204" pitchFamily="18" charset="0"/>
                      </a:rPr>
                      <m:t>, </m:t>
                    </m:r>
                    <m:r>
                      <a:rPr lang="pt-BR" sz="2000" b="0" i="1" smtClean="0">
                        <a:latin typeface="Cambria Math" panose="02040503050406030204" pitchFamily="18" charset="0"/>
                        <a:ea typeface="Cambria Math" panose="02040503050406030204" pitchFamily="18" charset="0"/>
                      </a:rPr>
                      <m:t>𝑡</m:t>
                    </m:r>
                    <m:r>
                      <a:rPr lang="pt-BR" sz="2000" i="1">
                        <a:latin typeface="Cambria Math" panose="02040503050406030204" pitchFamily="18" charset="0"/>
                        <a:ea typeface="Cambria Math" panose="02040503050406030204" pitchFamily="18" charset="0"/>
                      </a:rPr>
                      <m:t>∈</m:t>
                    </m:r>
                    <m:r>
                      <a:rPr lang="pt-BR" sz="2000" b="0" i="1" smtClean="0">
                        <a:latin typeface="Cambria Math" panose="02040503050406030204" pitchFamily="18" charset="0"/>
                        <a:ea typeface="Cambria Math" panose="02040503050406030204" pitchFamily="18" charset="0"/>
                      </a:rPr>
                      <m:t>𝑇</m:t>
                    </m:r>
                  </m:oMath>
                </a14:m>
                <a:r>
                  <a:rPr lang="pt-BR" sz="2000" dirty="0"/>
                  <a:t>, com peso </a:t>
                </a:r>
                <a14:m>
                  <m:oMath xmlns:m="http://schemas.openxmlformats.org/officeDocument/2006/math">
                    <m:sSub>
                      <m:sSubPr>
                        <m:ctrlPr>
                          <a:rPr lang="pt-BR" sz="2000" i="1" smtClean="0">
                            <a:latin typeface="Cambria Math" panose="02040503050406030204" pitchFamily="18" charset="0"/>
                          </a:rPr>
                        </m:ctrlPr>
                      </m:sSubPr>
                      <m:e>
                        <m:r>
                          <a:rPr lang="pt-BR" sz="2000" b="0" i="1" smtClean="0">
                            <a:latin typeface="Cambria Math" panose="02040503050406030204" pitchFamily="18" charset="0"/>
                          </a:rPr>
                          <m:t>𝑤</m:t>
                        </m:r>
                      </m:e>
                      <m:sub>
                        <m:r>
                          <a:rPr lang="pt-BR" sz="2000" b="0" i="1" smtClean="0">
                            <a:latin typeface="Cambria Math" panose="02040503050406030204" pitchFamily="18" charset="0"/>
                          </a:rPr>
                          <m:t>𝑐𝑡</m:t>
                        </m:r>
                      </m:sub>
                    </m:sSub>
                  </m:oMath>
                </a14:m>
                <a:endParaRPr lang="pt-BR" sz="2000" dirty="0"/>
              </a:p>
              <a:p>
                <a:r>
                  <a:rPr lang="pt-BR" sz="2400" dirty="0"/>
                  <a:t>Solução: encontrar o </a:t>
                </a:r>
                <a:r>
                  <a:rPr lang="pt-BR" sz="2400" dirty="0" err="1"/>
                  <a:t>matching</a:t>
                </a:r>
                <a:r>
                  <a:rPr lang="pt-BR" sz="2400" dirty="0"/>
                  <a:t> de peso máximo.</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a:blip r:embed="rId2"/>
                <a:stretch>
                  <a:fillRect l="-963" t="-1078" r="-1259"/>
                </a:stretch>
              </a:blipFill>
            </p:spPr>
            <p:txBody>
              <a:bodyPr/>
              <a:lstStyle/>
              <a:p>
                <a:r>
                  <a:rPr lang="pt-BR">
                    <a:noFill/>
                  </a:rPr>
                  <a:t> </a:t>
                </a:r>
              </a:p>
            </p:txBody>
          </p:sp>
        </mc:Fallback>
      </mc:AlternateContent>
    </p:spTree>
    <p:extLst>
      <p:ext uri="{BB962C8B-B14F-4D97-AF65-F5344CB8AC3E}">
        <p14:creationId xmlns:p14="http://schemas.microsoft.com/office/powerpoint/2010/main" val="39177803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p:txBody>
          <a:bodyPr>
            <a:noAutofit/>
          </a:bodyPr>
          <a:lstStyle/>
          <a:p>
            <a:r>
              <a:rPr lang="pt-BR" sz="2400" dirty="0"/>
              <a:t>Como vimos, um </a:t>
            </a:r>
            <a:r>
              <a:rPr lang="pt-BR" sz="2400" dirty="0" err="1"/>
              <a:t>matching</a:t>
            </a:r>
            <a:r>
              <a:rPr lang="pt-BR" sz="2400" dirty="0"/>
              <a:t> M é máximo se |M| for máximo em G.</a:t>
            </a:r>
          </a:p>
          <a:p>
            <a:r>
              <a:rPr lang="pt-BR" sz="2400" dirty="0"/>
              <a:t>Dado um </a:t>
            </a:r>
            <a:r>
              <a:rPr lang="pt-BR" sz="2400" dirty="0" err="1"/>
              <a:t>matching</a:t>
            </a:r>
            <a:r>
              <a:rPr lang="pt-BR" sz="2400" dirty="0"/>
              <a:t> M em G, a solução baseia-se em encontrar um </a:t>
            </a:r>
            <a:r>
              <a:rPr lang="pt-BR" sz="2400" dirty="0" err="1"/>
              <a:t>matching</a:t>
            </a:r>
            <a:r>
              <a:rPr lang="pt-BR" sz="2400" dirty="0"/>
              <a:t> máximo através de uma sequência de </a:t>
            </a:r>
            <a:r>
              <a:rPr lang="pt-BR" sz="2400" b="1" dirty="0"/>
              <a:t>caminhos de aumento</a:t>
            </a:r>
            <a:r>
              <a:rPr lang="pt-BR" sz="2400" dirty="0"/>
              <a:t>.</a:t>
            </a:r>
          </a:p>
          <a:p>
            <a:r>
              <a:rPr lang="pt-BR" sz="2400" dirty="0"/>
              <a:t>Assim, um </a:t>
            </a:r>
            <a:r>
              <a:rPr lang="pt-BR" sz="2400" b="1" dirty="0"/>
              <a:t>caminho alternado</a:t>
            </a:r>
            <a:r>
              <a:rPr lang="pt-BR" sz="2400" dirty="0"/>
              <a:t> intercala arestas livres e arestas associadas (ao </a:t>
            </a:r>
            <a:r>
              <a:rPr lang="pt-BR" sz="2400" dirty="0" err="1"/>
              <a:t>mathcing</a:t>
            </a:r>
            <a:r>
              <a:rPr lang="pt-BR" sz="2400" dirty="0"/>
              <a:t>).</a:t>
            </a:r>
          </a:p>
          <a:p>
            <a:r>
              <a:rPr lang="pt-BR" sz="2400" dirty="0"/>
              <a:t>Um caminho de aumento então é um caminho alternado que inicia e termina em vértices livres.</a:t>
            </a:r>
          </a:p>
          <a:p>
            <a:r>
              <a:rPr lang="pt-BR" sz="2400" dirty="0"/>
              <a:t>Um </a:t>
            </a:r>
            <a:r>
              <a:rPr lang="pt-BR" sz="2400" dirty="0" err="1"/>
              <a:t>matching</a:t>
            </a:r>
            <a:r>
              <a:rPr lang="pt-BR" sz="2400" dirty="0"/>
              <a:t> é máximo se não possuir caminhos de aumento.</a:t>
            </a:r>
          </a:p>
        </p:txBody>
      </p:sp>
    </p:spTree>
    <p:extLst>
      <p:ext uri="{BB962C8B-B14F-4D97-AF65-F5344CB8AC3E}">
        <p14:creationId xmlns:p14="http://schemas.microsoft.com/office/powerpoint/2010/main" val="13895007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8229600" cy="4493095"/>
              </a:xfrm>
            </p:spPr>
            <p:txBody>
              <a:bodyPr>
                <a:noAutofit/>
              </a:bodyPr>
              <a:lstStyle/>
              <a:p>
                <a:r>
                  <a:rPr lang="pt-BR" sz="2800" dirty="0"/>
                  <a:t>Sejam </a:t>
                </a:r>
                <a14:m>
                  <m:oMath xmlns:m="http://schemas.openxmlformats.org/officeDocument/2006/math">
                    <m:r>
                      <a:rPr lang="pt-BR" sz="2800" i="1" dirty="0" smtClean="0">
                        <a:latin typeface="Cambria Math" panose="02040503050406030204" pitchFamily="18" charset="0"/>
                      </a:rPr>
                      <m:t>𝑢</m:t>
                    </m:r>
                  </m:oMath>
                </a14:m>
                <a:r>
                  <a:rPr lang="pt-BR" sz="2800" dirty="0"/>
                  <a:t> e </a:t>
                </a:r>
                <a14:m>
                  <m:oMath xmlns:m="http://schemas.openxmlformats.org/officeDocument/2006/math">
                    <m:r>
                      <a:rPr lang="pt-BR" sz="2800" i="1" dirty="0" smtClean="0">
                        <a:latin typeface="Cambria Math" panose="02040503050406030204" pitchFamily="18" charset="0"/>
                      </a:rPr>
                      <m:t>𝑣</m:t>
                    </m:r>
                  </m:oMath>
                </a14:m>
                <a:r>
                  <a:rPr lang="pt-BR" sz="2800" dirty="0"/>
                  <a:t> dois vértices livres, queremos encontrar um caminho que vai de </a:t>
                </a:r>
                <a14:m>
                  <m:oMath xmlns:m="http://schemas.openxmlformats.org/officeDocument/2006/math">
                    <m:r>
                      <a:rPr lang="pt-BR" sz="2800" i="1" dirty="0" smtClean="0">
                        <a:latin typeface="Cambria Math" panose="02040503050406030204" pitchFamily="18" charset="0"/>
                      </a:rPr>
                      <m:t>𝑢</m:t>
                    </m:r>
                  </m:oMath>
                </a14:m>
                <a:r>
                  <a:rPr lang="pt-BR" sz="2800" dirty="0"/>
                  <a:t> até </a:t>
                </a:r>
                <a14:m>
                  <m:oMath xmlns:m="http://schemas.openxmlformats.org/officeDocument/2006/math">
                    <m:r>
                      <a:rPr lang="pt-BR" sz="2800" i="1" dirty="0" smtClean="0">
                        <a:latin typeface="Cambria Math" panose="02040503050406030204" pitchFamily="18" charset="0"/>
                      </a:rPr>
                      <m:t>𝑣</m:t>
                    </m:r>
                  </m:oMath>
                </a14:m>
                <a:r>
                  <a:rPr lang="pt-BR" sz="2800" dirty="0"/>
                  <a:t> alternando aresta de M com arestas que não pertencem a M.</a:t>
                </a:r>
              </a:p>
              <a:p>
                <a:r>
                  <a:rPr lang="pt-BR" sz="2800" dirty="0"/>
                  <a:t>Ao final, se retirarmos deste caminho as arestas de M, obtemos um novo </a:t>
                </a:r>
                <a:r>
                  <a:rPr lang="pt-BR" sz="2800" dirty="0" err="1"/>
                  <a:t>matching</a:t>
                </a:r>
                <a:r>
                  <a:rPr lang="pt-BR" sz="2800" dirty="0"/>
                  <a:t> M’ com tamanho |M| + 1.</a:t>
                </a:r>
              </a:p>
              <a:p>
                <a:r>
                  <a:rPr lang="pt-BR" sz="2800" dirty="0"/>
                  <a:t>Podemos tentar até encontrar um </a:t>
                </a:r>
                <a:r>
                  <a:rPr lang="pt-BR" sz="2800" dirty="0" err="1"/>
                  <a:t>matching</a:t>
                </a:r>
                <a:r>
                  <a:rPr lang="pt-BR" sz="2800" dirty="0"/>
                  <a:t> que seja o </a:t>
                </a:r>
                <a:r>
                  <a:rPr lang="pt-BR" sz="2800" dirty="0" err="1"/>
                  <a:t>matching</a:t>
                </a:r>
                <a:r>
                  <a:rPr lang="pt-BR" sz="2800" dirty="0"/>
                  <a:t> máximo.</a:t>
                </a:r>
              </a:p>
              <a:p>
                <a:endParaRPr lang="pt-BR" sz="2800" dirty="0"/>
              </a:p>
              <a:p>
                <a:endParaRPr lang="pt-BR" sz="2800" dirty="0"/>
              </a:p>
              <a:p>
                <a:endParaRPr lang="pt-BR" sz="28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8229600" cy="4493095"/>
              </a:xfrm>
              <a:blipFill rotWithShape="0">
                <a:blip r:embed="rId2"/>
                <a:stretch>
                  <a:fillRect l="-1333" t="-1357" r="-1111"/>
                </a:stretch>
              </a:blipFill>
            </p:spPr>
            <p:txBody>
              <a:bodyPr/>
              <a:lstStyle/>
              <a:p>
                <a:r>
                  <a:rPr lang="pt-BR">
                    <a:noFill/>
                  </a:rPr>
                  <a:t> </a:t>
                </a:r>
              </a:p>
            </p:txBody>
          </p:sp>
        </mc:Fallback>
      </mc:AlternateContent>
    </p:spTree>
    <p:extLst>
      <p:ext uri="{BB962C8B-B14F-4D97-AF65-F5344CB8AC3E}">
        <p14:creationId xmlns:p14="http://schemas.microsoft.com/office/powerpoint/2010/main" val="1991910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0527826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18930914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7857801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p:nvPr/>
        </p:nvCxnSpPr>
        <p:spPr>
          <a:xfrm flipH="1">
            <a:off x="6228184" y="4369265"/>
            <a:ext cx="792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7236296" y="3740839"/>
            <a:ext cx="1728192" cy="1200329"/>
          </a:xfrm>
          <a:prstGeom prst="rect">
            <a:avLst/>
          </a:prstGeom>
          <a:noFill/>
        </p:spPr>
        <p:txBody>
          <a:bodyPr wrap="square" rtlCol="0">
            <a:spAutoFit/>
          </a:bodyPr>
          <a:lstStyle/>
          <a:p>
            <a:r>
              <a:rPr lang="pt-BR" dirty="0"/>
              <a:t>Agora retiramos as arestas de M do caminho de aumento</a:t>
            </a:r>
          </a:p>
        </p:txBody>
      </p:sp>
      <p:sp>
        <p:nvSpPr>
          <p:cNvPr id="31" name="CaixaDeTexto 30"/>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7798785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Temos agora um novo </a:t>
            </a:r>
            <a:r>
              <a:rPr lang="pt-BR" dirty="0" err="1"/>
              <a:t>matching</a:t>
            </a:r>
            <a:r>
              <a:rPr lang="pt-BR" dirty="0"/>
              <a:t> com 3 arestas (ou seja, M’ = |M|+1).</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4909943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Podemos assim, obter outros caminhos de aumento, por exemplo (c5, t2, c1, t3)</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4550922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Podemos assim, obter outros caminhos de aumento, por exemplo (c5, t2, c1, t3)</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3872455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Podemos assim, obter outros caminhos de aumento, por exemplo (c5, t2, c1, t3)</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p:nvPr/>
        </p:nvCxnSpPr>
        <p:spPr>
          <a:xfrm flipH="1">
            <a:off x="6228184" y="4369265"/>
            <a:ext cx="792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7236296" y="3740839"/>
            <a:ext cx="1728192" cy="1477328"/>
          </a:xfrm>
          <a:prstGeom prst="rect">
            <a:avLst/>
          </a:prstGeom>
          <a:noFill/>
        </p:spPr>
        <p:txBody>
          <a:bodyPr wrap="square" rtlCol="0">
            <a:spAutoFit/>
          </a:bodyPr>
          <a:lstStyle/>
          <a:p>
            <a:r>
              <a:rPr lang="pt-BR" dirty="0"/>
              <a:t>Veja agora que somente (t2, c1) de M está no caminho de aumento</a:t>
            </a:r>
          </a:p>
        </p:txBody>
      </p:sp>
      <p:sp>
        <p:nvSpPr>
          <p:cNvPr id="33" name="CaixaDeTexto 32"/>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36546783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Repita até a obtenção de um </a:t>
            </a:r>
            <a:r>
              <a:rPr lang="pt-BR" dirty="0" err="1"/>
              <a:t>matching</a:t>
            </a:r>
            <a:r>
              <a:rPr lang="pt-BR" dirty="0"/>
              <a:t> máximo. </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aixaDeTexto 3"/>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18382562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Um algoritmo guloso encontra o </a:t>
            </a:r>
            <a:r>
              <a:rPr lang="pt-BR" dirty="0" err="1"/>
              <a:t>matching</a:t>
            </a:r>
            <a:r>
              <a:rPr lang="pt-BR" dirty="0"/>
              <a:t> maximal, não o máximo.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9734747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Como obter o </a:t>
            </a:r>
            <a:r>
              <a:rPr lang="pt-BR" sz="2400" dirty="0" err="1"/>
              <a:t>matching</a:t>
            </a:r>
            <a:r>
              <a:rPr lang="pt-BR" sz="2400" dirty="0"/>
              <a:t> máximo? </a:t>
            </a:r>
          </a:p>
          <a:p>
            <a:pPr lvl="1"/>
            <a:r>
              <a:rPr lang="pt-BR" sz="2000" dirty="0"/>
              <a:t>R: A partir da instância do problema do </a:t>
            </a:r>
            <a:r>
              <a:rPr lang="pt-BR" sz="2000" dirty="0" err="1"/>
              <a:t>Matching</a:t>
            </a:r>
            <a:r>
              <a:rPr lang="pt-BR" sz="2000" dirty="0"/>
              <a:t> Máximo, crie uma instância do problema do Fluxo Máximo e resolva com o algoritmo de Ford e </a:t>
            </a:r>
            <a:r>
              <a:rPr lang="pt-BR" sz="2000" dirty="0" err="1"/>
              <a:t>Fulkerson</a:t>
            </a:r>
            <a:r>
              <a:rPr lang="pt-BR" sz="2000" dirty="0"/>
              <a:t>. </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1404951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Obtendo uma instância do problema do Fluxo Máximo:</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36105818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Obtendo uma instância do problema do Fluxo Máximo:</a:t>
            </a:r>
          </a:p>
          <a:p>
            <a:pPr lvl="1"/>
            <a:r>
              <a:rPr lang="pt-BR" sz="2000" dirty="0"/>
              <a:t>Arestas direcionadas de C para T</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458611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Obtendo uma instância do problema do Fluxo Máximo:</a:t>
            </a:r>
          </a:p>
          <a:p>
            <a:pPr lvl="1"/>
            <a:r>
              <a:rPr lang="pt-BR" sz="2000" dirty="0"/>
              <a:t>Adicione vértices de origem s e terminal t</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
        <p:nvSpPr>
          <p:cNvPr id="31" name="Elipse 30"/>
          <p:cNvSpPr/>
          <p:nvPr/>
        </p:nvSpPr>
        <p:spPr>
          <a:xfrm>
            <a:off x="1372816"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s</a:t>
            </a:r>
          </a:p>
        </p:txBody>
      </p:sp>
      <p:sp>
        <p:nvSpPr>
          <p:cNvPr id="33" name="Elipse 32"/>
          <p:cNvSpPr/>
          <p:nvPr/>
        </p:nvSpPr>
        <p:spPr>
          <a:xfrm>
            <a:off x="7078660"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a:t>
            </a:r>
          </a:p>
        </p:txBody>
      </p:sp>
      <p:cxnSp>
        <p:nvCxnSpPr>
          <p:cNvPr id="35" name="Conector reto 34"/>
          <p:cNvCxnSpPr>
            <a:stCxn id="31" idx="0"/>
            <a:endCxn id="5" idx="2"/>
          </p:cNvCxnSpPr>
          <p:nvPr/>
        </p:nvCxnSpPr>
        <p:spPr>
          <a:xfrm flipV="1">
            <a:off x="1644507" y="3059975"/>
            <a:ext cx="1420933" cy="1100183"/>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31" idx="7"/>
            <a:endCxn id="7" idx="2"/>
          </p:cNvCxnSpPr>
          <p:nvPr/>
        </p:nvCxnSpPr>
        <p:spPr>
          <a:xfrm flipV="1">
            <a:off x="1836621" y="3715553"/>
            <a:ext cx="1228818" cy="504698"/>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31" idx="6"/>
            <a:endCxn id="6" idx="2"/>
          </p:cNvCxnSpPr>
          <p:nvPr/>
        </p:nvCxnSpPr>
        <p:spPr>
          <a:xfrm>
            <a:off x="1916197" y="4365330"/>
            <a:ext cx="1149242" cy="5802"/>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Conector reto 39"/>
          <p:cNvCxnSpPr>
            <a:stCxn id="31" idx="5"/>
            <a:endCxn id="13" idx="2"/>
          </p:cNvCxnSpPr>
          <p:nvPr/>
        </p:nvCxnSpPr>
        <p:spPr>
          <a:xfrm>
            <a:off x="1836621" y="4510409"/>
            <a:ext cx="1223212" cy="487445"/>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31" idx="4"/>
            <a:endCxn id="17" idx="2"/>
          </p:cNvCxnSpPr>
          <p:nvPr/>
        </p:nvCxnSpPr>
        <p:spPr>
          <a:xfrm>
            <a:off x="1644507" y="4570502"/>
            <a:ext cx="1415325" cy="1064820"/>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26" idx="6"/>
            <a:endCxn id="33" idx="0"/>
          </p:cNvCxnSpPr>
          <p:nvPr/>
        </p:nvCxnSpPr>
        <p:spPr>
          <a:xfrm>
            <a:off x="5850432" y="3058108"/>
            <a:ext cx="1499919" cy="1102050"/>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28" idx="6"/>
            <a:endCxn id="33" idx="1"/>
          </p:cNvCxnSpPr>
          <p:nvPr/>
        </p:nvCxnSpPr>
        <p:spPr>
          <a:xfrm>
            <a:off x="5850431" y="3713686"/>
            <a:ext cx="1307805" cy="506565"/>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27" idx="6"/>
            <a:endCxn id="33" idx="2"/>
          </p:cNvCxnSpPr>
          <p:nvPr/>
        </p:nvCxnSpPr>
        <p:spPr>
          <a:xfrm flipV="1">
            <a:off x="5850431" y="4365330"/>
            <a:ext cx="1228229" cy="3935"/>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29" idx="6"/>
            <a:endCxn id="33" idx="3"/>
          </p:cNvCxnSpPr>
          <p:nvPr/>
        </p:nvCxnSpPr>
        <p:spPr>
          <a:xfrm flipV="1">
            <a:off x="5844825" y="4510409"/>
            <a:ext cx="1313411" cy="485578"/>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Conector reto 49"/>
          <p:cNvCxnSpPr>
            <a:stCxn id="30" idx="6"/>
            <a:endCxn id="33" idx="4"/>
          </p:cNvCxnSpPr>
          <p:nvPr/>
        </p:nvCxnSpPr>
        <p:spPr>
          <a:xfrm flipV="1">
            <a:off x="5844824" y="4570502"/>
            <a:ext cx="1505527" cy="1062953"/>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4531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Obtendo uma instância do problema do Fluxo Máximo:</a:t>
            </a:r>
          </a:p>
          <a:p>
            <a:pPr lvl="1"/>
            <a:r>
              <a:rPr lang="pt-BR" sz="2000" dirty="0"/>
              <a:t>Marque todas as arestas com peso 1</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
        <p:nvSpPr>
          <p:cNvPr id="31" name="Elipse 30"/>
          <p:cNvSpPr/>
          <p:nvPr/>
        </p:nvSpPr>
        <p:spPr>
          <a:xfrm>
            <a:off x="1372816"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s</a:t>
            </a:r>
          </a:p>
        </p:txBody>
      </p:sp>
      <p:sp>
        <p:nvSpPr>
          <p:cNvPr id="33" name="Elipse 32"/>
          <p:cNvSpPr/>
          <p:nvPr/>
        </p:nvSpPr>
        <p:spPr>
          <a:xfrm>
            <a:off x="7078660"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a:t>
            </a:r>
          </a:p>
        </p:txBody>
      </p:sp>
      <p:cxnSp>
        <p:nvCxnSpPr>
          <p:cNvPr id="35" name="Conector reto 34"/>
          <p:cNvCxnSpPr>
            <a:stCxn id="31" idx="0"/>
            <a:endCxn id="5" idx="2"/>
          </p:cNvCxnSpPr>
          <p:nvPr/>
        </p:nvCxnSpPr>
        <p:spPr>
          <a:xfrm flipV="1">
            <a:off x="1644507" y="3059975"/>
            <a:ext cx="1420933" cy="1100183"/>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31" idx="7"/>
            <a:endCxn id="7" idx="2"/>
          </p:cNvCxnSpPr>
          <p:nvPr/>
        </p:nvCxnSpPr>
        <p:spPr>
          <a:xfrm flipV="1">
            <a:off x="1836621" y="3715553"/>
            <a:ext cx="1228818" cy="504698"/>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31" idx="6"/>
            <a:endCxn id="6" idx="2"/>
          </p:cNvCxnSpPr>
          <p:nvPr/>
        </p:nvCxnSpPr>
        <p:spPr>
          <a:xfrm>
            <a:off x="1916197" y="4365330"/>
            <a:ext cx="1149242" cy="5802"/>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Conector reto 39"/>
          <p:cNvCxnSpPr>
            <a:stCxn id="31" idx="5"/>
            <a:endCxn id="13" idx="2"/>
          </p:cNvCxnSpPr>
          <p:nvPr/>
        </p:nvCxnSpPr>
        <p:spPr>
          <a:xfrm>
            <a:off x="1836621" y="4510409"/>
            <a:ext cx="1223212" cy="487445"/>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31" idx="4"/>
            <a:endCxn id="17" idx="2"/>
          </p:cNvCxnSpPr>
          <p:nvPr/>
        </p:nvCxnSpPr>
        <p:spPr>
          <a:xfrm>
            <a:off x="1644507" y="4570502"/>
            <a:ext cx="1415325" cy="1064820"/>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26" idx="6"/>
            <a:endCxn id="33" idx="0"/>
          </p:cNvCxnSpPr>
          <p:nvPr/>
        </p:nvCxnSpPr>
        <p:spPr>
          <a:xfrm>
            <a:off x="5850432" y="3058108"/>
            <a:ext cx="1499919" cy="1102050"/>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28" idx="6"/>
            <a:endCxn id="33" idx="1"/>
          </p:cNvCxnSpPr>
          <p:nvPr/>
        </p:nvCxnSpPr>
        <p:spPr>
          <a:xfrm>
            <a:off x="5850431" y="3713686"/>
            <a:ext cx="1307805" cy="506565"/>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27" idx="6"/>
            <a:endCxn id="33" idx="2"/>
          </p:cNvCxnSpPr>
          <p:nvPr/>
        </p:nvCxnSpPr>
        <p:spPr>
          <a:xfrm flipV="1">
            <a:off x="5850431" y="4365330"/>
            <a:ext cx="1228229" cy="3935"/>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29" idx="6"/>
            <a:endCxn id="33" idx="3"/>
          </p:cNvCxnSpPr>
          <p:nvPr/>
        </p:nvCxnSpPr>
        <p:spPr>
          <a:xfrm flipV="1">
            <a:off x="5844825" y="4510409"/>
            <a:ext cx="1313411" cy="485578"/>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Conector reto 49"/>
          <p:cNvCxnSpPr>
            <a:stCxn id="30" idx="6"/>
            <a:endCxn id="33" idx="4"/>
          </p:cNvCxnSpPr>
          <p:nvPr/>
        </p:nvCxnSpPr>
        <p:spPr>
          <a:xfrm flipV="1">
            <a:off x="5844824" y="4570502"/>
            <a:ext cx="1505527" cy="1062953"/>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CaixaDeTexto 3"/>
          <p:cNvSpPr txBox="1"/>
          <p:nvPr/>
        </p:nvSpPr>
        <p:spPr>
          <a:xfrm>
            <a:off x="2170332" y="3283593"/>
            <a:ext cx="301686" cy="369332"/>
          </a:xfrm>
          <a:prstGeom prst="rect">
            <a:avLst/>
          </a:prstGeom>
          <a:noFill/>
        </p:spPr>
        <p:txBody>
          <a:bodyPr wrap="none" rtlCol="0">
            <a:spAutoFit/>
          </a:bodyPr>
          <a:lstStyle/>
          <a:p>
            <a:r>
              <a:rPr lang="pt-BR" dirty="0"/>
              <a:t>1</a:t>
            </a:r>
          </a:p>
        </p:txBody>
      </p:sp>
      <p:sp>
        <p:nvSpPr>
          <p:cNvPr id="52" name="CaixaDeTexto 51"/>
          <p:cNvSpPr txBox="1"/>
          <p:nvPr/>
        </p:nvSpPr>
        <p:spPr>
          <a:xfrm>
            <a:off x="2352169" y="3628436"/>
            <a:ext cx="301686" cy="369332"/>
          </a:xfrm>
          <a:prstGeom prst="rect">
            <a:avLst/>
          </a:prstGeom>
          <a:noFill/>
        </p:spPr>
        <p:txBody>
          <a:bodyPr wrap="none" rtlCol="0">
            <a:spAutoFit/>
          </a:bodyPr>
          <a:lstStyle/>
          <a:p>
            <a:r>
              <a:rPr lang="pt-BR" dirty="0"/>
              <a:t>1</a:t>
            </a:r>
          </a:p>
        </p:txBody>
      </p:sp>
      <p:sp>
        <p:nvSpPr>
          <p:cNvPr id="54" name="CaixaDeTexto 53"/>
          <p:cNvSpPr txBox="1"/>
          <p:nvPr/>
        </p:nvSpPr>
        <p:spPr>
          <a:xfrm>
            <a:off x="2503012" y="4070614"/>
            <a:ext cx="301686" cy="369332"/>
          </a:xfrm>
          <a:prstGeom prst="rect">
            <a:avLst/>
          </a:prstGeom>
          <a:noFill/>
        </p:spPr>
        <p:txBody>
          <a:bodyPr wrap="none" rtlCol="0">
            <a:spAutoFit/>
          </a:bodyPr>
          <a:lstStyle/>
          <a:p>
            <a:r>
              <a:rPr lang="pt-BR" dirty="0"/>
              <a:t>1</a:t>
            </a:r>
          </a:p>
        </p:txBody>
      </p:sp>
      <p:sp>
        <p:nvSpPr>
          <p:cNvPr id="55" name="CaixaDeTexto 54"/>
          <p:cNvSpPr txBox="1"/>
          <p:nvPr/>
        </p:nvSpPr>
        <p:spPr>
          <a:xfrm>
            <a:off x="2365609" y="4480958"/>
            <a:ext cx="301686" cy="369332"/>
          </a:xfrm>
          <a:prstGeom prst="rect">
            <a:avLst/>
          </a:prstGeom>
          <a:noFill/>
        </p:spPr>
        <p:txBody>
          <a:bodyPr wrap="none" rtlCol="0">
            <a:spAutoFit/>
          </a:bodyPr>
          <a:lstStyle/>
          <a:p>
            <a:r>
              <a:rPr lang="pt-BR" dirty="0"/>
              <a:t>1</a:t>
            </a:r>
          </a:p>
        </p:txBody>
      </p:sp>
      <p:sp>
        <p:nvSpPr>
          <p:cNvPr id="57" name="CaixaDeTexto 56"/>
          <p:cNvSpPr txBox="1"/>
          <p:nvPr/>
        </p:nvSpPr>
        <p:spPr>
          <a:xfrm>
            <a:off x="2170332" y="5057947"/>
            <a:ext cx="301686" cy="369332"/>
          </a:xfrm>
          <a:prstGeom prst="rect">
            <a:avLst/>
          </a:prstGeom>
          <a:noFill/>
        </p:spPr>
        <p:txBody>
          <a:bodyPr wrap="none" rtlCol="0">
            <a:spAutoFit/>
          </a:bodyPr>
          <a:lstStyle/>
          <a:p>
            <a:r>
              <a:rPr lang="pt-BR" dirty="0"/>
              <a:t>1</a:t>
            </a:r>
          </a:p>
        </p:txBody>
      </p:sp>
      <p:sp>
        <p:nvSpPr>
          <p:cNvPr id="59" name="CaixaDeTexto 58"/>
          <p:cNvSpPr txBox="1"/>
          <p:nvPr/>
        </p:nvSpPr>
        <p:spPr>
          <a:xfrm>
            <a:off x="6092125" y="3295139"/>
            <a:ext cx="301686" cy="369332"/>
          </a:xfrm>
          <a:prstGeom prst="rect">
            <a:avLst/>
          </a:prstGeom>
          <a:noFill/>
        </p:spPr>
        <p:txBody>
          <a:bodyPr wrap="none" rtlCol="0">
            <a:spAutoFit/>
          </a:bodyPr>
          <a:lstStyle/>
          <a:p>
            <a:r>
              <a:rPr lang="pt-BR" dirty="0"/>
              <a:t>1</a:t>
            </a:r>
          </a:p>
        </p:txBody>
      </p:sp>
      <p:sp>
        <p:nvSpPr>
          <p:cNvPr id="60" name="CaixaDeTexto 59"/>
          <p:cNvSpPr txBox="1"/>
          <p:nvPr/>
        </p:nvSpPr>
        <p:spPr>
          <a:xfrm>
            <a:off x="6273962" y="3639982"/>
            <a:ext cx="301686" cy="369332"/>
          </a:xfrm>
          <a:prstGeom prst="rect">
            <a:avLst/>
          </a:prstGeom>
          <a:noFill/>
        </p:spPr>
        <p:txBody>
          <a:bodyPr wrap="none" rtlCol="0">
            <a:spAutoFit/>
          </a:bodyPr>
          <a:lstStyle/>
          <a:p>
            <a:r>
              <a:rPr lang="pt-BR" dirty="0"/>
              <a:t>1</a:t>
            </a:r>
          </a:p>
        </p:txBody>
      </p:sp>
      <p:sp>
        <p:nvSpPr>
          <p:cNvPr id="61" name="CaixaDeTexto 60"/>
          <p:cNvSpPr txBox="1"/>
          <p:nvPr/>
        </p:nvSpPr>
        <p:spPr>
          <a:xfrm>
            <a:off x="6424805" y="4082160"/>
            <a:ext cx="301686" cy="369332"/>
          </a:xfrm>
          <a:prstGeom prst="rect">
            <a:avLst/>
          </a:prstGeom>
          <a:noFill/>
        </p:spPr>
        <p:txBody>
          <a:bodyPr wrap="none" rtlCol="0">
            <a:spAutoFit/>
          </a:bodyPr>
          <a:lstStyle/>
          <a:p>
            <a:r>
              <a:rPr lang="pt-BR" dirty="0"/>
              <a:t>1</a:t>
            </a:r>
          </a:p>
        </p:txBody>
      </p:sp>
      <p:sp>
        <p:nvSpPr>
          <p:cNvPr id="62" name="CaixaDeTexto 61"/>
          <p:cNvSpPr txBox="1"/>
          <p:nvPr/>
        </p:nvSpPr>
        <p:spPr>
          <a:xfrm>
            <a:off x="6287402" y="4492504"/>
            <a:ext cx="301686" cy="369332"/>
          </a:xfrm>
          <a:prstGeom prst="rect">
            <a:avLst/>
          </a:prstGeom>
          <a:noFill/>
        </p:spPr>
        <p:txBody>
          <a:bodyPr wrap="none" rtlCol="0">
            <a:spAutoFit/>
          </a:bodyPr>
          <a:lstStyle/>
          <a:p>
            <a:r>
              <a:rPr lang="pt-BR" dirty="0"/>
              <a:t>1</a:t>
            </a:r>
          </a:p>
        </p:txBody>
      </p:sp>
      <p:sp>
        <p:nvSpPr>
          <p:cNvPr id="63" name="CaixaDeTexto 62"/>
          <p:cNvSpPr txBox="1"/>
          <p:nvPr/>
        </p:nvSpPr>
        <p:spPr>
          <a:xfrm>
            <a:off x="6092125" y="5069493"/>
            <a:ext cx="301686" cy="369332"/>
          </a:xfrm>
          <a:prstGeom prst="rect">
            <a:avLst/>
          </a:prstGeom>
          <a:noFill/>
        </p:spPr>
        <p:txBody>
          <a:bodyPr wrap="none" rtlCol="0">
            <a:spAutoFit/>
          </a:bodyPr>
          <a:lstStyle/>
          <a:p>
            <a:r>
              <a:rPr lang="pt-BR" dirty="0"/>
              <a:t>1</a:t>
            </a:r>
          </a:p>
        </p:txBody>
      </p:sp>
      <p:sp>
        <p:nvSpPr>
          <p:cNvPr id="64" name="CaixaDeTexto 63"/>
          <p:cNvSpPr txBox="1"/>
          <p:nvPr/>
        </p:nvSpPr>
        <p:spPr>
          <a:xfrm>
            <a:off x="4169262" y="3016565"/>
            <a:ext cx="301686" cy="369332"/>
          </a:xfrm>
          <a:prstGeom prst="rect">
            <a:avLst/>
          </a:prstGeom>
          <a:noFill/>
        </p:spPr>
        <p:txBody>
          <a:bodyPr wrap="none" rtlCol="0">
            <a:spAutoFit/>
          </a:bodyPr>
          <a:lstStyle/>
          <a:p>
            <a:r>
              <a:rPr lang="pt-BR" dirty="0"/>
              <a:t>1</a:t>
            </a:r>
          </a:p>
        </p:txBody>
      </p:sp>
      <p:sp>
        <p:nvSpPr>
          <p:cNvPr id="65" name="CaixaDeTexto 64"/>
          <p:cNvSpPr txBox="1"/>
          <p:nvPr/>
        </p:nvSpPr>
        <p:spPr>
          <a:xfrm>
            <a:off x="4163846" y="3299261"/>
            <a:ext cx="301686" cy="369332"/>
          </a:xfrm>
          <a:prstGeom prst="rect">
            <a:avLst/>
          </a:prstGeom>
          <a:noFill/>
        </p:spPr>
        <p:txBody>
          <a:bodyPr wrap="none" rtlCol="0">
            <a:spAutoFit/>
          </a:bodyPr>
          <a:lstStyle/>
          <a:p>
            <a:r>
              <a:rPr lang="pt-BR" dirty="0"/>
              <a:t>1</a:t>
            </a:r>
          </a:p>
        </p:txBody>
      </p:sp>
      <p:sp>
        <p:nvSpPr>
          <p:cNvPr id="66" name="CaixaDeTexto 65"/>
          <p:cNvSpPr txBox="1"/>
          <p:nvPr/>
        </p:nvSpPr>
        <p:spPr>
          <a:xfrm>
            <a:off x="3785404" y="3424467"/>
            <a:ext cx="301686" cy="369332"/>
          </a:xfrm>
          <a:prstGeom prst="rect">
            <a:avLst/>
          </a:prstGeom>
          <a:noFill/>
        </p:spPr>
        <p:txBody>
          <a:bodyPr wrap="none" rtlCol="0">
            <a:spAutoFit/>
          </a:bodyPr>
          <a:lstStyle/>
          <a:p>
            <a:r>
              <a:rPr lang="pt-BR" dirty="0"/>
              <a:t>1</a:t>
            </a:r>
          </a:p>
        </p:txBody>
      </p:sp>
      <p:sp>
        <p:nvSpPr>
          <p:cNvPr id="67" name="CaixaDeTexto 66"/>
          <p:cNvSpPr txBox="1"/>
          <p:nvPr/>
        </p:nvSpPr>
        <p:spPr>
          <a:xfrm>
            <a:off x="4926234" y="5040103"/>
            <a:ext cx="301686" cy="369332"/>
          </a:xfrm>
          <a:prstGeom prst="rect">
            <a:avLst/>
          </a:prstGeom>
          <a:noFill/>
        </p:spPr>
        <p:txBody>
          <a:bodyPr wrap="none" rtlCol="0">
            <a:spAutoFit/>
          </a:bodyPr>
          <a:lstStyle/>
          <a:p>
            <a:r>
              <a:rPr lang="pt-BR" dirty="0"/>
              <a:t>1</a:t>
            </a:r>
          </a:p>
        </p:txBody>
      </p:sp>
      <p:sp>
        <p:nvSpPr>
          <p:cNvPr id="68" name="CaixaDeTexto 67"/>
          <p:cNvSpPr txBox="1"/>
          <p:nvPr/>
        </p:nvSpPr>
        <p:spPr>
          <a:xfrm>
            <a:off x="3903448" y="3732325"/>
            <a:ext cx="301686" cy="369332"/>
          </a:xfrm>
          <a:prstGeom prst="rect">
            <a:avLst/>
          </a:prstGeom>
          <a:noFill/>
        </p:spPr>
        <p:txBody>
          <a:bodyPr wrap="none" rtlCol="0">
            <a:spAutoFit/>
          </a:bodyPr>
          <a:lstStyle/>
          <a:p>
            <a:r>
              <a:rPr lang="pt-BR" dirty="0"/>
              <a:t>1</a:t>
            </a:r>
          </a:p>
        </p:txBody>
      </p:sp>
      <p:sp>
        <p:nvSpPr>
          <p:cNvPr id="69" name="CaixaDeTexto 68"/>
          <p:cNvSpPr txBox="1"/>
          <p:nvPr/>
        </p:nvSpPr>
        <p:spPr>
          <a:xfrm>
            <a:off x="4360483" y="4045026"/>
            <a:ext cx="301686" cy="369332"/>
          </a:xfrm>
          <a:prstGeom prst="rect">
            <a:avLst/>
          </a:prstGeom>
          <a:noFill/>
        </p:spPr>
        <p:txBody>
          <a:bodyPr wrap="none" rtlCol="0">
            <a:spAutoFit/>
          </a:bodyPr>
          <a:lstStyle/>
          <a:p>
            <a:r>
              <a:rPr lang="pt-BR" dirty="0"/>
              <a:t>1</a:t>
            </a:r>
          </a:p>
        </p:txBody>
      </p:sp>
      <p:sp>
        <p:nvSpPr>
          <p:cNvPr id="70" name="CaixaDeTexto 69"/>
          <p:cNvSpPr txBox="1"/>
          <p:nvPr/>
        </p:nvSpPr>
        <p:spPr>
          <a:xfrm>
            <a:off x="3774644" y="4439946"/>
            <a:ext cx="301686" cy="369332"/>
          </a:xfrm>
          <a:prstGeom prst="rect">
            <a:avLst/>
          </a:prstGeom>
          <a:noFill/>
        </p:spPr>
        <p:txBody>
          <a:bodyPr wrap="none" rtlCol="0">
            <a:spAutoFit/>
          </a:bodyPr>
          <a:lstStyle/>
          <a:p>
            <a:r>
              <a:rPr lang="pt-BR" dirty="0"/>
              <a:t>1</a:t>
            </a:r>
          </a:p>
        </p:txBody>
      </p:sp>
      <p:sp>
        <p:nvSpPr>
          <p:cNvPr id="71" name="CaixaDeTexto 70"/>
          <p:cNvSpPr txBox="1"/>
          <p:nvPr/>
        </p:nvSpPr>
        <p:spPr>
          <a:xfrm>
            <a:off x="3837190" y="4817804"/>
            <a:ext cx="301686" cy="369332"/>
          </a:xfrm>
          <a:prstGeom prst="rect">
            <a:avLst/>
          </a:prstGeom>
          <a:noFill/>
        </p:spPr>
        <p:txBody>
          <a:bodyPr wrap="none" rtlCol="0">
            <a:spAutoFit/>
          </a:bodyPr>
          <a:lstStyle/>
          <a:p>
            <a:r>
              <a:rPr lang="pt-BR" dirty="0"/>
              <a:t>1</a:t>
            </a:r>
          </a:p>
        </p:txBody>
      </p:sp>
      <p:sp>
        <p:nvSpPr>
          <p:cNvPr id="72" name="CaixaDeTexto 71"/>
          <p:cNvSpPr txBox="1"/>
          <p:nvPr/>
        </p:nvSpPr>
        <p:spPr>
          <a:xfrm>
            <a:off x="4324314" y="5261290"/>
            <a:ext cx="301686" cy="369332"/>
          </a:xfrm>
          <a:prstGeom prst="rect">
            <a:avLst/>
          </a:prstGeom>
          <a:noFill/>
        </p:spPr>
        <p:txBody>
          <a:bodyPr wrap="none" rtlCol="0">
            <a:spAutoFit/>
          </a:bodyPr>
          <a:lstStyle/>
          <a:p>
            <a:r>
              <a:rPr lang="pt-BR" dirty="0"/>
              <a:t>1</a:t>
            </a:r>
          </a:p>
        </p:txBody>
      </p:sp>
      <p:sp>
        <p:nvSpPr>
          <p:cNvPr id="73" name="CaixaDeTexto 72"/>
          <p:cNvSpPr txBox="1"/>
          <p:nvPr/>
        </p:nvSpPr>
        <p:spPr>
          <a:xfrm>
            <a:off x="3936247" y="5315654"/>
            <a:ext cx="301686" cy="369332"/>
          </a:xfrm>
          <a:prstGeom prst="rect">
            <a:avLst/>
          </a:prstGeom>
          <a:noFill/>
        </p:spPr>
        <p:txBody>
          <a:bodyPr wrap="none" rtlCol="0">
            <a:spAutoFit/>
          </a:bodyPr>
          <a:lstStyle/>
          <a:p>
            <a:r>
              <a:rPr lang="pt-BR" dirty="0"/>
              <a:t>1</a:t>
            </a:r>
          </a:p>
        </p:txBody>
      </p:sp>
      <p:sp>
        <p:nvSpPr>
          <p:cNvPr id="74" name="CaixaDeTexto 73"/>
          <p:cNvSpPr txBox="1"/>
          <p:nvPr/>
        </p:nvSpPr>
        <p:spPr>
          <a:xfrm>
            <a:off x="3607261" y="5098497"/>
            <a:ext cx="301686" cy="369332"/>
          </a:xfrm>
          <a:prstGeom prst="rect">
            <a:avLst/>
          </a:prstGeom>
          <a:noFill/>
        </p:spPr>
        <p:txBody>
          <a:bodyPr wrap="none" rtlCol="0">
            <a:spAutoFit/>
          </a:bodyPr>
          <a:lstStyle/>
          <a:p>
            <a:r>
              <a:rPr lang="pt-BR" dirty="0"/>
              <a:t>1</a:t>
            </a:r>
          </a:p>
        </p:txBody>
      </p:sp>
    </p:spTree>
    <p:extLst>
      <p:ext uri="{BB962C8B-B14F-4D97-AF65-F5344CB8AC3E}">
        <p14:creationId xmlns:p14="http://schemas.microsoft.com/office/powerpoint/2010/main" val="5537705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Obtendo uma instância do problema do Fluxo Máximo:</a:t>
            </a:r>
          </a:p>
          <a:p>
            <a:pPr lvl="1"/>
            <a:r>
              <a:rPr lang="pt-BR" sz="2000" dirty="0"/>
              <a:t>Obtenha o fluxo máximo de s para t</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
        <p:nvSpPr>
          <p:cNvPr id="31" name="Elipse 30"/>
          <p:cNvSpPr/>
          <p:nvPr/>
        </p:nvSpPr>
        <p:spPr>
          <a:xfrm>
            <a:off x="1372816"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s</a:t>
            </a:r>
          </a:p>
        </p:txBody>
      </p:sp>
      <p:sp>
        <p:nvSpPr>
          <p:cNvPr id="33" name="Elipse 32"/>
          <p:cNvSpPr/>
          <p:nvPr/>
        </p:nvSpPr>
        <p:spPr>
          <a:xfrm>
            <a:off x="7078660"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a:t>
            </a:r>
          </a:p>
        </p:txBody>
      </p:sp>
      <p:cxnSp>
        <p:nvCxnSpPr>
          <p:cNvPr id="35" name="Conector reto 34"/>
          <p:cNvCxnSpPr>
            <a:stCxn id="31" idx="0"/>
            <a:endCxn id="5" idx="2"/>
          </p:cNvCxnSpPr>
          <p:nvPr/>
        </p:nvCxnSpPr>
        <p:spPr>
          <a:xfrm flipV="1">
            <a:off x="1644507" y="3059975"/>
            <a:ext cx="1420933" cy="1100183"/>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31" idx="7"/>
            <a:endCxn id="7" idx="2"/>
          </p:cNvCxnSpPr>
          <p:nvPr/>
        </p:nvCxnSpPr>
        <p:spPr>
          <a:xfrm flipV="1">
            <a:off x="1836621" y="3715553"/>
            <a:ext cx="1228818" cy="504698"/>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31" idx="6"/>
            <a:endCxn id="6" idx="2"/>
          </p:cNvCxnSpPr>
          <p:nvPr/>
        </p:nvCxnSpPr>
        <p:spPr>
          <a:xfrm>
            <a:off x="1916197" y="4365330"/>
            <a:ext cx="1149242" cy="5802"/>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Conector reto 39"/>
          <p:cNvCxnSpPr>
            <a:stCxn id="31" idx="5"/>
            <a:endCxn id="13" idx="2"/>
          </p:cNvCxnSpPr>
          <p:nvPr/>
        </p:nvCxnSpPr>
        <p:spPr>
          <a:xfrm>
            <a:off x="1836621" y="4510409"/>
            <a:ext cx="1223212" cy="487445"/>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31" idx="4"/>
            <a:endCxn id="17" idx="2"/>
          </p:cNvCxnSpPr>
          <p:nvPr/>
        </p:nvCxnSpPr>
        <p:spPr>
          <a:xfrm>
            <a:off x="1644507" y="4570502"/>
            <a:ext cx="1415325" cy="1064820"/>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26" idx="6"/>
            <a:endCxn id="33" idx="0"/>
          </p:cNvCxnSpPr>
          <p:nvPr/>
        </p:nvCxnSpPr>
        <p:spPr>
          <a:xfrm>
            <a:off x="5850432" y="3058108"/>
            <a:ext cx="1499919" cy="1102050"/>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28" idx="6"/>
            <a:endCxn id="33" idx="1"/>
          </p:cNvCxnSpPr>
          <p:nvPr/>
        </p:nvCxnSpPr>
        <p:spPr>
          <a:xfrm>
            <a:off x="5850431" y="3713686"/>
            <a:ext cx="1307805" cy="506565"/>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27" idx="6"/>
            <a:endCxn id="33" idx="2"/>
          </p:cNvCxnSpPr>
          <p:nvPr/>
        </p:nvCxnSpPr>
        <p:spPr>
          <a:xfrm flipV="1">
            <a:off x="5850431" y="4365330"/>
            <a:ext cx="1228229" cy="3935"/>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29" idx="6"/>
            <a:endCxn id="33" idx="3"/>
          </p:cNvCxnSpPr>
          <p:nvPr/>
        </p:nvCxnSpPr>
        <p:spPr>
          <a:xfrm flipV="1">
            <a:off x="5844825" y="4510409"/>
            <a:ext cx="1313411" cy="485578"/>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Conector reto 49"/>
          <p:cNvCxnSpPr>
            <a:stCxn id="30" idx="6"/>
            <a:endCxn id="33" idx="4"/>
          </p:cNvCxnSpPr>
          <p:nvPr/>
        </p:nvCxnSpPr>
        <p:spPr>
          <a:xfrm flipV="1">
            <a:off x="5844824" y="4570502"/>
            <a:ext cx="1505527" cy="1062953"/>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CaixaDeTexto 3"/>
          <p:cNvSpPr txBox="1"/>
          <p:nvPr/>
        </p:nvSpPr>
        <p:spPr>
          <a:xfrm>
            <a:off x="2170332" y="3283593"/>
            <a:ext cx="301686" cy="369332"/>
          </a:xfrm>
          <a:prstGeom prst="rect">
            <a:avLst/>
          </a:prstGeom>
          <a:noFill/>
        </p:spPr>
        <p:txBody>
          <a:bodyPr wrap="none" rtlCol="0">
            <a:spAutoFit/>
          </a:bodyPr>
          <a:lstStyle/>
          <a:p>
            <a:r>
              <a:rPr lang="pt-BR" dirty="0"/>
              <a:t>1</a:t>
            </a:r>
          </a:p>
        </p:txBody>
      </p:sp>
      <p:sp>
        <p:nvSpPr>
          <p:cNvPr id="52" name="CaixaDeTexto 51"/>
          <p:cNvSpPr txBox="1"/>
          <p:nvPr/>
        </p:nvSpPr>
        <p:spPr>
          <a:xfrm>
            <a:off x="2352169" y="3628436"/>
            <a:ext cx="301686" cy="369332"/>
          </a:xfrm>
          <a:prstGeom prst="rect">
            <a:avLst/>
          </a:prstGeom>
          <a:noFill/>
        </p:spPr>
        <p:txBody>
          <a:bodyPr wrap="none" rtlCol="0">
            <a:spAutoFit/>
          </a:bodyPr>
          <a:lstStyle/>
          <a:p>
            <a:r>
              <a:rPr lang="pt-BR" dirty="0"/>
              <a:t>1</a:t>
            </a:r>
          </a:p>
        </p:txBody>
      </p:sp>
      <p:sp>
        <p:nvSpPr>
          <p:cNvPr id="54" name="CaixaDeTexto 53"/>
          <p:cNvSpPr txBox="1"/>
          <p:nvPr/>
        </p:nvSpPr>
        <p:spPr>
          <a:xfrm>
            <a:off x="2503012" y="4070614"/>
            <a:ext cx="301686" cy="369332"/>
          </a:xfrm>
          <a:prstGeom prst="rect">
            <a:avLst/>
          </a:prstGeom>
          <a:noFill/>
        </p:spPr>
        <p:txBody>
          <a:bodyPr wrap="none" rtlCol="0">
            <a:spAutoFit/>
          </a:bodyPr>
          <a:lstStyle/>
          <a:p>
            <a:r>
              <a:rPr lang="pt-BR" dirty="0"/>
              <a:t>1</a:t>
            </a:r>
          </a:p>
        </p:txBody>
      </p:sp>
      <p:sp>
        <p:nvSpPr>
          <p:cNvPr id="55" name="CaixaDeTexto 54"/>
          <p:cNvSpPr txBox="1"/>
          <p:nvPr/>
        </p:nvSpPr>
        <p:spPr>
          <a:xfrm>
            <a:off x="2365609" y="4480958"/>
            <a:ext cx="301686" cy="369332"/>
          </a:xfrm>
          <a:prstGeom prst="rect">
            <a:avLst/>
          </a:prstGeom>
          <a:noFill/>
        </p:spPr>
        <p:txBody>
          <a:bodyPr wrap="none" rtlCol="0">
            <a:spAutoFit/>
          </a:bodyPr>
          <a:lstStyle/>
          <a:p>
            <a:r>
              <a:rPr lang="pt-BR" dirty="0"/>
              <a:t>1</a:t>
            </a:r>
          </a:p>
        </p:txBody>
      </p:sp>
      <p:sp>
        <p:nvSpPr>
          <p:cNvPr id="57" name="CaixaDeTexto 56"/>
          <p:cNvSpPr txBox="1"/>
          <p:nvPr/>
        </p:nvSpPr>
        <p:spPr>
          <a:xfrm>
            <a:off x="2170332" y="5057947"/>
            <a:ext cx="301686" cy="369332"/>
          </a:xfrm>
          <a:prstGeom prst="rect">
            <a:avLst/>
          </a:prstGeom>
          <a:noFill/>
        </p:spPr>
        <p:txBody>
          <a:bodyPr wrap="none" rtlCol="0">
            <a:spAutoFit/>
          </a:bodyPr>
          <a:lstStyle/>
          <a:p>
            <a:r>
              <a:rPr lang="pt-BR" dirty="0"/>
              <a:t>1</a:t>
            </a:r>
          </a:p>
        </p:txBody>
      </p:sp>
      <p:sp>
        <p:nvSpPr>
          <p:cNvPr id="59" name="CaixaDeTexto 58"/>
          <p:cNvSpPr txBox="1"/>
          <p:nvPr/>
        </p:nvSpPr>
        <p:spPr>
          <a:xfrm>
            <a:off x="6092125" y="3295139"/>
            <a:ext cx="301686" cy="369332"/>
          </a:xfrm>
          <a:prstGeom prst="rect">
            <a:avLst/>
          </a:prstGeom>
          <a:noFill/>
        </p:spPr>
        <p:txBody>
          <a:bodyPr wrap="none" rtlCol="0">
            <a:spAutoFit/>
          </a:bodyPr>
          <a:lstStyle/>
          <a:p>
            <a:r>
              <a:rPr lang="pt-BR" dirty="0"/>
              <a:t>1</a:t>
            </a:r>
          </a:p>
        </p:txBody>
      </p:sp>
      <p:sp>
        <p:nvSpPr>
          <p:cNvPr id="60" name="CaixaDeTexto 59"/>
          <p:cNvSpPr txBox="1"/>
          <p:nvPr/>
        </p:nvSpPr>
        <p:spPr>
          <a:xfrm>
            <a:off x="6273962" y="3639982"/>
            <a:ext cx="301686" cy="369332"/>
          </a:xfrm>
          <a:prstGeom prst="rect">
            <a:avLst/>
          </a:prstGeom>
          <a:noFill/>
        </p:spPr>
        <p:txBody>
          <a:bodyPr wrap="none" rtlCol="0">
            <a:spAutoFit/>
          </a:bodyPr>
          <a:lstStyle/>
          <a:p>
            <a:r>
              <a:rPr lang="pt-BR" dirty="0"/>
              <a:t>1</a:t>
            </a:r>
          </a:p>
        </p:txBody>
      </p:sp>
      <p:sp>
        <p:nvSpPr>
          <p:cNvPr id="61" name="CaixaDeTexto 60"/>
          <p:cNvSpPr txBox="1"/>
          <p:nvPr/>
        </p:nvSpPr>
        <p:spPr>
          <a:xfrm>
            <a:off x="6424805" y="4082160"/>
            <a:ext cx="301686" cy="369332"/>
          </a:xfrm>
          <a:prstGeom prst="rect">
            <a:avLst/>
          </a:prstGeom>
          <a:noFill/>
        </p:spPr>
        <p:txBody>
          <a:bodyPr wrap="none" rtlCol="0">
            <a:spAutoFit/>
          </a:bodyPr>
          <a:lstStyle/>
          <a:p>
            <a:r>
              <a:rPr lang="pt-BR" dirty="0"/>
              <a:t>1</a:t>
            </a:r>
          </a:p>
        </p:txBody>
      </p:sp>
      <p:sp>
        <p:nvSpPr>
          <p:cNvPr id="62" name="CaixaDeTexto 61"/>
          <p:cNvSpPr txBox="1"/>
          <p:nvPr/>
        </p:nvSpPr>
        <p:spPr>
          <a:xfrm>
            <a:off x="6287402" y="4492504"/>
            <a:ext cx="301686" cy="369332"/>
          </a:xfrm>
          <a:prstGeom prst="rect">
            <a:avLst/>
          </a:prstGeom>
          <a:noFill/>
        </p:spPr>
        <p:txBody>
          <a:bodyPr wrap="none" rtlCol="0">
            <a:spAutoFit/>
          </a:bodyPr>
          <a:lstStyle/>
          <a:p>
            <a:r>
              <a:rPr lang="pt-BR" dirty="0"/>
              <a:t>1</a:t>
            </a:r>
          </a:p>
        </p:txBody>
      </p:sp>
      <p:sp>
        <p:nvSpPr>
          <p:cNvPr id="63" name="CaixaDeTexto 62"/>
          <p:cNvSpPr txBox="1"/>
          <p:nvPr/>
        </p:nvSpPr>
        <p:spPr>
          <a:xfrm>
            <a:off x="6092125" y="5069493"/>
            <a:ext cx="301686" cy="369332"/>
          </a:xfrm>
          <a:prstGeom prst="rect">
            <a:avLst/>
          </a:prstGeom>
          <a:noFill/>
        </p:spPr>
        <p:txBody>
          <a:bodyPr wrap="none" rtlCol="0">
            <a:spAutoFit/>
          </a:bodyPr>
          <a:lstStyle/>
          <a:p>
            <a:r>
              <a:rPr lang="pt-BR" dirty="0"/>
              <a:t>1</a:t>
            </a:r>
          </a:p>
        </p:txBody>
      </p:sp>
      <p:sp>
        <p:nvSpPr>
          <p:cNvPr id="64" name="CaixaDeTexto 63"/>
          <p:cNvSpPr txBox="1"/>
          <p:nvPr/>
        </p:nvSpPr>
        <p:spPr>
          <a:xfrm>
            <a:off x="4169262" y="3016565"/>
            <a:ext cx="301686" cy="369332"/>
          </a:xfrm>
          <a:prstGeom prst="rect">
            <a:avLst/>
          </a:prstGeom>
          <a:noFill/>
        </p:spPr>
        <p:txBody>
          <a:bodyPr wrap="none" rtlCol="0">
            <a:spAutoFit/>
          </a:bodyPr>
          <a:lstStyle/>
          <a:p>
            <a:r>
              <a:rPr lang="pt-BR" dirty="0"/>
              <a:t>1</a:t>
            </a:r>
          </a:p>
        </p:txBody>
      </p:sp>
      <p:sp>
        <p:nvSpPr>
          <p:cNvPr id="65" name="CaixaDeTexto 64"/>
          <p:cNvSpPr txBox="1"/>
          <p:nvPr/>
        </p:nvSpPr>
        <p:spPr>
          <a:xfrm>
            <a:off x="4163846" y="3299261"/>
            <a:ext cx="301686" cy="369332"/>
          </a:xfrm>
          <a:prstGeom prst="rect">
            <a:avLst/>
          </a:prstGeom>
          <a:noFill/>
        </p:spPr>
        <p:txBody>
          <a:bodyPr wrap="none" rtlCol="0">
            <a:spAutoFit/>
          </a:bodyPr>
          <a:lstStyle/>
          <a:p>
            <a:r>
              <a:rPr lang="pt-BR" dirty="0"/>
              <a:t>1</a:t>
            </a:r>
          </a:p>
        </p:txBody>
      </p:sp>
      <p:sp>
        <p:nvSpPr>
          <p:cNvPr id="66" name="CaixaDeTexto 65"/>
          <p:cNvSpPr txBox="1"/>
          <p:nvPr/>
        </p:nvSpPr>
        <p:spPr>
          <a:xfrm>
            <a:off x="3785404" y="3424467"/>
            <a:ext cx="301686" cy="369332"/>
          </a:xfrm>
          <a:prstGeom prst="rect">
            <a:avLst/>
          </a:prstGeom>
          <a:noFill/>
        </p:spPr>
        <p:txBody>
          <a:bodyPr wrap="none" rtlCol="0">
            <a:spAutoFit/>
          </a:bodyPr>
          <a:lstStyle/>
          <a:p>
            <a:r>
              <a:rPr lang="pt-BR" dirty="0"/>
              <a:t>1</a:t>
            </a:r>
          </a:p>
        </p:txBody>
      </p:sp>
      <p:sp>
        <p:nvSpPr>
          <p:cNvPr id="67" name="CaixaDeTexto 66"/>
          <p:cNvSpPr txBox="1"/>
          <p:nvPr/>
        </p:nvSpPr>
        <p:spPr>
          <a:xfrm>
            <a:off x="4926234" y="5040103"/>
            <a:ext cx="301686" cy="369332"/>
          </a:xfrm>
          <a:prstGeom prst="rect">
            <a:avLst/>
          </a:prstGeom>
          <a:noFill/>
        </p:spPr>
        <p:txBody>
          <a:bodyPr wrap="none" rtlCol="0">
            <a:spAutoFit/>
          </a:bodyPr>
          <a:lstStyle/>
          <a:p>
            <a:r>
              <a:rPr lang="pt-BR" dirty="0"/>
              <a:t>1</a:t>
            </a:r>
          </a:p>
        </p:txBody>
      </p:sp>
      <p:sp>
        <p:nvSpPr>
          <p:cNvPr id="68" name="CaixaDeTexto 67"/>
          <p:cNvSpPr txBox="1"/>
          <p:nvPr/>
        </p:nvSpPr>
        <p:spPr>
          <a:xfrm>
            <a:off x="3903448" y="3732325"/>
            <a:ext cx="301686" cy="369332"/>
          </a:xfrm>
          <a:prstGeom prst="rect">
            <a:avLst/>
          </a:prstGeom>
          <a:noFill/>
        </p:spPr>
        <p:txBody>
          <a:bodyPr wrap="none" rtlCol="0">
            <a:spAutoFit/>
          </a:bodyPr>
          <a:lstStyle/>
          <a:p>
            <a:r>
              <a:rPr lang="pt-BR" dirty="0"/>
              <a:t>1</a:t>
            </a:r>
          </a:p>
        </p:txBody>
      </p:sp>
      <p:sp>
        <p:nvSpPr>
          <p:cNvPr id="69" name="CaixaDeTexto 68"/>
          <p:cNvSpPr txBox="1"/>
          <p:nvPr/>
        </p:nvSpPr>
        <p:spPr>
          <a:xfrm>
            <a:off x="4360483" y="4045026"/>
            <a:ext cx="301686" cy="369332"/>
          </a:xfrm>
          <a:prstGeom prst="rect">
            <a:avLst/>
          </a:prstGeom>
          <a:noFill/>
        </p:spPr>
        <p:txBody>
          <a:bodyPr wrap="none" rtlCol="0">
            <a:spAutoFit/>
          </a:bodyPr>
          <a:lstStyle/>
          <a:p>
            <a:r>
              <a:rPr lang="pt-BR" dirty="0"/>
              <a:t>1</a:t>
            </a:r>
          </a:p>
        </p:txBody>
      </p:sp>
      <p:sp>
        <p:nvSpPr>
          <p:cNvPr id="70" name="CaixaDeTexto 69"/>
          <p:cNvSpPr txBox="1"/>
          <p:nvPr/>
        </p:nvSpPr>
        <p:spPr>
          <a:xfrm>
            <a:off x="3774644" y="4439946"/>
            <a:ext cx="301686" cy="369332"/>
          </a:xfrm>
          <a:prstGeom prst="rect">
            <a:avLst/>
          </a:prstGeom>
          <a:noFill/>
        </p:spPr>
        <p:txBody>
          <a:bodyPr wrap="none" rtlCol="0">
            <a:spAutoFit/>
          </a:bodyPr>
          <a:lstStyle/>
          <a:p>
            <a:r>
              <a:rPr lang="pt-BR" dirty="0"/>
              <a:t>1</a:t>
            </a:r>
          </a:p>
        </p:txBody>
      </p:sp>
      <p:sp>
        <p:nvSpPr>
          <p:cNvPr id="71" name="CaixaDeTexto 70"/>
          <p:cNvSpPr txBox="1"/>
          <p:nvPr/>
        </p:nvSpPr>
        <p:spPr>
          <a:xfrm>
            <a:off x="3837190" y="4817804"/>
            <a:ext cx="301686" cy="369332"/>
          </a:xfrm>
          <a:prstGeom prst="rect">
            <a:avLst/>
          </a:prstGeom>
          <a:noFill/>
        </p:spPr>
        <p:txBody>
          <a:bodyPr wrap="none" rtlCol="0">
            <a:spAutoFit/>
          </a:bodyPr>
          <a:lstStyle/>
          <a:p>
            <a:r>
              <a:rPr lang="pt-BR" dirty="0"/>
              <a:t>1</a:t>
            </a:r>
          </a:p>
        </p:txBody>
      </p:sp>
      <p:sp>
        <p:nvSpPr>
          <p:cNvPr id="72" name="CaixaDeTexto 71"/>
          <p:cNvSpPr txBox="1"/>
          <p:nvPr/>
        </p:nvSpPr>
        <p:spPr>
          <a:xfrm>
            <a:off x="4324314" y="5261290"/>
            <a:ext cx="301686" cy="369332"/>
          </a:xfrm>
          <a:prstGeom prst="rect">
            <a:avLst/>
          </a:prstGeom>
          <a:noFill/>
        </p:spPr>
        <p:txBody>
          <a:bodyPr wrap="none" rtlCol="0">
            <a:spAutoFit/>
          </a:bodyPr>
          <a:lstStyle/>
          <a:p>
            <a:r>
              <a:rPr lang="pt-BR" dirty="0"/>
              <a:t>1</a:t>
            </a:r>
          </a:p>
        </p:txBody>
      </p:sp>
      <p:sp>
        <p:nvSpPr>
          <p:cNvPr id="73" name="CaixaDeTexto 72"/>
          <p:cNvSpPr txBox="1"/>
          <p:nvPr/>
        </p:nvSpPr>
        <p:spPr>
          <a:xfrm>
            <a:off x="3936247" y="5315654"/>
            <a:ext cx="301686" cy="369332"/>
          </a:xfrm>
          <a:prstGeom prst="rect">
            <a:avLst/>
          </a:prstGeom>
          <a:noFill/>
        </p:spPr>
        <p:txBody>
          <a:bodyPr wrap="none" rtlCol="0">
            <a:spAutoFit/>
          </a:bodyPr>
          <a:lstStyle/>
          <a:p>
            <a:r>
              <a:rPr lang="pt-BR" dirty="0"/>
              <a:t>1</a:t>
            </a:r>
          </a:p>
        </p:txBody>
      </p:sp>
      <p:sp>
        <p:nvSpPr>
          <p:cNvPr id="74" name="CaixaDeTexto 73"/>
          <p:cNvSpPr txBox="1"/>
          <p:nvPr/>
        </p:nvSpPr>
        <p:spPr>
          <a:xfrm>
            <a:off x="3607261" y="5098497"/>
            <a:ext cx="301686" cy="369332"/>
          </a:xfrm>
          <a:prstGeom prst="rect">
            <a:avLst/>
          </a:prstGeom>
          <a:noFill/>
        </p:spPr>
        <p:txBody>
          <a:bodyPr wrap="none" rtlCol="0">
            <a:spAutoFit/>
          </a:bodyPr>
          <a:lstStyle/>
          <a:p>
            <a:r>
              <a:rPr lang="pt-BR" dirty="0"/>
              <a:t>1</a:t>
            </a:r>
          </a:p>
        </p:txBody>
      </p:sp>
    </p:spTree>
    <p:extLst>
      <p:ext uri="{BB962C8B-B14F-4D97-AF65-F5344CB8AC3E}">
        <p14:creationId xmlns:p14="http://schemas.microsoft.com/office/powerpoint/2010/main" val="28960534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Autofit/>
          </a:bodyPr>
          <a:lstStyle/>
          <a:p>
            <a:r>
              <a:rPr lang="pt-BR" sz="2400" dirty="0"/>
              <a:t>Obtendo uma instância do problema do Fluxo Máximo:</a:t>
            </a:r>
          </a:p>
          <a:p>
            <a:pPr lvl="1"/>
            <a:r>
              <a:rPr lang="pt-BR" sz="2000" dirty="0"/>
              <a:t>Observe que, como o peso que chega em C é igual a 1, só sairá uma única aresta de C para algum vértice de T (garante o </a:t>
            </a:r>
            <a:r>
              <a:rPr lang="pt-BR" sz="2000" dirty="0" err="1"/>
              <a:t>Matching</a:t>
            </a:r>
            <a:r>
              <a:rPr lang="pt-BR" sz="2000" dirty="0"/>
              <a:t>).</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
        <p:nvSpPr>
          <p:cNvPr id="31" name="Elipse 30"/>
          <p:cNvSpPr/>
          <p:nvPr/>
        </p:nvSpPr>
        <p:spPr>
          <a:xfrm>
            <a:off x="1372816"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s</a:t>
            </a:r>
          </a:p>
        </p:txBody>
      </p:sp>
      <p:sp>
        <p:nvSpPr>
          <p:cNvPr id="33" name="Elipse 32"/>
          <p:cNvSpPr/>
          <p:nvPr/>
        </p:nvSpPr>
        <p:spPr>
          <a:xfrm>
            <a:off x="7078660" y="4160158"/>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a:t>
            </a:r>
          </a:p>
        </p:txBody>
      </p:sp>
      <p:cxnSp>
        <p:nvCxnSpPr>
          <p:cNvPr id="35" name="Conector reto 34"/>
          <p:cNvCxnSpPr>
            <a:stCxn id="31" idx="0"/>
            <a:endCxn id="5" idx="2"/>
          </p:cNvCxnSpPr>
          <p:nvPr/>
        </p:nvCxnSpPr>
        <p:spPr>
          <a:xfrm flipV="1">
            <a:off x="1644507" y="3059975"/>
            <a:ext cx="1420933" cy="1100183"/>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31" idx="7"/>
            <a:endCxn id="7" idx="2"/>
          </p:cNvCxnSpPr>
          <p:nvPr/>
        </p:nvCxnSpPr>
        <p:spPr>
          <a:xfrm flipV="1">
            <a:off x="1836621" y="3715553"/>
            <a:ext cx="1228818" cy="504698"/>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31" idx="6"/>
            <a:endCxn id="6" idx="2"/>
          </p:cNvCxnSpPr>
          <p:nvPr/>
        </p:nvCxnSpPr>
        <p:spPr>
          <a:xfrm>
            <a:off x="1916197" y="4365330"/>
            <a:ext cx="1149242" cy="5802"/>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Conector reto 39"/>
          <p:cNvCxnSpPr>
            <a:stCxn id="31" idx="5"/>
            <a:endCxn id="13" idx="2"/>
          </p:cNvCxnSpPr>
          <p:nvPr/>
        </p:nvCxnSpPr>
        <p:spPr>
          <a:xfrm>
            <a:off x="1836621" y="4510409"/>
            <a:ext cx="1223212" cy="487445"/>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31" idx="4"/>
            <a:endCxn id="17" idx="2"/>
          </p:cNvCxnSpPr>
          <p:nvPr/>
        </p:nvCxnSpPr>
        <p:spPr>
          <a:xfrm>
            <a:off x="1644507" y="4570502"/>
            <a:ext cx="1415325" cy="1064820"/>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26" idx="6"/>
            <a:endCxn id="33" idx="0"/>
          </p:cNvCxnSpPr>
          <p:nvPr/>
        </p:nvCxnSpPr>
        <p:spPr>
          <a:xfrm>
            <a:off x="5850432" y="3058108"/>
            <a:ext cx="1499919" cy="1102050"/>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28" idx="6"/>
            <a:endCxn id="33" idx="1"/>
          </p:cNvCxnSpPr>
          <p:nvPr/>
        </p:nvCxnSpPr>
        <p:spPr>
          <a:xfrm>
            <a:off x="5850431" y="3713686"/>
            <a:ext cx="1307805" cy="506565"/>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27" idx="6"/>
            <a:endCxn id="33" idx="2"/>
          </p:cNvCxnSpPr>
          <p:nvPr/>
        </p:nvCxnSpPr>
        <p:spPr>
          <a:xfrm flipV="1">
            <a:off x="5850431" y="4365330"/>
            <a:ext cx="1228229" cy="3935"/>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29" idx="6"/>
            <a:endCxn id="33" idx="3"/>
          </p:cNvCxnSpPr>
          <p:nvPr/>
        </p:nvCxnSpPr>
        <p:spPr>
          <a:xfrm flipV="1">
            <a:off x="5844825" y="4510409"/>
            <a:ext cx="1313411" cy="485578"/>
          </a:xfrm>
          <a:prstGeom prst="line">
            <a:avLst/>
          </a:prstGeom>
          <a:ln w="127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Conector reto 49"/>
          <p:cNvCxnSpPr>
            <a:stCxn id="30" idx="6"/>
            <a:endCxn id="33" idx="4"/>
          </p:cNvCxnSpPr>
          <p:nvPr/>
        </p:nvCxnSpPr>
        <p:spPr>
          <a:xfrm flipV="1">
            <a:off x="5844824" y="4570502"/>
            <a:ext cx="1505527" cy="1062953"/>
          </a:xfrm>
          <a:prstGeom prst="line">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CaixaDeTexto 3"/>
          <p:cNvSpPr txBox="1"/>
          <p:nvPr/>
        </p:nvSpPr>
        <p:spPr>
          <a:xfrm>
            <a:off x="2170332" y="3283593"/>
            <a:ext cx="301686" cy="369332"/>
          </a:xfrm>
          <a:prstGeom prst="rect">
            <a:avLst/>
          </a:prstGeom>
          <a:noFill/>
        </p:spPr>
        <p:txBody>
          <a:bodyPr wrap="none" rtlCol="0">
            <a:spAutoFit/>
          </a:bodyPr>
          <a:lstStyle/>
          <a:p>
            <a:r>
              <a:rPr lang="pt-BR" dirty="0"/>
              <a:t>1</a:t>
            </a:r>
          </a:p>
        </p:txBody>
      </p:sp>
      <p:sp>
        <p:nvSpPr>
          <p:cNvPr id="52" name="CaixaDeTexto 51"/>
          <p:cNvSpPr txBox="1"/>
          <p:nvPr/>
        </p:nvSpPr>
        <p:spPr>
          <a:xfrm>
            <a:off x="2352169" y="3628436"/>
            <a:ext cx="301686" cy="369332"/>
          </a:xfrm>
          <a:prstGeom prst="rect">
            <a:avLst/>
          </a:prstGeom>
          <a:noFill/>
        </p:spPr>
        <p:txBody>
          <a:bodyPr wrap="none" rtlCol="0">
            <a:spAutoFit/>
          </a:bodyPr>
          <a:lstStyle/>
          <a:p>
            <a:r>
              <a:rPr lang="pt-BR" dirty="0"/>
              <a:t>1</a:t>
            </a:r>
          </a:p>
        </p:txBody>
      </p:sp>
      <p:sp>
        <p:nvSpPr>
          <p:cNvPr id="54" name="CaixaDeTexto 53"/>
          <p:cNvSpPr txBox="1"/>
          <p:nvPr/>
        </p:nvSpPr>
        <p:spPr>
          <a:xfrm>
            <a:off x="2503012" y="4070614"/>
            <a:ext cx="301686" cy="369332"/>
          </a:xfrm>
          <a:prstGeom prst="rect">
            <a:avLst/>
          </a:prstGeom>
          <a:noFill/>
        </p:spPr>
        <p:txBody>
          <a:bodyPr wrap="none" rtlCol="0">
            <a:spAutoFit/>
          </a:bodyPr>
          <a:lstStyle/>
          <a:p>
            <a:r>
              <a:rPr lang="pt-BR" dirty="0"/>
              <a:t>1</a:t>
            </a:r>
          </a:p>
        </p:txBody>
      </p:sp>
      <p:sp>
        <p:nvSpPr>
          <p:cNvPr id="55" name="CaixaDeTexto 54"/>
          <p:cNvSpPr txBox="1"/>
          <p:nvPr/>
        </p:nvSpPr>
        <p:spPr>
          <a:xfrm>
            <a:off x="2365609" y="4480958"/>
            <a:ext cx="301686" cy="369332"/>
          </a:xfrm>
          <a:prstGeom prst="rect">
            <a:avLst/>
          </a:prstGeom>
          <a:noFill/>
        </p:spPr>
        <p:txBody>
          <a:bodyPr wrap="none" rtlCol="0">
            <a:spAutoFit/>
          </a:bodyPr>
          <a:lstStyle/>
          <a:p>
            <a:r>
              <a:rPr lang="pt-BR" dirty="0"/>
              <a:t>1</a:t>
            </a:r>
          </a:p>
        </p:txBody>
      </p:sp>
      <p:sp>
        <p:nvSpPr>
          <p:cNvPr id="57" name="CaixaDeTexto 56"/>
          <p:cNvSpPr txBox="1"/>
          <p:nvPr/>
        </p:nvSpPr>
        <p:spPr>
          <a:xfrm>
            <a:off x="2170332" y="5057947"/>
            <a:ext cx="301686" cy="369332"/>
          </a:xfrm>
          <a:prstGeom prst="rect">
            <a:avLst/>
          </a:prstGeom>
          <a:noFill/>
        </p:spPr>
        <p:txBody>
          <a:bodyPr wrap="none" rtlCol="0">
            <a:spAutoFit/>
          </a:bodyPr>
          <a:lstStyle/>
          <a:p>
            <a:r>
              <a:rPr lang="pt-BR" dirty="0"/>
              <a:t>1</a:t>
            </a:r>
          </a:p>
        </p:txBody>
      </p:sp>
      <p:sp>
        <p:nvSpPr>
          <p:cNvPr id="59" name="CaixaDeTexto 58"/>
          <p:cNvSpPr txBox="1"/>
          <p:nvPr/>
        </p:nvSpPr>
        <p:spPr>
          <a:xfrm>
            <a:off x="6092125" y="3295139"/>
            <a:ext cx="301686" cy="369332"/>
          </a:xfrm>
          <a:prstGeom prst="rect">
            <a:avLst/>
          </a:prstGeom>
          <a:noFill/>
        </p:spPr>
        <p:txBody>
          <a:bodyPr wrap="none" rtlCol="0">
            <a:spAutoFit/>
          </a:bodyPr>
          <a:lstStyle/>
          <a:p>
            <a:r>
              <a:rPr lang="pt-BR" dirty="0"/>
              <a:t>1</a:t>
            </a:r>
          </a:p>
        </p:txBody>
      </p:sp>
      <p:sp>
        <p:nvSpPr>
          <p:cNvPr id="60" name="CaixaDeTexto 59"/>
          <p:cNvSpPr txBox="1"/>
          <p:nvPr/>
        </p:nvSpPr>
        <p:spPr>
          <a:xfrm>
            <a:off x="6273962" y="3639982"/>
            <a:ext cx="301686" cy="369332"/>
          </a:xfrm>
          <a:prstGeom prst="rect">
            <a:avLst/>
          </a:prstGeom>
          <a:noFill/>
        </p:spPr>
        <p:txBody>
          <a:bodyPr wrap="none" rtlCol="0">
            <a:spAutoFit/>
          </a:bodyPr>
          <a:lstStyle/>
          <a:p>
            <a:r>
              <a:rPr lang="pt-BR" dirty="0"/>
              <a:t>1</a:t>
            </a:r>
          </a:p>
        </p:txBody>
      </p:sp>
      <p:sp>
        <p:nvSpPr>
          <p:cNvPr id="61" name="CaixaDeTexto 60"/>
          <p:cNvSpPr txBox="1"/>
          <p:nvPr/>
        </p:nvSpPr>
        <p:spPr>
          <a:xfrm>
            <a:off x="6424805" y="4082160"/>
            <a:ext cx="301686" cy="369332"/>
          </a:xfrm>
          <a:prstGeom prst="rect">
            <a:avLst/>
          </a:prstGeom>
          <a:noFill/>
        </p:spPr>
        <p:txBody>
          <a:bodyPr wrap="none" rtlCol="0">
            <a:spAutoFit/>
          </a:bodyPr>
          <a:lstStyle/>
          <a:p>
            <a:r>
              <a:rPr lang="pt-BR" dirty="0"/>
              <a:t>1</a:t>
            </a:r>
          </a:p>
        </p:txBody>
      </p:sp>
      <p:sp>
        <p:nvSpPr>
          <p:cNvPr id="62" name="CaixaDeTexto 61"/>
          <p:cNvSpPr txBox="1"/>
          <p:nvPr/>
        </p:nvSpPr>
        <p:spPr>
          <a:xfrm>
            <a:off x="6287402" y="4492504"/>
            <a:ext cx="301686" cy="369332"/>
          </a:xfrm>
          <a:prstGeom prst="rect">
            <a:avLst/>
          </a:prstGeom>
          <a:noFill/>
        </p:spPr>
        <p:txBody>
          <a:bodyPr wrap="none" rtlCol="0">
            <a:spAutoFit/>
          </a:bodyPr>
          <a:lstStyle/>
          <a:p>
            <a:r>
              <a:rPr lang="pt-BR" dirty="0"/>
              <a:t>1</a:t>
            </a:r>
          </a:p>
        </p:txBody>
      </p:sp>
      <p:sp>
        <p:nvSpPr>
          <p:cNvPr id="63" name="CaixaDeTexto 62"/>
          <p:cNvSpPr txBox="1"/>
          <p:nvPr/>
        </p:nvSpPr>
        <p:spPr>
          <a:xfrm>
            <a:off x="6092125" y="5069493"/>
            <a:ext cx="301686" cy="369332"/>
          </a:xfrm>
          <a:prstGeom prst="rect">
            <a:avLst/>
          </a:prstGeom>
          <a:noFill/>
        </p:spPr>
        <p:txBody>
          <a:bodyPr wrap="none" rtlCol="0">
            <a:spAutoFit/>
          </a:bodyPr>
          <a:lstStyle/>
          <a:p>
            <a:r>
              <a:rPr lang="pt-BR" dirty="0"/>
              <a:t>1</a:t>
            </a:r>
          </a:p>
        </p:txBody>
      </p:sp>
      <p:sp>
        <p:nvSpPr>
          <p:cNvPr id="64" name="CaixaDeTexto 63"/>
          <p:cNvSpPr txBox="1"/>
          <p:nvPr/>
        </p:nvSpPr>
        <p:spPr>
          <a:xfrm>
            <a:off x="4169262" y="3016565"/>
            <a:ext cx="301686" cy="369332"/>
          </a:xfrm>
          <a:prstGeom prst="rect">
            <a:avLst/>
          </a:prstGeom>
          <a:noFill/>
        </p:spPr>
        <p:txBody>
          <a:bodyPr wrap="none" rtlCol="0">
            <a:spAutoFit/>
          </a:bodyPr>
          <a:lstStyle/>
          <a:p>
            <a:r>
              <a:rPr lang="pt-BR" dirty="0"/>
              <a:t>1</a:t>
            </a:r>
          </a:p>
        </p:txBody>
      </p:sp>
      <p:sp>
        <p:nvSpPr>
          <p:cNvPr id="65" name="CaixaDeTexto 64"/>
          <p:cNvSpPr txBox="1"/>
          <p:nvPr/>
        </p:nvSpPr>
        <p:spPr>
          <a:xfrm>
            <a:off x="4163846" y="3299261"/>
            <a:ext cx="301686" cy="369332"/>
          </a:xfrm>
          <a:prstGeom prst="rect">
            <a:avLst/>
          </a:prstGeom>
          <a:noFill/>
        </p:spPr>
        <p:txBody>
          <a:bodyPr wrap="none" rtlCol="0">
            <a:spAutoFit/>
          </a:bodyPr>
          <a:lstStyle/>
          <a:p>
            <a:r>
              <a:rPr lang="pt-BR" dirty="0"/>
              <a:t>1</a:t>
            </a:r>
          </a:p>
        </p:txBody>
      </p:sp>
      <p:sp>
        <p:nvSpPr>
          <p:cNvPr id="66" name="CaixaDeTexto 65"/>
          <p:cNvSpPr txBox="1"/>
          <p:nvPr/>
        </p:nvSpPr>
        <p:spPr>
          <a:xfrm>
            <a:off x="3785404" y="3424467"/>
            <a:ext cx="301686" cy="369332"/>
          </a:xfrm>
          <a:prstGeom prst="rect">
            <a:avLst/>
          </a:prstGeom>
          <a:noFill/>
        </p:spPr>
        <p:txBody>
          <a:bodyPr wrap="none" rtlCol="0">
            <a:spAutoFit/>
          </a:bodyPr>
          <a:lstStyle/>
          <a:p>
            <a:r>
              <a:rPr lang="pt-BR" dirty="0"/>
              <a:t>1</a:t>
            </a:r>
          </a:p>
        </p:txBody>
      </p:sp>
      <p:sp>
        <p:nvSpPr>
          <p:cNvPr id="67" name="CaixaDeTexto 66"/>
          <p:cNvSpPr txBox="1"/>
          <p:nvPr/>
        </p:nvSpPr>
        <p:spPr>
          <a:xfrm>
            <a:off x="4926234" y="5040103"/>
            <a:ext cx="301686" cy="369332"/>
          </a:xfrm>
          <a:prstGeom prst="rect">
            <a:avLst/>
          </a:prstGeom>
          <a:noFill/>
        </p:spPr>
        <p:txBody>
          <a:bodyPr wrap="none" rtlCol="0">
            <a:spAutoFit/>
          </a:bodyPr>
          <a:lstStyle/>
          <a:p>
            <a:r>
              <a:rPr lang="pt-BR" dirty="0"/>
              <a:t>1</a:t>
            </a:r>
          </a:p>
        </p:txBody>
      </p:sp>
      <p:sp>
        <p:nvSpPr>
          <p:cNvPr id="68" name="CaixaDeTexto 67"/>
          <p:cNvSpPr txBox="1"/>
          <p:nvPr/>
        </p:nvSpPr>
        <p:spPr>
          <a:xfrm>
            <a:off x="3903448" y="3732325"/>
            <a:ext cx="301686" cy="369332"/>
          </a:xfrm>
          <a:prstGeom prst="rect">
            <a:avLst/>
          </a:prstGeom>
          <a:noFill/>
        </p:spPr>
        <p:txBody>
          <a:bodyPr wrap="none" rtlCol="0">
            <a:spAutoFit/>
          </a:bodyPr>
          <a:lstStyle/>
          <a:p>
            <a:r>
              <a:rPr lang="pt-BR" dirty="0"/>
              <a:t>1</a:t>
            </a:r>
          </a:p>
        </p:txBody>
      </p:sp>
      <p:sp>
        <p:nvSpPr>
          <p:cNvPr id="69" name="CaixaDeTexto 68"/>
          <p:cNvSpPr txBox="1"/>
          <p:nvPr/>
        </p:nvSpPr>
        <p:spPr>
          <a:xfrm>
            <a:off x="4360483" y="4045026"/>
            <a:ext cx="301686" cy="369332"/>
          </a:xfrm>
          <a:prstGeom prst="rect">
            <a:avLst/>
          </a:prstGeom>
          <a:noFill/>
        </p:spPr>
        <p:txBody>
          <a:bodyPr wrap="none" rtlCol="0">
            <a:spAutoFit/>
          </a:bodyPr>
          <a:lstStyle/>
          <a:p>
            <a:r>
              <a:rPr lang="pt-BR" dirty="0"/>
              <a:t>1</a:t>
            </a:r>
          </a:p>
        </p:txBody>
      </p:sp>
      <p:sp>
        <p:nvSpPr>
          <p:cNvPr id="70" name="CaixaDeTexto 69"/>
          <p:cNvSpPr txBox="1"/>
          <p:nvPr/>
        </p:nvSpPr>
        <p:spPr>
          <a:xfrm>
            <a:off x="3774644" y="4439946"/>
            <a:ext cx="301686" cy="369332"/>
          </a:xfrm>
          <a:prstGeom prst="rect">
            <a:avLst/>
          </a:prstGeom>
          <a:noFill/>
        </p:spPr>
        <p:txBody>
          <a:bodyPr wrap="none" rtlCol="0">
            <a:spAutoFit/>
          </a:bodyPr>
          <a:lstStyle/>
          <a:p>
            <a:r>
              <a:rPr lang="pt-BR" dirty="0"/>
              <a:t>1</a:t>
            </a:r>
          </a:p>
        </p:txBody>
      </p:sp>
      <p:sp>
        <p:nvSpPr>
          <p:cNvPr id="71" name="CaixaDeTexto 70"/>
          <p:cNvSpPr txBox="1"/>
          <p:nvPr/>
        </p:nvSpPr>
        <p:spPr>
          <a:xfrm>
            <a:off x="3837190" y="4817804"/>
            <a:ext cx="301686" cy="369332"/>
          </a:xfrm>
          <a:prstGeom prst="rect">
            <a:avLst/>
          </a:prstGeom>
          <a:noFill/>
        </p:spPr>
        <p:txBody>
          <a:bodyPr wrap="none" rtlCol="0">
            <a:spAutoFit/>
          </a:bodyPr>
          <a:lstStyle/>
          <a:p>
            <a:r>
              <a:rPr lang="pt-BR" dirty="0"/>
              <a:t>1</a:t>
            </a:r>
          </a:p>
        </p:txBody>
      </p:sp>
      <p:sp>
        <p:nvSpPr>
          <p:cNvPr id="72" name="CaixaDeTexto 71"/>
          <p:cNvSpPr txBox="1"/>
          <p:nvPr/>
        </p:nvSpPr>
        <p:spPr>
          <a:xfrm>
            <a:off x="4324314" y="5261290"/>
            <a:ext cx="301686" cy="369332"/>
          </a:xfrm>
          <a:prstGeom prst="rect">
            <a:avLst/>
          </a:prstGeom>
          <a:noFill/>
        </p:spPr>
        <p:txBody>
          <a:bodyPr wrap="none" rtlCol="0">
            <a:spAutoFit/>
          </a:bodyPr>
          <a:lstStyle/>
          <a:p>
            <a:r>
              <a:rPr lang="pt-BR" dirty="0"/>
              <a:t>1</a:t>
            </a:r>
          </a:p>
        </p:txBody>
      </p:sp>
      <p:sp>
        <p:nvSpPr>
          <p:cNvPr id="73" name="CaixaDeTexto 72"/>
          <p:cNvSpPr txBox="1"/>
          <p:nvPr/>
        </p:nvSpPr>
        <p:spPr>
          <a:xfrm>
            <a:off x="3936247" y="5315654"/>
            <a:ext cx="301686" cy="369332"/>
          </a:xfrm>
          <a:prstGeom prst="rect">
            <a:avLst/>
          </a:prstGeom>
          <a:noFill/>
        </p:spPr>
        <p:txBody>
          <a:bodyPr wrap="none" rtlCol="0">
            <a:spAutoFit/>
          </a:bodyPr>
          <a:lstStyle/>
          <a:p>
            <a:r>
              <a:rPr lang="pt-BR" dirty="0"/>
              <a:t>1</a:t>
            </a:r>
          </a:p>
        </p:txBody>
      </p:sp>
      <p:sp>
        <p:nvSpPr>
          <p:cNvPr id="74" name="CaixaDeTexto 73"/>
          <p:cNvSpPr txBox="1"/>
          <p:nvPr/>
        </p:nvSpPr>
        <p:spPr>
          <a:xfrm>
            <a:off x="3607261" y="5098497"/>
            <a:ext cx="301686" cy="369332"/>
          </a:xfrm>
          <a:prstGeom prst="rect">
            <a:avLst/>
          </a:prstGeom>
          <a:noFill/>
        </p:spPr>
        <p:txBody>
          <a:bodyPr wrap="none" rtlCol="0">
            <a:spAutoFit/>
          </a:bodyPr>
          <a:lstStyle/>
          <a:p>
            <a:r>
              <a:rPr lang="pt-BR" dirty="0"/>
              <a:t>1</a:t>
            </a:r>
          </a:p>
        </p:txBody>
      </p:sp>
    </p:spTree>
    <p:extLst>
      <p:ext uri="{BB962C8B-B14F-4D97-AF65-F5344CB8AC3E}">
        <p14:creationId xmlns:p14="http://schemas.microsoft.com/office/powerpoint/2010/main" val="2732247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0" y="0"/>
            <a:ext cx="9144000" cy="6858000"/>
          </a:xfrm>
          <a:prstGeom prst="rect">
            <a:avLst/>
          </a:prstGeom>
        </p:spPr>
      </p:pic>
      <p:pic>
        <p:nvPicPr>
          <p:cNvPr id="4" name="Picture 2" descr="Resultado de imagem para that's all fol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985" y="260648"/>
            <a:ext cx="6192030" cy="6336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430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Bibliografia</a:t>
            </a:r>
          </a:p>
        </p:txBody>
      </p:sp>
      <p:sp>
        <p:nvSpPr>
          <p:cNvPr id="4" name="CaixaDeTexto 3"/>
          <p:cNvSpPr txBox="1"/>
          <p:nvPr/>
        </p:nvSpPr>
        <p:spPr>
          <a:xfrm>
            <a:off x="683568" y="2276872"/>
            <a:ext cx="7488832" cy="923330"/>
          </a:xfrm>
          <a:prstGeom prst="rect">
            <a:avLst/>
          </a:prstGeom>
          <a:noFill/>
        </p:spPr>
        <p:txBody>
          <a:bodyPr wrap="square" rtlCol="0">
            <a:spAutoFit/>
          </a:bodyPr>
          <a:lstStyle/>
          <a:p>
            <a:r>
              <a:rPr lang="pt-BR" dirty="0"/>
              <a:t>[</a:t>
            </a:r>
            <a:r>
              <a:rPr lang="pt-BR" dirty="0" err="1"/>
              <a:t>Cormen</a:t>
            </a:r>
            <a:r>
              <a:rPr lang="pt-BR" dirty="0"/>
              <a:t> et al., 2009] </a:t>
            </a:r>
            <a:r>
              <a:rPr lang="en-US" dirty="0"/>
              <a:t>Introduction to Algorithms, 3rd edition.</a:t>
            </a:r>
          </a:p>
          <a:p>
            <a:r>
              <a:rPr lang="pt-BR" dirty="0"/>
              <a:t>Thomas H. </a:t>
            </a:r>
            <a:r>
              <a:rPr lang="pt-BR" dirty="0" err="1"/>
              <a:t>Cormen</a:t>
            </a:r>
            <a:r>
              <a:rPr lang="pt-BR" dirty="0"/>
              <a:t>, Charles E. </a:t>
            </a:r>
            <a:r>
              <a:rPr lang="pt-BR" dirty="0" err="1"/>
              <a:t>Leiserson</a:t>
            </a:r>
            <a:r>
              <a:rPr lang="pt-BR" dirty="0"/>
              <a:t>, Ronald L. </a:t>
            </a:r>
            <a:r>
              <a:rPr lang="pt-BR" dirty="0" err="1"/>
              <a:t>Rivest</a:t>
            </a:r>
            <a:r>
              <a:rPr lang="pt-BR" dirty="0"/>
              <a:t>, Clifford Stein.</a:t>
            </a:r>
          </a:p>
          <a:p>
            <a:r>
              <a:rPr lang="pt-BR" dirty="0"/>
              <a:t>2009, 1312 pp. MIT Press, ISBN 9780262033848.</a:t>
            </a:r>
          </a:p>
        </p:txBody>
      </p:sp>
      <p:sp>
        <p:nvSpPr>
          <p:cNvPr id="5" name="CaixaDeTexto 4"/>
          <p:cNvSpPr txBox="1"/>
          <p:nvPr/>
        </p:nvSpPr>
        <p:spPr>
          <a:xfrm>
            <a:off x="683568" y="3356992"/>
            <a:ext cx="7056784" cy="646331"/>
          </a:xfrm>
          <a:prstGeom prst="rect">
            <a:avLst/>
          </a:prstGeom>
          <a:noFill/>
        </p:spPr>
        <p:txBody>
          <a:bodyPr wrap="square" rtlCol="0">
            <a:spAutoFit/>
          </a:bodyPr>
          <a:lstStyle/>
          <a:p>
            <a:r>
              <a:rPr lang="pt-BR" dirty="0"/>
              <a:t>[</a:t>
            </a:r>
            <a:r>
              <a:rPr lang="pt-BR" dirty="0" err="1"/>
              <a:t>Ziviani</a:t>
            </a:r>
            <a:r>
              <a:rPr lang="pt-BR" dirty="0"/>
              <a:t>, 2006] Projeto de Algoritmos com Implementações em Java e C++.</a:t>
            </a:r>
          </a:p>
          <a:p>
            <a:r>
              <a:rPr lang="pt-BR" dirty="0" err="1"/>
              <a:t>Nivio</a:t>
            </a:r>
            <a:r>
              <a:rPr lang="pt-BR" dirty="0"/>
              <a:t> </a:t>
            </a:r>
            <a:r>
              <a:rPr lang="pt-BR" dirty="0" err="1"/>
              <a:t>Ziviani</a:t>
            </a:r>
            <a:r>
              <a:rPr lang="pt-BR" dirty="0"/>
              <a:t>. 2006, 642 pp. Editora Thomson, ISBN 8522105251.</a:t>
            </a:r>
          </a:p>
        </p:txBody>
      </p:sp>
      <p:sp>
        <p:nvSpPr>
          <p:cNvPr id="6" name="CaixaDeTexto 5"/>
          <p:cNvSpPr txBox="1"/>
          <p:nvPr/>
        </p:nvSpPr>
        <p:spPr>
          <a:xfrm>
            <a:off x="755576" y="1402121"/>
            <a:ext cx="5616624" cy="646331"/>
          </a:xfrm>
          <a:prstGeom prst="rect">
            <a:avLst/>
          </a:prstGeom>
          <a:noFill/>
        </p:spPr>
        <p:txBody>
          <a:bodyPr wrap="square" rtlCol="0">
            <a:spAutoFit/>
          </a:bodyPr>
          <a:lstStyle/>
          <a:p>
            <a:r>
              <a:rPr lang="pt-BR" dirty="0"/>
              <a:t>Robin J. Wilson. </a:t>
            </a:r>
            <a:r>
              <a:rPr lang="pt-BR" dirty="0" err="1"/>
              <a:t>Introduction</a:t>
            </a:r>
            <a:r>
              <a:rPr lang="pt-BR" dirty="0"/>
              <a:t> </a:t>
            </a:r>
            <a:r>
              <a:rPr lang="pt-BR" dirty="0" err="1"/>
              <a:t>to</a:t>
            </a:r>
            <a:r>
              <a:rPr lang="pt-BR" dirty="0"/>
              <a:t> </a:t>
            </a:r>
            <a:r>
              <a:rPr lang="pt-BR" dirty="0" err="1"/>
              <a:t>graph</a:t>
            </a:r>
            <a:r>
              <a:rPr lang="pt-BR" dirty="0"/>
              <a:t> </a:t>
            </a:r>
            <a:r>
              <a:rPr lang="pt-BR" dirty="0" err="1"/>
              <a:t>theory</a:t>
            </a:r>
            <a:r>
              <a:rPr lang="pt-BR" dirty="0"/>
              <a:t>. </a:t>
            </a:r>
          </a:p>
          <a:p>
            <a:r>
              <a:rPr lang="pt-BR" dirty="0" err="1"/>
              <a:t>Longman</a:t>
            </a:r>
            <a:r>
              <a:rPr lang="pt-BR" dirty="0"/>
              <a:t>, 1996</a:t>
            </a:r>
          </a:p>
        </p:txBody>
      </p:sp>
    </p:spTree>
    <p:extLst>
      <p:ext uri="{BB962C8B-B14F-4D97-AF65-F5344CB8AC3E}">
        <p14:creationId xmlns:p14="http://schemas.microsoft.com/office/powerpoint/2010/main" val="3266931048"/>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8714</TotalTime>
  <Words>3869</Words>
  <Application>Microsoft Office PowerPoint</Application>
  <PresentationFormat>Apresentação na tela (4:3)</PresentationFormat>
  <Paragraphs>851</Paragraphs>
  <Slides>79</Slides>
  <Notes>2</Notes>
  <HiddenSlides>2</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79</vt:i4>
      </vt:variant>
    </vt:vector>
  </HeadingPairs>
  <TitlesOfParts>
    <vt:vector size="84" baseType="lpstr">
      <vt:lpstr>Arial</vt:lpstr>
      <vt:lpstr>Calibri</vt:lpstr>
      <vt:lpstr>Cambria Math</vt:lpstr>
      <vt:lpstr>Consolas</vt:lpstr>
      <vt:lpstr>Tema do Office</vt:lpstr>
      <vt:lpstr>Unidade VIII  Particionamento</vt:lpstr>
      <vt:lpstr>Conjuntos Independentes</vt:lpstr>
      <vt:lpstr>Conjuntos Independentes</vt:lpstr>
      <vt:lpstr>Conjuntos Independentes</vt:lpstr>
      <vt:lpstr>Conjuntos Independentes</vt:lpstr>
      <vt:lpstr>Conjuntos Independentes Maximal e β(G)</vt:lpstr>
      <vt:lpstr>Clique</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Transformação Polinomial (mais nas próximas aulas)</vt:lpstr>
      <vt:lpstr>Transformação Polinomial (mais nas próximas aulas)</vt:lpstr>
      <vt:lpstr>Problema NP-Completo (mais nas próximas aulas)</vt:lpstr>
      <vt:lpstr>Conjuntos Dominantes</vt:lpstr>
      <vt:lpstr>Conjuntos Dominantes Mínimos e α(G) </vt:lpstr>
      <vt:lpstr>Problema dos Bancos 24 Horas</vt:lpstr>
      <vt:lpstr>Problema dos Bancos 24 Horas</vt:lpstr>
      <vt:lpstr>Problema dos Bancos 24 Horas</vt:lpstr>
      <vt:lpstr>Conjuntos Dominantes</vt:lpstr>
      <vt:lpstr>Conjuntos Dominantes</vt:lpstr>
      <vt:lpstr>Conjuntos Dominantes</vt:lpstr>
      <vt:lpstr>Conjuntos Dominantes</vt:lpstr>
      <vt:lpstr>Cobertura de Vértices</vt:lpstr>
      <vt:lpstr>Cobertura de Vértices</vt:lpstr>
      <vt:lpstr>Cobertura de Vértices</vt:lpstr>
      <vt:lpstr>Cobertura de Vértices e Conjunto Independente </vt:lpstr>
      <vt:lpstr>Cobertura de Vértices e Conjunto Independente </vt:lpstr>
      <vt:lpstr>Cobertura de Vértices e Conjunto Independente </vt:lpstr>
      <vt:lpstr>Cobertura de Arestas</vt:lpstr>
      <vt:lpstr>Policiamento de Ruas</vt:lpstr>
      <vt:lpstr>Policiamento de Ruas</vt:lpstr>
      <vt:lpstr>Problema das 8 rainhas (n-rainhas)</vt:lpstr>
      <vt:lpstr>Problema das 8 rainhas (n-rainhas)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Emparelhamento máximo</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Apresentação do PowerPoint</vt:lpstr>
      <vt:lpstr>Bibliografia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Algoritmos e Estruturas de Dados</dc:title>
  <dc:creator>henrique</dc:creator>
  <cp:lastModifiedBy>Henrique Silva</cp:lastModifiedBy>
  <cp:revision>508</cp:revision>
  <dcterms:created xsi:type="dcterms:W3CDTF">2011-08-03T02:09:11Z</dcterms:created>
  <dcterms:modified xsi:type="dcterms:W3CDTF">2018-11-15T20:03:34Z</dcterms:modified>
</cp:coreProperties>
</file>