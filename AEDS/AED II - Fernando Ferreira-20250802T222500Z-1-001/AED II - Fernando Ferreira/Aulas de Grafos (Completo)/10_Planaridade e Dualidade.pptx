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05" r:id="rId3"/>
    <p:sldId id="267" r:id="rId4"/>
    <p:sldId id="268" r:id="rId5"/>
    <p:sldId id="266" r:id="rId6"/>
    <p:sldId id="278" r:id="rId7"/>
    <p:sldId id="283" r:id="rId8"/>
    <p:sldId id="269" r:id="rId9"/>
    <p:sldId id="270" r:id="rId10"/>
    <p:sldId id="272" r:id="rId11"/>
    <p:sldId id="274" r:id="rId12"/>
    <p:sldId id="276" r:id="rId13"/>
    <p:sldId id="277" r:id="rId14"/>
    <p:sldId id="279" r:id="rId15"/>
    <p:sldId id="280" r:id="rId16"/>
    <p:sldId id="281" r:id="rId17"/>
    <p:sldId id="284" r:id="rId18"/>
    <p:sldId id="285" r:id="rId19"/>
    <p:sldId id="286" r:id="rId20"/>
    <p:sldId id="288" r:id="rId21"/>
    <p:sldId id="289" r:id="rId22"/>
    <p:sldId id="290" r:id="rId23"/>
    <p:sldId id="291" r:id="rId24"/>
    <p:sldId id="287" r:id="rId25"/>
    <p:sldId id="292" r:id="rId26"/>
    <p:sldId id="293" r:id="rId27"/>
    <p:sldId id="296" r:id="rId28"/>
    <p:sldId id="297" r:id="rId29"/>
    <p:sldId id="299" r:id="rId30"/>
    <p:sldId id="302" r:id="rId31"/>
    <p:sldId id="303" r:id="rId32"/>
    <p:sldId id="304" r:id="rId33"/>
    <p:sldId id="264" r:id="rId34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167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30/10/2018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30/10/2018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30/10/2018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30/10/2018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30/10/2018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30/10/2018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30/10/2018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30/10/2018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30/10/2018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30/10/2018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30/10/2018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700DB3-DBF0-4086-B675-117E7A9610B8}" type="datetimeFigureOut">
              <a:rPr lang="pt-BR" smtClean="0"/>
              <a:t>30/10/2018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Unidade VI </a:t>
            </a:r>
            <a:br>
              <a:rPr lang="pt-BR" dirty="0"/>
            </a:br>
            <a:r>
              <a:rPr lang="pt-BR" dirty="0" err="1"/>
              <a:t>Planaridade</a:t>
            </a:r>
            <a:r>
              <a:rPr lang="pt-BR" dirty="0"/>
              <a:t> e Dualidade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Prof. Henrique Batista da Silva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17654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Planaridade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 err="1"/>
              <a:t>Planarity</a:t>
            </a:r>
            <a:endParaRPr lang="pt-BR" b="1" dirty="0"/>
          </a:p>
          <a:p>
            <a:r>
              <a:rPr lang="pt-BR" dirty="0"/>
              <a:t>http://jogosonline.uol.com.br/planarity_19394.html#rmcl</a:t>
            </a:r>
          </a:p>
        </p:txBody>
      </p:sp>
    </p:spTree>
    <p:extLst>
      <p:ext uri="{BB962C8B-B14F-4D97-AF65-F5344CB8AC3E}">
        <p14:creationId xmlns:p14="http://schemas.microsoft.com/office/powerpoint/2010/main" val="1883637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Planaridade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Um grafo planar é um grafo que pode ser desenhado no plano sem cruzamento de arestas.</a:t>
            </a:r>
          </a:p>
        </p:txBody>
      </p:sp>
      <p:sp>
        <p:nvSpPr>
          <p:cNvPr id="61" name="Elipse 60"/>
          <p:cNvSpPr/>
          <p:nvPr/>
        </p:nvSpPr>
        <p:spPr>
          <a:xfrm>
            <a:off x="2843808" y="2996952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2" name="Elipse 61"/>
          <p:cNvSpPr/>
          <p:nvPr/>
        </p:nvSpPr>
        <p:spPr>
          <a:xfrm>
            <a:off x="3746636" y="2992160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3" name="Elipse 62"/>
          <p:cNvSpPr/>
          <p:nvPr/>
        </p:nvSpPr>
        <p:spPr>
          <a:xfrm>
            <a:off x="2843808" y="3861048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4" name="Elipse 63"/>
          <p:cNvSpPr/>
          <p:nvPr/>
        </p:nvSpPr>
        <p:spPr>
          <a:xfrm>
            <a:off x="3746636" y="3861048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5" name="Conector reto 64"/>
          <p:cNvCxnSpPr>
            <a:stCxn id="61" idx="6"/>
            <a:endCxn id="62" idx="2"/>
          </p:cNvCxnSpPr>
          <p:nvPr/>
        </p:nvCxnSpPr>
        <p:spPr>
          <a:xfrm flipV="1">
            <a:off x="2987824" y="3064168"/>
            <a:ext cx="758812" cy="47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to 65"/>
          <p:cNvCxnSpPr>
            <a:stCxn id="62" idx="4"/>
            <a:endCxn id="64" idx="0"/>
          </p:cNvCxnSpPr>
          <p:nvPr/>
        </p:nvCxnSpPr>
        <p:spPr>
          <a:xfrm>
            <a:off x="3818644" y="3136176"/>
            <a:ext cx="0" cy="7248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to 66"/>
          <p:cNvCxnSpPr>
            <a:stCxn id="64" idx="2"/>
            <a:endCxn id="63" idx="6"/>
          </p:cNvCxnSpPr>
          <p:nvPr/>
        </p:nvCxnSpPr>
        <p:spPr>
          <a:xfrm flipH="1">
            <a:off x="2987824" y="3933056"/>
            <a:ext cx="75881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ector reto 67"/>
          <p:cNvCxnSpPr>
            <a:stCxn id="61" idx="4"/>
            <a:endCxn id="63" idx="0"/>
          </p:cNvCxnSpPr>
          <p:nvPr/>
        </p:nvCxnSpPr>
        <p:spPr>
          <a:xfrm>
            <a:off x="2915816" y="3140968"/>
            <a:ext cx="0" cy="7200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ector reto 69"/>
          <p:cNvCxnSpPr>
            <a:stCxn id="62" idx="3"/>
            <a:endCxn id="63" idx="7"/>
          </p:cNvCxnSpPr>
          <p:nvPr/>
        </p:nvCxnSpPr>
        <p:spPr>
          <a:xfrm flipH="1">
            <a:off x="2966733" y="3115085"/>
            <a:ext cx="800994" cy="7670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to 70"/>
          <p:cNvCxnSpPr>
            <a:stCxn id="61" idx="5"/>
            <a:endCxn id="64" idx="1"/>
          </p:cNvCxnSpPr>
          <p:nvPr/>
        </p:nvCxnSpPr>
        <p:spPr>
          <a:xfrm>
            <a:off x="2966733" y="3119877"/>
            <a:ext cx="800994" cy="7622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CaixaDeTexto 71"/>
          <p:cNvSpPr txBox="1"/>
          <p:nvPr/>
        </p:nvSpPr>
        <p:spPr>
          <a:xfrm>
            <a:off x="4644008" y="3183359"/>
            <a:ext cx="16802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K</a:t>
            </a:r>
            <a:r>
              <a:rPr lang="pt-BR" sz="2400" baseline="-25000" dirty="0"/>
              <a:t>4</a:t>
            </a:r>
            <a:r>
              <a:rPr lang="pt-BR" sz="2400" dirty="0"/>
              <a:t> é planar?</a:t>
            </a:r>
          </a:p>
        </p:txBody>
      </p:sp>
    </p:spTree>
    <p:extLst>
      <p:ext uri="{BB962C8B-B14F-4D97-AF65-F5344CB8AC3E}">
        <p14:creationId xmlns:p14="http://schemas.microsoft.com/office/powerpoint/2010/main" val="14959695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Planaridade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Um grafo planar é um grafo que pode ser desenhado no plano sem cruzamento de arestas.</a:t>
            </a:r>
          </a:p>
        </p:txBody>
      </p:sp>
      <p:sp>
        <p:nvSpPr>
          <p:cNvPr id="4" name="Elipse 3"/>
          <p:cNvSpPr/>
          <p:nvPr/>
        </p:nvSpPr>
        <p:spPr>
          <a:xfrm>
            <a:off x="2051721" y="4653136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/>
          <p:cNvSpPr/>
          <p:nvPr/>
        </p:nvSpPr>
        <p:spPr>
          <a:xfrm>
            <a:off x="2954549" y="4648344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2051721" y="5517232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2954549" y="5517232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9" name="Conector reto 8"/>
          <p:cNvCxnSpPr>
            <a:stCxn id="4" idx="6"/>
            <a:endCxn id="6" idx="2"/>
          </p:cNvCxnSpPr>
          <p:nvPr/>
        </p:nvCxnSpPr>
        <p:spPr>
          <a:xfrm flipV="1">
            <a:off x="2195737" y="4720352"/>
            <a:ext cx="758812" cy="47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6" idx="4"/>
            <a:endCxn id="8" idx="0"/>
          </p:cNvCxnSpPr>
          <p:nvPr/>
        </p:nvCxnSpPr>
        <p:spPr>
          <a:xfrm>
            <a:off x="3026557" y="4792360"/>
            <a:ext cx="0" cy="7248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8" idx="2"/>
            <a:endCxn id="7" idx="6"/>
          </p:cNvCxnSpPr>
          <p:nvPr/>
        </p:nvCxnSpPr>
        <p:spPr>
          <a:xfrm flipH="1">
            <a:off x="2195737" y="5589240"/>
            <a:ext cx="75881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/>
          <p:cNvCxnSpPr>
            <a:stCxn id="4" idx="4"/>
            <a:endCxn id="7" idx="0"/>
          </p:cNvCxnSpPr>
          <p:nvPr/>
        </p:nvCxnSpPr>
        <p:spPr>
          <a:xfrm>
            <a:off x="2123729" y="4797152"/>
            <a:ext cx="0" cy="7200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em curva 19"/>
          <p:cNvCxnSpPr>
            <a:stCxn id="4" idx="2"/>
            <a:endCxn id="8" idx="4"/>
          </p:cNvCxnSpPr>
          <p:nvPr/>
        </p:nvCxnSpPr>
        <p:spPr>
          <a:xfrm rot="10800000" flipH="1" flipV="1">
            <a:off x="2051721" y="4725144"/>
            <a:ext cx="974836" cy="936104"/>
          </a:xfrm>
          <a:prstGeom prst="curvedConnector4">
            <a:avLst>
              <a:gd name="adj1" fmla="val -30880"/>
              <a:gd name="adj2" fmla="val 129256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Elipse 23"/>
          <p:cNvSpPr/>
          <p:nvPr/>
        </p:nvSpPr>
        <p:spPr>
          <a:xfrm>
            <a:off x="5848778" y="5229200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Elipse 24"/>
          <p:cNvSpPr/>
          <p:nvPr/>
        </p:nvSpPr>
        <p:spPr>
          <a:xfrm>
            <a:off x="5848778" y="4509120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Elipse 25"/>
          <p:cNvSpPr/>
          <p:nvPr/>
        </p:nvSpPr>
        <p:spPr>
          <a:xfrm>
            <a:off x="5397364" y="5594032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Elipse 26"/>
          <p:cNvSpPr/>
          <p:nvPr/>
        </p:nvSpPr>
        <p:spPr>
          <a:xfrm>
            <a:off x="6300192" y="5594032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8" name="Conector reto 27"/>
          <p:cNvCxnSpPr>
            <a:stCxn id="24" idx="0"/>
            <a:endCxn id="25" idx="4"/>
          </p:cNvCxnSpPr>
          <p:nvPr/>
        </p:nvCxnSpPr>
        <p:spPr>
          <a:xfrm flipV="1">
            <a:off x="5920786" y="4653136"/>
            <a:ext cx="0" cy="5760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to 28"/>
          <p:cNvCxnSpPr>
            <a:stCxn id="25" idx="5"/>
            <a:endCxn id="27" idx="0"/>
          </p:cNvCxnSpPr>
          <p:nvPr/>
        </p:nvCxnSpPr>
        <p:spPr>
          <a:xfrm>
            <a:off x="5971703" y="4632045"/>
            <a:ext cx="400497" cy="9619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/>
          <p:cNvCxnSpPr>
            <a:stCxn id="27" idx="2"/>
            <a:endCxn id="26" idx="6"/>
          </p:cNvCxnSpPr>
          <p:nvPr/>
        </p:nvCxnSpPr>
        <p:spPr>
          <a:xfrm flipH="1">
            <a:off x="5541380" y="5666040"/>
            <a:ext cx="75881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to 30"/>
          <p:cNvCxnSpPr>
            <a:stCxn id="24" idx="3"/>
            <a:endCxn id="26" idx="7"/>
          </p:cNvCxnSpPr>
          <p:nvPr/>
        </p:nvCxnSpPr>
        <p:spPr>
          <a:xfrm flipH="1">
            <a:off x="5520289" y="5352125"/>
            <a:ext cx="349580" cy="2629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to 32"/>
          <p:cNvCxnSpPr>
            <a:stCxn id="6" idx="3"/>
            <a:endCxn id="7" idx="7"/>
          </p:cNvCxnSpPr>
          <p:nvPr/>
        </p:nvCxnSpPr>
        <p:spPr>
          <a:xfrm flipH="1">
            <a:off x="2174646" y="4771269"/>
            <a:ext cx="800994" cy="7670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to 39"/>
          <p:cNvCxnSpPr>
            <a:stCxn id="25" idx="3"/>
            <a:endCxn id="26" idx="0"/>
          </p:cNvCxnSpPr>
          <p:nvPr/>
        </p:nvCxnSpPr>
        <p:spPr>
          <a:xfrm flipH="1">
            <a:off x="5469372" y="4632045"/>
            <a:ext cx="400497" cy="9619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to 47"/>
          <p:cNvCxnSpPr>
            <a:stCxn id="27" idx="1"/>
            <a:endCxn id="24" idx="5"/>
          </p:cNvCxnSpPr>
          <p:nvPr/>
        </p:nvCxnSpPr>
        <p:spPr>
          <a:xfrm flipH="1" flipV="1">
            <a:off x="5971703" y="5352125"/>
            <a:ext cx="349580" cy="2629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Elipse 60"/>
          <p:cNvSpPr/>
          <p:nvPr/>
        </p:nvSpPr>
        <p:spPr>
          <a:xfrm>
            <a:off x="2843808" y="2996952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2" name="Elipse 61"/>
          <p:cNvSpPr/>
          <p:nvPr/>
        </p:nvSpPr>
        <p:spPr>
          <a:xfrm>
            <a:off x="3746636" y="2992160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3" name="Elipse 62"/>
          <p:cNvSpPr/>
          <p:nvPr/>
        </p:nvSpPr>
        <p:spPr>
          <a:xfrm>
            <a:off x="2843808" y="3861048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4" name="Elipse 63"/>
          <p:cNvSpPr/>
          <p:nvPr/>
        </p:nvSpPr>
        <p:spPr>
          <a:xfrm>
            <a:off x="3746636" y="3861048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5" name="Conector reto 64"/>
          <p:cNvCxnSpPr>
            <a:stCxn id="61" idx="6"/>
            <a:endCxn id="62" idx="2"/>
          </p:cNvCxnSpPr>
          <p:nvPr/>
        </p:nvCxnSpPr>
        <p:spPr>
          <a:xfrm flipV="1">
            <a:off x="2987824" y="3064168"/>
            <a:ext cx="758812" cy="47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to 65"/>
          <p:cNvCxnSpPr>
            <a:stCxn id="62" idx="4"/>
            <a:endCxn id="64" idx="0"/>
          </p:cNvCxnSpPr>
          <p:nvPr/>
        </p:nvCxnSpPr>
        <p:spPr>
          <a:xfrm>
            <a:off x="3818644" y="3136176"/>
            <a:ext cx="0" cy="7248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to 66"/>
          <p:cNvCxnSpPr>
            <a:stCxn id="64" idx="2"/>
            <a:endCxn id="63" idx="6"/>
          </p:cNvCxnSpPr>
          <p:nvPr/>
        </p:nvCxnSpPr>
        <p:spPr>
          <a:xfrm flipH="1">
            <a:off x="2987824" y="3933056"/>
            <a:ext cx="75881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ector reto 67"/>
          <p:cNvCxnSpPr>
            <a:stCxn id="61" idx="4"/>
            <a:endCxn id="63" idx="0"/>
          </p:cNvCxnSpPr>
          <p:nvPr/>
        </p:nvCxnSpPr>
        <p:spPr>
          <a:xfrm>
            <a:off x="2915816" y="3140968"/>
            <a:ext cx="0" cy="7200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ector reto 69"/>
          <p:cNvCxnSpPr>
            <a:stCxn id="62" idx="3"/>
            <a:endCxn id="63" idx="7"/>
          </p:cNvCxnSpPr>
          <p:nvPr/>
        </p:nvCxnSpPr>
        <p:spPr>
          <a:xfrm flipH="1">
            <a:off x="2966733" y="3115085"/>
            <a:ext cx="800994" cy="7670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to 70"/>
          <p:cNvCxnSpPr>
            <a:stCxn id="61" idx="5"/>
            <a:endCxn id="64" idx="1"/>
          </p:cNvCxnSpPr>
          <p:nvPr/>
        </p:nvCxnSpPr>
        <p:spPr>
          <a:xfrm>
            <a:off x="2966733" y="3119877"/>
            <a:ext cx="800994" cy="7622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CaixaDeTexto 71"/>
          <p:cNvSpPr txBox="1"/>
          <p:nvPr/>
        </p:nvSpPr>
        <p:spPr>
          <a:xfrm>
            <a:off x="4644008" y="3183359"/>
            <a:ext cx="16802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K</a:t>
            </a:r>
            <a:r>
              <a:rPr lang="pt-BR" sz="2400" baseline="-25000" dirty="0"/>
              <a:t>4</a:t>
            </a:r>
            <a:r>
              <a:rPr lang="pt-BR" sz="2400" dirty="0"/>
              <a:t> é planar?</a:t>
            </a:r>
          </a:p>
        </p:txBody>
      </p:sp>
    </p:spTree>
    <p:extLst>
      <p:ext uri="{BB962C8B-B14F-4D97-AF65-F5344CB8AC3E}">
        <p14:creationId xmlns:p14="http://schemas.microsoft.com/office/powerpoint/2010/main" val="1512643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Planaridade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dirty="0"/>
              <a:t>Mas nem todo grafo é planar:</a:t>
            </a:r>
          </a:p>
          <a:p>
            <a:r>
              <a:rPr lang="pt-BR" sz="2800" dirty="0"/>
              <a:t>Grafos de </a:t>
            </a:r>
            <a:r>
              <a:rPr lang="pt-BR" sz="2800" dirty="0" err="1"/>
              <a:t>Kuratowski</a:t>
            </a:r>
            <a:r>
              <a:rPr lang="pt-BR" sz="2800" dirty="0"/>
              <a:t>:</a:t>
            </a:r>
          </a:p>
          <a:p>
            <a:pPr lvl="1"/>
            <a:r>
              <a:rPr lang="pt-BR" sz="2400" dirty="0"/>
              <a:t>K</a:t>
            </a:r>
            <a:r>
              <a:rPr lang="pt-BR" sz="2400" baseline="-25000" dirty="0"/>
              <a:t>5</a:t>
            </a:r>
            <a:r>
              <a:rPr lang="pt-BR" sz="2400" dirty="0"/>
              <a:t> e K</a:t>
            </a:r>
            <a:r>
              <a:rPr lang="pt-BR" sz="2400" baseline="-25000" dirty="0"/>
              <a:t>3,3</a:t>
            </a:r>
            <a:r>
              <a:rPr lang="pt-BR" sz="2400" dirty="0"/>
              <a:t> não são planares.</a:t>
            </a:r>
          </a:p>
          <a:p>
            <a:endParaRPr lang="pt-BR" sz="28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3212976"/>
            <a:ext cx="4583655" cy="1440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143" y="5091678"/>
            <a:ext cx="4701985" cy="1090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163734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Planaridade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pt-BR" sz="2000" dirty="0"/>
              <a:t>Propriedades em comum entre K</a:t>
            </a:r>
            <a:r>
              <a:rPr lang="pt-BR" sz="2000" baseline="-25000" dirty="0"/>
              <a:t>5</a:t>
            </a:r>
            <a:r>
              <a:rPr lang="pt-BR" sz="2000" dirty="0"/>
              <a:t> e K</a:t>
            </a:r>
            <a:r>
              <a:rPr lang="pt-BR" sz="2000" baseline="-25000" dirty="0"/>
              <a:t>3,3</a:t>
            </a:r>
            <a:r>
              <a:rPr lang="pt-BR" sz="2000" dirty="0"/>
              <a:t> </a:t>
            </a:r>
          </a:p>
          <a:p>
            <a:pPr lvl="1"/>
            <a:r>
              <a:rPr lang="pt-BR" sz="1800" dirty="0"/>
              <a:t>Ambos são regulares</a:t>
            </a:r>
          </a:p>
          <a:p>
            <a:pPr lvl="1"/>
            <a:r>
              <a:rPr lang="pt-BR" sz="1800" dirty="0"/>
              <a:t>Ambos são não planares</a:t>
            </a:r>
          </a:p>
          <a:p>
            <a:pPr lvl="1"/>
            <a:r>
              <a:rPr lang="pt-BR" sz="1800" dirty="0"/>
              <a:t>A remoção de uma aresta ou um vértice torna o grafo planar</a:t>
            </a:r>
          </a:p>
          <a:p>
            <a:pPr lvl="1"/>
            <a:r>
              <a:rPr lang="pt-BR" sz="1800" dirty="0"/>
              <a:t>K</a:t>
            </a:r>
            <a:r>
              <a:rPr lang="pt-BR" sz="1800" baseline="-25000" dirty="0"/>
              <a:t>5</a:t>
            </a:r>
            <a:r>
              <a:rPr lang="pt-BR" sz="1800" dirty="0"/>
              <a:t> é o grafo não-planar com o menor número de vértices e o K</a:t>
            </a:r>
            <a:r>
              <a:rPr lang="pt-BR" sz="1800" baseline="-25000" dirty="0"/>
              <a:t>3,3 </a:t>
            </a:r>
            <a:r>
              <a:rPr lang="pt-BR" sz="1800" dirty="0"/>
              <a:t>com o menor número de arestas</a:t>
            </a:r>
          </a:p>
          <a:p>
            <a:pPr lvl="1"/>
            <a:endParaRPr lang="pt-BR" sz="1800" dirty="0"/>
          </a:p>
          <a:p>
            <a:r>
              <a:rPr lang="pt-BR" sz="2400" dirty="0"/>
              <a:t>Teorema</a:t>
            </a:r>
          </a:p>
          <a:p>
            <a:pPr lvl="1"/>
            <a:r>
              <a:rPr lang="pt-BR" sz="2000" dirty="0"/>
              <a:t>Qualquer grafo planar simples pode ter sua representação planar utilizando apenas linhas retas.</a:t>
            </a:r>
          </a:p>
          <a:p>
            <a:pPr lvl="2"/>
            <a:r>
              <a:rPr lang="pt-BR" sz="1800" dirty="0"/>
              <a:t>Região (ou face): uma representação gráfica planar de um grafo divide o plano em regiões ou faces. Cada região é caracterizada pelas arestas que a contornam.</a:t>
            </a:r>
          </a:p>
          <a:p>
            <a:pPr lvl="2"/>
            <a:r>
              <a:rPr lang="pt-BR" sz="1800" dirty="0"/>
              <a:t>Região infinita: é a porção infinita do plano que não é contornada por arestas</a:t>
            </a:r>
          </a:p>
        </p:txBody>
      </p:sp>
    </p:spTree>
    <p:extLst>
      <p:ext uri="{BB962C8B-B14F-4D97-AF65-F5344CB8AC3E}">
        <p14:creationId xmlns:p14="http://schemas.microsoft.com/office/powerpoint/2010/main" val="24153900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Planaridade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Quantas faces tem o K</a:t>
            </a:r>
            <a:r>
              <a:rPr lang="pt-BR" baseline="-25000" dirty="0"/>
              <a:t>4</a:t>
            </a:r>
            <a:r>
              <a:rPr lang="pt-BR" dirty="0"/>
              <a:t> ?</a:t>
            </a:r>
          </a:p>
        </p:txBody>
      </p:sp>
      <p:sp>
        <p:nvSpPr>
          <p:cNvPr id="4" name="Elipse 3"/>
          <p:cNvSpPr/>
          <p:nvPr/>
        </p:nvSpPr>
        <p:spPr>
          <a:xfrm>
            <a:off x="4211960" y="4221088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4220780" y="2971715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/>
          <p:cNvSpPr/>
          <p:nvPr/>
        </p:nvSpPr>
        <p:spPr>
          <a:xfrm>
            <a:off x="2123728" y="5105090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6444208" y="5085184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8" name="Conector reto 7"/>
          <p:cNvCxnSpPr>
            <a:stCxn id="4" idx="0"/>
            <a:endCxn id="5" idx="4"/>
          </p:cNvCxnSpPr>
          <p:nvPr/>
        </p:nvCxnSpPr>
        <p:spPr>
          <a:xfrm flipV="1">
            <a:off x="4283968" y="3115731"/>
            <a:ext cx="8820" cy="110535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>
            <a:stCxn id="5" idx="5"/>
            <a:endCxn id="7" idx="0"/>
          </p:cNvCxnSpPr>
          <p:nvPr/>
        </p:nvCxnSpPr>
        <p:spPr>
          <a:xfrm>
            <a:off x="4343705" y="3094640"/>
            <a:ext cx="2172511" cy="19905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7" idx="2"/>
            <a:endCxn id="6" idx="6"/>
          </p:cNvCxnSpPr>
          <p:nvPr/>
        </p:nvCxnSpPr>
        <p:spPr>
          <a:xfrm flipH="1">
            <a:off x="2267744" y="5157192"/>
            <a:ext cx="4176464" cy="199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4" idx="3"/>
            <a:endCxn id="6" idx="7"/>
          </p:cNvCxnSpPr>
          <p:nvPr/>
        </p:nvCxnSpPr>
        <p:spPr>
          <a:xfrm flipH="1">
            <a:off x="2246653" y="4344013"/>
            <a:ext cx="1986398" cy="7821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5" idx="3"/>
            <a:endCxn id="6" idx="0"/>
          </p:cNvCxnSpPr>
          <p:nvPr/>
        </p:nvCxnSpPr>
        <p:spPr>
          <a:xfrm flipH="1">
            <a:off x="2195736" y="3094640"/>
            <a:ext cx="2046135" cy="20104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7" idx="1"/>
            <a:endCxn id="4" idx="5"/>
          </p:cNvCxnSpPr>
          <p:nvPr/>
        </p:nvCxnSpPr>
        <p:spPr>
          <a:xfrm flipH="1" flipV="1">
            <a:off x="4334885" y="4344013"/>
            <a:ext cx="2130414" cy="7622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aixaDeTexto 28"/>
          <p:cNvSpPr txBox="1"/>
          <p:nvPr/>
        </p:nvSpPr>
        <p:spPr>
          <a:xfrm>
            <a:off x="3635896" y="387719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39" name="CaixaDeTexto 38"/>
          <p:cNvSpPr txBox="1"/>
          <p:nvPr/>
        </p:nvSpPr>
        <p:spPr>
          <a:xfrm>
            <a:off x="4716016" y="38610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4141945" y="46531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5940152" y="304223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cxnSp>
        <p:nvCxnSpPr>
          <p:cNvPr id="43" name="Conector de seta reta 42"/>
          <p:cNvCxnSpPr/>
          <p:nvPr/>
        </p:nvCxnSpPr>
        <p:spPr>
          <a:xfrm>
            <a:off x="6300192" y="3212976"/>
            <a:ext cx="93610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CaixaDeTexto 43"/>
          <p:cNvSpPr txBox="1"/>
          <p:nvPr/>
        </p:nvSpPr>
        <p:spPr>
          <a:xfrm>
            <a:off x="7380312" y="2996952"/>
            <a:ext cx="1524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Região infinita</a:t>
            </a:r>
          </a:p>
        </p:txBody>
      </p:sp>
    </p:spTree>
    <p:extLst>
      <p:ext uri="{BB962C8B-B14F-4D97-AF65-F5344CB8AC3E}">
        <p14:creationId xmlns:p14="http://schemas.microsoft.com/office/powerpoint/2010/main" val="1573882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Planaridade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/>
              <a:t>Note que todo </a:t>
            </a:r>
            <a:r>
              <a:rPr lang="pt-BR" sz="2400" dirty="0" err="1"/>
              <a:t>subgrafo</a:t>
            </a:r>
            <a:r>
              <a:rPr lang="pt-BR" sz="2400" dirty="0"/>
              <a:t> de um grafo planar é também planar:</a:t>
            </a:r>
          </a:p>
          <a:p>
            <a:endParaRPr lang="pt-BR" sz="2400" dirty="0"/>
          </a:p>
          <a:p>
            <a:endParaRPr lang="pt-BR" sz="2400" dirty="0"/>
          </a:p>
          <a:p>
            <a:endParaRPr lang="pt-BR" sz="2400" dirty="0"/>
          </a:p>
          <a:p>
            <a:endParaRPr lang="pt-BR" sz="2400" dirty="0"/>
          </a:p>
          <a:p>
            <a:r>
              <a:rPr lang="pt-BR" sz="2400" dirty="0"/>
              <a:t>E também que todo grafo com um </a:t>
            </a:r>
            <a:r>
              <a:rPr lang="pt-BR" sz="2400" dirty="0" err="1"/>
              <a:t>subgrafo</a:t>
            </a:r>
            <a:r>
              <a:rPr lang="pt-BR" sz="2400" dirty="0"/>
              <a:t> não planar, também é não planar. Assim, qualquer grafo que tenha K</a:t>
            </a:r>
            <a:r>
              <a:rPr lang="pt-BR" sz="2400" baseline="-25000" dirty="0"/>
              <a:t>5</a:t>
            </a:r>
            <a:r>
              <a:rPr lang="pt-BR" sz="2400" dirty="0"/>
              <a:t> e K</a:t>
            </a:r>
            <a:r>
              <a:rPr lang="pt-BR" sz="2400" baseline="-25000" dirty="0"/>
              <a:t>3,3</a:t>
            </a:r>
            <a:r>
              <a:rPr lang="pt-BR" sz="2400" dirty="0"/>
              <a:t> como um </a:t>
            </a:r>
            <a:r>
              <a:rPr lang="pt-BR" sz="2400" dirty="0" err="1"/>
              <a:t>subgrafo</a:t>
            </a:r>
            <a:r>
              <a:rPr lang="pt-BR" sz="2400" dirty="0"/>
              <a:t> não é planar.</a:t>
            </a:r>
          </a:p>
        </p:txBody>
      </p:sp>
      <p:sp>
        <p:nvSpPr>
          <p:cNvPr id="4" name="Elipse 3"/>
          <p:cNvSpPr/>
          <p:nvPr/>
        </p:nvSpPr>
        <p:spPr>
          <a:xfrm>
            <a:off x="2267745" y="2286456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3170573" y="2281664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/>
          <p:cNvSpPr/>
          <p:nvPr/>
        </p:nvSpPr>
        <p:spPr>
          <a:xfrm>
            <a:off x="2267745" y="3150552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3170573" y="3150552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8" name="Conector reto 7"/>
          <p:cNvCxnSpPr>
            <a:stCxn id="4" idx="6"/>
            <a:endCxn id="5" idx="2"/>
          </p:cNvCxnSpPr>
          <p:nvPr/>
        </p:nvCxnSpPr>
        <p:spPr>
          <a:xfrm flipV="1">
            <a:off x="2411761" y="2353672"/>
            <a:ext cx="758812" cy="47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>
            <a:stCxn id="5" idx="4"/>
            <a:endCxn id="7" idx="0"/>
          </p:cNvCxnSpPr>
          <p:nvPr/>
        </p:nvCxnSpPr>
        <p:spPr>
          <a:xfrm>
            <a:off x="3242581" y="2425680"/>
            <a:ext cx="0" cy="7248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7" idx="2"/>
            <a:endCxn id="6" idx="6"/>
          </p:cNvCxnSpPr>
          <p:nvPr/>
        </p:nvCxnSpPr>
        <p:spPr>
          <a:xfrm flipH="1">
            <a:off x="2411761" y="3222560"/>
            <a:ext cx="75881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4" idx="4"/>
            <a:endCxn id="6" idx="0"/>
          </p:cNvCxnSpPr>
          <p:nvPr/>
        </p:nvCxnSpPr>
        <p:spPr>
          <a:xfrm>
            <a:off x="2339753" y="2430472"/>
            <a:ext cx="0" cy="7200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em curva 11"/>
          <p:cNvCxnSpPr>
            <a:stCxn id="4" idx="2"/>
            <a:endCxn id="7" idx="4"/>
          </p:cNvCxnSpPr>
          <p:nvPr/>
        </p:nvCxnSpPr>
        <p:spPr>
          <a:xfrm rot="10800000" flipH="1" flipV="1">
            <a:off x="2267745" y="2358464"/>
            <a:ext cx="974836" cy="936104"/>
          </a:xfrm>
          <a:prstGeom prst="curvedConnector4">
            <a:avLst>
              <a:gd name="adj1" fmla="val -30880"/>
              <a:gd name="adj2" fmla="val 129256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5" idx="3"/>
            <a:endCxn id="6" idx="7"/>
          </p:cNvCxnSpPr>
          <p:nvPr/>
        </p:nvCxnSpPr>
        <p:spPr>
          <a:xfrm flipH="1">
            <a:off x="2390670" y="2404589"/>
            <a:ext cx="800994" cy="7670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Elipse 13"/>
          <p:cNvSpPr/>
          <p:nvPr/>
        </p:nvSpPr>
        <p:spPr>
          <a:xfrm>
            <a:off x="5436097" y="2281664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Elipse 14"/>
          <p:cNvSpPr/>
          <p:nvPr/>
        </p:nvSpPr>
        <p:spPr>
          <a:xfrm>
            <a:off x="6338925" y="2276872"/>
            <a:ext cx="144016" cy="144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Elipse 15"/>
          <p:cNvSpPr/>
          <p:nvPr/>
        </p:nvSpPr>
        <p:spPr>
          <a:xfrm>
            <a:off x="5436097" y="3145760"/>
            <a:ext cx="144016" cy="144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Elipse 16"/>
          <p:cNvSpPr/>
          <p:nvPr/>
        </p:nvSpPr>
        <p:spPr>
          <a:xfrm>
            <a:off x="6338925" y="3145760"/>
            <a:ext cx="144016" cy="144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8" name="Conector reto 17"/>
          <p:cNvCxnSpPr>
            <a:stCxn id="14" idx="6"/>
            <a:endCxn id="15" idx="2"/>
          </p:cNvCxnSpPr>
          <p:nvPr/>
        </p:nvCxnSpPr>
        <p:spPr>
          <a:xfrm flipV="1">
            <a:off x="5580113" y="2348880"/>
            <a:ext cx="758812" cy="47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18"/>
          <p:cNvCxnSpPr>
            <a:stCxn id="15" idx="4"/>
            <a:endCxn id="17" idx="0"/>
          </p:cNvCxnSpPr>
          <p:nvPr/>
        </p:nvCxnSpPr>
        <p:spPr>
          <a:xfrm>
            <a:off x="6410933" y="2420888"/>
            <a:ext cx="0" cy="72487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/>
          <p:cNvCxnSpPr>
            <a:stCxn id="17" idx="2"/>
            <a:endCxn id="16" idx="6"/>
          </p:cNvCxnSpPr>
          <p:nvPr/>
        </p:nvCxnSpPr>
        <p:spPr>
          <a:xfrm flipH="1">
            <a:off x="5580113" y="3217768"/>
            <a:ext cx="75881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>
            <a:stCxn id="14" idx="4"/>
            <a:endCxn id="16" idx="0"/>
          </p:cNvCxnSpPr>
          <p:nvPr/>
        </p:nvCxnSpPr>
        <p:spPr>
          <a:xfrm>
            <a:off x="5508105" y="2425680"/>
            <a:ext cx="0" cy="7200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em curva 21"/>
          <p:cNvCxnSpPr>
            <a:stCxn id="14" idx="2"/>
            <a:endCxn id="17" idx="4"/>
          </p:cNvCxnSpPr>
          <p:nvPr/>
        </p:nvCxnSpPr>
        <p:spPr>
          <a:xfrm rot="10800000" flipH="1" flipV="1">
            <a:off x="5436097" y="2353672"/>
            <a:ext cx="974836" cy="936104"/>
          </a:xfrm>
          <a:prstGeom prst="curvedConnector4">
            <a:avLst>
              <a:gd name="adj1" fmla="val -30880"/>
              <a:gd name="adj2" fmla="val 129256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/>
          <p:cNvCxnSpPr>
            <a:stCxn id="15" idx="3"/>
            <a:endCxn id="16" idx="7"/>
          </p:cNvCxnSpPr>
          <p:nvPr/>
        </p:nvCxnSpPr>
        <p:spPr>
          <a:xfrm flipH="1">
            <a:off x="5559022" y="2399797"/>
            <a:ext cx="800994" cy="76705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48812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Homeomorfismo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800" dirty="0"/>
                  <a:t>Dizemos que um grafo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pt-BR" sz="2800" dirty="0"/>
                  <a:t> é homeomorfo a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sz="2800" dirty="0"/>
                  <a:t> se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pt-BR" sz="2800" dirty="0"/>
                  <a:t> puder ser obtido de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sz="2800" dirty="0"/>
                  <a:t> pela inserção de vértices de grau 2 em pontos intermediários de suas arestas.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33" t="-134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Elipse 13"/>
          <p:cNvSpPr/>
          <p:nvPr/>
        </p:nvSpPr>
        <p:spPr>
          <a:xfrm>
            <a:off x="2339752" y="4509120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Elipse 14"/>
          <p:cNvSpPr/>
          <p:nvPr/>
        </p:nvSpPr>
        <p:spPr>
          <a:xfrm>
            <a:off x="2339752" y="3428670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Elipse 15"/>
          <p:cNvSpPr/>
          <p:nvPr/>
        </p:nvSpPr>
        <p:spPr>
          <a:xfrm>
            <a:off x="1475656" y="5058266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Elipse 16"/>
          <p:cNvSpPr/>
          <p:nvPr/>
        </p:nvSpPr>
        <p:spPr>
          <a:xfrm>
            <a:off x="3218720" y="5058266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8" name="Conector reto 17"/>
          <p:cNvCxnSpPr>
            <a:stCxn id="14" idx="0"/>
            <a:endCxn id="15" idx="4"/>
          </p:cNvCxnSpPr>
          <p:nvPr/>
        </p:nvCxnSpPr>
        <p:spPr>
          <a:xfrm flipV="1">
            <a:off x="2411760" y="3572686"/>
            <a:ext cx="0" cy="93643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18"/>
          <p:cNvCxnSpPr>
            <a:stCxn id="15" idx="5"/>
            <a:endCxn id="17" idx="0"/>
          </p:cNvCxnSpPr>
          <p:nvPr/>
        </p:nvCxnSpPr>
        <p:spPr>
          <a:xfrm>
            <a:off x="2462677" y="3551595"/>
            <a:ext cx="828051" cy="150667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/>
          <p:cNvCxnSpPr>
            <a:stCxn id="17" idx="2"/>
            <a:endCxn id="16" idx="6"/>
          </p:cNvCxnSpPr>
          <p:nvPr/>
        </p:nvCxnSpPr>
        <p:spPr>
          <a:xfrm flipH="1">
            <a:off x="1619672" y="5130274"/>
            <a:ext cx="15990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>
            <a:stCxn id="14" idx="3"/>
            <a:endCxn id="16" idx="7"/>
          </p:cNvCxnSpPr>
          <p:nvPr/>
        </p:nvCxnSpPr>
        <p:spPr>
          <a:xfrm flipH="1">
            <a:off x="1598581" y="4632045"/>
            <a:ext cx="762262" cy="4473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>
            <a:stCxn id="15" idx="3"/>
            <a:endCxn id="16" idx="0"/>
          </p:cNvCxnSpPr>
          <p:nvPr/>
        </p:nvCxnSpPr>
        <p:spPr>
          <a:xfrm flipH="1">
            <a:off x="1547664" y="3551595"/>
            <a:ext cx="813179" cy="150667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/>
          <p:cNvCxnSpPr>
            <a:stCxn id="17" idx="1"/>
            <a:endCxn id="14" idx="5"/>
          </p:cNvCxnSpPr>
          <p:nvPr/>
        </p:nvCxnSpPr>
        <p:spPr>
          <a:xfrm flipH="1" flipV="1">
            <a:off x="2462677" y="4632045"/>
            <a:ext cx="777134" cy="4473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Elipse 59"/>
          <p:cNvSpPr/>
          <p:nvPr/>
        </p:nvSpPr>
        <p:spPr>
          <a:xfrm>
            <a:off x="755576" y="4509120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2" name="Conector reto 61"/>
          <p:cNvCxnSpPr>
            <a:stCxn id="16" idx="2"/>
            <a:endCxn id="60" idx="5"/>
          </p:cNvCxnSpPr>
          <p:nvPr/>
        </p:nvCxnSpPr>
        <p:spPr>
          <a:xfrm flipH="1" flipV="1">
            <a:off x="878501" y="4632045"/>
            <a:ext cx="597155" cy="4982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Elipse 62"/>
          <p:cNvSpPr/>
          <p:nvPr/>
        </p:nvSpPr>
        <p:spPr>
          <a:xfrm>
            <a:off x="6084168" y="4509120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4" name="Elipse 63"/>
          <p:cNvSpPr/>
          <p:nvPr/>
        </p:nvSpPr>
        <p:spPr>
          <a:xfrm>
            <a:off x="6084168" y="3428670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5" name="Elipse 64"/>
          <p:cNvSpPr/>
          <p:nvPr/>
        </p:nvSpPr>
        <p:spPr>
          <a:xfrm>
            <a:off x="5220072" y="5058266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6" name="Elipse 65"/>
          <p:cNvSpPr/>
          <p:nvPr/>
        </p:nvSpPr>
        <p:spPr>
          <a:xfrm>
            <a:off x="6963136" y="5058266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7" name="Conector reto 66"/>
          <p:cNvCxnSpPr>
            <a:stCxn id="63" idx="0"/>
            <a:endCxn id="64" idx="4"/>
          </p:cNvCxnSpPr>
          <p:nvPr/>
        </p:nvCxnSpPr>
        <p:spPr>
          <a:xfrm flipV="1">
            <a:off x="6156176" y="3572686"/>
            <a:ext cx="0" cy="93643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ector reto 67"/>
          <p:cNvCxnSpPr>
            <a:stCxn id="64" idx="5"/>
            <a:endCxn id="66" idx="0"/>
          </p:cNvCxnSpPr>
          <p:nvPr/>
        </p:nvCxnSpPr>
        <p:spPr>
          <a:xfrm>
            <a:off x="6207093" y="3551595"/>
            <a:ext cx="828051" cy="150667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ector reto 68"/>
          <p:cNvCxnSpPr>
            <a:stCxn id="66" idx="2"/>
            <a:endCxn id="65" idx="6"/>
          </p:cNvCxnSpPr>
          <p:nvPr/>
        </p:nvCxnSpPr>
        <p:spPr>
          <a:xfrm flipH="1">
            <a:off x="5364088" y="5130274"/>
            <a:ext cx="15990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ector reto 69"/>
          <p:cNvCxnSpPr>
            <a:stCxn id="63" idx="3"/>
            <a:endCxn id="65" idx="7"/>
          </p:cNvCxnSpPr>
          <p:nvPr/>
        </p:nvCxnSpPr>
        <p:spPr>
          <a:xfrm flipH="1">
            <a:off x="5342997" y="4632045"/>
            <a:ext cx="762262" cy="4473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to 70"/>
          <p:cNvCxnSpPr>
            <a:stCxn id="64" idx="3"/>
            <a:endCxn id="65" idx="0"/>
          </p:cNvCxnSpPr>
          <p:nvPr/>
        </p:nvCxnSpPr>
        <p:spPr>
          <a:xfrm flipH="1">
            <a:off x="5292080" y="3551595"/>
            <a:ext cx="813179" cy="150667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ector reto 71"/>
          <p:cNvCxnSpPr>
            <a:stCxn id="66" idx="1"/>
            <a:endCxn id="63" idx="5"/>
          </p:cNvCxnSpPr>
          <p:nvPr/>
        </p:nvCxnSpPr>
        <p:spPr>
          <a:xfrm flipH="1" flipV="1">
            <a:off x="6207093" y="4632045"/>
            <a:ext cx="777134" cy="4473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Elipse 72"/>
          <p:cNvSpPr/>
          <p:nvPr/>
        </p:nvSpPr>
        <p:spPr>
          <a:xfrm>
            <a:off x="4499992" y="4509120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74" name="Conector reto 73"/>
          <p:cNvCxnSpPr>
            <a:stCxn id="65" idx="2"/>
            <a:endCxn id="73" idx="5"/>
          </p:cNvCxnSpPr>
          <p:nvPr/>
        </p:nvCxnSpPr>
        <p:spPr>
          <a:xfrm flipH="1" flipV="1">
            <a:off x="4622917" y="4632045"/>
            <a:ext cx="597155" cy="4982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Elipse 74"/>
          <p:cNvSpPr/>
          <p:nvPr/>
        </p:nvSpPr>
        <p:spPr>
          <a:xfrm>
            <a:off x="5580112" y="4312549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6" name="Elipse 75"/>
          <p:cNvSpPr/>
          <p:nvPr/>
        </p:nvSpPr>
        <p:spPr>
          <a:xfrm>
            <a:off x="4849486" y="4797152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7" name="Elipse 76"/>
          <p:cNvSpPr/>
          <p:nvPr/>
        </p:nvSpPr>
        <p:spPr>
          <a:xfrm>
            <a:off x="6084168" y="4143978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8" name="Elipse 77"/>
          <p:cNvSpPr/>
          <p:nvPr/>
        </p:nvSpPr>
        <p:spPr>
          <a:xfrm>
            <a:off x="6588224" y="4287994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59292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Planaridade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Teorema de </a:t>
            </a:r>
            <a:r>
              <a:rPr lang="pt-BR" dirty="0" err="1"/>
              <a:t>Kuratowski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Um grafo é planar se, e somente se, nenhum de seus </a:t>
            </a:r>
            <a:r>
              <a:rPr lang="pt-BR" dirty="0" err="1"/>
              <a:t>subgrafos</a:t>
            </a:r>
            <a:r>
              <a:rPr lang="pt-BR" dirty="0"/>
              <a:t> for homeomorfo a K</a:t>
            </a:r>
            <a:r>
              <a:rPr lang="pt-BR" baseline="-25000" dirty="0"/>
              <a:t>5</a:t>
            </a:r>
            <a:r>
              <a:rPr lang="pt-BR" dirty="0"/>
              <a:t> e K</a:t>
            </a:r>
            <a:r>
              <a:rPr lang="pt-BR" baseline="-25000" dirty="0"/>
              <a:t>3,3</a:t>
            </a:r>
            <a:r>
              <a:rPr lang="pt-BR" dirty="0"/>
              <a:t> .</a:t>
            </a:r>
          </a:p>
        </p:txBody>
      </p:sp>
      <p:sp>
        <p:nvSpPr>
          <p:cNvPr id="86" name="Elipse 85"/>
          <p:cNvSpPr/>
          <p:nvPr/>
        </p:nvSpPr>
        <p:spPr>
          <a:xfrm>
            <a:off x="1260121" y="3716702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7" name="Elipse 86"/>
          <p:cNvSpPr/>
          <p:nvPr/>
        </p:nvSpPr>
        <p:spPr>
          <a:xfrm>
            <a:off x="2556265" y="3717032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8" name="Elipse 87"/>
          <p:cNvSpPr/>
          <p:nvPr/>
        </p:nvSpPr>
        <p:spPr>
          <a:xfrm>
            <a:off x="3852409" y="3716702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9" name="Elipse 88"/>
          <p:cNvSpPr/>
          <p:nvPr/>
        </p:nvSpPr>
        <p:spPr>
          <a:xfrm>
            <a:off x="1259632" y="5228870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0" name="Elipse 89"/>
          <p:cNvSpPr/>
          <p:nvPr/>
        </p:nvSpPr>
        <p:spPr>
          <a:xfrm>
            <a:off x="2555776" y="5229200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1" name="Elipse 90"/>
          <p:cNvSpPr/>
          <p:nvPr/>
        </p:nvSpPr>
        <p:spPr>
          <a:xfrm>
            <a:off x="3851920" y="5228870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92" name="Conector reto 91"/>
          <p:cNvCxnSpPr>
            <a:stCxn id="88" idx="4"/>
            <a:endCxn id="91" idx="0"/>
          </p:cNvCxnSpPr>
          <p:nvPr/>
        </p:nvCxnSpPr>
        <p:spPr>
          <a:xfrm flipH="1">
            <a:off x="3923928" y="3860718"/>
            <a:ext cx="489" cy="13681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ector reto 92"/>
          <p:cNvCxnSpPr>
            <a:stCxn id="88" idx="3"/>
            <a:endCxn id="90" idx="7"/>
          </p:cNvCxnSpPr>
          <p:nvPr/>
        </p:nvCxnSpPr>
        <p:spPr>
          <a:xfrm flipH="1">
            <a:off x="2678701" y="3839627"/>
            <a:ext cx="1194799" cy="14106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ector reto 93"/>
          <p:cNvCxnSpPr>
            <a:stCxn id="88" idx="2"/>
            <a:endCxn id="89" idx="6"/>
          </p:cNvCxnSpPr>
          <p:nvPr/>
        </p:nvCxnSpPr>
        <p:spPr>
          <a:xfrm flipH="1">
            <a:off x="1403648" y="3788710"/>
            <a:ext cx="2448761" cy="15121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ector reto 94"/>
          <p:cNvCxnSpPr>
            <a:stCxn id="87" idx="5"/>
            <a:endCxn id="91" idx="1"/>
          </p:cNvCxnSpPr>
          <p:nvPr/>
        </p:nvCxnSpPr>
        <p:spPr>
          <a:xfrm>
            <a:off x="2679190" y="3839957"/>
            <a:ext cx="1193821" cy="14100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reto 95"/>
          <p:cNvCxnSpPr>
            <a:stCxn id="87" idx="3"/>
            <a:endCxn id="89" idx="7"/>
          </p:cNvCxnSpPr>
          <p:nvPr/>
        </p:nvCxnSpPr>
        <p:spPr>
          <a:xfrm flipH="1">
            <a:off x="1382557" y="3839957"/>
            <a:ext cx="1194799" cy="14100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ector reto 96"/>
          <p:cNvCxnSpPr>
            <a:stCxn id="87" idx="4"/>
            <a:endCxn id="90" idx="0"/>
          </p:cNvCxnSpPr>
          <p:nvPr/>
        </p:nvCxnSpPr>
        <p:spPr>
          <a:xfrm flipH="1">
            <a:off x="2627784" y="3861048"/>
            <a:ext cx="489" cy="13681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ector reto 97"/>
          <p:cNvCxnSpPr>
            <a:stCxn id="86" idx="6"/>
            <a:endCxn id="91" idx="2"/>
          </p:cNvCxnSpPr>
          <p:nvPr/>
        </p:nvCxnSpPr>
        <p:spPr>
          <a:xfrm>
            <a:off x="1404137" y="3788710"/>
            <a:ext cx="2447783" cy="15121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ector reto 98"/>
          <p:cNvCxnSpPr>
            <a:stCxn id="86" idx="5"/>
            <a:endCxn id="90" idx="1"/>
          </p:cNvCxnSpPr>
          <p:nvPr/>
        </p:nvCxnSpPr>
        <p:spPr>
          <a:xfrm>
            <a:off x="1383046" y="3839627"/>
            <a:ext cx="1193821" cy="14106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ector reto 99"/>
          <p:cNvCxnSpPr>
            <a:stCxn id="86" idx="4"/>
            <a:endCxn id="89" idx="0"/>
          </p:cNvCxnSpPr>
          <p:nvPr/>
        </p:nvCxnSpPr>
        <p:spPr>
          <a:xfrm flipH="1">
            <a:off x="1331640" y="3860718"/>
            <a:ext cx="489" cy="13681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Elipse 100"/>
          <p:cNvSpPr/>
          <p:nvPr/>
        </p:nvSpPr>
        <p:spPr>
          <a:xfrm>
            <a:off x="5148064" y="3717032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2" name="Elipse 101"/>
          <p:cNvSpPr/>
          <p:nvPr/>
        </p:nvSpPr>
        <p:spPr>
          <a:xfrm>
            <a:off x="6444208" y="3717362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3" name="Elipse 102"/>
          <p:cNvSpPr/>
          <p:nvPr/>
        </p:nvSpPr>
        <p:spPr>
          <a:xfrm>
            <a:off x="7740352" y="3717032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4" name="Elipse 103"/>
          <p:cNvSpPr/>
          <p:nvPr/>
        </p:nvSpPr>
        <p:spPr>
          <a:xfrm>
            <a:off x="5147575" y="5229200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5" name="Elipse 104"/>
          <p:cNvSpPr/>
          <p:nvPr/>
        </p:nvSpPr>
        <p:spPr>
          <a:xfrm>
            <a:off x="6443719" y="5229530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6" name="Elipse 105"/>
          <p:cNvSpPr/>
          <p:nvPr/>
        </p:nvSpPr>
        <p:spPr>
          <a:xfrm>
            <a:off x="7739863" y="5229200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7" name="Conector reto 106"/>
          <p:cNvCxnSpPr>
            <a:stCxn id="103" idx="4"/>
            <a:endCxn id="106" idx="0"/>
          </p:cNvCxnSpPr>
          <p:nvPr/>
        </p:nvCxnSpPr>
        <p:spPr>
          <a:xfrm flipH="1">
            <a:off x="7811871" y="3861048"/>
            <a:ext cx="489" cy="13681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ector reto 107"/>
          <p:cNvCxnSpPr>
            <a:stCxn id="103" idx="3"/>
            <a:endCxn id="105" idx="7"/>
          </p:cNvCxnSpPr>
          <p:nvPr/>
        </p:nvCxnSpPr>
        <p:spPr>
          <a:xfrm flipH="1">
            <a:off x="6566644" y="3839957"/>
            <a:ext cx="1194799" cy="14106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ector reto 108"/>
          <p:cNvCxnSpPr>
            <a:stCxn id="103" idx="2"/>
            <a:endCxn id="104" idx="6"/>
          </p:cNvCxnSpPr>
          <p:nvPr/>
        </p:nvCxnSpPr>
        <p:spPr>
          <a:xfrm flipH="1">
            <a:off x="5291591" y="3789040"/>
            <a:ext cx="2448761" cy="15121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nector reto 109"/>
          <p:cNvCxnSpPr>
            <a:stCxn id="102" idx="5"/>
            <a:endCxn id="106" idx="1"/>
          </p:cNvCxnSpPr>
          <p:nvPr/>
        </p:nvCxnSpPr>
        <p:spPr>
          <a:xfrm>
            <a:off x="6567133" y="3840287"/>
            <a:ext cx="1193821" cy="14100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nector reto 110"/>
          <p:cNvCxnSpPr>
            <a:stCxn id="102" idx="3"/>
            <a:endCxn id="104" idx="7"/>
          </p:cNvCxnSpPr>
          <p:nvPr/>
        </p:nvCxnSpPr>
        <p:spPr>
          <a:xfrm flipH="1">
            <a:off x="5270500" y="3840287"/>
            <a:ext cx="1194799" cy="14100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ector reto 111"/>
          <p:cNvCxnSpPr>
            <a:stCxn id="102" idx="4"/>
            <a:endCxn id="105" idx="0"/>
          </p:cNvCxnSpPr>
          <p:nvPr/>
        </p:nvCxnSpPr>
        <p:spPr>
          <a:xfrm flipH="1">
            <a:off x="6515727" y="3861378"/>
            <a:ext cx="489" cy="13681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ector reto 112"/>
          <p:cNvCxnSpPr>
            <a:stCxn id="101" idx="6"/>
            <a:endCxn id="106" idx="2"/>
          </p:cNvCxnSpPr>
          <p:nvPr/>
        </p:nvCxnSpPr>
        <p:spPr>
          <a:xfrm>
            <a:off x="5292080" y="3789040"/>
            <a:ext cx="2447783" cy="15121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ector reto 113"/>
          <p:cNvCxnSpPr>
            <a:stCxn id="101" idx="5"/>
            <a:endCxn id="105" idx="1"/>
          </p:cNvCxnSpPr>
          <p:nvPr/>
        </p:nvCxnSpPr>
        <p:spPr>
          <a:xfrm>
            <a:off x="5270989" y="3839957"/>
            <a:ext cx="1193821" cy="14106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Conector reto 114"/>
          <p:cNvCxnSpPr>
            <a:stCxn id="101" idx="4"/>
            <a:endCxn id="104" idx="0"/>
          </p:cNvCxnSpPr>
          <p:nvPr/>
        </p:nvCxnSpPr>
        <p:spPr>
          <a:xfrm flipH="1">
            <a:off x="5219583" y="3861048"/>
            <a:ext cx="489" cy="13681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Elipse 115"/>
          <p:cNvSpPr/>
          <p:nvPr/>
        </p:nvSpPr>
        <p:spPr>
          <a:xfrm>
            <a:off x="1251838" y="4473446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7" name="Elipse 116"/>
          <p:cNvSpPr/>
          <p:nvPr/>
        </p:nvSpPr>
        <p:spPr>
          <a:xfrm>
            <a:off x="1619672" y="4797152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8" name="Elipse 117"/>
          <p:cNvSpPr/>
          <p:nvPr/>
        </p:nvSpPr>
        <p:spPr>
          <a:xfrm>
            <a:off x="3851920" y="4472786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56203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Contração de arestas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Uma aresta é dita contraída se ela pode ser excluída do grafo e seus extremos são identificados.</a:t>
            </a:r>
          </a:p>
        </p:txBody>
      </p:sp>
      <p:sp>
        <p:nvSpPr>
          <p:cNvPr id="29" name="Elipse 28"/>
          <p:cNvSpPr/>
          <p:nvPr/>
        </p:nvSpPr>
        <p:spPr>
          <a:xfrm>
            <a:off x="1979712" y="3933055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Elipse 29"/>
          <p:cNvSpPr/>
          <p:nvPr/>
        </p:nvSpPr>
        <p:spPr>
          <a:xfrm>
            <a:off x="2882540" y="3928263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Elipse 30"/>
          <p:cNvSpPr/>
          <p:nvPr/>
        </p:nvSpPr>
        <p:spPr>
          <a:xfrm>
            <a:off x="1979712" y="4797151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Elipse 31"/>
          <p:cNvSpPr/>
          <p:nvPr/>
        </p:nvSpPr>
        <p:spPr>
          <a:xfrm>
            <a:off x="2882540" y="4797151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3" name="Conector reto 32"/>
          <p:cNvCxnSpPr>
            <a:stCxn id="29" idx="6"/>
            <a:endCxn id="30" idx="2"/>
          </p:cNvCxnSpPr>
          <p:nvPr/>
        </p:nvCxnSpPr>
        <p:spPr>
          <a:xfrm flipV="1">
            <a:off x="2123728" y="4000271"/>
            <a:ext cx="758812" cy="47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to 33"/>
          <p:cNvCxnSpPr>
            <a:stCxn id="30" idx="4"/>
            <a:endCxn id="32" idx="0"/>
          </p:cNvCxnSpPr>
          <p:nvPr/>
        </p:nvCxnSpPr>
        <p:spPr>
          <a:xfrm>
            <a:off x="2954548" y="4072279"/>
            <a:ext cx="0" cy="7248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to 34"/>
          <p:cNvCxnSpPr>
            <a:stCxn id="32" idx="2"/>
            <a:endCxn id="31" idx="6"/>
          </p:cNvCxnSpPr>
          <p:nvPr/>
        </p:nvCxnSpPr>
        <p:spPr>
          <a:xfrm flipH="1">
            <a:off x="2123728" y="4869159"/>
            <a:ext cx="75881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/>
          <p:cNvCxnSpPr>
            <a:stCxn id="29" idx="4"/>
            <a:endCxn id="31" idx="0"/>
          </p:cNvCxnSpPr>
          <p:nvPr/>
        </p:nvCxnSpPr>
        <p:spPr>
          <a:xfrm>
            <a:off x="2051720" y="4077071"/>
            <a:ext cx="0" cy="7200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to 37"/>
          <p:cNvCxnSpPr>
            <a:stCxn id="30" idx="3"/>
            <a:endCxn id="31" idx="7"/>
          </p:cNvCxnSpPr>
          <p:nvPr/>
        </p:nvCxnSpPr>
        <p:spPr>
          <a:xfrm flipH="1">
            <a:off x="2102637" y="4051188"/>
            <a:ext cx="800994" cy="76705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Elipse 38"/>
          <p:cNvSpPr/>
          <p:nvPr/>
        </p:nvSpPr>
        <p:spPr>
          <a:xfrm>
            <a:off x="5292080" y="3933055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/>
          <p:cNvSpPr/>
          <p:nvPr/>
        </p:nvSpPr>
        <p:spPr>
          <a:xfrm>
            <a:off x="5292080" y="4797151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Elipse 41"/>
          <p:cNvSpPr/>
          <p:nvPr/>
        </p:nvSpPr>
        <p:spPr>
          <a:xfrm>
            <a:off x="6194908" y="4797151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5" name="Conector reto 44"/>
          <p:cNvCxnSpPr>
            <a:stCxn id="42" idx="2"/>
            <a:endCxn id="41" idx="6"/>
          </p:cNvCxnSpPr>
          <p:nvPr/>
        </p:nvCxnSpPr>
        <p:spPr>
          <a:xfrm flipH="1">
            <a:off x="5436096" y="4869159"/>
            <a:ext cx="75881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/>
          <p:cNvCxnSpPr>
            <a:stCxn id="39" idx="4"/>
            <a:endCxn id="41" idx="0"/>
          </p:cNvCxnSpPr>
          <p:nvPr/>
        </p:nvCxnSpPr>
        <p:spPr>
          <a:xfrm>
            <a:off x="5364088" y="4077071"/>
            <a:ext cx="0" cy="7200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em curva 5"/>
          <p:cNvCxnSpPr>
            <a:stCxn id="42" idx="4"/>
            <a:endCxn id="41" idx="5"/>
          </p:cNvCxnSpPr>
          <p:nvPr/>
        </p:nvCxnSpPr>
        <p:spPr>
          <a:xfrm rot="5400000" flipH="1">
            <a:off x="5830415" y="4504667"/>
            <a:ext cx="21091" cy="851911"/>
          </a:xfrm>
          <a:prstGeom prst="curvedConnector3">
            <a:avLst>
              <a:gd name="adj1" fmla="val -1083875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em curva 7"/>
          <p:cNvCxnSpPr>
            <a:stCxn id="39" idx="2"/>
            <a:endCxn id="41" idx="2"/>
          </p:cNvCxnSpPr>
          <p:nvPr/>
        </p:nvCxnSpPr>
        <p:spPr>
          <a:xfrm rot="10800000" flipV="1">
            <a:off x="5292080" y="4005063"/>
            <a:ext cx="12700" cy="864096"/>
          </a:xfrm>
          <a:prstGeom prst="curvedConnector3">
            <a:avLst>
              <a:gd name="adj1" fmla="val 180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/>
          <p:nvPr/>
        </p:nvCxnSpPr>
        <p:spPr>
          <a:xfrm>
            <a:off x="3779912" y="4434715"/>
            <a:ext cx="720080" cy="2396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90971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Planaridade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Teorema:</a:t>
            </a:r>
          </a:p>
          <a:p>
            <a:pPr lvl="1"/>
            <a:r>
              <a:rPr lang="pt-BR" dirty="0"/>
              <a:t>Um grafo é planar se, e somente se, nenhum de seus </a:t>
            </a:r>
            <a:r>
              <a:rPr lang="pt-BR" dirty="0" err="1"/>
              <a:t>subgrafos</a:t>
            </a:r>
            <a:r>
              <a:rPr lang="pt-BR" dirty="0"/>
              <a:t> podem ser contraídos a K</a:t>
            </a:r>
            <a:r>
              <a:rPr lang="pt-BR" baseline="-25000" dirty="0"/>
              <a:t>5</a:t>
            </a:r>
            <a:r>
              <a:rPr lang="pt-BR" dirty="0"/>
              <a:t> e K</a:t>
            </a:r>
            <a:r>
              <a:rPr lang="pt-BR" baseline="-25000" dirty="0"/>
              <a:t>3,3</a:t>
            </a:r>
            <a:r>
              <a:rPr lang="pt-BR" dirty="0"/>
              <a:t> .</a:t>
            </a:r>
          </a:p>
        </p:txBody>
      </p:sp>
      <p:sp>
        <p:nvSpPr>
          <p:cNvPr id="16" name="Elipse 15"/>
          <p:cNvSpPr/>
          <p:nvPr/>
        </p:nvSpPr>
        <p:spPr>
          <a:xfrm>
            <a:off x="2601386" y="3933056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Elipse 16"/>
          <p:cNvSpPr/>
          <p:nvPr/>
        </p:nvSpPr>
        <p:spPr>
          <a:xfrm>
            <a:off x="2085070" y="5492484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Elipse 17"/>
          <p:cNvSpPr/>
          <p:nvPr/>
        </p:nvSpPr>
        <p:spPr>
          <a:xfrm>
            <a:off x="3086411" y="5492484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0" name="Conector reto 19"/>
          <p:cNvCxnSpPr>
            <a:stCxn id="16" idx="5"/>
            <a:endCxn id="18" idx="0"/>
          </p:cNvCxnSpPr>
          <p:nvPr/>
        </p:nvCxnSpPr>
        <p:spPr>
          <a:xfrm>
            <a:off x="2724311" y="4055981"/>
            <a:ext cx="434108" cy="143650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/>
          <p:cNvCxnSpPr>
            <a:stCxn id="16" idx="3"/>
            <a:endCxn id="17" idx="0"/>
          </p:cNvCxnSpPr>
          <p:nvPr/>
        </p:nvCxnSpPr>
        <p:spPr>
          <a:xfrm flipH="1">
            <a:off x="2157078" y="4055981"/>
            <a:ext cx="465399" cy="143650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Elipse 24"/>
          <p:cNvSpPr/>
          <p:nvPr/>
        </p:nvSpPr>
        <p:spPr>
          <a:xfrm>
            <a:off x="1763688" y="4488029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2" name="Elipse 51"/>
          <p:cNvSpPr/>
          <p:nvPr/>
        </p:nvSpPr>
        <p:spPr>
          <a:xfrm>
            <a:off x="3419872" y="4496413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4" name="Conector reto 53"/>
          <p:cNvCxnSpPr>
            <a:stCxn id="18" idx="2"/>
            <a:endCxn id="25" idx="5"/>
          </p:cNvCxnSpPr>
          <p:nvPr/>
        </p:nvCxnSpPr>
        <p:spPr>
          <a:xfrm flipH="1" flipV="1">
            <a:off x="1886613" y="4610954"/>
            <a:ext cx="1199798" cy="9535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to 56"/>
          <p:cNvCxnSpPr>
            <a:stCxn id="25" idx="6"/>
            <a:endCxn id="52" idx="2"/>
          </p:cNvCxnSpPr>
          <p:nvPr/>
        </p:nvCxnSpPr>
        <p:spPr>
          <a:xfrm>
            <a:off x="1907704" y="4560037"/>
            <a:ext cx="1512168" cy="838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to 58"/>
          <p:cNvCxnSpPr>
            <a:stCxn id="52" idx="3"/>
            <a:endCxn id="17" idx="7"/>
          </p:cNvCxnSpPr>
          <p:nvPr/>
        </p:nvCxnSpPr>
        <p:spPr>
          <a:xfrm flipH="1">
            <a:off x="2207995" y="4619338"/>
            <a:ext cx="1232968" cy="8942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Elipse 59"/>
          <p:cNvSpPr/>
          <p:nvPr/>
        </p:nvSpPr>
        <p:spPr>
          <a:xfrm>
            <a:off x="2601386" y="3501008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1" name="Elipse 60"/>
          <p:cNvSpPr/>
          <p:nvPr/>
        </p:nvSpPr>
        <p:spPr>
          <a:xfrm>
            <a:off x="1835696" y="5805264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2" name="Elipse 61"/>
          <p:cNvSpPr/>
          <p:nvPr/>
        </p:nvSpPr>
        <p:spPr>
          <a:xfrm>
            <a:off x="3347864" y="5805264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3" name="Elipse 62"/>
          <p:cNvSpPr/>
          <p:nvPr/>
        </p:nvSpPr>
        <p:spPr>
          <a:xfrm>
            <a:off x="1475656" y="4221088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4" name="Elipse 63"/>
          <p:cNvSpPr/>
          <p:nvPr/>
        </p:nvSpPr>
        <p:spPr>
          <a:xfrm>
            <a:off x="3779912" y="4221088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6" name="Conector reto 65"/>
          <p:cNvCxnSpPr>
            <a:stCxn id="64" idx="1"/>
            <a:endCxn id="60" idx="6"/>
          </p:cNvCxnSpPr>
          <p:nvPr/>
        </p:nvCxnSpPr>
        <p:spPr>
          <a:xfrm flipH="1" flipV="1">
            <a:off x="2745402" y="3573016"/>
            <a:ext cx="1055601" cy="6691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ector reto 67"/>
          <p:cNvCxnSpPr>
            <a:stCxn id="60" idx="2"/>
            <a:endCxn id="63" idx="7"/>
          </p:cNvCxnSpPr>
          <p:nvPr/>
        </p:nvCxnSpPr>
        <p:spPr>
          <a:xfrm flipH="1">
            <a:off x="1598581" y="3573016"/>
            <a:ext cx="1002805" cy="6691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to 70"/>
          <p:cNvCxnSpPr>
            <a:stCxn id="63" idx="4"/>
            <a:endCxn id="61" idx="1"/>
          </p:cNvCxnSpPr>
          <p:nvPr/>
        </p:nvCxnSpPr>
        <p:spPr>
          <a:xfrm>
            <a:off x="1547664" y="4365104"/>
            <a:ext cx="309123" cy="14612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ector reto 72"/>
          <p:cNvCxnSpPr>
            <a:stCxn id="64" idx="4"/>
            <a:endCxn id="62" idx="7"/>
          </p:cNvCxnSpPr>
          <p:nvPr/>
        </p:nvCxnSpPr>
        <p:spPr>
          <a:xfrm flipH="1">
            <a:off x="3470789" y="4365104"/>
            <a:ext cx="381131" cy="14612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/>
          <p:cNvCxnSpPr>
            <a:stCxn id="61" idx="6"/>
            <a:endCxn id="62" idx="2"/>
          </p:cNvCxnSpPr>
          <p:nvPr/>
        </p:nvCxnSpPr>
        <p:spPr>
          <a:xfrm>
            <a:off x="1979712" y="5877272"/>
            <a:ext cx="13681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 reto 76"/>
          <p:cNvCxnSpPr>
            <a:stCxn id="60" idx="4"/>
            <a:endCxn id="16" idx="0"/>
          </p:cNvCxnSpPr>
          <p:nvPr/>
        </p:nvCxnSpPr>
        <p:spPr>
          <a:xfrm>
            <a:off x="2673394" y="3645024"/>
            <a:ext cx="0" cy="28803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ector reto 78"/>
          <p:cNvCxnSpPr>
            <a:stCxn id="64" idx="3"/>
            <a:endCxn id="52" idx="7"/>
          </p:cNvCxnSpPr>
          <p:nvPr/>
        </p:nvCxnSpPr>
        <p:spPr>
          <a:xfrm flipH="1">
            <a:off x="3542797" y="4344013"/>
            <a:ext cx="258206" cy="17349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to 80"/>
          <p:cNvCxnSpPr>
            <a:stCxn id="63" idx="5"/>
            <a:endCxn id="25" idx="1"/>
          </p:cNvCxnSpPr>
          <p:nvPr/>
        </p:nvCxnSpPr>
        <p:spPr>
          <a:xfrm>
            <a:off x="1598581" y="4344013"/>
            <a:ext cx="186198" cy="16510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ector reto 82"/>
          <p:cNvCxnSpPr>
            <a:stCxn id="62" idx="1"/>
            <a:endCxn id="18" idx="5"/>
          </p:cNvCxnSpPr>
          <p:nvPr/>
        </p:nvCxnSpPr>
        <p:spPr>
          <a:xfrm flipH="1" flipV="1">
            <a:off x="3209336" y="5615409"/>
            <a:ext cx="159619" cy="21094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ector reto 84"/>
          <p:cNvCxnSpPr>
            <a:stCxn id="17" idx="3"/>
            <a:endCxn id="61" idx="7"/>
          </p:cNvCxnSpPr>
          <p:nvPr/>
        </p:nvCxnSpPr>
        <p:spPr>
          <a:xfrm flipH="1">
            <a:off x="1958621" y="5615409"/>
            <a:ext cx="147540" cy="21094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to 31"/>
          <p:cNvCxnSpPr>
            <a:stCxn id="39" idx="5"/>
            <a:endCxn id="41" idx="0"/>
          </p:cNvCxnSpPr>
          <p:nvPr/>
        </p:nvCxnSpPr>
        <p:spPr>
          <a:xfrm>
            <a:off x="6705842" y="3623933"/>
            <a:ext cx="695561" cy="21813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to 32"/>
          <p:cNvCxnSpPr>
            <a:stCxn id="39" idx="3"/>
            <a:endCxn id="40" idx="0"/>
          </p:cNvCxnSpPr>
          <p:nvPr/>
        </p:nvCxnSpPr>
        <p:spPr>
          <a:xfrm flipH="1">
            <a:off x="5889235" y="3623933"/>
            <a:ext cx="714773" cy="21813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/>
          <p:cNvCxnSpPr>
            <a:stCxn id="41" idx="1"/>
            <a:endCxn id="42" idx="5"/>
          </p:cNvCxnSpPr>
          <p:nvPr/>
        </p:nvCxnSpPr>
        <p:spPr>
          <a:xfrm flipH="1" flipV="1">
            <a:off x="5580112" y="4344013"/>
            <a:ext cx="1770374" cy="148234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to 36"/>
          <p:cNvCxnSpPr>
            <a:stCxn id="42" idx="6"/>
            <a:endCxn id="43" idx="2"/>
          </p:cNvCxnSpPr>
          <p:nvPr/>
        </p:nvCxnSpPr>
        <p:spPr>
          <a:xfrm>
            <a:off x="5601203" y="4293096"/>
            <a:ext cx="21602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to 37"/>
          <p:cNvCxnSpPr>
            <a:stCxn id="43" idx="3"/>
            <a:endCxn id="40" idx="7"/>
          </p:cNvCxnSpPr>
          <p:nvPr/>
        </p:nvCxnSpPr>
        <p:spPr>
          <a:xfrm flipH="1">
            <a:off x="5940152" y="4344013"/>
            <a:ext cx="1842382" cy="148234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Elipse 38"/>
          <p:cNvSpPr/>
          <p:nvPr/>
        </p:nvSpPr>
        <p:spPr>
          <a:xfrm>
            <a:off x="6582917" y="3501008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Elipse 39"/>
          <p:cNvSpPr/>
          <p:nvPr/>
        </p:nvSpPr>
        <p:spPr>
          <a:xfrm>
            <a:off x="5817227" y="5805264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/>
          <p:cNvSpPr/>
          <p:nvPr/>
        </p:nvSpPr>
        <p:spPr>
          <a:xfrm>
            <a:off x="7329395" y="5805264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Elipse 41"/>
          <p:cNvSpPr/>
          <p:nvPr/>
        </p:nvSpPr>
        <p:spPr>
          <a:xfrm>
            <a:off x="5457187" y="4221088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Elipse 42"/>
          <p:cNvSpPr/>
          <p:nvPr/>
        </p:nvSpPr>
        <p:spPr>
          <a:xfrm>
            <a:off x="7761443" y="4221088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4" name="Conector reto 43"/>
          <p:cNvCxnSpPr>
            <a:stCxn id="43" idx="1"/>
            <a:endCxn id="39" idx="6"/>
          </p:cNvCxnSpPr>
          <p:nvPr/>
        </p:nvCxnSpPr>
        <p:spPr>
          <a:xfrm flipH="1" flipV="1">
            <a:off x="6726933" y="3573016"/>
            <a:ext cx="1055601" cy="6691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to 44"/>
          <p:cNvCxnSpPr>
            <a:stCxn id="39" idx="2"/>
            <a:endCxn id="42" idx="7"/>
          </p:cNvCxnSpPr>
          <p:nvPr/>
        </p:nvCxnSpPr>
        <p:spPr>
          <a:xfrm flipH="1">
            <a:off x="5580112" y="3573016"/>
            <a:ext cx="1002805" cy="6691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/>
          <p:cNvCxnSpPr>
            <a:stCxn id="42" idx="4"/>
            <a:endCxn id="40" idx="1"/>
          </p:cNvCxnSpPr>
          <p:nvPr/>
        </p:nvCxnSpPr>
        <p:spPr>
          <a:xfrm>
            <a:off x="5529195" y="4365104"/>
            <a:ext cx="309123" cy="14612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to 46"/>
          <p:cNvCxnSpPr>
            <a:stCxn id="43" idx="4"/>
            <a:endCxn id="41" idx="7"/>
          </p:cNvCxnSpPr>
          <p:nvPr/>
        </p:nvCxnSpPr>
        <p:spPr>
          <a:xfrm flipH="1">
            <a:off x="7452320" y="4365104"/>
            <a:ext cx="381131" cy="14612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to 47"/>
          <p:cNvCxnSpPr>
            <a:stCxn id="40" idx="6"/>
            <a:endCxn id="41" idx="2"/>
          </p:cNvCxnSpPr>
          <p:nvPr/>
        </p:nvCxnSpPr>
        <p:spPr>
          <a:xfrm>
            <a:off x="5961243" y="5877272"/>
            <a:ext cx="13681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de seta reta 4"/>
          <p:cNvCxnSpPr/>
          <p:nvPr/>
        </p:nvCxnSpPr>
        <p:spPr>
          <a:xfrm>
            <a:off x="4283968" y="5066456"/>
            <a:ext cx="720080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tângulo 5"/>
          <p:cNvSpPr/>
          <p:nvPr/>
        </p:nvSpPr>
        <p:spPr>
          <a:xfrm>
            <a:off x="614705" y="6093296"/>
            <a:ext cx="43893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/>
              <a:t>Grafo de </a:t>
            </a:r>
            <a:r>
              <a:rPr lang="pt-BR" dirty="0" err="1"/>
              <a:t>Petersen</a:t>
            </a:r>
            <a:r>
              <a:rPr lang="pt-BR" dirty="0"/>
              <a:t> pode ser contraído em K</a:t>
            </a:r>
            <a:r>
              <a:rPr lang="pt-BR" baseline="-25000" dirty="0"/>
              <a:t>5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014991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Número de cruzamento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dirty="0"/>
              <a:t>Se tentarmos desenhar K</a:t>
            </a:r>
            <a:r>
              <a:rPr lang="pt-BR" sz="2800" baseline="-25000" dirty="0"/>
              <a:t>5</a:t>
            </a:r>
            <a:r>
              <a:rPr lang="pt-BR" sz="2800" dirty="0"/>
              <a:t> ou K</a:t>
            </a:r>
            <a:r>
              <a:rPr lang="pt-BR" sz="2800" baseline="-25000" dirty="0"/>
              <a:t>3,3</a:t>
            </a:r>
            <a:r>
              <a:rPr lang="pt-BR" sz="2800" dirty="0"/>
              <a:t> no plano, então deve existir pelo menos um cruzamento e arestas, desde que K</a:t>
            </a:r>
            <a:r>
              <a:rPr lang="pt-BR" sz="2800" baseline="-25000" dirty="0"/>
              <a:t>5</a:t>
            </a:r>
            <a:r>
              <a:rPr lang="pt-BR" sz="2800" dirty="0"/>
              <a:t> e K</a:t>
            </a:r>
            <a:r>
              <a:rPr lang="pt-BR" sz="2800" baseline="-25000" dirty="0"/>
              <a:t>3,3</a:t>
            </a:r>
            <a:r>
              <a:rPr lang="pt-BR" sz="2800" dirty="0"/>
              <a:t> não são planares.</a:t>
            </a:r>
          </a:p>
          <a:p>
            <a:endParaRPr lang="pt-BR" sz="2800" dirty="0"/>
          </a:p>
        </p:txBody>
      </p:sp>
      <p:sp>
        <p:nvSpPr>
          <p:cNvPr id="4" name="Elipse 3"/>
          <p:cNvSpPr/>
          <p:nvPr/>
        </p:nvSpPr>
        <p:spPr>
          <a:xfrm>
            <a:off x="4852385" y="5246950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7495502" y="6288229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/>
          <p:cNvSpPr/>
          <p:nvPr/>
        </p:nvSpPr>
        <p:spPr>
          <a:xfrm>
            <a:off x="7495502" y="4221088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5586693" y="6323730"/>
            <a:ext cx="144016" cy="144016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5587398" y="4221088"/>
            <a:ext cx="144016" cy="144016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8172400" y="5254658"/>
            <a:ext cx="144016" cy="144016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/>
          <p:cNvCxnSpPr>
            <a:stCxn id="6" idx="5"/>
            <a:endCxn id="9" idx="0"/>
          </p:cNvCxnSpPr>
          <p:nvPr/>
        </p:nvCxnSpPr>
        <p:spPr>
          <a:xfrm>
            <a:off x="7618427" y="4344013"/>
            <a:ext cx="625981" cy="9106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6" idx="2"/>
            <a:endCxn id="8" idx="6"/>
          </p:cNvCxnSpPr>
          <p:nvPr/>
        </p:nvCxnSpPr>
        <p:spPr>
          <a:xfrm flipH="1">
            <a:off x="5731414" y="4293096"/>
            <a:ext cx="17640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6" idx="2"/>
            <a:endCxn id="7" idx="7"/>
          </p:cNvCxnSpPr>
          <p:nvPr/>
        </p:nvCxnSpPr>
        <p:spPr>
          <a:xfrm flipH="1">
            <a:off x="5709618" y="4293096"/>
            <a:ext cx="1785884" cy="20517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5" idx="5"/>
            <a:endCxn id="9" idx="4"/>
          </p:cNvCxnSpPr>
          <p:nvPr/>
        </p:nvCxnSpPr>
        <p:spPr>
          <a:xfrm flipV="1">
            <a:off x="7618427" y="5398674"/>
            <a:ext cx="625981" cy="10124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>
            <a:stCxn id="5" idx="3"/>
            <a:endCxn id="7" idx="6"/>
          </p:cNvCxnSpPr>
          <p:nvPr/>
        </p:nvCxnSpPr>
        <p:spPr>
          <a:xfrm flipH="1" flipV="1">
            <a:off x="5730709" y="6395738"/>
            <a:ext cx="1785884" cy="154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>
            <a:stCxn id="5" idx="1"/>
            <a:endCxn id="8" idx="5"/>
          </p:cNvCxnSpPr>
          <p:nvPr/>
        </p:nvCxnSpPr>
        <p:spPr>
          <a:xfrm flipH="1" flipV="1">
            <a:off x="5710323" y="4344013"/>
            <a:ext cx="1806270" cy="19653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/>
          <p:cNvCxnSpPr>
            <a:stCxn id="4" idx="0"/>
            <a:endCxn id="8" idx="3"/>
          </p:cNvCxnSpPr>
          <p:nvPr/>
        </p:nvCxnSpPr>
        <p:spPr>
          <a:xfrm flipV="1">
            <a:off x="4924393" y="4344013"/>
            <a:ext cx="684096" cy="9029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/>
          <p:cNvCxnSpPr>
            <a:stCxn id="4" idx="4"/>
            <a:endCxn id="7" idx="0"/>
          </p:cNvCxnSpPr>
          <p:nvPr/>
        </p:nvCxnSpPr>
        <p:spPr>
          <a:xfrm>
            <a:off x="4924393" y="5390966"/>
            <a:ext cx="734308" cy="9327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em curva 60"/>
          <p:cNvCxnSpPr>
            <a:stCxn id="9" idx="6"/>
            <a:endCxn id="4" idx="1"/>
          </p:cNvCxnSpPr>
          <p:nvPr/>
        </p:nvCxnSpPr>
        <p:spPr>
          <a:xfrm flipH="1" flipV="1">
            <a:off x="4873476" y="5268041"/>
            <a:ext cx="3442940" cy="58625"/>
          </a:xfrm>
          <a:prstGeom prst="curvedConnector4">
            <a:avLst>
              <a:gd name="adj1" fmla="val -11899"/>
              <a:gd name="adj2" fmla="val 3151224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ector reto 68"/>
          <p:cNvCxnSpPr>
            <a:stCxn id="74" idx="1"/>
            <a:endCxn id="75" idx="5"/>
          </p:cNvCxnSpPr>
          <p:nvPr/>
        </p:nvCxnSpPr>
        <p:spPr>
          <a:xfrm flipH="1" flipV="1">
            <a:off x="1310549" y="4754970"/>
            <a:ext cx="1770374" cy="148234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ector reto 69"/>
          <p:cNvCxnSpPr>
            <a:stCxn id="75" idx="6"/>
            <a:endCxn id="76" idx="2"/>
          </p:cNvCxnSpPr>
          <p:nvPr/>
        </p:nvCxnSpPr>
        <p:spPr>
          <a:xfrm>
            <a:off x="1331640" y="4704053"/>
            <a:ext cx="21602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to 70"/>
          <p:cNvCxnSpPr>
            <a:stCxn id="76" idx="3"/>
            <a:endCxn id="73" idx="7"/>
          </p:cNvCxnSpPr>
          <p:nvPr/>
        </p:nvCxnSpPr>
        <p:spPr>
          <a:xfrm flipH="1">
            <a:off x="1670589" y="4754970"/>
            <a:ext cx="1842382" cy="148234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Elipse 71"/>
          <p:cNvSpPr/>
          <p:nvPr/>
        </p:nvSpPr>
        <p:spPr>
          <a:xfrm>
            <a:off x="2313354" y="3911965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3" name="Elipse 72"/>
          <p:cNvSpPr/>
          <p:nvPr/>
        </p:nvSpPr>
        <p:spPr>
          <a:xfrm>
            <a:off x="1547664" y="6216221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4" name="Elipse 73"/>
          <p:cNvSpPr/>
          <p:nvPr/>
        </p:nvSpPr>
        <p:spPr>
          <a:xfrm>
            <a:off x="3059832" y="6216221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5" name="Elipse 74"/>
          <p:cNvSpPr/>
          <p:nvPr/>
        </p:nvSpPr>
        <p:spPr>
          <a:xfrm>
            <a:off x="1187624" y="4632045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6" name="Elipse 75"/>
          <p:cNvSpPr/>
          <p:nvPr/>
        </p:nvSpPr>
        <p:spPr>
          <a:xfrm>
            <a:off x="3491880" y="4632045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77" name="Conector reto 76"/>
          <p:cNvCxnSpPr>
            <a:stCxn id="76" idx="1"/>
            <a:endCxn id="72" idx="6"/>
          </p:cNvCxnSpPr>
          <p:nvPr/>
        </p:nvCxnSpPr>
        <p:spPr>
          <a:xfrm flipH="1" flipV="1">
            <a:off x="2457370" y="3983973"/>
            <a:ext cx="1055601" cy="6691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reto 77"/>
          <p:cNvCxnSpPr>
            <a:stCxn id="72" idx="2"/>
            <a:endCxn id="75" idx="7"/>
          </p:cNvCxnSpPr>
          <p:nvPr/>
        </p:nvCxnSpPr>
        <p:spPr>
          <a:xfrm flipH="1">
            <a:off x="1310549" y="3983973"/>
            <a:ext cx="1002805" cy="6691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ector reto 78"/>
          <p:cNvCxnSpPr>
            <a:stCxn id="75" idx="4"/>
            <a:endCxn id="73" idx="1"/>
          </p:cNvCxnSpPr>
          <p:nvPr/>
        </p:nvCxnSpPr>
        <p:spPr>
          <a:xfrm>
            <a:off x="1259632" y="4776061"/>
            <a:ext cx="309123" cy="14612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ector reto 79"/>
          <p:cNvCxnSpPr>
            <a:stCxn id="76" idx="4"/>
            <a:endCxn id="74" idx="7"/>
          </p:cNvCxnSpPr>
          <p:nvPr/>
        </p:nvCxnSpPr>
        <p:spPr>
          <a:xfrm flipH="1">
            <a:off x="3182757" y="4776061"/>
            <a:ext cx="381131" cy="14612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to 80"/>
          <p:cNvCxnSpPr>
            <a:stCxn id="73" idx="6"/>
            <a:endCxn id="74" idx="2"/>
          </p:cNvCxnSpPr>
          <p:nvPr/>
        </p:nvCxnSpPr>
        <p:spPr>
          <a:xfrm>
            <a:off x="1691680" y="6288229"/>
            <a:ext cx="13681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ector em curva 82"/>
          <p:cNvCxnSpPr>
            <a:stCxn id="74" idx="5"/>
            <a:endCxn id="72" idx="7"/>
          </p:cNvCxnSpPr>
          <p:nvPr/>
        </p:nvCxnSpPr>
        <p:spPr>
          <a:xfrm rot="5400000" flipH="1">
            <a:off x="1606473" y="4762862"/>
            <a:ext cx="2406090" cy="746478"/>
          </a:xfrm>
          <a:prstGeom prst="curvedConnector5">
            <a:avLst>
              <a:gd name="adj1" fmla="val -13264"/>
              <a:gd name="adj2" fmla="val -123890"/>
              <a:gd name="adj3" fmla="val 109501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ector em curva 86"/>
          <p:cNvCxnSpPr>
            <a:stCxn id="72" idx="0"/>
            <a:endCxn id="73" idx="2"/>
          </p:cNvCxnSpPr>
          <p:nvPr/>
        </p:nvCxnSpPr>
        <p:spPr>
          <a:xfrm rot="16200000" flipH="1" flipV="1">
            <a:off x="778381" y="4681248"/>
            <a:ext cx="2376264" cy="837698"/>
          </a:xfrm>
          <a:prstGeom prst="curvedConnector4">
            <a:avLst>
              <a:gd name="adj1" fmla="val -9620"/>
              <a:gd name="adj2" fmla="val 221315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17817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Número de cruzamento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dirty="0"/>
              <a:t>No entanto, não precisamos mais do que um cruzamento de arestas. E podemos afirmar que K</a:t>
            </a:r>
            <a:r>
              <a:rPr lang="pt-BR" sz="2800" baseline="-25000" dirty="0"/>
              <a:t>5</a:t>
            </a:r>
            <a:r>
              <a:rPr lang="pt-BR" sz="2800" dirty="0"/>
              <a:t> e K</a:t>
            </a:r>
            <a:r>
              <a:rPr lang="pt-BR" sz="2800" baseline="-25000" dirty="0"/>
              <a:t>3,3</a:t>
            </a:r>
            <a:r>
              <a:rPr lang="pt-BR" sz="2800" dirty="0"/>
              <a:t> não são planares apenas com um cruzamento. </a:t>
            </a:r>
          </a:p>
        </p:txBody>
      </p:sp>
      <p:sp>
        <p:nvSpPr>
          <p:cNvPr id="34" name="Elipse 33"/>
          <p:cNvSpPr/>
          <p:nvPr/>
        </p:nvSpPr>
        <p:spPr>
          <a:xfrm>
            <a:off x="4852385" y="5246950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Elipse 34"/>
          <p:cNvSpPr/>
          <p:nvPr/>
        </p:nvSpPr>
        <p:spPr>
          <a:xfrm>
            <a:off x="7495502" y="6288229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Elipse 35"/>
          <p:cNvSpPr/>
          <p:nvPr/>
        </p:nvSpPr>
        <p:spPr>
          <a:xfrm>
            <a:off x="7495502" y="4221088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/>
          <p:cNvSpPr/>
          <p:nvPr/>
        </p:nvSpPr>
        <p:spPr>
          <a:xfrm>
            <a:off x="5586693" y="6323730"/>
            <a:ext cx="144016" cy="144016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/>
          <p:cNvSpPr/>
          <p:nvPr/>
        </p:nvSpPr>
        <p:spPr>
          <a:xfrm>
            <a:off x="5587398" y="4221088"/>
            <a:ext cx="144016" cy="144016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Elipse 38"/>
          <p:cNvSpPr/>
          <p:nvPr/>
        </p:nvSpPr>
        <p:spPr>
          <a:xfrm>
            <a:off x="8172400" y="5254658"/>
            <a:ext cx="144016" cy="144016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0" name="Conector reto 39"/>
          <p:cNvCxnSpPr>
            <a:stCxn id="36" idx="5"/>
            <a:endCxn id="39" idx="0"/>
          </p:cNvCxnSpPr>
          <p:nvPr/>
        </p:nvCxnSpPr>
        <p:spPr>
          <a:xfrm>
            <a:off x="7618427" y="4344013"/>
            <a:ext cx="625981" cy="9106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to 40"/>
          <p:cNvCxnSpPr>
            <a:stCxn id="36" idx="2"/>
            <a:endCxn id="38" idx="6"/>
          </p:cNvCxnSpPr>
          <p:nvPr/>
        </p:nvCxnSpPr>
        <p:spPr>
          <a:xfrm flipH="1">
            <a:off x="5731414" y="4293096"/>
            <a:ext cx="17640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to 41"/>
          <p:cNvCxnSpPr>
            <a:stCxn id="36" idx="2"/>
            <a:endCxn id="37" idx="7"/>
          </p:cNvCxnSpPr>
          <p:nvPr/>
        </p:nvCxnSpPr>
        <p:spPr>
          <a:xfrm flipH="1">
            <a:off x="5709618" y="4293096"/>
            <a:ext cx="1785884" cy="20517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42"/>
          <p:cNvCxnSpPr>
            <a:stCxn id="35" idx="5"/>
            <a:endCxn id="39" idx="4"/>
          </p:cNvCxnSpPr>
          <p:nvPr/>
        </p:nvCxnSpPr>
        <p:spPr>
          <a:xfrm flipV="1">
            <a:off x="7618427" y="5398674"/>
            <a:ext cx="625981" cy="10124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/>
          <p:cNvCxnSpPr>
            <a:stCxn id="35" idx="3"/>
            <a:endCxn id="37" idx="6"/>
          </p:cNvCxnSpPr>
          <p:nvPr/>
        </p:nvCxnSpPr>
        <p:spPr>
          <a:xfrm flipH="1" flipV="1">
            <a:off x="5730709" y="6395738"/>
            <a:ext cx="1785884" cy="154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to 44"/>
          <p:cNvCxnSpPr>
            <a:stCxn id="35" idx="1"/>
            <a:endCxn id="38" idx="5"/>
          </p:cNvCxnSpPr>
          <p:nvPr/>
        </p:nvCxnSpPr>
        <p:spPr>
          <a:xfrm flipH="1" flipV="1">
            <a:off x="5710323" y="4344013"/>
            <a:ext cx="1806270" cy="19653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/>
          <p:cNvCxnSpPr>
            <a:stCxn id="34" idx="0"/>
            <a:endCxn id="38" idx="3"/>
          </p:cNvCxnSpPr>
          <p:nvPr/>
        </p:nvCxnSpPr>
        <p:spPr>
          <a:xfrm flipV="1">
            <a:off x="4924393" y="4344013"/>
            <a:ext cx="684096" cy="9029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to 46"/>
          <p:cNvCxnSpPr>
            <a:stCxn id="34" idx="4"/>
            <a:endCxn id="37" idx="0"/>
          </p:cNvCxnSpPr>
          <p:nvPr/>
        </p:nvCxnSpPr>
        <p:spPr>
          <a:xfrm>
            <a:off x="4924393" y="5390966"/>
            <a:ext cx="734308" cy="9327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em curva 47"/>
          <p:cNvCxnSpPr>
            <a:stCxn id="39" idx="6"/>
            <a:endCxn id="34" idx="1"/>
          </p:cNvCxnSpPr>
          <p:nvPr/>
        </p:nvCxnSpPr>
        <p:spPr>
          <a:xfrm flipH="1" flipV="1">
            <a:off x="4873476" y="5268041"/>
            <a:ext cx="3442940" cy="58625"/>
          </a:xfrm>
          <a:prstGeom prst="curvedConnector4">
            <a:avLst>
              <a:gd name="adj1" fmla="val -11899"/>
              <a:gd name="adj2" fmla="val 3151224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to 48"/>
          <p:cNvCxnSpPr>
            <a:stCxn id="54" idx="1"/>
            <a:endCxn id="55" idx="5"/>
          </p:cNvCxnSpPr>
          <p:nvPr/>
        </p:nvCxnSpPr>
        <p:spPr>
          <a:xfrm flipH="1" flipV="1">
            <a:off x="1310549" y="4754970"/>
            <a:ext cx="1770374" cy="148234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to 49"/>
          <p:cNvCxnSpPr>
            <a:stCxn id="55" idx="6"/>
            <a:endCxn id="56" idx="2"/>
          </p:cNvCxnSpPr>
          <p:nvPr/>
        </p:nvCxnSpPr>
        <p:spPr>
          <a:xfrm>
            <a:off x="1331640" y="4704053"/>
            <a:ext cx="21602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to 50"/>
          <p:cNvCxnSpPr>
            <a:stCxn id="56" idx="3"/>
            <a:endCxn id="53" idx="7"/>
          </p:cNvCxnSpPr>
          <p:nvPr/>
        </p:nvCxnSpPr>
        <p:spPr>
          <a:xfrm flipH="1">
            <a:off x="1670589" y="4754970"/>
            <a:ext cx="1842382" cy="148234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Elipse 51"/>
          <p:cNvSpPr/>
          <p:nvPr/>
        </p:nvSpPr>
        <p:spPr>
          <a:xfrm>
            <a:off x="2313354" y="3911965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3" name="Elipse 52"/>
          <p:cNvSpPr/>
          <p:nvPr/>
        </p:nvSpPr>
        <p:spPr>
          <a:xfrm>
            <a:off x="1547664" y="6216221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4" name="Elipse 53"/>
          <p:cNvSpPr/>
          <p:nvPr/>
        </p:nvSpPr>
        <p:spPr>
          <a:xfrm>
            <a:off x="3059832" y="6216221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5" name="Elipse 54"/>
          <p:cNvSpPr/>
          <p:nvPr/>
        </p:nvSpPr>
        <p:spPr>
          <a:xfrm>
            <a:off x="1187624" y="4632045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6" name="Elipse 55"/>
          <p:cNvSpPr/>
          <p:nvPr/>
        </p:nvSpPr>
        <p:spPr>
          <a:xfrm>
            <a:off x="3491880" y="4632045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7" name="Conector reto 56"/>
          <p:cNvCxnSpPr>
            <a:stCxn id="56" idx="1"/>
            <a:endCxn id="52" idx="6"/>
          </p:cNvCxnSpPr>
          <p:nvPr/>
        </p:nvCxnSpPr>
        <p:spPr>
          <a:xfrm flipH="1" flipV="1">
            <a:off x="2457370" y="3983973"/>
            <a:ext cx="1055601" cy="6691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to 57"/>
          <p:cNvCxnSpPr>
            <a:stCxn id="52" idx="2"/>
            <a:endCxn id="55" idx="7"/>
          </p:cNvCxnSpPr>
          <p:nvPr/>
        </p:nvCxnSpPr>
        <p:spPr>
          <a:xfrm flipH="1">
            <a:off x="1310549" y="3983973"/>
            <a:ext cx="1002805" cy="6691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to 58"/>
          <p:cNvCxnSpPr>
            <a:stCxn id="55" idx="4"/>
            <a:endCxn id="53" idx="1"/>
          </p:cNvCxnSpPr>
          <p:nvPr/>
        </p:nvCxnSpPr>
        <p:spPr>
          <a:xfrm>
            <a:off x="1259632" y="4776061"/>
            <a:ext cx="309123" cy="14612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to 59"/>
          <p:cNvCxnSpPr>
            <a:stCxn id="56" idx="4"/>
            <a:endCxn id="54" idx="7"/>
          </p:cNvCxnSpPr>
          <p:nvPr/>
        </p:nvCxnSpPr>
        <p:spPr>
          <a:xfrm flipH="1">
            <a:off x="3182757" y="4776061"/>
            <a:ext cx="381131" cy="14612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to 61"/>
          <p:cNvCxnSpPr>
            <a:stCxn id="53" idx="6"/>
            <a:endCxn id="54" idx="2"/>
          </p:cNvCxnSpPr>
          <p:nvPr/>
        </p:nvCxnSpPr>
        <p:spPr>
          <a:xfrm>
            <a:off x="1691680" y="6288229"/>
            <a:ext cx="13681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ctor em curva 62"/>
          <p:cNvCxnSpPr>
            <a:stCxn id="54" idx="5"/>
            <a:endCxn id="52" idx="7"/>
          </p:cNvCxnSpPr>
          <p:nvPr/>
        </p:nvCxnSpPr>
        <p:spPr>
          <a:xfrm rot="5400000" flipH="1">
            <a:off x="1606473" y="4762862"/>
            <a:ext cx="2406090" cy="746478"/>
          </a:xfrm>
          <a:prstGeom prst="curvedConnector5">
            <a:avLst>
              <a:gd name="adj1" fmla="val -13264"/>
              <a:gd name="adj2" fmla="val -123890"/>
              <a:gd name="adj3" fmla="val 109501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ector em curva 63"/>
          <p:cNvCxnSpPr>
            <a:stCxn id="52" idx="0"/>
            <a:endCxn id="53" idx="2"/>
          </p:cNvCxnSpPr>
          <p:nvPr/>
        </p:nvCxnSpPr>
        <p:spPr>
          <a:xfrm rot="16200000" flipH="1" flipV="1">
            <a:off x="778381" y="4681248"/>
            <a:ext cx="2376264" cy="837698"/>
          </a:xfrm>
          <a:prstGeom prst="curvedConnector4">
            <a:avLst>
              <a:gd name="adj1" fmla="val -9620"/>
              <a:gd name="adj2" fmla="val 221315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25751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Número de cruzamento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400" dirty="0"/>
                  <a:t>Portanto o número de cruzamento </a:t>
                </a:r>
                <a:r>
                  <a:rPr lang="pt-BR" sz="2400" dirty="0" err="1"/>
                  <a:t>cr</a:t>
                </a:r>
                <a:r>
                  <a:rPr lang="pt-BR" sz="2400" dirty="0"/>
                  <a:t>(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sz="2400" dirty="0"/>
                  <a:t>) de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sz="2400" dirty="0"/>
                  <a:t> é o número mínimo de cruzamentos que podem ocorrer quando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sz="2400" dirty="0"/>
                  <a:t> é desenhado no plano. Assim, podemos medir o quão “não planar” um grafo é. Ex.: </a:t>
                </a:r>
                <a:r>
                  <a:rPr lang="pt-BR" sz="2400" dirty="0" err="1"/>
                  <a:t>cr</a:t>
                </a:r>
                <a:r>
                  <a:rPr lang="pt-BR" sz="2400" dirty="0"/>
                  <a:t>(K</a:t>
                </a:r>
                <a:r>
                  <a:rPr lang="pt-BR" sz="2400" baseline="-25000" dirty="0"/>
                  <a:t>5</a:t>
                </a:r>
                <a:r>
                  <a:rPr lang="pt-BR" sz="2400" dirty="0"/>
                  <a:t>) = </a:t>
                </a:r>
                <a:r>
                  <a:rPr lang="pt-BR" sz="2400" dirty="0" err="1"/>
                  <a:t>cr</a:t>
                </a:r>
                <a:r>
                  <a:rPr lang="pt-BR" sz="2400" dirty="0"/>
                  <a:t>(K</a:t>
                </a:r>
                <a:r>
                  <a:rPr lang="pt-BR" sz="2400" baseline="-25000" dirty="0"/>
                  <a:t>3,3</a:t>
                </a:r>
                <a:r>
                  <a:rPr lang="pt-BR" sz="2400" dirty="0"/>
                  <a:t>) = 1</a:t>
                </a:r>
              </a:p>
              <a:p>
                <a:endParaRPr lang="pt-BR" sz="2800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3" t="-107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Elipse 33"/>
          <p:cNvSpPr/>
          <p:nvPr/>
        </p:nvSpPr>
        <p:spPr>
          <a:xfrm>
            <a:off x="4852385" y="5246950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Elipse 34"/>
          <p:cNvSpPr/>
          <p:nvPr/>
        </p:nvSpPr>
        <p:spPr>
          <a:xfrm>
            <a:off x="7495502" y="6288229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Elipse 35"/>
          <p:cNvSpPr/>
          <p:nvPr/>
        </p:nvSpPr>
        <p:spPr>
          <a:xfrm>
            <a:off x="7495502" y="4221088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/>
          <p:cNvSpPr/>
          <p:nvPr/>
        </p:nvSpPr>
        <p:spPr>
          <a:xfrm>
            <a:off x="5586693" y="6323730"/>
            <a:ext cx="144016" cy="144016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lipse 37"/>
          <p:cNvSpPr/>
          <p:nvPr/>
        </p:nvSpPr>
        <p:spPr>
          <a:xfrm>
            <a:off x="5587398" y="4221088"/>
            <a:ext cx="144016" cy="144016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Elipse 38"/>
          <p:cNvSpPr/>
          <p:nvPr/>
        </p:nvSpPr>
        <p:spPr>
          <a:xfrm>
            <a:off x="8172400" y="5254658"/>
            <a:ext cx="144016" cy="144016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0" name="Conector reto 39"/>
          <p:cNvCxnSpPr>
            <a:stCxn id="36" idx="5"/>
            <a:endCxn id="39" idx="0"/>
          </p:cNvCxnSpPr>
          <p:nvPr/>
        </p:nvCxnSpPr>
        <p:spPr>
          <a:xfrm>
            <a:off x="7618427" y="4344013"/>
            <a:ext cx="625981" cy="9106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to 40"/>
          <p:cNvCxnSpPr>
            <a:stCxn id="36" idx="2"/>
            <a:endCxn id="38" idx="6"/>
          </p:cNvCxnSpPr>
          <p:nvPr/>
        </p:nvCxnSpPr>
        <p:spPr>
          <a:xfrm flipH="1">
            <a:off x="5731414" y="4293096"/>
            <a:ext cx="17640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to 41"/>
          <p:cNvCxnSpPr>
            <a:stCxn id="36" idx="2"/>
            <a:endCxn id="37" idx="7"/>
          </p:cNvCxnSpPr>
          <p:nvPr/>
        </p:nvCxnSpPr>
        <p:spPr>
          <a:xfrm flipH="1">
            <a:off x="5709618" y="4293096"/>
            <a:ext cx="1785884" cy="20517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42"/>
          <p:cNvCxnSpPr>
            <a:stCxn id="35" idx="5"/>
            <a:endCxn id="39" idx="4"/>
          </p:cNvCxnSpPr>
          <p:nvPr/>
        </p:nvCxnSpPr>
        <p:spPr>
          <a:xfrm flipV="1">
            <a:off x="7618427" y="5398674"/>
            <a:ext cx="625981" cy="10124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/>
          <p:cNvCxnSpPr>
            <a:stCxn id="35" idx="3"/>
            <a:endCxn id="37" idx="6"/>
          </p:cNvCxnSpPr>
          <p:nvPr/>
        </p:nvCxnSpPr>
        <p:spPr>
          <a:xfrm flipH="1" flipV="1">
            <a:off x="5730709" y="6395738"/>
            <a:ext cx="1785884" cy="154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to 44"/>
          <p:cNvCxnSpPr>
            <a:stCxn id="35" idx="1"/>
            <a:endCxn id="38" idx="5"/>
          </p:cNvCxnSpPr>
          <p:nvPr/>
        </p:nvCxnSpPr>
        <p:spPr>
          <a:xfrm flipH="1" flipV="1">
            <a:off x="5710323" y="4344013"/>
            <a:ext cx="1806270" cy="19653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/>
          <p:cNvCxnSpPr>
            <a:stCxn id="34" idx="0"/>
            <a:endCxn id="38" idx="3"/>
          </p:cNvCxnSpPr>
          <p:nvPr/>
        </p:nvCxnSpPr>
        <p:spPr>
          <a:xfrm flipV="1">
            <a:off x="4924393" y="4344013"/>
            <a:ext cx="684096" cy="9029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to 46"/>
          <p:cNvCxnSpPr>
            <a:stCxn id="34" idx="4"/>
            <a:endCxn id="37" idx="0"/>
          </p:cNvCxnSpPr>
          <p:nvPr/>
        </p:nvCxnSpPr>
        <p:spPr>
          <a:xfrm>
            <a:off x="4924393" y="5390966"/>
            <a:ext cx="734308" cy="9327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em curva 47"/>
          <p:cNvCxnSpPr>
            <a:stCxn id="39" idx="6"/>
            <a:endCxn id="34" idx="1"/>
          </p:cNvCxnSpPr>
          <p:nvPr/>
        </p:nvCxnSpPr>
        <p:spPr>
          <a:xfrm flipH="1" flipV="1">
            <a:off x="4873476" y="5268041"/>
            <a:ext cx="3442940" cy="58625"/>
          </a:xfrm>
          <a:prstGeom prst="curvedConnector4">
            <a:avLst>
              <a:gd name="adj1" fmla="val -11899"/>
              <a:gd name="adj2" fmla="val 3151224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to 48"/>
          <p:cNvCxnSpPr>
            <a:stCxn id="54" idx="1"/>
            <a:endCxn id="55" idx="5"/>
          </p:cNvCxnSpPr>
          <p:nvPr/>
        </p:nvCxnSpPr>
        <p:spPr>
          <a:xfrm flipH="1" flipV="1">
            <a:off x="1310549" y="4754970"/>
            <a:ext cx="1770374" cy="148234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to 49"/>
          <p:cNvCxnSpPr>
            <a:stCxn id="55" idx="6"/>
            <a:endCxn id="56" idx="2"/>
          </p:cNvCxnSpPr>
          <p:nvPr/>
        </p:nvCxnSpPr>
        <p:spPr>
          <a:xfrm>
            <a:off x="1331640" y="4704053"/>
            <a:ext cx="21602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to 50"/>
          <p:cNvCxnSpPr>
            <a:stCxn id="56" idx="3"/>
            <a:endCxn id="53" idx="7"/>
          </p:cNvCxnSpPr>
          <p:nvPr/>
        </p:nvCxnSpPr>
        <p:spPr>
          <a:xfrm flipH="1">
            <a:off x="1670589" y="4754970"/>
            <a:ext cx="1842382" cy="148234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Elipse 51"/>
          <p:cNvSpPr/>
          <p:nvPr/>
        </p:nvSpPr>
        <p:spPr>
          <a:xfrm>
            <a:off x="2313354" y="3911965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3" name="Elipse 52"/>
          <p:cNvSpPr/>
          <p:nvPr/>
        </p:nvSpPr>
        <p:spPr>
          <a:xfrm>
            <a:off x="1547664" y="6216221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4" name="Elipse 53"/>
          <p:cNvSpPr/>
          <p:nvPr/>
        </p:nvSpPr>
        <p:spPr>
          <a:xfrm>
            <a:off x="3059832" y="6216221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5" name="Elipse 54"/>
          <p:cNvSpPr/>
          <p:nvPr/>
        </p:nvSpPr>
        <p:spPr>
          <a:xfrm>
            <a:off x="1187624" y="4632045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6" name="Elipse 55"/>
          <p:cNvSpPr/>
          <p:nvPr/>
        </p:nvSpPr>
        <p:spPr>
          <a:xfrm>
            <a:off x="3491880" y="4632045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7" name="Conector reto 56"/>
          <p:cNvCxnSpPr>
            <a:stCxn id="56" idx="1"/>
            <a:endCxn id="52" idx="6"/>
          </p:cNvCxnSpPr>
          <p:nvPr/>
        </p:nvCxnSpPr>
        <p:spPr>
          <a:xfrm flipH="1" flipV="1">
            <a:off x="2457370" y="3983973"/>
            <a:ext cx="1055601" cy="6691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to 57"/>
          <p:cNvCxnSpPr>
            <a:stCxn id="52" idx="2"/>
            <a:endCxn id="55" idx="7"/>
          </p:cNvCxnSpPr>
          <p:nvPr/>
        </p:nvCxnSpPr>
        <p:spPr>
          <a:xfrm flipH="1">
            <a:off x="1310549" y="3983973"/>
            <a:ext cx="1002805" cy="6691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to 58"/>
          <p:cNvCxnSpPr>
            <a:stCxn id="55" idx="4"/>
            <a:endCxn id="53" idx="1"/>
          </p:cNvCxnSpPr>
          <p:nvPr/>
        </p:nvCxnSpPr>
        <p:spPr>
          <a:xfrm>
            <a:off x="1259632" y="4776061"/>
            <a:ext cx="309123" cy="14612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to 59"/>
          <p:cNvCxnSpPr>
            <a:stCxn id="56" idx="4"/>
            <a:endCxn id="54" idx="7"/>
          </p:cNvCxnSpPr>
          <p:nvPr/>
        </p:nvCxnSpPr>
        <p:spPr>
          <a:xfrm flipH="1">
            <a:off x="3182757" y="4776061"/>
            <a:ext cx="381131" cy="14612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to 61"/>
          <p:cNvCxnSpPr>
            <a:stCxn id="53" idx="6"/>
            <a:endCxn id="54" idx="2"/>
          </p:cNvCxnSpPr>
          <p:nvPr/>
        </p:nvCxnSpPr>
        <p:spPr>
          <a:xfrm>
            <a:off x="1691680" y="6288229"/>
            <a:ext cx="13681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ctor em curva 62"/>
          <p:cNvCxnSpPr>
            <a:stCxn id="54" idx="5"/>
            <a:endCxn id="52" idx="7"/>
          </p:cNvCxnSpPr>
          <p:nvPr/>
        </p:nvCxnSpPr>
        <p:spPr>
          <a:xfrm rot="5400000" flipH="1">
            <a:off x="1606473" y="4762862"/>
            <a:ext cx="2406090" cy="746478"/>
          </a:xfrm>
          <a:prstGeom prst="curvedConnector5">
            <a:avLst>
              <a:gd name="adj1" fmla="val -13264"/>
              <a:gd name="adj2" fmla="val -123890"/>
              <a:gd name="adj3" fmla="val 109501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ector em curva 63"/>
          <p:cNvCxnSpPr>
            <a:stCxn id="52" idx="0"/>
            <a:endCxn id="53" idx="2"/>
          </p:cNvCxnSpPr>
          <p:nvPr/>
        </p:nvCxnSpPr>
        <p:spPr>
          <a:xfrm rot="16200000" flipH="1" flipV="1">
            <a:off x="778381" y="4681248"/>
            <a:ext cx="2376264" cy="837698"/>
          </a:xfrm>
          <a:prstGeom prst="curvedConnector4">
            <a:avLst>
              <a:gd name="adj1" fmla="val -9620"/>
              <a:gd name="adj2" fmla="val 221315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7053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Fórmula de Euler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800" dirty="0"/>
                  <a:t>Seja G um grafo conexo planar com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/>
                      </a:rPr>
                      <m:t>𝑛</m:t>
                    </m:r>
                  </m:oMath>
                </a14:m>
                <a:r>
                  <a:rPr lang="pt-BR" sz="2800" dirty="0"/>
                  <a:t> vértices e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/>
                      </a:rPr>
                      <m:t>𝑒</m:t>
                    </m:r>
                  </m:oMath>
                </a14:m>
                <a:r>
                  <a:rPr lang="pt-BR" sz="2800" dirty="0"/>
                  <a:t> arestas. O número de faces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/>
                      </a:rPr>
                      <m:t>𝑓</m:t>
                    </m:r>
                  </m:oMath>
                </a14:m>
                <a:r>
                  <a:rPr lang="pt-BR" sz="2800" dirty="0"/>
                  <a:t> do grafo é:</a:t>
                </a:r>
              </a:p>
              <a:p>
                <a:endParaRPr lang="pt-BR" sz="2800" dirty="0"/>
              </a:p>
              <a:p>
                <a:endParaRPr lang="pt-BR" sz="2800" dirty="0"/>
              </a:p>
              <a:p>
                <a:r>
                  <a:rPr lang="pt-BR" sz="2800" dirty="0"/>
                  <a:t>Ou</a:t>
                </a:r>
              </a:p>
              <a:p>
                <a:pPr lvl="1"/>
                <a:r>
                  <a:rPr lang="pt-BR" sz="2400" dirty="0"/>
                  <a:t>Ex.: K</a:t>
                </a:r>
                <a:r>
                  <a:rPr lang="pt-BR" sz="2400" baseline="-25000" dirty="0"/>
                  <a:t>4</a:t>
                </a:r>
                <a:r>
                  <a:rPr lang="pt-BR" sz="2400" dirty="0"/>
                  <a:t> </a:t>
                </a:r>
              </a:p>
              <a:p>
                <a:endParaRPr lang="pt-BR" sz="2800" dirty="0"/>
              </a:p>
              <a:p>
                <a:endParaRPr lang="pt-BR" sz="2800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259" t="-121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/>
              <p:cNvSpPr txBox="1"/>
              <p:nvPr/>
            </p:nvSpPr>
            <p:spPr>
              <a:xfrm>
                <a:off x="3258773" y="2780928"/>
                <a:ext cx="239334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/>
                        </a:rPr>
                        <m:t>𝑓</m:t>
                      </m:r>
                      <m:r>
                        <a:rPr lang="pt-BR" sz="2800" b="0" i="1" smtClean="0">
                          <a:latin typeface="Cambria Math"/>
                        </a:rPr>
                        <m:t>=</m:t>
                      </m:r>
                      <m:r>
                        <a:rPr lang="pt-BR" sz="2800" b="0" i="1" smtClean="0">
                          <a:latin typeface="Cambria Math"/>
                        </a:rPr>
                        <m:t>𝑒</m:t>
                      </m:r>
                      <m:r>
                        <a:rPr lang="pt-BR" sz="2800" b="0" i="1" smtClean="0">
                          <a:latin typeface="Cambria Math"/>
                        </a:rPr>
                        <m:t>−</m:t>
                      </m:r>
                      <m:r>
                        <a:rPr lang="pt-BR" sz="2800" b="0" i="1" smtClean="0">
                          <a:latin typeface="Cambria Math"/>
                        </a:rPr>
                        <m:t>𝑛</m:t>
                      </m:r>
                      <m:r>
                        <a:rPr lang="pt-BR" sz="2800" b="0" i="1" smtClean="0">
                          <a:latin typeface="Cambria Math"/>
                        </a:rPr>
                        <m:t>+2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5" name="CaixaDe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8773" y="2780928"/>
                <a:ext cx="2393347" cy="52322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/>
              <p:cNvSpPr txBox="1"/>
              <p:nvPr/>
            </p:nvSpPr>
            <p:spPr>
              <a:xfrm>
                <a:off x="1475656" y="3553852"/>
                <a:ext cx="239334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/>
                        </a:rPr>
                        <m:t>2=</m:t>
                      </m:r>
                      <m:r>
                        <a:rPr lang="pt-BR" sz="2800" b="0" i="1" smtClean="0">
                          <a:latin typeface="Cambria Math"/>
                        </a:rPr>
                        <m:t>𝑛</m:t>
                      </m:r>
                      <m:r>
                        <a:rPr lang="pt-BR" sz="2800" b="0" i="1" smtClean="0">
                          <a:latin typeface="Cambria Math"/>
                        </a:rPr>
                        <m:t>−</m:t>
                      </m:r>
                      <m:r>
                        <a:rPr lang="pt-BR" sz="2800" b="0" i="1" smtClean="0">
                          <a:latin typeface="Cambria Math"/>
                        </a:rPr>
                        <m:t>𝑒</m:t>
                      </m:r>
                      <m:r>
                        <a:rPr lang="pt-BR" sz="2800" b="0" i="1" smtClean="0">
                          <a:latin typeface="Cambria Math"/>
                        </a:rPr>
                        <m:t>+</m:t>
                      </m:r>
                      <m:r>
                        <a:rPr lang="pt-BR" sz="2800" b="0" i="1" smtClean="0">
                          <a:latin typeface="Cambria Math"/>
                        </a:rPr>
                        <m:t>𝑓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5656" y="3553852"/>
                <a:ext cx="2393347" cy="52322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Elipse 6"/>
          <p:cNvSpPr/>
          <p:nvPr/>
        </p:nvSpPr>
        <p:spPr>
          <a:xfrm>
            <a:off x="1999078" y="5589240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1999078" y="4869160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1547664" y="5954072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lipse 9"/>
          <p:cNvSpPr/>
          <p:nvPr/>
        </p:nvSpPr>
        <p:spPr>
          <a:xfrm>
            <a:off x="2450492" y="5954072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1" name="Conector reto 10"/>
          <p:cNvCxnSpPr>
            <a:stCxn id="7" idx="0"/>
            <a:endCxn id="8" idx="4"/>
          </p:cNvCxnSpPr>
          <p:nvPr/>
        </p:nvCxnSpPr>
        <p:spPr>
          <a:xfrm flipV="1">
            <a:off x="2071086" y="5013176"/>
            <a:ext cx="0" cy="5760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8" idx="5"/>
            <a:endCxn id="10" idx="0"/>
          </p:cNvCxnSpPr>
          <p:nvPr/>
        </p:nvCxnSpPr>
        <p:spPr>
          <a:xfrm>
            <a:off x="2122003" y="4992085"/>
            <a:ext cx="400497" cy="9619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10" idx="2"/>
            <a:endCxn id="9" idx="6"/>
          </p:cNvCxnSpPr>
          <p:nvPr/>
        </p:nvCxnSpPr>
        <p:spPr>
          <a:xfrm flipH="1">
            <a:off x="1691680" y="6026080"/>
            <a:ext cx="75881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>
            <a:stCxn id="7" idx="3"/>
            <a:endCxn id="9" idx="7"/>
          </p:cNvCxnSpPr>
          <p:nvPr/>
        </p:nvCxnSpPr>
        <p:spPr>
          <a:xfrm flipH="1">
            <a:off x="1670589" y="5712165"/>
            <a:ext cx="349580" cy="2629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>
            <a:stCxn id="8" idx="3"/>
            <a:endCxn id="9" idx="0"/>
          </p:cNvCxnSpPr>
          <p:nvPr/>
        </p:nvCxnSpPr>
        <p:spPr>
          <a:xfrm flipH="1">
            <a:off x="1619672" y="4992085"/>
            <a:ext cx="400497" cy="9619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/>
          <p:cNvCxnSpPr>
            <a:stCxn id="10" idx="1"/>
            <a:endCxn id="7" idx="5"/>
          </p:cNvCxnSpPr>
          <p:nvPr/>
        </p:nvCxnSpPr>
        <p:spPr>
          <a:xfrm flipH="1" flipV="1">
            <a:off x="2122003" y="5712165"/>
            <a:ext cx="349580" cy="2629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aixaDeTexto 16"/>
              <p:cNvSpPr txBox="1"/>
              <p:nvPr/>
            </p:nvSpPr>
            <p:spPr>
              <a:xfrm>
                <a:off x="4421750" y="5211468"/>
                <a:ext cx="3766737" cy="9541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/>
                        </a:rPr>
                        <m:t>𝑓</m:t>
                      </m:r>
                      <m:r>
                        <a:rPr lang="pt-BR" sz="2800" b="0" i="1" smtClean="0">
                          <a:latin typeface="Cambria Math"/>
                        </a:rPr>
                        <m:t>=6−4+2→</m:t>
                      </m:r>
                      <m:r>
                        <a:rPr lang="pt-BR" sz="2800" b="0" i="1" smtClean="0">
                          <a:latin typeface="Cambria Math"/>
                        </a:rPr>
                        <m:t>𝑓</m:t>
                      </m:r>
                      <m:r>
                        <a:rPr lang="pt-BR" sz="2800" b="0" i="1" smtClean="0">
                          <a:latin typeface="Cambria Math"/>
                        </a:rPr>
                        <m:t>=4</m:t>
                      </m:r>
                    </m:oMath>
                  </m:oMathPara>
                </a14:m>
                <a:endParaRPr lang="pt-BR" sz="2800" b="0" dirty="0"/>
              </a:p>
              <a:p>
                <a:endParaRPr lang="pt-BR" sz="2800" dirty="0"/>
              </a:p>
            </p:txBody>
          </p:sp>
        </mc:Choice>
        <mc:Fallback xmlns="">
          <p:sp>
            <p:nvSpPr>
              <p:cNvPr id="17" name="CaixaDeTexto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1750" y="5211468"/>
                <a:ext cx="3766737" cy="954107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Conector de seta reta 18"/>
          <p:cNvCxnSpPr/>
          <p:nvPr/>
        </p:nvCxnSpPr>
        <p:spPr>
          <a:xfrm>
            <a:off x="3131840" y="5473078"/>
            <a:ext cx="79208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67604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Fórmula de Euler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Fórmula de Euler pode ser facilmente estendida para grafos desconexos:</a:t>
                </a:r>
              </a:p>
              <a:p>
                <a:pPr lvl="1"/>
                <a:r>
                  <a:rPr lang="pt-BR" dirty="0"/>
                  <a:t>Seja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dirty="0"/>
                  <a:t> uma grafo planar com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/>
                      </a:rPr>
                      <m:t>𝑛</m:t>
                    </m:r>
                  </m:oMath>
                </a14:m>
                <a:r>
                  <a:rPr lang="pt-BR" dirty="0"/>
                  <a:t> vértices,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/>
                      </a:rPr>
                      <m:t>𝑒</m:t>
                    </m:r>
                  </m:oMath>
                </a14:m>
                <a:r>
                  <a:rPr lang="pt-BR" dirty="0"/>
                  <a:t> arestas,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/>
                      </a:rPr>
                      <m:t>𝑓</m:t>
                    </m:r>
                  </m:oMath>
                </a14:m>
                <a:r>
                  <a:rPr lang="pt-BR" dirty="0"/>
                  <a:t> faces e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/>
                      </a:rPr>
                      <m:t>𝑘</m:t>
                    </m:r>
                  </m:oMath>
                </a14:m>
                <a:r>
                  <a:rPr lang="pt-BR" dirty="0"/>
                  <a:t> componentes, então: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t="-1752" r="-125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/>
              <p:cNvSpPr txBox="1"/>
              <p:nvPr/>
            </p:nvSpPr>
            <p:spPr>
              <a:xfrm>
                <a:off x="3131840" y="3831431"/>
                <a:ext cx="262039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/>
                        </a:rPr>
                        <m:t>𝑛</m:t>
                      </m:r>
                      <m:r>
                        <a:rPr lang="pt-BR" sz="2400" b="0" i="1" smtClean="0">
                          <a:latin typeface="Cambria Math"/>
                        </a:rPr>
                        <m:t>−</m:t>
                      </m:r>
                      <m:r>
                        <a:rPr lang="pt-BR" sz="2400" b="0" i="1" smtClean="0">
                          <a:latin typeface="Cambria Math"/>
                        </a:rPr>
                        <m:t>𝑒</m:t>
                      </m:r>
                      <m:r>
                        <a:rPr lang="pt-BR" sz="2400" b="0" i="1" smtClean="0">
                          <a:latin typeface="Cambria Math"/>
                        </a:rPr>
                        <m:t>+</m:t>
                      </m:r>
                      <m:r>
                        <a:rPr lang="pt-BR" sz="2400" b="0" i="1" smtClean="0">
                          <a:latin typeface="Cambria Math"/>
                        </a:rPr>
                        <m:t>𝑓</m:t>
                      </m:r>
                      <m:r>
                        <a:rPr lang="pt-BR" sz="2400" b="0" i="1" smtClean="0">
                          <a:latin typeface="Cambria Math"/>
                        </a:rPr>
                        <m:t>=</m:t>
                      </m:r>
                      <m:r>
                        <a:rPr lang="pt-BR" sz="2400" b="0" i="1" smtClean="0">
                          <a:latin typeface="Cambria Math"/>
                        </a:rPr>
                        <m:t>𝑘</m:t>
                      </m:r>
                      <m:r>
                        <a:rPr lang="pt-BR" sz="2400" b="0" i="1" smtClean="0">
                          <a:latin typeface="Cambria Math"/>
                        </a:rPr>
                        <m:t>+1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4" name="CaixaDeTex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3831431"/>
                <a:ext cx="2620397" cy="461665"/>
              </a:xfrm>
              <a:prstGeom prst="rect">
                <a:avLst/>
              </a:prstGeom>
              <a:blipFill rotWithShape="1">
                <a:blip r:embed="rId3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Elipse 4"/>
          <p:cNvSpPr/>
          <p:nvPr/>
        </p:nvSpPr>
        <p:spPr>
          <a:xfrm>
            <a:off x="1259632" y="5039072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/>
          <p:cNvSpPr/>
          <p:nvPr/>
        </p:nvSpPr>
        <p:spPr>
          <a:xfrm>
            <a:off x="2162460" y="5034280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1259632" y="5903168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2162460" y="5903168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9" name="Conector reto 8"/>
          <p:cNvCxnSpPr>
            <a:stCxn id="5" idx="6"/>
            <a:endCxn id="6" idx="2"/>
          </p:cNvCxnSpPr>
          <p:nvPr/>
        </p:nvCxnSpPr>
        <p:spPr>
          <a:xfrm flipV="1">
            <a:off x="1403648" y="5106288"/>
            <a:ext cx="758812" cy="47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6" idx="4"/>
            <a:endCxn id="8" idx="0"/>
          </p:cNvCxnSpPr>
          <p:nvPr/>
        </p:nvCxnSpPr>
        <p:spPr>
          <a:xfrm>
            <a:off x="2234468" y="5178296"/>
            <a:ext cx="0" cy="7248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8" idx="2"/>
            <a:endCxn id="7" idx="6"/>
          </p:cNvCxnSpPr>
          <p:nvPr/>
        </p:nvCxnSpPr>
        <p:spPr>
          <a:xfrm flipH="1">
            <a:off x="1403648" y="5975176"/>
            <a:ext cx="75881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5" idx="4"/>
            <a:endCxn id="7" idx="0"/>
          </p:cNvCxnSpPr>
          <p:nvPr/>
        </p:nvCxnSpPr>
        <p:spPr>
          <a:xfrm>
            <a:off x="1331640" y="5183088"/>
            <a:ext cx="0" cy="7200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6" idx="3"/>
            <a:endCxn id="7" idx="7"/>
          </p:cNvCxnSpPr>
          <p:nvPr/>
        </p:nvCxnSpPr>
        <p:spPr>
          <a:xfrm flipH="1">
            <a:off x="1382557" y="5157205"/>
            <a:ext cx="800994" cy="7670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Elipse 13"/>
          <p:cNvSpPr/>
          <p:nvPr/>
        </p:nvSpPr>
        <p:spPr>
          <a:xfrm>
            <a:off x="3649950" y="5517232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Elipse 14"/>
          <p:cNvSpPr/>
          <p:nvPr/>
        </p:nvSpPr>
        <p:spPr>
          <a:xfrm>
            <a:off x="3649950" y="4864368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Elipse 15"/>
          <p:cNvSpPr/>
          <p:nvPr/>
        </p:nvSpPr>
        <p:spPr>
          <a:xfrm>
            <a:off x="2987824" y="5949280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Elipse 16"/>
          <p:cNvSpPr/>
          <p:nvPr/>
        </p:nvSpPr>
        <p:spPr>
          <a:xfrm>
            <a:off x="4355976" y="5949280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8" name="Conector reto 17"/>
          <p:cNvCxnSpPr>
            <a:stCxn id="14" idx="0"/>
            <a:endCxn id="15" idx="4"/>
          </p:cNvCxnSpPr>
          <p:nvPr/>
        </p:nvCxnSpPr>
        <p:spPr>
          <a:xfrm flipV="1">
            <a:off x="3721958" y="5008384"/>
            <a:ext cx="0" cy="5088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18"/>
          <p:cNvCxnSpPr>
            <a:stCxn id="15" idx="5"/>
            <a:endCxn id="17" idx="0"/>
          </p:cNvCxnSpPr>
          <p:nvPr/>
        </p:nvCxnSpPr>
        <p:spPr>
          <a:xfrm>
            <a:off x="3772875" y="4987293"/>
            <a:ext cx="655109" cy="9619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/>
          <p:cNvCxnSpPr>
            <a:stCxn id="17" idx="2"/>
            <a:endCxn id="16" idx="6"/>
          </p:cNvCxnSpPr>
          <p:nvPr/>
        </p:nvCxnSpPr>
        <p:spPr>
          <a:xfrm flipH="1">
            <a:off x="3131840" y="6021288"/>
            <a:ext cx="122413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>
            <a:stCxn id="14" idx="3"/>
            <a:endCxn id="16" idx="7"/>
          </p:cNvCxnSpPr>
          <p:nvPr/>
        </p:nvCxnSpPr>
        <p:spPr>
          <a:xfrm flipH="1">
            <a:off x="3110749" y="5640157"/>
            <a:ext cx="560292" cy="3302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>
            <a:stCxn id="15" idx="3"/>
            <a:endCxn id="16" idx="0"/>
          </p:cNvCxnSpPr>
          <p:nvPr/>
        </p:nvCxnSpPr>
        <p:spPr>
          <a:xfrm flipH="1">
            <a:off x="3059832" y="4987293"/>
            <a:ext cx="611209" cy="9619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/>
          <p:cNvCxnSpPr>
            <a:stCxn id="17" idx="1"/>
            <a:endCxn id="14" idx="5"/>
          </p:cNvCxnSpPr>
          <p:nvPr/>
        </p:nvCxnSpPr>
        <p:spPr>
          <a:xfrm flipH="1" flipV="1">
            <a:off x="3772875" y="5640157"/>
            <a:ext cx="604192" cy="3302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aixaDeTexto 23"/>
              <p:cNvSpPr txBox="1"/>
              <p:nvPr/>
            </p:nvSpPr>
            <p:spPr>
              <a:xfrm>
                <a:off x="5837666" y="5229200"/>
                <a:ext cx="283879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/>
                        </a:rPr>
                        <m:t>8 −11+6=2+1</m:t>
                      </m:r>
                    </m:oMath>
                  </m:oMathPara>
                </a14:m>
                <a:endParaRPr lang="pt-BR" sz="2400" b="0" dirty="0"/>
              </a:p>
            </p:txBody>
          </p:sp>
        </mc:Choice>
        <mc:Fallback xmlns="">
          <p:sp>
            <p:nvSpPr>
              <p:cNvPr id="24" name="CaixaDeTexto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7666" y="5229200"/>
                <a:ext cx="2838790" cy="46166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Conector de seta reta 24"/>
          <p:cNvCxnSpPr/>
          <p:nvPr/>
        </p:nvCxnSpPr>
        <p:spPr>
          <a:xfrm>
            <a:off x="4716016" y="5473078"/>
            <a:ext cx="79208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aixaDeTexto 25"/>
              <p:cNvSpPr txBox="1"/>
              <p:nvPr/>
            </p:nvSpPr>
            <p:spPr>
              <a:xfrm>
                <a:off x="6468320" y="5661248"/>
                <a:ext cx="152958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/>
                        </a:rPr>
                        <m:t>3=2+1</m:t>
                      </m:r>
                    </m:oMath>
                  </m:oMathPara>
                </a14:m>
                <a:endParaRPr lang="pt-BR" sz="2400" b="0" dirty="0"/>
              </a:p>
            </p:txBody>
          </p:sp>
        </mc:Choice>
        <mc:Fallback xmlns="">
          <p:sp>
            <p:nvSpPr>
              <p:cNvPr id="26" name="CaixaDeTexto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20" y="5661248"/>
                <a:ext cx="1529586" cy="46166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CaixaDeTexto 26"/>
          <p:cNvSpPr txBox="1"/>
          <p:nvPr/>
        </p:nvSpPr>
        <p:spPr>
          <a:xfrm>
            <a:off x="1462002" y="51571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3563888" y="57239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2699792" y="49402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3406218" y="52292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3766258" y="52292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1822042" y="550794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1797859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Dualidade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dirty="0"/>
                  <a:t>Dado um grafo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dirty="0"/>
                  <a:t> planar, o grafo dual de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dirty="0"/>
                  <a:t> planar,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dirty="0"/>
                  <a:t>*, é construído pelas regras abaixo:</a:t>
                </a:r>
              </a:p>
              <a:p>
                <a:pPr lvl="1"/>
                <a:r>
                  <a:rPr lang="pt-BR" dirty="0"/>
                  <a:t>Para cada face f de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dirty="0"/>
                  <a:t>,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dirty="0"/>
                  <a:t>* possui um vértice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pt-BR" dirty="0"/>
                  <a:t>* </a:t>
                </a:r>
              </a:p>
              <a:p>
                <a:pPr lvl="1"/>
                <a:r>
                  <a:rPr lang="pt-BR" dirty="0"/>
                  <a:t>As arestas de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dirty="0"/>
                  <a:t>* são geradas da seguinte forma:</a:t>
                </a:r>
              </a:p>
              <a:p>
                <a:pPr lvl="2"/>
                <a:r>
                  <a:rPr lang="pt-BR" dirty="0"/>
                  <a:t>Se duas faces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/>
                      </a:rPr>
                      <m:t>𝑎</m:t>
                    </m:r>
                  </m:oMath>
                </a14:m>
                <a:r>
                  <a:rPr lang="pt-BR" dirty="0"/>
                  <a:t> e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/>
                      </a:rPr>
                      <m:t>𝑏</m:t>
                    </m:r>
                  </m:oMath>
                </a14:m>
                <a:r>
                  <a:rPr lang="pt-BR" dirty="0"/>
                  <a:t> são adjacentes então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pt-BR" dirty="0"/>
                  <a:t>* é adjacente a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/>
                      </a:rPr>
                      <m:t>𝑏</m:t>
                    </m:r>
                  </m:oMath>
                </a14:m>
                <a:r>
                  <a:rPr lang="pt-BR" dirty="0"/>
                  <a:t>*</a:t>
                </a:r>
              </a:p>
              <a:p>
                <a:pPr lvl="2"/>
                <a:r>
                  <a:rPr lang="pt-BR" dirty="0"/>
                  <a:t>Se uma aresta está inteiramente contida em uma face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/>
                      </a:rPr>
                      <m:t>𝑎</m:t>
                    </m:r>
                  </m:oMath>
                </a14:m>
                <a:r>
                  <a:rPr lang="pt-BR" dirty="0"/>
                  <a:t> então existe um loop no vértice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/>
                      </a:rPr>
                      <m:t>𝑎</m:t>
                    </m:r>
                  </m:oMath>
                </a14:m>
                <a:r>
                  <a:rPr lang="pt-BR" dirty="0"/>
                  <a:t>*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t="-161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97948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Dualidade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044824"/>
          </a:xfrm>
        </p:spPr>
        <p:txBody>
          <a:bodyPr/>
          <a:lstStyle/>
          <a:p>
            <a:r>
              <a:rPr lang="pt-BR" dirty="0"/>
              <a:t>Exemplo</a:t>
            </a:r>
          </a:p>
        </p:txBody>
      </p:sp>
      <p:sp>
        <p:nvSpPr>
          <p:cNvPr id="4" name="Elipse 3"/>
          <p:cNvSpPr/>
          <p:nvPr/>
        </p:nvSpPr>
        <p:spPr>
          <a:xfrm>
            <a:off x="3347864" y="4297888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4878909" y="4293096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/>
          <p:cNvSpPr/>
          <p:nvPr/>
        </p:nvSpPr>
        <p:spPr>
          <a:xfrm>
            <a:off x="3352685" y="5589240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4878909" y="5589240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8" name="Conector reto 7"/>
          <p:cNvCxnSpPr>
            <a:stCxn id="4" idx="6"/>
            <a:endCxn id="5" idx="2"/>
          </p:cNvCxnSpPr>
          <p:nvPr/>
        </p:nvCxnSpPr>
        <p:spPr>
          <a:xfrm flipV="1">
            <a:off x="3491880" y="4365104"/>
            <a:ext cx="1387029" cy="47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>
            <a:stCxn id="5" idx="4"/>
            <a:endCxn id="7" idx="0"/>
          </p:cNvCxnSpPr>
          <p:nvPr/>
        </p:nvCxnSpPr>
        <p:spPr>
          <a:xfrm>
            <a:off x="4950917" y="4437112"/>
            <a:ext cx="0" cy="11521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7" idx="2"/>
            <a:endCxn id="6" idx="6"/>
          </p:cNvCxnSpPr>
          <p:nvPr/>
        </p:nvCxnSpPr>
        <p:spPr>
          <a:xfrm flipH="1">
            <a:off x="3496701" y="5661248"/>
            <a:ext cx="13822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4" idx="4"/>
            <a:endCxn id="6" idx="0"/>
          </p:cNvCxnSpPr>
          <p:nvPr/>
        </p:nvCxnSpPr>
        <p:spPr>
          <a:xfrm>
            <a:off x="3419872" y="4441904"/>
            <a:ext cx="4821" cy="11473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5" idx="3"/>
            <a:endCxn id="6" idx="7"/>
          </p:cNvCxnSpPr>
          <p:nvPr/>
        </p:nvCxnSpPr>
        <p:spPr>
          <a:xfrm flipH="1">
            <a:off x="3475610" y="4416021"/>
            <a:ext cx="1424390" cy="11943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Elipse 22"/>
          <p:cNvSpPr/>
          <p:nvPr/>
        </p:nvSpPr>
        <p:spPr>
          <a:xfrm>
            <a:off x="5959029" y="4943564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5" name="Conector reto 24"/>
          <p:cNvCxnSpPr>
            <a:stCxn id="5" idx="6"/>
            <a:endCxn id="23" idx="1"/>
          </p:cNvCxnSpPr>
          <p:nvPr/>
        </p:nvCxnSpPr>
        <p:spPr>
          <a:xfrm>
            <a:off x="5022925" y="4365104"/>
            <a:ext cx="957195" cy="5995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/>
          <p:cNvCxnSpPr>
            <a:stCxn id="7" idx="6"/>
            <a:endCxn id="23" idx="3"/>
          </p:cNvCxnSpPr>
          <p:nvPr/>
        </p:nvCxnSpPr>
        <p:spPr>
          <a:xfrm flipV="1">
            <a:off x="5022925" y="5066489"/>
            <a:ext cx="957195" cy="5947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aixaDeTexto 27"/>
          <p:cNvSpPr txBox="1"/>
          <p:nvPr/>
        </p:nvSpPr>
        <p:spPr>
          <a:xfrm>
            <a:off x="2555776" y="3861048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10909100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Dualidade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044824"/>
          </a:xfrm>
        </p:spPr>
        <p:txBody>
          <a:bodyPr/>
          <a:lstStyle/>
          <a:p>
            <a:r>
              <a:rPr lang="pt-BR" dirty="0"/>
              <a:t>Exemplo</a:t>
            </a:r>
          </a:p>
        </p:txBody>
      </p:sp>
      <p:sp>
        <p:nvSpPr>
          <p:cNvPr id="4" name="Elipse 3"/>
          <p:cNvSpPr/>
          <p:nvPr/>
        </p:nvSpPr>
        <p:spPr>
          <a:xfrm>
            <a:off x="3347864" y="4297888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4878909" y="4293096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/>
          <p:cNvSpPr/>
          <p:nvPr/>
        </p:nvSpPr>
        <p:spPr>
          <a:xfrm>
            <a:off x="3352685" y="5589240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4878909" y="5589240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8" name="Conector reto 7"/>
          <p:cNvCxnSpPr>
            <a:stCxn id="4" idx="6"/>
            <a:endCxn id="5" idx="2"/>
          </p:cNvCxnSpPr>
          <p:nvPr/>
        </p:nvCxnSpPr>
        <p:spPr>
          <a:xfrm flipV="1">
            <a:off x="3491880" y="4365104"/>
            <a:ext cx="1387029" cy="47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>
            <a:stCxn id="5" idx="4"/>
            <a:endCxn id="7" idx="0"/>
          </p:cNvCxnSpPr>
          <p:nvPr/>
        </p:nvCxnSpPr>
        <p:spPr>
          <a:xfrm>
            <a:off x="4950917" y="4437112"/>
            <a:ext cx="0" cy="11521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7" idx="2"/>
            <a:endCxn id="6" idx="6"/>
          </p:cNvCxnSpPr>
          <p:nvPr/>
        </p:nvCxnSpPr>
        <p:spPr>
          <a:xfrm flipH="1">
            <a:off x="3496701" y="5661248"/>
            <a:ext cx="13822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4" idx="4"/>
            <a:endCxn id="6" idx="0"/>
          </p:cNvCxnSpPr>
          <p:nvPr/>
        </p:nvCxnSpPr>
        <p:spPr>
          <a:xfrm>
            <a:off x="3419872" y="4441904"/>
            <a:ext cx="4821" cy="11473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5" idx="3"/>
            <a:endCxn id="6" idx="7"/>
          </p:cNvCxnSpPr>
          <p:nvPr/>
        </p:nvCxnSpPr>
        <p:spPr>
          <a:xfrm flipH="1">
            <a:off x="3475610" y="4416021"/>
            <a:ext cx="1424390" cy="11943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Elipse 22"/>
          <p:cNvSpPr/>
          <p:nvPr/>
        </p:nvSpPr>
        <p:spPr>
          <a:xfrm>
            <a:off x="5959029" y="4943564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5" name="Conector reto 24"/>
          <p:cNvCxnSpPr>
            <a:stCxn id="5" idx="6"/>
            <a:endCxn id="23" idx="1"/>
          </p:cNvCxnSpPr>
          <p:nvPr/>
        </p:nvCxnSpPr>
        <p:spPr>
          <a:xfrm>
            <a:off x="5022925" y="4365104"/>
            <a:ext cx="957195" cy="5995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/>
          <p:cNvCxnSpPr>
            <a:stCxn id="7" idx="6"/>
            <a:endCxn id="23" idx="3"/>
          </p:cNvCxnSpPr>
          <p:nvPr/>
        </p:nvCxnSpPr>
        <p:spPr>
          <a:xfrm flipV="1">
            <a:off x="5022925" y="5066489"/>
            <a:ext cx="957195" cy="5947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lipse 15"/>
          <p:cNvSpPr/>
          <p:nvPr/>
        </p:nvSpPr>
        <p:spPr>
          <a:xfrm>
            <a:off x="3851920" y="4669496"/>
            <a:ext cx="144016" cy="144016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Elipse 16"/>
          <p:cNvSpPr/>
          <p:nvPr/>
        </p:nvSpPr>
        <p:spPr>
          <a:xfrm>
            <a:off x="4355976" y="5224469"/>
            <a:ext cx="144016" cy="144016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Elipse 17"/>
          <p:cNvSpPr/>
          <p:nvPr/>
        </p:nvSpPr>
        <p:spPr>
          <a:xfrm>
            <a:off x="5292080" y="4943564"/>
            <a:ext cx="144016" cy="144016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Elipse 19"/>
          <p:cNvSpPr/>
          <p:nvPr/>
        </p:nvSpPr>
        <p:spPr>
          <a:xfrm>
            <a:off x="3779912" y="6388597"/>
            <a:ext cx="144016" cy="144016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CaixaDeTexto 20"/>
          <p:cNvSpPr txBox="1"/>
          <p:nvPr/>
        </p:nvSpPr>
        <p:spPr>
          <a:xfrm>
            <a:off x="2555776" y="3861048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G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6617724" y="3861048"/>
            <a:ext cx="445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00B0F0"/>
                </a:solidFill>
              </a:rPr>
              <a:t>G*</a:t>
            </a:r>
          </a:p>
        </p:txBody>
      </p:sp>
    </p:spTree>
    <p:extLst>
      <p:ext uri="{BB962C8B-B14F-4D97-AF65-F5344CB8AC3E}">
        <p14:creationId xmlns:p14="http://schemas.microsoft.com/office/powerpoint/2010/main" val="19695925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Dualidade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044824"/>
          </a:xfrm>
        </p:spPr>
        <p:txBody>
          <a:bodyPr/>
          <a:lstStyle/>
          <a:p>
            <a:r>
              <a:rPr lang="pt-BR" dirty="0"/>
              <a:t>Exemplo</a:t>
            </a:r>
          </a:p>
        </p:txBody>
      </p:sp>
      <p:sp>
        <p:nvSpPr>
          <p:cNvPr id="4" name="Elipse 3"/>
          <p:cNvSpPr/>
          <p:nvPr/>
        </p:nvSpPr>
        <p:spPr>
          <a:xfrm>
            <a:off x="3347864" y="4297888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4878909" y="4293096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/>
          <p:cNvSpPr/>
          <p:nvPr/>
        </p:nvSpPr>
        <p:spPr>
          <a:xfrm>
            <a:off x="3352685" y="5589240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4878909" y="5589240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8" name="Conector reto 7"/>
          <p:cNvCxnSpPr>
            <a:stCxn id="4" idx="6"/>
            <a:endCxn id="5" idx="2"/>
          </p:cNvCxnSpPr>
          <p:nvPr/>
        </p:nvCxnSpPr>
        <p:spPr>
          <a:xfrm flipV="1">
            <a:off x="3491880" y="4365104"/>
            <a:ext cx="1387029" cy="47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>
            <a:stCxn id="5" idx="4"/>
            <a:endCxn id="7" idx="0"/>
          </p:cNvCxnSpPr>
          <p:nvPr/>
        </p:nvCxnSpPr>
        <p:spPr>
          <a:xfrm>
            <a:off x="4950917" y="4437112"/>
            <a:ext cx="0" cy="11521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7" idx="2"/>
            <a:endCxn id="6" idx="6"/>
          </p:cNvCxnSpPr>
          <p:nvPr/>
        </p:nvCxnSpPr>
        <p:spPr>
          <a:xfrm flipH="1">
            <a:off x="3496701" y="5661248"/>
            <a:ext cx="13822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4" idx="4"/>
            <a:endCxn id="6" idx="0"/>
          </p:cNvCxnSpPr>
          <p:nvPr/>
        </p:nvCxnSpPr>
        <p:spPr>
          <a:xfrm>
            <a:off x="3419872" y="4441904"/>
            <a:ext cx="4821" cy="11473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5" idx="3"/>
            <a:endCxn id="6" idx="7"/>
          </p:cNvCxnSpPr>
          <p:nvPr/>
        </p:nvCxnSpPr>
        <p:spPr>
          <a:xfrm flipH="1">
            <a:off x="3475610" y="4416021"/>
            <a:ext cx="1424390" cy="11943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Elipse 22"/>
          <p:cNvSpPr/>
          <p:nvPr/>
        </p:nvSpPr>
        <p:spPr>
          <a:xfrm>
            <a:off x="5959029" y="4943564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5" name="Conector reto 24"/>
          <p:cNvCxnSpPr>
            <a:stCxn id="5" idx="6"/>
            <a:endCxn id="23" idx="1"/>
          </p:cNvCxnSpPr>
          <p:nvPr/>
        </p:nvCxnSpPr>
        <p:spPr>
          <a:xfrm>
            <a:off x="5022925" y="4365104"/>
            <a:ext cx="957195" cy="5995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/>
          <p:cNvCxnSpPr>
            <a:stCxn id="7" idx="6"/>
            <a:endCxn id="23" idx="3"/>
          </p:cNvCxnSpPr>
          <p:nvPr/>
        </p:nvCxnSpPr>
        <p:spPr>
          <a:xfrm flipV="1">
            <a:off x="5022925" y="5066489"/>
            <a:ext cx="957195" cy="5947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lipse 15"/>
          <p:cNvSpPr/>
          <p:nvPr/>
        </p:nvSpPr>
        <p:spPr>
          <a:xfrm>
            <a:off x="3851920" y="4669496"/>
            <a:ext cx="144016" cy="144016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Elipse 16"/>
          <p:cNvSpPr/>
          <p:nvPr/>
        </p:nvSpPr>
        <p:spPr>
          <a:xfrm>
            <a:off x="4355976" y="5224469"/>
            <a:ext cx="144016" cy="144016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Elipse 17"/>
          <p:cNvSpPr/>
          <p:nvPr/>
        </p:nvSpPr>
        <p:spPr>
          <a:xfrm>
            <a:off x="5292080" y="4943564"/>
            <a:ext cx="144016" cy="144016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Elipse 18"/>
          <p:cNvSpPr/>
          <p:nvPr/>
        </p:nvSpPr>
        <p:spPr>
          <a:xfrm>
            <a:off x="3779912" y="6388597"/>
            <a:ext cx="144016" cy="144016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4" name="Conector em curva 33"/>
          <p:cNvCxnSpPr>
            <a:stCxn id="16" idx="1"/>
            <a:endCxn id="19" idx="3"/>
          </p:cNvCxnSpPr>
          <p:nvPr/>
        </p:nvCxnSpPr>
        <p:spPr>
          <a:xfrm rot="16200000" flipH="1" flipV="1">
            <a:off x="2926539" y="5565050"/>
            <a:ext cx="1820935" cy="72008"/>
          </a:xfrm>
          <a:prstGeom prst="curvedConnector5">
            <a:avLst>
              <a:gd name="adj1" fmla="val -50340"/>
              <a:gd name="adj2" fmla="val 1691465"/>
              <a:gd name="adj3" fmla="val 11255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em curva 37"/>
          <p:cNvCxnSpPr>
            <a:stCxn id="16" idx="2"/>
            <a:endCxn id="19" idx="2"/>
          </p:cNvCxnSpPr>
          <p:nvPr/>
        </p:nvCxnSpPr>
        <p:spPr>
          <a:xfrm rot="10800000" flipV="1">
            <a:off x="3779912" y="4741503"/>
            <a:ext cx="72008" cy="1719101"/>
          </a:xfrm>
          <a:prstGeom prst="curvedConnector3">
            <a:avLst>
              <a:gd name="adj1" fmla="val 115926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to 40"/>
          <p:cNvCxnSpPr>
            <a:stCxn id="16" idx="5"/>
            <a:endCxn id="17" idx="1"/>
          </p:cNvCxnSpPr>
          <p:nvPr/>
        </p:nvCxnSpPr>
        <p:spPr>
          <a:xfrm>
            <a:off x="3974845" y="4792421"/>
            <a:ext cx="402222" cy="4531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CaixaDeTexto 41"/>
          <p:cNvSpPr txBox="1"/>
          <p:nvPr/>
        </p:nvSpPr>
        <p:spPr>
          <a:xfrm>
            <a:off x="2555776" y="3861048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G</a:t>
            </a:r>
          </a:p>
        </p:txBody>
      </p:sp>
      <p:sp>
        <p:nvSpPr>
          <p:cNvPr id="43" name="CaixaDeTexto 42"/>
          <p:cNvSpPr txBox="1"/>
          <p:nvPr/>
        </p:nvSpPr>
        <p:spPr>
          <a:xfrm>
            <a:off x="6617724" y="3861048"/>
            <a:ext cx="445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00B0F0"/>
                </a:solidFill>
              </a:rPr>
              <a:t>G*</a:t>
            </a:r>
          </a:p>
        </p:txBody>
      </p:sp>
    </p:spTree>
    <p:extLst>
      <p:ext uri="{BB962C8B-B14F-4D97-AF65-F5344CB8AC3E}">
        <p14:creationId xmlns:p14="http://schemas.microsoft.com/office/powerpoint/2010/main" val="10344333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Dualidade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044824"/>
          </a:xfrm>
        </p:spPr>
        <p:txBody>
          <a:bodyPr/>
          <a:lstStyle/>
          <a:p>
            <a:r>
              <a:rPr lang="pt-BR" dirty="0"/>
              <a:t>Exemplo</a:t>
            </a:r>
          </a:p>
        </p:txBody>
      </p:sp>
      <p:sp>
        <p:nvSpPr>
          <p:cNvPr id="4" name="Elipse 3"/>
          <p:cNvSpPr/>
          <p:nvPr/>
        </p:nvSpPr>
        <p:spPr>
          <a:xfrm>
            <a:off x="3347864" y="4297888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4878909" y="4293096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/>
          <p:cNvSpPr/>
          <p:nvPr/>
        </p:nvSpPr>
        <p:spPr>
          <a:xfrm>
            <a:off x="3352685" y="5589240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4878909" y="5589240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8" name="Conector reto 7"/>
          <p:cNvCxnSpPr>
            <a:stCxn id="4" idx="6"/>
            <a:endCxn id="5" idx="2"/>
          </p:cNvCxnSpPr>
          <p:nvPr/>
        </p:nvCxnSpPr>
        <p:spPr>
          <a:xfrm flipV="1">
            <a:off x="3491880" y="4365104"/>
            <a:ext cx="1387029" cy="47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>
            <a:stCxn id="5" idx="4"/>
            <a:endCxn id="7" idx="0"/>
          </p:cNvCxnSpPr>
          <p:nvPr/>
        </p:nvCxnSpPr>
        <p:spPr>
          <a:xfrm>
            <a:off x="4950917" y="4437112"/>
            <a:ext cx="0" cy="11521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7" idx="2"/>
            <a:endCxn id="6" idx="6"/>
          </p:cNvCxnSpPr>
          <p:nvPr/>
        </p:nvCxnSpPr>
        <p:spPr>
          <a:xfrm flipH="1">
            <a:off x="3496701" y="5661248"/>
            <a:ext cx="13822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4" idx="4"/>
            <a:endCxn id="6" idx="0"/>
          </p:cNvCxnSpPr>
          <p:nvPr/>
        </p:nvCxnSpPr>
        <p:spPr>
          <a:xfrm>
            <a:off x="3419872" y="4441904"/>
            <a:ext cx="4821" cy="11473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5" idx="3"/>
            <a:endCxn id="6" idx="7"/>
          </p:cNvCxnSpPr>
          <p:nvPr/>
        </p:nvCxnSpPr>
        <p:spPr>
          <a:xfrm flipH="1">
            <a:off x="3475610" y="4416021"/>
            <a:ext cx="1424390" cy="11943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Elipse 22"/>
          <p:cNvSpPr/>
          <p:nvPr/>
        </p:nvSpPr>
        <p:spPr>
          <a:xfrm>
            <a:off x="5959029" y="4943564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5" name="Conector reto 24"/>
          <p:cNvCxnSpPr>
            <a:stCxn id="5" idx="6"/>
            <a:endCxn id="23" idx="1"/>
          </p:cNvCxnSpPr>
          <p:nvPr/>
        </p:nvCxnSpPr>
        <p:spPr>
          <a:xfrm>
            <a:off x="5022925" y="4365104"/>
            <a:ext cx="957195" cy="5995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/>
          <p:cNvCxnSpPr>
            <a:stCxn id="7" idx="6"/>
            <a:endCxn id="23" idx="3"/>
          </p:cNvCxnSpPr>
          <p:nvPr/>
        </p:nvCxnSpPr>
        <p:spPr>
          <a:xfrm flipV="1">
            <a:off x="5022925" y="5066489"/>
            <a:ext cx="957195" cy="5947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lipse 15"/>
          <p:cNvSpPr/>
          <p:nvPr/>
        </p:nvSpPr>
        <p:spPr>
          <a:xfrm>
            <a:off x="3851920" y="4669496"/>
            <a:ext cx="144016" cy="144016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Elipse 16"/>
          <p:cNvSpPr/>
          <p:nvPr/>
        </p:nvSpPr>
        <p:spPr>
          <a:xfrm>
            <a:off x="4355976" y="5224469"/>
            <a:ext cx="144016" cy="144016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Elipse 17"/>
          <p:cNvSpPr/>
          <p:nvPr/>
        </p:nvSpPr>
        <p:spPr>
          <a:xfrm>
            <a:off x="5292080" y="4943564"/>
            <a:ext cx="144016" cy="144016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Elipse 18"/>
          <p:cNvSpPr/>
          <p:nvPr/>
        </p:nvSpPr>
        <p:spPr>
          <a:xfrm>
            <a:off x="3779912" y="6388597"/>
            <a:ext cx="144016" cy="144016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4" name="Conector em curva 33"/>
          <p:cNvCxnSpPr>
            <a:stCxn id="16" idx="1"/>
            <a:endCxn id="19" idx="3"/>
          </p:cNvCxnSpPr>
          <p:nvPr/>
        </p:nvCxnSpPr>
        <p:spPr>
          <a:xfrm rot="16200000" flipH="1" flipV="1">
            <a:off x="2926539" y="5565050"/>
            <a:ext cx="1820935" cy="72008"/>
          </a:xfrm>
          <a:prstGeom prst="curvedConnector5">
            <a:avLst>
              <a:gd name="adj1" fmla="val -50340"/>
              <a:gd name="adj2" fmla="val 1691465"/>
              <a:gd name="adj3" fmla="val 11255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em curva 37"/>
          <p:cNvCxnSpPr>
            <a:stCxn id="16" idx="2"/>
            <a:endCxn id="19" idx="2"/>
          </p:cNvCxnSpPr>
          <p:nvPr/>
        </p:nvCxnSpPr>
        <p:spPr>
          <a:xfrm rot="10800000" flipV="1">
            <a:off x="3779912" y="4741503"/>
            <a:ext cx="72008" cy="1719101"/>
          </a:xfrm>
          <a:prstGeom prst="curvedConnector3">
            <a:avLst>
              <a:gd name="adj1" fmla="val 115926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to 40"/>
          <p:cNvCxnSpPr>
            <a:stCxn id="16" idx="5"/>
            <a:endCxn id="17" idx="1"/>
          </p:cNvCxnSpPr>
          <p:nvPr/>
        </p:nvCxnSpPr>
        <p:spPr>
          <a:xfrm>
            <a:off x="3974845" y="4792421"/>
            <a:ext cx="402222" cy="4531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>
            <a:stCxn id="17" idx="6"/>
            <a:endCxn id="18" idx="2"/>
          </p:cNvCxnSpPr>
          <p:nvPr/>
        </p:nvCxnSpPr>
        <p:spPr>
          <a:xfrm flipV="1">
            <a:off x="4499992" y="5015572"/>
            <a:ext cx="792088" cy="2809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/>
          <p:cNvCxnSpPr>
            <a:stCxn id="17" idx="4"/>
            <a:endCxn id="19" idx="7"/>
          </p:cNvCxnSpPr>
          <p:nvPr/>
        </p:nvCxnSpPr>
        <p:spPr>
          <a:xfrm flipH="1">
            <a:off x="3902837" y="5368485"/>
            <a:ext cx="525147" cy="10412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aixaDeTexto 27"/>
          <p:cNvSpPr txBox="1"/>
          <p:nvPr/>
        </p:nvSpPr>
        <p:spPr>
          <a:xfrm>
            <a:off x="2555776" y="3861048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G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6617724" y="3861048"/>
            <a:ext cx="445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00B0F0"/>
                </a:solidFill>
              </a:rPr>
              <a:t>G*</a:t>
            </a:r>
          </a:p>
        </p:txBody>
      </p:sp>
    </p:spTree>
    <p:extLst>
      <p:ext uri="{BB962C8B-B14F-4D97-AF65-F5344CB8AC3E}">
        <p14:creationId xmlns:p14="http://schemas.microsoft.com/office/powerpoint/2010/main" val="14619354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Dualidade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044824"/>
          </a:xfrm>
        </p:spPr>
        <p:txBody>
          <a:bodyPr/>
          <a:lstStyle/>
          <a:p>
            <a:r>
              <a:rPr lang="pt-BR" dirty="0"/>
              <a:t>Exemplo</a:t>
            </a:r>
          </a:p>
        </p:txBody>
      </p:sp>
      <p:sp>
        <p:nvSpPr>
          <p:cNvPr id="4" name="Elipse 3"/>
          <p:cNvSpPr/>
          <p:nvPr/>
        </p:nvSpPr>
        <p:spPr>
          <a:xfrm>
            <a:off x="3347864" y="4297888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4878909" y="4293096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/>
          <p:cNvSpPr/>
          <p:nvPr/>
        </p:nvSpPr>
        <p:spPr>
          <a:xfrm>
            <a:off x="3352685" y="5589240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4878909" y="5589240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8" name="Conector reto 7"/>
          <p:cNvCxnSpPr>
            <a:stCxn id="4" idx="6"/>
            <a:endCxn id="5" idx="2"/>
          </p:cNvCxnSpPr>
          <p:nvPr/>
        </p:nvCxnSpPr>
        <p:spPr>
          <a:xfrm flipV="1">
            <a:off x="3491880" y="4365104"/>
            <a:ext cx="1387029" cy="47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>
            <a:stCxn id="5" idx="4"/>
            <a:endCxn id="7" idx="0"/>
          </p:cNvCxnSpPr>
          <p:nvPr/>
        </p:nvCxnSpPr>
        <p:spPr>
          <a:xfrm>
            <a:off x="4950917" y="4437112"/>
            <a:ext cx="0" cy="11521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7" idx="2"/>
            <a:endCxn id="6" idx="6"/>
          </p:cNvCxnSpPr>
          <p:nvPr/>
        </p:nvCxnSpPr>
        <p:spPr>
          <a:xfrm flipH="1">
            <a:off x="3496701" y="5661248"/>
            <a:ext cx="13822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4" idx="4"/>
            <a:endCxn id="6" idx="0"/>
          </p:cNvCxnSpPr>
          <p:nvPr/>
        </p:nvCxnSpPr>
        <p:spPr>
          <a:xfrm>
            <a:off x="3419872" y="4441904"/>
            <a:ext cx="4821" cy="11473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5" idx="3"/>
            <a:endCxn id="6" idx="7"/>
          </p:cNvCxnSpPr>
          <p:nvPr/>
        </p:nvCxnSpPr>
        <p:spPr>
          <a:xfrm flipH="1">
            <a:off x="3475610" y="4416021"/>
            <a:ext cx="1424390" cy="11943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Elipse 22"/>
          <p:cNvSpPr/>
          <p:nvPr/>
        </p:nvSpPr>
        <p:spPr>
          <a:xfrm>
            <a:off x="5959029" y="4943564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5" name="Conector reto 24"/>
          <p:cNvCxnSpPr>
            <a:stCxn id="5" idx="6"/>
            <a:endCxn id="23" idx="1"/>
          </p:cNvCxnSpPr>
          <p:nvPr/>
        </p:nvCxnSpPr>
        <p:spPr>
          <a:xfrm>
            <a:off x="5022925" y="4365104"/>
            <a:ext cx="957195" cy="5995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/>
          <p:cNvCxnSpPr>
            <a:stCxn id="7" idx="6"/>
            <a:endCxn id="23" idx="3"/>
          </p:cNvCxnSpPr>
          <p:nvPr/>
        </p:nvCxnSpPr>
        <p:spPr>
          <a:xfrm flipV="1">
            <a:off x="5022925" y="5066489"/>
            <a:ext cx="957195" cy="5947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lipse 15"/>
          <p:cNvSpPr/>
          <p:nvPr/>
        </p:nvSpPr>
        <p:spPr>
          <a:xfrm>
            <a:off x="3851920" y="4669496"/>
            <a:ext cx="144016" cy="144016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Elipse 16"/>
          <p:cNvSpPr/>
          <p:nvPr/>
        </p:nvSpPr>
        <p:spPr>
          <a:xfrm>
            <a:off x="4355976" y="5224469"/>
            <a:ext cx="144016" cy="144016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Elipse 17"/>
          <p:cNvSpPr/>
          <p:nvPr/>
        </p:nvSpPr>
        <p:spPr>
          <a:xfrm>
            <a:off x="5292080" y="4943564"/>
            <a:ext cx="144016" cy="144016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Elipse 18"/>
          <p:cNvSpPr/>
          <p:nvPr/>
        </p:nvSpPr>
        <p:spPr>
          <a:xfrm>
            <a:off x="3779912" y="6388597"/>
            <a:ext cx="144016" cy="144016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4" name="Conector em curva 33"/>
          <p:cNvCxnSpPr>
            <a:stCxn id="16" idx="1"/>
            <a:endCxn id="19" idx="3"/>
          </p:cNvCxnSpPr>
          <p:nvPr/>
        </p:nvCxnSpPr>
        <p:spPr>
          <a:xfrm rot="16200000" flipH="1" flipV="1">
            <a:off x="2926539" y="5565050"/>
            <a:ext cx="1820935" cy="72008"/>
          </a:xfrm>
          <a:prstGeom prst="curvedConnector5">
            <a:avLst>
              <a:gd name="adj1" fmla="val -50340"/>
              <a:gd name="adj2" fmla="val 1691465"/>
              <a:gd name="adj3" fmla="val 11255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em curva 37"/>
          <p:cNvCxnSpPr>
            <a:stCxn id="16" idx="2"/>
            <a:endCxn id="19" idx="2"/>
          </p:cNvCxnSpPr>
          <p:nvPr/>
        </p:nvCxnSpPr>
        <p:spPr>
          <a:xfrm rot="10800000" flipV="1">
            <a:off x="3779912" y="4741503"/>
            <a:ext cx="72008" cy="1719101"/>
          </a:xfrm>
          <a:prstGeom prst="curvedConnector3">
            <a:avLst>
              <a:gd name="adj1" fmla="val 115926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to 40"/>
          <p:cNvCxnSpPr>
            <a:stCxn id="16" idx="5"/>
            <a:endCxn id="17" idx="1"/>
          </p:cNvCxnSpPr>
          <p:nvPr/>
        </p:nvCxnSpPr>
        <p:spPr>
          <a:xfrm>
            <a:off x="3974845" y="4792421"/>
            <a:ext cx="402222" cy="4531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>
            <a:stCxn id="17" idx="6"/>
            <a:endCxn id="18" idx="2"/>
          </p:cNvCxnSpPr>
          <p:nvPr/>
        </p:nvCxnSpPr>
        <p:spPr>
          <a:xfrm flipV="1">
            <a:off x="4499992" y="5015572"/>
            <a:ext cx="792088" cy="2809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/>
          <p:cNvCxnSpPr>
            <a:stCxn id="17" idx="4"/>
            <a:endCxn id="19" idx="7"/>
          </p:cNvCxnSpPr>
          <p:nvPr/>
        </p:nvCxnSpPr>
        <p:spPr>
          <a:xfrm flipH="1">
            <a:off x="3902837" y="5368485"/>
            <a:ext cx="525147" cy="10412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em curva 14"/>
          <p:cNvCxnSpPr>
            <a:stCxn id="18" idx="0"/>
            <a:endCxn id="19" idx="6"/>
          </p:cNvCxnSpPr>
          <p:nvPr/>
        </p:nvCxnSpPr>
        <p:spPr>
          <a:xfrm rot="16200000" flipH="1" flipV="1">
            <a:off x="3885487" y="4982004"/>
            <a:ext cx="1517041" cy="1440160"/>
          </a:xfrm>
          <a:prstGeom prst="curvedConnector4">
            <a:avLst>
              <a:gd name="adj1" fmla="val -56247"/>
              <a:gd name="adj2" fmla="val -88317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em curva 27"/>
          <p:cNvCxnSpPr>
            <a:stCxn id="18" idx="5"/>
            <a:endCxn id="19" idx="6"/>
          </p:cNvCxnSpPr>
          <p:nvPr/>
        </p:nvCxnSpPr>
        <p:spPr>
          <a:xfrm rot="5400000">
            <a:off x="3972409" y="5018009"/>
            <a:ext cx="1394116" cy="1491077"/>
          </a:xfrm>
          <a:prstGeom prst="curved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aixaDeTexto 31"/>
          <p:cNvSpPr txBox="1"/>
          <p:nvPr/>
        </p:nvSpPr>
        <p:spPr>
          <a:xfrm>
            <a:off x="2555776" y="3861048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G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6617724" y="3861048"/>
            <a:ext cx="445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00B0F0"/>
                </a:solidFill>
              </a:rPr>
              <a:t>G*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1259632" y="3068960"/>
            <a:ext cx="1403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Grafo Planar 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6617724" y="3068960"/>
            <a:ext cx="1183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00B0F0"/>
                </a:solidFill>
              </a:rPr>
              <a:t>Grafo Dual</a:t>
            </a:r>
          </a:p>
        </p:txBody>
      </p:sp>
    </p:spTree>
    <p:extLst>
      <p:ext uri="{BB962C8B-B14F-4D97-AF65-F5344CB8AC3E}">
        <p14:creationId xmlns:p14="http://schemas.microsoft.com/office/powerpoint/2010/main" val="30540717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Dualidade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O número de arestas que limitam a região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/>
                      </a:rPr>
                      <m:t>𝑎</m:t>
                    </m:r>
                  </m:oMath>
                </a14:m>
                <a:r>
                  <a:rPr lang="pt-BR" dirty="0"/>
                  <a:t> em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dirty="0"/>
                  <a:t> é igual ao grau do vértice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/>
                      </a:rPr>
                      <m:t>𝑎</m:t>
                    </m:r>
                  </m:oMath>
                </a14:m>
                <a:r>
                  <a:rPr lang="pt-BR" dirty="0"/>
                  <a:t>* em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dirty="0"/>
                  <a:t>*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t="-161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lipse 3"/>
          <p:cNvSpPr/>
          <p:nvPr/>
        </p:nvSpPr>
        <p:spPr>
          <a:xfrm>
            <a:off x="3347864" y="4297888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4878909" y="4293096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/>
          <p:cNvSpPr/>
          <p:nvPr/>
        </p:nvSpPr>
        <p:spPr>
          <a:xfrm>
            <a:off x="3352685" y="5589240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4878909" y="5589240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8" name="Conector reto 7"/>
          <p:cNvCxnSpPr>
            <a:stCxn id="4" idx="6"/>
            <a:endCxn id="5" idx="2"/>
          </p:cNvCxnSpPr>
          <p:nvPr/>
        </p:nvCxnSpPr>
        <p:spPr>
          <a:xfrm flipV="1">
            <a:off x="3491880" y="4365104"/>
            <a:ext cx="1387029" cy="479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>
            <a:stCxn id="5" idx="4"/>
            <a:endCxn id="7" idx="0"/>
          </p:cNvCxnSpPr>
          <p:nvPr/>
        </p:nvCxnSpPr>
        <p:spPr>
          <a:xfrm>
            <a:off x="4950917" y="4437112"/>
            <a:ext cx="0" cy="11521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7" idx="2"/>
            <a:endCxn id="6" idx="6"/>
          </p:cNvCxnSpPr>
          <p:nvPr/>
        </p:nvCxnSpPr>
        <p:spPr>
          <a:xfrm flipH="1">
            <a:off x="3496701" y="5661248"/>
            <a:ext cx="13822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4" idx="4"/>
            <a:endCxn id="6" idx="0"/>
          </p:cNvCxnSpPr>
          <p:nvPr/>
        </p:nvCxnSpPr>
        <p:spPr>
          <a:xfrm>
            <a:off x="3419872" y="4441904"/>
            <a:ext cx="4821" cy="114733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5" idx="3"/>
            <a:endCxn id="6" idx="7"/>
          </p:cNvCxnSpPr>
          <p:nvPr/>
        </p:nvCxnSpPr>
        <p:spPr>
          <a:xfrm flipH="1">
            <a:off x="3475610" y="4416021"/>
            <a:ext cx="1424390" cy="119431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Elipse 12"/>
          <p:cNvSpPr/>
          <p:nvPr/>
        </p:nvSpPr>
        <p:spPr>
          <a:xfrm>
            <a:off x="5959029" y="4943564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4" name="Conector reto 13"/>
          <p:cNvCxnSpPr>
            <a:stCxn id="5" idx="6"/>
            <a:endCxn id="13" idx="1"/>
          </p:cNvCxnSpPr>
          <p:nvPr/>
        </p:nvCxnSpPr>
        <p:spPr>
          <a:xfrm>
            <a:off x="5022925" y="4365104"/>
            <a:ext cx="957195" cy="5995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>
            <a:stCxn id="7" idx="6"/>
            <a:endCxn id="13" idx="3"/>
          </p:cNvCxnSpPr>
          <p:nvPr/>
        </p:nvCxnSpPr>
        <p:spPr>
          <a:xfrm flipV="1">
            <a:off x="5022925" y="5066489"/>
            <a:ext cx="957195" cy="5947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lipse 15"/>
          <p:cNvSpPr/>
          <p:nvPr/>
        </p:nvSpPr>
        <p:spPr>
          <a:xfrm>
            <a:off x="3851920" y="4669496"/>
            <a:ext cx="144016" cy="144016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Elipse 16"/>
          <p:cNvSpPr/>
          <p:nvPr/>
        </p:nvSpPr>
        <p:spPr>
          <a:xfrm>
            <a:off x="4355976" y="5224469"/>
            <a:ext cx="144016" cy="144016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Elipse 17"/>
          <p:cNvSpPr/>
          <p:nvPr/>
        </p:nvSpPr>
        <p:spPr>
          <a:xfrm>
            <a:off x="5292080" y="4943564"/>
            <a:ext cx="144016" cy="144016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Elipse 18"/>
          <p:cNvSpPr/>
          <p:nvPr/>
        </p:nvSpPr>
        <p:spPr>
          <a:xfrm>
            <a:off x="3779912" y="6388597"/>
            <a:ext cx="144016" cy="144016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0" name="Conector em curva 19"/>
          <p:cNvCxnSpPr>
            <a:stCxn id="16" idx="1"/>
            <a:endCxn id="19" idx="3"/>
          </p:cNvCxnSpPr>
          <p:nvPr/>
        </p:nvCxnSpPr>
        <p:spPr>
          <a:xfrm rot="16200000" flipH="1" flipV="1">
            <a:off x="2926539" y="5565050"/>
            <a:ext cx="1820935" cy="72008"/>
          </a:xfrm>
          <a:prstGeom prst="curvedConnector5">
            <a:avLst>
              <a:gd name="adj1" fmla="val -50340"/>
              <a:gd name="adj2" fmla="val 1691465"/>
              <a:gd name="adj3" fmla="val 112554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em curva 20"/>
          <p:cNvCxnSpPr>
            <a:stCxn id="16" idx="2"/>
            <a:endCxn id="19" idx="2"/>
          </p:cNvCxnSpPr>
          <p:nvPr/>
        </p:nvCxnSpPr>
        <p:spPr>
          <a:xfrm rot="10800000" flipV="1">
            <a:off x="3779912" y="4741503"/>
            <a:ext cx="72008" cy="1719101"/>
          </a:xfrm>
          <a:prstGeom prst="curvedConnector3">
            <a:avLst>
              <a:gd name="adj1" fmla="val 1159264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>
            <a:stCxn id="16" idx="5"/>
            <a:endCxn id="17" idx="1"/>
          </p:cNvCxnSpPr>
          <p:nvPr/>
        </p:nvCxnSpPr>
        <p:spPr>
          <a:xfrm>
            <a:off x="3974845" y="4792421"/>
            <a:ext cx="402222" cy="45313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/>
          <p:cNvCxnSpPr>
            <a:stCxn id="17" idx="6"/>
            <a:endCxn id="18" idx="2"/>
          </p:cNvCxnSpPr>
          <p:nvPr/>
        </p:nvCxnSpPr>
        <p:spPr>
          <a:xfrm flipV="1">
            <a:off x="4499992" y="5015572"/>
            <a:ext cx="792088" cy="2809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/>
          <p:cNvCxnSpPr>
            <a:stCxn id="17" idx="4"/>
            <a:endCxn id="19" idx="7"/>
          </p:cNvCxnSpPr>
          <p:nvPr/>
        </p:nvCxnSpPr>
        <p:spPr>
          <a:xfrm flipH="1">
            <a:off x="3902837" y="5368485"/>
            <a:ext cx="525147" cy="10412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em curva 24"/>
          <p:cNvCxnSpPr>
            <a:stCxn id="18" idx="0"/>
            <a:endCxn id="19" idx="6"/>
          </p:cNvCxnSpPr>
          <p:nvPr/>
        </p:nvCxnSpPr>
        <p:spPr>
          <a:xfrm rot="16200000" flipH="1" flipV="1">
            <a:off x="3885487" y="4982004"/>
            <a:ext cx="1517041" cy="1440160"/>
          </a:xfrm>
          <a:prstGeom prst="curvedConnector4">
            <a:avLst>
              <a:gd name="adj1" fmla="val -56247"/>
              <a:gd name="adj2" fmla="val -88317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em curva 25"/>
          <p:cNvCxnSpPr>
            <a:stCxn id="18" idx="5"/>
            <a:endCxn id="19" idx="6"/>
          </p:cNvCxnSpPr>
          <p:nvPr/>
        </p:nvCxnSpPr>
        <p:spPr>
          <a:xfrm rot="5400000">
            <a:off x="3972409" y="5018009"/>
            <a:ext cx="1394116" cy="1491077"/>
          </a:xfrm>
          <a:prstGeom prst="curved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aixaDeTexto 26"/>
          <p:cNvSpPr txBox="1"/>
          <p:nvPr/>
        </p:nvSpPr>
        <p:spPr>
          <a:xfrm>
            <a:off x="2555776" y="3861048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G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6617724" y="3861048"/>
            <a:ext cx="445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00B0F0"/>
                </a:solidFill>
              </a:rPr>
              <a:t>G*</a:t>
            </a:r>
          </a:p>
        </p:txBody>
      </p:sp>
    </p:spTree>
    <p:extLst>
      <p:ext uri="{BB962C8B-B14F-4D97-AF65-F5344CB8AC3E}">
        <p14:creationId xmlns:p14="http://schemas.microsoft.com/office/powerpoint/2010/main" val="12047662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Dualidade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O grafo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dirty="0"/>
                  <a:t>* é planar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t="-161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Elipse 28"/>
          <p:cNvSpPr/>
          <p:nvPr/>
        </p:nvSpPr>
        <p:spPr>
          <a:xfrm>
            <a:off x="3347864" y="4297888"/>
            <a:ext cx="144016" cy="144016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Elipse 29"/>
          <p:cNvSpPr/>
          <p:nvPr/>
        </p:nvSpPr>
        <p:spPr>
          <a:xfrm>
            <a:off x="4878909" y="4293096"/>
            <a:ext cx="144016" cy="144016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Elipse 30"/>
          <p:cNvSpPr/>
          <p:nvPr/>
        </p:nvSpPr>
        <p:spPr>
          <a:xfrm>
            <a:off x="3352685" y="5589240"/>
            <a:ext cx="144016" cy="144016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Elipse 31"/>
          <p:cNvSpPr/>
          <p:nvPr/>
        </p:nvSpPr>
        <p:spPr>
          <a:xfrm>
            <a:off x="4878909" y="5589240"/>
            <a:ext cx="144016" cy="144016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3" name="Conector reto 32"/>
          <p:cNvCxnSpPr>
            <a:stCxn id="29" idx="6"/>
            <a:endCxn id="30" idx="2"/>
          </p:cNvCxnSpPr>
          <p:nvPr/>
        </p:nvCxnSpPr>
        <p:spPr>
          <a:xfrm flipV="1">
            <a:off x="3491880" y="4365104"/>
            <a:ext cx="1387029" cy="479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to 33"/>
          <p:cNvCxnSpPr>
            <a:stCxn id="30" idx="4"/>
            <a:endCxn id="32" idx="0"/>
          </p:cNvCxnSpPr>
          <p:nvPr/>
        </p:nvCxnSpPr>
        <p:spPr>
          <a:xfrm>
            <a:off x="4950917" y="4437112"/>
            <a:ext cx="0" cy="115212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to 34"/>
          <p:cNvCxnSpPr>
            <a:stCxn id="32" idx="2"/>
            <a:endCxn id="31" idx="6"/>
          </p:cNvCxnSpPr>
          <p:nvPr/>
        </p:nvCxnSpPr>
        <p:spPr>
          <a:xfrm flipH="1">
            <a:off x="3496701" y="5661248"/>
            <a:ext cx="1382208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/>
          <p:cNvCxnSpPr>
            <a:stCxn id="29" idx="4"/>
            <a:endCxn id="31" idx="0"/>
          </p:cNvCxnSpPr>
          <p:nvPr/>
        </p:nvCxnSpPr>
        <p:spPr>
          <a:xfrm>
            <a:off x="3419872" y="4441904"/>
            <a:ext cx="4821" cy="114733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to 36"/>
          <p:cNvCxnSpPr>
            <a:stCxn id="30" idx="3"/>
            <a:endCxn id="31" idx="7"/>
          </p:cNvCxnSpPr>
          <p:nvPr/>
        </p:nvCxnSpPr>
        <p:spPr>
          <a:xfrm flipH="1">
            <a:off x="3475610" y="4416021"/>
            <a:ext cx="1424390" cy="119431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ipse 37"/>
          <p:cNvSpPr/>
          <p:nvPr/>
        </p:nvSpPr>
        <p:spPr>
          <a:xfrm>
            <a:off x="5959029" y="4943564"/>
            <a:ext cx="144016" cy="144016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9" name="Conector reto 38"/>
          <p:cNvCxnSpPr>
            <a:stCxn id="30" idx="6"/>
            <a:endCxn id="38" idx="1"/>
          </p:cNvCxnSpPr>
          <p:nvPr/>
        </p:nvCxnSpPr>
        <p:spPr>
          <a:xfrm>
            <a:off x="5022925" y="4365104"/>
            <a:ext cx="957195" cy="59955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to 39"/>
          <p:cNvCxnSpPr>
            <a:stCxn id="32" idx="6"/>
            <a:endCxn id="38" idx="3"/>
          </p:cNvCxnSpPr>
          <p:nvPr/>
        </p:nvCxnSpPr>
        <p:spPr>
          <a:xfrm flipV="1">
            <a:off x="5022925" y="5066489"/>
            <a:ext cx="957195" cy="59475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Elipse 40"/>
          <p:cNvSpPr/>
          <p:nvPr/>
        </p:nvSpPr>
        <p:spPr>
          <a:xfrm>
            <a:off x="3851920" y="4669496"/>
            <a:ext cx="144016" cy="144016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Elipse 41"/>
          <p:cNvSpPr/>
          <p:nvPr/>
        </p:nvSpPr>
        <p:spPr>
          <a:xfrm>
            <a:off x="4355976" y="5224469"/>
            <a:ext cx="144016" cy="144016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Elipse 42"/>
          <p:cNvSpPr/>
          <p:nvPr/>
        </p:nvSpPr>
        <p:spPr>
          <a:xfrm>
            <a:off x="5292080" y="4943564"/>
            <a:ext cx="144016" cy="144016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Elipse 43"/>
          <p:cNvSpPr/>
          <p:nvPr/>
        </p:nvSpPr>
        <p:spPr>
          <a:xfrm>
            <a:off x="3779912" y="6388597"/>
            <a:ext cx="144016" cy="144016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5" name="Conector em curva 44"/>
          <p:cNvCxnSpPr>
            <a:stCxn id="41" idx="1"/>
            <a:endCxn id="44" idx="3"/>
          </p:cNvCxnSpPr>
          <p:nvPr/>
        </p:nvCxnSpPr>
        <p:spPr>
          <a:xfrm rot="16200000" flipH="1" flipV="1">
            <a:off x="2926539" y="5565050"/>
            <a:ext cx="1820935" cy="72008"/>
          </a:xfrm>
          <a:prstGeom prst="curvedConnector5">
            <a:avLst>
              <a:gd name="adj1" fmla="val -50340"/>
              <a:gd name="adj2" fmla="val 1691465"/>
              <a:gd name="adj3" fmla="val 11255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em curva 45"/>
          <p:cNvCxnSpPr>
            <a:stCxn id="41" idx="2"/>
            <a:endCxn id="44" idx="2"/>
          </p:cNvCxnSpPr>
          <p:nvPr/>
        </p:nvCxnSpPr>
        <p:spPr>
          <a:xfrm rot="10800000" flipV="1">
            <a:off x="3779912" y="4741503"/>
            <a:ext cx="72008" cy="1719101"/>
          </a:xfrm>
          <a:prstGeom prst="curvedConnector3">
            <a:avLst>
              <a:gd name="adj1" fmla="val 115926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to 46"/>
          <p:cNvCxnSpPr>
            <a:stCxn id="41" idx="5"/>
            <a:endCxn id="42" idx="1"/>
          </p:cNvCxnSpPr>
          <p:nvPr/>
        </p:nvCxnSpPr>
        <p:spPr>
          <a:xfrm>
            <a:off x="3974845" y="4792421"/>
            <a:ext cx="402222" cy="4531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to 47"/>
          <p:cNvCxnSpPr>
            <a:stCxn id="42" idx="6"/>
            <a:endCxn id="43" idx="2"/>
          </p:cNvCxnSpPr>
          <p:nvPr/>
        </p:nvCxnSpPr>
        <p:spPr>
          <a:xfrm flipV="1">
            <a:off x="4499992" y="5015572"/>
            <a:ext cx="792088" cy="2809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to 48"/>
          <p:cNvCxnSpPr>
            <a:stCxn id="42" idx="4"/>
            <a:endCxn id="44" idx="7"/>
          </p:cNvCxnSpPr>
          <p:nvPr/>
        </p:nvCxnSpPr>
        <p:spPr>
          <a:xfrm flipH="1">
            <a:off x="3902837" y="5368485"/>
            <a:ext cx="525147" cy="10412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em curva 49"/>
          <p:cNvCxnSpPr>
            <a:stCxn id="43" idx="0"/>
            <a:endCxn id="44" idx="6"/>
          </p:cNvCxnSpPr>
          <p:nvPr/>
        </p:nvCxnSpPr>
        <p:spPr>
          <a:xfrm rot="16200000" flipH="1" flipV="1">
            <a:off x="3885487" y="4982004"/>
            <a:ext cx="1517041" cy="1440160"/>
          </a:xfrm>
          <a:prstGeom prst="curvedConnector4">
            <a:avLst>
              <a:gd name="adj1" fmla="val -56247"/>
              <a:gd name="adj2" fmla="val -88317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em curva 50"/>
          <p:cNvCxnSpPr>
            <a:stCxn id="43" idx="5"/>
            <a:endCxn id="44" idx="6"/>
          </p:cNvCxnSpPr>
          <p:nvPr/>
        </p:nvCxnSpPr>
        <p:spPr>
          <a:xfrm rot="5400000">
            <a:off x="3972409" y="5018009"/>
            <a:ext cx="1394116" cy="1491077"/>
          </a:xfrm>
          <a:prstGeom prst="curved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CaixaDeTexto 51"/>
          <p:cNvSpPr txBox="1"/>
          <p:nvPr/>
        </p:nvSpPr>
        <p:spPr>
          <a:xfrm>
            <a:off x="2555776" y="3861048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65000"/>
                  </a:schemeClr>
                </a:solidFill>
              </a:rPr>
              <a:t>G</a:t>
            </a:r>
          </a:p>
        </p:txBody>
      </p:sp>
      <p:sp>
        <p:nvSpPr>
          <p:cNvPr id="53" name="CaixaDeTexto 52"/>
          <p:cNvSpPr txBox="1"/>
          <p:nvPr/>
        </p:nvSpPr>
        <p:spPr>
          <a:xfrm>
            <a:off x="6617724" y="3861048"/>
            <a:ext cx="445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00B0F0"/>
                </a:solidFill>
              </a:rPr>
              <a:t>G*</a:t>
            </a:r>
          </a:p>
        </p:txBody>
      </p:sp>
    </p:spTree>
    <p:extLst>
      <p:ext uri="{BB962C8B-B14F-4D97-AF65-F5344CB8AC3E}">
        <p14:creationId xmlns:p14="http://schemas.microsoft.com/office/powerpoint/2010/main" val="41259196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Dualidade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O grafo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dirty="0"/>
                  <a:t> também é dual de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dirty="0"/>
                  <a:t>*, então dizemos que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dirty="0"/>
                  <a:t> e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dirty="0"/>
                  <a:t>* são grafos duais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t="-161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Elipse 76"/>
          <p:cNvSpPr/>
          <p:nvPr/>
        </p:nvSpPr>
        <p:spPr>
          <a:xfrm>
            <a:off x="3347864" y="4297888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8" name="Elipse 77"/>
          <p:cNvSpPr/>
          <p:nvPr/>
        </p:nvSpPr>
        <p:spPr>
          <a:xfrm>
            <a:off x="4878909" y="4293096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9" name="Elipse 78"/>
          <p:cNvSpPr/>
          <p:nvPr/>
        </p:nvSpPr>
        <p:spPr>
          <a:xfrm>
            <a:off x="3352685" y="5589240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0" name="Elipse 79"/>
          <p:cNvSpPr/>
          <p:nvPr/>
        </p:nvSpPr>
        <p:spPr>
          <a:xfrm>
            <a:off x="4878909" y="5589240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81" name="Conector reto 80"/>
          <p:cNvCxnSpPr>
            <a:stCxn id="77" idx="6"/>
            <a:endCxn id="78" idx="2"/>
          </p:cNvCxnSpPr>
          <p:nvPr/>
        </p:nvCxnSpPr>
        <p:spPr>
          <a:xfrm flipV="1">
            <a:off x="3491880" y="4365104"/>
            <a:ext cx="1387029" cy="47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ector reto 81"/>
          <p:cNvCxnSpPr>
            <a:stCxn id="78" idx="4"/>
            <a:endCxn id="80" idx="0"/>
          </p:cNvCxnSpPr>
          <p:nvPr/>
        </p:nvCxnSpPr>
        <p:spPr>
          <a:xfrm>
            <a:off x="4950917" y="4437112"/>
            <a:ext cx="0" cy="11521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ector reto 82"/>
          <p:cNvCxnSpPr>
            <a:stCxn id="80" idx="2"/>
            <a:endCxn id="79" idx="6"/>
          </p:cNvCxnSpPr>
          <p:nvPr/>
        </p:nvCxnSpPr>
        <p:spPr>
          <a:xfrm flipH="1">
            <a:off x="3496701" y="5661248"/>
            <a:ext cx="13822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ector reto 83"/>
          <p:cNvCxnSpPr>
            <a:stCxn id="77" idx="4"/>
            <a:endCxn id="79" idx="0"/>
          </p:cNvCxnSpPr>
          <p:nvPr/>
        </p:nvCxnSpPr>
        <p:spPr>
          <a:xfrm>
            <a:off x="3419872" y="4441904"/>
            <a:ext cx="4821" cy="11473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ector reto 84"/>
          <p:cNvCxnSpPr>
            <a:stCxn id="78" idx="3"/>
            <a:endCxn id="79" idx="7"/>
          </p:cNvCxnSpPr>
          <p:nvPr/>
        </p:nvCxnSpPr>
        <p:spPr>
          <a:xfrm flipH="1">
            <a:off x="3475610" y="4416021"/>
            <a:ext cx="1424390" cy="11943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Elipse 85"/>
          <p:cNvSpPr/>
          <p:nvPr/>
        </p:nvSpPr>
        <p:spPr>
          <a:xfrm>
            <a:off x="5959029" y="4943564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87" name="Conector reto 86"/>
          <p:cNvCxnSpPr>
            <a:stCxn id="78" idx="6"/>
            <a:endCxn id="86" idx="1"/>
          </p:cNvCxnSpPr>
          <p:nvPr/>
        </p:nvCxnSpPr>
        <p:spPr>
          <a:xfrm>
            <a:off x="5022925" y="4365104"/>
            <a:ext cx="957195" cy="5995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ector reto 87"/>
          <p:cNvCxnSpPr>
            <a:stCxn id="80" idx="6"/>
            <a:endCxn id="86" idx="3"/>
          </p:cNvCxnSpPr>
          <p:nvPr/>
        </p:nvCxnSpPr>
        <p:spPr>
          <a:xfrm flipV="1">
            <a:off x="5022925" y="5066489"/>
            <a:ext cx="957195" cy="5947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Elipse 88"/>
          <p:cNvSpPr/>
          <p:nvPr/>
        </p:nvSpPr>
        <p:spPr>
          <a:xfrm>
            <a:off x="3851920" y="4669496"/>
            <a:ext cx="144016" cy="144016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0" name="Elipse 89"/>
          <p:cNvSpPr/>
          <p:nvPr/>
        </p:nvSpPr>
        <p:spPr>
          <a:xfrm>
            <a:off x="4355976" y="5224469"/>
            <a:ext cx="144016" cy="144016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1" name="Elipse 90"/>
          <p:cNvSpPr/>
          <p:nvPr/>
        </p:nvSpPr>
        <p:spPr>
          <a:xfrm>
            <a:off x="5292080" y="4943564"/>
            <a:ext cx="144016" cy="144016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2" name="Elipse 91"/>
          <p:cNvSpPr/>
          <p:nvPr/>
        </p:nvSpPr>
        <p:spPr>
          <a:xfrm>
            <a:off x="3779912" y="6388597"/>
            <a:ext cx="144016" cy="144016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93" name="Conector em curva 92"/>
          <p:cNvCxnSpPr>
            <a:stCxn id="89" idx="1"/>
            <a:endCxn id="92" idx="3"/>
          </p:cNvCxnSpPr>
          <p:nvPr/>
        </p:nvCxnSpPr>
        <p:spPr>
          <a:xfrm rot="16200000" flipH="1" flipV="1">
            <a:off x="2926539" y="5565050"/>
            <a:ext cx="1820935" cy="72008"/>
          </a:xfrm>
          <a:prstGeom prst="curvedConnector5">
            <a:avLst>
              <a:gd name="adj1" fmla="val -50340"/>
              <a:gd name="adj2" fmla="val 1691465"/>
              <a:gd name="adj3" fmla="val 11255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ector em curva 93"/>
          <p:cNvCxnSpPr>
            <a:stCxn id="89" idx="2"/>
            <a:endCxn id="92" idx="2"/>
          </p:cNvCxnSpPr>
          <p:nvPr/>
        </p:nvCxnSpPr>
        <p:spPr>
          <a:xfrm rot="10800000" flipV="1">
            <a:off x="3779912" y="4741503"/>
            <a:ext cx="72008" cy="1719101"/>
          </a:xfrm>
          <a:prstGeom prst="curvedConnector3">
            <a:avLst>
              <a:gd name="adj1" fmla="val 115926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ector reto 94"/>
          <p:cNvCxnSpPr>
            <a:stCxn id="89" idx="5"/>
            <a:endCxn id="90" idx="1"/>
          </p:cNvCxnSpPr>
          <p:nvPr/>
        </p:nvCxnSpPr>
        <p:spPr>
          <a:xfrm>
            <a:off x="3974845" y="4792421"/>
            <a:ext cx="402222" cy="4531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reto 95"/>
          <p:cNvCxnSpPr>
            <a:stCxn id="90" idx="6"/>
            <a:endCxn id="91" idx="2"/>
          </p:cNvCxnSpPr>
          <p:nvPr/>
        </p:nvCxnSpPr>
        <p:spPr>
          <a:xfrm flipV="1">
            <a:off x="4499992" y="5015572"/>
            <a:ext cx="792088" cy="2809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ector reto 96"/>
          <p:cNvCxnSpPr>
            <a:stCxn id="90" idx="4"/>
            <a:endCxn id="92" idx="7"/>
          </p:cNvCxnSpPr>
          <p:nvPr/>
        </p:nvCxnSpPr>
        <p:spPr>
          <a:xfrm flipH="1">
            <a:off x="3902837" y="5368485"/>
            <a:ext cx="525147" cy="10412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ector em curva 97"/>
          <p:cNvCxnSpPr>
            <a:stCxn id="91" idx="0"/>
            <a:endCxn id="92" idx="6"/>
          </p:cNvCxnSpPr>
          <p:nvPr/>
        </p:nvCxnSpPr>
        <p:spPr>
          <a:xfrm rot="16200000" flipH="1" flipV="1">
            <a:off x="3885487" y="4982004"/>
            <a:ext cx="1517041" cy="1440160"/>
          </a:xfrm>
          <a:prstGeom prst="curvedConnector4">
            <a:avLst>
              <a:gd name="adj1" fmla="val -56247"/>
              <a:gd name="adj2" fmla="val -88317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ector em curva 98"/>
          <p:cNvCxnSpPr>
            <a:stCxn id="91" idx="5"/>
            <a:endCxn id="92" idx="6"/>
          </p:cNvCxnSpPr>
          <p:nvPr/>
        </p:nvCxnSpPr>
        <p:spPr>
          <a:xfrm rot="5400000">
            <a:off x="3972409" y="5018009"/>
            <a:ext cx="1394116" cy="1491077"/>
          </a:xfrm>
          <a:prstGeom prst="curved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CaixaDeTexto 99"/>
          <p:cNvSpPr txBox="1"/>
          <p:nvPr/>
        </p:nvSpPr>
        <p:spPr>
          <a:xfrm>
            <a:off x="2555776" y="3861048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G</a:t>
            </a:r>
          </a:p>
        </p:txBody>
      </p:sp>
      <p:sp>
        <p:nvSpPr>
          <p:cNvPr id="101" name="CaixaDeTexto 100"/>
          <p:cNvSpPr txBox="1"/>
          <p:nvPr/>
        </p:nvSpPr>
        <p:spPr>
          <a:xfrm>
            <a:off x="6617724" y="3861048"/>
            <a:ext cx="445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00B0F0"/>
                </a:solidFill>
              </a:rPr>
              <a:t>G*</a:t>
            </a:r>
          </a:p>
        </p:txBody>
      </p:sp>
    </p:spTree>
    <p:extLst>
      <p:ext uri="{BB962C8B-B14F-4D97-AF65-F5344CB8AC3E}">
        <p14:creationId xmlns:p14="http://schemas.microsoft.com/office/powerpoint/2010/main" val="7476359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Dualidade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Relações: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/>
                      </a:rPr>
                      <m:t>𝑛</m:t>
                    </m:r>
                  </m:oMath>
                </a14:m>
                <a:r>
                  <a:rPr lang="pt-BR" dirty="0"/>
                  <a:t>* =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/>
                      </a:rPr>
                      <m:t>𝑓</m:t>
                    </m:r>
                  </m:oMath>
                </a14:m>
                <a:r>
                  <a:rPr lang="pt-BR" dirty="0"/>
                  <a:t>; </a:t>
                </a:r>
                <a14:m>
                  <m:oMath xmlns:m="http://schemas.openxmlformats.org/officeDocument/2006/math">
                    <m:r>
                      <a:rPr lang="pt-BR" i="1" dirty="0" smtClean="0">
                        <a:solidFill>
                          <a:schemeClr val="tx1"/>
                        </a:solidFill>
                        <a:latin typeface="Cambria Math"/>
                      </a:rPr>
                      <m:t>𝑒</m:t>
                    </m:r>
                  </m:oMath>
                </a14:m>
                <a:r>
                  <a:rPr lang="pt-BR" dirty="0"/>
                  <a:t>* = </a:t>
                </a:r>
                <a14:m>
                  <m:oMath xmlns:m="http://schemas.openxmlformats.org/officeDocument/2006/math">
                    <m:r>
                      <a:rPr lang="pt-BR" i="1" dirty="0" smtClean="0">
                        <a:solidFill>
                          <a:schemeClr val="tx1"/>
                        </a:solidFill>
                        <a:latin typeface="Cambria Math"/>
                      </a:rPr>
                      <m:t>𝑒</m:t>
                    </m:r>
                  </m:oMath>
                </a14:m>
                <a:r>
                  <a:rPr lang="pt-BR" dirty="0"/>
                  <a:t>;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/>
                      </a:rPr>
                      <m:t>𝑓</m:t>
                    </m:r>
                  </m:oMath>
                </a14:m>
                <a:r>
                  <a:rPr lang="pt-BR" dirty="0"/>
                  <a:t>* =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/>
                      </a:rPr>
                      <m:t>𝑛</m:t>
                    </m:r>
                  </m:oMath>
                </a14:m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61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Elipse 76"/>
          <p:cNvSpPr/>
          <p:nvPr/>
        </p:nvSpPr>
        <p:spPr>
          <a:xfrm>
            <a:off x="3347864" y="4297888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8" name="Elipse 77"/>
          <p:cNvSpPr/>
          <p:nvPr/>
        </p:nvSpPr>
        <p:spPr>
          <a:xfrm>
            <a:off x="4878909" y="4293096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9" name="Elipse 78"/>
          <p:cNvSpPr/>
          <p:nvPr/>
        </p:nvSpPr>
        <p:spPr>
          <a:xfrm>
            <a:off x="3352685" y="5589240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0" name="Elipse 79"/>
          <p:cNvSpPr/>
          <p:nvPr/>
        </p:nvSpPr>
        <p:spPr>
          <a:xfrm>
            <a:off x="4878909" y="5589240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81" name="Conector reto 80"/>
          <p:cNvCxnSpPr>
            <a:stCxn id="77" idx="6"/>
            <a:endCxn id="78" idx="2"/>
          </p:cNvCxnSpPr>
          <p:nvPr/>
        </p:nvCxnSpPr>
        <p:spPr>
          <a:xfrm flipV="1">
            <a:off x="3491880" y="4365104"/>
            <a:ext cx="1387029" cy="47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ector reto 81"/>
          <p:cNvCxnSpPr>
            <a:stCxn id="78" idx="4"/>
            <a:endCxn id="80" idx="0"/>
          </p:cNvCxnSpPr>
          <p:nvPr/>
        </p:nvCxnSpPr>
        <p:spPr>
          <a:xfrm>
            <a:off x="4950917" y="4437112"/>
            <a:ext cx="0" cy="11521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ector reto 82"/>
          <p:cNvCxnSpPr>
            <a:stCxn id="80" idx="2"/>
            <a:endCxn id="79" idx="6"/>
          </p:cNvCxnSpPr>
          <p:nvPr/>
        </p:nvCxnSpPr>
        <p:spPr>
          <a:xfrm flipH="1">
            <a:off x="3496701" y="5661248"/>
            <a:ext cx="13822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ector reto 83"/>
          <p:cNvCxnSpPr>
            <a:stCxn id="77" idx="4"/>
            <a:endCxn id="79" idx="0"/>
          </p:cNvCxnSpPr>
          <p:nvPr/>
        </p:nvCxnSpPr>
        <p:spPr>
          <a:xfrm>
            <a:off x="3419872" y="4441904"/>
            <a:ext cx="4821" cy="11473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ector reto 84"/>
          <p:cNvCxnSpPr>
            <a:stCxn id="78" idx="3"/>
            <a:endCxn id="79" idx="7"/>
          </p:cNvCxnSpPr>
          <p:nvPr/>
        </p:nvCxnSpPr>
        <p:spPr>
          <a:xfrm flipH="1">
            <a:off x="3475610" y="4416021"/>
            <a:ext cx="1424390" cy="11943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Elipse 85"/>
          <p:cNvSpPr/>
          <p:nvPr/>
        </p:nvSpPr>
        <p:spPr>
          <a:xfrm>
            <a:off x="5959029" y="4943564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87" name="Conector reto 86"/>
          <p:cNvCxnSpPr>
            <a:stCxn id="78" idx="6"/>
            <a:endCxn id="86" idx="1"/>
          </p:cNvCxnSpPr>
          <p:nvPr/>
        </p:nvCxnSpPr>
        <p:spPr>
          <a:xfrm>
            <a:off x="5022925" y="4365104"/>
            <a:ext cx="957195" cy="5995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ector reto 87"/>
          <p:cNvCxnSpPr>
            <a:stCxn id="80" idx="6"/>
            <a:endCxn id="86" idx="3"/>
          </p:cNvCxnSpPr>
          <p:nvPr/>
        </p:nvCxnSpPr>
        <p:spPr>
          <a:xfrm flipV="1">
            <a:off x="5022925" y="5066489"/>
            <a:ext cx="957195" cy="5947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Elipse 88"/>
          <p:cNvSpPr/>
          <p:nvPr/>
        </p:nvSpPr>
        <p:spPr>
          <a:xfrm>
            <a:off x="3851920" y="4669496"/>
            <a:ext cx="144016" cy="144016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0" name="Elipse 89"/>
          <p:cNvSpPr/>
          <p:nvPr/>
        </p:nvSpPr>
        <p:spPr>
          <a:xfrm>
            <a:off x="4355976" y="5224469"/>
            <a:ext cx="144016" cy="144016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1" name="Elipse 90"/>
          <p:cNvSpPr/>
          <p:nvPr/>
        </p:nvSpPr>
        <p:spPr>
          <a:xfrm>
            <a:off x="5292080" y="4943564"/>
            <a:ext cx="144016" cy="144016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2" name="Elipse 91"/>
          <p:cNvSpPr/>
          <p:nvPr/>
        </p:nvSpPr>
        <p:spPr>
          <a:xfrm>
            <a:off x="3779912" y="6388597"/>
            <a:ext cx="144016" cy="144016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93" name="Conector em curva 92"/>
          <p:cNvCxnSpPr>
            <a:stCxn id="89" idx="1"/>
            <a:endCxn id="92" idx="3"/>
          </p:cNvCxnSpPr>
          <p:nvPr/>
        </p:nvCxnSpPr>
        <p:spPr>
          <a:xfrm rot="16200000" flipH="1" flipV="1">
            <a:off x="2926539" y="5565050"/>
            <a:ext cx="1820935" cy="72008"/>
          </a:xfrm>
          <a:prstGeom prst="curvedConnector5">
            <a:avLst>
              <a:gd name="adj1" fmla="val -50340"/>
              <a:gd name="adj2" fmla="val 1691465"/>
              <a:gd name="adj3" fmla="val 11255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ector em curva 93"/>
          <p:cNvCxnSpPr>
            <a:stCxn id="89" idx="2"/>
            <a:endCxn id="92" idx="2"/>
          </p:cNvCxnSpPr>
          <p:nvPr/>
        </p:nvCxnSpPr>
        <p:spPr>
          <a:xfrm rot="10800000" flipV="1">
            <a:off x="3779912" y="4741503"/>
            <a:ext cx="72008" cy="1719101"/>
          </a:xfrm>
          <a:prstGeom prst="curvedConnector3">
            <a:avLst>
              <a:gd name="adj1" fmla="val 115926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ector reto 94"/>
          <p:cNvCxnSpPr>
            <a:stCxn id="89" idx="5"/>
            <a:endCxn id="90" idx="1"/>
          </p:cNvCxnSpPr>
          <p:nvPr/>
        </p:nvCxnSpPr>
        <p:spPr>
          <a:xfrm>
            <a:off x="3974845" y="4792421"/>
            <a:ext cx="402222" cy="4531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reto 95"/>
          <p:cNvCxnSpPr>
            <a:stCxn id="90" idx="6"/>
            <a:endCxn id="91" idx="2"/>
          </p:cNvCxnSpPr>
          <p:nvPr/>
        </p:nvCxnSpPr>
        <p:spPr>
          <a:xfrm flipV="1">
            <a:off x="4499992" y="5015572"/>
            <a:ext cx="792088" cy="2809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ector reto 96"/>
          <p:cNvCxnSpPr>
            <a:stCxn id="90" idx="4"/>
            <a:endCxn id="92" idx="7"/>
          </p:cNvCxnSpPr>
          <p:nvPr/>
        </p:nvCxnSpPr>
        <p:spPr>
          <a:xfrm flipH="1">
            <a:off x="3902837" y="5368485"/>
            <a:ext cx="525147" cy="10412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ector em curva 97"/>
          <p:cNvCxnSpPr>
            <a:stCxn id="91" idx="0"/>
            <a:endCxn id="92" idx="6"/>
          </p:cNvCxnSpPr>
          <p:nvPr/>
        </p:nvCxnSpPr>
        <p:spPr>
          <a:xfrm rot="16200000" flipH="1" flipV="1">
            <a:off x="3885487" y="4982004"/>
            <a:ext cx="1517041" cy="1440160"/>
          </a:xfrm>
          <a:prstGeom prst="curvedConnector4">
            <a:avLst>
              <a:gd name="adj1" fmla="val -56247"/>
              <a:gd name="adj2" fmla="val -88317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ector em curva 98"/>
          <p:cNvCxnSpPr>
            <a:stCxn id="91" idx="5"/>
            <a:endCxn id="92" idx="6"/>
          </p:cNvCxnSpPr>
          <p:nvPr/>
        </p:nvCxnSpPr>
        <p:spPr>
          <a:xfrm rot="5400000">
            <a:off x="3972409" y="5018009"/>
            <a:ext cx="1394116" cy="1491077"/>
          </a:xfrm>
          <a:prstGeom prst="curved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CaixaDeTexto 99"/>
          <p:cNvSpPr txBox="1"/>
          <p:nvPr/>
        </p:nvSpPr>
        <p:spPr>
          <a:xfrm>
            <a:off x="2555776" y="3861048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G</a:t>
            </a:r>
          </a:p>
        </p:txBody>
      </p:sp>
      <p:sp>
        <p:nvSpPr>
          <p:cNvPr id="101" name="CaixaDeTexto 100"/>
          <p:cNvSpPr txBox="1"/>
          <p:nvPr/>
        </p:nvSpPr>
        <p:spPr>
          <a:xfrm>
            <a:off x="6617724" y="3861048"/>
            <a:ext cx="445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00B0F0"/>
                </a:solidFill>
              </a:rPr>
              <a:t>G*</a:t>
            </a:r>
          </a:p>
        </p:txBody>
      </p:sp>
    </p:spTree>
    <p:extLst>
      <p:ext uri="{BB962C8B-B14F-4D97-AF65-F5344CB8AC3E}">
        <p14:creationId xmlns:p14="http://schemas.microsoft.com/office/powerpoint/2010/main" val="18268867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Quais grafos completos e bipartidos completos são planares?</a:t>
            </a:r>
          </a:p>
          <a:p>
            <a:r>
              <a:rPr lang="pt-BR" dirty="0"/>
              <a:t>Mostre que o K</a:t>
            </a:r>
            <a:r>
              <a:rPr lang="pt-BR" baseline="-25000" dirty="0"/>
              <a:t>4,3</a:t>
            </a:r>
            <a:r>
              <a:rPr lang="pt-BR" dirty="0"/>
              <a:t> e o grafo de </a:t>
            </a:r>
            <a:r>
              <a:rPr lang="pt-BR" dirty="0" err="1"/>
              <a:t>Petersen</a:t>
            </a:r>
            <a:r>
              <a:rPr lang="pt-BR" dirty="0"/>
              <a:t> tem número de cruzamento igual a 2 cada um.</a:t>
            </a:r>
          </a:p>
        </p:txBody>
      </p:sp>
    </p:spTree>
    <p:extLst>
      <p:ext uri="{BB962C8B-B14F-4D97-AF65-F5344CB8AC3E}">
        <p14:creationId xmlns:p14="http://schemas.microsoft.com/office/powerpoint/2010/main" val="17039229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Mostre que o K</a:t>
            </a:r>
            <a:r>
              <a:rPr lang="pt-BR" baseline="-25000" dirty="0"/>
              <a:t>4,3</a:t>
            </a:r>
            <a:r>
              <a:rPr lang="pt-BR" dirty="0"/>
              <a:t> e o grafo de </a:t>
            </a:r>
            <a:r>
              <a:rPr lang="pt-BR" dirty="0" err="1"/>
              <a:t>Petersen</a:t>
            </a:r>
            <a:r>
              <a:rPr lang="pt-BR" dirty="0"/>
              <a:t> tem número de cruzamento igual a 2 cada um.</a:t>
            </a:r>
          </a:p>
          <a:p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4251677" y="3724255"/>
            <a:ext cx="144016" cy="144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3735361" y="5283683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/>
          <p:cNvSpPr/>
          <p:nvPr/>
        </p:nvSpPr>
        <p:spPr>
          <a:xfrm>
            <a:off x="4736702" y="5283683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7" name="Conector reto 6"/>
          <p:cNvCxnSpPr>
            <a:stCxn id="4" idx="5"/>
            <a:endCxn id="6" idx="0"/>
          </p:cNvCxnSpPr>
          <p:nvPr/>
        </p:nvCxnSpPr>
        <p:spPr>
          <a:xfrm>
            <a:off x="4374602" y="3847180"/>
            <a:ext cx="434108" cy="143650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to 7"/>
          <p:cNvCxnSpPr>
            <a:stCxn id="4" idx="3"/>
            <a:endCxn id="5" idx="0"/>
          </p:cNvCxnSpPr>
          <p:nvPr/>
        </p:nvCxnSpPr>
        <p:spPr>
          <a:xfrm flipH="1">
            <a:off x="3807369" y="3847180"/>
            <a:ext cx="465399" cy="143650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lipse 8"/>
          <p:cNvSpPr/>
          <p:nvPr/>
        </p:nvSpPr>
        <p:spPr>
          <a:xfrm>
            <a:off x="3413979" y="4279228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lipse 9"/>
          <p:cNvSpPr/>
          <p:nvPr/>
        </p:nvSpPr>
        <p:spPr>
          <a:xfrm>
            <a:off x="5070163" y="4287612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1" name="Conector reto 10"/>
          <p:cNvCxnSpPr>
            <a:stCxn id="6" idx="2"/>
            <a:endCxn id="9" idx="5"/>
          </p:cNvCxnSpPr>
          <p:nvPr/>
        </p:nvCxnSpPr>
        <p:spPr>
          <a:xfrm flipH="1" flipV="1">
            <a:off x="3536904" y="4402153"/>
            <a:ext cx="1199798" cy="9535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9" idx="6"/>
            <a:endCxn id="10" idx="2"/>
          </p:cNvCxnSpPr>
          <p:nvPr/>
        </p:nvCxnSpPr>
        <p:spPr>
          <a:xfrm>
            <a:off x="3557995" y="4351236"/>
            <a:ext cx="1512168" cy="838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10" idx="3"/>
            <a:endCxn id="5" idx="7"/>
          </p:cNvCxnSpPr>
          <p:nvPr/>
        </p:nvCxnSpPr>
        <p:spPr>
          <a:xfrm flipH="1">
            <a:off x="3858286" y="4410537"/>
            <a:ext cx="1232968" cy="8942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Elipse 13"/>
          <p:cNvSpPr/>
          <p:nvPr/>
        </p:nvSpPr>
        <p:spPr>
          <a:xfrm>
            <a:off x="4251677" y="3292207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Elipse 14"/>
          <p:cNvSpPr/>
          <p:nvPr/>
        </p:nvSpPr>
        <p:spPr>
          <a:xfrm>
            <a:off x="3485987" y="5596463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Elipse 15"/>
          <p:cNvSpPr/>
          <p:nvPr/>
        </p:nvSpPr>
        <p:spPr>
          <a:xfrm>
            <a:off x="4998155" y="5596463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Elipse 16"/>
          <p:cNvSpPr/>
          <p:nvPr/>
        </p:nvSpPr>
        <p:spPr>
          <a:xfrm>
            <a:off x="3125947" y="4012287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Elipse 17"/>
          <p:cNvSpPr/>
          <p:nvPr/>
        </p:nvSpPr>
        <p:spPr>
          <a:xfrm>
            <a:off x="5430203" y="4012287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9" name="Conector reto 18"/>
          <p:cNvCxnSpPr>
            <a:stCxn id="18" idx="1"/>
            <a:endCxn id="14" idx="6"/>
          </p:cNvCxnSpPr>
          <p:nvPr/>
        </p:nvCxnSpPr>
        <p:spPr>
          <a:xfrm flipH="1" flipV="1">
            <a:off x="4395693" y="3364215"/>
            <a:ext cx="1055601" cy="6691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/>
          <p:cNvCxnSpPr>
            <a:stCxn id="14" idx="2"/>
            <a:endCxn id="17" idx="7"/>
          </p:cNvCxnSpPr>
          <p:nvPr/>
        </p:nvCxnSpPr>
        <p:spPr>
          <a:xfrm flipH="1">
            <a:off x="3248872" y="3364215"/>
            <a:ext cx="1002805" cy="6691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>
            <a:stCxn id="17" idx="4"/>
            <a:endCxn id="15" idx="1"/>
          </p:cNvCxnSpPr>
          <p:nvPr/>
        </p:nvCxnSpPr>
        <p:spPr>
          <a:xfrm>
            <a:off x="3197955" y="4156303"/>
            <a:ext cx="309123" cy="14612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>
            <a:stCxn id="18" idx="4"/>
            <a:endCxn id="16" idx="7"/>
          </p:cNvCxnSpPr>
          <p:nvPr/>
        </p:nvCxnSpPr>
        <p:spPr>
          <a:xfrm flipH="1">
            <a:off x="5121080" y="4156303"/>
            <a:ext cx="381131" cy="14612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/>
          <p:cNvCxnSpPr>
            <a:stCxn id="15" idx="6"/>
            <a:endCxn id="16" idx="2"/>
          </p:cNvCxnSpPr>
          <p:nvPr/>
        </p:nvCxnSpPr>
        <p:spPr>
          <a:xfrm>
            <a:off x="3630003" y="5668471"/>
            <a:ext cx="13681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/>
          <p:cNvCxnSpPr>
            <a:stCxn id="14" idx="4"/>
            <a:endCxn id="4" idx="0"/>
          </p:cNvCxnSpPr>
          <p:nvPr/>
        </p:nvCxnSpPr>
        <p:spPr>
          <a:xfrm>
            <a:off x="4323685" y="3436223"/>
            <a:ext cx="0" cy="288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/>
          <p:cNvCxnSpPr>
            <a:stCxn id="18" idx="3"/>
            <a:endCxn id="10" idx="7"/>
          </p:cNvCxnSpPr>
          <p:nvPr/>
        </p:nvCxnSpPr>
        <p:spPr>
          <a:xfrm flipH="1">
            <a:off x="5193088" y="4135212"/>
            <a:ext cx="258206" cy="1734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to 25"/>
          <p:cNvCxnSpPr>
            <a:stCxn id="17" idx="5"/>
            <a:endCxn id="9" idx="1"/>
          </p:cNvCxnSpPr>
          <p:nvPr/>
        </p:nvCxnSpPr>
        <p:spPr>
          <a:xfrm>
            <a:off x="3248872" y="4135212"/>
            <a:ext cx="186198" cy="1651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/>
          <p:cNvCxnSpPr>
            <a:stCxn id="16" idx="1"/>
            <a:endCxn id="6" idx="5"/>
          </p:cNvCxnSpPr>
          <p:nvPr/>
        </p:nvCxnSpPr>
        <p:spPr>
          <a:xfrm flipH="1" flipV="1">
            <a:off x="4859627" y="5406608"/>
            <a:ext cx="159619" cy="2109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to 27"/>
          <p:cNvCxnSpPr>
            <a:stCxn id="5" idx="3"/>
            <a:endCxn id="15" idx="7"/>
          </p:cNvCxnSpPr>
          <p:nvPr/>
        </p:nvCxnSpPr>
        <p:spPr>
          <a:xfrm flipH="1">
            <a:off x="3608912" y="5406608"/>
            <a:ext cx="147540" cy="2109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28251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Mostre que o K</a:t>
            </a:r>
            <a:r>
              <a:rPr lang="pt-BR" baseline="-25000" dirty="0"/>
              <a:t>4,3</a:t>
            </a:r>
            <a:r>
              <a:rPr lang="pt-BR" dirty="0"/>
              <a:t> e o grafo de </a:t>
            </a:r>
            <a:r>
              <a:rPr lang="pt-BR" dirty="0" err="1"/>
              <a:t>Petersen</a:t>
            </a:r>
            <a:r>
              <a:rPr lang="pt-BR" dirty="0"/>
              <a:t> tem número de cruzamento igual a 2 cada um.</a:t>
            </a:r>
          </a:p>
          <a:p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4251677" y="4581128"/>
            <a:ext cx="144016" cy="144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3735361" y="5283683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/>
          <p:cNvSpPr/>
          <p:nvPr/>
        </p:nvSpPr>
        <p:spPr>
          <a:xfrm>
            <a:off x="4736702" y="5283683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7" name="Conector reto 6"/>
          <p:cNvCxnSpPr>
            <a:stCxn id="4" idx="5"/>
            <a:endCxn id="6" idx="0"/>
          </p:cNvCxnSpPr>
          <p:nvPr/>
        </p:nvCxnSpPr>
        <p:spPr>
          <a:xfrm>
            <a:off x="4374602" y="4704053"/>
            <a:ext cx="434108" cy="5796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to 7"/>
          <p:cNvCxnSpPr>
            <a:stCxn id="4" idx="3"/>
            <a:endCxn id="5" idx="0"/>
          </p:cNvCxnSpPr>
          <p:nvPr/>
        </p:nvCxnSpPr>
        <p:spPr>
          <a:xfrm flipH="1">
            <a:off x="3807369" y="4704053"/>
            <a:ext cx="465399" cy="5796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lipse 8"/>
          <p:cNvSpPr/>
          <p:nvPr/>
        </p:nvSpPr>
        <p:spPr>
          <a:xfrm>
            <a:off x="3413979" y="4279228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lipse 9"/>
          <p:cNvSpPr/>
          <p:nvPr/>
        </p:nvSpPr>
        <p:spPr>
          <a:xfrm>
            <a:off x="5070163" y="4287612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1" name="Conector reto 10"/>
          <p:cNvCxnSpPr>
            <a:stCxn id="6" idx="2"/>
            <a:endCxn id="9" idx="5"/>
          </p:cNvCxnSpPr>
          <p:nvPr/>
        </p:nvCxnSpPr>
        <p:spPr>
          <a:xfrm flipH="1" flipV="1">
            <a:off x="3536904" y="4402153"/>
            <a:ext cx="1199798" cy="9535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9" idx="6"/>
            <a:endCxn id="10" idx="2"/>
          </p:cNvCxnSpPr>
          <p:nvPr/>
        </p:nvCxnSpPr>
        <p:spPr>
          <a:xfrm>
            <a:off x="3557995" y="4351236"/>
            <a:ext cx="1512168" cy="838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10" idx="3"/>
            <a:endCxn id="5" idx="7"/>
          </p:cNvCxnSpPr>
          <p:nvPr/>
        </p:nvCxnSpPr>
        <p:spPr>
          <a:xfrm flipH="1">
            <a:off x="3858286" y="4410537"/>
            <a:ext cx="1232968" cy="8942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Elipse 13"/>
          <p:cNvSpPr/>
          <p:nvPr/>
        </p:nvSpPr>
        <p:spPr>
          <a:xfrm>
            <a:off x="4251677" y="3292207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Elipse 14"/>
          <p:cNvSpPr/>
          <p:nvPr/>
        </p:nvSpPr>
        <p:spPr>
          <a:xfrm>
            <a:off x="3485987" y="5596463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Elipse 15"/>
          <p:cNvSpPr/>
          <p:nvPr/>
        </p:nvSpPr>
        <p:spPr>
          <a:xfrm>
            <a:off x="4998155" y="5596463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Elipse 16"/>
          <p:cNvSpPr/>
          <p:nvPr/>
        </p:nvSpPr>
        <p:spPr>
          <a:xfrm>
            <a:off x="3125947" y="4012287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Elipse 17"/>
          <p:cNvSpPr/>
          <p:nvPr/>
        </p:nvSpPr>
        <p:spPr>
          <a:xfrm>
            <a:off x="5430203" y="4012287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9" name="Conector reto 18"/>
          <p:cNvCxnSpPr>
            <a:stCxn id="18" idx="1"/>
            <a:endCxn id="14" idx="6"/>
          </p:cNvCxnSpPr>
          <p:nvPr/>
        </p:nvCxnSpPr>
        <p:spPr>
          <a:xfrm flipH="1" flipV="1">
            <a:off x="4395693" y="3364215"/>
            <a:ext cx="1055601" cy="6691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/>
          <p:cNvCxnSpPr>
            <a:stCxn id="14" idx="2"/>
            <a:endCxn id="17" idx="7"/>
          </p:cNvCxnSpPr>
          <p:nvPr/>
        </p:nvCxnSpPr>
        <p:spPr>
          <a:xfrm flipH="1">
            <a:off x="3248872" y="3364215"/>
            <a:ext cx="1002805" cy="6691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>
            <a:stCxn id="17" idx="4"/>
            <a:endCxn id="15" idx="1"/>
          </p:cNvCxnSpPr>
          <p:nvPr/>
        </p:nvCxnSpPr>
        <p:spPr>
          <a:xfrm>
            <a:off x="3197955" y="4156303"/>
            <a:ext cx="309123" cy="14612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>
            <a:stCxn id="18" idx="4"/>
            <a:endCxn id="16" idx="7"/>
          </p:cNvCxnSpPr>
          <p:nvPr/>
        </p:nvCxnSpPr>
        <p:spPr>
          <a:xfrm flipH="1">
            <a:off x="5121080" y="4156303"/>
            <a:ext cx="381131" cy="14612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/>
          <p:cNvCxnSpPr>
            <a:stCxn id="15" idx="6"/>
            <a:endCxn id="16" idx="2"/>
          </p:cNvCxnSpPr>
          <p:nvPr/>
        </p:nvCxnSpPr>
        <p:spPr>
          <a:xfrm>
            <a:off x="3630003" y="5668471"/>
            <a:ext cx="13681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/>
          <p:cNvCxnSpPr>
            <a:stCxn id="14" idx="4"/>
            <a:endCxn id="4" idx="0"/>
          </p:cNvCxnSpPr>
          <p:nvPr/>
        </p:nvCxnSpPr>
        <p:spPr>
          <a:xfrm>
            <a:off x="4323685" y="3436223"/>
            <a:ext cx="0" cy="11449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/>
          <p:cNvCxnSpPr>
            <a:stCxn id="18" idx="3"/>
            <a:endCxn id="10" idx="7"/>
          </p:cNvCxnSpPr>
          <p:nvPr/>
        </p:nvCxnSpPr>
        <p:spPr>
          <a:xfrm flipH="1">
            <a:off x="5193088" y="4135212"/>
            <a:ext cx="258206" cy="1734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to 25"/>
          <p:cNvCxnSpPr>
            <a:stCxn id="17" idx="5"/>
            <a:endCxn id="9" idx="1"/>
          </p:cNvCxnSpPr>
          <p:nvPr/>
        </p:nvCxnSpPr>
        <p:spPr>
          <a:xfrm>
            <a:off x="3248872" y="4135212"/>
            <a:ext cx="186198" cy="1651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/>
          <p:cNvCxnSpPr>
            <a:stCxn id="16" idx="1"/>
            <a:endCxn id="6" idx="5"/>
          </p:cNvCxnSpPr>
          <p:nvPr/>
        </p:nvCxnSpPr>
        <p:spPr>
          <a:xfrm flipH="1" flipV="1">
            <a:off x="4859627" y="5406608"/>
            <a:ext cx="159619" cy="2109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to 27"/>
          <p:cNvCxnSpPr>
            <a:stCxn id="5" idx="3"/>
            <a:endCxn id="15" idx="7"/>
          </p:cNvCxnSpPr>
          <p:nvPr/>
        </p:nvCxnSpPr>
        <p:spPr>
          <a:xfrm flipH="1">
            <a:off x="3608912" y="5406608"/>
            <a:ext cx="147540" cy="2109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13074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Mostre que o K</a:t>
            </a:r>
            <a:r>
              <a:rPr lang="pt-BR" baseline="-25000" dirty="0"/>
              <a:t>4,3</a:t>
            </a:r>
            <a:r>
              <a:rPr lang="pt-BR" dirty="0"/>
              <a:t> e o grafo de </a:t>
            </a:r>
            <a:r>
              <a:rPr lang="pt-BR" dirty="0" err="1"/>
              <a:t>Petersen</a:t>
            </a:r>
            <a:r>
              <a:rPr lang="pt-BR" dirty="0"/>
              <a:t> tem número de cruzamento igual a 2 cada um.</a:t>
            </a:r>
          </a:p>
          <a:p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4251677" y="4581128"/>
            <a:ext cx="144016" cy="144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3735361" y="5283683"/>
            <a:ext cx="144016" cy="144016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/>
          <p:cNvSpPr/>
          <p:nvPr/>
        </p:nvSpPr>
        <p:spPr>
          <a:xfrm>
            <a:off x="4736702" y="5283683"/>
            <a:ext cx="144016" cy="144016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7" name="Conector reto 6"/>
          <p:cNvCxnSpPr>
            <a:stCxn id="4" idx="5"/>
            <a:endCxn id="6" idx="0"/>
          </p:cNvCxnSpPr>
          <p:nvPr/>
        </p:nvCxnSpPr>
        <p:spPr>
          <a:xfrm>
            <a:off x="4374602" y="4704053"/>
            <a:ext cx="434108" cy="5796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to 7"/>
          <p:cNvCxnSpPr>
            <a:stCxn id="4" idx="3"/>
            <a:endCxn id="5" idx="0"/>
          </p:cNvCxnSpPr>
          <p:nvPr/>
        </p:nvCxnSpPr>
        <p:spPr>
          <a:xfrm flipH="1">
            <a:off x="3807369" y="4704053"/>
            <a:ext cx="465399" cy="5796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lipse 8"/>
          <p:cNvSpPr/>
          <p:nvPr/>
        </p:nvSpPr>
        <p:spPr>
          <a:xfrm>
            <a:off x="3413979" y="4279228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lipse 9"/>
          <p:cNvSpPr/>
          <p:nvPr/>
        </p:nvSpPr>
        <p:spPr>
          <a:xfrm>
            <a:off x="5070163" y="4287612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1" name="Conector reto 10"/>
          <p:cNvCxnSpPr>
            <a:stCxn id="6" idx="2"/>
            <a:endCxn id="9" idx="5"/>
          </p:cNvCxnSpPr>
          <p:nvPr/>
        </p:nvCxnSpPr>
        <p:spPr>
          <a:xfrm flipH="1" flipV="1">
            <a:off x="3536904" y="4402153"/>
            <a:ext cx="1199798" cy="9535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9" idx="6"/>
            <a:endCxn id="10" idx="2"/>
          </p:cNvCxnSpPr>
          <p:nvPr/>
        </p:nvCxnSpPr>
        <p:spPr>
          <a:xfrm>
            <a:off x="3557995" y="4351236"/>
            <a:ext cx="1512168" cy="838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10" idx="3"/>
            <a:endCxn id="5" idx="7"/>
          </p:cNvCxnSpPr>
          <p:nvPr/>
        </p:nvCxnSpPr>
        <p:spPr>
          <a:xfrm flipH="1">
            <a:off x="3858286" y="4410537"/>
            <a:ext cx="1232968" cy="8942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Elipse 13"/>
          <p:cNvSpPr/>
          <p:nvPr/>
        </p:nvSpPr>
        <p:spPr>
          <a:xfrm>
            <a:off x="4251677" y="3292207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Elipse 14"/>
          <p:cNvSpPr/>
          <p:nvPr/>
        </p:nvSpPr>
        <p:spPr>
          <a:xfrm>
            <a:off x="3485987" y="5596463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Elipse 15"/>
          <p:cNvSpPr/>
          <p:nvPr/>
        </p:nvSpPr>
        <p:spPr>
          <a:xfrm>
            <a:off x="4998155" y="5596463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Elipse 16"/>
          <p:cNvSpPr/>
          <p:nvPr/>
        </p:nvSpPr>
        <p:spPr>
          <a:xfrm>
            <a:off x="3125947" y="4012287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Elipse 17"/>
          <p:cNvSpPr/>
          <p:nvPr/>
        </p:nvSpPr>
        <p:spPr>
          <a:xfrm>
            <a:off x="5430203" y="4012287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9" name="Conector reto 18"/>
          <p:cNvCxnSpPr>
            <a:stCxn id="18" idx="1"/>
            <a:endCxn id="14" idx="6"/>
          </p:cNvCxnSpPr>
          <p:nvPr/>
        </p:nvCxnSpPr>
        <p:spPr>
          <a:xfrm flipH="1" flipV="1">
            <a:off x="4395693" y="3364215"/>
            <a:ext cx="1055601" cy="6691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/>
          <p:cNvCxnSpPr>
            <a:stCxn id="14" idx="2"/>
            <a:endCxn id="17" idx="7"/>
          </p:cNvCxnSpPr>
          <p:nvPr/>
        </p:nvCxnSpPr>
        <p:spPr>
          <a:xfrm flipH="1">
            <a:off x="3248872" y="3364215"/>
            <a:ext cx="1002805" cy="6691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>
            <a:stCxn id="17" idx="4"/>
            <a:endCxn id="15" idx="1"/>
          </p:cNvCxnSpPr>
          <p:nvPr/>
        </p:nvCxnSpPr>
        <p:spPr>
          <a:xfrm>
            <a:off x="3197955" y="4156303"/>
            <a:ext cx="309123" cy="14612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>
            <a:stCxn id="18" idx="4"/>
            <a:endCxn id="16" idx="7"/>
          </p:cNvCxnSpPr>
          <p:nvPr/>
        </p:nvCxnSpPr>
        <p:spPr>
          <a:xfrm flipH="1">
            <a:off x="5121080" y="4156303"/>
            <a:ext cx="381131" cy="14612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/>
          <p:cNvCxnSpPr>
            <a:stCxn id="15" idx="6"/>
            <a:endCxn id="16" idx="2"/>
          </p:cNvCxnSpPr>
          <p:nvPr/>
        </p:nvCxnSpPr>
        <p:spPr>
          <a:xfrm>
            <a:off x="3630003" y="5668471"/>
            <a:ext cx="13681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/>
          <p:cNvCxnSpPr>
            <a:stCxn id="14" idx="4"/>
            <a:endCxn id="4" idx="0"/>
          </p:cNvCxnSpPr>
          <p:nvPr/>
        </p:nvCxnSpPr>
        <p:spPr>
          <a:xfrm>
            <a:off x="4323685" y="3436223"/>
            <a:ext cx="0" cy="11449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/>
          <p:cNvCxnSpPr>
            <a:stCxn id="18" idx="3"/>
            <a:endCxn id="10" idx="7"/>
          </p:cNvCxnSpPr>
          <p:nvPr/>
        </p:nvCxnSpPr>
        <p:spPr>
          <a:xfrm flipH="1">
            <a:off x="5193088" y="4135212"/>
            <a:ext cx="258206" cy="1734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to 25"/>
          <p:cNvCxnSpPr>
            <a:stCxn id="17" idx="5"/>
            <a:endCxn id="9" idx="1"/>
          </p:cNvCxnSpPr>
          <p:nvPr/>
        </p:nvCxnSpPr>
        <p:spPr>
          <a:xfrm>
            <a:off x="3248872" y="4135212"/>
            <a:ext cx="186198" cy="1651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/>
          <p:cNvCxnSpPr>
            <a:stCxn id="16" idx="1"/>
            <a:endCxn id="6" idx="5"/>
          </p:cNvCxnSpPr>
          <p:nvPr/>
        </p:nvCxnSpPr>
        <p:spPr>
          <a:xfrm flipH="1" flipV="1">
            <a:off x="4859627" y="5406608"/>
            <a:ext cx="159619" cy="2109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to 27"/>
          <p:cNvCxnSpPr>
            <a:stCxn id="5" idx="3"/>
            <a:endCxn id="15" idx="7"/>
          </p:cNvCxnSpPr>
          <p:nvPr/>
        </p:nvCxnSpPr>
        <p:spPr>
          <a:xfrm flipH="1">
            <a:off x="3608912" y="5406608"/>
            <a:ext cx="147540" cy="2109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8814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Mostre que o K</a:t>
            </a:r>
            <a:r>
              <a:rPr lang="pt-BR" baseline="-25000" dirty="0"/>
              <a:t>4,3</a:t>
            </a:r>
            <a:r>
              <a:rPr lang="pt-BR" dirty="0"/>
              <a:t> e o grafo de </a:t>
            </a:r>
            <a:r>
              <a:rPr lang="pt-BR" dirty="0" err="1"/>
              <a:t>Petersen</a:t>
            </a:r>
            <a:r>
              <a:rPr lang="pt-BR" dirty="0"/>
              <a:t> tem número de cruzamento igual a 2 cada um.</a:t>
            </a:r>
          </a:p>
          <a:p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4251677" y="4581128"/>
            <a:ext cx="144016" cy="144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4788024" y="5283683"/>
            <a:ext cx="144016" cy="144016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/>
          <p:cNvSpPr/>
          <p:nvPr/>
        </p:nvSpPr>
        <p:spPr>
          <a:xfrm>
            <a:off x="3707904" y="5283683"/>
            <a:ext cx="144016" cy="144016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7" name="Conector reto 6"/>
          <p:cNvCxnSpPr>
            <a:stCxn id="4" idx="3"/>
            <a:endCxn id="6" idx="0"/>
          </p:cNvCxnSpPr>
          <p:nvPr/>
        </p:nvCxnSpPr>
        <p:spPr>
          <a:xfrm flipH="1">
            <a:off x="3779912" y="4704053"/>
            <a:ext cx="492856" cy="5796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to 7"/>
          <p:cNvCxnSpPr>
            <a:stCxn id="4" idx="5"/>
            <a:endCxn id="5" idx="0"/>
          </p:cNvCxnSpPr>
          <p:nvPr/>
        </p:nvCxnSpPr>
        <p:spPr>
          <a:xfrm>
            <a:off x="4374602" y="4704053"/>
            <a:ext cx="485430" cy="5796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lipse 8"/>
          <p:cNvSpPr/>
          <p:nvPr/>
        </p:nvSpPr>
        <p:spPr>
          <a:xfrm>
            <a:off x="3413979" y="4279228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lipse 9"/>
          <p:cNvSpPr/>
          <p:nvPr/>
        </p:nvSpPr>
        <p:spPr>
          <a:xfrm>
            <a:off x="5070163" y="4287612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1" name="Conector reto 10"/>
          <p:cNvCxnSpPr>
            <a:stCxn id="6" idx="2"/>
            <a:endCxn id="9" idx="5"/>
          </p:cNvCxnSpPr>
          <p:nvPr/>
        </p:nvCxnSpPr>
        <p:spPr>
          <a:xfrm flipH="1" flipV="1">
            <a:off x="3536904" y="4402153"/>
            <a:ext cx="171000" cy="9535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9" idx="6"/>
            <a:endCxn id="10" idx="2"/>
          </p:cNvCxnSpPr>
          <p:nvPr/>
        </p:nvCxnSpPr>
        <p:spPr>
          <a:xfrm>
            <a:off x="3557995" y="4351236"/>
            <a:ext cx="1512168" cy="838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10" idx="3"/>
            <a:endCxn id="5" idx="7"/>
          </p:cNvCxnSpPr>
          <p:nvPr/>
        </p:nvCxnSpPr>
        <p:spPr>
          <a:xfrm flipH="1">
            <a:off x="4910949" y="4410537"/>
            <a:ext cx="180305" cy="8942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Elipse 13"/>
          <p:cNvSpPr/>
          <p:nvPr/>
        </p:nvSpPr>
        <p:spPr>
          <a:xfrm>
            <a:off x="4251677" y="3292207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Elipse 14"/>
          <p:cNvSpPr/>
          <p:nvPr/>
        </p:nvSpPr>
        <p:spPr>
          <a:xfrm>
            <a:off x="3485987" y="5596463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Elipse 15"/>
          <p:cNvSpPr/>
          <p:nvPr/>
        </p:nvSpPr>
        <p:spPr>
          <a:xfrm>
            <a:off x="4998155" y="5596463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Elipse 16"/>
          <p:cNvSpPr/>
          <p:nvPr/>
        </p:nvSpPr>
        <p:spPr>
          <a:xfrm>
            <a:off x="3125947" y="4012287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Elipse 17"/>
          <p:cNvSpPr/>
          <p:nvPr/>
        </p:nvSpPr>
        <p:spPr>
          <a:xfrm>
            <a:off x="5430203" y="4012287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9" name="Conector reto 18"/>
          <p:cNvCxnSpPr>
            <a:stCxn id="18" idx="1"/>
            <a:endCxn id="14" idx="6"/>
          </p:cNvCxnSpPr>
          <p:nvPr/>
        </p:nvCxnSpPr>
        <p:spPr>
          <a:xfrm flipH="1" flipV="1">
            <a:off x="4395693" y="3364215"/>
            <a:ext cx="1055601" cy="6691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/>
          <p:cNvCxnSpPr>
            <a:stCxn id="14" idx="2"/>
            <a:endCxn id="17" idx="7"/>
          </p:cNvCxnSpPr>
          <p:nvPr/>
        </p:nvCxnSpPr>
        <p:spPr>
          <a:xfrm flipH="1">
            <a:off x="3248872" y="3364215"/>
            <a:ext cx="1002805" cy="6691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>
            <a:stCxn id="17" idx="4"/>
            <a:endCxn id="15" idx="1"/>
          </p:cNvCxnSpPr>
          <p:nvPr/>
        </p:nvCxnSpPr>
        <p:spPr>
          <a:xfrm>
            <a:off x="3197955" y="4156303"/>
            <a:ext cx="309123" cy="14612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>
            <a:stCxn id="18" idx="4"/>
            <a:endCxn id="16" idx="7"/>
          </p:cNvCxnSpPr>
          <p:nvPr/>
        </p:nvCxnSpPr>
        <p:spPr>
          <a:xfrm flipH="1">
            <a:off x="5121080" y="4156303"/>
            <a:ext cx="381131" cy="14612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/>
          <p:cNvCxnSpPr>
            <a:stCxn id="15" idx="6"/>
            <a:endCxn id="16" idx="2"/>
          </p:cNvCxnSpPr>
          <p:nvPr/>
        </p:nvCxnSpPr>
        <p:spPr>
          <a:xfrm>
            <a:off x="3630003" y="5668471"/>
            <a:ext cx="13681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/>
          <p:cNvCxnSpPr>
            <a:stCxn id="14" idx="4"/>
            <a:endCxn id="4" idx="0"/>
          </p:cNvCxnSpPr>
          <p:nvPr/>
        </p:nvCxnSpPr>
        <p:spPr>
          <a:xfrm>
            <a:off x="4323685" y="3436223"/>
            <a:ext cx="0" cy="114490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/>
          <p:cNvCxnSpPr>
            <a:stCxn id="18" idx="3"/>
            <a:endCxn id="10" idx="7"/>
          </p:cNvCxnSpPr>
          <p:nvPr/>
        </p:nvCxnSpPr>
        <p:spPr>
          <a:xfrm flipH="1">
            <a:off x="5193088" y="4135212"/>
            <a:ext cx="258206" cy="1734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to 25"/>
          <p:cNvCxnSpPr>
            <a:stCxn id="17" idx="5"/>
            <a:endCxn id="9" idx="1"/>
          </p:cNvCxnSpPr>
          <p:nvPr/>
        </p:nvCxnSpPr>
        <p:spPr>
          <a:xfrm>
            <a:off x="3248872" y="4135212"/>
            <a:ext cx="186198" cy="1651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/>
          <p:cNvCxnSpPr>
            <a:stCxn id="16" idx="1"/>
            <a:endCxn id="6" idx="5"/>
          </p:cNvCxnSpPr>
          <p:nvPr/>
        </p:nvCxnSpPr>
        <p:spPr>
          <a:xfrm flipH="1" flipV="1">
            <a:off x="3830829" y="5406608"/>
            <a:ext cx="1188417" cy="21094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to 27"/>
          <p:cNvCxnSpPr>
            <a:stCxn id="5" idx="3"/>
            <a:endCxn id="15" idx="7"/>
          </p:cNvCxnSpPr>
          <p:nvPr/>
        </p:nvCxnSpPr>
        <p:spPr>
          <a:xfrm flipH="1">
            <a:off x="3608912" y="5406608"/>
            <a:ext cx="1200203" cy="21094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49825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Bibliografia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683568" y="2276872"/>
            <a:ext cx="74888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[</a:t>
            </a:r>
            <a:r>
              <a:rPr lang="pt-BR" dirty="0" err="1"/>
              <a:t>Cormen</a:t>
            </a:r>
            <a:r>
              <a:rPr lang="pt-BR" dirty="0"/>
              <a:t> et al., 2009] </a:t>
            </a:r>
            <a:r>
              <a:rPr lang="en-US" dirty="0"/>
              <a:t>Introduction to Algorithms, 3rd edition.</a:t>
            </a:r>
          </a:p>
          <a:p>
            <a:r>
              <a:rPr lang="pt-BR" dirty="0"/>
              <a:t>Thomas H. </a:t>
            </a:r>
            <a:r>
              <a:rPr lang="pt-BR" dirty="0" err="1"/>
              <a:t>Cormen</a:t>
            </a:r>
            <a:r>
              <a:rPr lang="pt-BR" dirty="0"/>
              <a:t>, Charles E. </a:t>
            </a:r>
            <a:r>
              <a:rPr lang="pt-BR" dirty="0" err="1"/>
              <a:t>Leiserson</a:t>
            </a:r>
            <a:r>
              <a:rPr lang="pt-BR" dirty="0"/>
              <a:t>, Ronald L. </a:t>
            </a:r>
            <a:r>
              <a:rPr lang="pt-BR" dirty="0" err="1"/>
              <a:t>Rivest</a:t>
            </a:r>
            <a:r>
              <a:rPr lang="pt-BR" dirty="0"/>
              <a:t>, Clifford Stein.</a:t>
            </a:r>
          </a:p>
          <a:p>
            <a:r>
              <a:rPr lang="pt-BR" dirty="0"/>
              <a:t>2009, 1312 pp. MIT Press, ISBN 9780262033848.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683568" y="3356992"/>
            <a:ext cx="70567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[</a:t>
            </a:r>
            <a:r>
              <a:rPr lang="pt-BR" dirty="0" err="1"/>
              <a:t>Ziviani</a:t>
            </a:r>
            <a:r>
              <a:rPr lang="pt-BR" dirty="0"/>
              <a:t>, 2006] Projeto de Algoritmos com Implementações em Java e C++.</a:t>
            </a:r>
          </a:p>
          <a:p>
            <a:r>
              <a:rPr lang="pt-BR" dirty="0" err="1"/>
              <a:t>Nivio</a:t>
            </a:r>
            <a:r>
              <a:rPr lang="pt-BR" dirty="0"/>
              <a:t> </a:t>
            </a:r>
            <a:r>
              <a:rPr lang="pt-BR" dirty="0" err="1"/>
              <a:t>Ziviani</a:t>
            </a:r>
            <a:r>
              <a:rPr lang="pt-BR" dirty="0"/>
              <a:t>. 2006, 642 pp. Editora Thomson, ISBN 8522105251.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755576" y="1402121"/>
            <a:ext cx="56166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Robin J. Wilson. </a:t>
            </a:r>
            <a:r>
              <a:rPr lang="pt-BR" dirty="0" err="1"/>
              <a:t>Introduction</a:t>
            </a:r>
            <a:r>
              <a:rPr lang="pt-BR" dirty="0"/>
              <a:t>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graph</a:t>
            </a:r>
            <a:r>
              <a:rPr lang="pt-BR" dirty="0"/>
              <a:t> </a:t>
            </a:r>
            <a:r>
              <a:rPr lang="pt-BR" dirty="0" err="1"/>
              <a:t>theory</a:t>
            </a:r>
            <a:r>
              <a:rPr lang="pt-BR" dirty="0"/>
              <a:t>. </a:t>
            </a:r>
          </a:p>
          <a:p>
            <a:r>
              <a:rPr lang="pt-BR" dirty="0" err="1"/>
              <a:t>Longman</a:t>
            </a:r>
            <a:r>
              <a:rPr lang="pt-BR" dirty="0"/>
              <a:t>, 1996</a:t>
            </a:r>
          </a:p>
        </p:txBody>
      </p:sp>
    </p:spTree>
    <p:extLst>
      <p:ext uri="{BB962C8B-B14F-4D97-AF65-F5344CB8AC3E}">
        <p14:creationId xmlns:p14="http://schemas.microsoft.com/office/powerpoint/2010/main" val="326693104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6198</TotalTime>
  <Words>974</Words>
  <Application>Microsoft Office PowerPoint</Application>
  <PresentationFormat>Apresentação na tela (4:3)</PresentationFormat>
  <Paragraphs>140</Paragraphs>
  <Slides>33</Slides>
  <Notes>0</Notes>
  <HiddenSlides>1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33</vt:i4>
      </vt:variant>
    </vt:vector>
  </HeadingPairs>
  <TitlesOfParts>
    <vt:vector size="37" baseType="lpstr">
      <vt:lpstr>Arial</vt:lpstr>
      <vt:lpstr>Calibri</vt:lpstr>
      <vt:lpstr>Cambria Math</vt:lpstr>
      <vt:lpstr>Tema do Office</vt:lpstr>
      <vt:lpstr>Unidade VI  Planaridade e Dualidade</vt:lpstr>
      <vt:lpstr>Planaridade</vt:lpstr>
      <vt:lpstr>Planaridade</vt:lpstr>
      <vt:lpstr>Planaridade</vt:lpstr>
      <vt:lpstr>Planaridade</vt:lpstr>
      <vt:lpstr>Planaridade</vt:lpstr>
      <vt:lpstr>Planaridade</vt:lpstr>
      <vt:lpstr>Planaridade</vt:lpstr>
      <vt:lpstr>Homeomorfismo</vt:lpstr>
      <vt:lpstr>Planaridade</vt:lpstr>
      <vt:lpstr>Contração de arestas</vt:lpstr>
      <vt:lpstr>Planaridade</vt:lpstr>
      <vt:lpstr>Número de cruzamento</vt:lpstr>
      <vt:lpstr>Número de cruzamento</vt:lpstr>
      <vt:lpstr>Número de cruzamento</vt:lpstr>
      <vt:lpstr>Fórmula de Euler</vt:lpstr>
      <vt:lpstr>Fórmula de Euler</vt:lpstr>
      <vt:lpstr>Dualidade</vt:lpstr>
      <vt:lpstr>Dualidade</vt:lpstr>
      <vt:lpstr>Dualidade</vt:lpstr>
      <vt:lpstr>Dualidade</vt:lpstr>
      <vt:lpstr>Dualidade</vt:lpstr>
      <vt:lpstr>Dualidade</vt:lpstr>
      <vt:lpstr>Dualidade</vt:lpstr>
      <vt:lpstr>Dualidade</vt:lpstr>
      <vt:lpstr>Dualidade</vt:lpstr>
      <vt:lpstr>Dualidade</vt:lpstr>
      <vt:lpstr>Exercícios</vt:lpstr>
      <vt:lpstr>Exercícios</vt:lpstr>
      <vt:lpstr>Exercícios</vt:lpstr>
      <vt:lpstr>Exercícios</vt:lpstr>
      <vt:lpstr>Exercícios</vt:lpstr>
      <vt:lpstr>Bibliografia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Algoritmos e Estruturas de Dados</dc:title>
  <dc:creator>henrique</dc:creator>
  <cp:lastModifiedBy>Henrique Silva</cp:lastModifiedBy>
  <cp:revision>399</cp:revision>
  <dcterms:created xsi:type="dcterms:W3CDTF">2011-08-03T02:09:11Z</dcterms:created>
  <dcterms:modified xsi:type="dcterms:W3CDTF">2018-10-30T19:32:37Z</dcterms:modified>
</cp:coreProperties>
</file>