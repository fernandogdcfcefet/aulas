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3" r:id="rId10"/>
    <p:sldId id="272" r:id="rId11"/>
    <p:sldId id="274" r:id="rId12"/>
    <p:sldId id="275" r:id="rId13"/>
    <p:sldId id="276" r:id="rId14"/>
    <p:sldId id="277" r:id="rId15"/>
    <p:sldId id="279" r:id="rId16"/>
    <p:sldId id="281" r:id="rId17"/>
    <p:sldId id="280" r:id="rId18"/>
    <p:sldId id="278" r:id="rId19"/>
    <p:sldId id="282" r:id="rId20"/>
    <p:sldId id="283" r:id="rId21"/>
    <p:sldId id="264" r:id="rId2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12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25/08/2016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Unidade II </a:t>
            </a:r>
            <a:br>
              <a:rPr lang="pt-BR" dirty="0"/>
            </a:br>
            <a:r>
              <a:rPr lang="pt-BR" dirty="0"/>
              <a:t>Caminhos e Circuitos</a:t>
            </a:r>
            <a:br>
              <a:rPr lang="pt-BR" dirty="0"/>
            </a:br>
            <a:r>
              <a:rPr lang="pt-BR" dirty="0"/>
              <a:t>Heurísticas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 Que Fazer para Resolver Problemas Exponenciais?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dirty="0"/>
              <a:t>Usar algoritmos exponenciais “eficientes” aplicando técnicas de tentativa e erro.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/>
              <a:t>Usar algoritmos aproximados. Acham uma resposta que pode não ser a solução ótima, mas é garantido ser próxima dela.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/>
              <a:t>Concentrar no caso médio. Buscar algoritmos melhores que outros neste quesito e que funcionem bem para as entradas de dados que ocorrem usualmente na prática.</a:t>
            </a:r>
          </a:p>
          <a:p>
            <a:pPr lvl="1"/>
            <a:r>
              <a:rPr lang="pt-BR" sz="2000" dirty="0"/>
              <a:t>Existem poucos algoritmos exponenciais que são muito úteis na prática.</a:t>
            </a:r>
          </a:p>
          <a:p>
            <a:pPr lvl="1"/>
            <a:r>
              <a:rPr lang="pt-BR" sz="2000" dirty="0"/>
              <a:t>Exemplo: Simplex (programação linear). Complexidade de tempo exponencial no pior caso, mas muito rápido na prática.</a:t>
            </a:r>
          </a:p>
          <a:p>
            <a:pPr lvl="1"/>
            <a:r>
              <a:rPr lang="pt-BR" sz="2000" dirty="0"/>
              <a:t>Tais exemplos são raros. A grande maioria dos algoritmos exponenciais conhecidos não é muito útil.</a:t>
            </a:r>
          </a:p>
        </p:txBody>
      </p:sp>
    </p:spTree>
    <p:extLst>
      <p:ext uri="{BB962C8B-B14F-4D97-AF65-F5344CB8AC3E}">
        <p14:creationId xmlns:p14="http://schemas.microsoft.com/office/powerpoint/2010/main" val="1594925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Heurística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É um algoritmo que pode produzir um bom resultado (ou até a solução ótima), mas pode também não obter solução ou obter uma distante da ótima</a:t>
            </a:r>
          </a:p>
          <a:p>
            <a:pPr lvl="1"/>
            <a:r>
              <a:rPr lang="pt-BR" sz="2400" dirty="0"/>
              <a:t>Pode haver instâncias em que uma heurística nunca vai encontrar uma solução</a:t>
            </a:r>
          </a:p>
        </p:txBody>
      </p:sp>
    </p:spTree>
    <p:extLst>
      <p:ext uri="{BB962C8B-B14F-4D97-AF65-F5344CB8AC3E}">
        <p14:creationId xmlns:p14="http://schemas.microsoft.com/office/powerpoint/2010/main" val="1019357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Encontrar um Ciclo de Hamilton em um Grafo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Tentativa e Erro</a:t>
                </a:r>
              </a:p>
              <a:p>
                <a:pPr lvl="1"/>
                <a:r>
                  <a:rPr lang="pt-BR" dirty="0"/>
                  <a:t>Obter algoritmo tentativa e erro a partir de algoritmo para caminhamento em um grafo.</a:t>
                </a:r>
              </a:p>
              <a:p>
                <a:pPr lvl="1"/>
                <a:r>
                  <a:rPr lang="pt-BR" dirty="0"/>
                  <a:t>O DFS (</a:t>
                </a:r>
                <a:r>
                  <a:rPr lang="pt-BR" dirty="0" err="1"/>
                  <a:t>Depth-First</a:t>
                </a:r>
                <a:r>
                  <a:rPr lang="pt-BR" dirty="0"/>
                  <a:t> </a:t>
                </a:r>
                <a:r>
                  <a:rPr lang="pt-BR" dirty="0" err="1"/>
                  <a:t>Search</a:t>
                </a:r>
                <a:r>
                  <a:rPr lang="pt-BR" dirty="0"/>
                  <a:t>) faz uma busca em profundidade no grafo em tempo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𝑂</m:t>
                    </m:r>
                    <m:r>
                      <a:rPr lang="pt-BR" i="1" dirty="0" smtClean="0">
                        <a:latin typeface="Cambria Math"/>
                      </a:rPr>
                      <m:t>(|</m:t>
                    </m:r>
                    <m:r>
                      <a:rPr lang="pt-BR" i="1" dirty="0" smtClean="0">
                        <a:latin typeface="Cambria Math"/>
                      </a:rPr>
                      <m:t>𝑉</m:t>
                    </m:r>
                    <m:r>
                      <a:rPr lang="pt-BR" i="1" dirty="0" smtClean="0">
                        <a:latin typeface="Cambria Math"/>
                      </a:rPr>
                      <m:t>| + |</m:t>
                    </m:r>
                    <m:r>
                      <a:rPr lang="pt-BR" i="1" dirty="0" smtClean="0">
                        <a:latin typeface="Cambria Math"/>
                      </a:rPr>
                      <m:t>𝐴</m:t>
                    </m:r>
                    <m:r>
                      <a:rPr lang="pt-BR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3007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Ciclo de Hamilton - Tentativa e Erro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sz="2400" dirty="0"/>
              <a:t>Aplicando o </a:t>
            </a:r>
            <a:r>
              <a:rPr lang="pt-BR" sz="2400" dirty="0" err="1"/>
              <a:t>Dfs</a:t>
            </a:r>
            <a:r>
              <a:rPr lang="pt-BR" sz="2400" dirty="0"/>
              <a:t> ao grafo da figura abaixo a partir do vértice 0, o procedimento Visita obtém o caminho 0 1 2 4 3 5 6, o que não é um ciclo simples.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Para encontrar um ciclo de Hamilton, caso exista, devemos visitar os vértices do grafo de outras maneiras. </a:t>
            </a:r>
          </a:p>
          <a:p>
            <a:r>
              <a:rPr lang="pt-BR" sz="2400" dirty="0"/>
              <a:t>A rigor, o melhor algoritmo conhecido resolve o problema tentando todos os caminhos possíveis.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420888"/>
            <a:ext cx="3744416" cy="2109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458" y="2420888"/>
            <a:ext cx="1929110" cy="2092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8456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Ciclo de Hamilton - Tentando Todas as Possibilidades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075240" cy="4525963"/>
          </a:xfrm>
        </p:spPr>
        <p:txBody>
          <a:bodyPr>
            <a:normAutofit/>
          </a:bodyPr>
          <a:lstStyle/>
          <a:p>
            <a:r>
              <a:rPr lang="pt-BR" sz="2400" dirty="0"/>
              <a:t>Para tentar todas as possibilidades, vamos alterar o procedimento Visita.</a:t>
            </a:r>
          </a:p>
          <a:p>
            <a:r>
              <a:rPr lang="pt-BR" sz="2400" dirty="0"/>
              <a:t>Desmarca o vértice já visitado no caminho anterior e permite que seja visitado novamente em outra tentativa.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2339752" y="3356992"/>
            <a:ext cx="484593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err="1"/>
              <a:t>private</a:t>
            </a:r>
            <a:r>
              <a:rPr lang="pt-BR" sz="1600" b="1" dirty="0"/>
              <a:t> </a:t>
            </a:r>
            <a:r>
              <a:rPr lang="pt-BR" sz="1600" b="1" dirty="0" err="1"/>
              <a:t>int</a:t>
            </a:r>
            <a:r>
              <a:rPr lang="pt-BR" sz="1600" b="1" dirty="0"/>
              <a:t> </a:t>
            </a:r>
            <a:r>
              <a:rPr lang="pt-BR" sz="1600" dirty="0"/>
              <a:t>visita ( </a:t>
            </a:r>
            <a:r>
              <a:rPr lang="pt-BR" sz="1600" b="1" dirty="0" err="1"/>
              <a:t>int</a:t>
            </a:r>
            <a:r>
              <a:rPr lang="pt-BR" sz="1600" b="1" dirty="0"/>
              <a:t> </a:t>
            </a:r>
            <a:r>
              <a:rPr lang="pt-BR" sz="1600" dirty="0"/>
              <a:t>u, </a:t>
            </a:r>
            <a:r>
              <a:rPr lang="pt-BR" sz="1600" b="1" dirty="0" err="1"/>
              <a:t>int</a:t>
            </a:r>
            <a:r>
              <a:rPr lang="pt-BR" sz="1600" b="1" dirty="0"/>
              <a:t> </a:t>
            </a:r>
            <a:r>
              <a:rPr lang="pt-BR" sz="1600" dirty="0"/>
              <a:t>tempo) {</a:t>
            </a:r>
          </a:p>
          <a:p>
            <a:r>
              <a:rPr lang="pt-BR" sz="1600" b="1" dirty="0"/>
              <a:t>  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.d[u] = ++tempo;</a:t>
            </a:r>
          </a:p>
          <a:p>
            <a:r>
              <a:rPr lang="it-IT" sz="1600" b="1" dirty="0"/>
              <a:t>   if </a:t>
            </a:r>
            <a:r>
              <a:rPr lang="it-IT" sz="1600" dirty="0"/>
              <a:t>( ! </a:t>
            </a:r>
            <a:r>
              <a:rPr lang="it-IT" sz="1600" b="1" dirty="0"/>
              <a:t>this </a:t>
            </a:r>
            <a:r>
              <a:rPr lang="it-IT" sz="1600" dirty="0"/>
              <a:t>.grafo. listaAdjVazia (u) ) {</a:t>
            </a:r>
          </a:p>
          <a:p>
            <a:r>
              <a:rPr lang="pt-BR" sz="1600" dirty="0"/>
              <a:t>      </a:t>
            </a:r>
            <a:r>
              <a:rPr lang="pt-BR" sz="1600" dirty="0" err="1"/>
              <a:t>Grafo.Aresta</a:t>
            </a:r>
            <a:r>
              <a:rPr lang="pt-BR" sz="1600" dirty="0"/>
              <a:t> a =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.grafo. </a:t>
            </a:r>
            <a:r>
              <a:rPr lang="pt-BR" sz="1600" dirty="0" err="1"/>
              <a:t>primeiroListaAdj</a:t>
            </a:r>
            <a:r>
              <a:rPr lang="pt-BR" sz="1600" dirty="0"/>
              <a:t> (u) ;</a:t>
            </a:r>
          </a:p>
          <a:p>
            <a:r>
              <a:rPr lang="pt-BR" sz="1600" b="1" dirty="0"/>
              <a:t>      </a:t>
            </a:r>
            <a:r>
              <a:rPr lang="pt-BR" sz="1600" b="1" dirty="0" err="1"/>
              <a:t>while</a:t>
            </a:r>
            <a:r>
              <a:rPr lang="pt-BR" sz="1600" b="1" dirty="0"/>
              <a:t> </a:t>
            </a:r>
            <a:r>
              <a:rPr lang="pt-BR" sz="1600" dirty="0"/>
              <a:t>(a != </a:t>
            </a:r>
            <a:r>
              <a:rPr lang="pt-BR" sz="1600" b="1" dirty="0" err="1"/>
              <a:t>null</a:t>
            </a:r>
            <a:r>
              <a:rPr lang="pt-BR" sz="1600" b="1" dirty="0"/>
              <a:t> </a:t>
            </a:r>
            <a:r>
              <a:rPr lang="pt-BR" sz="1600" dirty="0"/>
              <a:t>) {</a:t>
            </a:r>
          </a:p>
          <a:p>
            <a:r>
              <a:rPr lang="pt-BR" sz="1600" b="1" dirty="0"/>
              <a:t>         </a:t>
            </a:r>
            <a:r>
              <a:rPr lang="pt-BR" sz="1600" b="1" dirty="0" err="1"/>
              <a:t>int</a:t>
            </a:r>
            <a:r>
              <a:rPr lang="pt-BR" sz="1600" b="1" dirty="0"/>
              <a:t> </a:t>
            </a:r>
            <a:r>
              <a:rPr lang="pt-BR" sz="1600" dirty="0"/>
              <a:t>v = a.v2 ( ) ;</a:t>
            </a:r>
          </a:p>
          <a:p>
            <a:r>
              <a:rPr lang="pt-BR" sz="1600" b="1" dirty="0"/>
              <a:t>         </a:t>
            </a:r>
            <a:r>
              <a:rPr lang="pt-BR" sz="1600" b="1" dirty="0" err="1"/>
              <a:t>if</a:t>
            </a:r>
            <a:r>
              <a:rPr lang="pt-BR" sz="1600" b="1" dirty="0"/>
              <a:t> </a:t>
            </a:r>
            <a:r>
              <a:rPr lang="pt-BR" sz="1600" dirty="0"/>
              <a:t>(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.d[v] == 0) tempo =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 visita (v , tempo) ;</a:t>
            </a:r>
          </a:p>
          <a:p>
            <a:r>
              <a:rPr lang="pt-BR" sz="1600" dirty="0"/>
              <a:t>         a =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</a:t>
            </a:r>
            <a:r>
              <a:rPr lang="pt-BR" sz="1600" dirty="0" err="1"/>
              <a:t>grafo.proxAdj</a:t>
            </a:r>
            <a:r>
              <a:rPr lang="pt-BR" sz="1600" dirty="0"/>
              <a:t> (u) ; }</a:t>
            </a:r>
          </a:p>
          <a:p>
            <a:r>
              <a:rPr lang="pt-BR" sz="1600" dirty="0"/>
              <a:t>      }</a:t>
            </a:r>
          </a:p>
          <a:p>
            <a:r>
              <a:rPr lang="pt-BR" sz="1600" dirty="0"/>
              <a:t>   tempo−−;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.d[u] = 0;</a:t>
            </a:r>
          </a:p>
          <a:p>
            <a:r>
              <a:rPr lang="pt-BR" sz="1600" b="1" dirty="0"/>
              <a:t>   </a:t>
            </a:r>
            <a:r>
              <a:rPr lang="pt-BR" sz="1600" b="1" dirty="0" err="1"/>
              <a:t>return</a:t>
            </a:r>
            <a:r>
              <a:rPr lang="pt-BR" sz="1600" b="1" dirty="0"/>
              <a:t> </a:t>
            </a:r>
            <a:r>
              <a:rPr lang="pt-BR" sz="1600" dirty="0"/>
              <a:t>tempo;</a:t>
            </a:r>
          </a:p>
          <a:p>
            <a:r>
              <a:rPr lang="pt-B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4070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Ciclo de Hamilton - Tentando Todas as Possibilidades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075240" cy="4525963"/>
          </a:xfrm>
        </p:spPr>
        <p:txBody>
          <a:bodyPr>
            <a:normAutofit/>
          </a:bodyPr>
          <a:lstStyle/>
          <a:p>
            <a:r>
              <a:rPr lang="pt-BR" sz="2400" dirty="0"/>
              <a:t>Para tentar todas as possibilidades, vamos alterar o procedimento Visita.</a:t>
            </a:r>
          </a:p>
          <a:p>
            <a:r>
              <a:rPr lang="pt-BR" sz="2400" dirty="0"/>
              <a:t>Desmarca o vértice já visitado no caminho anterior e permite que seja visitado novamente em outra tentativa.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2339752" y="3356992"/>
            <a:ext cx="484593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err="1"/>
              <a:t>private</a:t>
            </a:r>
            <a:r>
              <a:rPr lang="pt-BR" sz="1600" b="1" dirty="0"/>
              <a:t> </a:t>
            </a:r>
            <a:r>
              <a:rPr lang="pt-BR" sz="1600" b="1" dirty="0" err="1"/>
              <a:t>int</a:t>
            </a:r>
            <a:r>
              <a:rPr lang="pt-BR" sz="1600" b="1" dirty="0"/>
              <a:t> </a:t>
            </a:r>
            <a:r>
              <a:rPr lang="pt-BR" sz="1600" dirty="0"/>
              <a:t>visita ( </a:t>
            </a:r>
            <a:r>
              <a:rPr lang="pt-BR" sz="1600" b="1" dirty="0" err="1"/>
              <a:t>int</a:t>
            </a:r>
            <a:r>
              <a:rPr lang="pt-BR" sz="1600" b="1" dirty="0"/>
              <a:t> </a:t>
            </a:r>
            <a:r>
              <a:rPr lang="pt-BR" sz="1600" dirty="0"/>
              <a:t>u, </a:t>
            </a:r>
            <a:r>
              <a:rPr lang="pt-BR" sz="1600" b="1" dirty="0" err="1"/>
              <a:t>int</a:t>
            </a:r>
            <a:r>
              <a:rPr lang="pt-BR" sz="1600" b="1" dirty="0"/>
              <a:t> </a:t>
            </a:r>
            <a:r>
              <a:rPr lang="pt-BR" sz="1600" dirty="0"/>
              <a:t>tempo) {</a:t>
            </a:r>
          </a:p>
          <a:p>
            <a:r>
              <a:rPr lang="pt-BR" sz="1600" b="1" dirty="0"/>
              <a:t>  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.d[u] = ++tempo;</a:t>
            </a:r>
          </a:p>
          <a:p>
            <a:r>
              <a:rPr lang="it-IT" sz="1600" b="1" dirty="0"/>
              <a:t>   if </a:t>
            </a:r>
            <a:r>
              <a:rPr lang="it-IT" sz="1600" dirty="0"/>
              <a:t>( ! </a:t>
            </a:r>
            <a:r>
              <a:rPr lang="it-IT" sz="1600" b="1" dirty="0"/>
              <a:t>this </a:t>
            </a:r>
            <a:r>
              <a:rPr lang="it-IT" sz="1600" dirty="0"/>
              <a:t>.grafo. listaAdjVazia (u) ) {</a:t>
            </a:r>
          </a:p>
          <a:p>
            <a:r>
              <a:rPr lang="pt-BR" sz="1600" dirty="0"/>
              <a:t>      </a:t>
            </a:r>
            <a:r>
              <a:rPr lang="pt-BR" sz="1600" dirty="0" err="1"/>
              <a:t>Grafo.Aresta</a:t>
            </a:r>
            <a:r>
              <a:rPr lang="pt-BR" sz="1600" dirty="0"/>
              <a:t> a =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.grafo. </a:t>
            </a:r>
            <a:r>
              <a:rPr lang="pt-BR" sz="1600" dirty="0" err="1"/>
              <a:t>primeiroListaAdj</a:t>
            </a:r>
            <a:r>
              <a:rPr lang="pt-BR" sz="1600" dirty="0"/>
              <a:t> (u) ;</a:t>
            </a:r>
          </a:p>
          <a:p>
            <a:r>
              <a:rPr lang="pt-BR" sz="1600" b="1" dirty="0"/>
              <a:t>      </a:t>
            </a:r>
            <a:r>
              <a:rPr lang="pt-BR" sz="1600" b="1" dirty="0" err="1"/>
              <a:t>while</a:t>
            </a:r>
            <a:r>
              <a:rPr lang="pt-BR" sz="1600" b="1" dirty="0"/>
              <a:t> </a:t>
            </a:r>
            <a:r>
              <a:rPr lang="pt-BR" sz="1600" dirty="0"/>
              <a:t>(a != </a:t>
            </a:r>
            <a:r>
              <a:rPr lang="pt-BR" sz="1600" b="1" dirty="0" err="1"/>
              <a:t>null</a:t>
            </a:r>
            <a:r>
              <a:rPr lang="pt-BR" sz="1600" b="1" dirty="0"/>
              <a:t> </a:t>
            </a:r>
            <a:r>
              <a:rPr lang="pt-BR" sz="1600" dirty="0"/>
              <a:t>) {</a:t>
            </a:r>
          </a:p>
          <a:p>
            <a:r>
              <a:rPr lang="pt-BR" sz="1600" b="1" dirty="0"/>
              <a:t>         </a:t>
            </a:r>
            <a:r>
              <a:rPr lang="pt-BR" sz="1600" b="1" dirty="0" err="1"/>
              <a:t>int</a:t>
            </a:r>
            <a:r>
              <a:rPr lang="pt-BR" sz="1600" b="1" dirty="0"/>
              <a:t> </a:t>
            </a:r>
            <a:r>
              <a:rPr lang="pt-BR" sz="1600" dirty="0"/>
              <a:t>v = a.v2 ( ) ;</a:t>
            </a:r>
          </a:p>
          <a:p>
            <a:r>
              <a:rPr lang="pt-BR" sz="1600" b="1" dirty="0"/>
              <a:t>         </a:t>
            </a:r>
            <a:r>
              <a:rPr lang="pt-BR" sz="1600" b="1" dirty="0" err="1"/>
              <a:t>if</a:t>
            </a:r>
            <a:r>
              <a:rPr lang="pt-BR" sz="1600" b="1" dirty="0"/>
              <a:t> </a:t>
            </a:r>
            <a:r>
              <a:rPr lang="pt-BR" sz="1600" dirty="0"/>
              <a:t>(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.d[v] == 0) tempo =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 visita (v , tempo) ;</a:t>
            </a:r>
          </a:p>
          <a:p>
            <a:r>
              <a:rPr lang="pt-BR" sz="1600" dirty="0"/>
              <a:t>         a =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</a:t>
            </a:r>
            <a:r>
              <a:rPr lang="pt-BR" sz="1600" dirty="0" err="1"/>
              <a:t>grafo.proxAdj</a:t>
            </a:r>
            <a:r>
              <a:rPr lang="pt-BR" sz="1600" dirty="0"/>
              <a:t> (u) ; }</a:t>
            </a:r>
          </a:p>
          <a:p>
            <a:r>
              <a:rPr lang="pt-BR" sz="1600" dirty="0"/>
              <a:t>      }</a:t>
            </a:r>
          </a:p>
          <a:p>
            <a:r>
              <a:rPr lang="pt-BR" sz="1600" dirty="0"/>
              <a:t>   tempo−−;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.d[u] = 0;</a:t>
            </a:r>
          </a:p>
          <a:p>
            <a:r>
              <a:rPr lang="pt-BR" sz="1600" b="1" dirty="0"/>
              <a:t>   </a:t>
            </a:r>
            <a:r>
              <a:rPr lang="pt-BR" sz="1600" b="1" dirty="0" err="1"/>
              <a:t>return</a:t>
            </a:r>
            <a:r>
              <a:rPr lang="pt-BR" sz="1600" b="1" dirty="0"/>
              <a:t> </a:t>
            </a:r>
            <a:r>
              <a:rPr lang="pt-BR" sz="1600" dirty="0"/>
              <a:t>tempo;</a:t>
            </a:r>
          </a:p>
          <a:p>
            <a:r>
              <a:rPr lang="pt-BR" sz="1600" dirty="0"/>
              <a:t>}</a:t>
            </a:r>
          </a:p>
        </p:txBody>
      </p:sp>
      <p:cxnSp>
        <p:nvCxnSpPr>
          <p:cNvPr id="6" name="Conector de seta reta 5"/>
          <p:cNvCxnSpPr/>
          <p:nvPr/>
        </p:nvCxnSpPr>
        <p:spPr>
          <a:xfrm>
            <a:off x="1691680" y="5013176"/>
            <a:ext cx="1008112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179512" y="4005064"/>
            <a:ext cx="14401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Agora testa se o tempo de visita é zero (antes era a cor).</a:t>
            </a:r>
          </a:p>
          <a:p>
            <a:r>
              <a:rPr lang="pt-BR" sz="1400" dirty="0"/>
              <a:t>Se for diferente de zero, é um vértice antecessor na mesma árvore.  </a:t>
            </a:r>
          </a:p>
        </p:txBody>
      </p:sp>
    </p:spTree>
    <p:extLst>
      <p:ext uri="{BB962C8B-B14F-4D97-AF65-F5344CB8AC3E}">
        <p14:creationId xmlns:p14="http://schemas.microsoft.com/office/powerpoint/2010/main" val="1153427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Ciclo de Hamilton - Tentando Todas as Possibilidades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075240" cy="4525963"/>
          </a:xfrm>
        </p:spPr>
        <p:txBody>
          <a:bodyPr>
            <a:normAutofit/>
          </a:bodyPr>
          <a:lstStyle/>
          <a:p>
            <a:r>
              <a:rPr lang="pt-BR" sz="2400" dirty="0"/>
              <a:t>Para tentar todas as possibilidades, vamos alterar o procedimento Visita.</a:t>
            </a:r>
          </a:p>
          <a:p>
            <a:r>
              <a:rPr lang="pt-BR" sz="2400" dirty="0"/>
              <a:t>Desmarca o vértice já visitado no caminho anterior e permite que seja visitado novamente em outra tentativa.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2339752" y="3356992"/>
            <a:ext cx="484593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err="1"/>
              <a:t>private</a:t>
            </a:r>
            <a:r>
              <a:rPr lang="pt-BR" sz="1600" b="1" dirty="0"/>
              <a:t> </a:t>
            </a:r>
            <a:r>
              <a:rPr lang="pt-BR" sz="1600" b="1" dirty="0" err="1"/>
              <a:t>int</a:t>
            </a:r>
            <a:r>
              <a:rPr lang="pt-BR" sz="1600" b="1" dirty="0"/>
              <a:t> </a:t>
            </a:r>
            <a:r>
              <a:rPr lang="pt-BR" sz="1600" dirty="0"/>
              <a:t>visita ( </a:t>
            </a:r>
            <a:r>
              <a:rPr lang="pt-BR" sz="1600" b="1" dirty="0" err="1"/>
              <a:t>int</a:t>
            </a:r>
            <a:r>
              <a:rPr lang="pt-BR" sz="1600" b="1" dirty="0"/>
              <a:t> </a:t>
            </a:r>
            <a:r>
              <a:rPr lang="pt-BR" sz="1600" dirty="0"/>
              <a:t>u, </a:t>
            </a:r>
            <a:r>
              <a:rPr lang="pt-BR" sz="1600" b="1" dirty="0" err="1"/>
              <a:t>int</a:t>
            </a:r>
            <a:r>
              <a:rPr lang="pt-BR" sz="1600" b="1" dirty="0"/>
              <a:t> </a:t>
            </a:r>
            <a:r>
              <a:rPr lang="pt-BR" sz="1600" dirty="0"/>
              <a:t>tempo) {</a:t>
            </a:r>
          </a:p>
          <a:p>
            <a:r>
              <a:rPr lang="pt-BR" sz="1600" b="1" dirty="0"/>
              <a:t>  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.d[u] = ++tempo;</a:t>
            </a:r>
          </a:p>
          <a:p>
            <a:r>
              <a:rPr lang="it-IT" sz="1600" b="1" dirty="0"/>
              <a:t>   if </a:t>
            </a:r>
            <a:r>
              <a:rPr lang="it-IT" sz="1600" dirty="0"/>
              <a:t>( ! </a:t>
            </a:r>
            <a:r>
              <a:rPr lang="it-IT" sz="1600" b="1" dirty="0"/>
              <a:t>this </a:t>
            </a:r>
            <a:r>
              <a:rPr lang="it-IT" sz="1600" dirty="0"/>
              <a:t>.grafo. listaAdjVazia (u) ) {</a:t>
            </a:r>
          </a:p>
          <a:p>
            <a:r>
              <a:rPr lang="pt-BR" sz="1600" dirty="0"/>
              <a:t>      </a:t>
            </a:r>
            <a:r>
              <a:rPr lang="pt-BR" sz="1600" dirty="0" err="1"/>
              <a:t>Grafo.Aresta</a:t>
            </a:r>
            <a:r>
              <a:rPr lang="pt-BR" sz="1600" dirty="0"/>
              <a:t> a =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.grafo. </a:t>
            </a:r>
            <a:r>
              <a:rPr lang="pt-BR" sz="1600" dirty="0" err="1"/>
              <a:t>primeiroListaAdj</a:t>
            </a:r>
            <a:r>
              <a:rPr lang="pt-BR" sz="1600" dirty="0"/>
              <a:t> (u) ;</a:t>
            </a:r>
          </a:p>
          <a:p>
            <a:r>
              <a:rPr lang="pt-BR" sz="1600" b="1" dirty="0"/>
              <a:t>      </a:t>
            </a:r>
            <a:r>
              <a:rPr lang="pt-BR" sz="1600" b="1" dirty="0" err="1"/>
              <a:t>while</a:t>
            </a:r>
            <a:r>
              <a:rPr lang="pt-BR" sz="1600" b="1" dirty="0"/>
              <a:t> </a:t>
            </a:r>
            <a:r>
              <a:rPr lang="pt-BR" sz="1600" dirty="0"/>
              <a:t>(a != </a:t>
            </a:r>
            <a:r>
              <a:rPr lang="pt-BR" sz="1600" b="1" dirty="0" err="1"/>
              <a:t>null</a:t>
            </a:r>
            <a:r>
              <a:rPr lang="pt-BR" sz="1600" b="1" dirty="0"/>
              <a:t> </a:t>
            </a:r>
            <a:r>
              <a:rPr lang="pt-BR" sz="1600" dirty="0"/>
              <a:t>) {</a:t>
            </a:r>
          </a:p>
          <a:p>
            <a:r>
              <a:rPr lang="pt-BR" sz="1600" b="1" dirty="0"/>
              <a:t>         </a:t>
            </a:r>
            <a:r>
              <a:rPr lang="pt-BR" sz="1600" b="1" dirty="0" err="1"/>
              <a:t>int</a:t>
            </a:r>
            <a:r>
              <a:rPr lang="pt-BR" sz="1600" b="1" dirty="0"/>
              <a:t> </a:t>
            </a:r>
            <a:r>
              <a:rPr lang="pt-BR" sz="1600" dirty="0"/>
              <a:t>v = a.v2 ( ) ;</a:t>
            </a:r>
          </a:p>
          <a:p>
            <a:r>
              <a:rPr lang="pt-BR" sz="1600" b="1" dirty="0"/>
              <a:t>         </a:t>
            </a:r>
            <a:r>
              <a:rPr lang="pt-BR" sz="1600" b="1" dirty="0" err="1"/>
              <a:t>if</a:t>
            </a:r>
            <a:r>
              <a:rPr lang="pt-BR" sz="1600" b="1" dirty="0"/>
              <a:t> </a:t>
            </a:r>
            <a:r>
              <a:rPr lang="pt-BR" sz="1600" dirty="0"/>
              <a:t>(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.d[v] == 0) tempo =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 visita (v , tempo) ;</a:t>
            </a:r>
          </a:p>
          <a:p>
            <a:r>
              <a:rPr lang="pt-BR" sz="1600" dirty="0"/>
              <a:t>         a =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</a:t>
            </a:r>
            <a:r>
              <a:rPr lang="pt-BR" sz="1600" dirty="0" err="1"/>
              <a:t>grafo.proxAdj</a:t>
            </a:r>
            <a:r>
              <a:rPr lang="pt-BR" sz="1600" dirty="0"/>
              <a:t> (u) ; }</a:t>
            </a:r>
          </a:p>
          <a:p>
            <a:r>
              <a:rPr lang="pt-BR" sz="1600" dirty="0"/>
              <a:t>      }</a:t>
            </a:r>
          </a:p>
          <a:p>
            <a:r>
              <a:rPr lang="pt-BR" sz="1600" dirty="0"/>
              <a:t>   tempo−−; </a:t>
            </a:r>
            <a:r>
              <a:rPr lang="pt-BR" sz="1600" b="1" dirty="0" err="1"/>
              <a:t>this</a:t>
            </a:r>
            <a:r>
              <a:rPr lang="pt-BR" sz="1600" b="1" dirty="0"/>
              <a:t> </a:t>
            </a:r>
            <a:r>
              <a:rPr lang="pt-BR" sz="1600" dirty="0"/>
              <a:t>.d[u] = 0;</a:t>
            </a:r>
          </a:p>
          <a:p>
            <a:r>
              <a:rPr lang="pt-BR" sz="1600" b="1" dirty="0"/>
              <a:t>   </a:t>
            </a:r>
            <a:r>
              <a:rPr lang="pt-BR" sz="1600" b="1" dirty="0" err="1"/>
              <a:t>return</a:t>
            </a:r>
            <a:r>
              <a:rPr lang="pt-BR" sz="1600" b="1" dirty="0"/>
              <a:t> </a:t>
            </a:r>
            <a:r>
              <a:rPr lang="pt-BR" sz="1600" dirty="0"/>
              <a:t>tempo;</a:t>
            </a:r>
          </a:p>
          <a:p>
            <a:r>
              <a:rPr lang="pt-BR" sz="1600" dirty="0"/>
              <a:t>}</a:t>
            </a:r>
          </a:p>
        </p:txBody>
      </p:sp>
      <p:cxnSp>
        <p:nvCxnSpPr>
          <p:cNvPr id="6" name="Conector de seta reta 5"/>
          <p:cNvCxnSpPr/>
          <p:nvPr/>
        </p:nvCxnSpPr>
        <p:spPr>
          <a:xfrm>
            <a:off x="1475656" y="5733256"/>
            <a:ext cx="1008112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179512" y="5068341"/>
            <a:ext cx="14401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Desmarca o vértice visitado para tentar outras possibilidades. </a:t>
            </a:r>
          </a:p>
          <a:p>
            <a:endParaRPr lang="pt-BR" sz="14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6876256" y="3483005"/>
            <a:ext cx="18936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O algoritmo termina após explorar todas as listas de adjacências.</a:t>
            </a:r>
          </a:p>
        </p:txBody>
      </p:sp>
      <p:cxnSp>
        <p:nvCxnSpPr>
          <p:cNvPr id="9" name="Conector de seta reta 8"/>
          <p:cNvCxnSpPr/>
          <p:nvPr/>
        </p:nvCxnSpPr>
        <p:spPr>
          <a:xfrm flipH="1">
            <a:off x="5796136" y="4005064"/>
            <a:ext cx="936104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376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2800" dirty="0"/>
              <a:t>Ciclo de Hamilton - Tentando Todas as Possibilidades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124744"/>
            <a:ext cx="3096344" cy="1744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95536" y="1729661"/>
            <a:ext cx="1303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Para o grafo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95536" y="2843644"/>
            <a:ext cx="296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 árvore de caminhamento é: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93" y="3212976"/>
            <a:ext cx="7073807" cy="340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35496" y="6093296"/>
            <a:ext cx="3516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Existem duas respostas: 0 5 3 1 2 4 6 0 e</a:t>
            </a:r>
          </a:p>
          <a:p>
            <a:r>
              <a:rPr lang="pt-BR" sz="1600" dirty="0"/>
              <a:t>0 6 4 2 1 3 5 0.</a:t>
            </a:r>
          </a:p>
        </p:txBody>
      </p:sp>
    </p:spTree>
    <p:extLst>
      <p:ext uri="{BB962C8B-B14F-4D97-AF65-F5344CB8AC3E}">
        <p14:creationId xmlns:p14="http://schemas.microsoft.com/office/powerpoint/2010/main" val="1789717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Ciclo de Hamilton - Tentando Todas as Possibilidades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O custo é proporcional ao número de chamadas para o método Visita.</a:t>
                </a:r>
              </a:p>
              <a:p>
                <a:r>
                  <a:rPr lang="pt-BR" sz="2800" dirty="0"/>
                  <a:t>Para um grafo completo, (arestas ligando todos os pares de nós) existem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/>
                      </a:rPr>
                      <m:t>𝑁</m:t>
                    </m:r>
                    <m:r>
                      <a:rPr lang="pt-BR" sz="2800" i="1" dirty="0" smtClean="0">
                        <a:latin typeface="Cambria Math"/>
                      </a:rPr>
                      <m:t>!</m:t>
                    </m:r>
                  </m:oMath>
                </a14:m>
                <a:r>
                  <a:rPr lang="pt-BR" sz="2800" dirty="0"/>
                  <a:t> ciclos simples. Custo é proibitivo.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 r="-17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614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Ciclo de Hamilton - Tentativa e Erro</a:t>
            </a:r>
            <a:br>
              <a:rPr lang="pt-BR" dirty="0"/>
            </a:br>
            <a:r>
              <a:rPr lang="pt-BR" dirty="0"/>
              <a:t>com Poda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1412776"/>
            <a:ext cx="4834880" cy="4525963"/>
          </a:xfrm>
        </p:spPr>
        <p:txBody>
          <a:bodyPr>
            <a:noAutofit/>
          </a:bodyPr>
          <a:lstStyle/>
          <a:p>
            <a:r>
              <a:rPr lang="pt-BR" sz="2000" dirty="0"/>
              <a:t>Diminuir número de chamadas a Visita fazendo “</a:t>
            </a:r>
            <a:r>
              <a:rPr lang="pt-BR" sz="2000" b="1" dirty="0"/>
              <a:t>poda</a:t>
            </a:r>
            <a:r>
              <a:rPr lang="pt-BR" sz="2000" dirty="0"/>
              <a:t>” na árvore de caminhamento.</a:t>
            </a:r>
          </a:p>
          <a:p>
            <a:r>
              <a:rPr lang="pt-BR" sz="2000" dirty="0"/>
              <a:t>No exemplo anterior, cada ciclo é obtido duas vezes, caminhando em ambas as direções.</a:t>
            </a:r>
          </a:p>
          <a:p>
            <a:r>
              <a:rPr lang="pt-BR" sz="2000" dirty="0"/>
              <a:t>Insistindo que o nó 2 apareça antes do 0 e do 1, não precisamos chamar Visita para o nó 1 a não ser que o nó 2 já esteja no caminho.</a:t>
            </a:r>
          </a:p>
          <a:p>
            <a:r>
              <a:rPr lang="pt-BR" sz="2000" dirty="0"/>
              <a:t>Entretanto, esta técnica não é sempre possível de ser aplicada.</a:t>
            </a:r>
          </a:p>
          <a:p>
            <a:r>
              <a:rPr lang="pt-BR" sz="2000" dirty="0"/>
              <a:t>Neste caso, a técnica de eliminar simetrias </a:t>
            </a:r>
            <a:r>
              <a:rPr lang="pt-BR" sz="2000" b="1" dirty="0"/>
              <a:t>não</a:t>
            </a:r>
            <a:r>
              <a:rPr lang="pt-BR" sz="2000" dirty="0"/>
              <a:t> funciona porque não sabemos </a:t>
            </a:r>
            <a:r>
              <a:rPr lang="pt-BR" sz="2000" i="1" dirty="0"/>
              <a:t>a priori </a:t>
            </a:r>
            <a:r>
              <a:rPr lang="pt-BR" sz="2000" dirty="0"/>
              <a:t>se um caminho leva a um ciclo ou não.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839203"/>
            <a:ext cx="3371850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1672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Ciclo de Hamilton - </a:t>
            </a:r>
            <a:r>
              <a:rPr lang="pt-BR" dirty="0" err="1"/>
              <a:t>Branch-and-Bound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Outra saída para tentar diminuir o número de chamadas a Visita é por meio da técnica de </a:t>
            </a:r>
            <a:r>
              <a:rPr lang="pt-BR" sz="2800" b="1" i="1" dirty="0" err="1"/>
              <a:t>branch-and-bound</a:t>
            </a:r>
            <a:r>
              <a:rPr lang="pt-BR" sz="2800" dirty="0"/>
              <a:t>.</a:t>
            </a:r>
          </a:p>
          <a:p>
            <a:r>
              <a:rPr lang="pt-BR" sz="2800" dirty="0"/>
              <a:t>A ideia é cortar a pesquisa tão logo se saiba que não levará a uma solução.</a:t>
            </a:r>
          </a:p>
          <a:p>
            <a:r>
              <a:rPr lang="pt-BR" sz="2800" dirty="0"/>
              <a:t>Corta chamadas a Visita tão logo se chegue a um custo para qualquer caminho que seja maior que um caminho solução já obtido.</a:t>
            </a:r>
          </a:p>
        </p:txBody>
      </p:sp>
    </p:spTree>
    <p:extLst>
      <p:ext uri="{BB962C8B-B14F-4D97-AF65-F5344CB8AC3E}">
        <p14:creationId xmlns:p14="http://schemas.microsoft.com/office/powerpoint/2010/main" val="1514950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Ciclo de Hamilton - </a:t>
            </a:r>
            <a:r>
              <a:rPr lang="pt-BR" dirty="0" err="1"/>
              <a:t>Branch-and-Bound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Exemplo: </a:t>
            </a:r>
          </a:p>
          <a:p>
            <a:pPr lvl="1"/>
            <a:r>
              <a:rPr lang="pt-BR" sz="2400" dirty="0"/>
              <a:t>Encontrando 0 5 3 1 2 4 6, de custo 11, não faz sentido continuar no caminho 0 6 4 1, de custo 11 também.</a:t>
            </a:r>
          </a:p>
          <a:p>
            <a:pPr lvl="1"/>
            <a:r>
              <a:rPr lang="pt-BR" sz="2400" dirty="0"/>
              <a:t>Neste caso, podemos evitar chamadas a Visita se o custo do caminho corrente for maior ou igual ao melhor caminho obtido até o momento.</a:t>
            </a:r>
          </a:p>
          <a:p>
            <a:endParaRPr lang="pt-BR" sz="28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412776"/>
            <a:ext cx="3744416" cy="2109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802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Heurística para o PCV (Caixeiro Viajante)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80728"/>
          </a:xfrm>
        </p:spPr>
        <p:txBody>
          <a:bodyPr>
            <a:noAutofit/>
          </a:bodyPr>
          <a:lstStyle/>
          <a:p>
            <a:r>
              <a:rPr lang="pt-BR" sz="2400" dirty="0"/>
              <a:t>Algoritmo do vizinho mais próximo, heurística gulosa simples: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2190343"/>
            <a:ext cx="83529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pt-BR" sz="2000" dirty="0"/>
              <a:t>Inicie com um vértice arbitrário.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sz="2000" dirty="0">
                <a:solidFill>
                  <a:schemeClr val="bg1">
                    <a:lumMod val="85000"/>
                  </a:schemeClr>
                </a:solidFill>
              </a:rPr>
              <a:t>Procure o vértice mais próximo do último vértice adicionado que não esteja no caminho e adicione ao caminho a aresta que liga esses dois vértices.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sz="2000" dirty="0">
                <a:solidFill>
                  <a:schemeClr val="bg1">
                    <a:lumMod val="85000"/>
                  </a:schemeClr>
                </a:solidFill>
              </a:rPr>
              <a:t>Quando todos os vértices estiverem no caminho, adicione uma aresta conectando o vértice inicial e o último vértice adicionado.</a:t>
            </a:r>
          </a:p>
          <a:p>
            <a:endParaRPr lang="pt-BR" sz="20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349166"/>
            <a:ext cx="2334393" cy="216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Conector de seta reta 5"/>
          <p:cNvCxnSpPr/>
          <p:nvPr/>
        </p:nvCxnSpPr>
        <p:spPr>
          <a:xfrm>
            <a:off x="1691680" y="4437112"/>
            <a:ext cx="648072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/>
          <p:cNvSpPr/>
          <p:nvPr/>
        </p:nvSpPr>
        <p:spPr>
          <a:xfrm>
            <a:off x="1403648" y="46649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Elipse 9"/>
          <p:cNvSpPr/>
          <p:nvPr/>
        </p:nvSpPr>
        <p:spPr>
          <a:xfrm>
            <a:off x="2555776" y="42644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" name="Elipse 10"/>
          <p:cNvSpPr/>
          <p:nvPr/>
        </p:nvSpPr>
        <p:spPr>
          <a:xfrm>
            <a:off x="1403648" y="589595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2" name="Conector reto 11"/>
          <p:cNvCxnSpPr>
            <a:stCxn id="9" idx="4"/>
            <a:endCxn id="11" idx="0"/>
          </p:cNvCxnSpPr>
          <p:nvPr/>
        </p:nvCxnSpPr>
        <p:spPr>
          <a:xfrm>
            <a:off x="1675339" y="5075332"/>
            <a:ext cx="0" cy="82062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2555776" y="625901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4" name="Conector de seta reta 13"/>
          <p:cNvCxnSpPr>
            <a:stCxn id="13" idx="0"/>
            <a:endCxn id="10" idx="4"/>
          </p:cNvCxnSpPr>
          <p:nvPr/>
        </p:nvCxnSpPr>
        <p:spPr>
          <a:xfrm flipV="1">
            <a:off x="2827467" y="4674840"/>
            <a:ext cx="0" cy="158417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13" idx="1"/>
            <a:endCxn id="9" idx="5"/>
          </p:cNvCxnSpPr>
          <p:nvPr/>
        </p:nvCxnSpPr>
        <p:spPr>
          <a:xfrm flipH="1" flipV="1">
            <a:off x="1867453" y="5015239"/>
            <a:ext cx="767899" cy="1303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10" idx="3"/>
            <a:endCxn id="11" idx="7"/>
          </p:cNvCxnSpPr>
          <p:nvPr/>
        </p:nvCxnSpPr>
        <p:spPr>
          <a:xfrm flipH="1">
            <a:off x="1867453" y="4614747"/>
            <a:ext cx="767899" cy="13413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9" idx="7"/>
            <a:endCxn id="10" idx="2"/>
          </p:cNvCxnSpPr>
          <p:nvPr/>
        </p:nvCxnSpPr>
        <p:spPr>
          <a:xfrm flipV="1">
            <a:off x="1867453" y="4469668"/>
            <a:ext cx="688323" cy="255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11" idx="5"/>
            <a:endCxn id="13" idx="2"/>
          </p:cNvCxnSpPr>
          <p:nvPr/>
        </p:nvCxnSpPr>
        <p:spPr>
          <a:xfrm>
            <a:off x="1867453" y="6246206"/>
            <a:ext cx="688323" cy="2179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/>
          <p:cNvSpPr/>
          <p:nvPr/>
        </p:nvSpPr>
        <p:spPr>
          <a:xfrm>
            <a:off x="3708112" y="467484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Elipse 19"/>
          <p:cNvSpPr/>
          <p:nvPr/>
        </p:nvSpPr>
        <p:spPr>
          <a:xfrm>
            <a:off x="3708112" y="589891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1" name="Conector de seta reta 20"/>
          <p:cNvCxnSpPr>
            <a:stCxn id="20" idx="0"/>
            <a:endCxn id="19" idx="4"/>
          </p:cNvCxnSpPr>
          <p:nvPr/>
        </p:nvCxnSpPr>
        <p:spPr>
          <a:xfrm flipV="1">
            <a:off x="3979803" y="5085184"/>
            <a:ext cx="0" cy="81373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0" idx="6"/>
            <a:endCxn id="19" idx="1"/>
          </p:cNvCxnSpPr>
          <p:nvPr/>
        </p:nvCxnSpPr>
        <p:spPr>
          <a:xfrm>
            <a:off x="3099157" y="4469668"/>
            <a:ext cx="688531" cy="265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9" idx="3"/>
            <a:endCxn id="13" idx="7"/>
          </p:cNvCxnSpPr>
          <p:nvPr/>
        </p:nvCxnSpPr>
        <p:spPr>
          <a:xfrm flipH="1">
            <a:off x="3019581" y="5025091"/>
            <a:ext cx="768107" cy="12940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0" idx="5"/>
            <a:endCxn id="20" idx="1"/>
          </p:cNvCxnSpPr>
          <p:nvPr/>
        </p:nvCxnSpPr>
        <p:spPr>
          <a:xfrm>
            <a:off x="3019581" y="4614747"/>
            <a:ext cx="768107" cy="1344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3" idx="6"/>
            <a:endCxn id="20" idx="3"/>
          </p:cNvCxnSpPr>
          <p:nvPr/>
        </p:nvCxnSpPr>
        <p:spPr>
          <a:xfrm flipV="1">
            <a:off x="3099157" y="6249169"/>
            <a:ext cx="688531" cy="2150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9" idx="5"/>
            <a:endCxn id="20" idx="1"/>
          </p:cNvCxnSpPr>
          <p:nvPr/>
        </p:nvCxnSpPr>
        <p:spPr>
          <a:xfrm>
            <a:off x="1867453" y="5015239"/>
            <a:ext cx="1920235" cy="9437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9" idx="6"/>
            <a:endCxn id="19" idx="2"/>
          </p:cNvCxnSpPr>
          <p:nvPr/>
        </p:nvCxnSpPr>
        <p:spPr>
          <a:xfrm>
            <a:off x="1947029" y="4870160"/>
            <a:ext cx="1761083" cy="98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19" idx="3"/>
            <a:endCxn id="11" idx="7"/>
          </p:cNvCxnSpPr>
          <p:nvPr/>
        </p:nvCxnSpPr>
        <p:spPr>
          <a:xfrm flipH="1">
            <a:off x="1867453" y="5025091"/>
            <a:ext cx="1920235" cy="930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/>
          <p:cNvCxnSpPr>
            <a:stCxn id="20" idx="2"/>
            <a:endCxn id="11" idx="6"/>
          </p:cNvCxnSpPr>
          <p:nvPr/>
        </p:nvCxnSpPr>
        <p:spPr>
          <a:xfrm flipH="1" flipV="1">
            <a:off x="1947029" y="6101127"/>
            <a:ext cx="1761083" cy="2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341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Heurística para o PCV (Caixeiro Viajante)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80728"/>
          </a:xfrm>
        </p:spPr>
        <p:txBody>
          <a:bodyPr>
            <a:noAutofit/>
          </a:bodyPr>
          <a:lstStyle/>
          <a:p>
            <a:r>
              <a:rPr lang="pt-BR" sz="2400" dirty="0"/>
              <a:t>Algoritmo do vizinho mais próximo, heurística gulosa simples: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2190343"/>
            <a:ext cx="83529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pt-BR" sz="2000" dirty="0"/>
              <a:t>Inicie com um vértice arbitrário.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sz="2000" dirty="0"/>
              <a:t>Procure o vértice mais próximo do último vértice adicionado que não esteja no caminho e adicione ao caminho a aresta que liga esses dois vértices.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sz="2000" dirty="0">
                <a:solidFill>
                  <a:schemeClr val="bg1">
                    <a:lumMod val="85000"/>
                  </a:schemeClr>
                </a:solidFill>
              </a:rPr>
              <a:t>Quando todos os vértices estiverem no caminho, adicione uma aresta conectando o vértice inicial e o último vértice adicionado.</a:t>
            </a:r>
          </a:p>
          <a:p>
            <a:endParaRPr lang="pt-BR" sz="20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349166"/>
            <a:ext cx="2334393" cy="216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ector de seta reta 6"/>
          <p:cNvCxnSpPr/>
          <p:nvPr/>
        </p:nvCxnSpPr>
        <p:spPr>
          <a:xfrm>
            <a:off x="1691680" y="4437112"/>
            <a:ext cx="648072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1403648" y="46649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" name="Elipse 8"/>
          <p:cNvSpPr/>
          <p:nvPr/>
        </p:nvSpPr>
        <p:spPr>
          <a:xfrm>
            <a:off x="2555776" y="42644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Elipse 9"/>
          <p:cNvSpPr/>
          <p:nvPr/>
        </p:nvSpPr>
        <p:spPr>
          <a:xfrm>
            <a:off x="1403648" y="589595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1" name="Conector reto 10"/>
          <p:cNvCxnSpPr>
            <a:stCxn id="8" idx="4"/>
            <a:endCxn id="10" idx="0"/>
          </p:cNvCxnSpPr>
          <p:nvPr/>
        </p:nvCxnSpPr>
        <p:spPr>
          <a:xfrm>
            <a:off x="1675339" y="5075332"/>
            <a:ext cx="0" cy="82062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2555776" y="625901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12" idx="0"/>
            <a:endCxn id="9" idx="4"/>
          </p:cNvCxnSpPr>
          <p:nvPr/>
        </p:nvCxnSpPr>
        <p:spPr>
          <a:xfrm flipV="1">
            <a:off x="2827467" y="4674840"/>
            <a:ext cx="0" cy="158417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2" idx="1"/>
            <a:endCxn id="8" idx="5"/>
          </p:cNvCxnSpPr>
          <p:nvPr/>
        </p:nvCxnSpPr>
        <p:spPr>
          <a:xfrm flipH="1" flipV="1">
            <a:off x="1867453" y="5015239"/>
            <a:ext cx="767899" cy="1303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9" idx="3"/>
            <a:endCxn id="10" idx="7"/>
          </p:cNvCxnSpPr>
          <p:nvPr/>
        </p:nvCxnSpPr>
        <p:spPr>
          <a:xfrm flipH="1">
            <a:off x="1867453" y="4614747"/>
            <a:ext cx="767899" cy="13413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8" idx="7"/>
            <a:endCxn id="9" idx="2"/>
          </p:cNvCxnSpPr>
          <p:nvPr/>
        </p:nvCxnSpPr>
        <p:spPr>
          <a:xfrm flipV="1">
            <a:off x="1867453" y="4469668"/>
            <a:ext cx="688323" cy="255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10" idx="5"/>
            <a:endCxn id="12" idx="2"/>
          </p:cNvCxnSpPr>
          <p:nvPr/>
        </p:nvCxnSpPr>
        <p:spPr>
          <a:xfrm>
            <a:off x="1867453" y="6246206"/>
            <a:ext cx="688323" cy="2179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3708112" y="467484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Elipse 18"/>
          <p:cNvSpPr/>
          <p:nvPr/>
        </p:nvSpPr>
        <p:spPr>
          <a:xfrm>
            <a:off x="3708112" y="589891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Conector de seta reta 19"/>
          <p:cNvCxnSpPr>
            <a:stCxn id="19" idx="0"/>
            <a:endCxn id="18" idx="4"/>
          </p:cNvCxnSpPr>
          <p:nvPr/>
        </p:nvCxnSpPr>
        <p:spPr>
          <a:xfrm flipV="1">
            <a:off x="3979803" y="5085184"/>
            <a:ext cx="0" cy="81373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9" idx="6"/>
            <a:endCxn id="18" idx="1"/>
          </p:cNvCxnSpPr>
          <p:nvPr/>
        </p:nvCxnSpPr>
        <p:spPr>
          <a:xfrm>
            <a:off x="3099157" y="4469668"/>
            <a:ext cx="688531" cy="2652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8" idx="3"/>
            <a:endCxn id="12" idx="7"/>
          </p:cNvCxnSpPr>
          <p:nvPr/>
        </p:nvCxnSpPr>
        <p:spPr>
          <a:xfrm flipH="1">
            <a:off x="3019581" y="5025091"/>
            <a:ext cx="768107" cy="12940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9" idx="5"/>
            <a:endCxn id="19" idx="1"/>
          </p:cNvCxnSpPr>
          <p:nvPr/>
        </p:nvCxnSpPr>
        <p:spPr>
          <a:xfrm>
            <a:off x="3019581" y="4614747"/>
            <a:ext cx="768107" cy="1344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2" idx="6"/>
            <a:endCxn id="19" idx="3"/>
          </p:cNvCxnSpPr>
          <p:nvPr/>
        </p:nvCxnSpPr>
        <p:spPr>
          <a:xfrm flipV="1">
            <a:off x="3099157" y="6249169"/>
            <a:ext cx="688531" cy="2150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8" idx="5"/>
            <a:endCxn id="19" idx="1"/>
          </p:cNvCxnSpPr>
          <p:nvPr/>
        </p:nvCxnSpPr>
        <p:spPr>
          <a:xfrm>
            <a:off x="1867453" y="5015239"/>
            <a:ext cx="1920235" cy="9437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8" idx="6"/>
            <a:endCxn id="18" idx="2"/>
          </p:cNvCxnSpPr>
          <p:nvPr/>
        </p:nvCxnSpPr>
        <p:spPr>
          <a:xfrm>
            <a:off x="1947029" y="4870160"/>
            <a:ext cx="1761083" cy="98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18" idx="3"/>
            <a:endCxn id="10" idx="7"/>
          </p:cNvCxnSpPr>
          <p:nvPr/>
        </p:nvCxnSpPr>
        <p:spPr>
          <a:xfrm flipH="1">
            <a:off x="1867453" y="5025091"/>
            <a:ext cx="1920235" cy="930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19" idx="2"/>
            <a:endCxn id="10" idx="6"/>
          </p:cNvCxnSpPr>
          <p:nvPr/>
        </p:nvCxnSpPr>
        <p:spPr>
          <a:xfrm flipH="1" flipV="1">
            <a:off x="1947029" y="6101127"/>
            <a:ext cx="1761083" cy="2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721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Heurística para o PCV (Caixeiro Viajante)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80728"/>
          </a:xfrm>
        </p:spPr>
        <p:txBody>
          <a:bodyPr>
            <a:noAutofit/>
          </a:bodyPr>
          <a:lstStyle/>
          <a:p>
            <a:r>
              <a:rPr lang="pt-BR" sz="2400" dirty="0"/>
              <a:t>Algoritmo do vizinho mais próximo, heurística gulosa simples: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2190343"/>
            <a:ext cx="83529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pt-BR" sz="2000" dirty="0"/>
              <a:t>Inicie com um vértice arbitrário.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sz="2000" dirty="0"/>
              <a:t>Procure o vértice mais próximo do último vértice adicionado que não esteja no caminho e adicione ao caminho a aresta que liga esses dois vértices.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sz="2000" dirty="0">
                <a:solidFill>
                  <a:schemeClr val="bg1">
                    <a:lumMod val="85000"/>
                  </a:schemeClr>
                </a:solidFill>
              </a:rPr>
              <a:t>Quando todos os vértices estiverem no caminho, adicione uma aresta conectando o vértice inicial e o último vértice adicionado.</a:t>
            </a:r>
          </a:p>
          <a:p>
            <a:endParaRPr lang="pt-BR" sz="20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349166"/>
            <a:ext cx="2334393" cy="216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ector de seta reta 6"/>
          <p:cNvCxnSpPr/>
          <p:nvPr/>
        </p:nvCxnSpPr>
        <p:spPr>
          <a:xfrm>
            <a:off x="1691680" y="4437112"/>
            <a:ext cx="648072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1403648" y="46649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" name="Elipse 8"/>
          <p:cNvSpPr/>
          <p:nvPr/>
        </p:nvSpPr>
        <p:spPr>
          <a:xfrm>
            <a:off x="2555776" y="42644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Elipse 9"/>
          <p:cNvSpPr/>
          <p:nvPr/>
        </p:nvSpPr>
        <p:spPr>
          <a:xfrm>
            <a:off x="1403648" y="589595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1" name="Conector reto 10"/>
          <p:cNvCxnSpPr>
            <a:stCxn id="8" idx="4"/>
            <a:endCxn id="10" idx="0"/>
          </p:cNvCxnSpPr>
          <p:nvPr/>
        </p:nvCxnSpPr>
        <p:spPr>
          <a:xfrm>
            <a:off x="1675339" y="5075332"/>
            <a:ext cx="0" cy="82062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2555776" y="625901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12" idx="0"/>
            <a:endCxn id="9" idx="4"/>
          </p:cNvCxnSpPr>
          <p:nvPr/>
        </p:nvCxnSpPr>
        <p:spPr>
          <a:xfrm flipV="1">
            <a:off x="2827467" y="4674840"/>
            <a:ext cx="0" cy="158417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2" idx="1"/>
            <a:endCxn id="8" idx="5"/>
          </p:cNvCxnSpPr>
          <p:nvPr/>
        </p:nvCxnSpPr>
        <p:spPr>
          <a:xfrm flipH="1" flipV="1">
            <a:off x="1867453" y="5015239"/>
            <a:ext cx="767899" cy="13038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9" idx="3"/>
            <a:endCxn id="10" idx="7"/>
          </p:cNvCxnSpPr>
          <p:nvPr/>
        </p:nvCxnSpPr>
        <p:spPr>
          <a:xfrm flipH="1">
            <a:off x="1867453" y="4614747"/>
            <a:ext cx="767899" cy="13413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8" idx="7"/>
            <a:endCxn id="9" idx="2"/>
          </p:cNvCxnSpPr>
          <p:nvPr/>
        </p:nvCxnSpPr>
        <p:spPr>
          <a:xfrm flipV="1">
            <a:off x="1867453" y="4469668"/>
            <a:ext cx="688323" cy="255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10" idx="5"/>
            <a:endCxn id="12" idx="2"/>
          </p:cNvCxnSpPr>
          <p:nvPr/>
        </p:nvCxnSpPr>
        <p:spPr>
          <a:xfrm>
            <a:off x="1867453" y="6246206"/>
            <a:ext cx="688323" cy="2179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3708112" y="467484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Elipse 18"/>
          <p:cNvSpPr/>
          <p:nvPr/>
        </p:nvSpPr>
        <p:spPr>
          <a:xfrm>
            <a:off x="3708112" y="589891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0" name="Conector de seta reta 19"/>
          <p:cNvCxnSpPr>
            <a:stCxn id="19" idx="0"/>
            <a:endCxn id="18" idx="4"/>
          </p:cNvCxnSpPr>
          <p:nvPr/>
        </p:nvCxnSpPr>
        <p:spPr>
          <a:xfrm flipV="1">
            <a:off x="3979803" y="5085184"/>
            <a:ext cx="0" cy="81373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9" idx="6"/>
            <a:endCxn id="18" idx="1"/>
          </p:cNvCxnSpPr>
          <p:nvPr/>
        </p:nvCxnSpPr>
        <p:spPr>
          <a:xfrm>
            <a:off x="3099157" y="4469668"/>
            <a:ext cx="688531" cy="2652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8" idx="3"/>
            <a:endCxn id="12" idx="7"/>
          </p:cNvCxnSpPr>
          <p:nvPr/>
        </p:nvCxnSpPr>
        <p:spPr>
          <a:xfrm flipH="1">
            <a:off x="3019581" y="5025091"/>
            <a:ext cx="768107" cy="12940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9" idx="5"/>
            <a:endCxn id="19" idx="1"/>
          </p:cNvCxnSpPr>
          <p:nvPr/>
        </p:nvCxnSpPr>
        <p:spPr>
          <a:xfrm>
            <a:off x="3019581" y="4614747"/>
            <a:ext cx="768107" cy="1344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2" idx="6"/>
            <a:endCxn id="19" idx="3"/>
          </p:cNvCxnSpPr>
          <p:nvPr/>
        </p:nvCxnSpPr>
        <p:spPr>
          <a:xfrm flipV="1">
            <a:off x="3099157" y="6249169"/>
            <a:ext cx="688531" cy="2150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8" idx="5"/>
            <a:endCxn id="19" idx="1"/>
          </p:cNvCxnSpPr>
          <p:nvPr/>
        </p:nvCxnSpPr>
        <p:spPr>
          <a:xfrm>
            <a:off x="1867453" y="5015239"/>
            <a:ext cx="1920235" cy="9437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8" idx="6"/>
            <a:endCxn id="18" idx="2"/>
          </p:cNvCxnSpPr>
          <p:nvPr/>
        </p:nvCxnSpPr>
        <p:spPr>
          <a:xfrm>
            <a:off x="1947029" y="4870160"/>
            <a:ext cx="1761083" cy="98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18" idx="3"/>
            <a:endCxn id="10" idx="7"/>
          </p:cNvCxnSpPr>
          <p:nvPr/>
        </p:nvCxnSpPr>
        <p:spPr>
          <a:xfrm flipH="1">
            <a:off x="1867453" y="5025091"/>
            <a:ext cx="1920235" cy="930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19" idx="2"/>
            <a:endCxn id="10" idx="6"/>
          </p:cNvCxnSpPr>
          <p:nvPr/>
        </p:nvCxnSpPr>
        <p:spPr>
          <a:xfrm flipH="1" flipV="1">
            <a:off x="1947029" y="6101127"/>
            <a:ext cx="1761083" cy="29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24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Heurística para o PCV (Caixeiro Viajante)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80728"/>
          </a:xfrm>
        </p:spPr>
        <p:txBody>
          <a:bodyPr>
            <a:noAutofit/>
          </a:bodyPr>
          <a:lstStyle/>
          <a:p>
            <a:r>
              <a:rPr lang="pt-BR" sz="2400" dirty="0"/>
              <a:t>Algoritmo do vizinho mais próximo, heurística gulosa simples: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2190343"/>
            <a:ext cx="83529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pt-BR" sz="2000" dirty="0"/>
              <a:t>Inicie com um vértice arbitrário.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sz="2000" dirty="0"/>
              <a:t>Procure o vértice mais próximo do último vértice adicionado que não esteja no caminho e adicione ao caminho a aresta que liga esses dois vértices.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sz="2000" dirty="0"/>
              <a:t>Quando todos os vértices estiverem no caminho, adicione uma aresta conectando o vértice inicial e o último vértice adicionado.</a:t>
            </a:r>
          </a:p>
          <a:p>
            <a:endParaRPr lang="pt-BR" sz="20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349166"/>
            <a:ext cx="2334393" cy="216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Conector de seta reta 28"/>
          <p:cNvCxnSpPr/>
          <p:nvPr/>
        </p:nvCxnSpPr>
        <p:spPr>
          <a:xfrm>
            <a:off x="1691680" y="4437112"/>
            <a:ext cx="648072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/>
          <p:cNvSpPr/>
          <p:nvPr/>
        </p:nvSpPr>
        <p:spPr>
          <a:xfrm>
            <a:off x="1403648" y="46649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Elipse 30"/>
          <p:cNvSpPr/>
          <p:nvPr/>
        </p:nvSpPr>
        <p:spPr>
          <a:xfrm>
            <a:off x="2555776" y="42644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Elipse 31"/>
          <p:cNvSpPr/>
          <p:nvPr/>
        </p:nvSpPr>
        <p:spPr>
          <a:xfrm>
            <a:off x="1403648" y="589595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33" name="Conector reto 32"/>
          <p:cNvCxnSpPr>
            <a:stCxn id="30" idx="4"/>
            <a:endCxn id="32" idx="0"/>
          </p:cNvCxnSpPr>
          <p:nvPr/>
        </p:nvCxnSpPr>
        <p:spPr>
          <a:xfrm>
            <a:off x="1675339" y="5075332"/>
            <a:ext cx="0" cy="82062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/>
          <p:nvPr/>
        </p:nvSpPr>
        <p:spPr>
          <a:xfrm>
            <a:off x="2555776" y="625901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35" name="Conector de seta reta 34"/>
          <p:cNvCxnSpPr>
            <a:stCxn id="34" idx="0"/>
            <a:endCxn id="31" idx="4"/>
          </p:cNvCxnSpPr>
          <p:nvPr/>
        </p:nvCxnSpPr>
        <p:spPr>
          <a:xfrm flipV="1">
            <a:off x="2827467" y="4674840"/>
            <a:ext cx="0" cy="158417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34" idx="1"/>
            <a:endCxn id="30" idx="5"/>
          </p:cNvCxnSpPr>
          <p:nvPr/>
        </p:nvCxnSpPr>
        <p:spPr>
          <a:xfrm flipH="1" flipV="1">
            <a:off x="1867453" y="5015239"/>
            <a:ext cx="767899" cy="13038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31" idx="3"/>
            <a:endCxn id="32" idx="7"/>
          </p:cNvCxnSpPr>
          <p:nvPr/>
        </p:nvCxnSpPr>
        <p:spPr>
          <a:xfrm flipH="1">
            <a:off x="1867453" y="4614747"/>
            <a:ext cx="767899" cy="13413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30" idx="7"/>
            <a:endCxn id="31" idx="2"/>
          </p:cNvCxnSpPr>
          <p:nvPr/>
        </p:nvCxnSpPr>
        <p:spPr>
          <a:xfrm flipV="1">
            <a:off x="1867453" y="4469668"/>
            <a:ext cx="688323" cy="2554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32" idx="5"/>
            <a:endCxn id="34" idx="2"/>
          </p:cNvCxnSpPr>
          <p:nvPr/>
        </p:nvCxnSpPr>
        <p:spPr>
          <a:xfrm>
            <a:off x="1867453" y="6246206"/>
            <a:ext cx="688323" cy="2179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39"/>
          <p:cNvSpPr/>
          <p:nvPr/>
        </p:nvSpPr>
        <p:spPr>
          <a:xfrm>
            <a:off x="3708112" y="467484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1" name="Elipse 40"/>
          <p:cNvSpPr/>
          <p:nvPr/>
        </p:nvSpPr>
        <p:spPr>
          <a:xfrm>
            <a:off x="3708112" y="589891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42" name="Conector de seta reta 41"/>
          <p:cNvCxnSpPr>
            <a:stCxn id="41" idx="0"/>
            <a:endCxn id="40" idx="4"/>
          </p:cNvCxnSpPr>
          <p:nvPr/>
        </p:nvCxnSpPr>
        <p:spPr>
          <a:xfrm flipV="1">
            <a:off x="3979803" y="5085184"/>
            <a:ext cx="0" cy="81373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31" idx="6"/>
            <a:endCxn id="40" idx="1"/>
          </p:cNvCxnSpPr>
          <p:nvPr/>
        </p:nvCxnSpPr>
        <p:spPr>
          <a:xfrm>
            <a:off x="3099157" y="4469668"/>
            <a:ext cx="688531" cy="2652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40" idx="3"/>
            <a:endCxn id="34" idx="7"/>
          </p:cNvCxnSpPr>
          <p:nvPr/>
        </p:nvCxnSpPr>
        <p:spPr>
          <a:xfrm flipH="1">
            <a:off x="3019581" y="5025091"/>
            <a:ext cx="768107" cy="12940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31" idx="5"/>
            <a:endCxn id="41" idx="1"/>
          </p:cNvCxnSpPr>
          <p:nvPr/>
        </p:nvCxnSpPr>
        <p:spPr>
          <a:xfrm>
            <a:off x="3019581" y="4614747"/>
            <a:ext cx="768107" cy="1344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34" idx="6"/>
            <a:endCxn id="41" idx="3"/>
          </p:cNvCxnSpPr>
          <p:nvPr/>
        </p:nvCxnSpPr>
        <p:spPr>
          <a:xfrm flipV="1">
            <a:off x="3099157" y="6249169"/>
            <a:ext cx="688531" cy="2150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>
            <a:stCxn id="30" idx="5"/>
            <a:endCxn id="41" idx="1"/>
          </p:cNvCxnSpPr>
          <p:nvPr/>
        </p:nvCxnSpPr>
        <p:spPr>
          <a:xfrm>
            <a:off x="1867453" y="5015239"/>
            <a:ext cx="1920235" cy="9437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30" idx="6"/>
            <a:endCxn id="40" idx="2"/>
          </p:cNvCxnSpPr>
          <p:nvPr/>
        </p:nvCxnSpPr>
        <p:spPr>
          <a:xfrm>
            <a:off x="1947029" y="4870160"/>
            <a:ext cx="1761083" cy="98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40" idx="3"/>
            <a:endCxn id="32" idx="7"/>
          </p:cNvCxnSpPr>
          <p:nvPr/>
        </p:nvCxnSpPr>
        <p:spPr>
          <a:xfrm flipH="1">
            <a:off x="1867453" y="5025091"/>
            <a:ext cx="1920235" cy="930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/>
          <p:cNvCxnSpPr>
            <a:stCxn id="41" idx="2"/>
            <a:endCxn id="32" idx="6"/>
          </p:cNvCxnSpPr>
          <p:nvPr/>
        </p:nvCxnSpPr>
        <p:spPr>
          <a:xfrm flipH="1" flipV="1">
            <a:off x="1947029" y="6101127"/>
            <a:ext cx="1761083" cy="29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7683489" y="4664988"/>
            <a:ext cx="1353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Solução: </a:t>
            </a:r>
          </a:p>
          <a:p>
            <a:r>
              <a:rPr lang="pt-BR" dirty="0"/>
              <a:t>3+8+4+5+15+25 = 60</a:t>
            </a:r>
          </a:p>
        </p:txBody>
      </p:sp>
    </p:spTree>
    <p:extLst>
      <p:ext uri="{BB962C8B-B14F-4D97-AF65-F5344CB8AC3E}">
        <p14:creationId xmlns:p14="http://schemas.microsoft.com/office/powerpoint/2010/main" val="890721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Heurística para o PCV (Caixeiro Viajante)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692277"/>
            <a:ext cx="8229600" cy="1977083"/>
          </a:xfrm>
        </p:spPr>
        <p:txBody>
          <a:bodyPr>
            <a:normAutofit/>
          </a:bodyPr>
          <a:lstStyle/>
          <a:p>
            <a:r>
              <a:rPr lang="pt-BR" sz="2800" dirty="0"/>
              <a:t>Caminho ótimo para esta instância: 0 1 2 5 3 4 0 (comprimento 58).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972902"/>
            <a:ext cx="2334393" cy="216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Elipse 5"/>
          <p:cNvSpPr/>
          <p:nvPr/>
        </p:nvSpPr>
        <p:spPr>
          <a:xfrm>
            <a:off x="1403648" y="228872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Elipse 6"/>
          <p:cNvSpPr/>
          <p:nvPr/>
        </p:nvSpPr>
        <p:spPr>
          <a:xfrm>
            <a:off x="2555776" y="188823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Elipse 7"/>
          <p:cNvSpPr/>
          <p:nvPr/>
        </p:nvSpPr>
        <p:spPr>
          <a:xfrm>
            <a:off x="1403648" y="3519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9" name="Conector reto 8"/>
          <p:cNvCxnSpPr>
            <a:stCxn id="6" idx="4"/>
            <a:endCxn id="8" idx="0"/>
          </p:cNvCxnSpPr>
          <p:nvPr/>
        </p:nvCxnSpPr>
        <p:spPr>
          <a:xfrm>
            <a:off x="1675339" y="2699068"/>
            <a:ext cx="0" cy="82062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/>
          <p:cNvSpPr/>
          <p:nvPr/>
        </p:nvSpPr>
        <p:spPr>
          <a:xfrm>
            <a:off x="2555776" y="388275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1" name="Conector de seta reta 10"/>
          <p:cNvCxnSpPr>
            <a:stCxn id="10" idx="0"/>
            <a:endCxn id="7" idx="4"/>
          </p:cNvCxnSpPr>
          <p:nvPr/>
        </p:nvCxnSpPr>
        <p:spPr>
          <a:xfrm flipV="1">
            <a:off x="2827467" y="2298576"/>
            <a:ext cx="0" cy="158417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10" idx="1"/>
            <a:endCxn id="6" idx="5"/>
          </p:cNvCxnSpPr>
          <p:nvPr/>
        </p:nvCxnSpPr>
        <p:spPr>
          <a:xfrm flipH="1" flipV="1">
            <a:off x="1867453" y="2638975"/>
            <a:ext cx="767899" cy="13038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3"/>
            <a:endCxn id="8" idx="7"/>
          </p:cNvCxnSpPr>
          <p:nvPr/>
        </p:nvCxnSpPr>
        <p:spPr>
          <a:xfrm flipH="1">
            <a:off x="1867453" y="2238483"/>
            <a:ext cx="767899" cy="13413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7"/>
            <a:endCxn id="7" idx="2"/>
          </p:cNvCxnSpPr>
          <p:nvPr/>
        </p:nvCxnSpPr>
        <p:spPr>
          <a:xfrm flipV="1">
            <a:off x="1867453" y="2093404"/>
            <a:ext cx="688323" cy="255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5"/>
            <a:endCxn id="10" idx="2"/>
          </p:cNvCxnSpPr>
          <p:nvPr/>
        </p:nvCxnSpPr>
        <p:spPr>
          <a:xfrm>
            <a:off x="1867453" y="3869942"/>
            <a:ext cx="688323" cy="2179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3708112" y="229857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Elipse 16"/>
          <p:cNvSpPr/>
          <p:nvPr/>
        </p:nvSpPr>
        <p:spPr>
          <a:xfrm>
            <a:off x="3708112" y="352265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8" name="Conector de seta reta 17"/>
          <p:cNvCxnSpPr>
            <a:stCxn id="17" idx="0"/>
            <a:endCxn id="16" idx="4"/>
          </p:cNvCxnSpPr>
          <p:nvPr/>
        </p:nvCxnSpPr>
        <p:spPr>
          <a:xfrm flipV="1">
            <a:off x="3979803" y="2708920"/>
            <a:ext cx="0" cy="81373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7" idx="6"/>
            <a:endCxn id="16" idx="1"/>
          </p:cNvCxnSpPr>
          <p:nvPr/>
        </p:nvCxnSpPr>
        <p:spPr>
          <a:xfrm>
            <a:off x="3099157" y="2093404"/>
            <a:ext cx="688531" cy="2652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6" idx="3"/>
            <a:endCxn id="10" idx="7"/>
          </p:cNvCxnSpPr>
          <p:nvPr/>
        </p:nvCxnSpPr>
        <p:spPr>
          <a:xfrm flipH="1">
            <a:off x="3019581" y="2648827"/>
            <a:ext cx="768107" cy="12940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7" idx="5"/>
            <a:endCxn id="17" idx="1"/>
          </p:cNvCxnSpPr>
          <p:nvPr/>
        </p:nvCxnSpPr>
        <p:spPr>
          <a:xfrm>
            <a:off x="3019581" y="2238483"/>
            <a:ext cx="768107" cy="1344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0" idx="6"/>
            <a:endCxn id="17" idx="3"/>
          </p:cNvCxnSpPr>
          <p:nvPr/>
        </p:nvCxnSpPr>
        <p:spPr>
          <a:xfrm flipV="1">
            <a:off x="3099157" y="3872905"/>
            <a:ext cx="688531" cy="2150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6" idx="5"/>
            <a:endCxn id="17" idx="1"/>
          </p:cNvCxnSpPr>
          <p:nvPr/>
        </p:nvCxnSpPr>
        <p:spPr>
          <a:xfrm>
            <a:off x="1867453" y="2638975"/>
            <a:ext cx="1920235" cy="9437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6" idx="6"/>
            <a:endCxn id="16" idx="2"/>
          </p:cNvCxnSpPr>
          <p:nvPr/>
        </p:nvCxnSpPr>
        <p:spPr>
          <a:xfrm>
            <a:off x="1947029" y="2493896"/>
            <a:ext cx="1761083" cy="98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6" idx="3"/>
            <a:endCxn id="8" idx="7"/>
          </p:cNvCxnSpPr>
          <p:nvPr/>
        </p:nvCxnSpPr>
        <p:spPr>
          <a:xfrm flipH="1">
            <a:off x="1867453" y="2648827"/>
            <a:ext cx="1920235" cy="930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17" idx="2"/>
            <a:endCxn id="8" idx="6"/>
          </p:cNvCxnSpPr>
          <p:nvPr/>
        </p:nvCxnSpPr>
        <p:spPr>
          <a:xfrm flipH="1" flipV="1">
            <a:off x="1947029" y="3724863"/>
            <a:ext cx="1761083" cy="2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>
            <a:off x="1763688" y="1988840"/>
            <a:ext cx="648072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11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Heurística para o PCV (Caixeiro Viajante)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800" dirty="0"/>
              <a:t>Embora o algoritmo do vizinho mais próximo não encontre a solução ótima, a obtida está bem próxima do ótimo.</a:t>
            </a:r>
          </a:p>
          <a:p>
            <a:r>
              <a:rPr lang="pt-BR" sz="2800" dirty="0"/>
              <a:t>Entretanto, é possível encontrar instâncias em que a solução obtida pode ser muito ruim (uma vez que a aresta final pode ser muito longa).</a:t>
            </a:r>
          </a:p>
          <a:p>
            <a:r>
              <a:rPr lang="pt-BR" sz="2800" dirty="0"/>
              <a:t>É possível achar um algoritmo que garanta encontrar uma solução que seja razoavelmente boa no pior caso, desde que a classe de instâncias consideradas seja restrita.</a:t>
            </a:r>
          </a:p>
        </p:txBody>
      </p:sp>
    </p:spTree>
    <p:extLst>
      <p:ext uri="{BB962C8B-B14F-4D97-AF65-F5344CB8AC3E}">
        <p14:creationId xmlns:p14="http://schemas.microsoft.com/office/powerpoint/2010/main" val="2714195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Para projetar algoritmos polinomiais para “resolver” um problema de otimização NP-completo é necessário “relaxar” o significado de resolver.</a:t>
            </a:r>
          </a:p>
          <a:p>
            <a:r>
              <a:rPr lang="pt-BR" sz="2400" dirty="0"/>
              <a:t>Removemos a exigência de que o algoritmo tenha sempre de obter a solução ótima.</a:t>
            </a:r>
          </a:p>
          <a:p>
            <a:r>
              <a:rPr lang="pt-BR" sz="2400" dirty="0"/>
              <a:t>Procuramos algoritmos eficientes que não garantem obter a solução ótima, mas sempre obtêm uma próxima da ótima.</a:t>
            </a:r>
          </a:p>
          <a:p>
            <a:r>
              <a:rPr lang="pt-BR" sz="2400" dirty="0"/>
              <a:t>Tal solução, com valor próximo da ótima, é chamada de solução aproximada.</a:t>
            </a:r>
          </a:p>
          <a:p>
            <a:r>
              <a:rPr lang="pt-BR" sz="2400" dirty="0"/>
              <a:t>Para ser útil, é importante obter um limite para a razão entre a solução ótima e a produzida pelo algoritmo aproximado</a:t>
            </a:r>
          </a:p>
        </p:txBody>
      </p:sp>
    </p:spTree>
    <p:extLst>
      <p:ext uri="{BB962C8B-B14F-4D97-AF65-F5344CB8AC3E}">
        <p14:creationId xmlns:p14="http://schemas.microsoft.com/office/powerpoint/2010/main" val="2531880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77820" y="1484784"/>
            <a:ext cx="7633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 2006, 642 pp. Editora Thomson, ISBN 8522105251.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4490</TotalTime>
  <Words>1671</Words>
  <Application>Microsoft Office PowerPoint</Application>
  <PresentationFormat>Apresentação na tela (4:3)</PresentationFormat>
  <Paragraphs>170</Paragraphs>
  <Slides>21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 Math</vt:lpstr>
      <vt:lpstr>Tema do Office</vt:lpstr>
      <vt:lpstr>Unidade II  Caminhos e Circuitos Heurísticas</vt:lpstr>
      <vt:lpstr>O Que Fazer para Resolver Problemas Exponenciais?</vt:lpstr>
      <vt:lpstr>Heurística</vt:lpstr>
      <vt:lpstr>Encontrar um Ciclo de Hamilton em um Grafo</vt:lpstr>
      <vt:lpstr>Ciclo de Hamilton - Tentativa e Erro</vt:lpstr>
      <vt:lpstr>Ciclo de Hamilton - Tentando Todas as Possibilidades</vt:lpstr>
      <vt:lpstr>Ciclo de Hamilton - Tentando Todas as Possibilidades</vt:lpstr>
      <vt:lpstr>Ciclo de Hamilton - Tentando Todas as Possibilidades</vt:lpstr>
      <vt:lpstr>Ciclo de Hamilton - Tentando Todas as Possibilidades</vt:lpstr>
      <vt:lpstr>Ciclo de Hamilton - Tentando Todas as Possibilidades</vt:lpstr>
      <vt:lpstr>Ciclo de Hamilton - Tentativa e Erro com Poda</vt:lpstr>
      <vt:lpstr>Ciclo de Hamilton - Branch-and-Bound</vt:lpstr>
      <vt:lpstr>Ciclo de Hamilton - Branch-and-Bound</vt:lpstr>
      <vt:lpstr>Heurística para o PCV (Caixeiro Viajante) </vt:lpstr>
      <vt:lpstr>Heurística para o PCV (Caixeiro Viajante) </vt:lpstr>
      <vt:lpstr>Heurística para o PCV (Caixeiro Viajante) </vt:lpstr>
      <vt:lpstr>Heurística para o PCV (Caixeiro Viajante) </vt:lpstr>
      <vt:lpstr>Heurística para o PCV (Caixeiro Viajante) </vt:lpstr>
      <vt:lpstr>Heurística para o PCV (Caixeiro Viajante) </vt:lpstr>
      <vt:lpstr>Conclusões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271</cp:revision>
  <dcterms:created xsi:type="dcterms:W3CDTF">2011-08-03T02:09:11Z</dcterms:created>
  <dcterms:modified xsi:type="dcterms:W3CDTF">2016-08-25T12:55:58Z</dcterms:modified>
</cp:coreProperties>
</file>