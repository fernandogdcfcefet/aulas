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373" r:id="rId5"/>
    <p:sldId id="272" r:id="rId6"/>
    <p:sldId id="274" r:id="rId7"/>
    <p:sldId id="271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374" r:id="rId19"/>
    <p:sldId id="376" r:id="rId20"/>
    <p:sldId id="300" r:id="rId21"/>
    <p:sldId id="315" r:id="rId22"/>
    <p:sldId id="344" r:id="rId23"/>
    <p:sldId id="345" r:id="rId24"/>
    <p:sldId id="360" r:id="rId25"/>
    <p:sldId id="346" r:id="rId26"/>
    <p:sldId id="356" r:id="rId27"/>
    <p:sldId id="357" r:id="rId28"/>
    <p:sldId id="368" r:id="rId29"/>
    <p:sldId id="314" r:id="rId30"/>
    <p:sldId id="375" r:id="rId31"/>
    <p:sldId id="377" r:id="rId32"/>
    <p:sldId id="378" r:id="rId33"/>
    <p:sldId id="390" r:id="rId34"/>
    <p:sldId id="379" r:id="rId35"/>
    <p:sldId id="380" r:id="rId36"/>
    <p:sldId id="381" r:id="rId37"/>
    <p:sldId id="446" r:id="rId38"/>
    <p:sldId id="447" r:id="rId39"/>
    <p:sldId id="448" r:id="rId40"/>
    <p:sldId id="449" r:id="rId41"/>
    <p:sldId id="450" r:id="rId42"/>
    <p:sldId id="454" r:id="rId43"/>
    <p:sldId id="452" r:id="rId44"/>
    <p:sldId id="453" r:id="rId45"/>
    <p:sldId id="391" r:id="rId46"/>
    <p:sldId id="392" r:id="rId47"/>
    <p:sldId id="393" r:id="rId48"/>
    <p:sldId id="436" r:id="rId49"/>
    <p:sldId id="437" r:id="rId50"/>
    <p:sldId id="438" r:id="rId51"/>
    <p:sldId id="439" r:id="rId52"/>
    <p:sldId id="440" r:id="rId53"/>
    <p:sldId id="441" r:id="rId54"/>
    <p:sldId id="442" r:id="rId55"/>
    <p:sldId id="455" r:id="rId56"/>
    <p:sldId id="466" r:id="rId57"/>
    <p:sldId id="467" r:id="rId58"/>
    <p:sldId id="468" r:id="rId59"/>
    <p:sldId id="469" r:id="rId60"/>
    <p:sldId id="470" r:id="rId61"/>
    <p:sldId id="471" r:id="rId62"/>
    <p:sldId id="472" r:id="rId63"/>
    <p:sldId id="443" r:id="rId64"/>
    <p:sldId id="473" r:id="rId65"/>
    <p:sldId id="474" r:id="rId66"/>
    <p:sldId id="475" r:id="rId67"/>
    <p:sldId id="264" r:id="rId6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II </a:t>
            </a:r>
            <a:br>
              <a:rPr lang="pt-BR" dirty="0"/>
            </a:br>
            <a:r>
              <a:rPr lang="pt-BR" dirty="0"/>
              <a:t>Caminhos e Circuitos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2267744" y="6093296"/>
            <a:ext cx="448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Implementações adaptadas de [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Ziviani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, 2006] </a:t>
            </a: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Caminhos e circuitos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000" dirty="0"/>
                  <a:t>Sequência de arestas: sequência alternada de vértices e arestas começando e terminando com vértice. Cada aresta é incidente ao vértice que a precede e a antecede:</a:t>
                </a:r>
              </a:p>
              <a:p>
                <a:pPr lvl="1"/>
                <a:r>
                  <a:rPr lang="pt-BR" sz="1800" dirty="0"/>
                  <a:t>Ex.: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𝑎</m:t>
                    </m:r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𝑎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pt-BR" sz="1800" i="1" dirty="0" smtClean="0">
                        <a:latin typeface="Cambria Math"/>
                      </a:rPr>
                      <m:t>𝑔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pt-BR" sz="1800" dirty="0"/>
              </a:p>
              <a:p>
                <a:r>
                  <a:rPr lang="pt-BR" sz="2000" dirty="0"/>
                  <a:t>Caminho: sequência de arestas no qual nenhuma aresta aparece mais de uma vez:</a:t>
                </a:r>
              </a:p>
              <a:p>
                <a:pPr lvl="1"/>
                <a:r>
                  <a:rPr lang="pt-BR" sz="1800" dirty="0"/>
                  <a:t>Ex.: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𝑎</m:t>
                    </m:r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𝑏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𝑒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𝑓</m:t>
                    </m:r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Caminho aberto: vértice inicial é diferente </a:t>
                </a:r>
              </a:p>
              <a:p>
                <a:pPr marL="457200" lvl="1" indent="0">
                  <a:buNone/>
                </a:pPr>
                <a:r>
                  <a:rPr lang="pt-BR" sz="1800" dirty="0"/>
                  <a:t>do vértice final</a:t>
                </a:r>
              </a:p>
              <a:p>
                <a:pPr lvl="2"/>
                <a:r>
                  <a:rPr lang="pt-BR" sz="1800" dirty="0"/>
                  <a:t>Ex.: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𝑎</m:t>
                    </m:r>
                    <m:r>
                      <a:rPr lang="pt-BR" sz="1800" i="1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𝑏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Caminho fechado: caminhos que começam </a:t>
                </a:r>
              </a:p>
              <a:p>
                <a:pPr marL="457200" lvl="1" indent="0">
                  <a:buNone/>
                </a:pPr>
                <a:r>
                  <a:rPr lang="pt-BR" sz="1800" dirty="0"/>
                  <a:t>e terminam no mesmo vértice:</a:t>
                </a:r>
              </a:p>
              <a:p>
                <a:pPr lvl="2"/>
                <a:r>
                  <a:rPr lang="pt-BR" sz="1800" dirty="0"/>
                  <a:t>Ex.: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𝑎</m:t>
                    </m:r>
                    <m:r>
                      <a:rPr lang="pt-BR" sz="1800" i="1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𝑏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𝑔</m:t>
                    </m:r>
                    <m:r>
                      <a:rPr lang="pt-BR" sz="180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pt-BR" sz="1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933056"/>
            <a:ext cx="290512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364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Cadeias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/>
                  <a:t> um grafo dirigido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´</m:t>
                    </m:r>
                  </m:oMath>
                </a14:m>
                <a:r>
                  <a:rPr lang="pt-BR" sz="2400" dirty="0"/>
                  <a:t> o seu grafo não-dirigido associado</a:t>
                </a:r>
              </a:p>
              <a:p>
                <a:r>
                  <a:rPr lang="pt-BR" sz="2400" dirty="0"/>
                  <a:t>Uma cadeia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/>
                  <a:t> é um caminho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´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852936"/>
            <a:ext cx="8424936" cy="249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284048" y="5661248"/>
                <a:ext cx="650389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𝑎</m:t>
                    </m:r>
                    <m:r>
                      <a:rPr lang="pt-BR" sz="2400" i="1" dirty="0" smtClean="0">
                        <a:latin typeface="Cambria Math"/>
                      </a:rPr>
                      <m:t>−</m:t>
                    </m:r>
                    <m:r>
                      <a:rPr lang="pt-BR" sz="2400" i="1" dirty="0" smtClean="0">
                        <a:latin typeface="Cambria Math"/>
                      </a:rPr>
                      <m:t>𝑓</m:t>
                    </m:r>
                    <m:r>
                      <a:rPr lang="pt-BR" sz="2400" i="1" dirty="0" smtClean="0">
                        <a:latin typeface="Cambria Math"/>
                      </a:rPr>
                      <m:t>−</m:t>
                    </m:r>
                    <m:r>
                      <a:rPr lang="pt-BR" sz="2400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pt-BR" sz="2400" dirty="0"/>
                  <a:t> é um caminho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´</m:t>
                    </m:r>
                  </m:oMath>
                </a14:m>
                <a:r>
                  <a:rPr lang="pt-BR" sz="2400" dirty="0"/>
                  <a:t> e uma cadeia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48" y="5661248"/>
                <a:ext cx="6503896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29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em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Dado um </a:t>
                </a:r>
                <a:r>
                  <a:rPr lang="en-US" dirty="0" err="1"/>
                  <a:t>grafo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pt-BR" dirty="0"/>
                  <a:t>direcionado ou não direcionado:</a:t>
                </a:r>
              </a:p>
              <a:p>
                <a:pPr lvl="1"/>
                <a:r>
                  <a:rPr lang="en-US" dirty="0"/>
                  <a:t>Meta: </a:t>
                </a:r>
                <a:r>
                  <a:rPr lang="pt-BR" dirty="0"/>
                  <a:t>metodicamente, explorar todos os vértices e todas as arestas.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3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As arestas são exploradas a partir do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mais recentemente descoberto que ainda possui arestas não exploradas saindo dele.</a:t>
                </a:r>
              </a:p>
              <a:p>
                <a:r>
                  <a:rPr lang="pt-BR" dirty="0"/>
                  <a:t>Quando todas as arestas adjacentes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tiverem sido exploradas a busca anda para trás para explorar vértices que saem do vértice do qual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foi descoberto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80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acompanhar o progresso do algoritmo cada vértice é colorido de branco, cinza ou preto.</a:t>
            </a:r>
          </a:p>
          <a:p>
            <a:r>
              <a:rPr lang="pt-BR" dirty="0"/>
              <a:t>Todos os vértices são inicializados branco.</a:t>
            </a:r>
          </a:p>
          <a:p>
            <a:r>
              <a:rPr lang="pt-BR" dirty="0"/>
              <a:t>Quando um vértice é </a:t>
            </a:r>
            <a:r>
              <a:rPr lang="pt-BR" i="1" dirty="0"/>
              <a:t>descoberto </a:t>
            </a:r>
            <a:r>
              <a:rPr lang="pt-BR" dirty="0"/>
              <a:t>pela primeira vez ele torna-se cinza, e é tornado preto quando sua lista de adjacentes tenha sido completamente examinada.</a:t>
            </a:r>
          </a:p>
        </p:txBody>
      </p:sp>
    </p:spTree>
    <p:extLst>
      <p:ext uri="{BB962C8B-B14F-4D97-AF65-F5344CB8AC3E}">
        <p14:creationId xmlns:p14="http://schemas.microsoft.com/office/powerpoint/2010/main" val="2904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2792466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361709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410296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1525293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2696343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4215548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143171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200596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372803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888001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888001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800" dirty="0"/>
                  <a:t>O tempo de descoberta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/>
                  <a:t> é o momento em que o vértice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800" dirty="0"/>
                  <a:t> foi visitado pela primeira vez</a:t>
                </a:r>
              </a:p>
              <a:p>
                <a:r>
                  <a:rPr lang="pt-BR" sz="2800" dirty="0"/>
                  <a:t>O tempo de término do exame da lista de adjacentes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/>
                  <a:t> é o momento em que a visita a toda lista de vértices adjacentes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800" dirty="0"/>
                  <a:t> foi concluída. </a:t>
                </a:r>
              </a:p>
              <a:p>
                <a:r>
                  <a:rPr lang="pt-BR" sz="2800" dirty="0"/>
                  <a:t>Estes registros são inteiros 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2|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 pois existe um evento de descoberta e um evento de término para cada um dos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pt-BR" sz="2800" dirty="0"/>
                  <a:t>vértices.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14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641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67544" y="1844824"/>
            <a:ext cx="459927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BuscaEmProfundidade</a:t>
            </a:r>
            <a:endParaRPr lang="pt-BR" sz="1400" dirty="0"/>
          </a:p>
          <a:p>
            <a:r>
              <a:rPr lang="pt-BR" sz="1400" dirty="0"/>
              <a:t>    {</a:t>
            </a:r>
          </a:p>
          <a:p>
            <a:r>
              <a:rPr lang="en-US" sz="1400" dirty="0"/>
              <a:t>        public static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branco</a:t>
            </a:r>
            <a:r>
              <a:rPr lang="en-US" sz="1400" dirty="0"/>
              <a:t> = 0;</a:t>
            </a:r>
          </a:p>
          <a:p>
            <a:r>
              <a:rPr lang="en-US" sz="1400" dirty="0"/>
              <a:t>        public static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cinza</a:t>
            </a:r>
            <a:r>
              <a:rPr lang="en-US" sz="1400" dirty="0"/>
              <a:t>  = 1;</a:t>
            </a:r>
          </a:p>
          <a:p>
            <a:r>
              <a:rPr lang="en-US" sz="1400" dirty="0"/>
              <a:t>        public static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preto</a:t>
            </a:r>
            <a:r>
              <a:rPr lang="en-US" sz="1400" dirty="0"/>
              <a:t>  = 2;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[]d;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[]t;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[]antecessor;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Grafo </a:t>
            </a:r>
            <a:r>
              <a:rPr lang="pt-BR" sz="1400" dirty="0" err="1"/>
              <a:t>grafo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BuscaEmProfundidade</a:t>
            </a:r>
            <a:r>
              <a:rPr lang="pt-BR" sz="1400" dirty="0"/>
              <a:t> (Grafo </a:t>
            </a:r>
            <a:r>
              <a:rPr lang="pt-BR" sz="1400" dirty="0" err="1"/>
              <a:t>grafo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this.grafo</a:t>
            </a:r>
            <a:r>
              <a:rPr lang="pt-BR" sz="1400" dirty="0"/>
              <a:t> = grafo; </a:t>
            </a:r>
            <a:r>
              <a:rPr lang="pt-BR" sz="1400" dirty="0" err="1"/>
              <a:t>int</a:t>
            </a:r>
            <a:r>
              <a:rPr lang="pt-BR" sz="1400" dirty="0"/>
              <a:t> n = </a:t>
            </a:r>
            <a:r>
              <a:rPr lang="pt-BR" sz="1400" dirty="0" err="1"/>
              <a:t>this.grafo.get_numVertices</a:t>
            </a:r>
            <a:r>
              <a:rPr lang="pt-BR" sz="1400" dirty="0"/>
              <a:t>();</a:t>
            </a:r>
          </a:p>
          <a:p>
            <a:r>
              <a:rPr lang="en-US" sz="1400" dirty="0"/>
              <a:t>            d = new </a:t>
            </a:r>
            <a:r>
              <a:rPr lang="en-US" sz="1400" dirty="0" err="1"/>
              <a:t>int</a:t>
            </a:r>
            <a:r>
              <a:rPr lang="en-US" sz="1400" dirty="0"/>
              <a:t>[n]; t = new </a:t>
            </a:r>
            <a:r>
              <a:rPr lang="en-US" sz="1400" dirty="0" err="1"/>
              <a:t>int</a:t>
            </a:r>
            <a:r>
              <a:rPr lang="en-US" sz="1400" dirty="0"/>
              <a:t>[n]; antecessor = new </a:t>
            </a:r>
            <a:r>
              <a:rPr lang="en-US" sz="1400" dirty="0" err="1"/>
              <a:t>int</a:t>
            </a:r>
            <a:r>
              <a:rPr lang="en-US" sz="1400" dirty="0"/>
              <a:t>[n];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d (</a:t>
            </a:r>
            <a:r>
              <a:rPr lang="en-US" sz="1400" dirty="0" err="1"/>
              <a:t>int</a:t>
            </a:r>
            <a:r>
              <a:rPr lang="en-US" sz="1400" dirty="0"/>
              <a:t> v) { return </a:t>
            </a:r>
            <a:r>
              <a:rPr lang="en-US" sz="1400" dirty="0" err="1"/>
              <a:t>this.d</a:t>
            </a:r>
            <a:r>
              <a:rPr lang="en-US" sz="1400" dirty="0"/>
              <a:t>[v];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t (</a:t>
            </a:r>
            <a:r>
              <a:rPr lang="en-US" sz="1400" dirty="0" err="1"/>
              <a:t>int</a:t>
            </a:r>
            <a:r>
              <a:rPr lang="en-US" sz="1400" dirty="0"/>
              <a:t> v) { return this.t[v]; }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antecessor (</a:t>
            </a:r>
            <a:r>
              <a:rPr lang="pt-BR" sz="1400" dirty="0" err="1"/>
              <a:t>int</a:t>
            </a:r>
            <a:r>
              <a:rPr lang="pt-BR" sz="1400" dirty="0"/>
              <a:t> v) {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this.antecessor</a:t>
            </a:r>
            <a:r>
              <a:rPr lang="pt-BR" sz="1400" dirty="0"/>
              <a:t>[v]; }</a:t>
            </a:r>
          </a:p>
        </p:txBody>
      </p:sp>
    </p:spTree>
    <p:extLst>
      <p:ext uri="{BB962C8B-B14F-4D97-AF65-F5344CB8AC3E}">
        <p14:creationId xmlns:p14="http://schemas.microsoft.com/office/powerpoint/2010/main" val="1329329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67544" y="1844824"/>
            <a:ext cx="5383269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buscaEmProfundidade</a:t>
            </a:r>
            <a:r>
              <a:rPr lang="pt-BR" sz="1400" dirty="0"/>
              <a:t> () </a:t>
            </a:r>
          </a:p>
          <a:p>
            <a:r>
              <a:rPr lang="pt-BR" sz="1400" dirty="0"/>
              <a:t>       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int</a:t>
            </a:r>
            <a:r>
              <a:rPr lang="en-US" sz="1400" dirty="0"/>
              <a:t> tempo = 0; </a:t>
            </a:r>
            <a:r>
              <a:rPr lang="en-US" sz="1400" dirty="0" err="1"/>
              <a:t>int</a:t>
            </a:r>
            <a:r>
              <a:rPr lang="en-US" sz="1400" dirty="0"/>
              <a:t> []</a:t>
            </a:r>
            <a:r>
              <a:rPr lang="en-US" sz="1400" dirty="0" err="1"/>
              <a:t>cor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</a:t>
            </a:r>
            <a:r>
              <a:rPr lang="en-US" sz="1400" dirty="0" err="1"/>
              <a:t>this.grafo</a:t>
            </a:r>
            <a:r>
              <a:rPr lang="en-US" sz="1400" dirty="0"/>
              <a:t>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n-US" sz="1400" dirty="0" err="1"/>
              <a:t>numVertices</a:t>
            </a:r>
            <a:r>
              <a:rPr lang="en-US" sz="1400" dirty="0"/>
              <a:t> ()]; </a:t>
            </a:r>
          </a:p>
          <a:p>
            <a:endParaRPr lang="pt-BR" sz="1400" dirty="0"/>
          </a:p>
          <a:p>
            <a:r>
              <a:rPr lang="es-ES" sz="1400" dirty="0"/>
              <a:t>            </a:t>
            </a:r>
            <a:r>
              <a:rPr lang="es-ES" sz="1400" dirty="0" err="1"/>
              <a:t>for</a:t>
            </a:r>
            <a:r>
              <a:rPr lang="es-ES" sz="1400" dirty="0"/>
              <a:t> (</a:t>
            </a:r>
            <a:r>
              <a:rPr lang="es-ES" sz="1400" dirty="0" err="1"/>
              <a:t>int</a:t>
            </a:r>
            <a:r>
              <a:rPr lang="es-ES" sz="1400" dirty="0"/>
              <a:t> u = 0; u &lt; grafo.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s-ES" sz="1400" dirty="0" err="1"/>
              <a:t>numVertices</a:t>
            </a:r>
            <a:r>
              <a:rPr lang="es-ES" sz="1400" dirty="0"/>
              <a:t> (); u++) 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cor[u] = branco; </a:t>
            </a:r>
            <a:r>
              <a:rPr lang="pt-BR" sz="1400" dirty="0" err="1"/>
              <a:t>this.antecessor</a:t>
            </a:r>
            <a:r>
              <a:rPr lang="pt-BR" sz="1400" dirty="0"/>
              <a:t>[u] = -1;</a:t>
            </a:r>
          </a:p>
          <a:p>
            <a:r>
              <a:rPr lang="pt-BR" sz="1400" dirty="0"/>
              <a:t>            }     </a:t>
            </a:r>
          </a:p>
          <a:p>
            <a:r>
              <a:rPr lang="pt-BR" sz="1400" dirty="0"/>
              <a:t>            </a:t>
            </a:r>
          </a:p>
          <a:p>
            <a:r>
              <a:rPr lang="es-ES" sz="1400" dirty="0"/>
              <a:t>            </a:t>
            </a:r>
            <a:r>
              <a:rPr lang="es-ES" sz="1400" dirty="0" err="1"/>
              <a:t>for</a:t>
            </a:r>
            <a:r>
              <a:rPr lang="es-ES" sz="1400" dirty="0"/>
              <a:t> (</a:t>
            </a:r>
            <a:r>
              <a:rPr lang="es-ES" sz="1400" dirty="0" err="1"/>
              <a:t>int</a:t>
            </a:r>
            <a:r>
              <a:rPr lang="es-ES" sz="1400" dirty="0"/>
              <a:t> u = 0; u &lt; grafo.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s-ES" sz="1400" dirty="0" err="1"/>
              <a:t>numVertices</a:t>
            </a:r>
            <a:r>
              <a:rPr lang="es-ES" sz="1400" dirty="0"/>
              <a:t> (); u++)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(cor[u] == branco) 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(u, tempo, cor);</a:t>
            </a:r>
          </a:p>
          <a:p>
            <a:r>
              <a:rPr lang="pt-BR" sz="1400" dirty="0"/>
              <a:t>        }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" name="Conector reto 9"/>
          <p:cNvCxnSpPr>
            <a:stCxn id="6" idx="3"/>
            <a:endCxn id="9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2"/>
            <a:endCxn id="9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4"/>
            <a:endCxn id="7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4" name="Conector de seta reta 13"/>
          <p:cNvCxnSpPr>
            <a:stCxn id="6" idx="5"/>
            <a:endCxn id="13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6"/>
            <a:endCxn id="13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  <a:endCxn id="8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6780121" y="341970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</p:spTree>
    <p:extLst>
      <p:ext uri="{BB962C8B-B14F-4D97-AF65-F5344CB8AC3E}">
        <p14:creationId xmlns:p14="http://schemas.microsoft.com/office/powerpoint/2010/main" val="1011206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/>
              <a:t>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</p:spTree>
    <p:extLst>
      <p:ext uri="{BB962C8B-B14F-4D97-AF65-F5344CB8AC3E}">
        <p14:creationId xmlns:p14="http://schemas.microsoft.com/office/powerpoint/2010/main" val="1461882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/>
              <a:t>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9 , 10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579969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arestas no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sz="2000" b="1" dirty="0"/>
                  <a:t>Arestas de árvore: </a:t>
                </a:r>
                <a:r>
                  <a:rPr lang="pt-BR" sz="2000" dirty="0"/>
                  <a:t>são arestas de uma árvore de busca em profundidade. A aresta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000" dirty="0"/>
                  <a:t>é uma aresta de árvore se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000" dirty="0"/>
                  <a:t> foi descoberto pela primeira vez ao percorrer a aresta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. Ou seja, quando encontra um vértice branco.</a:t>
                </a:r>
              </a:p>
              <a:p>
                <a:r>
                  <a:rPr lang="pt-BR" sz="2000" b="1" dirty="0"/>
                  <a:t>Arestas de retorno</a:t>
                </a:r>
                <a:r>
                  <a:rPr lang="pt-BR" sz="2000" dirty="0"/>
                  <a:t>: conectam um vértice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000" dirty="0"/>
                  <a:t> com um antecessor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/>
                  <a:t>em uma árvore de busca em profundidade (inclui </a:t>
                </a:r>
                <a:r>
                  <a:rPr lang="pt-BR" sz="2000" i="1" dirty="0"/>
                  <a:t>self-loops</a:t>
                </a:r>
                <a:r>
                  <a:rPr lang="pt-BR" sz="2000" dirty="0"/>
                  <a:t>). De um descendente para um ancestral (Encontra </a:t>
                </a:r>
                <a:r>
                  <a:rPr lang="en-US" sz="2000" dirty="0"/>
                  <a:t>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cinza</a:t>
                </a:r>
                <a:r>
                  <a:rPr lang="en-US" sz="2000" dirty="0"/>
                  <a:t> – </a:t>
                </a:r>
                <a:r>
                  <a:rPr lang="en-US" sz="2000" dirty="0" err="1"/>
                  <a:t>sendo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cinza</a:t>
                </a:r>
                <a:r>
                  <a:rPr lang="en-US" sz="2000" dirty="0"/>
                  <a:t> para </a:t>
                </a:r>
                <a:r>
                  <a:rPr lang="en-US" sz="2000" dirty="0" err="1"/>
                  <a:t>cinza</a:t>
                </a:r>
                <a:r>
                  <a:rPr lang="pt-BR" sz="2000" dirty="0"/>
                  <a:t>). </a:t>
                </a:r>
              </a:p>
              <a:p>
                <a:r>
                  <a:rPr lang="pt-BR" sz="2000" b="1" dirty="0"/>
                  <a:t>Arestas de avanço</a:t>
                </a:r>
                <a:r>
                  <a:rPr lang="pt-BR" sz="2000" dirty="0"/>
                  <a:t>: não pertencem à árvore de busca em profundidade mas conectam um vértice a um descendente que pertence à árvore de busca em profundidade (de um ancestral para um descendente, quando encontra 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pt-BR" sz="2000" dirty="0"/>
                  <a:t>preto).</a:t>
                </a:r>
              </a:p>
              <a:p>
                <a:r>
                  <a:rPr lang="pt-BR" sz="2000" b="1" dirty="0"/>
                  <a:t>Arestas de cruzamento</a:t>
                </a:r>
                <a:r>
                  <a:rPr lang="pt-BR" sz="2000" dirty="0"/>
                  <a:t>: podem conectar vértices na mesma árvore de busca em profundidade, ou em duas árvores diferentes (</a:t>
                </a:r>
                <a:r>
                  <a:rPr lang="en-US" sz="2000" dirty="0"/>
                  <a:t>de 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cinza</a:t>
                </a:r>
                <a:r>
                  <a:rPr lang="en-US" sz="2000" dirty="0"/>
                  <a:t> para 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preto</a:t>
                </a:r>
                <a:r>
                  <a:rPr lang="en-US" sz="2000" dirty="0"/>
                  <a:t>)</a:t>
                </a:r>
                <a:r>
                  <a:rPr lang="pt-BR" sz="2000" dirty="0"/>
                  <a:t>.</a:t>
                </a:r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1482" r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898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arestas no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Classificação de arestas pode ser útil para derivar outros algoritmos.</a:t>
                </a:r>
              </a:p>
              <a:p>
                <a:r>
                  <a:rPr lang="pt-BR" sz="2800" dirty="0"/>
                  <a:t>Na busca em profundidade cada aresta pode ser classificada pela cor do vértice que é alcançado pela primeira vez:</a:t>
                </a:r>
              </a:p>
              <a:p>
                <a:pPr lvl="1"/>
                <a:r>
                  <a:rPr lang="pt-BR" sz="2400" dirty="0"/>
                  <a:t>Branco indica uma aresta de árvore.</a:t>
                </a:r>
              </a:p>
              <a:p>
                <a:pPr lvl="1"/>
                <a:r>
                  <a:rPr lang="pt-BR" sz="2400" dirty="0"/>
                  <a:t>Cinza indica uma aresta de retorno.</a:t>
                </a:r>
              </a:p>
              <a:p>
                <a:pPr lvl="1"/>
                <a:r>
                  <a:rPr lang="pt-BR" sz="2400" dirty="0"/>
                  <a:t>Preto indica uma aresta de avanço quando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400" dirty="0"/>
                  <a:t> é descoberto antes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ou uma aresta de cruzamento caso contrário.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523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95118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6249369" y="3409703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9 , 10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2" name="Retângulo 31"/>
          <p:cNvSpPr/>
          <p:nvPr/>
        </p:nvSpPr>
        <p:spPr>
          <a:xfrm>
            <a:off x="5099470" y="4077072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  <p:sp>
        <p:nvSpPr>
          <p:cNvPr id="3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34" name="Retângulo 33"/>
          <p:cNvSpPr/>
          <p:nvPr/>
        </p:nvSpPr>
        <p:spPr>
          <a:xfrm>
            <a:off x="3563888" y="508518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5940152" y="4229472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3943378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787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317823" y="448302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779912" y="536392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047047" y="4149080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  <p:sp>
        <p:nvSpPr>
          <p:cNvPr id="24" name="Retângulo 23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6283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da 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𝑣𝑖𝑠𝑖𝑡𝑎𝐷𝑓𝑠</m:t>
                    </m:r>
                    <m:r>
                      <a:rPr lang="pt-BR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é chamado exatamente uma vez para cada vértice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𝑢</m:t>
                    </m:r>
                    <m:r>
                      <a:rPr lang="pt-BR" sz="240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2400" i="1" dirty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400" dirty="0"/>
                  <a:t> .</a:t>
                </a:r>
              </a:p>
              <a:p>
                <a:r>
                  <a:rPr lang="pt-BR" sz="2400" dirty="0"/>
                  <a:t>Durante a execução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𝑣𝑖𝑠𝑖𝑡𝑎𝐷𝑓𝑠</m:t>
                    </m:r>
                    <m:r>
                      <a:rPr lang="pt-BR" sz="2400" i="1" dirty="0">
                        <a:latin typeface="Cambria Math"/>
                      </a:rPr>
                      <m:t>(</m:t>
                    </m:r>
                    <m:r>
                      <a:rPr lang="pt-BR" sz="2400" i="1" dirty="0">
                        <a:latin typeface="Cambria Math"/>
                      </a:rPr>
                      <m:t>𝑢</m:t>
                    </m:r>
                    <m:r>
                      <a:rPr lang="pt-BR" sz="2400" i="1" dirty="0">
                        <a:latin typeface="Cambria Math"/>
                      </a:rPr>
                      <m:t>, </m:t>
                    </m:r>
                    <m:r>
                      <a:rPr lang="pt-BR" sz="2400" i="1" dirty="0" smtClean="0">
                        <a:latin typeface="Cambria Math"/>
                      </a:rPr>
                      <m:t>𝑡𝑒𝑚𝑝𝑜</m:t>
                    </m:r>
                    <m:r>
                      <a:rPr lang="pt-BR" sz="2400" i="1" dirty="0" smtClean="0">
                        <a:latin typeface="Cambria Math"/>
                      </a:rPr>
                      <m:t>, </m:t>
                    </m:r>
                    <m:r>
                      <a:rPr lang="pt-BR" sz="2400" i="1" dirty="0" smtClean="0">
                        <a:latin typeface="Cambria Math"/>
                      </a:rPr>
                      <m:t>𝑐𝑜𝑟</m:t>
                    </m:r>
                    <m:r>
                      <a:rPr lang="pt-BR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, o anel principal é executado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|</m:t>
                    </m:r>
                    <m:r>
                      <a:rPr lang="pt-BR" sz="2400" i="1" dirty="0" err="1">
                        <a:latin typeface="Cambria Math"/>
                      </a:rPr>
                      <m:t>𝑎𝑑𝑗</m:t>
                    </m:r>
                    <m:r>
                      <a:rPr lang="pt-BR" sz="2400" i="1" dirty="0">
                        <a:latin typeface="Cambria Math"/>
                      </a:rPr>
                      <m:t>[</m:t>
                    </m:r>
                    <m:r>
                      <a:rPr lang="pt-BR" sz="2400" i="1" dirty="0">
                        <a:latin typeface="Cambria Math"/>
                      </a:rPr>
                      <m:t>𝑢</m:t>
                    </m:r>
                    <m:r>
                      <a:rPr lang="pt-BR" sz="2400" i="1" dirty="0" smtClean="0">
                        <a:latin typeface="Cambria Math"/>
                      </a:rPr>
                      <m:t>]| </m:t>
                    </m:r>
                  </m:oMath>
                </a14:m>
                <a:r>
                  <a:rPr lang="pt-BR" sz="2400" dirty="0"/>
                  <a:t>vezes (ou seja, para cada aresta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400" dirty="0"/>
                  <a:t>).</a:t>
                </a:r>
              </a:p>
              <a:p>
                <a:r>
                  <a:rPr lang="pt-BR" sz="2400" dirty="0"/>
                  <a:t>Então: 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O tempo total de execução de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/>
                      </a:rPr>
                      <m:t>𝑣𝑖𝑠𝑖𝑡𝑎𝐷𝑓𝑠</m:t>
                    </m:r>
                  </m:oMath>
                </a14:m>
                <a:r>
                  <a:rPr lang="pt-BR" sz="2400" dirty="0"/>
                  <a:t>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Logo, a complexidade do algoritmo é 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/>
                      </a:rPr>
                      <m:t>𝑂</m:t>
                    </m:r>
                    <m:r>
                      <a:rPr lang="pt-BR" sz="2400" i="1" dirty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/>
                          </a:rPr>
                          <m:t>𝑉</m:t>
                        </m:r>
                      </m:e>
                    </m:d>
                    <m:r>
                      <a:rPr lang="pt-BR" sz="2400" b="0" i="1" dirty="0" smtClean="0">
                        <a:latin typeface="Cambria Math"/>
                      </a:rPr>
                      <m:t>+</m:t>
                    </m:r>
                    <m:r>
                      <a:rPr lang="pt-BR" sz="2400" i="1" dirty="0">
                        <a:latin typeface="Cambria Math"/>
                      </a:rPr>
                      <m:t>|</m:t>
                    </m:r>
                    <m:r>
                      <a:rPr lang="pt-BR" sz="2400" i="1" dirty="0">
                        <a:latin typeface="Cambria Math"/>
                      </a:rPr>
                      <m:t>𝐴</m:t>
                    </m:r>
                    <m:r>
                      <a:rPr lang="pt-BR" sz="2400" i="1" dirty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347864" y="3888503"/>
                <a:ext cx="2314928" cy="764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b="0" i="1" smtClean="0">
                              <a:latin typeface="Cambria Math"/>
                            </a:rPr>
                            <m:t>𝑢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i="1" dirty="0" err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 err="1">
                                  <a:latin typeface="Cambria Math"/>
                                </a:rPr>
                                <m:t>𝑎𝑑𝑗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dirty="0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d>
                          <m:r>
                            <a:rPr lang="pt-BR" b="0" i="1" dirty="0" smtClean="0">
                              <a:latin typeface="Cambria Math"/>
                            </a:rPr>
                            <m:t>=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𝑂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(|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𝐴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|)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888503"/>
                <a:ext cx="2314928" cy="76463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344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Teste de circuito</a:t>
            </a:r>
          </a:p>
          <a:p>
            <a:pPr lvl="1"/>
            <a:r>
              <a:rPr lang="pt-BR" dirty="0"/>
              <a:t>Se uma </a:t>
            </a:r>
            <a:r>
              <a:rPr lang="pt-BR" b="1" dirty="0"/>
              <a:t>aresta de retorno </a:t>
            </a:r>
            <a:r>
              <a:rPr lang="pt-BR" dirty="0"/>
              <a:t>é encontrada na busca em profundidade então o grafo possui um </a:t>
            </a:r>
            <a:r>
              <a:rPr lang="pt-BR" b="1" dirty="0"/>
              <a:t>ciclo</a:t>
            </a:r>
          </a:p>
          <a:p>
            <a:pPr lvl="1"/>
            <a:r>
              <a:rPr lang="pt-BR" dirty="0"/>
              <a:t>Um grafo é acíclico se e somente se na busca em profundidade não for encontrada nenhuma </a:t>
            </a:r>
            <a:r>
              <a:rPr lang="pt-BR" b="1" dirty="0"/>
              <a:t>aresta de retorno</a:t>
            </a:r>
            <a:r>
              <a:rPr lang="pt-BR" dirty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82265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Implemente um algoritmo para detectar ciclos em um grafo. Seu algoritmo irá receber como entrada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 retornará como saída os vértices que fazem parte do ciclo (se houver ciclo). Em sua implementação, considere que o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tenha somente um ciclo (se houver). </a:t>
                </a:r>
              </a:p>
              <a:p>
                <a:r>
                  <a:rPr lang="pt-BR" dirty="0"/>
                  <a:t>Dica: modifique a implementação do algoritmo de busca em profundidade.</a:t>
                </a:r>
              </a:p>
              <a:p>
                <a:r>
                  <a:rPr lang="pt-BR" dirty="0"/>
                  <a:t>Entrega: a definir.  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r="-2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363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Expandir o conjunto de vértices de forma uniforme em que são visitados todos os vértices de mesma distância ao início antes de visitar outros níveis.</a:t>
            </a:r>
          </a:p>
          <a:p>
            <a:r>
              <a:rPr lang="pt-BR" sz="2800" dirty="0"/>
              <a:t>Ideia</a:t>
            </a:r>
          </a:p>
          <a:p>
            <a:pPr lvl="1"/>
            <a:r>
              <a:rPr lang="pt-BR" sz="2400" dirty="0"/>
              <a:t>Na busca em largura o algoritmo descobre todos os vértices a uma distância k do vértice de origem antes de descobrir os que estão a uma distância k+1.</a:t>
            </a:r>
          </a:p>
          <a:p>
            <a:pPr lvl="1"/>
            <a:r>
              <a:rPr lang="pt-BR" sz="2400" dirty="0"/>
              <a:t>O grafo pode ser direcionado ou não direcionado</a:t>
            </a:r>
          </a:p>
        </p:txBody>
      </p:sp>
    </p:spTree>
    <p:extLst>
      <p:ext uri="{BB962C8B-B14F-4D97-AF65-F5344CB8AC3E}">
        <p14:creationId xmlns:p14="http://schemas.microsoft.com/office/powerpoint/2010/main" val="892014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Algoritmo:</a:t>
                </a:r>
              </a:p>
              <a:p>
                <a:pPr lvl="1"/>
                <a:r>
                  <a:rPr lang="pt-BR" dirty="0"/>
                  <a:t>Cada vértice é colorido de branco, cinza ou preto.</a:t>
                </a:r>
              </a:p>
              <a:p>
                <a:pPr lvl="1"/>
                <a:r>
                  <a:rPr lang="pt-BR" dirty="0"/>
                  <a:t>Todos os vértices são inicializados com branco</a:t>
                </a:r>
              </a:p>
              <a:p>
                <a:pPr lvl="1"/>
                <a:r>
                  <a:rPr lang="pt-BR" dirty="0"/>
                  <a:t>Quando um vértice é descoberto pela primeira vez ele torna-se cinza</a:t>
                </a:r>
              </a:p>
              <a:p>
                <a:pPr lvl="1"/>
                <a:r>
                  <a:rPr lang="pt-BR" dirty="0"/>
                  <a:t>Vértices cujos adjacentes são todos descobertos tornam-se pretos.</a:t>
                </a:r>
              </a:p>
              <a:p>
                <a:pPr lvl="1"/>
                <a:r>
                  <a:rPr lang="pt-BR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𝑢</m:t>
                        </m:r>
                        <m:r>
                          <a:rPr lang="pt-BR" b="0" i="1" smtClean="0">
                            <a:latin typeface="Cambria Math"/>
                          </a:rPr>
                          <m:t>, </m:t>
                        </m:r>
                        <m:r>
                          <a:rPr lang="pt-BR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dirty="0"/>
                  <a:t> e 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dirty="0"/>
                  <a:t> é preto, então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 tem quer ser cinza ou preto.</a:t>
                </a:r>
              </a:p>
              <a:p>
                <a:pPr lvl="1"/>
                <a:r>
                  <a:rPr lang="pt-BR" dirty="0"/>
                  <a:t>Vértices cinzas podem ter adjacentes brancos.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2695" r="-1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5876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5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648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39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7420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179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184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672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548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911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7992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0817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7748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95536" y="1335534"/>
            <a:ext cx="5749394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BuscaEmLargura</a:t>
            </a:r>
            <a:r>
              <a:rPr lang="pt-BR" sz="1400" dirty="0"/>
              <a:t>    {</a:t>
            </a:r>
          </a:p>
          <a:p>
            <a:r>
              <a:rPr lang="en-US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const</a:t>
            </a:r>
            <a:r>
              <a:rPr lang="pt-BR" sz="1400" dirty="0"/>
              <a:t> byte branco = 0;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const</a:t>
            </a:r>
            <a:r>
              <a:rPr lang="pt-BR" sz="1400" dirty="0"/>
              <a:t> byte cinza  = 1;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preto</a:t>
            </a:r>
            <a:r>
              <a:rPr lang="en-US" sz="1400" dirty="0"/>
              <a:t>  = 2;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[]d;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 antecessor;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Grafo </a:t>
            </a:r>
            <a:r>
              <a:rPr lang="pt-BR" sz="1400" dirty="0" err="1"/>
              <a:t>grafo</a:t>
            </a:r>
            <a:r>
              <a:rPr lang="pt-BR" sz="1400" dirty="0"/>
              <a:t>; 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BuscaEmLargura</a:t>
            </a:r>
            <a:r>
              <a:rPr lang="pt-BR" sz="1400" dirty="0"/>
              <a:t> (Grafo </a:t>
            </a:r>
            <a:r>
              <a:rPr lang="pt-BR" sz="1400" dirty="0" err="1"/>
              <a:t>grafo</a:t>
            </a:r>
            <a:r>
              <a:rPr lang="pt-BR" sz="1400" dirty="0"/>
              <a:t>)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this.grafo</a:t>
            </a:r>
            <a:r>
              <a:rPr lang="pt-BR" sz="1400" dirty="0"/>
              <a:t> = grafo; </a:t>
            </a:r>
            <a:r>
              <a:rPr lang="pt-BR" sz="1400" dirty="0" err="1"/>
              <a:t>int</a:t>
            </a:r>
            <a:r>
              <a:rPr lang="pt-BR" sz="1400" dirty="0"/>
              <a:t> n = </a:t>
            </a:r>
            <a:r>
              <a:rPr lang="pt-BR" sz="1400" dirty="0" err="1"/>
              <a:t>this.grafo.get_numVertices</a:t>
            </a:r>
            <a:r>
              <a:rPr lang="pt-BR" sz="1400" dirty="0"/>
              <a:t>();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this.d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[n]; </a:t>
            </a:r>
            <a:r>
              <a:rPr lang="en-US" sz="1400" dirty="0" err="1"/>
              <a:t>this.antecessor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[n];</a:t>
            </a:r>
          </a:p>
          <a:p>
            <a:r>
              <a:rPr lang="pt-BR" sz="1400" dirty="0"/>
              <a:t>       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get_d</a:t>
            </a:r>
            <a:r>
              <a:rPr lang="en-US" sz="1400" dirty="0"/>
              <a:t> (</a:t>
            </a:r>
            <a:r>
              <a:rPr lang="en-US" sz="1400" dirty="0" err="1"/>
              <a:t>int</a:t>
            </a:r>
            <a:r>
              <a:rPr lang="en-US" sz="1400" dirty="0"/>
              <a:t> v) { return </a:t>
            </a:r>
            <a:r>
              <a:rPr lang="en-US" sz="1400" dirty="0" err="1"/>
              <a:t>this.d</a:t>
            </a:r>
            <a:r>
              <a:rPr lang="en-US" sz="1400" dirty="0"/>
              <a:t>[v];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get_antecessor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 v) { return </a:t>
            </a:r>
            <a:r>
              <a:rPr lang="en-US" sz="1400" dirty="0" err="1"/>
              <a:t>this.antecessor</a:t>
            </a:r>
            <a:r>
              <a:rPr lang="en-US" sz="1400" dirty="0"/>
              <a:t>[v]; }  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imprimeCaminho</a:t>
            </a:r>
            <a:r>
              <a:rPr lang="pt-BR" sz="1400" dirty="0"/>
              <a:t> (</a:t>
            </a:r>
            <a:r>
              <a:rPr lang="pt-BR" sz="1400" dirty="0" err="1"/>
              <a:t>int</a:t>
            </a:r>
            <a:r>
              <a:rPr lang="pt-BR" sz="1400" dirty="0"/>
              <a:t> origem, </a:t>
            </a:r>
            <a:r>
              <a:rPr lang="pt-BR" sz="1400" dirty="0" err="1"/>
              <a:t>int</a:t>
            </a:r>
            <a:r>
              <a:rPr lang="pt-BR" sz="1400" dirty="0"/>
              <a:t> v)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(origem == v)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(origem);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else</a:t>
            </a:r>
            <a:r>
              <a:rPr lang="pt-BR" sz="1400" dirty="0"/>
              <a:t>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this.antecessor</a:t>
            </a:r>
            <a:r>
              <a:rPr lang="pt-BR" sz="1400" dirty="0"/>
              <a:t>[v] == -1)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("</a:t>
            </a:r>
            <a:r>
              <a:rPr lang="pt-BR" sz="1400" dirty="0" err="1"/>
              <a:t>Nao</a:t>
            </a:r>
            <a:r>
              <a:rPr lang="pt-BR" sz="1400" dirty="0"/>
              <a:t> existe caminho de " + origem + " ate " + v);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else</a:t>
            </a:r>
            <a:r>
              <a:rPr lang="pt-BR" sz="1400" dirty="0"/>
              <a:t> {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imprimeCaminho</a:t>
            </a:r>
            <a:r>
              <a:rPr lang="pt-BR" sz="1400" dirty="0"/>
              <a:t> (origem, </a:t>
            </a:r>
            <a:r>
              <a:rPr lang="pt-BR" sz="1400" dirty="0" err="1"/>
              <a:t>this.antecessor</a:t>
            </a:r>
            <a:r>
              <a:rPr lang="pt-BR" sz="1400" dirty="0"/>
              <a:t>[v]);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}    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672801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11560" y="1556792"/>
            <a:ext cx="541622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buscaEmLargura</a:t>
            </a:r>
            <a:r>
              <a:rPr lang="pt-BR" dirty="0"/>
              <a:t> () {</a:t>
            </a:r>
          </a:p>
          <a:p>
            <a:r>
              <a:rPr lang="pt-BR" dirty="0"/>
              <a:t>            </a:t>
            </a:r>
            <a:r>
              <a:rPr lang="pt-BR" dirty="0" err="1"/>
              <a:t>int</a:t>
            </a:r>
            <a:r>
              <a:rPr lang="pt-BR" dirty="0"/>
              <a:t> []cor = new </a:t>
            </a:r>
            <a:r>
              <a:rPr lang="pt-BR" dirty="0" err="1"/>
              <a:t>int</a:t>
            </a:r>
            <a:r>
              <a:rPr lang="pt-BR" dirty="0"/>
              <a:t>[</a:t>
            </a:r>
            <a:r>
              <a:rPr lang="pt-BR" dirty="0" err="1"/>
              <a:t>this.grafo.get_numVertices</a:t>
            </a:r>
            <a:r>
              <a:rPr lang="pt-BR" dirty="0"/>
              <a:t> ()];</a:t>
            </a:r>
          </a:p>
          <a:p>
            <a:endParaRPr lang="pt-BR" dirty="0"/>
          </a:p>
          <a:p>
            <a:r>
              <a:rPr lang="pt-BR" dirty="0"/>
              <a:t>            for (</a:t>
            </a:r>
            <a:r>
              <a:rPr lang="pt-BR" dirty="0" err="1"/>
              <a:t>int</a:t>
            </a:r>
            <a:r>
              <a:rPr lang="pt-BR" dirty="0"/>
              <a:t> u = 0; u &lt; </a:t>
            </a:r>
            <a:r>
              <a:rPr lang="pt-BR" dirty="0" err="1"/>
              <a:t>grafo.get_numVertices</a:t>
            </a:r>
            <a:r>
              <a:rPr lang="pt-BR" dirty="0"/>
              <a:t>(); u++)</a:t>
            </a:r>
          </a:p>
          <a:p>
            <a:r>
              <a:rPr lang="pt-BR" dirty="0"/>
              <a:t>            {</a:t>
            </a:r>
          </a:p>
          <a:p>
            <a:r>
              <a:rPr lang="pt-BR" dirty="0"/>
              <a:t>                cor[u] = branco; </a:t>
            </a:r>
            <a:r>
              <a:rPr lang="pt-BR" dirty="0" err="1"/>
              <a:t>this.d</a:t>
            </a:r>
            <a:r>
              <a:rPr lang="pt-BR" dirty="0"/>
              <a:t>[u] = Int32.MaxValue; </a:t>
            </a:r>
          </a:p>
          <a:p>
            <a:r>
              <a:rPr lang="pt-BR" dirty="0"/>
              <a:t>                </a:t>
            </a:r>
            <a:r>
              <a:rPr lang="pt-BR" dirty="0" err="1"/>
              <a:t>this.antecessor</a:t>
            </a:r>
            <a:r>
              <a:rPr lang="pt-BR" dirty="0"/>
              <a:t>[u] = -1;</a:t>
            </a:r>
          </a:p>
          <a:p>
            <a:r>
              <a:rPr lang="pt-BR" dirty="0"/>
              <a:t>            }</a:t>
            </a:r>
          </a:p>
          <a:p>
            <a:r>
              <a:rPr lang="pt-BR" dirty="0"/>
              <a:t>            for (</a:t>
            </a:r>
            <a:r>
              <a:rPr lang="pt-BR" dirty="0" err="1"/>
              <a:t>int</a:t>
            </a:r>
            <a:r>
              <a:rPr lang="pt-BR" dirty="0"/>
              <a:t> u = 0; u &lt; </a:t>
            </a:r>
            <a:r>
              <a:rPr lang="pt-BR" dirty="0" err="1"/>
              <a:t>grafo.get_numVertices</a:t>
            </a:r>
            <a:r>
              <a:rPr lang="pt-BR" dirty="0"/>
              <a:t>(); u++)</a:t>
            </a:r>
          </a:p>
          <a:p>
            <a:r>
              <a:rPr lang="pt-BR" dirty="0"/>
              <a:t>            </a:t>
            </a:r>
            <a:r>
              <a:rPr lang="pt-BR" dirty="0" err="1"/>
              <a:t>if</a:t>
            </a:r>
            <a:r>
              <a:rPr lang="pt-BR" dirty="0"/>
              <a:t> (cor[u] == branco) </a:t>
            </a:r>
          </a:p>
          <a:p>
            <a:r>
              <a:rPr lang="pt-BR" dirty="0"/>
              <a:t>                     </a:t>
            </a:r>
            <a:r>
              <a:rPr lang="pt-BR" dirty="0" err="1"/>
              <a:t>this.visitaBfs</a:t>
            </a:r>
            <a:r>
              <a:rPr lang="pt-BR" dirty="0"/>
              <a:t> (u, cor);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8570476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6924137" y="35446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2887763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1698560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Busca em Largura - Análise (para</a:t>
            </a:r>
            <a:br>
              <a:rPr lang="pt-BR" dirty="0"/>
            </a:br>
            <a:r>
              <a:rPr lang="pt-BR" dirty="0"/>
              <a:t>listas de adjacência)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O custo de inicialização do primeiro anel no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𝑏𝑢𝑠𝑐𝑎𝐸𝑚𝐿𝑎𝑟𝑔𝑢𝑟𝑎</m:t>
                    </m:r>
                    <m:r>
                      <a:rPr lang="pt-BR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O custo do segundo anel é também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𝑣𝑖𝑠𝑖𝑡𝑎𝐵𝑓𝑠</m:t>
                    </m:r>
                  </m:oMath>
                </a14:m>
                <a:r>
                  <a:rPr lang="pt-BR" sz="2400" dirty="0"/>
                  <a:t>: enfileirar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𝑑𝑒𝑠𝑒𝑛𝑓𝑖𝑙𝑒𝑖𝑟𝑎𝑟</m:t>
                    </m:r>
                    <m:r>
                      <a:rPr lang="pt-BR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têm custo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(1)</m:t>
                    </m:r>
                  </m:oMath>
                </a14:m>
                <a:r>
                  <a:rPr lang="pt-BR" sz="2400" dirty="0"/>
                  <a:t>, logo, o custo total com a fila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Cada lista de adjacentes é percorrida no máximo uma vez, quando o vértice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𝑑𝑒𝑠𝑒𝑛𝑓𝑖𝑙𝑒𝑖𝑟𝑎𝑑𝑜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Desde que a soma de todas as listas de adjacentes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, o tempo total gasto com as listas de adjacentes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Complexidade total: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 | + 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059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 mais curto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000" dirty="0"/>
                  <a:t>A busca em largura encontra o caminho mais curto entre dois vértice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r>
                  <a:rPr lang="pt-BR" sz="2000" dirty="0"/>
                  <a:t>O caminho entre dois vértices quaisquer fica armazenado no vetor antecessor.</a:t>
                </a:r>
              </a:p>
              <a:p>
                <a:r>
                  <a:rPr lang="pt-BR" sz="2000" dirty="0"/>
                  <a:t>O programa abaixo imprime os vértices do caminho mais curto entre o vértice origem (do </a:t>
                </a:r>
                <a:r>
                  <a:rPr lang="pt-BR" sz="2000" dirty="0" err="1"/>
                  <a:t>bfs</a:t>
                </a:r>
                <a:r>
                  <a:rPr lang="pt-BR" sz="2000" dirty="0"/>
                  <a:t>) e outro vértice qualquer do grafo (a distância aqui não considera peso de arestas).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827584" y="4149080"/>
            <a:ext cx="65492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imprimeCaminho</a:t>
            </a:r>
            <a:r>
              <a:rPr lang="pt-BR" sz="1600" dirty="0"/>
              <a:t> (</a:t>
            </a:r>
            <a:r>
              <a:rPr lang="pt-BR" sz="1600" dirty="0" err="1"/>
              <a:t>int</a:t>
            </a:r>
            <a:r>
              <a:rPr lang="pt-BR" sz="1600" dirty="0"/>
              <a:t> origem, </a:t>
            </a:r>
            <a:r>
              <a:rPr lang="pt-BR" sz="1600" dirty="0" err="1"/>
              <a:t>int</a:t>
            </a:r>
            <a:r>
              <a:rPr lang="pt-BR" sz="1600" dirty="0"/>
              <a:t> v) {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if</a:t>
            </a:r>
            <a:r>
              <a:rPr lang="pt-BR" sz="1600" dirty="0"/>
              <a:t> (origem == v) 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Console.WriteLine</a:t>
            </a:r>
            <a:r>
              <a:rPr lang="pt-BR" sz="1600" dirty="0"/>
              <a:t> (origem);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else</a:t>
            </a:r>
            <a:r>
              <a:rPr lang="pt-BR" sz="1600" dirty="0"/>
              <a:t> </a:t>
            </a:r>
            <a:r>
              <a:rPr lang="pt-BR" sz="1600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this.antecessor</a:t>
            </a:r>
            <a:r>
              <a:rPr lang="pt-BR" sz="1600" dirty="0"/>
              <a:t>[v] == -1) 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Console.WriteLine</a:t>
            </a:r>
            <a:r>
              <a:rPr lang="pt-BR" sz="1600" dirty="0"/>
              <a:t> ("</a:t>
            </a:r>
            <a:r>
              <a:rPr lang="pt-BR" sz="1600" dirty="0" err="1"/>
              <a:t>Nao</a:t>
            </a:r>
            <a:r>
              <a:rPr lang="pt-BR" sz="1600" dirty="0"/>
              <a:t> existe caminho de " + origem + " ate " + v);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imprimeCaminho</a:t>
            </a:r>
            <a:r>
              <a:rPr lang="pt-BR" sz="1600" dirty="0"/>
              <a:t> (origem, </a:t>
            </a:r>
            <a:r>
              <a:rPr lang="pt-BR" sz="1600" dirty="0" err="1"/>
              <a:t>this.antecessor</a:t>
            </a:r>
            <a:r>
              <a:rPr lang="pt-BR" sz="1600" dirty="0"/>
              <a:t>[v]);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Console.WriteLine</a:t>
            </a:r>
            <a:r>
              <a:rPr lang="pt-BR" sz="1600" dirty="0"/>
              <a:t> (v);</a:t>
            </a:r>
          </a:p>
          <a:p>
            <a:r>
              <a:rPr lang="pt-BR" sz="1600" dirty="0"/>
              <a:t>            }    </a:t>
            </a:r>
          </a:p>
          <a:p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97879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Grafos direcionados acíclicos pode ser usados para indicar precedência de eventos</a:t>
                </a:r>
              </a:p>
              <a:p>
                <a:r>
                  <a:rPr lang="pt-BR" sz="2800" dirty="0"/>
                  <a:t>Uma aresta direcionada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(</m:t>
                    </m:r>
                    <m:r>
                      <a:rPr lang="pt-BR" sz="2800" i="1" dirty="0" smtClean="0">
                        <a:latin typeface="Cambria Math"/>
                      </a:rPr>
                      <m:t>𝑢</m:t>
                    </m:r>
                    <m:r>
                      <a:rPr lang="pt-BR" sz="2800" i="1" dirty="0" smtClean="0">
                        <a:latin typeface="Cambria Math"/>
                      </a:rPr>
                      <m:t>, </m:t>
                    </m:r>
                    <m:r>
                      <a:rPr lang="pt-BR" sz="2800" i="1" dirty="0">
                        <a:latin typeface="Cambria Math"/>
                      </a:rPr>
                      <m:t>𝑣</m:t>
                    </m:r>
                    <m:r>
                      <a:rPr lang="pt-BR" sz="28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pt-BR" sz="2800" dirty="0"/>
                  <a:t>indica que a atividade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800" dirty="0"/>
                  <a:t> tem que ocorrer antes da atividade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r>
                  <a:rPr lang="pt-BR" sz="2800" dirty="0"/>
                  <a:t>Os vértices ordenados topologicamente aparecem em ordem inversa aos seus tempos de término na busca em profundidade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102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00808"/>
            <a:ext cx="6590323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6228184" y="5661248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</a:t>
            </a:r>
          </a:p>
        </p:txBody>
      </p:sp>
    </p:spTree>
    <p:extLst>
      <p:ext uri="{BB962C8B-B14F-4D97-AF65-F5344CB8AC3E}">
        <p14:creationId xmlns:p14="http://schemas.microsoft.com/office/powerpoint/2010/main" val="19205590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Algoritmo para ordenar topologicamente um grafo direcionado acíclico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=(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, 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000" dirty="0"/>
                  <a:t>Aplicar a busca em profundidade no grafo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000" dirty="0"/>
                  <a:t> para obter os tempos de término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𝑡</m:t>
                    </m:r>
                    <m:r>
                      <a:rPr lang="pt-BR" sz="2000" i="1" dirty="0" smtClean="0">
                        <a:latin typeface="Cambria Math"/>
                      </a:rPr>
                      <m:t>[</m:t>
                    </m:r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  <m:r>
                      <a:rPr lang="pt-BR" sz="200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sz="2000" dirty="0"/>
                  <a:t> para cada vértice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pPr lvl="1"/>
                <a:r>
                  <a:rPr lang="pt-BR" sz="2000" dirty="0"/>
                  <a:t>Ao término de cada vértice, insira-o na frente de uma lista linear encadeada.</a:t>
                </a:r>
              </a:p>
              <a:p>
                <a:pPr lvl="1"/>
                <a:r>
                  <a:rPr lang="pt-BR" sz="2000" dirty="0"/>
                  <a:t>Retornar a lista encadeada de vértices.</a:t>
                </a:r>
              </a:p>
              <a:p>
                <a:pPr lvl="1"/>
                <a:endParaRPr lang="pt-BR" sz="2000" dirty="0"/>
              </a:p>
              <a:p>
                <a:r>
                  <a:rPr lang="pt-BR" sz="2400" dirty="0"/>
                  <a:t>A Custo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b="0" i="1" dirty="0" smtClean="0">
                        <a:latin typeface="Cambria Math"/>
                      </a:rPr>
                      <m:t>|</m:t>
                    </m:r>
                    <m:r>
                      <a:rPr lang="pt-BR" sz="2400" i="1" dirty="0" smtClean="0">
                        <a:latin typeface="Cambria Math"/>
                      </a:rPr>
                      <m:t> + 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, uma vez que a busca em profundidade tem complexidade de tempo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>
                        <a:latin typeface="Cambria Math"/>
                      </a:rPr>
                      <m:t>(|</m:t>
                    </m:r>
                    <m:r>
                      <a:rPr lang="pt-BR" sz="2400" i="1" dirty="0">
                        <a:latin typeface="Cambria Math"/>
                      </a:rPr>
                      <m:t>𝑉</m:t>
                    </m:r>
                    <m:r>
                      <a:rPr lang="pt-BR" sz="2400" i="1" dirty="0">
                        <a:latin typeface="Cambria Math"/>
                      </a:rPr>
                      <m:t>| + |</m:t>
                    </m:r>
                    <m:r>
                      <a:rPr lang="pt-BR" sz="2400" i="1" dirty="0">
                        <a:latin typeface="Cambria Math"/>
                      </a:rPr>
                      <m:t>𝐴</m:t>
                    </m:r>
                    <m:r>
                      <a:rPr lang="pt-BR" sz="2400" i="1" dirty="0">
                        <a:latin typeface="Cambria Math"/>
                      </a:rPr>
                      <m:t>|) </m:t>
                    </m:r>
                  </m:oMath>
                </a14:m>
                <a:r>
                  <a:rPr lang="pt-BR" sz="2400" dirty="0"/>
                  <a:t>e o custo para inserir cada um dos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 </m:t>
                    </m:r>
                  </m:oMath>
                </a14:m>
                <a:r>
                  <a:rPr lang="pt-BR" sz="2400" dirty="0"/>
                  <a:t>vértices na frente da lista linear encadeada custa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(1)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630" b="-9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72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Deve-se inserir uma chamada ao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𝑖𝑛𝑠𝑒𝑟𝑒𝑃𝑟𝑖𝑚𝑒𝑖𝑟𝑜</m:t>
                    </m:r>
                  </m:oMath>
                </a14:m>
                <a:r>
                  <a:rPr lang="pt-BR" sz="2400" dirty="0"/>
                  <a:t> no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𝑏𝑢𝑠𝑐𝑎𝐷𝑓𝑠</m:t>
                    </m:r>
                  </m:oMath>
                </a14:m>
                <a:r>
                  <a:rPr lang="pt-BR" sz="2400" dirty="0"/>
                  <a:t>, logo após o momento em que o tempo de término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𝑡</m:t>
                    </m:r>
                    <m:r>
                      <a:rPr lang="pt-BR" sz="2400" i="1" dirty="0" smtClean="0">
                        <a:latin typeface="Cambria Math"/>
                      </a:rPr>
                      <m:t>[</m:t>
                    </m:r>
                    <m:r>
                      <a:rPr lang="pt-BR" sz="2400" i="1" dirty="0" smtClean="0">
                        <a:latin typeface="Cambria Math"/>
                      </a:rPr>
                      <m:t>𝑢</m:t>
                    </m:r>
                    <m:r>
                      <a:rPr lang="pt-BR" sz="240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sz="2400" dirty="0"/>
                  <a:t> é obtido e o vértice é pintado de preto.</a:t>
                </a:r>
              </a:p>
              <a:p>
                <a:r>
                  <a:rPr lang="pt-BR" sz="2400" dirty="0"/>
                  <a:t>Ao final, basta retornar a lista obtida.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2064485" y="3645024"/>
            <a:ext cx="425796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/ / Insere antes do primeiro item da lista</a:t>
            </a:r>
          </a:p>
          <a:p>
            <a:r>
              <a:rPr lang="pt-BR" b="1" dirty="0" err="1"/>
              <a:t>public</a:t>
            </a:r>
            <a:r>
              <a:rPr lang="pt-BR" b="1" dirty="0"/>
              <a:t> </a:t>
            </a:r>
            <a:r>
              <a:rPr lang="pt-BR" b="1" dirty="0" err="1"/>
              <a:t>void</a:t>
            </a:r>
            <a:r>
              <a:rPr lang="pt-BR" b="1" dirty="0"/>
              <a:t> </a:t>
            </a:r>
            <a:r>
              <a:rPr lang="pt-BR" dirty="0" err="1"/>
              <a:t>inserePrimeiro</a:t>
            </a:r>
            <a:r>
              <a:rPr lang="pt-BR" dirty="0"/>
              <a:t> (</a:t>
            </a:r>
            <a:r>
              <a:rPr lang="pt-BR" dirty="0" err="1"/>
              <a:t>int</a:t>
            </a:r>
            <a:r>
              <a:rPr lang="pt-BR" dirty="0"/>
              <a:t> v) {</a:t>
            </a:r>
          </a:p>
          <a:p>
            <a:r>
              <a:rPr lang="pt-BR" dirty="0"/>
              <a:t>            </a:t>
            </a:r>
            <a:r>
              <a:rPr lang="pt-BR" dirty="0" err="1"/>
              <a:t>Celula</a:t>
            </a:r>
            <a:r>
              <a:rPr lang="pt-BR" dirty="0"/>
              <a:t> item = new </a:t>
            </a:r>
            <a:r>
              <a:rPr lang="pt-BR" dirty="0" err="1"/>
              <a:t>Celula</a:t>
            </a:r>
            <a:r>
              <a:rPr lang="pt-BR" dirty="0"/>
              <a:t>(v, 0);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 err="1"/>
              <a:t>CelulaRef</a:t>
            </a:r>
            <a:r>
              <a:rPr lang="pt-BR" dirty="0"/>
              <a:t>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this.primeiro.prox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this.primeiro.prox</a:t>
            </a:r>
            <a:r>
              <a:rPr lang="pt-BR" dirty="0"/>
              <a:t> = new </a:t>
            </a:r>
            <a:r>
              <a:rPr lang="pt-BR" dirty="0" err="1"/>
              <a:t>CelulaRef</a:t>
            </a:r>
            <a:r>
              <a:rPr lang="pt-BR" dirty="0"/>
              <a:t>();</a:t>
            </a:r>
          </a:p>
          <a:p>
            <a:r>
              <a:rPr lang="pt-BR" dirty="0"/>
              <a:t>            </a:t>
            </a:r>
            <a:r>
              <a:rPr lang="pt-BR" dirty="0" err="1"/>
              <a:t>this.primeiro.prox.item</a:t>
            </a:r>
            <a:r>
              <a:rPr lang="pt-BR" dirty="0"/>
              <a:t> = item;</a:t>
            </a:r>
          </a:p>
          <a:p>
            <a:r>
              <a:rPr lang="pt-BR" dirty="0"/>
              <a:t>            </a:t>
            </a:r>
            <a:r>
              <a:rPr lang="pt-BR" dirty="0" err="1"/>
              <a:t>this.primeiro.prox.prox</a:t>
            </a:r>
            <a:r>
              <a:rPr lang="pt-BR" dirty="0"/>
              <a:t> = </a:t>
            </a:r>
            <a:r>
              <a:rPr lang="pt-BR" dirty="0" err="1"/>
              <a:t>aux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41709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6156176" y="2564904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</a:t>
            </a:r>
            <a:r>
              <a:rPr lang="pt-BR" dirty="0" err="1"/>
              <a:t>null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82642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</a:t>
            </a:r>
            <a:r>
              <a:rPr lang="pt-BR" dirty="0" err="1"/>
              <a:t>null</a:t>
            </a:r>
            <a:r>
              <a:rPr lang="pt-BR" dirty="0"/>
              <a:t> </a:t>
            </a:r>
          </a:p>
        </p:txBody>
      </p:sp>
      <p:sp>
        <p:nvSpPr>
          <p:cNvPr id="19" name="Elipse 18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Elipse 19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3" name="Conector reto 22"/>
          <p:cNvCxnSpPr>
            <a:stCxn id="20" idx="5"/>
            <a:endCxn id="21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9" idx="3"/>
            <a:endCxn id="20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6" name="Conector de seta reta 25"/>
          <p:cNvCxnSpPr>
            <a:stCxn id="19" idx="5"/>
            <a:endCxn id="25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0" idx="6"/>
            <a:endCxn id="25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2" name="Conector de seta reta 31"/>
          <p:cNvCxnSpPr>
            <a:stCxn id="25" idx="2"/>
            <a:endCxn id="21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835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</a:t>
            </a:r>
            <a:r>
              <a:rPr lang="pt-BR" dirty="0" err="1"/>
              <a:t>null</a:t>
            </a:r>
            <a:r>
              <a:rPr lang="pt-BR" dirty="0"/>
              <a:t> </a:t>
            </a:r>
          </a:p>
        </p:txBody>
      </p:sp>
      <p:sp>
        <p:nvSpPr>
          <p:cNvPr id="18" name="Elipse 17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" name="Elipse 21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Elipse 32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5" name="Conector reto 34"/>
          <p:cNvCxnSpPr>
            <a:stCxn id="22" idx="5"/>
            <a:endCxn id="33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18" idx="3"/>
            <a:endCxn id="22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8" name="Conector de seta reta 37"/>
          <p:cNvCxnSpPr>
            <a:stCxn id="18" idx="5"/>
            <a:endCxn id="37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2" idx="6"/>
            <a:endCxn id="37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264803" y="523898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_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44" name="Conector de seta reta 43"/>
          <p:cNvCxnSpPr>
            <a:stCxn id="37" idx="2"/>
            <a:endCxn id="33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2572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58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sp>
        <p:nvSpPr>
          <p:cNvPr id="19" name="Elipse 18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Elipse 19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24" name="Conector reto 23"/>
          <p:cNvCxnSpPr>
            <a:stCxn id="20" idx="5"/>
            <a:endCxn id="21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9" idx="3"/>
            <a:endCxn id="20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7" name="Conector de seta reta 26"/>
          <p:cNvCxnSpPr>
            <a:stCxn id="19" idx="5"/>
            <a:endCxn id="26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0" idx="6"/>
            <a:endCxn id="26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4" name="Conector de seta reta 33"/>
          <p:cNvCxnSpPr>
            <a:stCxn id="26" idx="2"/>
            <a:endCxn id="21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5014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58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sp>
        <p:nvSpPr>
          <p:cNvPr id="22" name="Elipse 21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Elipse 32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36" name="Conector reto 35"/>
          <p:cNvCxnSpPr>
            <a:stCxn id="23" idx="5"/>
            <a:endCxn id="33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2" idx="3"/>
            <a:endCxn id="23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9" name="Conector de seta reta 38"/>
          <p:cNvCxnSpPr>
            <a:stCxn id="22" idx="5"/>
            <a:endCxn id="38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23" idx="6"/>
            <a:endCxn id="38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5076056" y="52199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_</a:t>
            </a:r>
          </a:p>
        </p:txBody>
      </p:sp>
      <p:cxnSp>
        <p:nvCxnSpPr>
          <p:cNvPr id="45" name="Conector de seta reta 44"/>
          <p:cNvCxnSpPr>
            <a:stCxn id="38" idx="2"/>
            <a:endCxn id="33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2514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200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d -&gt;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sp>
        <p:nvSpPr>
          <p:cNvPr id="18" name="Elipse 17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Elipse 18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Elipse 19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24" name="Conector reto 23"/>
          <p:cNvCxnSpPr>
            <a:stCxn id="19" idx="5"/>
            <a:endCxn id="20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9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27" name="Conector de seta reta 26"/>
          <p:cNvCxnSpPr>
            <a:stCxn id="18" idx="5"/>
            <a:endCxn id="26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19" idx="6"/>
            <a:endCxn id="26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34" name="Conector de seta reta 33"/>
          <p:cNvCxnSpPr>
            <a:stCxn id="26" idx="2"/>
            <a:endCxn id="20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6765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2394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c -&gt; d -&gt;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cxnSp>
        <p:nvCxnSpPr>
          <p:cNvPr id="50" name="Conector de seta reta 49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" name="Elipse 21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3" name="Elipse 22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35" name="Conector reto 34"/>
          <p:cNvCxnSpPr>
            <a:stCxn id="22" idx="5"/>
            <a:endCxn id="23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1" idx="3"/>
            <a:endCxn id="22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38" name="Conector de seta reta 37"/>
          <p:cNvCxnSpPr>
            <a:stCxn id="21" idx="5"/>
            <a:endCxn id="37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2" idx="6"/>
            <a:endCxn id="37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44" name="Conector de seta reta 43"/>
          <p:cNvCxnSpPr>
            <a:stCxn id="37" idx="2"/>
            <a:endCxn id="23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7957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2796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a -&gt; c -&gt; d -&gt;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cxnSp>
        <p:nvCxnSpPr>
          <p:cNvPr id="50" name="Conector de seta reta 49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0" name="Elipse 19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26" name="Conector reto 25"/>
          <p:cNvCxnSpPr>
            <a:stCxn id="20" idx="5"/>
            <a:endCxn id="24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9" idx="3"/>
            <a:endCxn id="20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29" name="Conector de seta reta 28"/>
          <p:cNvCxnSpPr>
            <a:stCxn id="19" idx="5"/>
            <a:endCxn id="28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20" idx="6"/>
            <a:endCxn id="28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419872" y="327569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45" name="Conector de seta reta 44"/>
          <p:cNvCxnSpPr>
            <a:stCxn id="28" idx="2"/>
            <a:endCxn id="24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962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Implementem a solução de ordenação topológica dada em sala. Lembre-se que a ordenação topológica é aplicada apenas em grafos orientados e acíclicos.</a:t>
            </a:r>
          </a:p>
          <a:p>
            <a:r>
              <a:rPr lang="pt-BR" dirty="0"/>
              <a:t>Utilize seu algoritmo de detecção de ciclos em grafos para verificar se o grafo é acíclico.</a:t>
            </a:r>
          </a:p>
          <a:p>
            <a:r>
              <a:rPr lang="pt-BR" dirty="0"/>
              <a:t>Altere sua implementação de busca em profundidade para fazer a ordenação topológica.</a:t>
            </a:r>
          </a:p>
        </p:txBody>
      </p:sp>
    </p:spTree>
    <p:extLst>
      <p:ext uri="{BB962C8B-B14F-4D97-AF65-F5344CB8AC3E}">
        <p14:creationId xmlns:p14="http://schemas.microsoft.com/office/powerpoint/2010/main" val="181111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916832"/>
            <a:ext cx="329564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FilaRef</a:t>
            </a:r>
            <a:endParaRPr lang="pt-BR" dirty="0"/>
          </a:p>
          <a:p>
            <a:r>
              <a:rPr lang="pt-BR" dirty="0"/>
              <a:t>    {</a:t>
            </a:r>
          </a:p>
          <a:p>
            <a:r>
              <a:rPr lang="pt-BR" dirty="0"/>
              <a:t>    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item;</a:t>
            </a:r>
          </a:p>
          <a:p>
            <a:r>
              <a:rPr lang="pt-BR" dirty="0"/>
              <a:t>    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</a:t>
            </a:r>
            <a:r>
              <a:rPr lang="pt-BR" dirty="0" err="1"/>
              <a:t>prox</a:t>
            </a:r>
            <a:r>
              <a:rPr lang="pt-BR" dirty="0"/>
              <a:t>;</a:t>
            </a:r>
          </a:p>
          <a:p>
            <a:r>
              <a:rPr lang="pt-BR" dirty="0"/>
              <a:t>        }</a:t>
            </a:r>
          </a:p>
          <a:p>
            <a:r>
              <a:rPr lang="pt-BR" dirty="0"/>
              <a:t>    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frente;</a:t>
            </a:r>
          </a:p>
          <a:p>
            <a:r>
              <a:rPr lang="pt-BR" dirty="0"/>
              <a:t>    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</a:t>
            </a:r>
            <a:r>
              <a:rPr lang="pt-BR" dirty="0" err="1"/>
              <a:t>tras</a:t>
            </a:r>
            <a:r>
              <a:rPr lang="pt-BR" dirty="0"/>
              <a:t>;</a:t>
            </a:r>
          </a:p>
          <a:p>
            <a:r>
              <a:rPr lang="pt-BR" dirty="0"/>
              <a:t>    </a:t>
            </a:r>
          </a:p>
          <a:p>
            <a:r>
              <a:rPr lang="pt-BR" dirty="0"/>
              <a:t>        // Operações</a:t>
            </a:r>
          </a:p>
          <a:p>
            <a:r>
              <a:rPr lang="pt-BR" dirty="0"/>
              <a:t>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FilaRef</a:t>
            </a:r>
            <a:r>
              <a:rPr lang="pt-BR" dirty="0"/>
              <a:t> () </a:t>
            </a:r>
          </a:p>
          <a:p>
            <a:r>
              <a:rPr lang="pt-BR" dirty="0"/>
              <a:t>        { //Cria uma Fila vazia</a:t>
            </a:r>
          </a:p>
          <a:p>
            <a:r>
              <a:rPr lang="pt-BR" dirty="0"/>
              <a:t>            </a:t>
            </a:r>
            <a:r>
              <a:rPr lang="pt-BR" dirty="0" err="1"/>
              <a:t>this.frente</a:t>
            </a:r>
            <a:r>
              <a:rPr lang="pt-BR" dirty="0"/>
              <a:t> = new </a:t>
            </a:r>
            <a:r>
              <a:rPr lang="pt-BR" dirty="0" err="1"/>
              <a:t>Celula</a:t>
            </a:r>
            <a:r>
              <a:rPr lang="pt-BR" dirty="0"/>
              <a:t> ();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</a:t>
            </a:r>
            <a:r>
              <a:rPr lang="pt-BR" dirty="0"/>
              <a:t> = </a:t>
            </a:r>
            <a:r>
              <a:rPr lang="pt-BR" dirty="0" err="1"/>
              <a:t>this.frente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this.frente.prox</a:t>
            </a:r>
            <a:r>
              <a:rPr lang="pt-BR" dirty="0"/>
              <a:t> = </a:t>
            </a:r>
            <a:r>
              <a:rPr lang="pt-BR" dirty="0" err="1"/>
              <a:t>null</a:t>
            </a:r>
            <a:r>
              <a:rPr lang="pt-BR" dirty="0"/>
              <a:t>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493299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916832"/>
            <a:ext cx="539397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enfileira (</a:t>
            </a:r>
            <a:r>
              <a:rPr lang="pt-BR" dirty="0" err="1"/>
              <a:t>Object</a:t>
            </a:r>
            <a:r>
              <a:rPr lang="pt-BR" dirty="0"/>
              <a:t> x)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this.tras.prox</a:t>
            </a:r>
            <a:r>
              <a:rPr lang="pt-BR" dirty="0"/>
              <a:t> = new </a:t>
            </a:r>
            <a:r>
              <a:rPr lang="pt-BR" dirty="0" err="1"/>
              <a:t>Celula</a:t>
            </a:r>
            <a:r>
              <a:rPr lang="pt-BR" dirty="0"/>
              <a:t> ();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</a:t>
            </a:r>
            <a:r>
              <a:rPr lang="pt-BR" dirty="0"/>
              <a:t> = </a:t>
            </a:r>
            <a:r>
              <a:rPr lang="pt-BR" dirty="0" err="1"/>
              <a:t>this.tras.prox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this.tras.item</a:t>
            </a:r>
            <a:r>
              <a:rPr lang="pt-BR" dirty="0"/>
              <a:t> = x;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this.tras.prox</a:t>
            </a:r>
            <a:r>
              <a:rPr lang="pt-BR" dirty="0"/>
              <a:t> = </a:t>
            </a:r>
            <a:r>
              <a:rPr lang="pt-BR" dirty="0" err="1"/>
              <a:t>null</a:t>
            </a:r>
            <a:r>
              <a:rPr lang="pt-BR" dirty="0"/>
              <a:t>;</a:t>
            </a:r>
          </a:p>
          <a:p>
            <a:r>
              <a:rPr lang="pt-BR" dirty="0"/>
              <a:t>        }</a:t>
            </a:r>
          </a:p>
          <a:p>
            <a:r>
              <a:rPr lang="pt-BR" dirty="0"/>
              <a:t>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desenfileira</a:t>
            </a:r>
            <a:r>
              <a:rPr lang="pt-BR" dirty="0"/>
              <a:t> ()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Object</a:t>
            </a:r>
            <a:r>
              <a:rPr lang="pt-BR" dirty="0"/>
              <a:t> item = </a:t>
            </a:r>
            <a:r>
              <a:rPr lang="pt-BR" dirty="0" err="1"/>
              <a:t>null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this.vazia</a:t>
            </a:r>
            <a:r>
              <a:rPr lang="pt-BR" dirty="0"/>
              <a:t> ())</a:t>
            </a:r>
          </a:p>
          <a:p>
            <a:r>
              <a:rPr lang="pt-BR" dirty="0"/>
              <a:t>                </a:t>
            </a:r>
            <a:r>
              <a:rPr lang="pt-BR" dirty="0" err="1"/>
              <a:t>throw</a:t>
            </a:r>
            <a:r>
              <a:rPr lang="pt-BR" dirty="0"/>
              <a:t> new </a:t>
            </a:r>
            <a:r>
              <a:rPr lang="pt-BR" dirty="0" err="1"/>
              <a:t>Exception</a:t>
            </a:r>
            <a:r>
              <a:rPr lang="pt-BR" dirty="0"/>
              <a:t> ("Erro: A fila esta vazia");</a:t>
            </a:r>
          </a:p>
          <a:p>
            <a:r>
              <a:rPr lang="pt-BR" dirty="0"/>
              <a:t>            </a:t>
            </a:r>
          </a:p>
          <a:p>
            <a:r>
              <a:rPr lang="pt-BR" dirty="0"/>
              <a:t>            </a:t>
            </a:r>
            <a:r>
              <a:rPr lang="pt-BR" dirty="0" err="1"/>
              <a:t>this.frente</a:t>
            </a:r>
            <a:r>
              <a:rPr lang="pt-BR" dirty="0"/>
              <a:t> = </a:t>
            </a:r>
            <a:r>
              <a:rPr lang="pt-BR" dirty="0" err="1"/>
              <a:t>this.frente.prox</a:t>
            </a:r>
            <a:r>
              <a:rPr lang="pt-BR" dirty="0"/>
              <a:t>;</a:t>
            </a:r>
          </a:p>
          <a:p>
            <a:r>
              <a:rPr lang="pt-BR" dirty="0"/>
              <a:t>            item = </a:t>
            </a:r>
            <a:r>
              <a:rPr lang="pt-BR" dirty="0" err="1"/>
              <a:t>this.frente.item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return</a:t>
            </a:r>
            <a:r>
              <a:rPr lang="pt-BR" dirty="0"/>
              <a:t> item;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2353171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916832"/>
            <a:ext cx="520366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bool</a:t>
            </a:r>
            <a:r>
              <a:rPr lang="pt-BR" dirty="0"/>
              <a:t> vazia ()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return</a:t>
            </a:r>
            <a:r>
              <a:rPr lang="pt-BR" dirty="0"/>
              <a:t> (</a:t>
            </a:r>
            <a:r>
              <a:rPr lang="pt-BR" dirty="0" err="1"/>
              <a:t>this.frente</a:t>
            </a:r>
            <a:r>
              <a:rPr lang="pt-BR" dirty="0"/>
              <a:t> == </a:t>
            </a:r>
            <a:r>
              <a:rPr lang="pt-BR" dirty="0" err="1"/>
              <a:t>this.tras</a:t>
            </a:r>
            <a:r>
              <a:rPr lang="pt-BR" dirty="0"/>
              <a:t>);</a:t>
            </a:r>
          </a:p>
          <a:p>
            <a:r>
              <a:rPr lang="pt-BR" dirty="0"/>
              <a:t>        }</a:t>
            </a:r>
          </a:p>
          <a:p>
            <a:r>
              <a:rPr lang="pt-BR" dirty="0"/>
              <a:t>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imprime ()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Celula</a:t>
            </a:r>
            <a:r>
              <a:rPr lang="pt-BR" dirty="0"/>
              <a:t> </a:t>
            </a:r>
            <a:r>
              <a:rPr lang="pt-BR" dirty="0" err="1"/>
              <a:t>aux</a:t>
            </a:r>
            <a:r>
              <a:rPr lang="pt-BR" dirty="0"/>
              <a:t>;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this.frente.prox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while</a:t>
            </a:r>
            <a:r>
              <a:rPr lang="pt-BR" dirty="0"/>
              <a:t> (</a:t>
            </a:r>
            <a:r>
              <a:rPr lang="pt-BR" dirty="0" err="1"/>
              <a:t>aux</a:t>
            </a:r>
            <a:r>
              <a:rPr lang="pt-BR" dirty="0"/>
              <a:t> != </a:t>
            </a:r>
            <a:r>
              <a:rPr lang="pt-BR" dirty="0" err="1"/>
              <a:t>null</a:t>
            </a:r>
            <a:r>
              <a:rPr lang="pt-BR" dirty="0"/>
              <a:t>) {</a:t>
            </a:r>
          </a:p>
          <a:p>
            <a:r>
              <a:rPr lang="pt-BR" dirty="0"/>
              <a:t>                </a:t>
            </a:r>
            <a:r>
              <a:rPr lang="pt-BR" dirty="0" err="1"/>
              <a:t>Console.WriteLine</a:t>
            </a:r>
            <a:r>
              <a:rPr lang="pt-BR" dirty="0"/>
              <a:t>(" " + </a:t>
            </a:r>
            <a:r>
              <a:rPr lang="pt-BR" dirty="0" err="1"/>
              <a:t>aux.item.ToString</a:t>
            </a:r>
            <a:r>
              <a:rPr lang="pt-BR" dirty="0"/>
              <a:t> ());</a:t>
            </a:r>
          </a:p>
          <a:p>
            <a:r>
              <a:rPr lang="pt-BR" dirty="0"/>
              <a:t>               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            }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 err="1"/>
              <a:t>Console.WriteLine</a:t>
            </a:r>
            <a:r>
              <a:rPr lang="pt-BR" dirty="0"/>
              <a:t>();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4735745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 </a:t>
            </a:r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2002] Algoritmos: Teoria e Prática – Tradução da segunda edição em inglês. 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2002, 936 pp. Editora 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 </a:t>
            </a:r>
            <a:r>
              <a:rPr lang="pt-BR" dirty="0" err="1"/>
              <a:t>Algorithms</a:t>
            </a:r>
            <a:r>
              <a:rPr lang="pt-BR" dirty="0"/>
              <a:t> in C++. Robert </a:t>
            </a:r>
            <a:r>
              <a:rPr lang="pt-BR" dirty="0" err="1"/>
              <a:t>Segdewick</a:t>
            </a:r>
            <a:r>
              <a:rPr lang="pt-BR" dirty="0"/>
              <a:t>. c1992, 656 pp. </a:t>
            </a:r>
            <a:r>
              <a:rPr lang="en-US" dirty="0"/>
              <a:t>Boston: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3561</TotalTime>
  <Words>4292</Words>
  <Application>Microsoft Office PowerPoint</Application>
  <PresentationFormat>Apresentação na tela (4:3)</PresentationFormat>
  <Paragraphs>772</Paragraphs>
  <Slides>67</Slides>
  <Notes>0</Notes>
  <HiddenSlides>5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67</vt:i4>
      </vt:variant>
    </vt:vector>
  </HeadingPairs>
  <TitlesOfParts>
    <vt:vector size="71" baseType="lpstr">
      <vt:lpstr>Arial</vt:lpstr>
      <vt:lpstr>Calibri</vt:lpstr>
      <vt:lpstr>Cambria Math</vt:lpstr>
      <vt:lpstr>Tema do Office</vt:lpstr>
      <vt:lpstr>Unidade II  Caminhos e Circuitos</vt:lpstr>
      <vt:lpstr>Caminhos e circuitos</vt:lpstr>
      <vt:lpstr>Cadeias</vt:lpstr>
      <vt:lpstr>Pesquisa em grafos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Classificação das arestas no DFS</vt:lpstr>
      <vt:lpstr>Classificação das arestas no DFS</vt:lpstr>
      <vt:lpstr>Busca em Profundidade</vt:lpstr>
      <vt:lpstr>Busca em Profundidade</vt:lpstr>
      <vt:lpstr>Busca em Profundidade</vt:lpstr>
      <vt:lpstr>Busca em Profundidade</vt:lpstr>
      <vt:lpstr>Análise da Busca em Profundidade</vt:lpstr>
      <vt:lpstr>Busca em Profundidade</vt:lpstr>
      <vt:lpstr>Busca em Profundidade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 - Análise (para listas de adjacência)</vt:lpstr>
      <vt:lpstr>Caminho mais curto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196</cp:revision>
  <dcterms:created xsi:type="dcterms:W3CDTF">2011-08-03T02:09:11Z</dcterms:created>
  <dcterms:modified xsi:type="dcterms:W3CDTF">2016-08-18T13:19:51Z</dcterms:modified>
</cp:coreProperties>
</file>