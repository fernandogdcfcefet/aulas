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89" r:id="rId17"/>
    <p:sldId id="309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52" r:id="rId26"/>
    <p:sldId id="341" r:id="rId27"/>
    <p:sldId id="290" r:id="rId28"/>
    <p:sldId id="342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44" r:id="rId37"/>
    <p:sldId id="346" r:id="rId38"/>
    <p:sldId id="347" r:id="rId39"/>
    <p:sldId id="348" r:id="rId40"/>
    <p:sldId id="349" r:id="rId41"/>
    <p:sldId id="350" r:id="rId42"/>
    <p:sldId id="351" r:id="rId43"/>
    <p:sldId id="343" r:id="rId44"/>
    <p:sldId id="291" r:id="rId45"/>
    <p:sldId id="301" r:id="rId46"/>
    <p:sldId id="302" r:id="rId47"/>
    <p:sldId id="303" r:id="rId48"/>
    <p:sldId id="304" r:id="rId49"/>
    <p:sldId id="305" r:id="rId50"/>
    <p:sldId id="307" r:id="rId51"/>
    <p:sldId id="306" r:id="rId52"/>
    <p:sldId id="353" r:id="rId53"/>
    <p:sldId id="355" r:id="rId54"/>
    <p:sldId id="356" r:id="rId55"/>
    <p:sldId id="357" r:id="rId56"/>
    <p:sldId id="358" r:id="rId57"/>
    <p:sldId id="264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39" r:id="rId66"/>
    <p:sldId id="325" r:id="rId67"/>
    <p:sldId id="326" r:id="rId68"/>
    <p:sldId id="327" r:id="rId69"/>
    <p:sldId id="328" r:id="rId70"/>
    <p:sldId id="329" r:id="rId71"/>
    <p:sldId id="330" r:id="rId72"/>
    <p:sldId id="331" r:id="rId7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04/07/2016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V </a:t>
            </a:r>
            <a:br>
              <a:rPr lang="pt-BR" dirty="0"/>
            </a:br>
            <a:r>
              <a:rPr lang="pt-BR" dirty="0"/>
              <a:t>Árvores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Árvore é um grafo conexo que não contém circuitos (acíclico).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TEOREMAS:</a:t>
                </a:r>
              </a:p>
              <a:p>
                <a:pPr lvl="1"/>
                <a:r>
                  <a:rPr lang="pt-BR" sz="2000" dirty="0"/>
                  <a:t>Em uma árvore existe um e apenas um caminho entre cada par de vértices.</a:t>
                </a:r>
              </a:p>
              <a:p>
                <a:pPr lvl="1"/>
                <a:r>
                  <a:rPr lang="pt-BR" sz="2000" dirty="0"/>
                  <a:t>Se em um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, existe um único caminho entre qualquer</a:t>
                </a:r>
              </a:p>
              <a:p>
                <a:pPr lvl="1"/>
                <a:r>
                  <a:rPr lang="pt-BR" sz="2000" dirty="0"/>
                  <a:t>par de vértices, então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 é uma árvore.</a:t>
                </a:r>
              </a:p>
              <a:p>
                <a:pPr lvl="1"/>
                <a:r>
                  <a:rPr lang="pt-BR" sz="2000" dirty="0"/>
                  <a:t>Uma árvore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vértices tem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000" dirty="0"/>
                  <a:t> arestas</a:t>
                </a:r>
              </a:p>
              <a:p>
                <a:pPr lvl="1"/>
                <a:r>
                  <a:rPr lang="pt-BR" sz="2000" dirty="0"/>
                  <a:t>Todo grafo conexo com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vértices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000" dirty="0"/>
                  <a:t> arestas é uma árvore</a:t>
                </a:r>
              </a:p>
              <a:p>
                <a:pPr lvl="1"/>
                <a:r>
                  <a:rPr lang="pt-BR" sz="2000" dirty="0"/>
                  <a:t>Um grafo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000" dirty="0"/>
                  <a:t> é uma árvore se, e somente se, a remoção de qualquer aresta o desconectar (grafo minimamente conectado).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01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Então,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vértices é uma árvore 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conexo e sem circuito,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conexo e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arestas,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sem circuito e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 arestas, ou</a:t>
                </a:r>
              </a:p>
              <a:p>
                <a:pPr lvl="1"/>
                <a:r>
                  <a:rPr lang="pt-BR" dirty="0"/>
                  <a:t>Existe exatamente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caminho entre todos os pares de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ou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um grafo minimamente conectado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19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Em qualquer árvore com pelo menos 2 vértices existem pelo menos 2 vértices pendentes</a:t>
                </a:r>
              </a:p>
              <a:p>
                <a:r>
                  <a:rPr lang="pt-BR" dirty="0"/>
                  <a:t>Em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a distância d entre um par de vértices v</a:t>
                </a:r>
                <a:r>
                  <a:rPr lang="pt-BR" baseline="-25000" dirty="0"/>
                  <a:t>1</a:t>
                </a:r>
                <a:r>
                  <a:rPr lang="pt-BR" dirty="0"/>
                  <a:t> e v</a:t>
                </a:r>
                <a:r>
                  <a:rPr lang="pt-BR" baseline="-25000" dirty="0"/>
                  <a:t>2</a:t>
                </a:r>
                <a:r>
                  <a:rPr lang="pt-BR" dirty="0"/>
                  <a:t> corresponde ao número de arestas no menor caminho que une v</a:t>
                </a:r>
                <a:r>
                  <a:rPr lang="pt-BR" baseline="-25000" dirty="0"/>
                  <a:t>1</a:t>
                </a:r>
                <a:r>
                  <a:rPr lang="pt-BR" dirty="0"/>
                  <a:t> a v</a:t>
                </a:r>
                <a:r>
                  <a:rPr lang="pt-BR" baseline="-25000" dirty="0"/>
                  <a:t>2.</a:t>
                </a:r>
              </a:p>
              <a:p>
                <a:r>
                  <a:rPr lang="pt-BR" dirty="0"/>
                  <a:t>A </a:t>
                </a:r>
                <a:r>
                  <a:rPr lang="pt-BR" b="1" dirty="0"/>
                  <a:t>excentricidade</a:t>
                </a:r>
                <a:r>
                  <a:rPr lang="pt-BR" dirty="0"/>
                  <a:t> de um vértice v em um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a distância de v ao vértice mais distante</a:t>
                </a:r>
                <a:endParaRPr lang="pt-BR" baseline="-25000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830" r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0543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Centro de uma Árvore:</a:t>
                </a:r>
              </a:p>
              <a:p>
                <a:pPr lvl="1"/>
                <a:r>
                  <a:rPr lang="pt-BR" dirty="0"/>
                  <a:t>O centro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o vértice de menor excentricidade.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Quantos centros podem ter uma árvore?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69890"/>
            <a:ext cx="38004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06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sz="2800" dirty="0"/>
                  <a:t>TEOREMA:</a:t>
                </a:r>
              </a:p>
              <a:p>
                <a:pPr lvl="1"/>
                <a:r>
                  <a:rPr lang="pt-BR" sz="2400" dirty="0"/>
                  <a:t>Toda árvore tem exatamente 1 ou 2 centros.</a:t>
                </a:r>
              </a:p>
              <a:p>
                <a:pPr lvl="1"/>
                <a:r>
                  <a:rPr lang="pt-BR" sz="2400" dirty="0"/>
                  <a:t>Se uma árvore tem 2 centros, então estes centros são adjacentes.</a:t>
                </a:r>
              </a:p>
              <a:p>
                <a:pPr marL="457200" lvl="1" indent="0">
                  <a:buNone/>
                </a:pPr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endParaRPr lang="pt-BR" sz="2400" dirty="0"/>
              </a:p>
              <a:p>
                <a:pPr lvl="1"/>
                <a:r>
                  <a:rPr lang="pt-BR" sz="2400" dirty="0"/>
                  <a:t>Raio de um árvore é a excentricidade do centro</a:t>
                </a:r>
              </a:p>
              <a:p>
                <a:pPr lvl="1"/>
                <a:r>
                  <a:rPr lang="pt-BR" sz="2400" dirty="0"/>
                  <a:t>Diâmetro de uma árvore é o comprimento do maior caminho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8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157" y="2852936"/>
            <a:ext cx="446722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lipse 3"/>
          <p:cNvSpPr/>
          <p:nvPr/>
        </p:nvSpPr>
        <p:spPr>
          <a:xfrm>
            <a:off x="4427984" y="400506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31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Uma árvore geradora de um grafo conexo G é um </a:t>
                </a:r>
                <a:r>
                  <a:rPr lang="pt-BR" dirty="0" err="1"/>
                  <a:t>subgrafo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contém todos os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é uma árvore</a:t>
                </a:r>
              </a:p>
              <a:p>
                <a:r>
                  <a:rPr lang="pt-BR" dirty="0"/>
                  <a:t>Árvore geradora só é definida para grafos conexo porque toda árvore é conexa</a:t>
                </a:r>
              </a:p>
              <a:p>
                <a:r>
                  <a:rPr lang="pt-BR" dirty="0"/>
                  <a:t>Grafos não conexo possuem florestas geradoras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49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</p:spPr>
            <p:txBody>
              <a:bodyPr/>
              <a:lstStyle/>
              <a:p>
                <a:r>
                  <a:rPr lang="pt-BR" dirty="0"/>
                  <a:t>Dado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uma árvore geradora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define-se:</a:t>
                </a:r>
              </a:p>
              <a:p>
                <a:pPr lvl="1"/>
                <a:r>
                  <a:rPr lang="pt-BR" dirty="0"/>
                  <a:t>Galho: um aresta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Corda: uma aresta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não pertence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  <a:blipFill>
                <a:blip r:embed="rId2"/>
                <a:stretch>
                  <a:fillRect l="-1704" t="-3038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00" y="1772816"/>
            <a:ext cx="2673000" cy="1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8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861048"/>
                <a:ext cx="8229600" cy="226511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TEOREMAS:</a:t>
                </a:r>
              </a:p>
              <a:p>
                <a:pPr lvl="1"/>
                <a:r>
                  <a:rPr lang="pt-BR" dirty="0"/>
                  <a:t>Todo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tem uma árvore geradora</a:t>
                </a:r>
              </a:p>
              <a:p>
                <a:pPr lvl="1"/>
                <a:r>
                  <a:rPr lang="pt-BR" dirty="0"/>
                  <a:t>Dado um grafo conexo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vértices,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arestas e uma árvore geradora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pt-BR" dirty="0"/>
                  <a:t>galhos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+ 1</m:t>
                    </m:r>
                  </m:oMath>
                </a14:m>
                <a:r>
                  <a:rPr lang="pt-BR" dirty="0"/>
                  <a:t> cordas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861048"/>
                <a:ext cx="8229600" cy="2265115"/>
              </a:xfrm>
              <a:blipFill>
                <a:blip r:embed="rId2"/>
                <a:stretch>
                  <a:fillRect l="-1481" t="-53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500" y="1772816"/>
            <a:ext cx="2673000" cy="1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59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Exemplo: Um fazendeiro possui 6 lotes murados como mostrado na figura abaixo. Os lotes estão cheios de água. Quantos muros devem ser removidos para que toda a água seja liberada?</a:t>
            </a:r>
          </a:p>
          <a:p>
            <a:endParaRPr lang="pt-BR" sz="28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789040"/>
            <a:ext cx="2970000" cy="26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3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800" dirty="0"/>
                  <a:t>Árvore Geradora Mínima é uma árvore geradora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com peso mínimo.</a:t>
                </a:r>
              </a:p>
              <a:p>
                <a:r>
                  <a:rPr lang="pt-BR" sz="2800" dirty="0"/>
                  <a:t>Problema:</a:t>
                </a:r>
              </a:p>
              <a:p>
                <a:pPr lvl="1"/>
                <a:r>
                  <a:rPr lang="pt-BR" sz="2400" dirty="0"/>
                  <a:t>Dado um grafo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com pesos associados às arestas, encontrar uma árvore geradora mínima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Exemplo:</a:t>
                </a:r>
              </a:p>
              <a:p>
                <a:pPr lvl="1"/>
                <a:r>
                  <a:rPr lang="pt-BR" sz="2400" dirty="0"/>
                  <a:t>Devemos conectar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cidades v</a:t>
                </a:r>
                <a:r>
                  <a:rPr lang="pt-BR" sz="2400" baseline="-25000" dirty="0"/>
                  <a:t>1</a:t>
                </a:r>
                <a:r>
                  <a:rPr lang="pt-BR" sz="2400" dirty="0"/>
                  <a:t>, v</a:t>
                </a:r>
                <a:r>
                  <a:rPr lang="pt-BR" sz="2400" baseline="-25000" dirty="0"/>
                  <a:t>2</a:t>
                </a:r>
                <a:r>
                  <a:rPr lang="pt-BR" sz="2400" dirty="0"/>
                  <a:t>, ..., </a:t>
                </a:r>
                <a:r>
                  <a:rPr lang="pt-BR" sz="2400" dirty="0" err="1"/>
                  <a:t>v</a:t>
                </a:r>
                <a:r>
                  <a:rPr lang="pt-BR" sz="2400" baseline="-25000" dirty="0" err="1"/>
                  <a:t>n</a:t>
                </a:r>
                <a:r>
                  <a:rPr lang="pt-BR" sz="2400" dirty="0"/>
                  <a:t> através de uma rede de estradas. Seja </a:t>
                </a:r>
                <a:r>
                  <a:rPr lang="pt-BR" sz="2400" dirty="0" err="1"/>
                  <a:t>c</a:t>
                </a:r>
                <a:r>
                  <a:rPr lang="pt-BR" sz="2400" baseline="-25000" dirty="0" err="1"/>
                  <a:t>ij</a:t>
                </a:r>
                <a:r>
                  <a:rPr lang="pt-BR" sz="2400" dirty="0"/>
                  <a:t> o custo de construir uma estrada entre as cidades v</a:t>
                </a:r>
                <a:r>
                  <a:rPr lang="pt-BR" sz="2400" baseline="-25000" dirty="0"/>
                  <a:t>i</a:t>
                </a:r>
                <a:r>
                  <a:rPr lang="pt-BR" sz="2400" dirty="0"/>
                  <a:t> e </a:t>
                </a:r>
                <a:r>
                  <a:rPr lang="pt-BR" sz="2400" dirty="0" err="1"/>
                  <a:t>v</a:t>
                </a:r>
                <a:r>
                  <a:rPr lang="pt-BR" sz="2400" baseline="-25000" dirty="0" err="1"/>
                  <a:t>j</a:t>
                </a:r>
                <a:r>
                  <a:rPr lang="pt-BR" sz="2400" dirty="0"/>
                  <a:t>. O problema é então encontrar a rede que minimiza o custo para conectar as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cidades.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4042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Exemplo: Um pomar com 10 pés de frutas deve ser irrigado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Cada cano entre duas árvores tem um custo proporcional ao comprimento do cano e à dificuldade e implantação</a:t>
            </a:r>
          </a:p>
          <a:p>
            <a:r>
              <a:rPr lang="pt-BR" sz="2400" dirty="0"/>
              <a:t>Como encontrar o sistema de irrigação que minimiza o custo de implantação?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988840"/>
            <a:ext cx="4320480" cy="225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0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Geradora Mínima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Projeto de redes de comunicações conectando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localidades.</a:t>
                </a:r>
              </a:p>
              <a:p>
                <a:r>
                  <a:rPr lang="pt-BR" dirty="0"/>
                  <a:t>Arranjo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− 1 </m:t>
                    </m:r>
                  </m:oMath>
                </a14:m>
                <a:r>
                  <a:rPr lang="pt-BR" dirty="0"/>
                  <a:t>conexões, conectando duas localidades cada.</a:t>
                </a:r>
              </a:p>
              <a:p>
                <a:r>
                  <a:rPr lang="pt-BR" dirty="0"/>
                  <a:t>Objetivo: dentre as possibilidades de conexões, achar a que usa menor quantidade de cabos.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2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63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AGM - Algoritmo Genérico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Uma estratégia </a:t>
                </a:r>
                <a:r>
                  <a:rPr lang="pt-BR" sz="2800" b="1" dirty="0"/>
                  <a:t>gulosa </a:t>
                </a:r>
                <a:r>
                  <a:rPr lang="pt-BR" sz="2800" dirty="0"/>
                  <a:t>permite obter a AGM adicionando uma aresta de cada vez.</a:t>
                </a:r>
              </a:p>
              <a:p>
                <a:r>
                  <a:rPr lang="pt-BR" sz="2800" dirty="0"/>
                  <a:t>Invariante: Antes de cada iteração,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é um subconjunto de uma árvore geradora mínima.</a:t>
                </a:r>
              </a:p>
              <a:p>
                <a:r>
                  <a:rPr lang="pt-BR" sz="2800" dirty="0"/>
                  <a:t>A cada passo adicionamos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uma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que não viola o invariante.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/>
                  <a:t>é chamada de uma </a:t>
                </a:r>
                <a:r>
                  <a:rPr lang="pt-BR" sz="2800" b="1" dirty="0"/>
                  <a:t>aresta segura</a:t>
                </a:r>
                <a:r>
                  <a:rPr lang="pt-BR" sz="2800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690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dirigido, cujas arestas possuem pesos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Prim</a:t>
                </a:r>
                <a:r>
                  <a:rPr lang="pt-BR" sz="2800" dirty="0"/>
                  <a:t> para obter uma AGM pode ser derivado do algoritmo genérico.</a:t>
                </a:r>
              </a:p>
              <a:p>
                <a:r>
                  <a:rPr lang="pt-BR" sz="2800" dirty="0"/>
                  <a:t>O subconjunto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forma uma única árvore, e a aresta adicionada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é sempre uma aresta de peso mínimo </a:t>
                </a:r>
                <a:r>
                  <a:rPr lang="pt-BR" sz="2800" b="1" dirty="0"/>
                  <a:t>conectando a árvore a um vértice que não esteja na árvore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7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A árvore começa por um vértice qualquer (no caso </a:t>
                </a:r>
                <a:r>
                  <a:rPr lang="pt-BR" sz="2800" b="1" dirty="0"/>
                  <a:t>a</a:t>
                </a:r>
                <a:r>
                  <a:rPr lang="pt-BR" sz="2800" dirty="0"/>
                  <a:t>) e cresce até que “gere” todos os vértices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Quando o algoritmo termina, as arestas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formam uma árvore geradora mínima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8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6" name="CaixaDeTexto 115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373587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</p:spTree>
    <p:extLst>
      <p:ext uri="{BB962C8B-B14F-4D97-AF65-F5344CB8AC3E}">
        <p14:creationId xmlns:p14="http://schemas.microsoft.com/office/powerpoint/2010/main" val="774041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4134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084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03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1112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85992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4093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08725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7171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4576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48419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e-b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395536" y="5590981"/>
                <a:ext cx="67427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Custo: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𝑉</m:t>
                    </m:r>
                    <m:r>
                      <a:rPr lang="pt-BR" i="1" dirty="0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pt-BR" i="1" dirty="0" smtClean="0">
                        <a:latin typeface="Cambria Math"/>
                      </a:rPr>
                      <m:t>𝐸</m:t>
                    </m:r>
                  </m:oMath>
                </a14:m>
                <a:endParaRPr lang="pt-BR" dirty="0"/>
              </a:p>
              <a:p>
                <a:r>
                  <a:rPr lang="pt-BR" dirty="0"/>
                  <a:t>Para grafos densos, temos que: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𝐸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≅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então temos: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pt-BR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/>
                  <a:t> no pior caso.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590981"/>
                <a:ext cx="6742743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814" t="-4717" r="-814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837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(</a:t>
            </a:r>
            <a:r>
              <a:rPr lang="pt-BR" dirty="0" err="1"/>
              <a:t>Prim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[</a:t>
            </a:r>
            <a:r>
              <a:rPr lang="pt-BR" sz="2400" dirty="0" err="1"/>
              <a:t>Sedgewick</a:t>
            </a:r>
            <a:r>
              <a:rPr lang="pt-BR" sz="2400" dirty="0"/>
              <a:t> 20.33]  Considere o grafo cujos vértices são os pontos no plano dados abaixo. Suponha que as arestas do grafo são  1-0 3-5 5-2 3-4 5-1 0-3 0-4 4-2 2-3  e o custo de cada aresta é igual ao comprimento do segmento de reta que liga as pontas da aresta.  Aplique o algoritmo de </a:t>
            </a:r>
            <a:r>
              <a:rPr lang="pt-BR" sz="2400" dirty="0" err="1"/>
              <a:t>Prim</a:t>
            </a:r>
            <a:r>
              <a:rPr lang="pt-BR" sz="2400" dirty="0"/>
              <a:t> a esse grafo. Exiba uma figura do grafo e da </a:t>
            </a:r>
            <a:r>
              <a:rPr lang="pt-BR" sz="2400" dirty="0" err="1"/>
              <a:t>subárvore</a:t>
            </a:r>
            <a:r>
              <a:rPr lang="pt-BR" sz="2400" dirty="0"/>
              <a:t> no início de cada iteração. </a:t>
            </a:r>
          </a:p>
          <a:p>
            <a:pPr marL="0" indent="0" algn="ctr">
              <a:buNone/>
            </a:pPr>
            <a:r>
              <a:rPr lang="pt-BR" sz="2400" dirty="0"/>
              <a:t>0 	1 	2 	3 	4 	5 </a:t>
            </a:r>
          </a:p>
          <a:p>
            <a:pPr marL="0" indent="0" algn="ctr">
              <a:buNone/>
            </a:pPr>
            <a:r>
              <a:rPr lang="pt-BR" sz="2400" dirty="0"/>
              <a:t>(1,3) 	(2,1) 	(6,5) 	(3,4) 	(3,7) 	(5,3)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02472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dirigido, cujas arestas possuem pesos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Kruskal</a:t>
                </a:r>
                <a:r>
                  <a:rPr lang="pt-BR" sz="2800" dirty="0"/>
                  <a:t> encontra uma AGM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r>
                  <a:rPr lang="pt-BR" sz="2800" dirty="0"/>
                  <a:t>O algoritmo de </a:t>
                </a:r>
                <a:r>
                  <a:rPr lang="pt-BR" sz="2800" dirty="0" err="1"/>
                  <a:t>Kruskal</a:t>
                </a:r>
                <a:r>
                  <a:rPr lang="pt-BR" sz="2800" dirty="0"/>
                  <a:t> inicia com a AGM vazia e acrescenta as arestas de menor peso que não formam circuito</a:t>
                </a:r>
              </a:p>
              <a:p>
                <a:r>
                  <a:rPr lang="pt-BR" sz="2800" dirty="0"/>
                  <a:t>Termina ao inserir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pt-BR" sz="2800" dirty="0"/>
                  <a:t>arestas.</a:t>
                </a:r>
              </a:p>
              <a:p>
                <a:r>
                  <a:rPr lang="pt-BR" sz="2800" dirty="0"/>
                  <a:t>Considera as arestas ordenadas pelo peso.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614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É guloso porque, a cada passo, ele adiciona à floresta uma aresta de menor peso.</a:t>
                </a:r>
              </a:p>
              <a:p>
                <a:r>
                  <a:rPr lang="pt-BR" sz="2800" dirty="0"/>
                  <a:t>Obtém uma AGM adicionando uma aresta de cada vez à floresta e, a cada passo, usa a aresta de menor peso que não forma ciclo.</a:t>
                </a:r>
              </a:p>
              <a:p>
                <a:r>
                  <a:rPr lang="pt-BR" sz="2800" dirty="0"/>
                  <a:t>Inicia com uma floresta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árvores de um vértice: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pt-BR" sz="2800" dirty="0"/>
                  <a:t> passos, </a:t>
                </a:r>
                <a:r>
                  <a:rPr lang="pt-BR" sz="2800" b="1" dirty="0"/>
                  <a:t>une duas árvores até que exista apenas uma árvore na floresta</a:t>
                </a:r>
                <a:r>
                  <a:rPr lang="pt-BR" sz="2800" dirty="0"/>
                  <a:t>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590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/>
              <p:cNvSpPr txBox="1"/>
              <p:nvPr/>
            </p:nvSpPr>
            <p:spPr>
              <a:xfrm>
                <a:off x="395536" y="5445224"/>
                <a:ext cx="60486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Inicialmente existem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árvores (vértices de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até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pt-BR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Objetivo: unir todas as árvores pela aresta de menor peso até que haja apenas uma árvore na floresta</a:t>
                </a:r>
              </a:p>
            </p:txBody>
          </p:sp>
        </mc:Choice>
        <mc:Fallback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445224"/>
                <a:ext cx="6048672" cy="923330"/>
              </a:xfrm>
              <a:prstGeom prst="rect">
                <a:avLst/>
              </a:prstGeom>
              <a:blipFill>
                <a:blip r:embed="rId2"/>
                <a:stretch>
                  <a:fillRect l="-706" t="-3289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357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16283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042767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512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91567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512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496993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312737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4505609" y="48114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3628328" y="4454779"/>
            <a:ext cx="877281" cy="561804"/>
          </a:xfrm>
          <a:prstGeom prst="line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900827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7"/>
            <a:endCxn id="6" idx="2"/>
          </p:cNvCxnSpPr>
          <p:nvPr/>
        </p:nvCxnSpPr>
        <p:spPr>
          <a:xfrm flipV="1">
            <a:off x="2188168" y="2635041"/>
            <a:ext cx="976355" cy="657863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1"/>
            <a:endCxn id="11" idx="5"/>
          </p:cNvCxnSpPr>
          <p:nvPr/>
        </p:nvCxnSpPr>
        <p:spPr>
          <a:xfrm flipH="1" flipV="1">
            <a:off x="4969415" y="3617449"/>
            <a:ext cx="101098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7" idx="6"/>
          </p:cNvCxnSpPr>
          <p:nvPr/>
        </p:nvCxnSpPr>
        <p:spPr>
          <a:xfrm flipH="1">
            <a:off x="3707904" y="4309700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6"/>
            <a:endCxn id="22" idx="3"/>
          </p:cNvCxnSpPr>
          <p:nvPr/>
        </p:nvCxnSpPr>
        <p:spPr>
          <a:xfrm flipV="1">
            <a:off x="5048990" y="4454779"/>
            <a:ext cx="931413" cy="561804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/>
          <p:cNvSpPr txBox="1"/>
          <p:nvPr/>
        </p:nvSpPr>
        <p:spPr>
          <a:xfrm>
            <a:off x="2411760" y="269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8" name="CaixaDeTexto 107"/>
          <p:cNvSpPr txBox="1"/>
          <p:nvPr/>
        </p:nvSpPr>
        <p:spPr>
          <a:xfrm>
            <a:off x="5364088" y="35730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11" name="CaixaDeTexto 110"/>
          <p:cNvSpPr txBox="1"/>
          <p:nvPr/>
        </p:nvSpPr>
        <p:spPr>
          <a:xfrm>
            <a:off x="4630354" y="39957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2" name="CaixaDeTexto 111"/>
          <p:cNvSpPr txBox="1"/>
          <p:nvPr/>
        </p:nvSpPr>
        <p:spPr>
          <a:xfrm>
            <a:off x="3851920" y="47100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4" name="CaixaDeTexto 113"/>
          <p:cNvSpPr txBox="1"/>
          <p:nvPr/>
        </p:nvSpPr>
        <p:spPr>
          <a:xfrm>
            <a:off x="5474909" y="47100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115616" y="1722874"/>
            <a:ext cx="1989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Não pode fechar ciclo</a:t>
            </a:r>
          </a:p>
        </p:txBody>
      </p:sp>
      <p:cxnSp>
        <p:nvCxnSpPr>
          <p:cNvPr id="33" name="Conector reto 32"/>
          <p:cNvCxnSpPr/>
          <p:nvPr/>
        </p:nvCxnSpPr>
        <p:spPr>
          <a:xfrm>
            <a:off x="539552" y="1907540"/>
            <a:ext cx="504056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7164288" y="1772816"/>
            <a:ext cx="19797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r>
              <a:rPr lang="pt-BR" sz="1600" dirty="0"/>
              <a:t> </a:t>
            </a:r>
            <a:r>
              <a:rPr lang="pt-BR" sz="1600" dirty="0" err="1"/>
              <a:t>e-g</a:t>
            </a:r>
            <a:r>
              <a:rPr lang="pt-BR" sz="1600" dirty="0"/>
              <a:t> g-f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935154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Como saber se uma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 conecta ou não duas árvores na floresta?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pt-BR" sz="2400" dirty="0"/>
                  <a:t>em cada árvore da floresta, eleja um dos vértices para ser o </a:t>
                </a:r>
                <a:r>
                  <a:rPr lang="pt-BR" sz="2400" i="1" dirty="0"/>
                  <a:t>chefe</a:t>
                </a:r>
                <a:r>
                  <a:rPr lang="pt-BR" sz="2400" dirty="0"/>
                  <a:t> da árvore;</a:t>
                </a:r>
              </a:p>
              <a:p>
                <a:pPr marL="914400" lvl="1" indent="-457200">
                  <a:buFont typeface="+mj-lt"/>
                  <a:buAutoNum type="arabicParenR"/>
                </a:pPr>
                <a:r>
                  <a:rPr lang="pt-BR" sz="2400" dirty="0"/>
                  <a:t>mantenha um vetor chefe[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 …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400" dirty="0"/>
                  <a:t>] tal que chefe[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] é o chefe da árvore que contém o vértice 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Agora, ao adicionar uma nova aresta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, verifique se chefe[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800" dirty="0"/>
                  <a:t>] é diferente de chefe[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800" dirty="0"/>
                  <a:t>]. </a:t>
                </a:r>
              </a:p>
              <a:p>
                <a:endParaRPr lang="pt-BR" sz="2800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22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/>
          <p:cNvSpPr txBox="1"/>
          <p:nvPr/>
        </p:nvSpPr>
        <p:spPr>
          <a:xfrm>
            <a:off x="179512" y="6361583"/>
            <a:ext cx="2984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/>
              <a:t>Adaptado de Paulo </a:t>
            </a:r>
            <a:r>
              <a:rPr lang="pt-BR" sz="1400" i="1" dirty="0" err="1"/>
              <a:t>Feofiloff</a:t>
            </a:r>
            <a:r>
              <a:rPr lang="pt-BR" sz="1400" i="1" dirty="0"/>
              <a:t> (IME-USP)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69179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/>
              <a:t>--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c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e</a:t>
            </a:r>
          </a:p>
        </p:txBody>
      </p:sp>
    </p:spTree>
    <p:extLst>
      <p:ext uri="{BB962C8B-B14F-4D97-AF65-F5344CB8AC3E}">
        <p14:creationId xmlns:p14="http://schemas.microsoft.com/office/powerpoint/2010/main" val="2694075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</a:t>
            </a:r>
            <a:r>
              <a:rPr lang="pt-BR" b="1" dirty="0"/>
              <a:t>b</a:t>
            </a:r>
          </a:p>
          <a:p>
            <a:r>
              <a:rPr lang="pt-BR" dirty="0"/>
              <a:t>Chefe [c] = c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</a:t>
            </a:r>
            <a:r>
              <a:rPr lang="pt-BR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910028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</a:t>
            </a:r>
            <a:r>
              <a:rPr lang="pt-BR" b="1" dirty="0"/>
              <a:t>b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</a:t>
            </a:r>
            <a:r>
              <a:rPr lang="pt-BR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0776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  <a:p>
            <a:r>
              <a:rPr lang="pt-BR" dirty="0"/>
              <a:t>Chefe [c]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  <a:p>
            <a:r>
              <a:rPr lang="pt-BR" dirty="0"/>
              <a:t>Chefe [d] = d</a:t>
            </a:r>
          </a:p>
          <a:p>
            <a:r>
              <a:rPr lang="pt-BR" dirty="0"/>
              <a:t>Chefe [e] = b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924887" y="3820398"/>
            <a:ext cx="1" cy="1120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23528" y="5158933"/>
            <a:ext cx="543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Chefe de </a:t>
            </a:r>
            <a:r>
              <a:rPr lang="pt-BR" b="1" dirty="0"/>
              <a:t>b</a:t>
            </a:r>
            <a:r>
              <a:rPr lang="pt-BR" dirty="0"/>
              <a:t> é </a:t>
            </a:r>
            <a:r>
              <a:rPr lang="pt-BR" b="1" dirty="0"/>
              <a:t>igual</a:t>
            </a:r>
            <a:r>
              <a:rPr lang="pt-BR" dirty="0"/>
              <a:t> ao chefe de </a:t>
            </a:r>
            <a:r>
              <a:rPr lang="pt-BR" b="1" dirty="0"/>
              <a:t>c</a:t>
            </a:r>
            <a:r>
              <a:rPr lang="pt-BR" dirty="0"/>
              <a:t>, então a aresta não pode ser adicionada (não une duas árvores distintas)</a:t>
            </a:r>
          </a:p>
        </p:txBody>
      </p:sp>
    </p:spTree>
    <p:extLst>
      <p:ext uri="{BB962C8B-B14F-4D97-AF65-F5344CB8AC3E}">
        <p14:creationId xmlns:p14="http://schemas.microsoft.com/office/powerpoint/2010/main" val="11092155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</a:t>
            </a:r>
            <a:r>
              <a:rPr lang="pt-BR" b="1" dirty="0"/>
              <a:t>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b</a:t>
            </a:r>
          </a:p>
          <a:p>
            <a:r>
              <a:rPr lang="pt-BR" dirty="0"/>
              <a:t>Chefe [d] = </a:t>
            </a:r>
            <a:r>
              <a:rPr lang="pt-BR" b="1" dirty="0"/>
              <a:t>a</a:t>
            </a:r>
          </a:p>
          <a:p>
            <a:r>
              <a:rPr lang="pt-BR" dirty="0"/>
              <a:t>Chefe [e] = b</a:t>
            </a:r>
          </a:p>
        </p:txBody>
      </p:sp>
    </p:spTree>
    <p:extLst>
      <p:ext uri="{BB962C8B-B14F-4D97-AF65-F5344CB8AC3E}">
        <p14:creationId xmlns:p14="http://schemas.microsoft.com/office/powerpoint/2010/main" val="7230169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724363" y="3232811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Elipse 5"/>
          <p:cNvSpPr/>
          <p:nvPr/>
        </p:nvSpPr>
        <p:spPr>
          <a:xfrm>
            <a:off x="3164523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3164523" y="410452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5"/>
            <a:endCxn id="7" idx="2"/>
          </p:cNvCxnSpPr>
          <p:nvPr/>
        </p:nvCxnSpPr>
        <p:spPr>
          <a:xfrm>
            <a:off x="2188168" y="3583062"/>
            <a:ext cx="976355" cy="726638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4505610" y="3267198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Conector de seta reta 13"/>
          <p:cNvCxnSpPr>
            <a:stCxn id="11" idx="1"/>
            <a:endCxn id="6" idx="5"/>
          </p:cNvCxnSpPr>
          <p:nvPr/>
        </p:nvCxnSpPr>
        <p:spPr>
          <a:xfrm flipH="1" flipV="1">
            <a:off x="3628328" y="2780120"/>
            <a:ext cx="956858" cy="547171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00827" y="242986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7" name="Conector reto 26"/>
          <p:cNvCxnSpPr>
            <a:stCxn id="7" idx="0"/>
            <a:endCxn id="6" idx="4"/>
          </p:cNvCxnSpPr>
          <p:nvPr/>
        </p:nvCxnSpPr>
        <p:spPr>
          <a:xfrm flipV="1">
            <a:off x="3436214" y="2840213"/>
            <a:ext cx="0" cy="1264315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7"/>
            <a:endCxn id="11" idx="3"/>
          </p:cNvCxnSpPr>
          <p:nvPr/>
        </p:nvCxnSpPr>
        <p:spPr>
          <a:xfrm flipV="1">
            <a:off x="3628328" y="3617449"/>
            <a:ext cx="956858" cy="54717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3"/>
            <a:endCxn id="11" idx="7"/>
          </p:cNvCxnSpPr>
          <p:nvPr/>
        </p:nvCxnSpPr>
        <p:spPr>
          <a:xfrm flipH="1">
            <a:off x="4969415" y="2780120"/>
            <a:ext cx="1010988" cy="5471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3707904" y="2635041"/>
            <a:ext cx="2192923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/>
          <p:cNvSpPr txBox="1"/>
          <p:nvPr/>
        </p:nvSpPr>
        <p:spPr>
          <a:xfrm>
            <a:off x="3059832" y="32756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07" name="CaixaDeTexto 106"/>
          <p:cNvSpPr txBox="1"/>
          <p:nvPr/>
        </p:nvSpPr>
        <p:spPr>
          <a:xfrm>
            <a:off x="2447447" y="39403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09" name="CaixaDeTexto 108"/>
          <p:cNvSpPr txBox="1"/>
          <p:nvPr/>
        </p:nvSpPr>
        <p:spPr>
          <a:xfrm>
            <a:off x="4659587" y="22768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10" name="CaixaDeTexto 109"/>
          <p:cNvSpPr txBox="1"/>
          <p:nvPr/>
        </p:nvSpPr>
        <p:spPr>
          <a:xfrm>
            <a:off x="5220072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13" name="CaixaDeTexto 112"/>
          <p:cNvSpPr txBox="1"/>
          <p:nvPr/>
        </p:nvSpPr>
        <p:spPr>
          <a:xfrm>
            <a:off x="405429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15" name="CaixaDeTexto 114"/>
          <p:cNvSpPr txBox="1"/>
          <p:nvPr/>
        </p:nvSpPr>
        <p:spPr>
          <a:xfrm>
            <a:off x="3843750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7164288" y="1772816"/>
            <a:ext cx="15121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/>
              <a:t>subárvore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endParaRPr lang="pt-BR" sz="1600" dirty="0"/>
          </a:p>
          <a:p>
            <a:r>
              <a:rPr lang="pt-BR" sz="1600" dirty="0" err="1"/>
              <a:t>b-e</a:t>
            </a:r>
            <a:r>
              <a:rPr lang="pt-BR" sz="1600" dirty="0"/>
              <a:t> </a:t>
            </a:r>
            <a:r>
              <a:rPr lang="pt-BR" sz="1600" dirty="0" err="1"/>
              <a:t>e-c</a:t>
            </a:r>
            <a:r>
              <a:rPr lang="pt-BR" sz="1600" dirty="0"/>
              <a:t> </a:t>
            </a:r>
            <a:r>
              <a:rPr lang="pt-BR" sz="1600" dirty="0" err="1"/>
              <a:t>a-d</a:t>
            </a:r>
            <a:r>
              <a:rPr lang="pt-BR" sz="1600" dirty="0"/>
              <a:t> </a:t>
            </a:r>
            <a:r>
              <a:rPr lang="pt-BR" sz="1600" dirty="0" err="1"/>
              <a:t>d-e</a:t>
            </a:r>
            <a:endParaRPr lang="pt-BR" sz="1600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233737" y="2103933"/>
            <a:ext cx="1382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Chefe [a] = a</a:t>
            </a:r>
          </a:p>
          <a:p>
            <a:r>
              <a:rPr lang="pt-BR" dirty="0"/>
              <a:t>Chefe [b] = b</a:t>
            </a:r>
          </a:p>
          <a:p>
            <a:r>
              <a:rPr lang="pt-BR" dirty="0"/>
              <a:t>Chefe [c] = b</a:t>
            </a:r>
          </a:p>
          <a:p>
            <a:r>
              <a:rPr lang="pt-BR" dirty="0"/>
              <a:t>Chefe [d] = </a:t>
            </a:r>
            <a:r>
              <a:rPr lang="pt-BR" b="1" dirty="0">
                <a:solidFill>
                  <a:srgbClr val="FF0000"/>
                </a:solidFill>
              </a:rPr>
              <a:t>a</a:t>
            </a:r>
          </a:p>
          <a:p>
            <a:r>
              <a:rPr lang="pt-BR" dirty="0"/>
              <a:t>Chefe [e] = </a:t>
            </a:r>
            <a:r>
              <a:rPr lang="pt-BR" b="1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10" name="Conector de seta reta 9"/>
          <p:cNvCxnSpPr/>
          <p:nvPr/>
        </p:nvCxnSpPr>
        <p:spPr>
          <a:xfrm flipV="1">
            <a:off x="924887" y="3820398"/>
            <a:ext cx="1" cy="1120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23528" y="5158933"/>
            <a:ext cx="5433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Chefe de </a:t>
            </a:r>
            <a:r>
              <a:rPr lang="pt-BR" b="1" dirty="0"/>
              <a:t>d</a:t>
            </a:r>
            <a:r>
              <a:rPr lang="pt-BR" dirty="0"/>
              <a:t> é </a:t>
            </a:r>
            <a:r>
              <a:rPr lang="pt-BR" b="1" dirty="0"/>
              <a:t>diferente</a:t>
            </a:r>
            <a:r>
              <a:rPr lang="pt-BR" dirty="0"/>
              <a:t> do chefe de </a:t>
            </a:r>
            <a:r>
              <a:rPr lang="pt-BR" b="1" dirty="0"/>
              <a:t>e</a:t>
            </a:r>
            <a:r>
              <a:rPr lang="pt-BR" dirty="0"/>
              <a:t>, então a aresta pode ser adicionada (une duas árvores distintas).</a:t>
            </a:r>
          </a:p>
        </p:txBody>
      </p:sp>
    </p:spTree>
    <p:extLst>
      <p:ext uri="{BB962C8B-B14F-4D97-AF65-F5344CB8AC3E}">
        <p14:creationId xmlns:p14="http://schemas.microsoft.com/office/powerpoint/2010/main" val="2313676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(</a:t>
            </a:r>
            <a:r>
              <a:rPr lang="pt-BR" dirty="0" err="1"/>
              <a:t>Kruskal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[</a:t>
            </a:r>
            <a:r>
              <a:rPr lang="pt-BR" sz="2400" dirty="0" err="1"/>
              <a:t>Sedgewick</a:t>
            </a:r>
            <a:r>
              <a:rPr lang="pt-BR" sz="2400" dirty="0"/>
              <a:t> 20.48] Considere o grafo conexo cujos vértices são os pontos no plano indicados a seguir. Suponha que as arestas do grafo são  1-0 3-5 5-2 3-4 5-1 0-3 0-4 4-2 2-3  e o custo de cada aresta v-w é igual ao comprimento do segmento de reta que liga os pontos v e w no plano. </a:t>
            </a:r>
          </a:p>
          <a:p>
            <a:pPr marL="0" indent="0">
              <a:buNone/>
            </a:pPr>
            <a:endParaRPr lang="pt-BR" sz="2400" dirty="0"/>
          </a:p>
          <a:p>
            <a:pPr marL="0" indent="0" algn="ctr">
              <a:buNone/>
            </a:pPr>
            <a:r>
              <a:rPr lang="pt-BR" sz="2400" dirty="0"/>
              <a:t>0	 1	 2	 3	 4	 5 </a:t>
            </a:r>
          </a:p>
          <a:p>
            <a:pPr marL="0" indent="0" algn="ctr">
              <a:buNone/>
            </a:pPr>
            <a:r>
              <a:rPr lang="pt-BR" sz="2400" dirty="0"/>
              <a:t>(1,3)	 (2,1)	 (6,5)	 (3,4)	 (3,7)	 (5,3) </a:t>
            </a:r>
          </a:p>
          <a:p>
            <a:endParaRPr lang="pt-BR" sz="2400" dirty="0"/>
          </a:p>
          <a:p>
            <a:pPr algn="just"/>
            <a:r>
              <a:rPr lang="pt-BR" sz="2400" dirty="0"/>
              <a:t>Aplique o algoritmo de </a:t>
            </a:r>
            <a:r>
              <a:rPr lang="pt-BR" sz="2400" dirty="0" err="1"/>
              <a:t>Kruskal</a:t>
            </a:r>
            <a:r>
              <a:rPr lang="pt-BR" sz="2400" dirty="0"/>
              <a:t> a esse grafo. Exiba uma figura do grafo e da floresta no início de cada iteração. Dê a ordem em que o algoritmo descobre as arestas da </a:t>
            </a:r>
            <a:r>
              <a:rPr lang="pt-BR" sz="2400" cap="small" dirty="0" err="1"/>
              <a:t>mst</a:t>
            </a:r>
            <a:r>
              <a:rPr lang="pt-BR" sz="2400" dirty="0"/>
              <a:t>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060296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de Steiner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Dada uma rede representada por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onde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8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é o conjunto de nós sensores,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800" dirty="0"/>
                  <a:t> são as arestas que representam as conexões entre eles com um custo associado.</a:t>
                </a:r>
              </a:p>
              <a:p>
                <a:r>
                  <a:rPr lang="pt-BR" sz="2800" dirty="0"/>
                  <a:t>O problema está em como construir a árvore de custo mínimo conectando todos os nós sensores S = s</a:t>
                </a:r>
                <a:r>
                  <a:rPr lang="pt-BR" sz="2800" baseline="-25000" dirty="0"/>
                  <a:t>1</a:t>
                </a:r>
                <a:r>
                  <a:rPr lang="pt-BR" sz="2800" dirty="0"/>
                  <a:t> , s</a:t>
                </a:r>
                <a:r>
                  <a:rPr lang="pt-BR" sz="2800" baseline="-25000" dirty="0"/>
                  <a:t>2</a:t>
                </a:r>
                <a:r>
                  <a:rPr lang="pt-BR" sz="2800" dirty="0"/>
                  <a:t> , ...  , </a:t>
                </a:r>
                <a:r>
                  <a:rPr lang="pt-BR" sz="2800" dirty="0" err="1"/>
                  <a:t>s</a:t>
                </a:r>
                <a:r>
                  <a:rPr lang="pt-BR" sz="2800" baseline="-25000" dirty="0" err="1"/>
                  <a:t>m</a:t>
                </a:r>
                <a:r>
                  <a:rPr lang="pt-BR" sz="2800" dirty="0"/>
                  <a:t>, S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pt-BR" sz="2800" dirty="0"/>
                  <a:t> V.</a:t>
                </a:r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8145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pt-BR" sz="2800" dirty="0"/>
                  <a:t>Considere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não dirigido.</a:t>
                </a:r>
              </a:p>
              <a:p>
                <a:r>
                  <a:rPr lang="pt-BR" sz="2800" dirty="0"/>
                  <a:t>Considere também um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𝑇</m:t>
                    </m:r>
                    <m:r>
                      <a:rPr lang="pt-BR" sz="2800" b="0" i="1" smtClean="0">
                        <a:latin typeface="Cambria Math"/>
                      </a:rPr>
                      <m:t>⊆</m:t>
                    </m:r>
                    <m:r>
                      <a:rPr lang="pt-BR" sz="28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800" dirty="0"/>
                  <a:t> (de nós terminais) e o subconjunto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/>
                      </a:rPr>
                      <m:t>𝑆</m:t>
                    </m:r>
                    <m:r>
                      <a:rPr lang="pt-BR" sz="2800" i="1">
                        <a:latin typeface="Cambria Math"/>
                      </a:rPr>
                      <m:t>⊆</m:t>
                    </m:r>
                    <m:r>
                      <a:rPr lang="pt-BR" sz="2800" i="1">
                        <a:latin typeface="Cambria Math"/>
                      </a:rPr>
                      <m:t>𝑉</m:t>
                    </m:r>
                    <m:r>
                      <a:rPr lang="pt-BR" sz="2800" i="1">
                        <a:latin typeface="Cambria Math"/>
                      </a:rPr>
                      <m:t> </m:t>
                    </m:r>
                  </m:oMath>
                </a14:m>
                <a:r>
                  <a:rPr lang="pt-BR" sz="2800" dirty="0"/>
                  <a:t>(de nós de Steiner).</a:t>
                </a:r>
              </a:p>
              <a:p>
                <a:pPr lvl="1"/>
                <a:r>
                  <a:rPr lang="pt-BR" sz="2400" dirty="0"/>
                  <a:t>Tais que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r>
                      <a:rPr lang="pt-BR" sz="2400" b="0" i="1" smtClean="0">
                        <a:latin typeface="Cambria Math"/>
                      </a:rPr>
                      <m:t>𝑆</m:t>
                    </m:r>
                    <m:r>
                      <a:rPr lang="pt-BR" sz="2400" b="0" i="1" smtClean="0">
                        <a:latin typeface="Cambria Math"/>
                      </a:rPr>
                      <m:t>=</m:t>
                    </m:r>
                    <m:r>
                      <a:rPr lang="pt-BR" sz="2400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𝑇</m:t>
                    </m:r>
                    <m:r>
                      <a:rPr lang="pt-BR" sz="240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sz="2400" i="1">
                        <a:latin typeface="Cambria Math"/>
                      </a:rPr>
                      <m:t>𝑆</m:t>
                    </m:r>
                    <m:r>
                      <a:rPr lang="pt-BR" sz="2400" i="1">
                        <a:latin typeface="Cambria Math"/>
                      </a:rPr>
                      <m:t>=∅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sz="2800" dirty="0"/>
                  <a:t>A Árvore de Steiner é uma árvore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que une todos os vértices pertencentes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2800" dirty="0"/>
                  <a:t> e, opcionalmente, alguns vértices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Não é necessário utilizar todos os vértices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Vértices 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800" dirty="0"/>
                  <a:t> são utilizados para manter a conectividade. </a:t>
                </a:r>
              </a:p>
              <a:p>
                <a:endParaRPr lang="pt-BR" sz="2800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213" r="-2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296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687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ector de seta reta 138"/>
          <p:cNvCxnSpPr/>
          <p:nvPr/>
        </p:nvCxnSpPr>
        <p:spPr>
          <a:xfrm flipH="1">
            <a:off x="6588224" y="2295456"/>
            <a:ext cx="504056" cy="4405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aixaDeTexto 139"/>
          <p:cNvSpPr txBox="1"/>
          <p:nvPr/>
        </p:nvSpPr>
        <p:spPr>
          <a:xfrm>
            <a:off x="6372200" y="1916832"/>
            <a:ext cx="1480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terminais</a:t>
            </a:r>
          </a:p>
        </p:txBody>
      </p:sp>
      <p:cxnSp>
        <p:nvCxnSpPr>
          <p:cNvPr id="143" name="Conector de seta reta 142"/>
          <p:cNvCxnSpPr/>
          <p:nvPr/>
        </p:nvCxnSpPr>
        <p:spPr>
          <a:xfrm flipV="1">
            <a:off x="1691680" y="4544366"/>
            <a:ext cx="720080" cy="3340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CaixaDeTexto 143"/>
          <p:cNvSpPr txBox="1"/>
          <p:nvPr/>
        </p:nvSpPr>
        <p:spPr>
          <a:xfrm>
            <a:off x="211082" y="4791337"/>
            <a:ext cx="155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Nós de Steiner</a:t>
            </a:r>
          </a:p>
        </p:txBody>
      </p:sp>
    </p:spTree>
    <p:extLst>
      <p:ext uri="{BB962C8B-B14F-4D97-AF65-F5344CB8AC3E}">
        <p14:creationId xmlns:p14="http://schemas.microsoft.com/office/powerpoint/2010/main" val="2850609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915544" y="2894703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5" idx="2"/>
            <a:endCxn id="4" idx="6"/>
          </p:cNvCxnSpPr>
          <p:nvPr/>
        </p:nvCxnSpPr>
        <p:spPr>
          <a:xfrm flipH="1" flipV="1">
            <a:off x="2987824" y="2862228"/>
            <a:ext cx="927720" cy="104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2555776" y="437439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7" idx="3"/>
            <a:endCxn id="38" idx="7"/>
          </p:cNvCxnSpPr>
          <p:nvPr/>
        </p:nvCxnSpPr>
        <p:spPr>
          <a:xfrm flipH="1">
            <a:off x="2678701" y="3831426"/>
            <a:ext cx="762262" cy="564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5207599" y="4410697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2" idx="0"/>
          </p:cNvCxnSpPr>
          <p:nvPr/>
        </p:nvCxnSpPr>
        <p:spPr>
          <a:xfrm>
            <a:off x="4716016" y="3831426"/>
            <a:ext cx="563591" cy="579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6"/>
            <a:endCxn id="53" idx="2"/>
          </p:cNvCxnSpPr>
          <p:nvPr/>
        </p:nvCxnSpPr>
        <p:spPr>
          <a:xfrm flipV="1">
            <a:off x="5351615" y="4464554"/>
            <a:ext cx="1236609" cy="1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4" idx="4"/>
            <a:endCxn id="38" idx="0"/>
          </p:cNvCxnSpPr>
          <p:nvPr/>
        </p:nvCxnSpPr>
        <p:spPr>
          <a:xfrm flipH="1">
            <a:off x="2627784" y="2934236"/>
            <a:ext cx="288032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37" idx="6"/>
            <a:endCxn id="50" idx="2"/>
          </p:cNvCxnSpPr>
          <p:nvPr/>
        </p:nvCxnSpPr>
        <p:spPr>
          <a:xfrm flipV="1">
            <a:off x="3563888" y="3759418"/>
            <a:ext cx="1080120" cy="21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" idx="4"/>
            <a:endCxn id="37" idx="0"/>
          </p:cNvCxnSpPr>
          <p:nvPr/>
        </p:nvCxnSpPr>
        <p:spPr>
          <a:xfrm flipH="1">
            <a:off x="3491880" y="3038719"/>
            <a:ext cx="495672" cy="669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22" idx="2"/>
            <a:endCxn id="5" idx="6"/>
          </p:cNvCxnSpPr>
          <p:nvPr/>
        </p:nvCxnSpPr>
        <p:spPr>
          <a:xfrm flipH="1" flipV="1">
            <a:off x="4059560" y="2966711"/>
            <a:ext cx="867341" cy="39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1" idx="0"/>
            <a:endCxn id="23" idx="4"/>
          </p:cNvCxnSpPr>
          <p:nvPr/>
        </p:nvCxnSpPr>
        <p:spPr>
          <a:xfrm flipV="1">
            <a:off x="5940152" y="2880051"/>
            <a:ext cx="495672" cy="82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" idx="5"/>
            <a:endCxn id="50" idx="1"/>
          </p:cNvCxnSpPr>
          <p:nvPr/>
        </p:nvCxnSpPr>
        <p:spPr>
          <a:xfrm>
            <a:off x="4038469" y="3017628"/>
            <a:ext cx="626630" cy="690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60" idx="2"/>
            <a:endCxn id="38" idx="6"/>
          </p:cNvCxnSpPr>
          <p:nvPr/>
        </p:nvCxnSpPr>
        <p:spPr>
          <a:xfrm flipH="1" flipV="1">
            <a:off x="2699792" y="4446404"/>
            <a:ext cx="1471972" cy="25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22" idx="5"/>
            <a:endCxn id="51" idx="1"/>
          </p:cNvCxnSpPr>
          <p:nvPr/>
        </p:nvCxnSpPr>
        <p:spPr>
          <a:xfrm>
            <a:off x="5049826" y="3057161"/>
            <a:ext cx="839409" cy="66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22"/>
          <p:cNvCxnSpPr>
            <a:stCxn id="52" idx="2"/>
            <a:endCxn id="60" idx="6"/>
          </p:cNvCxnSpPr>
          <p:nvPr/>
        </p:nvCxnSpPr>
        <p:spPr>
          <a:xfrm flipH="1" flipV="1">
            <a:off x="4315780" y="4472319"/>
            <a:ext cx="891819" cy="103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29"/>
          <p:cNvCxnSpPr>
            <a:stCxn id="51" idx="3"/>
            <a:endCxn id="52" idx="7"/>
          </p:cNvCxnSpPr>
          <p:nvPr/>
        </p:nvCxnSpPr>
        <p:spPr>
          <a:xfrm flipH="1">
            <a:off x="5330524" y="3823854"/>
            <a:ext cx="558711" cy="607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ctor reto 131"/>
          <p:cNvCxnSpPr>
            <a:stCxn id="23" idx="4"/>
            <a:endCxn id="53" idx="0"/>
          </p:cNvCxnSpPr>
          <p:nvPr/>
        </p:nvCxnSpPr>
        <p:spPr>
          <a:xfrm>
            <a:off x="6435824" y="2880051"/>
            <a:ext cx="224408" cy="1512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to 136"/>
          <p:cNvCxnSpPr>
            <a:stCxn id="52" idx="3"/>
            <a:endCxn id="133" idx="7"/>
          </p:cNvCxnSpPr>
          <p:nvPr/>
        </p:nvCxnSpPr>
        <p:spPr>
          <a:xfrm flipH="1">
            <a:off x="4814648" y="4533622"/>
            <a:ext cx="414042" cy="504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124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p:sp>
        <p:nvSpPr>
          <p:cNvPr id="4" name="Elipse 3"/>
          <p:cNvSpPr/>
          <p:nvPr/>
        </p:nvSpPr>
        <p:spPr>
          <a:xfrm>
            <a:off x="2843808" y="279022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2070140"/>
                <a:ext cx="39356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/>
          <p:cNvSpPr/>
          <p:nvPr/>
        </p:nvSpPr>
        <p:spPr>
          <a:xfrm>
            <a:off x="4926901" y="2934236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/>
          <p:cNvSpPr/>
          <p:nvPr/>
        </p:nvSpPr>
        <p:spPr>
          <a:xfrm>
            <a:off x="6363816" y="2736035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3" idx="2"/>
            <a:endCxn id="22" idx="6"/>
          </p:cNvCxnSpPr>
          <p:nvPr/>
        </p:nvCxnSpPr>
        <p:spPr>
          <a:xfrm flipH="1">
            <a:off x="5070917" y="2808043"/>
            <a:ext cx="1292899" cy="1982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3419872" y="3708501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644008" y="3687410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5868144" y="3700929"/>
            <a:ext cx="144016" cy="14401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6588224" y="4392546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51" idx="2"/>
            <a:endCxn id="50" idx="6"/>
          </p:cNvCxnSpPr>
          <p:nvPr/>
        </p:nvCxnSpPr>
        <p:spPr>
          <a:xfrm flipH="1" flipV="1">
            <a:off x="4788024" y="3759418"/>
            <a:ext cx="1080120" cy="13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1" idx="4"/>
            <a:endCxn id="53" idx="0"/>
          </p:cNvCxnSpPr>
          <p:nvPr/>
        </p:nvCxnSpPr>
        <p:spPr>
          <a:xfrm>
            <a:off x="5940152" y="3844945"/>
            <a:ext cx="720080" cy="5476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4171764" y="4400311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8" name="Conector reto 77"/>
          <p:cNvCxnSpPr>
            <a:stCxn id="37" idx="0"/>
            <a:endCxn id="4" idx="5"/>
          </p:cNvCxnSpPr>
          <p:nvPr/>
        </p:nvCxnSpPr>
        <p:spPr>
          <a:xfrm flipH="1" flipV="1">
            <a:off x="2966733" y="2913145"/>
            <a:ext cx="525147" cy="7953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37" idx="4"/>
            <a:endCxn id="60" idx="0"/>
          </p:cNvCxnSpPr>
          <p:nvPr/>
        </p:nvCxnSpPr>
        <p:spPr>
          <a:xfrm>
            <a:off x="3491880" y="3852517"/>
            <a:ext cx="751892" cy="5477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50" idx="3"/>
            <a:endCxn id="60" idx="7"/>
          </p:cNvCxnSpPr>
          <p:nvPr/>
        </p:nvCxnSpPr>
        <p:spPr>
          <a:xfrm flipH="1">
            <a:off x="4294689" y="3810335"/>
            <a:ext cx="370410" cy="6110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50" idx="0"/>
            <a:endCxn id="22" idx="4"/>
          </p:cNvCxnSpPr>
          <p:nvPr/>
        </p:nvCxnSpPr>
        <p:spPr>
          <a:xfrm flipV="1">
            <a:off x="4716016" y="3078252"/>
            <a:ext cx="282893" cy="609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Elipse 132"/>
          <p:cNvSpPr/>
          <p:nvPr/>
        </p:nvSpPr>
        <p:spPr>
          <a:xfrm>
            <a:off x="4691723" y="5016653"/>
            <a:ext cx="144016" cy="14401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5" name="Conector reto 134"/>
          <p:cNvCxnSpPr>
            <a:stCxn id="60" idx="5"/>
            <a:endCxn id="133" idx="1"/>
          </p:cNvCxnSpPr>
          <p:nvPr/>
        </p:nvCxnSpPr>
        <p:spPr>
          <a:xfrm>
            <a:off x="4294689" y="4523236"/>
            <a:ext cx="418125" cy="5145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755576" y="6021288"/>
            <a:ext cx="5704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Os nós de Steiner mantém o grafo resultante conexo.</a:t>
            </a:r>
          </a:p>
        </p:txBody>
      </p:sp>
    </p:spTree>
    <p:extLst>
      <p:ext uri="{BB962C8B-B14F-4D97-AF65-F5344CB8AC3E}">
        <p14:creationId xmlns:p14="http://schemas.microsoft.com/office/powerpoint/2010/main" val="2593501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de Steiner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Semelhante ao problema da árvore geradora mínima:</a:t>
                </a:r>
              </a:p>
              <a:p>
                <a:pPr lvl="1"/>
                <a:r>
                  <a:rPr lang="pt-BR" dirty="0"/>
                  <a:t>Dado um conjunto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de pontos (vértices), interligá-las por um grafo de menor tamanho, que é a soma dos tamanhos de todas as arestas.</a:t>
                </a:r>
              </a:p>
              <a:p>
                <a:r>
                  <a:rPr lang="pt-BR" dirty="0"/>
                  <a:t>As </a:t>
                </a:r>
                <a:r>
                  <a:rPr lang="pt-BR" dirty="0" err="1"/>
                  <a:t>AGMs</a:t>
                </a:r>
                <a:r>
                  <a:rPr lang="pt-BR" dirty="0"/>
                  <a:t> conectam um conjunto de pontos dados e possuem custo mínimo, mas requerem que todas as conexões sejam entre estes pontos.</a:t>
                </a:r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259" b="-33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4912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 da Árvore de Steiner (ST)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Definição (Problema de decisão):</a:t>
                </a:r>
              </a:p>
              <a:p>
                <a:pPr lvl="1"/>
                <a:r>
                  <a:rPr lang="pt-BR" dirty="0"/>
                  <a:t>Considere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um subconjunto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T</m:t>
                    </m:r>
                    <m:r>
                      <a:rPr lang="pt-BR" i="1">
                        <a:latin typeface="Cambria Math"/>
                      </a:rPr>
                      <m:t>⊆</m:t>
                    </m:r>
                    <m:r>
                      <a:rPr lang="pt-BR" i="1">
                        <a:latin typeface="Cambria Math"/>
                      </a:rPr>
                      <m:t>𝑉</m:t>
                    </m:r>
                  </m:oMath>
                </a14:m>
                <a:r>
                  <a:rPr lang="pt-BR" dirty="0"/>
                  <a:t>e um inteiro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r>
                  <a:rPr lang="pt-BR" dirty="0"/>
                  <a:t>Existe uma </a:t>
                </a:r>
                <a:r>
                  <a:rPr lang="pt-BR" dirty="0" err="1"/>
                  <a:t>subárvore</a:t>
                </a:r>
                <a:r>
                  <a:rPr lang="pt-BR" dirty="0"/>
                  <a:t>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que inclui todos os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/>
                  <a:t> e que tenha no máximo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dirty="0"/>
                  <a:t> arestas?</a:t>
                </a:r>
              </a:p>
              <a:p>
                <a:pPr lvl="1"/>
                <a:endParaRPr lang="pt-BR" dirty="0"/>
              </a:p>
              <a:p>
                <a:r>
                  <a:rPr lang="pt-BR" dirty="0"/>
                  <a:t>O Problema da Árvore de Steiner (ST) é um problema NP-Completo. </a:t>
                </a:r>
              </a:p>
              <a:p>
                <a:pPr lvl="1"/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5306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5" name="Conector reto 64"/>
          <p:cNvCxnSpPr>
            <a:stCxn id="6" idx="3"/>
            <a:endCxn id="5" idx="1"/>
          </p:cNvCxnSpPr>
          <p:nvPr/>
        </p:nvCxnSpPr>
        <p:spPr>
          <a:xfrm flipV="1">
            <a:off x="3491814" y="2286165"/>
            <a:ext cx="2069945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" idx="3"/>
            <a:endCxn id="11" idx="1"/>
          </p:cNvCxnSpPr>
          <p:nvPr/>
        </p:nvCxnSpPr>
        <p:spPr>
          <a:xfrm>
            <a:off x="3491814" y="2286187"/>
            <a:ext cx="3445453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" idx="2"/>
            <a:endCxn id="8" idx="0"/>
          </p:cNvCxnSpPr>
          <p:nvPr/>
        </p:nvCxnSpPr>
        <p:spPr>
          <a:xfrm flipH="1">
            <a:off x="3116564" y="2535788"/>
            <a:ext cx="9745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" idx="1"/>
            <a:endCxn id="10" idx="0"/>
          </p:cNvCxnSpPr>
          <p:nvPr/>
        </p:nvCxnSpPr>
        <p:spPr>
          <a:xfrm flipH="1">
            <a:off x="1758158" y="2286187"/>
            <a:ext cx="1002646" cy="14476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5" idx="2"/>
            <a:endCxn id="9" idx="0"/>
          </p:cNvCxnSpPr>
          <p:nvPr/>
        </p:nvCxnSpPr>
        <p:spPr>
          <a:xfrm>
            <a:off x="5927298" y="2535788"/>
            <a:ext cx="7357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1"/>
            <a:endCxn id="10" idx="3"/>
          </p:cNvCxnSpPr>
          <p:nvPr/>
        </p:nvCxnSpPr>
        <p:spPr>
          <a:xfrm flipH="1">
            <a:off x="2123663" y="2286165"/>
            <a:ext cx="3438096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11" idx="1"/>
            <a:endCxn id="8" idx="3"/>
          </p:cNvCxnSpPr>
          <p:nvPr/>
        </p:nvCxnSpPr>
        <p:spPr>
          <a:xfrm flipH="1">
            <a:off x="3482102" y="3983454"/>
            <a:ext cx="3455165" cy="17430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11" idx="1"/>
            <a:endCxn id="10" idx="3"/>
          </p:cNvCxnSpPr>
          <p:nvPr/>
        </p:nvCxnSpPr>
        <p:spPr>
          <a:xfrm flipH="1" flipV="1">
            <a:off x="2123663" y="3983432"/>
            <a:ext cx="4813604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9" idx="1"/>
            <a:endCxn id="10" idx="3"/>
          </p:cNvCxnSpPr>
          <p:nvPr/>
        </p:nvCxnSpPr>
        <p:spPr>
          <a:xfrm flipH="1" flipV="1">
            <a:off x="2123663" y="3983432"/>
            <a:ext cx="3445487" cy="17430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/>
          <p:cNvCxnSpPr>
            <a:stCxn id="9" idx="1"/>
            <a:endCxn id="8" idx="3"/>
          </p:cNvCxnSpPr>
          <p:nvPr/>
        </p:nvCxnSpPr>
        <p:spPr>
          <a:xfrm flipH="1" flipV="1">
            <a:off x="3482102" y="5726507"/>
            <a:ext cx="2087048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" idx="1"/>
            <a:endCxn id="10" idx="2"/>
          </p:cNvCxnSpPr>
          <p:nvPr/>
        </p:nvCxnSpPr>
        <p:spPr>
          <a:xfrm flipH="1" flipV="1">
            <a:off x="1758158" y="4233033"/>
            <a:ext cx="992867" cy="1493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4" name="CaixaDeTexto 183"/>
          <p:cNvSpPr txBox="1"/>
          <p:nvPr/>
        </p:nvSpPr>
        <p:spPr>
          <a:xfrm>
            <a:off x="1803460" y="48609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5" name="CaixaDeTexto 184"/>
          <p:cNvSpPr txBox="1"/>
          <p:nvPr/>
        </p:nvSpPr>
        <p:spPr>
          <a:xfrm>
            <a:off x="3801454" y="27654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6" name="CaixaDeTexto 185"/>
          <p:cNvSpPr txBox="1"/>
          <p:nvPr/>
        </p:nvSpPr>
        <p:spPr>
          <a:xfrm>
            <a:off x="3192852" y="43006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3439816" y="36618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8" name="CaixaDeTexto 187"/>
          <p:cNvSpPr txBox="1"/>
          <p:nvPr/>
        </p:nvSpPr>
        <p:spPr>
          <a:xfrm>
            <a:off x="4321130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192" name="CaixaDeTexto 191"/>
          <p:cNvSpPr txBox="1"/>
          <p:nvPr/>
        </p:nvSpPr>
        <p:spPr>
          <a:xfrm>
            <a:off x="4979398" y="48766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3" name="CaixaDeTexto 192"/>
          <p:cNvSpPr txBox="1"/>
          <p:nvPr/>
        </p:nvSpPr>
        <p:spPr>
          <a:xfrm>
            <a:off x="4404469" y="5710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94" name="CaixaDeTexto 193"/>
          <p:cNvSpPr txBox="1"/>
          <p:nvPr/>
        </p:nvSpPr>
        <p:spPr>
          <a:xfrm>
            <a:off x="6217188" y="3364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95" name="CaixaDeTexto 194"/>
          <p:cNvSpPr txBox="1"/>
          <p:nvPr/>
        </p:nvSpPr>
        <p:spPr>
          <a:xfrm>
            <a:off x="5927297" y="45911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196" name="CaixaDeTexto 195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7" name="CaixaDeTexto 196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9641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7" name="Conector reto 66"/>
          <p:cNvCxnSpPr>
            <a:stCxn id="6" idx="3"/>
            <a:endCxn id="11" idx="1"/>
          </p:cNvCxnSpPr>
          <p:nvPr/>
        </p:nvCxnSpPr>
        <p:spPr>
          <a:xfrm>
            <a:off x="3491814" y="2286187"/>
            <a:ext cx="3445453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" idx="2"/>
            <a:endCxn id="8" idx="0"/>
          </p:cNvCxnSpPr>
          <p:nvPr/>
        </p:nvCxnSpPr>
        <p:spPr>
          <a:xfrm flipH="1">
            <a:off x="3116564" y="2535788"/>
            <a:ext cx="9745" cy="29410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5" idx="2"/>
            <a:endCxn id="9" idx="0"/>
          </p:cNvCxnSpPr>
          <p:nvPr/>
        </p:nvCxnSpPr>
        <p:spPr>
          <a:xfrm>
            <a:off x="5927298" y="2535788"/>
            <a:ext cx="7357" cy="29411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5" idx="1"/>
            <a:endCxn id="10" idx="3"/>
          </p:cNvCxnSpPr>
          <p:nvPr/>
        </p:nvCxnSpPr>
        <p:spPr>
          <a:xfrm flipH="1">
            <a:off x="2123663" y="2286165"/>
            <a:ext cx="3438096" cy="16972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11" idx="1"/>
            <a:endCxn id="8" idx="3"/>
          </p:cNvCxnSpPr>
          <p:nvPr/>
        </p:nvCxnSpPr>
        <p:spPr>
          <a:xfrm flipH="1">
            <a:off x="3482102" y="3983454"/>
            <a:ext cx="3455165" cy="17430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11" idx="1"/>
            <a:endCxn id="10" idx="3"/>
          </p:cNvCxnSpPr>
          <p:nvPr/>
        </p:nvCxnSpPr>
        <p:spPr>
          <a:xfrm flipH="1" flipV="1">
            <a:off x="2123663" y="3983432"/>
            <a:ext cx="4813604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/>
          <p:cNvCxnSpPr>
            <a:stCxn id="9" idx="1"/>
            <a:endCxn id="10" idx="3"/>
          </p:cNvCxnSpPr>
          <p:nvPr/>
        </p:nvCxnSpPr>
        <p:spPr>
          <a:xfrm flipH="1" flipV="1">
            <a:off x="2123663" y="3983432"/>
            <a:ext cx="3445487" cy="17430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" idx="1"/>
            <a:endCxn id="10" idx="2"/>
          </p:cNvCxnSpPr>
          <p:nvPr/>
        </p:nvCxnSpPr>
        <p:spPr>
          <a:xfrm flipH="1" flipV="1">
            <a:off x="1758158" y="4233033"/>
            <a:ext cx="992867" cy="14934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4" name="CaixaDeTexto 183"/>
          <p:cNvSpPr txBox="1"/>
          <p:nvPr/>
        </p:nvSpPr>
        <p:spPr>
          <a:xfrm>
            <a:off x="1803460" y="48609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5" name="CaixaDeTexto 184"/>
          <p:cNvSpPr txBox="1"/>
          <p:nvPr/>
        </p:nvSpPr>
        <p:spPr>
          <a:xfrm>
            <a:off x="3801454" y="27654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6" name="CaixaDeTexto 185"/>
          <p:cNvSpPr txBox="1"/>
          <p:nvPr/>
        </p:nvSpPr>
        <p:spPr>
          <a:xfrm>
            <a:off x="3192852" y="43006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7" name="CaixaDeTexto 186"/>
          <p:cNvSpPr txBox="1"/>
          <p:nvPr/>
        </p:nvSpPr>
        <p:spPr>
          <a:xfrm>
            <a:off x="3439816" y="36618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22</a:t>
            </a:r>
          </a:p>
        </p:txBody>
      </p:sp>
      <p:sp>
        <p:nvSpPr>
          <p:cNvPr id="188" name="CaixaDeTexto 187"/>
          <p:cNvSpPr txBox="1"/>
          <p:nvPr/>
        </p:nvSpPr>
        <p:spPr>
          <a:xfrm>
            <a:off x="4321130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192" name="CaixaDeTexto 191"/>
          <p:cNvSpPr txBox="1"/>
          <p:nvPr/>
        </p:nvSpPr>
        <p:spPr>
          <a:xfrm>
            <a:off x="4979398" y="48766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93" name="CaixaDeTexto 192"/>
          <p:cNvSpPr txBox="1"/>
          <p:nvPr/>
        </p:nvSpPr>
        <p:spPr>
          <a:xfrm>
            <a:off x="4404469" y="5710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194" name="CaixaDeTexto 193"/>
          <p:cNvSpPr txBox="1"/>
          <p:nvPr/>
        </p:nvSpPr>
        <p:spPr>
          <a:xfrm>
            <a:off x="6217188" y="33644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17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5927297" y="45911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21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8" name="Conector reto 37"/>
          <p:cNvCxnSpPr>
            <a:stCxn id="6" idx="3"/>
            <a:endCxn id="5" idx="1"/>
          </p:cNvCxnSpPr>
          <p:nvPr/>
        </p:nvCxnSpPr>
        <p:spPr>
          <a:xfrm flipV="1">
            <a:off x="3491814" y="2286165"/>
            <a:ext cx="2069945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9" idx="1"/>
            <a:endCxn id="8" idx="3"/>
          </p:cNvCxnSpPr>
          <p:nvPr/>
        </p:nvCxnSpPr>
        <p:spPr>
          <a:xfrm flipH="1" flipV="1">
            <a:off x="3482102" y="5726507"/>
            <a:ext cx="2087048" cy="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4444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287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11" idx="2"/>
            <a:endCxn id="9" idx="3"/>
          </p:cNvCxnSpPr>
          <p:nvPr/>
        </p:nvCxnSpPr>
        <p:spPr>
          <a:xfrm flipH="1">
            <a:off x="6300160" y="4233077"/>
            <a:ext cx="1002646" cy="14934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ixaDeTexto 182"/>
          <p:cNvSpPr txBox="1"/>
          <p:nvPr/>
        </p:nvSpPr>
        <p:spPr>
          <a:xfrm>
            <a:off x="1838044" y="27977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19</a:t>
            </a:r>
          </a:p>
        </p:txBody>
      </p: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91" name="CaixaDeTexto 190"/>
          <p:cNvSpPr txBox="1"/>
          <p:nvPr/>
        </p:nvSpPr>
        <p:spPr>
          <a:xfrm>
            <a:off x="6882672" y="479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9" name="Conector reto 38"/>
          <p:cNvCxnSpPr>
            <a:stCxn id="10" idx="0"/>
            <a:endCxn id="6" idx="1"/>
          </p:cNvCxnSpPr>
          <p:nvPr/>
        </p:nvCxnSpPr>
        <p:spPr>
          <a:xfrm flipV="1">
            <a:off x="1758158" y="2286187"/>
            <a:ext cx="1002646" cy="14476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67544" y="203658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K = 3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611560" y="2535788"/>
            <a:ext cx="0" cy="533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107504" y="3212976"/>
            <a:ext cx="11411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Deseja-se gerar </a:t>
            </a:r>
            <a:r>
              <a:rPr lang="pt-BR" sz="1600" b="1" dirty="0"/>
              <a:t>3</a:t>
            </a:r>
            <a:r>
              <a:rPr lang="pt-BR" sz="1600" dirty="0"/>
              <a:t> grupos, portanto, remova as </a:t>
            </a:r>
            <a:r>
              <a:rPr lang="pt-BR" sz="1600" b="1" dirty="0"/>
              <a:t>duas</a:t>
            </a:r>
            <a:r>
              <a:rPr lang="pt-BR" sz="1600" dirty="0"/>
              <a:t> arestas de maior valor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140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AGM para resumo estático de vídeo</a:t>
            </a:r>
          </a:p>
        </p:txBody>
      </p:sp>
      <p:pic>
        <p:nvPicPr>
          <p:cNvPr id="5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1759" y="2036541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0804" y="2036586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1025" y="5476883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icture 35" descr="D:\Usuários\Henrique\Documentos\Visual Studio 2008\Projects\Video4\Video4\bin\Debug\Videos\Frames\port001_foz.mpg.14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9150" y="5476928"/>
            <a:ext cx="731010" cy="4992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" name="Picture 24" descr="D:\Usuários\Henrique\Documentos\Visual Studio 2008\Projects\Video4\Video4\bin\Debug\Videos\Frames\port001_foz.mpg.3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92652" y="3733830"/>
            <a:ext cx="731011" cy="49920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1" name="Picture 43" descr="D:\Usuários\Henrique\Documentos\Visual Studio 2008\Projects\Video4\Video4\bin\Debug\Videos\Frames\port001_foz.mpg.22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267" y="3733830"/>
            <a:ext cx="731077" cy="49924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69" name="Conector reto 68"/>
          <p:cNvCxnSpPr>
            <a:stCxn id="6" idx="2"/>
            <a:endCxn id="9" idx="0"/>
          </p:cNvCxnSpPr>
          <p:nvPr/>
        </p:nvCxnSpPr>
        <p:spPr>
          <a:xfrm>
            <a:off x="3126309" y="2535788"/>
            <a:ext cx="2808346" cy="29411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11" idx="0"/>
            <a:endCxn id="5" idx="3"/>
          </p:cNvCxnSpPr>
          <p:nvPr/>
        </p:nvCxnSpPr>
        <p:spPr>
          <a:xfrm flipH="1" flipV="1">
            <a:off x="6292836" y="2286165"/>
            <a:ext cx="1009970" cy="14476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5" idx="2"/>
            <a:endCxn id="8" idx="0"/>
          </p:cNvCxnSpPr>
          <p:nvPr/>
        </p:nvCxnSpPr>
        <p:spPr>
          <a:xfrm flipH="1">
            <a:off x="3116564" y="2535788"/>
            <a:ext cx="2810734" cy="29410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CaixaDeTexto 188"/>
          <p:cNvSpPr txBox="1"/>
          <p:nvPr/>
        </p:nvSpPr>
        <p:spPr>
          <a:xfrm>
            <a:off x="6778314" y="26529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190" name="CaixaDeTexto 189"/>
          <p:cNvSpPr txBox="1"/>
          <p:nvPr/>
        </p:nvSpPr>
        <p:spPr>
          <a:xfrm>
            <a:off x="4228796" y="41658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4215628" y="33644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67544" y="2036586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K = 3</a:t>
            </a:r>
          </a:p>
        </p:txBody>
      </p:sp>
      <p:cxnSp>
        <p:nvCxnSpPr>
          <p:cNvPr id="21" name="Conector de seta reta 20"/>
          <p:cNvCxnSpPr/>
          <p:nvPr/>
        </p:nvCxnSpPr>
        <p:spPr>
          <a:xfrm>
            <a:off x="611560" y="2535788"/>
            <a:ext cx="0" cy="533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07504" y="3212976"/>
            <a:ext cx="11411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Deseja-se gerar </a:t>
            </a:r>
            <a:r>
              <a:rPr lang="pt-BR" sz="1600" b="1" dirty="0"/>
              <a:t>3 </a:t>
            </a:r>
            <a:r>
              <a:rPr lang="pt-BR" sz="1600" dirty="0"/>
              <a:t>grupos, portanto, remova as </a:t>
            </a:r>
            <a:r>
              <a:rPr lang="pt-BR" sz="1600" b="1" dirty="0"/>
              <a:t>duas</a:t>
            </a:r>
            <a:r>
              <a:rPr lang="pt-BR" sz="1600" dirty="0"/>
              <a:t> arestas de maior valor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79512" y="6237312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Silvio Jamil </a:t>
            </a:r>
            <a:r>
              <a:rPr lang="pt-BR" sz="1200" dirty="0" err="1"/>
              <a:t>Ferzoli</a:t>
            </a:r>
            <a:r>
              <a:rPr lang="pt-BR" sz="1200" dirty="0"/>
              <a:t> Guimarães, </a:t>
            </a:r>
            <a:r>
              <a:rPr lang="pt-BR" sz="1200" dirty="0" err="1"/>
              <a:t>Willer</a:t>
            </a:r>
            <a:r>
              <a:rPr lang="pt-BR" sz="1200" dirty="0"/>
              <a:t> Gomes. </a:t>
            </a:r>
            <a:r>
              <a:rPr lang="pt-BR" sz="1200" b="1" dirty="0"/>
              <a:t>A </a:t>
            </a:r>
            <a:r>
              <a:rPr lang="pt-BR" sz="1200" b="1" dirty="0" err="1"/>
              <a:t>Static</a:t>
            </a:r>
            <a:r>
              <a:rPr lang="pt-BR" sz="1200" b="1" dirty="0"/>
              <a:t> </a:t>
            </a:r>
            <a:r>
              <a:rPr lang="pt-BR" sz="1200" b="1" dirty="0" err="1"/>
              <a:t>Video</a:t>
            </a:r>
            <a:r>
              <a:rPr lang="pt-BR" sz="1200" b="1" dirty="0"/>
              <a:t> </a:t>
            </a:r>
            <a:r>
              <a:rPr lang="pt-BR" sz="1200" b="1" dirty="0" err="1"/>
              <a:t>Summarization</a:t>
            </a:r>
            <a:r>
              <a:rPr lang="pt-BR" sz="1200" b="1" dirty="0"/>
              <a:t> </a:t>
            </a:r>
            <a:r>
              <a:rPr lang="pt-BR" sz="1200" b="1" dirty="0" err="1"/>
              <a:t>Method</a:t>
            </a:r>
            <a:r>
              <a:rPr lang="pt-BR" sz="1200" b="1" dirty="0"/>
              <a:t> </a:t>
            </a:r>
            <a:r>
              <a:rPr lang="pt-BR" sz="1200" b="1" dirty="0" err="1"/>
              <a:t>Based</a:t>
            </a:r>
            <a:r>
              <a:rPr lang="pt-BR" sz="1200" b="1" dirty="0"/>
              <a:t> </a:t>
            </a:r>
            <a:r>
              <a:rPr lang="pt-BR" sz="1200" b="1" dirty="0" err="1"/>
              <a:t>on</a:t>
            </a:r>
            <a:r>
              <a:rPr lang="pt-BR" sz="1200" b="1" dirty="0"/>
              <a:t> </a:t>
            </a:r>
            <a:r>
              <a:rPr lang="pt-BR" sz="1200" b="1" dirty="0" err="1"/>
              <a:t>Hierarchical</a:t>
            </a:r>
            <a:r>
              <a:rPr lang="pt-BR" sz="1200" b="1" dirty="0"/>
              <a:t> </a:t>
            </a:r>
            <a:r>
              <a:rPr lang="pt-BR" sz="1200" b="1" dirty="0" err="1"/>
              <a:t>Clustering</a:t>
            </a:r>
            <a:r>
              <a:rPr lang="pt-BR" sz="1200" b="1" dirty="0"/>
              <a:t>. </a:t>
            </a:r>
            <a:r>
              <a:rPr lang="pt-BR" sz="1200" dirty="0"/>
              <a:t>In </a:t>
            </a:r>
            <a:r>
              <a:rPr lang="pt-BR" sz="1200" i="1" dirty="0"/>
              <a:t>15th </a:t>
            </a:r>
            <a:r>
              <a:rPr lang="pt-BR" sz="1200" i="1" dirty="0" err="1"/>
              <a:t>Iberoamerican</a:t>
            </a:r>
            <a:r>
              <a:rPr lang="pt-BR" sz="1200" i="1" dirty="0"/>
              <a:t> </a:t>
            </a:r>
            <a:r>
              <a:rPr lang="pt-BR" sz="1200" i="1" dirty="0" err="1"/>
              <a:t>Congress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Recognition</a:t>
            </a:r>
            <a:r>
              <a:rPr lang="pt-BR" sz="1200" i="1" dirty="0"/>
              <a:t> (CIARP) </a:t>
            </a:r>
            <a:r>
              <a:rPr lang="pt-BR" sz="1200" dirty="0"/>
              <a:t>. São Paulo, </a:t>
            </a:r>
            <a:r>
              <a:rPr lang="pt-BR" sz="1200" dirty="0" err="1"/>
              <a:t>Brazil</a:t>
            </a:r>
            <a:r>
              <a:rPr lang="pt-B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76851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1484784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Samuel. </a:t>
            </a:r>
          </a:p>
          <a:p>
            <a:r>
              <a:rPr lang="pt-BR" dirty="0"/>
              <a:t>Grafos: introdução e prática. 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1197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07298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0915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8118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718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2425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2570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Prim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187624" y="4236607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448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294726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1324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688590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123243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755576" y="2852936"/>
            <a:ext cx="2016224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18406" y="2400160"/>
            <a:ext cx="2219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pode fechar ciclo</a:t>
            </a:r>
          </a:p>
        </p:txBody>
      </p:sp>
    </p:spTree>
    <p:extLst>
      <p:ext uri="{BB962C8B-B14F-4D97-AF65-F5344CB8AC3E}">
        <p14:creationId xmlns:p14="http://schemas.microsoft.com/office/powerpoint/2010/main" val="4154796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745807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Kruskal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491908" y="2188159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556899" y="489120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" name="Elipse 5"/>
          <p:cNvSpPr/>
          <p:nvPr/>
        </p:nvSpPr>
        <p:spPr>
          <a:xfrm>
            <a:off x="4045229" y="269945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955516" y="403254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" name="Conector reto 7"/>
          <p:cNvCxnSpPr>
            <a:stCxn id="4" idx="3"/>
            <a:endCxn id="7" idx="0"/>
          </p:cNvCxnSpPr>
          <p:nvPr/>
        </p:nvCxnSpPr>
        <p:spPr>
          <a:xfrm flipH="1">
            <a:off x="2227207" y="2538410"/>
            <a:ext cx="344277" cy="1494132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2"/>
            <a:endCxn id="7" idx="5"/>
          </p:cNvCxnSpPr>
          <p:nvPr/>
        </p:nvCxnSpPr>
        <p:spPr>
          <a:xfrm flipH="1" flipV="1">
            <a:off x="2419321" y="4382793"/>
            <a:ext cx="1137578" cy="713581"/>
          </a:xfrm>
          <a:prstGeom prst="line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631389" y="382626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3" name="Conector de seta reta 12"/>
          <p:cNvCxnSpPr>
            <a:stCxn id="5" idx="6"/>
            <a:endCxn id="11" idx="3"/>
          </p:cNvCxnSpPr>
          <p:nvPr/>
        </p:nvCxnSpPr>
        <p:spPr>
          <a:xfrm flipV="1">
            <a:off x="4100280" y="4176514"/>
            <a:ext cx="1610685" cy="91986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11" idx="0"/>
            <a:endCxn id="6" idx="5"/>
          </p:cNvCxnSpPr>
          <p:nvPr/>
        </p:nvCxnSpPr>
        <p:spPr>
          <a:xfrm flipH="1" flipV="1">
            <a:off x="4509034" y="3049704"/>
            <a:ext cx="1394046" cy="776559"/>
          </a:xfrm>
          <a:prstGeom prst="straightConnector1">
            <a:avLst/>
          </a:prstGeom>
          <a:ln w="127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523233" y="5322912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Elipse 22"/>
          <p:cNvSpPr/>
          <p:nvPr/>
        </p:nvSpPr>
        <p:spPr>
          <a:xfrm>
            <a:off x="6044843" y="2096173"/>
            <a:ext cx="543381" cy="41034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25" name="Conector reto 24"/>
          <p:cNvCxnSpPr>
            <a:stCxn id="4" idx="6"/>
            <a:endCxn id="6" idx="2"/>
          </p:cNvCxnSpPr>
          <p:nvPr/>
        </p:nvCxnSpPr>
        <p:spPr>
          <a:xfrm>
            <a:off x="3035289" y="2393331"/>
            <a:ext cx="1009940" cy="511294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7"/>
            <a:endCxn id="6" idx="3"/>
          </p:cNvCxnSpPr>
          <p:nvPr/>
        </p:nvCxnSpPr>
        <p:spPr>
          <a:xfrm flipV="1">
            <a:off x="2419321" y="3049704"/>
            <a:ext cx="1705484" cy="1042931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6"/>
            <a:endCxn id="11" idx="2"/>
          </p:cNvCxnSpPr>
          <p:nvPr/>
        </p:nvCxnSpPr>
        <p:spPr>
          <a:xfrm flipV="1">
            <a:off x="2498897" y="4031435"/>
            <a:ext cx="3132492" cy="206279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3" idx="4"/>
            <a:endCxn id="11" idx="7"/>
          </p:cNvCxnSpPr>
          <p:nvPr/>
        </p:nvCxnSpPr>
        <p:spPr>
          <a:xfrm flipH="1">
            <a:off x="6095194" y="2506517"/>
            <a:ext cx="221340" cy="1379839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2"/>
            <a:endCxn id="6" idx="6"/>
          </p:cNvCxnSpPr>
          <p:nvPr/>
        </p:nvCxnSpPr>
        <p:spPr>
          <a:xfrm flipH="1">
            <a:off x="4588610" y="2301345"/>
            <a:ext cx="1456233" cy="603280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22" idx="0"/>
            <a:endCxn id="11" idx="4"/>
          </p:cNvCxnSpPr>
          <p:nvPr/>
        </p:nvCxnSpPr>
        <p:spPr>
          <a:xfrm flipV="1">
            <a:off x="5794924" y="4236607"/>
            <a:ext cx="108156" cy="1086305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22" idx="2"/>
            <a:endCxn id="5" idx="5"/>
          </p:cNvCxnSpPr>
          <p:nvPr/>
        </p:nvCxnSpPr>
        <p:spPr>
          <a:xfrm flipH="1" flipV="1">
            <a:off x="4020704" y="5241453"/>
            <a:ext cx="1502529" cy="286631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/>
          <p:cNvSpPr txBox="1"/>
          <p:nvPr/>
        </p:nvSpPr>
        <p:spPr>
          <a:xfrm>
            <a:off x="20517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2941250" y="31643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3949437" y="36417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15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3035289" y="44517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3389416" y="22482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5153390" y="22291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6286538" y="3011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144845" y="3079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5015040" y="45301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0" name="CaixaDeTexto 59"/>
          <p:cNvSpPr txBox="1"/>
          <p:nvPr/>
        </p:nvSpPr>
        <p:spPr>
          <a:xfrm>
            <a:off x="5883386" y="4636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1" name="CaixaDeTexto 60"/>
          <p:cNvSpPr txBox="1"/>
          <p:nvPr/>
        </p:nvSpPr>
        <p:spPr>
          <a:xfrm>
            <a:off x="4600554" y="534341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8110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5536</TotalTime>
  <Words>2810</Words>
  <Application>Microsoft Office PowerPoint</Application>
  <PresentationFormat>Apresentação na tela (4:3)</PresentationFormat>
  <Paragraphs>998</Paragraphs>
  <Slides>72</Slides>
  <Notes>0</Notes>
  <HiddenSlides>15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76" baseType="lpstr">
      <vt:lpstr>Arial</vt:lpstr>
      <vt:lpstr>Calibri</vt:lpstr>
      <vt:lpstr>Cambria Math</vt:lpstr>
      <vt:lpstr>Tema do Office</vt:lpstr>
      <vt:lpstr>Unidade V  Árvores</vt:lpstr>
      <vt:lpstr>Árvore</vt:lpstr>
      <vt:lpstr>Árvore</vt:lpstr>
      <vt:lpstr>Árvore</vt:lpstr>
      <vt:lpstr>Árvore</vt:lpstr>
      <vt:lpstr>Árvore</vt:lpstr>
      <vt:lpstr>Árvore Geradora</vt:lpstr>
      <vt:lpstr>Árvore Geradora</vt:lpstr>
      <vt:lpstr>Árvore Geradora</vt:lpstr>
      <vt:lpstr>Árvore Geradora</vt:lpstr>
      <vt:lpstr>Árvore Geradora Mínima</vt:lpstr>
      <vt:lpstr>Árvore Geradora Mínima</vt:lpstr>
      <vt:lpstr>Árvore Geradora Mínima</vt:lpstr>
      <vt:lpstr>AGM - Algoritmo Genérico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Exercícios (Prim)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Exercícios (Kruskal)</vt:lpstr>
      <vt:lpstr>Problema de Steiner</vt:lpstr>
      <vt:lpstr>Árvore de Steiner</vt:lpstr>
      <vt:lpstr>Árvore de Steiner</vt:lpstr>
      <vt:lpstr>Árvore de Steiner</vt:lpstr>
      <vt:lpstr>Árvore de Steiner</vt:lpstr>
      <vt:lpstr>Árvore de Steiner</vt:lpstr>
      <vt:lpstr>Árvore de Steiner</vt:lpstr>
      <vt:lpstr>Problema da Árvore de Steiner (ST)</vt:lpstr>
      <vt:lpstr>AGM para resumo estático de vídeo</vt:lpstr>
      <vt:lpstr>AGM para resumo estático de vídeo</vt:lpstr>
      <vt:lpstr>AGM para resumo estático de vídeo</vt:lpstr>
      <vt:lpstr>AGM para resumo estático de vídeo</vt:lpstr>
      <vt:lpstr>AGM para resumo estático de vídeo</vt:lpstr>
      <vt:lpstr>Bibliografia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Prim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  <vt:lpstr>Algoritmo de Kruskal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364</cp:revision>
  <dcterms:created xsi:type="dcterms:W3CDTF">2011-08-03T02:09:11Z</dcterms:created>
  <dcterms:modified xsi:type="dcterms:W3CDTF">2016-07-04T17:57:47Z</dcterms:modified>
</cp:coreProperties>
</file>