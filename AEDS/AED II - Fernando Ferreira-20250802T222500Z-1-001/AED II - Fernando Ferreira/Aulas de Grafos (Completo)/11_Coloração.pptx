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96" r:id="rId7"/>
    <p:sldId id="297" r:id="rId8"/>
    <p:sldId id="298" r:id="rId9"/>
    <p:sldId id="270" r:id="rId10"/>
    <p:sldId id="271" r:id="rId11"/>
    <p:sldId id="272" r:id="rId12"/>
    <p:sldId id="273" r:id="rId13"/>
    <p:sldId id="300" r:id="rId14"/>
    <p:sldId id="274" r:id="rId15"/>
    <p:sldId id="277" r:id="rId16"/>
    <p:sldId id="275" r:id="rId17"/>
    <p:sldId id="276" r:id="rId18"/>
    <p:sldId id="278" r:id="rId19"/>
    <p:sldId id="279" r:id="rId20"/>
    <p:sldId id="310" r:id="rId21"/>
    <p:sldId id="287" r:id="rId22"/>
    <p:sldId id="280" r:id="rId23"/>
    <p:sldId id="288" r:id="rId24"/>
    <p:sldId id="281" r:id="rId25"/>
    <p:sldId id="282" r:id="rId26"/>
    <p:sldId id="283" r:id="rId27"/>
    <p:sldId id="285" r:id="rId28"/>
    <p:sldId id="286" r:id="rId29"/>
    <p:sldId id="290" r:id="rId30"/>
    <p:sldId id="292" r:id="rId31"/>
    <p:sldId id="293" r:id="rId32"/>
    <p:sldId id="294" r:id="rId33"/>
    <p:sldId id="299" r:id="rId34"/>
    <p:sldId id="295" r:id="rId35"/>
    <p:sldId id="301" r:id="rId36"/>
    <p:sldId id="303" r:id="rId37"/>
    <p:sldId id="311" r:id="rId38"/>
    <p:sldId id="307" r:id="rId39"/>
    <p:sldId id="312" r:id="rId40"/>
    <p:sldId id="308" r:id="rId41"/>
    <p:sldId id="313" r:id="rId42"/>
    <p:sldId id="309" r:id="rId43"/>
    <p:sldId id="302" r:id="rId44"/>
    <p:sldId id="264" r:id="rId4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CA96ABA-4632-4C8D-91A7-E6C98A32620A}">
          <p14:sldIdLst>
            <p14:sldId id="256"/>
            <p14:sldId id="265"/>
            <p14:sldId id="266"/>
            <p14:sldId id="267"/>
            <p14:sldId id="268"/>
            <p14:sldId id="296"/>
            <p14:sldId id="297"/>
            <p14:sldId id="298"/>
            <p14:sldId id="270"/>
            <p14:sldId id="271"/>
            <p14:sldId id="272"/>
            <p14:sldId id="273"/>
            <p14:sldId id="300"/>
            <p14:sldId id="274"/>
            <p14:sldId id="277"/>
            <p14:sldId id="275"/>
            <p14:sldId id="276"/>
            <p14:sldId id="278"/>
            <p14:sldId id="279"/>
            <p14:sldId id="310"/>
            <p14:sldId id="287"/>
            <p14:sldId id="280"/>
            <p14:sldId id="288"/>
            <p14:sldId id="281"/>
            <p14:sldId id="282"/>
            <p14:sldId id="283"/>
            <p14:sldId id="285"/>
            <p14:sldId id="286"/>
            <p14:sldId id="290"/>
            <p14:sldId id="292"/>
            <p14:sldId id="293"/>
            <p14:sldId id="294"/>
            <p14:sldId id="299"/>
            <p14:sldId id="295"/>
            <p14:sldId id="301"/>
            <p14:sldId id="303"/>
            <p14:sldId id="311"/>
            <p14:sldId id="307"/>
            <p14:sldId id="312"/>
            <p14:sldId id="308"/>
            <p14:sldId id="313"/>
            <p14:sldId id="309"/>
            <p14:sldId id="302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Unidade VII </a:t>
            </a:r>
            <a:br>
              <a:rPr lang="pt-BR" dirty="0"/>
            </a:br>
            <a:r>
              <a:rPr lang="pt-BR" dirty="0"/>
              <a:t>Coloração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Prof. Henrique Batista da Silva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765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400" dirty="0"/>
              <a:t>Dado um grafo G, como pintar seus vértices com várias cores de maneira que vértices adjacentes são pintados com cores diferentes? Qual é o menor número de cores necessárias?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Definição:</a:t>
            </a:r>
          </a:p>
          <a:p>
            <a:pPr lvl="1"/>
            <a:r>
              <a:rPr lang="pt-BR" sz="2000" dirty="0"/>
              <a:t>Dado um grafo G sem </a:t>
            </a:r>
            <a:r>
              <a:rPr lang="pt-BR" sz="2000" dirty="0" err="1"/>
              <a:t>autoloops</a:t>
            </a:r>
            <a:r>
              <a:rPr lang="pt-BR" sz="2000" dirty="0"/>
              <a:t>, uma coloração de G é uma atribuição de cores aos vértices de G de maneira que </a:t>
            </a:r>
            <a:r>
              <a:rPr lang="pt-BR" sz="2000" b="1" dirty="0"/>
              <a:t>cores diferentes </a:t>
            </a:r>
            <a:r>
              <a:rPr lang="pt-BR" sz="2000" dirty="0"/>
              <a:t>são atribuídas a </a:t>
            </a:r>
            <a:r>
              <a:rPr lang="pt-BR" sz="2000" b="1" dirty="0"/>
              <a:t>vértices adjacentes</a:t>
            </a:r>
            <a:r>
              <a:rPr lang="pt-BR" sz="2000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292973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29249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42210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2996952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3068960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4293096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3073752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3047869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357541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2996952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3698337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4" idx="5"/>
            <a:endCxn id="7" idx="1"/>
          </p:cNvCxnSpPr>
          <p:nvPr/>
        </p:nvCxnSpPr>
        <p:spPr>
          <a:xfrm>
            <a:off x="3470789" y="3052661"/>
            <a:ext cx="1429211" cy="1189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82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Observações:</a:t>
            </a:r>
          </a:p>
          <a:p>
            <a:pPr lvl="1"/>
            <a:r>
              <a:rPr lang="pt-BR" dirty="0"/>
              <a:t>Não precisamos considerar grafos desconexos porque as cores utilizadas em um componente não tem efeito sobre as do outro componente</a:t>
            </a:r>
          </a:p>
          <a:p>
            <a:pPr lvl="1"/>
            <a:r>
              <a:rPr lang="pt-BR" dirty="0"/>
              <a:t>Arestas paralelas não afetam a coloração</a:t>
            </a:r>
          </a:p>
          <a:p>
            <a:pPr lvl="1"/>
            <a:r>
              <a:rPr lang="pt-BR" dirty="0"/>
              <a:t>Grafo não pode ter loops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831681" y="5229200"/>
            <a:ext cx="3612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GRAFOS CONEXOS SIMPLES</a:t>
            </a:r>
          </a:p>
        </p:txBody>
      </p:sp>
    </p:spTree>
    <p:extLst>
      <p:ext uri="{BB962C8B-B14F-4D97-AF65-F5344CB8AC3E}">
        <p14:creationId xmlns:p14="http://schemas.microsoft.com/office/powerpoint/2010/main" val="56390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Vértices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Seja G = (V, E) um grafo conexo simples</a:t>
            </a:r>
          </a:p>
          <a:p>
            <a:r>
              <a:rPr lang="pt-BR" sz="2800" dirty="0"/>
              <a:t>Uma coloração de vértices de G é uma atribuição de cores aos seus vértices de modo que vértices adjacentes não recebam a mesma cor</a:t>
            </a:r>
          </a:p>
          <a:p>
            <a:r>
              <a:rPr lang="pt-BR" sz="2800" dirty="0"/>
              <a:t>Exemplo: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4221088"/>
            <a:ext cx="673417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71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Vértices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Dizemos que um grafo G é K-</a:t>
                </a:r>
                <a:r>
                  <a:rPr lang="pt-BR" sz="2800" dirty="0" err="1"/>
                  <a:t>colorível</a:t>
                </a:r>
                <a:r>
                  <a:rPr lang="pt-BR" sz="2800" dirty="0"/>
                  <a:t> se K cores forem suficientes para colorir seus vértices.</a:t>
                </a:r>
              </a:p>
              <a:p>
                <a:r>
                  <a:rPr lang="pt-BR" sz="2800" dirty="0"/>
                  <a:t>O número cromático </a:t>
                </a:r>
                <a14:m>
                  <m:oMath xmlns:m="http://schemas.openxmlformats.org/officeDocument/2006/math">
                    <m:r>
                      <a:rPr lang="pt-BR" sz="2800" i="1" baseline="-25000" dirty="0" smtClean="0">
                        <a:latin typeface="Cambria Math"/>
                      </a:rPr>
                      <m:t>𝑋</m:t>
                    </m:r>
                  </m:oMath>
                </a14:m>
                <a:r>
                  <a:rPr lang="pt-BR" sz="2800" dirty="0"/>
                  <a:t>(G) é igual ao menor número K tal que G é K-</a:t>
                </a:r>
                <a:r>
                  <a:rPr lang="pt-BR" sz="2800" dirty="0" err="1"/>
                  <a:t>colorível</a:t>
                </a:r>
                <a:endParaRPr lang="pt-BR" sz="2800" dirty="0"/>
              </a:p>
              <a:p>
                <a:r>
                  <a:rPr lang="pt-BR" sz="2800" dirty="0"/>
                  <a:t>No grafo abaixo </a:t>
                </a:r>
                <a14:m>
                  <m:oMath xmlns:m="http://schemas.openxmlformats.org/officeDocument/2006/math">
                    <m:r>
                      <a:rPr lang="pt-BR" sz="2800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sz="2800" dirty="0"/>
                  <a:t>(G) = 2.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 r="-17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1263" y="4344119"/>
            <a:ext cx="418147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517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Vértices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Propriedades: </a:t>
                </a:r>
              </a:p>
              <a:p>
                <a:pPr lvl="1"/>
                <a:r>
                  <a:rPr lang="pt-BR" dirty="0"/>
                  <a:t>Se G é m grafo simples, então: número cromático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≤ vértice de maior grau </a:t>
                </a:r>
                <a:r>
                  <a:rPr lang="el-GR" dirty="0"/>
                  <a:t>Δ</a:t>
                </a:r>
                <a:r>
                  <a:rPr lang="pt-BR" dirty="0"/>
                  <a:t>(G) + 1.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2555776" y="379383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086821" y="37890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560597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086821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2699792" y="3861048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158829" y="3933056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704613" y="5157192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2627784" y="3937848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2683522" y="3911965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5"/>
            <a:endCxn id="7" idx="1"/>
          </p:cNvCxnSpPr>
          <p:nvPr/>
        </p:nvCxnSpPr>
        <p:spPr>
          <a:xfrm>
            <a:off x="2678701" y="3916757"/>
            <a:ext cx="1429211" cy="1189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03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Vértices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Propriedades: </a:t>
                </a:r>
              </a:p>
              <a:p>
                <a:pPr lvl="1"/>
                <a:r>
                  <a:rPr lang="pt-BR" dirty="0"/>
                  <a:t>Se G é m grafo simples, então: número cromático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≤ vértice de maior grau </a:t>
                </a:r>
                <a:r>
                  <a:rPr lang="el-GR" dirty="0"/>
                  <a:t>Δ</a:t>
                </a:r>
                <a:r>
                  <a:rPr lang="pt-BR" dirty="0"/>
                  <a:t>(G) + 1.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2555776" y="3793832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086821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560597" y="5085184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086821" y="5085184"/>
            <a:ext cx="144016" cy="1440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2699792" y="3861048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158829" y="3933056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704613" y="5157192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2627784" y="3937848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2683522" y="3911965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5"/>
            <a:endCxn id="7" idx="1"/>
          </p:cNvCxnSpPr>
          <p:nvPr/>
        </p:nvCxnSpPr>
        <p:spPr>
          <a:xfrm>
            <a:off x="2678701" y="3916757"/>
            <a:ext cx="1429211" cy="1189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2411760" y="5661248"/>
                <a:ext cx="18910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K</a:t>
                </a:r>
                <a:r>
                  <a:rPr lang="pt-BR" baseline="-25000" dirty="0"/>
                  <a:t>4</a:t>
                </a:r>
                <a:endParaRPr lang="pt-BR" i="1" baseline="-25000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= </a:t>
                </a:r>
                <a:r>
                  <a:rPr lang="el-GR" dirty="0"/>
                  <a:t>Δ</a:t>
                </a:r>
                <a:r>
                  <a:rPr lang="pt-BR" dirty="0"/>
                  <a:t>(G) + 1 = 4</a:t>
                </a:r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5661248"/>
                <a:ext cx="1891095" cy="646331"/>
              </a:xfrm>
              <a:prstGeom prst="rect">
                <a:avLst/>
              </a:prstGeom>
              <a:blipFill rotWithShape="1">
                <a:blip r:embed="rId3"/>
                <a:stretch>
                  <a:fillRect t="-4717" r="-161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162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Vértices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Propriedades: </a:t>
                </a:r>
              </a:p>
              <a:p>
                <a:pPr lvl="1"/>
                <a:r>
                  <a:rPr lang="pt-BR" dirty="0"/>
                  <a:t>Se G é m grafo simples, então: número cromático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≤ vértice de maior grau </a:t>
                </a:r>
                <a:r>
                  <a:rPr lang="el-GR" dirty="0"/>
                  <a:t>Δ</a:t>
                </a:r>
                <a:r>
                  <a:rPr lang="pt-BR" dirty="0"/>
                  <a:t>(G) + 1. 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2555776" y="3793832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086821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2560597" y="5085184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086821" y="5085184"/>
            <a:ext cx="144016" cy="1440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2699792" y="3861048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158829" y="3933056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2704613" y="5157192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2627784" y="3937848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2683522" y="3911965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5"/>
            <a:endCxn id="7" idx="1"/>
          </p:cNvCxnSpPr>
          <p:nvPr/>
        </p:nvCxnSpPr>
        <p:spPr>
          <a:xfrm>
            <a:off x="2678701" y="3916757"/>
            <a:ext cx="1429211" cy="11895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6804248" y="5013176"/>
            <a:ext cx="144016" cy="144016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6012160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6516216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7524328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7020272" y="3789040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/>
          <p:cNvCxnSpPr>
            <a:stCxn id="14" idx="2"/>
            <a:endCxn id="17" idx="4"/>
          </p:cNvCxnSpPr>
          <p:nvPr/>
        </p:nvCxnSpPr>
        <p:spPr>
          <a:xfrm flipH="1" flipV="1">
            <a:off x="6084168" y="3933056"/>
            <a:ext cx="720080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4" idx="0"/>
            <a:endCxn id="18" idx="4"/>
          </p:cNvCxnSpPr>
          <p:nvPr/>
        </p:nvCxnSpPr>
        <p:spPr>
          <a:xfrm flipH="1" flipV="1">
            <a:off x="6588224" y="3933056"/>
            <a:ext cx="288032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4" idx="0"/>
            <a:endCxn id="20" idx="4"/>
          </p:cNvCxnSpPr>
          <p:nvPr/>
        </p:nvCxnSpPr>
        <p:spPr>
          <a:xfrm flipV="1">
            <a:off x="6876256" y="3933056"/>
            <a:ext cx="216024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14" idx="6"/>
            <a:endCxn id="19" idx="4"/>
          </p:cNvCxnSpPr>
          <p:nvPr/>
        </p:nvCxnSpPr>
        <p:spPr>
          <a:xfrm flipV="1">
            <a:off x="6948264" y="3933056"/>
            <a:ext cx="648072" cy="11521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/>
              <p:cNvSpPr txBox="1"/>
              <p:nvPr/>
            </p:nvSpPr>
            <p:spPr>
              <a:xfrm>
                <a:off x="2411760" y="5661248"/>
                <a:ext cx="189109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K</a:t>
                </a:r>
                <a:r>
                  <a:rPr lang="pt-BR" baseline="-25000" dirty="0"/>
                  <a:t>4</a:t>
                </a:r>
                <a:endParaRPr lang="pt-BR" i="1" baseline="-25000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= </a:t>
                </a:r>
                <a:r>
                  <a:rPr lang="el-GR" dirty="0"/>
                  <a:t>Δ</a:t>
                </a:r>
                <a:r>
                  <a:rPr lang="pt-BR" dirty="0"/>
                  <a:t>(G) + 1 = 4</a:t>
                </a:r>
              </a:p>
            </p:txBody>
          </p:sp>
        </mc:Choice>
        <mc:Fallback xmlns="">
          <p:sp>
            <p:nvSpPr>
              <p:cNvPr id="30" name="CaixaDeTexto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5661248"/>
                <a:ext cx="1891095" cy="646331"/>
              </a:xfrm>
              <a:prstGeom prst="rect">
                <a:avLst/>
              </a:prstGeom>
              <a:blipFill rotWithShape="1">
                <a:blip r:embed="rId3"/>
                <a:stretch>
                  <a:fillRect t="-4717" r="-161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/>
              <p:cNvSpPr txBox="1"/>
              <p:nvPr/>
            </p:nvSpPr>
            <p:spPr>
              <a:xfrm>
                <a:off x="6413185" y="5661248"/>
                <a:ext cx="91486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pt-BR" dirty="0"/>
                  <a:t>K</a:t>
                </a:r>
                <a:r>
                  <a:rPr lang="pt-BR" baseline="-25000" dirty="0"/>
                  <a:t>1,4</a:t>
                </a:r>
                <a:endParaRPr lang="pt-BR" i="1" baseline="-25000" dirty="0">
                  <a:latin typeface="Cambria Math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(G) = 2</a:t>
                </a:r>
              </a:p>
            </p:txBody>
          </p:sp>
        </mc:Choice>
        <mc:Fallback xmlns="">
          <p:sp>
            <p:nvSpPr>
              <p:cNvPr id="32" name="CaixaDeTexto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3185" y="5661248"/>
                <a:ext cx="914866" cy="646331"/>
              </a:xfrm>
              <a:prstGeom prst="rect">
                <a:avLst/>
              </a:prstGeom>
              <a:blipFill rotWithShape="1">
                <a:blip r:embed="rId4"/>
                <a:stretch>
                  <a:fillRect t="-4717" r="-5333" b="-141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190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Seja G = (V, E) um grafo</a:t>
            </a:r>
          </a:p>
          <a:p>
            <a:r>
              <a:rPr lang="pt-BR" sz="2000" dirty="0"/>
              <a:t>Um subconjunto S ⊆ V é uma clique se ∀ v, w ∈ S, tem-se (v, w) ∈ E.</a:t>
            </a:r>
          </a:p>
          <a:p>
            <a:r>
              <a:rPr lang="pt-BR" sz="2000" dirty="0"/>
              <a:t>Em outras palavras, uma clique é um </a:t>
            </a:r>
            <a:r>
              <a:rPr lang="pt-BR" sz="2000" dirty="0" err="1"/>
              <a:t>subgrafo</a:t>
            </a:r>
            <a:r>
              <a:rPr lang="pt-BR" sz="2000" dirty="0"/>
              <a:t> completo em G</a:t>
            </a:r>
          </a:p>
          <a:p>
            <a:r>
              <a:rPr lang="pt-BR" sz="2000" dirty="0"/>
              <a:t>Todo vértice é uma clique em G. </a:t>
            </a:r>
          </a:p>
          <a:p>
            <a:r>
              <a:rPr lang="pt-BR" sz="2000" dirty="0"/>
              <a:t>Clique máximo: Um clique em G com o maior número de vértices possível.</a:t>
            </a:r>
          </a:p>
          <a:p>
            <a:r>
              <a:rPr lang="pt-BR" sz="2000" dirty="0"/>
              <a:t>O tamanho de uma clique é igual a cardinalidade de seu conjunto de vértices. </a:t>
            </a:r>
          </a:p>
          <a:p>
            <a:r>
              <a:rPr lang="pt-BR" sz="2000" dirty="0"/>
              <a:t>Exemplo: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71706"/>
            <a:ext cx="3024336" cy="217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190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Aplicação interessante:</a:t>
            </a:r>
          </a:p>
          <a:p>
            <a:pPr lvl="1"/>
            <a:r>
              <a:rPr lang="pt-BR" dirty="0"/>
              <a:t>Aplicações em Redes Sociais</a:t>
            </a:r>
          </a:p>
          <a:p>
            <a:pPr lvl="2"/>
            <a:r>
              <a:rPr lang="pt-BR" dirty="0"/>
              <a:t>Ex.: encontrar um grupo em que todos são amigos de todos.</a:t>
            </a:r>
          </a:p>
          <a:p>
            <a:pPr lvl="1"/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271706"/>
            <a:ext cx="3024336" cy="217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8037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Arestas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800" dirty="0"/>
              <a:t>Seja G = (V, E) um grafo conexo</a:t>
            </a:r>
          </a:p>
          <a:p>
            <a:r>
              <a:rPr lang="pt-BR" sz="2800" dirty="0"/>
              <a:t>Uma coloração de arestas de G é uma atribuição de cores às suas arestas de modo que arestas adjacentes não recebam a mesma cor</a:t>
            </a:r>
          </a:p>
          <a:p>
            <a:endParaRPr lang="pt-BR" sz="2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651" y="3891111"/>
            <a:ext cx="6886575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8611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Arestas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800" dirty="0"/>
                  <a:t>Dizemos que um grafo G é K-aresta-</a:t>
                </a:r>
                <a:r>
                  <a:rPr lang="pt-BR" sz="2800" dirty="0" err="1"/>
                  <a:t>colorível</a:t>
                </a:r>
                <a:r>
                  <a:rPr lang="pt-BR" sz="2800" dirty="0"/>
                  <a:t> se K cores forem suficientes para colorir suas arestas</a:t>
                </a:r>
              </a:p>
              <a:p>
                <a:r>
                  <a:rPr lang="pt-BR" sz="2800" dirty="0"/>
                  <a:t>O índice cromático </a:t>
                </a:r>
                <a14:m>
                  <m:oMath xmlns:m="http://schemas.openxmlformats.org/officeDocument/2006/math">
                    <m:r>
                      <a:rPr lang="pt-BR" sz="2800" i="1" baseline="-25000" dirty="0">
                        <a:latin typeface="Cambria Math"/>
                      </a:rPr>
                      <m:t>𝑋</m:t>
                    </m:r>
                    <m:r>
                      <a:rPr lang="pt-BR" sz="2800" b="0" i="1" baseline="-25000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pt-BR" sz="2800" dirty="0"/>
                  <a:t>(G) é igual ao menor número K tal que G é K-aresta-</a:t>
                </a:r>
                <a:r>
                  <a:rPr lang="pt-BR" sz="2800" dirty="0" err="1"/>
                  <a:t>colorível</a:t>
                </a:r>
                <a:endParaRPr lang="pt-BR" sz="2800" dirty="0"/>
              </a:p>
              <a:p>
                <a:r>
                  <a:rPr lang="pt-BR" sz="2800" dirty="0"/>
                  <a:t>No grafo abaixo </a:t>
                </a:r>
                <a14:m>
                  <m:oMath xmlns:m="http://schemas.openxmlformats.org/officeDocument/2006/math">
                    <m:r>
                      <a:rPr lang="pt-BR" sz="2800" i="1" baseline="-25000" dirty="0">
                        <a:latin typeface="Cambria Math"/>
                      </a:rPr>
                      <m:t>𝑋</m:t>
                    </m:r>
                    <m:r>
                      <a:rPr lang="pt-BR" sz="2800" i="1" baseline="-25000" dirty="0">
                        <a:latin typeface="Cambria Math"/>
                      </a:rPr>
                      <m:t>′ </m:t>
                    </m:r>
                  </m:oMath>
                </a14:m>
                <a:r>
                  <a:rPr lang="pt-BR" sz="2800" dirty="0"/>
                  <a:t>(G) = 3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1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860" y="4293096"/>
            <a:ext cx="4181475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3530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Arestas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342900" lvl="1" indent="-342900">
                  <a:buFont typeface="Arial" pitchFamily="34" charset="0"/>
                  <a:buChar char="•"/>
                </a:pPr>
                <a:r>
                  <a:rPr lang="pt-BR" dirty="0"/>
                  <a:t>Teorema: (</a:t>
                </a:r>
                <a:r>
                  <a:rPr lang="pt-BR" dirty="0" err="1"/>
                  <a:t>König</a:t>
                </a:r>
                <a:r>
                  <a:rPr lang="pt-BR" dirty="0"/>
                  <a:t> 1916) Se G é um grafo bipartido com vértice de maior grau </a:t>
                </a:r>
                <a:r>
                  <a:rPr lang="el-GR" dirty="0"/>
                  <a:t>Δ</a:t>
                </a:r>
                <a:r>
                  <a:rPr lang="pt-BR" dirty="0"/>
                  <a:t>(G), então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  <m:r>
                      <a:rPr lang="pt-BR" b="0" i="1" baseline="-25000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pt-BR" dirty="0"/>
                  <a:t>(G) = </a:t>
                </a:r>
                <a:r>
                  <a:rPr lang="el-GR" dirty="0"/>
                  <a:t>Δ</a:t>
                </a: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pPr marL="342900" lvl="1" indent="-342900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  <m:r>
                      <a:rPr lang="pt-BR" i="1" baseline="-25000" dirty="0">
                        <a:latin typeface="Cambria Math"/>
                      </a:rPr>
                      <m:t>′</m:t>
                    </m:r>
                  </m:oMath>
                </a14:m>
                <a:r>
                  <a:rPr lang="pt-BR" dirty="0"/>
                  <a:t>(</a:t>
                </a:r>
                <a:r>
                  <a:rPr lang="pt-BR" dirty="0" err="1"/>
                  <a:t>K</a:t>
                </a:r>
                <a:r>
                  <a:rPr lang="pt-BR" baseline="-25000" dirty="0" err="1"/>
                  <a:t>r,s</a:t>
                </a:r>
                <a:r>
                  <a:rPr lang="pt-BR" dirty="0"/>
                  <a:t>) = </a:t>
                </a:r>
                <a:r>
                  <a:rPr lang="pt-BR" dirty="0" err="1"/>
                  <a:t>max</a:t>
                </a:r>
                <a:r>
                  <a:rPr lang="pt-BR" dirty="0"/>
                  <a:t>(r, s)</a:t>
                </a:r>
              </a:p>
              <a:p>
                <a:pPr marL="342900" lvl="1" indent="-342900">
                  <a:buFont typeface="Arial" pitchFamily="34" charset="0"/>
                  <a:buChar char="•"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59" t="-215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/>
          <p:cNvSpPr/>
          <p:nvPr/>
        </p:nvSpPr>
        <p:spPr>
          <a:xfrm>
            <a:off x="3509101" y="483260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339752" y="29249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563888" y="29249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6300192" y="292534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004048" y="292494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/>
          <p:cNvCxnSpPr>
            <a:stCxn id="4" idx="2"/>
            <a:endCxn id="5" idx="4"/>
          </p:cNvCxnSpPr>
          <p:nvPr/>
        </p:nvCxnSpPr>
        <p:spPr>
          <a:xfrm flipH="1" flipV="1">
            <a:off x="2411760" y="3068960"/>
            <a:ext cx="1097341" cy="183564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0"/>
            <a:endCxn id="6" idx="4"/>
          </p:cNvCxnSpPr>
          <p:nvPr/>
        </p:nvCxnSpPr>
        <p:spPr>
          <a:xfrm flipV="1">
            <a:off x="3581109" y="3068960"/>
            <a:ext cx="54787" cy="1763641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7"/>
            <a:endCxn id="8" idx="3"/>
          </p:cNvCxnSpPr>
          <p:nvPr/>
        </p:nvCxnSpPr>
        <p:spPr>
          <a:xfrm flipV="1">
            <a:off x="3632026" y="3047869"/>
            <a:ext cx="1393113" cy="1805823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" idx="6"/>
            <a:endCxn id="7" idx="3"/>
          </p:cNvCxnSpPr>
          <p:nvPr/>
        </p:nvCxnSpPr>
        <p:spPr>
          <a:xfrm flipV="1">
            <a:off x="3653117" y="3048271"/>
            <a:ext cx="2668166" cy="185633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004048" y="485369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/>
          <p:cNvCxnSpPr>
            <a:stCxn id="13" idx="0"/>
            <a:endCxn id="8" idx="4"/>
          </p:cNvCxnSpPr>
          <p:nvPr/>
        </p:nvCxnSpPr>
        <p:spPr>
          <a:xfrm flipV="1">
            <a:off x="5076056" y="3068960"/>
            <a:ext cx="0" cy="1784732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3" idx="7"/>
            <a:endCxn id="7" idx="4"/>
          </p:cNvCxnSpPr>
          <p:nvPr/>
        </p:nvCxnSpPr>
        <p:spPr>
          <a:xfrm flipV="1">
            <a:off x="5126973" y="3069362"/>
            <a:ext cx="1245227" cy="18054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3" idx="1"/>
            <a:endCxn id="6" idx="5"/>
          </p:cNvCxnSpPr>
          <p:nvPr/>
        </p:nvCxnSpPr>
        <p:spPr>
          <a:xfrm flipH="1" flipV="1">
            <a:off x="3686813" y="3047869"/>
            <a:ext cx="1338326" cy="182691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3" idx="2"/>
            <a:endCxn id="5" idx="5"/>
          </p:cNvCxnSpPr>
          <p:nvPr/>
        </p:nvCxnSpPr>
        <p:spPr>
          <a:xfrm flipH="1" flipV="1">
            <a:off x="2462677" y="3047869"/>
            <a:ext cx="2541371" cy="187783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922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/>
              <a:t>Seja G = (V, E) um grafo planar</a:t>
            </a:r>
          </a:p>
          <a:p>
            <a:r>
              <a:rPr lang="pt-BR" sz="2800" dirty="0"/>
              <a:t>Uma coloração de faces de G é uma atribuição de cores às suas faces de modo que faces adjacentes não recebam a mesma cor.</a:t>
            </a:r>
          </a:p>
          <a:p>
            <a:r>
              <a:rPr lang="pt-BR" sz="2800" dirty="0"/>
              <a:t>Um grafo é K-face-</a:t>
            </a:r>
            <a:r>
              <a:rPr lang="pt-BR" sz="2800" dirty="0" err="1"/>
              <a:t>colorível</a:t>
            </a:r>
            <a:r>
              <a:rPr lang="pt-BR" sz="2800" dirty="0"/>
              <a:t> se K cores forem suficientes para colorir suas faces.</a:t>
            </a:r>
          </a:p>
          <a:p>
            <a:r>
              <a:rPr lang="pt-BR" sz="2800" dirty="0"/>
              <a:t>Aplicação: colorir mapas.</a:t>
            </a:r>
          </a:p>
          <a:p>
            <a:r>
              <a:rPr lang="pt-BR" sz="2800" dirty="0"/>
              <a:t>Propriedade:</a:t>
            </a:r>
          </a:p>
          <a:p>
            <a:pPr lvl="1"/>
            <a:r>
              <a:rPr lang="pt-BR" sz="2400" dirty="0"/>
              <a:t>Todo grafo planar é 4-face </a:t>
            </a:r>
            <a:r>
              <a:rPr lang="pt-BR" sz="2400" dirty="0" err="1"/>
              <a:t>colorível</a:t>
            </a:r>
            <a:endParaRPr lang="pt-BR" sz="2400" dirty="0"/>
          </a:p>
          <a:p>
            <a:pPr lvl="1"/>
            <a:r>
              <a:rPr lang="pt-BR" sz="2400" dirty="0"/>
              <a:t>Prova pela coloração de vértices do dual</a:t>
            </a:r>
          </a:p>
        </p:txBody>
      </p:sp>
    </p:spTree>
    <p:extLst>
      <p:ext uri="{BB962C8B-B14F-4D97-AF65-F5344CB8AC3E}">
        <p14:creationId xmlns:p14="http://schemas.microsoft.com/office/powerpoint/2010/main" val="201783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259632" y="3068960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Grafo Planar </a:t>
            </a:r>
          </a:p>
        </p:txBody>
      </p:sp>
    </p:spTree>
    <p:extLst>
      <p:ext uri="{BB962C8B-B14F-4D97-AF65-F5344CB8AC3E}">
        <p14:creationId xmlns:p14="http://schemas.microsoft.com/office/powerpoint/2010/main" val="331520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em curva 19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em curva 2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em curva 25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259632" y="3068960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Grafo Planar 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617724" y="3068960"/>
            <a:ext cx="118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Grafo Dual</a:t>
            </a:r>
          </a:p>
        </p:txBody>
      </p:sp>
    </p:spTree>
    <p:extLst>
      <p:ext uri="{BB962C8B-B14F-4D97-AF65-F5344CB8AC3E}">
        <p14:creationId xmlns:p14="http://schemas.microsoft.com/office/powerpoint/2010/main" val="4286923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Coloração de Faces</a:t>
            </a:r>
          </a:p>
        </p:txBody>
      </p:sp>
      <p:sp>
        <p:nvSpPr>
          <p:cNvPr id="4" name="Elipse 3"/>
          <p:cNvSpPr/>
          <p:nvPr/>
        </p:nvSpPr>
        <p:spPr>
          <a:xfrm>
            <a:off x="3347864" y="4297888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4878909" y="4293096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3352685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878909" y="558924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reto 7"/>
          <p:cNvCxnSpPr>
            <a:stCxn id="4" idx="6"/>
            <a:endCxn id="5" idx="2"/>
          </p:cNvCxnSpPr>
          <p:nvPr/>
        </p:nvCxnSpPr>
        <p:spPr>
          <a:xfrm flipV="1">
            <a:off x="3491880" y="4365104"/>
            <a:ext cx="1387029" cy="47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4950917" y="4437112"/>
            <a:ext cx="0" cy="11521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7" idx="2"/>
            <a:endCxn id="6" idx="6"/>
          </p:cNvCxnSpPr>
          <p:nvPr/>
        </p:nvCxnSpPr>
        <p:spPr>
          <a:xfrm flipH="1">
            <a:off x="3496701" y="5661248"/>
            <a:ext cx="13822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4" idx="4"/>
            <a:endCxn id="6" idx="0"/>
          </p:cNvCxnSpPr>
          <p:nvPr/>
        </p:nvCxnSpPr>
        <p:spPr>
          <a:xfrm>
            <a:off x="3419872" y="4441904"/>
            <a:ext cx="4821" cy="11473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5" idx="3"/>
            <a:endCxn id="6" idx="7"/>
          </p:cNvCxnSpPr>
          <p:nvPr/>
        </p:nvCxnSpPr>
        <p:spPr>
          <a:xfrm flipH="1">
            <a:off x="3475610" y="4416021"/>
            <a:ext cx="1424390" cy="11943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959029" y="4943564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/>
          <p:cNvCxnSpPr>
            <a:stCxn id="5" idx="6"/>
            <a:endCxn id="13" idx="1"/>
          </p:cNvCxnSpPr>
          <p:nvPr/>
        </p:nvCxnSpPr>
        <p:spPr>
          <a:xfrm>
            <a:off x="5022925" y="4365104"/>
            <a:ext cx="957195" cy="599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7" idx="6"/>
            <a:endCxn id="13" idx="3"/>
          </p:cNvCxnSpPr>
          <p:nvPr/>
        </p:nvCxnSpPr>
        <p:spPr>
          <a:xfrm flipV="1">
            <a:off x="5022925" y="5066489"/>
            <a:ext cx="957195" cy="5947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3851920" y="4669496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4355976" y="522446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292080" y="4943564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3779912" y="6388597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em curva 19"/>
          <p:cNvCxnSpPr>
            <a:stCxn id="16" idx="1"/>
            <a:endCxn id="19" idx="3"/>
          </p:cNvCxnSpPr>
          <p:nvPr/>
        </p:nvCxnSpPr>
        <p:spPr>
          <a:xfrm rot="16200000" flipH="1" flipV="1">
            <a:off x="2926539" y="5565050"/>
            <a:ext cx="1820935" cy="72008"/>
          </a:xfrm>
          <a:prstGeom prst="curvedConnector5">
            <a:avLst>
              <a:gd name="adj1" fmla="val -50340"/>
              <a:gd name="adj2" fmla="val 1691465"/>
              <a:gd name="adj3" fmla="val 1125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em curva 20"/>
          <p:cNvCxnSpPr>
            <a:stCxn id="16" idx="2"/>
            <a:endCxn id="19" idx="2"/>
          </p:cNvCxnSpPr>
          <p:nvPr/>
        </p:nvCxnSpPr>
        <p:spPr>
          <a:xfrm rot="10800000" flipV="1">
            <a:off x="3779912" y="4741503"/>
            <a:ext cx="72008" cy="1719101"/>
          </a:xfrm>
          <a:prstGeom prst="curvedConnector3">
            <a:avLst>
              <a:gd name="adj1" fmla="val 115926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6" idx="5"/>
            <a:endCxn id="17" idx="1"/>
          </p:cNvCxnSpPr>
          <p:nvPr/>
        </p:nvCxnSpPr>
        <p:spPr>
          <a:xfrm>
            <a:off x="3974845" y="4792421"/>
            <a:ext cx="402222" cy="453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7" idx="6"/>
            <a:endCxn id="18" idx="2"/>
          </p:cNvCxnSpPr>
          <p:nvPr/>
        </p:nvCxnSpPr>
        <p:spPr>
          <a:xfrm flipV="1">
            <a:off x="4499992" y="5015572"/>
            <a:ext cx="792088" cy="2809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7" idx="4"/>
            <a:endCxn id="19" idx="7"/>
          </p:cNvCxnSpPr>
          <p:nvPr/>
        </p:nvCxnSpPr>
        <p:spPr>
          <a:xfrm flipH="1">
            <a:off x="3902837" y="5368485"/>
            <a:ext cx="525147" cy="10412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em curva 24"/>
          <p:cNvCxnSpPr>
            <a:stCxn id="18" idx="0"/>
            <a:endCxn id="19" idx="6"/>
          </p:cNvCxnSpPr>
          <p:nvPr/>
        </p:nvCxnSpPr>
        <p:spPr>
          <a:xfrm rot="16200000" flipH="1" flipV="1">
            <a:off x="3885487" y="4982004"/>
            <a:ext cx="1517041" cy="1440160"/>
          </a:xfrm>
          <a:prstGeom prst="curvedConnector4">
            <a:avLst>
              <a:gd name="adj1" fmla="val -56247"/>
              <a:gd name="adj2" fmla="val -883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em curva 25"/>
          <p:cNvCxnSpPr>
            <a:stCxn id="18" idx="5"/>
            <a:endCxn id="19" idx="6"/>
          </p:cNvCxnSpPr>
          <p:nvPr/>
        </p:nvCxnSpPr>
        <p:spPr>
          <a:xfrm rot="5400000">
            <a:off x="3972409" y="5018009"/>
            <a:ext cx="1394116" cy="1491077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2555776" y="3861048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6617724" y="3861048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G*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1259632" y="3068960"/>
            <a:ext cx="140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Grafo Planar 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6617724" y="3068960"/>
            <a:ext cx="1183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00B0F0"/>
                </a:solidFill>
              </a:rPr>
              <a:t>Grafo Dual</a:t>
            </a:r>
          </a:p>
        </p:txBody>
      </p:sp>
    </p:spTree>
    <p:extLst>
      <p:ext uri="{BB962C8B-B14F-4D97-AF65-F5344CB8AC3E}">
        <p14:creationId xmlns:p14="http://schemas.microsoft.com/office/powerpoint/2010/main" val="553864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Exemplo 1:</a:t>
            </a:r>
          </a:p>
          <a:p>
            <a:pPr lvl="1"/>
            <a:r>
              <a:rPr lang="pt-BR" dirty="0"/>
              <a:t>Uma universidade está preparando o vestibular para os seus n cursos</a:t>
            </a:r>
          </a:p>
          <a:p>
            <a:pPr lvl="1"/>
            <a:r>
              <a:rPr lang="pt-BR" dirty="0"/>
              <a:t>Para cada curso, os candidatos deverão realizar algumas provas específicas </a:t>
            </a:r>
          </a:p>
          <a:p>
            <a:pPr lvl="2"/>
            <a:r>
              <a:rPr lang="pt-BR" dirty="0"/>
              <a:t>Computação: matemática, física</a:t>
            </a:r>
          </a:p>
          <a:p>
            <a:pPr lvl="2"/>
            <a:r>
              <a:rPr lang="pt-BR" dirty="0"/>
              <a:t>Nutrição: química, biologia</a:t>
            </a:r>
          </a:p>
          <a:p>
            <a:pPr lvl="2"/>
            <a:r>
              <a:rPr lang="pt-BR" dirty="0"/>
              <a:t>Arquitetura: física, matemática, história</a:t>
            </a:r>
          </a:p>
          <a:p>
            <a:pPr lvl="2"/>
            <a:r>
              <a:rPr lang="pt-BR" dirty="0"/>
              <a:t>Medicina: química, biologia</a:t>
            </a:r>
          </a:p>
          <a:p>
            <a:pPr lvl="1"/>
            <a:r>
              <a:rPr lang="pt-BR" dirty="0"/>
              <a:t>Como definir os horários das provas de modo que os candidatos de cada curso façam no máximo uma prova por dia?</a:t>
            </a:r>
          </a:p>
        </p:txBody>
      </p:sp>
    </p:spTree>
    <p:extLst>
      <p:ext uri="{BB962C8B-B14F-4D97-AF65-F5344CB8AC3E}">
        <p14:creationId xmlns:p14="http://schemas.microsoft.com/office/powerpoint/2010/main" val="170010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19"/>
          </a:xfrm>
        </p:spPr>
        <p:txBody>
          <a:bodyPr>
            <a:normAutofit/>
          </a:bodyPr>
          <a:lstStyle/>
          <a:p>
            <a:r>
              <a:rPr lang="pt-BR" sz="2800" dirty="0"/>
              <a:t>Exemplo 1: Solução</a:t>
            </a:r>
          </a:p>
          <a:p>
            <a:r>
              <a:rPr lang="pt-BR" sz="2800" dirty="0"/>
              <a:t>Modelagem: Dado um Grafo G(V, E), V é o conjunto de provas e irá existir uma aresta entre duas provas se as duas provas são obrigatórias para o mesmo curso.</a:t>
            </a:r>
          </a:p>
          <a:p>
            <a:r>
              <a:rPr lang="pt-BR" sz="2800" dirty="0"/>
              <a:t>Assim, encontre a coloração de vértice no grafo G. o número cromático em G será a quantidade de dias necessários para realização das provas.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52662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/>
          <a:lstStyle/>
          <a:p>
            <a:r>
              <a:rPr lang="pt-BR" dirty="0"/>
              <a:t>Exemplo 1: Solução</a:t>
            </a:r>
          </a:p>
        </p:txBody>
      </p:sp>
      <p:sp>
        <p:nvSpPr>
          <p:cNvPr id="4" name="Elipse 3"/>
          <p:cNvSpPr/>
          <p:nvPr/>
        </p:nvSpPr>
        <p:spPr>
          <a:xfrm>
            <a:off x="2568427" y="359356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2568427" y="511654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939135" y="3584733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4326457" y="270892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5921927" y="515719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4614489" y="2348880"/>
            <a:ext cx="567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299175" y="347207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Fis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6265379" y="504293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Qui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1979712" y="5003884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His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933006" y="3296239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Bio</a:t>
            </a:r>
            <a:endParaRPr lang="pt-BR" dirty="0"/>
          </a:p>
        </p:txBody>
      </p:sp>
      <p:cxnSp>
        <p:nvCxnSpPr>
          <p:cNvPr id="19" name="Conector reto 18"/>
          <p:cNvCxnSpPr>
            <a:stCxn id="11" idx="6"/>
            <a:endCxn id="10" idx="2"/>
          </p:cNvCxnSpPr>
          <p:nvPr/>
        </p:nvCxnSpPr>
        <p:spPr>
          <a:xfrm>
            <a:off x="4470473" y="2780928"/>
            <a:ext cx="1468662" cy="87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4" idx="5"/>
            <a:endCxn id="12" idx="2"/>
          </p:cNvCxnSpPr>
          <p:nvPr/>
        </p:nvCxnSpPr>
        <p:spPr>
          <a:xfrm>
            <a:off x="2691352" y="3716488"/>
            <a:ext cx="3230575" cy="1512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0" idx="4"/>
            <a:endCxn id="9" idx="7"/>
          </p:cNvCxnSpPr>
          <p:nvPr/>
        </p:nvCxnSpPr>
        <p:spPr>
          <a:xfrm flipH="1">
            <a:off x="2691352" y="3728749"/>
            <a:ext cx="3319791" cy="1408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1" idx="3"/>
            <a:endCxn id="9" idx="0"/>
          </p:cNvCxnSpPr>
          <p:nvPr/>
        </p:nvCxnSpPr>
        <p:spPr>
          <a:xfrm flipH="1">
            <a:off x="2640435" y="2831845"/>
            <a:ext cx="1707113" cy="2284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717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820688"/>
          </a:xfrm>
        </p:spPr>
        <p:txBody>
          <a:bodyPr/>
          <a:lstStyle/>
          <a:p>
            <a:r>
              <a:rPr lang="pt-BR" dirty="0"/>
              <a:t>Exemplo 1: Solução</a:t>
            </a:r>
          </a:p>
        </p:txBody>
      </p:sp>
      <p:sp>
        <p:nvSpPr>
          <p:cNvPr id="4" name="Elipse 3"/>
          <p:cNvSpPr/>
          <p:nvPr/>
        </p:nvSpPr>
        <p:spPr>
          <a:xfrm>
            <a:off x="2568427" y="359356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2568427" y="5116542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5939135" y="3584733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4326457" y="270892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5921927" y="5157192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/>
          <p:cNvSpPr txBox="1"/>
          <p:nvPr/>
        </p:nvSpPr>
        <p:spPr>
          <a:xfrm>
            <a:off x="4614489" y="2348880"/>
            <a:ext cx="567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Mat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6299175" y="3472075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Fis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6265379" y="5042935"/>
            <a:ext cx="514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Qui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1979712" y="5003884"/>
            <a:ext cx="471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His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1933006" y="3296239"/>
            <a:ext cx="484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Bio</a:t>
            </a:r>
            <a:endParaRPr lang="pt-BR" dirty="0"/>
          </a:p>
        </p:txBody>
      </p:sp>
      <p:cxnSp>
        <p:nvCxnSpPr>
          <p:cNvPr id="19" name="Conector reto 18"/>
          <p:cNvCxnSpPr>
            <a:stCxn id="11" idx="6"/>
            <a:endCxn id="10" idx="2"/>
          </p:cNvCxnSpPr>
          <p:nvPr/>
        </p:nvCxnSpPr>
        <p:spPr>
          <a:xfrm>
            <a:off x="4470473" y="2780928"/>
            <a:ext cx="1468662" cy="87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4" idx="5"/>
            <a:endCxn id="12" idx="2"/>
          </p:cNvCxnSpPr>
          <p:nvPr/>
        </p:nvCxnSpPr>
        <p:spPr>
          <a:xfrm>
            <a:off x="2691352" y="3716488"/>
            <a:ext cx="3230575" cy="1512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0" idx="4"/>
            <a:endCxn id="9" idx="7"/>
          </p:cNvCxnSpPr>
          <p:nvPr/>
        </p:nvCxnSpPr>
        <p:spPr>
          <a:xfrm flipH="1">
            <a:off x="2691352" y="3728749"/>
            <a:ext cx="3319791" cy="14088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11" idx="3"/>
            <a:endCxn id="9" idx="0"/>
          </p:cNvCxnSpPr>
          <p:nvPr/>
        </p:nvCxnSpPr>
        <p:spPr>
          <a:xfrm flipH="1">
            <a:off x="2640435" y="2831845"/>
            <a:ext cx="1707113" cy="2284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467544" y="5877272"/>
            <a:ext cx="596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número de dias de provas é o número de cores no grafo = 3</a:t>
            </a:r>
          </a:p>
        </p:txBody>
      </p:sp>
    </p:spTree>
    <p:extLst>
      <p:ext uri="{BB962C8B-B14F-4D97-AF65-F5344CB8AC3E}">
        <p14:creationId xmlns:p14="http://schemas.microsoft.com/office/powerpoint/2010/main" val="3859624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2</a:t>
            </a:r>
          </a:p>
          <a:p>
            <a:pPr lvl="1"/>
            <a:r>
              <a:rPr lang="pt-BR" dirty="0"/>
              <a:t>Uma empresa possui N tarefas a serem executadas e M funcionários</a:t>
            </a:r>
          </a:p>
          <a:p>
            <a:pPr lvl="1"/>
            <a:r>
              <a:rPr lang="pt-BR" dirty="0"/>
              <a:t>Cada funcionário já foi designado para um conjunto de tarefas</a:t>
            </a:r>
          </a:p>
          <a:p>
            <a:pPr lvl="1"/>
            <a:r>
              <a:rPr lang="pt-BR" dirty="0"/>
              <a:t>Cada tarefa demandará a dedicação do funcionário durante um dia completo</a:t>
            </a:r>
          </a:p>
          <a:p>
            <a:pPr lvl="1"/>
            <a:r>
              <a:rPr lang="pt-BR" dirty="0"/>
              <a:t>Quantos dias serão necessários para que todas as tarefas sejam concluídas?</a:t>
            </a:r>
          </a:p>
        </p:txBody>
      </p:sp>
    </p:spTree>
    <p:extLst>
      <p:ext uri="{BB962C8B-B14F-4D97-AF65-F5344CB8AC3E}">
        <p14:creationId xmlns:p14="http://schemas.microsoft.com/office/powerpoint/2010/main" val="3961685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349079"/>
          </a:xfrm>
        </p:spPr>
        <p:txBody>
          <a:bodyPr>
            <a:normAutofit/>
          </a:bodyPr>
          <a:lstStyle/>
          <a:p>
            <a:r>
              <a:rPr lang="pt-BR" dirty="0"/>
              <a:t>Exemplo 2: Solução</a:t>
            </a:r>
          </a:p>
          <a:p>
            <a:pPr lvl="1"/>
            <a:r>
              <a:rPr lang="pt-BR" dirty="0"/>
              <a:t>Modelagem: Dado um Grafo G(V, E), V é o conjunto de tarefas e irá existir uma aresta entre duas tarefas se as duas compartilharem o mesmo funcionário.</a:t>
            </a:r>
          </a:p>
          <a:p>
            <a:pPr lvl="1"/>
            <a:r>
              <a:rPr lang="pt-BR" dirty="0"/>
              <a:t>Assim, encontre a coloração de vértice no grafo G. o número cromático em G será a quantidade de dias necessários para realização das tarefas.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3371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748680"/>
          </a:xfrm>
        </p:spPr>
        <p:txBody>
          <a:bodyPr/>
          <a:lstStyle/>
          <a:p>
            <a:r>
              <a:rPr lang="pt-BR" dirty="0"/>
              <a:t>Exemplo 2: Solução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2568427" y="3593563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2568427" y="5116542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5939135" y="3584733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4326457" y="2708920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5921927" y="5157192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4614489" y="2348880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Tar</a:t>
            </a:r>
            <a:r>
              <a:rPr lang="pt-BR" dirty="0"/>
              <a:t> 2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6299175" y="3472075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Tar</a:t>
            </a:r>
            <a:r>
              <a:rPr lang="pt-BR" dirty="0"/>
              <a:t> 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265379" y="5042935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Tar</a:t>
            </a:r>
            <a:r>
              <a:rPr lang="pt-BR" dirty="0"/>
              <a:t> 4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907704" y="5003884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Tar</a:t>
            </a:r>
            <a:r>
              <a:rPr lang="pt-BR" dirty="0"/>
              <a:t> 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933006" y="3296239"/>
            <a:ext cx="639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Tar</a:t>
            </a:r>
            <a:r>
              <a:rPr lang="pt-BR" dirty="0"/>
              <a:t> 1</a:t>
            </a:r>
          </a:p>
        </p:txBody>
      </p:sp>
      <p:cxnSp>
        <p:nvCxnSpPr>
          <p:cNvPr id="14" name="Conector reto 13"/>
          <p:cNvCxnSpPr>
            <a:stCxn id="7" idx="6"/>
            <a:endCxn id="6" idx="2"/>
          </p:cNvCxnSpPr>
          <p:nvPr/>
        </p:nvCxnSpPr>
        <p:spPr>
          <a:xfrm>
            <a:off x="4470473" y="2780928"/>
            <a:ext cx="1468662" cy="875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4" idx="5"/>
            <a:endCxn id="8" idx="2"/>
          </p:cNvCxnSpPr>
          <p:nvPr/>
        </p:nvCxnSpPr>
        <p:spPr>
          <a:xfrm>
            <a:off x="2691352" y="3716488"/>
            <a:ext cx="3230575" cy="1512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4"/>
            <a:endCxn id="5" idx="0"/>
          </p:cNvCxnSpPr>
          <p:nvPr/>
        </p:nvCxnSpPr>
        <p:spPr>
          <a:xfrm>
            <a:off x="2640435" y="3737579"/>
            <a:ext cx="0" cy="1378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5" idx="6"/>
            <a:endCxn id="8" idx="2"/>
          </p:cNvCxnSpPr>
          <p:nvPr/>
        </p:nvCxnSpPr>
        <p:spPr>
          <a:xfrm>
            <a:off x="2712443" y="5188550"/>
            <a:ext cx="3209484" cy="40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40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 3</a:t>
            </a:r>
          </a:p>
          <a:p>
            <a:pPr lvl="1"/>
            <a:r>
              <a:rPr lang="pt-BR" dirty="0"/>
              <a:t>Suponha que N candidatos a uma vaga devam ser entrevistados individualmente por profissionais de uma empresa</a:t>
            </a:r>
          </a:p>
          <a:p>
            <a:pPr lvl="1"/>
            <a:r>
              <a:rPr lang="pt-BR" dirty="0"/>
              <a:t>Os entrevistadores são escolhidos de acordo com a área de atuação que um funcionário está pleiteando</a:t>
            </a:r>
          </a:p>
          <a:p>
            <a:pPr lvl="1"/>
            <a:r>
              <a:rPr lang="pt-BR" dirty="0"/>
              <a:t>Como determinar o número mínimo de períodos de entrevista?</a:t>
            </a:r>
          </a:p>
        </p:txBody>
      </p:sp>
    </p:spTree>
    <p:extLst>
      <p:ext uri="{BB962C8B-B14F-4D97-AF65-F5344CB8AC3E}">
        <p14:creationId xmlns:p14="http://schemas.microsoft.com/office/powerpoint/2010/main" val="1508823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Coloração de Grafos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76672"/>
          </a:xfrm>
        </p:spPr>
        <p:txBody>
          <a:bodyPr/>
          <a:lstStyle/>
          <a:p>
            <a:r>
              <a:rPr lang="pt-BR" dirty="0"/>
              <a:t>Exemplo 3: Solução</a:t>
            </a:r>
          </a:p>
        </p:txBody>
      </p:sp>
      <p:sp>
        <p:nvSpPr>
          <p:cNvPr id="4" name="Elipse 3"/>
          <p:cNvSpPr/>
          <p:nvPr/>
        </p:nvSpPr>
        <p:spPr>
          <a:xfrm>
            <a:off x="1920355" y="2934236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/>
          <p:cNvSpPr/>
          <p:nvPr/>
        </p:nvSpPr>
        <p:spPr>
          <a:xfrm>
            <a:off x="1920355" y="4457215"/>
            <a:ext cx="144016" cy="14401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5620213" y="4452585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3833826" y="2940417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3336891" y="4457215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3230014" y="264309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2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885772" y="431546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3649624" y="431546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4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1259632" y="434455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5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284934" y="26369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1</a:t>
            </a:r>
          </a:p>
        </p:txBody>
      </p:sp>
      <p:cxnSp>
        <p:nvCxnSpPr>
          <p:cNvPr id="14" name="Conector reto 13"/>
          <p:cNvCxnSpPr>
            <a:stCxn id="7" idx="6"/>
            <a:endCxn id="6" idx="2"/>
          </p:cNvCxnSpPr>
          <p:nvPr/>
        </p:nvCxnSpPr>
        <p:spPr>
          <a:xfrm>
            <a:off x="3977842" y="3012425"/>
            <a:ext cx="1642371" cy="1512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>
            <a:stCxn id="4" idx="5"/>
            <a:endCxn id="8" idx="2"/>
          </p:cNvCxnSpPr>
          <p:nvPr/>
        </p:nvCxnSpPr>
        <p:spPr>
          <a:xfrm>
            <a:off x="2043280" y="3057161"/>
            <a:ext cx="1293611" cy="1472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4" idx="4"/>
            <a:endCxn id="5" idx="0"/>
          </p:cNvCxnSpPr>
          <p:nvPr/>
        </p:nvCxnSpPr>
        <p:spPr>
          <a:xfrm>
            <a:off x="1992363" y="3078252"/>
            <a:ext cx="0" cy="1378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5" idx="6"/>
            <a:endCxn id="8" idx="2"/>
          </p:cNvCxnSpPr>
          <p:nvPr/>
        </p:nvCxnSpPr>
        <p:spPr>
          <a:xfrm>
            <a:off x="2064371" y="4529223"/>
            <a:ext cx="12725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7287427" y="4428123"/>
            <a:ext cx="144016" cy="14401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/>
          <p:cNvSpPr/>
          <p:nvPr/>
        </p:nvSpPr>
        <p:spPr>
          <a:xfrm>
            <a:off x="7287427" y="3228449"/>
            <a:ext cx="144016" cy="144016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/>
          <p:cNvSpPr txBox="1"/>
          <p:nvPr/>
        </p:nvSpPr>
        <p:spPr>
          <a:xfrm>
            <a:off x="6649811" y="431546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7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6647893" y="308443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 6</a:t>
            </a:r>
          </a:p>
        </p:txBody>
      </p:sp>
      <p:cxnSp>
        <p:nvCxnSpPr>
          <p:cNvPr id="22" name="Conector reto 21"/>
          <p:cNvCxnSpPr>
            <a:stCxn id="19" idx="4"/>
            <a:endCxn id="18" idx="0"/>
          </p:cNvCxnSpPr>
          <p:nvPr/>
        </p:nvCxnSpPr>
        <p:spPr>
          <a:xfrm>
            <a:off x="7359435" y="3372465"/>
            <a:ext cx="0" cy="10556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467544" y="5517232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 componente representa funcionários da mesma área. Será então necessário alocar um entrevistador para cada componente. Assim, o número de períodos de entrevistas é o número de cores no grafo = 3.</a:t>
            </a:r>
          </a:p>
        </p:txBody>
      </p:sp>
    </p:spTree>
    <p:extLst>
      <p:ext uri="{BB962C8B-B14F-4D97-AF65-F5344CB8AC3E}">
        <p14:creationId xmlns:p14="http://schemas.microsoft.com/office/powerpoint/2010/main" val="19959224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de Linha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 G um grafo não-dirigido</a:t>
                </a:r>
              </a:p>
              <a:p>
                <a:r>
                  <a:rPr lang="pt-BR" dirty="0"/>
                  <a:t>O grafo de linha (ou grafo adjunto) de G, L(G), é definido como:</a:t>
                </a:r>
              </a:p>
              <a:p>
                <a:pPr lvl="1"/>
                <a:r>
                  <a:rPr lang="pt-BR" dirty="0"/>
                  <a:t>Os vértices de L(G) são as arestas de G</a:t>
                </a:r>
              </a:p>
              <a:p>
                <a:pPr lvl="1"/>
                <a:r>
                  <a:rPr lang="pt-BR" dirty="0"/>
                  <a:t>Dois vértices são adjacentes em L(G) se as arestas correspondentes forem adjacentes em G</a:t>
                </a:r>
              </a:p>
              <a:p>
                <a:pPr lvl="1"/>
                <a:r>
                  <a:rPr lang="pt-BR" dirty="0"/>
                  <a:t>Propriedade: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  <m:r>
                      <a:rPr lang="pt-BR" b="0" i="1" baseline="-25000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pt-BR" dirty="0"/>
                  <a:t>(G) = </a:t>
                </a:r>
                <a14:m>
                  <m:oMath xmlns:m="http://schemas.openxmlformats.org/officeDocument/2006/math">
                    <m:r>
                      <a:rPr lang="pt-BR" i="1" baseline="-25000" dirty="0">
                        <a:latin typeface="Cambria Math"/>
                      </a:rPr>
                      <m:t>𝑋</m:t>
                    </m:r>
                  </m:oMath>
                </a14:m>
                <a:r>
                  <a:rPr lang="pt-BR" dirty="0"/>
                  <a:t>(L(G))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8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9224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de Linha</a:t>
            </a:r>
          </a:p>
        </p:txBody>
      </p:sp>
      <p:sp>
        <p:nvSpPr>
          <p:cNvPr id="6" name="Elipse 5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Elipse 8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" name="Conector reto 9"/>
          <p:cNvCxnSpPr>
            <a:stCxn id="6" idx="3"/>
            <a:endCxn id="7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9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2"/>
            <a:endCxn id="7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6" idx="5"/>
            <a:endCxn id="8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3" idx="2"/>
            <a:endCxn id="9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922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de Linha</a:t>
            </a:r>
          </a:p>
        </p:txBody>
      </p:sp>
      <p:sp>
        <p:nvSpPr>
          <p:cNvPr id="6" name="Elipse 5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Elipse 8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" name="Conector reto 9"/>
          <p:cNvCxnSpPr>
            <a:stCxn id="6" idx="3"/>
            <a:endCxn id="7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9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2"/>
            <a:endCxn id="7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6" idx="5"/>
            <a:endCxn id="8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3" idx="2"/>
            <a:endCxn id="9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3116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481341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4322286" y="335699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3340035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5304536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4321902" y="475763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950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de Linha</a:t>
            </a:r>
          </a:p>
        </p:txBody>
      </p:sp>
      <p:sp>
        <p:nvSpPr>
          <p:cNvPr id="6" name="Elipse 5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9" name="Elipse 8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0" name="Conector reto 9"/>
          <p:cNvCxnSpPr>
            <a:stCxn id="6" idx="3"/>
            <a:endCxn id="7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9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2"/>
            <a:endCxn id="7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6" idx="5"/>
            <a:endCxn id="8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3" idx="2"/>
            <a:endCxn id="9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3116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481341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4322286" y="335699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3340035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5304536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4321902" y="475763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/>
          <p:cNvCxnSpPr>
            <a:stCxn id="18" idx="3"/>
            <a:endCxn id="20" idx="6"/>
          </p:cNvCxnSpPr>
          <p:nvPr/>
        </p:nvCxnSpPr>
        <p:spPr>
          <a:xfrm flipH="1">
            <a:off x="3484051" y="3479917"/>
            <a:ext cx="859326" cy="64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1"/>
            <a:endCxn id="19" idx="5"/>
          </p:cNvCxnSpPr>
          <p:nvPr/>
        </p:nvCxnSpPr>
        <p:spPr>
          <a:xfrm flipH="1" flipV="1">
            <a:off x="3954085" y="3067304"/>
            <a:ext cx="389292" cy="31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7"/>
            <a:endCxn id="15" idx="3"/>
          </p:cNvCxnSpPr>
          <p:nvPr/>
        </p:nvCxnSpPr>
        <p:spPr>
          <a:xfrm flipV="1">
            <a:off x="4445211" y="3067304"/>
            <a:ext cx="389290" cy="31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8" idx="5"/>
            <a:endCxn id="21" idx="2"/>
          </p:cNvCxnSpPr>
          <p:nvPr/>
        </p:nvCxnSpPr>
        <p:spPr>
          <a:xfrm>
            <a:off x="4445211" y="3479917"/>
            <a:ext cx="859325" cy="64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2" idx="7"/>
            <a:endCxn id="21" idx="3"/>
          </p:cNvCxnSpPr>
          <p:nvPr/>
        </p:nvCxnSpPr>
        <p:spPr>
          <a:xfrm flipV="1">
            <a:off x="4444827" y="4180236"/>
            <a:ext cx="880800" cy="59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2" idx="1"/>
            <a:endCxn id="20" idx="5"/>
          </p:cNvCxnSpPr>
          <p:nvPr/>
        </p:nvCxnSpPr>
        <p:spPr>
          <a:xfrm flipH="1" flipV="1">
            <a:off x="3462960" y="4180236"/>
            <a:ext cx="880033" cy="59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em curva 41"/>
          <p:cNvCxnSpPr>
            <a:stCxn id="20" idx="2"/>
            <a:endCxn id="19" idx="2"/>
          </p:cNvCxnSpPr>
          <p:nvPr/>
        </p:nvCxnSpPr>
        <p:spPr>
          <a:xfrm rot="10800000" flipH="1">
            <a:off x="3340034" y="3016387"/>
            <a:ext cx="491125" cy="1112932"/>
          </a:xfrm>
          <a:prstGeom prst="curvedConnector3">
            <a:avLst>
              <a:gd name="adj1" fmla="val -1589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em curva 44"/>
          <p:cNvCxnSpPr>
            <a:stCxn id="21" idx="6"/>
            <a:endCxn id="15" idx="6"/>
          </p:cNvCxnSpPr>
          <p:nvPr/>
        </p:nvCxnSpPr>
        <p:spPr>
          <a:xfrm flipH="1" flipV="1">
            <a:off x="4957426" y="3016387"/>
            <a:ext cx="491126" cy="1112932"/>
          </a:xfrm>
          <a:prstGeom prst="curvedConnector3">
            <a:avLst>
              <a:gd name="adj1" fmla="val -1626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19" idx="6"/>
            <a:endCxn id="15" idx="2"/>
          </p:cNvCxnSpPr>
          <p:nvPr/>
        </p:nvCxnSpPr>
        <p:spPr>
          <a:xfrm>
            <a:off x="3975176" y="3016387"/>
            <a:ext cx="838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157978" y="486916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b,d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157978" y="349171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c,e</a:t>
            </a:r>
            <a:endParaRPr lang="pt-BR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5382114" y="413978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e,d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2926013" y="407949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c,b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4941415" y="256418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a,e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3491880" y="256490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a,c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05103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Grafo de Linha</a:t>
            </a:r>
          </a:p>
        </p:txBody>
      </p:sp>
      <p:sp>
        <p:nvSpPr>
          <p:cNvPr id="6" name="Elipse 5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a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c</a:t>
            </a:r>
          </a:p>
        </p:txBody>
      </p:sp>
      <p:sp>
        <p:nvSpPr>
          <p:cNvPr id="8" name="Elipse 7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e</a:t>
            </a:r>
          </a:p>
        </p:txBody>
      </p:sp>
      <p:sp>
        <p:nvSpPr>
          <p:cNvPr id="9" name="Elipse 8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b</a:t>
            </a:r>
          </a:p>
        </p:txBody>
      </p:sp>
      <p:cxnSp>
        <p:nvCxnSpPr>
          <p:cNvPr id="10" name="Conector reto 9"/>
          <p:cNvCxnSpPr>
            <a:stCxn id="6" idx="3"/>
            <a:endCxn id="7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9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2"/>
            <a:endCxn id="7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>
                    <a:lumMod val="85000"/>
                  </a:schemeClr>
                </a:solidFill>
              </a:rPr>
              <a:t>d</a:t>
            </a:r>
          </a:p>
        </p:txBody>
      </p:sp>
      <p:cxnSp>
        <p:nvCxnSpPr>
          <p:cNvPr id="14" name="Conector de seta reta 13"/>
          <p:cNvCxnSpPr>
            <a:stCxn id="6" idx="5"/>
            <a:endCxn id="8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13" idx="0"/>
            <a:endCxn id="8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>
            <a:stCxn id="13" idx="2"/>
            <a:endCxn id="9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/>
          <p:cNvSpPr/>
          <p:nvPr/>
        </p:nvSpPr>
        <p:spPr>
          <a:xfrm>
            <a:off x="383116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4813410" y="2944379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4322286" y="3356992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/>
          <p:cNvSpPr/>
          <p:nvPr/>
        </p:nvSpPr>
        <p:spPr>
          <a:xfrm>
            <a:off x="3340035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lipse 20"/>
          <p:cNvSpPr/>
          <p:nvPr/>
        </p:nvSpPr>
        <p:spPr>
          <a:xfrm>
            <a:off x="5304536" y="4057311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lipse 21"/>
          <p:cNvSpPr/>
          <p:nvPr/>
        </p:nvSpPr>
        <p:spPr>
          <a:xfrm>
            <a:off x="4321902" y="4757630"/>
            <a:ext cx="144016" cy="14401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/>
          <p:cNvCxnSpPr>
            <a:stCxn id="18" idx="3"/>
            <a:endCxn id="20" idx="6"/>
          </p:cNvCxnSpPr>
          <p:nvPr/>
        </p:nvCxnSpPr>
        <p:spPr>
          <a:xfrm flipH="1">
            <a:off x="3484051" y="3479917"/>
            <a:ext cx="859326" cy="64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1"/>
            <a:endCxn id="19" idx="5"/>
          </p:cNvCxnSpPr>
          <p:nvPr/>
        </p:nvCxnSpPr>
        <p:spPr>
          <a:xfrm flipH="1" flipV="1">
            <a:off x="3954085" y="3067304"/>
            <a:ext cx="389292" cy="31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8" idx="7"/>
            <a:endCxn id="15" idx="3"/>
          </p:cNvCxnSpPr>
          <p:nvPr/>
        </p:nvCxnSpPr>
        <p:spPr>
          <a:xfrm flipV="1">
            <a:off x="4445211" y="3067304"/>
            <a:ext cx="389290" cy="3107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18" idx="5"/>
            <a:endCxn id="21" idx="2"/>
          </p:cNvCxnSpPr>
          <p:nvPr/>
        </p:nvCxnSpPr>
        <p:spPr>
          <a:xfrm>
            <a:off x="4445211" y="3479917"/>
            <a:ext cx="859325" cy="64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22" idx="7"/>
            <a:endCxn id="21" idx="3"/>
          </p:cNvCxnSpPr>
          <p:nvPr/>
        </p:nvCxnSpPr>
        <p:spPr>
          <a:xfrm flipV="1">
            <a:off x="4444827" y="4180236"/>
            <a:ext cx="880800" cy="59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2" idx="1"/>
            <a:endCxn id="20" idx="5"/>
          </p:cNvCxnSpPr>
          <p:nvPr/>
        </p:nvCxnSpPr>
        <p:spPr>
          <a:xfrm flipH="1" flipV="1">
            <a:off x="3462960" y="4180236"/>
            <a:ext cx="880033" cy="598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em curva 41"/>
          <p:cNvCxnSpPr>
            <a:stCxn id="20" idx="2"/>
            <a:endCxn id="19" idx="2"/>
          </p:cNvCxnSpPr>
          <p:nvPr/>
        </p:nvCxnSpPr>
        <p:spPr>
          <a:xfrm rot="10800000" flipH="1">
            <a:off x="3340034" y="3016387"/>
            <a:ext cx="491125" cy="1112932"/>
          </a:xfrm>
          <a:prstGeom prst="curvedConnector3">
            <a:avLst>
              <a:gd name="adj1" fmla="val -15899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em curva 44"/>
          <p:cNvCxnSpPr>
            <a:stCxn id="21" idx="6"/>
            <a:endCxn id="15" idx="6"/>
          </p:cNvCxnSpPr>
          <p:nvPr/>
        </p:nvCxnSpPr>
        <p:spPr>
          <a:xfrm flipH="1" flipV="1">
            <a:off x="4957426" y="3016387"/>
            <a:ext cx="491126" cy="1112932"/>
          </a:xfrm>
          <a:prstGeom prst="curvedConnector3">
            <a:avLst>
              <a:gd name="adj1" fmla="val -16268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19" idx="6"/>
            <a:endCxn id="15" idx="2"/>
          </p:cNvCxnSpPr>
          <p:nvPr/>
        </p:nvCxnSpPr>
        <p:spPr>
          <a:xfrm>
            <a:off x="3975176" y="3016387"/>
            <a:ext cx="838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157978" y="486916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b,d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4157978" y="349171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c,e</a:t>
            </a:r>
            <a:endParaRPr lang="pt-BR" dirty="0"/>
          </a:p>
        </p:txBody>
      </p:sp>
      <p:sp>
        <p:nvSpPr>
          <p:cNvPr id="33" name="CaixaDeTexto 32"/>
          <p:cNvSpPr txBox="1"/>
          <p:nvPr/>
        </p:nvSpPr>
        <p:spPr>
          <a:xfrm>
            <a:off x="5382114" y="4139788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e,d</a:t>
            </a:r>
            <a:endParaRPr lang="pt-BR" dirty="0"/>
          </a:p>
        </p:txBody>
      </p:sp>
      <p:sp>
        <p:nvSpPr>
          <p:cNvPr id="34" name="CaixaDeTexto 33"/>
          <p:cNvSpPr txBox="1"/>
          <p:nvPr/>
        </p:nvSpPr>
        <p:spPr>
          <a:xfrm>
            <a:off x="2926013" y="407949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c,b</a:t>
            </a:r>
            <a:endParaRPr lang="pt-BR" dirty="0"/>
          </a:p>
        </p:txBody>
      </p:sp>
      <p:sp>
        <p:nvSpPr>
          <p:cNvPr id="35" name="CaixaDeTexto 34"/>
          <p:cNvSpPr txBox="1"/>
          <p:nvPr/>
        </p:nvSpPr>
        <p:spPr>
          <a:xfrm>
            <a:off x="4941415" y="2564188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a,e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3491880" y="256490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a,c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7742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Teorema das Quatro Cores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4618856" cy="4525963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O teorema das quatro cores é um teorema de formulação e conceitualização simples, mas de demonstração extremamente complexa.</a:t>
            </a:r>
          </a:p>
          <a:p>
            <a:r>
              <a:rPr lang="pt-BR" dirty="0"/>
              <a:t>A sua formulação é a seguinte:</a:t>
            </a:r>
          </a:p>
          <a:p>
            <a:endParaRPr lang="pt-BR" dirty="0"/>
          </a:p>
          <a:p>
            <a:r>
              <a:rPr lang="pt-BR" dirty="0"/>
              <a:t>TEOREMA:</a:t>
            </a:r>
          </a:p>
          <a:p>
            <a:pPr lvl="1"/>
            <a:r>
              <a:rPr lang="pt-BR" dirty="0"/>
              <a:t>Dado um mapa plano, dividido em regiões, quatro cores chegam para o colorir, de forma a que regiões vizinhas não partilhem a mesma cor.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898" y="2132856"/>
            <a:ext cx="209550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98700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problema de determinar se um grafo G é k-</a:t>
            </a:r>
            <a:r>
              <a:rPr lang="pt-BR" dirty="0" err="1"/>
              <a:t>colorível</a:t>
            </a:r>
            <a:r>
              <a:rPr lang="pt-BR" dirty="0"/>
              <a:t> é um problema NP-</a:t>
            </a:r>
            <a:r>
              <a:rPr lang="pt-BR" dirty="0" err="1"/>
              <a:t>Compelto</a:t>
            </a:r>
            <a:r>
              <a:rPr lang="pt-BR" dirty="0"/>
              <a:t>.</a:t>
            </a:r>
          </a:p>
          <a:p>
            <a:r>
              <a:rPr lang="pt-BR" dirty="0"/>
              <a:t>Solução em tempo polinomial: Algoritmos gulosos com heurísticas</a:t>
            </a:r>
          </a:p>
          <a:p>
            <a:r>
              <a:rPr lang="pt-BR" dirty="0"/>
              <a:t>Na apresentação dos algoritmos para coloração de grafos, utiliza-se a seguinte convenção:</a:t>
            </a:r>
          </a:p>
          <a:p>
            <a:pPr lvl="1"/>
            <a:r>
              <a:rPr lang="pt-BR" dirty="0"/>
              <a:t>Cada cor é identificada por um número inteiro.</a:t>
            </a:r>
          </a:p>
        </p:txBody>
      </p:sp>
    </p:spTree>
    <p:extLst>
      <p:ext uri="{BB962C8B-B14F-4D97-AF65-F5344CB8AC3E}">
        <p14:creationId xmlns:p14="http://schemas.microsoft.com/office/powerpoint/2010/main" val="7376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Powell, 1967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62193" y="2339365"/>
            <a:ext cx="845936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c = 0; k = 0;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Ordenar os vértices pelo grau de forma descendente</a:t>
            </a:r>
          </a:p>
          <a:p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houver algum vértice não colorido 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c = c + 1;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i até n 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v</a:t>
            </a:r>
            <a:r>
              <a:rPr lang="pt-BR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não foi colorido e não há vizinho de v</a:t>
            </a:r>
            <a:r>
              <a:rPr lang="pt-BR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com cor c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then</a:t>
            </a:r>
            <a:endParaRPr lang="pt-B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      Atribua cor c a v</a:t>
            </a:r>
            <a:r>
              <a:rPr lang="pt-BR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endParaRPr lang="pt-B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 for</a:t>
            </a:r>
          </a:p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   K = K + 1    //número cromático</a:t>
            </a:r>
            <a:endParaRPr lang="pt-BR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end</a:t>
            </a:r>
            <a:r>
              <a:rPr lang="pt-BR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b="1" dirty="0" err="1"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endParaRPr lang="pt-BR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323528" y="5661248"/>
            <a:ext cx="8498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problema com esse algoritmo é que ele pode apresentar um desempenho muito ruim:</a:t>
            </a:r>
          </a:p>
          <a:p>
            <a:r>
              <a:rPr lang="pt-BR" dirty="0"/>
              <a:t>retornar uma coloração que usa um número de cores bem longe do número cromático.</a:t>
            </a:r>
          </a:p>
        </p:txBody>
      </p:sp>
    </p:spTree>
    <p:extLst>
      <p:ext uri="{BB962C8B-B14F-4D97-AF65-F5344CB8AC3E}">
        <p14:creationId xmlns:p14="http://schemas.microsoft.com/office/powerpoint/2010/main" val="16262148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66BC03C-98AB-4752-95C0-16868A6B7342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1434158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>
            <a:off x="2498908" y="3281453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D6B547B-F928-4207-B22D-3E4A440D16BC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8644386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>
            <a:off x="2498908" y="3281453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DA6E5B-2B68-42C6-9FD5-3C4766A1E59B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155538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>
            <a:off x="2498908" y="4662925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18495C6-340E-4D2B-AF05-ED09F80D0119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727440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>
            <a:off x="2498908" y="4662925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0F621B3-1058-4506-904C-9CA7EE2FBAED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3447656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 rot="10800000">
            <a:off x="5942017" y="3253874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50F7EF4-0295-4FBE-8AB4-946664886CE8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8751560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 rot="10800000">
            <a:off x="5942017" y="3253874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FC43C1E-A314-425D-A1CA-33BAA00A445D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543104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rgbClr val="00B0F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eta: para a Direita 14"/>
          <p:cNvSpPr/>
          <p:nvPr/>
        </p:nvSpPr>
        <p:spPr>
          <a:xfrm rot="10800000">
            <a:off x="5942017" y="4662924"/>
            <a:ext cx="449330" cy="3502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23528" y="2060848"/>
            <a:ext cx="34638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Comece pelo vértice de maior grau</a:t>
            </a:r>
          </a:p>
          <a:p>
            <a:r>
              <a:rPr lang="pt-BR" dirty="0"/>
              <a:t>K = 4.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2A0F67F-B812-4EBB-A294-730D5393B92D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4826049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Welsh</a:t>
            </a:r>
            <a:r>
              <a:rPr lang="pt-BR" dirty="0"/>
              <a:t> e Powell</a:t>
            </a:r>
          </a:p>
        </p:txBody>
      </p:sp>
      <p:sp>
        <p:nvSpPr>
          <p:cNvPr id="4" name="Elipse 3"/>
          <p:cNvSpPr/>
          <p:nvPr/>
        </p:nvSpPr>
        <p:spPr>
          <a:xfrm>
            <a:off x="4122602" y="2398603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Elipse 4"/>
          <p:cNvSpPr/>
          <p:nvPr/>
        </p:nvSpPr>
        <p:spPr>
          <a:xfrm>
            <a:off x="3140353" y="3223828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6" name="Elipse 5"/>
          <p:cNvSpPr/>
          <p:nvPr/>
        </p:nvSpPr>
        <p:spPr>
          <a:xfrm>
            <a:off x="5104854" y="3223828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7" name="Elipse 6"/>
          <p:cNvSpPr/>
          <p:nvPr/>
        </p:nvSpPr>
        <p:spPr>
          <a:xfrm>
            <a:off x="3140353" y="4619897"/>
            <a:ext cx="543381" cy="410344"/>
          </a:xfrm>
          <a:prstGeom prst="ellipse">
            <a:avLst/>
          </a:prstGeom>
          <a:solidFill>
            <a:srgbClr val="00B05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8" name="Conector reto 7"/>
          <p:cNvCxnSpPr>
            <a:stCxn id="4" idx="3"/>
            <a:endCxn id="5" idx="7"/>
          </p:cNvCxnSpPr>
          <p:nvPr/>
        </p:nvCxnSpPr>
        <p:spPr>
          <a:xfrm flipH="1">
            <a:off x="3604158" y="2748854"/>
            <a:ext cx="598020" cy="53506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7" idx="0"/>
          </p:cNvCxnSpPr>
          <p:nvPr/>
        </p:nvCxnSpPr>
        <p:spPr>
          <a:xfrm>
            <a:off x="3412044" y="3634172"/>
            <a:ext cx="0" cy="98572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6" idx="2"/>
            <a:endCxn id="5" idx="6"/>
          </p:cNvCxnSpPr>
          <p:nvPr/>
        </p:nvCxnSpPr>
        <p:spPr>
          <a:xfrm flipH="1">
            <a:off x="3683734" y="3429000"/>
            <a:ext cx="142112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/>
          <p:cNvSpPr/>
          <p:nvPr/>
        </p:nvSpPr>
        <p:spPr>
          <a:xfrm>
            <a:off x="5104854" y="4624466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2" name="Conector de seta reta 13"/>
          <p:cNvCxnSpPr>
            <a:stCxn id="4" idx="5"/>
            <a:endCxn id="6" idx="1"/>
          </p:cNvCxnSpPr>
          <p:nvPr/>
        </p:nvCxnSpPr>
        <p:spPr>
          <a:xfrm>
            <a:off x="4586407" y="2748854"/>
            <a:ext cx="598023" cy="5350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5"/>
          <p:cNvCxnSpPr>
            <a:stCxn id="11" idx="0"/>
            <a:endCxn id="6" idx="4"/>
          </p:cNvCxnSpPr>
          <p:nvPr/>
        </p:nvCxnSpPr>
        <p:spPr>
          <a:xfrm flipV="1">
            <a:off x="5376545" y="3634172"/>
            <a:ext cx="0" cy="99029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/>
          <p:cNvCxnSpPr>
            <a:stCxn id="11" idx="2"/>
            <a:endCxn id="7" idx="6"/>
          </p:cNvCxnSpPr>
          <p:nvPr/>
        </p:nvCxnSpPr>
        <p:spPr>
          <a:xfrm flipH="1" flipV="1">
            <a:off x="3683734" y="4825069"/>
            <a:ext cx="1421120" cy="456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122602" y="5373216"/>
            <a:ext cx="543381" cy="410344"/>
          </a:xfrm>
          <a:prstGeom prst="ellipse">
            <a:avLst/>
          </a:prstGeom>
          <a:solidFill>
            <a:srgbClr val="FF00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2" name="Elipse 21"/>
          <p:cNvSpPr/>
          <p:nvPr/>
        </p:nvSpPr>
        <p:spPr>
          <a:xfrm>
            <a:off x="2241693" y="3921862"/>
            <a:ext cx="543381" cy="410344"/>
          </a:xfrm>
          <a:prstGeom prst="ellipse">
            <a:avLst/>
          </a:prstGeom>
          <a:solidFill>
            <a:srgbClr val="FFFF00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24" name="Conector reto 23"/>
          <p:cNvCxnSpPr>
            <a:stCxn id="22" idx="7"/>
            <a:endCxn id="5" idx="3"/>
          </p:cNvCxnSpPr>
          <p:nvPr/>
        </p:nvCxnSpPr>
        <p:spPr>
          <a:xfrm flipV="1">
            <a:off x="2705498" y="3574079"/>
            <a:ext cx="514431" cy="407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/>
          <p:cNvCxnSpPr>
            <a:stCxn id="22" idx="5"/>
            <a:endCxn id="7" idx="1"/>
          </p:cNvCxnSpPr>
          <p:nvPr/>
        </p:nvCxnSpPr>
        <p:spPr>
          <a:xfrm>
            <a:off x="2705498" y="4272113"/>
            <a:ext cx="514431" cy="4078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/>
          <p:cNvCxnSpPr>
            <a:stCxn id="21" idx="0"/>
            <a:endCxn id="4" idx="4"/>
          </p:cNvCxnSpPr>
          <p:nvPr/>
        </p:nvCxnSpPr>
        <p:spPr>
          <a:xfrm flipV="1">
            <a:off x="4394293" y="2808947"/>
            <a:ext cx="0" cy="25642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7" idx="5"/>
            <a:endCxn id="21" idx="1"/>
          </p:cNvCxnSpPr>
          <p:nvPr/>
        </p:nvCxnSpPr>
        <p:spPr>
          <a:xfrm>
            <a:off x="3604158" y="4970148"/>
            <a:ext cx="598020" cy="463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1" idx="7"/>
            <a:endCxn id="11" idx="3"/>
          </p:cNvCxnSpPr>
          <p:nvPr/>
        </p:nvCxnSpPr>
        <p:spPr>
          <a:xfrm flipV="1">
            <a:off x="4586407" y="4974717"/>
            <a:ext cx="598023" cy="4585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2"/>
          <p:cNvSpPr txBox="1"/>
          <p:nvPr/>
        </p:nvSpPr>
        <p:spPr>
          <a:xfrm>
            <a:off x="323528" y="2060848"/>
            <a:ext cx="4612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Solução ótima (não encontrada pelo algoritmo)</a:t>
            </a:r>
          </a:p>
          <a:p>
            <a:r>
              <a:rPr lang="pt-BR" dirty="0"/>
              <a:t>K = 3.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A85B9D-4A6B-4C9E-84B2-BCBEFFD9F1D1}"/>
              </a:ext>
            </a:extLst>
          </p:cNvPr>
          <p:cNvSpPr txBox="1"/>
          <p:nvPr/>
        </p:nvSpPr>
        <p:spPr>
          <a:xfrm>
            <a:off x="7596336" y="1665242"/>
            <a:ext cx="34657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</a:t>
            </a:r>
          </a:p>
          <a:p>
            <a:r>
              <a:rPr lang="pt-BR" sz="2400" dirty="0"/>
              <a:t>b</a:t>
            </a:r>
          </a:p>
          <a:p>
            <a:r>
              <a:rPr lang="pt-BR" sz="2400" dirty="0"/>
              <a:t>g</a:t>
            </a:r>
          </a:p>
          <a:p>
            <a:r>
              <a:rPr lang="pt-BR" sz="2400" dirty="0"/>
              <a:t>a</a:t>
            </a:r>
          </a:p>
          <a:p>
            <a:r>
              <a:rPr lang="pt-BR" sz="2400" dirty="0"/>
              <a:t>e</a:t>
            </a:r>
          </a:p>
          <a:p>
            <a:r>
              <a:rPr lang="pt-BR" sz="2400" dirty="0"/>
              <a:t>d</a:t>
            </a:r>
          </a:p>
          <a:p>
            <a:r>
              <a:rPr lang="pt-BR" sz="24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9938567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Bibliografia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83568" y="2276872"/>
            <a:ext cx="7488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Cormen</a:t>
            </a:r>
            <a:r>
              <a:rPr lang="pt-BR" dirty="0"/>
              <a:t> et al., 2009] </a:t>
            </a:r>
            <a:r>
              <a:rPr lang="en-US" dirty="0"/>
              <a:t>Introduction to Algorithms, 3rd edition.</a:t>
            </a:r>
          </a:p>
          <a:p>
            <a:r>
              <a:rPr lang="pt-BR" dirty="0"/>
              <a:t>Thomas H. </a:t>
            </a:r>
            <a:r>
              <a:rPr lang="pt-BR" dirty="0" err="1"/>
              <a:t>Cormen</a:t>
            </a:r>
            <a:r>
              <a:rPr lang="pt-BR" dirty="0"/>
              <a:t>, Charles E. </a:t>
            </a:r>
            <a:r>
              <a:rPr lang="pt-BR" dirty="0" err="1"/>
              <a:t>Leiserson</a:t>
            </a:r>
            <a:r>
              <a:rPr lang="pt-BR" dirty="0"/>
              <a:t>, Ronald L. </a:t>
            </a:r>
            <a:r>
              <a:rPr lang="pt-BR" dirty="0" err="1"/>
              <a:t>Rivest</a:t>
            </a:r>
            <a:r>
              <a:rPr lang="pt-BR" dirty="0"/>
              <a:t>, Clifford Stein.</a:t>
            </a:r>
          </a:p>
          <a:p>
            <a:r>
              <a:rPr lang="pt-BR" dirty="0"/>
              <a:t>2009, 1312 pp. MIT Press, ISBN 9780262033848.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83568" y="3356992"/>
            <a:ext cx="705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[</a:t>
            </a:r>
            <a:r>
              <a:rPr lang="pt-BR" dirty="0" err="1"/>
              <a:t>Ziviani</a:t>
            </a:r>
            <a:r>
              <a:rPr lang="pt-BR" dirty="0"/>
              <a:t>, 2006] Projeto de Algoritmos com Implementações em Java e C++.</a:t>
            </a:r>
          </a:p>
          <a:p>
            <a:r>
              <a:rPr lang="pt-BR" dirty="0" err="1"/>
              <a:t>Nivio</a:t>
            </a:r>
            <a:r>
              <a:rPr lang="pt-BR" dirty="0"/>
              <a:t> </a:t>
            </a:r>
            <a:r>
              <a:rPr lang="pt-BR" dirty="0" err="1"/>
              <a:t>Ziviani</a:t>
            </a:r>
            <a:r>
              <a:rPr lang="pt-BR" dirty="0"/>
              <a:t>. 2006, 642 pp. Editora Thomson, ISBN 8522105251.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755576" y="1402121"/>
            <a:ext cx="5616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Robin J. Wilson. </a:t>
            </a:r>
            <a:r>
              <a:rPr lang="pt-BR" dirty="0" err="1"/>
              <a:t>Introduction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graph</a:t>
            </a:r>
            <a:r>
              <a:rPr lang="pt-BR" dirty="0"/>
              <a:t> </a:t>
            </a:r>
            <a:r>
              <a:rPr lang="pt-BR" dirty="0" err="1"/>
              <a:t>theory</a:t>
            </a:r>
            <a:r>
              <a:rPr lang="pt-BR" dirty="0"/>
              <a:t>. </a:t>
            </a:r>
          </a:p>
          <a:p>
            <a:r>
              <a:rPr lang="pt-BR" dirty="0" err="1"/>
              <a:t>Longman</a:t>
            </a:r>
            <a:r>
              <a:rPr lang="pt-BR" dirty="0"/>
              <a:t>, 1996</a:t>
            </a:r>
          </a:p>
        </p:txBody>
      </p:sp>
    </p:spTree>
    <p:extLst>
      <p:ext uri="{BB962C8B-B14F-4D97-AF65-F5344CB8AC3E}">
        <p14:creationId xmlns:p14="http://schemas.microsoft.com/office/powerpoint/2010/main" val="3266931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6776</TotalTime>
  <Words>1766</Words>
  <Application>Microsoft Office PowerPoint</Application>
  <PresentationFormat>Apresentação na tela (4:3)</PresentationFormat>
  <Paragraphs>373</Paragraphs>
  <Slides>44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Cambria Math</vt:lpstr>
      <vt:lpstr>Consolas</vt:lpstr>
      <vt:lpstr>Tema do Office</vt:lpstr>
      <vt:lpstr>Unidade VII  Coloração</vt:lpstr>
      <vt:lpstr>Coloração de Grafos</vt:lpstr>
      <vt:lpstr>Coloração de Grafos</vt:lpstr>
      <vt:lpstr>Coloração de Vértices</vt:lpstr>
      <vt:lpstr>Coloração de Vértices</vt:lpstr>
      <vt:lpstr>Coloração de Vértices</vt:lpstr>
      <vt:lpstr>Coloração de Vértices</vt:lpstr>
      <vt:lpstr>Coloração de Vértices</vt:lpstr>
      <vt:lpstr>Cliques</vt:lpstr>
      <vt:lpstr>Cliques</vt:lpstr>
      <vt:lpstr>Coloração de Arestas</vt:lpstr>
      <vt:lpstr>Coloração de Arestas</vt:lpstr>
      <vt:lpstr>Coloração de Arestas</vt:lpstr>
      <vt:lpstr>Coloração de Faces</vt:lpstr>
      <vt:lpstr>Coloração de Faces</vt:lpstr>
      <vt:lpstr>Coloração de Faces</vt:lpstr>
      <vt:lpstr>Coloração de Faces</vt:lpstr>
      <vt:lpstr>Coloração de Grafos</vt:lpstr>
      <vt:lpstr>Coloração de Grafos</vt:lpstr>
      <vt:lpstr>Coloração de Grafos</vt:lpstr>
      <vt:lpstr>Coloração de Grafos</vt:lpstr>
      <vt:lpstr>Coloração de Grafos</vt:lpstr>
      <vt:lpstr>Coloração de Grafos</vt:lpstr>
      <vt:lpstr>Coloração de Grafos</vt:lpstr>
      <vt:lpstr>Coloração de Grafos</vt:lpstr>
      <vt:lpstr>Coloração de Grafos</vt:lpstr>
      <vt:lpstr>Grafo de Linha</vt:lpstr>
      <vt:lpstr>Grafo de Linha</vt:lpstr>
      <vt:lpstr>Grafo de Linha</vt:lpstr>
      <vt:lpstr>Grafo de Linha</vt:lpstr>
      <vt:lpstr>Grafo de Linha</vt:lpstr>
      <vt:lpstr>Teorema das Quatro Cores</vt:lpstr>
      <vt:lpstr>Heurísticas</vt:lpstr>
      <vt:lpstr>Heurísticas</vt:lpstr>
      <vt:lpstr>Algoritmo de Welsh e Powell</vt:lpstr>
      <vt:lpstr>Algoritmo de Welsh e Powell</vt:lpstr>
      <vt:lpstr>Algoritmo de Welsh e Powell</vt:lpstr>
      <vt:lpstr>Algoritmo de Welsh e Powell</vt:lpstr>
      <vt:lpstr>Algoritmo de Welsh e Powell</vt:lpstr>
      <vt:lpstr>Algoritmo de Welsh e Powell</vt:lpstr>
      <vt:lpstr>Algoritmo de Welsh e Powell</vt:lpstr>
      <vt:lpstr>Algoritmo de Welsh e Powell</vt:lpstr>
      <vt:lpstr>Algoritmo de Welsh e Powell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Estruturas de Dados</dc:title>
  <dc:creator>henrique</dc:creator>
  <cp:lastModifiedBy>Henrique Silva</cp:lastModifiedBy>
  <cp:revision>425</cp:revision>
  <dcterms:created xsi:type="dcterms:W3CDTF">2011-08-03T02:09:11Z</dcterms:created>
  <dcterms:modified xsi:type="dcterms:W3CDTF">2018-11-06T18:14:55Z</dcterms:modified>
</cp:coreProperties>
</file>