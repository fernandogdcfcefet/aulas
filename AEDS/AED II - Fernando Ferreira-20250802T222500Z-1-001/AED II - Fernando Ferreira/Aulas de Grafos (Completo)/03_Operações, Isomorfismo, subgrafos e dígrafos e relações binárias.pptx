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85" r:id="rId4"/>
    <p:sldId id="286" r:id="rId5"/>
    <p:sldId id="287" r:id="rId6"/>
    <p:sldId id="283" r:id="rId7"/>
    <p:sldId id="329" r:id="rId8"/>
    <p:sldId id="330" r:id="rId9"/>
    <p:sldId id="288" r:id="rId10"/>
    <p:sldId id="289" r:id="rId11"/>
    <p:sldId id="290" r:id="rId12"/>
    <p:sldId id="291" r:id="rId13"/>
    <p:sldId id="292" r:id="rId14"/>
    <p:sldId id="332" r:id="rId15"/>
    <p:sldId id="333" r:id="rId16"/>
    <p:sldId id="334" r:id="rId17"/>
    <p:sldId id="296" r:id="rId18"/>
    <p:sldId id="295" r:id="rId19"/>
    <p:sldId id="298" r:id="rId20"/>
    <p:sldId id="308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9" r:id="rId29"/>
    <p:sldId id="331" r:id="rId30"/>
    <p:sldId id="324" r:id="rId31"/>
    <p:sldId id="325" r:id="rId32"/>
    <p:sldId id="321" r:id="rId33"/>
    <p:sldId id="320" r:id="rId34"/>
    <p:sldId id="264" r:id="rId3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Unidade I </a:t>
            </a:r>
            <a:br>
              <a:rPr lang="pt-BR" dirty="0"/>
            </a:br>
            <a:r>
              <a:rPr lang="pt-BR" dirty="0"/>
              <a:t>Operações, Isomorfismo, </a:t>
            </a:r>
            <a:r>
              <a:rPr lang="pt-BR" dirty="0" err="1"/>
              <a:t>subgrafos</a:t>
            </a:r>
            <a:r>
              <a:rPr lang="pt-BR" dirty="0"/>
              <a:t> e dígrafos e relações binárias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r>
              <a:rPr lang="pt-BR" dirty="0"/>
              <a:t>henriquebsilva@outlook.com.br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979712" y="6237312"/>
            <a:ext cx="515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Adaptado do material prof.ª Anna Tostes (PUC Minas)</a:t>
            </a:r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União</a:t>
                </a:r>
              </a:p>
              <a:p>
                <a:pPr lvl="1"/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dois grafos. O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  <m:r>
                          <a:rPr lang="pt-BR" sz="2400" b="0" i="1" smtClean="0">
                            <a:latin typeface="Cambria Math"/>
                          </a:rPr>
                          <m:t>=</m:t>
                        </m:r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  <a:ea typeface="Cambria Math"/>
                      </a:rPr>
                      <m:t>∪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é formado pelo conjunto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e o conjunto de arestas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99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União</a:t>
                </a:r>
              </a:p>
              <a:p>
                <a:pPr lvl="1"/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dois grafos. O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  <m:r>
                          <a:rPr lang="pt-BR" sz="2400" b="0" i="1" smtClean="0">
                            <a:latin typeface="Cambria Math"/>
                          </a:rPr>
                          <m:t>=</m:t>
                        </m:r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  <a:ea typeface="Cambria Math"/>
                      </a:rPr>
                      <m:t>∪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é formado pelo conjunto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e o conjunto de arestas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75" y="3904291"/>
            <a:ext cx="770572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52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Soma</a:t>
                </a:r>
              </a:p>
              <a:p>
                <a:pPr lvl="1"/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dois grafos. O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  <m:r>
                          <a:rPr lang="pt-BR" sz="2400" b="0" i="1" smtClean="0">
                            <a:latin typeface="Cambria Math"/>
                          </a:rPr>
                          <m:t>=</m:t>
                        </m:r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+</m:t>
                    </m:r>
                    <m:r>
                      <a:rPr lang="pt-BR" sz="2400" b="0" i="1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é formado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  <a:ea typeface="Cambria Math"/>
                      </a:rPr>
                      <m:t>∪ 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e de arestas liando cada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579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Soma</a:t>
                </a:r>
              </a:p>
              <a:p>
                <a:pPr lvl="1"/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dois grafos. O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  <m:r>
                          <a:rPr lang="pt-BR" sz="2400" b="0" i="1" smtClean="0">
                            <a:latin typeface="Cambria Math"/>
                          </a:rPr>
                          <m:t>=</m:t>
                        </m:r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+</m:t>
                    </m:r>
                    <m:r>
                      <a:rPr lang="pt-BR" sz="2400" b="0" i="1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é formado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  <a:ea typeface="Cambria Math"/>
                      </a:rPr>
                      <m:t>∪ 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e de arestas ligando cada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98" y="3933056"/>
            <a:ext cx="779145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0234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Propriedades</a:t>
                </a:r>
              </a:p>
              <a:p>
                <a:pPr lvl="1"/>
                <a:r>
                  <a:rPr lang="pt-BR" sz="2400" dirty="0"/>
                  <a:t>Podem ser aplicadas a qualquer número finito de grafos.</a:t>
                </a:r>
              </a:p>
              <a:p>
                <a:pPr lvl="1"/>
                <a:r>
                  <a:rPr lang="pt-BR" sz="2400" dirty="0"/>
                  <a:t>São operações associativas 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).</a:t>
                </a:r>
              </a:p>
              <a:p>
                <a:pPr lvl="1"/>
                <a:r>
                  <a:rPr lang="pt-BR" sz="2400" dirty="0"/>
                  <a:t>São operações comutativas (a ordem dos operandos não altera o resultado).</a:t>
                </a:r>
              </a:p>
              <a:p>
                <a:pPr lvl="1"/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514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pt-BR" dirty="0"/>
                  <a:t>Remoção de aresta</a:t>
                </a:r>
              </a:p>
              <a:p>
                <a:pPr lvl="1"/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dirty="0"/>
                  <a:t> é uma aresta de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denota-se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dirty="0"/>
                  <a:t> o grafo obtido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pela remoção da aresta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dirty="0"/>
                  <a:t>. 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dirty="0"/>
                  <a:t> é um conjunto de arestas 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denota-se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dirty="0"/>
                  <a:t> ao grafo obtido pela remoção das arestas 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Remoção de vértice</a:t>
                </a:r>
              </a:p>
              <a:p>
                <a:pPr lvl="1"/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é um vértice de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denota-se por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o grafo obtido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pela remoção do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conjuntamente com as arestas incidentes 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. Denota-se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/>
                  <a:t> ao grafo obtido pela remoção dos vértices em </a:t>
                </a:r>
                <a14:m>
                  <m:oMath xmlns:m="http://schemas.openxmlformats.org/officeDocument/2006/math"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/>
                  <a:t>, sendo </a:t>
                </a:r>
                <a14:m>
                  <m:oMath xmlns:m="http://schemas.openxmlformats.org/officeDocument/2006/math"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/>
                  <a:t> um conjunto qualquer de vértices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81" t="-3504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408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Contração de aresta/vértice</a:t>
                </a:r>
              </a:p>
              <a:p>
                <a:pPr lvl="1"/>
                <a:r>
                  <a:rPr lang="pt-BR" sz="2400" dirty="0"/>
                  <a:t>Denota-se por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sz="2400" dirty="0"/>
                  <a:t> o grafo obtido pela contração da aresta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sz="2400" dirty="0"/>
                  <a:t>. Remova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400" dirty="0"/>
                  <a:t>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e una suas extremidades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400" dirty="0"/>
                  <a:t> de tal forma que o vértice resultante seja incidente às arestas originalmente incidentes 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12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259632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1259631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3003796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2160701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3014649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803013" y="4543603"/>
            <a:ext cx="12007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723436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803012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624506" y="4748775"/>
            <a:ext cx="650981" cy="44183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1531322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180747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6" name="Elipse 15"/>
          <p:cNvSpPr/>
          <p:nvPr/>
        </p:nvSpPr>
        <p:spPr>
          <a:xfrm>
            <a:off x="5180746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Elipse 17"/>
          <p:cNvSpPr/>
          <p:nvPr/>
        </p:nvSpPr>
        <p:spPr>
          <a:xfrm>
            <a:off x="6081816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Elipse 18"/>
          <p:cNvSpPr/>
          <p:nvPr/>
        </p:nvSpPr>
        <p:spPr>
          <a:xfrm>
            <a:off x="6935764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1" name="Conector reto 20"/>
          <p:cNvCxnSpPr>
            <a:stCxn id="15" idx="5"/>
            <a:endCxn id="18" idx="1"/>
          </p:cNvCxnSpPr>
          <p:nvPr/>
        </p:nvCxnSpPr>
        <p:spPr>
          <a:xfrm>
            <a:off x="5644552" y="4688682"/>
            <a:ext cx="516840" cy="50193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6" idx="7"/>
            <a:endCxn id="18" idx="3"/>
          </p:cNvCxnSpPr>
          <p:nvPr/>
        </p:nvCxnSpPr>
        <p:spPr>
          <a:xfrm flipV="1">
            <a:off x="5644551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6" idx="6"/>
            <a:endCxn id="19" idx="2"/>
          </p:cNvCxnSpPr>
          <p:nvPr/>
        </p:nvCxnSpPr>
        <p:spPr>
          <a:xfrm>
            <a:off x="5724127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5" idx="4"/>
            <a:endCxn id="16" idx="0"/>
          </p:cNvCxnSpPr>
          <p:nvPr/>
        </p:nvCxnSpPr>
        <p:spPr>
          <a:xfrm flipH="1">
            <a:off x="5452437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6936813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cxnSp>
        <p:nvCxnSpPr>
          <p:cNvPr id="30" name="Conector reto 29"/>
          <p:cNvCxnSpPr>
            <a:endCxn id="29" idx="2"/>
          </p:cNvCxnSpPr>
          <p:nvPr/>
        </p:nvCxnSpPr>
        <p:spPr>
          <a:xfrm>
            <a:off x="5736030" y="4543603"/>
            <a:ext cx="120078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H="1">
            <a:off x="5868144" y="3789040"/>
            <a:ext cx="11521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7164288" y="3501008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Vértice resultante da união de 0 e 1</a:t>
            </a:r>
          </a:p>
        </p:txBody>
      </p:sp>
    </p:spTree>
    <p:extLst>
      <p:ext uri="{BB962C8B-B14F-4D97-AF65-F5344CB8AC3E}">
        <p14:creationId xmlns:p14="http://schemas.microsoft.com/office/powerpoint/2010/main" val="1176140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Dois </a:t>
                </a:r>
                <a:r>
                  <a:rPr lang="en-US" sz="2000" dirty="0" err="1"/>
                  <a:t>grafos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0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0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são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isomórficos</a:t>
                </a:r>
                <a:r>
                  <a:rPr lang="en-US" sz="2000" dirty="0"/>
                  <a:t>, se </a:t>
                </a:r>
                <a:r>
                  <a:rPr lang="en-US" sz="2000" dirty="0" err="1"/>
                  <a:t>existe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uma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correspodência</a:t>
                </a:r>
                <a:r>
                  <a:rPr lang="en-US" sz="2000" dirty="0"/>
                  <a:t> um </a:t>
                </a:r>
                <a:r>
                  <a:rPr lang="en-US" sz="2000" dirty="0" err="1"/>
                  <a:t>para</a:t>
                </a:r>
                <a:r>
                  <a:rPr lang="en-US" sz="2000" dirty="0"/>
                  <a:t> um entre </a:t>
                </a:r>
                <a:r>
                  <a:rPr lang="en-US" sz="2000" dirty="0" err="1"/>
                  <a:t>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vértices</a:t>
                </a:r>
                <a:r>
                  <a:rPr lang="en-US" sz="2000" dirty="0"/>
                  <a:t> dos </a:t>
                </a:r>
                <a:r>
                  <a:rPr lang="en-US" sz="2000" dirty="0" err="1"/>
                  <a:t>grafos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talque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dois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vértices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são</a:t>
                </a:r>
                <a:r>
                  <a:rPr lang="en-US" sz="2000" dirty="0"/>
                  <a:t> </a:t>
                </a:r>
                <a:r>
                  <a:rPr lang="pt-BR" sz="2000" dirty="0"/>
                  <a:t>adjacentes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em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0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se, e </a:t>
                </a:r>
                <a:r>
                  <a:rPr lang="en-US" sz="2000" dirty="0" err="1"/>
                  <a:t>somente</a:t>
                </a:r>
                <a:r>
                  <a:rPr lang="en-US" sz="2000" dirty="0"/>
                  <a:t> se, </a:t>
                </a:r>
                <a:r>
                  <a:rPr lang="en-US" sz="2000" dirty="0" err="1"/>
                  <a:t>seus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conrrespondentes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vértices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em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0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são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também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adjacentes</a:t>
                </a:r>
                <a:r>
                  <a:rPr lang="en-US" sz="2000" dirty="0"/>
                  <a:t> (</a:t>
                </a:r>
                <a:r>
                  <a:rPr lang="pt-BR" sz="2000" dirty="0"/>
                  <a:t>as relações de incidência são preservadas).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04" y="3068960"/>
            <a:ext cx="7128792" cy="365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50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447" y="1988840"/>
            <a:ext cx="6149105" cy="302433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899592" y="4869160"/>
            <a:ext cx="73254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representam o mesmo grafo 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Conjuntos de vértices e arestas são idênticos.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Funções aresta-vértice são as mesmas.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O termo isomorfos vem do grego, o que significa a mesma forma.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899592" y="1472464"/>
            <a:ext cx="2316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Os desenhos abaixo:</a:t>
            </a:r>
          </a:p>
        </p:txBody>
      </p:sp>
    </p:spTree>
    <p:extLst>
      <p:ext uri="{BB962C8B-B14F-4D97-AF65-F5344CB8AC3E}">
        <p14:creationId xmlns:p14="http://schemas.microsoft.com/office/powerpoint/2010/main" val="371938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8800"/>
            <a:ext cx="5248275" cy="502920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156177" y="1916832"/>
            <a:ext cx="2808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Estes grafos são diferentes apesar de possuírem os mesmos conjuntos de vértices e arestas.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As funções aresta-vértice não são as mesmas.</a:t>
            </a:r>
          </a:p>
        </p:txBody>
      </p:sp>
    </p:spTree>
    <p:extLst>
      <p:ext uri="{BB962C8B-B14F-4D97-AF65-F5344CB8AC3E}">
        <p14:creationId xmlns:p14="http://schemas.microsoft.com/office/powerpoint/2010/main" val="1729547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Condições necessárias mas não suficientes para que G e H sejam isomorfos:</a:t>
            </a:r>
          </a:p>
          <a:p>
            <a:pPr lvl="1"/>
            <a:r>
              <a:rPr lang="pt-BR" sz="2400" dirty="0"/>
              <a:t>Mesmo número de vértices</a:t>
            </a:r>
          </a:p>
          <a:p>
            <a:pPr lvl="1"/>
            <a:r>
              <a:rPr lang="pt-BR" sz="2400" dirty="0"/>
              <a:t>Mesmo número de arestas</a:t>
            </a:r>
          </a:p>
          <a:p>
            <a:pPr lvl="1"/>
            <a:r>
              <a:rPr lang="pt-BR" sz="2400" dirty="0"/>
              <a:t>Mesmo número de componentes</a:t>
            </a:r>
          </a:p>
          <a:p>
            <a:pPr lvl="1"/>
            <a:r>
              <a:rPr lang="pt-BR" sz="2400" dirty="0"/>
              <a:t>Mesmo número de vértices com o mesmo grau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37112"/>
            <a:ext cx="8191500" cy="10287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779808" y="5802997"/>
            <a:ext cx="75843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/>
              <a:t>Não existe um algoritmo eficiente para determinar se dois</a:t>
            </a:r>
          </a:p>
          <a:p>
            <a:pPr algn="ctr"/>
            <a:r>
              <a:rPr lang="pt-BR" sz="2400" b="1" dirty="0"/>
              <a:t>grafos são isomorfos</a:t>
            </a:r>
          </a:p>
        </p:txBody>
      </p:sp>
    </p:spTree>
    <p:extLst>
      <p:ext uri="{BB962C8B-B14F-4D97-AF65-F5344CB8AC3E}">
        <p14:creationId xmlns:p14="http://schemas.microsoft.com/office/powerpoint/2010/main" val="3052931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complementar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/>
                      </a:rPr>
                      <m:t>𝐺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800" dirty="0"/>
                  <a:t>um grafo simples dirigido ou não dirigido</a:t>
                </a:r>
              </a:p>
              <a:p>
                <a:r>
                  <a:rPr lang="pt-BR" sz="2800" dirty="0"/>
                  <a:t>O complemento de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/>
                      </a:rPr>
                      <m:t>𝐺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>
                        <a:latin typeface="Cambria Math"/>
                      </a:rPr>
                      <m:t>𝐺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é um grafo formado da seguinte maneira:</a:t>
                </a:r>
              </a:p>
              <a:p>
                <a:pPr lvl="1"/>
                <a:r>
                  <a:rPr lang="pt-BR" sz="2400" dirty="0"/>
                  <a:t>Os vértices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 panose="02040503050406030204" pitchFamily="18" charset="0"/>
                      </a:rPr>
                      <m:t>C</m:t>
                    </m:r>
                    <m:r>
                      <a:rPr lang="pt-BR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/>
                      </a:rPr>
                      <m:t>𝐺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são todos os vértices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𝐺</m:t>
                    </m:r>
                  </m:oMath>
                </a14:m>
                <a:endParaRPr lang="pt-BR" sz="2400" dirty="0"/>
              </a:p>
              <a:p>
                <a:pPr lvl="1"/>
                <a:r>
                  <a:rPr lang="pt-BR" sz="2400" dirty="0"/>
                  <a:t>As arestas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 panose="02040503050406030204" pitchFamily="18" charset="0"/>
                      </a:rPr>
                      <m:t>C</m:t>
                    </m:r>
                    <m:r>
                      <a:rPr lang="pt-BR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/>
                      </a:rPr>
                      <m:t>𝐺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são exatamente as arestas que faltam em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𝐺</m:t>
                    </m:r>
                  </m:oMath>
                </a14:m>
                <a:r>
                  <a:rPr lang="pt-BR" sz="2400" dirty="0"/>
                  <a:t> para formarmos um grafo completo.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504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complementar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 </a:t>
            </a:r>
          </a:p>
          <a:p>
            <a:pPr marL="457200" lvl="1" indent="0">
              <a:buNone/>
            </a:pP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4867747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2549134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Elipse 6"/>
          <p:cNvSpPr/>
          <p:nvPr/>
        </p:nvSpPr>
        <p:spPr>
          <a:xfrm>
            <a:off x="3668579" y="432711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49734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1" name="Conector reto 10"/>
          <p:cNvCxnSpPr>
            <a:stCxn id="7" idx="1"/>
            <a:endCxn id="6" idx="5"/>
          </p:cNvCxnSpPr>
          <p:nvPr/>
        </p:nvCxnSpPr>
        <p:spPr>
          <a:xfrm flipH="1" flipV="1">
            <a:off x="3012939" y="3707243"/>
            <a:ext cx="735216" cy="67996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867748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13" name="Conector de seta reta 12"/>
          <p:cNvCxnSpPr>
            <a:stCxn id="5" idx="3"/>
            <a:endCxn id="7" idx="7"/>
          </p:cNvCxnSpPr>
          <p:nvPr/>
        </p:nvCxnSpPr>
        <p:spPr>
          <a:xfrm flipH="1">
            <a:off x="4132384" y="3707243"/>
            <a:ext cx="814939" cy="6799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2" idx="1"/>
            <a:endCxn id="7" idx="5"/>
          </p:cNvCxnSpPr>
          <p:nvPr/>
        </p:nvCxnSpPr>
        <p:spPr>
          <a:xfrm flipH="1" flipV="1">
            <a:off x="4132384" y="4677364"/>
            <a:ext cx="814940" cy="6153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3"/>
            <a:endCxn id="8" idx="7"/>
          </p:cNvCxnSpPr>
          <p:nvPr/>
        </p:nvCxnSpPr>
        <p:spPr>
          <a:xfrm flipH="1">
            <a:off x="3013539" y="4677364"/>
            <a:ext cx="734616" cy="61533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67746" y="432325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3" name="Conector reto 32"/>
          <p:cNvCxnSpPr>
            <a:stCxn id="5" idx="4"/>
            <a:endCxn id="32" idx="0"/>
          </p:cNvCxnSpPr>
          <p:nvPr/>
        </p:nvCxnSpPr>
        <p:spPr>
          <a:xfrm flipH="1">
            <a:off x="5139437" y="3767336"/>
            <a:ext cx="1" cy="555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32" idx="4"/>
            <a:endCxn id="12" idx="0"/>
          </p:cNvCxnSpPr>
          <p:nvPr/>
        </p:nvCxnSpPr>
        <p:spPr>
          <a:xfrm>
            <a:off x="5139437" y="4733594"/>
            <a:ext cx="2" cy="499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692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complementar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Exemplo:</a:t>
                </a:r>
              </a:p>
              <a:p>
                <a:pPr lvl="1"/>
                <a:r>
                  <a:rPr lang="pt-BR" dirty="0"/>
                  <a:t>Obtendo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𝐶</m:t>
                    </m:r>
                    <m:r>
                      <a:rPr lang="pt-BR" i="1" dirty="0" smtClean="0">
                        <a:latin typeface="Cambria Math"/>
                      </a:rPr>
                      <m:t>(</m:t>
                    </m:r>
                    <m:r>
                      <a:rPr lang="pt-BR" i="1" dirty="0" smtClean="0">
                        <a:latin typeface="Cambria Math"/>
                      </a:rPr>
                      <m:t>𝐺</m:t>
                    </m:r>
                    <m:r>
                      <a:rPr lang="pt-BR" i="1" dirty="0" smtClean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/>
          <p:cNvSpPr/>
          <p:nvPr/>
        </p:nvSpPr>
        <p:spPr>
          <a:xfrm>
            <a:off x="4867747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2549134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Elipse 6"/>
          <p:cNvSpPr/>
          <p:nvPr/>
        </p:nvSpPr>
        <p:spPr>
          <a:xfrm>
            <a:off x="3668579" y="432711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49734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1" name="Conector reto 10"/>
          <p:cNvCxnSpPr>
            <a:stCxn id="7" idx="1"/>
            <a:endCxn id="6" idx="5"/>
          </p:cNvCxnSpPr>
          <p:nvPr/>
        </p:nvCxnSpPr>
        <p:spPr>
          <a:xfrm flipH="1" flipV="1">
            <a:off x="3012939" y="3707243"/>
            <a:ext cx="735216" cy="67996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867748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13" name="Conector de seta reta 12"/>
          <p:cNvCxnSpPr>
            <a:stCxn id="5" idx="3"/>
            <a:endCxn id="7" idx="7"/>
          </p:cNvCxnSpPr>
          <p:nvPr/>
        </p:nvCxnSpPr>
        <p:spPr>
          <a:xfrm flipH="1">
            <a:off x="4132384" y="3707243"/>
            <a:ext cx="814939" cy="6799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2" idx="1"/>
            <a:endCxn id="7" idx="5"/>
          </p:cNvCxnSpPr>
          <p:nvPr/>
        </p:nvCxnSpPr>
        <p:spPr>
          <a:xfrm flipH="1" flipV="1">
            <a:off x="4132384" y="4677364"/>
            <a:ext cx="814940" cy="6153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3"/>
            <a:endCxn id="8" idx="7"/>
          </p:cNvCxnSpPr>
          <p:nvPr/>
        </p:nvCxnSpPr>
        <p:spPr>
          <a:xfrm flipH="1">
            <a:off x="3013539" y="4677364"/>
            <a:ext cx="734616" cy="61533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67746" y="432325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3" name="Conector reto 32"/>
          <p:cNvCxnSpPr>
            <a:stCxn id="5" idx="4"/>
            <a:endCxn id="32" idx="0"/>
          </p:cNvCxnSpPr>
          <p:nvPr/>
        </p:nvCxnSpPr>
        <p:spPr>
          <a:xfrm flipH="1">
            <a:off x="5139437" y="3767336"/>
            <a:ext cx="1" cy="555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32" idx="4"/>
            <a:endCxn id="12" idx="0"/>
          </p:cNvCxnSpPr>
          <p:nvPr/>
        </p:nvCxnSpPr>
        <p:spPr>
          <a:xfrm>
            <a:off x="5139437" y="4733594"/>
            <a:ext cx="2" cy="499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6" idx="6"/>
          </p:cNvCxnSpPr>
          <p:nvPr/>
        </p:nvCxnSpPr>
        <p:spPr>
          <a:xfrm flipH="1">
            <a:off x="3092515" y="3562164"/>
            <a:ext cx="1775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12" idx="2"/>
            <a:endCxn id="8" idx="6"/>
          </p:cNvCxnSpPr>
          <p:nvPr/>
        </p:nvCxnSpPr>
        <p:spPr>
          <a:xfrm flipH="1">
            <a:off x="3093115" y="5437776"/>
            <a:ext cx="17746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6" idx="4"/>
            <a:endCxn id="8" idx="0"/>
          </p:cNvCxnSpPr>
          <p:nvPr/>
        </p:nvCxnSpPr>
        <p:spPr>
          <a:xfrm>
            <a:off x="2820825" y="3767336"/>
            <a:ext cx="600" cy="1465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em curva 29"/>
          <p:cNvCxnSpPr>
            <a:stCxn id="5" idx="3"/>
            <a:endCxn id="8" idx="6"/>
          </p:cNvCxnSpPr>
          <p:nvPr/>
        </p:nvCxnSpPr>
        <p:spPr>
          <a:xfrm rot="5400000">
            <a:off x="3154953" y="3645405"/>
            <a:ext cx="1730533" cy="1854208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em curva 33"/>
          <p:cNvCxnSpPr>
            <a:stCxn id="6" idx="5"/>
            <a:endCxn id="12" idx="2"/>
          </p:cNvCxnSpPr>
          <p:nvPr/>
        </p:nvCxnSpPr>
        <p:spPr>
          <a:xfrm rot="16200000" flipH="1">
            <a:off x="3075077" y="3645104"/>
            <a:ext cx="1730533" cy="1854809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6" idx="5"/>
            <a:endCxn id="32" idx="1"/>
          </p:cNvCxnSpPr>
          <p:nvPr/>
        </p:nvCxnSpPr>
        <p:spPr>
          <a:xfrm>
            <a:off x="3012939" y="3707243"/>
            <a:ext cx="1934383" cy="676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8" idx="6"/>
            <a:endCxn id="32" idx="3"/>
          </p:cNvCxnSpPr>
          <p:nvPr/>
        </p:nvCxnSpPr>
        <p:spPr>
          <a:xfrm flipV="1">
            <a:off x="3093115" y="4673501"/>
            <a:ext cx="1854207" cy="764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em curva 49"/>
          <p:cNvCxnSpPr>
            <a:stCxn id="5" idx="6"/>
            <a:endCxn id="12" idx="6"/>
          </p:cNvCxnSpPr>
          <p:nvPr/>
        </p:nvCxnSpPr>
        <p:spPr>
          <a:xfrm>
            <a:off x="5411128" y="3562164"/>
            <a:ext cx="1" cy="1875612"/>
          </a:xfrm>
          <a:prstGeom prst="curved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>
            <a:stCxn id="7" idx="6"/>
            <a:endCxn id="32" idx="2"/>
          </p:cNvCxnSpPr>
          <p:nvPr/>
        </p:nvCxnSpPr>
        <p:spPr>
          <a:xfrm flipV="1">
            <a:off x="4211960" y="4528422"/>
            <a:ext cx="655786" cy="3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977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complementar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Exemplo: </a:t>
                </a:r>
              </a:p>
              <a:p>
                <a:pPr lvl="1"/>
                <a:r>
                  <a:rPr lang="pt-BR" dirty="0"/>
                  <a:t>Obtendo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𝐶</m:t>
                    </m:r>
                    <m:r>
                      <a:rPr lang="pt-BR" i="1" dirty="0">
                        <a:latin typeface="Cambria Math"/>
                      </a:rPr>
                      <m:t>(</m:t>
                    </m:r>
                    <m:r>
                      <a:rPr lang="pt-BR" i="1" dirty="0">
                        <a:latin typeface="Cambria Math"/>
                      </a:rPr>
                      <m:t>𝐺</m:t>
                    </m:r>
                    <m:r>
                      <a:rPr lang="pt-BR" i="1" dirty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/>
          <p:cNvSpPr/>
          <p:nvPr/>
        </p:nvSpPr>
        <p:spPr>
          <a:xfrm>
            <a:off x="4867747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2549134" y="3356992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Elipse 6"/>
          <p:cNvSpPr/>
          <p:nvPr/>
        </p:nvSpPr>
        <p:spPr>
          <a:xfrm>
            <a:off x="3668579" y="432711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49734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Elipse 11"/>
          <p:cNvSpPr/>
          <p:nvPr/>
        </p:nvSpPr>
        <p:spPr>
          <a:xfrm>
            <a:off x="4867748" y="5232604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" name="Elipse 31"/>
          <p:cNvSpPr/>
          <p:nvPr/>
        </p:nvSpPr>
        <p:spPr>
          <a:xfrm>
            <a:off x="4870325" y="432325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" name="Conector reto 8"/>
          <p:cNvCxnSpPr>
            <a:stCxn id="5" idx="2"/>
            <a:endCxn id="6" idx="6"/>
          </p:cNvCxnSpPr>
          <p:nvPr/>
        </p:nvCxnSpPr>
        <p:spPr>
          <a:xfrm flipH="1">
            <a:off x="3092515" y="3562164"/>
            <a:ext cx="1775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12" idx="2"/>
            <a:endCxn id="8" idx="6"/>
          </p:cNvCxnSpPr>
          <p:nvPr/>
        </p:nvCxnSpPr>
        <p:spPr>
          <a:xfrm flipH="1">
            <a:off x="3093115" y="5437776"/>
            <a:ext cx="17746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6" idx="4"/>
            <a:endCxn id="8" idx="0"/>
          </p:cNvCxnSpPr>
          <p:nvPr/>
        </p:nvCxnSpPr>
        <p:spPr>
          <a:xfrm>
            <a:off x="2820825" y="3767336"/>
            <a:ext cx="600" cy="1465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em curva 29"/>
          <p:cNvCxnSpPr>
            <a:stCxn id="5" idx="3"/>
            <a:endCxn id="8" idx="6"/>
          </p:cNvCxnSpPr>
          <p:nvPr/>
        </p:nvCxnSpPr>
        <p:spPr>
          <a:xfrm rot="5400000">
            <a:off x="3154953" y="3645405"/>
            <a:ext cx="1730533" cy="1854208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em curva 33"/>
          <p:cNvCxnSpPr>
            <a:stCxn id="6" idx="5"/>
            <a:endCxn id="12" idx="2"/>
          </p:cNvCxnSpPr>
          <p:nvPr/>
        </p:nvCxnSpPr>
        <p:spPr>
          <a:xfrm rot="16200000" flipH="1">
            <a:off x="3075077" y="3645104"/>
            <a:ext cx="1730533" cy="1854809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6" idx="5"/>
            <a:endCxn id="32" idx="1"/>
          </p:cNvCxnSpPr>
          <p:nvPr/>
        </p:nvCxnSpPr>
        <p:spPr>
          <a:xfrm>
            <a:off x="3012939" y="3707243"/>
            <a:ext cx="1936962" cy="676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8" idx="6"/>
            <a:endCxn id="32" idx="3"/>
          </p:cNvCxnSpPr>
          <p:nvPr/>
        </p:nvCxnSpPr>
        <p:spPr>
          <a:xfrm flipV="1">
            <a:off x="3093115" y="4673501"/>
            <a:ext cx="1856786" cy="764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em curva 49"/>
          <p:cNvCxnSpPr>
            <a:stCxn id="5" idx="6"/>
            <a:endCxn id="12" idx="6"/>
          </p:cNvCxnSpPr>
          <p:nvPr/>
        </p:nvCxnSpPr>
        <p:spPr>
          <a:xfrm>
            <a:off x="5411128" y="3562164"/>
            <a:ext cx="1" cy="1875612"/>
          </a:xfrm>
          <a:prstGeom prst="curved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6"/>
            <a:endCxn id="32" idx="2"/>
          </p:cNvCxnSpPr>
          <p:nvPr/>
        </p:nvCxnSpPr>
        <p:spPr>
          <a:xfrm flipV="1">
            <a:off x="4211960" y="4528422"/>
            <a:ext cx="658365" cy="3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313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1324744"/>
              </a:xfrm>
            </p:spPr>
            <p:txBody>
              <a:bodyPr>
                <a:normAutofit/>
              </a:bodyPr>
              <a:lstStyle/>
              <a:p>
                <a:r>
                  <a:rPr lang="pt-BR" sz="2200" dirty="0"/>
                  <a:t>Subgrafo</a:t>
                </a:r>
              </a:p>
              <a:p>
                <a:pPr lvl="1"/>
                <a:r>
                  <a:rPr lang="pt-BR" sz="2200" dirty="0"/>
                  <a:t>Um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é dito ser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de um grafo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2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200" dirty="0"/>
                  <a:t>. </a:t>
                </a:r>
                <a:r>
                  <a:rPr lang="pt-BR" sz="2200" dirty="0">
                    <a:solidFill>
                      <a:schemeClr val="bg1"/>
                    </a:solidFill>
                  </a:rPr>
                  <a:t>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1324744"/>
              </a:xfrm>
              <a:blipFill>
                <a:blip r:embed="rId2"/>
                <a:stretch>
                  <a:fillRect l="-815" t="-32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323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200" dirty="0"/>
                  <a:t>Subgrafo</a:t>
                </a:r>
              </a:p>
              <a:p>
                <a:pPr lvl="1"/>
                <a:r>
                  <a:rPr lang="pt-BR" sz="2200" dirty="0"/>
                  <a:t>Um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é dito ser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de um grafo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2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200" dirty="0"/>
                  <a:t>.</a:t>
                </a:r>
              </a:p>
              <a:p>
                <a:r>
                  <a:rPr lang="pt-BR" sz="2200" dirty="0" err="1"/>
                  <a:t>Sub-grafo</a:t>
                </a:r>
                <a:r>
                  <a:rPr lang="pt-BR" sz="2200" dirty="0"/>
                  <a:t> induzido</a:t>
                </a:r>
              </a:p>
              <a:p>
                <a:pPr lvl="1"/>
                <a:r>
                  <a:rPr lang="pt-BR" sz="2200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é um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e possui toda aresta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200" dirty="0"/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 tal que ambos,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200" dirty="0"/>
                  <a:t> e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200" dirty="0"/>
                  <a:t>, estejam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, então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 é o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induzido pelo subconjunto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5" t="-943" r="-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366515"/>
            <a:ext cx="1752600" cy="17335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4356990"/>
            <a:ext cx="1809750" cy="1743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2950568" y="4653136"/>
                <a:ext cx="2700291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200" dirty="0"/>
                  <a:t>subgrafo</a:t>
                </a:r>
              </a:p>
              <a:p>
                <a:r>
                  <a:rPr lang="pt-BR" sz="2200" dirty="0"/>
                  <a:t>induzido por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1,2,3,4</m:t>
                        </m:r>
                      </m:e>
                    </m:d>
                  </m:oMath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568" y="4653136"/>
                <a:ext cx="2700291" cy="769441"/>
              </a:xfrm>
              <a:prstGeom prst="rect">
                <a:avLst/>
              </a:prstGeom>
              <a:blipFill rotWithShape="0">
                <a:blip r:embed="rId5"/>
                <a:stretch>
                  <a:fillRect l="-2935" t="-4724" b="-14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300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200" dirty="0"/>
                  <a:t>Subgrafo</a:t>
                </a:r>
              </a:p>
              <a:p>
                <a:pPr lvl="1"/>
                <a:r>
                  <a:rPr lang="pt-BR" sz="2200" dirty="0"/>
                  <a:t>Um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é dito ser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de um grafo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2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200" dirty="0"/>
                  <a:t>.</a:t>
                </a:r>
              </a:p>
              <a:p>
                <a:r>
                  <a:rPr lang="pt-BR" sz="2200" dirty="0" err="1"/>
                  <a:t>Sub-grafo</a:t>
                </a:r>
                <a:r>
                  <a:rPr lang="pt-BR" sz="2200" dirty="0"/>
                  <a:t> induzido</a:t>
                </a:r>
              </a:p>
              <a:p>
                <a:pPr lvl="1"/>
                <a:r>
                  <a:rPr lang="pt-BR" sz="2200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é um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e possui toda aresta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200" dirty="0"/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 tal que ambos,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200" dirty="0"/>
                  <a:t> e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200" dirty="0"/>
                  <a:t>, estejam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, então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 é o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induzido pelo subconjunto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5" t="-943" r="-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366515"/>
            <a:ext cx="1752600" cy="17335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4356990"/>
            <a:ext cx="1809750" cy="1743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2950568" y="4653136"/>
                <a:ext cx="2700291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200" dirty="0"/>
                  <a:t>subgrafo</a:t>
                </a:r>
              </a:p>
              <a:p>
                <a:r>
                  <a:rPr lang="pt-BR" sz="2200" dirty="0"/>
                  <a:t>induzido por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1,2,3,4</m:t>
                        </m:r>
                      </m:e>
                    </m:d>
                  </m:oMath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568" y="4653136"/>
                <a:ext cx="2700291" cy="769441"/>
              </a:xfrm>
              <a:prstGeom prst="rect">
                <a:avLst/>
              </a:prstGeom>
              <a:blipFill rotWithShape="0">
                <a:blip r:embed="rId5"/>
                <a:stretch>
                  <a:fillRect l="-2935" t="-4724" b="-14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de seta reta 7"/>
          <p:cNvCxnSpPr/>
          <p:nvPr/>
        </p:nvCxnSpPr>
        <p:spPr>
          <a:xfrm flipH="1">
            <a:off x="7137834" y="5013176"/>
            <a:ext cx="108012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7020272" y="5085184"/>
            <a:ext cx="20369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 qualquer uma das arestas forem eliminadas, o grafo continua sendo um </a:t>
            </a:r>
            <a:r>
              <a:rPr lang="pt-BR" sz="1600" dirty="0" err="1"/>
              <a:t>subgrafo</a:t>
            </a:r>
            <a:r>
              <a:rPr lang="pt-BR" sz="1600" dirty="0"/>
              <a:t>, mas não será um </a:t>
            </a:r>
            <a:r>
              <a:rPr lang="pt-BR" sz="1600" dirty="0" err="1"/>
              <a:t>subgrafo</a:t>
            </a:r>
            <a:r>
              <a:rPr lang="pt-BR" sz="1600" dirty="0"/>
              <a:t> induzido.</a:t>
            </a:r>
          </a:p>
        </p:txBody>
      </p:sp>
    </p:spTree>
    <p:extLst>
      <p:ext uri="{BB962C8B-B14F-4D97-AF65-F5344CB8AC3E}">
        <p14:creationId xmlns:p14="http://schemas.microsoft.com/office/powerpoint/2010/main" val="3578966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Um grafo g é dito ser um </a:t>
                </a:r>
                <a:r>
                  <a:rPr lang="pt-BR" sz="2800" dirty="0" err="1"/>
                  <a:t>subgrafo</a:t>
                </a:r>
                <a:r>
                  <a:rPr lang="pt-BR" sz="2800" dirty="0"/>
                  <a:t> de um grafo G se todos os vértices e todas as arestas de g estão em G:</a:t>
                </a:r>
              </a:p>
              <a:p>
                <a:r>
                  <a:rPr lang="pt-BR" sz="2800" dirty="0"/>
                  <a:t>Observações:</a:t>
                </a:r>
              </a:p>
              <a:p>
                <a:pPr lvl="1"/>
                <a:r>
                  <a:rPr lang="pt-BR" sz="2400" dirty="0"/>
                  <a:t>Todo grafo é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si próprio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)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259632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1259631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3003796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2160701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3014649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803013" y="4543603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1531323" y="4748775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723436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803012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624506" y="4748775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1531322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5601585" y="3717032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585" y="3717032"/>
                <a:ext cx="15085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Elipse 25"/>
          <p:cNvSpPr/>
          <p:nvPr/>
        </p:nvSpPr>
        <p:spPr>
          <a:xfrm>
            <a:off x="5220073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Elipse 26"/>
          <p:cNvSpPr/>
          <p:nvPr/>
        </p:nvSpPr>
        <p:spPr>
          <a:xfrm>
            <a:off x="5220072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Elipse 27"/>
          <p:cNvSpPr/>
          <p:nvPr/>
        </p:nvSpPr>
        <p:spPr>
          <a:xfrm>
            <a:off x="6964237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Elipse 28"/>
          <p:cNvSpPr/>
          <p:nvPr/>
        </p:nvSpPr>
        <p:spPr>
          <a:xfrm>
            <a:off x="6121142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Elipse 29"/>
          <p:cNvSpPr/>
          <p:nvPr/>
        </p:nvSpPr>
        <p:spPr>
          <a:xfrm>
            <a:off x="6975090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31" name="Conector reto 30"/>
          <p:cNvCxnSpPr>
            <a:stCxn id="26" idx="6"/>
            <a:endCxn id="28" idx="2"/>
          </p:cNvCxnSpPr>
          <p:nvPr/>
        </p:nvCxnSpPr>
        <p:spPr>
          <a:xfrm>
            <a:off x="5763454" y="4543603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6" idx="4"/>
            <a:endCxn id="29" idx="1"/>
          </p:cNvCxnSpPr>
          <p:nvPr/>
        </p:nvCxnSpPr>
        <p:spPr>
          <a:xfrm>
            <a:off x="5491764" y="4748775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27" idx="7"/>
            <a:endCxn id="29" idx="3"/>
          </p:cNvCxnSpPr>
          <p:nvPr/>
        </p:nvCxnSpPr>
        <p:spPr>
          <a:xfrm flipV="1">
            <a:off x="5683877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27" idx="6"/>
            <a:endCxn id="30" idx="2"/>
          </p:cNvCxnSpPr>
          <p:nvPr/>
        </p:nvCxnSpPr>
        <p:spPr>
          <a:xfrm>
            <a:off x="5763453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28" idx="4"/>
            <a:endCxn id="29" idx="7"/>
          </p:cNvCxnSpPr>
          <p:nvPr/>
        </p:nvCxnSpPr>
        <p:spPr>
          <a:xfrm flipH="1">
            <a:off x="6584947" y="4748775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6" idx="4"/>
            <a:endCxn id="27" idx="0"/>
          </p:cNvCxnSpPr>
          <p:nvPr/>
        </p:nvCxnSpPr>
        <p:spPr>
          <a:xfrm flipH="1">
            <a:off x="5491763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044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Um grafo g é dito ser um </a:t>
                </a:r>
                <a:r>
                  <a:rPr lang="pt-BR" sz="2800" dirty="0" err="1"/>
                  <a:t>subgrafo</a:t>
                </a:r>
                <a:r>
                  <a:rPr lang="pt-BR" sz="2800" dirty="0"/>
                  <a:t> de um grafo G se todos os vértices e todas as arestas de g estão em G:</a:t>
                </a:r>
              </a:p>
              <a:p>
                <a:r>
                  <a:rPr lang="pt-BR" sz="2800" dirty="0"/>
                  <a:t>Observações:</a:t>
                </a:r>
              </a:p>
              <a:p>
                <a:pPr lvl="1"/>
                <a:r>
                  <a:rPr lang="pt-BR" sz="2400" dirty="0"/>
                  <a:t>O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um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G é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sz="2400" dirty="0"/>
                  <a:t> é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)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683568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2427733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84638" y="527453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438586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4687619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4892791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5624786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226949" y="6127779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048443" y="4892791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4892791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494206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Elipse 15"/>
          <p:cNvSpPr/>
          <p:nvPr/>
        </p:nvSpPr>
        <p:spPr>
          <a:xfrm>
            <a:off x="3494205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Elipse 16"/>
          <p:cNvSpPr/>
          <p:nvPr/>
        </p:nvSpPr>
        <p:spPr>
          <a:xfrm>
            <a:off x="5238370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Elipse 17"/>
          <p:cNvSpPr/>
          <p:nvPr/>
        </p:nvSpPr>
        <p:spPr>
          <a:xfrm>
            <a:off x="4395275" y="527453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4037587" y="4687619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5" idx="4"/>
            <a:endCxn id="18" idx="1"/>
          </p:cNvCxnSpPr>
          <p:nvPr/>
        </p:nvCxnSpPr>
        <p:spPr>
          <a:xfrm>
            <a:off x="3765897" y="4892791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3958010" y="5624786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7" idx="4"/>
            <a:endCxn id="18" idx="7"/>
          </p:cNvCxnSpPr>
          <p:nvPr/>
        </p:nvCxnSpPr>
        <p:spPr>
          <a:xfrm flipH="1">
            <a:off x="4859080" y="4892791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4"/>
            <a:endCxn id="16" idx="0"/>
          </p:cNvCxnSpPr>
          <p:nvPr/>
        </p:nvCxnSpPr>
        <p:spPr>
          <a:xfrm flipH="1">
            <a:off x="3765896" y="4892791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3875718" y="3861048"/>
                <a:ext cx="15245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718" y="3861048"/>
                <a:ext cx="152452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1102050" y="3861048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50" y="3861048"/>
                <a:ext cx="1508555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Elipse 47"/>
          <p:cNvSpPr/>
          <p:nvPr/>
        </p:nvSpPr>
        <p:spPr>
          <a:xfrm>
            <a:off x="6211436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Elipse 49"/>
          <p:cNvSpPr/>
          <p:nvPr/>
        </p:nvSpPr>
        <p:spPr>
          <a:xfrm>
            <a:off x="7955600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Elipse 50"/>
          <p:cNvSpPr/>
          <p:nvPr/>
        </p:nvSpPr>
        <p:spPr>
          <a:xfrm>
            <a:off x="7112505" y="527120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52" name="Conector reto 51"/>
          <p:cNvCxnSpPr>
            <a:stCxn id="48" idx="6"/>
            <a:endCxn id="50" idx="2"/>
          </p:cNvCxnSpPr>
          <p:nvPr/>
        </p:nvCxnSpPr>
        <p:spPr>
          <a:xfrm>
            <a:off x="6754817" y="4684286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>
            <a:stCxn id="48" idx="4"/>
            <a:endCxn id="51" idx="1"/>
          </p:cNvCxnSpPr>
          <p:nvPr/>
        </p:nvCxnSpPr>
        <p:spPr>
          <a:xfrm>
            <a:off x="6483127" y="4889458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1" idx="7"/>
          </p:cNvCxnSpPr>
          <p:nvPr/>
        </p:nvCxnSpPr>
        <p:spPr>
          <a:xfrm flipH="1">
            <a:off x="7576310" y="4889458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tângulo 56"/>
              <p:cNvSpPr/>
              <p:nvPr/>
            </p:nvSpPr>
            <p:spPr>
              <a:xfrm>
                <a:off x="6592948" y="3857715"/>
                <a:ext cx="15245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57" name="Retângulo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48" y="3857715"/>
                <a:ext cx="152452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36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Um grafo g é dito ser um </a:t>
            </a:r>
            <a:r>
              <a:rPr lang="pt-BR" sz="2800" dirty="0" err="1"/>
              <a:t>subgrafo</a:t>
            </a:r>
            <a:r>
              <a:rPr lang="pt-BR" sz="2800" dirty="0"/>
              <a:t> de um grafo G se todos os vértices e todas as arestas de g estão em G:</a:t>
            </a:r>
          </a:p>
          <a:p>
            <a:r>
              <a:rPr lang="pt-BR" sz="2800" dirty="0"/>
              <a:t>Observações:</a:t>
            </a:r>
          </a:p>
          <a:p>
            <a:pPr lvl="1"/>
            <a:r>
              <a:rPr lang="pt-BR" sz="2400" dirty="0"/>
              <a:t>Um vértice simples de G é um </a:t>
            </a:r>
            <a:r>
              <a:rPr lang="pt-BR" sz="2400" dirty="0" err="1"/>
              <a:t>subgrafo</a:t>
            </a:r>
            <a:r>
              <a:rPr lang="pt-BR" sz="2400" dirty="0"/>
              <a:t> de G</a:t>
            </a:r>
          </a:p>
        </p:txBody>
      </p:sp>
      <p:sp>
        <p:nvSpPr>
          <p:cNvPr id="4" name="Elipse 3"/>
          <p:cNvSpPr/>
          <p:nvPr/>
        </p:nvSpPr>
        <p:spPr>
          <a:xfrm>
            <a:off x="1259632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1259631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3003796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2160701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3014649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803013" y="4543603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1531323" y="4748775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723436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803012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624506" y="4748775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1531322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tângulo 14"/>
              <p:cNvSpPr/>
              <p:nvPr/>
            </p:nvSpPr>
            <p:spPr>
              <a:xfrm>
                <a:off x="5601585" y="3717032"/>
                <a:ext cx="15245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15" name="Retâ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585" y="3717032"/>
                <a:ext cx="1524520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ângulo 15"/>
              <p:cNvSpPr/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16" name="Retâ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lipse 16"/>
          <p:cNvSpPr/>
          <p:nvPr/>
        </p:nvSpPr>
        <p:spPr>
          <a:xfrm>
            <a:off x="5220073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51366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Um grafo g é dito ser um </a:t>
            </a:r>
            <a:r>
              <a:rPr lang="pt-BR" sz="2800" dirty="0" err="1"/>
              <a:t>subgrafo</a:t>
            </a:r>
            <a:r>
              <a:rPr lang="pt-BR" sz="2800" dirty="0"/>
              <a:t> de um grafo G se todos os vértices e todas as arestas de g estão em G:</a:t>
            </a:r>
          </a:p>
          <a:p>
            <a:r>
              <a:rPr lang="pt-BR" sz="2800" dirty="0"/>
              <a:t>Observações:</a:t>
            </a:r>
          </a:p>
          <a:p>
            <a:pPr lvl="1"/>
            <a:r>
              <a:rPr lang="pt-BR" sz="2400" dirty="0"/>
              <a:t>Uma aresta simples de G (juntamente com suas extremidades) é </a:t>
            </a:r>
            <a:r>
              <a:rPr lang="pt-BR" sz="2400" dirty="0" err="1"/>
              <a:t>subgrafo</a:t>
            </a:r>
            <a:r>
              <a:rPr lang="pt-BR" sz="2400" dirty="0"/>
              <a:t> de G</a:t>
            </a:r>
          </a:p>
        </p:txBody>
      </p:sp>
      <p:sp>
        <p:nvSpPr>
          <p:cNvPr id="4" name="Elipse 3"/>
          <p:cNvSpPr/>
          <p:nvPr/>
        </p:nvSpPr>
        <p:spPr>
          <a:xfrm>
            <a:off x="1259632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1259631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3003796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2160701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3014649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803013" y="4543603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1531323" y="4748775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723436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803012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624506" y="4748775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1531322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tângulo 14"/>
              <p:cNvSpPr/>
              <p:nvPr/>
            </p:nvSpPr>
            <p:spPr>
              <a:xfrm>
                <a:off x="5601585" y="3717032"/>
                <a:ext cx="15245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15" name="Retâ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585" y="3717032"/>
                <a:ext cx="1524520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ângulo 15"/>
              <p:cNvSpPr/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16" name="Retâ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lipse 16"/>
          <p:cNvSpPr/>
          <p:nvPr/>
        </p:nvSpPr>
        <p:spPr>
          <a:xfrm>
            <a:off x="5220073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Elipse 18"/>
          <p:cNvSpPr/>
          <p:nvPr/>
        </p:nvSpPr>
        <p:spPr>
          <a:xfrm>
            <a:off x="6964237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2" name="Conector reto 21"/>
          <p:cNvCxnSpPr>
            <a:stCxn id="17" idx="6"/>
            <a:endCxn id="19" idx="2"/>
          </p:cNvCxnSpPr>
          <p:nvPr/>
        </p:nvCxnSpPr>
        <p:spPr>
          <a:xfrm>
            <a:off x="5763454" y="4543603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462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b="1" dirty="0"/>
                  <a:t>Subgrafos disjuntos de arestas</a:t>
                </a:r>
                <a:r>
                  <a:rPr lang="pt-BR" sz="2800" dirty="0"/>
                  <a:t>: dois (ou mais)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de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são disjuntos de arestas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não tiverem nenhuma aresta em comum.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podem ter vértices em comum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085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b="1" dirty="0"/>
                  <a:t>Subgrafos disjuntos de arestas</a:t>
                </a:r>
                <a:r>
                  <a:rPr lang="pt-BR" sz="2800" dirty="0"/>
                  <a:t>: dois (ou mais)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de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são disjuntos de arestas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não tiverem nenhuma aresta em comum.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podem ter vértices em comum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683568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2427733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84638" y="527453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438586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4687619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4892791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5624786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226949" y="6127779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048443" y="4892791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4892791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494206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Elipse 15"/>
          <p:cNvSpPr/>
          <p:nvPr/>
        </p:nvSpPr>
        <p:spPr>
          <a:xfrm>
            <a:off x="3494205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Elipse 17"/>
          <p:cNvSpPr/>
          <p:nvPr/>
        </p:nvSpPr>
        <p:spPr>
          <a:xfrm>
            <a:off x="4395275" y="527453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0" name="Conector reto 19"/>
          <p:cNvCxnSpPr>
            <a:stCxn id="15" idx="4"/>
            <a:endCxn id="18" idx="1"/>
          </p:cNvCxnSpPr>
          <p:nvPr/>
        </p:nvCxnSpPr>
        <p:spPr>
          <a:xfrm>
            <a:off x="3765897" y="4892791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3958010" y="5624786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4"/>
            <a:endCxn id="16" idx="0"/>
          </p:cNvCxnSpPr>
          <p:nvPr/>
        </p:nvCxnSpPr>
        <p:spPr>
          <a:xfrm flipH="1">
            <a:off x="3765896" y="4892791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3875718" y="3861048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718" y="3861048"/>
                <a:ext cx="15085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1102050" y="3861048"/>
                <a:ext cx="12787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i="1">
                        <a:latin typeface="Cambria Math"/>
                      </a:rPr>
                      <m:t>,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50" y="3861048"/>
                <a:ext cx="1278748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Elipse 25"/>
          <p:cNvSpPr/>
          <p:nvPr/>
        </p:nvSpPr>
        <p:spPr>
          <a:xfrm>
            <a:off x="6211436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Elipse 26"/>
          <p:cNvSpPr/>
          <p:nvPr/>
        </p:nvSpPr>
        <p:spPr>
          <a:xfrm>
            <a:off x="7955600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Elipse 27"/>
          <p:cNvSpPr/>
          <p:nvPr/>
        </p:nvSpPr>
        <p:spPr>
          <a:xfrm>
            <a:off x="7112505" y="527120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9" name="Conector reto 28"/>
          <p:cNvCxnSpPr>
            <a:stCxn id="26" idx="6"/>
            <a:endCxn id="27" idx="2"/>
          </p:cNvCxnSpPr>
          <p:nvPr/>
        </p:nvCxnSpPr>
        <p:spPr>
          <a:xfrm>
            <a:off x="6754817" y="4684286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27" idx="4"/>
            <a:endCxn id="28" idx="7"/>
          </p:cNvCxnSpPr>
          <p:nvPr/>
        </p:nvCxnSpPr>
        <p:spPr>
          <a:xfrm flipH="1">
            <a:off x="7576310" y="4889458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tângulo 31"/>
              <p:cNvSpPr/>
              <p:nvPr/>
            </p:nvSpPr>
            <p:spPr>
              <a:xfrm>
                <a:off x="6592948" y="3857715"/>
                <a:ext cx="15822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32" name="Retângulo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48" y="3857715"/>
                <a:ext cx="15822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115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b="1" dirty="0"/>
                  <a:t>Subgrafos disjuntos de vértices</a:t>
                </a:r>
                <a:r>
                  <a:rPr lang="pt-BR" sz="2800" dirty="0"/>
                  <a:t>: dois (ou mais)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de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são disjuntos de vértices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não tiverem nenhum vértice em comum.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972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b="1" dirty="0"/>
                  <a:t>Subgrafos disjuntos de vértices</a:t>
                </a:r>
                <a:r>
                  <a:rPr lang="pt-BR" sz="2800" dirty="0"/>
                  <a:t>: dois (ou mais)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de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são disjuntos de vértices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não tiverem nenhum vértice em comum.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3875718" y="3861048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718" y="3861048"/>
                <a:ext cx="15085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1102050" y="3861048"/>
                <a:ext cx="12787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i="1">
                        <a:latin typeface="Cambria Math"/>
                      </a:rPr>
                      <m:t>,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50" y="3861048"/>
                <a:ext cx="1278748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tângulo 31"/>
              <p:cNvSpPr/>
              <p:nvPr/>
            </p:nvSpPr>
            <p:spPr>
              <a:xfrm>
                <a:off x="6592948" y="3857715"/>
                <a:ext cx="15822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32" name="Retângulo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48" y="3857715"/>
                <a:ext cx="15822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/>
          <p:cNvSpPr/>
          <p:nvPr/>
        </p:nvSpPr>
        <p:spPr>
          <a:xfrm>
            <a:off x="683569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Elipse 32"/>
          <p:cNvSpPr/>
          <p:nvPr/>
        </p:nvSpPr>
        <p:spPr>
          <a:xfrm>
            <a:off x="683568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" name="Elipse 33"/>
          <p:cNvSpPr/>
          <p:nvPr/>
        </p:nvSpPr>
        <p:spPr>
          <a:xfrm>
            <a:off x="2427733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5" name="Elipse 34"/>
          <p:cNvSpPr/>
          <p:nvPr/>
        </p:nvSpPr>
        <p:spPr>
          <a:xfrm>
            <a:off x="1584638" y="527453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6" name="Elipse 35"/>
          <p:cNvSpPr/>
          <p:nvPr/>
        </p:nvSpPr>
        <p:spPr>
          <a:xfrm>
            <a:off x="2438586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37" name="Conector reto 36"/>
          <p:cNvCxnSpPr>
            <a:stCxn id="30" idx="6"/>
            <a:endCxn id="34" idx="2"/>
          </p:cNvCxnSpPr>
          <p:nvPr/>
        </p:nvCxnSpPr>
        <p:spPr>
          <a:xfrm>
            <a:off x="1226950" y="4687619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30" idx="4"/>
            <a:endCxn id="35" idx="1"/>
          </p:cNvCxnSpPr>
          <p:nvPr/>
        </p:nvCxnSpPr>
        <p:spPr>
          <a:xfrm>
            <a:off x="955260" y="4892791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33" idx="7"/>
            <a:endCxn id="35" idx="3"/>
          </p:cNvCxnSpPr>
          <p:nvPr/>
        </p:nvCxnSpPr>
        <p:spPr>
          <a:xfrm flipV="1">
            <a:off x="1147373" y="5624786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33" idx="6"/>
            <a:endCxn id="36" idx="2"/>
          </p:cNvCxnSpPr>
          <p:nvPr/>
        </p:nvCxnSpPr>
        <p:spPr>
          <a:xfrm>
            <a:off x="1226949" y="6127779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4" idx="4"/>
            <a:endCxn id="35" idx="7"/>
          </p:cNvCxnSpPr>
          <p:nvPr/>
        </p:nvCxnSpPr>
        <p:spPr>
          <a:xfrm flipH="1">
            <a:off x="2048443" y="4892791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30" idx="4"/>
            <a:endCxn id="33" idx="0"/>
          </p:cNvCxnSpPr>
          <p:nvPr/>
        </p:nvCxnSpPr>
        <p:spPr>
          <a:xfrm flipH="1">
            <a:off x="955259" y="4892791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/>
          <p:cNvSpPr/>
          <p:nvPr/>
        </p:nvSpPr>
        <p:spPr>
          <a:xfrm>
            <a:off x="3494205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Elipse 51"/>
          <p:cNvSpPr/>
          <p:nvPr/>
        </p:nvSpPr>
        <p:spPr>
          <a:xfrm>
            <a:off x="6211436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" name="Elipse 52"/>
          <p:cNvSpPr/>
          <p:nvPr/>
        </p:nvSpPr>
        <p:spPr>
          <a:xfrm>
            <a:off x="7955600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4" name="Elipse 53"/>
          <p:cNvSpPr/>
          <p:nvPr/>
        </p:nvSpPr>
        <p:spPr>
          <a:xfrm>
            <a:off x="7112505" y="527120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55" name="Conector reto 54"/>
          <p:cNvCxnSpPr>
            <a:stCxn id="52" idx="6"/>
            <a:endCxn id="53" idx="2"/>
          </p:cNvCxnSpPr>
          <p:nvPr/>
        </p:nvCxnSpPr>
        <p:spPr>
          <a:xfrm>
            <a:off x="6754817" y="4684286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4"/>
            <a:endCxn id="54" idx="1"/>
          </p:cNvCxnSpPr>
          <p:nvPr/>
        </p:nvCxnSpPr>
        <p:spPr>
          <a:xfrm>
            <a:off x="6483127" y="4889458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3" idx="4"/>
            <a:endCxn id="54" idx="7"/>
          </p:cNvCxnSpPr>
          <p:nvPr/>
        </p:nvCxnSpPr>
        <p:spPr>
          <a:xfrm flipH="1">
            <a:off x="7576310" y="4889458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ipse 57"/>
          <p:cNvSpPr/>
          <p:nvPr/>
        </p:nvSpPr>
        <p:spPr>
          <a:xfrm>
            <a:off x="5249223" y="594443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59" name="Conector reto 58"/>
          <p:cNvCxnSpPr>
            <a:endCxn id="58" idx="2"/>
          </p:cNvCxnSpPr>
          <p:nvPr/>
        </p:nvCxnSpPr>
        <p:spPr>
          <a:xfrm>
            <a:off x="4037586" y="6149610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10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com sentido oposto.</a:t>
                </a:r>
              </a:p>
              <a:p>
                <a:r>
                  <a:rPr lang="pt-BR" sz="2400" dirty="0"/>
                  <a:t>Gere o grafo transposto do grafo abaixo: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690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com sentido oposto.</a:t>
                </a:r>
              </a:p>
              <a:p>
                <a:r>
                  <a:rPr lang="pt-BR" sz="2400" dirty="0"/>
                  <a:t>Gere o grafo transposto do grafo abaixo: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563888" y="4391777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80512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Elipse 15"/>
          <p:cNvSpPr/>
          <p:nvPr/>
        </p:nvSpPr>
        <p:spPr>
          <a:xfrm>
            <a:off x="5680511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Elipse 16"/>
          <p:cNvSpPr/>
          <p:nvPr/>
        </p:nvSpPr>
        <p:spPr>
          <a:xfrm>
            <a:off x="7424676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Elipse 17"/>
          <p:cNvSpPr/>
          <p:nvPr/>
        </p:nvSpPr>
        <p:spPr>
          <a:xfrm>
            <a:off x="6581581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6223893" y="3634172"/>
            <a:ext cx="1200783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5" idx="4"/>
            <a:endCxn id="18" idx="1"/>
          </p:cNvCxnSpPr>
          <p:nvPr/>
        </p:nvCxnSpPr>
        <p:spPr>
          <a:xfrm>
            <a:off x="5952203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6144316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4"/>
            <a:endCxn id="16" idx="0"/>
          </p:cNvCxnSpPr>
          <p:nvPr/>
        </p:nvCxnSpPr>
        <p:spPr>
          <a:xfrm flipH="1">
            <a:off x="5952202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196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com sentido oposto.</a:t>
                </a:r>
              </a:p>
              <a:p>
                <a:r>
                  <a:rPr lang="pt-BR" sz="2400" dirty="0"/>
                  <a:t>Gere o grafo transposto do grafo abaixo: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563888" y="4391777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80512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Elipse 15"/>
          <p:cNvSpPr/>
          <p:nvPr/>
        </p:nvSpPr>
        <p:spPr>
          <a:xfrm>
            <a:off x="5680511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Elipse 16"/>
          <p:cNvSpPr/>
          <p:nvPr/>
        </p:nvSpPr>
        <p:spPr>
          <a:xfrm>
            <a:off x="7424676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Elipse 17"/>
          <p:cNvSpPr/>
          <p:nvPr/>
        </p:nvSpPr>
        <p:spPr>
          <a:xfrm>
            <a:off x="6581581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6223893" y="3634172"/>
            <a:ext cx="1200783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6144316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4"/>
            <a:endCxn id="16" idx="0"/>
          </p:cNvCxnSpPr>
          <p:nvPr/>
        </p:nvCxnSpPr>
        <p:spPr>
          <a:xfrm flipH="1">
            <a:off x="5952202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5952203" y="3839344"/>
            <a:ext cx="708954" cy="441837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352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com sentido oposto.</a:t>
                </a:r>
              </a:p>
              <a:p>
                <a:r>
                  <a:rPr lang="pt-BR" sz="2400" dirty="0"/>
                  <a:t>Gere o grafo transposto do grafo abaixo: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563888" y="4391777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80512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Elipse 15"/>
          <p:cNvSpPr/>
          <p:nvPr/>
        </p:nvSpPr>
        <p:spPr>
          <a:xfrm>
            <a:off x="5680511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Elipse 16"/>
          <p:cNvSpPr/>
          <p:nvPr/>
        </p:nvSpPr>
        <p:spPr>
          <a:xfrm>
            <a:off x="7424676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Elipse 17"/>
          <p:cNvSpPr/>
          <p:nvPr/>
        </p:nvSpPr>
        <p:spPr>
          <a:xfrm>
            <a:off x="6581581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6223893" y="3634172"/>
            <a:ext cx="1200783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6144316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5952203" y="3839344"/>
            <a:ext cx="708954" cy="441837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 flipH="1">
            <a:off x="5952202" y="3839344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797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com sentido oposto.</a:t>
                </a:r>
              </a:p>
              <a:p>
                <a:r>
                  <a:rPr lang="pt-BR" sz="2400" dirty="0"/>
                  <a:t>Gere o grafo transposto do grafo abaixo: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563888" y="4391777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80512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Elipse 15"/>
          <p:cNvSpPr/>
          <p:nvPr/>
        </p:nvSpPr>
        <p:spPr>
          <a:xfrm>
            <a:off x="5680511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Elipse 16"/>
          <p:cNvSpPr/>
          <p:nvPr/>
        </p:nvSpPr>
        <p:spPr>
          <a:xfrm>
            <a:off x="7424676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Elipse 17"/>
          <p:cNvSpPr/>
          <p:nvPr/>
        </p:nvSpPr>
        <p:spPr>
          <a:xfrm>
            <a:off x="6581581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6223893" y="3634172"/>
            <a:ext cx="1200783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5" idx="4"/>
            <a:endCxn id="18" idx="1"/>
          </p:cNvCxnSpPr>
          <p:nvPr/>
        </p:nvCxnSpPr>
        <p:spPr>
          <a:xfrm>
            <a:off x="5952203" y="3839344"/>
            <a:ext cx="708954" cy="441837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6144316" y="4571339"/>
            <a:ext cx="516841" cy="357914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4"/>
            <a:endCxn id="16" idx="0"/>
          </p:cNvCxnSpPr>
          <p:nvPr/>
        </p:nvCxnSpPr>
        <p:spPr>
          <a:xfrm flipH="1">
            <a:off x="5952202" y="3839344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248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com sentido oposto.</a:t>
                </a:r>
              </a:p>
              <a:p>
                <a:r>
                  <a:rPr lang="pt-BR" sz="2400" dirty="0"/>
                  <a:t>Gere o grafo transposto do grafo abaixo: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563888" y="4391777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80512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Elipse 15"/>
          <p:cNvSpPr/>
          <p:nvPr/>
        </p:nvSpPr>
        <p:spPr>
          <a:xfrm>
            <a:off x="5680511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Elipse 16"/>
          <p:cNvSpPr/>
          <p:nvPr/>
        </p:nvSpPr>
        <p:spPr>
          <a:xfrm>
            <a:off x="7424676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Elipse 17"/>
          <p:cNvSpPr/>
          <p:nvPr/>
        </p:nvSpPr>
        <p:spPr>
          <a:xfrm>
            <a:off x="6581581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6223893" y="3634172"/>
            <a:ext cx="1200783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5" idx="4"/>
            <a:endCxn id="18" idx="1"/>
          </p:cNvCxnSpPr>
          <p:nvPr/>
        </p:nvCxnSpPr>
        <p:spPr>
          <a:xfrm>
            <a:off x="5952203" y="3839344"/>
            <a:ext cx="708954" cy="441837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6144316" y="4571339"/>
            <a:ext cx="516841" cy="357914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4"/>
            <a:endCxn id="16" idx="0"/>
          </p:cNvCxnSpPr>
          <p:nvPr/>
        </p:nvCxnSpPr>
        <p:spPr>
          <a:xfrm flipH="1">
            <a:off x="5952202" y="3839344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79930" y="5962003"/>
            <a:ext cx="7135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Apenas se calcula o transposto de um grafo direcionado</a:t>
            </a:r>
          </a:p>
        </p:txBody>
      </p:sp>
    </p:spTree>
    <p:extLst>
      <p:ext uri="{BB962C8B-B14F-4D97-AF65-F5344CB8AC3E}">
        <p14:creationId xmlns:p14="http://schemas.microsoft.com/office/powerpoint/2010/main" val="3910259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844824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 </a:t>
            </a:r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78632" y="2763549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Cormen</a:t>
            </a:r>
            <a:r>
              <a:rPr lang="pt-BR" dirty="0"/>
              <a:t> et al., 2002] Algoritmos: Teoria e Prática – Tradução da segunda edição em inglês. 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2002, 936 pp. Editora Campus, ISBN 8535209263.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78632" y="3686879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8632" y="4333210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Sedgewick</a:t>
            </a:r>
            <a:r>
              <a:rPr lang="pt-BR" dirty="0"/>
              <a:t>, 1992] </a:t>
            </a:r>
            <a:r>
              <a:rPr lang="pt-BR" dirty="0" err="1"/>
              <a:t>Algorithms</a:t>
            </a:r>
            <a:r>
              <a:rPr lang="pt-BR" dirty="0"/>
              <a:t> in C++. Robert </a:t>
            </a:r>
            <a:r>
              <a:rPr lang="pt-BR" dirty="0" err="1"/>
              <a:t>Segdewick</a:t>
            </a:r>
            <a:r>
              <a:rPr lang="pt-BR" dirty="0"/>
              <a:t>. c1992, 656 pp. </a:t>
            </a:r>
            <a:r>
              <a:rPr lang="en-US" dirty="0"/>
              <a:t>Boston: Addison Wesley, ISBN 0201510596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677820" y="4979541"/>
            <a:ext cx="7926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Marco </a:t>
            </a:r>
            <a:r>
              <a:rPr lang="pt-BR" dirty="0" err="1"/>
              <a:t>Goldbarg</a:t>
            </a:r>
            <a:r>
              <a:rPr lang="pt-BR" dirty="0"/>
              <a:t>; Elizabeth </a:t>
            </a:r>
            <a:r>
              <a:rPr lang="pt-BR" dirty="0" err="1"/>
              <a:t>Goldbarg</a:t>
            </a:r>
            <a:r>
              <a:rPr lang="pt-BR" dirty="0"/>
              <a:t>. Grafos - conceitos , algoritmos e aplicações .</a:t>
            </a:r>
          </a:p>
          <a:p>
            <a:r>
              <a:rPr lang="pt-BR" dirty="0"/>
              <a:t>Campus. 2012.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5625872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1998" y="6272203"/>
            <a:ext cx="80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Robin J. 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 </a:t>
            </a:r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2397</TotalTime>
  <Words>1128</Words>
  <Application>Microsoft Office PowerPoint</Application>
  <PresentationFormat>Apresentação na tela (4:3)</PresentationFormat>
  <Paragraphs>280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Cambria Math</vt:lpstr>
      <vt:lpstr>Tema do Office</vt:lpstr>
      <vt:lpstr>Unidade I  Operações, Isomorfismo, subgrafos e dígrafos e relações binárias</vt:lpstr>
      <vt:lpstr>Operações sobre grafos</vt:lpstr>
      <vt:lpstr>Operações sobre grafos</vt:lpstr>
      <vt:lpstr>Operações sobre grafos</vt:lpstr>
      <vt:lpstr>Operações sobre grafos</vt:lpstr>
      <vt:lpstr>Operações sobre grafos</vt:lpstr>
      <vt:lpstr>Operações</vt:lpstr>
      <vt:lpstr>Operações</vt:lpstr>
      <vt:lpstr>Isomorfismo</vt:lpstr>
      <vt:lpstr>Isomorfismo</vt:lpstr>
      <vt:lpstr>Isomorfismo</vt:lpstr>
      <vt:lpstr>Isomorfismo</vt:lpstr>
      <vt:lpstr>Grafo complementar</vt:lpstr>
      <vt:lpstr>Grafo complementar</vt:lpstr>
      <vt:lpstr>Grafo complementar</vt:lpstr>
      <vt:lpstr>Grafo complementar</vt:lpstr>
      <vt:lpstr>Subgrafo</vt:lpstr>
      <vt:lpstr>Subgrafo</vt:lpstr>
      <vt:lpstr>Subgrafo</vt:lpstr>
      <vt:lpstr>Subgrafo</vt:lpstr>
      <vt:lpstr>Subgrafo</vt:lpstr>
      <vt:lpstr>Subgrafo</vt:lpstr>
      <vt:lpstr>Subgrafo</vt:lpstr>
      <vt:lpstr>Subgrafo</vt:lpstr>
      <vt:lpstr>Subgrafo</vt:lpstr>
      <vt:lpstr>Subgrafo</vt:lpstr>
      <vt:lpstr>Subgrafo</vt:lpstr>
      <vt:lpstr>Grafo Transposto</vt:lpstr>
      <vt:lpstr>Grafo Transposto</vt:lpstr>
      <vt:lpstr>Grafo Transposto</vt:lpstr>
      <vt:lpstr>Grafo Transposto</vt:lpstr>
      <vt:lpstr>Grafo Transposto</vt:lpstr>
      <vt:lpstr>Grafo Transposto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117</cp:revision>
  <dcterms:created xsi:type="dcterms:W3CDTF">2011-08-03T02:09:11Z</dcterms:created>
  <dcterms:modified xsi:type="dcterms:W3CDTF">2016-08-11T11:53:08Z</dcterms:modified>
</cp:coreProperties>
</file>