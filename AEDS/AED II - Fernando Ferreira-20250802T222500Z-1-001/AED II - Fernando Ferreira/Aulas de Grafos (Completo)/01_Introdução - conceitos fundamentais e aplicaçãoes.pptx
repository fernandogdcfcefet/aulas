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67" r:id="rId3"/>
    <p:sldId id="269" r:id="rId4"/>
    <p:sldId id="270" r:id="rId5"/>
    <p:sldId id="271" r:id="rId6"/>
    <p:sldId id="272" r:id="rId7"/>
    <p:sldId id="308" r:id="rId8"/>
    <p:sldId id="273" r:id="rId9"/>
    <p:sldId id="279" r:id="rId10"/>
    <p:sldId id="280" r:id="rId11"/>
    <p:sldId id="275" r:id="rId12"/>
    <p:sldId id="276" r:id="rId13"/>
    <p:sldId id="277" r:id="rId14"/>
    <p:sldId id="307" r:id="rId15"/>
    <p:sldId id="281" r:id="rId16"/>
    <p:sldId id="285" r:id="rId17"/>
    <p:sldId id="287" r:id="rId18"/>
    <p:sldId id="289" r:id="rId19"/>
    <p:sldId id="290" r:id="rId20"/>
    <p:sldId id="291" r:id="rId21"/>
    <p:sldId id="292" r:id="rId22"/>
    <p:sldId id="293" r:id="rId23"/>
    <p:sldId id="294" r:id="rId24"/>
    <p:sldId id="288" r:id="rId25"/>
    <p:sldId id="304" r:id="rId26"/>
    <p:sldId id="305" r:id="rId27"/>
    <p:sldId id="303" r:id="rId28"/>
    <p:sldId id="299" r:id="rId29"/>
    <p:sldId id="310" r:id="rId30"/>
    <p:sldId id="298" r:id="rId31"/>
    <p:sldId id="264" r:id="rId3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0F18-505B-4916-B898-AFAFEA855B1C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B931F-28FD-48D0-8C41-F517EBE513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05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90F0-EDFF-4973-9F37-706461C5A4A1}" type="datetime1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1715-B09C-45C3-9F0C-AC3C59B61916}" type="datetime1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2A32E-F5BC-4EBF-B977-334B8C8AD527}" type="datetime1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C445-C170-49CB-AD94-AFD458E20AD1}" type="datetime1">
              <a:rPr lang="pt-BR" smtClean="0"/>
              <a:t>01/08/2016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A49ED-18C6-4D24-9DE9-BC1A4C11A856}" type="datetime1">
              <a:rPr lang="pt-BR" smtClean="0"/>
              <a:t>01/08/2016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3633-913B-4B93-99BC-43274D4BBCAB}" type="datetime1">
              <a:rPr lang="pt-BR" smtClean="0"/>
              <a:t>01/08/2016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173-4D86-49FB-AB9D-A647FA666A60}" type="datetime1">
              <a:rPr lang="pt-BR" smtClean="0"/>
              <a:t>01/08/2016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9784-BA8E-4B3F-9DCB-91218024E2F6}" type="datetime1">
              <a:rPr lang="pt-BR" smtClean="0"/>
              <a:t>01/08/2016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9D433-D767-43EA-A071-9DFC6FA55020}" type="datetime1">
              <a:rPr lang="pt-BR" smtClean="0"/>
              <a:t>01/08/2016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FD1-75AB-4F2B-BBC4-EAE4B4A56435}" type="datetime1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992E-69C7-4958-95B1-88C4822A97B8}" type="datetime1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CB275-45F7-48B5-A7DD-953B60148304}" type="datetime1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Unidade I </a:t>
            </a:r>
            <a:br>
              <a:rPr lang="pt-BR" dirty="0"/>
            </a:br>
            <a:r>
              <a:rPr lang="pt-BR" dirty="0"/>
              <a:t>Introdução - conceitos fundamentais e 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r>
              <a:rPr lang="pt-BR" dirty="0"/>
              <a:t>henriquebsilva@outlook.com.br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problema das sete pontes de </a:t>
            </a:r>
            <a:r>
              <a:rPr lang="pt-BR" dirty="0" err="1"/>
              <a:t>Königsberg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08720"/>
          </a:xfrm>
        </p:spPr>
        <p:txBody>
          <a:bodyPr>
            <a:normAutofit/>
          </a:bodyPr>
          <a:lstStyle/>
          <a:p>
            <a:r>
              <a:rPr lang="pt-BR" sz="2000" dirty="0"/>
              <a:t>Em </a:t>
            </a:r>
            <a:r>
              <a:rPr lang="pt-BR" sz="2000" dirty="0" err="1"/>
              <a:t>Königsberg</a:t>
            </a:r>
            <a:r>
              <a:rPr lang="pt-BR" sz="2000" dirty="0"/>
              <a:t> (atual </a:t>
            </a:r>
            <a:r>
              <a:rPr lang="pt-BR" sz="2000" dirty="0" err="1"/>
              <a:t>Kaliningrado</a:t>
            </a:r>
            <a:r>
              <a:rPr lang="pt-BR" sz="2000" dirty="0"/>
              <a:t>) havia sete pontes que atravessavam a cidade. O passatempo favorito das pessoas era passear pelas 7 pontes mas sem passar mais de uma vez por elas. </a:t>
            </a:r>
          </a:p>
        </p:txBody>
      </p:sp>
      <p:pic>
        <p:nvPicPr>
          <p:cNvPr id="1026" name="Picture 2" descr="http://www.mat.uc.pt/~alma/escolas/pontes/Konigsberg_colou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550713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749105" y="6309320"/>
            <a:ext cx="454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É possível que uma pessoa faça este percurso?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704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problema das sete pontes de </a:t>
            </a:r>
            <a:r>
              <a:rPr lang="pt-BR" dirty="0" err="1"/>
              <a:t>Königsberg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1099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Modelagem de Euler:</a:t>
            </a:r>
          </a:p>
          <a:p>
            <a:pPr lvl="1"/>
            <a:r>
              <a:rPr lang="pt-BR" dirty="0"/>
              <a:t>Todos os “pontos” de uma dada área de terra podem ser representados por um único ponto (</a:t>
            </a:r>
            <a:r>
              <a:rPr lang="pt-BR" b="1" dirty="0"/>
              <a:t>vértice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Um ponto é conectado a outro por meio de um arco (</a:t>
            </a:r>
            <a:r>
              <a:rPr lang="pt-BR" b="1" dirty="0"/>
              <a:t>aresta</a:t>
            </a:r>
            <a:r>
              <a:rPr lang="pt-BR" dirty="0"/>
              <a:t>) se houver uma ponte de um lado para o outro.</a:t>
            </a:r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457200" y="1600201"/>
            <a:ext cx="8229600" cy="2188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pt-BR" sz="2400"/>
              <a:t>O matemático suíço Leonhard Euler (1707 - 1783) mostrou que este problema não tem solução. Dando início à </a:t>
            </a:r>
            <a:r>
              <a:rPr lang="pt-BR" sz="2400" b="1"/>
              <a:t>teoria dos grafos</a:t>
            </a:r>
            <a:r>
              <a:rPr lang="pt-BR" sz="2400"/>
              <a:t>.</a:t>
            </a:r>
          </a:p>
          <a:p>
            <a:pPr lvl="4"/>
            <a:endParaRPr lang="pt-BR" sz="2400" dirty="0"/>
          </a:p>
        </p:txBody>
      </p:sp>
      <p:pic>
        <p:nvPicPr>
          <p:cNvPr id="5" name="Picture 4" descr="http://upload.wikimedia.org/wikipedia/commons/d/d7/Leonhard_Eul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1448810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6581000"/>
            <a:ext cx="4460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Adaptado do material de aula do prof. Antônio Loureiro (DCC/UFMG)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95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problema das sete pontes de </a:t>
            </a:r>
            <a:r>
              <a:rPr lang="pt-BR" dirty="0" err="1"/>
              <a:t>Königsberg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Esquema gráfico definido por Euler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708920"/>
            <a:ext cx="4143375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924943"/>
            <a:ext cx="3098082" cy="254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0" y="6581000"/>
            <a:ext cx="4460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Adaptado do material de aula do prof. Antônio Loureiro (DCC/UFMG)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28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problema das sete pontes de </a:t>
            </a:r>
            <a:r>
              <a:rPr lang="pt-BR" dirty="0" err="1"/>
              <a:t>Königsberg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5122912" cy="4525963"/>
          </a:xfrm>
        </p:spPr>
        <p:txBody>
          <a:bodyPr>
            <a:normAutofit/>
          </a:bodyPr>
          <a:lstStyle/>
          <a:p>
            <a:r>
              <a:rPr lang="pt-BR" sz="2000" dirty="0"/>
              <a:t>Partindo do ponto A, toda vez que se passa por qualquer outro ponto, duas arestas são usadas: a de “chegada” e a de “saída”.</a:t>
            </a:r>
          </a:p>
          <a:p>
            <a:r>
              <a:rPr lang="pt-BR" sz="2000" dirty="0"/>
              <a:t>Assim, se for possível achar uma rota que usa todas as arestas, então o número total de “chegadas” e “saídas” de cada ponto deve ser um número par (exceção máxima de 2 pontos).</a:t>
            </a:r>
          </a:p>
          <a:p>
            <a:r>
              <a:rPr lang="pt-BR" sz="2000" dirty="0"/>
              <a:t>Conforme Euler demonstrou, não é possível encontrar uma solução.</a:t>
            </a:r>
          </a:p>
          <a:p>
            <a:r>
              <a:rPr lang="pt-BR" sz="2000" dirty="0"/>
              <a:t>Este esquema, é uma representação gráfica de um </a:t>
            </a:r>
            <a:r>
              <a:rPr lang="pt-BR" sz="2000" b="1" dirty="0"/>
              <a:t>modelo de grafo</a:t>
            </a:r>
            <a:r>
              <a:rPr lang="pt-BR" sz="2000" dirty="0"/>
              <a:t>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204864"/>
            <a:ext cx="3098082" cy="254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0" y="6581000"/>
            <a:ext cx="4460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Adaptado do material de aula do prof. Antônio Loureiro (DCC/UFMG)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768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Muitas aplicações em computação necessitam considerar conjunto de conexões entre pares de objetos:</a:t>
            </a:r>
          </a:p>
          <a:p>
            <a:pPr lvl="1"/>
            <a:r>
              <a:rPr lang="pt-BR" sz="2400" dirty="0"/>
              <a:t>Existe um caminho para ir de um objeto a outro seguindo as conexões?</a:t>
            </a:r>
          </a:p>
          <a:p>
            <a:pPr lvl="1"/>
            <a:r>
              <a:rPr lang="pt-BR" sz="2400" dirty="0"/>
              <a:t>Qual é a menor distância entre um objeto e outro objeto?</a:t>
            </a:r>
          </a:p>
          <a:p>
            <a:pPr lvl="1"/>
            <a:r>
              <a:rPr lang="pt-BR" sz="2400" dirty="0"/>
              <a:t>Quantos outros objetos podem ser alcançados a partir de um determinado objeto?</a:t>
            </a:r>
          </a:p>
          <a:p>
            <a:r>
              <a:rPr lang="pt-BR" sz="2800" dirty="0"/>
              <a:t>Existe um tipo abstrato chamado grafo que é usado para modelar tais situações.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6581000"/>
            <a:ext cx="1708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Referência: </a:t>
            </a:r>
            <a:r>
              <a:rPr lang="pt-BR" sz="1200" dirty="0" err="1"/>
              <a:t>Ziviani</a:t>
            </a:r>
            <a:r>
              <a:rPr lang="pt-BR" sz="1200" dirty="0"/>
              <a:t>, 2006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12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Porque estudar grafos?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Arcabouço matemático com aplicação em diversas áreas do conhecimento.</a:t>
            </a:r>
          </a:p>
          <a:p>
            <a:r>
              <a:rPr lang="pt-BR" sz="2400" dirty="0"/>
              <a:t>Estudar grafos é mais uma forma de solucionar problemas computáveis.</a:t>
            </a:r>
          </a:p>
          <a:p>
            <a:r>
              <a:rPr lang="pt-BR" sz="2400" dirty="0"/>
              <a:t>Os estudos teóricos em grafos buscam o desenvolvimento de algoritmos mais eficientes.</a:t>
            </a:r>
          </a:p>
          <a:p>
            <a:r>
              <a:rPr lang="pt-BR" sz="2400" dirty="0"/>
              <a:t>Abstração matemática que representa situações reais através de um diagrama.</a:t>
            </a:r>
          </a:p>
          <a:p>
            <a:r>
              <a:rPr lang="pt-BR" sz="2400" dirty="0"/>
              <a:t>Áreas de conhecimento:</a:t>
            </a:r>
          </a:p>
          <a:p>
            <a:pPr lvl="1"/>
            <a:r>
              <a:rPr lang="pt-BR" sz="2000" dirty="0"/>
              <a:t>Genética, química, pesquisa operacional, telecomunicações, engenharia elétrica, redes de computadores, conexão de vos aéreos, restrições de precedência, fluxo de programas, dentre outros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8512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Alguns exemplos de problemas práticos que podem ser resolvidos através de uma modelagem em grafos:</a:t>
            </a:r>
          </a:p>
          <a:p>
            <a:pPr lvl="1"/>
            <a:r>
              <a:rPr lang="pt-BR" sz="2400" dirty="0"/>
              <a:t>Ajudar máquinas de busca a localizar informação relevante na Web (um documento referencia outro).</a:t>
            </a:r>
          </a:p>
          <a:p>
            <a:pPr lvl="1"/>
            <a:r>
              <a:rPr lang="pt-BR" sz="2400" dirty="0"/>
              <a:t>Descobrir os melhores casamentos entre posições disponíveis em empresas e pessoas que aplicaram para as posições de interesse.</a:t>
            </a:r>
          </a:p>
          <a:p>
            <a:pPr lvl="1"/>
            <a:r>
              <a:rPr lang="pt-BR" sz="2400" dirty="0"/>
              <a:t>Descobrir qual é o roteiro mais curto para visitar as principais cidades de uma região turística.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6581000"/>
            <a:ext cx="1708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Referência: </a:t>
            </a:r>
            <a:r>
              <a:rPr lang="pt-BR" sz="1200" dirty="0" err="1"/>
              <a:t>Ziviani</a:t>
            </a:r>
            <a:r>
              <a:rPr lang="pt-BR" sz="1200" dirty="0"/>
              <a:t>, 2006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867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Colorir um mapa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36711"/>
          </a:xfrm>
        </p:spPr>
        <p:txBody>
          <a:bodyPr>
            <a:normAutofit/>
          </a:bodyPr>
          <a:lstStyle/>
          <a:p>
            <a:r>
              <a:rPr lang="pt-BR" sz="2400" dirty="0"/>
              <a:t>Quantas cores são necessárias para colorir o mapa do Brasil, sendo que estados adjacentes não podem ter a mesma cor?</a:t>
            </a:r>
          </a:p>
          <a:p>
            <a:endParaRPr lang="pt-BR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149" y="2564904"/>
            <a:ext cx="3872067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4877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Caminho mínimo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04864"/>
          </a:xfrm>
        </p:spPr>
        <p:txBody>
          <a:bodyPr>
            <a:normAutofit/>
          </a:bodyPr>
          <a:lstStyle/>
          <a:p>
            <a:r>
              <a:rPr lang="pt-BR" sz="2000" dirty="0"/>
              <a:t>De forma a reduzir seus custos operacionais, uma empresa de transporte de cargas deseja oferecer aos motoristas de sua frota um mecanismo que os auxilie a selecionar o melhor caminho (o de menor distância) entre quaisquer duas cidades por ela servidas, de forma a que sejam minimizados os custos de transporte.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463610"/>
            <a:ext cx="4348708" cy="307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676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grafo?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Suponha uma pequena cidade, com 5 vilas interligadas por rodovias: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pPr lvl="1"/>
            <a:endParaRPr lang="pt-BR" sz="2400" dirty="0"/>
          </a:p>
          <a:p>
            <a:pPr lvl="1"/>
            <a:r>
              <a:rPr lang="pt-BR" sz="2400" dirty="0"/>
              <a:t>Podemos representar esta situação por meio de um diagrama contendo ponto e linha, chamado de </a:t>
            </a:r>
            <a:r>
              <a:rPr lang="pt-BR" sz="2400" b="1" dirty="0"/>
              <a:t>grafo</a:t>
            </a:r>
            <a:r>
              <a:rPr lang="pt-BR" sz="2400" dirty="0"/>
              <a:t>.</a:t>
            </a:r>
          </a:p>
        </p:txBody>
      </p:sp>
      <p:sp>
        <p:nvSpPr>
          <p:cNvPr id="4" name="Triângulo isósceles 3"/>
          <p:cNvSpPr/>
          <p:nvPr/>
        </p:nvSpPr>
        <p:spPr>
          <a:xfrm rot="5400000">
            <a:off x="2752842" y="3403322"/>
            <a:ext cx="1060704" cy="9144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/>
          <p:cNvSpPr/>
          <p:nvPr/>
        </p:nvSpPr>
        <p:spPr>
          <a:xfrm rot="16200000">
            <a:off x="3975834" y="3403322"/>
            <a:ext cx="1060704" cy="9144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riângulo isósceles 5"/>
          <p:cNvSpPr/>
          <p:nvPr/>
        </p:nvSpPr>
        <p:spPr>
          <a:xfrm rot="10800000">
            <a:off x="2968866" y="3247420"/>
            <a:ext cx="1872208" cy="4572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riângulo isósceles 6"/>
          <p:cNvSpPr/>
          <p:nvPr/>
        </p:nvSpPr>
        <p:spPr>
          <a:xfrm>
            <a:off x="2950099" y="3989204"/>
            <a:ext cx="1872208" cy="4572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riângulo isósceles 7"/>
          <p:cNvSpPr/>
          <p:nvPr/>
        </p:nvSpPr>
        <p:spPr>
          <a:xfrm rot="5400000">
            <a:off x="5149666" y="3400548"/>
            <a:ext cx="1060704" cy="9144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/>
          <p:nvPr/>
        </p:nvCxnSpPr>
        <p:spPr>
          <a:xfrm>
            <a:off x="2608826" y="3150260"/>
            <a:ext cx="2520280" cy="1440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2608826" y="3150260"/>
            <a:ext cx="0" cy="1440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 flipH="1">
            <a:off x="2608826" y="4590420"/>
            <a:ext cx="252028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V="1">
            <a:off x="2608826" y="3150260"/>
            <a:ext cx="2505980" cy="1440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2608826" y="3150260"/>
            <a:ext cx="250598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129106" y="3150260"/>
            <a:ext cx="1224136" cy="70748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 flipH="1">
            <a:off x="5129106" y="3857748"/>
            <a:ext cx="1224136" cy="7326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5114806" y="3150260"/>
            <a:ext cx="0" cy="1440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2402802" y="285293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403558" y="451841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955570" y="459024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955570" y="2852936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337768" y="367308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0" y="6581000"/>
            <a:ext cx="1700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Referência: Robin , 1996</a:t>
            </a:r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06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grafo?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Nesta representação, há dois elementos importantes. Os pontos P, Q, R, S e T são chamados </a:t>
            </a:r>
            <a:r>
              <a:rPr lang="pt-BR" sz="2800" b="1" dirty="0"/>
              <a:t>vértices</a:t>
            </a:r>
            <a:r>
              <a:rPr lang="pt-BR" sz="2800" dirty="0"/>
              <a:t>, as linhas são chamadas </a:t>
            </a:r>
            <a:r>
              <a:rPr lang="pt-BR" sz="2800" b="1" dirty="0"/>
              <a:t>arestas</a:t>
            </a:r>
            <a:r>
              <a:rPr lang="pt-BR" sz="2800" dirty="0"/>
              <a:t>. O diagrama inteiro é chamado de </a:t>
            </a:r>
            <a:r>
              <a:rPr lang="pt-BR" sz="2800" b="1" dirty="0"/>
              <a:t>grafo</a:t>
            </a:r>
            <a:r>
              <a:rPr lang="pt-BR" sz="2800" dirty="0"/>
              <a:t>.</a:t>
            </a:r>
            <a:endParaRPr lang="pt-BR" sz="2800" b="1" dirty="0"/>
          </a:p>
        </p:txBody>
      </p:sp>
      <p:sp>
        <p:nvSpPr>
          <p:cNvPr id="4" name="CaixaDeTexto 3"/>
          <p:cNvSpPr txBox="1"/>
          <p:nvPr/>
        </p:nvSpPr>
        <p:spPr>
          <a:xfrm>
            <a:off x="2424908" y="377063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2398986" y="549729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977676" y="550794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954404" y="3769101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495136" y="455012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2593523" y="4051964"/>
            <a:ext cx="3814602" cy="1524642"/>
            <a:chOff x="5039313" y="4926707"/>
            <a:chExt cx="3814602" cy="1524642"/>
          </a:xfrm>
        </p:grpSpPr>
        <p:cxnSp>
          <p:nvCxnSpPr>
            <p:cNvPr id="10" name="Conector reto 9"/>
            <p:cNvCxnSpPr/>
            <p:nvPr/>
          </p:nvCxnSpPr>
          <p:spPr>
            <a:xfrm>
              <a:off x="5087565" y="4970539"/>
              <a:ext cx="2520280" cy="144016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/>
            <p:nvPr/>
          </p:nvCxnSpPr>
          <p:spPr>
            <a:xfrm>
              <a:off x="5087565" y="4970539"/>
              <a:ext cx="0" cy="144016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>
            <a:xfrm flipH="1">
              <a:off x="5087565" y="6410699"/>
              <a:ext cx="2520280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5087565" y="4970539"/>
              <a:ext cx="2505980" cy="144016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>
              <a:off x="5087565" y="4970539"/>
              <a:ext cx="2505980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>
            <a:xfrm>
              <a:off x="7607845" y="4970539"/>
              <a:ext cx="1197819" cy="679647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 flipH="1">
              <a:off x="7607846" y="5650186"/>
              <a:ext cx="1197818" cy="760513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>
              <a:off x="7593545" y="4970539"/>
              <a:ext cx="0" cy="1440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ipse 17"/>
            <p:cNvSpPr/>
            <p:nvPr/>
          </p:nvSpPr>
          <p:spPr>
            <a:xfrm>
              <a:off x="5039313" y="4929889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Elipse 18"/>
            <p:cNvSpPr/>
            <p:nvPr/>
          </p:nvSpPr>
          <p:spPr>
            <a:xfrm>
              <a:off x="8757412" y="5609536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ipse 19"/>
            <p:cNvSpPr/>
            <p:nvPr/>
          </p:nvSpPr>
          <p:spPr>
            <a:xfrm>
              <a:off x="7536727" y="6347421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Elipse 20"/>
            <p:cNvSpPr/>
            <p:nvPr/>
          </p:nvSpPr>
          <p:spPr>
            <a:xfrm>
              <a:off x="7520446" y="4926707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/>
            <p:cNvSpPr/>
            <p:nvPr/>
          </p:nvSpPr>
          <p:spPr>
            <a:xfrm>
              <a:off x="5039313" y="6370049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24" name="Conector de seta reta 23"/>
          <p:cNvCxnSpPr/>
          <p:nvPr/>
        </p:nvCxnSpPr>
        <p:spPr>
          <a:xfrm>
            <a:off x="1475656" y="4816093"/>
            <a:ext cx="1074974" cy="6565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632670" y="4509120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vértices</a:t>
            </a:r>
          </a:p>
        </p:txBody>
      </p:sp>
      <p:cxnSp>
        <p:nvCxnSpPr>
          <p:cNvPr id="27" name="Conector de seta reta 26"/>
          <p:cNvCxnSpPr/>
          <p:nvPr/>
        </p:nvCxnSpPr>
        <p:spPr>
          <a:xfrm flipH="1" flipV="1">
            <a:off x="5868144" y="5301208"/>
            <a:ext cx="781842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6649986" y="5949280"/>
            <a:ext cx="84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arestas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0" y="6581000"/>
            <a:ext cx="1700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Referência: Robin , 1996</a:t>
            </a:r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917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grafo?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Definição formal:</a:t>
                </a:r>
              </a:p>
              <a:p>
                <a:pPr lvl="1"/>
                <a:r>
                  <a:rPr lang="pt-BR" dirty="0"/>
                  <a:t>Grafo: conjunto de vértices e arestas.</a:t>
                </a:r>
              </a:p>
              <a:p>
                <a:pPr lvl="1"/>
                <a:r>
                  <a:rPr lang="pt-BR" dirty="0"/>
                  <a:t>Vértice: objeto simples que pode ter nome e outros atributos.</a:t>
                </a:r>
              </a:p>
              <a:p>
                <a:pPr lvl="1"/>
                <a:r>
                  <a:rPr lang="pt-BR" dirty="0"/>
                  <a:t>Aresta: conexão entre dois vértices.</a:t>
                </a:r>
              </a:p>
              <a:p>
                <a:endParaRPr lang="pt-BR" dirty="0"/>
              </a:p>
              <a:p>
                <a:r>
                  <a:rPr lang="pt-BR" dirty="0"/>
                  <a:t>Notação: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G</m:t>
                    </m:r>
                    <m:r>
                      <a:rPr lang="pt-BR" b="0" i="1" smtClean="0">
                        <a:latin typeface="Cambria Math"/>
                      </a:rPr>
                      <m:t>=(</m:t>
                    </m:r>
                    <m:r>
                      <a:rPr lang="pt-BR" b="0" i="1" smtClean="0">
                        <a:latin typeface="Cambria Math"/>
                      </a:rPr>
                      <m:t>𝑉</m:t>
                    </m:r>
                    <m:r>
                      <a:rPr lang="pt-BR" b="0" i="1" smtClean="0">
                        <a:latin typeface="Cambria Math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: grafo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: conjunto de vértices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/>
                  <a:t>: conjunto de arestas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81" t="-2695" b="-25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0" y="6581000"/>
            <a:ext cx="1708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Referência: </a:t>
            </a:r>
            <a:r>
              <a:rPr lang="pt-BR" sz="1200" dirty="0" err="1"/>
              <a:t>Ziviani</a:t>
            </a:r>
            <a:r>
              <a:rPr lang="pt-BR" sz="1200" dirty="0"/>
              <a:t>, 2006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2122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Conjunto de vértices:</a:t>
            </a:r>
          </a:p>
          <a:p>
            <a:endParaRPr lang="pt-BR" sz="2800" dirty="0"/>
          </a:p>
          <a:p>
            <a:r>
              <a:rPr lang="pt-BR" sz="2800" dirty="0"/>
              <a:t>Conjunto de arestas:</a:t>
            </a:r>
          </a:p>
          <a:p>
            <a:endParaRPr lang="pt-BR" sz="2800" dirty="0"/>
          </a:p>
          <a:p>
            <a:r>
              <a:rPr lang="pt-BR" sz="2800" dirty="0"/>
              <a:t>Função aresta -vértice</a:t>
            </a:r>
          </a:p>
          <a:p>
            <a:pPr marL="0" indent="0">
              <a:buNone/>
            </a:pPr>
            <a:endParaRPr lang="pt-B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909124" y="2110234"/>
                <a:ext cx="29299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124" y="2110234"/>
                <a:ext cx="2929905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883363" y="3097011"/>
                <a:ext cx="33059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63" y="3097011"/>
                <a:ext cx="3305970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4101254"/>
            <a:ext cx="2154888" cy="256327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0" y="6581000"/>
            <a:ext cx="4460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Adaptado do material de aula do prof. Antônio Loureiro (DCC/UFMG)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00200"/>
            <a:ext cx="1977742" cy="2302215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409" y="1531346"/>
            <a:ext cx="647397" cy="63930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4646" y="1565559"/>
            <a:ext cx="718973" cy="2673932"/>
          </a:xfrm>
          <a:prstGeom prst="rect">
            <a:avLst/>
          </a:prstGeom>
        </p:spPr>
      </p:pic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1622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Grafo direcionado: Para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>
                        <a:latin typeface="Cambria Math"/>
                      </a:rPr>
                      <m:t>G</m:t>
                    </m:r>
                    <m:r>
                      <a:rPr lang="pt-BR" i="1">
                        <a:latin typeface="Cambria Math"/>
                      </a:rPr>
                      <m:t>=(</m:t>
                    </m:r>
                    <m:r>
                      <a:rPr lang="pt-BR" i="1">
                        <a:latin typeface="Cambria Math"/>
                      </a:rPr>
                      <m:t>𝑉</m:t>
                    </m:r>
                    <m:r>
                      <a:rPr lang="pt-BR" i="1">
                        <a:latin typeface="Cambria Math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, onde V é um conjunto finito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/>
                  <a:t> é uma relação binária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Também chamados de:</a:t>
                </a:r>
              </a:p>
              <a:p>
                <a:pPr lvl="1"/>
                <a:r>
                  <a:rPr lang="pt-BR" dirty="0"/>
                  <a:t>Grafo orientado.</a:t>
                </a:r>
              </a:p>
              <a:p>
                <a:pPr lvl="1"/>
                <a:r>
                  <a:rPr lang="pt-BR" dirty="0"/>
                  <a:t>Dígrafo.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Espaço Reservado para Conteúdo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3356992"/>
            <a:ext cx="1704975" cy="2390775"/>
          </a:xfrm>
          <a:prstGeom prst="rect">
            <a:avLst/>
          </a:prstGeom>
        </p:spPr>
      </p:pic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662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762872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2800" dirty="0"/>
                  <a:t>Grafo não direcionado: Par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>
                        <a:latin typeface="Cambria Math"/>
                      </a:rPr>
                      <m:t>G</m:t>
                    </m:r>
                    <m:r>
                      <a:rPr lang="pt-BR" sz="2800" i="1">
                        <a:latin typeface="Cambria Math"/>
                      </a:rPr>
                      <m:t>=(</m:t>
                    </m:r>
                    <m:r>
                      <a:rPr lang="pt-BR" sz="2800" i="1">
                        <a:latin typeface="Cambria Math"/>
                      </a:rPr>
                      <m:t>𝑉</m:t>
                    </m:r>
                    <m:r>
                      <a:rPr lang="pt-BR" sz="2800" i="1">
                        <a:latin typeface="Cambria Math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>
                        <a:latin typeface="Cambria Math"/>
                      </a:rPr>
                      <m:t>)</m:t>
                    </m:r>
                  </m:oMath>
                </a14:m>
                <a:r>
                  <a:rPr lang="pt-BR" sz="2800" dirty="0"/>
                  <a:t>, onde o conjunto de arestas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800" dirty="0"/>
                  <a:t> consiste em pares de vértices não orientados. As arestas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pt-BR" sz="2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pt-BR" sz="2800" i="1">
                        <a:latin typeface="Cambria Math"/>
                      </a:rPr>
                      <m:t>,</m:t>
                    </m:r>
                  </m:oMath>
                </a14:m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800" i="1">
                        <a:latin typeface="Cambria Math"/>
                      </a:rPr>
                      <m:t>)</m:t>
                    </m:r>
                  </m:oMath>
                </a14:m>
                <a:r>
                  <a:rPr lang="pt-BR" sz="2800" dirty="0"/>
                  <a:t> são as mesmas arestas.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762872" cy="4525963"/>
              </a:xfrm>
              <a:blipFill rotWithShape="0">
                <a:blip r:embed="rId2"/>
                <a:stretch>
                  <a:fillRect l="-2305" t="-1348" r="-17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Espaço Reservado para Conteúdo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513175"/>
            <a:ext cx="1704975" cy="2390775"/>
          </a:xfrm>
          <a:prstGeom prst="rect">
            <a:avLst/>
          </a:prstGeom>
        </p:spPr>
      </p:pic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3561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Loop (laço): uma aresta associada ao par de vértices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Arestas paralelas: quando mais de uma aresta está associada ao mesmo par de vértices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1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Espaço Reservado para Conteúdo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011041"/>
            <a:ext cx="1019175" cy="561975"/>
          </a:xfrm>
          <a:prstGeom prst="rect">
            <a:avLst/>
          </a:prstGeom>
        </p:spPr>
      </p:pic>
      <p:pic>
        <p:nvPicPr>
          <p:cNvPr id="5" name="Espaço Reservado para Conteúdo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243" y="5013176"/>
            <a:ext cx="790575" cy="147637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0645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944" cy="4525963"/>
          </a:xfrm>
        </p:spPr>
        <p:txBody>
          <a:bodyPr>
            <a:normAutofit fontScale="92500"/>
          </a:bodyPr>
          <a:lstStyle/>
          <a:p>
            <a:r>
              <a:rPr lang="pt-BR" sz="2800" dirty="0"/>
              <a:t>Grafo simples: um grafo que não possui loops e nem arestas paralelas.</a:t>
            </a:r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Vértices adjacentes: Dois vértices são ditos adjacentes se eles são pontos finais de uma mesma aresta. O vértice “0” é adjacente ao “1” que, por sua vez, é adjacente ao “3”.</a:t>
            </a:r>
          </a:p>
        </p:txBody>
      </p:sp>
      <p:pic>
        <p:nvPicPr>
          <p:cNvPr id="4" name="Espaço Reservado para Conteú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1556792"/>
            <a:ext cx="1704975" cy="2390775"/>
          </a:xfrm>
          <a:prstGeom prst="rect">
            <a:avLst/>
          </a:prstGeom>
        </p:spPr>
      </p:pic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347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258816" cy="452596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pt-BR" dirty="0"/>
                  <a:t>Grau de um vértice: </a:t>
                </a:r>
              </a:p>
              <a:p>
                <a:pPr lvl="1"/>
                <a:r>
                  <a:rPr lang="pt-BR" dirty="0"/>
                  <a:t>Grafo não direcionado:</a:t>
                </a:r>
              </a:p>
              <a:p>
                <a:pPr lvl="2"/>
                <a:r>
                  <a:rPr lang="pt-BR" dirty="0"/>
                  <a:t>grau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d</m:t>
                    </m:r>
                    <m:r>
                      <a:rPr lang="pt-BR" i="1">
                        <a:latin typeface="Cambria Math"/>
                      </a:rPr>
                      <m:t>(</m:t>
                    </m:r>
                    <m:r>
                      <a:rPr lang="pt-BR" b="0" i="1" smtClean="0">
                        <a:latin typeface="Cambria Math"/>
                      </a:rPr>
                      <m:t>𝑣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- número de arestas que incidem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Grafo direcionado:</a:t>
                </a:r>
              </a:p>
              <a:p>
                <a:pPr lvl="2"/>
                <a:r>
                  <a:rPr lang="pt-BR" dirty="0"/>
                  <a:t>grau de entrada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>
                        <a:latin typeface="Cambria Math"/>
                      </a:rPr>
                      <m:t>d</m:t>
                    </m:r>
                    <m:r>
                      <a:rPr lang="pt-BR" i="1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𝑣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- número de arestas que incidem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/>
                <a:r>
                  <a:rPr lang="pt-BR" dirty="0"/>
                  <a:t>grau de saída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>
                        <a:latin typeface="Cambria Math"/>
                      </a:rPr>
                      <m:t>d</m:t>
                    </m:r>
                    <m:r>
                      <a:rPr lang="pt-BR" i="1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𝑣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- número de arestas que saem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Um laço conta 2 vezes para o grau de um vértice.</a:t>
                </a:r>
              </a:p>
              <a:p>
                <a:pPr lvl="1"/>
                <a:r>
                  <a:rPr lang="pt-BR" dirty="0"/>
                  <a:t>Em grafo não direcionado, loops não são permitidos.</a:t>
                </a:r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258816" cy="4525963"/>
              </a:xfrm>
              <a:blipFill rotWithShape="1">
                <a:blip r:embed="rId2"/>
                <a:stretch>
                  <a:fillRect l="-2003" t="-2426" r="-2003" b="-1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5132348" y="2803549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 = 3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5094236" y="4252903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 = 3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117127" y="4252903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 = 4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092280" y="278092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 = 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957997" y="3529335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 = 2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5365709" y="3187616"/>
            <a:ext cx="2515240" cy="1050280"/>
            <a:chOff x="5039313" y="4926707"/>
            <a:chExt cx="3814602" cy="1524642"/>
          </a:xfrm>
        </p:grpSpPr>
        <p:cxnSp>
          <p:nvCxnSpPr>
            <p:cNvPr id="10" name="Conector reto 9"/>
            <p:cNvCxnSpPr/>
            <p:nvPr/>
          </p:nvCxnSpPr>
          <p:spPr>
            <a:xfrm>
              <a:off x="5087565" y="4970539"/>
              <a:ext cx="2520280" cy="144016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/>
            <p:nvPr/>
          </p:nvCxnSpPr>
          <p:spPr>
            <a:xfrm>
              <a:off x="5087565" y="4970539"/>
              <a:ext cx="0" cy="144016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>
            <a:xfrm flipH="1">
              <a:off x="5087565" y="6410699"/>
              <a:ext cx="2520280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5087565" y="4970539"/>
              <a:ext cx="2505980" cy="144016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>
              <a:off x="5087565" y="4970539"/>
              <a:ext cx="2505980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>
            <a:xfrm>
              <a:off x="7607845" y="4970539"/>
              <a:ext cx="1197819" cy="679647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 flipH="1">
              <a:off x="7607846" y="5650186"/>
              <a:ext cx="1197818" cy="760513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>
              <a:off x="7593545" y="4970539"/>
              <a:ext cx="0" cy="1440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ipse 17"/>
            <p:cNvSpPr/>
            <p:nvPr/>
          </p:nvSpPr>
          <p:spPr>
            <a:xfrm>
              <a:off x="5039313" y="4929889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Elipse 18"/>
            <p:cNvSpPr/>
            <p:nvPr/>
          </p:nvSpPr>
          <p:spPr>
            <a:xfrm>
              <a:off x="8757412" y="5609536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ipse 19"/>
            <p:cNvSpPr/>
            <p:nvPr/>
          </p:nvSpPr>
          <p:spPr>
            <a:xfrm>
              <a:off x="7536727" y="6347421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Elipse 20"/>
            <p:cNvSpPr/>
            <p:nvPr/>
          </p:nvSpPr>
          <p:spPr>
            <a:xfrm>
              <a:off x="7520446" y="4926707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/>
            <p:cNvSpPr/>
            <p:nvPr/>
          </p:nvSpPr>
          <p:spPr>
            <a:xfrm>
              <a:off x="5039313" y="6370049"/>
              <a:ext cx="96503" cy="813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3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686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525963"/>
          </a:xfrm>
        </p:spPr>
        <p:txBody>
          <a:bodyPr>
            <a:normAutofit/>
          </a:bodyPr>
          <a:lstStyle/>
          <a:p>
            <a:r>
              <a:rPr lang="pt-BR" sz="2800" dirty="0"/>
              <a:t>Duas arestas </a:t>
            </a:r>
            <a:r>
              <a:rPr lang="pt-BR" sz="2800" b="1" dirty="0"/>
              <a:t>não</a:t>
            </a:r>
            <a:r>
              <a:rPr lang="pt-BR" sz="2800" dirty="0"/>
              <a:t> paralelas são adjacentes se elas são incidentes a um vértice comum: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Um grafo no qual todos os vértices possuem o mesmo grau é chamado de </a:t>
            </a:r>
            <a:r>
              <a:rPr lang="pt-BR" sz="2800" b="1" dirty="0"/>
              <a:t>grafo regular</a:t>
            </a:r>
            <a:r>
              <a:rPr lang="pt-BR" sz="2800" dirty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601" y="2771869"/>
            <a:ext cx="155257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771868"/>
            <a:ext cx="154305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345" y="5085184"/>
            <a:ext cx="155257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786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5338936" cy="4525963"/>
          </a:xfrm>
        </p:spPr>
        <p:txBody>
          <a:bodyPr>
            <a:noAutofit/>
          </a:bodyPr>
          <a:lstStyle/>
          <a:p>
            <a:r>
              <a:rPr lang="pt-BR" sz="2400" dirty="0"/>
              <a:t>Um vértice com nenhuma aresta incidente é chamado de </a:t>
            </a:r>
            <a:r>
              <a:rPr lang="pt-BR" sz="2400" b="1" dirty="0"/>
              <a:t>vértice isolado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r>
              <a:rPr lang="pt-BR" sz="2400" dirty="0"/>
              <a:t>Um vértice com grau 1 é chamado de </a:t>
            </a:r>
            <a:r>
              <a:rPr lang="pt-BR" sz="2400" b="1" dirty="0"/>
              <a:t>vértice pendente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r>
              <a:rPr lang="pt-BR" sz="2400" dirty="0"/>
              <a:t>Um grafo sem nenhuma aresta é chamado de grafo nulo. Todos os vértices em um grafo nulo são vértices isolados</a:t>
            </a:r>
          </a:p>
        </p:txBody>
      </p:sp>
      <p:pic>
        <p:nvPicPr>
          <p:cNvPr id="4" name="Espaço Reservado para Conteúdo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405" y="1196752"/>
            <a:ext cx="1654027" cy="1930980"/>
          </a:xfrm>
          <a:prstGeom prst="rect">
            <a:avLst/>
          </a:prstGeom>
        </p:spPr>
      </p:pic>
      <p:pic>
        <p:nvPicPr>
          <p:cNvPr id="5" name="Espaço Reservado para Conteúdo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536" y="2708919"/>
            <a:ext cx="1235801" cy="2022847"/>
          </a:xfrm>
          <a:prstGeom prst="rect">
            <a:avLst/>
          </a:prstGeom>
        </p:spPr>
      </p:pic>
      <p:pic>
        <p:nvPicPr>
          <p:cNvPr id="6" name="Espaço Reservado para Conteúdo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5534211"/>
            <a:ext cx="2730921" cy="434297"/>
          </a:xfrm>
          <a:prstGeom prst="rect">
            <a:avLst/>
          </a:prstGeom>
        </p:spPr>
      </p:pic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626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266928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Grafo rotulado: Um grafo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G</m:t>
                    </m:r>
                    <m:r>
                      <a:rPr lang="pt-BR" sz="2400" i="1">
                        <a:latin typeface="Cambria Math"/>
                      </a:rPr>
                      <m:t>=(</m:t>
                    </m:r>
                    <m:r>
                      <a:rPr lang="pt-BR" sz="2400" i="1">
                        <a:latin typeface="Cambria Math"/>
                      </a:rPr>
                      <m:t>𝑉</m:t>
                    </m:r>
                    <m:r>
                      <a:rPr lang="pt-BR" sz="2400" i="1">
                        <a:latin typeface="Cambria Math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, é dito ser rotulado em vértices (ou arestas) quando a cada vértice (ou aresta) estiver associado um rótulo</a:t>
                </a:r>
              </a:p>
              <a:p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Grafo Valorado: Um grafo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G</m:t>
                    </m:r>
                    <m:r>
                      <a:rPr lang="pt-BR" sz="2400" i="1">
                        <a:latin typeface="Cambria Math"/>
                      </a:rPr>
                      <m:t>=(</m:t>
                    </m:r>
                    <m:r>
                      <a:rPr lang="pt-BR" sz="2400" i="1">
                        <a:latin typeface="Cambria Math"/>
                      </a:rPr>
                      <m:t>𝑉</m:t>
                    </m:r>
                    <m:r>
                      <a:rPr lang="pt-BR" sz="2400" i="1">
                        <a:latin typeface="Cambria Math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, é dito ser valorado quando existe uma ou mais funções relacionando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𝑉</m:t>
                    </m:r>
                  </m:oMath>
                </a14:m>
                <a:r>
                  <a:rPr lang="pt-BR" sz="2400" dirty="0"/>
                  <a:t> e/ou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400" dirty="0"/>
                  <a:t> com um conjunto de números.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266928" cy="4525963"/>
              </a:xfrm>
              <a:blipFill rotWithShape="0">
                <a:blip r:embed="rId2"/>
                <a:stretch>
                  <a:fillRect l="-1505" t="-1078" r="-25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Espaço Reservado para Conteúdo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3" y="1700809"/>
            <a:ext cx="1368152" cy="1876536"/>
          </a:xfrm>
          <a:prstGeom prst="rect">
            <a:avLst/>
          </a:prstGeom>
        </p:spPr>
      </p:pic>
      <p:pic>
        <p:nvPicPr>
          <p:cNvPr id="6" name="Espaço Reservado para Conteúdo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3" y="4221088"/>
            <a:ext cx="1421406" cy="2180482"/>
          </a:xfrm>
          <a:prstGeom prst="rect">
            <a:avLst/>
          </a:prstGeom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447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pt-BR" sz="2400" dirty="0"/>
                  <a:t>Grafo completo: Um grafo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G</m:t>
                    </m:r>
                    <m:r>
                      <a:rPr lang="pt-BR" sz="2400" i="1">
                        <a:latin typeface="Cambria Math"/>
                      </a:rPr>
                      <m:t>=(</m:t>
                    </m:r>
                    <m:r>
                      <a:rPr lang="pt-BR" sz="2400" i="1">
                        <a:latin typeface="Cambria Math"/>
                      </a:rPr>
                      <m:t>𝑉</m:t>
                    </m:r>
                    <m:r>
                      <a:rPr lang="pt-BR" sz="2400" i="1">
                        <a:latin typeface="Cambria Math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 é completo se para cada par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 existe uma aresta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 Em um grafo completo quaisquer dois vértices distintos são adjacentes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).</a:t>
                </a:r>
              </a:p>
              <a:p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Arestas no grafo completo: 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um grafo completo com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sz="2400" dirty="0"/>
                  <a:t> vértices. O número de arestas é:</a:t>
                </a:r>
              </a:p>
              <a:p>
                <a:endParaRPr lang="pt-BR" sz="24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pt-BR" sz="2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/>
                            </a:rPr>
                            <m:t>−1)×</m:t>
                          </m:r>
                          <m:r>
                            <a:rPr lang="pt-BR" sz="24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5" t="-9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Espaço Reservado para Conteúdo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999" y="2852936"/>
            <a:ext cx="655505" cy="1224136"/>
          </a:xfrm>
          <a:prstGeom prst="rect">
            <a:avLst/>
          </a:prstGeom>
        </p:spPr>
      </p:pic>
      <p:pic>
        <p:nvPicPr>
          <p:cNvPr id="5" name="Espaço Reservado para Conteúdo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639486"/>
            <a:ext cx="782762" cy="1651035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756374"/>
            <a:ext cx="18192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101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Espaço Reservado para Conteúdo 3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000" dirty="0"/>
                  <a:t>Grafo conexo: Existe pelo menos um caminho entre todos os pares de vértices</a:t>
                </a:r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r>
                  <a:rPr lang="pt-BR" sz="2000" dirty="0"/>
                  <a:t>Grafo Bipartido: Um grafo é dito ser bipartido quando seu conjunto de vértices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000" dirty="0"/>
                  <a:t> puder ser particionado em dois subconjuntos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, tais que toda aresta de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𝐺</m:t>
                    </m:r>
                    <m:r>
                      <a:rPr lang="pt-BR" sz="20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une um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a outro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.</a:t>
                </a:r>
              </a:p>
            </p:txBody>
          </p:sp>
        </mc:Choice>
        <mc:Fallback xmlns="">
          <p:sp>
            <p:nvSpPr>
              <p:cNvPr id="33" name="Espaço Reservado para Conteúdo 3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Espaço Reservado para Conteúdo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1" y="2060848"/>
            <a:ext cx="1191452" cy="1670695"/>
          </a:xfrm>
          <a:prstGeom prst="rect">
            <a:avLst/>
          </a:prstGeom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217891"/>
            <a:ext cx="18192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Elipse 70"/>
          <p:cNvSpPr/>
          <p:nvPr/>
        </p:nvSpPr>
        <p:spPr>
          <a:xfrm>
            <a:off x="1331640" y="494116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72" name="CaixaDeTexto 71"/>
          <p:cNvSpPr txBox="1"/>
          <p:nvPr/>
        </p:nvSpPr>
        <p:spPr>
          <a:xfrm>
            <a:off x="1460562" y="49616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75" name="Elipse 74"/>
          <p:cNvSpPr/>
          <p:nvPr/>
        </p:nvSpPr>
        <p:spPr>
          <a:xfrm>
            <a:off x="1331640" y="6115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1460562" y="61355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77" name="Elipse 76"/>
          <p:cNvSpPr/>
          <p:nvPr/>
        </p:nvSpPr>
        <p:spPr>
          <a:xfrm>
            <a:off x="2660467" y="494116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78" name="CaixaDeTexto 77"/>
          <p:cNvSpPr txBox="1"/>
          <p:nvPr/>
        </p:nvSpPr>
        <p:spPr>
          <a:xfrm>
            <a:off x="2789389" y="49616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9" name="Elipse 78"/>
          <p:cNvSpPr/>
          <p:nvPr/>
        </p:nvSpPr>
        <p:spPr>
          <a:xfrm>
            <a:off x="2660467" y="553893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80" name="CaixaDeTexto 79"/>
          <p:cNvSpPr txBox="1"/>
          <p:nvPr/>
        </p:nvSpPr>
        <p:spPr>
          <a:xfrm>
            <a:off x="2789389" y="5559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81" name="Elipse 80"/>
          <p:cNvSpPr/>
          <p:nvPr/>
        </p:nvSpPr>
        <p:spPr>
          <a:xfrm>
            <a:off x="2660467" y="6115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82" name="CaixaDeTexto 81"/>
          <p:cNvSpPr txBox="1"/>
          <p:nvPr/>
        </p:nvSpPr>
        <p:spPr>
          <a:xfrm>
            <a:off x="2789389" y="61355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83" name="Conector reto 82"/>
          <p:cNvCxnSpPr>
            <a:stCxn id="71" idx="6"/>
            <a:endCxn id="77" idx="2"/>
          </p:cNvCxnSpPr>
          <p:nvPr/>
        </p:nvCxnSpPr>
        <p:spPr>
          <a:xfrm>
            <a:off x="1875021" y="5146340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71" idx="6"/>
            <a:endCxn id="79" idx="2"/>
          </p:cNvCxnSpPr>
          <p:nvPr/>
        </p:nvCxnSpPr>
        <p:spPr>
          <a:xfrm>
            <a:off x="1875021" y="5146340"/>
            <a:ext cx="785446" cy="597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71" idx="6"/>
            <a:endCxn id="81" idx="2"/>
          </p:cNvCxnSpPr>
          <p:nvPr/>
        </p:nvCxnSpPr>
        <p:spPr>
          <a:xfrm>
            <a:off x="1875021" y="5146340"/>
            <a:ext cx="785446" cy="1173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75" idx="6"/>
            <a:endCxn id="79" idx="2"/>
          </p:cNvCxnSpPr>
          <p:nvPr/>
        </p:nvCxnSpPr>
        <p:spPr>
          <a:xfrm flipV="1">
            <a:off x="1875021" y="5744108"/>
            <a:ext cx="785446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/>
          <p:cNvCxnSpPr>
            <a:stCxn id="75" idx="6"/>
            <a:endCxn id="81" idx="2"/>
          </p:cNvCxnSpPr>
          <p:nvPr/>
        </p:nvCxnSpPr>
        <p:spPr>
          <a:xfrm>
            <a:off x="1875021" y="6320172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ipse 91"/>
          <p:cNvSpPr/>
          <p:nvPr/>
        </p:nvSpPr>
        <p:spPr>
          <a:xfrm>
            <a:off x="5828819" y="553893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93" name="CaixaDeTexto 92"/>
          <p:cNvSpPr txBox="1"/>
          <p:nvPr/>
        </p:nvSpPr>
        <p:spPr>
          <a:xfrm>
            <a:off x="5957741" y="5559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94" name="Elipse 93"/>
          <p:cNvSpPr/>
          <p:nvPr/>
        </p:nvSpPr>
        <p:spPr>
          <a:xfrm>
            <a:off x="6404883" y="6115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95" name="CaixaDeTexto 94"/>
          <p:cNvSpPr txBox="1"/>
          <p:nvPr/>
        </p:nvSpPr>
        <p:spPr>
          <a:xfrm>
            <a:off x="6533805" y="61355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96" name="Elipse 95"/>
          <p:cNvSpPr/>
          <p:nvPr/>
        </p:nvSpPr>
        <p:spPr>
          <a:xfrm>
            <a:off x="6421417" y="496167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97" name="CaixaDeTexto 96"/>
          <p:cNvSpPr txBox="1"/>
          <p:nvPr/>
        </p:nvSpPr>
        <p:spPr>
          <a:xfrm>
            <a:off x="6550339" y="4982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98" name="Elipse 97"/>
          <p:cNvSpPr/>
          <p:nvPr/>
        </p:nvSpPr>
        <p:spPr>
          <a:xfrm>
            <a:off x="7900948" y="555944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99" name="CaixaDeTexto 98"/>
          <p:cNvSpPr txBox="1"/>
          <p:nvPr/>
        </p:nvSpPr>
        <p:spPr>
          <a:xfrm>
            <a:off x="8029870" y="55799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00" name="Elipse 99"/>
          <p:cNvSpPr/>
          <p:nvPr/>
        </p:nvSpPr>
        <p:spPr>
          <a:xfrm>
            <a:off x="7340987" y="6115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7469909" y="61355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07" name="Elipse 106"/>
          <p:cNvSpPr/>
          <p:nvPr/>
        </p:nvSpPr>
        <p:spPr>
          <a:xfrm>
            <a:off x="7308304" y="496287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7437226" y="49833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cxnSp>
        <p:nvCxnSpPr>
          <p:cNvPr id="114" name="Conector reto 113"/>
          <p:cNvCxnSpPr>
            <a:stCxn id="96" idx="6"/>
            <a:endCxn id="107" idx="2"/>
          </p:cNvCxnSpPr>
          <p:nvPr/>
        </p:nvCxnSpPr>
        <p:spPr>
          <a:xfrm>
            <a:off x="6964798" y="5166846"/>
            <a:ext cx="343506" cy="11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/>
          <p:cNvCxnSpPr>
            <a:stCxn id="94" idx="6"/>
            <a:endCxn id="100" idx="2"/>
          </p:cNvCxnSpPr>
          <p:nvPr/>
        </p:nvCxnSpPr>
        <p:spPr>
          <a:xfrm>
            <a:off x="6948264" y="6320172"/>
            <a:ext cx="3927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/>
          <p:cNvCxnSpPr>
            <a:stCxn id="92" idx="7"/>
            <a:endCxn id="96" idx="3"/>
          </p:cNvCxnSpPr>
          <p:nvPr/>
        </p:nvCxnSpPr>
        <p:spPr>
          <a:xfrm flipV="1">
            <a:off x="6292624" y="5311925"/>
            <a:ext cx="208369" cy="287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/>
          <p:cNvCxnSpPr>
            <a:stCxn id="92" idx="5"/>
            <a:endCxn id="94" idx="1"/>
          </p:cNvCxnSpPr>
          <p:nvPr/>
        </p:nvCxnSpPr>
        <p:spPr>
          <a:xfrm>
            <a:off x="6292624" y="5889187"/>
            <a:ext cx="191835" cy="285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/>
          <p:cNvCxnSpPr>
            <a:stCxn id="100" idx="7"/>
            <a:endCxn id="98" idx="3"/>
          </p:cNvCxnSpPr>
          <p:nvPr/>
        </p:nvCxnSpPr>
        <p:spPr>
          <a:xfrm flipV="1">
            <a:off x="7804792" y="5909693"/>
            <a:ext cx="175732" cy="265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/>
          <p:cNvCxnSpPr>
            <a:stCxn id="98" idx="1"/>
            <a:endCxn id="107" idx="5"/>
          </p:cNvCxnSpPr>
          <p:nvPr/>
        </p:nvCxnSpPr>
        <p:spPr>
          <a:xfrm flipH="1" flipV="1">
            <a:off x="7772109" y="5313123"/>
            <a:ext cx="208415" cy="3064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532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Espaço Reservado para Conteúdo 3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000" dirty="0"/>
                  <a:t>Grafo conexo: Existe pelo menos um caminho entre todos os pares de vértices</a:t>
                </a:r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r>
                  <a:rPr lang="pt-BR" sz="2000" dirty="0"/>
                  <a:t>Grafo Bipartido: Um grafo é dito ser bipartido quando seu conjunto de vértices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000" dirty="0"/>
                  <a:t> puder ser particionado em dois subconjuntos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, tais que toda aresta de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𝐺</m:t>
                    </m:r>
                    <m:r>
                      <a:rPr lang="pt-BR" sz="20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une um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a outro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.</a:t>
                </a:r>
              </a:p>
            </p:txBody>
          </p:sp>
        </mc:Choice>
        <mc:Fallback xmlns="">
          <p:sp>
            <p:nvSpPr>
              <p:cNvPr id="33" name="Espaço Reservado para Conteúdo 3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Espaço Reservado para Conteúdo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1" y="2060848"/>
            <a:ext cx="1191452" cy="1670695"/>
          </a:xfrm>
          <a:prstGeom prst="rect">
            <a:avLst/>
          </a:prstGeom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217891"/>
            <a:ext cx="18192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Elipse 70"/>
          <p:cNvSpPr/>
          <p:nvPr/>
        </p:nvSpPr>
        <p:spPr>
          <a:xfrm>
            <a:off x="1331640" y="494116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0</a:t>
            </a:r>
          </a:p>
        </p:txBody>
      </p:sp>
      <p:sp>
        <p:nvSpPr>
          <p:cNvPr id="75" name="Elipse 74"/>
          <p:cNvSpPr/>
          <p:nvPr/>
        </p:nvSpPr>
        <p:spPr>
          <a:xfrm>
            <a:off x="1331640" y="6115000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77" name="Elipse 76"/>
          <p:cNvSpPr/>
          <p:nvPr/>
        </p:nvSpPr>
        <p:spPr>
          <a:xfrm>
            <a:off x="2660467" y="4941168"/>
            <a:ext cx="543381" cy="41034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79" name="Elipse 78"/>
          <p:cNvSpPr/>
          <p:nvPr/>
        </p:nvSpPr>
        <p:spPr>
          <a:xfrm>
            <a:off x="2660467" y="5538936"/>
            <a:ext cx="543381" cy="41034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81" name="Elipse 80"/>
          <p:cNvSpPr/>
          <p:nvPr/>
        </p:nvSpPr>
        <p:spPr>
          <a:xfrm>
            <a:off x="2660467" y="6115000"/>
            <a:ext cx="543381" cy="41034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cxnSp>
        <p:nvCxnSpPr>
          <p:cNvPr id="83" name="Conector reto 82"/>
          <p:cNvCxnSpPr>
            <a:stCxn id="71" idx="6"/>
            <a:endCxn id="77" idx="2"/>
          </p:cNvCxnSpPr>
          <p:nvPr/>
        </p:nvCxnSpPr>
        <p:spPr>
          <a:xfrm>
            <a:off x="1875021" y="5146340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71" idx="6"/>
            <a:endCxn id="79" idx="2"/>
          </p:cNvCxnSpPr>
          <p:nvPr/>
        </p:nvCxnSpPr>
        <p:spPr>
          <a:xfrm>
            <a:off x="1875021" y="5146340"/>
            <a:ext cx="785446" cy="597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71" idx="6"/>
            <a:endCxn id="81" idx="2"/>
          </p:cNvCxnSpPr>
          <p:nvPr/>
        </p:nvCxnSpPr>
        <p:spPr>
          <a:xfrm>
            <a:off x="1875021" y="5146340"/>
            <a:ext cx="785446" cy="1173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75" idx="6"/>
            <a:endCxn id="79" idx="2"/>
          </p:cNvCxnSpPr>
          <p:nvPr/>
        </p:nvCxnSpPr>
        <p:spPr>
          <a:xfrm flipV="1">
            <a:off x="1875021" y="5744108"/>
            <a:ext cx="785446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/>
          <p:cNvCxnSpPr>
            <a:stCxn id="75" idx="6"/>
            <a:endCxn id="81" idx="2"/>
          </p:cNvCxnSpPr>
          <p:nvPr/>
        </p:nvCxnSpPr>
        <p:spPr>
          <a:xfrm>
            <a:off x="1875021" y="6320172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ipse 91"/>
          <p:cNvSpPr/>
          <p:nvPr/>
        </p:nvSpPr>
        <p:spPr>
          <a:xfrm>
            <a:off x="5828819" y="553893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93" name="CaixaDeTexto 92"/>
          <p:cNvSpPr txBox="1"/>
          <p:nvPr/>
        </p:nvSpPr>
        <p:spPr>
          <a:xfrm>
            <a:off x="5957741" y="5559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94" name="Elipse 93"/>
          <p:cNvSpPr/>
          <p:nvPr/>
        </p:nvSpPr>
        <p:spPr>
          <a:xfrm>
            <a:off x="6404883" y="6115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95" name="CaixaDeTexto 94"/>
          <p:cNvSpPr txBox="1"/>
          <p:nvPr/>
        </p:nvSpPr>
        <p:spPr>
          <a:xfrm>
            <a:off x="6533805" y="61355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96" name="Elipse 95"/>
          <p:cNvSpPr/>
          <p:nvPr/>
        </p:nvSpPr>
        <p:spPr>
          <a:xfrm>
            <a:off x="6421417" y="496167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97" name="CaixaDeTexto 96"/>
          <p:cNvSpPr txBox="1"/>
          <p:nvPr/>
        </p:nvSpPr>
        <p:spPr>
          <a:xfrm>
            <a:off x="6550339" y="4982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98" name="Elipse 97"/>
          <p:cNvSpPr/>
          <p:nvPr/>
        </p:nvSpPr>
        <p:spPr>
          <a:xfrm>
            <a:off x="7900948" y="555944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99" name="CaixaDeTexto 98"/>
          <p:cNvSpPr txBox="1"/>
          <p:nvPr/>
        </p:nvSpPr>
        <p:spPr>
          <a:xfrm>
            <a:off x="8029870" y="55799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00" name="Elipse 99"/>
          <p:cNvSpPr/>
          <p:nvPr/>
        </p:nvSpPr>
        <p:spPr>
          <a:xfrm>
            <a:off x="7340987" y="6115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7469909" y="61355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07" name="Elipse 106"/>
          <p:cNvSpPr/>
          <p:nvPr/>
        </p:nvSpPr>
        <p:spPr>
          <a:xfrm>
            <a:off x="7308304" y="496287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7437226" y="49833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cxnSp>
        <p:nvCxnSpPr>
          <p:cNvPr id="114" name="Conector reto 113"/>
          <p:cNvCxnSpPr>
            <a:stCxn id="96" idx="6"/>
            <a:endCxn id="107" idx="2"/>
          </p:cNvCxnSpPr>
          <p:nvPr/>
        </p:nvCxnSpPr>
        <p:spPr>
          <a:xfrm>
            <a:off x="6964798" y="5166846"/>
            <a:ext cx="343506" cy="11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/>
          <p:cNvCxnSpPr>
            <a:stCxn id="94" idx="6"/>
            <a:endCxn id="100" idx="2"/>
          </p:cNvCxnSpPr>
          <p:nvPr/>
        </p:nvCxnSpPr>
        <p:spPr>
          <a:xfrm>
            <a:off x="6948264" y="6320172"/>
            <a:ext cx="3927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/>
          <p:cNvCxnSpPr>
            <a:stCxn id="92" idx="7"/>
            <a:endCxn id="96" idx="3"/>
          </p:cNvCxnSpPr>
          <p:nvPr/>
        </p:nvCxnSpPr>
        <p:spPr>
          <a:xfrm flipV="1">
            <a:off x="6292624" y="5311925"/>
            <a:ext cx="208369" cy="287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/>
          <p:cNvCxnSpPr>
            <a:stCxn id="92" idx="5"/>
            <a:endCxn id="94" idx="1"/>
          </p:cNvCxnSpPr>
          <p:nvPr/>
        </p:nvCxnSpPr>
        <p:spPr>
          <a:xfrm>
            <a:off x="6292624" y="5889187"/>
            <a:ext cx="191835" cy="285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/>
          <p:cNvCxnSpPr>
            <a:stCxn id="100" idx="7"/>
            <a:endCxn id="98" idx="3"/>
          </p:cNvCxnSpPr>
          <p:nvPr/>
        </p:nvCxnSpPr>
        <p:spPr>
          <a:xfrm flipV="1">
            <a:off x="7804792" y="5909693"/>
            <a:ext cx="175732" cy="265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/>
          <p:cNvCxnSpPr>
            <a:stCxn id="98" idx="1"/>
            <a:endCxn id="107" idx="5"/>
          </p:cNvCxnSpPr>
          <p:nvPr/>
        </p:nvCxnSpPr>
        <p:spPr>
          <a:xfrm flipH="1" flipV="1">
            <a:off x="7772109" y="5313123"/>
            <a:ext cx="208415" cy="3064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679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Espaço Reservado para Conteúdo 3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000" dirty="0"/>
                  <a:t>Grafo conexo: Existe pelo menos um caminho entre todos os pares de vértices</a:t>
                </a:r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r>
                  <a:rPr lang="pt-BR" sz="2000" dirty="0"/>
                  <a:t>Grafo Bipartido: Um grafo é dito ser bipartido quando seu conjunto de vértices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000" dirty="0"/>
                  <a:t> puder ser particionado em dois subconjuntos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, tais que toda aresta de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𝐺</m:t>
                    </m:r>
                    <m:r>
                      <a:rPr lang="pt-BR" sz="20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une um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a outro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.</a:t>
                </a:r>
              </a:p>
            </p:txBody>
          </p:sp>
        </mc:Choice>
        <mc:Fallback xmlns="">
          <p:sp>
            <p:nvSpPr>
              <p:cNvPr id="33" name="Espaço Reservado para Conteúdo 3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Espaço Reservado para Conteúdo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1" y="2060848"/>
            <a:ext cx="1191452" cy="1670695"/>
          </a:xfrm>
          <a:prstGeom prst="rect">
            <a:avLst/>
          </a:prstGeom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217891"/>
            <a:ext cx="18192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Elipse 70"/>
          <p:cNvSpPr/>
          <p:nvPr/>
        </p:nvSpPr>
        <p:spPr>
          <a:xfrm>
            <a:off x="1331640" y="494116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0</a:t>
            </a:r>
          </a:p>
        </p:txBody>
      </p:sp>
      <p:sp>
        <p:nvSpPr>
          <p:cNvPr id="75" name="Elipse 74"/>
          <p:cNvSpPr/>
          <p:nvPr/>
        </p:nvSpPr>
        <p:spPr>
          <a:xfrm>
            <a:off x="1331640" y="6115000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77" name="Elipse 76"/>
          <p:cNvSpPr/>
          <p:nvPr/>
        </p:nvSpPr>
        <p:spPr>
          <a:xfrm>
            <a:off x="2660467" y="4941168"/>
            <a:ext cx="543381" cy="41034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79" name="Elipse 78"/>
          <p:cNvSpPr/>
          <p:nvPr/>
        </p:nvSpPr>
        <p:spPr>
          <a:xfrm>
            <a:off x="2660467" y="5538936"/>
            <a:ext cx="543381" cy="41034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81" name="Elipse 80"/>
          <p:cNvSpPr/>
          <p:nvPr/>
        </p:nvSpPr>
        <p:spPr>
          <a:xfrm>
            <a:off x="2660467" y="6115000"/>
            <a:ext cx="543381" cy="41034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cxnSp>
        <p:nvCxnSpPr>
          <p:cNvPr id="83" name="Conector reto 82"/>
          <p:cNvCxnSpPr>
            <a:stCxn id="71" idx="6"/>
            <a:endCxn id="77" idx="2"/>
          </p:cNvCxnSpPr>
          <p:nvPr/>
        </p:nvCxnSpPr>
        <p:spPr>
          <a:xfrm>
            <a:off x="1875021" y="5146340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71" idx="6"/>
            <a:endCxn id="79" idx="2"/>
          </p:cNvCxnSpPr>
          <p:nvPr/>
        </p:nvCxnSpPr>
        <p:spPr>
          <a:xfrm>
            <a:off x="1875021" y="5146340"/>
            <a:ext cx="785446" cy="597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71" idx="6"/>
            <a:endCxn id="81" idx="2"/>
          </p:cNvCxnSpPr>
          <p:nvPr/>
        </p:nvCxnSpPr>
        <p:spPr>
          <a:xfrm>
            <a:off x="1875021" y="5146340"/>
            <a:ext cx="785446" cy="1173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75" idx="6"/>
            <a:endCxn id="79" idx="2"/>
          </p:cNvCxnSpPr>
          <p:nvPr/>
        </p:nvCxnSpPr>
        <p:spPr>
          <a:xfrm flipV="1">
            <a:off x="1875021" y="5744108"/>
            <a:ext cx="785446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/>
          <p:cNvCxnSpPr>
            <a:stCxn id="75" idx="6"/>
            <a:endCxn id="81" idx="2"/>
          </p:cNvCxnSpPr>
          <p:nvPr/>
        </p:nvCxnSpPr>
        <p:spPr>
          <a:xfrm>
            <a:off x="1875021" y="6320172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ipse 91"/>
          <p:cNvSpPr/>
          <p:nvPr/>
        </p:nvSpPr>
        <p:spPr>
          <a:xfrm>
            <a:off x="5828819" y="5538936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0</a:t>
            </a:r>
          </a:p>
        </p:txBody>
      </p:sp>
      <p:sp>
        <p:nvSpPr>
          <p:cNvPr id="94" name="Elipse 93"/>
          <p:cNvSpPr/>
          <p:nvPr/>
        </p:nvSpPr>
        <p:spPr>
          <a:xfrm>
            <a:off x="6404883" y="6115000"/>
            <a:ext cx="543381" cy="41034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96" name="Elipse 95"/>
          <p:cNvSpPr/>
          <p:nvPr/>
        </p:nvSpPr>
        <p:spPr>
          <a:xfrm>
            <a:off x="6421417" y="4961674"/>
            <a:ext cx="543381" cy="41034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98" name="Elipse 97"/>
          <p:cNvSpPr/>
          <p:nvPr/>
        </p:nvSpPr>
        <p:spPr>
          <a:xfrm>
            <a:off x="7900948" y="5559442"/>
            <a:ext cx="543381" cy="41034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100" name="Elipse 99"/>
          <p:cNvSpPr/>
          <p:nvPr/>
        </p:nvSpPr>
        <p:spPr>
          <a:xfrm>
            <a:off x="7340987" y="6115000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7" name="Elipse 106"/>
          <p:cNvSpPr/>
          <p:nvPr/>
        </p:nvSpPr>
        <p:spPr>
          <a:xfrm>
            <a:off x="7308304" y="4962872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cxnSp>
        <p:nvCxnSpPr>
          <p:cNvPr id="114" name="Conector reto 113"/>
          <p:cNvCxnSpPr>
            <a:stCxn id="96" idx="6"/>
            <a:endCxn id="107" idx="2"/>
          </p:cNvCxnSpPr>
          <p:nvPr/>
        </p:nvCxnSpPr>
        <p:spPr>
          <a:xfrm>
            <a:off x="6964798" y="5166846"/>
            <a:ext cx="343506" cy="11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/>
          <p:cNvCxnSpPr>
            <a:stCxn id="94" idx="6"/>
            <a:endCxn id="100" idx="2"/>
          </p:cNvCxnSpPr>
          <p:nvPr/>
        </p:nvCxnSpPr>
        <p:spPr>
          <a:xfrm>
            <a:off x="6948264" y="6320172"/>
            <a:ext cx="3927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/>
          <p:cNvCxnSpPr>
            <a:stCxn id="92" idx="7"/>
            <a:endCxn id="96" idx="3"/>
          </p:cNvCxnSpPr>
          <p:nvPr/>
        </p:nvCxnSpPr>
        <p:spPr>
          <a:xfrm flipV="1">
            <a:off x="6292624" y="5311925"/>
            <a:ext cx="208369" cy="287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/>
          <p:cNvCxnSpPr>
            <a:stCxn id="92" idx="5"/>
            <a:endCxn id="94" idx="1"/>
          </p:cNvCxnSpPr>
          <p:nvPr/>
        </p:nvCxnSpPr>
        <p:spPr>
          <a:xfrm>
            <a:off x="6292624" y="5889187"/>
            <a:ext cx="191835" cy="285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/>
          <p:cNvCxnSpPr>
            <a:stCxn id="100" idx="7"/>
            <a:endCxn id="98" idx="3"/>
          </p:cNvCxnSpPr>
          <p:nvPr/>
        </p:nvCxnSpPr>
        <p:spPr>
          <a:xfrm flipV="1">
            <a:off x="7804792" y="5909693"/>
            <a:ext cx="175732" cy="265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/>
          <p:cNvCxnSpPr>
            <a:stCxn id="98" idx="1"/>
            <a:endCxn id="107" idx="5"/>
          </p:cNvCxnSpPr>
          <p:nvPr/>
        </p:nvCxnSpPr>
        <p:spPr>
          <a:xfrm flipH="1" flipV="1">
            <a:off x="7772109" y="5313123"/>
            <a:ext cx="208415" cy="3064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056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Espaço Reservado para Conteúdo 3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000" dirty="0"/>
                  <a:t>Grafo Bipartido Completo: Um grafo é dito ser bipartido completo quando seu conjunto de vértices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000" dirty="0"/>
                  <a:t> puder ser particionado em dois subconjuntos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, tais que toda aresta de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𝐺</m:t>
                    </m:r>
                    <m:r>
                      <a:rPr lang="pt-BR" sz="20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une um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a outro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0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, e que todo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é adjacente a todo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. </a:t>
                </a:r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r>
                  <a:rPr lang="pt-BR" sz="2000" dirty="0"/>
                  <a:t>Arestas no grafo bipartido completo: 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𝑚</m:t>
                        </m:r>
                        <m:r>
                          <a:rPr lang="pt-BR" sz="2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sz="20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um grafo bipartido completo com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sz="2000" dirty="0"/>
                  <a:t> vértices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pt-BR" sz="2000" dirty="0"/>
                  <a:t> vértices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. O número de arestas é:</a:t>
                </a:r>
              </a:p>
            </p:txBody>
          </p:sp>
        </mc:Choice>
        <mc:Fallback xmlns="">
          <p:sp>
            <p:nvSpPr>
              <p:cNvPr id="33" name="Espaço Reservado para Conteúdo 3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809" r="-519" b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Elipse 52"/>
          <p:cNvSpPr/>
          <p:nvPr/>
        </p:nvSpPr>
        <p:spPr>
          <a:xfrm>
            <a:off x="1691680" y="3068960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0</a:t>
            </a:r>
          </a:p>
        </p:txBody>
      </p:sp>
      <p:sp>
        <p:nvSpPr>
          <p:cNvPr id="55" name="Elipse 54"/>
          <p:cNvSpPr/>
          <p:nvPr/>
        </p:nvSpPr>
        <p:spPr>
          <a:xfrm>
            <a:off x="1691680" y="366672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57" name="Elipse 56"/>
          <p:cNvSpPr/>
          <p:nvPr/>
        </p:nvSpPr>
        <p:spPr>
          <a:xfrm>
            <a:off x="1691680" y="4242792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59" name="Elipse 58"/>
          <p:cNvSpPr/>
          <p:nvPr/>
        </p:nvSpPr>
        <p:spPr>
          <a:xfrm>
            <a:off x="3020507" y="3068960"/>
            <a:ext cx="543381" cy="4103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61" name="Elipse 60"/>
          <p:cNvSpPr/>
          <p:nvPr/>
        </p:nvSpPr>
        <p:spPr>
          <a:xfrm>
            <a:off x="3020507" y="3666728"/>
            <a:ext cx="543381" cy="4103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63" name="Elipse 62"/>
          <p:cNvSpPr/>
          <p:nvPr/>
        </p:nvSpPr>
        <p:spPr>
          <a:xfrm>
            <a:off x="3020507" y="4242792"/>
            <a:ext cx="543381" cy="4103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cxnSp>
        <p:nvCxnSpPr>
          <p:cNvPr id="65" name="Conector reto 64"/>
          <p:cNvCxnSpPr>
            <a:stCxn id="53" idx="6"/>
            <a:endCxn id="59" idx="2"/>
          </p:cNvCxnSpPr>
          <p:nvPr/>
        </p:nvCxnSpPr>
        <p:spPr>
          <a:xfrm>
            <a:off x="2235061" y="3274132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3" idx="6"/>
            <a:endCxn id="61" idx="2"/>
          </p:cNvCxnSpPr>
          <p:nvPr/>
        </p:nvCxnSpPr>
        <p:spPr>
          <a:xfrm>
            <a:off x="2235061" y="3274132"/>
            <a:ext cx="785446" cy="597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53" idx="6"/>
            <a:endCxn id="63" idx="2"/>
          </p:cNvCxnSpPr>
          <p:nvPr/>
        </p:nvCxnSpPr>
        <p:spPr>
          <a:xfrm>
            <a:off x="2235061" y="3274132"/>
            <a:ext cx="785446" cy="1173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55" idx="6"/>
            <a:endCxn id="59" idx="2"/>
          </p:cNvCxnSpPr>
          <p:nvPr/>
        </p:nvCxnSpPr>
        <p:spPr>
          <a:xfrm flipV="1">
            <a:off x="2235061" y="3274132"/>
            <a:ext cx="785446" cy="597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5" idx="6"/>
            <a:endCxn id="61" idx="2"/>
          </p:cNvCxnSpPr>
          <p:nvPr/>
        </p:nvCxnSpPr>
        <p:spPr>
          <a:xfrm>
            <a:off x="2235061" y="3871900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/>
          <p:cNvCxnSpPr>
            <a:stCxn id="55" idx="6"/>
            <a:endCxn id="63" idx="2"/>
          </p:cNvCxnSpPr>
          <p:nvPr/>
        </p:nvCxnSpPr>
        <p:spPr>
          <a:xfrm>
            <a:off x="2235061" y="3871900"/>
            <a:ext cx="785446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/>
          <p:cNvCxnSpPr>
            <a:stCxn id="57" idx="6"/>
            <a:endCxn id="59" idx="2"/>
          </p:cNvCxnSpPr>
          <p:nvPr/>
        </p:nvCxnSpPr>
        <p:spPr>
          <a:xfrm flipV="1">
            <a:off x="2235061" y="3274132"/>
            <a:ext cx="785446" cy="1173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7" idx="6"/>
            <a:endCxn id="61" idx="2"/>
          </p:cNvCxnSpPr>
          <p:nvPr/>
        </p:nvCxnSpPr>
        <p:spPr>
          <a:xfrm flipV="1">
            <a:off x="2235061" y="3871900"/>
            <a:ext cx="785446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>
            <a:stCxn id="57" idx="6"/>
            <a:endCxn id="63" idx="2"/>
          </p:cNvCxnSpPr>
          <p:nvPr/>
        </p:nvCxnSpPr>
        <p:spPr>
          <a:xfrm>
            <a:off x="2235061" y="4447964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Elipse 106"/>
          <p:cNvSpPr/>
          <p:nvPr/>
        </p:nvSpPr>
        <p:spPr>
          <a:xfrm>
            <a:off x="5292080" y="3068960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0</a:t>
            </a:r>
          </a:p>
        </p:txBody>
      </p:sp>
      <p:sp>
        <p:nvSpPr>
          <p:cNvPr id="108" name="Elipse 107"/>
          <p:cNvSpPr/>
          <p:nvPr/>
        </p:nvSpPr>
        <p:spPr>
          <a:xfrm>
            <a:off x="5292080" y="4242792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9" name="Elipse 108"/>
          <p:cNvSpPr/>
          <p:nvPr/>
        </p:nvSpPr>
        <p:spPr>
          <a:xfrm>
            <a:off x="6620907" y="3068960"/>
            <a:ext cx="543381" cy="4103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10" name="Elipse 109"/>
          <p:cNvSpPr/>
          <p:nvPr/>
        </p:nvSpPr>
        <p:spPr>
          <a:xfrm>
            <a:off x="6620907" y="3666728"/>
            <a:ext cx="543381" cy="4103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111" name="Elipse 110"/>
          <p:cNvSpPr/>
          <p:nvPr/>
        </p:nvSpPr>
        <p:spPr>
          <a:xfrm>
            <a:off x="6620907" y="4242792"/>
            <a:ext cx="543381" cy="4103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cxnSp>
        <p:nvCxnSpPr>
          <p:cNvPr id="112" name="Conector reto 111"/>
          <p:cNvCxnSpPr>
            <a:stCxn id="107" idx="6"/>
            <a:endCxn id="109" idx="2"/>
          </p:cNvCxnSpPr>
          <p:nvPr/>
        </p:nvCxnSpPr>
        <p:spPr>
          <a:xfrm>
            <a:off x="5835461" y="3274132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to 112"/>
          <p:cNvCxnSpPr>
            <a:stCxn id="107" idx="6"/>
            <a:endCxn id="110" idx="2"/>
          </p:cNvCxnSpPr>
          <p:nvPr/>
        </p:nvCxnSpPr>
        <p:spPr>
          <a:xfrm>
            <a:off x="5835461" y="3274132"/>
            <a:ext cx="785446" cy="597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/>
          <p:cNvCxnSpPr>
            <a:stCxn id="107" idx="6"/>
            <a:endCxn id="111" idx="2"/>
          </p:cNvCxnSpPr>
          <p:nvPr/>
        </p:nvCxnSpPr>
        <p:spPr>
          <a:xfrm>
            <a:off x="5835461" y="3274132"/>
            <a:ext cx="785446" cy="1173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/>
          <p:cNvCxnSpPr>
            <a:stCxn id="108" idx="6"/>
            <a:endCxn id="110" idx="2"/>
          </p:cNvCxnSpPr>
          <p:nvPr/>
        </p:nvCxnSpPr>
        <p:spPr>
          <a:xfrm flipV="1">
            <a:off x="5835461" y="3871900"/>
            <a:ext cx="785446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/>
          <p:cNvCxnSpPr>
            <a:stCxn id="108" idx="6"/>
            <a:endCxn id="111" idx="2"/>
          </p:cNvCxnSpPr>
          <p:nvPr/>
        </p:nvCxnSpPr>
        <p:spPr>
          <a:xfrm>
            <a:off x="5835461" y="4447964"/>
            <a:ext cx="785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/>
          <p:cNvCxnSpPr>
            <a:stCxn id="108" idx="6"/>
            <a:endCxn id="109" idx="2"/>
          </p:cNvCxnSpPr>
          <p:nvPr/>
        </p:nvCxnSpPr>
        <p:spPr>
          <a:xfrm flipV="1">
            <a:off x="5835461" y="3274132"/>
            <a:ext cx="785446" cy="1173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635896" y="5939988"/>
                <a:ext cx="15776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pt-BR" sz="2000" b="0" i="1" smtClean="0">
                          <a:latin typeface="Cambria Math"/>
                        </a:rPr>
                        <m:t>=</m:t>
                      </m:r>
                      <m:r>
                        <a:rPr lang="pt-BR" sz="2000" b="0" i="1" smtClean="0">
                          <a:latin typeface="Cambria Math"/>
                        </a:rPr>
                        <m:t>𝑛</m:t>
                      </m:r>
                      <m:r>
                        <a:rPr lang="pt-BR" sz="20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pt-BR" sz="2000" b="0" i="1" smtClean="0">
                          <a:latin typeface="Cambria Math"/>
                          <a:ea typeface="Cambria Math"/>
                        </a:rPr>
                        <m:t>𝑚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5939988"/>
                <a:ext cx="1577611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171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Grau par: O número de arestas incidentes a um vértice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é chamado de grau,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d</m:t>
                    </m:r>
                    <m:r>
                      <a:rPr lang="pt-BR" sz="24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, do vértice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pt-BR" sz="2400" dirty="0"/>
                  <a:t>. A </a:t>
                </a:r>
                <a:r>
                  <a:rPr lang="pt-BR" sz="2400" b="1" dirty="0"/>
                  <a:t>soma</a:t>
                </a:r>
                <a:r>
                  <a:rPr lang="pt-BR" sz="2400" dirty="0"/>
                  <a:t> dos graus de todos os vértices de um grafo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𝐺</m:t>
                    </m:r>
                    <m:r>
                      <a:rPr lang="pt-BR" sz="24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é duas vezes o número de arestas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𝐺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Teorema: Vértice de grau ímpar</a:t>
                </a:r>
              </a:p>
              <a:p>
                <a:pPr lvl="1"/>
                <a:r>
                  <a:rPr lang="pt-BR" sz="2000" dirty="0"/>
                  <a:t>O número de vértices de grau ímpar em um grafo é par: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347864" y="3140968"/>
                <a:ext cx="1824794" cy="932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sz="20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pt-BR" sz="2000" b="0" i="1" smtClean="0">
                              <a:latin typeface="Cambria Math"/>
                            </a:rPr>
                            <m:t>𝑑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t-BR" sz="2000" b="0" i="1" smtClean="0">
                          <a:latin typeface="Cambria Math"/>
                        </a:rPr>
                        <m:t>=2</m:t>
                      </m:r>
                      <m:r>
                        <a:rPr lang="pt-BR" sz="2000" b="0" i="1" smtClean="0">
                          <a:latin typeface="Cambria Math"/>
                        </a:rPr>
                        <m:t>𝑒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140968"/>
                <a:ext cx="1824794" cy="93262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209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Tipicamente representamos a complexidade dos algoritmos em termos de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lvl="1"/>
                <a:r>
                  <a:rPr lang="pt-BR" sz="2400" dirty="0"/>
                  <a:t> Se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(|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|≈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o grafo é </a:t>
                </a:r>
                <a:r>
                  <a:rPr lang="pt-BR" sz="2400" dirty="0">
                    <a:solidFill>
                      <a:srgbClr val="FF0000"/>
                    </a:solidFill>
                  </a:rPr>
                  <a:t>denso</a:t>
                </a:r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 Se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(|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|≈|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o grafo é </a:t>
                </a:r>
                <a:r>
                  <a:rPr lang="pt-BR" sz="2400" dirty="0">
                    <a:solidFill>
                      <a:srgbClr val="FF0000"/>
                    </a:solidFill>
                  </a:rPr>
                  <a:t>esparso</a:t>
                </a:r>
                <a:r>
                  <a:rPr lang="pt-BR" sz="24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Se você sabe que está lidando com grafos densos ou esparsos, diferentes estruturas de dados podem ser úteis (nosso próximo assunto).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791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páginas Web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800" dirty="0"/>
                  <a:t>Seja um conjunto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páginas web. A relevância de uma página está associada ao número de páginas que apontam para ela. Modele e projete um algoritmo que defina o grau de relevância de todas as páginas (em percentual).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7155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844824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 </a:t>
            </a:r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78632" y="2763549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Cormen</a:t>
            </a:r>
            <a:r>
              <a:rPr lang="pt-BR" dirty="0"/>
              <a:t> et al., 2002] Algoritmos: Teoria e Prática – Tradução da segunda edição em inglês. 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2002, 936 pp. Editora Campus, ISBN 8535209263.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78632" y="3686879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8632" y="4333210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Sedgewick</a:t>
            </a:r>
            <a:r>
              <a:rPr lang="pt-BR" dirty="0"/>
              <a:t>, 1992] </a:t>
            </a:r>
            <a:r>
              <a:rPr lang="pt-BR" dirty="0" err="1"/>
              <a:t>Algorithms</a:t>
            </a:r>
            <a:r>
              <a:rPr lang="pt-BR" dirty="0"/>
              <a:t> in C++. Robert </a:t>
            </a:r>
            <a:r>
              <a:rPr lang="pt-BR" dirty="0" err="1"/>
              <a:t>Segdewick</a:t>
            </a:r>
            <a:r>
              <a:rPr lang="pt-BR" dirty="0"/>
              <a:t>. c1992, 656 pp. </a:t>
            </a:r>
            <a:r>
              <a:rPr lang="en-US" dirty="0"/>
              <a:t>Boston: Addison Wesley, ISBN 0201510596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677820" y="4979541"/>
            <a:ext cx="7926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Marco </a:t>
            </a:r>
            <a:r>
              <a:rPr lang="pt-BR" dirty="0" err="1"/>
              <a:t>Goldbarg</a:t>
            </a:r>
            <a:r>
              <a:rPr lang="pt-BR" dirty="0"/>
              <a:t>; Elizabeth </a:t>
            </a:r>
            <a:r>
              <a:rPr lang="pt-BR" dirty="0" err="1"/>
              <a:t>Goldbarg</a:t>
            </a:r>
            <a:r>
              <a:rPr lang="pt-BR" dirty="0"/>
              <a:t>. Grafos - conceitos , algoritmos e aplicações .</a:t>
            </a:r>
          </a:p>
          <a:p>
            <a:r>
              <a:rPr lang="pt-BR" dirty="0"/>
              <a:t>Campus. 2012.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5625872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1998" y="6272203"/>
            <a:ext cx="80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1701</Words>
  <Application>Microsoft Office PowerPoint</Application>
  <PresentationFormat>Apresentação na tela (4:3)</PresentationFormat>
  <Paragraphs>297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 Math</vt:lpstr>
      <vt:lpstr>Tema do Office</vt:lpstr>
      <vt:lpstr>Unidade I  Introdução - conceitos fundamentais e aplicações</vt:lpstr>
      <vt:lpstr>O problema das sete pontes de Königsberg</vt:lpstr>
      <vt:lpstr>O problema das sete pontes de Königsberg</vt:lpstr>
      <vt:lpstr>O problema das sete pontes de Königsberg</vt:lpstr>
      <vt:lpstr>O problema das sete pontes de Königsberg</vt:lpstr>
      <vt:lpstr>Motivação</vt:lpstr>
      <vt:lpstr>Porque estudar grafos?</vt:lpstr>
      <vt:lpstr>Aplicações</vt:lpstr>
      <vt:lpstr>Colorir um mapa</vt:lpstr>
      <vt:lpstr>Caminho mínimo</vt:lpstr>
      <vt:lpstr>O que é um grafo?</vt:lpstr>
      <vt:lpstr>O que é um grafo?</vt:lpstr>
      <vt:lpstr>O que é um grafo?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Terminologia</vt:lpstr>
      <vt:lpstr>Problema das páginas Web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68</cp:revision>
  <dcterms:created xsi:type="dcterms:W3CDTF">2011-08-03T02:09:11Z</dcterms:created>
  <dcterms:modified xsi:type="dcterms:W3CDTF">2016-08-01T18:49:56Z</dcterms:modified>
</cp:coreProperties>
</file>