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3" r:id="rId9"/>
    <p:sldId id="274" r:id="rId10"/>
    <p:sldId id="275" r:id="rId11"/>
    <p:sldId id="272" r:id="rId12"/>
    <p:sldId id="276" r:id="rId13"/>
    <p:sldId id="277" r:id="rId14"/>
    <p:sldId id="278" r:id="rId15"/>
    <p:sldId id="279" r:id="rId16"/>
    <p:sldId id="286" r:id="rId17"/>
    <p:sldId id="281" r:id="rId18"/>
    <p:sldId id="283" r:id="rId19"/>
    <p:sldId id="284" r:id="rId20"/>
    <p:sldId id="294" r:id="rId21"/>
    <p:sldId id="280" r:id="rId22"/>
    <p:sldId id="282" r:id="rId23"/>
    <p:sldId id="293" r:id="rId24"/>
    <p:sldId id="289" r:id="rId25"/>
    <p:sldId id="291" r:id="rId26"/>
    <p:sldId id="290" r:id="rId27"/>
    <p:sldId id="292" r:id="rId28"/>
    <p:sldId id="285" r:id="rId29"/>
    <p:sldId id="287" r:id="rId30"/>
    <p:sldId id="288" r:id="rId31"/>
    <p:sldId id="264" r:id="rId3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12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24/08/2016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Unidade II </a:t>
            </a:r>
            <a:br>
              <a:rPr lang="pt-BR" dirty="0"/>
            </a:br>
            <a:r>
              <a:rPr lang="pt-BR" dirty="0"/>
              <a:t>Grafos </a:t>
            </a:r>
            <a:r>
              <a:rPr lang="pt-BR" dirty="0" err="1"/>
              <a:t>Eulerianos</a:t>
            </a:r>
            <a:r>
              <a:rPr lang="pt-BR" dirty="0"/>
              <a:t> e Hamiltonianos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1979712" y="6237312"/>
            <a:ext cx="515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Adaptado do material prof.ª Anna Tostes (PUC Minas)</a:t>
            </a:r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Eulerianos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As Pontes de </a:t>
            </a:r>
            <a:r>
              <a:rPr lang="pt-BR" sz="2400" dirty="0" err="1"/>
              <a:t>Königsberg</a:t>
            </a:r>
            <a:r>
              <a:rPr lang="pt-BR" sz="2400" dirty="0"/>
              <a:t>:</a:t>
            </a:r>
          </a:p>
          <a:p>
            <a:pPr lvl="1"/>
            <a:r>
              <a:rPr lang="pt-BR" sz="2000" dirty="0"/>
              <a:t>É possível começar em algum ponto (A, B, C ou D) andar por todas as pontes exatamente 1 vez e retornar ao ponto inicial?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708920"/>
            <a:ext cx="574357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737745"/>
            <a:ext cx="209550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4283968" y="5301208"/>
            <a:ext cx="2843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Vértices: pontos de terra.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Arestas: pontes.</a:t>
            </a:r>
          </a:p>
        </p:txBody>
      </p:sp>
    </p:spTree>
    <p:extLst>
      <p:ext uri="{BB962C8B-B14F-4D97-AF65-F5344CB8AC3E}">
        <p14:creationId xmlns:p14="http://schemas.microsoft.com/office/powerpoint/2010/main" val="2560760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Eulerianos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Um explorador deseja explorar todas as estradas entre um número de cidades. É possível encontrar um roteiro que passe por cada estrada apenas uma vez e volte a cidade inicial?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63" y="3068960"/>
            <a:ext cx="405765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954450" y="5229200"/>
            <a:ext cx="2249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Vértices: cidades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Arestas: estradas</a:t>
            </a:r>
          </a:p>
        </p:txBody>
      </p:sp>
    </p:spTree>
    <p:extLst>
      <p:ext uri="{BB962C8B-B14F-4D97-AF65-F5344CB8AC3E}">
        <p14:creationId xmlns:p14="http://schemas.microsoft.com/office/powerpoint/2010/main" val="311947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Eulerianos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b="1" dirty="0"/>
              <a:t>Problema</a:t>
            </a:r>
            <a:r>
              <a:rPr lang="pt-BR" sz="2400" dirty="0"/>
              <a:t>: Encontrar um caminho fechado que passe por todas as arestas uma única vez: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420888"/>
            <a:ext cx="5038461" cy="4097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047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Eulerianos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TEOREMA</a:t>
            </a:r>
          </a:p>
          <a:p>
            <a:pPr lvl="1"/>
            <a:r>
              <a:rPr lang="pt-BR" dirty="0"/>
              <a:t>Um grafo é </a:t>
            </a:r>
            <a:r>
              <a:rPr lang="pt-BR" dirty="0" err="1"/>
              <a:t>euleriano</a:t>
            </a:r>
            <a:r>
              <a:rPr lang="pt-BR" dirty="0"/>
              <a:t> se, e somente se, todos os seus vértices tiverem grau par </a:t>
            </a:r>
          </a:p>
          <a:p>
            <a:pPr lvl="1"/>
            <a:r>
              <a:rPr lang="pt-BR" dirty="0"/>
              <a:t>Se é possível encontrar um caminho fechado que passe por todas as </a:t>
            </a:r>
            <a:r>
              <a:rPr lang="pt-BR" b="1" dirty="0">
                <a:solidFill>
                  <a:srgbClr val="FF0000"/>
                </a:solidFill>
              </a:rPr>
              <a:t>arestas</a:t>
            </a:r>
            <a:r>
              <a:rPr lang="pt-BR" b="1" dirty="0"/>
              <a:t> </a:t>
            </a:r>
            <a:r>
              <a:rPr lang="pt-BR" dirty="0"/>
              <a:t>uma única vez, dizemos que G é um grafo </a:t>
            </a:r>
            <a:r>
              <a:rPr lang="pt-BR" dirty="0" err="1"/>
              <a:t>euleriano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40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Unicursais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Um grafo G é dito </a:t>
            </a:r>
            <a:r>
              <a:rPr lang="pt-BR" sz="2400" dirty="0" err="1"/>
              <a:t>unicursal</a:t>
            </a:r>
            <a:r>
              <a:rPr lang="pt-BR" sz="2400" dirty="0"/>
              <a:t> se ele possuir um caminho aberto de Euler, ou seja, se é possível percorrer todas as arestas de G apenas 1 vez sem retornar ao vértice inicial.</a:t>
            </a:r>
          </a:p>
          <a:p>
            <a:pPr lvl="1"/>
            <a:r>
              <a:rPr lang="pt-BR" sz="2000" dirty="0"/>
              <a:t>Caminho aberto de Euler: a c d a b d e b.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r>
              <a:rPr lang="pt-BR" sz="2200" dirty="0"/>
              <a:t>Se adicionarmos uma aresta entre os vértices inicial e final do caminho aberto de Euler, esse grafo passa a ser um grafo </a:t>
            </a:r>
            <a:r>
              <a:rPr lang="pt-BR" sz="2200" dirty="0" err="1"/>
              <a:t>Euleriano</a:t>
            </a:r>
            <a:endParaRPr lang="pt-BR" sz="5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949" y="3356992"/>
            <a:ext cx="417195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0873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Unicursais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7859216" cy="4525963"/>
          </a:xfrm>
        </p:spPr>
        <p:txBody>
          <a:bodyPr>
            <a:normAutofit/>
          </a:bodyPr>
          <a:lstStyle/>
          <a:p>
            <a:r>
              <a:rPr lang="pt-BR" sz="2800" dirty="0"/>
              <a:t>TEOREMA:</a:t>
            </a:r>
          </a:p>
          <a:p>
            <a:pPr lvl="1"/>
            <a:r>
              <a:rPr lang="pt-BR" sz="2400" dirty="0"/>
              <a:t>Em um grafo conexo G com exatamente 2K vértices de grau ímpar, existem K </a:t>
            </a:r>
            <a:r>
              <a:rPr lang="pt-BR" sz="2400" dirty="0" err="1"/>
              <a:t>subgrafos</a:t>
            </a:r>
            <a:r>
              <a:rPr lang="pt-BR" sz="2400" dirty="0"/>
              <a:t> disjuntos de arestas, todos eles </a:t>
            </a:r>
            <a:r>
              <a:rPr lang="pt-BR" sz="2400" dirty="0" err="1"/>
              <a:t>unicursais</a:t>
            </a:r>
            <a:r>
              <a:rPr lang="pt-BR" sz="2400" dirty="0"/>
              <a:t>, de maneira que juntos eles contêm todas as arestas de G</a:t>
            </a:r>
          </a:p>
        </p:txBody>
      </p:sp>
    </p:spTree>
    <p:extLst>
      <p:ext uri="{BB962C8B-B14F-4D97-AF65-F5344CB8AC3E}">
        <p14:creationId xmlns:p14="http://schemas.microsoft.com/office/powerpoint/2010/main" val="422541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Unicursais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7859216" cy="4525963"/>
          </a:xfrm>
        </p:spPr>
        <p:txBody>
          <a:bodyPr>
            <a:normAutofit/>
          </a:bodyPr>
          <a:lstStyle/>
          <a:p>
            <a:r>
              <a:rPr lang="pt-BR" sz="2800" dirty="0"/>
              <a:t>TEOREMA:</a:t>
            </a:r>
          </a:p>
          <a:p>
            <a:pPr lvl="1"/>
            <a:r>
              <a:rPr lang="pt-BR" sz="2400" dirty="0"/>
              <a:t>Em um grafo conexo G com exatamente 2K vértices de grau ímpar, existem K </a:t>
            </a:r>
            <a:r>
              <a:rPr lang="pt-BR" sz="2400" dirty="0" err="1"/>
              <a:t>subgrafos</a:t>
            </a:r>
            <a:r>
              <a:rPr lang="pt-BR" sz="2400" dirty="0"/>
              <a:t> disjuntos de arestas, todos eles </a:t>
            </a:r>
            <a:r>
              <a:rPr lang="pt-BR" sz="2400" dirty="0" err="1"/>
              <a:t>unicursais</a:t>
            </a:r>
            <a:r>
              <a:rPr lang="pt-BR" sz="2400" dirty="0"/>
              <a:t>, de maneira que juntos eles contêm todas as arestas de G</a:t>
            </a:r>
          </a:p>
        </p:txBody>
      </p:sp>
      <p:sp>
        <p:nvSpPr>
          <p:cNvPr id="15" name="Elipse 14"/>
          <p:cNvSpPr/>
          <p:nvPr/>
        </p:nvSpPr>
        <p:spPr>
          <a:xfrm>
            <a:off x="3164523" y="391096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6" name="Elipse 15"/>
          <p:cNvSpPr/>
          <p:nvPr/>
        </p:nvSpPr>
        <p:spPr>
          <a:xfrm>
            <a:off x="3158173" y="487580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Elipse 16"/>
          <p:cNvSpPr/>
          <p:nvPr/>
        </p:nvSpPr>
        <p:spPr>
          <a:xfrm>
            <a:off x="3158172" y="58334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8" name="Conector reto 7"/>
          <p:cNvCxnSpPr>
            <a:stCxn id="15" idx="2"/>
            <a:endCxn id="16" idx="2"/>
          </p:cNvCxnSpPr>
          <p:nvPr/>
        </p:nvCxnSpPr>
        <p:spPr>
          <a:xfrm rot="10800000" flipV="1">
            <a:off x="3158173" y="4116132"/>
            <a:ext cx="6350" cy="964845"/>
          </a:xfrm>
          <a:prstGeom prst="curvedConnector3">
            <a:avLst>
              <a:gd name="adj1" fmla="val 370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8"/>
          <p:cNvCxnSpPr>
            <a:stCxn id="16" idx="6"/>
            <a:endCxn id="17" idx="6"/>
          </p:cNvCxnSpPr>
          <p:nvPr/>
        </p:nvCxnSpPr>
        <p:spPr>
          <a:xfrm flipH="1">
            <a:off x="3701553" y="5080978"/>
            <a:ext cx="1" cy="957667"/>
          </a:xfrm>
          <a:prstGeom prst="curvedConnector3">
            <a:avLst>
              <a:gd name="adj1" fmla="val -2286000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9"/>
          <p:cNvCxnSpPr>
            <a:stCxn id="15" idx="6"/>
            <a:endCxn id="16" idx="6"/>
          </p:cNvCxnSpPr>
          <p:nvPr/>
        </p:nvCxnSpPr>
        <p:spPr>
          <a:xfrm flipH="1">
            <a:off x="3701554" y="4116133"/>
            <a:ext cx="6350" cy="964845"/>
          </a:xfrm>
          <a:prstGeom prst="curvedConnector3">
            <a:avLst>
              <a:gd name="adj1" fmla="val -360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5411431" y="487580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2" name="Conector de seta reta 11"/>
          <p:cNvCxnSpPr>
            <a:stCxn id="16" idx="2"/>
            <a:endCxn id="17" idx="2"/>
          </p:cNvCxnSpPr>
          <p:nvPr/>
        </p:nvCxnSpPr>
        <p:spPr>
          <a:xfrm rot="10800000" flipV="1">
            <a:off x="3158173" y="5080977"/>
            <a:ext cx="1" cy="957667"/>
          </a:xfrm>
          <a:prstGeom prst="curvedConnector3">
            <a:avLst>
              <a:gd name="adj1" fmla="val 2286010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6" idx="6"/>
            <a:endCxn id="21" idx="2"/>
          </p:cNvCxnSpPr>
          <p:nvPr/>
        </p:nvCxnSpPr>
        <p:spPr>
          <a:xfrm>
            <a:off x="3701554" y="5080978"/>
            <a:ext cx="1709877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21" idx="1"/>
            <a:endCxn id="15" idx="6"/>
          </p:cNvCxnSpPr>
          <p:nvPr/>
        </p:nvCxnSpPr>
        <p:spPr>
          <a:xfrm flipH="1" flipV="1">
            <a:off x="3707904" y="4116133"/>
            <a:ext cx="1783103" cy="819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21" idx="3"/>
            <a:endCxn id="17" idx="6"/>
          </p:cNvCxnSpPr>
          <p:nvPr/>
        </p:nvCxnSpPr>
        <p:spPr>
          <a:xfrm flipH="1">
            <a:off x="3701553" y="5226057"/>
            <a:ext cx="1789454" cy="812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993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Unicursais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7859216" cy="4525963"/>
          </a:xfrm>
        </p:spPr>
        <p:txBody>
          <a:bodyPr>
            <a:normAutofit/>
          </a:bodyPr>
          <a:lstStyle/>
          <a:p>
            <a:r>
              <a:rPr lang="pt-BR" sz="2800" dirty="0"/>
              <a:t>TEOREMA:</a:t>
            </a:r>
          </a:p>
          <a:p>
            <a:pPr lvl="1"/>
            <a:r>
              <a:rPr lang="pt-BR" sz="2400" dirty="0"/>
              <a:t>Em um grafo conexo G com exatamente 2K vértices de grau ímpar, existem K </a:t>
            </a:r>
            <a:r>
              <a:rPr lang="pt-BR" sz="2400" dirty="0" err="1"/>
              <a:t>subgrafos</a:t>
            </a:r>
            <a:r>
              <a:rPr lang="pt-BR" sz="2400" dirty="0"/>
              <a:t> disjuntos de arestas, todos eles </a:t>
            </a:r>
            <a:r>
              <a:rPr lang="pt-BR" sz="2400" dirty="0" err="1"/>
              <a:t>unicursais</a:t>
            </a:r>
            <a:r>
              <a:rPr lang="pt-BR" sz="2400" dirty="0"/>
              <a:t>, de maneira que juntos eles contêm todas as arestas de G</a:t>
            </a:r>
          </a:p>
        </p:txBody>
      </p:sp>
      <p:sp>
        <p:nvSpPr>
          <p:cNvPr id="15" name="Elipse 14"/>
          <p:cNvSpPr/>
          <p:nvPr/>
        </p:nvSpPr>
        <p:spPr>
          <a:xfrm>
            <a:off x="3164523" y="391096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6" name="Elipse 15"/>
          <p:cNvSpPr/>
          <p:nvPr/>
        </p:nvSpPr>
        <p:spPr>
          <a:xfrm>
            <a:off x="3158173" y="487580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Elipse 16"/>
          <p:cNvSpPr/>
          <p:nvPr/>
        </p:nvSpPr>
        <p:spPr>
          <a:xfrm>
            <a:off x="3158172" y="58334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8" name="Conector reto 7"/>
          <p:cNvCxnSpPr>
            <a:stCxn id="15" idx="2"/>
            <a:endCxn id="16" idx="2"/>
          </p:cNvCxnSpPr>
          <p:nvPr/>
        </p:nvCxnSpPr>
        <p:spPr>
          <a:xfrm rot="10800000" flipV="1">
            <a:off x="3158173" y="4116132"/>
            <a:ext cx="6350" cy="964845"/>
          </a:xfrm>
          <a:prstGeom prst="curvedConnector3">
            <a:avLst>
              <a:gd name="adj1" fmla="val 370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8"/>
          <p:cNvCxnSpPr>
            <a:stCxn id="16" idx="6"/>
            <a:endCxn id="17" idx="6"/>
          </p:cNvCxnSpPr>
          <p:nvPr/>
        </p:nvCxnSpPr>
        <p:spPr>
          <a:xfrm flipH="1">
            <a:off x="3701553" y="5080978"/>
            <a:ext cx="1" cy="957667"/>
          </a:xfrm>
          <a:prstGeom prst="curvedConnector3">
            <a:avLst>
              <a:gd name="adj1" fmla="val -2286000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9"/>
          <p:cNvCxnSpPr>
            <a:stCxn id="15" idx="6"/>
            <a:endCxn id="16" idx="6"/>
          </p:cNvCxnSpPr>
          <p:nvPr/>
        </p:nvCxnSpPr>
        <p:spPr>
          <a:xfrm flipH="1">
            <a:off x="3701554" y="4116133"/>
            <a:ext cx="6350" cy="964845"/>
          </a:xfrm>
          <a:prstGeom prst="curvedConnector3">
            <a:avLst>
              <a:gd name="adj1" fmla="val -360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5411431" y="487580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2" name="Conector de seta reta 11"/>
          <p:cNvCxnSpPr>
            <a:stCxn id="16" idx="2"/>
            <a:endCxn id="17" idx="2"/>
          </p:cNvCxnSpPr>
          <p:nvPr/>
        </p:nvCxnSpPr>
        <p:spPr>
          <a:xfrm rot="10800000" flipV="1">
            <a:off x="3158173" y="5080977"/>
            <a:ext cx="1" cy="957667"/>
          </a:xfrm>
          <a:prstGeom prst="curvedConnector3">
            <a:avLst>
              <a:gd name="adj1" fmla="val 2286010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6" idx="6"/>
            <a:endCxn id="21" idx="2"/>
          </p:cNvCxnSpPr>
          <p:nvPr/>
        </p:nvCxnSpPr>
        <p:spPr>
          <a:xfrm>
            <a:off x="3701554" y="5080978"/>
            <a:ext cx="1709877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21" idx="1"/>
            <a:endCxn id="15" idx="6"/>
          </p:cNvCxnSpPr>
          <p:nvPr/>
        </p:nvCxnSpPr>
        <p:spPr>
          <a:xfrm flipH="1" flipV="1">
            <a:off x="3707904" y="4116133"/>
            <a:ext cx="1783103" cy="8197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21" idx="3"/>
            <a:endCxn id="17" idx="6"/>
          </p:cNvCxnSpPr>
          <p:nvPr/>
        </p:nvCxnSpPr>
        <p:spPr>
          <a:xfrm flipH="1">
            <a:off x="3701553" y="5226057"/>
            <a:ext cx="1789454" cy="812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3694250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3707904" y="6059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012160" y="4856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9420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Unicursais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7859216" cy="4525963"/>
          </a:xfrm>
        </p:spPr>
        <p:txBody>
          <a:bodyPr>
            <a:normAutofit/>
          </a:bodyPr>
          <a:lstStyle/>
          <a:p>
            <a:r>
              <a:rPr lang="pt-BR" sz="2800" dirty="0"/>
              <a:t>TEOREMA:</a:t>
            </a:r>
          </a:p>
          <a:p>
            <a:pPr lvl="1"/>
            <a:r>
              <a:rPr lang="pt-BR" sz="2400" dirty="0"/>
              <a:t>Em um grafo conexo G com exatamente 2K vértices de grau ímpar, existem K </a:t>
            </a:r>
            <a:r>
              <a:rPr lang="pt-BR" sz="2400" dirty="0" err="1"/>
              <a:t>subgrafos</a:t>
            </a:r>
            <a:r>
              <a:rPr lang="pt-BR" sz="2400" dirty="0"/>
              <a:t> disjuntos de arestas, todos eles </a:t>
            </a:r>
            <a:r>
              <a:rPr lang="pt-BR" sz="2400" dirty="0" err="1"/>
              <a:t>unicursais</a:t>
            </a:r>
            <a:r>
              <a:rPr lang="pt-BR" sz="2400" dirty="0"/>
              <a:t>, de maneira que juntos eles contêm todas as arestas de G</a:t>
            </a:r>
          </a:p>
        </p:txBody>
      </p:sp>
      <p:sp>
        <p:nvSpPr>
          <p:cNvPr id="15" name="Elipse 14"/>
          <p:cNvSpPr/>
          <p:nvPr/>
        </p:nvSpPr>
        <p:spPr>
          <a:xfrm>
            <a:off x="3164523" y="391096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6" name="Elipse 15"/>
          <p:cNvSpPr/>
          <p:nvPr/>
        </p:nvSpPr>
        <p:spPr>
          <a:xfrm>
            <a:off x="3158173" y="487580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Elipse 16"/>
          <p:cNvSpPr/>
          <p:nvPr/>
        </p:nvSpPr>
        <p:spPr>
          <a:xfrm>
            <a:off x="3158172" y="58334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8" name="Conector reto 7"/>
          <p:cNvCxnSpPr>
            <a:stCxn id="15" idx="2"/>
            <a:endCxn id="16" idx="2"/>
          </p:cNvCxnSpPr>
          <p:nvPr/>
        </p:nvCxnSpPr>
        <p:spPr>
          <a:xfrm rot="10800000" flipV="1">
            <a:off x="3158173" y="4116132"/>
            <a:ext cx="6350" cy="964845"/>
          </a:xfrm>
          <a:prstGeom prst="curvedConnector3">
            <a:avLst>
              <a:gd name="adj1" fmla="val 3700000"/>
            </a:avLst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8"/>
          <p:cNvCxnSpPr>
            <a:stCxn id="16" idx="6"/>
            <a:endCxn id="17" idx="6"/>
          </p:cNvCxnSpPr>
          <p:nvPr/>
        </p:nvCxnSpPr>
        <p:spPr>
          <a:xfrm flipH="1">
            <a:off x="3701553" y="5080978"/>
            <a:ext cx="1" cy="957667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9"/>
          <p:cNvCxnSpPr>
            <a:stCxn id="15" idx="6"/>
            <a:endCxn id="16" idx="6"/>
          </p:cNvCxnSpPr>
          <p:nvPr/>
        </p:nvCxnSpPr>
        <p:spPr>
          <a:xfrm flipH="1">
            <a:off x="3701554" y="4116133"/>
            <a:ext cx="6350" cy="964845"/>
          </a:xfrm>
          <a:prstGeom prst="curvedConnector3">
            <a:avLst>
              <a:gd name="adj1" fmla="val -3600000"/>
            </a:avLst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5411431" y="487580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2" name="Conector de seta reta 11"/>
          <p:cNvCxnSpPr>
            <a:stCxn id="16" idx="2"/>
            <a:endCxn id="17" idx="2"/>
          </p:cNvCxnSpPr>
          <p:nvPr/>
        </p:nvCxnSpPr>
        <p:spPr>
          <a:xfrm rot="10800000" flipV="1">
            <a:off x="3158173" y="5080977"/>
            <a:ext cx="1" cy="957667"/>
          </a:xfrm>
          <a:prstGeom prst="curvedConnector3">
            <a:avLst>
              <a:gd name="adj1" fmla="val 22860100000"/>
            </a:avLst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6" idx="6"/>
            <a:endCxn id="21" idx="2"/>
          </p:cNvCxnSpPr>
          <p:nvPr/>
        </p:nvCxnSpPr>
        <p:spPr>
          <a:xfrm>
            <a:off x="3701554" y="5080978"/>
            <a:ext cx="1709877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21" idx="1"/>
            <a:endCxn id="15" idx="6"/>
          </p:cNvCxnSpPr>
          <p:nvPr/>
        </p:nvCxnSpPr>
        <p:spPr>
          <a:xfrm flipH="1" flipV="1">
            <a:off x="3707904" y="4116133"/>
            <a:ext cx="1783103" cy="819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21" idx="3"/>
            <a:endCxn id="17" idx="6"/>
          </p:cNvCxnSpPr>
          <p:nvPr/>
        </p:nvCxnSpPr>
        <p:spPr>
          <a:xfrm flipH="1">
            <a:off x="3701553" y="5226057"/>
            <a:ext cx="1789454" cy="812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694250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707904" y="6059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6012160" y="4856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555776" y="48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14333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Unicursais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7859216" cy="4525963"/>
          </a:xfrm>
        </p:spPr>
        <p:txBody>
          <a:bodyPr>
            <a:normAutofit/>
          </a:bodyPr>
          <a:lstStyle/>
          <a:p>
            <a:r>
              <a:rPr lang="pt-BR" sz="2800" dirty="0"/>
              <a:t>TEOREMA:</a:t>
            </a:r>
          </a:p>
          <a:p>
            <a:pPr lvl="1"/>
            <a:r>
              <a:rPr lang="pt-BR" sz="2400" dirty="0"/>
              <a:t>Em um grafo conexo G com exatamente 2K vértices de grau ímpar, existem K </a:t>
            </a:r>
            <a:r>
              <a:rPr lang="pt-BR" sz="2400" dirty="0" err="1"/>
              <a:t>subgrafos</a:t>
            </a:r>
            <a:r>
              <a:rPr lang="pt-BR" sz="2400" dirty="0"/>
              <a:t> disjuntos de arestas, todos eles </a:t>
            </a:r>
            <a:r>
              <a:rPr lang="pt-BR" sz="2400" dirty="0" err="1"/>
              <a:t>unicursais</a:t>
            </a:r>
            <a:r>
              <a:rPr lang="pt-BR" sz="2400" dirty="0"/>
              <a:t>, de maneira que juntos eles contêm todas as arestas de G</a:t>
            </a:r>
          </a:p>
          <a:p>
            <a:pPr lvl="1"/>
            <a:r>
              <a:rPr lang="pt-BR" sz="2400" dirty="0"/>
              <a:t>Um grafo conexo é </a:t>
            </a:r>
            <a:r>
              <a:rPr lang="pt-BR" sz="2400" dirty="0" err="1"/>
              <a:t>unicursal</a:t>
            </a:r>
            <a:r>
              <a:rPr lang="pt-BR" sz="2400" dirty="0"/>
              <a:t> se, e somente se, ele possuir exatamente 2 vértices de grau ímpar </a:t>
            </a:r>
          </a:p>
        </p:txBody>
      </p:sp>
    </p:spTree>
    <p:extLst>
      <p:ext uri="{BB962C8B-B14F-4D97-AF65-F5344CB8AC3E}">
        <p14:creationId xmlns:p14="http://schemas.microsoft.com/office/powerpoint/2010/main" val="623752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Unicursais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possível fazer o desenho abaixo sem retirar o lápis do papel e sem retroceder?</a:t>
            </a:r>
          </a:p>
        </p:txBody>
      </p:sp>
      <p:sp>
        <p:nvSpPr>
          <p:cNvPr id="4" name="Elipse 3"/>
          <p:cNvSpPr/>
          <p:nvPr/>
        </p:nvSpPr>
        <p:spPr>
          <a:xfrm>
            <a:off x="4093804" y="314096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11555" y="396619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076056" y="396619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11555" y="53622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575360" y="3491219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383246" y="4376537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54936" y="4171365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076056" y="53668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6" idx="1"/>
          </p:cNvCxnSpPr>
          <p:nvPr/>
        </p:nvCxnSpPr>
        <p:spPr>
          <a:xfrm>
            <a:off x="4557609" y="3491219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5"/>
            <a:endCxn id="11" idx="1"/>
          </p:cNvCxnSpPr>
          <p:nvPr/>
        </p:nvCxnSpPr>
        <p:spPr>
          <a:xfrm>
            <a:off x="3575360" y="4316444"/>
            <a:ext cx="1580272" cy="11104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4"/>
          </p:cNvCxnSpPr>
          <p:nvPr/>
        </p:nvCxnSpPr>
        <p:spPr>
          <a:xfrm flipV="1">
            <a:off x="5347747" y="4376537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11" idx="2"/>
            <a:endCxn id="7" idx="6"/>
          </p:cNvCxnSpPr>
          <p:nvPr/>
        </p:nvCxnSpPr>
        <p:spPr>
          <a:xfrm flipH="1" flipV="1">
            <a:off x="3654936" y="5567434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6" idx="3"/>
            <a:endCxn id="7" idx="7"/>
          </p:cNvCxnSpPr>
          <p:nvPr/>
        </p:nvCxnSpPr>
        <p:spPr>
          <a:xfrm flipH="1">
            <a:off x="3575360" y="4316444"/>
            <a:ext cx="1580272" cy="1105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127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</a:t>
            </a:r>
            <a:r>
              <a:rPr lang="pt-BR" dirty="0" err="1"/>
              <a:t>Unicursais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200" dirty="0"/>
              <a:t>Carteiro Chinês:</a:t>
            </a:r>
          </a:p>
          <a:p>
            <a:pPr lvl="1"/>
            <a:r>
              <a:rPr lang="pt-BR" sz="2200" dirty="0"/>
              <a:t>Encontrar um caminho fechado que passe por todas as ruas de uma cidade.</a:t>
            </a:r>
          </a:p>
          <a:p>
            <a:pPr lvl="1"/>
            <a:r>
              <a:rPr lang="pt-BR" sz="2200" dirty="0"/>
              <a:t>Aplicações: serviço de correios, pintura de faixas em estradas, etc.</a:t>
            </a:r>
          </a:p>
          <a:p>
            <a:r>
              <a:rPr lang="pt-BR" sz="2200" dirty="0"/>
              <a:t>Casos:</a:t>
            </a:r>
          </a:p>
          <a:p>
            <a:pPr lvl="1"/>
            <a:r>
              <a:rPr lang="pt-BR" sz="2200" dirty="0"/>
              <a:t>Grafo </a:t>
            </a:r>
            <a:r>
              <a:rPr lang="pt-BR" sz="2200" dirty="0" err="1"/>
              <a:t>Euleriano</a:t>
            </a:r>
            <a:r>
              <a:rPr lang="pt-BR" sz="2200" dirty="0"/>
              <a:t>:</a:t>
            </a:r>
          </a:p>
          <a:p>
            <a:pPr lvl="2"/>
            <a:r>
              <a:rPr lang="pt-BR" sz="2200" dirty="0"/>
              <a:t>Todos os vértices de grau par</a:t>
            </a:r>
          </a:p>
          <a:p>
            <a:pPr lvl="1"/>
            <a:r>
              <a:rPr lang="pt-BR" sz="2200" dirty="0"/>
              <a:t>Grafo </a:t>
            </a:r>
            <a:r>
              <a:rPr lang="pt-BR" sz="2200" dirty="0" err="1"/>
              <a:t>unicursal</a:t>
            </a:r>
            <a:r>
              <a:rPr lang="pt-BR" sz="2200" dirty="0"/>
              <a:t>:</a:t>
            </a:r>
          </a:p>
          <a:p>
            <a:pPr lvl="2"/>
            <a:r>
              <a:rPr lang="pt-BR" sz="2200" dirty="0"/>
              <a:t>Dois vértices de grau ímpar</a:t>
            </a:r>
          </a:p>
          <a:p>
            <a:pPr lvl="1"/>
            <a:r>
              <a:rPr lang="pt-BR" sz="2200" dirty="0"/>
              <a:t>Grafo qualquer:</a:t>
            </a:r>
          </a:p>
          <a:p>
            <a:pPr lvl="2"/>
            <a:r>
              <a:rPr lang="pt-BR" sz="2200" dirty="0"/>
              <a:t>2K vértices de grau ímpar.</a:t>
            </a:r>
          </a:p>
        </p:txBody>
      </p:sp>
    </p:spTree>
    <p:extLst>
      <p:ext uri="{BB962C8B-B14F-4D97-AF65-F5344CB8AC3E}">
        <p14:creationId xmlns:p14="http://schemas.microsoft.com/office/powerpoint/2010/main" val="3038227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Circuito de Hamilton</a:t>
                </a:r>
              </a:p>
              <a:p>
                <a:pPr lvl="1"/>
                <a:r>
                  <a:rPr lang="pt-BR" sz="2000" dirty="0"/>
                  <a:t>Em um grafo conexo, é um circuito que passa por todos os </a:t>
                </a:r>
                <a:r>
                  <a:rPr lang="pt-BR" sz="2000" b="1" dirty="0">
                    <a:solidFill>
                      <a:srgbClr val="FF0000"/>
                    </a:solidFill>
                  </a:rPr>
                  <a:t>vértices</a:t>
                </a:r>
                <a:r>
                  <a:rPr lang="pt-BR" sz="2000" dirty="0">
                    <a:solidFill>
                      <a:srgbClr val="FF0000"/>
                    </a:solidFill>
                  </a:rPr>
                  <a:t> </a:t>
                </a:r>
                <a:r>
                  <a:rPr lang="pt-BR" sz="2000" dirty="0"/>
                  <a:t>do grafo uma única vez (exceto pelo vértice inicial).</a:t>
                </a:r>
              </a:p>
              <a:p>
                <a:pPr lvl="1"/>
                <a:r>
                  <a:rPr lang="pt-BR" sz="2000" dirty="0"/>
                  <a:t>Todo grafo que possui um circuito de Hamilton é chamado de grafo hamiltoniano.</a:t>
                </a:r>
              </a:p>
              <a:p>
                <a:pPr lvl="1"/>
                <a:r>
                  <a:rPr lang="pt-BR" sz="2000" dirty="0"/>
                  <a:t>O circuito de Hamilton de um grafo com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sz="2000" dirty="0"/>
                  <a:t> vértices contém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sz="2000" dirty="0"/>
                  <a:t> arestas.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005064"/>
            <a:ext cx="2232248" cy="230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71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dirty="0"/>
              <a:t>Caminho de Hamilton</a:t>
            </a:r>
          </a:p>
          <a:p>
            <a:pPr lvl="1"/>
            <a:r>
              <a:rPr lang="pt-BR" dirty="0"/>
              <a:t>Em um grafo conexo, é um caminho aberto que passa por todos os vértices do grafo exatamente uma única vez</a:t>
            </a:r>
          </a:p>
          <a:p>
            <a:pPr lvl="1"/>
            <a:r>
              <a:rPr lang="pt-BR" dirty="0"/>
              <a:t>Condições suficientes, mas não necessárias, para que um grafo G seja hamiltoniano</a:t>
            </a:r>
          </a:p>
          <a:p>
            <a:pPr lvl="2"/>
            <a:r>
              <a:rPr lang="pt-BR" dirty="0"/>
              <a:t>G é conexo</a:t>
            </a:r>
          </a:p>
          <a:p>
            <a:pPr lvl="2"/>
            <a:r>
              <a:rPr lang="pt-BR" dirty="0"/>
              <a:t>Loops e arestas paralelas podem ser desconsideradas</a:t>
            </a:r>
          </a:p>
          <a:p>
            <a:pPr lvl="2"/>
            <a:r>
              <a:rPr lang="pt-BR" dirty="0"/>
              <a:t>Se um grafo é hamiltoniano, então a inclusão de qualquer aresta não atrapalha esta condição</a:t>
            </a:r>
          </a:p>
        </p:txBody>
      </p:sp>
    </p:spTree>
    <p:extLst>
      <p:ext uri="{BB962C8B-B14F-4D97-AF65-F5344CB8AC3E}">
        <p14:creationId xmlns:p14="http://schemas.microsoft.com/office/powerpoint/2010/main" val="1504142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800" dirty="0"/>
              <a:t>Vimos que é possível determinar a priori se um grafo G possui um </a:t>
            </a:r>
            <a:r>
              <a:rPr lang="pt-BR" sz="2800" b="1" dirty="0"/>
              <a:t>circuito </a:t>
            </a:r>
            <a:r>
              <a:rPr lang="pt-BR" sz="2800" b="1" dirty="0" err="1"/>
              <a:t>Euleriano</a:t>
            </a:r>
            <a:r>
              <a:rPr lang="pt-BR" sz="2800" dirty="0"/>
              <a:t>.</a:t>
            </a:r>
          </a:p>
          <a:p>
            <a:r>
              <a:rPr lang="pt-BR" sz="2800" b="1" dirty="0"/>
              <a:t>Não</a:t>
            </a:r>
            <a:r>
              <a:rPr lang="pt-BR" sz="2800" dirty="0"/>
              <a:t> existe um teorema que indique para todo grafo se existe um circuito Hamiltoniano nem se conhece um algoritmo eficiente (polinomial) para achar um circuito Hamiltoniano.</a:t>
            </a:r>
          </a:p>
          <a:p>
            <a:r>
              <a:rPr lang="pt-BR" sz="2800" dirty="0"/>
              <a:t>No entanto, existe uma técnica simples que pode ser usada em muitos casos para mostrar que um grafo não possui um circuito Hamiltoniano.</a:t>
            </a:r>
          </a:p>
        </p:txBody>
      </p:sp>
    </p:spTree>
    <p:extLst>
      <p:ext uri="{BB962C8B-B14F-4D97-AF65-F5344CB8AC3E}">
        <p14:creationId xmlns:p14="http://schemas.microsoft.com/office/powerpoint/2010/main" val="347036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Tem circuito hamiltoniano se:</a:t>
            </a:r>
          </a:p>
          <a:p>
            <a:pPr lvl="1"/>
            <a:r>
              <a:rPr lang="pt-BR" sz="2400" dirty="0"/>
              <a:t>Se G tem um circuito Hamiltoniano, então G tem um </a:t>
            </a:r>
            <a:r>
              <a:rPr lang="pt-BR" sz="2400" dirty="0" err="1"/>
              <a:t>subgrafo</a:t>
            </a:r>
            <a:r>
              <a:rPr lang="pt-BR" sz="2400" dirty="0"/>
              <a:t> H que: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000" dirty="0"/>
              <a:t>H contém cada vértice de G.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000" dirty="0"/>
              <a:t>H é conexo.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000" dirty="0"/>
              <a:t>H tem o mesmo número de arestas e de vértices.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000" dirty="0"/>
              <a:t>Cada vértice de H tem grau 2.</a:t>
            </a:r>
          </a:p>
        </p:txBody>
      </p:sp>
      <p:sp>
        <p:nvSpPr>
          <p:cNvPr id="30" name="Elipse 29"/>
          <p:cNvSpPr/>
          <p:nvPr/>
        </p:nvSpPr>
        <p:spPr>
          <a:xfrm>
            <a:off x="6044843" y="53426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ipse 30"/>
          <p:cNvSpPr/>
          <p:nvPr/>
        </p:nvSpPr>
        <p:spPr>
          <a:xfrm>
            <a:off x="2926262" y="464235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Elipse 31"/>
          <p:cNvSpPr/>
          <p:nvPr/>
        </p:nvSpPr>
        <p:spPr>
          <a:xfrm>
            <a:off x="4890763" y="464235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3" name="Elipse 32"/>
          <p:cNvSpPr/>
          <p:nvPr/>
        </p:nvSpPr>
        <p:spPr>
          <a:xfrm>
            <a:off x="2926262" y="603842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4" name="Conector reto 33"/>
          <p:cNvCxnSpPr>
            <a:stCxn id="30" idx="3"/>
            <a:endCxn id="37" idx="7"/>
          </p:cNvCxnSpPr>
          <p:nvPr/>
        </p:nvCxnSpPr>
        <p:spPr>
          <a:xfrm flipH="1">
            <a:off x="5354568" y="5692924"/>
            <a:ext cx="769851" cy="41016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1" idx="4"/>
            <a:endCxn id="33" idx="0"/>
          </p:cNvCxnSpPr>
          <p:nvPr/>
        </p:nvCxnSpPr>
        <p:spPr>
          <a:xfrm>
            <a:off x="3197953" y="5052698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32" idx="2"/>
            <a:endCxn id="31" idx="6"/>
          </p:cNvCxnSpPr>
          <p:nvPr/>
        </p:nvCxnSpPr>
        <p:spPr>
          <a:xfrm flipH="1">
            <a:off x="3469643" y="4847526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4890763" y="604299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8" name="Conector de seta reta 37"/>
          <p:cNvCxnSpPr>
            <a:stCxn id="30" idx="1"/>
            <a:endCxn id="32" idx="5"/>
          </p:cNvCxnSpPr>
          <p:nvPr/>
        </p:nvCxnSpPr>
        <p:spPr>
          <a:xfrm flipH="1" flipV="1">
            <a:off x="5354568" y="4992605"/>
            <a:ext cx="769851" cy="4101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31" idx="5"/>
            <a:endCxn id="37" idx="1"/>
          </p:cNvCxnSpPr>
          <p:nvPr/>
        </p:nvCxnSpPr>
        <p:spPr>
          <a:xfrm>
            <a:off x="3390067" y="4992605"/>
            <a:ext cx="1580272" cy="11104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37" idx="0"/>
            <a:endCxn id="32" idx="4"/>
          </p:cNvCxnSpPr>
          <p:nvPr/>
        </p:nvCxnSpPr>
        <p:spPr>
          <a:xfrm flipV="1">
            <a:off x="5162454" y="5052698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7" idx="2"/>
            <a:endCxn id="33" idx="6"/>
          </p:cNvCxnSpPr>
          <p:nvPr/>
        </p:nvCxnSpPr>
        <p:spPr>
          <a:xfrm flipH="1" flipV="1">
            <a:off x="3469643" y="6243595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32" idx="3"/>
            <a:endCxn id="33" idx="7"/>
          </p:cNvCxnSpPr>
          <p:nvPr/>
        </p:nvCxnSpPr>
        <p:spPr>
          <a:xfrm flipH="1">
            <a:off x="3390067" y="4992605"/>
            <a:ext cx="1580272" cy="1105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89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Tem circuito hamiltoniano se:</a:t>
            </a:r>
          </a:p>
          <a:p>
            <a:pPr lvl="1"/>
            <a:r>
              <a:rPr lang="pt-BR" sz="2400" dirty="0"/>
              <a:t>Se G tem um circuito Hamiltoniano, então G tem um </a:t>
            </a:r>
            <a:r>
              <a:rPr lang="pt-BR" sz="2400" dirty="0" err="1"/>
              <a:t>subgrafo</a:t>
            </a:r>
            <a:r>
              <a:rPr lang="pt-BR" sz="2400" dirty="0"/>
              <a:t> H que: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000" dirty="0"/>
              <a:t>H contém cada vértice de G.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000" dirty="0"/>
              <a:t>H é conexo.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000" dirty="0"/>
              <a:t>H tem o mesmo número de arestas e de vértices.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2000" dirty="0"/>
              <a:t>Cada vértice de H tem grau 2.</a:t>
            </a:r>
          </a:p>
        </p:txBody>
      </p:sp>
      <p:sp>
        <p:nvSpPr>
          <p:cNvPr id="30" name="Elipse 29"/>
          <p:cNvSpPr/>
          <p:nvPr/>
        </p:nvSpPr>
        <p:spPr>
          <a:xfrm>
            <a:off x="6044843" y="53426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ipse 30"/>
          <p:cNvSpPr/>
          <p:nvPr/>
        </p:nvSpPr>
        <p:spPr>
          <a:xfrm>
            <a:off x="2926262" y="464235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Elipse 31"/>
          <p:cNvSpPr/>
          <p:nvPr/>
        </p:nvSpPr>
        <p:spPr>
          <a:xfrm>
            <a:off x="4890763" y="464235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3" name="Elipse 32"/>
          <p:cNvSpPr/>
          <p:nvPr/>
        </p:nvSpPr>
        <p:spPr>
          <a:xfrm>
            <a:off x="2926262" y="603842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4" name="Conector reto 33"/>
          <p:cNvCxnSpPr>
            <a:stCxn id="30" idx="3"/>
            <a:endCxn id="37" idx="7"/>
          </p:cNvCxnSpPr>
          <p:nvPr/>
        </p:nvCxnSpPr>
        <p:spPr>
          <a:xfrm flipH="1">
            <a:off x="5354568" y="5692924"/>
            <a:ext cx="769851" cy="41016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1" idx="4"/>
            <a:endCxn id="33" idx="0"/>
          </p:cNvCxnSpPr>
          <p:nvPr/>
        </p:nvCxnSpPr>
        <p:spPr>
          <a:xfrm>
            <a:off x="3197953" y="5052698"/>
            <a:ext cx="0" cy="985725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32" idx="2"/>
            <a:endCxn id="31" idx="6"/>
          </p:cNvCxnSpPr>
          <p:nvPr/>
        </p:nvCxnSpPr>
        <p:spPr>
          <a:xfrm flipH="1">
            <a:off x="3469643" y="4847526"/>
            <a:ext cx="142112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4890763" y="604299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8" name="Conector de seta reta 37"/>
          <p:cNvCxnSpPr>
            <a:stCxn id="30" idx="1"/>
            <a:endCxn id="32" idx="5"/>
          </p:cNvCxnSpPr>
          <p:nvPr/>
        </p:nvCxnSpPr>
        <p:spPr>
          <a:xfrm flipH="1" flipV="1">
            <a:off x="5354568" y="4992605"/>
            <a:ext cx="769851" cy="41016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31" idx="5"/>
            <a:endCxn id="37" idx="1"/>
          </p:cNvCxnSpPr>
          <p:nvPr/>
        </p:nvCxnSpPr>
        <p:spPr>
          <a:xfrm>
            <a:off x="3390067" y="4992605"/>
            <a:ext cx="1580272" cy="11104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37" idx="0"/>
            <a:endCxn id="32" idx="4"/>
          </p:cNvCxnSpPr>
          <p:nvPr/>
        </p:nvCxnSpPr>
        <p:spPr>
          <a:xfrm flipV="1">
            <a:off x="5162454" y="5052698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7" idx="2"/>
            <a:endCxn id="33" idx="6"/>
          </p:cNvCxnSpPr>
          <p:nvPr/>
        </p:nvCxnSpPr>
        <p:spPr>
          <a:xfrm flipH="1" flipV="1">
            <a:off x="3469643" y="6243595"/>
            <a:ext cx="1421120" cy="4569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32" idx="3"/>
            <a:endCxn id="33" idx="7"/>
          </p:cNvCxnSpPr>
          <p:nvPr/>
        </p:nvCxnSpPr>
        <p:spPr>
          <a:xfrm flipH="1">
            <a:off x="3390067" y="4992605"/>
            <a:ext cx="1580272" cy="1105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78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99054"/>
          </a:xfrm>
        </p:spPr>
        <p:txBody>
          <a:bodyPr>
            <a:normAutofit/>
          </a:bodyPr>
          <a:lstStyle/>
          <a:p>
            <a:r>
              <a:rPr lang="pt-BR" sz="2800" dirty="0"/>
              <a:t>Tem circuito hamiltoniano se (verificar):</a:t>
            </a:r>
          </a:p>
          <a:p>
            <a:endParaRPr lang="pt-BR" sz="2800" dirty="0"/>
          </a:p>
        </p:txBody>
      </p:sp>
      <p:sp>
        <p:nvSpPr>
          <p:cNvPr id="4" name="Elipse 3"/>
          <p:cNvSpPr/>
          <p:nvPr/>
        </p:nvSpPr>
        <p:spPr>
          <a:xfrm>
            <a:off x="3918738" y="289211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Elipse 4"/>
          <p:cNvSpPr/>
          <p:nvPr/>
        </p:nvSpPr>
        <p:spPr>
          <a:xfrm>
            <a:off x="2926262" y="219408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4890763" y="219408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926262" y="35901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197953" y="2604426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890763" y="35947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4" name="Conector de seta reta 13"/>
          <p:cNvCxnSpPr>
            <a:stCxn id="11" idx="0"/>
            <a:endCxn id="6" idx="4"/>
          </p:cNvCxnSpPr>
          <p:nvPr/>
        </p:nvCxnSpPr>
        <p:spPr>
          <a:xfrm flipV="1">
            <a:off x="5162454" y="2604426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11" idx="1"/>
            <a:endCxn id="4" idx="5"/>
          </p:cNvCxnSpPr>
          <p:nvPr/>
        </p:nvCxnSpPr>
        <p:spPr>
          <a:xfrm flipH="1" flipV="1">
            <a:off x="4382543" y="3242367"/>
            <a:ext cx="587796" cy="4124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4" idx="7"/>
            <a:endCxn id="6" idx="3"/>
          </p:cNvCxnSpPr>
          <p:nvPr/>
        </p:nvCxnSpPr>
        <p:spPr>
          <a:xfrm flipV="1">
            <a:off x="4382543" y="2544333"/>
            <a:ext cx="587796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4" idx="1"/>
            <a:endCxn id="5" idx="5"/>
          </p:cNvCxnSpPr>
          <p:nvPr/>
        </p:nvCxnSpPr>
        <p:spPr>
          <a:xfrm flipH="1" flipV="1">
            <a:off x="3390067" y="2544333"/>
            <a:ext cx="608247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4" idx="3"/>
            <a:endCxn id="7" idx="7"/>
          </p:cNvCxnSpPr>
          <p:nvPr/>
        </p:nvCxnSpPr>
        <p:spPr>
          <a:xfrm flipH="1">
            <a:off x="3390067" y="3242367"/>
            <a:ext cx="608247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151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99054"/>
          </a:xfrm>
        </p:spPr>
        <p:txBody>
          <a:bodyPr>
            <a:normAutofit/>
          </a:bodyPr>
          <a:lstStyle/>
          <a:p>
            <a:r>
              <a:rPr lang="pt-BR" sz="2800" dirty="0"/>
              <a:t>Tem circuito hamiltoniano se (verificar):</a:t>
            </a:r>
          </a:p>
          <a:p>
            <a:endParaRPr lang="pt-BR" sz="2800" dirty="0"/>
          </a:p>
        </p:txBody>
      </p:sp>
      <p:sp>
        <p:nvSpPr>
          <p:cNvPr id="4" name="Elipse 3"/>
          <p:cNvSpPr/>
          <p:nvPr/>
        </p:nvSpPr>
        <p:spPr>
          <a:xfrm>
            <a:off x="3918738" y="289211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Elipse 4"/>
          <p:cNvSpPr/>
          <p:nvPr/>
        </p:nvSpPr>
        <p:spPr>
          <a:xfrm>
            <a:off x="2926262" y="219408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4890763" y="219408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926262" y="35901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197953" y="2604426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890763" y="35947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4" name="Conector de seta reta 13"/>
          <p:cNvCxnSpPr>
            <a:stCxn id="11" idx="0"/>
            <a:endCxn id="6" idx="4"/>
          </p:cNvCxnSpPr>
          <p:nvPr/>
        </p:nvCxnSpPr>
        <p:spPr>
          <a:xfrm flipV="1">
            <a:off x="5162454" y="2604426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11" idx="1"/>
            <a:endCxn id="4" idx="5"/>
          </p:cNvCxnSpPr>
          <p:nvPr/>
        </p:nvCxnSpPr>
        <p:spPr>
          <a:xfrm flipH="1" flipV="1">
            <a:off x="4382543" y="3242367"/>
            <a:ext cx="587796" cy="4124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4" idx="7"/>
            <a:endCxn id="6" idx="3"/>
          </p:cNvCxnSpPr>
          <p:nvPr/>
        </p:nvCxnSpPr>
        <p:spPr>
          <a:xfrm flipV="1">
            <a:off x="4382543" y="2544333"/>
            <a:ext cx="587796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4" idx="1"/>
            <a:endCxn id="5" idx="5"/>
          </p:cNvCxnSpPr>
          <p:nvPr/>
        </p:nvCxnSpPr>
        <p:spPr>
          <a:xfrm flipH="1" flipV="1">
            <a:off x="3390067" y="2544333"/>
            <a:ext cx="608247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4" idx="3"/>
            <a:endCxn id="7" idx="7"/>
          </p:cNvCxnSpPr>
          <p:nvPr/>
        </p:nvCxnSpPr>
        <p:spPr>
          <a:xfrm flipH="1">
            <a:off x="3390067" y="3242367"/>
            <a:ext cx="608247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683568" y="4206567"/>
            <a:ext cx="76328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2000" dirty="0"/>
              <a:t>Em G, grau(b) = 4 e cada vértice de H tem grau 2.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dirty="0"/>
              <a:t>Duas arestas incidentes a b devem ser removidas de G para criar H.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dirty="0"/>
              <a:t>Qualquer aresta incidente a b que seja removida fará com que os outros vértices restantes tenham grau menor que 2.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dirty="0"/>
              <a:t>Consequentemente, não existe um </a:t>
            </a:r>
            <a:r>
              <a:rPr lang="pt-BR" sz="2000" dirty="0" err="1"/>
              <a:t>subgrafo</a:t>
            </a:r>
            <a:r>
              <a:rPr lang="pt-BR" sz="2000" dirty="0"/>
              <a:t> H com as quatro propriedades acima e, assim, G </a:t>
            </a:r>
            <a:r>
              <a:rPr lang="pt-BR" sz="2000" b="1" dirty="0"/>
              <a:t>não</a:t>
            </a:r>
            <a:r>
              <a:rPr lang="pt-BR" sz="2000" dirty="0"/>
              <a:t> possui um circuito Hamiltoniano.</a:t>
            </a:r>
          </a:p>
        </p:txBody>
      </p:sp>
    </p:spTree>
    <p:extLst>
      <p:ext uri="{BB962C8B-B14F-4D97-AF65-F5344CB8AC3E}">
        <p14:creationId xmlns:p14="http://schemas.microsoft.com/office/powerpoint/2010/main" val="381586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TEOREMA (</a:t>
                </a:r>
                <a:r>
                  <a:rPr lang="pt-BR" dirty="0" err="1"/>
                  <a:t>Dirac’s</a:t>
                </a:r>
                <a:r>
                  <a:rPr lang="pt-BR" dirty="0"/>
                  <a:t> </a:t>
                </a:r>
                <a:r>
                  <a:rPr lang="pt-BR" dirty="0" err="1"/>
                  <a:t>Theorem</a:t>
                </a:r>
                <a:r>
                  <a:rPr lang="pt-BR" dirty="0"/>
                  <a:t>)</a:t>
                </a:r>
              </a:p>
              <a:p>
                <a:pPr lvl="1"/>
                <a:r>
                  <a:rPr lang="pt-BR" dirty="0"/>
                  <a:t>Seja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dirty="0"/>
                  <a:t> um grafo simples 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vértices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≥3</m:t>
                    </m:r>
                  </m:oMath>
                </a14:m>
                <a:r>
                  <a:rPr lang="pt-BR" dirty="0"/>
                  <a:t>). Se </a:t>
                </a:r>
                <a:r>
                  <a:rPr lang="pt-BR" b="1" dirty="0"/>
                  <a:t>para todo par </a:t>
                </a:r>
                <a:r>
                  <a:rPr lang="pt-BR" dirty="0"/>
                  <a:t>de vértices não adjacentes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𝑤</m:t>
                    </m:r>
                  </m:oMath>
                </a14:m>
                <a:r>
                  <a:rPr lang="pt-BR" dirty="0"/>
                  <a:t>, a soma de seus graus for maior ou igual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, então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dirty="0"/>
                  <a:t> é hamiltoniano.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6257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TEOREMA</a:t>
                </a:r>
              </a:p>
              <a:p>
                <a:pPr lvl="1"/>
                <a:r>
                  <a:rPr lang="pt-BR" dirty="0"/>
                  <a:t>Em um grafo completo 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vértices,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ímpar e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≥3</m:t>
                    </m:r>
                  </m:oMath>
                </a14:m>
                <a:r>
                  <a:rPr lang="pt-BR" dirty="0"/>
                  <a:t>). Existem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  <m:r>
                          <a:rPr lang="pt-BR" b="0" i="1" smtClean="0">
                            <a:latin typeface="Cambria Math"/>
                          </a:rPr>
                          <m:t>−1</m:t>
                        </m:r>
                      </m:num>
                      <m:den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pt-BR" dirty="0"/>
                  <a:t> circuitos hamiltonianos disjuntos de arestas.</a:t>
                </a:r>
              </a:p>
              <a:p>
                <a:r>
                  <a:rPr lang="pt-BR" dirty="0"/>
                  <a:t>TEOREMA</a:t>
                </a:r>
              </a:p>
              <a:p>
                <a:pPr lvl="1"/>
                <a:r>
                  <a:rPr lang="pt-BR" dirty="0"/>
                  <a:t>Em um grafo completo com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vértices,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par e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4</m:t>
                    </m:r>
                  </m:oMath>
                </a14:m>
                <a:r>
                  <a:rPr lang="pt-BR" dirty="0"/>
                  <a:t>). Existem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−2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pt-BR" dirty="0"/>
                  <a:t> circuitos hamiltonianos disjuntos de arestas.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573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Hamiltonianos</a:t>
            </a:r>
          </a:p>
        </p:txBody>
      </p:sp>
      <p:sp>
        <p:nvSpPr>
          <p:cNvPr id="4" name="Elipse 3"/>
          <p:cNvSpPr/>
          <p:nvPr/>
        </p:nvSpPr>
        <p:spPr>
          <a:xfrm>
            <a:off x="2588349" y="294088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Elipse 4"/>
          <p:cNvSpPr/>
          <p:nvPr/>
        </p:nvSpPr>
        <p:spPr>
          <a:xfrm>
            <a:off x="1595873" y="375501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560374" y="375501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1595873" y="515108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" name="Conector reto 7"/>
          <p:cNvCxnSpPr>
            <a:stCxn id="5" idx="4"/>
            <a:endCxn id="7" idx="0"/>
          </p:cNvCxnSpPr>
          <p:nvPr/>
        </p:nvCxnSpPr>
        <p:spPr>
          <a:xfrm>
            <a:off x="1867564" y="4165362"/>
            <a:ext cx="0" cy="985725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3560374" y="515565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0" name="Conector de seta reta 9"/>
          <p:cNvCxnSpPr>
            <a:stCxn id="9" idx="0"/>
            <a:endCxn id="6" idx="4"/>
          </p:cNvCxnSpPr>
          <p:nvPr/>
        </p:nvCxnSpPr>
        <p:spPr>
          <a:xfrm flipV="1">
            <a:off x="3832065" y="4165362"/>
            <a:ext cx="0" cy="990294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9" idx="1"/>
            <a:endCxn id="5" idx="5"/>
          </p:cNvCxnSpPr>
          <p:nvPr/>
        </p:nvCxnSpPr>
        <p:spPr>
          <a:xfrm flipH="1" flipV="1">
            <a:off x="2059678" y="4105269"/>
            <a:ext cx="1580272" cy="1110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5"/>
            <a:endCxn id="6" idx="1"/>
          </p:cNvCxnSpPr>
          <p:nvPr/>
        </p:nvCxnSpPr>
        <p:spPr>
          <a:xfrm>
            <a:off x="3052154" y="3291135"/>
            <a:ext cx="587796" cy="52397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4" idx="3"/>
            <a:endCxn id="5" idx="7"/>
          </p:cNvCxnSpPr>
          <p:nvPr/>
        </p:nvCxnSpPr>
        <p:spPr>
          <a:xfrm flipH="1">
            <a:off x="2059678" y="3291135"/>
            <a:ext cx="608247" cy="52397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2059678" y="4105269"/>
            <a:ext cx="1580272" cy="11059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5" idx="6"/>
            <a:endCxn id="6" idx="2"/>
          </p:cNvCxnSpPr>
          <p:nvPr/>
        </p:nvCxnSpPr>
        <p:spPr>
          <a:xfrm>
            <a:off x="2139254" y="3960190"/>
            <a:ext cx="14211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/>
          <p:cNvCxnSpPr>
            <a:stCxn id="4" idx="4"/>
            <a:endCxn id="7" idx="7"/>
          </p:cNvCxnSpPr>
          <p:nvPr/>
        </p:nvCxnSpPr>
        <p:spPr>
          <a:xfrm flipH="1">
            <a:off x="2059678" y="3351228"/>
            <a:ext cx="800362" cy="18599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4" idx="4"/>
            <a:endCxn id="9" idx="1"/>
          </p:cNvCxnSpPr>
          <p:nvPr/>
        </p:nvCxnSpPr>
        <p:spPr>
          <a:xfrm>
            <a:off x="2860040" y="3351228"/>
            <a:ext cx="779910" cy="186452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7" idx="6"/>
            <a:endCxn id="9" idx="2"/>
          </p:cNvCxnSpPr>
          <p:nvPr/>
        </p:nvCxnSpPr>
        <p:spPr>
          <a:xfrm>
            <a:off x="2139254" y="5356259"/>
            <a:ext cx="1421120" cy="4569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/>
          <p:cNvSpPr/>
          <p:nvPr/>
        </p:nvSpPr>
        <p:spPr>
          <a:xfrm>
            <a:off x="5139023" y="375033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9" name="Elipse 88"/>
          <p:cNvSpPr/>
          <p:nvPr/>
        </p:nvSpPr>
        <p:spPr>
          <a:xfrm>
            <a:off x="6484461" y="31663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0" name="Elipse 89"/>
          <p:cNvSpPr/>
          <p:nvPr/>
        </p:nvSpPr>
        <p:spPr>
          <a:xfrm>
            <a:off x="5139023" y="51464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91" name="Conector reto 90"/>
          <p:cNvCxnSpPr>
            <a:stCxn id="88" idx="4"/>
            <a:endCxn id="90" idx="0"/>
          </p:cNvCxnSpPr>
          <p:nvPr/>
        </p:nvCxnSpPr>
        <p:spPr>
          <a:xfrm>
            <a:off x="5410714" y="4160682"/>
            <a:ext cx="0" cy="985725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ipse 91"/>
          <p:cNvSpPr/>
          <p:nvPr/>
        </p:nvSpPr>
        <p:spPr>
          <a:xfrm>
            <a:off x="6492032" y="55979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93" name="Conector de seta reta 92"/>
          <p:cNvCxnSpPr>
            <a:stCxn id="92" idx="0"/>
            <a:endCxn id="89" idx="4"/>
          </p:cNvCxnSpPr>
          <p:nvPr/>
        </p:nvCxnSpPr>
        <p:spPr>
          <a:xfrm flipH="1" flipV="1">
            <a:off x="6756152" y="3576721"/>
            <a:ext cx="7571" cy="20212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92" idx="1"/>
            <a:endCxn id="88" idx="5"/>
          </p:cNvCxnSpPr>
          <p:nvPr/>
        </p:nvCxnSpPr>
        <p:spPr>
          <a:xfrm flipH="1" flipV="1">
            <a:off x="5602828" y="4100589"/>
            <a:ext cx="968780" cy="15574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>
            <a:stCxn id="89" idx="3"/>
            <a:endCxn id="90" idx="7"/>
          </p:cNvCxnSpPr>
          <p:nvPr/>
        </p:nvCxnSpPr>
        <p:spPr>
          <a:xfrm flipH="1">
            <a:off x="5602828" y="3516628"/>
            <a:ext cx="961209" cy="16898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/>
          <p:cNvCxnSpPr>
            <a:stCxn id="88" idx="7"/>
            <a:endCxn id="89" idx="2"/>
          </p:cNvCxnSpPr>
          <p:nvPr/>
        </p:nvCxnSpPr>
        <p:spPr>
          <a:xfrm flipV="1">
            <a:off x="5602828" y="3371549"/>
            <a:ext cx="881633" cy="43888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to 100"/>
          <p:cNvCxnSpPr>
            <a:stCxn id="90" idx="5"/>
            <a:endCxn id="92" idx="2"/>
          </p:cNvCxnSpPr>
          <p:nvPr/>
        </p:nvCxnSpPr>
        <p:spPr>
          <a:xfrm>
            <a:off x="5602828" y="5496658"/>
            <a:ext cx="889204" cy="30648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CaixaDeTexto 101"/>
              <p:cNvSpPr txBox="1"/>
              <p:nvPr/>
            </p:nvSpPr>
            <p:spPr>
              <a:xfrm>
                <a:off x="1064589" y="2069727"/>
                <a:ext cx="20747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Para um grafo onde </a:t>
                </a:r>
              </a:p>
              <a:p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ímpar e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≥3</m:t>
                    </m:r>
                  </m:oMath>
                </a14:m>
                <a:r>
                  <a:rPr lang="pt-BR" dirty="0"/>
                  <a:t>) </a:t>
                </a:r>
              </a:p>
            </p:txBody>
          </p:sp>
        </mc:Choice>
        <mc:Fallback>
          <p:sp>
            <p:nvSpPr>
              <p:cNvPr id="102" name="CaixaDeTexto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589" y="2069727"/>
                <a:ext cx="2074799" cy="646331"/>
              </a:xfrm>
              <a:prstGeom prst="rect">
                <a:avLst/>
              </a:prstGeom>
              <a:blipFill>
                <a:blip r:embed="rId2"/>
                <a:stretch>
                  <a:fillRect l="-2647" t="-5660" r="-1471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CaixaDeTexto 102"/>
              <p:cNvSpPr txBox="1"/>
              <p:nvPr/>
            </p:nvSpPr>
            <p:spPr>
              <a:xfrm>
                <a:off x="4918118" y="2069727"/>
                <a:ext cx="20747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Para um grafo onde </a:t>
                </a:r>
                <a:endParaRPr lang="pt-BR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par e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≥4</m:t>
                    </m:r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>
          <p:sp>
            <p:nvSpPr>
              <p:cNvPr id="103" name="CaixaDeTexto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118" y="2069727"/>
                <a:ext cx="2074799" cy="646331"/>
              </a:xfrm>
              <a:prstGeom prst="rect">
                <a:avLst/>
              </a:prstGeom>
              <a:blipFill>
                <a:blip r:embed="rId3"/>
                <a:stretch>
                  <a:fillRect l="-2647" t="-5660" r="-1471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Elipse 103"/>
          <p:cNvSpPr/>
          <p:nvPr/>
        </p:nvSpPr>
        <p:spPr>
          <a:xfrm>
            <a:off x="7845043" y="374873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5" name="Elipse 104"/>
          <p:cNvSpPr/>
          <p:nvPr/>
        </p:nvSpPr>
        <p:spPr>
          <a:xfrm>
            <a:off x="7845043" y="514937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06" name="Conector de seta reta 105"/>
          <p:cNvCxnSpPr>
            <a:stCxn id="105" idx="0"/>
            <a:endCxn id="104" idx="4"/>
          </p:cNvCxnSpPr>
          <p:nvPr/>
        </p:nvCxnSpPr>
        <p:spPr>
          <a:xfrm flipV="1">
            <a:off x="8116734" y="4159076"/>
            <a:ext cx="0" cy="990294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/>
          <p:cNvCxnSpPr>
            <a:stCxn id="89" idx="6"/>
            <a:endCxn id="104" idx="1"/>
          </p:cNvCxnSpPr>
          <p:nvPr/>
        </p:nvCxnSpPr>
        <p:spPr>
          <a:xfrm>
            <a:off x="7027842" y="3371549"/>
            <a:ext cx="896777" cy="43727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/>
          <p:cNvCxnSpPr>
            <a:stCxn id="104" idx="3"/>
            <a:endCxn id="92" idx="7"/>
          </p:cNvCxnSpPr>
          <p:nvPr/>
        </p:nvCxnSpPr>
        <p:spPr>
          <a:xfrm flipH="1">
            <a:off x="6955837" y="4098983"/>
            <a:ext cx="968782" cy="15590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/>
          <p:cNvCxnSpPr>
            <a:stCxn id="89" idx="5"/>
            <a:endCxn id="105" idx="1"/>
          </p:cNvCxnSpPr>
          <p:nvPr/>
        </p:nvCxnSpPr>
        <p:spPr>
          <a:xfrm>
            <a:off x="6948266" y="3516628"/>
            <a:ext cx="976353" cy="1692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to 116"/>
          <p:cNvCxnSpPr>
            <a:stCxn id="92" idx="6"/>
            <a:endCxn id="105" idx="3"/>
          </p:cNvCxnSpPr>
          <p:nvPr/>
        </p:nvCxnSpPr>
        <p:spPr>
          <a:xfrm flipV="1">
            <a:off x="7035413" y="5499621"/>
            <a:ext cx="889206" cy="30351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to 118"/>
          <p:cNvCxnSpPr>
            <a:stCxn id="88" idx="5"/>
            <a:endCxn id="105" idx="1"/>
          </p:cNvCxnSpPr>
          <p:nvPr/>
        </p:nvCxnSpPr>
        <p:spPr>
          <a:xfrm>
            <a:off x="5602828" y="4100589"/>
            <a:ext cx="2321791" cy="11088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reto 145"/>
          <p:cNvCxnSpPr>
            <a:stCxn id="88" idx="6"/>
            <a:endCxn id="104" idx="2"/>
          </p:cNvCxnSpPr>
          <p:nvPr/>
        </p:nvCxnSpPr>
        <p:spPr>
          <a:xfrm flipV="1">
            <a:off x="5682404" y="3953904"/>
            <a:ext cx="2162639" cy="16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to 151"/>
          <p:cNvCxnSpPr>
            <a:stCxn id="104" idx="3"/>
            <a:endCxn id="90" idx="7"/>
          </p:cNvCxnSpPr>
          <p:nvPr/>
        </p:nvCxnSpPr>
        <p:spPr>
          <a:xfrm flipH="1">
            <a:off x="5602828" y="4098983"/>
            <a:ext cx="2321791" cy="11075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/>
          <p:cNvCxnSpPr>
            <a:stCxn id="105" idx="2"/>
            <a:endCxn id="90" idx="6"/>
          </p:cNvCxnSpPr>
          <p:nvPr/>
        </p:nvCxnSpPr>
        <p:spPr>
          <a:xfrm flipH="1" flipV="1">
            <a:off x="5682404" y="5351579"/>
            <a:ext cx="2162639" cy="29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/>
          <p:nvPr/>
        </p:nvCxnSpPr>
        <p:spPr>
          <a:xfrm>
            <a:off x="5796136" y="3861048"/>
            <a:ext cx="2173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de seta reta 160"/>
          <p:cNvCxnSpPr/>
          <p:nvPr/>
        </p:nvCxnSpPr>
        <p:spPr>
          <a:xfrm flipH="1">
            <a:off x="7740352" y="4293096"/>
            <a:ext cx="141766" cy="2242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de seta reta 162"/>
          <p:cNvCxnSpPr/>
          <p:nvPr/>
        </p:nvCxnSpPr>
        <p:spPr>
          <a:xfrm flipV="1">
            <a:off x="6804248" y="4941168"/>
            <a:ext cx="0" cy="26197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de seta reta 164"/>
          <p:cNvCxnSpPr/>
          <p:nvPr/>
        </p:nvCxnSpPr>
        <p:spPr>
          <a:xfrm flipH="1">
            <a:off x="6446458" y="3645024"/>
            <a:ext cx="141766" cy="2242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de seta reta 165"/>
          <p:cNvCxnSpPr/>
          <p:nvPr/>
        </p:nvCxnSpPr>
        <p:spPr>
          <a:xfrm>
            <a:off x="5868144" y="5301208"/>
            <a:ext cx="2173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de seta reta 166"/>
          <p:cNvCxnSpPr/>
          <p:nvPr/>
        </p:nvCxnSpPr>
        <p:spPr>
          <a:xfrm flipH="1" flipV="1">
            <a:off x="7524328" y="4954197"/>
            <a:ext cx="279648" cy="1309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CaixaDeTexto 168"/>
          <p:cNvSpPr txBox="1"/>
          <p:nvPr/>
        </p:nvSpPr>
        <p:spPr>
          <a:xfrm>
            <a:off x="4499992" y="6165304"/>
            <a:ext cx="3616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Vejam que há outros circuitos aqui, mas não disjuntos de arestas</a:t>
            </a:r>
          </a:p>
        </p:txBody>
      </p:sp>
      <p:cxnSp>
        <p:nvCxnSpPr>
          <p:cNvPr id="171" name="Conector de seta reta 170"/>
          <p:cNvCxnSpPr/>
          <p:nvPr/>
        </p:nvCxnSpPr>
        <p:spPr>
          <a:xfrm flipV="1">
            <a:off x="5292080" y="5803138"/>
            <a:ext cx="310748" cy="2901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463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Cavalo do Xadrez</a:t>
            </a:r>
          </a:p>
        </p:txBody>
      </p:sp>
      <p:sp>
        <p:nvSpPr>
          <p:cNvPr id="4" name="Retângulo 3"/>
          <p:cNvSpPr/>
          <p:nvPr/>
        </p:nvSpPr>
        <p:spPr>
          <a:xfrm>
            <a:off x="863588" y="2773643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511660" y="2773643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2797031" y="2773643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2152317" y="2773643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863588" y="3349707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511660" y="3349707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797031" y="3349707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152317" y="3349707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863588" y="3934240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1511660" y="3934240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2797031" y="3934240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2152317" y="3934240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863588" y="4510304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1511660" y="4510304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2797031" y="4510304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2152317" y="4510304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4" name="Picture 2" descr="http://static.freepik.com/fotos-gratis/cavalo-de-xadrez_17-92619244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848411"/>
            <a:ext cx="432048" cy="42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ector de seta reta 24"/>
          <p:cNvCxnSpPr>
            <a:stCxn id="3074" idx="2"/>
          </p:cNvCxnSpPr>
          <p:nvPr/>
        </p:nvCxnSpPr>
        <p:spPr>
          <a:xfrm>
            <a:off x="1835696" y="3274938"/>
            <a:ext cx="719031" cy="1027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3074" idx="2"/>
          </p:cNvCxnSpPr>
          <p:nvPr/>
        </p:nvCxnSpPr>
        <p:spPr>
          <a:xfrm flipH="1">
            <a:off x="1187625" y="3274938"/>
            <a:ext cx="648071" cy="1027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3074" idx="2"/>
          </p:cNvCxnSpPr>
          <p:nvPr/>
        </p:nvCxnSpPr>
        <p:spPr>
          <a:xfrm>
            <a:off x="1835696" y="3274938"/>
            <a:ext cx="1367103" cy="3628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776639" y="1700808"/>
            <a:ext cx="77589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Um cavalo deve começar em alguma posição, visitar todas as</a:t>
            </a:r>
          </a:p>
          <a:p>
            <a:r>
              <a:rPr lang="pt-BR" sz="2400" dirty="0"/>
              <a:t>posições exatamente uma vez e retornar à posição inicial.</a:t>
            </a:r>
          </a:p>
        </p:txBody>
      </p:sp>
    </p:spTree>
    <p:extLst>
      <p:ext uri="{BB962C8B-B14F-4D97-AF65-F5344CB8AC3E}">
        <p14:creationId xmlns:p14="http://schemas.microsoft.com/office/powerpoint/2010/main" val="2952363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Cavalo do Xadrez</a:t>
            </a:r>
          </a:p>
        </p:txBody>
      </p:sp>
      <p:sp>
        <p:nvSpPr>
          <p:cNvPr id="4" name="Retângulo 3"/>
          <p:cNvSpPr/>
          <p:nvPr/>
        </p:nvSpPr>
        <p:spPr>
          <a:xfrm>
            <a:off x="863588" y="2773643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511660" y="2773643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2797031" y="2773643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2152317" y="2773643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863588" y="3349707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511660" y="3349707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797031" y="3349707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152317" y="3349707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863588" y="3934240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1511660" y="3934240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2797031" y="3934240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2152317" y="3934240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863588" y="4510304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1511660" y="4510304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2797031" y="4510304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2152317" y="4510304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4" name="Picture 2" descr="http://static.freepik.com/fotos-gratis/cavalo-de-xadrez_17-92619244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848411"/>
            <a:ext cx="432048" cy="42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ector de seta reta 24"/>
          <p:cNvCxnSpPr>
            <a:stCxn id="3074" idx="2"/>
          </p:cNvCxnSpPr>
          <p:nvPr/>
        </p:nvCxnSpPr>
        <p:spPr>
          <a:xfrm>
            <a:off x="1835696" y="3274938"/>
            <a:ext cx="719031" cy="1027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3074" idx="2"/>
          </p:cNvCxnSpPr>
          <p:nvPr/>
        </p:nvCxnSpPr>
        <p:spPr>
          <a:xfrm flipH="1">
            <a:off x="1187625" y="3274938"/>
            <a:ext cx="648071" cy="1027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3074" idx="2"/>
          </p:cNvCxnSpPr>
          <p:nvPr/>
        </p:nvCxnSpPr>
        <p:spPr>
          <a:xfrm>
            <a:off x="1835696" y="3274938"/>
            <a:ext cx="1367103" cy="3628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5148064" y="2924944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/>
          <p:cNvSpPr/>
          <p:nvPr/>
        </p:nvSpPr>
        <p:spPr>
          <a:xfrm>
            <a:off x="6084168" y="2924944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6948264" y="2924989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7812360" y="2937159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5148064" y="3573016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6084168" y="3573016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6948264" y="3573061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/>
          <p:cNvSpPr/>
          <p:nvPr/>
        </p:nvSpPr>
        <p:spPr>
          <a:xfrm>
            <a:off x="7812360" y="3585231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5148064" y="4149080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6084168" y="4149080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6948264" y="4149125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7812360" y="4161295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5148064" y="4797152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6084168" y="4797152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Elipse 46"/>
          <p:cNvSpPr/>
          <p:nvPr/>
        </p:nvSpPr>
        <p:spPr>
          <a:xfrm>
            <a:off x="6948264" y="4797197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/>
          <p:cNvSpPr/>
          <p:nvPr/>
        </p:nvSpPr>
        <p:spPr>
          <a:xfrm>
            <a:off x="7812360" y="4809367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1" name="Conector reto 50"/>
          <p:cNvCxnSpPr>
            <a:stCxn id="34" idx="3"/>
            <a:endCxn id="41" idx="7"/>
          </p:cNvCxnSpPr>
          <p:nvPr/>
        </p:nvCxnSpPr>
        <p:spPr>
          <a:xfrm flipH="1">
            <a:off x="5393915" y="3109332"/>
            <a:ext cx="732434" cy="1071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>
            <a:stCxn id="34" idx="5"/>
            <a:endCxn id="43" idx="1"/>
          </p:cNvCxnSpPr>
          <p:nvPr/>
        </p:nvCxnSpPr>
        <p:spPr>
          <a:xfrm>
            <a:off x="6330019" y="3109332"/>
            <a:ext cx="660426" cy="1071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34" idx="6"/>
            <a:endCxn id="40" idx="1"/>
          </p:cNvCxnSpPr>
          <p:nvPr/>
        </p:nvCxnSpPr>
        <p:spPr>
          <a:xfrm>
            <a:off x="6372200" y="3032956"/>
            <a:ext cx="1482341" cy="583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776639" y="1700808"/>
            <a:ext cx="77589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Um cavalo deve começar em alguma posição, visitar todas as</a:t>
            </a:r>
          </a:p>
          <a:p>
            <a:r>
              <a:rPr lang="pt-BR" sz="2400" dirty="0"/>
              <a:t>posições exatamente uma vez e retornar à posição inicial.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863589" y="5589240"/>
                <a:ext cx="78128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𝑉</m:t>
                    </m:r>
                    <m:r>
                      <a:rPr lang="pt-BR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= é uma casa do tabuleiro de xadrez</a:t>
                </a:r>
              </a:p>
              <a:p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𝐸</m:t>
                    </m:r>
                  </m:oMath>
                </a14:m>
                <a:r>
                  <a:rPr lang="pt-BR" dirty="0"/>
                  <a:t> = (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𝑢</m:t>
                    </m:r>
                    <m:r>
                      <a:rPr lang="pt-BR" i="1" dirty="0" smtClean="0">
                        <a:latin typeface="Cambria Math"/>
                      </a:rPr>
                      <m:t>, </m:t>
                    </m:r>
                    <m:r>
                      <a:rPr lang="pt-BR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) será uma aresta 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𝑣</m:t>
                    </m:r>
                    <m:r>
                      <a:rPr lang="pt-BR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pode ser atingida a partir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dirty="0"/>
                  <a:t> com um único movimento do cavalo.</a:t>
                </a: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9" y="5589240"/>
                <a:ext cx="7812868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703" t="-3311" b="-99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3166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Cavalo do Xadrez</a:t>
            </a:r>
          </a:p>
        </p:txBody>
      </p:sp>
      <p:sp>
        <p:nvSpPr>
          <p:cNvPr id="4" name="Retângulo 3"/>
          <p:cNvSpPr/>
          <p:nvPr/>
        </p:nvSpPr>
        <p:spPr>
          <a:xfrm>
            <a:off x="863588" y="2773643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511660" y="2773643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2797031" y="2773643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2152317" y="2773643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863588" y="3349707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511660" y="3349707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797031" y="3349707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152317" y="3349707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863588" y="3934240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1511660" y="3934240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2797031" y="3934240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2152317" y="3934240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863588" y="4510304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1511660" y="4510304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2797031" y="4510304"/>
            <a:ext cx="648072" cy="5760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2152317" y="4510304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4" name="Picture 2" descr="http://static.freepik.com/fotos-gratis/cavalo-de-xadrez_17-92619244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848411"/>
            <a:ext cx="432048" cy="42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ector de seta reta 24"/>
          <p:cNvCxnSpPr>
            <a:stCxn id="3074" idx="2"/>
          </p:cNvCxnSpPr>
          <p:nvPr/>
        </p:nvCxnSpPr>
        <p:spPr>
          <a:xfrm>
            <a:off x="1835696" y="3274938"/>
            <a:ext cx="719031" cy="1027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3074" idx="2"/>
          </p:cNvCxnSpPr>
          <p:nvPr/>
        </p:nvCxnSpPr>
        <p:spPr>
          <a:xfrm flipH="1">
            <a:off x="1187625" y="3274938"/>
            <a:ext cx="648071" cy="1027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3074" idx="2"/>
          </p:cNvCxnSpPr>
          <p:nvPr/>
        </p:nvCxnSpPr>
        <p:spPr>
          <a:xfrm>
            <a:off x="1835696" y="3274938"/>
            <a:ext cx="1367103" cy="3628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5148064" y="2924944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/>
          <p:cNvSpPr/>
          <p:nvPr/>
        </p:nvSpPr>
        <p:spPr>
          <a:xfrm>
            <a:off x="6084168" y="2924944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6948264" y="2924989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7812360" y="2937159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5148064" y="3573016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6084168" y="3573016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6948264" y="3573061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/>
          <p:cNvSpPr/>
          <p:nvPr/>
        </p:nvSpPr>
        <p:spPr>
          <a:xfrm>
            <a:off x="7812360" y="3585231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5148064" y="4149080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6084168" y="4149080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6948264" y="4149125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7812360" y="4161295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5148064" y="4797152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6084168" y="4797152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Elipse 46"/>
          <p:cNvSpPr/>
          <p:nvPr/>
        </p:nvSpPr>
        <p:spPr>
          <a:xfrm>
            <a:off x="6948264" y="4797197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/>
          <p:cNvSpPr/>
          <p:nvPr/>
        </p:nvSpPr>
        <p:spPr>
          <a:xfrm>
            <a:off x="7812360" y="4809367"/>
            <a:ext cx="288032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1" name="Conector reto 50"/>
          <p:cNvCxnSpPr>
            <a:stCxn id="34" idx="3"/>
            <a:endCxn id="41" idx="7"/>
          </p:cNvCxnSpPr>
          <p:nvPr/>
        </p:nvCxnSpPr>
        <p:spPr>
          <a:xfrm flipH="1">
            <a:off x="5393915" y="3109332"/>
            <a:ext cx="732434" cy="1071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>
            <a:stCxn id="34" idx="5"/>
            <a:endCxn id="43" idx="1"/>
          </p:cNvCxnSpPr>
          <p:nvPr/>
        </p:nvCxnSpPr>
        <p:spPr>
          <a:xfrm>
            <a:off x="6330019" y="3109332"/>
            <a:ext cx="660426" cy="1071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34" idx="6"/>
            <a:endCxn id="40" idx="1"/>
          </p:cNvCxnSpPr>
          <p:nvPr/>
        </p:nvCxnSpPr>
        <p:spPr>
          <a:xfrm>
            <a:off x="6372200" y="3032956"/>
            <a:ext cx="1482341" cy="583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32" idx="6"/>
            <a:endCxn id="39" idx="1"/>
          </p:cNvCxnSpPr>
          <p:nvPr/>
        </p:nvCxnSpPr>
        <p:spPr>
          <a:xfrm>
            <a:off x="5436096" y="3032956"/>
            <a:ext cx="1554349" cy="571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32" idx="4"/>
            <a:endCxn id="42" idx="1"/>
          </p:cNvCxnSpPr>
          <p:nvPr/>
        </p:nvCxnSpPr>
        <p:spPr>
          <a:xfrm>
            <a:off x="5292080" y="3140968"/>
            <a:ext cx="834269" cy="1039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35" idx="3"/>
            <a:endCxn id="42" idx="7"/>
          </p:cNvCxnSpPr>
          <p:nvPr/>
        </p:nvCxnSpPr>
        <p:spPr>
          <a:xfrm flipH="1">
            <a:off x="6330019" y="3109377"/>
            <a:ext cx="660426" cy="1071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35" idx="2"/>
            <a:endCxn id="37" idx="7"/>
          </p:cNvCxnSpPr>
          <p:nvPr/>
        </p:nvCxnSpPr>
        <p:spPr>
          <a:xfrm flipH="1">
            <a:off x="5393915" y="3033001"/>
            <a:ext cx="1554349" cy="571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35" idx="5"/>
            <a:endCxn id="44" idx="1"/>
          </p:cNvCxnSpPr>
          <p:nvPr/>
        </p:nvCxnSpPr>
        <p:spPr>
          <a:xfrm>
            <a:off x="7194115" y="3109377"/>
            <a:ext cx="660426" cy="1083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>
            <a:stCxn id="36" idx="4"/>
            <a:endCxn id="43" idx="7"/>
          </p:cNvCxnSpPr>
          <p:nvPr/>
        </p:nvCxnSpPr>
        <p:spPr>
          <a:xfrm flipH="1">
            <a:off x="7194115" y="3153183"/>
            <a:ext cx="762261" cy="1027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/>
          <p:cNvCxnSpPr>
            <a:stCxn id="36" idx="2"/>
            <a:endCxn id="38" idx="7"/>
          </p:cNvCxnSpPr>
          <p:nvPr/>
        </p:nvCxnSpPr>
        <p:spPr>
          <a:xfrm flipH="1">
            <a:off x="6330019" y="3045171"/>
            <a:ext cx="1482341" cy="559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37" idx="6"/>
            <a:endCxn id="43" idx="2"/>
          </p:cNvCxnSpPr>
          <p:nvPr/>
        </p:nvCxnSpPr>
        <p:spPr>
          <a:xfrm>
            <a:off x="5436096" y="3681028"/>
            <a:ext cx="1512168" cy="576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37" idx="5"/>
            <a:endCxn id="46" idx="2"/>
          </p:cNvCxnSpPr>
          <p:nvPr/>
        </p:nvCxnSpPr>
        <p:spPr>
          <a:xfrm>
            <a:off x="5393915" y="3757404"/>
            <a:ext cx="690253" cy="1147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/>
          <p:cNvCxnSpPr>
            <a:stCxn id="38" idx="6"/>
            <a:endCxn id="44" idx="2"/>
          </p:cNvCxnSpPr>
          <p:nvPr/>
        </p:nvCxnSpPr>
        <p:spPr>
          <a:xfrm>
            <a:off x="6372200" y="3681028"/>
            <a:ext cx="1440160" cy="588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38" idx="5"/>
            <a:endCxn id="47" idx="1"/>
          </p:cNvCxnSpPr>
          <p:nvPr/>
        </p:nvCxnSpPr>
        <p:spPr>
          <a:xfrm>
            <a:off x="6330019" y="3757404"/>
            <a:ext cx="660426" cy="1071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Conector reto 3072"/>
          <p:cNvCxnSpPr>
            <a:stCxn id="38" idx="3"/>
            <a:endCxn id="45" idx="0"/>
          </p:cNvCxnSpPr>
          <p:nvPr/>
        </p:nvCxnSpPr>
        <p:spPr>
          <a:xfrm flipH="1">
            <a:off x="5292080" y="3757404"/>
            <a:ext cx="834269" cy="1039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Conector reto 3075"/>
          <p:cNvCxnSpPr>
            <a:stCxn id="39" idx="3"/>
            <a:endCxn id="46" idx="7"/>
          </p:cNvCxnSpPr>
          <p:nvPr/>
        </p:nvCxnSpPr>
        <p:spPr>
          <a:xfrm flipH="1">
            <a:off x="6330019" y="3757449"/>
            <a:ext cx="660426" cy="1071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Conector reto 3077"/>
          <p:cNvCxnSpPr>
            <a:stCxn id="39" idx="5"/>
            <a:endCxn id="48" idx="0"/>
          </p:cNvCxnSpPr>
          <p:nvPr/>
        </p:nvCxnSpPr>
        <p:spPr>
          <a:xfrm>
            <a:off x="7194115" y="3757449"/>
            <a:ext cx="762261" cy="1051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Conector reto 3079"/>
          <p:cNvCxnSpPr>
            <a:stCxn id="39" idx="2"/>
            <a:endCxn id="41" idx="6"/>
          </p:cNvCxnSpPr>
          <p:nvPr/>
        </p:nvCxnSpPr>
        <p:spPr>
          <a:xfrm flipH="1">
            <a:off x="5436096" y="3681073"/>
            <a:ext cx="1512168" cy="5760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2" name="Conector reto 3081"/>
          <p:cNvCxnSpPr>
            <a:stCxn id="40" idx="3"/>
            <a:endCxn id="47" idx="6"/>
          </p:cNvCxnSpPr>
          <p:nvPr/>
        </p:nvCxnSpPr>
        <p:spPr>
          <a:xfrm flipH="1">
            <a:off x="7236296" y="3769619"/>
            <a:ext cx="618245" cy="1135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4" name="Conector reto 3083"/>
          <p:cNvCxnSpPr>
            <a:stCxn id="40" idx="2"/>
            <a:endCxn id="42" idx="6"/>
          </p:cNvCxnSpPr>
          <p:nvPr/>
        </p:nvCxnSpPr>
        <p:spPr>
          <a:xfrm flipH="1">
            <a:off x="6372200" y="3693243"/>
            <a:ext cx="1440160" cy="563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7" name="Conector reto 3086"/>
          <p:cNvCxnSpPr>
            <a:stCxn id="41" idx="5"/>
            <a:endCxn id="47" idx="2"/>
          </p:cNvCxnSpPr>
          <p:nvPr/>
        </p:nvCxnSpPr>
        <p:spPr>
          <a:xfrm>
            <a:off x="5393915" y="4333468"/>
            <a:ext cx="1554349" cy="571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9" name="Conector reto 3088"/>
          <p:cNvCxnSpPr>
            <a:stCxn id="42" idx="5"/>
            <a:endCxn id="48" idx="2"/>
          </p:cNvCxnSpPr>
          <p:nvPr/>
        </p:nvCxnSpPr>
        <p:spPr>
          <a:xfrm>
            <a:off x="6330019" y="4333468"/>
            <a:ext cx="1482341" cy="583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1" name="Conector reto 3090"/>
          <p:cNvCxnSpPr>
            <a:stCxn id="43" idx="3"/>
            <a:endCxn id="45" idx="6"/>
          </p:cNvCxnSpPr>
          <p:nvPr/>
        </p:nvCxnSpPr>
        <p:spPr>
          <a:xfrm flipH="1">
            <a:off x="5436096" y="4333513"/>
            <a:ext cx="1554349" cy="571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3" name="Conector reto 3092"/>
          <p:cNvCxnSpPr>
            <a:stCxn id="44" idx="3"/>
            <a:endCxn id="46" idx="6"/>
          </p:cNvCxnSpPr>
          <p:nvPr/>
        </p:nvCxnSpPr>
        <p:spPr>
          <a:xfrm flipH="1">
            <a:off x="6372200" y="4345683"/>
            <a:ext cx="1482341" cy="559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ixaDeTexto 89"/>
          <p:cNvSpPr txBox="1"/>
          <p:nvPr/>
        </p:nvSpPr>
        <p:spPr>
          <a:xfrm>
            <a:off x="776639" y="1700808"/>
            <a:ext cx="77589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Um cavalo deve começar em alguma posição, visitar todas as</a:t>
            </a:r>
          </a:p>
          <a:p>
            <a:r>
              <a:rPr lang="pt-BR" sz="2400" dirty="0"/>
              <a:t>posições exatamente uma vez e retornar à posição inicial.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aixaDeTexto 90"/>
              <p:cNvSpPr txBox="1"/>
              <p:nvPr/>
            </p:nvSpPr>
            <p:spPr>
              <a:xfrm>
                <a:off x="863589" y="5589240"/>
                <a:ext cx="78128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𝑉</m:t>
                    </m:r>
                    <m:r>
                      <a:rPr lang="pt-BR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= é uma casa do tabuleiro de xadrez</a:t>
                </a:r>
              </a:p>
              <a:p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𝐸</m:t>
                    </m:r>
                  </m:oMath>
                </a14:m>
                <a:r>
                  <a:rPr lang="pt-BR" dirty="0"/>
                  <a:t> = (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𝑢</m:t>
                    </m:r>
                    <m:r>
                      <a:rPr lang="pt-BR" i="1" dirty="0" smtClean="0">
                        <a:latin typeface="Cambria Math"/>
                      </a:rPr>
                      <m:t>, </m:t>
                    </m:r>
                    <m:r>
                      <a:rPr lang="pt-BR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) será uma aresta 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𝑣</m:t>
                    </m:r>
                    <m:r>
                      <a:rPr lang="pt-BR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pode ser atingida a partir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dirty="0"/>
                  <a:t> com um único movimento do cavalo.</a:t>
                </a:r>
              </a:p>
            </p:txBody>
          </p:sp>
        </mc:Choice>
        <mc:Fallback xmlns="">
          <p:sp>
            <p:nvSpPr>
              <p:cNvPr id="91" name="CaixaDeTexto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9" y="5589240"/>
                <a:ext cx="7812868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703" t="-3311" b="-99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846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Cavalo do Xadrez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Solução: verificar se o grafo G é hamiltoniano</a:t>
            </a:r>
          </a:p>
          <a:p>
            <a:pPr lvl="1"/>
            <a:r>
              <a:rPr lang="pt-BR" sz="2400" dirty="0"/>
              <a:t>Uma das soluções pra tabuleiro 8 x 8:</a:t>
            </a:r>
          </a:p>
        </p:txBody>
      </p:sp>
      <p:pic>
        <p:nvPicPr>
          <p:cNvPr id="4100" name="Picture 4" descr="http://www.inf.ufsc.br/grafos/temas/hamiltoniano/tabuleiro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924944"/>
            <a:ext cx="3024336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5003036" y="6052646"/>
            <a:ext cx="937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UFSC</a:t>
            </a:r>
          </a:p>
        </p:txBody>
      </p:sp>
    </p:spTree>
    <p:extLst>
      <p:ext uri="{BB962C8B-B14F-4D97-AF65-F5344CB8AC3E}">
        <p14:creationId xmlns:p14="http://schemas.microsoft.com/office/powerpoint/2010/main" val="3157415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Caixeiro Viajante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400" dirty="0" err="1"/>
              <a:t>Traveling</a:t>
            </a:r>
            <a:r>
              <a:rPr lang="pt-BR" sz="2400" dirty="0"/>
              <a:t> </a:t>
            </a:r>
            <a:r>
              <a:rPr lang="pt-BR" sz="2400" dirty="0" err="1"/>
              <a:t>Salesman</a:t>
            </a:r>
            <a:r>
              <a:rPr lang="pt-BR" sz="2400" dirty="0"/>
              <a:t> </a:t>
            </a:r>
            <a:r>
              <a:rPr lang="pt-BR" sz="2400" dirty="0" err="1"/>
              <a:t>Problem</a:t>
            </a:r>
            <a:r>
              <a:rPr lang="pt-BR" sz="2400" dirty="0"/>
              <a:t> (TSP)</a:t>
            </a:r>
          </a:p>
          <a:p>
            <a:r>
              <a:rPr lang="pt-BR" sz="2400" dirty="0"/>
              <a:t>Suponha o mapa abaixo mostrando quatro cidades (A;B;C;D) e as distâncias em km entre elas.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Um caixeiro viajante deve percorrer um circuito Hamiltoniano, ou seja, visitar cada cidade exatamente uma única vez e voltar a cidade inicial.</a:t>
            </a:r>
          </a:p>
          <a:p>
            <a:r>
              <a:rPr lang="pt-BR" sz="2400" dirty="0"/>
              <a:t>Que rota deve ser escolhida para minimizar o total da distância percorrida?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98" y="2780928"/>
            <a:ext cx="3228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0" y="6581000"/>
            <a:ext cx="4460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Adaptado do material de aula do prof. Antônio Loureiro (DCC/UFMG)</a:t>
            </a:r>
          </a:p>
        </p:txBody>
      </p:sp>
    </p:spTree>
    <p:extLst>
      <p:ext uri="{BB962C8B-B14F-4D97-AF65-F5344CB8AC3E}">
        <p14:creationId xmlns:p14="http://schemas.microsoft.com/office/powerpoint/2010/main" val="4024351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Caixeiro Viajante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Possível solução:</a:t>
            </a:r>
          </a:p>
          <a:p>
            <a:pPr lvl="1"/>
            <a:r>
              <a:rPr lang="pt-BR" sz="2000" dirty="0"/>
              <a:t>Enumere todos os possíveis circuitos Hamiltonianos começando e terminando em A;</a:t>
            </a:r>
          </a:p>
          <a:p>
            <a:pPr lvl="1"/>
            <a:r>
              <a:rPr lang="pt-BR" sz="2000" dirty="0"/>
              <a:t>Calcule a distância de cada um deles;</a:t>
            </a:r>
          </a:p>
          <a:p>
            <a:pPr lvl="1"/>
            <a:r>
              <a:rPr lang="pt-BR" sz="2000" dirty="0"/>
              <a:t>Determine o menor deles.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43101"/>
            <a:ext cx="4110171" cy="2334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932" y="3717032"/>
            <a:ext cx="32289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861221" y="6011996"/>
            <a:ext cx="751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Assim, tanto a rota ABCDA ou ADCBA tem uma distância total de 125 km.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0" y="6581000"/>
            <a:ext cx="4460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Adaptado do material de aula do prof. Antônio Loureiro (DCC/UFMG)</a:t>
            </a:r>
          </a:p>
        </p:txBody>
      </p:sp>
    </p:spTree>
    <p:extLst>
      <p:ext uri="{BB962C8B-B14F-4D97-AF65-F5344CB8AC3E}">
        <p14:creationId xmlns:p14="http://schemas.microsoft.com/office/powerpoint/2010/main" val="1658271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Caixeiro Viajante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sz="2400" dirty="0"/>
                  <a:t>A solução é um circuito Hamiltoniano que minimiza a distância total percorrida para um grafo valorado arbitrário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400" dirty="0"/>
                  <a:t>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sz="2400" dirty="0"/>
                  <a:t> vértices, onde uma distância é atribuída a cada aresta.</a:t>
                </a:r>
              </a:p>
              <a:p>
                <a:r>
                  <a:rPr lang="pt-BR" sz="2400" dirty="0"/>
                  <a:t>Algoritmo:</a:t>
                </a:r>
              </a:p>
              <a:p>
                <a:pPr lvl="1"/>
                <a:r>
                  <a:rPr lang="pt-BR" sz="2000" dirty="0"/>
                  <a:t>Atualmente, força bruta, como feito no exemplo anterior.</a:t>
                </a:r>
              </a:p>
              <a:p>
                <a:pPr lvl="1"/>
                <a:r>
                  <a:rPr lang="pt-BR" sz="2000" dirty="0"/>
                  <a:t>Problema da classe NP-Completo.</a:t>
                </a:r>
              </a:p>
              <a:p>
                <a:pPr lvl="1"/>
                <a:endParaRPr lang="pt-BR" sz="2000" dirty="0"/>
              </a:p>
              <a:p>
                <a:r>
                  <a:rPr lang="pt-BR" sz="2400" dirty="0"/>
                  <a:t>Exemplo: para o grafo K</a:t>
                </a:r>
                <a:r>
                  <a:rPr lang="pt-BR" sz="2400" baseline="-25000" dirty="0"/>
                  <a:t>30</a:t>
                </a:r>
                <a:r>
                  <a:rPr lang="pt-BR" sz="2400" dirty="0"/>
                  <a:t> existem</a:t>
                </a:r>
              </a:p>
              <a:p>
                <a:endParaRPr lang="pt-BR" sz="2400" dirty="0"/>
              </a:p>
              <a:p>
                <a:endParaRPr lang="pt-BR" sz="2400" dirty="0"/>
              </a:p>
              <a:p>
                <a:pPr marL="0" indent="0">
                  <a:buNone/>
                </a:pPr>
                <a:r>
                  <a:rPr lang="pt-BR" sz="2400" dirty="0"/>
                  <a:t>circuitos Hamiltonianos diferentes começando e terminando num determinado vértice.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887" b="-8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419872" y="4725144"/>
                <a:ext cx="22247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/>
                        </a:rPr>
                        <m:t>29!</m:t>
                      </m:r>
                      <m:r>
                        <a:rPr lang="pt-BR" sz="2000" b="0" i="1" smtClean="0">
                          <a:latin typeface="Cambria Math"/>
                          <a:ea typeface="Cambria Math"/>
                        </a:rPr>
                        <m:t>≈8,84×</m:t>
                      </m:r>
                      <m:sSup>
                        <m:s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pt-BR" sz="2000" b="0" i="1" smtClean="0">
                              <a:latin typeface="Cambria Math"/>
                              <a:ea typeface="Cambria Math"/>
                            </a:rPr>
                            <m:t>30</m:t>
                          </m:r>
                        </m:sup>
                      </m:sSup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4725144"/>
                <a:ext cx="2224712" cy="4001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0" y="6581000"/>
            <a:ext cx="4460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Adaptado do material de aula do prof. Antônio Loureiro (DCC/UFMG)</a:t>
            </a:r>
          </a:p>
        </p:txBody>
      </p:sp>
    </p:spTree>
    <p:extLst>
      <p:ext uri="{BB962C8B-B14F-4D97-AF65-F5344CB8AC3E}">
        <p14:creationId xmlns:p14="http://schemas.microsoft.com/office/powerpoint/2010/main" val="3651235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844824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 </a:t>
            </a:r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78632" y="2763549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Cormen</a:t>
            </a:r>
            <a:r>
              <a:rPr lang="pt-BR" dirty="0"/>
              <a:t> et al., 2002] Algoritmos: Teoria e Prática – Tradução da segunda edição em inglês. 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2002, 936 pp. Editora Campus, ISBN 8535209263.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78632" y="3686879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8632" y="4333210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Sedgewick</a:t>
            </a:r>
            <a:r>
              <a:rPr lang="pt-BR" dirty="0"/>
              <a:t>, 1992] </a:t>
            </a:r>
            <a:r>
              <a:rPr lang="pt-BR" dirty="0" err="1"/>
              <a:t>Algorithms</a:t>
            </a:r>
            <a:r>
              <a:rPr lang="pt-BR" dirty="0"/>
              <a:t> in C++. Robert </a:t>
            </a:r>
            <a:r>
              <a:rPr lang="pt-BR" dirty="0" err="1"/>
              <a:t>Segdewick</a:t>
            </a:r>
            <a:r>
              <a:rPr lang="pt-BR" dirty="0"/>
              <a:t>. c1992, 656 pp. </a:t>
            </a:r>
            <a:r>
              <a:rPr lang="en-US" dirty="0"/>
              <a:t>Boston: Addison Wesley, ISBN 0201510596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677820" y="4979541"/>
            <a:ext cx="7926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Marco </a:t>
            </a:r>
            <a:r>
              <a:rPr lang="pt-BR" dirty="0" err="1"/>
              <a:t>Goldbarg</a:t>
            </a:r>
            <a:r>
              <a:rPr lang="pt-BR" dirty="0"/>
              <a:t>; Elizabeth </a:t>
            </a:r>
            <a:r>
              <a:rPr lang="pt-BR" dirty="0" err="1"/>
              <a:t>Goldbarg</a:t>
            </a:r>
            <a:r>
              <a:rPr lang="pt-BR" dirty="0"/>
              <a:t>. Grafos - conceitos , algoritmos e aplicações .</a:t>
            </a:r>
          </a:p>
          <a:p>
            <a:r>
              <a:rPr lang="pt-BR" dirty="0"/>
              <a:t>Campus. 2012.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5625872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1998" y="6272203"/>
            <a:ext cx="80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4397</TotalTime>
  <Words>1677</Words>
  <Application>Microsoft Office PowerPoint</Application>
  <PresentationFormat>Apresentação na tela (4:3)</PresentationFormat>
  <Paragraphs>223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 Math</vt:lpstr>
      <vt:lpstr>Tema do Office</vt:lpstr>
      <vt:lpstr>Unidade II  Grafos Eulerianos e Hamiltonianos</vt:lpstr>
      <vt:lpstr>Grafos Eulerianos</vt:lpstr>
      <vt:lpstr>Grafos Eulerianos</vt:lpstr>
      <vt:lpstr>Grafos Eulerianos</vt:lpstr>
      <vt:lpstr>Grafos Eulerianos</vt:lpstr>
      <vt:lpstr>Grafos Unicursais</vt:lpstr>
      <vt:lpstr>Grafos Unicursais</vt:lpstr>
      <vt:lpstr>Grafos Unicursais</vt:lpstr>
      <vt:lpstr>Grafos Unicursais</vt:lpstr>
      <vt:lpstr>Grafos Unicursais</vt:lpstr>
      <vt:lpstr>Grafos Unicursais</vt:lpstr>
      <vt:lpstr>Grafos Unicursais</vt:lpstr>
      <vt:lpstr>Grafos Unicursais</vt:lpstr>
      <vt:lpstr>Grafos Hamiltonianos</vt:lpstr>
      <vt:lpstr>Grafos Hamiltonianos</vt:lpstr>
      <vt:lpstr>Grafos Hamiltonianos</vt:lpstr>
      <vt:lpstr>Grafos Hamiltonianos</vt:lpstr>
      <vt:lpstr>Grafos Hamiltonianos</vt:lpstr>
      <vt:lpstr>Grafos Hamiltonianos</vt:lpstr>
      <vt:lpstr>Grafos Hamiltonianos</vt:lpstr>
      <vt:lpstr>Grafos Hamiltonianos</vt:lpstr>
      <vt:lpstr>Grafos Hamiltonianos</vt:lpstr>
      <vt:lpstr>Grafos Hamiltonianos</vt:lpstr>
      <vt:lpstr>Cavalo do Xadrez</vt:lpstr>
      <vt:lpstr>Cavalo do Xadrez</vt:lpstr>
      <vt:lpstr>Cavalo do Xadrez</vt:lpstr>
      <vt:lpstr>Cavalo do Xadrez</vt:lpstr>
      <vt:lpstr>O Problema do Caixeiro Viajante</vt:lpstr>
      <vt:lpstr>O Problema do Caixeiro Viajante</vt:lpstr>
      <vt:lpstr>O Problema do Caixeiro Viajante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244</cp:revision>
  <dcterms:created xsi:type="dcterms:W3CDTF">2011-08-03T02:09:11Z</dcterms:created>
  <dcterms:modified xsi:type="dcterms:W3CDTF">2016-08-24T12:53:17Z</dcterms:modified>
</cp:coreProperties>
</file>