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329" r:id="rId12"/>
    <p:sldId id="276" r:id="rId13"/>
    <p:sldId id="277" r:id="rId14"/>
    <p:sldId id="279" r:id="rId15"/>
    <p:sldId id="283" r:id="rId16"/>
    <p:sldId id="284" r:id="rId17"/>
    <p:sldId id="285" r:id="rId18"/>
    <p:sldId id="286" r:id="rId19"/>
    <p:sldId id="287" r:id="rId20"/>
    <p:sldId id="278" r:id="rId21"/>
    <p:sldId id="280" r:id="rId22"/>
    <p:sldId id="282" r:id="rId23"/>
    <p:sldId id="281" r:id="rId24"/>
    <p:sldId id="288" r:id="rId25"/>
    <p:sldId id="289" r:id="rId26"/>
    <p:sldId id="290" r:id="rId27"/>
    <p:sldId id="291" r:id="rId28"/>
    <p:sldId id="292" r:id="rId29"/>
    <p:sldId id="328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264" r:id="rId5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 </a:t>
            </a:r>
            <a:br>
              <a:rPr lang="pt-BR" dirty="0"/>
            </a:br>
            <a:r>
              <a:rPr lang="pt-BR" dirty="0"/>
              <a:t>Estruturas de dados para representação de grafos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979712" y="6093296"/>
            <a:ext cx="5367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Adaptado do material prof.ª Anna Tostes (PUC Minas)</a:t>
            </a:r>
          </a:p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Implementações foram adaptadas de [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Ziviani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, 2006] 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um Grafo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Dado um grafo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= conjunto de vértices.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400" dirty="0"/>
                  <a:t> = conjunto de arestas, que pode ser representado pelo subconjunto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O tamanho da entrada de dados é medido em termos do:</a:t>
                </a:r>
              </a:p>
              <a:p>
                <a:pPr lvl="1"/>
                <a:r>
                  <a:rPr lang="pt-BR" sz="2400" dirty="0"/>
                  <a:t>Número de vértices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Número de arestas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Se G é conexo, então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−1.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99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um Grafo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Convenção I (Notação):</a:t>
                </a:r>
              </a:p>
              <a:p>
                <a:pPr lvl="1"/>
                <a:r>
                  <a:rPr lang="pt-BR" sz="2400" dirty="0"/>
                  <a:t>Dentro e somente dentro da notação assintótica os símbolos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pt-BR" sz="2400" dirty="0"/>
                  <a:t> significam respectivamente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Se um algoritmo “executa em tempo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” é equivalente a dizer que “executa em tempo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”.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Convenção II (Em pseudocódigo):</a:t>
                </a:r>
              </a:p>
              <a:p>
                <a:pPr lvl="1"/>
                <a:r>
                  <a:rPr lang="pt-BR" sz="2400" dirty="0"/>
                  <a:t>O conjunto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de vértices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pt-BR" sz="2400" dirty="0"/>
                  <a:t> é representado por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O conjunto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pt-BR" sz="2400" dirty="0"/>
                  <a:t> de arestas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representado por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Os conjuntos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pt-BR" sz="2400" dirty="0"/>
                  <a:t> são vistos como atributos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86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Representação de um Grafo: Estruturas de Dados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Matriz de adjacência:</a:t>
                </a:r>
              </a:p>
              <a:p>
                <a:pPr lvl="1"/>
                <a:r>
                  <a:rPr lang="pt-BR" sz="2000" dirty="0"/>
                  <a:t>Forma preferida de representar grafos densos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|≈</m:t>
                    </m:r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pPr lvl="1"/>
                <a:r>
                  <a:rPr lang="pt-BR" sz="2000" dirty="0"/>
                  <a:t>Indica rapidamente </a:t>
                </a:r>
                <a14:m>
                  <m:oMath xmlns:m="http://schemas.openxmlformats.org/officeDocument/2006/math"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BR" sz="2000">
                        <a:latin typeface="Cambria Math" panose="02040503050406030204" pitchFamily="18" charset="0"/>
                      </a:rPr>
                      <m:t>O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00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 se existe uma aresta conectando dois vértices.</a:t>
                </a:r>
              </a:p>
              <a:p>
                <a:r>
                  <a:rPr lang="pt-BR" sz="2400" dirty="0"/>
                  <a:t>Lista de adjacência:</a:t>
                </a:r>
              </a:p>
              <a:p>
                <a:pPr lvl="1"/>
                <a:r>
                  <a:rPr lang="pt-BR" sz="2000" dirty="0"/>
                  <a:t>Representação normalmente preferida.</a:t>
                </a:r>
              </a:p>
              <a:p>
                <a:pPr lvl="1"/>
                <a:r>
                  <a:rPr lang="pt-BR" sz="2000" dirty="0"/>
                  <a:t>Provê uma forma compacta de representar grafos esparsos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|≈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pt-BR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r>
                  <a:rPr lang="pt-BR" sz="2400" dirty="0"/>
                  <a:t>Matriz de incidência:</a:t>
                </a:r>
              </a:p>
              <a:p>
                <a:pPr lvl="1"/>
                <a:r>
                  <a:rPr lang="pt-BR" sz="2000" dirty="0"/>
                  <a:t>Representação que inclui vértice e aresta.</a:t>
                </a:r>
              </a:p>
              <a:p>
                <a:r>
                  <a:rPr lang="pt-BR" sz="2400" dirty="0"/>
                  <a:t>As duas primeiras formas acima são as principais formas de representar um grafo.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b="-41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80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135493"/>
            <a:ext cx="2914650" cy="273367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83568" y="1673828"/>
            <a:ext cx="362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 dirigido abaixo: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4908114" y="1671191"/>
                <a:ext cx="4128382" cy="2028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Este grafo pode ser representado por</a:t>
                </a:r>
              </a:p>
              <a:p>
                <a:r>
                  <a:rPr lang="pt-BR" sz="2400" dirty="0"/>
                  <a:t>uma matriz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onde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representa o número de arestas de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114" y="1671191"/>
                <a:ext cx="4128382" cy="2028248"/>
              </a:xfrm>
              <a:prstGeom prst="rect">
                <a:avLst/>
              </a:prstGeom>
              <a:blipFill rotWithShape="0">
                <a:blip r:embed="rId3"/>
                <a:stretch>
                  <a:fillRect l="-2216" t="-2402" b="-45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4908114" y="3952992"/>
            <a:ext cx="2884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Adjacência: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4581128"/>
            <a:ext cx="2952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3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683568" y="1673828"/>
                <a:ext cx="8247707" cy="12300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um grafo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. A</a:t>
                </a:r>
              </a:p>
              <a:p>
                <a:r>
                  <a:rPr lang="pt-BR" sz="2400" dirty="0"/>
                  <a:t>matriz de adjacência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 1…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</a:t>
                </a:r>
              </a:p>
              <a:p>
                <a:r>
                  <a:rPr lang="pt-BR" sz="2400" dirty="0"/>
                  <a:t>definida como: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673828"/>
                <a:ext cx="8247707" cy="1230080"/>
              </a:xfrm>
              <a:prstGeom prst="rect">
                <a:avLst/>
              </a:prstGeom>
              <a:blipFill rotWithShape="0">
                <a:blip r:embed="rId2"/>
                <a:stretch>
                  <a:fillRect l="-1109" t="-3980" r="-222" b="-109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1637803" y="3140968"/>
                <a:ext cx="6339236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=#</m:t>
                    </m:r>
                  </m:oMath>
                </a14:m>
                <a:r>
                  <a:rPr lang="pt-BR" sz="2400" dirty="0"/>
                  <a:t> de arestas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2,…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03" y="3140968"/>
                <a:ext cx="6339236" cy="491417"/>
              </a:xfrm>
              <a:prstGeom prst="rect">
                <a:avLst/>
              </a:prstGeom>
              <a:blipFill rotWithShape="0">
                <a:blip r:embed="rId3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899592" y="4077072"/>
                <a:ext cx="7632848" cy="2516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diferente de zero na diagonal principal: laço.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igual a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uma única aresta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Valores maiores que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arestas paralelas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Espaço: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077072"/>
                <a:ext cx="7632848" cy="2516523"/>
              </a:xfrm>
              <a:prstGeom prst="rect">
                <a:avLst/>
              </a:prstGeom>
              <a:blipFill rotWithShape="0">
                <a:blip r:embed="rId4"/>
                <a:stretch>
                  <a:fillRect l="-1118" t="-1937" r="-240" b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482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Exemplos de matriz de adjacência: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96" y="2204864"/>
            <a:ext cx="3619500" cy="23812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892" y="2204864"/>
            <a:ext cx="3600450" cy="23336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83" y="4586114"/>
            <a:ext cx="2905125" cy="18383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129" y="4538489"/>
            <a:ext cx="28479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3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673828"/>
            <a:ext cx="4546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Dada a matriz de adjacência de um</a:t>
            </a:r>
          </a:p>
          <a:p>
            <a:r>
              <a:rPr lang="pt-BR" sz="2400" dirty="0"/>
              <a:t>grafo: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59" y="2636912"/>
            <a:ext cx="3457575" cy="21336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827584" y="5013176"/>
            <a:ext cx="30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Agora desenhe o grafo</a:t>
            </a:r>
          </a:p>
        </p:txBody>
      </p:sp>
    </p:spTree>
    <p:extLst>
      <p:ext uri="{BB962C8B-B14F-4D97-AF65-F5344CB8AC3E}">
        <p14:creationId xmlns:p14="http://schemas.microsoft.com/office/powerpoint/2010/main" val="69712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dirigido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673828"/>
            <a:ext cx="4546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Dada a matriz de adjacência de um</a:t>
            </a:r>
          </a:p>
          <a:p>
            <a:r>
              <a:rPr lang="pt-BR" sz="2400" dirty="0"/>
              <a:t>grafo: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59" y="2636912"/>
            <a:ext cx="3457575" cy="21336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5851511" y="1673828"/>
            <a:ext cx="331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Um possível desenho deste grafo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32" y="2526529"/>
            <a:ext cx="39147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7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</a:t>
            </a:r>
            <a:r>
              <a:rPr lang="pt-BR" b="1" dirty="0"/>
              <a:t>não</a:t>
            </a:r>
            <a:r>
              <a:rPr lang="pt-BR" dirty="0"/>
              <a:t> dirigido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. A matriz de adjacência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blipFill rotWithShape="0">
                <a:blip r:embed="rId2"/>
                <a:stretch>
                  <a:fillRect l="-1124" t="-3980" b="-109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=#</m:t>
                    </m:r>
                  </m:oMath>
                </a14:m>
                <a:r>
                  <a:rPr lang="pt-BR" sz="2400" dirty="0"/>
                  <a:t> de arestas conectando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2,…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blipFill rotWithShape="0">
                <a:blip r:embed="rId3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755576" y="4149080"/>
                <a:ext cx="7488832" cy="2464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diferente de zero na diagonal principal: laço.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 igual a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uma única aresta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Valores maiores que 1 na 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400" dirty="0"/>
                  <a:t>): arestas paralelas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Espaço: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149080"/>
                <a:ext cx="7488832" cy="2464521"/>
              </a:xfrm>
              <a:prstGeom prst="rect">
                <a:avLst/>
              </a:prstGeom>
              <a:blipFill rotWithShape="0">
                <a:blip r:embed="rId4"/>
                <a:stretch>
                  <a:fillRect l="-1140" t="-1980" r="-1954" b="-3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00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Matriz de adjacência e grafo </a:t>
            </a:r>
            <a:r>
              <a:rPr lang="pt-BR" b="1" dirty="0"/>
              <a:t>não</a:t>
            </a:r>
            <a:r>
              <a:rPr lang="pt-BR" dirty="0"/>
              <a:t> dirigido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. A matriz de adjacência de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1673828"/>
                <a:ext cx="8136904" cy="1230080"/>
              </a:xfrm>
              <a:prstGeom prst="rect">
                <a:avLst/>
              </a:prstGeom>
              <a:blipFill rotWithShape="0">
                <a:blip r:embed="rId2"/>
                <a:stretch>
                  <a:fillRect l="-1124" t="-3980" b="-109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=#</m:t>
                    </m:r>
                  </m:oMath>
                </a14:m>
                <a:r>
                  <a:rPr lang="pt-BR" sz="2400" dirty="0"/>
                  <a:t> de arestas conectando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2,…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03" y="3140968"/>
                <a:ext cx="7296165" cy="491417"/>
              </a:xfrm>
              <a:prstGeom prst="rect">
                <a:avLst/>
              </a:prstGeom>
              <a:blipFill rotWithShape="0">
                <a:blip r:embed="rId3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755576" y="3645024"/>
            <a:ext cx="2606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 abaixo: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4117440"/>
            <a:ext cx="2541000" cy="25284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5133933" y="3645024"/>
            <a:ext cx="2772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adjacência</a:t>
            </a:r>
          </a:p>
          <a:p>
            <a:r>
              <a:rPr lang="pt-BR" sz="2400" dirty="0"/>
              <a:t>correspondente: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925" y="4701944"/>
            <a:ext cx="35242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3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adjacência: 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pt-BR" sz="2400" dirty="0"/>
                  <a:t>Deve ser utilizada para grafos densos, onde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é próximo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|≈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O tempo necessário para acessar um elemento é independente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ou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É muito útil para algoritmos em que necessitamos saber com rapidez se existe uma aresta ligando dois vértices.</a:t>
                </a:r>
              </a:p>
              <a:p>
                <a:r>
                  <a:rPr lang="pt-BR" sz="2400" dirty="0"/>
                  <a:t>A maior desvantagem é que a matriz necessita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de espaço.</a:t>
                </a:r>
              </a:p>
              <a:p>
                <a:r>
                  <a:rPr lang="pt-BR" sz="2400" dirty="0"/>
                  <a:t>Ler ou examinar a matriz tem complexidade de tempo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4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83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incidência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400" dirty="0"/>
                  <a:t>. A matriz de incidência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de tamanho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quando a aresta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 é incidente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blipFill rotWithShape="0">
                <a:blip r:embed="rId3"/>
                <a:stretch>
                  <a:fillRect l="-2030"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2945958" y="3615407"/>
            <a:ext cx="194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caso contrário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</m:e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251758" y="4077072"/>
            <a:ext cx="1723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101101" y="4055232"/>
            <a:ext cx="2775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incidência</a:t>
            </a:r>
          </a:p>
          <a:p>
            <a:r>
              <a:rPr lang="pt-BR" sz="2400" dirty="0"/>
              <a:t>correspondente: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579" y="4041151"/>
            <a:ext cx="2607000" cy="27216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942" y="4891909"/>
            <a:ext cx="3761228" cy="15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incidência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Definição: Seja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um grafo não dirigido com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2400" dirty="0"/>
                  <a:t>. A matriz de incidência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a matriz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de tamanho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sobre o conjunto de inteiros não negativos tal que: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quando a aresta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400" dirty="0"/>
                  <a:t> é incidente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58" y="3255367"/>
                <a:ext cx="4506362" cy="491417"/>
              </a:xfrm>
              <a:prstGeom prst="rect">
                <a:avLst/>
              </a:prstGeom>
              <a:blipFill rotWithShape="0">
                <a:blip r:embed="rId3"/>
                <a:stretch>
                  <a:fillRect l="-2030" t="-8642" b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2945958" y="3615407"/>
            <a:ext cx="194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caso contrário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</m:e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174311"/>
                <a:ext cx="1507207" cy="9161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/>
          <p:cNvSpPr txBox="1"/>
          <p:nvPr/>
        </p:nvSpPr>
        <p:spPr>
          <a:xfrm>
            <a:off x="251758" y="4077072"/>
            <a:ext cx="1723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101101" y="4055232"/>
            <a:ext cx="2775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Matriz de incidência</a:t>
            </a:r>
          </a:p>
          <a:p>
            <a:r>
              <a:rPr lang="pt-BR" sz="2400" dirty="0"/>
              <a:t>correspondente: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46" y="4505902"/>
            <a:ext cx="2353388" cy="2230603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671" y="4792289"/>
            <a:ext cx="2772000" cy="19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9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67544" y="1556792"/>
            <a:ext cx="46805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GrafoMatriz</a:t>
            </a:r>
            <a:endParaRPr lang="pt-BR" sz="1400" dirty="0"/>
          </a:p>
          <a:p>
            <a:r>
              <a:rPr lang="pt-BR" sz="1400" dirty="0"/>
              <a:t>   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Aresta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v1, v2, peso;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public</a:t>
            </a:r>
            <a:r>
              <a:rPr lang="pt-BR" sz="1400" dirty="0"/>
              <a:t> Aresta(</a:t>
            </a:r>
            <a:r>
              <a:rPr lang="pt-BR" sz="1400" dirty="0" err="1"/>
              <a:t>int</a:t>
            </a:r>
            <a:r>
              <a:rPr lang="pt-BR" sz="1400" dirty="0"/>
              <a:t> v1, </a:t>
            </a:r>
            <a:r>
              <a:rPr lang="pt-BR" sz="1400" dirty="0" err="1"/>
              <a:t>int</a:t>
            </a:r>
            <a:r>
              <a:rPr lang="pt-BR" sz="1400" dirty="0"/>
              <a:t> v2, </a:t>
            </a:r>
            <a:r>
              <a:rPr lang="pt-BR" sz="1400" dirty="0" err="1"/>
              <a:t>int</a:t>
            </a:r>
            <a:r>
              <a:rPr lang="pt-BR" sz="1400" dirty="0"/>
              <a:t> peso)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this.v1 = v1; this.v2 = v2; </a:t>
            </a:r>
            <a:r>
              <a:rPr lang="pt-BR" sz="1400" dirty="0" err="1"/>
              <a:t>this.peso</a:t>
            </a:r>
            <a:r>
              <a:rPr lang="pt-BR" sz="1400" dirty="0"/>
              <a:t> = peso;</a:t>
            </a:r>
          </a:p>
          <a:p>
            <a:r>
              <a:rPr lang="pt-BR" sz="1400" dirty="0"/>
              <a:t>            }</a:t>
            </a:r>
          </a:p>
          <a:p>
            <a:r>
              <a:rPr lang="en-US" sz="1400" dirty="0"/>
              <a:t>    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get_peso</a:t>
            </a:r>
            <a:r>
              <a:rPr lang="en-US" sz="1400" dirty="0"/>
              <a:t>() { return </a:t>
            </a:r>
            <a:r>
              <a:rPr lang="en-US" sz="1400" dirty="0" err="1"/>
              <a:t>this.peso</a:t>
            </a:r>
            <a:r>
              <a:rPr lang="en-US" sz="1400" dirty="0"/>
              <a:t>; }</a:t>
            </a:r>
          </a:p>
          <a:p>
            <a:r>
              <a:rPr lang="en-US" sz="1400" dirty="0"/>
              <a:t>            public </a:t>
            </a:r>
            <a:r>
              <a:rPr lang="en-US" sz="1400" dirty="0" err="1"/>
              <a:t>int</a:t>
            </a:r>
            <a:r>
              <a:rPr lang="en-US" sz="1400" dirty="0"/>
              <a:t> get_v1() { return this.v1; }</a:t>
            </a:r>
          </a:p>
          <a:p>
            <a:r>
              <a:rPr lang="en-US" sz="1400" dirty="0"/>
              <a:t>            public </a:t>
            </a:r>
            <a:r>
              <a:rPr lang="en-US" sz="1400" dirty="0" err="1"/>
              <a:t>int</a:t>
            </a:r>
            <a:r>
              <a:rPr lang="en-US" sz="1400" dirty="0"/>
              <a:t> get_v2() { return this.v2; }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[,]</a:t>
            </a:r>
            <a:r>
              <a:rPr lang="pt-BR" sz="1400" dirty="0" err="1"/>
              <a:t>mat</a:t>
            </a:r>
            <a:r>
              <a:rPr lang="pt-BR" sz="1400" dirty="0"/>
              <a:t>; 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numVertices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</a:t>
            </a:r>
            <a:r>
              <a:rPr lang="pt-BR" sz="1400" dirty="0" err="1"/>
              <a:t>pos</a:t>
            </a:r>
            <a:r>
              <a:rPr lang="pt-BR" sz="1400" dirty="0"/>
              <a:t>; 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926587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556792"/>
            <a:ext cx="83529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GrafoMatriz</a:t>
            </a:r>
            <a:r>
              <a:rPr lang="pt-BR" sz="1400" dirty="0"/>
              <a:t> (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numVertices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this.mat</a:t>
            </a:r>
            <a:r>
              <a:rPr lang="pt-BR" sz="1400" dirty="0"/>
              <a:t> = new </a:t>
            </a:r>
            <a:r>
              <a:rPr lang="pt-BR" sz="1400" dirty="0" err="1"/>
              <a:t>int</a:t>
            </a:r>
            <a:r>
              <a:rPr lang="pt-BR" sz="1400" dirty="0"/>
              <a:t>[</a:t>
            </a:r>
            <a:r>
              <a:rPr lang="pt-BR" sz="1400" dirty="0" err="1"/>
              <a:t>numVertices</a:t>
            </a:r>
            <a:r>
              <a:rPr lang="pt-BR" sz="1400" dirty="0"/>
              <a:t>, </a:t>
            </a:r>
            <a:r>
              <a:rPr lang="pt-BR" sz="1400" dirty="0" err="1"/>
              <a:t>numVertices</a:t>
            </a:r>
            <a:r>
              <a:rPr lang="pt-BR" sz="1400" dirty="0"/>
              <a:t>];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this.pos</a:t>
            </a:r>
            <a:r>
              <a:rPr lang="pt-BR" sz="1400" dirty="0"/>
              <a:t> = new </a:t>
            </a:r>
            <a:r>
              <a:rPr lang="pt-BR" sz="1400" dirty="0" err="1"/>
              <a:t>int</a:t>
            </a:r>
            <a:r>
              <a:rPr lang="pt-BR" sz="1400" dirty="0"/>
              <a:t>[</a:t>
            </a:r>
            <a:r>
              <a:rPr lang="pt-BR" sz="1400" dirty="0" err="1"/>
              <a:t>numVertices</a:t>
            </a:r>
            <a:r>
              <a:rPr lang="pt-BR" sz="1400" dirty="0"/>
              <a:t>]; 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this.numVertices</a:t>
            </a:r>
            <a:r>
              <a:rPr lang="pt-BR" sz="1400" dirty="0"/>
              <a:t> = </a:t>
            </a:r>
            <a:r>
              <a:rPr lang="pt-BR" sz="1400" dirty="0" err="1"/>
              <a:t>numVertices</a:t>
            </a:r>
            <a:r>
              <a:rPr lang="pt-BR" sz="1400" dirty="0"/>
              <a:t>;</a:t>
            </a:r>
          </a:p>
          <a:p>
            <a:r>
              <a:rPr lang="pt-BR" sz="1400" dirty="0"/>
              <a:t> </a:t>
            </a:r>
          </a:p>
          <a:p>
            <a:r>
              <a:rPr lang="pt-BR" sz="1400" dirty="0"/>
              <a:t>            for (</a:t>
            </a:r>
            <a:r>
              <a:rPr lang="pt-BR" sz="1400" dirty="0" err="1"/>
              <a:t>int</a:t>
            </a:r>
            <a:r>
              <a:rPr lang="pt-BR" sz="1400" dirty="0"/>
              <a:t> i = 0; i &lt; </a:t>
            </a:r>
            <a:r>
              <a:rPr lang="pt-BR" sz="1400" dirty="0" err="1"/>
              <a:t>this.numVertices</a:t>
            </a:r>
            <a:r>
              <a:rPr lang="pt-BR" sz="1400" dirty="0"/>
              <a:t>; i++) </a:t>
            </a:r>
          </a:p>
          <a:p>
            <a:r>
              <a:rPr lang="pt-BR" sz="1400" dirty="0"/>
              <a:t>            {</a:t>
            </a:r>
          </a:p>
          <a:p>
            <a:r>
              <a:rPr lang="en-US" sz="1400" dirty="0"/>
              <a:t>                for (</a:t>
            </a:r>
            <a:r>
              <a:rPr lang="en-US" sz="1400" dirty="0" err="1"/>
              <a:t>int</a:t>
            </a:r>
            <a:r>
              <a:rPr lang="en-US" sz="1400" dirty="0"/>
              <a:t> j = 0; j &lt; </a:t>
            </a:r>
            <a:r>
              <a:rPr lang="en-US" sz="1400" dirty="0" err="1"/>
              <a:t>this.numVertices</a:t>
            </a:r>
            <a:r>
              <a:rPr lang="en-US" sz="1400" dirty="0"/>
              <a:t>; j++) </a:t>
            </a:r>
            <a:r>
              <a:rPr lang="pt-BR" sz="1400" dirty="0"/>
              <a:t>     </a:t>
            </a:r>
            <a:r>
              <a:rPr lang="pt-BR" sz="1400" dirty="0" err="1"/>
              <a:t>this.mat</a:t>
            </a:r>
            <a:r>
              <a:rPr lang="pt-BR" sz="1400" dirty="0"/>
              <a:t>[</a:t>
            </a:r>
            <a:r>
              <a:rPr lang="pt-BR" sz="1400" dirty="0" err="1"/>
              <a:t>i,j</a:t>
            </a:r>
            <a:r>
              <a:rPr lang="pt-BR" sz="1400" dirty="0"/>
              <a:t>] = 0;</a:t>
            </a:r>
          </a:p>
          <a:p>
            <a:endParaRPr lang="pt-BR" sz="1400" dirty="0"/>
          </a:p>
          <a:p>
            <a:r>
              <a:rPr lang="pt-BR" sz="1400" dirty="0"/>
              <a:t>                </a:t>
            </a:r>
            <a:r>
              <a:rPr lang="pt-BR" sz="1400" dirty="0" err="1"/>
              <a:t>this.pos</a:t>
            </a:r>
            <a:r>
              <a:rPr lang="pt-BR" sz="1400" dirty="0"/>
              <a:t>[i] = -1; </a:t>
            </a:r>
          </a:p>
          <a:p>
            <a:r>
              <a:rPr lang="pt-BR" sz="1400" dirty="0"/>
              <a:t>            }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insereAresta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v1, </a:t>
            </a:r>
            <a:r>
              <a:rPr lang="pt-BR" sz="1400" dirty="0" err="1"/>
              <a:t>int</a:t>
            </a:r>
            <a:r>
              <a:rPr lang="pt-BR" sz="1400" dirty="0"/>
              <a:t> v2, </a:t>
            </a:r>
            <a:r>
              <a:rPr lang="pt-BR" sz="1400" dirty="0" err="1"/>
              <a:t>int</a:t>
            </a:r>
            <a:r>
              <a:rPr lang="pt-BR" sz="1400" dirty="0"/>
              <a:t> peso)    {      </a:t>
            </a:r>
            <a:r>
              <a:rPr lang="pt-BR" sz="1400" dirty="0" err="1"/>
              <a:t>this.mat</a:t>
            </a:r>
            <a:r>
              <a:rPr lang="pt-BR" sz="1400" dirty="0"/>
              <a:t>[v1, v2] = peso;        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bool</a:t>
            </a:r>
            <a:r>
              <a:rPr lang="en-US" sz="1400" dirty="0"/>
              <a:t> </a:t>
            </a:r>
            <a:r>
              <a:rPr lang="en-US" sz="1400" dirty="0" err="1"/>
              <a:t>existeAresta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v1, </a:t>
            </a:r>
            <a:r>
              <a:rPr lang="en-US" sz="1400" dirty="0" err="1"/>
              <a:t>int</a:t>
            </a:r>
            <a:r>
              <a:rPr lang="en-US" sz="1400" dirty="0"/>
              <a:t> v2, </a:t>
            </a:r>
            <a:r>
              <a:rPr lang="en-US" sz="1400" dirty="0" err="1"/>
              <a:t>int</a:t>
            </a:r>
            <a:r>
              <a:rPr lang="en-US" sz="1400" dirty="0"/>
              <a:t> peso) </a:t>
            </a:r>
            <a:r>
              <a:rPr lang="pt-BR" sz="1400" dirty="0"/>
              <a:t>        {            </a:t>
            </a:r>
            <a:r>
              <a:rPr lang="pt-BR" sz="1400" dirty="0" err="1"/>
              <a:t>return</a:t>
            </a:r>
            <a:r>
              <a:rPr lang="pt-BR" sz="1400" dirty="0"/>
              <a:t> (</a:t>
            </a:r>
            <a:r>
              <a:rPr lang="pt-BR" sz="1400" dirty="0" err="1"/>
              <a:t>this.mat</a:t>
            </a:r>
            <a:r>
              <a:rPr lang="pt-BR" sz="1400" dirty="0"/>
              <a:t>[v1, v2] &gt; 0);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bool</a:t>
            </a:r>
            <a:r>
              <a:rPr lang="pt-BR" sz="1400" dirty="0"/>
              <a:t> </a:t>
            </a:r>
            <a:r>
              <a:rPr lang="pt-BR" sz="1400" dirty="0" err="1"/>
              <a:t>listaAdjVazia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for (</a:t>
            </a:r>
            <a:r>
              <a:rPr lang="pt-BR" sz="1400" dirty="0" err="1"/>
              <a:t>int</a:t>
            </a:r>
            <a:r>
              <a:rPr lang="pt-BR" sz="1400" dirty="0"/>
              <a:t> i = 0; i &lt; </a:t>
            </a:r>
            <a:r>
              <a:rPr lang="pt-BR" sz="1400" dirty="0" err="1"/>
              <a:t>this.numVertices</a:t>
            </a:r>
            <a:r>
              <a:rPr lang="pt-BR" sz="1400" dirty="0"/>
              <a:t>; i++)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this.mat</a:t>
            </a:r>
            <a:r>
              <a:rPr lang="pt-BR" sz="1400" dirty="0"/>
              <a:t>[v, i] &gt; 0) 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return</a:t>
            </a:r>
            <a:r>
              <a:rPr lang="pt-BR" sz="1400" dirty="0"/>
              <a:t> false;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true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460970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700808"/>
            <a:ext cx="5930983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Aresta </a:t>
            </a:r>
            <a:r>
              <a:rPr lang="pt-BR" sz="1400" dirty="0" err="1"/>
              <a:t>primeiroListaAdj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// Retorna a primeira aresta que o v\'</a:t>
            </a:r>
            <a:r>
              <a:rPr lang="pt-BR" sz="1400" dirty="0" err="1"/>
              <a:t>ertice</a:t>
            </a:r>
            <a:r>
              <a:rPr lang="pt-BR" sz="1400" dirty="0"/>
              <a:t> v participa ou </a:t>
            </a:r>
          </a:p>
          <a:p>
            <a:r>
              <a:rPr lang="pt-BR" sz="1400" dirty="0"/>
              <a:t>            // se a lista de </a:t>
            </a:r>
            <a:r>
              <a:rPr lang="pt-BR" sz="1400" dirty="0" err="1"/>
              <a:t>adjac</a:t>
            </a:r>
            <a:r>
              <a:rPr lang="pt-BR" sz="1400" dirty="0"/>
              <a:t>\^</a:t>
            </a:r>
            <a:r>
              <a:rPr lang="pt-BR" sz="1400" dirty="0" err="1"/>
              <a:t>encia</a:t>
            </a:r>
            <a:r>
              <a:rPr lang="pt-BR" sz="1400" dirty="0"/>
              <a:t> de v for vazia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this.pos</a:t>
            </a:r>
            <a:r>
              <a:rPr lang="pt-BR" sz="1400" dirty="0"/>
              <a:t>[v] = -1;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this.proxAdj</a:t>
            </a:r>
            <a:r>
              <a:rPr lang="pt-BR" sz="1400" dirty="0"/>
              <a:t>(v);</a:t>
            </a:r>
          </a:p>
          <a:p>
            <a:r>
              <a:rPr lang="pt-BR" sz="1400" dirty="0"/>
              <a:t>        }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Aresta </a:t>
            </a:r>
            <a:r>
              <a:rPr lang="pt-BR" sz="1400" dirty="0" err="1"/>
              <a:t>proxAdj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//Retorna a </a:t>
            </a:r>
            <a:r>
              <a:rPr lang="pt-BR" sz="1400" dirty="0" err="1"/>
              <a:t>pr</a:t>
            </a:r>
            <a:r>
              <a:rPr lang="pt-BR" sz="1400" dirty="0"/>
              <a:t>\'</a:t>
            </a:r>
            <a:r>
              <a:rPr lang="pt-BR" sz="1400" dirty="0" err="1"/>
              <a:t>oxima</a:t>
            </a:r>
            <a:r>
              <a:rPr lang="pt-BR" sz="1400" dirty="0"/>
              <a:t> aresta que o v\'</a:t>
            </a:r>
            <a:r>
              <a:rPr lang="pt-BR" sz="1400" dirty="0" err="1"/>
              <a:t>ertice</a:t>
            </a:r>
            <a:r>
              <a:rPr lang="pt-BR" sz="1400" dirty="0"/>
              <a:t> v participa ou}@ </a:t>
            </a:r>
          </a:p>
          <a:p>
            <a:r>
              <a:rPr lang="pt-BR" sz="1400" dirty="0"/>
              <a:t>            //se a lista de </a:t>
            </a:r>
            <a:r>
              <a:rPr lang="pt-BR" sz="1400" dirty="0" err="1"/>
              <a:t>adjac</a:t>
            </a:r>
            <a:r>
              <a:rPr lang="pt-BR" sz="1400" dirty="0"/>
              <a:t>\^</a:t>
            </a:r>
            <a:r>
              <a:rPr lang="pt-BR" sz="1400" dirty="0" err="1"/>
              <a:t>encia</a:t>
            </a:r>
            <a:r>
              <a:rPr lang="pt-BR" sz="1400" dirty="0"/>
              <a:t> de v estiver no fim 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this.pos</a:t>
            </a:r>
            <a:r>
              <a:rPr lang="pt-BR" sz="1400" dirty="0"/>
              <a:t>[v]++;</a:t>
            </a:r>
          </a:p>
          <a:p>
            <a:r>
              <a:rPr lang="en-US" sz="1400" dirty="0"/>
              <a:t>            while ((</a:t>
            </a:r>
            <a:r>
              <a:rPr lang="en-US" sz="1400" dirty="0" err="1"/>
              <a:t>this.pos</a:t>
            </a:r>
            <a:r>
              <a:rPr lang="en-US" sz="1400" dirty="0"/>
              <a:t>[v] &lt; </a:t>
            </a:r>
            <a:r>
              <a:rPr lang="en-US" sz="1400" dirty="0" err="1"/>
              <a:t>this.numVertices</a:t>
            </a:r>
            <a:r>
              <a:rPr lang="en-US" sz="1400" dirty="0"/>
              <a:t>) &amp;&amp; (</a:t>
            </a:r>
            <a:r>
              <a:rPr lang="en-US" sz="1400" dirty="0" err="1"/>
              <a:t>this.mat</a:t>
            </a:r>
            <a:r>
              <a:rPr lang="en-US" sz="1400" dirty="0"/>
              <a:t>[v, </a:t>
            </a:r>
            <a:r>
              <a:rPr lang="en-US" sz="1400" dirty="0" err="1"/>
              <a:t>this.pos</a:t>
            </a:r>
            <a:r>
              <a:rPr lang="en-US" sz="1400" dirty="0"/>
              <a:t>[v]] == 0))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this.pos</a:t>
            </a:r>
            <a:r>
              <a:rPr lang="pt-BR" sz="1400" dirty="0"/>
              <a:t>[v]++;</a:t>
            </a:r>
          </a:p>
          <a:p>
            <a:r>
              <a:rPr lang="pt-BR" sz="1400" dirty="0"/>
              <a:t>            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this.pos</a:t>
            </a:r>
            <a:r>
              <a:rPr lang="pt-BR" sz="1400" dirty="0"/>
              <a:t>[v] == </a:t>
            </a:r>
            <a:r>
              <a:rPr lang="pt-BR" sz="1400" dirty="0" err="1"/>
              <a:t>this.numVertices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en-US" sz="1400" dirty="0"/>
              <a:t>            else return new </a:t>
            </a:r>
            <a:r>
              <a:rPr lang="en-US" sz="1400" dirty="0" err="1"/>
              <a:t>Aresta</a:t>
            </a:r>
            <a:r>
              <a:rPr lang="en-US" sz="1400" dirty="0"/>
              <a:t>(v, </a:t>
            </a:r>
            <a:r>
              <a:rPr lang="en-US" sz="1400" dirty="0" err="1"/>
              <a:t>this.pos</a:t>
            </a:r>
            <a:r>
              <a:rPr lang="en-US" sz="1400" dirty="0"/>
              <a:t>[v], </a:t>
            </a:r>
            <a:r>
              <a:rPr lang="en-US" sz="1400" dirty="0" err="1"/>
              <a:t>this.mat</a:t>
            </a:r>
            <a:r>
              <a:rPr lang="en-US" sz="1400" dirty="0"/>
              <a:t>[v, </a:t>
            </a:r>
            <a:r>
              <a:rPr lang="en-US" sz="1400" dirty="0" err="1"/>
              <a:t>this.pos</a:t>
            </a:r>
            <a:r>
              <a:rPr lang="en-US" sz="1400" dirty="0"/>
              <a:t>[v]]);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95123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628800"/>
            <a:ext cx="6480428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Aresta </a:t>
            </a:r>
            <a:r>
              <a:rPr lang="pt-BR" sz="1400" dirty="0" err="1"/>
              <a:t>retiraAresta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v1, </a:t>
            </a:r>
            <a:r>
              <a:rPr lang="pt-BR" sz="1400" dirty="0" err="1"/>
              <a:t>int</a:t>
            </a:r>
            <a:r>
              <a:rPr lang="pt-BR" sz="1400" dirty="0"/>
              <a:t> v2)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this.mat</a:t>
            </a:r>
            <a:r>
              <a:rPr lang="pt-BR" sz="1400" dirty="0"/>
              <a:t>[v1, v2] == 0)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; 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else</a:t>
            </a:r>
            <a:endParaRPr lang="pt-BR" sz="1400" dirty="0"/>
          </a:p>
          <a:p>
            <a:r>
              <a:rPr lang="pt-BR" sz="1400" dirty="0"/>
              <a:t>            {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Aresta</a:t>
            </a:r>
            <a:r>
              <a:rPr lang="en-US" sz="1400" dirty="0"/>
              <a:t> </a:t>
            </a:r>
            <a:r>
              <a:rPr lang="en-US" sz="1400" dirty="0" err="1"/>
              <a:t>aresta</a:t>
            </a:r>
            <a:r>
              <a:rPr lang="en-US" sz="1400" dirty="0"/>
              <a:t> = new </a:t>
            </a:r>
            <a:r>
              <a:rPr lang="en-US" sz="1400" dirty="0" err="1"/>
              <a:t>Aresta</a:t>
            </a:r>
            <a:r>
              <a:rPr lang="en-US" sz="1400" dirty="0"/>
              <a:t>(v1, v2, </a:t>
            </a:r>
            <a:r>
              <a:rPr lang="en-US" sz="1400" dirty="0" err="1"/>
              <a:t>this.mat</a:t>
            </a:r>
            <a:r>
              <a:rPr lang="en-US" sz="1400" dirty="0"/>
              <a:t>[v1, v2]);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this.mat</a:t>
            </a:r>
            <a:r>
              <a:rPr lang="pt-BR" sz="1400" dirty="0"/>
              <a:t>[v1, v2] = 0;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aresta;</a:t>
            </a:r>
          </a:p>
          <a:p>
            <a:r>
              <a:rPr lang="pt-BR" sz="1400" dirty="0"/>
              <a:t>            }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imprime ()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Console.WriteLine</a:t>
            </a:r>
            <a:r>
              <a:rPr lang="pt-BR" sz="1400" dirty="0"/>
              <a:t>("   ");</a:t>
            </a:r>
          </a:p>
          <a:p>
            <a:r>
              <a:rPr lang="pt-BR" sz="1400" dirty="0"/>
              <a:t>            for (</a:t>
            </a:r>
            <a:r>
              <a:rPr lang="pt-BR" sz="1400" dirty="0" err="1"/>
              <a:t>int</a:t>
            </a:r>
            <a:r>
              <a:rPr lang="pt-BR" sz="1400" dirty="0"/>
              <a:t> i = 0; i &lt; </a:t>
            </a:r>
            <a:r>
              <a:rPr lang="pt-BR" sz="1400" dirty="0" err="1"/>
              <a:t>this.numVertices</a:t>
            </a:r>
            <a:r>
              <a:rPr lang="pt-BR" sz="1400" dirty="0"/>
              <a:t>; i++)     </a:t>
            </a:r>
            <a:r>
              <a:rPr lang="pt-BR" sz="1400" dirty="0" err="1"/>
              <a:t>Console.WriteLine</a:t>
            </a:r>
            <a:r>
              <a:rPr lang="pt-BR" sz="1400" dirty="0"/>
              <a:t> (i + "   "); </a:t>
            </a:r>
          </a:p>
          <a:p>
            <a:r>
              <a:rPr lang="pt-BR" sz="1400" dirty="0"/>
              <a:t>            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Console.WriteLine</a:t>
            </a:r>
            <a:r>
              <a:rPr lang="pt-BR" sz="1400" dirty="0"/>
              <a:t> ();</a:t>
            </a:r>
          </a:p>
          <a:p>
            <a:endParaRPr lang="pt-BR" sz="1400" dirty="0"/>
          </a:p>
          <a:p>
            <a:r>
              <a:rPr lang="pt-BR" sz="1400" dirty="0"/>
              <a:t>            for (</a:t>
            </a:r>
            <a:r>
              <a:rPr lang="pt-BR" sz="1400" dirty="0" err="1"/>
              <a:t>int</a:t>
            </a:r>
            <a:r>
              <a:rPr lang="pt-BR" sz="1400" dirty="0"/>
              <a:t> i = 0; i &lt; </a:t>
            </a:r>
            <a:r>
              <a:rPr lang="pt-BR" sz="1400" dirty="0" err="1"/>
              <a:t>this.numVertices</a:t>
            </a:r>
            <a:r>
              <a:rPr lang="pt-BR" sz="1400" dirty="0"/>
              <a:t>; i++)       {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(i + "  ");</a:t>
            </a:r>
          </a:p>
          <a:p>
            <a:r>
              <a:rPr lang="en-US" sz="1400" dirty="0"/>
              <a:t>                for (</a:t>
            </a:r>
            <a:r>
              <a:rPr lang="en-US" sz="1400" dirty="0" err="1"/>
              <a:t>int</a:t>
            </a:r>
            <a:r>
              <a:rPr lang="en-US" sz="1400" dirty="0"/>
              <a:t> j = 0; j &lt; </a:t>
            </a:r>
            <a:r>
              <a:rPr lang="en-US" sz="1400" dirty="0" err="1"/>
              <a:t>this.numVertices</a:t>
            </a:r>
            <a:r>
              <a:rPr lang="en-US" sz="1400" dirty="0"/>
              <a:t>; j++)</a:t>
            </a:r>
            <a:r>
              <a:rPr lang="pt-BR" sz="1400" dirty="0"/>
              <a:t>   </a:t>
            </a:r>
            <a:r>
              <a:rPr lang="pt-BR" sz="1400" dirty="0" err="1"/>
              <a:t>Console.WriteLine</a:t>
            </a:r>
            <a:r>
              <a:rPr lang="pt-BR" sz="1400" dirty="0"/>
              <a:t>(</a:t>
            </a:r>
            <a:r>
              <a:rPr lang="pt-BR" sz="1400" dirty="0" err="1"/>
              <a:t>this.mat</a:t>
            </a:r>
            <a:r>
              <a:rPr lang="pt-BR" sz="1400" dirty="0"/>
              <a:t>[i, j] + "   ");</a:t>
            </a:r>
          </a:p>
          <a:p>
            <a:r>
              <a:rPr lang="pt-BR" sz="1400" dirty="0"/>
              <a:t>               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();</a:t>
            </a:r>
          </a:p>
          <a:p>
            <a:r>
              <a:rPr lang="pt-BR" sz="1400" dirty="0"/>
              <a:t>            }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240309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1560" y="1700808"/>
            <a:ext cx="5683094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get_numVertices</a:t>
            </a:r>
            <a:r>
              <a:rPr lang="en-US" sz="1400" dirty="0"/>
              <a:t>() { return </a:t>
            </a:r>
            <a:r>
              <a:rPr lang="en-US" sz="1400" dirty="0" err="1"/>
              <a:t>this.numVertices</a:t>
            </a:r>
            <a:r>
              <a:rPr lang="en-US" sz="1400" dirty="0"/>
              <a:t>;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GrafoMatriz</a:t>
            </a:r>
            <a:r>
              <a:rPr lang="pt-BR" sz="1400" dirty="0"/>
              <a:t> </a:t>
            </a:r>
            <a:r>
              <a:rPr lang="pt-BR" sz="1400" dirty="0" err="1"/>
              <a:t>grafoTransposto</a:t>
            </a:r>
            <a:r>
              <a:rPr lang="pt-BR" sz="1400" dirty="0"/>
              <a:t>()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GrafoMatriz</a:t>
            </a:r>
            <a:r>
              <a:rPr lang="pt-BR" sz="1400" dirty="0"/>
              <a:t> </a:t>
            </a:r>
            <a:r>
              <a:rPr lang="pt-BR" sz="1400" dirty="0" err="1"/>
              <a:t>grafoT</a:t>
            </a:r>
            <a:r>
              <a:rPr lang="pt-BR" sz="1400" dirty="0"/>
              <a:t> = new </a:t>
            </a:r>
            <a:r>
              <a:rPr lang="pt-BR" sz="1400" dirty="0" err="1"/>
              <a:t>GrafoMatriz</a:t>
            </a:r>
            <a:r>
              <a:rPr lang="pt-BR" sz="1400" dirty="0"/>
              <a:t> (</a:t>
            </a:r>
            <a:r>
              <a:rPr lang="pt-BR" sz="1400" dirty="0" err="1"/>
              <a:t>this.numVertices</a:t>
            </a:r>
            <a:r>
              <a:rPr lang="pt-BR" sz="1400" dirty="0"/>
              <a:t>);</a:t>
            </a:r>
          </a:p>
          <a:p>
            <a:r>
              <a:rPr lang="en-US" sz="1400" dirty="0"/>
              <a:t>            for (</a:t>
            </a:r>
            <a:r>
              <a:rPr lang="en-US" sz="1400" dirty="0" err="1"/>
              <a:t>int</a:t>
            </a:r>
            <a:r>
              <a:rPr lang="en-US" sz="1400" dirty="0"/>
              <a:t> v = 0; v &lt; </a:t>
            </a:r>
            <a:r>
              <a:rPr lang="en-US" sz="1400" dirty="0" err="1"/>
              <a:t>this.numVertices</a:t>
            </a:r>
            <a:r>
              <a:rPr lang="en-US" sz="1400" dirty="0"/>
              <a:t>; v++)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this.listaAdjVazia</a:t>
            </a:r>
            <a:r>
              <a:rPr lang="pt-BR" sz="1400" dirty="0"/>
              <a:t>(v))</a:t>
            </a:r>
          </a:p>
          <a:p>
            <a:r>
              <a:rPr lang="pt-BR" sz="1400" dirty="0"/>
              <a:t>                {</a:t>
            </a:r>
          </a:p>
          <a:p>
            <a:r>
              <a:rPr lang="pt-BR" sz="1400" dirty="0"/>
              <a:t>                    Aresta </a:t>
            </a:r>
            <a:r>
              <a:rPr lang="pt-BR" sz="1400" dirty="0" err="1"/>
              <a:t>adj</a:t>
            </a:r>
            <a:r>
              <a:rPr lang="pt-BR" sz="1400" dirty="0"/>
              <a:t> = </a:t>
            </a:r>
            <a:r>
              <a:rPr lang="pt-BR" sz="1400" dirty="0" err="1"/>
              <a:t>this.primeiroListaAdj</a:t>
            </a:r>
            <a:r>
              <a:rPr lang="pt-BR" sz="1400" dirty="0"/>
              <a:t>(v);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</a:t>
            </a:r>
            <a:r>
              <a:rPr lang="pt-BR" sz="1400" dirty="0" err="1"/>
              <a:t>adj</a:t>
            </a:r>
            <a:r>
              <a:rPr lang="pt-BR" sz="1400" dirty="0"/>
              <a:t> != </a:t>
            </a:r>
            <a:r>
              <a:rPr lang="pt-BR" sz="1400" dirty="0" err="1"/>
              <a:t>null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grafoT.insereAresta</a:t>
            </a:r>
            <a:r>
              <a:rPr lang="pt-BR" sz="1400" dirty="0"/>
              <a:t>(adj.get_v2(), adj.get_v1(), </a:t>
            </a:r>
            <a:r>
              <a:rPr lang="pt-BR" sz="1400" dirty="0" err="1"/>
              <a:t>adj.get_peso</a:t>
            </a:r>
            <a:r>
              <a:rPr lang="pt-BR" sz="1400" dirty="0"/>
              <a:t>());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adj</a:t>
            </a:r>
            <a:r>
              <a:rPr lang="pt-BR" sz="1400" dirty="0"/>
              <a:t> = </a:t>
            </a:r>
            <a:r>
              <a:rPr lang="pt-BR" sz="1400" dirty="0" err="1"/>
              <a:t>this.proxAdj</a:t>
            </a:r>
            <a:r>
              <a:rPr lang="pt-BR" sz="1400" dirty="0"/>
              <a:t>(v);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grafoT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648421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grafo dirigido: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55576" y="2679303"/>
            <a:ext cx="362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Seja o grafo dirigido abaixo: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327587"/>
            <a:ext cx="2304257" cy="240990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789637" y="2679303"/>
            <a:ext cx="4354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 </a:t>
            </a:r>
            <a:r>
              <a:rPr lang="pt-BR" sz="2400" dirty="0" err="1"/>
              <a:t>Adj</a:t>
            </a:r>
            <a:r>
              <a:rPr lang="pt-BR" sz="2400" dirty="0"/>
              <a:t>: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37" y="3621088"/>
            <a:ext cx="43053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78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16832"/>
            <a:ext cx="2685651" cy="18002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916832"/>
            <a:ext cx="3069385" cy="183116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18286" y="3985393"/>
            <a:ext cx="349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adjacência: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894750" y="4005064"/>
            <a:ext cx="349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3" y="5448201"/>
            <a:ext cx="2628900" cy="122872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5448201"/>
            <a:ext cx="2701208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grafo não dirigido: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55576" y="2679303"/>
            <a:ext cx="1867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Dado o grafo: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789637" y="2679303"/>
            <a:ext cx="4354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grafo pode ser representado por uma lista de adjacência </a:t>
            </a:r>
            <a:r>
              <a:rPr lang="pt-BR" sz="2400" dirty="0" err="1"/>
              <a:t>Adj</a:t>
            </a:r>
            <a:r>
              <a:rPr lang="pt-BR" sz="2400" dirty="0"/>
              <a:t>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37" y="3331034"/>
            <a:ext cx="2754647" cy="269025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37" y="3692862"/>
            <a:ext cx="3364574" cy="161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32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400" dirty="0"/>
                  <a:t>Vetor </a:t>
                </a:r>
                <a:r>
                  <a:rPr lang="pt-BR" sz="2400" dirty="0" err="1"/>
                  <a:t>Adj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400" dirty="0"/>
                  <a:t> listas, uma para cada vértice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Para cada vértice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a lista de adjacência de Adj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 contém os apontadores para todos os vértices adjacente 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no grafo.</a:t>
                </a:r>
              </a:p>
              <a:p>
                <a:pPr lvl="1"/>
                <a:r>
                  <a:rPr lang="pt-BR" sz="2000" dirty="0"/>
                  <a:t>Para grafos dirigidos e não dirigidos</a:t>
                </a:r>
              </a:p>
              <a:p>
                <a:r>
                  <a:rPr lang="pt-BR" sz="2400" dirty="0"/>
                  <a:t>Tamanho de uma lista de adjacência:</a:t>
                </a:r>
              </a:p>
              <a:p>
                <a:pPr lvl="1"/>
                <a:r>
                  <a:rPr lang="pt-BR" sz="2000" dirty="0"/>
                  <a:t>Grafo dirigido: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000" dirty="0"/>
                  <a:t>, cada aresta aparece uma única vez.</a:t>
                </a:r>
              </a:p>
              <a:p>
                <a:pPr lvl="1"/>
                <a:r>
                  <a:rPr lang="pt-BR" sz="2000" dirty="0"/>
                  <a:t>Grafo não dirigido: </a:t>
                </a:r>
                <a14:m>
                  <m:oMath xmlns:m="http://schemas.openxmlformats.org/officeDocument/2006/math">
                    <m:r>
                      <a:rPr lang="pt-BR" sz="20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000" dirty="0"/>
                  <a:t>, cada aresta aparece duas vezes na lista (entrada de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000" dirty="0"/>
                  <a:t> e entrada de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000" dirty="0"/>
                  <a:t> para (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000" dirty="0"/>
                  <a:t>)).</a:t>
                </a:r>
              </a:p>
              <a:p>
                <a:pPr lvl="1"/>
                <a:r>
                  <a:rPr lang="pt-BR" sz="2000" dirty="0"/>
                  <a:t>Espaço: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76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700808"/>
            <a:ext cx="3609258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Grafo</a:t>
            </a:r>
          </a:p>
          <a:p>
            <a:r>
              <a:rPr lang="pt-BR" sz="1400" dirty="0"/>
              <a:t>   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Aresta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v1, v2, peso;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public</a:t>
            </a:r>
            <a:r>
              <a:rPr lang="pt-BR" sz="1400" dirty="0"/>
              <a:t> Aresta(</a:t>
            </a:r>
            <a:r>
              <a:rPr lang="pt-BR" sz="1400" dirty="0" err="1"/>
              <a:t>int</a:t>
            </a:r>
            <a:r>
              <a:rPr lang="pt-BR" sz="1400" dirty="0"/>
              <a:t> v1, </a:t>
            </a:r>
            <a:r>
              <a:rPr lang="pt-BR" sz="1400" dirty="0" err="1"/>
              <a:t>int</a:t>
            </a:r>
            <a:r>
              <a:rPr lang="pt-BR" sz="1400" dirty="0"/>
              <a:t> v2, </a:t>
            </a:r>
            <a:r>
              <a:rPr lang="pt-BR" sz="1400" dirty="0" err="1"/>
              <a:t>int</a:t>
            </a:r>
            <a:r>
              <a:rPr lang="pt-BR" sz="1400" dirty="0"/>
              <a:t> peso)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this.v1 = v1; </a:t>
            </a:r>
          </a:p>
          <a:p>
            <a:r>
              <a:rPr lang="pt-BR" sz="1400" dirty="0"/>
              <a:t>                this.v2 = v2;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this.peso</a:t>
            </a:r>
            <a:r>
              <a:rPr lang="pt-BR" sz="1400" dirty="0"/>
              <a:t> = peso;</a:t>
            </a:r>
          </a:p>
          <a:p>
            <a:r>
              <a:rPr lang="pt-BR" sz="1400" dirty="0"/>
              <a:t>            }</a:t>
            </a:r>
          </a:p>
          <a:p>
            <a:r>
              <a:rPr lang="en-US" sz="1400" dirty="0"/>
              <a:t>    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get_peso</a:t>
            </a:r>
            <a:r>
              <a:rPr lang="en-US" sz="1400" dirty="0"/>
              <a:t>() { return </a:t>
            </a:r>
            <a:r>
              <a:rPr lang="en-US" sz="1400" dirty="0" err="1"/>
              <a:t>this.peso</a:t>
            </a:r>
            <a:r>
              <a:rPr lang="en-US" sz="1400" dirty="0"/>
              <a:t>; }</a:t>
            </a:r>
          </a:p>
          <a:p>
            <a:r>
              <a:rPr lang="en-US" sz="1400" dirty="0"/>
              <a:t>            public </a:t>
            </a:r>
            <a:r>
              <a:rPr lang="en-US" sz="1400" dirty="0" err="1"/>
              <a:t>int</a:t>
            </a:r>
            <a:r>
              <a:rPr lang="en-US" sz="1400" dirty="0"/>
              <a:t> get_v1() { return this.v1; }</a:t>
            </a:r>
          </a:p>
          <a:p>
            <a:r>
              <a:rPr lang="en-US" sz="1400" dirty="0"/>
              <a:t>            public </a:t>
            </a:r>
            <a:r>
              <a:rPr lang="en-US" sz="1400" dirty="0" err="1"/>
              <a:t>int</a:t>
            </a:r>
            <a:r>
              <a:rPr lang="en-US" sz="1400" dirty="0"/>
              <a:t> get_v2() { return this.v2; }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ListaRef</a:t>
            </a:r>
            <a:r>
              <a:rPr lang="pt-BR" sz="1400" dirty="0"/>
              <a:t> [] </a:t>
            </a:r>
            <a:r>
              <a:rPr lang="pt-BR" sz="1400" dirty="0" err="1"/>
              <a:t>adj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numVertices</a:t>
            </a:r>
            <a:r>
              <a:rPr lang="pt-BR" sz="1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64904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85254" y="1700808"/>
            <a:ext cx="535948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Grafo(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numVertices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this.adj</a:t>
            </a:r>
            <a:r>
              <a:rPr lang="pt-BR" sz="1400" dirty="0"/>
              <a:t> = new </a:t>
            </a:r>
            <a:r>
              <a:rPr lang="pt-BR" sz="1400" dirty="0" err="1"/>
              <a:t>ListaRef</a:t>
            </a:r>
            <a:r>
              <a:rPr lang="pt-BR" sz="1400" dirty="0"/>
              <a:t>[</a:t>
            </a:r>
            <a:r>
              <a:rPr lang="pt-BR" sz="1400" dirty="0" err="1"/>
              <a:t>numVertices</a:t>
            </a:r>
            <a:r>
              <a:rPr lang="pt-BR" sz="1400" dirty="0"/>
              <a:t>]; 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this.numVertices</a:t>
            </a:r>
            <a:r>
              <a:rPr lang="pt-BR" sz="1400" dirty="0"/>
              <a:t> = </a:t>
            </a:r>
            <a:r>
              <a:rPr lang="pt-BR" sz="1400" dirty="0" err="1"/>
              <a:t>numVertices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</a:p>
          <a:p>
            <a:r>
              <a:rPr lang="pt-BR" sz="1400" dirty="0"/>
              <a:t>            for (</a:t>
            </a:r>
            <a:r>
              <a:rPr lang="pt-BR" sz="1400" dirty="0" err="1"/>
              <a:t>int</a:t>
            </a:r>
            <a:r>
              <a:rPr lang="pt-BR" sz="1400" dirty="0"/>
              <a:t> i = 0; i &lt; </a:t>
            </a:r>
            <a:r>
              <a:rPr lang="pt-BR" sz="1400" dirty="0" err="1"/>
              <a:t>this.numVertices</a:t>
            </a:r>
            <a:r>
              <a:rPr lang="pt-BR" sz="1400" dirty="0"/>
              <a:t>; i++)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this.adj</a:t>
            </a:r>
            <a:r>
              <a:rPr lang="pt-BR" sz="1400" dirty="0"/>
              <a:t>[i] = new </a:t>
            </a:r>
            <a:r>
              <a:rPr lang="pt-BR" sz="1400" dirty="0" err="1"/>
              <a:t>ListaRef</a:t>
            </a:r>
            <a:r>
              <a:rPr lang="pt-BR" sz="1400" dirty="0"/>
              <a:t>();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insereAresta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v1, </a:t>
            </a:r>
            <a:r>
              <a:rPr lang="pt-BR" sz="1400" dirty="0" err="1"/>
              <a:t>int</a:t>
            </a:r>
            <a:r>
              <a:rPr lang="pt-BR" sz="1400" dirty="0"/>
              <a:t> v2, </a:t>
            </a:r>
            <a:r>
              <a:rPr lang="pt-BR" sz="1400" dirty="0" err="1"/>
              <a:t>int</a:t>
            </a:r>
            <a:r>
              <a:rPr lang="pt-BR" sz="1400" dirty="0"/>
              <a:t> peso)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new </a:t>
            </a:r>
            <a:r>
              <a:rPr lang="pt-BR" sz="1400" dirty="0" err="1"/>
              <a:t>Celula</a:t>
            </a:r>
            <a:r>
              <a:rPr lang="pt-BR" sz="1400" dirty="0"/>
              <a:t>(v2, peso);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this.adj</a:t>
            </a:r>
            <a:r>
              <a:rPr lang="pt-BR" sz="1400" dirty="0"/>
              <a:t>[v1].insere(item);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en-US" sz="1400" dirty="0"/>
              <a:t>        public </a:t>
            </a:r>
            <a:r>
              <a:rPr lang="en-US" sz="1400" dirty="0" err="1"/>
              <a:t>bool</a:t>
            </a:r>
            <a:r>
              <a:rPr lang="en-US" sz="1400" dirty="0"/>
              <a:t> </a:t>
            </a:r>
            <a:r>
              <a:rPr lang="en-US" sz="1400" dirty="0" err="1"/>
              <a:t>existeAresta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v1, </a:t>
            </a:r>
            <a:r>
              <a:rPr lang="en-US" sz="1400" dirty="0" err="1"/>
              <a:t>int</a:t>
            </a:r>
            <a:r>
              <a:rPr lang="en-US" sz="1400" dirty="0"/>
              <a:t> v2, </a:t>
            </a:r>
            <a:r>
              <a:rPr lang="en-US" sz="1400" dirty="0" err="1"/>
              <a:t>int</a:t>
            </a:r>
            <a:r>
              <a:rPr lang="en-US" sz="1400" dirty="0"/>
              <a:t> peso)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new </a:t>
            </a:r>
            <a:r>
              <a:rPr lang="pt-BR" sz="1400" dirty="0" err="1"/>
              <a:t>Celula</a:t>
            </a:r>
            <a:r>
              <a:rPr lang="pt-BR" sz="1400" dirty="0"/>
              <a:t>(v2, peso);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(</a:t>
            </a:r>
            <a:r>
              <a:rPr lang="pt-BR" sz="1400" dirty="0" err="1"/>
              <a:t>this.adj</a:t>
            </a:r>
            <a:r>
              <a:rPr lang="pt-BR" sz="1400" dirty="0"/>
              <a:t>[v1].pesquisa(item) != </a:t>
            </a:r>
            <a:r>
              <a:rPr lang="pt-BR" sz="1400" dirty="0" err="1"/>
              <a:t>null</a:t>
            </a:r>
            <a:r>
              <a:rPr lang="pt-BR" sz="1400" dirty="0"/>
              <a:t>);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bool</a:t>
            </a:r>
            <a:r>
              <a:rPr lang="pt-BR" sz="1400" dirty="0"/>
              <a:t> </a:t>
            </a:r>
            <a:r>
              <a:rPr lang="pt-BR" sz="1400" dirty="0" err="1"/>
              <a:t>listaAdjVazia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v)      {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this.adj</a:t>
            </a:r>
            <a:r>
              <a:rPr lang="pt-BR" sz="1400" dirty="0"/>
              <a:t>[v].vazia();    }</a:t>
            </a:r>
          </a:p>
        </p:txBody>
      </p:sp>
    </p:spTree>
    <p:extLst>
      <p:ext uri="{BB962C8B-B14F-4D97-AF65-F5344CB8AC3E}">
        <p14:creationId xmlns:p14="http://schemas.microsoft.com/office/powerpoint/2010/main" val="1738616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844824"/>
            <a:ext cx="625248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Aresta </a:t>
            </a:r>
            <a:r>
              <a:rPr lang="pt-BR" sz="1400" dirty="0" err="1"/>
              <a:t>primeiroListaAdj</a:t>
            </a:r>
            <a:r>
              <a:rPr lang="pt-BR" sz="1400" dirty="0"/>
              <a:t> ( </a:t>
            </a:r>
            <a:r>
              <a:rPr lang="pt-BR" sz="1400" dirty="0" err="1"/>
              <a:t>int</a:t>
            </a:r>
            <a:r>
              <a:rPr lang="pt-BR" sz="1400" dirty="0"/>
              <a:t> v )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// Retorna a primeira aresta que o vértice v participa ou</a:t>
            </a:r>
          </a:p>
          <a:p>
            <a:r>
              <a:rPr lang="pt-BR" sz="1400" dirty="0"/>
              <a:t>            // </a:t>
            </a:r>
            <a:r>
              <a:rPr lang="pt-BR" sz="1400" dirty="0" err="1"/>
              <a:t>null</a:t>
            </a:r>
            <a:r>
              <a:rPr lang="pt-BR" sz="1400" dirty="0"/>
              <a:t> se a lista de adjacência de v for vazia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(</a:t>
            </a:r>
            <a:r>
              <a:rPr lang="pt-BR" sz="1400" dirty="0" err="1"/>
              <a:t>Celula</a:t>
            </a:r>
            <a:r>
              <a:rPr lang="pt-BR" sz="1400" dirty="0"/>
              <a:t>)</a:t>
            </a:r>
            <a:r>
              <a:rPr lang="pt-BR" sz="1400" dirty="0" err="1"/>
              <a:t>this.adj</a:t>
            </a:r>
            <a:r>
              <a:rPr lang="pt-BR" sz="1400" dirty="0"/>
              <a:t>[v].Primeiro();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item != </a:t>
            </a:r>
            <a:r>
              <a:rPr lang="pt-BR" sz="1400" dirty="0" err="1"/>
              <a:t>null</a:t>
            </a:r>
            <a:r>
              <a:rPr lang="pt-BR" sz="1400" dirty="0"/>
              <a:t> ? new Aresta(v, </a:t>
            </a:r>
            <a:r>
              <a:rPr lang="pt-BR" sz="1400" dirty="0" err="1"/>
              <a:t>item.get_vertice</a:t>
            </a:r>
            <a:r>
              <a:rPr lang="pt-BR" sz="1400" dirty="0"/>
              <a:t>(), </a:t>
            </a:r>
            <a:r>
              <a:rPr lang="pt-BR" sz="1400" dirty="0" err="1"/>
              <a:t>item.get_peso</a:t>
            </a:r>
            <a:r>
              <a:rPr lang="pt-BR" sz="1400" dirty="0"/>
              <a:t>()) :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Aresta </a:t>
            </a:r>
            <a:r>
              <a:rPr lang="pt-BR" sz="1400" dirty="0" err="1"/>
              <a:t>proxAdj</a:t>
            </a:r>
            <a:r>
              <a:rPr lang="pt-BR" sz="1400" dirty="0"/>
              <a:t> ( </a:t>
            </a:r>
            <a:r>
              <a:rPr lang="pt-BR" sz="1400" dirty="0" err="1"/>
              <a:t>int</a:t>
            </a:r>
            <a:r>
              <a:rPr lang="pt-BR" sz="1400" dirty="0"/>
              <a:t> v )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// Retorna a próxima aresta que o vértice v participa ou</a:t>
            </a:r>
          </a:p>
          <a:p>
            <a:r>
              <a:rPr lang="pt-BR" sz="1400" dirty="0"/>
              <a:t>            // </a:t>
            </a:r>
            <a:r>
              <a:rPr lang="pt-BR" sz="1400" dirty="0" err="1"/>
              <a:t>null</a:t>
            </a:r>
            <a:r>
              <a:rPr lang="pt-BR" sz="1400" dirty="0"/>
              <a:t> se a lista de adjacência de v estiver no fim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(</a:t>
            </a:r>
            <a:r>
              <a:rPr lang="pt-BR" sz="1400" dirty="0" err="1"/>
              <a:t>Celula</a:t>
            </a:r>
            <a:r>
              <a:rPr lang="pt-BR" sz="1400" dirty="0"/>
              <a:t>)</a:t>
            </a:r>
            <a:r>
              <a:rPr lang="pt-BR" sz="1400" dirty="0" err="1"/>
              <a:t>this.adj</a:t>
            </a:r>
            <a:r>
              <a:rPr lang="pt-BR" sz="1400" dirty="0"/>
              <a:t>[v].</a:t>
            </a:r>
            <a:r>
              <a:rPr lang="pt-BR" sz="1400" dirty="0" err="1"/>
              <a:t>proximo</a:t>
            </a:r>
            <a:r>
              <a:rPr lang="pt-BR" sz="1400" dirty="0"/>
              <a:t>();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item != </a:t>
            </a:r>
            <a:r>
              <a:rPr lang="pt-BR" sz="1400" dirty="0" err="1"/>
              <a:t>null</a:t>
            </a:r>
            <a:r>
              <a:rPr lang="pt-BR" sz="1400" dirty="0"/>
              <a:t> ? new Aresta(v, </a:t>
            </a:r>
            <a:r>
              <a:rPr lang="pt-BR" sz="1400" dirty="0" err="1"/>
              <a:t>item.get_vertice</a:t>
            </a:r>
            <a:r>
              <a:rPr lang="pt-BR" sz="1400" dirty="0"/>
              <a:t>(), </a:t>
            </a:r>
            <a:r>
              <a:rPr lang="pt-BR" sz="1400" dirty="0" err="1"/>
              <a:t>item.get_peso</a:t>
            </a:r>
            <a:r>
              <a:rPr lang="pt-BR" sz="1400" dirty="0"/>
              <a:t>()) :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Aresta </a:t>
            </a:r>
            <a:r>
              <a:rPr lang="pt-BR" sz="1400" dirty="0" err="1"/>
              <a:t>retiraAresta</a:t>
            </a:r>
            <a:r>
              <a:rPr lang="pt-BR" sz="1400" dirty="0"/>
              <a:t> ( </a:t>
            </a:r>
            <a:r>
              <a:rPr lang="pt-BR" sz="1400" dirty="0" err="1"/>
              <a:t>int</a:t>
            </a:r>
            <a:r>
              <a:rPr lang="pt-BR" sz="1400" dirty="0"/>
              <a:t> v1, </a:t>
            </a:r>
            <a:r>
              <a:rPr lang="pt-BR" sz="1400" dirty="0" err="1"/>
              <a:t>int</a:t>
            </a:r>
            <a:r>
              <a:rPr lang="pt-BR" sz="1400" dirty="0"/>
              <a:t> v2, </a:t>
            </a:r>
            <a:r>
              <a:rPr lang="pt-BR" sz="1400" dirty="0" err="1"/>
              <a:t>int</a:t>
            </a:r>
            <a:r>
              <a:rPr lang="pt-BR" sz="1400" dirty="0"/>
              <a:t> peso) 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chave = new </a:t>
            </a:r>
            <a:r>
              <a:rPr lang="pt-BR" sz="1400" dirty="0" err="1"/>
              <a:t>Celula</a:t>
            </a:r>
            <a:r>
              <a:rPr lang="pt-BR" sz="1400" dirty="0"/>
              <a:t> (v2, peso);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(</a:t>
            </a:r>
            <a:r>
              <a:rPr lang="pt-BR" sz="1400" dirty="0" err="1"/>
              <a:t>Celula</a:t>
            </a:r>
            <a:r>
              <a:rPr lang="pt-BR" sz="1400" dirty="0"/>
              <a:t>)</a:t>
            </a:r>
            <a:r>
              <a:rPr lang="pt-BR" sz="1400" dirty="0" err="1"/>
              <a:t>this.adj</a:t>
            </a:r>
            <a:r>
              <a:rPr lang="pt-BR" sz="1400" dirty="0"/>
              <a:t>[v1].retira(chave);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item != </a:t>
            </a:r>
            <a:r>
              <a:rPr lang="pt-BR" sz="1400" dirty="0" err="1"/>
              <a:t>null</a:t>
            </a:r>
            <a:r>
              <a:rPr lang="pt-BR" sz="1400" dirty="0"/>
              <a:t> ? new Aresta (v1, v2, </a:t>
            </a:r>
            <a:r>
              <a:rPr lang="pt-BR" sz="1400" dirty="0" err="1"/>
              <a:t>item.get_peso</a:t>
            </a:r>
            <a:r>
              <a:rPr lang="pt-BR" sz="1400" dirty="0"/>
              <a:t>()) :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82047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700808"/>
            <a:ext cx="636187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imprime ( )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for (</a:t>
            </a:r>
            <a:r>
              <a:rPr lang="pt-BR" sz="1400" dirty="0" err="1"/>
              <a:t>int</a:t>
            </a:r>
            <a:r>
              <a:rPr lang="pt-BR" sz="1400" dirty="0"/>
              <a:t> i = 0; i &lt; </a:t>
            </a:r>
            <a:r>
              <a:rPr lang="pt-BR" sz="1400" dirty="0" err="1"/>
              <a:t>this.numVertices</a:t>
            </a:r>
            <a:r>
              <a:rPr lang="pt-BR" sz="1400" dirty="0"/>
              <a:t>; i ++) 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("</a:t>
            </a:r>
            <a:r>
              <a:rPr lang="pt-BR" sz="1400" dirty="0" err="1"/>
              <a:t>Vertice</a:t>
            </a:r>
            <a:r>
              <a:rPr lang="pt-BR" sz="1400" dirty="0"/>
              <a:t> " + i + " : " );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Celula</a:t>
            </a:r>
            <a:r>
              <a:rPr lang="pt-BR" sz="1400" dirty="0"/>
              <a:t> item = (</a:t>
            </a:r>
            <a:r>
              <a:rPr lang="pt-BR" sz="1400" dirty="0" err="1"/>
              <a:t>Celula</a:t>
            </a:r>
            <a:r>
              <a:rPr lang="pt-BR" sz="1400" dirty="0"/>
              <a:t>)</a:t>
            </a:r>
            <a:r>
              <a:rPr lang="pt-BR" sz="1400" dirty="0" err="1"/>
              <a:t>this.adj</a:t>
            </a:r>
            <a:r>
              <a:rPr lang="pt-BR" sz="1400" dirty="0"/>
              <a:t>[i].Primeiro();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while</a:t>
            </a:r>
            <a:r>
              <a:rPr lang="pt-BR" sz="1400" dirty="0"/>
              <a:t> ( item != </a:t>
            </a:r>
            <a:r>
              <a:rPr lang="pt-BR" sz="1400" dirty="0" err="1"/>
              <a:t>null</a:t>
            </a:r>
            <a:r>
              <a:rPr lang="pt-BR" sz="1400" dirty="0"/>
              <a:t> ) </a:t>
            </a:r>
          </a:p>
          <a:p>
            <a:r>
              <a:rPr lang="pt-BR" sz="1400" dirty="0"/>
              <a:t> 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Console.WriteLine</a:t>
            </a:r>
            <a:r>
              <a:rPr lang="pt-BR" sz="1400" dirty="0"/>
              <a:t>(" " + </a:t>
            </a:r>
            <a:r>
              <a:rPr lang="pt-BR" sz="1400" dirty="0" err="1"/>
              <a:t>item.get_vertice</a:t>
            </a:r>
            <a:r>
              <a:rPr lang="pt-BR" sz="1400" dirty="0"/>
              <a:t>() + " ( " + </a:t>
            </a:r>
            <a:r>
              <a:rPr lang="pt-BR" sz="1400" dirty="0" err="1"/>
              <a:t>item.get_peso</a:t>
            </a:r>
            <a:r>
              <a:rPr lang="pt-BR" sz="1400" dirty="0"/>
              <a:t>() + " ) ");</a:t>
            </a:r>
          </a:p>
          <a:p>
            <a:r>
              <a:rPr lang="pt-BR" sz="1400" dirty="0"/>
              <a:t>                    item = (</a:t>
            </a:r>
            <a:r>
              <a:rPr lang="pt-BR" sz="1400" dirty="0" err="1"/>
              <a:t>Celula</a:t>
            </a:r>
            <a:r>
              <a:rPr lang="pt-BR" sz="1400" dirty="0"/>
              <a:t>)</a:t>
            </a:r>
            <a:r>
              <a:rPr lang="pt-BR" sz="1400" dirty="0" err="1"/>
              <a:t>this.adj</a:t>
            </a:r>
            <a:r>
              <a:rPr lang="pt-BR" sz="1400" dirty="0"/>
              <a:t>[i].</a:t>
            </a:r>
            <a:r>
              <a:rPr lang="pt-BR" sz="1400" dirty="0" err="1"/>
              <a:t>proximo</a:t>
            </a:r>
            <a:r>
              <a:rPr lang="pt-BR" sz="1400" dirty="0"/>
              <a:t>();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}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get_numVertices</a:t>
            </a:r>
            <a:r>
              <a:rPr lang="pt-BR" sz="1400" dirty="0"/>
              <a:t>()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this.numVertices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get_grauSaidaVertice</a:t>
            </a:r>
            <a:r>
              <a:rPr lang="pt-BR" sz="1400" dirty="0"/>
              <a:t>(</a:t>
            </a:r>
            <a:r>
              <a:rPr lang="pt-BR" sz="1400" dirty="0" err="1"/>
              <a:t>int</a:t>
            </a:r>
            <a:r>
              <a:rPr lang="pt-BR" sz="1400" dirty="0"/>
              <a:t> i)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this.adj</a:t>
            </a:r>
            <a:r>
              <a:rPr lang="pt-BR" sz="1400" dirty="0"/>
              <a:t>[i].quantidade();</a:t>
            </a:r>
          </a:p>
          <a:p>
            <a:r>
              <a:rPr lang="pt-BR" sz="1400" dirty="0"/>
              <a:t>        }</a:t>
            </a:r>
          </a:p>
          <a:p>
            <a:r>
              <a:rPr lang="pt-B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098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844824"/>
            <a:ext cx="5038623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Celula</a:t>
            </a:r>
            <a:endParaRPr lang="pt-BR" sz="1400" dirty="0"/>
          </a:p>
          <a:p>
            <a:r>
              <a:rPr lang="pt-BR" sz="1400" dirty="0"/>
              <a:t>   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vertice</a:t>
            </a:r>
            <a:r>
              <a:rPr lang="pt-BR" sz="1400" dirty="0"/>
              <a:t>, peso;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Celula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v, </a:t>
            </a:r>
            <a:r>
              <a:rPr lang="en-US" sz="1400" dirty="0" err="1"/>
              <a:t>int</a:t>
            </a:r>
            <a:r>
              <a:rPr lang="en-US" sz="1400" dirty="0"/>
              <a:t> p) { </a:t>
            </a:r>
            <a:r>
              <a:rPr lang="en-US" sz="1400" dirty="0" err="1"/>
              <a:t>this.vertice</a:t>
            </a:r>
            <a:r>
              <a:rPr lang="en-US" sz="1400" dirty="0"/>
              <a:t> = v; </a:t>
            </a:r>
            <a:r>
              <a:rPr lang="en-US" sz="1400" dirty="0" err="1"/>
              <a:t>this.peso</a:t>
            </a:r>
            <a:r>
              <a:rPr lang="en-US" sz="1400" dirty="0"/>
              <a:t> = p;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bool</a:t>
            </a:r>
            <a:r>
              <a:rPr lang="pt-BR" sz="1400" dirty="0"/>
              <a:t> </a:t>
            </a:r>
            <a:r>
              <a:rPr lang="pt-BR" sz="1400" dirty="0" err="1"/>
              <a:t>equals</a:t>
            </a:r>
            <a:r>
              <a:rPr lang="pt-BR" sz="1400" dirty="0"/>
              <a:t>(</a:t>
            </a:r>
            <a:r>
              <a:rPr lang="pt-BR" sz="1400" dirty="0" err="1"/>
              <a:t>Object</a:t>
            </a:r>
            <a:r>
              <a:rPr lang="pt-BR" sz="1400" dirty="0"/>
              <a:t> </a:t>
            </a:r>
            <a:r>
              <a:rPr lang="pt-BR" sz="1400" dirty="0" err="1"/>
              <a:t>obj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(</a:t>
            </a:r>
            <a:r>
              <a:rPr lang="pt-BR" sz="1400" dirty="0" err="1"/>
              <a:t>Celula</a:t>
            </a:r>
            <a:r>
              <a:rPr lang="pt-BR" sz="1400" dirty="0"/>
              <a:t>)</a:t>
            </a:r>
            <a:r>
              <a:rPr lang="pt-BR" sz="1400" dirty="0" err="1"/>
              <a:t>obj</a:t>
            </a:r>
            <a:r>
              <a:rPr lang="pt-BR" sz="1400" dirty="0"/>
              <a:t>;</a:t>
            </a:r>
          </a:p>
          <a:p>
            <a:r>
              <a:rPr lang="en-US" sz="1400" dirty="0"/>
              <a:t>            if ((</a:t>
            </a:r>
            <a:r>
              <a:rPr lang="en-US" sz="1400" dirty="0" err="1"/>
              <a:t>this.vertice</a:t>
            </a:r>
            <a:r>
              <a:rPr lang="en-US" sz="1400" dirty="0"/>
              <a:t> == </a:t>
            </a:r>
            <a:r>
              <a:rPr lang="en-US" sz="1400" dirty="0" err="1"/>
              <a:t>item.vertice</a:t>
            </a:r>
            <a:r>
              <a:rPr lang="en-US" sz="1400" dirty="0"/>
              <a:t>) &amp;&amp; (</a:t>
            </a:r>
            <a:r>
              <a:rPr lang="en-US" sz="1400" dirty="0" err="1"/>
              <a:t>this.peso</a:t>
            </a:r>
            <a:r>
              <a:rPr lang="en-US" sz="1400" dirty="0"/>
              <a:t> == </a:t>
            </a:r>
            <a:r>
              <a:rPr lang="en-US" sz="1400" dirty="0" err="1"/>
              <a:t>item.peso</a:t>
            </a:r>
            <a:r>
              <a:rPr lang="en-US" sz="1400" dirty="0"/>
              <a:t>))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true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false;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get_vertice</a:t>
            </a:r>
            <a:r>
              <a:rPr lang="en-US" sz="1400" dirty="0"/>
              <a:t>() { return </a:t>
            </a:r>
            <a:r>
              <a:rPr lang="en-US" sz="1400" dirty="0" err="1"/>
              <a:t>vertice</a:t>
            </a:r>
            <a:r>
              <a:rPr lang="en-US" sz="1400" dirty="0"/>
              <a:t>;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get_peso</a:t>
            </a:r>
            <a:r>
              <a:rPr lang="en-US" sz="1400" dirty="0"/>
              <a:t>() { return peso; }</a:t>
            </a:r>
          </a:p>
          <a:p>
            <a:r>
              <a:rPr lang="pt-BR" sz="14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259190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Vejam  no código anterior que a classe Grafo tem um objeto privado “</a:t>
            </a:r>
            <a:r>
              <a:rPr lang="pt-BR" sz="2400" dirty="0" err="1"/>
              <a:t>private</a:t>
            </a:r>
            <a:r>
              <a:rPr lang="pt-BR" sz="2400" dirty="0"/>
              <a:t> </a:t>
            </a:r>
            <a:r>
              <a:rPr lang="pt-BR" sz="2400" dirty="0" err="1"/>
              <a:t>ListaRef</a:t>
            </a:r>
            <a:r>
              <a:rPr lang="pt-BR" sz="2400" dirty="0"/>
              <a:t> [] </a:t>
            </a:r>
            <a:r>
              <a:rPr lang="pt-BR" sz="2400" dirty="0" err="1"/>
              <a:t>adj</a:t>
            </a:r>
            <a:r>
              <a:rPr lang="pt-BR" sz="2400" dirty="0"/>
              <a:t>”, que é uma lista (um vetor) do tipo “</a:t>
            </a:r>
            <a:r>
              <a:rPr lang="pt-BR" sz="2400" dirty="0" err="1"/>
              <a:t>ListaRef</a:t>
            </a:r>
            <a:r>
              <a:rPr lang="pt-BR" sz="2400" dirty="0"/>
              <a:t>”. Esta é um Tipo de Abstrato de Dado (não é tipo da linguagem). Ou seja, o vetor “</a:t>
            </a:r>
            <a:r>
              <a:rPr lang="pt-BR" sz="2400" dirty="0" err="1"/>
              <a:t>adj</a:t>
            </a:r>
            <a:r>
              <a:rPr lang="pt-BR" sz="2400" dirty="0"/>
              <a:t>” é instanciado com a quantidade de vértices do grafo (informado pelo programa principal). Cada posição do vetor “</a:t>
            </a:r>
            <a:r>
              <a:rPr lang="pt-BR" sz="2400" dirty="0" err="1"/>
              <a:t>adj</a:t>
            </a:r>
            <a:r>
              <a:rPr lang="pt-BR" sz="2400" dirty="0"/>
              <a:t>” contém uma lista encadeada (auto referenciadas) com, inicialmente, zero elementos. </a:t>
            </a:r>
          </a:p>
          <a:p>
            <a:r>
              <a:rPr lang="pt-BR" sz="2400" dirty="0"/>
              <a:t>A medida em que as arestas são inseridas no grafo, elementos são criados nas listas de seus respectivos vértices.   </a:t>
            </a:r>
          </a:p>
        </p:txBody>
      </p:sp>
    </p:spTree>
    <p:extLst>
      <p:ext uri="{BB962C8B-B14F-4D97-AF65-F5344CB8AC3E}">
        <p14:creationId xmlns:p14="http://schemas.microsoft.com/office/powerpoint/2010/main" val="2937896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180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 (extra – revisão)</a:t>
            </a:r>
          </a:p>
        </p:txBody>
      </p:sp>
    </p:spTree>
    <p:extLst>
      <p:ext uri="{BB962C8B-B14F-4D97-AF65-F5344CB8AC3E}">
        <p14:creationId xmlns:p14="http://schemas.microsoft.com/office/powerpoint/2010/main" val="2074789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Também podem ser chamadas de listas encadeadas ou listas ligadas.</a:t>
            </a:r>
          </a:p>
          <a:p>
            <a:r>
              <a:rPr lang="pt-BR" dirty="0"/>
              <a:t>Cada item da lista contém a informação que é necessária para alcançar o próximo item.</a:t>
            </a:r>
          </a:p>
          <a:p>
            <a:r>
              <a:rPr lang="pt-BR" dirty="0"/>
              <a:t>Permite utilizar posições não contíguas de memória.</a:t>
            </a:r>
          </a:p>
          <a:p>
            <a:r>
              <a:rPr lang="pt-BR" dirty="0"/>
              <a:t>Inserir e retirar elementos: </a:t>
            </a:r>
          </a:p>
          <a:p>
            <a:pPr lvl="1"/>
            <a:r>
              <a:rPr lang="pt-BR" dirty="0"/>
              <a:t>Não há necessidade de deslocar os itens seguintes da lista.</a:t>
            </a:r>
          </a:p>
        </p:txBody>
      </p:sp>
    </p:spTree>
    <p:extLst>
      <p:ext uri="{BB962C8B-B14F-4D97-AF65-F5344CB8AC3E}">
        <p14:creationId xmlns:p14="http://schemas.microsoft.com/office/powerpoint/2010/main" val="3362787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 uma célula cabeça (</a:t>
            </a:r>
            <a:r>
              <a:rPr lang="pt-BR" dirty="0" err="1"/>
              <a:t>head</a:t>
            </a:r>
            <a:r>
              <a:rPr lang="pt-BR" dirty="0"/>
              <a:t>):</a:t>
            </a:r>
          </a:p>
          <a:p>
            <a:pPr lvl="1"/>
            <a:r>
              <a:rPr lang="pt-BR" dirty="0"/>
              <a:t>simplifica as operações sobre a lista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72" y="3501008"/>
            <a:ext cx="6528725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8139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>
            <a:normAutofit/>
          </a:bodyPr>
          <a:lstStyle/>
          <a:p>
            <a:r>
              <a:rPr lang="pt-BR" dirty="0"/>
              <a:t>A lista é constituída de células:</a:t>
            </a:r>
          </a:p>
          <a:p>
            <a:pPr lvl="1"/>
            <a:r>
              <a:rPr lang="pt-BR" dirty="0"/>
              <a:t>Cada uma contém um item da lista e uma referência para a célula seguinte.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8" name="Elipse 7"/>
          <p:cNvSpPr/>
          <p:nvPr/>
        </p:nvSpPr>
        <p:spPr>
          <a:xfrm>
            <a:off x="3059832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8" idx="2"/>
            <a:endCxn id="8" idx="6"/>
          </p:cNvCxnSpPr>
          <p:nvPr/>
        </p:nvCxnSpPr>
        <p:spPr>
          <a:xfrm>
            <a:off x="3059832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275856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255475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2" name="Elipse 11"/>
          <p:cNvSpPr/>
          <p:nvPr/>
        </p:nvSpPr>
        <p:spPr>
          <a:xfrm>
            <a:off x="4860032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860032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5076056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055675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6" name="Elipse 15"/>
          <p:cNvSpPr/>
          <p:nvPr/>
        </p:nvSpPr>
        <p:spPr>
          <a:xfrm>
            <a:off x="6588224" y="407707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/>
          <p:cNvCxnSpPr>
            <a:stCxn id="16" idx="2"/>
            <a:endCxn id="16" idx="6"/>
          </p:cNvCxnSpPr>
          <p:nvPr/>
        </p:nvCxnSpPr>
        <p:spPr>
          <a:xfrm>
            <a:off x="6588224" y="458112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6804248" y="422108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783867" y="458112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0" name="Conector em curva 19"/>
          <p:cNvCxnSpPr/>
          <p:nvPr/>
        </p:nvCxnSpPr>
        <p:spPr>
          <a:xfrm flipV="1">
            <a:off x="2339752" y="4405754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/>
          <p:nvPr/>
        </p:nvCxnSpPr>
        <p:spPr>
          <a:xfrm flipV="1">
            <a:off x="4139952" y="4437112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em curva 21"/>
          <p:cNvCxnSpPr/>
          <p:nvPr/>
        </p:nvCxnSpPr>
        <p:spPr>
          <a:xfrm flipV="1">
            <a:off x="5868144" y="4437112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475656" y="508518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583945" y="508692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</p:spTree>
    <p:extLst>
      <p:ext uri="{BB962C8B-B14F-4D97-AF65-F5344CB8AC3E}">
        <p14:creationId xmlns:p14="http://schemas.microsoft.com/office/powerpoint/2010/main" val="2735566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/>
          <a:lstStyle/>
          <a:p>
            <a:r>
              <a:rPr lang="pt-BR" dirty="0"/>
              <a:t>Construção de uma Lista vazia:</a:t>
            </a:r>
          </a:p>
        </p:txBody>
      </p:sp>
      <p:sp>
        <p:nvSpPr>
          <p:cNvPr id="45" name="Elipse 44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/>
          <p:cNvCxnSpPr>
            <a:stCxn id="45" idx="2"/>
            <a:endCxn id="45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1327361" y="471591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51" name="Conector de seta reta 50"/>
          <p:cNvCxnSpPr/>
          <p:nvPr/>
        </p:nvCxnSpPr>
        <p:spPr>
          <a:xfrm>
            <a:off x="215244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344671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905428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327361" y="471591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215244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344671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16735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1327361" y="4715910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018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852927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27561" y="436684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018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2734112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27561" y="436684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3018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3969094" y="407707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5263364" y="38982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41363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27561" y="4366845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63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303993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72927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63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4289857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5841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135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72927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63973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</p:spTree>
    <p:extLst>
      <p:ext uri="{BB962C8B-B14F-4D97-AF65-F5344CB8AC3E}">
        <p14:creationId xmlns:p14="http://schemas.microsoft.com/office/powerpoint/2010/main" val="1209021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 fontScale="92500"/>
          </a:bodyPr>
          <a:lstStyle/>
          <a:p>
            <a:r>
              <a:rPr lang="pt-BR" dirty="0"/>
              <a:t>Inserção de um novo elemento na lista (aresta):</a:t>
            </a:r>
          </a:p>
        </p:txBody>
      </p:sp>
      <p:sp>
        <p:nvSpPr>
          <p:cNvPr id="4" name="Elipse 3"/>
          <p:cNvSpPr/>
          <p:nvPr/>
        </p:nvSpPr>
        <p:spPr>
          <a:xfrm>
            <a:off x="1331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1331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5476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72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75656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3131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3131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3347864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27483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2339752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5841302" y="4076193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135572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4977206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4977206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5193230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72849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972927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4185118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2931867" y="29342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04075" y="2924944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</p:spTree>
    <p:extLst>
      <p:ext uri="{BB962C8B-B14F-4D97-AF65-F5344CB8AC3E}">
        <p14:creationId xmlns:p14="http://schemas.microsoft.com/office/powerpoint/2010/main" val="2207825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</p:spTree>
    <p:extLst>
      <p:ext uri="{BB962C8B-B14F-4D97-AF65-F5344CB8AC3E}">
        <p14:creationId xmlns:p14="http://schemas.microsoft.com/office/powerpoint/2010/main" val="3898126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</a:t>
            </a:r>
            <a:r>
              <a:rPr lang="pt-BR" dirty="0">
                <a:solidFill>
                  <a:srgbClr val="FF0000"/>
                </a:solidFill>
              </a:rPr>
              <a:t> != </a:t>
            </a:r>
            <a:r>
              <a:rPr lang="pt-BR" b="1" dirty="0" err="1">
                <a:solidFill>
                  <a:srgbClr val="FF0000"/>
                </a:solidFill>
              </a:rPr>
              <a:t>null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) </a:t>
            </a:r>
            <a:r>
              <a:rPr lang="pt-BR" dirty="0"/>
              <a:t>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95042" y="457183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13027645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>
                <a:solidFill>
                  <a:srgbClr val="FF0000"/>
                </a:solidFill>
              </a:rPr>
              <a:t>if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aux.prox.item</a:t>
            </a:r>
            <a:r>
              <a:rPr lang="pt-BR" dirty="0">
                <a:solidFill>
                  <a:srgbClr val="FF0000"/>
                </a:solidFill>
              </a:rPr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95042" y="4571836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2164689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>
                <a:solidFill>
                  <a:srgbClr val="FF0000"/>
                </a:solidFill>
              </a:rPr>
              <a:t>aux</a:t>
            </a:r>
            <a:r>
              <a:rPr lang="pt-BR" dirty="0">
                <a:solidFill>
                  <a:srgbClr val="FF0000"/>
                </a:solidFill>
              </a:rPr>
              <a:t> = </a:t>
            </a:r>
            <a:r>
              <a:rPr lang="pt-BR" dirty="0" err="1">
                <a:solidFill>
                  <a:srgbClr val="FF0000"/>
                </a:solidFill>
              </a:rPr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12107564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</a:t>
            </a:r>
            <a:r>
              <a:rPr lang="pt-BR" dirty="0">
                <a:solidFill>
                  <a:srgbClr val="FF0000"/>
                </a:solidFill>
              </a:rPr>
              <a:t> != </a:t>
            </a:r>
            <a:r>
              <a:rPr lang="pt-BR" b="1" dirty="0" err="1">
                <a:solidFill>
                  <a:srgbClr val="FF0000"/>
                </a:solidFill>
              </a:rPr>
              <a:t>null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) </a:t>
            </a:r>
            <a:r>
              <a:rPr lang="pt-BR" dirty="0"/>
              <a:t>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899444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>
                <a:solidFill>
                  <a:srgbClr val="FF0000"/>
                </a:solidFill>
              </a:rPr>
              <a:t>if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aux.prox.item</a:t>
            </a:r>
            <a:r>
              <a:rPr lang="pt-BR" dirty="0">
                <a:solidFill>
                  <a:srgbClr val="FF0000"/>
                </a:solidFill>
              </a:rPr>
              <a:t> == elemento</a:t>
            </a:r>
            <a:r>
              <a:rPr lang="pt-BR" dirty="0"/>
              <a:t>) </a:t>
            </a:r>
          </a:p>
          <a:p>
            <a:r>
              <a:rPr lang="pt-BR" b="1" dirty="0"/>
              <a:t>          </a:t>
            </a:r>
            <a:r>
              <a:rPr lang="pt-BR" b="1" dirty="0" err="1"/>
              <a:t>return</a:t>
            </a:r>
            <a:r>
              <a:rPr lang="pt-BR" b="1" dirty="0"/>
              <a:t> </a:t>
            </a:r>
            <a:r>
              <a:rPr lang="pt-BR" dirty="0" err="1"/>
              <a:t>aux.prox.item</a:t>
            </a:r>
            <a:r>
              <a:rPr lang="pt-BR" dirty="0"/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25820105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r>
              <a:rPr lang="pt-BR" dirty="0"/>
              <a:t>Pesquisa de um elemento na lista:</a:t>
            </a:r>
          </a:p>
        </p:txBody>
      </p:sp>
      <p:sp>
        <p:nvSpPr>
          <p:cNvPr id="4" name="Elipse 3"/>
          <p:cNvSpPr/>
          <p:nvPr/>
        </p:nvSpPr>
        <p:spPr>
          <a:xfrm>
            <a:off x="8995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8995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1115616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0952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043608" y="4365104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Head</a:t>
            </a:r>
          </a:p>
        </p:txBody>
      </p:sp>
      <p:sp>
        <p:nvSpPr>
          <p:cNvPr id="12" name="Elipse 11"/>
          <p:cNvSpPr/>
          <p:nvPr/>
        </p:nvSpPr>
        <p:spPr>
          <a:xfrm>
            <a:off x="4499992" y="3356992"/>
            <a:ext cx="1008112" cy="100811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2"/>
            <a:endCxn id="12" idx="6"/>
          </p:cNvCxnSpPr>
          <p:nvPr/>
        </p:nvCxnSpPr>
        <p:spPr>
          <a:xfrm>
            <a:off x="44999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6378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6956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9" name="Conector em curva 18"/>
          <p:cNvCxnSpPr/>
          <p:nvPr/>
        </p:nvCxnSpPr>
        <p:spPr>
          <a:xfrm flipV="1">
            <a:off x="37079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209454" y="4076193"/>
            <a:ext cx="6029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84368" y="389734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4" name="Elipse 23"/>
          <p:cNvSpPr/>
          <p:nvPr/>
        </p:nvSpPr>
        <p:spPr>
          <a:xfrm>
            <a:off x="6345358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2"/>
            <a:endCxn id="24" idx="6"/>
          </p:cNvCxnSpPr>
          <p:nvPr/>
        </p:nvCxnSpPr>
        <p:spPr>
          <a:xfrm>
            <a:off x="6345358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718586" y="35001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54100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41079" y="4365966"/>
            <a:ext cx="1084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Ultimo </a:t>
            </a:r>
          </a:p>
          <a:p>
            <a:pPr algn="ctr"/>
            <a:r>
              <a:rPr lang="pt-BR" dirty="0"/>
              <a:t>elemento</a:t>
            </a:r>
          </a:p>
        </p:txBody>
      </p:sp>
      <p:cxnSp>
        <p:nvCxnSpPr>
          <p:cNvPr id="29" name="Conector em curva 28"/>
          <p:cNvCxnSpPr/>
          <p:nvPr/>
        </p:nvCxnSpPr>
        <p:spPr>
          <a:xfrm flipV="1">
            <a:off x="5553270" y="378816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699792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reto 31"/>
          <p:cNvCxnSpPr>
            <a:stCxn id="31" idx="2"/>
            <a:endCxn id="31" idx="6"/>
          </p:cNvCxnSpPr>
          <p:nvPr/>
        </p:nvCxnSpPr>
        <p:spPr>
          <a:xfrm>
            <a:off x="2699792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305983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895435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</a:t>
            </a:r>
            <a:r>
              <a:rPr lang="pt-BR" dirty="0"/>
              <a:t>.</a:t>
            </a:r>
          </a:p>
        </p:txBody>
      </p:sp>
      <p:cxnSp>
        <p:nvCxnSpPr>
          <p:cNvPr id="35" name="Conector em curva 34"/>
          <p:cNvCxnSpPr/>
          <p:nvPr/>
        </p:nvCxnSpPr>
        <p:spPr>
          <a:xfrm flipV="1">
            <a:off x="1907704" y="3789040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5576" y="26369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pesquisa(2);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5408056"/>
            <a:ext cx="335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</a:t>
            </a:r>
            <a:r>
              <a:rPr lang="pt-BR" dirty="0"/>
              <a:t> != </a:t>
            </a:r>
            <a:r>
              <a:rPr lang="pt-BR" b="1" dirty="0" err="1"/>
              <a:t>null</a:t>
            </a:r>
            <a:r>
              <a:rPr lang="pt-BR" b="1" dirty="0"/>
              <a:t> </a:t>
            </a:r>
            <a:r>
              <a:rPr lang="pt-BR" dirty="0"/>
              <a:t>) {</a:t>
            </a:r>
          </a:p>
          <a:p>
            <a:r>
              <a:rPr lang="pt-BR" b="1" dirty="0"/>
              <a:t>    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dirty="0" err="1"/>
              <a:t>aux.prox.item</a:t>
            </a:r>
            <a:r>
              <a:rPr lang="pt-BR" dirty="0"/>
              <a:t> == elemento) </a:t>
            </a:r>
          </a:p>
          <a:p>
            <a:r>
              <a:rPr lang="pt-BR" b="1" dirty="0"/>
              <a:t>          </a:t>
            </a:r>
            <a:r>
              <a:rPr lang="pt-BR" b="1" dirty="0" err="1">
                <a:solidFill>
                  <a:srgbClr val="FF0000"/>
                </a:solidFill>
              </a:rPr>
              <a:t>return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aux.prox.item</a:t>
            </a:r>
            <a:r>
              <a:rPr lang="pt-BR" dirty="0">
                <a:solidFill>
                  <a:srgbClr val="FF0000"/>
                </a:solidFill>
              </a:rPr>
              <a:t>;</a:t>
            </a:r>
          </a:p>
          <a:p>
            <a:r>
              <a:rPr lang="pt-BR" dirty="0"/>
              <a:t>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15816" y="4355812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Aux.</a:t>
            </a:r>
          </a:p>
        </p:txBody>
      </p:sp>
    </p:spTree>
    <p:extLst>
      <p:ext uri="{BB962C8B-B14F-4D97-AF65-F5344CB8AC3E}">
        <p14:creationId xmlns:p14="http://schemas.microsoft.com/office/powerpoint/2010/main" val="3159424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classe Lista contém: </a:t>
            </a:r>
          </a:p>
          <a:p>
            <a:pPr lvl="1"/>
            <a:r>
              <a:rPr lang="pt-BR" dirty="0"/>
              <a:t>uma referência para a célula cabeça;</a:t>
            </a:r>
          </a:p>
          <a:p>
            <a:pPr lvl="1"/>
            <a:r>
              <a:rPr lang="pt-BR" dirty="0"/>
              <a:t>uma referência para a última célula da lista; e </a:t>
            </a:r>
          </a:p>
          <a:p>
            <a:pPr lvl="1"/>
            <a:r>
              <a:rPr lang="pt-BR" dirty="0"/>
              <a:t>uma referência para armazenar a posição corrente na lista.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4759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772816"/>
            <a:ext cx="335906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ListaRef</a:t>
            </a:r>
            <a:endParaRPr lang="pt-BR" sz="1400" dirty="0"/>
          </a:p>
          <a:p>
            <a:r>
              <a:rPr lang="pt-BR" sz="1400" dirty="0"/>
              <a:t>   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CelulaRef</a:t>
            </a:r>
            <a:endParaRPr lang="pt-BR" sz="1400" dirty="0"/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Celula</a:t>
            </a:r>
            <a:r>
              <a:rPr lang="pt-BR" sz="1400" dirty="0"/>
              <a:t> item;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CelulaRef</a:t>
            </a:r>
            <a:r>
              <a:rPr lang="pt-BR" sz="1400" dirty="0"/>
              <a:t> </a:t>
            </a:r>
            <a:r>
              <a:rPr lang="pt-BR" sz="1400" dirty="0" err="1"/>
              <a:t>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CelulaRef</a:t>
            </a:r>
            <a:r>
              <a:rPr lang="pt-BR" sz="1400" dirty="0"/>
              <a:t> primeiro, ultimo, </a:t>
            </a:r>
            <a:r>
              <a:rPr lang="pt-BR" sz="1400" dirty="0" err="1"/>
              <a:t>pos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// Operações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ListaRef</a:t>
            </a:r>
            <a:r>
              <a:rPr lang="pt-BR" sz="1400" dirty="0"/>
              <a:t>()</a:t>
            </a:r>
          </a:p>
          <a:p>
            <a:r>
              <a:rPr lang="pt-BR" sz="1400" dirty="0"/>
              <a:t>        { // Cria uma Lista vazia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this.primeiro</a:t>
            </a:r>
            <a:r>
              <a:rPr lang="pt-BR" sz="1400" dirty="0"/>
              <a:t> = new </a:t>
            </a:r>
            <a:r>
              <a:rPr lang="pt-BR" sz="1400" dirty="0" err="1"/>
              <a:t>CelulaRef</a:t>
            </a:r>
            <a:r>
              <a:rPr lang="pt-BR" sz="1400" dirty="0"/>
              <a:t>();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this.pos</a:t>
            </a:r>
            <a:r>
              <a:rPr lang="pt-BR" sz="1400" dirty="0"/>
              <a:t> = </a:t>
            </a:r>
            <a:r>
              <a:rPr lang="pt-BR" sz="1400" dirty="0" err="1"/>
              <a:t>this.primeiro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this.ultimo</a:t>
            </a:r>
            <a:r>
              <a:rPr lang="pt-BR" sz="1400" dirty="0"/>
              <a:t> = </a:t>
            </a:r>
            <a:r>
              <a:rPr lang="pt-BR" sz="1400" dirty="0" err="1"/>
              <a:t>this.primeiro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this.primeiro.prox</a:t>
            </a:r>
            <a:r>
              <a:rPr lang="pt-BR" sz="1400" dirty="0"/>
              <a:t> =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6462202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844824"/>
            <a:ext cx="5361724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bool</a:t>
            </a:r>
            <a:r>
              <a:rPr lang="pt-BR" sz="1400" dirty="0"/>
              <a:t> </a:t>
            </a:r>
            <a:r>
              <a:rPr lang="pt-BR" sz="1400" dirty="0" err="1"/>
              <a:t>equals</a:t>
            </a:r>
            <a:r>
              <a:rPr lang="pt-BR" sz="1400" dirty="0"/>
              <a:t>(</a:t>
            </a:r>
            <a:r>
              <a:rPr lang="pt-BR" sz="1400" dirty="0" err="1"/>
              <a:t>Celula</a:t>
            </a:r>
            <a:r>
              <a:rPr lang="pt-BR" sz="1400" dirty="0"/>
              <a:t> chave, </a:t>
            </a:r>
            <a:r>
              <a:rPr lang="pt-BR" sz="1400" dirty="0" err="1"/>
              <a:t>Celula</a:t>
            </a:r>
            <a:r>
              <a:rPr lang="pt-BR" sz="1400" dirty="0"/>
              <a:t> </a:t>
            </a:r>
            <a:r>
              <a:rPr lang="pt-BR" sz="1400" dirty="0" err="1"/>
              <a:t>obj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chave.get_peso</a:t>
            </a:r>
            <a:r>
              <a:rPr lang="pt-BR" sz="1400" dirty="0"/>
              <a:t>() != </a:t>
            </a:r>
            <a:r>
              <a:rPr lang="pt-BR" sz="1400" dirty="0" err="1"/>
              <a:t>obj.get_peso</a:t>
            </a:r>
            <a:r>
              <a:rPr lang="pt-BR" sz="1400" dirty="0"/>
              <a:t>())   </a:t>
            </a:r>
            <a:r>
              <a:rPr lang="pt-BR" sz="1400" dirty="0" err="1"/>
              <a:t>return</a:t>
            </a:r>
            <a:r>
              <a:rPr lang="pt-BR" sz="1400" dirty="0"/>
              <a:t> false;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chave.get_vertice</a:t>
            </a:r>
            <a:r>
              <a:rPr lang="pt-BR" sz="1400" dirty="0"/>
              <a:t>() != </a:t>
            </a:r>
            <a:r>
              <a:rPr lang="pt-BR" sz="1400" dirty="0" err="1"/>
              <a:t>obj.get_vertice</a:t>
            </a:r>
            <a:r>
              <a:rPr lang="pt-BR" sz="1400" dirty="0"/>
              <a:t>())    </a:t>
            </a:r>
            <a:r>
              <a:rPr lang="pt-BR" sz="1400" dirty="0" err="1"/>
              <a:t>return</a:t>
            </a:r>
            <a:r>
              <a:rPr lang="pt-BR" sz="1400" dirty="0"/>
              <a:t> false;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true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Celula</a:t>
            </a:r>
            <a:r>
              <a:rPr lang="pt-BR" sz="1400" dirty="0"/>
              <a:t> pesquisa(</a:t>
            </a:r>
            <a:r>
              <a:rPr lang="pt-BR" sz="1400" dirty="0" err="1"/>
              <a:t>Celula</a:t>
            </a:r>
            <a:r>
              <a:rPr lang="pt-BR" sz="1400" dirty="0"/>
              <a:t> chave)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this.vazia</a:t>
            </a:r>
            <a:r>
              <a:rPr lang="pt-BR" sz="1400" dirty="0"/>
              <a:t>() || chave == </a:t>
            </a:r>
            <a:r>
              <a:rPr lang="pt-BR" sz="1400" dirty="0" err="1"/>
              <a:t>null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CelulaRef</a:t>
            </a:r>
            <a:r>
              <a:rPr lang="pt-BR" sz="1400" dirty="0"/>
              <a:t>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this.primeiro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</a:t>
            </a:r>
            <a:r>
              <a:rPr lang="pt-BR" sz="1400" dirty="0" err="1"/>
              <a:t>aux.prox</a:t>
            </a:r>
            <a:r>
              <a:rPr lang="pt-BR" sz="1400" dirty="0"/>
              <a:t> != </a:t>
            </a:r>
            <a:r>
              <a:rPr lang="pt-BR" sz="1400" dirty="0" err="1"/>
              <a:t>null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this.equals</a:t>
            </a:r>
            <a:r>
              <a:rPr lang="pt-BR" sz="1400" dirty="0"/>
              <a:t>(</a:t>
            </a:r>
            <a:r>
              <a:rPr lang="pt-BR" sz="1400" dirty="0" err="1"/>
              <a:t>aux.prox.item</a:t>
            </a:r>
            <a:r>
              <a:rPr lang="pt-BR" sz="1400" dirty="0"/>
              <a:t>, chave))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aux.prox.item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       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aux.prox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}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9610788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67544" y="1772816"/>
            <a:ext cx="5134547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insere(</a:t>
            </a:r>
            <a:r>
              <a:rPr lang="pt-BR" sz="1400" dirty="0" err="1"/>
              <a:t>Celula</a:t>
            </a:r>
            <a:r>
              <a:rPr lang="pt-BR" sz="1400" dirty="0"/>
              <a:t> x)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this.ultimo.prox</a:t>
            </a:r>
            <a:r>
              <a:rPr lang="pt-BR" sz="1400" dirty="0"/>
              <a:t> = new </a:t>
            </a:r>
            <a:r>
              <a:rPr lang="pt-BR" sz="1400" dirty="0" err="1"/>
              <a:t>CelulaRef</a:t>
            </a:r>
            <a:r>
              <a:rPr lang="pt-BR" sz="1400" dirty="0"/>
              <a:t>();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this.ultimo</a:t>
            </a:r>
            <a:r>
              <a:rPr lang="pt-BR" sz="1400" dirty="0"/>
              <a:t> = </a:t>
            </a:r>
            <a:r>
              <a:rPr lang="pt-BR" sz="1400" dirty="0" err="1"/>
              <a:t>this.ultimo.prox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this.ultimo.item</a:t>
            </a:r>
            <a:r>
              <a:rPr lang="pt-BR" sz="1400" dirty="0"/>
              <a:t> = x; </a:t>
            </a:r>
            <a:r>
              <a:rPr lang="pt-BR" sz="1400" dirty="0" err="1"/>
              <a:t>this.ultimo.prox</a:t>
            </a:r>
            <a:r>
              <a:rPr lang="pt-BR" sz="1400" dirty="0"/>
              <a:t> =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Celula</a:t>
            </a:r>
            <a:r>
              <a:rPr lang="pt-BR" sz="1400" dirty="0"/>
              <a:t> retira(</a:t>
            </a:r>
            <a:r>
              <a:rPr lang="pt-BR" sz="1400" dirty="0" err="1"/>
              <a:t>Celula</a:t>
            </a:r>
            <a:r>
              <a:rPr lang="pt-BR" sz="1400" dirty="0"/>
              <a:t> chave)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this.vazia</a:t>
            </a:r>
            <a:r>
              <a:rPr lang="pt-BR" sz="1400" dirty="0"/>
              <a:t>() || (chave == </a:t>
            </a:r>
            <a:r>
              <a:rPr lang="pt-BR" sz="1400" dirty="0" err="1"/>
              <a:t>null</a:t>
            </a:r>
            <a:r>
              <a:rPr lang="pt-BR" sz="1400" dirty="0"/>
              <a:t>))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throw</a:t>
            </a:r>
            <a:r>
              <a:rPr lang="pt-BR" sz="1400" dirty="0"/>
              <a:t> new </a:t>
            </a:r>
            <a:r>
              <a:rPr lang="pt-BR" sz="1400" dirty="0" err="1"/>
              <a:t>Exception</a:t>
            </a:r>
            <a:r>
              <a:rPr lang="pt-BR" sz="1400" dirty="0"/>
              <a:t>("Erro : Lista vazia ou chave invalida");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CelulaRef</a:t>
            </a:r>
            <a:r>
              <a:rPr lang="pt-BR" sz="1400" dirty="0"/>
              <a:t>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this.primeiro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</a:t>
            </a:r>
            <a:r>
              <a:rPr lang="pt-BR" sz="1400" dirty="0" err="1"/>
              <a:t>aux.prox</a:t>
            </a:r>
            <a:r>
              <a:rPr lang="pt-BR" sz="1400" dirty="0"/>
              <a:t> != </a:t>
            </a:r>
            <a:r>
              <a:rPr lang="pt-BR" sz="1400" dirty="0" err="1"/>
              <a:t>null</a:t>
            </a:r>
            <a:r>
              <a:rPr lang="pt-BR" sz="1400" dirty="0"/>
              <a:t> &amp;&amp; !</a:t>
            </a:r>
            <a:r>
              <a:rPr lang="pt-BR" sz="1400" dirty="0" err="1"/>
              <a:t>this.equals</a:t>
            </a:r>
            <a:r>
              <a:rPr lang="pt-BR" sz="1400" dirty="0"/>
              <a:t>(</a:t>
            </a:r>
            <a:r>
              <a:rPr lang="pt-BR" sz="1400" dirty="0" err="1"/>
              <a:t>aux.prox.item</a:t>
            </a:r>
            <a:r>
              <a:rPr lang="pt-BR" sz="1400" dirty="0"/>
              <a:t>, chave))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aux.prox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aux.prox</a:t>
            </a:r>
            <a:r>
              <a:rPr lang="pt-BR" sz="1400" dirty="0"/>
              <a:t> == </a:t>
            </a:r>
            <a:r>
              <a:rPr lang="pt-BR" sz="1400" dirty="0" err="1"/>
              <a:t>null</a:t>
            </a:r>
            <a:r>
              <a:rPr lang="pt-BR" sz="1400" dirty="0"/>
              <a:t>)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; // não encontrada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CelulaRef</a:t>
            </a:r>
            <a:r>
              <a:rPr lang="pt-BR" sz="1400" dirty="0"/>
              <a:t> q = </a:t>
            </a:r>
            <a:r>
              <a:rPr lang="pt-BR" sz="1400" dirty="0" err="1"/>
              <a:t>aux.prox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</a:t>
            </a:r>
            <a:r>
              <a:rPr lang="pt-BR" sz="1400" dirty="0"/>
              <a:t> item = </a:t>
            </a:r>
            <a:r>
              <a:rPr lang="pt-BR" sz="1400" dirty="0" err="1"/>
              <a:t>q.item</a:t>
            </a:r>
            <a:r>
              <a:rPr lang="pt-BR" sz="1400" dirty="0"/>
              <a:t>; </a:t>
            </a:r>
            <a:r>
              <a:rPr lang="pt-BR" sz="1400" dirty="0" err="1"/>
              <a:t>aux.prox</a:t>
            </a:r>
            <a:r>
              <a:rPr lang="pt-BR" sz="1400" dirty="0"/>
              <a:t> = </a:t>
            </a:r>
            <a:r>
              <a:rPr lang="pt-BR" sz="1400" dirty="0" err="1"/>
              <a:t>q.prox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aux.prox</a:t>
            </a:r>
            <a:r>
              <a:rPr lang="pt-BR" sz="1400" dirty="0"/>
              <a:t> == </a:t>
            </a:r>
            <a:r>
              <a:rPr lang="pt-BR" sz="1400" dirty="0" err="1"/>
              <a:t>null</a:t>
            </a:r>
            <a:r>
              <a:rPr lang="pt-BR" sz="1400" dirty="0"/>
              <a:t>)    </a:t>
            </a:r>
            <a:r>
              <a:rPr lang="pt-BR" sz="1400" dirty="0" err="1"/>
              <a:t>this.ultimo</a:t>
            </a:r>
            <a:r>
              <a:rPr lang="pt-BR" sz="1400" dirty="0"/>
              <a:t> = </a:t>
            </a:r>
            <a:r>
              <a:rPr lang="pt-BR" sz="1400" dirty="0" err="1"/>
              <a:t>aux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item;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3083813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815581"/>
            <a:ext cx="3312317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Celula</a:t>
            </a:r>
            <a:r>
              <a:rPr lang="pt-BR" sz="1400" dirty="0"/>
              <a:t> Primeiro()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this.pos</a:t>
            </a:r>
            <a:r>
              <a:rPr lang="pt-BR" sz="1400" dirty="0"/>
              <a:t> = primeiro;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proximo</a:t>
            </a:r>
            <a:r>
              <a:rPr lang="pt-BR" sz="1400" dirty="0"/>
              <a:t>();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Celula</a:t>
            </a:r>
            <a:r>
              <a:rPr lang="pt-BR" sz="1400" dirty="0"/>
              <a:t> </a:t>
            </a:r>
            <a:r>
              <a:rPr lang="pt-BR" sz="1400" dirty="0" err="1"/>
              <a:t>proximo</a:t>
            </a:r>
            <a:r>
              <a:rPr lang="pt-BR" sz="1400" dirty="0"/>
              <a:t>()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this.pos</a:t>
            </a:r>
            <a:r>
              <a:rPr lang="pt-BR" sz="1400" dirty="0"/>
              <a:t> = </a:t>
            </a:r>
            <a:r>
              <a:rPr lang="pt-BR" sz="1400" dirty="0" err="1"/>
              <a:t>this.pos.prox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this.pos</a:t>
            </a:r>
            <a:r>
              <a:rPr lang="pt-BR" sz="1400" dirty="0"/>
              <a:t> == </a:t>
            </a:r>
            <a:r>
              <a:rPr lang="pt-BR" sz="1400" dirty="0" err="1"/>
              <a:t>null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null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else</a:t>
            </a:r>
            <a:endParaRPr lang="pt-BR" sz="1400" dirty="0"/>
          </a:p>
          <a:p>
            <a:r>
              <a:rPr lang="pt-BR" sz="1400" dirty="0"/>
              <a:t>    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this.pos.item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bool</a:t>
            </a:r>
            <a:r>
              <a:rPr lang="pt-BR" sz="1400" dirty="0"/>
              <a:t> vazia()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(</a:t>
            </a:r>
            <a:r>
              <a:rPr lang="pt-BR" sz="1400" dirty="0" err="1"/>
              <a:t>this.primeiro</a:t>
            </a:r>
            <a:r>
              <a:rPr lang="pt-BR" sz="1400" dirty="0"/>
              <a:t> == </a:t>
            </a:r>
            <a:r>
              <a:rPr lang="pt-BR" sz="1400" dirty="0" err="1"/>
              <a:t>this.ultimo</a:t>
            </a:r>
            <a:r>
              <a:rPr lang="pt-BR" sz="1400" dirty="0"/>
              <a:t>);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045608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Listas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844824"/>
            <a:ext cx="3730701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imprime()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CelulaRef</a:t>
            </a:r>
            <a:r>
              <a:rPr lang="pt-BR" sz="1400" dirty="0"/>
              <a:t>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this.primeiro.prox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</a:t>
            </a:r>
            <a:r>
              <a:rPr lang="pt-BR" sz="1400" dirty="0" err="1"/>
              <a:t>aux</a:t>
            </a:r>
            <a:r>
              <a:rPr lang="pt-BR" sz="1400" dirty="0"/>
              <a:t> != </a:t>
            </a:r>
            <a:r>
              <a:rPr lang="pt-BR" sz="1400" dirty="0" err="1"/>
              <a:t>null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</a:t>
            </a:r>
            <a:r>
              <a:rPr lang="pt-BR" sz="1400" dirty="0"/>
              <a:t>(</a:t>
            </a:r>
            <a:r>
              <a:rPr lang="pt-BR" sz="1400" dirty="0" err="1"/>
              <a:t>aux.item.ToString</a:t>
            </a:r>
            <a:r>
              <a:rPr lang="pt-BR" sz="1400" dirty="0"/>
              <a:t>() + " ");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aux.prox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}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quantidade()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CelulaRef</a:t>
            </a:r>
            <a:r>
              <a:rPr lang="pt-BR" sz="1400" dirty="0"/>
              <a:t>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this.primeiro.prox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int</a:t>
            </a:r>
            <a:r>
              <a:rPr lang="pt-BR" sz="1400" dirty="0"/>
              <a:t> </a:t>
            </a:r>
            <a:r>
              <a:rPr lang="pt-BR" sz="1400" dirty="0" err="1"/>
              <a:t>qtd</a:t>
            </a:r>
            <a:r>
              <a:rPr lang="pt-BR" sz="1400" dirty="0"/>
              <a:t>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</a:t>
            </a:r>
            <a:r>
              <a:rPr lang="pt-BR" sz="1400" dirty="0" err="1"/>
              <a:t>aux</a:t>
            </a:r>
            <a:r>
              <a:rPr lang="pt-BR" sz="1400" dirty="0"/>
              <a:t> != </a:t>
            </a:r>
            <a:r>
              <a:rPr lang="pt-BR" sz="1400" dirty="0" err="1"/>
              <a:t>null</a:t>
            </a:r>
            <a:r>
              <a:rPr lang="pt-BR" sz="1400" dirty="0"/>
              <a:t>)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qtd</a:t>
            </a:r>
            <a:r>
              <a:rPr lang="pt-BR" sz="1400" dirty="0"/>
              <a:t>++;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aux</a:t>
            </a:r>
            <a:r>
              <a:rPr lang="pt-BR" sz="1400" dirty="0"/>
              <a:t> = </a:t>
            </a:r>
            <a:r>
              <a:rPr lang="pt-BR" sz="1400" dirty="0" err="1"/>
              <a:t>aux.prox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    }</a:t>
            </a:r>
          </a:p>
          <a:p>
            <a:endParaRPr lang="pt-BR" sz="1400" dirty="0"/>
          </a:p>
          <a:p>
            <a:r>
              <a:rPr lang="pt-BR" sz="1400" dirty="0"/>
              <a:t>           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qtd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pt-BR" sz="14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7005505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</TotalTime>
  <Words>3413</Words>
  <Application>Microsoft Office PowerPoint</Application>
  <PresentationFormat>Apresentação na tela (4:3)</PresentationFormat>
  <Paragraphs>722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0" baseType="lpstr">
      <vt:lpstr>Arial</vt:lpstr>
      <vt:lpstr>Calibri</vt:lpstr>
      <vt:lpstr>Cambria Math</vt:lpstr>
      <vt:lpstr>Tema do Office</vt:lpstr>
      <vt:lpstr>Unidade I  Estruturas de dados para representação de grafos</vt:lpstr>
      <vt:lpstr>Representação de um Grafo</vt:lpstr>
      <vt:lpstr>Representação de um Grafo</vt:lpstr>
      <vt:lpstr>Representação de um Grafo: Estruturas de Dados</vt:lpstr>
      <vt:lpstr>Matriz de adjacência e grafo dirigido</vt:lpstr>
      <vt:lpstr>Matriz de adjacência e grafo dirigido</vt:lpstr>
      <vt:lpstr>Matriz de adjacência e grafo dirigido</vt:lpstr>
      <vt:lpstr>Matriz de adjacência e grafo dirigido</vt:lpstr>
      <vt:lpstr>Matriz de adjacência e grafo dirigido</vt:lpstr>
      <vt:lpstr>Matriz de adjacência e grafo não dirigido</vt:lpstr>
      <vt:lpstr>Matriz de adjacência e grafo não dirigido</vt:lpstr>
      <vt:lpstr>Matriz de adjacência: análise</vt:lpstr>
      <vt:lpstr>Matriz de incidência</vt:lpstr>
      <vt:lpstr>Matriz de incidência</vt:lpstr>
      <vt:lpstr>Matriz de adjacência</vt:lpstr>
      <vt:lpstr>Matriz de adjacência</vt:lpstr>
      <vt:lpstr>Matriz de adjacência</vt:lpstr>
      <vt:lpstr>Matriz de adjacência</vt:lpstr>
      <vt:lpstr>Matriz de adjacência</vt:lpstr>
      <vt:lpstr>Lista de adjacência</vt:lpstr>
      <vt:lpstr>Lista de adjacência</vt:lpstr>
      <vt:lpstr>Lista de adjacência</vt:lpstr>
      <vt:lpstr>Lista de adjacência</vt:lpstr>
      <vt:lpstr>Lista de adjacência</vt:lpstr>
      <vt:lpstr>Lista de adjacência</vt:lpstr>
      <vt:lpstr>Lista de adjacência</vt:lpstr>
      <vt:lpstr>Lista de adjacência</vt:lpstr>
      <vt:lpstr>Lista de adjacência</vt:lpstr>
      <vt:lpstr>Lista de adjacência</vt:lpstr>
      <vt:lpstr>Implementação de Listas por meio de Estruturas Auto Referenciadas (extra – revisão)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Implementação de Listas por meio de Estruturas Auto Referenciadas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95</cp:revision>
  <dcterms:created xsi:type="dcterms:W3CDTF">2011-08-03T02:09:11Z</dcterms:created>
  <dcterms:modified xsi:type="dcterms:W3CDTF">2016-08-10T12:11:57Z</dcterms:modified>
</cp:coreProperties>
</file>