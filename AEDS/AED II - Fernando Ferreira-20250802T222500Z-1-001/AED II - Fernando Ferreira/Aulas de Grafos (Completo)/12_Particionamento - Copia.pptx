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265" r:id="rId3"/>
    <p:sldId id="266" r:id="rId4"/>
    <p:sldId id="267" r:id="rId5"/>
    <p:sldId id="321" r:id="rId6"/>
    <p:sldId id="270" r:id="rId7"/>
    <p:sldId id="282" r:id="rId8"/>
    <p:sldId id="277" r:id="rId9"/>
    <p:sldId id="278" r:id="rId10"/>
    <p:sldId id="273" r:id="rId11"/>
    <p:sldId id="274" r:id="rId12"/>
    <p:sldId id="280" r:id="rId13"/>
    <p:sldId id="269" r:id="rId14"/>
    <p:sldId id="283" r:id="rId15"/>
    <p:sldId id="289" r:id="rId16"/>
    <p:sldId id="290" r:id="rId17"/>
    <p:sldId id="291" r:id="rId18"/>
    <p:sldId id="292" r:id="rId19"/>
    <p:sldId id="293" r:id="rId20"/>
    <p:sldId id="284" r:id="rId21"/>
    <p:sldId id="314" r:id="rId22"/>
    <p:sldId id="315" r:id="rId23"/>
    <p:sldId id="294" r:id="rId24"/>
    <p:sldId id="295" r:id="rId25"/>
    <p:sldId id="296" r:id="rId26"/>
    <p:sldId id="297" r:id="rId27"/>
    <p:sldId id="298" r:id="rId28"/>
    <p:sldId id="300" r:id="rId29"/>
    <p:sldId id="301" r:id="rId30"/>
    <p:sldId id="302" r:id="rId31"/>
    <p:sldId id="303" r:id="rId32"/>
    <p:sldId id="304" r:id="rId33"/>
    <p:sldId id="305" r:id="rId34"/>
    <p:sldId id="311" r:id="rId35"/>
    <p:sldId id="306" r:id="rId36"/>
    <p:sldId id="307" r:id="rId37"/>
    <p:sldId id="312" r:id="rId38"/>
    <p:sldId id="308" r:id="rId39"/>
    <p:sldId id="309" r:id="rId40"/>
    <p:sldId id="310" r:id="rId41"/>
    <p:sldId id="347" r:id="rId42"/>
    <p:sldId id="348" r:id="rId43"/>
    <p:sldId id="349" r:id="rId44"/>
    <p:sldId id="319" r:id="rId45"/>
    <p:sldId id="322" r:id="rId46"/>
    <p:sldId id="323" r:id="rId47"/>
    <p:sldId id="326" r:id="rId48"/>
    <p:sldId id="325" r:id="rId49"/>
    <p:sldId id="316" r:id="rId50"/>
    <p:sldId id="318" r:id="rId51"/>
    <p:sldId id="320" r:id="rId52"/>
    <p:sldId id="324" r:id="rId53"/>
    <p:sldId id="327" r:id="rId54"/>
    <p:sldId id="328" r:id="rId55"/>
    <p:sldId id="329" r:id="rId56"/>
    <p:sldId id="330" r:id="rId57"/>
    <p:sldId id="317" r:id="rId58"/>
    <p:sldId id="331" r:id="rId59"/>
    <p:sldId id="343" r:id="rId60"/>
    <p:sldId id="344" r:id="rId61"/>
    <p:sldId id="332" r:id="rId62"/>
    <p:sldId id="334" r:id="rId63"/>
    <p:sldId id="335" r:id="rId64"/>
    <p:sldId id="336" r:id="rId65"/>
    <p:sldId id="337" r:id="rId66"/>
    <p:sldId id="338" r:id="rId67"/>
    <p:sldId id="339" r:id="rId68"/>
    <p:sldId id="340" r:id="rId69"/>
    <p:sldId id="341" r:id="rId70"/>
    <p:sldId id="342" r:id="rId71"/>
    <p:sldId id="264" r:id="rId72"/>
    <p:sldId id="350" r:id="rId73"/>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1CA96ABA-4632-4C8D-91A7-E6C98A32620A}">
          <p14:sldIdLst>
            <p14:sldId id="256"/>
            <p14:sldId id="265"/>
            <p14:sldId id="266"/>
            <p14:sldId id="267"/>
            <p14:sldId id="321"/>
            <p14:sldId id="270"/>
            <p14:sldId id="282"/>
            <p14:sldId id="277"/>
            <p14:sldId id="278"/>
            <p14:sldId id="273"/>
            <p14:sldId id="274"/>
            <p14:sldId id="280"/>
            <p14:sldId id="269"/>
            <p14:sldId id="283"/>
            <p14:sldId id="289"/>
            <p14:sldId id="290"/>
            <p14:sldId id="291"/>
            <p14:sldId id="292"/>
            <p14:sldId id="293"/>
            <p14:sldId id="284"/>
            <p14:sldId id="314"/>
            <p14:sldId id="315"/>
            <p14:sldId id="294"/>
            <p14:sldId id="295"/>
            <p14:sldId id="296"/>
            <p14:sldId id="297"/>
            <p14:sldId id="298"/>
            <p14:sldId id="300"/>
            <p14:sldId id="301"/>
            <p14:sldId id="302"/>
            <p14:sldId id="303"/>
            <p14:sldId id="304"/>
            <p14:sldId id="305"/>
            <p14:sldId id="311"/>
            <p14:sldId id="306"/>
            <p14:sldId id="307"/>
            <p14:sldId id="312"/>
            <p14:sldId id="308"/>
            <p14:sldId id="309"/>
            <p14:sldId id="310"/>
            <p14:sldId id="347"/>
            <p14:sldId id="348"/>
            <p14:sldId id="349"/>
            <p14:sldId id="319"/>
            <p14:sldId id="322"/>
            <p14:sldId id="323"/>
            <p14:sldId id="326"/>
            <p14:sldId id="325"/>
            <p14:sldId id="316"/>
            <p14:sldId id="318"/>
            <p14:sldId id="320"/>
            <p14:sldId id="324"/>
            <p14:sldId id="327"/>
            <p14:sldId id="328"/>
            <p14:sldId id="329"/>
            <p14:sldId id="330"/>
            <p14:sldId id="317"/>
            <p14:sldId id="331"/>
            <p14:sldId id="343"/>
            <p14:sldId id="344"/>
            <p14:sldId id="332"/>
            <p14:sldId id="334"/>
            <p14:sldId id="335"/>
            <p14:sldId id="336"/>
            <p14:sldId id="337"/>
            <p14:sldId id="338"/>
            <p14:sldId id="339"/>
            <p14:sldId id="340"/>
            <p14:sldId id="341"/>
            <p14:sldId id="342"/>
            <p14:sldId id="264"/>
            <p14:sldId id="35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248" autoAdjust="0"/>
  </p:normalViewPr>
  <p:slideViewPr>
    <p:cSldViewPr>
      <p:cViewPr varScale="1">
        <p:scale>
          <a:sx n="96" d="100"/>
          <a:sy n="96" d="100"/>
        </p:scale>
        <p:origin x="1956"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822745-E8A0-41D8-974D-E5EBB8AB81CE}" type="datetimeFigureOut">
              <a:rPr lang="pt-BR" smtClean="0"/>
              <a:t>04/07/2016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5C25C4-A4B6-4EFC-9897-5A7EA12A6522}" type="slidenum">
              <a:rPr lang="pt-BR" smtClean="0"/>
              <a:t>‹nº›</a:t>
            </a:fld>
            <a:endParaRPr lang="pt-BR"/>
          </a:p>
        </p:txBody>
      </p:sp>
    </p:spTree>
    <p:extLst>
      <p:ext uri="{BB962C8B-B14F-4D97-AF65-F5344CB8AC3E}">
        <p14:creationId xmlns:p14="http://schemas.microsoft.com/office/powerpoint/2010/main" val="742190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10"/>
          </p:nvPr>
        </p:nvSpPr>
        <p:spPr/>
        <p:txBody>
          <a:bodyPr/>
          <a:lstStyle/>
          <a:p>
            <a:fld id="{035C25C4-A4B6-4EFC-9897-5A7EA12A6522}" type="slidenum">
              <a:rPr lang="pt-BR" smtClean="0"/>
              <a:t>37</a:t>
            </a:fld>
            <a:endParaRPr lang="pt-BR"/>
          </a:p>
        </p:txBody>
      </p:sp>
    </p:spTree>
    <p:extLst>
      <p:ext uri="{BB962C8B-B14F-4D97-AF65-F5344CB8AC3E}">
        <p14:creationId xmlns:p14="http://schemas.microsoft.com/office/powerpoint/2010/main" val="3109821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035C25C4-A4B6-4EFC-9897-5A7EA12A6522}" type="slidenum">
              <a:rPr lang="pt-BR" smtClean="0"/>
              <a:t>51</a:t>
            </a:fld>
            <a:endParaRPr lang="pt-BR"/>
          </a:p>
        </p:txBody>
      </p:sp>
    </p:spTree>
    <p:extLst>
      <p:ext uri="{BB962C8B-B14F-4D97-AF65-F5344CB8AC3E}">
        <p14:creationId xmlns:p14="http://schemas.microsoft.com/office/powerpoint/2010/main" val="4249328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pt-BR"/>
              <a:t>Clique para editar o estilo do título mestre</a:t>
            </a:r>
          </a:p>
        </p:txBody>
      </p:sp>
      <p:sp>
        <p:nvSpPr>
          <p:cNvPr id="3" name="Subtítu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2E700DB3-DBF0-4086-B675-117E7A9610B8}" type="datetimeFigureOut">
              <a:rPr lang="pt-BR" smtClean="0"/>
              <a:t>04/07/2016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2E700DB3-DBF0-4086-B675-117E7A9610B8}" type="datetimeFigureOut">
              <a:rPr lang="pt-BR" smtClean="0"/>
              <a:t>04/07/2016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p:cNvSpPr>
            <a:spLocks noGrp="1"/>
          </p:cNvSpPr>
          <p:nvPr>
            <p:ph type="dt" sz="half" idx="10"/>
          </p:nvPr>
        </p:nvSpPr>
        <p:spPr/>
        <p:txBody>
          <a:bodyPr/>
          <a:lstStyle/>
          <a:p>
            <a:fld id="{2E700DB3-DBF0-4086-B675-117E7A9610B8}" type="datetimeFigureOut">
              <a:rPr lang="pt-BR" smtClean="0"/>
              <a:t>04/07/2016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2E700DB3-DBF0-4086-B675-117E7A9610B8}" type="datetimeFigureOut">
              <a:rPr lang="pt-BR" smtClean="0"/>
              <a:t>04/07/2016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2E700DB3-DBF0-4086-B675-117E7A9610B8}" type="datetimeFigureOut">
              <a:rPr lang="pt-BR" smtClean="0"/>
              <a:t>04/07/2016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2"/>
          <p:cNvSpPr>
            <a:spLocks noGrp="1"/>
          </p:cNvSpPr>
          <p:nvPr>
            <p:ph type="dt" sz="half" idx="10"/>
          </p:nvPr>
        </p:nvSpPr>
        <p:spPr/>
        <p:txBody>
          <a:bodyPr/>
          <a:lstStyle/>
          <a:p>
            <a:fld id="{2E700DB3-DBF0-4086-B675-117E7A9610B8}" type="datetimeFigureOut">
              <a:rPr lang="pt-BR" smtClean="0"/>
              <a:t>04/07/2016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E700DB3-DBF0-4086-B675-117E7A9610B8}" type="datetimeFigureOut">
              <a:rPr lang="pt-BR" smtClean="0"/>
              <a:t>04/07/2016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t>04/07/2016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2E700DB3-DBF0-4086-B675-117E7A9610B8}" type="datetimeFigureOut">
              <a:rPr lang="pt-BR" smtClean="0"/>
              <a:t>04/07/2016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2E700DB3-DBF0-4086-B675-117E7A9610B8}" type="datetimeFigureOut">
              <a:rPr lang="pt-BR" smtClean="0"/>
              <a:t>04/07/2016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629400" y="274638"/>
            <a:ext cx="20574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457200" y="274638"/>
            <a:ext cx="60198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2E700DB3-DBF0-4086-B675-117E7A9610B8}" type="datetimeFigureOut">
              <a:rPr lang="pt-BR" smtClean="0"/>
              <a:t>04/07/2016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2119D8CF-8DEC-4D9F-84EE-ADF04DFF3391}" type="slidenum">
              <a:rPr lang="pt-BR" smtClean="0"/>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00DB3-DBF0-4086-B675-117E7A9610B8}" type="datetimeFigureOut">
              <a:rPr lang="pt-BR" smtClean="0"/>
              <a:t>04/07/2016</a:t>
            </a:fld>
            <a:endParaRPr lang="pt-BR"/>
          </a:p>
        </p:txBody>
      </p:sp>
      <p:sp>
        <p:nvSpPr>
          <p:cNvPr id="5" name="Espaço Reservado para Rodapé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19D8CF-8DEC-4D9F-84EE-ADF04DFF3391}" type="slidenum">
              <a:rPr lang="pt-BR" smtClean="0"/>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r>
              <a:rPr lang="pt-BR" dirty="0"/>
              <a:t>Unidade VIII </a:t>
            </a:r>
            <a:br>
              <a:rPr lang="pt-BR" dirty="0"/>
            </a:br>
            <a:r>
              <a:rPr lang="pt-BR" dirty="0" err="1"/>
              <a:t>Particionamento</a:t>
            </a:r>
            <a:endParaRPr lang="pt-BR" dirty="0"/>
          </a:p>
        </p:txBody>
      </p:sp>
      <p:sp>
        <p:nvSpPr>
          <p:cNvPr id="3" name="Subtítulo 2"/>
          <p:cNvSpPr>
            <a:spLocks noGrp="1"/>
          </p:cNvSpPr>
          <p:nvPr>
            <p:ph type="subTitle" idx="1"/>
          </p:nvPr>
        </p:nvSpPr>
        <p:spPr/>
        <p:txBody>
          <a:bodyPr>
            <a:normAutofit/>
          </a:bodyPr>
          <a:lstStyle/>
          <a:p>
            <a:r>
              <a:rPr lang="pt-BR" dirty="0"/>
              <a:t>Prof. Henrique Batista da Silva</a:t>
            </a:r>
          </a:p>
          <a:p>
            <a:endParaRPr lang="pt-BR" dirty="0"/>
          </a:p>
        </p:txBody>
      </p:sp>
    </p:spTree>
    <p:extLst>
      <p:ext uri="{BB962C8B-B14F-4D97-AF65-F5344CB8AC3E}">
        <p14:creationId xmlns:p14="http://schemas.microsoft.com/office/powerpoint/2010/main" val="1917654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400" dirty="0"/>
                  <a:t>Seja </a:t>
                </a:r>
                <a14:m>
                  <m:oMath xmlns:m="http://schemas.openxmlformats.org/officeDocument/2006/math">
                    <m:r>
                      <a:rPr lang="pt-BR" sz="2400" i="1" dirty="0" smtClean="0">
                        <a:latin typeface="Cambria Math"/>
                      </a:rPr>
                      <m:t>𝐺</m:t>
                    </m:r>
                    <m:r>
                      <a:rPr lang="pt-BR" sz="2400" i="1" dirty="0" smtClean="0">
                        <a:latin typeface="Cambria Math"/>
                      </a:rPr>
                      <m:t>=(</m:t>
                    </m:r>
                    <m:r>
                      <a:rPr lang="pt-BR" sz="2400" i="1" dirty="0" smtClean="0">
                        <a:latin typeface="Cambria Math"/>
                      </a:rPr>
                      <m:t>𝑉</m:t>
                    </m:r>
                    <m:r>
                      <a:rPr lang="pt-BR" sz="2400" i="1" dirty="0" smtClean="0">
                        <a:latin typeface="Cambria Math"/>
                      </a:rPr>
                      <m:t>, </m:t>
                    </m:r>
                    <m:r>
                      <a:rPr lang="pt-BR" sz="2400" i="1" dirty="0" smtClean="0">
                        <a:latin typeface="Cambria Math"/>
                      </a:rPr>
                      <m:t>𝐸</m:t>
                    </m:r>
                    <m:r>
                      <a:rPr lang="pt-BR" sz="2400" i="1" dirty="0">
                        <a:latin typeface="Cambria Math"/>
                      </a:rPr>
                      <m:t>) </m:t>
                    </m:r>
                  </m:oMath>
                </a14:m>
                <a:r>
                  <a:rPr lang="pt-BR" sz="2400" dirty="0"/>
                  <a:t>um grafo.</a:t>
                </a:r>
              </a:p>
              <a:p>
                <a:r>
                  <a:rPr lang="pt-BR" sz="2400" dirty="0"/>
                  <a:t>Um subconjunto </a:t>
                </a:r>
                <a14:m>
                  <m:oMath xmlns:m="http://schemas.openxmlformats.org/officeDocument/2006/math">
                    <m:r>
                      <a:rPr lang="pt-BR" sz="2400" b="0" i="1" smtClean="0">
                        <a:latin typeface="Cambria Math"/>
                      </a:rPr>
                      <m:t>𝑆</m:t>
                    </m:r>
                    <m:r>
                      <a:rPr lang="pt-BR" sz="2400" b="0" i="1" smtClean="0">
                        <a:latin typeface="Cambria Math"/>
                        <a:ea typeface="Cambria Math"/>
                      </a:rPr>
                      <m:t>⊆</m:t>
                    </m:r>
                    <m:r>
                      <a:rPr lang="pt-BR" sz="2400" b="0" i="1" smtClean="0">
                        <a:latin typeface="Cambria Math"/>
                        <a:ea typeface="Cambria Math"/>
                      </a:rPr>
                      <m:t>𝑉</m:t>
                    </m:r>
                  </m:oMath>
                </a14:m>
                <a:r>
                  <a:rPr lang="pt-BR" sz="2400" dirty="0"/>
                  <a:t> é um </a:t>
                </a:r>
                <a:r>
                  <a:rPr lang="pt-BR" sz="2400" b="1" dirty="0"/>
                  <a:t>subconjunto independente </a:t>
                </a:r>
                <a:r>
                  <a:rPr lang="pt-BR" sz="2400" dirty="0"/>
                  <a:t>se </a:t>
                </a:r>
                <a14:m>
                  <m:oMath xmlns:m="http://schemas.openxmlformats.org/officeDocument/2006/math">
                    <m:r>
                      <a:rPr lang="pt-BR" sz="2400" i="1" smtClean="0">
                        <a:latin typeface="Cambria Math"/>
                        <a:ea typeface="Cambria Math"/>
                      </a:rPr>
                      <m:t>∀</m:t>
                    </m:r>
                    <m:r>
                      <a:rPr lang="pt-BR" sz="2400" b="0" i="1" smtClean="0">
                        <a:latin typeface="Cambria Math"/>
                        <a:ea typeface="Cambria Math"/>
                      </a:rPr>
                      <m:t> </m:t>
                    </m:r>
                    <m:r>
                      <a:rPr lang="pt-BR" sz="2400" b="0" i="1" smtClean="0">
                        <a:latin typeface="Cambria Math"/>
                        <a:ea typeface="Cambria Math"/>
                      </a:rPr>
                      <m:t>𝑣</m:t>
                    </m:r>
                    <m:r>
                      <a:rPr lang="pt-BR" sz="2400" b="0" i="1" smtClean="0">
                        <a:latin typeface="Cambria Math"/>
                        <a:ea typeface="Cambria Math"/>
                      </a:rPr>
                      <m:t>, </m:t>
                    </m:r>
                    <m:r>
                      <a:rPr lang="pt-BR" sz="2400" b="0" i="1" smtClean="0">
                        <a:latin typeface="Cambria Math"/>
                        <a:ea typeface="Cambria Math"/>
                      </a:rPr>
                      <m:t>𝑤</m:t>
                    </m:r>
                    <m:r>
                      <a:rPr lang="pt-BR" sz="2400" b="0" i="1" smtClean="0">
                        <a:latin typeface="Cambria Math"/>
                        <a:ea typeface="Cambria Math"/>
                      </a:rPr>
                      <m:t>∈</m:t>
                    </m:r>
                    <m:r>
                      <a:rPr lang="pt-BR" sz="2400" b="0" i="1" smtClean="0">
                        <a:latin typeface="Cambria Math"/>
                        <a:ea typeface="Cambria Math"/>
                      </a:rPr>
                      <m:t>𝑆</m:t>
                    </m:r>
                  </m:oMath>
                </a14:m>
                <a:r>
                  <a:rPr lang="pt-BR" sz="2400" dirty="0"/>
                  <a:t>, tem-se </a:t>
                </a:r>
                <a14:m>
                  <m:oMath xmlns:m="http://schemas.openxmlformats.org/officeDocument/2006/math">
                    <m:r>
                      <a:rPr lang="pt-BR" sz="2400" b="0" i="1" smtClean="0">
                        <a:latin typeface="Cambria Math"/>
                      </a:rPr>
                      <m:t>(</m:t>
                    </m:r>
                    <m:r>
                      <a:rPr lang="pt-BR" sz="2400" b="0" i="1" smtClean="0">
                        <a:latin typeface="Cambria Math"/>
                      </a:rPr>
                      <m:t>𝑣</m:t>
                    </m:r>
                    <m:r>
                      <a:rPr lang="pt-BR" sz="2400" b="0" i="1" smtClean="0">
                        <a:latin typeface="Cambria Math"/>
                      </a:rPr>
                      <m:t>, </m:t>
                    </m:r>
                    <m:r>
                      <a:rPr lang="pt-BR" sz="2400" b="0" i="1" smtClean="0">
                        <a:latin typeface="Cambria Math"/>
                      </a:rPr>
                      <m:t>𝑤</m:t>
                    </m:r>
                    <m:r>
                      <a:rPr lang="pt-BR" sz="2400" b="0" i="1" smtClean="0">
                        <a:latin typeface="Cambria Math"/>
                      </a:rPr>
                      <m:t>)∉</m:t>
                    </m:r>
                    <m:r>
                      <a:rPr lang="pt-BR" sz="2400" b="0" i="1" smtClean="0">
                        <a:latin typeface="Cambria Math"/>
                        <a:ea typeface="Cambria Math"/>
                      </a:rPr>
                      <m:t>𝐸</m:t>
                    </m:r>
                  </m:oMath>
                </a14:m>
                <a:r>
                  <a:rPr lang="pt-BR" sz="2400" dirty="0"/>
                  <a:t>.</a:t>
                </a:r>
              </a:p>
              <a:p>
                <a:pPr lvl="1"/>
                <a14:m>
                  <m:oMath xmlns:m="http://schemas.openxmlformats.org/officeDocument/2006/math">
                    <m:r>
                      <a:rPr lang="pt-BR" sz="2000" i="1" dirty="0" smtClean="0">
                        <a:latin typeface="Cambria Math"/>
                      </a:rPr>
                      <m:t>𝑆</m:t>
                    </m:r>
                  </m:oMath>
                </a14:m>
                <a:r>
                  <a:rPr lang="pt-BR" sz="2000" dirty="0"/>
                  <a:t> pode ser chamado de </a:t>
                </a:r>
                <a:r>
                  <a:rPr lang="pt-BR" sz="2000" b="1" dirty="0" err="1"/>
                  <a:t>S</a:t>
                </a:r>
                <a:r>
                  <a:rPr lang="pt-BR" sz="2000" dirty="0" err="1"/>
                  <a:t>ub</a:t>
                </a:r>
                <a:r>
                  <a:rPr lang="pt-BR" sz="2000" b="1" dirty="0" err="1"/>
                  <a:t>C</a:t>
                </a:r>
                <a:r>
                  <a:rPr lang="pt-BR" sz="2000" dirty="0" err="1"/>
                  <a:t>onjunto</a:t>
                </a:r>
                <a:r>
                  <a:rPr lang="pt-BR" sz="2000" dirty="0"/>
                  <a:t> </a:t>
                </a:r>
                <a:r>
                  <a:rPr lang="pt-BR" sz="2000" b="1" dirty="0"/>
                  <a:t>I</a:t>
                </a:r>
                <a:r>
                  <a:rPr lang="pt-BR" sz="2000" dirty="0"/>
                  <a:t>nternamente </a:t>
                </a:r>
                <a:r>
                  <a:rPr lang="pt-BR" sz="2000" b="1" dirty="0"/>
                  <a:t>E</a:t>
                </a:r>
                <a:r>
                  <a:rPr lang="pt-BR" sz="2000" dirty="0"/>
                  <a:t>stável ou SCIE.</a:t>
                </a:r>
              </a:p>
              <a:p>
                <a:pPr lvl="1"/>
                <a14:m>
                  <m:oMath xmlns:m="http://schemas.openxmlformats.org/officeDocument/2006/math">
                    <m:r>
                      <a:rPr lang="pt-BR" sz="2000" i="1" dirty="0" smtClean="0">
                        <a:latin typeface="Cambria Math"/>
                      </a:rPr>
                      <m:t>𝑆</m:t>
                    </m:r>
                  </m:oMath>
                </a14:m>
                <a:r>
                  <a:rPr lang="pt-BR" sz="2000" dirty="0"/>
                  <a:t> é um </a:t>
                </a:r>
                <a:r>
                  <a:rPr lang="pt-BR" sz="2000" dirty="0" err="1"/>
                  <a:t>subgrafo</a:t>
                </a:r>
                <a:r>
                  <a:rPr lang="pt-BR" sz="2000" dirty="0"/>
                  <a:t> totalmente desconectado. </a:t>
                </a:r>
              </a:p>
              <a:p>
                <a:r>
                  <a:rPr lang="pt-BR" sz="2400" dirty="0"/>
                  <a:t>É o </a:t>
                </a:r>
                <a:r>
                  <a:rPr lang="pt-BR" sz="2400" b="1" dirty="0"/>
                  <a:t>maior</a:t>
                </a:r>
                <a:r>
                  <a:rPr lang="pt-BR" sz="2400" dirty="0"/>
                  <a:t> conjunto de vértices que não tem arestas entre si</a:t>
                </a:r>
              </a:p>
              <a:p>
                <a:endParaRPr lang="pt-BR" sz="20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963" t="-1078"/>
                </a:stretch>
              </a:blipFill>
            </p:spPr>
            <p:txBody>
              <a:bodyPr/>
              <a:lstStyle/>
              <a:p>
                <a:r>
                  <a:rPr lang="pt-BR">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0720" y="4093420"/>
            <a:ext cx="4389512" cy="1855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62360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oMath>
                </a14:m>
                <a:r>
                  <a:rPr lang="pt-BR" dirty="0"/>
                  <a:t>.</a:t>
                </a:r>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134" y="5218169"/>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33" name="Conector reto 32"/>
          <p:cNvCxnSpPr>
            <a:stCxn id="5" idx="4"/>
            <a:endCxn id="32"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7" idx="6"/>
            <a:endCxn id="32"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Elipse 38"/>
          <p:cNvSpPr/>
          <p:nvPr/>
        </p:nvSpPr>
        <p:spPr>
          <a:xfrm>
            <a:off x="6044843"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40" name="Conector reto 39"/>
          <p:cNvCxnSpPr>
            <a:stCxn id="5" idx="5"/>
            <a:endCxn id="39"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32" idx="6"/>
            <a:endCxn id="39"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12" idx="7"/>
            <a:endCxn id="39"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4897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134" y="5218169"/>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33" name="Conector reto 32"/>
          <p:cNvCxnSpPr>
            <a:stCxn id="5" idx="4"/>
            <a:endCxn id="32"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7" idx="6"/>
            <a:endCxn id="32"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Elipse 38"/>
          <p:cNvSpPr/>
          <p:nvPr/>
        </p:nvSpPr>
        <p:spPr>
          <a:xfrm>
            <a:off x="6044843"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40" name="Conector reto 39"/>
          <p:cNvCxnSpPr>
            <a:stCxn id="5" idx="5"/>
            <a:endCxn id="39"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32" idx="6"/>
            <a:endCxn id="39"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12" idx="7"/>
            <a:endCxn id="39"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5332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704"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bg1">
                    <a:lumMod val="75000"/>
                  </a:schemeClr>
                </a:solidFill>
              </a:rPr>
              <a:t>3</a:t>
            </a:r>
          </a:p>
        </p:txBody>
      </p:sp>
      <p:sp>
        <p:nvSpPr>
          <p:cNvPr id="8" name="Elipse 7"/>
          <p:cNvSpPr/>
          <p:nvPr/>
        </p:nvSpPr>
        <p:spPr>
          <a:xfrm>
            <a:off x="2549134" y="5218169"/>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2939" y="4677364"/>
            <a:ext cx="735216" cy="600898"/>
          </a:xfrm>
          <a:prstGeom prst="line">
            <a:avLst/>
          </a:prstGeom>
          <a:ln>
            <a:solidFill>
              <a:schemeClr val="bg1">
                <a:lumMod val="8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70325" y="4323250"/>
            <a:ext cx="543381" cy="410344"/>
          </a:xfrm>
          <a:prstGeom prst="ellipse">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bg1">
                    <a:lumMod val="75000"/>
                  </a:schemeClr>
                </a:solidFill>
              </a:rPr>
              <a:t>4</a:t>
            </a:r>
          </a:p>
        </p:txBody>
      </p:sp>
      <p:cxnSp>
        <p:nvCxnSpPr>
          <p:cNvPr id="33" name="Conector reto 32"/>
          <p:cNvCxnSpPr>
            <a:stCxn id="5" idx="4"/>
            <a:endCxn id="32" idx="0"/>
          </p:cNvCxnSpPr>
          <p:nvPr/>
        </p:nvCxnSpPr>
        <p:spPr>
          <a:xfrm>
            <a:off x="5139438" y="3767336"/>
            <a:ext cx="2578" cy="55591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flipH="1">
            <a:off x="5139439" y="4733594"/>
            <a:ext cx="2577" cy="49901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7" idx="6"/>
            <a:endCxn id="32" idx="2"/>
          </p:cNvCxnSpPr>
          <p:nvPr/>
        </p:nvCxnSpPr>
        <p:spPr>
          <a:xfrm flipV="1">
            <a:off x="4211960" y="4528422"/>
            <a:ext cx="658365" cy="386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9" name="Elipse 38"/>
          <p:cNvSpPr/>
          <p:nvPr/>
        </p:nvSpPr>
        <p:spPr>
          <a:xfrm>
            <a:off x="6044843" y="4327113"/>
            <a:ext cx="543381" cy="410344"/>
          </a:xfrm>
          <a:prstGeom prst="ellipse">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bg1">
                    <a:lumMod val="75000"/>
                  </a:schemeClr>
                </a:solidFill>
              </a:rPr>
              <a:t>5</a:t>
            </a:r>
          </a:p>
        </p:txBody>
      </p:sp>
      <p:cxnSp>
        <p:nvCxnSpPr>
          <p:cNvPr id="40" name="Conector reto 39"/>
          <p:cNvCxnSpPr>
            <a:stCxn id="5" idx="5"/>
            <a:endCxn id="39" idx="1"/>
          </p:cNvCxnSpPr>
          <p:nvPr/>
        </p:nvCxnSpPr>
        <p:spPr>
          <a:xfrm>
            <a:off x="5331552" y="3707243"/>
            <a:ext cx="792867" cy="67996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32" idx="6"/>
            <a:endCxn id="39" idx="2"/>
          </p:cNvCxnSpPr>
          <p:nvPr/>
        </p:nvCxnSpPr>
        <p:spPr>
          <a:xfrm>
            <a:off x="5413706" y="4528422"/>
            <a:ext cx="631137" cy="386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12" idx="7"/>
            <a:endCxn id="39" idx="3"/>
          </p:cNvCxnSpPr>
          <p:nvPr/>
        </p:nvCxnSpPr>
        <p:spPr>
          <a:xfrm flipV="1">
            <a:off x="5331553" y="4677364"/>
            <a:ext cx="792866" cy="61533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4441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p:cNvSpPr>
                <a:spLocks noGrp="1"/>
              </p:cNvSpPr>
              <p:nvPr>
                <p:ph type="title"/>
              </p:nvPr>
            </p:nvSpPr>
            <p:spPr/>
            <p:txBody>
              <a:bodyPr>
                <a:normAutofit/>
              </a:bodyPr>
              <a:lstStyle/>
              <a:p>
                <a:r>
                  <a:rPr lang="pt-BR" sz="3600" dirty="0"/>
                  <a:t>Conjuntos Independentes Maximal e </a:t>
                </a:r>
                <a14:m>
                  <m:oMath xmlns:m="http://schemas.openxmlformats.org/officeDocument/2006/math">
                    <m:r>
                      <a:rPr lang="pt-BR" sz="3600" i="1" smtClean="0">
                        <a:latin typeface="Cambria Math"/>
                        <a:ea typeface="Cambria Math"/>
                      </a:rPr>
                      <m:t>𝛽</m:t>
                    </m:r>
                    <m:r>
                      <a:rPr lang="pt-BR" sz="3600" b="0" i="1" smtClean="0">
                        <a:latin typeface="Cambria Math"/>
                        <a:ea typeface="Cambria Math"/>
                      </a:rPr>
                      <m:t>(</m:t>
                    </m:r>
                    <m:r>
                      <a:rPr lang="pt-BR" sz="3600" b="0" i="1" smtClean="0">
                        <a:latin typeface="Cambria Math"/>
                        <a:ea typeface="Cambria Math"/>
                      </a:rPr>
                      <m:t>𝐺</m:t>
                    </m:r>
                    <m:r>
                      <a:rPr lang="pt-BR" sz="3600" b="0" i="1" smtClean="0">
                        <a:latin typeface="Cambria Math"/>
                        <a:ea typeface="Cambria Math"/>
                      </a:rPr>
                      <m:t>)</m:t>
                    </m:r>
                  </m:oMath>
                </a14:m>
                <a:endParaRPr lang="pt-BR" sz="3600" dirty="0"/>
              </a:p>
            </p:txBody>
          </p:sp>
        </mc:Choice>
        <mc:Fallback xmlns="">
          <p:sp>
            <p:nvSpPr>
              <p:cNvPr id="2" name="Título 1"/>
              <p:cNvSpPr>
                <a:spLocks noGrp="1" noRot="1" noChangeAspect="1" noMove="1" noResize="1" noEditPoints="1" noAdjustHandles="1" noChangeArrowheads="1" noChangeShapeType="1" noTextEdit="1"/>
              </p:cNvSpPr>
              <p:nvPr>
                <p:ph type="title"/>
              </p:nvPr>
            </p:nvSpPr>
            <p:spPr>
              <a:blipFill rotWithShape="1">
                <a:blip r:embed="rId2"/>
                <a:stretch>
                  <a:fillRect l="-125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 e </a:t>
                </a:r>
                <a14:m>
                  <m:oMath xmlns:m="http://schemas.openxmlformats.org/officeDocument/2006/math">
                    <m:r>
                      <a:rPr lang="pt-BR" sz="2800" i="1">
                        <a:latin typeface="Cambria Math"/>
                      </a:rPr>
                      <m:t>𝑆</m:t>
                    </m:r>
                    <m:r>
                      <a:rPr lang="pt-BR" sz="2800" i="1">
                        <a:latin typeface="Cambria Math"/>
                      </a:rPr>
                      <m:t> </m:t>
                    </m:r>
                  </m:oMath>
                </a14:m>
                <a:r>
                  <a:rPr lang="pt-BR" sz="2800" dirty="0"/>
                  <a:t>um conjunto independente de G </a:t>
                </a:r>
              </a:p>
              <a:p>
                <a:r>
                  <a:rPr lang="pt-BR" sz="2800" dirty="0"/>
                  <a:t>Dizemos que </a:t>
                </a:r>
                <a14:m>
                  <m:oMath xmlns:m="http://schemas.openxmlformats.org/officeDocument/2006/math">
                    <m:r>
                      <a:rPr lang="pt-BR" sz="2800" i="1">
                        <a:latin typeface="Cambria Math"/>
                      </a:rPr>
                      <m:t>𝑆</m:t>
                    </m:r>
                  </m:oMath>
                </a14:m>
                <a:r>
                  <a:rPr lang="pt-BR" sz="2800" dirty="0"/>
                  <a:t> é um conjunto independente maximal de </a:t>
                </a:r>
                <a14:m>
                  <m:oMath xmlns:m="http://schemas.openxmlformats.org/officeDocument/2006/math">
                    <m:r>
                      <a:rPr lang="pt-BR" sz="2800" i="1" dirty="0" smtClean="0">
                        <a:latin typeface="Cambria Math"/>
                      </a:rPr>
                      <m:t>𝐺</m:t>
                    </m:r>
                  </m:oMath>
                </a14:m>
                <a:r>
                  <a:rPr lang="pt-BR" sz="2800" dirty="0"/>
                  <a:t> se não existir outro conjunto independente </a:t>
                </a:r>
                <a14:m>
                  <m:oMath xmlns:m="http://schemas.openxmlformats.org/officeDocument/2006/math">
                    <m:r>
                      <a:rPr lang="pt-BR" sz="2800" i="1" dirty="0" smtClean="0">
                        <a:latin typeface="Cambria Math"/>
                      </a:rPr>
                      <m:t>𝐴</m:t>
                    </m:r>
                  </m:oMath>
                </a14:m>
                <a:r>
                  <a:rPr lang="pt-BR" sz="2800" dirty="0"/>
                  <a:t> de </a:t>
                </a:r>
                <a14:m>
                  <m:oMath xmlns:m="http://schemas.openxmlformats.org/officeDocument/2006/math">
                    <m:r>
                      <a:rPr lang="pt-BR" sz="2800" i="1" dirty="0" smtClean="0">
                        <a:latin typeface="Cambria Math"/>
                      </a:rPr>
                      <m:t>𝐺</m:t>
                    </m:r>
                  </m:oMath>
                </a14:m>
                <a:r>
                  <a:rPr lang="pt-BR" sz="2800" dirty="0"/>
                  <a:t>, tal que </a:t>
                </a:r>
                <a14:m>
                  <m:oMath xmlns:m="http://schemas.openxmlformats.org/officeDocument/2006/math">
                    <m:r>
                      <a:rPr lang="pt-BR" sz="2800" i="1">
                        <a:latin typeface="Cambria Math"/>
                      </a:rPr>
                      <m:t>𝑆</m:t>
                    </m:r>
                    <m:r>
                      <a:rPr lang="pt-BR" sz="2800" i="1" smtClean="0">
                        <a:latin typeface="Cambria Math"/>
                        <a:ea typeface="Cambria Math"/>
                      </a:rPr>
                      <m:t>⊆</m:t>
                    </m:r>
                    <m:r>
                      <a:rPr lang="pt-BR" sz="2800" b="0" i="1" smtClean="0">
                        <a:latin typeface="Cambria Math"/>
                        <a:ea typeface="Cambria Math"/>
                      </a:rPr>
                      <m:t>𝐴</m:t>
                    </m:r>
                  </m:oMath>
                </a14:m>
                <a:r>
                  <a:rPr lang="pt-BR" sz="2800" dirty="0"/>
                  <a:t>.</a:t>
                </a:r>
              </a:p>
              <a:p>
                <a:r>
                  <a:rPr lang="pt-BR" sz="2800" dirty="0"/>
                  <a:t>O número de estabilidade interna </a:t>
                </a:r>
                <a14:m>
                  <m:oMath xmlns:m="http://schemas.openxmlformats.org/officeDocument/2006/math">
                    <m:r>
                      <a:rPr lang="pt-BR" sz="2800" i="1">
                        <a:latin typeface="Cambria Math"/>
                        <a:ea typeface="Cambria Math"/>
                      </a:rPr>
                      <m:t>𝛽</m:t>
                    </m:r>
                    <m:r>
                      <a:rPr lang="pt-BR" sz="2800" i="1">
                        <a:latin typeface="Cambria Math"/>
                        <a:ea typeface="Cambria Math"/>
                      </a:rPr>
                      <m:t>(</m:t>
                    </m:r>
                    <m:r>
                      <a:rPr lang="pt-BR" sz="2800" i="1">
                        <a:latin typeface="Cambria Math"/>
                        <a:ea typeface="Cambria Math"/>
                      </a:rPr>
                      <m:t>𝐺</m:t>
                    </m:r>
                    <m:r>
                      <a:rPr lang="pt-BR" sz="2800" i="1">
                        <a:latin typeface="Cambria Math"/>
                        <a:ea typeface="Cambria Math"/>
                      </a:rPr>
                      <m:t>)</m:t>
                    </m:r>
                  </m:oMath>
                </a14:m>
                <a:r>
                  <a:rPr lang="pt-BR" sz="2800" dirty="0"/>
                  <a:t> é igual à cardinalidade do maior conjunto independente de </a:t>
                </a:r>
                <a14:m>
                  <m:oMath xmlns:m="http://schemas.openxmlformats.org/officeDocument/2006/math">
                    <m:r>
                      <a:rPr lang="pt-BR" sz="2800" i="1">
                        <a:latin typeface="Cambria Math"/>
                      </a:rPr>
                      <m:t>𝑆</m:t>
                    </m:r>
                  </m:oMath>
                </a14:m>
                <a:endParaRPr lang="pt-BR" sz="2800" dirty="0"/>
              </a:p>
              <a:p>
                <a:r>
                  <a:rPr lang="pt-BR" sz="2800" dirty="0"/>
                  <a:t>Se </a:t>
                </a:r>
                <a14:m>
                  <m:oMath xmlns:m="http://schemas.openxmlformats.org/officeDocument/2006/math">
                    <m:r>
                      <a:rPr lang="pt-BR" sz="2800" i="1">
                        <a:latin typeface="Cambria Math"/>
                      </a:rPr>
                      <m:t>𝑆</m:t>
                    </m:r>
                  </m:oMath>
                </a14:m>
                <a:r>
                  <a:rPr lang="pt-BR" sz="2800" dirty="0"/>
                  <a:t> é um conjunto independente de </a:t>
                </a:r>
                <a14:m>
                  <m:oMath xmlns:m="http://schemas.openxmlformats.org/officeDocument/2006/math">
                    <m:r>
                      <a:rPr lang="pt-BR" sz="2800" i="1" dirty="0" smtClean="0">
                        <a:latin typeface="Cambria Math"/>
                      </a:rPr>
                      <m:t>𝐺</m:t>
                    </m:r>
                  </m:oMath>
                </a14:m>
                <a:r>
                  <a:rPr lang="pt-BR" sz="2800" dirty="0"/>
                  <a:t>, então </a:t>
                </a:r>
                <a14:m>
                  <m:oMath xmlns:m="http://schemas.openxmlformats.org/officeDocument/2006/math">
                    <m:r>
                      <a:rPr lang="pt-BR" sz="2800" i="1" dirty="0" smtClean="0">
                        <a:latin typeface="Cambria Math"/>
                      </a:rPr>
                      <m:t>𝑆</m:t>
                    </m:r>
                  </m:oMath>
                </a14:m>
                <a:r>
                  <a:rPr lang="pt-BR" sz="2800" dirty="0"/>
                  <a:t> também é uma clique em </a:t>
                </a:r>
                <a14:m>
                  <m:oMath xmlns:m="http://schemas.openxmlformats.org/officeDocument/2006/math">
                    <m:r>
                      <a:rPr lang="pt-BR" sz="2800" i="1" dirty="0" smtClean="0">
                        <a:latin typeface="Cambria Math"/>
                      </a:rPr>
                      <m:t>𝐶</m:t>
                    </m:r>
                    <m:r>
                      <a:rPr lang="pt-BR" sz="2800" i="1" dirty="0" smtClean="0">
                        <a:latin typeface="Cambria Math"/>
                      </a:rPr>
                      <m:t>(</m:t>
                    </m:r>
                    <m:r>
                      <a:rPr lang="pt-BR" sz="2800" i="1" dirty="0" smtClean="0">
                        <a:latin typeface="Cambria Math"/>
                      </a:rPr>
                      <m:t>𝐺</m:t>
                    </m:r>
                    <m:r>
                      <a:rPr lang="pt-BR" sz="2800" i="1" dirty="0" smtClean="0">
                        <a:latin typeface="Cambria Math"/>
                      </a:rPr>
                      <m:t>)</m:t>
                    </m:r>
                  </m:oMath>
                </a14:m>
                <a:r>
                  <a:rPr lang="pt-BR" sz="2800" dirty="0"/>
                  <a:t> – complemento de G ou </a:t>
                </a:r>
                <a14:m>
                  <m:oMath xmlns:m="http://schemas.openxmlformats.org/officeDocument/2006/math">
                    <m:acc>
                      <m:accPr>
                        <m:chr m:val="̅"/>
                        <m:ctrlPr>
                          <a:rPr lang="pt-BR" sz="2800" i="1" smtClean="0">
                            <a:latin typeface="Cambria Math" panose="02040503050406030204" pitchFamily="18" charset="0"/>
                          </a:rPr>
                        </m:ctrlPr>
                      </m:accPr>
                      <m:e>
                        <m:r>
                          <a:rPr lang="pt-BR" sz="2800" b="0" i="1" smtClean="0">
                            <a:latin typeface="Cambria Math" panose="02040503050406030204" pitchFamily="18" charset="0"/>
                          </a:rPr>
                          <m:t>𝐺</m:t>
                        </m:r>
                      </m:e>
                    </m:acc>
                  </m:oMath>
                </a14:m>
                <a:r>
                  <a:rPr lang="pt-BR" sz="2800" dirty="0"/>
                  <a:t>.</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3"/>
                <a:stretch>
                  <a:fillRect l="-1333" t="-1348" r="-1481" b="-5795"/>
                </a:stretch>
              </a:blipFill>
            </p:spPr>
            <p:txBody>
              <a:bodyPr/>
              <a:lstStyle/>
              <a:p>
                <a:r>
                  <a:rPr lang="pt-BR">
                    <a:noFill/>
                  </a:rPr>
                  <a:t> </a:t>
                </a:r>
              </a:p>
            </p:txBody>
          </p:sp>
        </mc:Fallback>
      </mc:AlternateContent>
    </p:spTree>
    <p:extLst>
      <p:ext uri="{BB962C8B-B14F-4D97-AF65-F5344CB8AC3E}">
        <p14:creationId xmlns:p14="http://schemas.microsoft.com/office/powerpoint/2010/main" val="4046713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Clique</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a:t>
                </a:r>
              </a:p>
              <a:p>
                <a:r>
                  <a:rPr lang="pt-BR" sz="2800" dirty="0"/>
                  <a:t>Um subconjunto </a:t>
                </a:r>
                <a14:m>
                  <m:oMath xmlns:m="http://schemas.openxmlformats.org/officeDocument/2006/math">
                    <m:r>
                      <a:rPr lang="pt-BR" sz="2800" i="1">
                        <a:latin typeface="Cambria Math"/>
                      </a:rPr>
                      <m:t>𝑆</m:t>
                    </m:r>
                    <m:r>
                      <a:rPr lang="pt-BR" sz="2800" i="1">
                        <a:latin typeface="Cambria Math"/>
                        <a:ea typeface="Cambria Math"/>
                      </a:rPr>
                      <m:t>⊆</m:t>
                    </m:r>
                    <m:r>
                      <a:rPr lang="pt-BR" sz="2800" i="1">
                        <a:latin typeface="Cambria Math"/>
                        <a:ea typeface="Cambria Math"/>
                      </a:rPr>
                      <m:t>𝑉</m:t>
                    </m:r>
                  </m:oMath>
                </a14:m>
                <a:r>
                  <a:rPr lang="pt-BR" sz="2800" dirty="0"/>
                  <a:t> é uma clique de </a:t>
                </a:r>
                <a14:m>
                  <m:oMath xmlns:m="http://schemas.openxmlformats.org/officeDocument/2006/math">
                    <m:r>
                      <a:rPr lang="pt-BR" sz="2800" i="1" dirty="0" smtClean="0">
                        <a:latin typeface="Cambria Math" panose="02040503050406030204" pitchFamily="18" charset="0"/>
                      </a:rPr>
                      <m:t>𝐺</m:t>
                    </m:r>
                  </m:oMath>
                </a14:m>
                <a:r>
                  <a:rPr lang="pt-BR" sz="2800" dirty="0"/>
                  <a:t> se </a:t>
                </a:r>
                <a14:m>
                  <m:oMath xmlns:m="http://schemas.openxmlformats.org/officeDocument/2006/math">
                    <m:r>
                      <a:rPr lang="pt-BR" sz="2800" i="1">
                        <a:latin typeface="Cambria Math"/>
                        <a:ea typeface="Cambria Math"/>
                      </a:rPr>
                      <m:t>∀ </m:t>
                    </m:r>
                    <m:r>
                      <a:rPr lang="pt-BR" sz="2800" i="1">
                        <a:latin typeface="Cambria Math"/>
                        <a:ea typeface="Cambria Math"/>
                      </a:rPr>
                      <m:t>𝑣</m:t>
                    </m:r>
                    <m:r>
                      <a:rPr lang="pt-BR" sz="2800" i="1">
                        <a:latin typeface="Cambria Math"/>
                        <a:ea typeface="Cambria Math"/>
                      </a:rPr>
                      <m:t>, </m:t>
                    </m:r>
                    <m:r>
                      <a:rPr lang="pt-BR" sz="2800" i="1">
                        <a:latin typeface="Cambria Math"/>
                        <a:ea typeface="Cambria Math"/>
                      </a:rPr>
                      <m:t>𝑤</m:t>
                    </m:r>
                    <m:r>
                      <a:rPr lang="pt-BR" sz="2800" i="1">
                        <a:latin typeface="Cambria Math"/>
                        <a:ea typeface="Cambria Math"/>
                      </a:rPr>
                      <m:t>∈</m:t>
                    </m:r>
                    <m:r>
                      <a:rPr lang="pt-BR" sz="2800" i="1">
                        <a:latin typeface="Cambria Math"/>
                        <a:ea typeface="Cambria Math"/>
                      </a:rPr>
                      <m:t>𝑆</m:t>
                    </m:r>
                  </m:oMath>
                </a14:m>
                <a:r>
                  <a:rPr lang="pt-BR" sz="2800" dirty="0"/>
                  <a:t>, tem-se </a:t>
                </a:r>
                <a14:m>
                  <m:oMath xmlns:m="http://schemas.openxmlformats.org/officeDocument/2006/math">
                    <m:r>
                      <a:rPr lang="pt-BR" sz="2800" i="1">
                        <a:latin typeface="Cambria Math"/>
                      </a:rPr>
                      <m:t>(</m:t>
                    </m:r>
                    <m:r>
                      <a:rPr lang="pt-BR" sz="2800" i="1">
                        <a:latin typeface="Cambria Math"/>
                      </a:rPr>
                      <m:t>𝑣</m:t>
                    </m:r>
                    <m:r>
                      <a:rPr lang="pt-BR" sz="2800" i="1">
                        <a:latin typeface="Cambria Math"/>
                      </a:rPr>
                      <m:t>, </m:t>
                    </m:r>
                    <m:r>
                      <a:rPr lang="pt-BR" sz="2800" i="1">
                        <a:latin typeface="Cambria Math"/>
                      </a:rPr>
                      <m:t>𝑤</m:t>
                    </m:r>
                    <m:r>
                      <a:rPr lang="pt-BR" sz="2800" i="1">
                        <a:latin typeface="Cambria Math"/>
                      </a:rPr>
                      <m:t>)∈</m:t>
                    </m:r>
                    <m:r>
                      <a:rPr lang="pt-BR" sz="2800" i="1">
                        <a:latin typeface="Cambria Math"/>
                        <a:ea typeface="Cambria Math"/>
                      </a:rPr>
                      <m:t>𝐸</m:t>
                    </m:r>
                  </m:oMath>
                </a14:m>
                <a:r>
                  <a:rPr lang="pt-BR" sz="2800" dirty="0"/>
                  <a:t>.</a:t>
                </a:r>
              </a:p>
              <a:p>
                <a:pPr lvl="1"/>
                <a14:m>
                  <m:oMath xmlns:m="http://schemas.openxmlformats.org/officeDocument/2006/math">
                    <m:r>
                      <a:rPr lang="pt-BR" i="1" dirty="0">
                        <a:latin typeface="Cambria Math"/>
                      </a:rPr>
                      <m:t>𝑆</m:t>
                    </m:r>
                  </m:oMath>
                </a14:m>
                <a:r>
                  <a:rPr lang="pt-BR" dirty="0"/>
                  <a:t> é um </a:t>
                </a:r>
                <a:r>
                  <a:rPr lang="pt-BR" dirty="0" err="1"/>
                  <a:t>subgrafo</a:t>
                </a:r>
                <a:r>
                  <a:rPr lang="pt-BR" dirty="0"/>
                  <a:t> completo. </a:t>
                </a:r>
              </a:p>
              <a:p>
                <a:endParaRPr lang="pt-BR" sz="40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333" t="-1348"/>
                </a:stretch>
              </a:blipFill>
            </p:spPr>
            <p:txBody>
              <a:bodyPr/>
              <a:lstStyle/>
              <a:p>
                <a:r>
                  <a:rPr lang="pt-BR">
                    <a:noFill/>
                  </a:rPr>
                  <a:t> </a:t>
                </a:r>
              </a:p>
            </p:txBody>
          </p:sp>
        </mc:Fallback>
      </mc:AlternateContent>
    </p:spTree>
    <p:extLst>
      <p:ext uri="{BB962C8B-B14F-4D97-AF65-F5344CB8AC3E}">
        <p14:creationId xmlns:p14="http://schemas.microsoft.com/office/powerpoint/2010/main" val="3881777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3539" y="4677364"/>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67746"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33" name="Conector reto 32"/>
          <p:cNvCxnSpPr>
            <a:stCxn id="5" idx="4"/>
            <a:endCxn id="32" idx="0"/>
          </p:cNvCxnSpPr>
          <p:nvPr/>
        </p:nvCxnSpPr>
        <p:spPr>
          <a:xfrm flipH="1">
            <a:off x="5139437" y="3767336"/>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a:off x="5139437" y="4733594"/>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83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r>
                  <a:rPr lang="pt-BR" dirty="0"/>
                  <a:t>Obtendo </a:t>
                </a:r>
                <a14:m>
                  <m:oMath xmlns:m="http://schemas.openxmlformats.org/officeDocument/2006/math">
                    <m:r>
                      <a:rPr lang="pt-BR" i="1" dirty="0" smtClean="0">
                        <a:latin typeface="Cambria Math"/>
                      </a:rPr>
                      <m:t>𝐶</m:t>
                    </m:r>
                    <m:r>
                      <a:rPr lang="pt-BR" i="1" dirty="0" smtClean="0">
                        <a:latin typeface="Cambria Math"/>
                      </a:rPr>
                      <m:t>(</m:t>
                    </m:r>
                    <m:r>
                      <a:rPr lang="pt-BR" i="1" dirty="0" smtClean="0">
                        <a:latin typeface="Cambria Math"/>
                      </a:rPr>
                      <m:t>𝐺</m:t>
                    </m:r>
                    <m:r>
                      <a:rPr lang="pt-BR" i="1" dirty="0" smtClean="0">
                        <a:latin typeface="Cambria Math"/>
                      </a:rPr>
                      <m:t>)</m:t>
                    </m:r>
                  </m:oMath>
                </a14:m>
                <a:endParaRPr lang="pt-BR" dirty="0"/>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1" name="Conector reto 10"/>
          <p:cNvCxnSpPr>
            <a:stCxn id="7" idx="1"/>
            <a:endCxn id="6"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3" name="Conector de seta reta 12"/>
          <p:cNvCxnSpPr>
            <a:stCxn id="5" idx="3"/>
            <a:endCxn id="7"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de seta reta 13"/>
          <p:cNvCxnSpPr>
            <a:stCxn id="12" idx="1"/>
            <a:endCxn id="7"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7" idx="3"/>
            <a:endCxn id="8" idx="7"/>
          </p:cNvCxnSpPr>
          <p:nvPr/>
        </p:nvCxnSpPr>
        <p:spPr>
          <a:xfrm flipH="1">
            <a:off x="3013539" y="4677364"/>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Elipse 31"/>
          <p:cNvSpPr/>
          <p:nvPr/>
        </p:nvSpPr>
        <p:spPr>
          <a:xfrm>
            <a:off x="4867746"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33" name="Conector reto 32"/>
          <p:cNvCxnSpPr>
            <a:stCxn id="5" idx="4"/>
            <a:endCxn id="32" idx="0"/>
          </p:cNvCxnSpPr>
          <p:nvPr/>
        </p:nvCxnSpPr>
        <p:spPr>
          <a:xfrm flipH="1">
            <a:off x="5139437" y="3767336"/>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32" idx="4"/>
            <a:endCxn id="12" idx="0"/>
          </p:cNvCxnSpPr>
          <p:nvPr/>
        </p:nvCxnSpPr>
        <p:spPr>
          <a:xfrm>
            <a:off x="5139437" y="4733594"/>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ector reto 8"/>
          <p:cNvCxnSpPr>
            <a:stCxn id="5" idx="2"/>
            <a:endCxn id="6" idx="6"/>
          </p:cNvCxnSpPr>
          <p:nvPr/>
        </p:nvCxnSpPr>
        <p:spPr>
          <a:xfrm flipH="1">
            <a:off x="3092515" y="3562164"/>
            <a:ext cx="1775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12" idx="2"/>
            <a:endCxn id="8" idx="6"/>
          </p:cNvCxnSpPr>
          <p:nvPr/>
        </p:nvCxnSpPr>
        <p:spPr>
          <a:xfrm flipH="1">
            <a:off x="3093115" y="5437776"/>
            <a:ext cx="17746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to 21"/>
          <p:cNvCxnSpPr>
            <a:stCxn id="6" idx="4"/>
            <a:endCxn id="8" idx="0"/>
          </p:cNvCxnSpPr>
          <p:nvPr/>
        </p:nvCxnSpPr>
        <p:spPr>
          <a:xfrm>
            <a:off x="2820825" y="3767336"/>
            <a:ext cx="600" cy="1465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Conector em curva 29"/>
          <p:cNvCxnSpPr>
            <a:stCxn id="5" idx="3"/>
            <a:endCxn id="8" idx="6"/>
          </p:cNvCxnSpPr>
          <p:nvPr/>
        </p:nvCxnSpPr>
        <p:spPr>
          <a:xfrm rot="5400000">
            <a:off x="3154953" y="3645405"/>
            <a:ext cx="1730533" cy="1854208"/>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34" name="Conector em curva 33"/>
          <p:cNvCxnSpPr>
            <a:stCxn id="6" idx="5"/>
            <a:endCxn id="12" idx="2"/>
          </p:cNvCxnSpPr>
          <p:nvPr/>
        </p:nvCxnSpPr>
        <p:spPr>
          <a:xfrm rot="16200000" flipH="1">
            <a:off x="3075077" y="3645104"/>
            <a:ext cx="1730533" cy="1854809"/>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6" idx="5"/>
            <a:endCxn id="32" idx="1"/>
          </p:cNvCxnSpPr>
          <p:nvPr/>
        </p:nvCxnSpPr>
        <p:spPr>
          <a:xfrm>
            <a:off x="3012939" y="3707243"/>
            <a:ext cx="1934383" cy="676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8" idx="6"/>
            <a:endCxn id="32" idx="3"/>
          </p:cNvCxnSpPr>
          <p:nvPr/>
        </p:nvCxnSpPr>
        <p:spPr>
          <a:xfrm flipV="1">
            <a:off x="3093115" y="4673501"/>
            <a:ext cx="1854207" cy="764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ector em curva 49"/>
          <p:cNvCxnSpPr>
            <a:stCxn id="5" idx="6"/>
            <a:endCxn id="12" idx="6"/>
          </p:cNvCxnSpPr>
          <p:nvPr/>
        </p:nvCxnSpPr>
        <p:spPr>
          <a:xfrm>
            <a:off x="5411128" y="3562164"/>
            <a:ext cx="1" cy="1875612"/>
          </a:xfrm>
          <a:prstGeom prst="curvedConnector3">
            <a:avLst>
              <a:gd name="adj1" fmla="val 22860100000"/>
            </a:avLst>
          </a:prstGeom>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7" idx="6"/>
            <a:endCxn id="32" idx="2"/>
          </p:cNvCxnSpPr>
          <p:nvPr/>
        </p:nvCxnSpPr>
        <p:spPr>
          <a:xfrm flipV="1">
            <a:off x="4211960" y="4528422"/>
            <a:ext cx="655786" cy="386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4017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r>
                  <a:rPr lang="pt-BR" dirty="0"/>
                  <a:t>Obtendo </a:t>
                </a:r>
                <a14:m>
                  <m:oMath xmlns:m="http://schemas.openxmlformats.org/officeDocument/2006/math">
                    <m:r>
                      <a:rPr lang="pt-BR" i="1" dirty="0">
                        <a:latin typeface="Cambria Math"/>
                      </a:rPr>
                      <m:t>𝐶</m:t>
                    </m:r>
                    <m:r>
                      <a:rPr lang="pt-BR" i="1" dirty="0">
                        <a:latin typeface="Cambria Math"/>
                      </a:rPr>
                      <m:t>(</m:t>
                    </m:r>
                    <m:r>
                      <a:rPr lang="pt-BR" i="1" dirty="0">
                        <a:latin typeface="Cambria Math"/>
                      </a:rPr>
                      <m:t>𝐺</m:t>
                    </m:r>
                    <m:r>
                      <a:rPr lang="pt-BR" i="1" dirty="0">
                        <a:latin typeface="Cambria Math"/>
                      </a:rPr>
                      <m:t>)</m:t>
                    </m:r>
                  </m:oMath>
                </a14:m>
                <a:endParaRPr lang="pt-BR" dirty="0"/>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sp>
        <p:nvSpPr>
          <p:cNvPr id="32" name="Elipse 31"/>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9" name="Conector reto 8"/>
          <p:cNvCxnSpPr>
            <a:stCxn id="5" idx="2"/>
            <a:endCxn id="6" idx="6"/>
          </p:cNvCxnSpPr>
          <p:nvPr/>
        </p:nvCxnSpPr>
        <p:spPr>
          <a:xfrm flipH="1">
            <a:off x="3092515" y="3562164"/>
            <a:ext cx="1775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12" idx="2"/>
            <a:endCxn id="8" idx="6"/>
          </p:cNvCxnSpPr>
          <p:nvPr/>
        </p:nvCxnSpPr>
        <p:spPr>
          <a:xfrm flipH="1">
            <a:off x="3093115" y="5437776"/>
            <a:ext cx="17746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to 21"/>
          <p:cNvCxnSpPr>
            <a:stCxn id="6" idx="4"/>
            <a:endCxn id="8" idx="0"/>
          </p:cNvCxnSpPr>
          <p:nvPr/>
        </p:nvCxnSpPr>
        <p:spPr>
          <a:xfrm>
            <a:off x="2820825" y="3767336"/>
            <a:ext cx="600" cy="1465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Conector em curva 29"/>
          <p:cNvCxnSpPr>
            <a:stCxn id="5" idx="3"/>
            <a:endCxn id="8" idx="6"/>
          </p:cNvCxnSpPr>
          <p:nvPr/>
        </p:nvCxnSpPr>
        <p:spPr>
          <a:xfrm rot="5400000">
            <a:off x="3154953" y="3645405"/>
            <a:ext cx="1730533" cy="1854208"/>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34" name="Conector em curva 33"/>
          <p:cNvCxnSpPr>
            <a:stCxn id="6" idx="5"/>
            <a:endCxn id="12" idx="2"/>
          </p:cNvCxnSpPr>
          <p:nvPr/>
        </p:nvCxnSpPr>
        <p:spPr>
          <a:xfrm rot="16200000" flipH="1">
            <a:off x="3075077" y="3645104"/>
            <a:ext cx="1730533" cy="1854809"/>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6" idx="5"/>
            <a:endCxn id="32" idx="1"/>
          </p:cNvCxnSpPr>
          <p:nvPr/>
        </p:nvCxnSpPr>
        <p:spPr>
          <a:xfrm>
            <a:off x="3012939" y="3707243"/>
            <a:ext cx="1936962" cy="676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8" idx="6"/>
            <a:endCxn id="32" idx="3"/>
          </p:cNvCxnSpPr>
          <p:nvPr/>
        </p:nvCxnSpPr>
        <p:spPr>
          <a:xfrm flipV="1">
            <a:off x="3093115" y="4673501"/>
            <a:ext cx="1856786" cy="764275"/>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ector em curva 49"/>
          <p:cNvCxnSpPr>
            <a:stCxn id="5" idx="6"/>
            <a:endCxn id="12" idx="6"/>
          </p:cNvCxnSpPr>
          <p:nvPr/>
        </p:nvCxnSpPr>
        <p:spPr>
          <a:xfrm>
            <a:off x="5411128" y="3562164"/>
            <a:ext cx="1" cy="1875612"/>
          </a:xfrm>
          <a:prstGeom prst="curvedConnector3">
            <a:avLst>
              <a:gd name="adj1" fmla="val 22860100000"/>
            </a:avLst>
          </a:prstGeom>
        </p:spPr>
        <p:style>
          <a:lnRef idx="1">
            <a:schemeClr val="accent1"/>
          </a:lnRef>
          <a:fillRef idx="0">
            <a:schemeClr val="accent1"/>
          </a:fillRef>
          <a:effectRef idx="0">
            <a:schemeClr val="accent1"/>
          </a:effectRef>
          <a:fontRef idx="minor">
            <a:schemeClr val="tx1"/>
          </a:fontRef>
        </p:style>
      </p:cxnSp>
      <p:cxnSp>
        <p:nvCxnSpPr>
          <p:cNvPr id="10" name="Conector reto 9"/>
          <p:cNvCxnSpPr>
            <a:stCxn id="7" idx="6"/>
            <a:endCxn id="32" idx="2"/>
          </p:cNvCxnSpPr>
          <p:nvPr/>
        </p:nvCxnSpPr>
        <p:spPr>
          <a:xfrm flipV="1">
            <a:off x="4211960" y="4528422"/>
            <a:ext cx="658365" cy="386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7406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r>
                      <a:rPr lang="pt-BR" i="1" dirty="0">
                        <a:latin typeface="Cambria Math"/>
                      </a:rPr>
                      <m:t>{0, 2, 1, 6}</m:t>
                    </m:r>
                  </m:oMath>
                </a14:m>
                <a:r>
                  <a:rPr lang="pt-BR" dirty="0"/>
                  <a:t>.</a:t>
                </a:r>
              </a:p>
              <a:p>
                <a:pPr lvl="1"/>
                <a:r>
                  <a:rPr lang="pt-BR" dirty="0"/>
                  <a:t>Obtendo </a:t>
                </a:r>
                <a14:m>
                  <m:oMath xmlns:m="http://schemas.openxmlformats.org/officeDocument/2006/math">
                    <m:r>
                      <a:rPr lang="pt-BR" i="1" dirty="0">
                        <a:latin typeface="Cambria Math"/>
                      </a:rPr>
                      <m:t>𝐶</m:t>
                    </m:r>
                    <m:r>
                      <a:rPr lang="pt-BR" i="1" dirty="0">
                        <a:latin typeface="Cambria Math"/>
                      </a:rPr>
                      <m:t>(</m:t>
                    </m:r>
                    <m:r>
                      <a:rPr lang="pt-BR" i="1" dirty="0">
                        <a:latin typeface="Cambria Math"/>
                      </a:rPr>
                      <m:t>𝐺</m:t>
                    </m:r>
                    <m:r>
                      <a:rPr lang="pt-BR" i="1" dirty="0">
                        <a:latin typeface="Cambria Math"/>
                      </a:rPr>
                      <m:t>)</m:t>
                    </m:r>
                  </m:oMath>
                </a14:m>
                <a:endParaRPr lang="pt-BR" dirty="0"/>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827584"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sp>
        <p:nvSpPr>
          <p:cNvPr id="32" name="Elipse 31"/>
          <p:cNvSpPr/>
          <p:nvPr/>
        </p:nvSpPr>
        <p:spPr>
          <a:xfrm>
            <a:off x="1940387"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9" name="Conector reto 8"/>
          <p:cNvCxnSpPr>
            <a:stCxn id="5" idx="2"/>
            <a:endCxn id="6" idx="6"/>
          </p:cNvCxnSpPr>
          <p:nvPr/>
        </p:nvCxnSpPr>
        <p:spPr>
          <a:xfrm flipH="1">
            <a:off x="3092515" y="3562164"/>
            <a:ext cx="1775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12" idx="2"/>
            <a:endCxn id="8" idx="6"/>
          </p:cNvCxnSpPr>
          <p:nvPr/>
        </p:nvCxnSpPr>
        <p:spPr>
          <a:xfrm flipH="1">
            <a:off x="3093115" y="5437776"/>
            <a:ext cx="17746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to 21"/>
          <p:cNvCxnSpPr>
            <a:stCxn id="6" idx="4"/>
            <a:endCxn id="8" idx="0"/>
          </p:cNvCxnSpPr>
          <p:nvPr/>
        </p:nvCxnSpPr>
        <p:spPr>
          <a:xfrm>
            <a:off x="2820825" y="3767336"/>
            <a:ext cx="600" cy="1465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6" idx="3"/>
            <a:endCxn id="32" idx="0"/>
          </p:cNvCxnSpPr>
          <p:nvPr/>
        </p:nvCxnSpPr>
        <p:spPr>
          <a:xfrm flipH="1">
            <a:off x="2212078" y="3707243"/>
            <a:ext cx="416632" cy="6160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8" idx="1"/>
            <a:endCxn id="32" idx="4"/>
          </p:cNvCxnSpPr>
          <p:nvPr/>
        </p:nvCxnSpPr>
        <p:spPr>
          <a:xfrm flipH="1" flipV="1">
            <a:off x="2212078" y="4733594"/>
            <a:ext cx="417232" cy="559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to 9"/>
          <p:cNvCxnSpPr>
            <a:stCxn id="7" idx="6"/>
            <a:endCxn id="32" idx="2"/>
          </p:cNvCxnSpPr>
          <p:nvPr/>
        </p:nvCxnSpPr>
        <p:spPr>
          <a:xfrm flipV="1">
            <a:off x="1370965" y="4528422"/>
            <a:ext cx="569422" cy="386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em curva 23"/>
          <p:cNvCxnSpPr>
            <a:stCxn id="6" idx="5"/>
            <a:endCxn id="12" idx="2"/>
          </p:cNvCxnSpPr>
          <p:nvPr/>
        </p:nvCxnSpPr>
        <p:spPr>
          <a:xfrm rot="16200000" flipH="1">
            <a:off x="3075077" y="3645104"/>
            <a:ext cx="1730533" cy="1854809"/>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26" name="Conector em curva 25"/>
          <p:cNvCxnSpPr>
            <a:stCxn id="5" idx="3"/>
            <a:endCxn id="8" idx="6"/>
          </p:cNvCxnSpPr>
          <p:nvPr/>
        </p:nvCxnSpPr>
        <p:spPr>
          <a:xfrm rot="5400000">
            <a:off x="3154953" y="3645405"/>
            <a:ext cx="1730533" cy="1854208"/>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28" name="Conector em curva 27"/>
          <p:cNvCxnSpPr>
            <a:stCxn id="5" idx="6"/>
            <a:endCxn id="12" idx="6"/>
          </p:cNvCxnSpPr>
          <p:nvPr/>
        </p:nvCxnSpPr>
        <p:spPr>
          <a:xfrm>
            <a:off x="5411128" y="3562164"/>
            <a:ext cx="1" cy="1875612"/>
          </a:xfrm>
          <a:prstGeom prst="curvedConnector3">
            <a:avLst>
              <a:gd name="adj1" fmla="val 2286010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7591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Exemplo de cardinalidade 4: </a:t>
                </a:r>
              </a:p>
              <a:p>
                <a:pPr lvl="1"/>
                <a14:m>
                  <m:oMath xmlns:m="http://schemas.openxmlformats.org/officeDocument/2006/math">
                    <m:r>
                      <a:rPr lang="pt-BR" i="1" dirty="0" smtClean="0">
                        <a:latin typeface="Cambria Math"/>
                      </a:rPr>
                      <m:t>𝑆</m:t>
                    </m:r>
                    <m:r>
                      <a:rPr lang="pt-BR" b="0" i="1" dirty="0" smtClean="0">
                        <a:latin typeface="Cambria Math"/>
                      </a:rPr>
                      <m:t>=</m:t>
                    </m:r>
                    <m:d>
                      <m:dPr>
                        <m:begChr m:val="{"/>
                        <m:endChr m:val="}"/>
                        <m:ctrlPr>
                          <a:rPr lang="pt-BR" i="1" dirty="0">
                            <a:latin typeface="Cambria Math" panose="02040503050406030204" pitchFamily="18" charset="0"/>
                          </a:rPr>
                        </m:ctrlPr>
                      </m:dPr>
                      <m:e>
                        <m:r>
                          <a:rPr lang="pt-BR" i="1" dirty="0">
                            <a:latin typeface="Cambria Math"/>
                          </a:rPr>
                          <m:t>0, 2, 1, 6</m:t>
                        </m:r>
                      </m:e>
                    </m:d>
                    <m:r>
                      <a:rPr lang="pt-BR" b="0" i="1" dirty="0" smtClean="0">
                        <a:latin typeface="Cambria Math"/>
                      </a:rPr>
                      <m:t>=</m:t>
                    </m:r>
                    <m:r>
                      <a:rPr lang="pt-BR" b="0" i="1" dirty="0" smtClean="0">
                        <a:latin typeface="Cambria Math"/>
                      </a:rPr>
                      <m:t>𝐶𝑙𝑖𝑞𝑢𝑒</m:t>
                    </m:r>
                    <m:r>
                      <a:rPr lang="pt-BR" b="0" i="1" dirty="0" smtClean="0">
                        <a:latin typeface="Cambria Math"/>
                      </a:rPr>
                      <m:t> </m:t>
                    </m:r>
                    <m:r>
                      <a:rPr lang="pt-BR" b="0" i="1" dirty="0" smtClean="0">
                        <a:latin typeface="Cambria Math"/>
                      </a:rPr>
                      <m:t>𝑒𝑚</m:t>
                    </m:r>
                    <m:r>
                      <a:rPr lang="pt-BR" b="0" i="1" dirty="0" smtClean="0">
                        <a:latin typeface="Cambria Math"/>
                      </a:rPr>
                      <m:t> </m:t>
                    </m:r>
                    <m:r>
                      <a:rPr lang="pt-BR" b="0" i="1" dirty="0" smtClean="0">
                        <a:latin typeface="Cambria Math"/>
                      </a:rPr>
                      <m:t>𝐶</m:t>
                    </m:r>
                    <m:r>
                      <a:rPr lang="pt-BR" b="0" i="1" dirty="0" smtClean="0">
                        <a:latin typeface="Cambria Math"/>
                      </a:rPr>
                      <m:t>(</m:t>
                    </m:r>
                    <m:r>
                      <a:rPr lang="pt-BR" b="0" i="1" dirty="0" smtClean="0">
                        <a:latin typeface="Cambria Math"/>
                      </a:rPr>
                      <m:t>𝐺</m:t>
                    </m:r>
                    <m:r>
                      <a:rPr lang="pt-BR" b="0" i="1" dirty="0" smtClean="0">
                        <a:latin typeface="Cambria Math"/>
                      </a:rPr>
                      <m:t>)</m:t>
                    </m:r>
                  </m:oMath>
                </a14:m>
                <a:r>
                  <a:rPr lang="pt-BR" dirty="0"/>
                  <a:t>.</a:t>
                </a:r>
              </a:p>
              <a:p>
                <a:pPr lvl="1"/>
                <a:r>
                  <a:rPr lang="pt-BR" dirty="0"/>
                  <a:t>Obtendo </a:t>
                </a:r>
                <a14:m>
                  <m:oMath xmlns:m="http://schemas.openxmlformats.org/officeDocument/2006/math">
                    <m:r>
                      <a:rPr lang="pt-BR" i="1" dirty="0">
                        <a:latin typeface="Cambria Math"/>
                      </a:rPr>
                      <m:t>𝐶</m:t>
                    </m:r>
                    <m:r>
                      <a:rPr lang="pt-BR" i="1" dirty="0">
                        <a:latin typeface="Cambria Math"/>
                      </a:rPr>
                      <m:t>(</m:t>
                    </m:r>
                    <m:r>
                      <a:rPr lang="pt-BR" i="1" dirty="0">
                        <a:latin typeface="Cambria Math"/>
                      </a:rPr>
                      <m:t>𝐺</m:t>
                    </m:r>
                    <m:r>
                      <a:rPr lang="pt-BR" i="1" dirty="0">
                        <a:latin typeface="Cambria Math"/>
                      </a:rPr>
                      <m:t>)</m:t>
                    </m:r>
                  </m:oMath>
                </a14:m>
                <a:endParaRPr lang="pt-BR" dirty="0"/>
              </a:p>
              <a:p>
                <a:pPr lvl="1"/>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
        <p:nvSpPr>
          <p:cNvPr id="5" name="Elipse 4"/>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6" name="Elipse 5"/>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7" name="Elipse 6"/>
          <p:cNvSpPr/>
          <p:nvPr/>
        </p:nvSpPr>
        <p:spPr>
          <a:xfrm>
            <a:off x="827584"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8" name="Elipse 7"/>
          <p:cNvSpPr/>
          <p:nvPr/>
        </p:nvSpPr>
        <p:spPr>
          <a:xfrm>
            <a:off x="2549734"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sp>
        <p:nvSpPr>
          <p:cNvPr id="12" name="Elipse 11"/>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sp>
        <p:nvSpPr>
          <p:cNvPr id="32" name="Elipse 31"/>
          <p:cNvSpPr/>
          <p:nvPr/>
        </p:nvSpPr>
        <p:spPr>
          <a:xfrm>
            <a:off x="1940387"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9" name="Conector reto 8"/>
          <p:cNvCxnSpPr>
            <a:stCxn id="5" idx="2"/>
            <a:endCxn id="6" idx="6"/>
          </p:cNvCxnSpPr>
          <p:nvPr/>
        </p:nvCxnSpPr>
        <p:spPr>
          <a:xfrm flipH="1">
            <a:off x="3092515" y="3562164"/>
            <a:ext cx="177523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12" idx="2"/>
            <a:endCxn id="8" idx="6"/>
          </p:cNvCxnSpPr>
          <p:nvPr/>
        </p:nvCxnSpPr>
        <p:spPr>
          <a:xfrm flipH="1">
            <a:off x="3093115" y="5437776"/>
            <a:ext cx="177463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to 21"/>
          <p:cNvCxnSpPr>
            <a:stCxn id="6" idx="4"/>
            <a:endCxn id="8" idx="0"/>
          </p:cNvCxnSpPr>
          <p:nvPr/>
        </p:nvCxnSpPr>
        <p:spPr>
          <a:xfrm>
            <a:off x="2820825" y="3767336"/>
            <a:ext cx="600" cy="1465268"/>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6" idx="3"/>
            <a:endCxn id="32" idx="0"/>
          </p:cNvCxnSpPr>
          <p:nvPr/>
        </p:nvCxnSpPr>
        <p:spPr>
          <a:xfrm flipH="1">
            <a:off x="2212078" y="3707243"/>
            <a:ext cx="416632" cy="6160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8" idx="1"/>
            <a:endCxn id="32" idx="4"/>
          </p:cNvCxnSpPr>
          <p:nvPr/>
        </p:nvCxnSpPr>
        <p:spPr>
          <a:xfrm flipH="1" flipV="1">
            <a:off x="2212078" y="4733594"/>
            <a:ext cx="417232" cy="5591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to 9"/>
          <p:cNvCxnSpPr>
            <a:stCxn id="7" idx="6"/>
            <a:endCxn id="32" idx="2"/>
          </p:cNvCxnSpPr>
          <p:nvPr/>
        </p:nvCxnSpPr>
        <p:spPr>
          <a:xfrm flipV="1">
            <a:off x="1370965" y="4528422"/>
            <a:ext cx="569422" cy="38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Conector reto 10"/>
          <p:cNvCxnSpPr>
            <a:stCxn id="6" idx="5"/>
            <a:endCxn id="12" idx="1"/>
          </p:cNvCxnSpPr>
          <p:nvPr/>
        </p:nvCxnSpPr>
        <p:spPr>
          <a:xfrm>
            <a:off x="3012939" y="3707243"/>
            <a:ext cx="1934385" cy="1585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5" idx="3"/>
            <a:endCxn id="8" idx="7"/>
          </p:cNvCxnSpPr>
          <p:nvPr/>
        </p:nvCxnSpPr>
        <p:spPr>
          <a:xfrm flipH="1">
            <a:off x="3013539" y="3707243"/>
            <a:ext cx="1933784" cy="15854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5" idx="4"/>
            <a:endCxn id="12" idx="0"/>
          </p:cNvCxnSpPr>
          <p:nvPr/>
        </p:nvCxnSpPr>
        <p:spPr>
          <a:xfrm>
            <a:off x="5139438" y="3767336"/>
            <a:ext cx="1" cy="146526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6498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noAutofit/>
          </a:bodyPr>
          <a:lstStyle/>
          <a:p>
            <a:r>
              <a:rPr lang="pt-BR" sz="2800" dirty="0"/>
              <a:t>Aplicação</a:t>
            </a:r>
            <a:r>
              <a:rPr lang="pt-BR" sz="2000" dirty="0"/>
              <a:t>:</a:t>
            </a:r>
          </a:p>
          <a:p>
            <a:pPr lvl="1"/>
            <a:r>
              <a:rPr lang="pt-BR" sz="2000" dirty="0"/>
              <a:t>Exemplo: identificar localizações para instalação de franquias.</a:t>
            </a:r>
          </a:p>
          <a:p>
            <a:pPr lvl="1"/>
            <a:r>
              <a:rPr lang="pt-BR" sz="2000" dirty="0"/>
              <a:t>Duas localizações não podem estar perto o suficiente para competir entre si.</a:t>
            </a:r>
          </a:p>
          <a:p>
            <a:pPr lvl="1"/>
            <a:r>
              <a:rPr lang="pt-BR" sz="2000" dirty="0"/>
              <a:t>Solução: construir um grafo em que possíveis localizações são representadas por vértices, e arestas são criadas entre duas localizações que estão próximas o suficiente para interferir.</a:t>
            </a:r>
          </a:p>
          <a:p>
            <a:pPr lvl="1"/>
            <a:r>
              <a:rPr lang="pt-BR" sz="2000" dirty="0"/>
              <a:t>O maior conjunto independente fornece o maior número de franquias que podem ser concedidas sem prejudicar as vendas.</a:t>
            </a:r>
          </a:p>
        </p:txBody>
      </p:sp>
    </p:spTree>
    <p:extLst>
      <p:ext uri="{BB962C8B-B14F-4D97-AF65-F5344CB8AC3E}">
        <p14:creationId xmlns:p14="http://schemas.microsoft.com/office/powerpoint/2010/main" val="2744814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latin typeface="Consolas" panose="020B0609020204030204" pitchFamily="49" charset="0"/>
                    <a:cs typeface="Consolas" panose="020B0609020204030204" pitchFamily="49" charset="0"/>
                  </a:rPr>
                  <a:t>I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I = I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5" name="CaixaDeTexto 4"/>
          <p:cNvSpPr txBox="1"/>
          <p:nvPr/>
        </p:nvSpPr>
        <p:spPr>
          <a:xfrm>
            <a:off x="827585" y="4789601"/>
            <a:ext cx="7488832" cy="1015663"/>
          </a:xfrm>
          <a:prstGeom prst="rect">
            <a:avLst/>
          </a:prstGeom>
          <a:noFill/>
        </p:spPr>
        <p:txBody>
          <a:bodyPr wrap="square" rtlCol="0">
            <a:spAutoFit/>
          </a:bodyPr>
          <a:lstStyle/>
          <a:p>
            <a:r>
              <a:rPr lang="pt-BR" sz="2000" dirty="0"/>
              <a:t>Comece com o vértice de </a:t>
            </a:r>
            <a:r>
              <a:rPr lang="pt-BR" sz="2000" b="1" dirty="0"/>
              <a:t>menor</a:t>
            </a:r>
            <a:r>
              <a:rPr lang="pt-BR" sz="2000" dirty="0"/>
              <a:t> grau em G, elimine-o do conjunto V (junto com seus adjacentes) e o insira no conjunto I (conjunto independente).</a:t>
            </a:r>
          </a:p>
        </p:txBody>
      </p:sp>
    </p:spTree>
    <p:extLst>
      <p:ext uri="{BB962C8B-B14F-4D97-AF65-F5344CB8AC3E}">
        <p14:creationId xmlns:p14="http://schemas.microsoft.com/office/powerpoint/2010/main" val="1397439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latin typeface="Consolas" panose="020B0609020204030204" pitchFamily="49" charset="0"/>
                    <a:cs typeface="Consolas" panose="020B0609020204030204" pitchFamily="49" charset="0"/>
                  </a:rPr>
                  <a:t>I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I = I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52657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884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4946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4430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Independentes</a:t>
            </a:r>
          </a:p>
        </p:txBody>
      </p:sp>
      <p:sp>
        <p:nvSpPr>
          <p:cNvPr id="3" name="Espaço Reservado para Conteúdo 2"/>
          <p:cNvSpPr>
            <a:spLocks noGrp="1"/>
          </p:cNvSpPr>
          <p:nvPr>
            <p:ph idx="1"/>
          </p:nvPr>
        </p:nvSpPr>
        <p:spPr/>
        <p:txBody>
          <a:bodyPr/>
          <a:lstStyle/>
          <a:p>
            <a:r>
              <a:rPr lang="pt-BR" dirty="0"/>
              <a:t>Heurística</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mínimo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I</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6" name="Elipse 5"/>
          <p:cNvSpPr/>
          <p:nvPr/>
        </p:nvSpPr>
        <p:spPr>
          <a:xfrm>
            <a:off x="7199417"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7" name="Elipse 6"/>
          <p:cNvSpPr/>
          <p:nvPr/>
        </p:nvSpPr>
        <p:spPr>
          <a:xfrm>
            <a:off x="4880804" y="405749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8" name="Elipse 7"/>
          <p:cNvSpPr/>
          <p:nvPr/>
        </p:nvSpPr>
        <p:spPr>
          <a:xfrm>
            <a:off x="6000249" y="5027615"/>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9" name="Elipse 8"/>
          <p:cNvSpPr/>
          <p:nvPr/>
        </p:nvSpPr>
        <p:spPr>
          <a:xfrm>
            <a:off x="4881404" y="5933106"/>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10" name="Conector reto 9"/>
          <p:cNvCxnSpPr>
            <a:stCxn id="8" idx="1"/>
            <a:endCxn id="7" idx="5"/>
          </p:cNvCxnSpPr>
          <p:nvPr/>
        </p:nvCxnSpPr>
        <p:spPr>
          <a:xfrm flipH="1" flipV="1">
            <a:off x="5344609" y="4407745"/>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Elipse 10"/>
          <p:cNvSpPr/>
          <p:nvPr/>
        </p:nvSpPr>
        <p:spPr>
          <a:xfrm>
            <a:off x="7199418" y="5933106"/>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2" name="Conector de seta reta 11"/>
          <p:cNvCxnSpPr>
            <a:stCxn id="6" idx="3"/>
            <a:endCxn id="8" idx="7"/>
          </p:cNvCxnSpPr>
          <p:nvPr/>
        </p:nvCxnSpPr>
        <p:spPr>
          <a:xfrm flipH="1">
            <a:off x="6464054" y="4407745"/>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Conector de seta reta 12"/>
          <p:cNvCxnSpPr>
            <a:stCxn id="11" idx="1"/>
            <a:endCxn id="8" idx="5"/>
          </p:cNvCxnSpPr>
          <p:nvPr/>
        </p:nvCxnSpPr>
        <p:spPr>
          <a:xfrm flipH="1" flipV="1">
            <a:off x="6464054" y="5377866"/>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8" idx="3"/>
            <a:endCxn id="9" idx="7"/>
          </p:cNvCxnSpPr>
          <p:nvPr/>
        </p:nvCxnSpPr>
        <p:spPr>
          <a:xfrm flipH="1">
            <a:off x="5345209" y="5377866"/>
            <a:ext cx="734616" cy="61533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Elipse 14"/>
          <p:cNvSpPr/>
          <p:nvPr/>
        </p:nvSpPr>
        <p:spPr>
          <a:xfrm>
            <a:off x="7199416" y="5023752"/>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4"/>
            <a:endCxn id="15" idx="0"/>
          </p:cNvCxnSpPr>
          <p:nvPr/>
        </p:nvCxnSpPr>
        <p:spPr>
          <a:xfrm flipH="1">
            <a:off x="7471107" y="4467838"/>
            <a:ext cx="1"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15" idx="4"/>
            <a:endCxn id="11" idx="0"/>
          </p:cNvCxnSpPr>
          <p:nvPr/>
        </p:nvCxnSpPr>
        <p:spPr>
          <a:xfrm>
            <a:off x="7471107" y="5434096"/>
            <a:ext cx="2"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9175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Transformação Polinomial (Conteúdo extra)</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Problema de decisão: Seja </a:t>
                </a:r>
                <a14:m>
                  <m:oMath xmlns:m="http://schemas.openxmlformats.org/officeDocument/2006/math">
                    <m:r>
                      <a:rPr lang="pt-BR" i="1" dirty="0">
                        <a:latin typeface="Cambria Math"/>
                      </a:rPr>
                      <m:t>𝐺</m:t>
                    </m:r>
                    <m:r>
                      <a:rPr lang="pt-BR" i="1" dirty="0">
                        <a:latin typeface="Cambria Math"/>
                      </a:rPr>
                      <m:t>=(</m:t>
                    </m:r>
                    <m:r>
                      <a:rPr lang="pt-BR" i="1" dirty="0">
                        <a:latin typeface="Cambria Math"/>
                      </a:rPr>
                      <m:t>𝑉</m:t>
                    </m:r>
                    <m:r>
                      <a:rPr lang="pt-BR" i="1" dirty="0">
                        <a:latin typeface="Cambria Math"/>
                      </a:rPr>
                      <m:t>, </m:t>
                    </m:r>
                    <m:r>
                      <a:rPr lang="pt-BR" i="1" dirty="0">
                        <a:latin typeface="Cambria Math"/>
                      </a:rPr>
                      <m:t>𝐸</m:t>
                    </m:r>
                    <m:r>
                      <a:rPr lang="pt-BR" i="1" dirty="0">
                        <a:latin typeface="Cambria Math"/>
                      </a:rPr>
                      <m:t>) </m:t>
                    </m:r>
                  </m:oMath>
                </a14:m>
                <a:r>
                  <a:rPr lang="pt-BR" dirty="0"/>
                  <a:t>um grafo e um inteiro </a:t>
                </a:r>
                <a14:m>
                  <m:oMath xmlns:m="http://schemas.openxmlformats.org/officeDocument/2006/math">
                    <m:r>
                      <a:rPr lang="pt-BR" i="1" dirty="0" smtClean="0">
                        <a:latin typeface="Cambria Math"/>
                      </a:rPr>
                      <m:t>𝑘</m:t>
                    </m:r>
                  </m:oMath>
                </a14:m>
                <a:r>
                  <a:rPr lang="pt-BR" dirty="0"/>
                  <a:t>, existe um conjunto independente com no mínimo </a:t>
                </a:r>
                <a14:m>
                  <m:oMath xmlns:m="http://schemas.openxmlformats.org/officeDocument/2006/math">
                    <m:r>
                      <a:rPr lang="pt-BR" i="1" dirty="0" smtClean="0">
                        <a:latin typeface="Cambria Math"/>
                      </a:rPr>
                      <m:t>𝑘</m:t>
                    </m:r>
                  </m:oMath>
                </a14:m>
                <a:r>
                  <a:rPr lang="pt-BR" dirty="0"/>
                  <a:t> vértices?</a:t>
                </a:r>
              </a:p>
              <a:p>
                <a:endParaRPr lang="pt-BR" dirty="0"/>
              </a:p>
              <a:p>
                <a:r>
                  <a:rPr lang="pt-BR" dirty="0"/>
                  <a:t>Problema de decisão: Seja </a:t>
                </a:r>
                <a14:m>
                  <m:oMath xmlns:m="http://schemas.openxmlformats.org/officeDocument/2006/math">
                    <m:r>
                      <a:rPr lang="pt-BR" i="1" dirty="0">
                        <a:latin typeface="Cambria Math"/>
                      </a:rPr>
                      <m:t>𝐺</m:t>
                    </m:r>
                    <m:r>
                      <a:rPr lang="pt-BR" i="1" dirty="0">
                        <a:latin typeface="Cambria Math"/>
                      </a:rPr>
                      <m:t>=(</m:t>
                    </m:r>
                    <m:r>
                      <a:rPr lang="pt-BR" i="1" dirty="0">
                        <a:latin typeface="Cambria Math"/>
                      </a:rPr>
                      <m:t>𝑉</m:t>
                    </m:r>
                    <m:r>
                      <a:rPr lang="pt-BR" i="1" dirty="0">
                        <a:latin typeface="Cambria Math"/>
                      </a:rPr>
                      <m:t>, </m:t>
                    </m:r>
                    <m:r>
                      <a:rPr lang="pt-BR" i="1" dirty="0">
                        <a:latin typeface="Cambria Math"/>
                      </a:rPr>
                      <m:t>𝐸</m:t>
                    </m:r>
                    <m:r>
                      <a:rPr lang="pt-BR" i="1" dirty="0">
                        <a:latin typeface="Cambria Math"/>
                      </a:rPr>
                      <m:t>) </m:t>
                    </m:r>
                  </m:oMath>
                </a14:m>
                <a:r>
                  <a:rPr lang="pt-BR" dirty="0"/>
                  <a:t>um grafo e um inteiro </a:t>
                </a:r>
                <a14:m>
                  <m:oMath xmlns:m="http://schemas.openxmlformats.org/officeDocument/2006/math">
                    <m:r>
                      <a:rPr lang="pt-BR" i="1" dirty="0" smtClean="0">
                        <a:latin typeface="Cambria Math"/>
                      </a:rPr>
                      <m:t>𝑘</m:t>
                    </m:r>
                  </m:oMath>
                </a14:m>
                <a:r>
                  <a:rPr lang="pt-BR" dirty="0"/>
                  <a:t>, existe uma clique em </a:t>
                </a:r>
                <a14:m>
                  <m:oMath xmlns:m="http://schemas.openxmlformats.org/officeDocument/2006/math">
                    <m:r>
                      <a:rPr lang="pt-BR" i="1" dirty="0" smtClean="0">
                        <a:latin typeface="Cambria Math"/>
                      </a:rPr>
                      <m:t>𝐺</m:t>
                    </m:r>
                  </m:oMath>
                </a14:m>
                <a:r>
                  <a:rPr lang="pt-BR" dirty="0"/>
                  <a:t> com no mínimo </a:t>
                </a:r>
                <a14:m>
                  <m:oMath xmlns:m="http://schemas.openxmlformats.org/officeDocument/2006/math">
                    <m:r>
                      <a:rPr lang="pt-BR" i="1" dirty="0" smtClean="0">
                        <a:latin typeface="Cambria Math"/>
                      </a:rPr>
                      <m:t>𝑘</m:t>
                    </m:r>
                  </m:oMath>
                </a14:m>
                <a:r>
                  <a:rPr lang="pt-BR" dirty="0"/>
                  <a:t> vértices?</a:t>
                </a:r>
              </a:p>
              <a:p>
                <a:endParaRPr lang="pt-BR" dirty="0"/>
              </a:p>
              <a:p>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617"/>
                </a:stretch>
              </a:blipFill>
            </p:spPr>
            <p:txBody>
              <a:bodyPr/>
              <a:lstStyle/>
              <a:p>
                <a:r>
                  <a:rPr lang="pt-BR">
                    <a:noFill/>
                  </a:rPr>
                  <a:t> </a:t>
                </a:r>
              </a:p>
            </p:txBody>
          </p:sp>
        </mc:Fallback>
      </mc:AlternateContent>
    </p:spTree>
    <p:extLst>
      <p:ext uri="{BB962C8B-B14F-4D97-AF65-F5344CB8AC3E}">
        <p14:creationId xmlns:p14="http://schemas.microsoft.com/office/powerpoint/2010/main" val="1294948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Transformação Polinomial (Conteúdo extra)</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Autofit/>
              </a:bodyPr>
              <a:lstStyle/>
              <a:p>
                <a:r>
                  <a:rPr lang="pt-BR" sz="2400" dirty="0"/>
                  <a:t>Sejam P</a:t>
                </a:r>
                <a:r>
                  <a:rPr lang="pt-BR" sz="2400" baseline="-25000" dirty="0"/>
                  <a:t>1</a:t>
                </a:r>
                <a:r>
                  <a:rPr lang="pt-BR" sz="2400" dirty="0"/>
                  <a:t> o problema da Clique e P</a:t>
                </a:r>
                <a:r>
                  <a:rPr lang="pt-BR" sz="2400" baseline="-25000" dirty="0"/>
                  <a:t>2</a:t>
                </a:r>
                <a:r>
                  <a:rPr lang="pt-BR" sz="2400" dirty="0"/>
                  <a:t> o problema do conjunto independente. </a:t>
                </a:r>
              </a:p>
              <a:p>
                <a:r>
                  <a:rPr lang="pt-BR" sz="2400" dirty="0">
                    <a:ea typeface="Cambria Math"/>
                  </a:rPr>
                  <a:t>Transformação polinomial de </a:t>
                </a:r>
                <a:r>
                  <a:rPr lang="pt-BR" sz="2400" dirty="0"/>
                  <a:t>P</a:t>
                </a:r>
                <a:r>
                  <a:rPr lang="pt-BR" sz="2400" baseline="-25000" dirty="0"/>
                  <a:t>1  </a:t>
                </a:r>
                <a:r>
                  <a:rPr lang="pt-BR" sz="2400" dirty="0">
                    <a:ea typeface="Cambria Math"/>
                  </a:rPr>
                  <a:t>para </a:t>
                </a:r>
                <a:r>
                  <a:rPr lang="pt-BR" sz="2400" dirty="0"/>
                  <a:t>P</a:t>
                </a:r>
                <a:r>
                  <a:rPr lang="pt-BR" sz="2400" baseline="-25000" dirty="0"/>
                  <a:t>2</a:t>
                </a:r>
                <a:r>
                  <a:rPr lang="pt-BR" sz="2400" dirty="0">
                    <a:ea typeface="Cambria Math"/>
                  </a:rPr>
                  <a:t> (</a:t>
                </a:r>
                <a:r>
                  <a:rPr lang="pt-BR" sz="2400" dirty="0"/>
                  <a:t>P</a:t>
                </a:r>
                <a:r>
                  <a:rPr lang="pt-BR" sz="2400" baseline="-25000" dirty="0"/>
                  <a:t>1</a:t>
                </a:r>
                <a:r>
                  <a:rPr lang="pt-BR" sz="2400" dirty="0">
                    <a:ea typeface="Cambria Math"/>
                  </a:rPr>
                  <a:t> </a:t>
                </a:r>
                <a14:m>
                  <m:oMath xmlns:m="http://schemas.openxmlformats.org/officeDocument/2006/math">
                    <m:r>
                      <a:rPr lang="pt-BR" sz="2400" i="1">
                        <a:latin typeface="Cambria Math"/>
                        <a:ea typeface="Cambria Math"/>
                      </a:rPr>
                      <m:t>∝</m:t>
                    </m:r>
                  </m:oMath>
                </a14:m>
                <a:r>
                  <a:rPr lang="pt-BR" sz="2400" dirty="0">
                    <a:ea typeface="Cambria Math"/>
                  </a:rPr>
                  <a:t> </a:t>
                </a:r>
                <a:r>
                  <a:rPr lang="pt-BR" sz="2400" dirty="0"/>
                  <a:t>P</a:t>
                </a:r>
                <a:r>
                  <a:rPr lang="pt-BR" sz="2400" baseline="-25000" dirty="0"/>
                  <a:t>2</a:t>
                </a:r>
                <a:r>
                  <a:rPr lang="pt-BR" sz="2400" dirty="0">
                    <a:ea typeface="Cambria Math"/>
                  </a:rPr>
                  <a:t>)</a:t>
                </a:r>
              </a:p>
              <a:p>
                <a:pPr lvl="1"/>
                <a:r>
                  <a:rPr lang="pt-BR" sz="2000" dirty="0">
                    <a:ea typeface="Cambria Math"/>
                  </a:rPr>
                  <a:t>Seja uma instância genérica da Clique definida por um grafo </a:t>
                </a:r>
                <a14:m>
                  <m:oMath xmlns:m="http://schemas.openxmlformats.org/officeDocument/2006/math">
                    <m:r>
                      <a:rPr lang="pt-BR" sz="2000" i="1" dirty="0">
                        <a:latin typeface="Cambria Math"/>
                      </a:rPr>
                      <m:t>𝐺</m:t>
                    </m:r>
                    <m:r>
                      <a:rPr lang="pt-BR" sz="2000" i="1" dirty="0">
                        <a:latin typeface="Cambria Math"/>
                      </a:rPr>
                      <m:t>=(</m:t>
                    </m:r>
                    <m:r>
                      <a:rPr lang="pt-BR" sz="2000" i="1" dirty="0">
                        <a:latin typeface="Cambria Math"/>
                      </a:rPr>
                      <m:t>𝑉</m:t>
                    </m:r>
                    <m:r>
                      <a:rPr lang="pt-BR" sz="2000" i="1" dirty="0">
                        <a:latin typeface="Cambria Math"/>
                      </a:rPr>
                      <m:t>, </m:t>
                    </m:r>
                    <m:r>
                      <a:rPr lang="pt-BR" sz="2000" i="1" dirty="0">
                        <a:latin typeface="Cambria Math"/>
                      </a:rPr>
                      <m:t>𝐸</m:t>
                    </m:r>
                    <m:r>
                      <a:rPr lang="pt-BR" sz="2000" i="1" dirty="0">
                        <a:latin typeface="Cambria Math"/>
                      </a:rPr>
                      <m:t>) </m:t>
                    </m:r>
                  </m:oMath>
                </a14:m>
                <a:r>
                  <a:rPr lang="pt-BR" sz="2000" dirty="0"/>
                  <a:t>e um inteiro </a:t>
                </a:r>
                <a14:m>
                  <m:oMath xmlns:m="http://schemas.openxmlformats.org/officeDocument/2006/math">
                    <m:r>
                      <a:rPr lang="pt-BR" sz="2000" i="1" dirty="0">
                        <a:latin typeface="Cambria Math"/>
                      </a:rPr>
                      <m:t>𝑘</m:t>
                    </m:r>
                    <m:r>
                      <a:rPr lang="pt-BR" sz="2000" i="1" dirty="0" smtClean="0">
                        <a:latin typeface="Cambria Math"/>
                        <a:ea typeface="Cambria Math"/>
                      </a:rPr>
                      <m:t>&gt;</m:t>
                    </m:r>
                    <m:r>
                      <a:rPr lang="pt-BR" sz="2000" b="0" i="1" dirty="0" smtClean="0">
                        <a:latin typeface="Cambria Math"/>
                        <a:ea typeface="Cambria Math"/>
                      </a:rPr>
                      <m:t>0</m:t>
                    </m:r>
                  </m:oMath>
                </a14:m>
                <a:r>
                  <a:rPr lang="pt-BR" sz="2000" dirty="0"/>
                  <a:t>.</a:t>
                </a:r>
              </a:p>
              <a:p>
                <a:pPr lvl="1"/>
                <a:r>
                  <a:rPr lang="pt-BR" sz="2000" dirty="0"/>
                  <a:t>Criamos uma instância do conjunto independente considerando o grafo complementar </a:t>
                </a:r>
                <a14:m>
                  <m:oMath xmlns:m="http://schemas.openxmlformats.org/officeDocument/2006/math">
                    <m:acc>
                      <m:accPr>
                        <m:chr m:val="̅"/>
                        <m:ctrlPr>
                          <a:rPr lang="pt-BR" sz="2000" i="1" dirty="0" smtClean="0">
                            <a:latin typeface="Cambria Math" panose="02040503050406030204" pitchFamily="18" charset="0"/>
                          </a:rPr>
                        </m:ctrlPr>
                      </m:accPr>
                      <m:e>
                        <m:r>
                          <a:rPr lang="pt-BR" sz="2000" b="0" i="1" dirty="0" smtClean="0">
                            <a:latin typeface="Cambria Math"/>
                          </a:rPr>
                          <m:t>𝐺</m:t>
                        </m:r>
                      </m:e>
                    </m:acc>
                  </m:oMath>
                </a14:m>
                <a:r>
                  <a:rPr lang="pt-BR" sz="2000" dirty="0"/>
                  <a:t> de </a:t>
                </a:r>
                <a14:m>
                  <m:oMath xmlns:m="http://schemas.openxmlformats.org/officeDocument/2006/math">
                    <m:r>
                      <a:rPr lang="pt-BR" sz="2000" i="1" dirty="0">
                        <a:latin typeface="Cambria Math"/>
                      </a:rPr>
                      <m:t>𝐺</m:t>
                    </m:r>
                  </m:oMath>
                </a14:m>
                <a:r>
                  <a:rPr lang="pt-BR" sz="2000" dirty="0"/>
                  <a:t> e o mesmo inteiro </a:t>
                </a:r>
                <a14:m>
                  <m:oMath xmlns:m="http://schemas.openxmlformats.org/officeDocument/2006/math">
                    <m:r>
                      <a:rPr lang="pt-BR" sz="2000" i="1" dirty="0">
                        <a:latin typeface="Cambria Math"/>
                      </a:rPr>
                      <m:t>𝑘</m:t>
                    </m:r>
                  </m:oMath>
                </a14:m>
                <a:r>
                  <a:rPr lang="pt-BR" sz="2000" dirty="0"/>
                  <a:t>.</a:t>
                </a:r>
              </a:p>
              <a:p>
                <a:r>
                  <a:rPr lang="pt-BR" sz="2400" dirty="0"/>
                  <a:t>A transformação é polinomial pois:</a:t>
                </a:r>
              </a:p>
              <a:p>
                <a:pPr lvl="1"/>
                <a:r>
                  <a:rPr lang="pt-BR" sz="2000" dirty="0"/>
                  <a:t>O grafo complementar </a:t>
                </a:r>
                <a14:m>
                  <m:oMath xmlns:m="http://schemas.openxmlformats.org/officeDocument/2006/math">
                    <m:acc>
                      <m:accPr>
                        <m:chr m:val="̅"/>
                        <m:ctrlPr>
                          <a:rPr lang="pt-BR" sz="2000" i="1" dirty="0">
                            <a:latin typeface="Cambria Math" panose="02040503050406030204" pitchFamily="18" charset="0"/>
                          </a:rPr>
                        </m:ctrlPr>
                      </m:accPr>
                      <m:e>
                        <m:r>
                          <a:rPr lang="pt-BR" sz="2000" i="1" dirty="0">
                            <a:latin typeface="Cambria Math"/>
                          </a:rPr>
                          <m:t>𝐺</m:t>
                        </m:r>
                      </m:e>
                    </m:acc>
                  </m:oMath>
                </a14:m>
                <a:r>
                  <a:rPr lang="pt-BR" sz="2000" dirty="0"/>
                  <a:t> pode ser obtido em tempo polinomial (</a:t>
                </a:r>
                <a14:m>
                  <m:oMath xmlns:m="http://schemas.openxmlformats.org/officeDocument/2006/math">
                    <m:r>
                      <a:rPr lang="pt-BR" sz="2000" b="0" i="1" smtClean="0">
                        <a:latin typeface="Cambria Math"/>
                      </a:rPr>
                      <m:t>𝑂</m:t>
                    </m:r>
                    <m:r>
                      <a:rPr lang="pt-BR" sz="2000" b="0" i="1" smtClean="0">
                        <a:latin typeface="Cambria Math"/>
                      </a:rPr>
                      <m:t>(</m:t>
                    </m:r>
                    <m:sSup>
                      <m:sSupPr>
                        <m:ctrlPr>
                          <a:rPr lang="pt-BR" sz="2000" b="0" i="1" smtClean="0">
                            <a:latin typeface="Cambria Math" panose="02040503050406030204" pitchFamily="18" charset="0"/>
                          </a:rPr>
                        </m:ctrlPr>
                      </m:sSupPr>
                      <m:e>
                        <m:r>
                          <a:rPr lang="pt-BR" sz="2000" b="0" i="1" smtClean="0">
                            <a:latin typeface="Cambria Math"/>
                          </a:rPr>
                          <m:t>𝑉</m:t>
                        </m:r>
                      </m:e>
                      <m:sup>
                        <m:r>
                          <a:rPr lang="pt-BR" sz="2000" b="0" i="1" smtClean="0">
                            <a:latin typeface="Cambria Math"/>
                          </a:rPr>
                          <m:t>2</m:t>
                        </m:r>
                      </m:sup>
                    </m:sSup>
                    <m:r>
                      <a:rPr lang="pt-BR" sz="2000" b="0" i="1" smtClean="0">
                        <a:latin typeface="Cambria Math"/>
                      </a:rPr>
                      <m:t>)</m:t>
                    </m:r>
                  </m:oMath>
                </a14:m>
                <a:r>
                  <a:rPr lang="pt-BR" sz="2000" dirty="0"/>
                  <a:t>).</a:t>
                </a:r>
              </a:p>
              <a:p>
                <a:pPr lvl="1"/>
                <a14:m>
                  <m:oMath xmlns:m="http://schemas.openxmlformats.org/officeDocument/2006/math">
                    <m:r>
                      <a:rPr lang="pt-BR" sz="2000" i="1" dirty="0">
                        <a:latin typeface="Cambria Math"/>
                      </a:rPr>
                      <m:t>𝐺</m:t>
                    </m:r>
                  </m:oMath>
                </a14:m>
                <a:r>
                  <a:rPr lang="pt-BR" sz="2000" dirty="0"/>
                  <a:t> possui uma clique de tamanho </a:t>
                </a:r>
                <a14:m>
                  <m:oMath xmlns:m="http://schemas.openxmlformats.org/officeDocument/2006/math">
                    <m:r>
                      <a:rPr lang="pt-BR" sz="2000" i="1" dirty="0" smtClean="0">
                        <a:latin typeface="Cambria Math"/>
                        <a:ea typeface="Cambria Math"/>
                      </a:rPr>
                      <m:t>≥</m:t>
                    </m:r>
                    <m:r>
                      <a:rPr lang="pt-BR" sz="2000" i="1" dirty="0">
                        <a:latin typeface="Cambria Math"/>
                      </a:rPr>
                      <m:t>𝑘</m:t>
                    </m:r>
                    <m:r>
                      <a:rPr lang="pt-BR" sz="2000" i="1" dirty="0">
                        <a:latin typeface="Cambria Math"/>
                      </a:rPr>
                      <m:t> </m:t>
                    </m:r>
                  </m:oMath>
                </a14:m>
                <a:r>
                  <a:rPr lang="pt-BR" sz="2000" dirty="0"/>
                  <a:t>se e somente se </a:t>
                </a:r>
                <a14:m>
                  <m:oMath xmlns:m="http://schemas.openxmlformats.org/officeDocument/2006/math">
                    <m:acc>
                      <m:accPr>
                        <m:chr m:val="̅"/>
                        <m:ctrlPr>
                          <a:rPr lang="pt-BR" sz="2000" i="1" dirty="0">
                            <a:latin typeface="Cambria Math" panose="02040503050406030204" pitchFamily="18" charset="0"/>
                          </a:rPr>
                        </m:ctrlPr>
                      </m:accPr>
                      <m:e>
                        <m:r>
                          <a:rPr lang="pt-BR" sz="2000" i="1" dirty="0">
                            <a:latin typeface="Cambria Math"/>
                          </a:rPr>
                          <m:t>𝐺</m:t>
                        </m:r>
                      </m:e>
                    </m:acc>
                  </m:oMath>
                </a14:m>
                <a:r>
                  <a:rPr lang="pt-BR" sz="2000" dirty="0"/>
                  <a:t> tem conjunto independente de tamanho </a:t>
                </a:r>
                <a14:m>
                  <m:oMath xmlns:m="http://schemas.openxmlformats.org/officeDocument/2006/math">
                    <m:r>
                      <a:rPr lang="pt-BR" sz="2000" i="1" dirty="0">
                        <a:latin typeface="Cambria Math"/>
                        <a:ea typeface="Cambria Math"/>
                      </a:rPr>
                      <m:t>≥</m:t>
                    </m:r>
                    <m:r>
                      <a:rPr lang="pt-BR" sz="2000" i="1" dirty="0">
                        <a:latin typeface="Cambria Math"/>
                      </a:rPr>
                      <m:t>𝑘</m:t>
                    </m:r>
                    <m:r>
                      <a:rPr lang="pt-BR" sz="2000" i="1" dirty="0">
                        <a:latin typeface="Cambria Math"/>
                      </a:rPr>
                      <m:t> </m:t>
                    </m:r>
                  </m:oMath>
                </a14:m>
                <a:r>
                  <a:rPr lang="pt-BR" sz="2000" dirty="0"/>
                  <a:t>.</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963" t="-1078" r="-519"/>
                </a:stretch>
              </a:blipFill>
            </p:spPr>
            <p:txBody>
              <a:bodyPr/>
              <a:lstStyle/>
              <a:p>
                <a:r>
                  <a:rPr lang="pt-BR">
                    <a:noFill/>
                  </a:rPr>
                  <a:t> </a:t>
                </a:r>
              </a:p>
            </p:txBody>
          </p:sp>
        </mc:Fallback>
      </mc:AlternateContent>
    </p:spTree>
    <p:extLst>
      <p:ext uri="{BB962C8B-B14F-4D97-AF65-F5344CB8AC3E}">
        <p14:creationId xmlns:p14="http://schemas.microsoft.com/office/powerpoint/2010/main" val="1590270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Problema NP-Completo (Conteúdo extra)</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Um problema P</a:t>
                </a:r>
                <a:r>
                  <a:rPr lang="pt-BR" baseline="-25000" dirty="0"/>
                  <a:t>1</a:t>
                </a:r>
                <a:r>
                  <a:rPr lang="pt-BR" dirty="0"/>
                  <a:t> é NP-Completo se:</a:t>
                </a:r>
              </a:p>
              <a:p>
                <a:pPr marL="971550" lvl="1" indent="-514350">
                  <a:buFont typeface="+mj-lt"/>
                  <a:buAutoNum type="arabicParenR"/>
                </a:pPr>
                <a:r>
                  <a:rPr lang="pt-BR" dirty="0"/>
                  <a:t>P</a:t>
                </a:r>
                <a:r>
                  <a:rPr lang="pt-BR" baseline="-25000" dirty="0"/>
                  <a:t>1 </a:t>
                </a:r>
                <a14:m>
                  <m:oMath xmlns:m="http://schemas.openxmlformats.org/officeDocument/2006/math">
                    <m:r>
                      <a:rPr lang="pt-BR" i="1" dirty="0" smtClean="0">
                        <a:latin typeface="Cambria Math"/>
                        <a:ea typeface="Cambria Math"/>
                      </a:rPr>
                      <m:t>∈</m:t>
                    </m:r>
                    <m:r>
                      <a:rPr lang="pt-BR" b="0" i="1" dirty="0" smtClean="0">
                        <a:latin typeface="Cambria Math"/>
                        <a:ea typeface="Cambria Math"/>
                      </a:rPr>
                      <m:t> </m:t>
                    </m:r>
                  </m:oMath>
                </a14:m>
                <a:r>
                  <a:rPr lang="pt-BR" dirty="0"/>
                  <a:t>NP</a:t>
                </a:r>
              </a:p>
              <a:p>
                <a:pPr marL="971550" lvl="1" indent="-514350">
                  <a:buFont typeface="+mj-lt"/>
                  <a:buAutoNum type="arabicParenR"/>
                </a:pPr>
                <a:r>
                  <a:rPr lang="pt-BR" dirty="0"/>
                  <a:t>P’ </a:t>
                </a:r>
                <a14:m>
                  <m:oMath xmlns:m="http://schemas.openxmlformats.org/officeDocument/2006/math">
                    <m:r>
                      <a:rPr lang="pt-BR" i="1">
                        <a:latin typeface="Cambria Math"/>
                        <a:ea typeface="Cambria Math"/>
                      </a:rPr>
                      <m:t>∝</m:t>
                    </m:r>
                  </m:oMath>
                </a14:m>
                <a:r>
                  <a:rPr lang="pt-BR" dirty="0"/>
                  <a:t> P</a:t>
                </a:r>
                <a:r>
                  <a:rPr lang="pt-BR" baseline="-25000" dirty="0"/>
                  <a:t>1  </a:t>
                </a:r>
                <a:r>
                  <a:rPr lang="pt-BR" dirty="0"/>
                  <a:t>para todo P’ </a:t>
                </a:r>
                <a14:m>
                  <m:oMath xmlns:m="http://schemas.openxmlformats.org/officeDocument/2006/math">
                    <m:r>
                      <a:rPr lang="pt-BR" i="1" dirty="0">
                        <a:latin typeface="Cambria Math"/>
                        <a:ea typeface="Cambria Math"/>
                      </a:rPr>
                      <m:t>∈ </m:t>
                    </m:r>
                  </m:oMath>
                </a14:m>
                <a:r>
                  <a:rPr lang="pt-BR" dirty="0"/>
                  <a:t>NP-Completo</a:t>
                </a:r>
              </a:p>
              <a:p>
                <a:pPr marL="457200" lvl="1" indent="0">
                  <a:buNone/>
                </a:pPr>
                <a:endParaRPr lang="pt-BR" dirty="0"/>
              </a:p>
              <a:p>
                <a:r>
                  <a:rPr lang="pt-BR" dirty="0"/>
                  <a:t>Quando P</a:t>
                </a:r>
                <a:r>
                  <a:rPr lang="pt-BR" baseline="-25000" dirty="0"/>
                  <a:t>1</a:t>
                </a:r>
                <a:r>
                  <a:rPr lang="pt-BR" dirty="0"/>
                  <a:t> é NP-Difícil?</a:t>
                </a:r>
              </a:p>
              <a:p>
                <a:pPr lvl="1"/>
                <a:r>
                  <a:rPr lang="pt-BR" dirty="0"/>
                  <a:t>Quanto apenas a propriedade 2 for válida.</a:t>
                </a:r>
              </a:p>
              <a:p>
                <a:pPr marL="0" indent="0">
                  <a:buNone/>
                </a:pPr>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pt-BR">
                    <a:noFill/>
                  </a:rPr>
                  <a:t> </a:t>
                </a:r>
              </a:p>
            </p:txBody>
          </p:sp>
        </mc:Fallback>
      </mc:AlternateContent>
    </p:spTree>
    <p:extLst>
      <p:ext uri="{BB962C8B-B14F-4D97-AF65-F5344CB8AC3E}">
        <p14:creationId xmlns:p14="http://schemas.microsoft.com/office/powerpoint/2010/main" val="239929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400" dirty="0"/>
                  <a:t>Seja </a:t>
                </a:r>
                <a14:m>
                  <m:oMath xmlns:m="http://schemas.openxmlformats.org/officeDocument/2006/math">
                    <m:r>
                      <a:rPr lang="pt-BR" sz="2400" i="1" dirty="0">
                        <a:latin typeface="Cambria Math"/>
                      </a:rPr>
                      <m:t>𝐺</m:t>
                    </m:r>
                    <m:r>
                      <a:rPr lang="pt-BR" sz="2400" i="1" dirty="0">
                        <a:latin typeface="Cambria Math"/>
                      </a:rPr>
                      <m:t>=(</m:t>
                    </m:r>
                    <m:r>
                      <a:rPr lang="pt-BR" sz="2400" i="1" dirty="0">
                        <a:latin typeface="Cambria Math"/>
                      </a:rPr>
                      <m:t>𝑉</m:t>
                    </m:r>
                    <m:r>
                      <a:rPr lang="pt-BR" sz="2400" i="1" dirty="0">
                        <a:latin typeface="Cambria Math"/>
                      </a:rPr>
                      <m:t>, </m:t>
                    </m:r>
                    <m:r>
                      <a:rPr lang="pt-BR" sz="2400" i="1" dirty="0">
                        <a:latin typeface="Cambria Math"/>
                      </a:rPr>
                      <m:t>𝐸</m:t>
                    </m:r>
                    <m:r>
                      <a:rPr lang="pt-BR" sz="2400" i="1" dirty="0">
                        <a:latin typeface="Cambria Math"/>
                      </a:rPr>
                      <m:t>) </m:t>
                    </m:r>
                  </m:oMath>
                </a14:m>
                <a:r>
                  <a:rPr lang="pt-BR" sz="2400" dirty="0"/>
                  <a:t>um grafo.</a:t>
                </a:r>
              </a:p>
              <a:p>
                <a:r>
                  <a:rPr lang="pt-BR" sz="2400" dirty="0"/>
                  <a:t>Um subconjunto </a:t>
                </a:r>
                <a14:m>
                  <m:oMath xmlns:m="http://schemas.openxmlformats.org/officeDocument/2006/math">
                    <m:r>
                      <a:rPr lang="pt-BR" sz="2400" i="1">
                        <a:latin typeface="Cambria Math"/>
                      </a:rPr>
                      <m:t>𝑆</m:t>
                    </m:r>
                    <m:r>
                      <a:rPr lang="pt-BR" sz="2400" i="1">
                        <a:latin typeface="Cambria Math"/>
                        <a:ea typeface="Cambria Math"/>
                      </a:rPr>
                      <m:t>⊆</m:t>
                    </m:r>
                    <m:r>
                      <a:rPr lang="pt-BR" sz="2400" i="1">
                        <a:latin typeface="Cambria Math"/>
                        <a:ea typeface="Cambria Math"/>
                      </a:rPr>
                      <m:t>𝑉</m:t>
                    </m:r>
                  </m:oMath>
                </a14:m>
                <a:r>
                  <a:rPr lang="pt-BR" sz="2400" dirty="0"/>
                  <a:t> é um subconjunto dominante se </a:t>
                </a:r>
                <a14:m>
                  <m:oMath xmlns:m="http://schemas.openxmlformats.org/officeDocument/2006/math">
                    <m:r>
                      <a:rPr lang="pt-BR" sz="2400" i="1">
                        <a:latin typeface="Cambria Math"/>
                        <a:ea typeface="Cambria Math"/>
                      </a:rPr>
                      <m:t>∀ </m:t>
                    </m:r>
                    <m:r>
                      <a:rPr lang="pt-BR" sz="2400" i="1">
                        <a:latin typeface="Cambria Math"/>
                        <a:ea typeface="Cambria Math"/>
                      </a:rPr>
                      <m:t>𝑣</m:t>
                    </m:r>
                    <m:r>
                      <a:rPr lang="pt-BR" sz="2400" i="1">
                        <a:latin typeface="Cambria Math"/>
                      </a:rPr>
                      <m:t>∉</m:t>
                    </m:r>
                    <m:r>
                      <a:rPr lang="pt-BR" sz="2400" i="1">
                        <a:latin typeface="Cambria Math"/>
                        <a:ea typeface="Cambria Math"/>
                      </a:rPr>
                      <m:t>𝑆</m:t>
                    </m:r>
                  </m:oMath>
                </a14:m>
                <a:r>
                  <a:rPr lang="pt-BR" sz="2400" dirty="0"/>
                  <a:t>, existe </a:t>
                </a:r>
                <a14:m>
                  <m:oMath xmlns:m="http://schemas.openxmlformats.org/officeDocument/2006/math">
                    <m:r>
                      <a:rPr lang="pt-BR" sz="2400" i="1">
                        <a:latin typeface="Cambria Math"/>
                      </a:rPr>
                      <m:t>𝑤</m:t>
                    </m:r>
                    <m:r>
                      <a:rPr lang="pt-BR" sz="2400" i="1" smtClean="0">
                        <a:latin typeface="Cambria Math"/>
                        <a:ea typeface="Cambria Math"/>
                      </a:rPr>
                      <m:t>∈</m:t>
                    </m:r>
                    <m:r>
                      <a:rPr lang="pt-BR" sz="2400" b="0" i="1" smtClean="0">
                        <a:latin typeface="Cambria Math"/>
                        <a:ea typeface="Cambria Math"/>
                      </a:rPr>
                      <m:t>𝑆</m:t>
                    </m:r>
                  </m:oMath>
                </a14:m>
                <a:r>
                  <a:rPr lang="pt-BR" sz="2400" dirty="0"/>
                  <a:t>, tal que </a:t>
                </a:r>
                <a14:m>
                  <m:oMath xmlns:m="http://schemas.openxmlformats.org/officeDocument/2006/math">
                    <m:r>
                      <a:rPr lang="pt-BR" sz="2400" i="1">
                        <a:latin typeface="Cambria Math"/>
                      </a:rPr>
                      <m:t>(</m:t>
                    </m:r>
                    <m:r>
                      <a:rPr lang="pt-BR" sz="2400" i="1">
                        <a:latin typeface="Cambria Math"/>
                      </a:rPr>
                      <m:t>𝑣</m:t>
                    </m:r>
                    <m:r>
                      <a:rPr lang="pt-BR" sz="2400" i="1">
                        <a:latin typeface="Cambria Math"/>
                      </a:rPr>
                      <m:t>, </m:t>
                    </m:r>
                    <m:r>
                      <a:rPr lang="pt-BR" sz="2400" i="1">
                        <a:latin typeface="Cambria Math"/>
                      </a:rPr>
                      <m:t>𝑤</m:t>
                    </m:r>
                    <m:r>
                      <a:rPr lang="pt-BR" sz="2400" i="1">
                        <a:latin typeface="Cambria Math"/>
                      </a:rPr>
                      <m:t>)∈</m:t>
                    </m:r>
                    <m:r>
                      <a:rPr lang="pt-BR" sz="2400" i="1">
                        <a:latin typeface="Cambria Math"/>
                        <a:ea typeface="Cambria Math"/>
                      </a:rPr>
                      <m:t>𝐸</m:t>
                    </m:r>
                  </m:oMath>
                </a14:m>
                <a:r>
                  <a:rPr lang="pt-BR" sz="2400" dirty="0"/>
                  <a:t>.</a:t>
                </a:r>
              </a:p>
              <a:p>
                <a:pPr lvl="1"/>
                <a:r>
                  <a:rPr lang="pt-BR" sz="2000" dirty="0"/>
                  <a:t>S pode ser chamado de </a:t>
                </a:r>
                <a:r>
                  <a:rPr lang="pt-BR" sz="2000" b="1" dirty="0" err="1"/>
                  <a:t>S</a:t>
                </a:r>
                <a:r>
                  <a:rPr lang="pt-BR" sz="2000" dirty="0" err="1"/>
                  <a:t>ub</a:t>
                </a:r>
                <a:r>
                  <a:rPr lang="pt-BR" sz="2000" b="1" dirty="0" err="1"/>
                  <a:t>S</a:t>
                </a:r>
                <a:r>
                  <a:rPr lang="pt-BR" sz="2000" dirty="0" err="1"/>
                  <a:t>onjunto</a:t>
                </a:r>
                <a:r>
                  <a:rPr lang="pt-BR" sz="2000" dirty="0"/>
                  <a:t> </a:t>
                </a:r>
                <a:r>
                  <a:rPr lang="pt-BR" sz="2000" b="1" dirty="0"/>
                  <a:t>E</a:t>
                </a:r>
                <a:r>
                  <a:rPr lang="pt-BR" sz="2000" dirty="0"/>
                  <a:t>xternamente </a:t>
                </a:r>
                <a:r>
                  <a:rPr lang="pt-BR" sz="2000" b="1" dirty="0"/>
                  <a:t>E</a:t>
                </a:r>
                <a:r>
                  <a:rPr lang="pt-BR" sz="2000" dirty="0"/>
                  <a:t>stável ou SCEE.</a:t>
                </a:r>
              </a:p>
              <a:p>
                <a:pPr lvl="1"/>
                <a:r>
                  <a:rPr lang="pt-BR" sz="2000" dirty="0"/>
                  <a:t>É o </a:t>
                </a:r>
                <a:r>
                  <a:rPr lang="pt-BR" sz="2000" b="1" dirty="0"/>
                  <a:t>menor</a:t>
                </a:r>
                <a:r>
                  <a:rPr lang="pt-BR" sz="2000" dirty="0"/>
                  <a:t> conjunto de vértices que é vizinho a todos os outros vértices.</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963" t="-1078"/>
                </a:stretch>
              </a:blipFill>
            </p:spPr>
            <p:txBody>
              <a:bodyPr/>
              <a:lstStyle/>
              <a:p>
                <a:r>
                  <a:rPr lang="pt-BR">
                    <a:noFill/>
                  </a:rPr>
                  <a:t> </a:t>
                </a:r>
              </a:p>
            </p:txBody>
          </p:sp>
        </mc:Fallback>
      </mc:AlternateContent>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4005064"/>
            <a:ext cx="3530899" cy="1849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657854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p:cNvSpPr>
                <a:spLocks noGrp="1"/>
              </p:cNvSpPr>
              <p:nvPr>
                <p:ph type="title"/>
              </p:nvPr>
            </p:nvSpPr>
            <p:spPr/>
            <p:txBody>
              <a:bodyPr>
                <a:normAutofit/>
              </a:bodyPr>
              <a:lstStyle/>
              <a:p>
                <a:r>
                  <a:rPr lang="pt-BR" sz="3600" dirty="0"/>
                  <a:t>Conjuntos Dominantes Mínimos e </a:t>
                </a:r>
                <a14:m>
                  <m:oMath xmlns:m="http://schemas.openxmlformats.org/officeDocument/2006/math">
                    <m:r>
                      <m:rPr>
                        <m:sty m:val="p"/>
                      </m:rPr>
                      <a:rPr lang="el-GR" sz="3600" i="1" smtClean="0">
                        <a:latin typeface="Cambria Math"/>
                        <a:ea typeface="Cambria Math"/>
                      </a:rPr>
                      <m:t>α</m:t>
                    </m:r>
                    <m:r>
                      <a:rPr lang="pt-BR" sz="3600" i="1">
                        <a:latin typeface="Cambria Math"/>
                        <a:ea typeface="Cambria Math"/>
                      </a:rPr>
                      <m:t>(</m:t>
                    </m:r>
                    <m:r>
                      <a:rPr lang="pt-BR" sz="3600" i="1">
                        <a:latin typeface="Cambria Math"/>
                        <a:ea typeface="Cambria Math"/>
                      </a:rPr>
                      <m:t>𝐺</m:t>
                    </m:r>
                    <m:r>
                      <a:rPr lang="pt-BR" sz="3600" i="1">
                        <a:latin typeface="Cambria Math"/>
                        <a:ea typeface="Cambria Math"/>
                      </a:rPr>
                      <m:t>)</m:t>
                    </m:r>
                  </m:oMath>
                </a14:m>
                <a:r>
                  <a:rPr lang="pt-BR" sz="3600" dirty="0"/>
                  <a:t> </a:t>
                </a:r>
              </a:p>
            </p:txBody>
          </p:sp>
        </mc:Choice>
        <mc:Fallback xmlns="">
          <p:sp>
            <p:nvSpPr>
              <p:cNvPr id="2" name="Título 1"/>
              <p:cNvSpPr>
                <a:spLocks noGrp="1" noRot="1" noChangeAspect="1" noMove="1" noResize="1" noEditPoints="1" noAdjustHandles="1" noChangeArrowheads="1" noChangeShapeType="1" noTextEdit="1"/>
              </p:cNvSpPr>
              <p:nvPr>
                <p:ph type="title"/>
              </p:nvPr>
            </p:nvSpPr>
            <p:spPr>
              <a:blipFill rotWithShape="1">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 e </a:t>
                </a:r>
                <a14:m>
                  <m:oMath xmlns:m="http://schemas.openxmlformats.org/officeDocument/2006/math">
                    <m:r>
                      <a:rPr lang="pt-BR" sz="2800" i="1">
                        <a:latin typeface="Cambria Math"/>
                      </a:rPr>
                      <m:t>𝑆</m:t>
                    </m:r>
                    <m:r>
                      <a:rPr lang="pt-BR" sz="2800" i="1">
                        <a:latin typeface="Cambria Math"/>
                      </a:rPr>
                      <m:t> </m:t>
                    </m:r>
                  </m:oMath>
                </a14:m>
                <a:r>
                  <a:rPr lang="pt-BR" sz="2800" dirty="0"/>
                  <a:t>um conjunto dominante de </a:t>
                </a:r>
                <a14:m>
                  <m:oMath xmlns:m="http://schemas.openxmlformats.org/officeDocument/2006/math">
                    <m:r>
                      <a:rPr lang="pt-BR" sz="2800" i="1" dirty="0" smtClean="0">
                        <a:latin typeface="Cambria Math"/>
                      </a:rPr>
                      <m:t>𝐺</m:t>
                    </m:r>
                  </m:oMath>
                </a14:m>
                <a:r>
                  <a:rPr lang="pt-BR" sz="2800" dirty="0"/>
                  <a:t> </a:t>
                </a:r>
              </a:p>
              <a:p>
                <a:r>
                  <a:rPr lang="pt-BR" sz="2800" dirty="0"/>
                  <a:t>Dizemos que </a:t>
                </a:r>
                <a14:m>
                  <m:oMath xmlns:m="http://schemas.openxmlformats.org/officeDocument/2006/math">
                    <m:r>
                      <a:rPr lang="pt-BR" sz="2800" i="1">
                        <a:latin typeface="Cambria Math"/>
                      </a:rPr>
                      <m:t>𝑆</m:t>
                    </m:r>
                  </m:oMath>
                </a14:m>
                <a:r>
                  <a:rPr lang="pt-BR" sz="2800" dirty="0"/>
                  <a:t> é um conjunto dominante Mínimo de </a:t>
                </a:r>
                <a14:m>
                  <m:oMath xmlns:m="http://schemas.openxmlformats.org/officeDocument/2006/math">
                    <m:r>
                      <a:rPr lang="pt-BR" sz="2800" i="1" dirty="0">
                        <a:latin typeface="Cambria Math"/>
                      </a:rPr>
                      <m:t>𝐺</m:t>
                    </m:r>
                  </m:oMath>
                </a14:m>
                <a:r>
                  <a:rPr lang="pt-BR" sz="2800" dirty="0"/>
                  <a:t> se não existir outro conjunto dominante </a:t>
                </a:r>
                <a14:m>
                  <m:oMath xmlns:m="http://schemas.openxmlformats.org/officeDocument/2006/math">
                    <m:r>
                      <a:rPr lang="pt-BR" sz="2800" i="1" dirty="0">
                        <a:latin typeface="Cambria Math"/>
                      </a:rPr>
                      <m:t>𝐴</m:t>
                    </m:r>
                  </m:oMath>
                </a14:m>
                <a:r>
                  <a:rPr lang="pt-BR" sz="2800" dirty="0"/>
                  <a:t> de </a:t>
                </a:r>
                <a14:m>
                  <m:oMath xmlns:m="http://schemas.openxmlformats.org/officeDocument/2006/math">
                    <m:r>
                      <a:rPr lang="pt-BR" sz="2800" i="1" dirty="0">
                        <a:latin typeface="Cambria Math"/>
                      </a:rPr>
                      <m:t>𝐺</m:t>
                    </m:r>
                  </m:oMath>
                </a14:m>
                <a:r>
                  <a:rPr lang="pt-BR" sz="2800" dirty="0"/>
                  <a:t>, tal que </a:t>
                </a:r>
                <a14:m>
                  <m:oMath xmlns:m="http://schemas.openxmlformats.org/officeDocument/2006/math">
                    <m:r>
                      <m:rPr>
                        <m:sty m:val="p"/>
                      </m:rPr>
                      <a:rPr lang="pt-BR" sz="2800" b="0" i="0" smtClean="0">
                        <a:latin typeface="Cambria Math"/>
                      </a:rPr>
                      <m:t>A</m:t>
                    </m:r>
                    <m:r>
                      <a:rPr lang="pt-BR" sz="2800" i="1">
                        <a:latin typeface="Cambria Math"/>
                        <a:ea typeface="Cambria Math"/>
                      </a:rPr>
                      <m:t>⊆</m:t>
                    </m:r>
                    <m:r>
                      <a:rPr lang="pt-BR" sz="2800" b="0" i="1" smtClean="0">
                        <a:latin typeface="Cambria Math"/>
                        <a:ea typeface="Cambria Math"/>
                      </a:rPr>
                      <m:t>𝑆</m:t>
                    </m:r>
                  </m:oMath>
                </a14:m>
                <a:r>
                  <a:rPr lang="pt-BR" sz="2800" dirty="0"/>
                  <a:t>.</a:t>
                </a:r>
              </a:p>
              <a:p>
                <a:r>
                  <a:rPr lang="pt-BR" sz="2800" dirty="0"/>
                  <a:t>O número de estabilidade externa </a:t>
                </a:r>
                <a14:m>
                  <m:oMath xmlns:m="http://schemas.openxmlformats.org/officeDocument/2006/math">
                    <m:r>
                      <m:rPr>
                        <m:sty m:val="p"/>
                      </m:rPr>
                      <a:rPr lang="el-GR" sz="2800" i="1">
                        <a:latin typeface="Cambria Math"/>
                        <a:ea typeface="Cambria Math"/>
                      </a:rPr>
                      <m:t>α</m:t>
                    </m:r>
                    <m:r>
                      <a:rPr lang="pt-BR" sz="2800" i="1">
                        <a:latin typeface="Cambria Math"/>
                        <a:ea typeface="Cambria Math"/>
                      </a:rPr>
                      <m:t>(</m:t>
                    </m:r>
                    <m:r>
                      <a:rPr lang="pt-BR" sz="2800" i="1">
                        <a:latin typeface="Cambria Math"/>
                        <a:ea typeface="Cambria Math"/>
                      </a:rPr>
                      <m:t>𝐺</m:t>
                    </m:r>
                    <m:r>
                      <a:rPr lang="pt-BR" sz="2800" i="1">
                        <a:latin typeface="Cambria Math"/>
                        <a:ea typeface="Cambria Math"/>
                      </a:rPr>
                      <m:t>)</m:t>
                    </m:r>
                  </m:oMath>
                </a14:m>
                <a:r>
                  <a:rPr lang="pt-BR" sz="2800" dirty="0"/>
                  <a:t> é igual à cardinalidade do menor conjunto dominante de </a:t>
                </a:r>
                <a14:m>
                  <m:oMath xmlns:m="http://schemas.openxmlformats.org/officeDocument/2006/math">
                    <m:r>
                      <a:rPr lang="pt-BR" sz="2800" i="1">
                        <a:latin typeface="Cambria Math"/>
                      </a:rPr>
                      <m:t>𝑆</m:t>
                    </m:r>
                  </m:oMath>
                </a14:m>
                <a:endParaRPr lang="pt-BR" sz="28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3"/>
                <a:stretch>
                  <a:fillRect l="-1333" t="-1348" r="-1259"/>
                </a:stretch>
              </a:blipFill>
            </p:spPr>
            <p:txBody>
              <a:bodyPr/>
              <a:lstStyle/>
              <a:p>
                <a:r>
                  <a:rPr lang="pt-BR">
                    <a:noFill/>
                  </a:rPr>
                  <a:t> </a:t>
                </a:r>
              </a:p>
            </p:txBody>
          </p:sp>
        </mc:Fallback>
      </mc:AlternateContent>
    </p:spTree>
    <p:extLst>
      <p:ext uri="{BB962C8B-B14F-4D97-AF65-F5344CB8AC3E}">
        <p14:creationId xmlns:p14="http://schemas.microsoft.com/office/powerpoint/2010/main" val="32481882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dos Bancos 24 Horas</a:t>
            </a:r>
          </a:p>
        </p:txBody>
      </p:sp>
      <p:sp>
        <p:nvSpPr>
          <p:cNvPr id="3" name="Espaço Reservado para Conteúdo 2"/>
          <p:cNvSpPr>
            <a:spLocks noGrp="1"/>
          </p:cNvSpPr>
          <p:nvPr>
            <p:ph idx="1"/>
          </p:nvPr>
        </p:nvSpPr>
        <p:spPr/>
        <p:txBody>
          <a:bodyPr>
            <a:noAutofit/>
          </a:bodyPr>
          <a:lstStyle/>
          <a:p>
            <a:r>
              <a:rPr lang="pt-BR" sz="2400" dirty="0"/>
              <a:t>Um banco deseja instalar terminais de 24 horas de modo a atender N pontos de uma cidade.</a:t>
            </a:r>
          </a:p>
          <a:p>
            <a:r>
              <a:rPr lang="pt-BR" sz="2400" dirty="0"/>
              <a:t>Qual é o menor número de postos a serem instalados de modo que pontos sem terminais não estejam distantes em mais de d Km de algum terminal?</a:t>
            </a:r>
          </a:p>
          <a:p>
            <a:r>
              <a:rPr lang="pt-BR" sz="2400" dirty="0"/>
              <a:t>Monte um grafo da seguinte forma:</a:t>
            </a:r>
          </a:p>
          <a:p>
            <a:pPr lvl="1"/>
            <a:r>
              <a:rPr lang="pt-BR" sz="2000" dirty="0"/>
              <a:t>Vértices = pontos de interesse</a:t>
            </a:r>
          </a:p>
          <a:p>
            <a:pPr lvl="1"/>
            <a:r>
              <a:rPr lang="pt-BR" sz="2000" dirty="0"/>
              <a:t>Arestas entre pontos com distância menor que d </a:t>
            </a:r>
          </a:p>
          <a:p>
            <a:pPr lvl="1"/>
            <a:r>
              <a:rPr lang="pt-BR" sz="2000" dirty="0"/>
              <a:t>Solução: Encontrar um conjunto dominante do grafo com o menor número possível de vértices</a:t>
            </a:r>
          </a:p>
          <a:p>
            <a:r>
              <a:rPr lang="pt-BR" sz="2400" dirty="0"/>
              <a:t>Idêntico ao Problema das Torres de Vigia</a:t>
            </a:r>
          </a:p>
        </p:txBody>
      </p:sp>
    </p:spTree>
    <p:extLst>
      <p:ext uri="{BB962C8B-B14F-4D97-AF65-F5344CB8AC3E}">
        <p14:creationId xmlns:p14="http://schemas.microsoft.com/office/powerpoint/2010/main" val="2851426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dos Bancos 24 Horas</a:t>
            </a:r>
          </a:p>
        </p:txBody>
      </p:sp>
      <p:sp>
        <p:nvSpPr>
          <p:cNvPr id="3" name="Espaço Reservado para Conteúdo 2"/>
          <p:cNvSpPr>
            <a:spLocks noGrp="1"/>
          </p:cNvSpPr>
          <p:nvPr>
            <p:ph idx="1"/>
          </p:nvPr>
        </p:nvSpPr>
        <p:spPr/>
        <p:txBody>
          <a:bodyPr/>
          <a:lstStyle/>
          <a:p>
            <a:pPr marL="342900" lvl="1" indent="-342900">
              <a:buFont typeface="Arial" pitchFamily="34" charset="0"/>
              <a:buChar char="•"/>
            </a:pPr>
            <a:r>
              <a:rPr lang="pt-BR" sz="2000" dirty="0"/>
              <a:t>Vértices = pontos de interesse</a:t>
            </a:r>
          </a:p>
          <a:p>
            <a:pPr marL="342900" lvl="1" indent="-342900">
              <a:buFont typeface="Arial" pitchFamily="34" charset="0"/>
              <a:buChar char="•"/>
            </a:pPr>
            <a:r>
              <a:rPr lang="pt-BR" sz="2000" dirty="0"/>
              <a:t>Arestas entre pontos com distância menor que d Km</a:t>
            </a:r>
          </a:p>
          <a:p>
            <a:pPr marL="342900" lvl="1" indent="-342900">
              <a:buFont typeface="Arial" pitchFamily="34" charset="0"/>
              <a:buChar char="•"/>
            </a:pPr>
            <a:r>
              <a:rPr lang="pt-BR" sz="2000" dirty="0"/>
              <a:t>Solução: Encontrar um conjunto dominante do grafo com o menor número possível de vértices</a:t>
            </a:r>
          </a:p>
          <a:p>
            <a:pPr marL="342900" lvl="1" indent="-342900">
              <a:buFont typeface="Arial" pitchFamily="34" charset="0"/>
              <a:buChar char="•"/>
            </a:pPr>
            <a:endParaRPr lang="pt-BR" sz="2000" dirty="0"/>
          </a:p>
        </p:txBody>
      </p:sp>
      <p:sp>
        <p:nvSpPr>
          <p:cNvPr id="4" name="Elipse 3"/>
          <p:cNvSpPr/>
          <p:nvPr/>
        </p:nvSpPr>
        <p:spPr>
          <a:xfrm>
            <a:off x="4867747" y="335699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091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dos Bancos 24 Horas</a:t>
            </a:r>
          </a:p>
        </p:txBody>
      </p:sp>
      <p:sp>
        <p:nvSpPr>
          <p:cNvPr id="3" name="Espaço Reservado para Conteúdo 2"/>
          <p:cNvSpPr>
            <a:spLocks noGrp="1"/>
          </p:cNvSpPr>
          <p:nvPr>
            <p:ph idx="1"/>
          </p:nvPr>
        </p:nvSpPr>
        <p:spPr/>
        <p:txBody>
          <a:bodyPr/>
          <a:lstStyle/>
          <a:p>
            <a:pPr marL="342900" lvl="1" indent="-342900">
              <a:buFont typeface="Arial" pitchFamily="34" charset="0"/>
              <a:buChar char="•"/>
            </a:pPr>
            <a:r>
              <a:rPr lang="pt-BR" sz="2000" dirty="0"/>
              <a:t>Vértices = pontos de interesse</a:t>
            </a:r>
          </a:p>
          <a:p>
            <a:pPr marL="342900" lvl="1" indent="-342900">
              <a:buFont typeface="Arial" pitchFamily="34" charset="0"/>
              <a:buChar char="•"/>
            </a:pPr>
            <a:r>
              <a:rPr lang="pt-BR" sz="2000" dirty="0"/>
              <a:t>Arestas entre pontos com distância menor que d Km</a:t>
            </a:r>
          </a:p>
          <a:p>
            <a:pPr marL="342900" lvl="1" indent="-342900">
              <a:buFont typeface="Arial" pitchFamily="34" charset="0"/>
              <a:buChar char="•"/>
            </a:pPr>
            <a:r>
              <a:rPr lang="pt-BR" sz="2000" dirty="0"/>
              <a:t>Solução: Encontrar um conjunto dominante do grafo com o menor número possível de vértices</a:t>
            </a:r>
          </a:p>
          <a:p>
            <a:pPr marL="342900" lvl="1" indent="-342900">
              <a:buFont typeface="Arial" pitchFamily="34" charset="0"/>
              <a:buChar char="•"/>
            </a:pPr>
            <a:endParaRPr lang="pt-BR" sz="2000" dirty="0"/>
          </a:p>
        </p:txBody>
      </p:sp>
      <p:sp>
        <p:nvSpPr>
          <p:cNvPr id="4" name="Elipse 3"/>
          <p:cNvSpPr/>
          <p:nvPr/>
        </p:nvSpPr>
        <p:spPr>
          <a:xfrm>
            <a:off x="4867747" y="335699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36518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p:sp>
        <p:nvSpPr>
          <p:cNvPr id="3" name="Espaço Reservado para Conteúdo 2"/>
          <p:cNvSpPr>
            <a:spLocks noGrp="1"/>
          </p:cNvSpPr>
          <p:nvPr>
            <p:ph idx="1"/>
          </p:nvPr>
        </p:nvSpPr>
        <p:spPr/>
        <p:txBody>
          <a:bodyPr/>
          <a:lstStyle/>
          <a:p>
            <a:r>
              <a:rPr lang="pt-BR" dirty="0"/>
              <a:t>Algoritmo Guloso</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latin typeface="Consolas" panose="020B0609020204030204" pitchFamily="49" charset="0"/>
                    <a:cs typeface="Consolas" panose="020B0609020204030204" pitchFamily="49" charset="0"/>
                  </a:rPr>
                  <a:t>D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máximo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D = D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5" name="CaixaDeTexto 4"/>
          <p:cNvSpPr txBox="1"/>
          <p:nvPr/>
        </p:nvSpPr>
        <p:spPr>
          <a:xfrm>
            <a:off x="827585" y="4789601"/>
            <a:ext cx="7488832" cy="1015663"/>
          </a:xfrm>
          <a:prstGeom prst="rect">
            <a:avLst/>
          </a:prstGeom>
          <a:noFill/>
        </p:spPr>
        <p:txBody>
          <a:bodyPr wrap="square" rtlCol="0">
            <a:spAutoFit/>
          </a:bodyPr>
          <a:lstStyle/>
          <a:p>
            <a:r>
              <a:rPr lang="pt-BR" sz="2000" dirty="0"/>
              <a:t>Comece com o vértice de </a:t>
            </a:r>
            <a:r>
              <a:rPr lang="pt-BR" sz="2000" b="1" dirty="0"/>
              <a:t>maior</a:t>
            </a:r>
            <a:r>
              <a:rPr lang="pt-BR" sz="2000" dirty="0"/>
              <a:t> grau em G, elimine-o do conjunto V (junto com seus adjacentes) e o insira no conjunto D (conjunto dominante).</a:t>
            </a:r>
          </a:p>
        </p:txBody>
      </p:sp>
    </p:spTree>
    <p:extLst>
      <p:ext uri="{BB962C8B-B14F-4D97-AF65-F5344CB8AC3E}">
        <p14:creationId xmlns:p14="http://schemas.microsoft.com/office/powerpoint/2010/main" val="11580608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p:sp>
        <p:nvSpPr>
          <p:cNvPr id="3" name="Espaço Reservado para Conteúdo 2"/>
          <p:cNvSpPr>
            <a:spLocks noGrp="1"/>
          </p:cNvSpPr>
          <p:nvPr>
            <p:ph idx="1"/>
          </p:nvPr>
        </p:nvSpPr>
        <p:spPr/>
        <p:txBody>
          <a:bodyPr/>
          <a:lstStyle/>
          <a:p>
            <a:r>
              <a:rPr lang="pt-BR" dirty="0"/>
              <a:t>Algoritmo Guloso</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latin typeface="Consolas" panose="020B0609020204030204" pitchFamily="49" charset="0"/>
                    <a:cs typeface="Consolas" panose="020B0609020204030204" pitchFamily="49" charset="0"/>
                  </a:rPr>
                  <a:t>D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máximo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D = D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18" name="Elipse 17"/>
          <p:cNvSpPr/>
          <p:nvPr/>
        </p:nvSpPr>
        <p:spPr>
          <a:xfrm>
            <a:off x="6855977" y="403594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19" name="Elipse 18"/>
          <p:cNvSpPr/>
          <p:nvPr/>
        </p:nvSpPr>
        <p:spPr>
          <a:xfrm>
            <a:off x="4537364" y="403594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20" name="Elipse 19"/>
          <p:cNvSpPr/>
          <p:nvPr/>
        </p:nvSpPr>
        <p:spPr>
          <a:xfrm>
            <a:off x="5656809" y="500606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21" name="Elipse 20"/>
          <p:cNvSpPr/>
          <p:nvPr/>
        </p:nvSpPr>
        <p:spPr>
          <a:xfrm>
            <a:off x="4537364" y="5897118"/>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22" name="Conector reto 21"/>
          <p:cNvCxnSpPr>
            <a:stCxn id="20" idx="1"/>
            <a:endCxn id="19" idx="5"/>
          </p:cNvCxnSpPr>
          <p:nvPr/>
        </p:nvCxnSpPr>
        <p:spPr>
          <a:xfrm flipH="1" flipV="1">
            <a:off x="5001169" y="4386192"/>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Elipse 22"/>
          <p:cNvSpPr/>
          <p:nvPr/>
        </p:nvSpPr>
        <p:spPr>
          <a:xfrm>
            <a:off x="6855978" y="591155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24" name="Conector de seta reta 23"/>
          <p:cNvCxnSpPr>
            <a:stCxn id="18" idx="3"/>
            <a:endCxn id="20" idx="7"/>
          </p:cNvCxnSpPr>
          <p:nvPr/>
        </p:nvCxnSpPr>
        <p:spPr>
          <a:xfrm flipH="1">
            <a:off x="6120614" y="4386192"/>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Conector de seta reta 24"/>
          <p:cNvCxnSpPr>
            <a:stCxn id="23" idx="1"/>
            <a:endCxn id="20" idx="5"/>
          </p:cNvCxnSpPr>
          <p:nvPr/>
        </p:nvCxnSpPr>
        <p:spPr>
          <a:xfrm flipH="1" flipV="1">
            <a:off x="6120614" y="5356313"/>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Conector reto 25"/>
          <p:cNvCxnSpPr>
            <a:stCxn id="20" idx="3"/>
            <a:endCxn id="21" idx="7"/>
          </p:cNvCxnSpPr>
          <p:nvPr/>
        </p:nvCxnSpPr>
        <p:spPr>
          <a:xfrm flipH="1">
            <a:off x="5001169" y="5356313"/>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Elipse 26"/>
          <p:cNvSpPr/>
          <p:nvPr/>
        </p:nvSpPr>
        <p:spPr>
          <a:xfrm>
            <a:off x="6858555" y="5002199"/>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28" name="Conector reto 27"/>
          <p:cNvCxnSpPr>
            <a:stCxn id="18" idx="4"/>
            <a:endCxn id="27" idx="0"/>
          </p:cNvCxnSpPr>
          <p:nvPr/>
        </p:nvCxnSpPr>
        <p:spPr>
          <a:xfrm>
            <a:off x="7127668" y="4446285"/>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27" idx="4"/>
            <a:endCxn id="23" idx="0"/>
          </p:cNvCxnSpPr>
          <p:nvPr/>
        </p:nvCxnSpPr>
        <p:spPr>
          <a:xfrm flipH="1">
            <a:off x="7127669" y="5412543"/>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to 29"/>
          <p:cNvCxnSpPr>
            <a:stCxn id="20" idx="6"/>
            <a:endCxn id="27" idx="2"/>
          </p:cNvCxnSpPr>
          <p:nvPr/>
        </p:nvCxnSpPr>
        <p:spPr>
          <a:xfrm flipV="1">
            <a:off x="6200190" y="5207371"/>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Elipse 30"/>
          <p:cNvSpPr/>
          <p:nvPr/>
        </p:nvSpPr>
        <p:spPr>
          <a:xfrm>
            <a:off x="8033073" y="500606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32" name="Conector reto 31"/>
          <p:cNvCxnSpPr>
            <a:stCxn id="18" idx="5"/>
            <a:endCxn id="31" idx="1"/>
          </p:cNvCxnSpPr>
          <p:nvPr/>
        </p:nvCxnSpPr>
        <p:spPr>
          <a:xfrm>
            <a:off x="7319782" y="4386192"/>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27" idx="6"/>
            <a:endCxn id="31" idx="2"/>
          </p:cNvCxnSpPr>
          <p:nvPr/>
        </p:nvCxnSpPr>
        <p:spPr>
          <a:xfrm>
            <a:off x="7401936" y="5207371"/>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23" idx="7"/>
            <a:endCxn id="31" idx="3"/>
          </p:cNvCxnSpPr>
          <p:nvPr/>
        </p:nvCxnSpPr>
        <p:spPr>
          <a:xfrm flipV="1">
            <a:off x="7319783" y="5356313"/>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0054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p:sp>
        <p:nvSpPr>
          <p:cNvPr id="3" name="Espaço Reservado para Conteúdo 2"/>
          <p:cNvSpPr>
            <a:spLocks noGrp="1"/>
          </p:cNvSpPr>
          <p:nvPr>
            <p:ph idx="1"/>
          </p:nvPr>
        </p:nvSpPr>
        <p:spPr/>
        <p:txBody>
          <a:bodyPr/>
          <a:lstStyle/>
          <a:p>
            <a:r>
              <a:rPr lang="pt-BR" dirty="0"/>
              <a:t>Algoritmo Guloso</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máximo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18" name="Elipse 17"/>
          <p:cNvSpPr/>
          <p:nvPr/>
        </p:nvSpPr>
        <p:spPr>
          <a:xfrm>
            <a:off x="6855977" y="4035941"/>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19" name="Elipse 18"/>
          <p:cNvSpPr/>
          <p:nvPr/>
        </p:nvSpPr>
        <p:spPr>
          <a:xfrm>
            <a:off x="4537364" y="4035941"/>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20" name="Elipse 19"/>
          <p:cNvSpPr/>
          <p:nvPr/>
        </p:nvSpPr>
        <p:spPr>
          <a:xfrm>
            <a:off x="5656809" y="500606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21" name="Elipse 20"/>
          <p:cNvSpPr/>
          <p:nvPr/>
        </p:nvSpPr>
        <p:spPr>
          <a:xfrm>
            <a:off x="4537364" y="5897118"/>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22" name="Conector reto 21"/>
          <p:cNvCxnSpPr>
            <a:stCxn id="20" idx="1"/>
            <a:endCxn id="19" idx="5"/>
          </p:cNvCxnSpPr>
          <p:nvPr/>
        </p:nvCxnSpPr>
        <p:spPr>
          <a:xfrm flipH="1" flipV="1">
            <a:off x="5001169" y="4386192"/>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Elipse 22"/>
          <p:cNvSpPr/>
          <p:nvPr/>
        </p:nvSpPr>
        <p:spPr>
          <a:xfrm>
            <a:off x="6855978" y="5911553"/>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24" name="Conector de seta reta 23"/>
          <p:cNvCxnSpPr>
            <a:stCxn id="18" idx="3"/>
            <a:endCxn id="20" idx="7"/>
          </p:cNvCxnSpPr>
          <p:nvPr/>
        </p:nvCxnSpPr>
        <p:spPr>
          <a:xfrm flipH="1">
            <a:off x="6120614" y="4386192"/>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Conector de seta reta 24"/>
          <p:cNvCxnSpPr>
            <a:stCxn id="23" idx="1"/>
            <a:endCxn id="20" idx="5"/>
          </p:cNvCxnSpPr>
          <p:nvPr/>
        </p:nvCxnSpPr>
        <p:spPr>
          <a:xfrm flipH="1" flipV="1">
            <a:off x="6120614" y="5356313"/>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Conector reto 25"/>
          <p:cNvCxnSpPr>
            <a:stCxn id="20" idx="3"/>
            <a:endCxn id="21" idx="7"/>
          </p:cNvCxnSpPr>
          <p:nvPr/>
        </p:nvCxnSpPr>
        <p:spPr>
          <a:xfrm flipH="1">
            <a:off x="5001169" y="5356313"/>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Elipse 26"/>
          <p:cNvSpPr/>
          <p:nvPr/>
        </p:nvSpPr>
        <p:spPr>
          <a:xfrm>
            <a:off x="6858555" y="5002199"/>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28" name="Conector reto 27"/>
          <p:cNvCxnSpPr>
            <a:stCxn id="18" idx="4"/>
            <a:endCxn id="27" idx="0"/>
          </p:cNvCxnSpPr>
          <p:nvPr/>
        </p:nvCxnSpPr>
        <p:spPr>
          <a:xfrm>
            <a:off x="7127668" y="4446285"/>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27" idx="4"/>
            <a:endCxn id="23" idx="0"/>
          </p:cNvCxnSpPr>
          <p:nvPr/>
        </p:nvCxnSpPr>
        <p:spPr>
          <a:xfrm flipH="1">
            <a:off x="7127669" y="5412543"/>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to 29"/>
          <p:cNvCxnSpPr>
            <a:stCxn id="20" idx="6"/>
            <a:endCxn id="27" idx="2"/>
          </p:cNvCxnSpPr>
          <p:nvPr/>
        </p:nvCxnSpPr>
        <p:spPr>
          <a:xfrm flipV="1">
            <a:off x="6200190" y="5207371"/>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Elipse 30"/>
          <p:cNvSpPr/>
          <p:nvPr/>
        </p:nvSpPr>
        <p:spPr>
          <a:xfrm>
            <a:off x="8033073" y="500606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32" name="Conector reto 31"/>
          <p:cNvCxnSpPr>
            <a:stCxn id="18" idx="5"/>
            <a:endCxn id="31" idx="1"/>
          </p:cNvCxnSpPr>
          <p:nvPr/>
        </p:nvCxnSpPr>
        <p:spPr>
          <a:xfrm>
            <a:off x="7319782" y="4386192"/>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27" idx="6"/>
            <a:endCxn id="31" idx="2"/>
          </p:cNvCxnSpPr>
          <p:nvPr/>
        </p:nvCxnSpPr>
        <p:spPr>
          <a:xfrm>
            <a:off x="7401936" y="5207371"/>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23" idx="7"/>
            <a:endCxn id="31" idx="3"/>
          </p:cNvCxnSpPr>
          <p:nvPr/>
        </p:nvCxnSpPr>
        <p:spPr>
          <a:xfrm flipV="1">
            <a:off x="7319783" y="5356313"/>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6761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Conjuntos Dominantes</a:t>
            </a:r>
          </a:p>
        </p:txBody>
      </p:sp>
      <p:sp>
        <p:nvSpPr>
          <p:cNvPr id="3" name="Espaço Reservado para Conteúdo 2"/>
          <p:cNvSpPr>
            <a:spLocks noGrp="1"/>
          </p:cNvSpPr>
          <p:nvPr>
            <p:ph idx="1"/>
          </p:nvPr>
        </p:nvSpPr>
        <p:spPr/>
        <p:txBody>
          <a:bodyPr/>
          <a:lstStyle/>
          <a:p>
            <a:r>
              <a:rPr lang="pt-BR" dirty="0"/>
              <a:t>Algoritmo Guloso</a:t>
            </a:r>
          </a:p>
        </p:txBody>
      </p:sp>
      <mc:AlternateContent xmlns:mc="http://schemas.openxmlformats.org/markup-compatibility/2006" xmlns:a14="http://schemas.microsoft.com/office/drawing/2010/main">
        <mc:Choice Requires="a14">
          <p:sp>
            <p:nvSpPr>
              <p:cNvPr id="4" name="CaixaDeTexto 3"/>
              <p:cNvSpPr txBox="1"/>
              <p:nvPr/>
            </p:nvSpPr>
            <p:spPr>
              <a:xfrm>
                <a:off x="755576" y="2492896"/>
                <a:ext cx="5033750" cy="2031325"/>
              </a:xfrm>
              <a:prstGeom prst="rect">
                <a:avLst/>
              </a:prstGeom>
              <a:noFill/>
            </p:spPr>
            <p:txBody>
              <a:bodyPr wrap="none" rtlCol="0">
                <a:spAutoFit/>
              </a:bodyPr>
              <a:lstStyle/>
              <a:p>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 </a:t>
                </a:r>
                <a:r>
                  <a:rPr lang="el-GR" dirty="0">
                    <a:latin typeface="Consolas" panose="020B0609020204030204" pitchFamily="49" charset="0"/>
                    <a:cs typeface="Consolas" panose="020B0609020204030204" pitchFamily="49" charset="0"/>
                  </a:rPr>
                  <a:t>θ</a:t>
                </a:r>
                <a:endParaRPr lang="pt-BR" dirty="0">
                  <a:latin typeface="Consolas" panose="020B0609020204030204" pitchFamily="49" charset="0"/>
                  <a:cs typeface="Consolas" panose="020B0609020204030204" pitchFamily="49" charset="0"/>
                </a:endParaRPr>
              </a:p>
              <a:p>
                <a:r>
                  <a:rPr lang="pt-BR" b="1" dirty="0" err="1">
                    <a:latin typeface="Consolas" panose="020B0609020204030204" pitchFamily="49" charset="0"/>
                    <a:cs typeface="Consolas" panose="020B0609020204030204" pitchFamily="49" charset="0"/>
                  </a:rPr>
                  <a:t>while</a:t>
                </a:r>
                <a:r>
                  <a:rPr lang="pt-BR" dirty="0">
                    <a:latin typeface="Consolas" panose="020B0609020204030204" pitchFamily="49" charset="0"/>
                    <a:cs typeface="Consolas" panose="020B0609020204030204" pitchFamily="49" charset="0"/>
                  </a:rPr>
                  <a:t> V != </a:t>
                </a:r>
                <a:r>
                  <a:rPr lang="el-GR" dirty="0">
                    <a:latin typeface="Consolas" panose="020B0609020204030204" pitchFamily="49" charset="0"/>
                    <a:cs typeface="Consolas" panose="020B0609020204030204" pitchFamily="49" charset="0"/>
                  </a:rPr>
                  <a:t>θ</a:t>
                </a:r>
                <a:r>
                  <a:rPr lang="pt-BR" dirty="0">
                    <a:latin typeface="Consolas" panose="020B0609020204030204" pitchFamily="49" charset="0"/>
                    <a:cs typeface="Consolas" panose="020B0609020204030204" pitchFamily="49" charset="0"/>
                  </a:rPr>
                  <a:t> </a:t>
                </a:r>
                <a:r>
                  <a:rPr lang="pt-BR" b="1" dirty="0">
                    <a:latin typeface="Consolas" panose="020B0609020204030204" pitchFamily="49" charset="0"/>
                    <a:cs typeface="Consolas" panose="020B0609020204030204" pitchFamily="49" charset="0"/>
                  </a:rPr>
                  <a:t>do</a:t>
                </a:r>
              </a:p>
              <a:p>
                <a:r>
                  <a:rPr lang="pt-BR" dirty="0">
                    <a:latin typeface="Consolas" panose="020B0609020204030204" pitchFamily="49" charset="0"/>
                    <a:cs typeface="Consolas" panose="020B0609020204030204" pitchFamily="49" charset="0"/>
                  </a:rPr>
                  <a:t>	u = vértice de grau máximo de V</a:t>
                </a:r>
              </a:p>
              <a:p>
                <a:r>
                  <a:rPr lang="pt-BR" dirty="0">
                    <a:latin typeface="Consolas" panose="020B0609020204030204" pitchFamily="49" charset="0"/>
                    <a:cs typeface="Consolas" panose="020B0609020204030204" pitchFamily="49" charset="0"/>
                  </a:rPr>
                  <a:t>	V = V – {u} – </a:t>
                </a:r>
                <a:r>
                  <a:rPr lang="pt-BR" dirty="0" err="1">
                    <a:latin typeface="Consolas" panose="020B0609020204030204" pitchFamily="49" charset="0"/>
                    <a:cs typeface="Consolas" panose="020B0609020204030204" pitchFamily="49" charset="0"/>
                  </a:rPr>
                  <a:t>adj</a:t>
                </a:r>
                <a:r>
                  <a:rPr lang="pt-BR" dirty="0">
                    <a:latin typeface="Consolas" panose="020B0609020204030204" pitchFamily="49" charset="0"/>
                    <a:cs typeface="Consolas" panose="020B0609020204030204" pitchFamily="49" charset="0"/>
                  </a:rPr>
                  <a:t>{u}</a:t>
                </a:r>
              </a:p>
              <a:p>
                <a:r>
                  <a:rPr lang="pt-BR" dirty="0">
                    <a:latin typeface="Consolas" panose="020B0609020204030204" pitchFamily="49" charset="0"/>
                    <a:cs typeface="Consolas" panose="020B0609020204030204" pitchFamily="49" charset="0"/>
                  </a:rPr>
                  <a:t>	</a:t>
                </a:r>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 </a:t>
                </a:r>
                <a:r>
                  <a:rPr lang="pt-BR" dirty="0">
                    <a:solidFill>
                      <a:srgbClr val="00B0F0"/>
                    </a:solidFill>
                    <a:latin typeface="Consolas" panose="020B0609020204030204" pitchFamily="49" charset="0"/>
                    <a:cs typeface="Consolas" panose="020B0609020204030204" pitchFamily="49" charset="0"/>
                  </a:rPr>
                  <a:t>D</a:t>
                </a:r>
                <a:r>
                  <a:rPr lang="pt-BR" dirty="0">
                    <a:latin typeface="Consolas" panose="020B0609020204030204" pitchFamily="49" charset="0"/>
                    <a:cs typeface="Consolas" panose="020B0609020204030204" pitchFamily="49" charset="0"/>
                  </a:rPr>
                  <a:t> </a:t>
                </a:r>
                <a14:m>
                  <m:oMath xmlns:m="http://schemas.openxmlformats.org/officeDocument/2006/math">
                    <m:r>
                      <a:rPr lang="pt-BR" i="1" smtClean="0">
                        <a:latin typeface="Cambria Math"/>
                        <a:ea typeface="Cambria Math"/>
                        <a:cs typeface="Consolas" panose="020B0609020204030204" pitchFamily="49" charset="0"/>
                      </a:rPr>
                      <m:t>∪</m:t>
                    </m:r>
                  </m:oMath>
                </a14:m>
                <a:r>
                  <a:rPr lang="pt-BR" dirty="0">
                    <a:latin typeface="Consolas" panose="020B0609020204030204" pitchFamily="49" charset="0"/>
                    <a:cs typeface="Consolas" panose="020B0609020204030204" pitchFamily="49" charset="0"/>
                  </a:rPr>
                  <a:t> {u}</a:t>
                </a:r>
              </a:p>
              <a:p>
                <a:r>
                  <a:rPr lang="pt-BR" b="1" dirty="0" err="1"/>
                  <a:t>end</a:t>
                </a:r>
                <a:r>
                  <a:rPr lang="pt-BR" dirty="0"/>
                  <a:t> </a:t>
                </a:r>
                <a:r>
                  <a:rPr lang="pt-BR" b="1" dirty="0" err="1"/>
                  <a:t>while</a:t>
                </a:r>
                <a:endParaRPr lang="pt-BR" b="1" dirty="0">
                  <a:latin typeface="Consolas" panose="020B0609020204030204" pitchFamily="49" charset="0"/>
                  <a:cs typeface="Consolas" panose="020B0609020204030204" pitchFamily="49" charset="0"/>
                </a:endParaRPr>
              </a:p>
              <a:p>
                <a:endParaRPr lang="pt-BR" dirty="0">
                  <a:latin typeface="Consolas" panose="020B0609020204030204" pitchFamily="49" charset="0"/>
                  <a:cs typeface="Consolas" panose="020B0609020204030204" pitchFamily="49" charset="0"/>
                </a:endParaRPr>
              </a:p>
            </p:txBody>
          </p:sp>
        </mc:Choice>
        <mc:Fallback xmlns="">
          <p:sp>
            <p:nvSpPr>
              <p:cNvPr id="4" name="CaixaDeTexto 3"/>
              <p:cNvSpPr txBox="1">
                <a:spLocks noRot="1" noChangeAspect="1" noMove="1" noResize="1" noEditPoints="1" noAdjustHandles="1" noChangeArrowheads="1" noChangeShapeType="1" noTextEdit="1"/>
              </p:cNvSpPr>
              <p:nvPr/>
            </p:nvSpPr>
            <p:spPr>
              <a:xfrm>
                <a:off x="755576" y="2492896"/>
                <a:ext cx="5033750" cy="2031325"/>
              </a:xfrm>
              <a:prstGeom prst="rect">
                <a:avLst/>
              </a:prstGeom>
              <a:blipFill rotWithShape="1">
                <a:blip r:embed="rId2"/>
                <a:stretch>
                  <a:fillRect l="-1090" t="-1502"/>
                </a:stretch>
              </a:blipFill>
            </p:spPr>
            <p:txBody>
              <a:bodyPr/>
              <a:lstStyle/>
              <a:p>
                <a:r>
                  <a:rPr lang="pt-BR">
                    <a:noFill/>
                  </a:rPr>
                  <a:t> </a:t>
                </a:r>
              </a:p>
            </p:txBody>
          </p:sp>
        </mc:Fallback>
      </mc:AlternateContent>
      <p:sp>
        <p:nvSpPr>
          <p:cNvPr id="18" name="Elipse 17"/>
          <p:cNvSpPr/>
          <p:nvPr/>
        </p:nvSpPr>
        <p:spPr>
          <a:xfrm>
            <a:off x="6855977" y="4035941"/>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19" name="Elipse 18"/>
          <p:cNvSpPr/>
          <p:nvPr/>
        </p:nvSpPr>
        <p:spPr>
          <a:xfrm>
            <a:off x="4537364" y="4035941"/>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20" name="Elipse 19"/>
          <p:cNvSpPr/>
          <p:nvPr/>
        </p:nvSpPr>
        <p:spPr>
          <a:xfrm>
            <a:off x="5656809" y="500606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21" name="Elipse 20"/>
          <p:cNvSpPr/>
          <p:nvPr/>
        </p:nvSpPr>
        <p:spPr>
          <a:xfrm>
            <a:off x="4537364" y="5897118"/>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22" name="Conector reto 21"/>
          <p:cNvCxnSpPr>
            <a:stCxn id="20" idx="1"/>
            <a:endCxn id="19" idx="5"/>
          </p:cNvCxnSpPr>
          <p:nvPr/>
        </p:nvCxnSpPr>
        <p:spPr>
          <a:xfrm flipH="1" flipV="1">
            <a:off x="5001169" y="4386192"/>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Elipse 22"/>
          <p:cNvSpPr/>
          <p:nvPr/>
        </p:nvSpPr>
        <p:spPr>
          <a:xfrm>
            <a:off x="6855978" y="5911553"/>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24" name="Conector de seta reta 23"/>
          <p:cNvCxnSpPr>
            <a:stCxn id="18" idx="3"/>
            <a:endCxn id="20" idx="7"/>
          </p:cNvCxnSpPr>
          <p:nvPr/>
        </p:nvCxnSpPr>
        <p:spPr>
          <a:xfrm flipH="1">
            <a:off x="6120614" y="4386192"/>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Conector de seta reta 24"/>
          <p:cNvCxnSpPr>
            <a:stCxn id="23" idx="1"/>
            <a:endCxn id="20" idx="5"/>
          </p:cNvCxnSpPr>
          <p:nvPr/>
        </p:nvCxnSpPr>
        <p:spPr>
          <a:xfrm flipH="1" flipV="1">
            <a:off x="6120614" y="5356313"/>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Conector reto 25"/>
          <p:cNvCxnSpPr>
            <a:stCxn id="20" idx="3"/>
            <a:endCxn id="21" idx="7"/>
          </p:cNvCxnSpPr>
          <p:nvPr/>
        </p:nvCxnSpPr>
        <p:spPr>
          <a:xfrm flipH="1">
            <a:off x="5001169" y="5356313"/>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 name="Elipse 26"/>
          <p:cNvSpPr/>
          <p:nvPr/>
        </p:nvSpPr>
        <p:spPr>
          <a:xfrm>
            <a:off x="6858555" y="5002199"/>
            <a:ext cx="543381" cy="410344"/>
          </a:xfrm>
          <a:prstGeom prst="ellipse">
            <a:avLst/>
          </a:prstGeom>
          <a:solidFill>
            <a:schemeClr val="bg1">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28" name="Conector reto 27"/>
          <p:cNvCxnSpPr>
            <a:stCxn id="18" idx="4"/>
            <a:endCxn id="27" idx="0"/>
          </p:cNvCxnSpPr>
          <p:nvPr/>
        </p:nvCxnSpPr>
        <p:spPr>
          <a:xfrm>
            <a:off x="7127668" y="4446285"/>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27" idx="4"/>
            <a:endCxn id="23" idx="0"/>
          </p:cNvCxnSpPr>
          <p:nvPr/>
        </p:nvCxnSpPr>
        <p:spPr>
          <a:xfrm flipH="1">
            <a:off x="7127669" y="5412543"/>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Conector reto 29"/>
          <p:cNvCxnSpPr>
            <a:stCxn id="20" idx="6"/>
            <a:endCxn id="27" idx="2"/>
          </p:cNvCxnSpPr>
          <p:nvPr/>
        </p:nvCxnSpPr>
        <p:spPr>
          <a:xfrm flipV="1">
            <a:off x="6200190" y="5207371"/>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Elipse 30"/>
          <p:cNvSpPr/>
          <p:nvPr/>
        </p:nvSpPr>
        <p:spPr>
          <a:xfrm>
            <a:off x="8033073" y="500606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32" name="Conector reto 31"/>
          <p:cNvCxnSpPr>
            <a:stCxn id="18" idx="5"/>
            <a:endCxn id="31" idx="1"/>
          </p:cNvCxnSpPr>
          <p:nvPr/>
        </p:nvCxnSpPr>
        <p:spPr>
          <a:xfrm>
            <a:off x="7319782" y="4386192"/>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27" idx="6"/>
            <a:endCxn id="31" idx="2"/>
          </p:cNvCxnSpPr>
          <p:nvPr/>
        </p:nvCxnSpPr>
        <p:spPr>
          <a:xfrm>
            <a:off x="7401936" y="5207371"/>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23" idx="7"/>
            <a:endCxn id="31" idx="3"/>
          </p:cNvCxnSpPr>
          <p:nvPr/>
        </p:nvCxnSpPr>
        <p:spPr>
          <a:xfrm flipV="1">
            <a:off x="7319783" y="5356313"/>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7945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Cobertura de Vértices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a:t>
                </a:r>
              </a:p>
              <a:p>
                <a:r>
                  <a:rPr lang="pt-BR" sz="2800" dirty="0"/>
                  <a:t>Um subconjunto </a:t>
                </a:r>
                <a14:m>
                  <m:oMath xmlns:m="http://schemas.openxmlformats.org/officeDocument/2006/math">
                    <m:r>
                      <a:rPr lang="pt-BR" sz="2800" b="0" i="1" smtClean="0">
                        <a:latin typeface="Cambria Math"/>
                      </a:rPr>
                      <m:t>𝐶</m:t>
                    </m:r>
                    <m:r>
                      <a:rPr lang="pt-BR" sz="2800" i="1">
                        <a:latin typeface="Cambria Math"/>
                        <a:ea typeface="Cambria Math"/>
                      </a:rPr>
                      <m:t>⊆</m:t>
                    </m:r>
                    <m:r>
                      <a:rPr lang="pt-BR" sz="2800" i="1">
                        <a:latin typeface="Cambria Math"/>
                        <a:ea typeface="Cambria Math"/>
                      </a:rPr>
                      <m:t>𝑉</m:t>
                    </m:r>
                  </m:oMath>
                </a14:m>
                <a:r>
                  <a:rPr lang="pt-BR" sz="2800" dirty="0"/>
                  <a:t> é uma cobertura de vértices se </a:t>
                </a:r>
                <a14:m>
                  <m:oMath xmlns:m="http://schemas.openxmlformats.org/officeDocument/2006/math">
                    <m:r>
                      <a:rPr lang="pt-BR" sz="2800" i="1">
                        <a:latin typeface="Cambria Math"/>
                        <a:ea typeface="Cambria Math"/>
                      </a:rPr>
                      <m:t>∀ </m:t>
                    </m:r>
                    <m:r>
                      <a:rPr lang="pt-BR" sz="2800" b="0" i="1" smtClean="0">
                        <a:latin typeface="Cambria Math"/>
                        <a:ea typeface="Cambria Math"/>
                      </a:rPr>
                      <m:t>(</m:t>
                    </m:r>
                    <m:r>
                      <a:rPr lang="pt-BR" sz="2800" i="1">
                        <a:latin typeface="Cambria Math"/>
                        <a:ea typeface="Cambria Math"/>
                      </a:rPr>
                      <m:t>𝑣</m:t>
                    </m:r>
                    <m:r>
                      <a:rPr lang="pt-BR" sz="2800" b="0" i="1" smtClean="0">
                        <a:latin typeface="Cambria Math"/>
                        <a:ea typeface="Cambria Math"/>
                      </a:rPr>
                      <m:t>, </m:t>
                    </m:r>
                    <m:r>
                      <a:rPr lang="pt-BR" sz="2800" b="0" i="1" smtClean="0">
                        <a:latin typeface="Cambria Math"/>
                        <a:ea typeface="Cambria Math"/>
                      </a:rPr>
                      <m:t>𝑤</m:t>
                    </m:r>
                    <m:r>
                      <a:rPr lang="pt-BR" sz="2800" b="0" i="1" smtClean="0">
                        <a:latin typeface="Cambria Math"/>
                        <a:ea typeface="Cambria Math"/>
                      </a:rPr>
                      <m:t>)∈</m:t>
                    </m:r>
                    <m:r>
                      <a:rPr lang="pt-BR" sz="2800" b="0" i="1" smtClean="0">
                        <a:latin typeface="Cambria Math"/>
                      </a:rPr>
                      <m:t>𝐸</m:t>
                    </m:r>
                  </m:oMath>
                </a14:m>
                <a:r>
                  <a:rPr lang="pt-BR" sz="2800" dirty="0"/>
                  <a:t>, tem se </a:t>
                </a:r>
                <a14:m>
                  <m:oMath xmlns:m="http://schemas.openxmlformats.org/officeDocument/2006/math">
                    <m:r>
                      <m:rPr>
                        <m:sty m:val="p"/>
                      </m:rPr>
                      <a:rPr lang="pt-BR" sz="2800" b="0" i="0" smtClean="0">
                        <a:latin typeface="Cambria Math"/>
                        <a:ea typeface="Cambria Math"/>
                      </a:rPr>
                      <m:t>v</m:t>
                    </m:r>
                    <m:r>
                      <a:rPr lang="pt-BR" sz="2800" i="1">
                        <a:latin typeface="Cambria Math"/>
                        <a:ea typeface="Cambria Math"/>
                      </a:rPr>
                      <m:t>∈</m:t>
                    </m:r>
                    <m:r>
                      <a:rPr lang="pt-BR" sz="2800" b="0" i="1" smtClean="0">
                        <a:latin typeface="Cambria Math"/>
                        <a:ea typeface="Cambria Math"/>
                      </a:rPr>
                      <m:t>𝐶</m:t>
                    </m:r>
                  </m:oMath>
                </a14:m>
                <a:r>
                  <a:rPr lang="pt-BR" sz="2800" dirty="0"/>
                  <a:t> e/ou </a:t>
                </a:r>
                <a14:m>
                  <m:oMath xmlns:m="http://schemas.openxmlformats.org/officeDocument/2006/math">
                    <m:r>
                      <a:rPr lang="pt-BR" sz="2800" i="1">
                        <a:latin typeface="Cambria Math"/>
                      </a:rPr>
                      <m:t>𝑤</m:t>
                    </m:r>
                    <m:r>
                      <a:rPr lang="pt-BR" sz="2800" i="1">
                        <a:latin typeface="Cambria Math"/>
                      </a:rPr>
                      <m:t>∈</m:t>
                    </m:r>
                    <m:r>
                      <a:rPr lang="pt-BR" sz="2800" b="0" i="1" smtClean="0">
                        <a:latin typeface="Cambria Math"/>
                      </a:rPr>
                      <m:t>𝐶</m:t>
                    </m:r>
                  </m:oMath>
                </a14:m>
                <a:r>
                  <a:rPr lang="pt-BR" sz="2800" dirty="0"/>
                  <a:t>.</a:t>
                </a:r>
              </a:p>
              <a:p>
                <a:pPr lvl="1"/>
                <a:r>
                  <a:rPr lang="pt-BR" sz="2400" dirty="0"/>
                  <a:t>É o </a:t>
                </a:r>
                <a:r>
                  <a:rPr lang="pt-BR" sz="2400" b="1" dirty="0"/>
                  <a:t>menor</a:t>
                </a:r>
                <a:r>
                  <a:rPr lang="pt-BR" sz="2400" dirty="0"/>
                  <a:t> conjunto de vértices incidente a todas as arestas.</a:t>
                </a:r>
                <a:endParaRPr lang="pt-BR" sz="32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259" t="-1213" r="-222"/>
                </a:stretch>
              </a:blipFill>
            </p:spPr>
            <p:txBody>
              <a:bodyPr/>
              <a:lstStyle/>
              <a:p>
                <a:r>
                  <a:rPr lang="pt-BR">
                    <a:noFill/>
                  </a:rPr>
                  <a:t> </a:t>
                </a:r>
              </a:p>
            </p:txBody>
          </p:sp>
        </mc:Fallback>
      </mc:AlternateContent>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4306593"/>
            <a:ext cx="3521424" cy="18609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88594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Cobertura de Vértices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Autofit/>
              </a:bodyPr>
              <a:lstStyle/>
              <a:p>
                <a:r>
                  <a:rPr lang="pt-BR" sz="2800" dirty="0"/>
                  <a:t>Seja </a:t>
                </a:r>
                <a14:m>
                  <m:oMath xmlns:m="http://schemas.openxmlformats.org/officeDocument/2006/math">
                    <m:r>
                      <a:rPr lang="pt-BR" sz="2800" i="1" dirty="0">
                        <a:latin typeface="Cambria Math"/>
                      </a:rPr>
                      <m:t>𝐺</m:t>
                    </m:r>
                    <m:r>
                      <a:rPr lang="pt-BR" sz="2800" i="1" dirty="0">
                        <a:latin typeface="Cambria Math"/>
                      </a:rPr>
                      <m:t>=(</m:t>
                    </m:r>
                    <m:r>
                      <a:rPr lang="pt-BR" sz="2800" i="1" dirty="0">
                        <a:latin typeface="Cambria Math"/>
                      </a:rPr>
                      <m:t>𝑉</m:t>
                    </m:r>
                    <m:r>
                      <a:rPr lang="pt-BR" sz="2800" i="1" dirty="0">
                        <a:latin typeface="Cambria Math"/>
                      </a:rPr>
                      <m:t>, </m:t>
                    </m:r>
                    <m:r>
                      <a:rPr lang="pt-BR" sz="2800" i="1" dirty="0">
                        <a:latin typeface="Cambria Math"/>
                      </a:rPr>
                      <m:t>𝐸</m:t>
                    </m:r>
                    <m:r>
                      <a:rPr lang="pt-BR" sz="2800" i="1" dirty="0">
                        <a:latin typeface="Cambria Math"/>
                      </a:rPr>
                      <m:t>) </m:t>
                    </m:r>
                  </m:oMath>
                </a14:m>
                <a:r>
                  <a:rPr lang="pt-BR" sz="2800" dirty="0"/>
                  <a:t>um grafo.</a:t>
                </a:r>
              </a:p>
              <a:p>
                <a:r>
                  <a:rPr lang="pt-BR" sz="2800" dirty="0"/>
                  <a:t>Se </a:t>
                </a:r>
                <a14:m>
                  <m:oMath xmlns:m="http://schemas.openxmlformats.org/officeDocument/2006/math">
                    <m:r>
                      <a:rPr lang="pt-BR" sz="2800" i="1" dirty="0" smtClean="0">
                        <a:latin typeface="Cambria Math"/>
                      </a:rPr>
                      <m:t>𝐶</m:t>
                    </m:r>
                  </m:oMath>
                </a14:m>
                <a:r>
                  <a:rPr lang="pt-BR" sz="2800" dirty="0"/>
                  <a:t> é uma cobertura de vértice, então o conjunto </a:t>
                </a:r>
                <a14:m>
                  <m:oMath xmlns:m="http://schemas.openxmlformats.org/officeDocument/2006/math">
                    <m:r>
                      <a:rPr lang="pt-BR" sz="2800" b="0" i="1" dirty="0" smtClean="0">
                        <a:latin typeface="Cambria Math"/>
                      </a:rPr>
                      <m:t>𝑉</m:t>
                    </m:r>
                    <m:r>
                      <a:rPr lang="pt-BR" sz="2800" i="1" dirty="0" smtClean="0">
                        <a:latin typeface="Cambria Math"/>
                      </a:rPr>
                      <m:t> − </m:t>
                    </m:r>
                    <m:r>
                      <a:rPr lang="pt-BR" sz="2800" i="1" dirty="0" smtClean="0">
                        <a:latin typeface="Cambria Math"/>
                      </a:rPr>
                      <m:t>𝐶</m:t>
                    </m:r>
                  </m:oMath>
                </a14:m>
                <a:r>
                  <a:rPr lang="pt-BR" sz="2800" dirty="0"/>
                  <a:t> é um conjunto independente.</a:t>
                </a:r>
              </a:p>
              <a:p>
                <a:r>
                  <a:rPr lang="pt-BR" sz="2800" dirty="0"/>
                  <a:t>Se </a:t>
                </a:r>
                <a14:m>
                  <m:oMath xmlns:m="http://schemas.openxmlformats.org/officeDocument/2006/math">
                    <m:r>
                      <a:rPr lang="pt-BR" sz="2800" b="0" i="1" dirty="0" smtClean="0">
                        <a:latin typeface="Cambria Math"/>
                      </a:rPr>
                      <m:t>𝑆</m:t>
                    </m:r>
                  </m:oMath>
                </a14:m>
                <a:r>
                  <a:rPr lang="pt-BR" sz="2800" dirty="0"/>
                  <a:t> é um conjunto independente, então </a:t>
                </a:r>
                <a14:m>
                  <m:oMath xmlns:m="http://schemas.openxmlformats.org/officeDocument/2006/math">
                    <m:r>
                      <a:rPr lang="pt-BR" sz="2800" i="1" dirty="0">
                        <a:latin typeface="Cambria Math"/>
                      </a:rPr>
                      <m:t>𝑉</m:t>
                    </m:r>
                    <m:r>
                      <a:rPr lang="pt-BR" sz="2800" i="1" dirty="0">
                        <a:latin typeface="Cambria Math"/>
                      </a:rPr>
                      <m:t> −</m:t>
                    </m:r>
                    <m:r>
                      <a:rPr lang="pt-BR" sz="2800" b="0" i="1" dirty="0" smtClean="0">
                        <a:latin typeface="Cambria Math"/>
                      </a:rPr>
                      <m:t>𝑆</m:t>
                    </m:r>
                  </m:oMath>
                </a14:m>
                <a:r>
                  <a:rPr lang="pt-BR" sz="2800" dirty="0"/>
                  <a:t> é uma cobertura de vértice.</a:t>
                </a:r>
              </a:p>
              <a:p>
                <a:pPr lvl="1"/>
                <a:r>
                  <a:rPr lang="pt-BR" sz="2400" dirty="0"/>
                  <a:t>Assim: um conjunto independente </a:t>
                </a:r>
                <a14:m>
                  <m:oMath xmlns:m="http://schemas.openxmlformats.org/officeDocument/2006/math">
                    <m:r>
                      <a:rPr lang="pt-BR" sz="2400" i="1" dirty="0">
                        <a:latin typeface="Cambria Math"/>
                      </a:rPr>
                      <m:t>𝑆</m:t>
                    </m:r>
                  </m:oMath>
                </a14:m>
                <a:r>
                  <a:rPr lang="pt-BR" sz="2400" dirty="0"/>
                  <a:t> é maximal se e somente se a cobertura de vértice </a:t>
                </a:r>
                <a14:m>
                  <m:oMath xmlns:m="http://schemas.openxmlformats.org/officeDocument/2006/math">
                    <m:r>
                      <a:rPr lang="pt-BR" sz="2400" i="1" dirty="0">
                        <a:latin typeface="Cambria Math"/>
                      </a:rPr>
                      <m:t>𝑉</m:t>
                    </m:r>
                    <m:r>
                      <a:rPr lang="pt-BR" sz="2400" i="1" dirty="0">
                        <a:latin typeface="Cambria Math"/>
                      </a:rPr>
                      <m:t> − </m:t>
                    </m:r>
                    <m:r>
                      <a:rPr lang="pt-BR" sz="2400" i="1" dirty="0">
                        <a:latin typeface="Cambria Math"/>
                      </a:rPr>
                      <m:t>𝑆</m:t>
                    </m:r>
                  </m:oMath>
                </a14:m>
                <a:r>
                  <a:rPr lang="pt-BR" sz="2400" dirty="0"/>
                  <a:t> é mínima.</a:t>
                </a:r>
              </a:p>
              <a:p>
                <a:pPr lvl="1"/>
                <a:r>
                  <a:rPr lang="pt-BR" sz="2400" dirty="0"/>
                  <a:t>Conclusão: Encontrar um conjunto independente maximal é o mesmo que encontrar uma cobertura de vértice mínima.</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259" t="-1213" r="-444"/>
                </a:stretch>
              </a:blipFill>
            </p:spPr>
            <p:txBody>
              <a:bodyPr/>
              <a:lstStyle/>
              <a:p>
                <a:r>
                  <a:rPr lang="pt-BR">
                    <a:noFill/>
                  </a:rPr>
                  <a:t> </a:t>
                </a:r>
              </a:p>
            </p:txBody>
          </p:sp>
        </mc:Fallback>
      </mc:AlternateContent>
    </p:spTree>
    <p:extLst>
      <p:ext uri="{BB962C8B-B14F-4D97-AF65-F5344CB8AC3E}">
        <p14:creationId xmlns:p14="http://schemas.microsoft.com/office/powerpoint/2010/main" val="10503446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Cobertura de Vértices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Assim, se o problema de encontrar um conjunto independente maximal é NP-Completo, então o problema de encontrar uma cobertura de vértice mínima também é.</a:t>
                </a:r>
              </a:p>
              <a:p>
                <a:r>
                  <a:rPr lang="pt-BR" sz="2800" dirty="0">
                    <a:ea typeface="Cambria Math"/>
                  </a:rPr>
                  <a:t>Dissemos que: </a:t>
                </a:r>
                <a:r>
                  <a:rPr lang="pt-BR" sz="2800" dirty="0"/>
                  <a:t>cobertura de vértice </a:t>
                </a:r>
                <a14:m>
                  <m:oMath xmlns:m="http://schemas.openxmlformats.org/officeDocument/2006/math">
                    <m:r>
                      <a:rPr lang="pt-BR" sz="2800" i="1">
                        <a:latin typeface="Cambria Math"/>
                        <a:ea typeface="Cambria Math"/>
                      </a:rPr>
                      <m:t>∝</m:t>
                    </m:r>
                  </m:oMath>
                </a14:m>
                <a:r>
                  <a:rPr lang="pt-BR" sz="2800" dirty="0"/>
                  <a:t> conjunto independente.</a:t>
                </a:r>
              </a:p>
              <a:p>
                <a:pPr lvl="1"/>
                <a:r>
                  <a:rPr lang="pt-BR" sz="2400" dirty="0">
                    <a:ea typeface="Cambria Math"/>
                  </a:rPr>
                  <a:t>Cobertura de Vértice é </a:t>
                </a:r>
                <a:r>
                  <a:rPr lang="pt-BR" sz="2400" dirty="0" err="1">
                    <a:ea typeface="Cambria Math"/>
                  </a:rPr>
                  <a:t>polinomialmente</a:t>
                </a:r>
                <a:r>
                  <a:rPr lang="pt-BR" sz="2400" dirty="0">
                    <a:ea typeface="Cambria Math"/>
                  </a:rPr>
                  <a:t> redutível (transformável) ao </a:t>
                </a:r>
                <a:r>
                  <a:rPr lang="pt-BR" sz="2400" dirty="0"/>
                  <a:t>conjunto independente</a:t>
                </a:r>
              </a:p>
              <a:p>
                <a:endParaRPr lang="pt-BR" sz="40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1259" t="-1213"/>
                </a:stretch>
              </a:blipFill>
            </p:spPr>
            <p:txBody>
              <a:bodyPr/>
              <a:lstStyle/>
              <a:p>
                <a:r>
                  <a:rPr lang="pt-BR">
                    <a:noFill/>
                  </a:rPr>
                  <a:t> </a:t>
                </a:r>
              </a:p>
            </p:txBody>
          </p:sp>
        </mc:Fallback>
      </mc:AlternateContent>
    </p:spTree>
    <p:extLst>
      <p:ext uri="{BB962C8B-B14F-4D97-AF65-F5344CB8AC3E}">
        <p14:creationId xmlns:p14="http://schemas.microsoft.com/office/powerpoint/2010/main" val="564791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Cobertura de Vértices e Conjunto Independente </a:t>
            </a:r>
          </a:p>
        </p:txBody>
      </p:sp>
      <p:sp>
        <p:nvSpPr>
          <p:cNvPr id="3" name="Espaço Reservado para Conteúdo 2"/>
          <p:cNvSpPr>
            <a:spLocks noGrp="1"/>
          </p:cNvSpPr>
          <p:nvPr>
            <p:ph idx="1"/>
          </p:nvPr>
        </p:nvSpPr>
        <p:spPr/>
        <p:txBody>
          <a:bodyPr>
            <a:normAutofit/>
          </a:bodyPr>
          <a:lstStyle/>
          <a:p>
            <a:r>
              <a:rPr lang="pt-BR" sz="2800" dirty="0"/>
              <a:t>Conjunto Independente: </a:t>
            </a:r>
            <a:r>
              <a:rPr lang="pt-BR" sz="2800" b="1" dirty="0"/>
              <a:t>maior</a:t>
            </a:r>
            <a:r>
              <a:rPr lang="pt-BR" sz="2800" dirty="0"/>
              <a:t> conjunto de vértices não adjacentes (encontrado em tempo </a:t>
            </a:r>
            <a:r>
              <a:rPr lang="pt-BR" sz="2800" b="1" dirty="0"/>
              <a:t>não</a:t>
            </a:r>
            <a:r>
              <a:rPr lang="pt-BR" sz="2800" dirty="0"/>
              <a:t> polinomial).</a:t>
            </a:r>
          </a:p>
        </p:txBody>
      </p:sp>
      <p:sp>
        <p:nvSpPr>
          <p:cNvPr id="4" name="Elipse 3"/>
          <p:cNvSpPr/>
          <p:nvPr/>
        </p:nvSpPr>
        <p:spPr>
          <a:xfrm>
            <a:off x="4867747"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1953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Cobertura de Vértices e Conjunto Independente </a:t>
            </a:r>
          </a:p>
        </p:txBody>
      </p:sp>
      <p:sp>
        <p:nvSpPr>
          <p:cNvPr id="3" name="Espaço Reservado para Conteúdo 2"/>
          <p:cNvSpPr>
            <a:spLocks noGrp="1"/>
          </p:cNvSpPr>
          <p:nvPr>
            <p:ph idx="1"/>
          </p:nvPr>
        </p:nvSpPr>
        <p:spPr/>
        <p:txBody>
          <a:bodyPr>
            <a:normAutofit/>
          </a:bodyPr>
          <a:lstStyle/>
          <a:p>
            <a:r>
              <a:rPr lang="pt-BR" sz="2400" dirty="0"/>
              <a:t>Cobertura de vértices: </a:t>
            </a:r>
            <a:r>
              <a:rPr lang="pt-BR" sz="2400" b="1" dirty="0"/>
              <a:t>menor</a:t>
            </a:r>
            <a:r>
              <a:rPr lang="pt-BR" sz="2400" dirty="0"/>
              <a:t> conjunto de vértices incidente a todas as arestas (encontrado em tempo </a:t>
            </a:r>
            <a:r>
              <a:rPr lang="pt-BR" sz="2400" b="1" dirty="0"/>
              <a:t>não</a:t>
            </a:r>
            <a:r>
              <a:rPr lang="pt-BR" sz="2400" dirty="0"/>
              <a:t> polinomial).</a:t>
            </a:r>
          </a:p>
          <a:p>
            <a:pPr lvl="1"/>
            <a:r>
              <a:rPr lang="pt-BR" sz="2000" dirty="0"/>
              <a:t>Mas pode ser obtido a partir do problema de Conjunto Independente em tempo polinomial. Como? </a:t>
            </a:r>
          </a:p>
        </p:txBody>
      </p:sp>
      <p:sp>
        <p:nvSpPr>
          <p:cNvPr id="4" name="Elipse 3"/>
          <p:cNvSpPr/>
          <p:nvPr/>
        </p:nvSpPr>
        <p:spPr>
          <a:xfrm>
            <a:off x="4867747"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7007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pt-BR" dirty="0"/>
              <a:t>Cobertura de Vértices e Conjunto Independente </a:t>
            </a:r>
          </a:p>
        </p:txBody>
      </p:sp>
      <p:sp>
        <p:nvSpPr>
          <p:cNvPr id="3" name="Espaço Reservado para Conteúdo 2"/>
          <p:cNvSpPr>
            <a:spLocks noGrp="1"/>
          </p:cNvSpPr>
          <p:nvPr>
            <p:ph idx="1"/>
          </p:nvPr>
        </p:nvSpPr>
        <p:spPr/>
        <p:txBody>
          <a:bodyPr>
            <a:normAutofit/>
          </a:bodyPr>
          <a:lstStyle/>
          <a:p>
            <a:r>
              <a:rPr lang="pt-BR" sz="2400" dirty="0"/>
              <a:t>Cobertura de vértices: </a:t>
            </a:r>
            <a:r>
              <a:rPr lang="pt-BR" sz="2400" b="1" dirty="0"/>
              <a:t>menor</a:t>
            </a:r>
            <a:r>
              <a:rPr lang="pt-BR" sz="2400" dirty="0"/>
              <a:t> conjunto de vértices incidente a todas as arestas (encontrado em tempo </a:t>
            </a:r>
            <a:r>
              <a:rPr lang="pt-BR" sz="2400" b="1" dirty="0"/>
              <a:t>não</a:t>
            </a:r>
            <a:r>
              <a:rPr lang="pt-BR" sz="2400" dirty="0"/>
              <a:t> polinomial).</a:t>
            </a:r>
          </a:p>
          <a:p>
            <a:pPr lvl="1"/>
            <a:r>
              <a:rPr lang="pt-BR" sz="2000" dirty="0"/>
              <a:t>Mas pode ser obtido a partir do problema de Conjunto Independente em tempo polinomial. Como? </a:t>
            </a:r>
          </a:p>
        </p:txBody>
      </p:sp>
      <p:sp>
        <p:nvSpPr>
          <p:cNvPr id="4" name="Elipse 3"/>
          <p:cNvSpPr/>
          <p:nvPr/>
        </p:nvSpPr>
        <p:spPr>
          <a:xfrm>
            <a:off x="4867747"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2549134" y="335699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668579"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549134" y="5218169"/>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cxnSp>
        <p:nvCxnSpPr>
          <p:cNvPr id="8" name="Conector reto 7"/>
          <p:cNvCxnSpPr>
            <a:stCxn id="6" idx="1"/>
            <a:endCxn id="5" idx="5"/>
          </p:cNvCxnSpPr>
          <p:nvPr/>
        </p:nvCxnSpPr>
        <p:spPr>
          <a:xfrm flipH="1" flipV="1">
            <a:off x="3012939" y="3707243"/>
            <a:ext cx="735216" cy="679963"/>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Elipse 8"/>
          <p:cNvSpPr/>
          <p:nvPr/>
        </p:nvSpPr>
        <p:spPr>
          <a:xfrm>
            <a:off x="4867748" y="5232604"/>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6</a:t>
            </a:r>
          </a:p>
        </p:txBody>
      </p:sp>
      <p:cxnSp>
        <p:nvCxnSpPr>
          <p:cNvPr id="10" name="Conector de seta reta 9"/>
          <p:cNvCxnSpPr>
            <a:stCxn id="4" idx="3"/>
            <a:endCxn id="6" idx="7"/>
          </p:cNvCxnSpPr>
          <p:nvPr/>
        </p:nvCxnSpPr>
        <p:spPr>
          <a:xfrm flipH="1">
            <a:off x="4132384" y="3707243"/>
            <a:ext cx="814939" cy="67996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a:stCxn id="9" idx="1"/>
            <a:endCxn id="6" idx="5"/>
          </p:cNvCxnSpPr>
          <p:nvPr/>
        </p:nvCxnSpPr>
        <p:spPr>
          <a:xfrm flipH="1" flipV="1">
            <a:off x="4132384" y="4677364"/>
            <a:ext cx="814940" cy="615333"/>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Conector reto 11"/>
          <p:cNvCxnSpPr>
            <a:stCxn id="6" idx="3"/>
            <a:endCxn id="7" idx="7"/>
          </p:cNvCxnSpPr>
          <p:nvPr/>
        </p:nvCxnSpPr>
        <p:spPr>
          <a:xfrm flipH="1">
            <a:off x="3012939" y="4677364"/>
            <a:ext cx="735216" cy="60089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4870325" y="4323250"/>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4" name="Conector reto 13"/>
          <p:cNvCxnSpPr>
            <a:stCxn id="4" idx="4"/>
            <a:endCxn id="13" idx="0"/>
          </p:cNvCxnSpPr>
          <p:nvPr/>
        </p:nvCxnSpPr>
        <p:spPr>
          <a:xfrm>
            <a:off x="5139438" y="3767336"/>
            <a:ext cx="2578" cy="5559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13" idx="4"/>
            <a:endCxn id="9" idx="0"/>
          </p:cNvCxnSpPr>
          <p:nvPr/>
        </p:nvCxnSpPr>
        <p:spPr>
          <a:xfrm flipH="1">
            <a:off x="5139439" y="4733594"/>
            <a:ext cx="2577" cy="4990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6" idx="6"/>
            <a:endCxn id="13" idx="2"/>
          </p:cNvCxnSpPr>
          <p:nvPr/>
        </p:nvCxnSpPr>
        <p:spPr>
          <a:xfrm flipV="1">
            <a:off x="4211960" y="4528422"/>
            <a:ext cx="658365"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6044843" y="4327113"/>
            <a:ext cx="543381" cy="410344"/>
          </a:xfrm>
          <a:prstGeom prst="ellipse">
            <a:avLst/>
          </a:prstGeom>
          <a:solidFill>
            <a:srgbClr val="00B0F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18" name="Conector reto 17"/>
          <p:cNvCxnSpPr>
            <a:stCxn id="4" idx="5"/>
            <a:endCxn id="17" idx="1"/>
          </p:cNvCxnSpPr>
          <p:nvPr/>
        </p:nvCxnSpPr>
        <p:spPr>
          <a:xfrm>
            <a:off x="5331552" y="3707243"/>
            <a:ext cx="792867" cy="6799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13" idx="6"/>
            <a:endCxn id="17" idx="2"/>
          </p:cNvCxnSpPr>
          <p:nvPr/>
        </p:nvCxnSpPr>
        <p:spPr>
          <a:xfrm>
            <a:off x="5413706" y="4528422"/>
            <a:ext cx="631137" cy="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9" idx="7"/>
            <a:endCxn id="17" idx="3"/>
          </p:cNvCxnSpPr>
          <p:nvPr/>
        </p:nvCxnSpPr>
        <p:spPr>
          <a:xfrm flipV="1">
            <a:off x="5331553" y="4677364"/>
            <a:ext cx="792866" cy="615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CaixaDeTexto 20"/>
              <p:cNvSpPr txBox="1"/>
              <p:nvPr/>
            </p:nvSpPr>
            <p:spPr>
              <a:xfrm>
                <a:off x="1187625" y="5877272"/>
                <a:ext cx="7056783" cy="646331"/>
              </a:xfrm>
              <a:prstGeom prst="rect">
                <a:avLst/>
              </a:prstGeom>
              <a:noFill/>
            </p:spPr>
            <p:txBody>
              <a:bodyPr wrap="square" rtlCol="0">
                <a:spAutoFit/>
              </a:bodyPr>
              <a:lstStyle/>
              <a:p>
                <a:r>
                  <a:rPr lang="pt-BR" dirty="0"/>
                  <a:t>R.: Se </a:t>
                </a:r>
                <a14:m>
                  <m:oMath xmlns:m="http://schemas.openxmlformats.org/officeDocument/2006/math">
                    <m:r>
                      <a:rPr lang="pt-BR" i="1" dirty="0">
                        <a:latin typeface="Cambria Math"/>
                      </a:rPr>
                      <m:t>𝑆</m:t>
                    </m:r>
                  </m:oMath>
                </a14:m>
                <a:r>
                  <a:rPr lang="pt-BR" dirty="0"/>
                  <a:t> é um conjunto independente, então </a:t>
                </a:r>
                <a14:m>
                  <m:oMath xmlns:m="http://schemas.openxmlformats.org/officeDocument/2006/math">
                    <m:r>
                      <a:rPr lang="pt-BR" i="1" dirty="0">
                        <a:latin typeface="Cambria Math"/>
                      </a:rPr>
                      <m:t>𝑉</m:t>
                    </m:r>
                    <m:r>
                      <a:rPr lang="pt-BR" i="1" dirty="0">
                        <a:latin typeface="Cambria Math"/>
                      </a:rPr>
                      <m:t> − </m:t>
                    </m:r>
                    <m:r>
                      <a:rPr lang="pt-BR" i="1" dirty="0">
                        <a:latin typeface="Cambria Math"/>
                      </a:rPr>
                      <m:t>𝑆</m:t>
                    </m:r>
                  </m:oMath>
                </a14:m>
                <a:r>
                  <a:rPr lang="pt-BR" dirty="0"/>
                  <a:t> é uma cobertura de vértice.</a:t>
                </a:r>
              </a:p>
            </p:txBody>
          </p:sp>
        </mc:Choice>
        <mc:Fallback xmlns="">
          <p:sp>
            <p:nvSpPr>
              <p:cNvPr id="21" name="CaixaDeTexto 20"/>
              <p:cNvSpPr txBox="1">
                <a:spLocks noRot="1" noChangeAspect="1" noMove="1" noResize="1" noEditPoints="1" noAdjustHandles="1" noChangeArrowheads="1" noChangeShapeType="1" noTextEdit="1"/>
              </p:cNvSpPr>
              <p:nvPr/>
            </p:nvSpPr>
            <p:spPr>
              <a:xfrm>
                <a:off x="1187625" y="5877272"/>
                <a:ext cx="7056783" cy="646331"/>
              </a:xfrm>
              <a:prstGeom prst="rect">
                <a:avLst/>
              </a:prstGeom>
              <a:blipFill rotWithShape="1">
                <a:blip r:embed="rId3"/>
                <a:stretch>
                  <a:fillRect l="-778" t="-4717" b="-14151"/>
                </a:stretch>
              </a:blipFill>
            </p:spPr>
            <p:txBody>
              <a:bodyPr/>
              <a:lstStyle/>
              <a:p>
                <a:r>
                  <a:rPr lang="pt-BR">
                    <a:noFill/>
                  </a:rPr>
                  <a:t> </a:t>
                </a:r>
              </a:p>
            </p:txBody>
          </p:sp>
        </mc:Fallback>
      </mc:AlternateContent>
    </p:spTree>
    <p:extLst>
      <p:ext uri="{BB962C8B-B14F-4D97-AF65-F5344CB8AC3E}">
        <p14:creationId xmlns:p14="http://schemas.microsoft.com/office/powerpoint/2010/main" val="30404664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Cobertura de Arestas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400" dirty="0"/>
                  <a:t>Seja </a:t>
                </a:r>
                <a14:m>
                  <m:oMath xmlns:m="http://schemas.openxmlformats.org/officeDocument/2006/math">
                    <m:r>
                      <a:rPr lang="pt-BR" sz="2400" i="1" dirty="0">
                        <a:latin typeface="Cambria Math"/>
                      </a:rPr>
                      <m:t>𝐺</m:t>
                    </m:r>
                    <m:r>
                      <a:rPr lang="pt-BR" sz="2400" i="1" dirty="0">
                        <a:latin typeface="Cambria Math"/>
                      </a:rPr>
                      <m:t>=(</m:t>
                    </m:r>
                    <m:r>
                      <a:rPr lang="pt-BR" sz="2400" i="1" dirty="0">
                        <a:latin typeface="Cambria Math"/>
                      </a:rPr>
                      <m:t>𝑉</m:t>
                    </m:r>
                    <m:r>
                      <a:rPr lang="pt-BR" sz="2400" i="1" dirty="0">
                        <a:latin typeface="Cambria Math"/>
                      </a:rPr>
                      <m:t>, </m:t>
                    </m:r>
                    <m:r>
                      <a:rPr lang="pt-BR" sz="2400" i="1" dirty="0">
                        <a:latin typeface="Cambria Math"/>
                      </a:rPr>
                      <m:t>𝐸</m:t>
                    </m:r>
                    <m:r>
                      <a:rPr lang="pt-BR" sz="2400" i="1" dirty="0">
                        <a:latin typeface="Cambria Math"/>
                      </a:rPr>
                      <m:t>) </m:t>
                    </m:r>
                  </m:oMath>
                </a14:m>
                <a:r>
                  <a:rPr lang="pt-BR" sz="2400" dirty="0"/>
                  <a:t>um grafo.</a:t>
                </a:r>
              </a:p>
              <a:p>
                <a:r>
                  <a:rPr lang="pt-BR" sz="2400" dirty="0"/>
                  <a:t>Um subconjunto </a:t>
                </a:r>
                <a14:m>
                  <m:oMath xmlns:m="http://schemas.openxmlformats.org/officeDocument/2006/math">
                    <m:r>
                      <a:rPr lang="pt-BR" sz="2400" i="1">
                        <a:latin typeface="Cambria Math"/>
                      </a:rPr>
                      <m:t>𝐶</m:t>
                    </m:r>
                    <m:r>
                      <a:rPr lang="pt-BR" sz="2400" i="1">
                        <a:latin typeface="Cambria Math"/>
                        <a:ea typeface="Cambria Math"/>
                      </a:rPr>
                      <m:t>⊆</m:t>
                    </m:r>
                    <m:r>
                      <a:rPr lang="pt-BR" sz="2400" b="0" i="1" smtClean="0">
                        <a:latin typeface="Cambria Math"/>
                        <a:ea typeface="Cambria Math"/>
                      </a:rPr>
                      <m:t>𝐸</m:t>
                    </m:r>
                  </m:oMath>
                </a14:m>
                <a:r>
                  <a:rPr lang="pt-BR" sz="2400" dirty="0"/>
                  <a:t> é uma cobertura de arestas se todo </a:t>
                </a:r>
                <a14:m>
                  <m:oMath xmlns:m="http://schemas.openxmlformats.org/officeDocument/2006/math">
                    <m:r>
                      <a:rPr lang="pt-BR" sz="2400" i="1">
                        <a:latin typeface="Cambria Math"/>
                        <a:ea typeface="Cambria Math"/>
                      </a:rPr>
                      <m:t>𝑣</m:t>
                    </m:r>
                    <m:r>
                      <a:rPr lang="pt-BR" sz="2400" i="1">
                        <a:latin typeface="Cambria Math"/>
                        <a:ea typeface="Cambria Math"/>
                      </a:rPr>
                      <m:t>∈</m:t>
                    </m:r>
                    <m:r>
                      <a:rPr lang="pt-BR" sz="2400" b="0" i="1" smtClean="0">
                        <a:latin typeface="Cambria Math"/>
                      </a:rPr>
                      <m:t>𝑉</m:t>
                    </m:r>
                  </m:oMath>
                </a14:m>
                <a:r>
                  <a:rPr lang="pt-BR" sz="2400" dirty="0"/>
                  <a:t> for extremidade de alguma aresta </a:t>
                </a:r>
                <a14:m>
                  <m:oMath xmlns:m="http://schemas.openxmlformats.org/officeDocument/2006/math">
                    <m:r>
                      <a:rPr lang="pt-BR" sz="2400" b="0" i="1" smtClean="0">
                        <a:latin typeface="Cambria Math"/>
                      </a:rPr>
                      <m:t>𝑒</m:t>
                    </m:r>
                    <m:r>
                      <a:rPr lang="pt-BR" sz="2400" i="1">
                        <a:latin typeface="Cambria Math"/>
                      </a:rPr>
                      <m:t>∈</m:t>
                    </m:r>
                    <m:r>
                      <a:rPr lang="pt-BR" sz="2400" i="1">
                        <a:latin typeface="Cambria Math"/>
                      </a:rPr>
                      <m:t>𝐶</m:t>
                    </m:r>
                  </m:oMath>
                </a14:m>
                <a:r>
                  <a:rPr lang="pt-BR" sz="2400" dirty="0"/>
                  <a:t>.</a:t>
                </a:r>
              </a:p>
              <a:p>
                <a:pPr lvl="1"/>
                <a:r>
                  <a:rPr lang="pt-BR" sz="2000" dirty="0"/>
                  <a:t>É o </a:t>
                </a:r>
                <a:r>
                  <a:rPr lang="pt-BR" sz="2000" b="1" dirty="0"/>
                  <a:t>menor</a:t>
                </a:r>
                <a:r>
                  <a:rPr lang="pt-BR" sz="2000" dirty="0"/>
                  <a:t> conjunto de arestas incidente a todas os vértices.</a:t>
                </a:r>
              </a:p>
              <a:p>
                <a:pPr lvl="1"/>
                <a:r>
                  <a:rPr lang="pt-BR" sz="2000" dirty="0"/>
                  <a:t>Determinar a menor cobertura de arestas de um grafo é um problema polinomial.</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1">
                <a:blip r:embed="rId2"/>
                <a:stretch>
                  <a:fillRect l="-963" t="-1078" r="-444"/>
                </a:stretch>
              </a:blipFill>
            </p:spPr>
            <p:txBody>
              <a:bodyPr/>
              <a:lstStyle/>
              <a:p>
                <a:r>
                  <a:rPr lang="pt-BR">
                    <a:noFill/>
                  </a:rPr>
                  <a:t> </a:t>
                </a:r>
              </a:p>
            </p:txBody>
          </p:sp>
        </mc:Fallback>
      </mc:AlternateContent>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776" y="4077072"/>
            <a:ext cx="3528392" cy="1832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92932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Policiamento de Ruas</a:t>
            </a:r>
          </a:p>
        </p:txBody>
      </p:sp>
      <p:sp>
        <p:nvSpPr>
          <p:cNvPr id="3" name="Espaço Reservado para Conteúdo 2"/>
          <p:cNvSpPr>
            <a:spLocks noGrp="1"/>
          </p:cNvSpPr>
          <p:nvPr>
            <p:ph idx="1"/>
          </p:nvPr>
        </p:nvSpPr>
        <p:spPr/>
        <p:txBody>
          <a:bodyPr>
            <a:normAutofit/>
          </a:bodyPr>
          <a:lstStyle/>
          <a:p>
            <a:r>
              <a:rPr lang="pt-BR" sz="2400" dirty="0"/>
              <a:t>Dado um conjunto de ruas de um bairro, quais esquinas deverão receber postos de vigilância de modo que todos os quarteirões recebam um posto em pelo menos uma de suas esquinas?</a:t>
            </a:r>
          </a:p>
          <a:p>
            <a:r>
              <a:rPr lang="pt-BR" sz="2400" dirty="0"/>
              <a:t>Em quais ruas devemos posicionar vigias de modo que as esquinas sejam sempre vigiadas?</a:t>
            </a:r>
          </a:p>
        </p:txBody>
      </p:sp>
      <p:sp>
        <p:nvSpPr>
          <p:cNvPr id="4" name="Elipse 3"/>
          <p:cNvSpPr/>
          <p:nvPr/>
        </p:nvSpPr>
        <p:spPr>
          <a:xfrm>
            <a:off x="2915816"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3779912"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4644008"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5580112"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2915816"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3779912"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4644008"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5580112"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2915816"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Elipse 12"/>
          <p:cNvSpPr/>
          <p:nvPr/>
        </p:nvSpPr>
        <p:spPr>
          <a:xfrm>
            <a:off x="3779912"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Elipse 13"/>
          <p:cNvSpPr/>
          <p:nvPr/>
        </p:nvSpPr>
        <p:spPr>
          <a:xfrm>
            <a:off x="4644008"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Elipse 14"/>
          <p:cNvSpPr/>
          <p:nvPr/>
        </p:nvSpPr>
        <p:spPr>
          <a:xfrm>
            <a:off x="5580112"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reto 16"/>
          <p:cNvCxnSpPr>
            <a:stCxn id="4" idx="6"/>
            <a:endCxn id="5" idx="2"/>
          </p:cNvCxnSpPr>
          <p:nvPr/>
        </p:nvCxnSpPr>
        <p:spPr>
          <a:xfrm>
            <a:off x="3059832" y="458112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6" idx="6"/>
            <a:endCxn id="7" idx="2"/>
          </p:cNvCxnSpPr>
          <p:nvPr/>
        </p:nvCxnSpPr>
        <p:spPr>
          <a:xfrm>
            <a:off x="4788024" y="458112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ector reto 22"/>
          <p:cNvCxnSpPr>
            <a:stCxn id="4" idx="4"/>
            <a:endCxn id="8" idx="0"/>
          </p:cNvCxnSpPr>
          <p:nvPr/>
        </p:nvCxnSpPr>
        <p:spPr>
          <a:xfrm>
            <a:off x="2987824"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ector reto 26"/>
          <p:cNvCxnSpPr>
            <a:stCxn id="12" idx="6"/>
            <a:endCxn id="13" idx="2"/>
          </p:cNvCxnSpPr>
          <p:nvPr/>
        </p:nvCxnSpPr>
        <p:spPr>
          <a:xfrm>
            <a:off x="3059832" y="602128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13" idx="6"/>
            <a:endCxn id="14" idx="2"/>
          </p:cNvCxnSpPr>
          <p:nvPr/>
        </p:nvCxnSpPr>
        <p:spPr>
          <a:xfrm>
            <a:off x="3923928" y="602128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11" idx="4"/>
            <a:endCxn id="15" idx="0"/>
          </p:cNvCxnSpPr>
          <p:nvPr/>
        </p:nvCxnSpPr>
        <p:spPr>
          <a:xfrm>
            <a:off x="5652120"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8" idx="6"/>
            <a:endCxn id="9" idx="2"/>
          </p:cNvCxnSpPr>
          <p:nvPr/>
        </p:nvCxnSpPr>
        <p:spPr>
          <a:xfrm>
            <a:off x="3059832" y="530120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9" idx="6"/>
            <a:endCxn id="10" idx="2"/>
          </p:cNvCxnSpPr>
          <p:nvPr/>
        </p:nvCxnSpPr>
        <p:spPr>
          <a:xfrm>
            <a:off x="3923928" y="530120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ector reto 40"/>
          <p:cNvCxnSpPr>
            <a:stCxn id="10" idx="6"/>
            <a:endCxn id="11" idx="2"/>
          </p:cNvCxnSpPr>
          <p:nvPr/>
        </p:nvCxnSpPr>
        <p:spPr>
          <a:xfrm>
            <a:off x="4788024" y="530120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ector reto 42"/>
          <p:cNvCxnSpPr>
            <a:stCxn id="5" idx="4"/>
            <a:endCxn id="9" idx="0"/>
          </p:cNvCxnSpPr>
          <p:nvPr/>
        </p:nvCxnSpPr>
        <p:spPr>
          <a:xfrm>
            <a:off x="3851920"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ector reto 44"/>
          <p:cNvCxnSpPr>
            <a:stCxn id="6" idx="4"/>
            <a:endCxn id="10" idx="0"/>
          </p:cNvCxnSpPr>
          <p:nvPr/>
        </p:nvCxnSpPr>
        <p:spPr>
          <a:xfrm>
            <a:off x="4716016"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Conector reto 46"/>
          <p:cNvCxnSpPr>
            <a:stCxn id="9" idx="4"/>
            <a:endCxn id="13" idx="0"/>
          </p:cNvCxnSpPr>
          <p:nvPr/>
        </p:nvCxnSpPr>
        <p:spPr>
          <a:xfrm>
            <a:off x="3851920"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0" idx="4"/>
            <a:endCxn id="14" idx="0"/>
          </p:cNvCxnSpPr>
          <p:nvPr/>
        </p:nvCxnSpPr>
        <p:spPr>
          <a:xfrm>
            <a:off x="4716016"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8" idx="5"/>
            <a:endCxn id="13" idx="1"/>
          </p:cNvCxnSpPr>
          <p:nvPr/>
        </p:nvCxnSpPr>
        <p:spPr>
          <a:xfrm>
            <a:off x="3038741" y="5352125"/>
            <a:ext cx="762262"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ector reto 56"/>
          <p:cNvCxnSpPr>
            <a:stCxn id="9" idx="7"/>
            <a:endCxn id="7" idx="3"/>
          </p:cNvCxnSpPr>
          <p:nvPr/>
        </p:nvCxnSpPr>
        <p:spPr>
          <a:xfrm flipV="1">
            <a:off x="3902837" y="4632045"/>
            <a:ext cx="1698366"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ector reto 58"/>
          <p:cNvCxnSpPr>
            <a:stCxn id="14" idx="7"/>
            <a:endCxn id="11" idx="3"/>
          </p:cNvCxnSpPr>
          <p:nvPr/>
        </p:nvCxnSpPr>
        <p:spPr>
          <a:xfrm flipV="1">
            <a:off x="4766933" y="5352125"/>
            <a:ext cx="834270"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Conector reto 60"/>
          <p:cNvCxnSpPr>
            <a:stCxn id="5" idx="6"/>
            <a:endCxn id="6" idx="2"/>
          </p:cNvCxnSpPr>
          <p:nvPr/>
        </p:nvCxnSpPr>
        <p:spPr>
          <a:xfrm>
            <a:off x="3923928" y="458112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Conector reto 62"/>
          <p:cNvCxnSpPr>
            <a:stCxn id="8" idx="4"/>
            <a:endCxn id="12" idx="0"/>
          </p:cNvCxnSpPr>
          <p:nvPr/>
        </p:nvCxnSpPr>
        <p:spPr>
          <a:xfrm>
            <a:off x="2987824"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Conector reto 64"/>
          <p:cNvCxnSpPr>
            <a:stCxn id="14" idx="6"/>
            <a:endCxn id="15" idx="2"/>
          </p:cNvCxnSpPr>
          <p:nvPr/>
        </p:nvCxnSpPr>
        <p:spPr>
          <a:xfrm>
            <a:off x="4788024" y="602128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ector reto 66"/>
          <p:cNvCxnSpPr>
            <a:stCxn id="7" idx="4"/>
            <a:endCxn id="11" idx="0"/>
          </p:cNvCxnSpPr>
          <p:nvPr/>
        </p:nvCxnSpPr>
        <p:spPr>
          <a:xfrm>
            <a:off x="5652120"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Conector reto 68"/>
          <p:cNvCxnSpPr>
            <a:stCxn id="13" idx="7"/>
            <a:endCxn id="10" idx="3"/>
          </p:cNvCxnSpPr>
          <p:nvPr/>
        </p:nvCxnSpPr>
        <p:spPr>
          <a:xfrm flipV="1">
            <a:off x="3902837" y="5352125"/>
            <a:ext cx="762262"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Conector reto 70"/>
          <p:cNvCxnSpPr>
            <a:stCxn id="4" idx="5"/>
            <a:endCxn id="9" idx="1"/>
          </p:cNvCxnSpPr>
          <p:nvPr/>
        </p:nvCxnSpPr>
        <p:spPr>
          <a:xfrm>
            <a:off x="3038741" y="4632045"/>
            <a:ext cx="762262" cy="61824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7498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Policiamento de Ruas</a:t>
            </a:r>
          </a:p>
        </p:txBody>
      </p:sp>
      <p:sp>
        <p:nvSpPr>
          <p:cNvPr id="3" name="Espaço Reservado para Conteúdo 2"/>
          <p:cNvSpPr>
            <a:spLocks noGrp="1"/>
          </p:cNvSpPr>
          <p:nvPr>
            <p:ph idx="1"/>
          </p:nvPr>
        </p:nvSpPr>
        <p:spPr/>
        <p:txBody>
          <a:bodyPr>
            <a:normAutofit/>
          </a:bodyPr>
          <a:lstStyle/>
          <a:p>
            <a:r>
              <a:rPr lang="pt-BR" sz="2400" dirty="0"/>
              <a:t>Dado um conjunto de ruas de um bairro, quais esquinas deverão receber postos de vigilância de modo que todos os quarteirões recebam um posto em pelo menos uma de suas esquinas?</a:t>
            </a:r>
          </a:p>
          <a:p>
            <a:r>
              <a:rPr lang="pt-BR" sz="2400" dirty="0"/>
              <a:t>Em quais ruas devemos posicionar vigias de modo que as esquinas sejam sempre vigiadas?</a:t>
            </a:r>
          </a:p>
        </p:txBody>
      </p:sp>
      <p:sp>
        <p:nvSpPr>
          <p:cNvPr id="4" name="Elipse 3"/>
          <p:cNvSpPr/>
          <p:nvPr/>
        </p:nvSpPr>
        <p:spPr>
          <a:xfrm>
            <a:off x="2915816"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3779912"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4644008"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5580112" y="450912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2915816"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3779912"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4644008"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5580112" y="522920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2915816"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Elipse 12"/>
          <p:cNvSpPr/>
          <p:nvPr/>
        </p:nvSpPr>
        <p:spPr>
          <a:xfrm>
            <a:off x="3779912"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Elipse 13"/>
          <p:cNvSpPr/>
          <p:nvPr/>
        </p:nvSpPr>
        <p:spPr>
          <a:xfrm>
            <a:off x="4644008"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Elipse 14"/>
          <p:cNvSpPr/>
          <p:nvPr/>
        </p:nvSpPr>
        <p:spPr>
          <a:xfrm>
            <a:off x="5580112" y="59492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 name="Conector reto 16"/>
          <p:cNvCxnSpPr>
            <a:stCxn id="4" idx="6"/>
            <a:endCxn id="5" idx="2"/>
          </p:cNvCxnSpPr>
          <p:nvPr/>
        </p:nvCxnSpPr>
        <p:spPr>
          <a:xfrm>
            <a:off x="3059832" y="458112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5" idx="6"/>
            <a:endCxn id="6" idx="2"/>
          </p:cNvCxnSpPr>
          <p:nvPr/>
        </p:nvCxnSpPr>
        <p:spPr>
          <a:xfrm>
            <a:off x="3923928" y="4581128"/>
            <a:ext cx="72008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6" idx="6"/>
            <a:endCxn id="7" idx="2"/>
          </p:cNvCxnSpPr>
          <p:nvPr/>
        </p:nvCxnSpPr>
        <p:spPr>
          <a:xfrm>
            <a:off x="4788024" y="458112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ector reto 22"/>
          <p:cNvCxnSpPr>
            <a:stCxn id="4" idx="4"/>
            <a:endCxn id="8" idx="0"/>
          </p:cNvCxnSpPr>
          <p:nvPr/>
        </p:nvCxnSpPr>
        <p:spPr>
          <a:xfrm>
            <a:off x="2987824"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Conector reto 24"/>
          <p:cNvCxnSpPr>
            <a:stCxn id="8" idx="4"/>
            <a:endCxn id="12" idx="0"/>
          </p:cNvCxnSpPr>
          <p:nvPr/>
        </p:nvCxnSpPr>
        <p:spPr>
          <a:xfrm>
            <a:off x="2987824" y="5373216"/>
            <a:ext cx="0" cy="57606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Conector reto 26"/>
          <p:cNvCxnSpPr>
            <a:stCxn id="12" idx="6"/>
            <a:endCxn id="13" idx="2"/>
          </p:cNvCxnSpPr>
          <p:nvPr/>
        </p:nvCxnSpPr>
        <p:spPr>
          <a:xfrm>
            <a:off x="3059832" y="602128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Conector reto 28"/>
          <p:cNvCxnSpPr>
            <a:stCxn id="13" idx="6"/>
            <a:endCxn id="14" idx="2"/>
          </p:cNvCxnSpPr>
          <p:nvPr/>
        </p:nvCxnSpPr>
        <p:spPr>
          <a:xfrm>
            <a:off x="3923928" y="602128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Conector reto 30"/>
          <p:cNvCxnSpPr>
            <a:stCxn id="14" idx="6"/>
            <a:endCxn id="15" idx="2"/>
          </p:cNvCxnSpPr>
          <p:nvPr/>
        </p:nvCxnSpPr>
        <p:spPr>
          <a:xfrm>
            <a:off x="4788024" y="6021288"/>
            <a:ext cx="79208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11" idx="4"/>
            <a:endCxn id="15" idx="0"/>
          </p:cNvCxnSpPr>
          <p:nvPr/>
        </p:nvCxnSpPr>
        <p:spPr>
          <a:xfrm>
            <a:off x="5652120"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7" idx="4"/>
            <a:endCxn id="11" idx="0"/>
          </p:cNvCxnSpPr>
          <p:nvPr/>
        </p:nvCxnSpPr>
        <p:spPr>
          <a:xfrm>
            <a:off x="5652120" y="4653136"/>
            <a:ext cx="0" cy="57606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8" idx="6"/>
            <a:endCxn id="9" idx="2"/>
          </p:cNvCxnSpPr>
          <p:nvPr/>
        </p:nvCxnSpPr>
        <p:spPr>
          <a:xfrm>
            <a:off x="3059832" y="530120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9" idx="6"/>
            <a:endCxn id="10" idx="2"/>
          </p:cNvCxnSpPr>
          <p:nvPr/>
        </p:nvCxnSpPr>
        <p:spPr>
          <a:xfrm>
            <a:off x="3923928" y="5301208"/>
            <a:ext cx="7200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ector reto 40"/>
          <p:cNvCxnSpPr>
            <a:stCxn id="10" idx="6"/>
            <a:endCxn id="11" idx="2"/>
          </p:cNvCxnSpPr>
          <p:nvPr/>
        </p:nvCxnSpPr>
        <p:spPr>
          <a:xfrm>
            <a:off x="4788024" y="5301208"/>
            <a:ext cx="7920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ector reto 42"/>
          <p:cNvCxnSpPr>
            <a:stCxn id="5" idx="4"/>
            <a:endCxn id="9" idx="0"/>
          </p:cNvCxnSpPr>
          <p:nvPr/>
        </p:nvCxnSpPr>
        <p:spPr>
          <a:xfrm>
            <a:off x="3851920"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Conector reto 44"/>
          <p:cNvCxnSpPr>
            <a:stCxn id="6" idx="4"/>
            <a:endCxn id="10" idx="0"/>
          </p:cNvCxnSpPr>
          <p:nvPr/>
        </p:nvCxnSpPr>
        <p:spPr>
          <a:xfrm>
            <a:off x="4716016" y="465313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Conector reto 46"/>
          <p:cNvCxnSpPr>
            <a:stCxn id="9" idx="4"/>
            <a:endCxn id="13" idx="0"/>
          </p:cNvCxnSpPr>
          <p:nvPr/>
        </p:nvCxnSpPr>
        <p:spPr>
          <a:xfrm>
            <a:off x="3851920"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0" idx="4"/>
            <a:endCxn id="14" idx="0"/>
          </p:cNvCxnSpPr>
          <p:nvPr/>
        </p:nvCxnSpPr>
        <p:spPr>
          <a:xfrm>
            <a:off x="4716016" y="5373216"/>
            <a:ext cx="0" cy="5760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4" idx="5"/>
            <a:endCxn id="9" idx="1"/>
          </p:cNvCxnSpPr>
          <p:nvPr/>
        </p:nvCxnSpPr>
        <p:spPr>
          <a:xfrm>
            <a:off x="3038741" y="4632045"/>
            <a:ext cx="762262" cy="61824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8" idx="5"/>
            <a:endCxn id="13" idx="1"/>
          </p:cNvCxnSpPr>
          <p:nvPr/>
        </p:nvCxnSpPr>
        <p:spPr>
          <a:xfrm>
            <a:off x="3038741" y="5352125"/>
            <a:ext cx="762262"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ector reto 54"/>
          <p:cNvCxnSpPr>
            <a:stCxn id="13" idx="7"/>
            <a:endCxn id="10" idx="3"/>
          </p:cNvCxnSpPr>
          <p:nvPr/>
        </p:nvCxnSpPr>
        <p:spPr>
          <a:xfrm flipV="1">
            <a:off x="3902837" y="5352125"/>
            <a:ext cx="762262" cy="61824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Conector reto 56"/>
          <p:cNvCxnSpPr>
            <a:stCxn id="9" idx="7"/>
            <a:endCxn id="7" idx="3"/>
          </p:cNvCxnSpPr>
          <p:nvPr/>
        </p:nvCxnSpPr>
        <p:spPr>
          <a:xfrm flipV="1">
            <a:off x="3902837" y="4632045"/>
            <a:ext cx="1698366" cy="618246"/>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ector reto 58"/>
          <p:cNvCxnSpPr>
            <a:stCxn id="14" idx="7"/>
            <a:endCxn id="11" idx="3"/>
          </p:cNvCxnSpPr>
          <p:nvPr/>
        </p:nvCxnSpPr>
        <p:spPr>
          <a:xfrm flipV="1">
            <a:off x="4766933" y="5352125"/>
            <a:ext cx="834270" cy="61824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95445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das 8 rainhas (n-rainhas)</a:t>
            </a:r>
          </a:p>
        </p:txBody>
      </p:sp>
      <p:sp>
        <p:nvSpPr>
          <p:cNvPr id="6" name="Retângulo 5"/>
          <p:cNvSpPr/>
          <p:nvPr/>
        </p:nvSpPr>
        <p:spPr>
          <a:xfrm>
            <a:off x="1990485" y="1717666"/>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p:cNvSpPr/>
          <p:nvPr/>
        </p:nvSpPr>
        <p:spPr>
          <a:xfrm>
            <a:off x="2638557" y="1717666"/>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Retângulo 7"/>
          <p:cNvSpPr/>
          <p:nvPr/>
        </p:nvSpPr>
        <p:spPr>
          <a:xfrm>
            <a:off x="3923928" y="1717666"/>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p:cNvSpPr/>
          <p:nvPr/>
        </p:nvSpPr>
        <p:spPr>
          <a:xfrm>
            <a:off x="3279214" y="1717666"/>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p:cNvSpPr/>
          <p:nvPr/>
        </p:nvSpPr>
        <p:spPr>
          <a:xfrm>
            <a:off x="1990485" y="2293730"/>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p:cNvSpPr/>
          <p:nvPr/>
        </p:nvSpPr>
        <p:spPr>
          <a:xfrm>
            <a:off x="2638557" y="2293730"/>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Retângulo 11"/>
          <p:cNvSpPr/>
          <p:nvPr/>
        </p:nvSpPr>
        <p:spPr>
          <a:xfrm>
            <a:off x="3923928" y="2293730"/>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p:cNvSpPr/>
          <p:nvPr/>
        </p:nvSpPr>
        <p:spPr>
          <a:xfrm>
            <a:off x="3279214" y="2293730"/>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p:cNvSpPr/>
          <p:nvPr/>
        </p:nvSpPr>
        <p:spPr>
          <a:xfrm>
            <a:off x="1990485" y="2878263"/>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p:cNvSpPr/>
          <p:nvPr/>
        </p:nvSpPr>
        <p:spPr>
          <a:xfrm>
            <a:off x="2638557" y="2878263"/>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p:cNvSpPr/>
          <p:nvPr/>
        </p:nvSpPr>
        <p:spPr>
          <a:xfrm>
            <a:off x="3923928" y="2878263"/>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p:cNvSpPr/>
          <p:nvPr/>
        </p:nvSpPr>
        <p:spPr>
          <a:xfrm>
            <a:off x="3279214" y="2878263"/>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p:cNvSpPr/>
          <p:nvPr/>
        </p:nvSpPr>
        <p:spPr>
          <a:xfrm>
            <a:off x="1990485" y="3454327"/>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p:cNvSpPr/>
          <p:nvPr/>
        </p:nvSpPr>
        <p:spPr>
          <a:xfrm>
            <a:off x="2638557" y="3454327"/>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Retângulo 19"/>
          <p:cNvSpPr/>
          <p:nvPr/>
        </p:nvSpPr>
        <p:spPr>
          <a:xfrm>
            <a:off x="3923928" y="3454327"/>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tângulo 20"/>
          <p:cNvSpPr/>
          <p:nvPr/>
        </p:nvSpPr>
        <p:spPr>
          <a:xfrm>
            <a:off x="3279214" y="3454327"/>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25"/>
          <p:cNvSpPr/>
          <p:nvPr/>
        </p:nvSpPr>
        <p:spPr>
          <a:xfrm>
            <a:off x="4572000" y="1717666"/>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Retângulo 26"/>
          <p:cNvSpPr/>
          <p:nvPr/>
        </p:nvSpPr>
        <p:spPr>
          <a:xfrm>
            <a:off x="5220072" y="1717666"/>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p:cNvSpPr/>
          <p:nvPr/>
        </p:nvSpPr>
        <p:spPr>
          <a:xfrm>
            <a:off x="6505443" y="1717666"/>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Retângulo 28"/>
          <p:cNvSpPr/>
          <p:nvPr/>
        </p:nvSpPr>
        <p:spPr>
          <a:xfrm>
            <a:off x="5860729" y="1717666"/>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Retângulo 29"/>
          <p:cNvSpPr/>
          <p:nvPr/>
        </p:nvSpPr>
        <p:spPr>
          <a:xfrm>
            <a:off x="4572000" y="2293730"/>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Retângulo 30"/>
          <p:cNvSpPr/>
          <p:nvPr/>
        </p:nvSpPr>
        <p:spPr>
          <a:xfrm>
            <a:off x="5220072" y="2293730"/>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tângulo 31"/>
          <p:cNvSpPr/>
          <p:nvPr/>
        </p:nvSpPr>
        <p:spPr>
          <a:xfrm>
            <a:off x="6505443" y="2293730"/>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Retângulo 32"/>
          <p:cNvSpPr/>
          <p:nvPr/>
        </p:nvSpPr>
        <p:spPr>
          <a:xfrm>
            <a:off x="5860729" y="2293730"/>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Retângulo 33"/>
          <p:cNvSpPr/>
          <p:nvPr/>
        </p:nvSpPr>
        <p:spPr>
          <a:xfrm>
            <a:off x="4572000" y="2878263"/>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Retângulo 34"/>
          <p:cNvSpPr/>
          <p:nvPr/>
        </p:nvSpPr>
        <p:spPr>
          <a:xfrm>
            <a:off x="5220072" y="2878263"/>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Retângulo 35"/>
          <p:cNvSpPr/>
          <p:nvPr/>
        </p:nvSpPr>
        <p:spPr>
          <a:xfrm>
            <a:off x="6505443" y="2878263"/>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Retângulo 36"/>
          <p:cNvSpPr/>
          <p:nvPr/>
        </p:nvSpPr>
        <p:spPr>
          <a:xfrm>
            <a:off x="5860729" y="2878263"/>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Retângulo 37"/>
          <p:cNvSpPr/>
          <p:nvPr/>
        </p:nvSpPr>
        <p:spPr>
          <a:xfrm>
            <a:off x="4572000" y="3454327"/>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Retângulo 38"/>
          <p:cNvSpPr/>
          <p:nvPr/>
        </p:nvSpPr>
        <p:spPr>
          <a:xfrm>
            <a:off x="5220072" y="3454327"/>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Retângulo 39"/>
          <p:cNvSpPr/>
          <p:nvPr/>
        </p:nvSpPr>
        <p:spPr>
          <a:xfrm>
            <a:off x="6505443" y="3454327"/>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Retângulo 40"/>
          <p:cNvSpPr/>
          <p:nvPr/>
        </p:nvSpPr>
        <p:spPr>
          <a:xfrm>
            <a:off x="5860729" y="3454327"/>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Retângulo 41"/>
          <p:cNvSpPr/>
          <p:nvPr/>
        </p:nvSpPr>
        <p:spPr>
          <a:xfrm>
            <a:off x="1990485" y="4030391"/>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Retângulo 42"/>
          <p:cNvSpPr/>
          <p:nvPr/>
        </p:nvSpPr>
        <p:spPr>
          <a:xfrm>
            <a:off x="2638557" y="4030391"/>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Retângulo 43"/>
          <p:cNvSpPr/>
          <p:nvPr/>
        </p:nvSpPr>
        <p:spPr>
          <a:xfrm>
            <a:off x="3923928" y="4030391"/>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Retângulo 44"/>
          <p:cNvSpPr/>
          <p:nvPr/>
        </p:nvSpPr>
        <p:spPr>
          <a:xfrm>
            <a:off x="3279214" y="4030391"/>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Retângulo 45"/>
          <p:cNvSpPr/>
          <p:nvPr/>
        </p:nvSpPr>
        <p:spPr>
          <a:xfrm>
            <a:off x="1990485" y="4606455"/>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Retângulo 46"/>
          <p:cNvSpPr/>
          <p:nvPr/>
        </p:nvSpPr>
        <p:spPr>
          <a:xfrm>
            <a:off x="2638557" y="4606455"/>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Retângulo 47"/>
          <p:cNvSpPr/>
          <p:nvPr/>
        </p:nvSpPr>
        <p:spPr>
          <a:xfrm>
            <a:off x="3923928" y="4606455"/>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9" name="Retângulo 48"/>
          <p:cNvSpPr/>
          <p:nvPr/>
        </p:nvSpPr>
        <p:spPr>
          <a:xfrm>
            <a:off x="3279214" y="4606455"/>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0" name="Retângulo 49"/>
          <p:cNvSpPr/>
          <p:nvPr/>
        </p:nvSpPr>
        <p:spPr>
          <a:xfrm>
            <a:off x="1990485" y="5190988"/>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1" name="Retângulo 50"/>
          <p:cNvSpPr/>
          <p:nvPr/>
        </p:nvSpPr>
        <p:spPr>
          <a:xfrm>
            <a:off x="2638557" y="5190988"/>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Retângulo 51"/>
          <p:cNvSpPr/>
          <p:nvPr/>
        </p:nvSpPr>
        <p:spPr>
          <a:xfrm>
            <a:off x="3923928" y="5190988"/>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 name="Retângulo 52"/>
          <p:cNvSpPr/>
          <p:nvPr/>
        </p:nvSpPr>
        <p:spPr>
          <a:xfrm>
            <a:off x="3279214" y="5190988"/>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Retângulo 53"/>
          <p:cNvSpPr/>
          <p:nvPr/>
        </p:nvSpPr>
        <p:spPr>
          <a:xfrm>
            <a:off x="1990485" y="5767052"/>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Retângulo 54"/>
          <p:cNvSpPr/>
          <p:nvPr/>
        </p:nvSpPr>
        <p:spPr>
          <a:xfrm>
            <a:off x="2638557" y="5767052"/>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Retângulo 55"/>
          <p:cNvSpPr/>
          <p:nvPr/>
        </p:nvSpPr>
        <p:spPr>
          <a:xfrm>
            <a:off x="3923928" y="5767052"/>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 name="Retângulo 56"/>
          <p:cNvSpPr/>
          <p:nvPr/>
        </p:nvSpPr>
        <p:spPr>
          <a:xfrm>
            <a:off x="3279214" y="5767052"/>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Retângulo 57"/>
          <p:cNvSpPr/>
          <p:nvPr/>
        </p:nvSpPr>
        <p:spPr>
          <a:xfrm>
            <a:off x="4572000" y="4030391"/>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9" name="Retângulo 58"/>
          <p:cNvSpPr/>
          <p:nvPr/>
        </p:nvSpPr>
        <p:spPr>
          <a:xfrm>
            <a:off x="5220072" y="4030391"/>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Retângulo 59"/>
          <p:cNvSpPr/>
          <p:nvPr/>
        </p:nvSpPr>
        <p:spPr>
          <a:xfrm>
            <a:off x="6505443" y="4030391"/>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 name="Retângulo 60"/>
          <p:cNvSpPr/>
          <p:nvPr/>
        </p:nvSpPr>
        <p:spPr>
          <a:xfrm>
            <a:off x="5860729" y="4030391"/>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 name="Retângulo 61"/>
          <p:cNvSpPr/>
          <p:nvPr/>
        </p:nvSpPr>
        <p:spPr>
          <a:xfrm>
            <a:off x="4572000" y="4606455"/>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3" name="Retângulo 62"/>
          <p:cNvSpPr/>
          <p:nvPr/>
        </p:nvSpPr>
        <p:spPr>
          <a:xfrm>
            <a:off x="5220072" y="4606455"/>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Retângulo 63"/>
          <p:cNvSpPr/>
          <p:nvPr/>
        </p:nvSpPr>
        <p:spPr>
          <a:xfrm>
            <a:off x="6505443" y="4606455"/>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5" name="Retângulo 64"/>
          <p:cNvSpPr/>
          <p:nvPr/>
        </p:nvSpPr>
        <p:spPr>
          <a:xfrm>
            <a:off x="5860729" y="4606455"/>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6" name="Retângulo 65"/>
          <p:cNvSpPr/>
          <p:nvPr/>
        </p:nvSpPr>
        <p:spPr>
          <a:xfrm>
            <a:off x="4572000" y="5190988"/>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7" name="Retângulo 66"/>
          <p:cNvSpPr/>
          <p:nvPr/>
        </p:nvSpPr>
        <p:spPr>
          <a:xfrm>
            <a:off x="5220072" y="5190988"/>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8" name="Retângulo 67"/>
          <p:cNvSpPr/>
          <p:nvPr/>
        </p:nvSpPr>
        <p:spPr>
          <a:xfrm>
            <a:off x="6505443" y="5190988"/>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9" name="Retângulo 68"/>
          <p:cNvSpPr/>
          <p:nvPr/>
        </p:nvSpPr>
        <p:spPr>
          <a:xfrm>
            <a:off x="5860729" y="5190988"/>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0" name="Retângulo 69"/>
          <p:cNvSpPr/>
          <p:nvPr/>
        </p:nvSpPr>
        <p:spPr>
          <a:xfrm>
            <a:off x="4572000" y="5767052"/>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Retângulo 70"/>
          <p:cNvSpPr/>
          <p:nvPr/>
        </p:nvSpPr>
        <p:spPr>
          <a:xfrm>
            <a:off x="5220072" y="5767052"/>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2" name="Retângulo 71"/>
          <p:cNvSpPr/>
          <p:nvPr/>
        </p:nvSpPr>
        <p:spPr>
          <a:xfrm>
            <a:off x="6505443" y="5767052"/>
            <a:ext cx="648072" cy="57606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3" name="Retângulo 72"/>
          <p:cNvSpPr/>
          <p:nvPr/>
        </p:nvSpPr>
        <p:spPr>
          <a:xfrm>
            <a:off x="5860729" y="5767052"/>
            <a:ext cx="648072" cy="57606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156916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das 8 rainhas (n-rainhas)</a:t>
            </a:r>
          </a:p>
        </p:txBody>
      </p:sp>
      <p:sp>
        <p:nvSpPr>
          <p:cNvPr id="3" name="Espaço Reservado para Conteúdo 2"/>
          <p:cNvSpPr>
            <a:spLocks noGrp="1"/>
          </p:cNvSpPr>
          <p:nvPr>
            <p:ph idx="1"/>
          </p:nvPr>
        </p:nvSpPr>
        <p:spPr/>
        <p:txBody>
          <a:bodyPr/>
          <a:lstStyle/>
          <a:p>
            <a:r>
              <a:rPr lang="pt-BR" dirty="0"/>
              <a:t>Como dispor as 8 rainhas em um tabuleiro 8x8 de forma que nenhuma rainha capture a outra? </a:t>
            </a:r>
          </a:p>
        </p:txBody>
      </p:sp>
      <p:pic>
        <p:nvPicPr>
          <p:cNvPr id="4" name="Imagem 3"/>
          <p:cNvPicPr>
            <a:picLocks noChangeAspect="1"/>
          </p:cNvPicPr>
          <p:nvPr/>
        </p:nvPicPr>
        <p:blipFill>
          <a:blip r:embed="rId2"/>
          <a:stretch>
            <a:fillRect/>
          </a:stretch>
        </p:blipFill>
        <p:spPr>
          <a:xfrm>
            <a:off x="4860032" y="2849227"/>
            <a:ext cx="3096344" cy="3351868"/>
          </a:xfrm>
          <a:prstGeom prst="rect">
            <a:avLst/>
          </a:prstGeom>
        </p:spPr>
      </p:pic>
      <p:sp>
        <p:nvSpPr>
          <p:cNvPr id="5" name="CaixaDeTexto 4"/>
          <p:cNvSpPr txBox="1"/>
          <p:nvPr/>
        </p:nvSpPr>
        <p:spPr>
          <a:xfrm>
            <a:off x="4860032" y="6323528"/>
            <a:ext cx="2864823" cy="369332"/>
          </a:xfrm>
          <a:prstGeom prst="rect">
            <a:avLst/>
          </a:prstGeom>
          <a:noFill/>
        </p:spPr>
        <p:txBody>
          <a:bodyPr wrap="none" rtlCol="0">
            <a:spAutoFit/>
          </a:bodyPr>
          <a:lstStyle/>
          <a:p>
            <a:r>
              <a:rPr lang="pt-BR" dirty="0"/>
              <a:t>Fonte da imagem: </a:t>
            </a:r>
            <a:r>
              <a:rPr lang="pt-BR" dirty="0" err="1"/>
              <a:t>Wikipedia</a:t>
            </a:r>
            <a:endParaRPr lang="pt-BR" dirty="0"/>
          </a:p>
        </p:txBody>
      </p:sp>
    </p:spTree>
    <p:extLst>
      <p:ext uri="{BB962C8B-B14F-4D97-AF65-F5344CB8AC3E}">
        <p14:creationId xmlns:p14="http://schemas.microsoft.com/office/powerpoint/2010/main" val="9493318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das 8 rainhas (n-rainhas)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fontScale="92500"/>
              </a:bodyPr>
              <a:lstStyle/>
              <a:p>
                <a:r>
                  <a:rPr lang="pt-BR" dirty="0"/>
                  <a:t>Grafo G: </a:t>
                </a:r>
              </a:p>
              <a:p>
                <a:pPr lvl="1"/>
                <a:r>
                  <a:rPr lang="pt-BR" sz="3200" dirty="0"/>
                  <a:t>Vértices = uma “casa” tabuleiro</a:t>
                </a:r>
              </a:p>
              <a:p>
                <a:pPr lvl="1"/>
                <a:r>
                  <a:rPr lang="pt-BR" sz="3200" dirty="0"/>
                  <a:t>Arestas = irá existir uma aresta entre </a:t>
                </a:r>
                <a14:m>
                  <m:oMath xmlns:m="http://schemas.openxmlformats.org/officeDocument/2006/math">
                    <m:sSub>
                      <m:sSubPr>
                        <m:ctrlPr>
                          <a:rPr lang="pt-BR" sz="3200" i="1" smtClean="0">
                            <a:latin typeface="Cambria Math" panose="02040503050406030204" pitchFamily="18" charset="0"/>
                          </a:rPr>
                        </m:ctrlPr>
                      </m:sSubPr>
                      <m:e>
                        <m:r>
                          <a:rPr lang="pt-BR" sz="3200" b="0" i="1" smtClean="0">
                            <a:latin typeface="Cambria Math" panose="02040503050406030204" pitchFamily="18" charset="0"/>
                          </a:rPr>
                          <m:t>𝑣</m:t>
                        </m:r>
                      </m:e>
                      <m:sub>
                        <m:r>
                          <a:rPr lang="pt-BR" sz="3200" b="0" i="1" smtClean="0">
                            <a:latin typeface="Cambria Math" panose="02040503050406030204" pitchFamily="18" charset="0"/>
                          </a:rPr>
                          <m:t>𝑖</m:t>
                        </m:r>
                      </m:sub>
                    </m:sSub>
                  </m:oMath>
                </a14:m>
                <a:r>
                  <a:rPr lang="pt-BR" sz="3200" dirty="0"/>
                  <a:t> e </a:t>
                </a:r>
                <a14:m>
                  <m:oMath xmlns:m="http://schemas.openxmlformats.org/officeDocument/2006/math">
                    <m:sSub>
                      <m:sSubPr>
                        <m:ctrlPr>
                          <a:rPr lang="pt-BR" sz="3200" i="1">
                            <a:latin typeface="Cambria Math" panose="02040503050406030204" pitchFamily="18" charset="0"/>
                          </a:rPr>
                        </m:ctrlPr>
                      </m:sSubPr>
                      <m:e>
                        <m:r>
                          <a:rPr lang="pt-BR" sz="3200" i="1">
                            <a:latin typeface="Cambria Math" panose="02040503050406030204" pitchFamily="18" charset="0"/>
                          </a:rPr>
                          <m:t>𝑣</m:t>
                        </m:r>
                      </m:e>
                      <m:sub>
                        <m:r>
                          <a:rPr lang="pt-BR" sz="3200" b="0" i="1" smtClean="0">
                            <a:latin typeface="Cambria Math" panose="02040503050406030204" pitchFamily="18" charset="0"/>
                          </a:rPr>
                          <m:t>𝑗</m:t>
                        </m:r>
                      </m:sub>
                    </m:sSub>
                  </m:oMath>
                </a14:m>
                <a:r>
                  <a:rPr lang="pt-BR" sz="3200" dirty="0"/>
                  <a:t> se a rainha da posição </a:t>
                </a:r>
                <a14:m>
                  <m:oMath xmlns:m="http://schemas.openxmlformats.org/officeDocument/2006/math">
                    <m:r>
                      <a:rPr lang="pt-BR" sz="3200" i="1" dirty="0" smtClean="0">
                        <a:latin typeface="Cambria Math" panose="02040503050406030204" pitchFamily="18" charset="0"/>
                      </a:rPr>
                      <m:t>𝑖</m:t>
                    </m:r>
                  </m:oMath>
                </a14:m>
                <a:r>
                  <a:rPr lang="pt-BR" sz="3200" dirty="0"/>
                  <a:t> pode alcançar a posição </a:t>
                </a:r>
                <a14:m>
                  <m:oMath xmlns:m="http://schemas.openxmlformats.org/officeDocument/2006/math">
                    <m:r>
                      <a:rPr lang="pt-BR" sz="3200" i="1" dirty="0" smtClean="0">
                        <a:latin typeface="Cambria Math" panose="02040503050406030204" pitchFamily="18" charset="0"/>
                      </a:rPr>
                      <m:t>𝑗</m:t>
                    </m:r>
                  </m:oMath>
                </a14:m>
                <a:r>
                  <a:rPr lang="pt-BR" sz="3200" dirty="0"/>
                  <a:t>.</a:t>
                </a:r>
              </a:p>
              <a:p>
                <a:r>
                  <a:rPr lang="pt-BR" dirty="0"/>
                  <a:t>Solução: </a:t>
                </a:r>
              </a:p>
              <a:p>
                <a:pPr lvl="1"/>
                <a:r>
                  <a:rPr lang="pt-BR" dirty="0"/>
                  <a:t>Calcule o conjunto independente </a:t>
                </a:r>
                <a14:m>
                  <m:oMath xmlns:m="http://schemas.openxmlformats.org/officeDocument/2006/math">
                    <m:r>
                      <a:rPr lang="pt-BR" i="1" dirty="0" smtClean="0">
                        <a:latin typeface="Cambria Math" panose="02040503050406030204" pitchFamily="18" charset="0"/>
                      </a:rPr>
                      <m:t>𝐶</m:t>
                    </m:r>
                  </m:oMath>
                </a14:m>
                <a:r>
                  <a:rPr lang="pt-BR" dirty="0"/>
                  <a:t> em </a:t>
                </a:r>
                <a14:m>
                  <m:oMath xmlns:m="http://schemas.openxmlformats.org/officeDocument/2006/math">
                    <m:r>
                      <a:rPr lang="pt-BR" i="1" dirty="0" smtClean="0">
                        <a:latin typeface="Cambria Math" panose="02040503050406030204" pitchFamily="18" charset="0"/>
                      </a:rPr>
                      <m:t>𝐺</m:t>
                    </m:r>
                  </m:oMath>
                </a14:m>
                <a:r>
                  <a:rPr lang="pt-BR" dirty="0"/>
                  <a:t>, os vértices pertencentes a </a:t>
                </a:r>
                <a14:m>
                  <m:oMath xmlns:m="http://schemas.openxmlformats.org/officeDocument/2006/math">
                    <m:r>
                      <a:rPr lang="pt-BR" i="1" dirty="0" smtClean="0">
                        <a:latin typeface="Cambria Math" panose="02040503050406030204" pitchFamily="18" charset="0"/>
                      </a:rPr>
                      <m:t>𝐶</m:t>
                    </m:r>
                  </m:oMath>
                </a14:m>
                <a:r>
                  <a:rPr lang="pt-BR" dirty="0"/>
                  <a:t> não terão arestas entre si, ou seja, um rainha em qualquer posição dos vértices em </a:t>
                </a:r>
                <a14:m>
                  <m:oMath xmlns:m="http://schemas.openxmlformats.org/officeDocument/2006/math">
                    <m:r>
                      <a:rPr lang="pt-BR" i="1" dirty="0" smtClean="0">
                        <a:latin typeface="Cambria Math" panose="02040503050406030204" pitchFamily="18" charset="0"/>
                      </a:rPr>
                      <m:t>𝐶</m:t>
                    </m:r>
                  </m:oMath>
                </a14:m>
                <a:r>
                  <a:rPr lang="pt-BR" dirty="0"/>
                  <a:t> não pode alcançar a outra. </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481" t="-1617" r="-2000"/>
                </a:stretch>
              </a:blipFill>
            </p:spPr>
            <p:txBody>
              <a:bodyPr/>
              <a:lstStyle/>
              <a:p>
                <a:r>
                  <a:rPr lang="pt-BR">
                    <a:noFill/>
                  </a:rPr>
                  <a:t> </a:t>
                </a:r>
              </a:p>
            </p:txBody>
          </p:sp>
        </mc:Fallback>
      </mc:AlternateContent>
    </p:spTree>
    <p:extLst>
      <p:ext uri="{BB962C8B-B14F-4D97-AF65-F5344CB8AC3E}">
        <p14:creationId xmlns:p14="http://schemas.microsoft.com/office/powerpoint/2010/main" val="2518394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8003232" cy="4525963"/>
              </a:xfrm>
            </p:spPr>
            <p:txBody>
              <a:bodyPr>
                <a:normAutofit/>
              </a:bodyPr>
              <a:lstStyle/>
              <a:p>
                <a:r>
                  <a:rPr lang="pt-BR" sz="2400" dirty="0"/>
                  <a:t>Seja </a:t>
                </a:r>
                <a14:m>
                  <m:oMath xmlns:m="http://schemas.openxmlformats.org/officeDocument/2006/math">
                    <m:r>
                      <a:rPr lang="pt-BR" sz="2400" i="1" dirty="0">
                        <a:latin typeface="Cambria Math"/>
                      </a:rPr>
                      <m:t>𝐺</m:t>
                    </m:r>
                    <m:r>
                      <a:rPr lang="pt-BR" sz="2400" i="1" dirty="0">
                        <a:latin typeface="Cambria Math"/>
                      </a:rPr>
                      <m:t>=(</m:t>
                    </m:r>
                    <m:r>
                      <a:rPr lang="pt-BR" sz="2400" i="1" dirty="0">
                        <a:latin typeface="Cambria Math"/>
                      </a:rPr>
                      <m:t>𝑉</m:t>
                    </m:r>
                    <m:r>
                      <a:rPr lang="pt-BR" sz="2400" i="1" dirty="0">
                        <a:latin typeface="Cambria Math"/>
                      </a:rPr>
                      <m:t>, </m:t>
                    </m:r>
                    <m:r>
                      <a:rPr lang="pt-BR" sz="2400" i="1" dirty="0">
                        <a:latin typeface="Cambria Math"/>
                      </a:rPr>
                      <m:t>𝐸</m:t>
                    </m:r>
                    <m:r>
                      <a:rPr lang="pt-BR" sz="2400" i="1" dirty="0">
                        <a:latin typeface="Cambria Math"/>
                      </a:rPr>
                      <m:t>) </m:t>
                    </m:r>
                  </m:oMath>
                </a14:m>
                <a:r>
                  <a:rPr lang="pt-BR" sz="2400" dirty="0"/>
                  <a:t>um grafo não dirigido.</a:t>
                </a:r>
              </a:p>
              <a:p>
                <a:r>
                  <a:rPr lang="pt-BR" sz="2400" dirty="0"/>
                  <a:t>Um casamento (</a:t>
                </a:r>
                <a:r>
                  <a:rPr lang="pt-BR" sz="2400" i="1" dirty="0" err="1"/>
                  <a:t>matching</a:t>
                </a:r>
                <a:r>
                  <a:rPr lang="pt-BR" sz="2400" dirty="0"/>
                  <a:t>) em </a:t>
                </a:r>
                <a14:m>
                  <m:oMath xmlns:m="http://schemas.openxmlformats.org/officeDocument/2006/math">
                    <m:r>
                      <a:rPr lang="pt-BR" sz="2400" i="1" dirty="0" smtClean="0">
                        <a:latin typeface="Cambria Math" panose="02040503050406030204" pitchFamily="18" charset="0"/>
                      </a:rPr>
                      <m:t>𝐺</m:t>
                    </m:r>
                  </m:oMath>
                </a14:m>
                <a:r>
                  <a:rPr lang="pt-BR" sz="2400" dirty="0"/>
                  <a:t> é um conjunto M de arestas não adjacentes duas-a-duas (conjunto independente de arestas).</a:t>
                </a:r>
              </a:p>
              <a:p>
                <a:r>
                  <a:rPr lang="pt-BR" sz="2400" dirty="0"/>
                  <a:t>No casamento, duas arestas não compartilham o mesmo vértice.</a:t>
                </a:r>
              </a:p>
              <a:p>
                <a:endParaRPr lang="pt-BR" sz="2400" dirty="0"/>
              </a:p>
              <a:p>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8003232" cy="4525963"/>
              </a:xfrm>
              <a:blipFill rotWithShape="0">
                <a:blip r:embed="rId2"/>
                <a:stretch>
                  <a:fillRect l="-990" t="-1078" r="-1676"/>
                </a:stretch>
              </a:blipFill>
            </p:spPr>
            <p:txBody>
              <a:bodyPr/>
              <a:lstStyle/>
              <a:p>
                <a:r>
                  <a:rPr lang="pt-BR">
                    <a:noFill/>
                  </a:rPr>
                  <a:t> </a:t>
                </a:r>
              </a:p>
            </p:txBody>
          </p:sp>
        </mc:Fallback>
      </mc:AlternateContent>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1369" y="4374705"/>
            <a:ext cx="5158903" cy="1375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309797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dirty="0"/>
              <a:t>Quando nenhuma aresta puder ser incluída em M, dizemos que M é </a:t>
            </a:r>
            <a:r>
              <a:rPr lang="pt-BR" b="1" dirty="0"/>
              <a:t>maximal</a:t>
            </a:r>
            <a:r>
              <a:rPr lang="pt-BR" dirty="0"/>
              <a:t>.</a:t>
            </a:r>
          </a:p>
          <a:p>
            <a:pPr lvl="1"/>
            <a:r>
              <a:rPr lang="pt-BR" dirty="0"/>
              <a:t>A inclusão de qualquer aresta, faz com que M não seja mais um </a:t>
            </a:r>
            <a:r>
              <a:rPr lang="pt-BR" dirty="0" err="1"/>
              <a:t>matching</a:t>
            </a:r>
            <a:endParaRPr lang="pt-BR" dirty="0"/>
          </a:p>
          <a:p>
            <a:endParaRPr lang="pt-BR" dirty="0"/>
          </a:p>
          <a:p>
            <a:endParaRPr lang="pt-BR" dirty="0"/>
          </a:p>
          <a:p>
            <a:endParaRPr lang="pt-BR" dirty="0"/>
          </a:p>
          <a:p>
            <a:endParaRPr lang="pt-BR" dirty="0"/>
          </a:p>
          <a:p>
            <a:endParaRPr lang="pt-BR" dirty="0"/>
          </a:p>
          <a:p>
            <a:endParaRPr lang="pt-BR"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32" y="3933056"/>
            <a:ext cx="2759971" cy="1512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74883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dirty="0"/>
                  <a:t>Um </a:t>
                </a:r>
                <a:r>
                  <a:rPr lang="pt-BR" dirty="0" err="1"/>
                  <a:t>matching</a:t>
                </a:r>
                <a:r>
                  <a:rPr lang="pt-BR" dirty="0"/>
                  <a:t> M é </a:t>
                </a:r>
                <a:r>
                  <a:rPr lang="pt-BR" b="1" dirty="0"/>
                  <a:t>máximo</a:t>
                </a:r>
                <a:r>
                  <a:rPr lang="pt-BR" dirty="0"/>
                  <a:t> se |M| for máximo em </a:t>
                </a:r>
                <a14:m>
                  <m:oMath xmlns:m="http://schemas.openxmlformats.org/officeDocument/2006/math">
                    <m:r>
                      <a:rPr lang="pt-BR" i="1" dirty="0" smtClean="0">
                        <a:latin typeface="Cambria Math" panose="02040503050406030204" pitchFamily="18" charset="0"/>
                      </a:rPr>
                      <m:t>𝐺</m:t>
                    </m:r>
                  </m:oMath>
                </a14:m>
                <a:r>
                  <a:rPr lang="pt-BR" dirty="0"/>
                  <a:t>.</a:t>
                </a:r>
              </a:p>
              <a:p>
                <a:pPr lvl="1"/>
                <a:r>
                  <a:rPr lang="pt-BR" dirty="0"/>
                  <a:t>Um </a:t>
                </a:r>
                <a:r>
                  <a:rPr lang="pt-BR" dirty="0" err="1"/>
                  <a:t>matching</a:t>
                </a:r>
                <a:r>
                  <a:rPr lang="pt-BR" dirty="0"/>
                  <a:t> com maior número de arestas possíveis em </a:t>
                </a:r>
                <a14:m>
                  <m:oMath xmlns:m="http://schemas.openxmlformats.org/officeDocument/2006/math">
                    <m:r>
                      <a:rPr lang="pt-BR" i="1" dirty="0" smtClean="0">
                        <a:latin typeface="Cambria Math" panose="02040503050406030204" pitchFamily="18" charset="0"/>
                      </a:rPr>
                      <m:t>𝐺</m:t>
                    </m:r>
                    <m:r>
                      <a:rPr lang="pt-BR" i="1" dirty="0" smtClean="0">
                        <a:latin typeface="Cambria Math" panose="02040503050406030204" pitchFamily="18" charset="0"/>
                      </a:rPr>
                      <m:t> </m:t>
                    </m:r>
                  </m:oMath>
                </a14:m>
                <a:r>
                  <a:rPr lang="pt-BR" dirty="0"/>
                  <a:t>(também é um </a:t>
                </a:r>
                <a:r>
                  <a:rPr lang="pt-BR" dirty="0" err="1"/>
                  <a:t>matching</a:t>
                </a:r>
                <a:r>
                  <a:rPr lang="pt-BR" dirty="0"/>
                  <a:t> maximal).</a:t>
                </a:r>
              </a:p>
              <a:p>
                <a:pPr lvl="1"/>
                <a:endParaRPr lang="pt-BR" dirty="0"/>
              </a:p>
              <a:p>
                <a:pPr lvl="1"/>
                <a:endParaRPr lang="pt-BR" dirty="0"/>
              </a:p>
              <a:p>
                <a:pPr lvl="1"/>
                <a:endParaRPr lang="pt-BR" dirty="0"/>
              </a:p>
              <a:p>
                <a:pPr lvl="1"/>
                <a:endParaRPr lang="pt-BR" dirty="0"/>
              </a:p>
              <a:p>
                <a:pPr marL="0" indent="0">
                  <a:buNone/>
                </a:pPr>
                <a:endParaRPr lang="pt-BR" dirty="0"/>
              </a:p>
              <a:p>
                <a:endParaRPr lang="pt-BR" dirty="0"/>
              </a:p>
              <a:p>
                <a:endParaRPr lang="pt-BR" dirty="0"/>
              </a:p>
              <a:p>
                <a:endParaRPr lang="pt-BR" dirty="0"/>
              </a:p>
              <a:p>
                <a:endParaRPr lang="pt-BR" dirty="0"/>
              </a:p>
              <a:p>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704" t="-1752" r="-2296"/>
                </a:stretch>
              </a:blipFill>
            </p:spPr>
            <p:txBody>
              <a:bodyPr/>
              <a:lstStyle/>
              <a:p>
                <a:r>
                  <a:rPr lang="pt-BR">
                    <a:noFill/>
                  </a:rPr>
                  <a:t> </a:t>
                </a:r>
              </a:p>
            </p:txBody>
          </p:sp>
        </mc:Fallback>
      </mc:AlternateContent>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854754"/>
            <a:ext cx="2754176" cy="1518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470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sz="2800" dirty="0"/>
              <a:t>Um </a:t>
            </a:r>
            <a:r>
              <a:rPr lang="pt-BR" sz="2800" dirty="0" err="1"/>
              <a:t>matching</a:t>
            </a:r>
            <a:r>
              <a:rPr lang="pt-BR" sz="2800" dirty="0"/>
              <a:t> M é </a:t>
            </a:r>
            <a:r>
              <a:rPr lang="pt-BR" sz="2800" b="1" dirty="0"/>
              <a:t>completo</a:t>
            </a:r>
            <a:r>
              <a:rPr lang="pt-BR" sz="2800" dirty="0"/>
              <a:t> (perfeito) se todos os vértices do grafos estão em M.</a:t>
            </a:r>
            <a:r>
              <a:rPr lang="pt-BR" sz="2800" b="1" dirty="0"/>
              <a:t> </a:t>
            </a:r>
          </a:p>
          <a:p>
            <a:pPr lvl="1"/>
            <a:r>
              <a:rPr lang="pt-BR" sz="2400" dirty="0"/>
              <a:t>Vértices e arestas podem ser livres ou associados (ao </a:t>
            </a:r>
            <a:r>
              <a:rPr lang="pt-BR" sz="2400" dirty="0" err="1"/>
              <a:t>matching</a:t>
            </a:r>
            <a:r>
              <a:rPr lang="pt-BR" sz="2400" dirty="0"/>
              <a:t>).</a:t>
            </a:r>
          </a:p>
          <a:p>
            <a:pPr lvl="1"/>
            <a:r>
              <a:rPr lang="pt-BR" sz="2400" dirty="0"/>
              <a:t>Um </a:t>
            </a:r>
            <a:r>
              <a:rPr lang="pt-BR" sz="2400" dirty="0" err="1"/>
              <a:t>matching</a:t>
            </a:r>
            <a:r>
              <a:rPr lang="pt-BR" sz="2400" dirty="0"/>
              <a:t> perfeito não possui vértices livres.</a:t>
            </a:r>
          </a:p>
          <a:p>
            <a:pPr lvl="1"/>
            <a:r>
              <a:rPr lang="pt-BR" sz="2400" dirty="0"/>
              <a:t>Todo </a:t>
            </a:r>
            <a:r>
              <a:rPr lang="pt-BR" sz="2400" dirty="0" err="1"/>
              <a:t>matching</a:t>
            </a:r>
            <a:r>
              <a:rPr lang="pt-BR" sz="2400" dirty="0"/>
              <a:t> perfeito é máximo (e maximal).</a:t>
            </a:r>
          </a:p>
          <a:p>
            <a:endParaRPr lang="pt-BR" sz="2800" dirty="0"/>
          </a:p>
        </p:txBody>
      </p:sp>
      <p:sp>
        <p:nvSpPr>
          <p:cNvPr id="4" name="Elipse 3"/>
          <p:cNvSpPr/>
          <p:nvPr/>
        </p:nvSpPr>
        <p:spPr>
          <a:xfrm>
            <a:off x="3592587" y="46531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1</a:t>
            </a:r>
          </a:p>
        </p:txBody>
      </p:sp>
      <p:sp>
        <p:nvSpPr>
          <p:cNvPr id="5" name="Elipse 4"/>
          <p:cNvSpPr/>
          <p:nvPr/>
        </p:nvSpPr>
        <p:spPr>
          <a:xfrm>
            <a:off x="6084168" y="46531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0</a:t>
            </a:r>
          </a:p>
        </p:txBody>
      </p:sp>
      <p:sp>
        <p:nvSpPr>
          <p:cNvPr id="6" name="Elipse 5"/>
          <p:cNvSpPr/>
          <p:nvPr/>
        </p:nvSpPr>
        <p:spPr>
          <a:xfrm>
            <a:off x="3592588" y="5689926"/>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3</a:t>
            </a:r>
          </a:p>
        </p:txBody>
      </p:sp>
      <p:sp>
        <p:nvSpPr>
          <p:cNvPr id="7" name="Elipse 6"/>
          <p:cNvSpPr/>
          <p:nvPr/>
        </p:nvSpPr>
        <p:spPr>
          <a:xfrm>
            <a:off x="2660467" y="5130765"/>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2</a:t>
            </a:r>
          </a:p>
        </p:txBody>
      </p:sp>
      <p:sp>
        <p:nvSpPr>
          <p:cNvPr id="13" name="Elipse 12"/>
          <p:cNvSpPr/>
          <p:nvPr/>
        </p:nvSpPr>
        <p:spPr>
          <a:xfrm>
            <a:off x="4794334" y="568606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4</a:t>
            </a:r>
          </a:p>
        </p:txBody>
      </p:sp>
      <p:cxnSp>
        <p:nvCxnSpPr>
          <p:cNvPr id="16" name="Conector reto 15"/>
          <p:cNvCxnSpPr>
            <a:stCxn id="6" idx="6"/>
            <a:endCxn id="13" idx="2"/>
          </p:cNvCxnSpPr>
          <p:nvPr/>
        </p:nvCxnSpPr>
        <p:spPr>
          <a:xfrm flipV="1">
            <a:off x="4135969" y="5891235"/>
            <a:ext cx="658365" cy="386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Elipse 16"/>
          <p:cNvSpPr/>
          <p:nvPr/>
        </p:nvSpPr>
        <p:spPr>
          <a:xfrm>
            <a:off x="4791756" y="4653136"/>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5</a:t>
            </a:r>
          </a:p>
        </p:txBody>
      </p:sp>
      <p:cxnSp>
        <p:nvCxnSpPr>
          <p:cNvPr id="29" name="Conector reto 28"/>
          <p:cNvCxnSpPr>
            <a:stCxn id="4" idx="6"/>
            <a:endCxn id="17" idx="2"/>
          </p:cNvCxnSpPr>
          <p:nvPr/>
        </p:nvCxnSpPr>
        <p:spPr>
          <a:xfrm>
            <a:off x="4135968" y="4858308"/>
            <a:ext cx="65578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Conector reto 30"/>
          <p:cNvCxnSpPr>
            <a:stCxn id="4" idx="4"/>
            <a:endCxn id="6" idx="0"/>
          </p:cNvCxnSpPr>
          <p:nvPr/>
        </p:nvCxnSpPr>
        <p:spPr>
          <a:xfrm>
            <a:off x="3864278" y="5063480"/>
            <a:ext cx="1" cy="626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Conector reto 32"/>
          <p:cNvCxnSpPr>
            <a:stCxn id="17" idx="4"/>
            <a:endCxn id="13" idx="0"/>
          </p:cNvCxnSpPr>
          <p:nvPr/>
        </p:nvCxnSpPr>
        <p:spPr>
          <a:xfrm>
            <a:off x="5063447" y="5063480"/>
            <a:ext cx="2578" cy="62258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Conector reto 34"/>
          <p:cNvCxnSpPr>
            <a:stCxn id="4" idx="2"/>
            <a:endCxn id="7" idx="7"/>
          </p:cNvCxnSpPr>
          <p:nvPr/>
        </p:nvCxnSpPr>
        <p:spPr>
          <a:xfrm flipH="1">
            <a:off x="3124272" y="4858308"/>
            <a:ext cx="468315" cy="33255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Conector reto 36"/>
          <p:cNvCxnSpPr>
            <a:stCxn id="6" idx="2"/>
            <a:endCxn id="7" idx="5"/>
          </p:cNvCxnSpPr>
          <p:nvPr/>
        </p:nvCxnSpPr>
        <p:spPr>
          <a:xfrm flipH="1" flipV="1">
            <a:off x="3124272" y="5481016"/>
            <a:ext cx="468316" cy="4140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Conector reto 38"/>
          <p:cNvCxnSpPr>
            <a:stCxn id="17" idx="6"/>
            <a:endCxn id="5" idx="2"/>
          </p:cNvCxnSpPr>
          <p:nvPr/>
        </p:nvCxnSpPr>
        <p:spPr>
          <a:xfrm>
            <a:off x="5335137" y="4858308"/>
            <a:ext cx="749031"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34335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3600" dirty="0" err="1"/>
                  <a:t>Matching</a:t>
                </a:r>
                <a:r>
                  <a:rPr lang="pt-BR" sz="3600" dirty="0"/>
                  <a:t> completo (grafos bipartidos):</a:t>
                </a:r>
              </a:p>
              <a:p>
                <a:pPr lvl="1"/>
                <a:r>
                  <a:rPr lang="pt-BR" sz="3200" dirty="0"/>
                  <a:t>Seja </a:t>
                </a:r>
                <a14:m>
                  <m:oMath xmlns:m="http://schemas.openxmlformats.org/officeDocument/2006/math">
                    <m:r>
                      <a:rPr lang="pt-BR" sz="3200" i="1" dirty="0">
                        <a:latin typeface="Cambria Math"/>
                      </a:rPr>
                      <m:t>𝐺</m:t>
                    </m:r>
                    <m:r>
                      <a:rPr lang="pt-BR" sz="3200" i="1" dirty="0">
                        <a:latin typeface="Cambria Math"/>
                      </a:rPr>
                      <m:t>=(</m:t>
                    </m:r>
                    <m:r>
                      <a:rPr lang="pt-BR" sz="3200" b="0" i="1" dirty="0" smtClean="0">
                        <a:latin typeface="Cambria Math"/>
                      </a:rPr>
                      <m:t>𝑋</m:t>
                    </m:r>
                    <m:r>
                      <a:rPr lang="pt-BR" sz="3200" b="0" i="1" dirty="0" smtClean="0">
                        <a:latin typeface="Cambria Math"/>
                        <a:ea typeface="Cambria Math"/>
                      </a:rPr>
                      <m:t>∪</m:t>
                    </m:r>
                    <m:r>
                      <a:rPr lang="pt-BR" sz="3200" b="0" i="1" dirty="0" smtClean="0">
                        <a:latin typeface="Cambria Math"/>
                      </a:rPr>
                      <m:t>𝑌</m:t>
                    </m:r>
                    <m:r>
                      <a:rPr lang="pt-BR" sz="3200" i="1" dirty="0">
                        <a:latin typeface="Cambria Math"/>
                      </a:rPr>
                      <m:t>, </m:t>
                    </m:r>
                    <m:r>
                      <a:rPr lang="pt-BR" sz="3200" i="1" dirty="0">
                        <a:latin typeface="Cambria Math"/>
                      </a:rPr>
                      <m:t>𝐸</m:t>
                    </m:r>
                    <m:r>
                      <a:rPr lang="pt-BR" sz="3200" i="1" dirty="0">
                        <a:latin typeface="Cambria Math"/>
                      </a:rPr>
                      <m:t>) </m:t>
                    </m:r>
                  </m:oMath>
                </a14:m>
                <a:r>
                  <a:rPr lang="pt-BR" sz="3200" dirty="0"/>
                  <a:t>um grafo bipartido.</a:t>
                </a:r>
              </a:p>
              <a:p>
                <a:pPr lvl="1"/>
                <a:r>
                  <a:rPr lang="pt-BR" sz="3200" dirty="0"/>
                  <a:t>Um </a:t>
                </a:r>
                <a:r>
                  <a:rPr lang="pt-BR" sz="3200" dirty="0" err="1"/>
                  <a:t>matching</a:t>
                </a:r>
                <a:r>
                  <a:rPr lang="pt-BR" sz="3200" dirty="0"/>
                  <a:t> completo de </a:t>
                </a:r>
                <a14:m>
                  <m:oMath xmlns:m="http://schemas.openxmlformats.org/officeDocument/2006/math">
                    <m:r>
                      <a:rPr lang="pt-BR" sz="3200" i="1" dirty="0" smtClean="0">
                        <a:latin typeface="Cambria Math" panose="02040503050406030204" pitchFamily="18" charset="0"/>
                      </a:rPr>
                      <m:t>𝑋</m:t>
                    </m:r>
                  </m:oMath>
                </a14:m>
                <a:r>
                  <a:rPr lang="pt-BR" sz="3200" dirty="0"/>
                  <a:t> para </a:t>
                </a:r>
                <a14:m>
                  <m:oMath xmlns:m="http://schemas.openxmlformats.org/officeDocument/2006/math">
                    <m:r>
                      <a:rPr lang="pt-BR" sz="3200" i="1" dirty="0" smtClean="0">
                        <a:latin typeface="Cambria Math" panose="02040503050406030204" pitchFamily="18" charset="0"/>
                      </a:rPr>
                      <m:t>𝑌</m:t>
                    </m:r>
                  </m:oMath>
                </a14:m>
                <a:r>
                  <a:rPr lang="pt-BR" sz="3200" dirty="0"/>
                  <a:t> é um </a:t>
                </a:r>
                <a:r>
                  <a:rPr lang="pt-BR" sz="3200" dirty="0" err="1"/>
                  <a:t>matching</a:t>
                </a:r>
                <a:r>
                  <a:rPr lang="pt-BR" sz="3200" dirty="0"/>
                  <a:t> em que nenhum vértice de </a:t>
                </a:r>
                <a14:m>
                  <m:oMath xmlns:m="http://schemas.openxmlformats.org/officeDocument/2006/math">
                    <m:r>
                      <a:rPr lang="pt-BR" sz="3200" i="1" dirty="0" smtClean="0">
                        <a:latin typeface="Cambria Math" panose="02040503050406030204" pitchFamily="18" charset="0"/>
                      </a:rPr>
                      <m:t>𝑋</m:t>
                    </m:r>
                  </m:oMath>
                </a14:m>
                <a:r>
                  <a:rPr lang="pt-BR" sz="3200" dirty="0"/>
                  <a:t> está livre.</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2000" t="-2156" r="-1926"/>
                </a:stretch>
              </a:blipFill>
            </p:spPr>
            <p:txBody>
              <a:bodyPr/>
              <a:lstStyle/>
              <a:p>
                <a:r>
                  <a:rPr lang="pt-BR">
                    <a:noFill/>
                  </a:rPr>
                  <a:t> </a:t>
                </a:r>
              </a:p>
            </p:txBody>
          </p:sp>
        </mc:Fallback>
      </mc:AlternateContent>
    </p:spTree>
    <p:extLst>
      <p:ext uri="{BB962C8B-B14F-4D97-AF65-F5344CB8AC3E}">
        <p14:creationId xmlns:p14="http://schemas.microsoft.com/office/powerpoint/2010/main" val="39585468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sz="2800" dirty="0"/>
              <a:t>Se existe um finito conjunto de garotas, cada uma delas conhece vários garotos. Sobre quais condições todas as garotas podem se casar com os garotos, de tal forma que cada garota se case com um garoto que ela conheça.</a:t>
            </a:r>
          </a:p>
        </p:txBody>
      </p:sp>
      <p:graphicFrame>
        <p:nvGraphicFramePr>
          <p:cNvPr id="4" name="Tabela 3"/>
          <p:cNvGraphicFramePr>
            <a:graphicFrameLocks noGrp="1"/>
          </p:cNvGraphicFramePr>
          <p:nvPr>
            <p:extLst>
              <p:ext uri="{D42A27DB-BD31-4B8C-83A1-F6EECF244321}">
                <p14:modId xmlns:p14="http://schemas.microsoft.com/office/powerpoint/2010/main" val="276722501"/>
              </p:ext>
            </p:extLst>
          </p:nvPr>
        </p:nvGraphicFramePr>
        <p:xfrm>
          <a:off x="1763688" y="4454525"/>
          <a:ext cx="3600400" cy="185420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tblGrid>
              <a:tr h="370840">
                <a:tc>
                  <a:txBody>
                    <a:bodyPr/>
                    <a:lstStyle/>
                    <a:p>
                      <a:pPr algn="l"/>
                      <a:r>
                        <a:rPr lang="pt-BR" dirty="0"/>
                        <a:t>garota</a:t>
                      </a:r>
                    </a:p>
                  </a:txBody>
                  <a:tcPr/>
                </a:tc>
                <a:tc>
                  <a:txBody>
                    <a:bodyPr/>
                    <a:lstStyle/>
                    <a:p>
                      <a:pPr algn="l"/>
                      <a:r>
                        <a:rPr lang="pt-BR" dirty="0"/>
                        <a:t>rapaz</a:t>
                      </a:r>
                    </a:p>
                  </a:txBody>
                  <a:tcPr/>
                </a:tc>
                <a:extLst>
                  <a:ext uri="{0D108BD9-81ED-4DB2-BD59-A6C34878D82A}">
                    <a16:rowId xmlns:a16="http://schemas.microsoft.com/office/drawing/2014/main" val="10000"/>
                  </a:ext>
                </a:extLst>
              </a:tr>
              <a:tr h="370840">
                <a:tc>
                  <a:txBody>
                    <a:bodyPr/>
                    <a:lstStyle/>
                    <a:p>
                      <a:pPr algn="l"/>
                      <a:r>
                        <a:rPr lang="pt-BR" dirty="0"/>
                        <a:t>g1</a:t>
                      </a:r>
                    </a:p>
                  </a:txBody>
                  <a:tcPr/>
                </a:tc>
                <a:tc>
                  <a:txBody>
                    <a:bodyPr/>
                    <a:lstStyle/>
                    <a:p>
                      <a:pPr algn="l"/>
                      <a:r>
                        <a:rPr lang="pt-BR" dirty="0"/>
                        <a:t>r1</a:t>
                      </a:r>
                      <a:r>
                        <a:rPr lang="pt-BR" baseline="0" dirty="0"/>
                        <a:t>      r4      r5</a:t>
                      </a:r>
                      <a:endParaRPr lang="pt-BR" dirty="0"/>
                    </a:p>
                  </a:txBody>
                  <a:tcPr/>
                </a:tc>
                <a:extLst>
                  <a:ext uri="{0D108BD9-81ED-4DB2-BD59-A6C34878D82A}">
                    <a16:rowId xmlns:a16="http://schemas.microsoft.com/office/drawing/2014/main" val="10001"/>
                  </a:ext>
                </a:extLst>
              </a:tr>
              <a:tr h="370840">
                <a:tc>
                  <a:txBody>
                    <a:bodyPr/>
                    <a:lstStyle/>
                    <a:p>
                      <a:pPr algn="l"/>
                      <a:r>
                        <a:rPr lang="pt-BR" dirty="0"/>
                        <a:t>g2</a:t>
                      </a:r>
                    </a:p>
                  </a:txBody>
                  <a:tcPr/>
                </a:tc>
                <a:tc>
                  <a:txBody>
                    <a:bodyPr/>
                    <a:lstStyle/>
                    <a:p>
                      <a:pPr algn="l"/>
                      <a:r>
                        <a:rPr lang="pt-BR" dirty="0"/>
                        <a:t>r1</a:t>
                      </a:r>
                    </a:p>
                  </a:txBody>
                  <a:tcPr/>
                </a:tc>
                <a:extLst>
                  <a:ext uri="{0D108BD9-81ED-4DB2-BD59-A6C34878D82A}">
                    <a16:rowId xmlns:a16="http://schemas.microsoft.com/office/drawing/2014/main" val="10002"/>
                  </a:ext>
                </a:extLst>
              </a:tr>
              <a:tr h="370840">
                <a:tc>
                  <a:txBody>
                    <a:bodyPr/>
                    <a:lstStyle/>
                    <a:p>
                      <a:pPr algn="l"/>
                      <a:r>
                        <a:rPr lang="pt-BR" dirty="0"/>
                        <a:t>g3</a:t>
                      </a:r>
                    </a:p>
                  </a:txBody>
                  <a:tcPr/>
                </a:tc>
                <a:tc>
                  <a:txBody>
                    <a:bodyPr/>
                    <a:lstStyle/>
                    <a:p>
                      <a:pPr algn="l"/>
                      <a:r>
                        <a:rPr lang="pt-BR" dirty="0"/>
                        <a:t>r2      r3      r4</a:t>
                      </a:r>
                    </a:p>
                  </a:txBody>
                  <a:tcPr/>
                </a:tc>
                <a:extLst>
                  <a:ext uri="{0D108BD9-81ED-4DB2-BD59-A6C34878D82A}">
                    <a16:rowId xmlns:a16="http://schemas.microsoft.com/office/drawing/2014/main" val="10003"/>
                  </a:ext>
                </a:extLst>
              </a:tr>
              <a:tr h="370840">
                <a:tc>
                  <a:txBody>
                    <a:bodyPr/>
                    <a:lstStyle/>
                    <a:p>
                      <a:pPr algn="l"/>
                      <a:r>
                        <a:rPr lang="pt-BR" dirty="0"/>
                        <a:t>g4</a:t>
                      </a:r>
                    </a:p>
                  </a:txBody>
                  <a:tcPr/>
                </a:tc>
                <a:tc>
                  <a:txBody>
                    <a:bodyPr/>
                    <a:lstStyle/>
                    <a:p>
                      <a:pPr algn="l"/>
                      <a:r>
                        <a:rPr lang="pt-BR" dirty="0"/>
                        <a:t>r2      r4</a:t>
                      </a:r>
                    </a:p>
                  </a:txBody>
                  <a:tcPr/>
                </a:tc>
                <a:extLst>
                  <a:ext uri="{0D108BD9-81ED-4DB2-BD59-A6C34878D82A}">
                    <a16:rowId xmlns:a16="http://schemas.microsoft.com/office/drawing/2014/main" val="10004"/>
                  </a:ext>
                </a:extLst>
              </a:tr>
            </a:tbl>
          </a:graphicData>
        </a:graphic>
      </p:graphicFrame>
      <p:sp>
        <p:nvSpPr>
          <p:cNvPr id="5" name="CaixaDeTexto 4"/>
          <p:cNvSpPr txBox="1"/>
          <p:nvPr/>
        </p:nvSpPr>
        <p:spPr>
          <a:xfrm>
            <a:off x="2555776" y="4022477"/>
            <a:ext cx="1705532" cy="369332"/>
          </a:xfrm>
          <a:prstGeom prst="rect">
            <a:avLst/>
          </a:prstGeom>
          <a:noFill/>
        </p:spPr>
        <p:txBody>
          <a:bodyPr wrap="none" rtlCol="0">
            <a:spAutoFit/>
          </a:bodyPr>
          <a:lstStyle/>
          <a:p>
            <a:r>
              <a:rPr lang="pt-BR" dirty="0"/>
              <a:t>Relacionamento</a:t>
            </a:r>
          </a:p>
        </p:txBody>
      </p:sp>
    </p:spTree>
    <p:extLst>
      <p:ext uri="{BB962C8B-B14F-4D97-AF65-F5344CB8AC3E}">
        <p14:creationId xmlns:p14="http://schemas.microsoft.com/office/powerpoint/2010/main" val="34789312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sz="2800" dirty="0"/>
              <a:t>Se existe um finito conjunto de garotas, cada uma delas conhece vários garotos. Sobre quais condições todas as garotas podem se casar com os garotos, de tal forma que cada garota se case com um garoto que ela conheça.</a:t>
            </a:r>
          </a:p>
        </p:txBody>
      </p:sp>
      <p:graphicFrame>
        <p:nvGraphicFramePr>
          <p:cNvPr id="4" name="Tabela 3"/>
          <p:cNvGraphicFramePr>
            <a:graphicFrameLocks noGrp="1"/>
          </p:cNvGraphicFramePr>
          <p:nvPr>
            <p:extLst>
              <p:ext uri="{D42A27DB-BD31-4B8C-83A1-F6EECF244321}">
                <p14:modId xmlns:p14="http://schemas.microsoft.com/office/powerpoint/2010/main" val="1937395695"/>
              </p:ext>
            </p:extLst>
          </p:nvPr>
        </p:nvGraphicFramePr>
        <p:xfrm>
          <a:off x="1763688" y="4454525"/>
          <a:ext cx="3600400" cy="185420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tblGrid>
              <a:tr h="370840">
                <a:tc>
                  <a:txBody>
                    <a:bodyPr/>
                    <a:lstStyle/>
                    <a:p>
                      <a:pPr algn="l"/>
                      <a:r>
                        <a:rPr lang="pt-BR" dirty="0"/>
                        <a:t>garota</a:t>
                      </a:r>
                    </a:p>
                  </a:txBody>
                  <a:tcPr/>
                </a:tc>
                <a:tc>
                  <a:txBody>
                    <a:bodyPr/>
                    <a:lstStyle/>
                    <a:p>
                      <a:pPr algn="l"/>
                      <a:r>
                        <a:rPr lang="pt-BR" dirty="0"/>
                        <a:t>rapaz</a:t>
                      </a:r>
                    </a:p>
                  </a:txBody>
                  <a:tcPr/>
                </a:tc>
                <a:extLst>
                  <a:ext uri="{0D108BD9-81ED-4DB2-BD59-A6C34878D82A}">
                    <a16:rowId xmlns:a16="http://schemas.microsoft.com/office/drawing/2014/main" val="10000"/>
                  </a:ext>
                </a:extLst>
              </a:tr>
              <a:tr h="370840">
                <a:tc>
                  <a:txBody>
                    <a:bodyPr/>
                    <a:lstStyle/>
                    <a:p>
                      <a:pPr algn="l"/>
                      <a:r>
                        <a:rPr lang="pt-BR" dirty="0"/>
                        <a:t>g1</a:t>
                      </a:r>
                    </a:p>
                  </a:txBody>
                  <a:tcPr/>
                </a:tc>
                <a:tc>
                  <a:txBody>
                    <a:bodyPr/>
                    <a:lstStyle/>
                    <a:p>
                      <a:pPr algn="l"/>
                      <a:r>
                        <a:rPr lang="pt-BR" dirty="0"/>
                        <a:t>r1</a:t>
                      </a:r>
                      <a:r>
                        <a:rPr lang="pt-BR" baseline="0" dirty="0"/>
                        <a:t>      </a:t>
                      </a:r>
                      <a:r>
                        <a:rPr lang="pt-BR" baseline="0" dirty="0">
                          <a:solidFill>
                            <a:srgbClr val="FF0000"/>
                          </a:solidFill>
                        </a:rPr>
                        <a:t>r4</a:t>
                      </a:r>
                      <a:r>
                        <a:rPr lang="pt-BR" baseline="0" dirty="0"/>
                        <a:t>      r5</a:t>
                      </a:r>
                      <a:endParaRPr lang="pt-BR" dirty="0"/>
                    </a:p>
                  </a:txBody>
                  <a:tcPr/>
                </a:tc>
                <a:extLst>
                  <a:ext uri="{0D108BD9-81ED-4DB2-BD59-A6C34878D82A}">
                    <a16:rowId xmlns:a16="http://schemas.microsoft.com/office/drawing/2014/main" val="10001"/>
                  </a:ext>
                </a:extLst>
              </a:tr>
              <a:tr h="370840">
                <a:tc>
                  <a:txBody>
                    <a:bodyPr/>
                    <a:lstStyle/>
                    <a:p>
                      <a:pPr algn="l"/>
                      <a:r>
                        <a:rPr lang="pt-BR" dirty="0"/>
                        <a:t>g2</a:t>
                      </a:r>
                    </a:p>
                  </a:txBody>
                  <a:tcPr/>
                </a:tc>
                <a:tc>
                  <a:txBody>
                    <a:bodyPr/>
                    <a:lstStyle/>
                    <a:p>
                      <a:pPr algn="l"/>
                      <a:r>
                        <a:rPr lang="pt-BR" dirty="0">
                          <a:solidFill>
                            <a:srgbClr val="FF0000"/>
                          </a:solidFill>
                        </a:rPr>
                        <a:t>r1</a:t>
                      </a:r>
                    </a:p>
                  </a:txBody>
                  <a:tcPr/>
                </a:tc>
                <a:extLst>
                  <a:ext uri="{0D108BD9-81ED-4DB2-BD59-A6C34878D82A}">
                    <a16:rowId xmlns:a16="http://schemas.microsoft.com/office/drawing/2014/main" val="10002"/>
                  </a:ext>
                </a:extLst>
              </a:tr>
              <a:tr h="370840">
                <a:tc>
                  <a:txBody>
                    <a:bodyPr/>
                    <a:lstStyle/>
                    <a:p>
                      <a:pPr algn="l"/>
                      <a:r>
                        <a:rPr lang="pt-BR" dirty="0"/>
                        <a:t>g3</a:t>
                      </a:r>
                    </a:p>
                  </a:txBody>
                  <a:tcPr/>
                </a:tc>
                <a:tc>
                  <a:txBody>
                    <a:bodyPr/>
                    <a:lstStyle/>
                    <a:p>
                      <a:pPr algn="l"/>
                      <a:r>
                        <a:rPr lang="pt-BR" dirty="0"/>
                        <a:t>r2      </a:t>
                      </a:r>
                      <a:r>
                        <a:rPr lang="pt-BR" dirty="0">
                          <a:solidFill>
                            <a:srgbClr val="FF0000"/>
                          </a:solidFill>
                        </a:rPr>
                        <a:t>r3</a:t>
                      </a:r>
                      <a:r>
                        <a:rPr lang="pt-BR" dirty="0"/>
                        <a:t>      r4</a:t>
                      </a:r>
                    </a:p>
                  </a:txBody>
                  <a:tcPr/>
                </a:tc>
                <a:extLst>
                  <a:ext uri="{0D108BD9-81ED-4DB2-BD59-A6C34878D82A}">
                    <a16:rowId xmlns:a16="http://schemas.microsoft.com/office/drawing/2014/main" val="10003"/>
                  </a:ext>
                </a:extLst>
              </a:tr>
              <a:tr h="370840">
                <a:tc>
                  <a:txBody>
                    <a:bodyPr/>
                    <a:lstStyle/>
                    <a:p>
                      <a:pPr algn="l"/>
                      <a:r>
                        <a:rPr lang="pt-BR" dirty="0"/>
                        <a:t>g4</a:t>
                      </a:r>
                    </a:p>
                  </a:txBody>
                  <a:tcPr/>
                </a:tc>
                <a:tc>
                  <a:txBody>
                    <a:bodyPr/>
                    <a:lstStyle/>
                    <a:p>
                      <a:pPr algn="l"/>
                      <a:r>
                        <a:rPr lang="pt-BR" dirty="0">
                          <a:solidFill>
                            <a:srgbClr val="FF0000"/>
                          </a:solidFill>
                        </a:rPr>
                        <a:t>r2</a:t>
                      </a:r>
                      <a:r>
                        <a:rPr lang="pt-BR" dirty="0"/>
                        <a:t>      </a:t>
                      </a:r>
                      <a:r>
                        <a:rPr lang="pt-BR" dirty="0">
                          <a:solidFill>
                            <a:schemeClr val="tx1"/>
                          </a:solidFill>
                        </a:rPr>
                        <a:t>r4</a:t>
                      </a:r>
                    </a:p>
                  </a:txBody>
                  <a:tcPr/>
                </a:tc>
                <a:extLst>
                  <a:ext uri="{0D108BD9-81ED-4DB2-BD59-A6C34878D82A}">
                    <a16:rowId xmlns:a16="http://schemas.microsoft.com/office/drawing/2014/main" val="10004"/>
                  </a:ext>
                </a:extLst>
              </a:tr>
            </a:tbl>
          </a:graphicData>
        </a:graphic>
      </p:graphicFrame>
      <p:sp>
        <p:nvSpPr>
          <p:cNvPr id="5" name="CaixaDeTexto 4"/>
          <p:cNvSpPr txBox="1"/>
          <p:nvPr/>
        </p:nvSpPr>
        <p:spPr>
          <a:xfrm>
            <a:off x="2555776" y="4022477"/>
            <a:ext cx="1705532" cy="369332"/>
          </a:xfrm>
          <a:prstGeom prst="rect">
            <a:avLst/>
          </a:prstGeom>
          <a:noFill/>
        </p:spPr>
        <p:txBody>
          <a:bodyPr wrap="none" rtlCol="0">
            <a:spAutoFit/>
          </a:bodyPr>
          <a:lstStyle/>
          <a:p>
            <a:r>
              <a:rPr lang="pt-BR" dirty="0"/>
              <a:t>Relacionamento</a:t>
            </a:r>
          </a:p>
        </p:txBody>
      </p:sp>
    </p:spTree>
    <p:extLst>
      <p:ext uri="{BB962C8B-B14F-4D97-AF65-F5344CB8AC3E}">
        <p14:creationId xmlns:p14="http://schemas.microsoft.com/office/powerpoint/2010/main" val="14727735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p:sp>
        <p:nvSpPr>
          <p:cNvPr id="3" name="Espaço Reservado para Conteúdo 2"/>
          <p:cNvSpPr>
            <a:spLocks noGrp="1"/>
          </p:cNvSpPr>
          <p:nvPr>
            <p:ph idx="1"/>
          </p:nvPr>
        </p:nvSpPr>
        <p:spPr/>
        <p:txBody>
          <a:bodyPr>
            <a:normAutofit/>
          </a:bodyPr>
          <a:lstStyle/>
          <a:p>
            <a:r>
              <a:rPr lang="pt-BR" sz="2800" dirty="0"/>
              <a:t>Se existe um finito conjunto de garotas, cada uma delas conhece vários garotos. Sobre quais condições todas as garotas podem se casar com os garotos, de tal forma que cada garota se case com um garoto que ela conheça.</a:t>
            </a:r>
          </a:p>
        </p:txBody>
      </p:sp>
      <p:graphicFrame>
        <p:nvGraphicFramePr>
          <p:cNvPr id="4" name="Tabela 3"/>
          <p:cNvGraphicFramePr>
            <a:graphicFrameLocks noGrp="1"/>
          </p:cNvGraphicFramePr>
          <p:nvPr>
            <p:extLst>
              <p:ext uri="{D42A27DB-BD31-4B8C-83A1-F6EECF244321}">
                <p14:modId xmlns:p14="http://schemas.microsoft.com/office/powerpoint/2010/main" val="2653420502"/>
              </p:ext>
            </p:extLst>
          </p:nvPr>
        </p:nvGraphicFramePr>
        <p:xfrm>
          <a:off x="1763688" y="4454525"/>
          <a:ext cx="3600400" cy="1854200"/>
        </p:xfrm>
        <a:graphic>
          <a:graphicData uri="http://schemas.openxmlformats.org/drawingml/2006/table">
            <a:tbl>
              <a:tblPr firstRow="1" bandRow="1">
                <a:tableStyleId>{5940675A-B579-460E-94D1-54222C63F5DA}</a:tableStyleId>
              </a:tblPr>
              <a:tblGrid>
                <a:gridCol w="936104">
                  <a:extLst>
                    <a:ext uri="{9D8B030D-6E8A-4147-A177-3AD203B41FA5}">
                      <a16:colId xmlns:a16="http://schemas.microsoft.com/office/drawing/2014/main" val="20000"/>
                    </a:ext>
                  </a:extLst>
                </a:gridCol>
                <a:gridCol w="2664296">
                  <a:extLst>
                    <a:ext uri="{9D8B030D-6E8A-4147-A177-3AD203B41FA5}">
                      <a16:colId xmlns:a16="http://schemas.microsoft.com/office/drawing/2014/main" val="20001"/>
                    </a:ext>
                  </a:extLst>
                </a:gridCol>
              </a:tblGrid>
              <a:tr h="370840">
                <a:tc>
                  <a:txBody>
                    <a:bodyPr/>
                    <a:lstStyle/>
                    <a:p>
                      <a:pPr algn="l"/>
                      <a:r>
                        <a:rPr lang="pt-BR" dirty="0"/>
                        <a:t>garota</a:t>
                      </a:r>
                    </a:p>
                  </a:txBody>
                  <a:tcPr/>
                </a:tc>
                <a:tc>
                  <a:txBody>
                    <a:bodyPr/>
                    <a:lstStyle/>
                    <a:p>
                      <a:pPr algn="l"/>
                      <a:r>
                        <a:rPr lang="pt-BR" dirty="0"/>
                        <a:t>rapaz</a:t>
                      </a:r>
                    </a:p>
                  </a:txBody>
                  <a:tcPr/>
                </a:tc>
                <a:extLst>
                  <a:ext uri="{0D108BD9-81ED-4DB2-BD59-A6C34878D82A}">
                    <a16:rowId xmlns:a16="http://schemas.microsoft.com/office/drawing/2014/main" val="10000"/>
                  </a:ext>
                </a:extLst>
              </a:tr>
              <a:tr h="370840">
                <a:tc>
                  <a:txBody>
                    <a:bodyPr/>
                    <a:lstStyle/>
                    <a:p>
                      <a:pPr algn="l"/>
                      <a:r>
                        <a:rPr lang="pt-BR" dirty="0"/>
                        <a:t>g1</a:t>
                      </a:r>
                    </a:p>
                  </a:txBody>
                  <a:tcPr/>
                </a:tc>
                <a:tc>
                  <a:txBody>
                    <a:bodyPr/>
                    <a:lstStyle/>
                    <a:p>
                      <a:pPr algn="l"/>
                      <a:r>
                        <a:rPr lang="pt-BR" dirty="0"/>
                        <a:t>r1</a:t>
                      </a:r>
                      <a:r>
                        <a:rPr lang="pt-BR" baseline="0" dirty="0"/>
                        <a:t>      </a:t>
                      </a:r>
                      <a:r>
                        <a:rPr lang="pt-BR" baseline="0" dirty="0">
                          <a:solidFill>
                            <a:srgbClr val="FF0000"/>
                          </a:solidFill>
                        </a:rPr>
                        <a:t>r4</a:t>
                      </a:r>
                      <a:r>
                        <a:rPr lang="pt-BR" baseline="0" dirty="0"/>
                        <a:t>      r5</a:t>
                      </a:r>
                      <a:endParaRPr lang="pt-BR" dirty="0"/>
                    </a:p>
                  </a:txBody>
                  <a:tcPr/>
                </a:tc>
                <a:extLst>
                  <a:ext uri="{0D108BD9-81ED-4DB2-BD59-A6C34878D82A}">
                    <a16:rowId xmlns:a16="http://schemas.microsoft.com/office/drawing/2014/main" val="10001"/>
                  </a:ext>
                </a:extLst>
              </a:tr>
              <a:tr h="370840">
                <a:tc>
                  <a:txBody>
                    <a:bodyPr/>
                    <a:lstStyle/>
                    <a:p>
                      <a:pPr algn="l"/>
                      <a:r>
                        <a:rPr lang="pt-BR" dirty="0"/>
                        <a:t>g2</a:t>
                      </a:r>
                    </a:p>
                  </a:txBody>
                  <a:tcPr/>
                </a:tc>
                <a:tc>
                  <a:txBody>
                    <a:bodyPr/>
                    <a:lstStyle/>
                    <a:p>
                      <a:pPr algn="l"/>
                      <a:r>
                        <a:rPr lang="pt-BR" dirty="0">
                          <a:solidFill>
                            <a:srgbClr val="FF0000"/>
                          </a:solidFill>
                        </a:rPr>
                        <a:t>r1</a:t>
                      </a:r>
                    </a:p>
                  </a:txBody>
                  <a:tcPr/>
                </a:tc>
                <a:extLst>
                  <a:ext uri="{0D108BD9-81ED-4DB2-BD59-A6C34878D82A}">
                    <a16:rowId xmlns:a16="http://schemas.microsoft.com/office/drawing/2014/main" val="10002"/>
                  </a:ext>
                </a:extLst>
              </a:tr>
              <a:tr h="370840">
                <a:tc>
                  <a:txBody>
                    <a:bodyPr/>
                    <a:lstStyle/>
                    <a:p>
                      <a:pPr algn="l"/>
                      <a:r>
                        <a:rPr lang="pt-BR" dirty="0"/>
                        <a:t>g3</a:t>
                      </a:r>
                    </a:p>
                  </a:txBody>
                  <a:tcPr/>
                </a:tc>
                <a:tc>
                  <a:txBody>
                    <a:bodyPr/>
                    <a:lstStyle/>
                    <a:p>
                      <a:pPr algn="l"/>
                      <a:r>
                        <a:rPr lang="pt-BR" dirty="0"/>
                        <a:t>r2      </a:t>
                      </a:r>
                      <a:r>
                        <a:rPr lang="pt-BR" dirty="0">
                          <a:solidFill>
                            <a:srgbClr val="FF0000"/>
                          </a:solidFill>
                        </a:rPr>
                        <a:t>r3</a:t>
                      </a:r>
                      <a:r>
                        <a:rPr lang="pt-BR" dirty="0"/>
                        <a:t>      r4</a:t>
                      </a:r>
                    </a:p>
                  </a:txBody>
                  <a:tcPr/>
                </a:tc>
                <a:extLst>
                  <a:ext uri="{0D108BD9-81ED-4DB2-BD59-A6C34878D82A}">
                    <a16:rowId xmlns:a16="http://schemas.microsoft.com/office/drawing/2014/main" val="10003"/>
                  </a:ext>
                </a:extLst>
              </a:tr>
              <a:tr h="370840">
                <a:tc>
                  <a:txBody>
                    <a:bodyPr/>
                    <a:lstStyle/>
                    <a:p>
                      <a:pPr algn="l"/>
                      <a:r>
                        <a:rPr lang="pt-BR" dirty="0"/>
                        <a:t>g4</a:t>
                      </a:r>
                    </a:p>
                  </a:txBody>
                  <a:tcPr/>
                </a:tc>
                <a:tc>
                  <a:txBody>
                    <a:bodyPr/>
                    <a:lstStyle/>
                    <a:p>
                      <a:pPr algn="l"/>
                      <a:r>
                        <a:rPr lang="pt-BR" dirty="0">
                          <a:solidFill>
                            <a:srgbClr val="FF0000"/>
                          </a:solidFill>
                        </a:rPr>
                        <a:t>r2</a:t>
                      </a:r>
                      <a:r>
                        <a:rPr lang="pt-BR" dirty="0"/>
                        <a:t>      </a:t>
                      </a:r>
                      <a:r>
                        <a:rPr lang="pt-BR" dirty="0">
                          <a:solidFill>
                            <a:schemeClr val="tx1"/>
                          </a:solidFill>
                        </a:rPr>
                        <a:t>r4</a:t>
                      </a:r>
                    </a:p>
                  </a:txBody>
                  <a:tcPr/>
                </a:tc>
                <a:extLst>
                  <a:ext uri="{0D108BD9-81ED-4DB2-BD59-A6C34878D82A}">
                    <a16:rowId xmlns:a16="http://schemas.microsoft.com/office/drawing/2014/main" val="10004"/>
                  </a:ext>
                </a:extLst>
              </a:tr>
            </a:tbl>
          </a:graphicData>
        </a:graphic>
      </p:graphicFrame>
      <p:sp>
        <p:nvSpPr>
          <p:cNvPr id="5" name="CaixaDeTexto 4"/>
          <p:cNvSpPr txBox="1"/>
          <p:nvPr/>
        </p:nvSpPr>
        <p:spPr>
          <a:xfrm>
            <a:off x="2555776" y="4022477"/>
            <a:ext cx="1705532" cy="369332"/>
          </a:xfrm>
          <a:prstGeom prst="rect">
            <a:avLst/>
          </a:prstGeom>
          <a:noFill/>
        </p:spPr>
        <p:txBody>
          <a:bodyPr wrap="none" rtlCol="0">
            <a:spAutoFit/>
          </a:bodyPr>
          <a:lstStyle/>
          <a:p>
            <a:r>
              <a:rPr lang="pt-BR" dirty="0"/>
              <a:t>Relacionamento</a:t>
            </a:r>
          </a:p>
        </p:txBody>
      </p:sp>
      <p:sp>
        <p:nvSpPr>
          <p:cNvPr id="6" name="Elipse 5"/>
          <p:cNvSpPr/>
          <p:nvPr/>
        </p:nvSpPr>
        <p:spPr>
          <a:xfrm>
            <a:off x="6402046" y="4247793"/>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405560" y="4797152"/>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6398532" y="536078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6402046" y="5910139"/>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808846" y="3940383"/>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12360" y="4489742"/>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5332" y="5053370"/>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Elipse 12"/>
          <p:cNvSpPr/>
          <p:nvPr/>
        </p:nvSpPr>
        <p:spPr>
          <a:xfrm>
            <a:off x="7808846" y="5602729"/>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Elipse 13"/>
          <p:cNvSpPr/>
          <p:nvPr/>
        </p:nvSpPr>
        <p:spPr>
          <a:xfrm>
            <a:off x="7813025" y="6210086"/>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reto 15"/>
          <p:cNvCxnSpPr>
            <a:stCxn id="6" idx="7"/>
            <a:endCxn id="10" idx="2"/>
          </p:cNvCxnSpPr>
          <p:nvPr/>
        </p:nvCxnSpPr>
        <p:spPr>
          <a:xfrm flipV="1">
            <a:off x="6524971" y="4012391"/>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3" idx="1"/>
          </p:cNvCxnSpPr>
          <p:nvPr/>
        </p:nvCxnSpPr>
        <p:spPr>
          <a:xfrm>
            <a:off x="6546062" y="4319801"/>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6" idx="5"/>
            <a:endCxn id="14" idx="2"/>
          </p:cNvCxnSpPr>
          <p:nvPr/>
        </p:nvCxnSpPr>
        <p:spPr>
          <a:xfrm>
            <a:off x="6524971" y="4370718"/>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Conector reto 22"/>
          <p:cNvCxnSpPr>
            <a:stCxn id="7" idx="7"/>
            <a:endCxn id="10" idx="3"/>
          </p:cNvCxnSpPr>
          <p:nvPr/>
        </p:nvCxnSpPr>
        <p:spPr>
          <a:xfrm flipV="1">
            <a:off x="6528485" y="4063308"/>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Conector reto 24"/>
          <p:cNvCxnSpPr>
            <a:stCxn id="8" idx="7"/>
            <a:endCxn id="11" idx="2"/>
          </p:cNvCxnSpPr>
          <p:nvPr/>
        </p:nvCxnSpPr>
        <p:spPr>
          <a:xfrm flipV="1">
            <a:off x="6521457" y="4561750"/>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Conector reto 26"/>
          <p:cNvCxnSpPr>
            <a:stCxn id="8" idx="6"/>
            <a:endCxn id="12" idx="2"/>
          </p:cNvCxnSpPr>
          <p:nvPr/>
        </p:nvCxnSpPr>
        <p:spPr>
          <a:xfrm flipV="1">
            <a:off x="6542548" y="5125378"/>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Conector reto 29"/>
          <p:cNvCxnSpPr>
            <a:stCxn id="8" idx="5"/>
            <a:endCxn id="13" idx="2"/>
          </p:cNvCxnSpPr>
          <p:nvPr/>
        </p:nvCxnSpPr>
        <p:spPr>
          <a:xfrm>
            <a:off x="6521457" y="5483705"/>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ector reto 31"/>
          <p:cNvCxnSpPr>
            <a:stCxn id="9" idx="7"/>
            <a:endCxn id="11" idx="3"/>
          </p:cNvCxnSpPr>
          <p:nvPr/>
        </p:nvCxnSpPr>
        <p:spPr>
          <a:xfrm flipV="1">
            <a:off x="6524971" y="4612667"/>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9" idx="5"/>
            <a:endCxn id="13" idx="3"/>
          </p:cNvCxnSpPr>
          <p:nvPr/>
        </p:nvCxnSpPr>
        <p:spPr>
          <a:xfrm flipV="1">
            <a:off x="6524971" y="5725654"/>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35" name="CaixaDeTexto 34"/>
          <p:cNvSpPr txBox="1"/>
          <p:nvPr/>
        </p:nvSpPr>
        <p:spPr>
          <a:xfrm>
            <a:off x="6012160" y="4067780"/>
            <a:ext cx="410690" cy="369332"/>
          </a:xfrm>
          <a:prstGeom prst="rect">
            <a:avLst/>
          </a:prstGeom>
          <a:noFill/>
        </p:spPr>
        <p:txBody>
          <a:bodyPr wrap="none" rtlCol="0">
            <a:spAutoFit/>
          </a:bodyPr>
          <a:lstStyle/>
          <a:p>
            <a:r>
              <a:rPr lang="pt-BR" dirty="0"/>
              <a:t>g1</a:t>
            </a:r>
          </a:p>
        </p:txBody>
      </p:sp>
      <p:sp>
        <p:nvSpPr>
          <p:cNvPr id="36" name="CaixaDeTexto 35"/>
          <p:cNvSpPr txBox="1"/>
          <p:nvPr/>
        </p:nvSpPr>
        <p:spPr>
          <a:xfrm>
            <a:off x="6012160" y="4653136"/>
            <a:ext cx="410690" cy="369332"/>
          </a:xfrm>
          <a:prstGeom prst="rect">
            <a:avLst/>
          </a:prstGeom>
          <a:noFill/>
        </p:spPr>
        <p:txBody>
          <a:bodyPr wrap="none" rtlCol="0">
            <a:spAutoFit/>
          </a:bodyPr>
          <a:lstStyle/>
          <a:p>
            <a:r>
              <a:rPr lang="pt-BR" dirty="0"/>
              <a:t>g2</a:t>
            </a:r>
          </a:p>
        </p:txBody>
      </p:sp>
      <p:sp>
        <p:nvSpPr>
          <p:cNvPr id="37" name="CaixaDeTexto 36"/>
          <p:cNvSpPr txBox="1"/>
          <p:nvPr/>
        </p:nvSpPr>
        <p:spPr>
          <a:xfrm>
            <a:off x="6010170" y="5223147"/>
            <a:ext cx="410690" cy="369332"/>
          </a:xfrm>
          <a:prstGeom prst="rect">
            <a:avLst/>
          </a:prstGeom>
          <a:noFill/>
        </p:spPr>
        <p:txBody>
          <a:bodyPr wrap="none" rtlCol="0">
            <a:spAutoFit/>
          </a:bodyPr>
          <a:lstStyle/>
          <a:p>
            <a:r>
              <a:rPr lang="pt-BR" dirty="0"/>
              <a:t>g3</a:t>
            </a:r>
          </a:p>
        </p:txBody>
      </p:sp>
      <p:sp>
        <p:nvSpPr>
          <p:cNvPr id="38" name="CaixaDeTexto 37"/>
          <p:cNvSpPr txBox="1"/>
          <p:nvPr/>
        </p:nvSpPr>
        <p:spPr>
          <a:xfrm>
            <a:off x="6010170" y="5784640"/>
            <a:ext cx="410690" cy="369332"/>
          </a:xfrm>
          <a:prstGeom prst="rect">
            <a:avLst/>
          </a:prstGeom>
          <a:noFill/>
        </p:spPr>
        <p:txBody>
          <a:bodyPr wrap="none" rtlCol="0">
            <a:spAutoFit/>
          </a:bodyPr>
          <a:lstStyle/>
          <a:p>
            <a:r>
              <a:rPr lang="pt-BR" dirty="0"/>
              <a:t>g4</a:t>
            </a:r>
          </a:p>
        </p:txBody>
      </p:sp>
      <p:sp>
        <p:nvSpPr>
          <p:cNvPr id="39" name="CaixaDeTexto 38"/>
          <p:cNvSpPr txBox="1"/>
          <p:nvPr/>
        </p:nvSpPr>
        <p:spPr>
          <a:xfrm>
            <a:off x="7995837" y="3734445"/>
            <a:ext cx="381836" cy="369332"/>
          </a:xfrm>
          <a:prstGeom prst="rect">
            <a:avLst/>
          </a:prstGeom>
          <a:noFill/>
        </p:spPr>
        <p:txBody>
          <a:bodyPr wrap="none" rtlCol="0">
            <a:spAutoFit/>
          </a:bodyPr>
          <a:lstStyle/>
          <a:p>
            <a:r>
              <a:rPr lang="pt-BR" dirty="0"/>
              <a:t>r1</a:t>
            </a:r>
          </a:p>
        </p:txBody>
      </p:sp>
      <p:sp>
        <p:nvSpPr>
          <p:cNvPr id="40" name="CaixaDeTexto 39"/>
          <p:cNvSpPr txBox="1"/>
          <p:nvPr/>
        </p:nvSpPr>
        <p:spPr>
          <a:xfrm>
            <a:off x="7995837" y="4319801"/>
            <a:ext cx="381836" cy="369332"/>
          </a:xfrm>
          <a:prstGeom prst="rect">
            <a:avLst/>
          </a:prstGeom>
          <a:noFill/>
        </p:spPr>
        <p:txBody>
          <a:bodyPr wrap="none" rtlCol="0">
            <a:spAutoFit/>
          </a:bodyPr>
          <a:lstStyle/>
          <a:p>
            <a:r>
              <a:rPr lang="pt-BR" dirty="0"/>
              <a:t>r2</a:t>
            </a:r>
          </a:p>
        </p:txBody>
      </p:sp>
      <p:sp>
        <p:nvSpPr>
          <p:cNvPr id="41" name="CaixaDeTexto 40"/>
          <p:cNvSpPr txBox="1"/>
          <p:nvPr/>
        </p:nvSpPr>
        <p:spPr>
          <a:xfrm>
            <a:off x="7993847" y="4889812"/>
            <a:ext cx="381836" cy="369332"/>
          </a:xfrm>
          <a:prstGeom prst="rect">
            <a:avLst/>
          </a:prstGeom>
          <a:noFill/>
        </p:spPr>
        <p:txBody>
          <a:bodyPr wrap="none" rtlCol="0">
            <a:spAutoFit/>
          </a:bodyPr>
          <a:lstStyle/>
          <a:p>
            <a:r>
              <a:rPr lang="pt-BR" dirty="0"/>
              <a:t>r3</a:t>
            </a:r>
          </a:p>
        </p:txBody>
      </p:sp>
      <p:sp>
        <p:nvSpPr>
          <p:cNvPr id="42" name="CaixaDeTexto 41"/>
          <p:cNvSpPr txBox="1"/>
          <p:nvPr/>
        </p:nvSpPr>
        <p:spPr>
          <a:xfrm>
            <a:off x="7993847" y="5451305"/>
            <a:ext cx="381836" cy="369332"/>
          </a:xfrm>
          <a:prstGeom prst="rect">
            <a:avLst/>
          </a:prstGeom>
          <a:noFill/>
        </p:spPr>
        <p:txBody>
          <a:bodyPr wrap="none" rtlCol="0">
            <a:spAutoFit/>
          </a:bodyPr>
          <a:lstStyle/>
          <a:p>
            <a:r>
              <a:rPr lang="pt-BR" dirty="0"/>
              <a:t>r4</a:t>
            </a:r>
          </a:p>
        </p:txBody>
      </p:sp>
      <p:sp>
        <p:nvSpPr>
          <p:cNvPr id="43" name="CaixaDeTexto 42"/>
          <p:cNvSpPr txBox="1"/>
          <p:nvPr/>
        </p:nvSpPr>
        <p:spPr>
          <a:xfrm>
            <a:off x="7997693" y="6094260"/>
            <a:ext cx="381836" cy="369332"/>
          </a:xfrm>
          <a:prstGeom prst="rect">
            <a:avLst/>
          </a:prstGeom>
          <a:noFill/>
        </p:spPr>
        <p:txBody>
          <a:bodyPr wrap="none" rtlCol="0">
            <a:spAutoFit/>
          </a:bodyPr>
          <a:lstStyle/>
          <a:p>
            <a:r>
              <a:rPr lang="pt-BR" dirty="0"/>
              <a:t>r5</a:t>
            </a:r>
          </a:p>
        </p:txBody>
      </p:sp>
    </p:spTree>
    <p:extLst>
      <p:ext uri="{BB962C8B-B14F-4D97-AF65-F5344CB8AC3E}">
        <p14:creationId xmlns:p14="http://schemas.microsoft.com/office/powerpoint/2010/main" val="32140917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Tree>
    <p:extLst>
      <p:ext uri="{BB962C8B-B14F-4D97-AF65-F5344CB8AC3E}">
        <p14:creationId xmlns:p14="http://schemas.microsoft.com/office/powerpoint/2010/main" val="36568028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
        <p:nvSpPr>
          <p:cNvPr id="31" name="CaixaDeTexto 30"/>
          <p:cNvSpPr txBox="1"/>
          <p:nvPr/>
        </p:nvSpPr>
        <p:spPr>
          <a:xfrm>
            <a:off x="6053091" y="5888022"/>
            <a:ext cx="1090298" cy="369332"/>
          </a:xfrm>
          <a:prstGeom prst="rect">
            <a:avLst/>
          </a:prstGeom>
          <a:noFill/>
        </p:spPr>
        <p:txBody>
          <a:bodyPr wrap="none" rtlCol="0">
            <a:spAutoFit/>
          </a:bodyPr>
          <a:lstStyle/>
          <a:p>
            <a:r>
              <a:rPr lang="pt-BR" dirty="0"/>
              <a:t>Para k = 1</a:t>
            </a:r>
          </a:p>
        </p:txBody>
      </p:sp>
    </p:spTree>
    <p:extLst>
      <p:ext uri="{BB962C8B-B14F-4D97-AF65-F5344CB8AC3E}">
        <p14:creationId xmlns:p14="http://schemas.microsoft.com/office/powerpoint/2010/main" val="34521011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
        <p:nvSpPr>
          <p:cNvPr id="31" name="CaixaDeTexto 30"/>
          <p:cNvSpPr txBox="1"/>
          <p:nvPr/>
        </p:nvSpPr>
        <p:spPr>
          <a:xfrm>
            <a:off x="6053091" y="5888022"/>
            <a:ext cx="1090298" cy="369332"/>
          </a:xfrm>
          <a:prstGeom prst="rect">
            <a:avLst/>
          </a:prstGeom>
          <a:noFill/>
        </p:spPr>
        <p:txBody>
          <a:bodyPr wrap="none" rtlCol="0">
            <a:spAutoFit/>
          </a:bodyPr>
          <a:lstStyle/>
          <a:p>
            <a:r>
              <a:rPr lang="pt-BR" dirty="0"/>
              <a:t>Para k = 2</a:t>
            </a:r>
          </a:p>
        </p:txBody>
      </p:sp>
    </p:spTree>
    <p:extLst>
      <p:ext uri="{BB962C8B-B14F-4D97-AF65-F5344CB8AC3E}">
        <p14:creationId xmlns:p14="http://schemas.microsoft.com/office/powerpoint/2010/main" val="38362501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
        <p:nvSpPr>
          <p:cNvPr id="31" name="CaixaDeTexto 30"/>
          <p:cNvSpPr txBox="1"/>
          <p:nvPr/>
        </p:nvSpPr>
        <p:spPr>
          <a:xfrm>
            <a:off x="6053091" y="5888022"/>
            <a:ext cx="1090298" cy="369332"/>
          </a:xfrm>
          <a:prstGeom prst="rect">
            <a:avLst/>
          </a:prstGeom>
          <a:noFill/>
        </p:spPr>
        <p:txBody>
          <a:bodyPr wrap="none" rtlCol="0">
            <a:spAutoFit/>
          </a:bodyPr>
          <a:lstStyle/>
          <a:p>
            <a:r>
              <a:rPr lang="pt-BR" dirty="0"/>
              <a:t>Para k = 3</a:t>
            </a:r>
          </a:p>
        </p:txBody>
      </p:sp>
    </p:spTree>
    <p:extLst>
      <p:ext uri="{BB962C8B-B14F-4D97-AF65-F5344CB8AC3E}">
        <p14:creationId xmlns:p14="http://schemas.microsoft.com/office/powerpoint/2010/main" val="7134453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5338936" cy="4525963"/>
              </a:xfrm>
            </p:spPr>
            <p:txBody>
              <a:bodyPr>
                <a:normAutofit/>
              </a:bodyPr>
              <a:lstStyle/>
              <a:p>
                <a:r>
                  <a:rPr lang="pt-BR" dirty="0"/>
                  <a:t>Matching completo (grafos bipartidos):</a:t>
                </a:r>
              </a:p>
              <a:p>
                <a:pPr lvl="1"/>
                <a:r>
                  <a:rPr lang="pt-BR" dirty="0"/>
                  <a:t>Condição suficiente: </a:t>
                </a:r>
              </a:p>
              <a:p>
                <a:pPr lvl="2"/>
                <a:r>
                  <a:rPr lang="pt-BR" dirty="0"/>
                  <a:t>Usando a “terminologia matrimonial”, note que </a:t>
                </a:r>
                <a14:m>
                  <m:oMath xmlns:m="http://schemas.openxmlformats.org/officeDocument/2006/math">
                    <m:r>
                      <a:rPr lang="pt-BR" i="1" dirty="0" smtClean="0">
                        <a:latin typeface="Cambria Math" panose="02040503050406030204" pitchFamily="18" charset="0"/>
                      </a:rPr>
                      <m:t>𝑘</m:t>
                    </m:r>
                  </m:oMath>
                </a14:m>
                <a:r>
                  <a:rPr lang="pt-BR" dirty="0"/>
                  <a:t> garotas  devem conhecer ao menos </a:t>
                </a:r>
                <a14:m>
                  <m:oMath xmlns:m="http://schemas.openxmlformats.org/officeDocument/2006/math">
                    <m:r>
                      <a:rPr lang="pt-BR" i="1" dirty="0" smtClean="0">
                        <a:latin typeface="Cambria Math" panose="02040503050406030204" pitchFamily="18" charset="0"/>
                      </a:rPr>
                      <m:t>𝑘</m:t>
                    </m:r>
                  </m:oMath>
                </a14:m>
                <a:r>
                  <a:rPr lang="pt-BR" dirty="0"/>
                  <a:t> rapazes, para todo inteiro </a:t>
                </a:r>
                <a14:m>
                  <m:oMath xmlns:m="http://schemas.openxmlformats.org/officeDocument/2006/math">
                    <m:r>
                      <a:rPr lang="pt-BR" i="1" dirty="0" smtClean="0">
                        <a:latin typeface="Cambria Math" panose="02040503050406030204" pitchFamily="18" charset="0"/>
                      </a:rPr>
                      <m:t>𝑘</m:t>
                    </m:r>
                  </m:oMath>
                </a14:m>
                <a:r>
                  <a:rPr lang="pt-BR" dirty="0"/>
                  <a:t> satisfazendo </a:t>
                </a:r>
                <a14:m>
                  <m:oMath xmlns:m="http://schemas.openxmlformats.org/officeDocument/2006/math">
                    <m:r>
                      <a:rPr lang="pt-BR" b="0" i="1" smtClean="0">
                        <a:latin typeface="Cambria Math" panose="02040503050406030204" pitchFamily="18" charset="0"/>
                      </a:rPr>
                      <m:t>1</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𝑘</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𝑚</m:t>
                    </m:r>
                  </m:oMath>
                </a14:m>
                <a:r>
                  <a:rPr lang="pt-BR" dirty="0"/>
                  <a:t>, onde m denota o número total de garotas.</a:t>
                </a:r>
              </a:p>
              <a:p>
                <a:pPr lvl="1"/>
                <a:endParaRPr lang="pt-BR" dirty="0"/>
              </a:p>
              <a:p>
                <a:pPr lvl="1"/>
                <a:endParaRPr lang="pt-BR" sz="24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5338936" cy="4525963"/>
              </a:xfrm>
              <a:blipFill rotWithShape="0">
                <a:blip r:embed="rId2"/>
                <a:stretch>
                  <a:fillRect l="-2626" t="-1752"/>
                </a:stretch>
              </a:blipFill>
            </p:spPr>
            <p:txBody>
              <a:bodyPr/>
              <a:lstStyle/>
              <a:p>
                <a:r>
                  <a:rPr lang="pt-BR">
                    <a:noFill/>
                  </a:rPr>
                  <a:t> </a:t>
                </a:r>
              </a:p>
            </p:txBody>
          </p:sp>
        </mc:Fallback>
      </mc:AlternateContent>
      <p:sp>
        <p:nvSpPr>
          <p:cNvPr id="4" name="Elipse 3"/>
          <p:cNvSpPr/>
          <p:nvPr/>
        </p:nvSpPr>
        <p:spPr>
          <a:xfrm>
            <a:off x="6393291" y="344837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Elipse 4"/>
          <p:cNvSpPr/>
          <p:nvPr/>
        </p:nvSpPr>
        <p:spPr>
          <a:xfrm>
            <a:off x="6396805" y="399773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Elipse 5"/>
          <p:cNvSpPr/>
          <p:nvPr/>
        </p:nvSpPr>
        <p:spPr>
          <a:xfrm>
            <a:off x="6389777" y="4561365"/>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p:cNvSpPr/>
          <p:nvPr/>
        </p:nvSpPr>
        <p:spPr>
          <a:xfrm>
            <a:off x="6393291" y="511072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Elipse 7"/>
          <p:cNvSpPr/>
          <p:nvPr/>
        </p:nvSpPr>
        <p:spPr>
          <a:xfrm>
            <a:off x="7800091" y="3140968"/>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Elipse 8"/>
          <p:cNvSpPr/>
          <p:nvPr/>
        </p:nvSpPr>
        <p:spPr>
          <a:xfrm>
            <a:off x="7803605" y="3690327"/>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Elipse 9"/>
          <p:cNvSpPr/>
          <p:nvPr/>
        </p:nvSpPr>
        <p:spPr>
          <a:xfrm>
            <a:off x="7796577" y="4253955"/>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Elipse 10"/>
          <p:cNvSpPr/>
          <p:nvPr/>
        </p:nvSpPr>
        <p:spPr>
          <a:xfrm>
            <a:off x="7800091" y="4803314"/>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Elipse 11"/>
          <p:cNvSpPr/>
          <p:nvPr/>
        </p:nvSpPr>
        <p:spPr>
          <a:xfrm>
            <a:off x="7804270" y="5410671"/>
            <a:ext cx="144016" cy="144016"/>
          </a:xfrm>
          <a:prstGeom prst="ellips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Conector reto 12"/>
          <p:cNvCxnSpPr>
            <a:stCxn id="4" idx="7"/>
            <a:endCxn id="8" idx="2"/>
          </p:cNvCxnSpPr>
          <p:nvPr/>
        </p:nvCxnSpPr>
        <p:spPr>
          <a:xfrm flipV="1">
            <a:off x="6516216" y="3212976"/>
            <a:ext cx="1283875" cy="25649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Conector reto 13"/>
          <p:cNvCxnSpPr>
            <a:stCxn id="4" idx="6"/>
            <a:endCxn id="11" idx="1"/>
          </p:cNvCxnSpPr>
          <p:nvPr/>
        </p:nvCxnSpPr>
        <p:spPr>
          <a:xfrm>
            <a:off x="6537307" y="3520386"/>
            <a:ext cx="1283875" cy="13040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Conector reto 14"/>
          <p:cNvCxnSpPr>
            <a:stCxn id="4" idx="5"/>
            <a:endCxn id="12" idx="2"/>
          </p:cNvCxnSpPr>
          <p:nvPr/>
        </p:nvCxnSpPr>
        <p:spPr>
          <a:xfrm>
            <a:off x="6516216" y="3571303"/>
            <a:ext cx="1288054" cy="1911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Conector reto 15"/>
          <p:cNvCxnSpPr>
            <a:stCxn id="5" idx="7"/>
            <a:endCxn id="8" idx="3"/>
          </p:cNvCxnSpPr>
          <p:nvPr/>
        </p:nvCxnSpPr>
        <p:spPr>
          <a:xfrm flipV="1">
            <a:off x="6519730" y="3263893"/>
            <a:ext cx="1301452" cy="7549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Conector reto 16"/>
          <p:cNvCxnSpPr>
            <a:stCxn id="6" idx="7"/>
            <a:endCxn id="9" idx="2"/>
          </p:cNvCxnSpPr>
          <p:nvPr/>
        </p:nvCxnSpPr>
        <p:spPr>
          <a:xfrm flipV="1">
            <a:off x="6512702" y="3762335"/>
            <a:ext cx="1290903" cy="8201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ector reto 17"/>
          <p:cNvCxnSpPr>
            <a:stCxn id="6" idx="6"/>
            <a:endCxn id="10" idx="2"/>
          </p:cNvCxnSpPr>
          <p:nvPr/>
        </p:nvCxnSpPr>
        <p:spPr>
          <a:xfrm flipV="1">
            <a:off x="6533793" y="4325963"/>
            <a:ext cx="1262784" cy="30741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Conector reto 18"/>
          <p:cNvCxnSpPr>
            <a:stCxn id="6" idx="5"/>
            <a:endCxn id="11" idx="2"/>
          </p:cNvCxnSpPr>
          <p:nvPr/>
        </p:nvCxnSpPr>
        <p:spPr>
          <a:xfrm>
            <a:off x="6512702" y="4684290"/>
            <a:ext cx="1287389" cy="191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ector reto 19"/>
          <p:cNvCxnSpPr>
            <a:stCxn id="7" idx="7"/>
            <a:endCxn id="9" idx="3"/>
          </p:cNvCxnSpPr>
          <p:nvPr/>
        </p:nvCxnSpPr>
        <p:spPr>
          <a:xfrm flipV="1">
            <a:off x="6516216" y="3813252"/>
            <a:ext cx="1308480" cy="131856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Conector reto 20"/>
          <p:cNvCxnSpPr>
            <a:stCxn id="7" idx="5"/>
            <a:endCxn id="11" idx="3"/>
          </p:cNvCxnSpPr>
          <p:nvPr/>
        </p:nvCxnSpPr>
        <p:spPr>
          <a:xfrm flipV="1">
            <a:off x="6516216" y="4926239"/>
            <a:ext cx="1304966" cy="307410"/>
          </a:xfrm>
          <a:prstGeom prst="line">
            <a:avLst/>
          </a:prstGeom>
        </p:spPr>
        <p:style>
          <a:lnRef idx="1">
            <a:schemeClr val="accent1"/>
          </a:lnRef>
          <a:fillRef idx="0">
            <a:schemeClr val="accent1"/>
          </a:fillRef>
          <a:effectRef idx="0">
            <a:schemeClr val="accent1"/>
          </a:effectRef>
          <a:fontRef idx="minor">
            <a:schemeClr val="tx1"/>
          </a:fontRef>
        </p:style>
      </p:cxnSp>
      <p:sp>
        <p:nvSpPr>
          <p:cNvPr id="22" name="CaixaDeTexto 21"/>
          <p:cNvSpPr txBox="1"/>
          <p:nvPr/>
        </p:nvSpPr>
        <p:spPr>
          <a:xfrm>
            <a:off x="7987082" y="2935030"/>
            <a:ext cx="381836" cy="369332"/>
          </a:xfrm>
          <a:prstGeom prst="rect">
            <a:avLst/>
          </a:prstGeom>
          <a:noFill/>
        </p:spPr>
        <p:txBody>
          <a:bodyPr wrap="none" rtlCol="0">
            <a:spAutoFit/>
          </a:bodyPr>
          <a:lstStyle/>
          <a:p>
            <a:r>
              <a:rPr lang="pt-BR" dirty="0"/>
              <a:t>r1</a:t>
            </a:r>
          </a:p>
        </p:txBody>
      </p:sp>
      <p:sp>
        <p:nvSpPr>
          <p:cNvPr id="23" name="CaixaDeTexto 22"/>
          <p:cNvSpPr txBox="1"/>
          <p:nvPr/>
        </p:nvSpPr>
        <p:spPr>
          <a:xfrm>
            <a:off x="7987082" y="3520386"/>
            <a:ext cx="381836" cy="369332"/>
          </a:xfrm>
          <a:prstGeom prst="rect">
            <a:avLst/>
          </a:prstGeom>
          <a:noFill/>
        </p:spPr>
        <p:txBody>
          <a:bodyPr wrap="none" rtlCol="0">
            <a:spAutoFit/>
          </a:bodyPr>
          <a:lstStyle/>
          <a:p>
            <a:r>
              <a:rPr lang="pt-BR" dirty="0"/>
              <a:t>r2</a:t>
            </a:r>
          </a:p>
        </p:txBody>
      </p:sp>
      <p:sp>
        <p:nvSpPr>
          <p:cNvPr id="24" name="CaixaDeTexto 23"/>
          <p:cNvSpPr txBox="1"/>
          <p:nvPr/>
        </p:nvSpPr>
        <p:spPr>
          <a:xfrm>
            <a:off x="7985092" y="4090397"/>
            <a:ext cx="381836" cy="369332"/>
          </a:xfrm>
          <a:prstGeom prst="rect">
            <a:avLst/>
          </a:prstGeom>
          <a:noFill/>
        </p:spPr>
        <p:txBody>
          <a:bodyPr wrap="none" rtlCol="0">
            <a:spAutoFit/>
          </a:bodyPr>
          <a:lstStyle/>
          <a:p>
            <a:r>
              <a:rPr lang="pt-BR" dirty="0"/>
              <a:t>r3</a:t>
            </a:r>
          </a:p>
        </p:txBody>
      </p:sp>
      <p:sp>
        <p:nvSpPr>
          <p:cNvPr id="25" name="CaixaDeTexto 24"/>
          <p:cNvSpPr txBox="1"/>
          <p:nvPr/>
        </p:nvSpPr>
        <p:spPr>
          <a:xfrm>
            <a:off x="7985092" y="4651890"/>
            <a:ext cx="381836" cy="369332"/>
          </a:xfrm>
          <a:prstGeom prst="rect">
            <a:avLst/>
          </a:prstGeom>
          <a:noFill/>
        </p:spPr>
        <p:txBody>
          <a:bodyPr wrap="none" rtlCol="0">
            <a:spAutoFit/>
          </a:bodyPr>
          <a:lstStyle/>
          <a:p>
            <a:r>
              <a:rPr lang="pt-BR" dirty="0"/>
              <a:t>r4</a:t>
            </a:r>
          </a:p>
        </p:txBody>
      </p:sp>
      <p:sp>
        <p:nvSpPr>
          <p:cNvPr id="26" name="CaixaDeTexto 25"/>
          <p:cNvSpPr txBox="1"/>
          <p:nvPr/>
        </p:nvSpPr>
        <p:spPr>
          <a:xfrm>
            <a:off x="7988938" y="5294845"/>
            <a:ext cx="381836" cy="369332"/>
          </a:xfrm>
          <a:prstGeom prst="rect">
            <a:avLst/>
          </a:prstGeom>
          <a:noFill/>
        </p:spPr>
        <p:txBody>
          <a:bodyPr wrap="none" rtlCol="0">
            <a:spAutoFit/>
          </a:bodyPr>
          <a:lstStyle/>
          <a:p>
            <a:r>
              <a:rPr lang="pt-BR" dirty="0"/>
              <a:t>r5</a:t>
            </a:r>
          </a:p>
        </p:txBody>
      </p:sp>
      <p:sp>
        <p:nvSpPr>
          <p:cNvPr id="27" name="CaixaDeTexto 26"/>
          <p:cNvSpPr txBox="1"/>
          <p:nvPr/>
        </p:nvSpPr>
        <p:spPr>
          <a:xfrm>
            <a:off x="6012160" y="3287024"/>
            <a:ext cx="410690" cy="369332"/>
          </a:xfrm>
          <a:prstGeom prst="rect">
            <a:avLst/>
          </a:prstGeom>
          <a:noFill/>
        </p:spPr>
        <p:txBody>
          <a:bodyPr wrap="none" rtlCol="0">
            <a:spAutoFit/>
          </a:bodyPr>
          <a:lstStyle/>
          <a:p>
            <a:r>
              <a:rPr lang="pt-BR" dirty="0"/>
              <a:t>g1</a:t>
            </a:r>
          </a:p>
        </p:txBody>
      </p:sp>
      <p:sp>
        <p:nvSpPr>
          <p:cNvPr id="28" name="CaixaDeTexto 27"/>
          <p:cNvSpPr txBox="1"/>
          <p:nvPr/>
        </p:nvSpPr>
        <p:spPr>
          <a:xfrm>
            <a:off x="6012160" y="3872380"/>
            <a:ext cx="410690" cy="369332"/>
          </a:xfrm>
          <a:prstGeom prst="rect">
            <a:avLst/>
          </a:prstGeom>
          <a:noFill/>
        </p:spPr>
        <p:txBody>
          <a:bodyPr wrap="none" rtlCol="0">
            <a:spAutoFit/>
          </a:bodyPr>
          <a:lstStyle/>
          <a:p>
            <a:r>
              <a:rPr lang="pt-BR" dirty="0"/>
              <a:t>g2</a:t>
            </a:r>
          </a:p>
        </p:txBody>
      </p:sp>
      <p:sp>
        <p:nvSpPr>
          <p:cNvPr id="29" name="CaixaDeTexto 28"/>
          <p:cNvSpPr txBox="1"/>
          <p:nvPr/>
        </p:nvSpPr>
        <p:spPr>
          <a:xfrm>
            <a:off x="6010170" y="4442391"/>
            <a:ext cx="410690" cy="369332"/>
          </a:xfrm>
          <a:prstGeom prst="rect">
            <a:avLst/>
          </a:prstGeom>
          <a:noFill/>
        </p:spPr>
        <p:txBody>
          <a:bodyPr wrap="none" rtlCol="0">
            <a:spAutoFit/>
          </a:bodyPr>
          <a:lstStyle/>
          <a:p>
            <a:r>
              <a:rPr lang="pt-BR" dirty="0"/>
              <a:t>g3</a:t>
            </a:r>
          </a:p>
        </p:txBody>
      </p:sp>
      <p:sp>
        <p:nvSpPr>
          <p:cNvPr id="30" name="CaixaDeTexto 29"/>
          <p:cNvSpPr txBox="1"/>
          <p:nvPr/>
        </p:nvSpPr>
        <p:spPr>
          <a:xfrm>
            <a:off x="6010170" y="5003884"/>
            <a:ext cx="410690" cy="369332"/>
          </a:xfrm>
          <a:prstGeom prst="rect">
            <a:avLst/>
          </a:prstGeom>
          <a:noFill/>
        </p:spPr>
        <p:txBody>
          <a:bodyPr wrap="none" rtlCol="0">
            <a:spAutoFit/>
          </a:bodyPr>
          <a:lstStyle/>
          <a:p>
            <a:r>
              <a:rPr lang="pt-BR" dirty="0"/>
              <a:t>g4</a:t>
            </a:r>
          </a:p>
        </p:txBody>
      </p:sp>
      <p:sp>
        <p:nvSpPr>
          <p:cNvPr id="31" name="CaixaDeTexto 30"/>
          <p:cNvSpPr txBox="1"/>
          <p:nvPr/>
        </p:nvSpPr>
        <p:spPr>
          <a:xfrm>
            <a:off x="6010170" y="1700808"/>
            <a:ext cx="2882311" cy="1200329"/>
          </a:xfrm>
          <a:prstGeom prst="rect">
            <a:avLst/>
          </a:prstGeom>
          <a:noFill/>
        </p:spPr>
        <p:txBody>
          <a:bodyPr wrap="square" rtlCol="0">
            <a:spAutoFit/>
          </a:bodyPr>
          <a:lstStyle/>
          <a:p>
            <a:r>
              <a:rPr lang="pt-BR" dirty="0"/>
              <a:t>Neste exemplo, o número de garotas é sempre menor que o números de rapazes que elas conhecem </a:t>
            </a:r>
          </a:p>
        </p:txBody>
      </p:sp>
      <p:sp>
        <p:nvSpPr>
          <p:cNvPr id="32" name="CaixaDeTexto 31"/>
          <p:cNvSpPr txBox="1"/>
          <p:nvPr/>
        </p:nvSpPr>
        <p:spPr>
          <a:xfrm>
            <a:off x="6053091" y="5888022"/>
            <a:ext cx="1090298" cy="369332"/>
          </a:xfrm>
          <a:prstGeom prst="rect">
            <a:avLst/>
          </a:prstGeom>
          <a:noFill/>
        </p:spPr>
        <p:txBody>
          <a:bodyPr wrap="none" rtlCol="0">
            <a:spAutoFit/>
          </a:bodyPr>
          <a:lstStyle/>
          <a:p>
            <a:r>
              <a:rPr lang="pt-BR" dirty="0"/>
              <a:t>Para k = 4</a:t>
            </a:r>
          </a:p>
        </p:txBody>
      </p:sp>
    </p:spTree>
    <p:extLst>
      <p:ext uri="{BB962C8B-B14F-4D97-AF65-F5344CB8AC3E}">
        <p14:creationId xmlns:p14="http://schemas.microsoft.com/office/powerpoint/2010/main" val="30390920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lstStyle/>
              <a:p>
                <a:r>
                  <a:rPr lang="pt-BR" dirty="0"/>
                  <a:t>Teorema de Hall:</a:t>
                </a:r>
              </a:p>
              <a:p>
                <a:pPr lvl="1"/>
                <a:r>
                  <a:rPr lang="pt-BR" dirty="0"/>
                  <a:t>Seja </a:t>
                </a:r>
                <a14:m>
                  <m:oMath xmlns:m="http://schemas.openxmlformats.org/officeDocument/2006/math">
                    <m:r>
                      <a:rPr lang="pt-BR" i="1" dirty="0">
                        <a:latin typeface="Cambria Math"/>
                      </a:rPr>
                      <m:t>𝐺</m:t>
                    </m:r>
                    <m:r>
                      <a:rPr lang="pt-BR" i="1" dirty="0">
                        <a:latin typeface="Cambria Math"/>
                      </a:rPr>
                      <m:t>=(</m:t>
                    </m:r>
                    <m:r>
                      <a:rPr lang="pt-BR" i="1" dirty="0">
                        <a:latin typeface="Cambria Math"/>
                      </a:rPr>
                      <m:t>𝑋</m:t>
                    </m:r>
                    <m:r>
                      <a:rPr lang="pt-BR" i="1" dirty="0">
                        <a:latin typeface="Cambria Math"/>
                        <a:ea typeface="Cambria Math"/>
                      </a:rPr>
                      <m:t>∪</m:t>
                    </m:r>
                    <m:r>
                      <a:rPr lang="pt-BR" i="1" dirty="0">
                        <a:latin typeface="Cambria Math"/>
                      </a:rPr>
                      <m:t>𝑌</m:t>
                    </m:r>
                    <m:r>
                      <a:rPr lang="pt-BR" i="1" dirty="0">
                        <a:latin typeface="Cambria Math"/>
                      </a:rPr>
                      <m:t>, </m:t>
                    </m:r>
                    <m:r>
                      <a:rPr lang="pt-BR" i="1" dirty="0">
                        <a:latin typeface="Cambria Math"/>
                      </a:rPr>
                      <m:t>𝐸</m:t>
                    </m:r>
                    <m:r>
                      <a:rPr lang="pt-BR" i="1" dirty="0">
                        <a:latin typeface="Cambria Math"/>
                      </a:rPr>
                      <m:t>) </m:t>
                    </m:r>
                  </m:oMath>
                </a14:m>
                <a:r>
                  <a:rPr lang="pt-BR" dirty="0"/>
                  <a:t>um grafo bipartido</a:t>
                </a:r>
              </a:p>
              <a:p>
                <a:pPr lvl="1"/>
                <a:r>
                  <a:rPr lang="pt-BR" dirty="0"/>
                  <a:t>Existe um </a:t>
                </a:r>
                <a:r>
                  <a:rPr lang="pt-BR" dirty="0" err="1"/>
                  <a:t>matching</a:t>
                </a:r>
                <a:r>
                  <a:rPr lang="pt-BR" dirty="0"/>
                  <a:t> completo de </a:t>
                </a:r>
                <a14:m>
                  <m:oMath xmlns:m="http://schemas.openxmlformats.org/officeDocument/2006/math">
                    <m:r>
                      <a:rPr lang="pt-BR" i="1" dirty="0" smtClean="0">
                        <a:latin typeface="Cambria Math" panose="02040503050406030204" pitchFamily="18" charset="0"/>
                      </a:rPr>
                      <m:t>𝑋</m:t>
                    </m:r>
                    <m:r>
                      <a:rPr lang="pt-BR" i="1" dirty="0" smtClean="0">
                        <a:latin typeface="Cambria Math" panose="02040503050406030204" pitchFamily="18" charset="0"/>
                      </a:rPr>
                      <m:t> </m:t>
                    </m:r>
                  </m:oMath>
                </a14:m>
                <a:r>
                  <a:rPr lang="pt-BR" dirty="0"/>
                  <a:t>para </a:t>
                </a:r>
                <a14:m>
                  <m:oMath xmlns:m="http://schemas.openxmlformats.org/officeDocument/2006/math">
                    <m:r>
                      <a:rPr lang="pt-BR" i="1" dirty="0" smtClean="0">
                        <a:latin typeface="Cambria Math" panose="02040503050406030204" pitchFamily="18" charset="0"/>
                      </a:rPr>
                      <m:t>𝑌</m:t>
                    </m:r>
                  </m:oMath>
                </a14:m>
                <a:r>
                  <a:rPr lang="pt-BR" dirty="0"/>
                  <a:t> se e somente se </a:t>
                </a:r>
                <a14:m>
                  <m:oMath xmlns:m="http://schemas.openxmlformats.org/officeDocument/2006/math">
                    <m:r>
                      <a:rPr lang="pt-BR" b="0" i="0" smtClean="0">
                        <a:latin typeface="Cambria Math" panose="02040503050406030204" pitchFamily="18" charset="0"/>
                        <a:ea typeface="Cambria Math" panose="02040503050406030204" pitchFamily="18" charset="0"/>
                      </a:rPr>
                      <m:t>|</m:t>
                    </m:r>
                    <m:r>
                      <m:rPr>
                        <m:sty m:val="p"/>
                      </m:rPr>
                      <a:rPr lang="el-GR" i="1" smtClean="0">
                        <a:latin typeface="Cambria Math" panose="02040503050406030204" pitchFamily="18" charset="0"/>
                        <a:ea typeface="Cambria Math" panose="02040503050406030204" pitchFamily="18" charset="0"/>
                      </a:rPr>
                      <m:t>Γ</m:t>
                    </m:r>
                    <m:d>
                      <m:dPr>
                        <m:ctrlPr>
                          <a:rPr lang="pt-BR" b="0" i="1" smtClean="0">
                            <a:latin typeface="Cambria Math" panose="02040503050406030204" pitchFamily="18" charset="0"/>
                            <a:ea typeface="Cambria Math" panose="02040503050406030204" pitchFamily="18" charset="0"/>
                          </a:rPr>
                        </m:ctrlPr>
                      </m:dPr>
                      <m:e>
                        <m:r>
                          <a:rPr lang="pt-BR" b="0" i="1" smtClean="0">
                            <a:latin typeface="Cambria Math" panose="02040503050406030204" pitchFamily="18" charset="0"/>
                            <a:ea typeface="Cambria Math" panose="02040503050406030204" pitchFamily="18" charset="0"/>
                          </a:rPr>
                          <m:t>𝑆</m:t>
                        </m:r>
                      </m:e>
                    </m:d>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𝑆</m:t>
                    </m:r>
                    <m:r>
                      <a:rPr lang="pt-BR" b="0" i="1" smtClean="0">
                        <a:latin typeface="Cambria Math" panose="02040503050406030204" pitchFamily="18" charset="0"/>
                        <a:ea typeface="Cambria Math" panose="02040503050406030204" pitchFamily="18" charset="0"/>
                      </a:rPr>
                      <m:t>|</m:t>
                    </m:r>
                  </m:oMath>
                </a14:m>
                <a:r>
                  <a:rPr lang="pt-BR" dirty="0"/>
                  <a:t> para todo </a:t>
                </a:r>
                <a14:m>
                  <m:oMath xmlns:m="http://schemas.openxmlformats.org/officeDocument/2006/math">
                    <m:r>
                      <a:rPr lang="pt-BR" b="0" i="1" smtClean="0">
                        <a:latin typeface="Cambria Math" panose="02040503050406030204" pitchFamily="18" charset="0"/>
                      </a:rPr>
                      <m:t>𝑆</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𝑋</m:t>
                    </m:r>
                  </m:oMath>
                </a14:m>
                <a:r>
                  <a:rPr lang="pt-BR" dirty="0"/>
                  <a:t>.</a:t>
                </a:r>
              </a:p>
              <a:p>
                <a:pPr lvl="2"/>
                <a:r>
                  <a:rPr lang="pt-BR" dirty="0">
                    <a:ea typeface="Cambria Math" panose="02040503050406030204" pitchFamily="18" charset="0"/>
                  </a:rPr>
                  <a:t>Obs.: </a:t>
                </a:r>
                <a14:m>
                  <m:oMath xmlns:m="http://schemas.openxmlformats.org/officeDocument/2006/math">
                    <m:d>
                      <m:dPr>
                        <m:begChr m:val="|"/>
                        <m:endChr m:val="|"/>
                        <m:ctrlPr>
                          <a:rPr lang="pt-BR" i="1">
                            <a:latin typeface="Cambria Math" panose="02040503050406030204" pitchFamily="18" charset="0"/>
                            <a:ea typeface="Cambria Math" panose="02040503050406030204" pitchFamily="18" charset="0"/>
                          </a:rPr>
                        </m:ctrlPr>
                      </m:dPr>
                      <m:e>
                        <m:r>
                          <m:rPr>
                            <m:sty m:val="p"/>
                          </m:rPr>
                          <a:rPr lang="el-GR" i="1">
                            <a:latin typeface="Cambria Math" panose="02040503050406030204" pitchFamily="18" charset="0"/>
                            <a:ea typeface="Cambria Math" panose="02040503050406030204" pitchFamily="18" charset="0"/>
                          </a:rPr>
                          <m:t>Γ</m:t>
                        </m:r>
                        <m:d>
                          <m:dPr>
                            <m:ctrlPr>
                              <a:rPr lang="pt-BR" i="1">
                                <a:latin typeface="Cambria Math" panose="02040503050406030204" pitchFamily="18" charset="0"/>
                                <a:ea typeface="Cambria Math" panose="02040503050406030204" pitchFamily="18" charset="0"/>
                              </a:rPr>
                            </m:ctrlPr>
                          </m:dPr>
                          <m:e>
                            <m:r>
                              <a:rPr lang="pt-BR" i="1">
                                <a:latin typeface="Cambria Math" panose="02040503050406030204" pitchFamily="18" charset="0"/>
                                <a:ea typeface="Cambria Math" panose="02040503050406030204" pitchFamily="18" charset="0"/>
                              </a:rPr>
                              <m:t>𝑆</m:t>
                            </m:r>
                          </m:e>
                        </m:d>
                      </m:e>
                    </m:d>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𝑎𝑑𝑗</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𝑆</m:t>
                    </m:r>
                    <m:r>
                      <a:rPr lang="pt-BR" b="0" i="1" smtClean="0">
                        <a:latin typeface="Cambria Math" panose="02040503050406030204" pitchFamily="18" charset="0"/>
                        <a:ea typeface="Cambria Math" panose="02040503050406030204" pitchFamily="18" charset="0"/>
                      </a:rPr>
                      <m:t>)</m:t>
                    </m:r>
                  </m:oMath>
                </a14:m>
                <a:r>
                  <a:rPr lang="pt-BR" dirty="0"/>
                  <a:t>. Ou seja, é a quantidade de vértices adjacentes aos vértices do conjunto S.</a:t>
                </a:r>
              </a:p>
              <a:p>
                <a:pPr marL="914400" lvl="2" indent="0">
                  <a:buNone/>
                </a:pPr>
                <a:endParaRPr lang="pt-BR"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704" t="-1752"/>
                </a:stretch>
              </a:blipFill>
            </p:spPr>
            <p:txBody>
              <a:bodyPr/>
              <a:lstStyle/>
              <a:p>
                <a:r>
                  <a:rPr lang="pt-BR">
                    <a:noFill/>
                  </a:rPr>
                  <a:t> </a:t>
                </a:r>
              </a:p>
            </p:txBody>
          </p:sp>
        </mc:Fallback>
      </mc:AlternateContent>
    </p:spTree>
    <p:extLst>
      <p:ext uri="{BB962C8B-B14F-4D97-AF65-F5344CB8AC3E}">
        <p14:creationId xmlns:p14="http://schemas.microsoft.com/office/powerpoint/2010/main" val="38182336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Casamentos</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p:txBody>
              <a:bodyPr>
                <a:normAutofit/>
              </a:bodyPr>
              <a:lstStyle/>
              <a:p>
                <a:r>
                  <a:rPr lang="pt-BR" sz="2800" dirty="0"/>
                  <a:t>Considere que cada aresta </a:t>
                </a:r>
                <a14:m>
                  <m:oMath xmlns:m="http://schemas.openxmlformats.org/officeDocument/2006/math">
                    <m:r>
                      <a:rPr lang="pt-BR" sz="2800" i="1" dirty="0" smtClean="0">
                        <a:latin typeface="Cambria Math" panose="02040503050406030204" pitchFamily="18" charset="0"/>
                      </a:rPr>
                      <m:t>𝑒</m:t>
                    </m:r>
                  </m:oMath>
                </a14:m>
                <a:r>
                  <a:rPr lang="pt-BR" sz="2800" dirty="0"/>
                  <a:t> de </a:t>
                </a:r>
                <a14:m>
                  <m:oMath xmlns:m="http://schemas.openxmlformats.org/officeDocument/2006/math">
                    <m:r>
                      <a:rPr lang="pt-BR" sz="2800" i="1" dirty="0" smtClean="0">
                        <a:latin typeface="Cambria Math" panose="02040503050406030204" pitchFamily="18" charset="0"/>
                      </a:rPr>
                      <m:t>𝐺</m:t>
                    </m:r>
                  </m:oMath>
                </a14:m>
                <a:r>
                  <a:rPr lang="pt-BR" sz="2800" dirty="0"/>
                  <a:t> receba um peso associado </a:t>
                </a:r>
                <a14:m>
                  <m:oMath xmlns:m="http://schemas.openxmlformats.org/officeDocument/2006/math">
                    <m:sSub>
                      <m:sSubPr>
                        <m:ctrlPr>
                          <a:rPr lang="pt-BR" sz="2800" i="1" smtClean="0">
                            <a:latin typeface="Cambria Math" panose="02040503050406030204" pitchFamily="18" charset="0"/>
                          </a:rPr>
                        </m:ctrlPr>
                      </m:sSubPr>
                      <m:e>
                        <m:r>
                          <a:rPr lang="pt-BR" sz="2800" b="0" i="1" smtClean="0">
                            <a:latin typeface="Cambria Math" panose="02040503050406030204" pitchFamily="18" charset="0"/>
                          </a:rPr>
                          <m:t>𝑤</m:t>
                        </m:r>
                      </m:e>
                      <m:sub>
                        <m:r>
                          <a:rPr lang="pt-BR" sz="2800" b="0" i="1" smtClean="0">
                            <a:latin typeface="Cambria Math" panose="02040503050406030204" pitchFamily="18" charset="0"/>
                          </a:rPr>
                          <m:t>𝑒</m:t>
                        </m:r>
                      </m:sub>
                    </m:sSub>
                  </m:oMath>
                </a14:m>
                <a:endParaRPr lang="pt-BR" sz="2800" dirty="0"/>
              </a:p>
              <a:p>
                <a:r>
                  <a:rPr lang="pt-BR" sz="2800" dirty="0"/>
                  <a:t>O peso de um </a:t>
                </a:r>
                <a:r>
                  <a:rPr lang="pt-BR" sz="2800" dirty="0" err="1"/>
                  <a:t>matching</a:t>
                </a:r>
                <a:r>
                  <a:rPr lang="pt-BR" sz="2800" dirty="0"/>
                  <a:t> é dado pelo somatório do peso de suas arestas.</a:t>
                </a:r>
              </a:p>
              <a:p>
                <a:r>
                  <a:rPr lang="pt-BR" sz="2800" dirty="0"/>
                  <a:t>Um </a:t>
                </a:r>
                <a:r>
                  <a:rPr lang="pt-BR" sz="2800" dirty="0" err="1"/>
                  <a:t>matching</a:t>
                </a:r>
                <a:r>
                  <a:rPr lang="pt-BR" sz="2800" dirty="0"/>
                  <a:t> M é um </a:t>
                </a:r>
                <a:r>
                  <a:rPr lang="pt-BR" sz="2800" dirty="0" err="1"/>
                  <a:t>matching</a:t>
                </a:r>
                <a:r>
                  <a:rPr lang="pt-BR" sz="2800" dirty="0"/>
                  <a:t> de peso máximo se o somatório de seus pesos for o máximo em </a:t>
                </a:r>
                <a14:m>
                  <m:oMath xmlns:m="http://schemas.openxmlformats.org/officeDocument/2006/math">
                    <m:r>
                      <a:rPr lang="pt-BR" sz="2800" i="1" dirty="0" smtClean="0">
                        <a:latin typeface="Cambria Math" panose="02040503050406030204" pitchFamily="18" charset="0"/>
                      </a:rPr>
                      <m:t>𝐺</m:t>
                    </m:r>
                  </m:oMath>
                </a14:m>
                <a:r>
                  <a:rPr lang="pt-BR" sz="2800" dirty="0"/>
                  <a:t>. </a:t>
                </a:r>
              </a:p>
              <a:p>
                <a:r>
                  <a:rPr lang="pt-BR" sz="2800" dirty="0"/>
                  <a:t>Problema:  Encontrar um emparelhamento máximo num grafo não-dirigido. </a:t>
                </a:r>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blipFill rotWithShape="0">
                <a:blip r:embed="rId2"/>
                <a:stretch>
                  <a:fillRect l="-1333" t="-1348" r="-2000"/>
                </a:stretch>
              </a:blipFill>
            </p:spPr>
            <p:txBody>
              <a:bodyPr/>
              <a:lstStyle/>
              <a:p>
                <a:r>
                  <a:rPr lang="pt-BR">
                    <a:noFill/>
                  </a:rPr>
                  <a:t> </a:t>
                </a:r>
              </a:p>
            </p:txBody>
          </p:sp>
        </mc:Fallback>
      </mc:AlternateContent>
    </p:spTree>
    <p:extLst>
      <p:ext uri="{BB962C8B-B14F-4D97-AF65-F5344CB8AC3E}">
        <p14:creationId xmlns:p14="http://schemas.microsoft.com/office/powerpoint/2010/main" val="23980756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mc:AlternateContent xmlns:mc="http://schemas.openxmlformats.org/markup-compatibility/2006">
        <mc:Choice xmlns:a14="http://schemas.microsoft.com/office/drawing/2010/main" Requires="a14">
          <p:sp>
            <p:nvSpPr>
              <p:cNvPr id="3" name="Espaço Reservado para Conteúdo 2"/>
              <p:cNvSpPr>
                <a:spLocks noGrp="1"/>
              </p:cNvSpPr>
              <p:nvPr>
                <p:ph idx="1"/>
              </p:nvPr>
            </p:nvSpPr>
            <p:spPr/>
            <p:txBody>
              <a:bodyPr>
                <a:normAutofit/>
              </a:bodyPr>
              <a:lstStyle/>
              <a:p>
                <a:r>
                  <a:rPr lang="pt-BR" sz="2400" dirty="0"/>
                  <a:t>Considere que há </a:t>
                </a:r>
                <a14:m>
                  <m:oMath xmlns:m="http://schemas.openxmlformats.org/officeDocument/2006/math">
                    <m:r>
                      <a:rPr lang="pt-BR" sz="2400" i="1" dirty="0" smtClean="0">
                        <a:latin typeface="Cambria Math" panose="02040503050406030204" pitchFamily="18" charset="0"/>
                      </a:rPr>
                      <m:t>𝑛</m:t>
                    </m:r>
                  </m:oMath>
                </a14:m>
                <a:r>
                  <a:rPr lang="pt-BR" sz="2400" dirty="0"/>
                  <a:t> funcionários (conjunto C) que deverão ser escolhidos para executarem n tarefas (conjunto T).</a:t>
                </a:r>
              </a:p>
              <a:p>
                <a14:m>
                  <m:oMath xmlns:m="http://schemas.openxmlformats.org/officeDocument/2006/math">
                    <m:sSub>
                      <m:sSubPr>
                        <m:ctrlPr>
                          <a:rPr lang="pt-BR" sz="2400" i="1" smtClean="0">
                            <a:latin typeface="Cambria Math" panose="02040503050406030204" pitchFamily="18" charset="0"/>
                          </a:rPr>
                        </m:ctrlPr>
                      </m:sSubPr>
                      <m:e>
                        <m:r>
                          <a:rPr lang="pt-BR" sz="2400" b="0" i="1" smtClean="0">
                            <a:latin typeface="Cambria Math" panose="02040503050406030204" pitchFamily="18" charset="0"/>
                          </a:rPr>
                          <m:t>𝑤</m:t>
                        </m:r>
                      </m:e>
                      <m:sub>
                        <m:r>
                          <a:rPr lang="pt-BR" sz="2400" b="0" i="1" smtClean="0">
                            <a:latin typeface="Cambria Math" panose="02040503050406030204" pitchFamily="18" charset="0"/>
                          </a:rPr>
                          <m:t>𝑖𝑗</m:t>
                        </m:r>
                      </m:sub>
                    </m:sSub>
                  </m:oMath>
                </a14:m>
                <a:r>
                  <a:rPr lang="pt-BR" sz="2400" dirty="0"/>
                  <a:t> = capacidade do funcionário </a:t>
                </a:r>
                <a14:m>
                  <m:oMath xmlns:m="http://schemas.openxmlformats.org/officeDocument/2006/math">
                    <m:r>
                      <a:rPr lang="pt-BR" sz="2400" i="1" dirty="0" smtClean="0">
                        <a:latin typeface="Cambria Math" panose="02040503050406030204" pitchFamily="18" charset="0"/>
                      </a:rPr>
                      <m:t>𝑖</m:t>
                    </m:r>
                  </m:oMath>
                </a14:m>
                <a:r>
                  <a:rPr lang="pt-BR" sz="2400" dirty="0"/>
                  <a:t> executar a tarefa</a:t>
                </a:r>
                <a14:m>
                  <m:oMath xmlns:m="http://schemas.openxmlformats.org/officeDocument/2006/math">
                    <m:r>
                      <a:rPr lang="pt-BR" sz="2400" i="1" dirty="0" smtClean="0">
                        <a:latin typeface="Cambria Math" panose="02040503050406030204" pitchFamily="18" charset="0"/>
                      </a:rPr>
                      <m:t> </m:t>
                    </m:r>
                    <m:r>
                      <a:rPr lang="pt-BR" sz="2400" i="1" dirty="0" smtClean="0">
                        <a:latin typeface="Cambria Math" panose="02040503050406030204" pitchFamily="18" charset="0"/>
                      </a:rPr>
                      <m:t>𝑗</m:t>
                    </m:r>
                  </m:oMath>
                </a14:m>
                <a:r>
                  <a:rPr lang="pt-BR" sz="2400" dirty="0"/>
                  <a:t>.</a:t>
                </a:r>
              </a:p>
              <a:p>
                <a:r>
                  <a:rPr lang="pt-BR" sz="2400" dirty="0"/>
                  <a:t>Determinar quais funcionários deverão ser escalados para cada tarefa de modo a obtermos a maior soma das capacidades possível</a:t>
                </a:r>
              </a:p>
              <a:p>
                <a:r>
                  <a:rPr lang="pt-BR" sz="2400" dirty="0"/>
                  <a:t>Grafo: </a:t>
                </a:r>
              </a:p>
              <a:p>
                <a:pPr lvl="1"/>
                <a:r>
                  <a:rPr lang="pt-BR" sz="2000" dirty="0"/>
                  <a:t>Vértices = </a:t>
                </a:r>
                <a14:m>
                  <m:oMath xmlns:m="http://schemas.openxmlformats.org/officeDocument/2006/math">
                    <m:r>
                      <a:rPr lang="pt-BR" sz="2000" b="0" i="1" smtClean="0">
                        <a:latin typeface="Cambria Math" panose="02040503050406030204" pitchFamily="18" charset="0"/>
                      </a:rPr>
                      <m:t>𝐶</m:t>
                    </m:r>
                    <m:r>
                      <a:rPr lang="pt-BR" sz="2000" b="0" i="1" smtClean="0">
                        <a:latin typeface="Cambria Math" panose="02040503050406030204" pitchFamily="18" charset="0"/>
                        <a:ea typeface="Cambria Math" panose="02040503050406030204" pitchFamily="18" charset="0"/>
                      </a:rPr>
                      <m:t>∪</m:t>
                    </m:r>
                    <m:r>
                      <a:rPr lang="pt-BR" sz="2000" b="0" i="1" smtClean="0">
                        <a:latin typeface="Cambria Math" panose="02040503050406030204" pitchFamily="18" charset="0"/>
                        <a:ea typeface="Cambria Math" panose="02040503050406030204" pitchFamily="18" charset="0"/>
                      </a:rPr>
                      <m:t>𝑇</m:t>
                    </m:r>
                  </m:oMath>
                </a14:m>
                <a:endParaRPr lang="pt-BR" sz="2000" dirty="0"/>
              </a:p>
              <a:p>
                <a:pPr lvl="1"/>
                <a:r>
                  <a:rPr lang="pt-BR" sz="2000" dirty="0"/>
                  <a:t>Arestas = </a:t>
                </a:r>
                <a14:m>
                  <m:oMath xmlns:m="http://schemas.openxmlformats.org/officeDocument/2006/math">
                    <m:d>
                      <m:dPr>
                        <m:ctrlPr>
                          <a:rPr lang="pt-BR" sz="2000" b="0" i="1" smtClean="0">
                            <a:latin typeface="Cambria Math" panose="02040503050406030204" pitchFamily="18" charset="0"/>
                          </a:rPr>
                        </m:ctrlPr>
                      </m:dPr>
                      <m:e>
                        <m:r>
                          <a:rPr lang="pt-BR" sz="2000" b="0" i="1" smtClean="0">
                            <a:latin typeface="Cambria Math" panose="02040503050406030204" pitchFamily="18" charset="0"/>
                          </a:rPr>
                          <m:t>𝑐</m:t>
                        </m:r>
                        <m:r>
                          <a:rPr lang="pt-BR" sz="2000" b="0" i="1" smtClean="0">
                            <a:latin typeface="Cambria Math" panose="02040503050406030204" pitchFamily="18" charset="0"/>
                          </a:rPr>
                          <m:t>, </m:t>
                        </m:r>
                        <m:r>
                          <a:rPr lang="pt-BR" sz="2000" b="0" i="1" smtClean="0">
                            <a:latin typeface="Cambria Math" panose="02040503050406030204" pitchFamily="18" charset="0"/>
                          </a:rPr>
                          <m:t>𝑡</m:t>
                        </m:r>
                      </m:e>
                    </m:d>
                    <m:r>
                      <a:rPr lang="pt-BR" sz="2000" b="0" i="1" smtClean="0">
                        <a:latin typeface="Cambria Math" panose="02040503050406030204" pitchFamily="18" charset="0"/>
                      </a:rPr>
                      <m:t>, </m:t>
                    </m:r>
                    <m:r>
                      <a:rPr lang="pt-BR" sz="2000" b="0" i="1" smtClean="0">
                        <a:latin typeface="Cambria Math" panose="02040503050406030204" pitchFamily="18" charset="0"/>
                      </a:rPr>
                      <m:t>𝑐</m:t>
                    </m:r>
                    <m:r>
                      <a:rPr lang="pt-BR" sz="2000" b="0" i="1" smtClean="0">
                        <a:latin typeface="Cambria Math" panose="02040503050406030204" pitchFamily="18" charset="0"/>
                        <a:ea typeface="Cambria Math" panose="02040503050406030204" pitchFamily="18" charset="0"/>
                      </a:rPr>
                      <m:t>∈</m:t>
                    </m:r>
                    <m:r>
                      <a:rPr lang="pt-BR" sz="2000" b="0" i="1" smtClean="0">
                        <a:latin typeface="Cambria Math" panose="02040503050406030204" pitchFamily="18" charset="0"/>
                        <a:ea typeface="Cambria Math" panose="02040503050406030204" pitchFamily="18" charset="0"/>
                      </a:rPr>
                      <m:t>𝐶</m:t>
                    </m:r>
                    <m:r>
                      <a:rPr lang="pt-BR" sz="2000" b="0" i="1" smtClean="0">
                        <a:latin typeface="Cambria Math" panose="02040503050406030204" pitchFamily="18" charset="0"/>
                        <a:ea typeface="Cambria Math" panose="02040503050406030204" pitchFamily="18" charset="0"/>
                      </a:rPr>
                      <m:t>, </m:t>
                    </m:r>
                    <m:r>
                      <a:rPr lang="pt-BR" sz="2000" b="0" i="1" smtClean="0">
                        <a:latin typeface="Cambria Math" panose="02040503050406030204" pitchFamily="18" charset="0"/>
                        <a:ea typeface="Cambria Math" panose="02040503050406030204" pitchFamily="18" charset="0"/>
                      </a:rPr>
                      <m:t>𝑡</m:t>
                    </m:r>
                    <m:r>
                      <a:rPr lang="pt-BR" sz="2000" i="1">
                        <a:latin typeface="Cambria Math" panose="02040503050406030204" pitchFamily="18" charset="0"/>
                        <a:ea typeface="Cambria Math" panose="02040503050406030204" pitchFamily="18" charset="0"/>
                      </a:rPr>
                      <m:t>∈</m:t>
                    </m:r>
                    <m:r>
                      <a:rPr lang="pt-BR" sz="2000" b="0" i="1" smtClean="0">
                        <a:latin typeface="Cambria Math" panose="02040503050406030204" pitchFamily="18" charset="0"/>
                        <a:ea typeface="Cambria Math" panose="02040503050406030204" pitchFamily="18" charset="0"/>
                      </a:rPr>
                      <m:t>𝑇</m:t>
                    </m:r>
                  </m:oMath>
                </a14:m>
                <a:r>
                  <a:rPr lang="pt-BR" sz="2000" dirty="0"/>
                  <a:t>, com peso </a:t>
                </a:r>
                <a14:m>
                  <m:oMath xmlns:m="http://schemas.openxmlformats.org/officeDocument/2006/math">
                    <m:sSub>
                      <m:sSubPr>
                        <m:ctrlPr>
                          <a:rPr lang="pt-BR" sz="2000" i="1" smtClean="0">
                            <a:latin typeface="Cambria Math" panose="02040503050406030204" pitchFamily="18" charset="0"/>
                          </a:rPr>
                        </m:ctrlPr>
                      </m:sSubPr>
                      <m:e>
                        <m:r>
                          <a:rPr lang="pt-BR" sz="2000" b="0" i="1" smtClean="0">
                            <a:latin typeface="Cambria Math" panose="02040503050406030204" pitchFamily="18" charset="0"/>
                          </a:rPr>
                          <m:t>𝑤</m:t>
                        </m:r>
                      </m:e>
                      <m:sub>
                        <m:r>
                          <a:rPr lang="pt-BR" sz="2000" b="0" i="1" smtClean="0">
                            <a:latin typeface="Cambria Math" panose="02040503050406030204" pitchFamily="18" charset="0"/>
                          </a:rPr>
                          <m:t>𝑐𝑡</m:t>
                        </m:r>
                      </m:sub>
                    </m:sSub>
                  </m:oMath>
                </a14:m>
                <a:endParaRPr lang="pt-BR" sz="2000" dirty="0"/>
              </a:p>
              <a:p>
                <a:r>
                  <a:rPr lang="pt-BR" sz="2400" dirty="0"/>
                  <a:t>Solução: encontrar o </a:t>
                </a:r>
                <a:r>
                  <a:rPr lang="pt-BR" sz="2400" dirty="0" err="1"/>
                  <a:t>matching</a:t>
                </a:r>
                <a:r>
                  <a:rPr lang="pt-BR" sz="2400" dirty="0"/>
                  <a:t> de peso máximo.</a:t>
                </a:r>
              </a:p>
            </p:txBody>
          </p:sp>
        </mc:Choice>
        <mc:Fallback>
          <p:sp>
            <p:nvSpPr>
              <p:cNvPr id="3" name="Espaço Reservado para Conteúdo 2"/>
              <p:cNvSpPr>
                <a:spLocks noGrp="1" noRot="1" noChangeAspect="1" noMove="1" noResize="1" noEditPoints="1" noAdjustHandles="1" noChangeArrowheads="1" noChangeShapeType="1" noTextEdit="1"/>
              </p:cNvSpPr>
              <p:nvPr>
                <p:ph idx="1"/>
              </p:nvPr>
            </p:nvSpPr>
            <p:spPr>
              <a:blipFill>
                <a:blip r:embed="rId2"/>
                <a:stretch>
                  <a:fillRect l="-963" t="-1078" r="-1259"/>
                </a:stretch>
              </a:blipFill>
            </p:spPr>
            <p:txBody>
              <a:bodyPr/>
              <a:lstStyle/>
              <a:p>
                <a:r>
                  <a:rPr lang="pt-BR">
                    <a:noFill/>
                  </a:rPr>
                  <a:t> </a:t>
                </a:r>
              </a:p>
            </p:txBody>
          </p:sp>
        </mc:Fallback>
      </mc:AlternateContent>
    </p:spTree>
    <p:extLst>
      <p:ext uri="{BB962C8B-B14F-4D97-AF65-F5344CB8AC3E}">
        <p14:creationId xmlns:p14="http://schemas.microsoft.com/office/powerpoint/2010/main" val="39177803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p:txBody>
          <a:bodyPr>
            <a:noAutofit/>
          </a:bodyPr>
          <a:lstStyle/>
          <a:p>
            <a:r>
              <a:rPr lang="pt-BR" sz="2400" dirty="0"/>
              <a:t>Como vimos, um </a:t>
            </a:r>
            <a:r>
              <a:rPr lang="pt-BR" sz="2400" dirty="0" err="1"/>
              <a:t>matching</a:t>
            </a:r>
            <a:r>
              <a:rPr lang="pt-BR" sz="2400" dirty="0"/>
              <a:t> M é máximo se |M| for máximo em G.</a:t>
            </a:r>
          </a:p>
          <a:p>
            <a:r>
              <a:rPr lang="pt-BR" sz="2400" dirty="0"/>
              <a:t>Dado um </a:t>
            </a:r>
            <a:r>
              <a:rPr lang="pt-BR" sz="2400" dirty="0" err="1"/>
              <a:t>matching</a:t>
            </a:r>
            <a:r>
              <a:rPr lang="pt-BR" sz="2400" dirty="0"/>
              <a:t> M em G, a solução </a:t>
            </a:r>
            <a:r>
              <a:rPr lang="pt-BR" sz="2400" dirty="0" err="1"/>
              <a:t>basea-se</a:t>
            </a:r>
            <a:r>
              <a:rPr lang="pt-BR" sz="2400" dirty="0"/>
              <a:t> em encontrar um </a:t>
            </a:r>
            <a:r>
              <a:rPr lang="pt-BR" sz="2400" dirty="0" err="1"/>
              <a:t>matching</a:t>
            </a:r>
            <a:r>
              <a:rPr lang="pt-BR" sz="2400" dirty="0"/>
              <a:t> máximo através de uma sequência de </a:t>
            </a:r>
            <a:r>
              <a:rPr lang="pt-BR" sz="2400" b="1" dirty="0"/>
              <a:t>caminhos de aumento</a:t>
            </a:r>
            <a:r>
              <a:rPr lang="pt-BR" sz="2400" dirty="0"/>
              <a:t>.</a:t>
            </a:r>
          </a:p>
          <a:p>
            <a:r>
              <a:rPr lang="pt-BR" sz="2400" dirty="0"/>
              <a:t>Assim, um </a:t>
            </a:r>
            <a:r>
              <a:rPr lang="pt-BR" sz="2400" b="1" dirty="0"/>
              <a:t>caminho alternado</a:t>
            </a:r>
            <a:r>
              <a:rPr lang="pt-BR" sz="2400" dirty="0"/>
              <a:t> intercala arestas livres e arestas associadas (ao </a:t>
            </a:r>
            <a:r>
              <a:rPr lang="pt-BR" sz="2400" dirty="0" err="1"/>
              <a:t>mathcing</a:t>
            </a:r>
            <a:r>
              <a:rPr lang="pt-BR" sz="2400" dirty="0"/>
              <a:t>).</a:t>
            </a:r>
          </a:p>
          <a:p>
            <a:r>
              <a:rPr lang="pt-BR" sz="2400" dirty="0"/>
              <a:t>Um caminho de aumento então é um caminho alternado que inicia e termina em vértices livres.</a:t>
            </a:r>
          </a:p>
          <a:p>
            <a:r>
              <a:rPr lang="pt-BR" sz="2400" dirty="0"/>
              <a:t>Um </a:t>
            </a:r>
            <a:r>
              <a:rPr lang="pt-BR" sz="2400" dirty="0" err="1"/>
              <a:t>matching</a:t>
            </a:r>
            <a:r>
              <a:rPr lang="pt-BR" sz="2400" dirty="0"/>
              <a:t> é máximo se não possuir caminhos de aumento.</a:t>
            </a:r>
          </a:p>
        </p:txBody>
      </p:sp>
    </p:spTree>
    <p:extLst>
      <p:ext uri="{BB962C8B-B14F-4D97-AF65-F5344CB8AC3E}">
        <p14:creationId xmlns:p14="http://schemas.microsoft.com/office/powerpoint/2010/main" val="13895007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mc:AlternateContent xmlns:mc="http://schemas.openxmlformats.org/markup-compatibility/2006" xmlns:a14="http://schemas.microsoft.com/office/drawing/2010/main">
        <mc:Choice Requires="a14">
          <p:sp>
            <p:nvSpPr>
              <p:cNvPr id="3" name="Espaço Reservado para Conteúdo 2"/>
              <p:cNvSpPr>
                <a:spLocks noGrp="1"/>
              </p:cNvSpPr>
              <p:nvPr>
                <p:ph idx="1"/>
              </p:nvPr>
            </p:nvSpPr>
            <p:spPr>
              <a:xfrm>
                <a:off x="457200" y="1600200"/>
                <a:ext cx="8229600" cy="4493095"/>
              </a:xfrm>
            </p:spPr>
            <p:txBody>
              <a:bodyPr>
                <a:noAutofit/>
              </a:bodyPr>
              <a:lstStyle/>
              <a:p>
                <a:r>
                  <a:rPr lang="pt-BR" sz="2800" dirty="0"/>
                  <a:t>Sejam </a:t>
                </a:r>
                <a14:m>
                  <m:oMath xmlns:m="http://schemas.openxmlformats.org/officeDocument/2006/math">
                    <m:r>
                      <a:rPr lang="pt-BR" sz="2800" i="1" dirty="0" smtClean="0">
                        <a:latin typeface="Cambria Math" panose="02040503050406030204" pitchFamily="18" charset="0"/>
                      </a:rPr>
                      <m:t>𝑢</m:t>
                    </m:r>
                  </m:oMath>
                </a14:m>
                <a:r>
                  <a:rPr lang="pt-BR" sz="2800" dirty="0"/>
                  <a:t> e </a:t>
                </a:r>
                <a14:m>
                  <m:oMath xmlns:m="http://schemas.openxmlformats.org/officeDocument/2006/math">
                    <m:r>
                      <a:rPr lang="pt-BR" sz="2800" i="1" dirty="0" smtClean="0">
                        <a:latin typeface="Cambria Math" panose="02040503050406030204" pitchFamily="18" charset="0"/>
                      </a:rPr>
                      <m:t>𝑣</m:t>
                    </m:r>
                  </m:oMath>
                </a14:m>
                <a:r>
                  <a:rPr lang="pt-BR" sz="2800" dirty="0"/>
                  <a:t> dois vértices livres, queremos encontrar um caminho que vai de </a:t>
                </a:r>
                <a14:m>
                  <m:oMath xmlns:m="http://schemas.openxmlformats.org/officeDocument/2006/math">
                    <m:r>
                      <a:rPr lang="pt-BR" sz="2800" i="1" dirty="0" smtClean="0">
                        <a:latin typeface="Cambria Math" panose="02040503050406030204" pitchFamily="18" charset="0"/>
                      </a:rPr>
                      <m:t>𝑢</m:t>
                    </m:r>
                  </m:oMath>
                </a14:m>
                <a:r>
                  <a:rPr lang="pt-BR" sz="2800" dirty="0"/>
                  <a:t> até </a:t>
                </a:r>
                <a14:m>
                  <m:oMath xmlns:m="http://schemas.openxmlformats.org/officeDocument/2006/math">
                    <m:r>
                      <a:rPr lang="pt-BR" sz="2800" i="1" dirty="0" smtClean="0">
                        <a:latin typeface="Cambria Math" panose="02040503050406030204" pitchFamily="18" charset="0"/>
                      </a:rPr>
                      <m:t>𝑣</m:t>
                    </m:r>
                  </m:oMath>
                </a14:m>
                <a:r>
                  <a:rPr lang="pt-BR" sz="2800" dirty="0"/>
                  <a:t> alternando aresta de M com arestas que não pertencem a M.</a:t>
                </a:r>
              </a:p>
              <a:p>
                <a:r>
                  <a:rPr lang="pt-BR" sz="2800" dirty="0"/>
                  <a:t>Ao final, se retirarmos deste caminho as arestas de M, obtemos um novo </a:t>
                </a:r>
                <a:r>
                  <a:rPr lang="pt-BR" sz="2800" dirty="0" err="1"/>
                  <a:t>matching</a:t>
                </a:r>
                <a:r>
                  <a:rPr lang="pt-BR" sz="2800" dirty="0"/>
                  <a:t> M’ com tamanho |M| + 1.</a:t>
                </a:r>
              </a:p>
              <a:p>
                <a:r>
                  <a:rPr lang="pt-BR" sz="2800" dirty="0"/>
                  <a:t>Podemos tentar até encontrar um </a:t>
                </a:r>
                <a:r>
                  <a:rPr lang="pt-BR" sz="2800" dirty="0" err="1"/>
                  <a:t>matching</a:t>
                </a:r>
                <a:r>
                  <a:rPr lang="pt-BR" sz="2800" dirty="0"/>
                  <a:t> que seja o </a:t>
                </a:r>
                <a:r>
                  <a:rPr lang="pt-BR" sz="2800" dirty="0" err="1"/>
                  <a:t>matching</a:t>
                </a:r>
                <a:r>
                  <a:rPr lang="pt-BR" sz="2800" dirty="0"/>
                  <a:t> máximo.</a:t>
                </a:r>
              </a:p>
              <a:p>
                <a:endParaRPr lang="pt-BR" sz="2800" dirty="0"/>
              </a:p>
              <a:p>
                <a:endParaRPr lang="pt-BR" sz="2800" dirty="0"/>
              </a:p>
              <a:p>
                <a:endParaRPr lang="pt-BR" sz="2800" dirty="0"/>
              </a:p>
            </p:txBody>
          </p:sp>
        </mc:Choice>
        <mc:Fallback xmlns="">
          <p:sp>
            <p:nvSpPr>
              <p:cNvPr id="3" name="Espaço Reservado para Conteúdo 2"/>
              <p:cNvSpPr>
                <a:spLocks noGrp="1" noRot="1" noChangeAspect="1" noMove="1" noResize="1" noEditPoints="1" noAdjustHandles="1" noChangeArrowheads="1" noChangeShapeType="1" noTextEdit="1"/>
              </p:cNvSpPr>
              <p:nvPr>
                <p:ph idx="1"/>
              </p:nvPr>
            </p:nvSpPr>
            <p:spPr>
              <a:xfrm>
                <a:off x="457200" y="1600200"/>
                <a:ext cx="8229600" cy="4493095"/>
              </a:xfrm>
              <a:blipFill rotWithShape="0">
                <a:blip r:embed="rId2"/>
                <a:stretch>
                  <a:fillRect l="-1333" t="-1357" r="-1111"/>
                </a:stretch>
              </a:blipFill>
            </p:spPr>
            <p:txBody>
              <a:bodyPr/>
              <a:lstStyle/>
              <a:p>
                <a:r>
                  <a:rPr lang="pt-BR">
                    <a:noFill/>
                  </a:rPr>
                  <a:t> </a:t>
                </a:r>
              </a:p>
            </p:txBody>
          </p:sp>
        </mc:Fallback>
      </mc:AlternateContent>
    </p:spTree>
    <p:extLst>
      <p:ext uri="{BB962C8B-B14F-4D97-AF65-F5344CB8AC3E}">
        <p14:creationId xmlns:p14="http://schemas.microsoft.com/office/powerpoint/2010/main" val="1991910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fontScale="77500" lnSpcReduction="20000"/>
          </a:bodyPr>
          <a:lstStyle/>
          <a:p>
            <a:r>
              <a:rPr lang="pt-BR" dirty="0"/>
              <a:t>Consideremos então o </a:t>
            </a:r>
            <a:r>
              <a:rPr lang="pt-BR" dirty="0" err="1"/>
              <a:t>matching</a:t>
            </a:r>
            <a:r>
              <a:rPr lang="pt-BR" dirty="0"/>
              <a:t> M abaixo com duas arestas. Considere um caminho de aumento (c4, t5, c2, t2, c1, t3). </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20527826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fontScale="77500" lnSpcReduction="20000"/>
          </a:bodyPr>
          <a:lstStyle/>
          <a:p>
            <a:r>
              <a:rPr lang="pt-BR" dirty="0"/>
              <a:t>Consideremos então o </a:t>
            </a:r>
            <a:r>
              <a:rPr lang="pt-BR" dirty="0" err="1"/>
              <a:t>matching</a:t>
            </a:r>
            <a:r>
              <a:rPr lang="pt-BR" dirty="0"/>
              <a:t> M abaixo com duas arestas. Considere um caminho de aumento (c4, t5, c2, t2, c1, t3). </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18930914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fontScale="77500" lnSpcReduction="20000"/>
          </a:bodyPr>
          <a:lstStyle/>
          <a:p>
            <a:r>
              <a:rPr lang="pt-BR" dirty="0"/>
              <a:t>Consideremos então o </a:t>
            </a:r>
            <a:r>
              <a:rPr lang="pt-BR" dirty="0" err="1"/>
              <a:t>matching</a:t>
            </a:r>
            <a:r>
              <a:rPr lang="pt-BR" dirty="0"/>
              <a:t> M abaixo com duas arestas. Considere um caminho de aumento (c4, t5, c2, t2, c1, t3). </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27857801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fontScale="77500" lnSpcReduction="20000"/>
          </a:bodyPr>
          <a:lstStyle/>
          <a:p>
            <a:r>
              <a:rPr lang="pt-BR" dirty="0"/>
              <a:t>Consideremos então o </a:t>
            </a:r>
            <a:r>
              <a:rPr lang="pt-BR" dirty="0" err="1"/>
              <a:t>matching</a:t>
            </a:r>
            <a:r>
              <a:rPr lang="pt-BR" dirty="0"/>
              <a:t> M abaixo com duas arestas. Considere um caminho de aumento (c4, t5, c2, t2, c1, t3). </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ector de seta reta 10"/>
          <p:cNvCxnSpPr/>
          <p:nvPr/>
        </p:nvCxnSpPr>
        <p:spPr>
          <a:xfrm flipH="1">
            <a:off x="6228184" y="4369265"/>
            <a:ext cx="7920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CaixaDeTexto 11"/>
          <p:cNvSpPr txBox="1"/>
          <p:nvPr/>
        </p:nvSpPr>
        <p:spPr>
          <a:xfrm>
            <a:off x="7236296" y="3740839"/>
            <a:ext cx="1728192" cy="1200329"/>
          </a:xfrm>
          <a:prstGeom prst="rect">
            <a:avLst/>
          </a:prstGeom>
          <a:noFill/>
        </p:spPr>
        <p:txBody>
          <a:bodyPr wrap="square" rtlCol="0">
            <a:spAutoFit/>
          </a:bodyPr>
          <a:lstStyle/>
          <a:p>
            <a:r>
              <a:rPr lang="pt-BR" dirty="0"/>
              <a:t>Agora retiramos as arestas de M do caminho de aumento</a:t>
            </a:r>
          </a:p>
        </p:txBody>
      </p:sp>
      <p:sp>
        <p:nvSpPr>
          <p:cNvPr id="31" name="CaixaDeTexto 30"/>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27798785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Temos agora um novo </a:t>
            </a:r>
            <a:r>
              <a:rPr lang="pt-BR" dirty="0" err="1"/>
              <a:t>matching</a:t>
            </a:r>
            <a:r>
              <a:rPr lang="pt-BR" dirty="0"/>
              <a:t> com 3 arestas (ou seja, M’ = |M|+1).</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CaixaDeTexto 30"/>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4909943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Podemos assim, obter outros caminhos de aumento, por exemplo (c5, t2, c1, t3)</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24550922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Podemos assim, obter outros caminhos de aumento, por exemplo (c5, t2, c1, t3)</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CaixaDeTexto 30"/>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38724550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Podemos assim, obter outros caminhos de aumento, por exemplo (c5, t2, c1, t3)</a:t>
            </a:r>
          </a:p>
          <a:p>
            <a:endParaRPr lang="pt-BR" dirty="0"/>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Conector de seta reta 24"/>
          <p:cNvCxnSpPr/>
          <p:nvPr/>
        </p:nvCxnSpPr>
        <p:spPr>
          <a:xfrm flipH="1">
            <a:off x="6228184" y="4369265"/>
            <a:ext cx="7920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CaixaDeTexto 30"/>
          <p:cNvSpPr txBox="1"/>
          <p:nvPr/>
        </p:nvSpPr>
        <p:spPr>
          <a:xfrm>
            <a:off x="7236296" y="3740839"/>
            <a:ext cx="1728192" cy="1477328"/>
          </a:xfrm>
          <a:prstGeom prst="rect">
            <a:avLst/>
          </a:prstGeom>
          <a:noFill/>
        </p:spPr>
        <p:txBody>
          <a:bodyPr wrap="square" rtlCol="0">
            <a:spAutoFit/>
          </a:bodyPr>
          <a:lstStyle/>
          <a:p>
            <a:r>
              <a:rPr lang="pt-BR" dirty="0"/>
              <a:t>Veja agora que somente (t2, c1) de M está no caminho de aumento</a:t>
            </a:r>
          </a:p>
        </p:txBody>
      </p:sp>
      <p:sp>
        <p:nvSpPr>
          <p:cNvPr id="33" name="CaixaDeTexto 32"/>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365467839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Problema da Atribuição Linear</a:t>
            </a:r>
          </a:p>
        </p:txBody>
      </p:sp>
      <p:sp>
        <p:nvSpPr>
          <p:cNvPr id="3" name="Espaço Reservado para Conteúdo 2"/>
          <p:cNvSpPr>
            <a:spLocks noGrp="1"/>
          </p:cNvSpPr>
          <p:nvPr>
            <p:ph idx="1"/>
          </p:nvPr>
        </p:nvSpPr>
        <p:spPr>
          <a:xfrm>
            <a:off x="457200" y="1600201"/>
            <a:ext cx="8229600" cy="1036712"/>
          </a:xfrm>
        </p:spPr>
        <p:txBody>
          <a:bodyPr>
            <a:normAutofit lnSpcReduction="10000"/>
          </a:bodyPr>
          <a:lstStyle/>
          <a:p>
            <a:r>
              <a:rPr lang="pt-BR" dirty="0"/>
              <a:t>Repita até a obtenção de um </a:t>
            </a:r>
            <a:r>
              <a:rPr lang="pt-BR" dirty="0" err="1"/>
              <a:t>matching</a:t>
            </a:r>
            <a:r>
              <a:rPr lang="pt-BR" dirty="0"/>
              <a:t> máximo. </a:t>
            </a:r>
          </a:p>
        </p:txBody>
      </p:sp>
      <p:sp>
        <p:nvSpPr>
          <p:cNvPr id="5" name="Elipse 4"/>
          <p:cNvSpPr/>
          <p:nvPr/>
        </p:nvSpPr>
        <p:spPr>
          <a:xfrm>
            <a:off x="3065440" y="2854803"/>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c1</a:t>
            </a:r>
          </a:p>
        </p:txBody>
      </p:sp>
      <p:sp>
        <p:nvSpPr>
          <p:cNvPr id="6" name="Elipse 5"/>
          <p:cNvSpPr/>
          <p:nvPr/>
        </p:nvSpPr>
        <p:spPr>
          <a:xfrm>
            <a:off x="3065439" y="416596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c3</a:t>
            </a:r>
          </a:p>
        </p:txBody>
      </p:sp>
      <p:sp>
        <p:nvSpPr>
          <p:cNvPr id="7" name="Elipse 6"/>
          <p:cNvSpPr/>
          <p:nvPr/>
        </p:nvSpPr>
        <p:spPr>
          <a:xfrm>
            <a:off x="3065439" y="35103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c2</a:t>
            </a:r>
          </a:p>
        </p:txBody>
      </p:sp>
      <p:sp>
        <p:nvSpPr>
          <p:cNvPr id="13" name="Elipse 12"/>
          <p:cNvSpPr/>
          <p:nvPr/>
        </p:nvSpPr>
        <p:spPr>
          <a:xfrm>
            <a:off x="3059833" y="4792682"/>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c4</a:t>
            </a:r>
          </a:p>
        </p:txBody>
      </p:sp>
      <p:sp>
        <p:nvSpPr>
          <p:cNvPr id="17" name="Elipse 16"/>
          <p:cNvSpPr/>
          <p:nvPr/>
        </p:nvSpPr>
        <p:spPr>
          <a:xfrm>
            <a:off x="3059832" y="5430150"/>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c5</a:t>
            </a:r>
          </a:p>
        </p:txBody>
      </p:sp>
      <p:sp>
        <p:nvSpPr>
          <p:cNvPr id="26" name="Elipse 25"/>
          <p:cNvSpPr/>
          <p:nvPr/>
        </p:nvSpPr>
        <p:spPr>
          <a:xfrm>
            <a:off x="5307051" y="28529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t1</a:t>
            </a:r>
          </a:p>
        </p:txBody>
      </p:sp>
      <p:sp>
        <p:nvSpPr>
          <p:cNvPr id="27" name="Elipse 26"/>
          <p:cNvSpPr/>
          <p:nvPr/>
        </p:nvSpPr>
        <p:spPr>
          <a:xfrm>
            <a:off x="5307050" y="416409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t3</a:t>
            </a:r>
          </a:p>
        </p:txBody>
      </p:sp>
      <p:sp>
        <p:nvSpPr>
          <p:cNvPr id="28" name="Elipse 27"/>
          <p:cNvSpPr/>
          <p:nvPr/>
        </p:nvSpPr>
        <p:spPr>
          <a:xfrm>
            <a:off x="5307050" y="3508514"/>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t2</a:t>
            </a:r>
          </a:p>
        </p:txBody>
      </p:sp>
      <p:sp>
        <p:nvSpPr>
          <p:cNvPr id="29" name="Elipse 28"/>
          <p:cNvSpPr/>
          <p:nvPr/>
        </p:nvSpPr>
        <p:spPr>
          <a:xfrm>
            <a:off x="5301444" y="4790815"/>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t4</a:t>
            </a:r>
          </a:p>
        </p:txBody>
      </p:sp>
      <p:sp>
        <p:nvSpPr>
          <p:cNvPr id="30" name="Elipse 29"/>
          <p:cNvSpPr/>
          <p:nvPr/>
        </p:nvSpPr>
        <p:spPr>
          <a:xfrm>
            <a:off x="5301443" y="5428283"/>
            <a:ext cx="543381" cy="410344"/>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tx1"/>
                </a:solidFill>
              </a:rPr>
              <a:t>t5</a:t>
            </a:r>
          </a:p>
        </p:txBody>
      </p:sp>
      <p:cxnSp>
        <p:nvCxnSpPr>
          <p:cNvPr id="32" name="Conector reto 31"/>
          <p:cNvCxnSpPr>
            <a:stCxn id="5" idx="6"/>
            <a:endCxn id="28" idx="2"/>
          </p:cNvCxnSpPr>
          <p:nvPr/>
        </p:nvCxnSpPr>
        <p:spPr>
          <a:xfrm>
            <a:off x="3608821" y="3059975"/>
            <a:ext cx="1698229" cy="653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5" idx="6"/>
            <a:endCxn id="27" idx="2"/>
          </p:cNvCxnSpPr>
          <p:nvPr/>
        </p:nvCxnSpPr>
        <p:spPr>
          <a:xfrm>
            <a:off x="3608821" y="3059975"/>
            <a:ext cx="1698229" cy="130929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7" idx="6"/>
            <a:endCxn id="28" idx="2"/>
          </p:cNvCxnSpPr>
          <p:nvPr/>
        </p:nvCxnSpPr>
        <p:spPr>
          <a:xfrm flipV="1">
            <a:off x="3608820" y="3713686"/>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7" idx="6"/>
            <a:endCxn id="30" idx="2"/>
          </p:cNvCxnSpPr>
          <p:nvPr/>
        </p:nvCxnSpPr>
        <p:spPr>
          <a:xfrm>
            <a:off x="3608820" y="3715553"/>
            <a:ext cx="1692623" cy="191790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6" idx="6"/>
            <a:endCxn id="26" idx="2"/>
          </p:cNvCxnSpPr>
          <p:nvPr/>
        </p:nvCxnSpPr>
        <p:spPr>
          <a:xfrm flipV="1">
            <a:off x="3608820" y="3058108"/>
            <a:ext cx="1698231" cy="1313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27" idx="2"/>
          </p:cNvCxnSpPr>
          <p:nvPr/>
        </p:nvCxnSpPr>
        <p:spPr>
          <a:xfrm flipV="1">
            <a:off x="3608820" y="4369265"/>
            <a:ext cx="1698230" cy="18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6" idx="6"/>
            <a:endCxn id="29" idx="2"/>
          </p:cNvCxnSpPr>
          <p:nvPr/>
        </p:nvCxnSpPr>
        <p:spPr>
          <a:xfrm>
            <a:off x="3608820" y="4371132"/>
            <a:ext cx="1692624" cy="624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Conector reto 48"/>
          <p:cNvCxnSpPr>
            <a:stCxn id="13" idx="6"/>
            <a:endCxn id="27" idx="2"/>
          </p:cNvCxnSpPr>
          <p:nvPr/>
        </p:nvCxnSpPr>
        <p:spPr>
          <a:xfrm flipV="1">
            <a:off x="3603214" y="4369265"/>
            <a:ext cx="1703836" cy="628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Conector reto 50"/>
          <p:cNvCxnSpPr>
            <a:stCxn id="13" idx="6"/>
            <a:endCxn id="30" idx="2"/>
          </p:cNvCxnSpPr>
          <p:nvPr/>
        </p:nvCxnSpPr>
        <p:spPr>
          <a:xfrm>
            <a:off x="3603214" y="4997854"/>
            <a:ext cx="1698229" cy="635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7" idx="6"/>
            <a:endCxn id="28" idx="2"/>
          </p:cNvCxnSpPr>
          <p:nvPr/>
        </p:nvCxnSpPr>
        <p:spPr>
          <a:xfrm flipV="1">
            <a:off x="3603213" y="3713686"/>
            <a:ext cx="1703837" cy="192163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Conector reto 55"/>
          <p:cNvCxnSpPr>
            <a:stCxn id="17" idx="6"/>
            <a:endCxn id="27" idx="2"/>
          </p:cNvCxnSpPr>
          <p:nvPr/>
        </p:nvCxnSpPr>
        <p:spPr>
          <a:xfrm flipV="1">
            <a:off x="3603213" y="4369265"/>
            <a:ext cx="1703837" cy="12660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aixaDeTexto 3"/>
          <p:cNvSpPr txBox="1"/>
          <p:nvPr/>
        </p:nvSpPr>
        <p:spPr>
          <a:xfrm>
            <a:off x="35496" y="6444044"/>
            <a:ext cx="6526658" cy="338554"/>
          </a:xfrm>
          <a:prstGeom prst="rect">
            <a:avLst/>
          </a:prstGeom>
          <a:noFill/>
        </p:spPr>
        <p:txBody>
          <a:bodyPr wrap="none" rtlCol="0">
            <a:spAutoFit/>
          </a:bodyPr>
          <a:lstStyle/>
          <a:p>
            <a:r>
              <a:rPr lang="pt-BR" sz="1600" dirty="0"/>
              <a:t>Adaptado do material de Michel </a:t>
            </a:r>
            <a:r>
              <a:rPr lang="pt-BR" sz="1600" dirty="0" err="1"/>
              <a:t>Gagnon</a:t>
            </a:r>
            <a:r>
              <a:rPr lang="pt-BR" sz="1600" dirty="0"/>
              <a:t> (</a:t>
            </a:r>
            <a:r>
              <a:rPr lang="pt-BR" sz="1600" dirty="0" err="1"/>
              <a:t>École</a:t>
            </a:r>
            <a:r>
              <a:rPr lang="pt-BR" sz="1600" dirty="0"/>
              <a:t> </a:t>
            </a:r>
            <a:r>
              <a:rPr lang="pt-BR" sz="1600" dirty="0" err="1"/>
              <a:t>Polytechnique</a:t>
            </a:r>
            <a:r>
              <a:rPr lang="pt-BR" sz="1600" dirty="0"/>
              <a:t> de Montréal) </a:t>
            </a:r>
          </a:p>
        </p:txBody>
      </p:sp>
    </p:spTree>
    <p:extLst>
      <p:ext uri="{BB962C8B-B14F-4D97-AF65-F5344CB8AC3E}">
        <p14:creationId xmlns:p14="http://schemas.microsoft.com/office/powerpoint/2010/main" val="18382562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Bibliografia</a:t>
            </a:r>
          </a:p>
        </p:txBody>
      </p:sp>
      <p:sp>
        <p:nvSpPr>
          <p:cNvPr id="4" name="CaixaDeTexto 3"/>
          <p:cNvSpPr txBox="1"/>
          <p:nvPr/>
        </p:nvSpPr>
        <p:spPr>
          <a:xfrm>
            <a:off x="683568" y="2276872"/>
            <a:ext cx="7488832" cy="923330"/>
          </a:xfrm>
          <a:prstGeom prst="rect">
            <a:avLst/>
          </a:prstGeom>
          <a:noFill/>
        </p:spPr>
        <p:txBody>
          <a:bodyPr wrap="square" rtlCol="0">
            <a:spAutoFit/>
          </a:bodyPr>
          <a:lstStyle/>
          <a:p>
            <a:r>
              <a:rPr lang="pt-BR" dirty="0"/>
              <a:t>[</a:t>
            </a:r>
            <a:r>
              <a:rPr lang="pt-BR" dirty="0" err="1"/>
              <a:t>Cormen</a:t>
            </a:r>
            <a:r>
              <a:rPr lang="pt-BR" dirty="0"/>
              <a:t> et al., 2009] </a:t>
            </a:r>
            <a:r>
              <a:rPr lang="en-US" dirty="0"/>
              <a:t>Introduction to Algorithms, 3rd edition.</a:t>
            </a:r>
          </a:p>
          <a:p>
            <a:r>
              <a:rPr lang="pt-BR" dirty="0"/>
              <a:t>Thomas H. </a:t>
            </a:r>
            <a:r>
              <a:rPr lang="pt-BR" dirty="0" err="1"/>
              <a:t>Cormen</a:t>
            </a:r>
            <a:r>
              <a:rPr lang="pt-BR" dirty="0"/>
              <a:t>, Charles E. </a:t>
            </a:r>
            <a:r>
              <a:rPr lang="pt-BR" dirty="0" err="1"/>
              <a:t>Leiserson</a:t>
            </a:r>
            <a:r>
              <a:rPr lang="pt-BR" dirty="0"/>
              <a:t>, Ronald L. </a:t>
            </a:r>
            <a:r>
              <a:rPr lang="pt-BR" dirty="0" err="1"/>
              <a:t>Rivest</a:t>
            </a:r>
            <a:r>
              <a:rPr lang="pt-BR" dirty="0"/>
              <a:t>, Clifford Stein.</a:t>
            </a:r>
          </a:p>
          <a:p>
            <a:r>
              <a:rPr lang="pt-BR" dirty="0"/>
              <a:t>2009, 1312 pp. MIT Press, ISBN 9780262033848.</a:t>
            </a:r>
          </a:p>
        </p:txBody>
      </p:sp>
      <p:sp>
        <p:nvSpPr>
          <p:cNvPr id="5" name="CaixaDeTexto 4"/>
          <p:cNvSpPr txBox="1"/>
          <p:nvPr/>
        </p:nvSpPr>
        <p:spPr>
          <a:xfrm>
            <a:off x="683568" y="3356992"/>
            <a:ext cx="7056784" cy="646331"/>
          </a:xfrm>
          <a:prstGeom prst="rect">
            <a:avLst/>
          </a:prstGeom>
          <a:noFill/>
        </p:spPr>
        <p:txBody>
          <a:bodyPr wrap="square" rtlCol="0">
            <a:spAutoFit/>
          </a:bodyPr>
          <a:lstStyle/>
          <a:p>
            <a:r>
              <a:rPr lang="pt-BR" dirty="0"/>
              <a:t>[</a:t>
            </a:r>
            <a:r>
              <a:rPr lang="pt-BR" dirty="0" err="1"/>
              <a:t>Ziviani</a:t>
            </a:r>
            <a:r>
              <a:rPr lang="pt-BR" dirty="0"/>
              <a:t>, 2006] Projeto de Algoritmos com Implementações em Java e C++.</a:t>
            </a:r>
          </a:p>
          <a:p>
            <a:r>
              <a:rPr lang="pt-BR" dirty="0" err="1"/>
              <a:t>Nivio</a:t>
            </a:r>
            <a:r>
              <a:rPr lang="pt-BR" dirty="0"/>
              <a:t> </a:t>
            </a:r>
            <a:r>
              <a:rPr lang="pt-BR" dirty="0" err="1"/>
              <a:t>Ziviani</a:t>
            </a:r>
            <a:r>
              <a:rPr lang="pt-BR" dirty="0"/>
              <a:t>. 2006, 642 pp. Editora Thomson, ISBN 8522105251.</a:t>
            </a:r>
          </a:p>
        </p:txBody>
      </p:sp>
      <p:sp>
        <p:nvSpPr>
          <p:cNvPr id="6" name="CaixaDeTexto 5"/>
          <p:cNvSpPr txBox="1"/>
          <p:nvPr/>
        </p:nvSpPr>
        <p:spPr>
          <a:xfrm>
            <a:off x="755576" y="1402121"/>
            <a:ext cx="5616624" cy="646331"/>
          </a:xfrm>
          <a:prstGeom prst="rect">
            <a:avLst/>
          </a:prstGeom>
          <a:noFill/>
        </p:spPr>
        <p:txBody>
          <a:bodyPr wrap="square" rtlCol="0">
            <a:spAutoFit/>
          </a:bodyPr>
          <a:lstStyle/>
          <a:p>
            <a:r>
              <a:rPr lang="pt-BR" dirty="0"/>
              <a:t>Robin J. Wilson. </a:t>
            </a:r>
            <a:r>
              <a:rPr lang="pt-BR" dirty="0" err="1"/>
              <a:t>Introduction</a:t>
            </a:r>
            <a:r>
              <a:rPr lang="pt-BR" dirty="0"/>
              <a:t> </a:t>
            </a:r>
            <a:r>
              <a:rPr lang="pt-BR" dirty="0" err="1"/>
              <a:t>to</a:t>
            </a:r>
            <a:r>
              <a:rPr lang="pt-BR" dirty="0"/>
              <a:t> </a:t>
            </a:r>
            <a:r>
              <a:rPr lang="pt-BR" dirty="0" err="1"/>
              <a:t>graph</a:t>
            </a:r>
            <a:r>
              <a:rPr lang="pt-BR" dirty="0"/>
              <a:t> </a:t>
            </a:r>
            <a:r>
              <a:rPr lang="pt-BR" dirty="0" err="1"/>
              <a:t>theory</a:t>
            </a:r>
            <a:r>
              <a:rPr lang="pt-BR" dirty="0"/>
              <a:t>. </a:t>
            </a:r>
          </a:p>
          <a:p>
            <a:r>
              <a:rPr lang="pt-BR" dirty="0" err="1"/>
              <a:t>Longman</a:t>
            </a:r>
            <a:r>
              <a:rPr lang="pt-BR" dirty="0"/>
              <a:t>, 1996</a:t>
            </a:r>
          </a:p>
        </p:txBody>
      </p:sp>
    </p:spTree>
    <p:extLst>
      <p:ext uri="{BB962C8B-B14F-4D97-AF65-F5344CB8AC3E}">
        <p14:creationId xmlns:p14="http://schemas.microsoft.com/office/powerpoint/2010/main" val="32669310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pt-BR"/>
          </a:p>
        </p:txBody>
      </p:sp>
      <p:grpSp>
        <p:nvGrpSpPr>
          <p:cNvPr id="110" name="Grupo 109"/>
          <p:cNvGrpSpPr/>
          <p:nvPr/>
        </p:nvGrpSpPr>
        <p:grpSpPr>
          <a:xfrm>
            <a:off x="1005525" y="1956428"/>
            <a:ext cx="5333115" cy="2552692"/>
            <a:chOff x="1043608" y="1866069"/>
            <a:chExt cx="6708774" cy="3099554"/>
          </a:xfrm>
        </p:grpSpPr>
        <p:sp>
          <p:nvSpPr>
            <p:cNvPr id="5" name="Elipse 4"/>
            <p:cNvSpPr/>
            <p:nvPr/>
          </p:nvSpPr>
          <p:spPr>
            <a:xfrm>
              <a:off x="1043608" y="2348880"/>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A</a:t>
              </a:r>
            </a:p>
          </p:txBody>
        </p:sp>
        <p:sp>
          <p:nvSpPr>
            <p:cNvPr id="6" name="Elipse 5"/>
            <p:cNvSpPr/>
            <p:nvPr/>
          </p:nvSpPr>
          <p:spPr>
            <a:xfrm>
              <a:off x="1831911" y="338633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C</a:t>
              </a:r>
            </a:p>
          </p:txBody>
        </p:sp>
        <p:sp>
          <p:nvSpPr>
            <p:cNvPr id="7" name="Elipse 6"/>
            <p:cNvSpPr/>
            <p:nvPr/>
          </p:nvSpPr>
          <p:spPr>
            <a:xfrm>
              <a:off x="2699792" y="1897669"/>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B</a:t>
              </a:r>
            </a:p>
          </p:txBody>
        </p:sp>
        <p:sp>
          <p:nvSpPr>
            <p:cNvPr id="8" name="Elipse 7"/>
            <p:cNvSpPr/>
            <p:nvPr/>
          </p:nvSpPr>
          <p:spPr>
            <a:xfrm>
              <a:off x="4171512" y="2050735"/>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L</a:t>
              </a:r>
            </a:p>
          </p:txBody>
        </p:sp>
        <p:sp>
          <p:nvSpPr>
            <p:cNvPr id="9" name="Elipse 8"/>
            <p:cNvSpPr/>
            <p:nvPr/>
          </p:nvSpPr>
          <p:spPr>
            <a:xfrm>
              <a:off x="6084168" y="2078128"/>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M</a:t>
              </a:r>
            </a:p>
          </p:txBody>
        </p:sp>
        <p:sp>
          <p:nvSpPr>
            <p:cNvPr id="10" name="Elipse 9"/>
            <p:cNvSpPr/>
            <p:nvPr/>
          </p:nvSpPr>
          <p:spPr>
            <a:xfrm>
              <a:off x="3620480" y="3057030"/>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D</a:t>
              </a:r>
            </a:p>
          </p:txBody>
        </p:sp>
        <p:sp>
          <p:nvSpPr>
            <p:cNvPr id="11" name="Elipse 10"/>
            <p:cNvSpPr/>
            <p:nvPr/>
          </p:nvSpPr>
          <p:spPr>
            <a:xfrm>
              <a:off x="4978932" y="264668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K</a:t>
              </a:r>
            </a:p>
          </p:txBody>
        </p:sp>
        <p:sp>
          <p:nvSpPr>
            <p:cNvPr id="12" name="Elipse 11"/>
            <p:cNvSpPr/>
            <p:nvPr/>
          </p:nvSpPr>
          <p:spPr>
            <a:xfrm>
              <a:off x="2699792" y="4379216"/>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E</a:t>
              </a:r>
            </a:p>
          </p:txBody>
        </p:sp>
        <p:sp>
          <p:nvSpPr>
            <p:cNvPr id="13" name="Elipse 12"/>
            <p:cNvSpPr/>
            <p:nvPr/>
          </p:nvSpPr>
          <p:spPr>
            <a:xfrm>
              <a:off x="1235722" y="45019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F</a:t>
              </a:r>
            </a:p>
          </p:txBody>
        </p:sp>
        <p:sp>
          <p:nvSpPr>
            <p:cNvPr id="14" name="Elipse 13"/>
            <p:cNvSpPr/>
            <p:nvPr/>
          </p:nvSpPr>
          <p:spPr>
            <a:xfrm>
              <a:off x="4856149" y="450198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G</a:t>
              </a:r>
            </a:p>
          </p:txBody>
        </p:sp>
        <p:sp>
          <p:nvSpPr>
            <p:cNvPr id="15" name="Elipse 14"/>
            <p:cNvSpPr/>
            <p:nvPr/>
          </p:nvSpPr>
          <p:spPr>
            <a:xfrm>
              <a:off x="7209001" y="2804771"/>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J</a:t>
              </a:r>
            </a:p>
          </p:txBody>
        </p:sp>
        <p:sp>
          <p:nvSpPr>
            <p:cNvPr id="16" name="Elipse 15"/>
            <p:cNvSpPr/>
            <p:nvPr/>
          </p:nvSpPr>
          <p:spPr>
            <a:xfrm>
              <a:off x="6084168" y="3531415"/>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I</a:t>
              </a:r>
            </a:p>
          </p:txBody>
        </p:sp>
        <p:sp>
          <p:nvSpPr>
            <p:cNvPr id="17" name="Elipse 16"/>
            <p:cNvSpPr/>
            <p:nvPr/>
          </p:nvSpPr>
          <p:spPr>
            <a:xfrm>
              <a:off x="7209000" y="4359680"/>
              <a:ext cx="543381" cy="410344"/>
            </a:xfrm>
            <a:prstGeom prst="ellipse">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H</a:t>
              </a:r>
            </a:p>
          </p:txBody>
        </p:sp>
        <p:cxnSp>
          <p:nvCxnSpPr>
            <p:cNvPr id="19" name="Conector reto 18"/>
            <p:cNvCxnSpPr>
              <a:stCxn id="5" idx="7"/>
              <a:endCxn id="7" idx="2"/>
            </p:cNvCxnSpPr>
            <p:nvPr/>
          </p:nvCxnSpPr>
          <p:spPr>
            <a:xfrm flipV="1">
              <a:off x="1507413" y="2102841"/>
              <a:ext cx="1192379" cy="306132"/>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Conector reto 21"/>
            <p:cNvCxnSpPr>
              <a:stCxn id="5" idx="4"/>
              <a:endCxn id="6" idx="1"/>
            </p:cNvCxnSpPr>
            <p:nvPr/>
          </p:nvCxnSpPr>
          <p:spPr>
            <a:xfrm>
              <a:off x="1315299" y="2759224"/>
              <a:ext cx="596188" cy="6872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Conector reto 23"/>
            <p:cNvCxnSpPr>
              <a:stCxn id="5" idx="6"/>
              <a:endCxn id="10" idx="1"/>
            </p:cNvCxnSpPr>
            <p:nvPr/>
          </p:nvCxnSpPr>
          <p:spPr>
            <a:xfrm>
              <a:off x="1586989" y="2554052"/>
              <a:ext cx="2113067" cy="56307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Conector reto 25"/>
            <p:cNvCxnSpPr>
              <a:stCxn id="7" idx="6"/>
              <a:endCxn id="8" idx="2"/>
            </p:cNvCxnSpPr>
            <p:nvPr/>
          </p:nvCxnSpPr>
          <p:spPr>
            <a:xfrm>
              <a:off x="3243173" y="2102841"/>
              <a:ext cx="928339" cy="15306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ector reto 27"/>
            <p:cNvCxnSpPr>
              <a:stCxn id="8" idx="6"/>
              <a:endCxn id="9" idx="2"/>
            </p:cNvCxnSpPr>
            <p:nvPr/>
          </p:nvCxnSpPr>
          <p:spPr>
            <a:xfrm>
              <a:off x="4714893" y="2255907"/>
              <a:ext cx="1369275" cy="27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Conector reto 29"/>
            <p:cNvCxnSpPr>
              <a:stCxn id="16" idx="7"/>
              <a:endCxn id="15" idx="3"/>
            </p:cNvCxnSpPr>
            <p:nvPr/>
          </p:nvCxnSpPr>
          <p:spPr>
            <a:xfrm flipV="1">
              <a:off x="6547973" y="3155022"/>
              <a:ext cx="740604" cy="43648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Conector reto 31"/>
            <p:cNvCxnSpPr>
              <a:stCxn id="16" idx="5"/>
              <a:endCxn id="17" idx="0"/>
            </p:cNvCxnSpPr>
            <p:nvPr/>
          </p:nvCxnSpPr>
          <p:spPr>
            <a:xfrm>
              <a:off x="6547973" y="3881666"/>
              <a:ext cx="932718" cy="4780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Conector reto 33"/>
            <p:cNvCxnSpPr>
              <a:stCxn id="16" idx="0"/>
              <a:endCxn id="9" idx="4"/>
            </p:cNvCxnSpPr>
            <p:nvPr/>
          </p:nvCxnSpPr>
          <p:spPr>
            <a:xfrm flipV="1">
              <a:off x="6355859" y="2488472"/>
              <a:ext cx="0" cy="1042943"/>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Conector reto 35"/>
            <p:cNvCxnSpPr>
              <a:stCxn id="9" idx="6"/>
              <a:endCxn id="15" idx="1"/>
            </p:cNvCxnSpPr>
            <p:nvPr/>
          </p:nvCxnSpPr>
          <p:spPr>
            <a:xfrm>
              <a:off x="6627549" y="2283300"/>
              <a:ext cx="661028" cy="58156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ector reto 37"/>
            <p:cNvCxnSpPr>
              <a:stCxn id="10" idx="7"/>
              <a:endCxn id="11" idx="2"/>
            </p:cNvCxnSpPr>
            <p:nvPr/>
          </p:nvCxnSpPr>
          <p:spPr>
            <a:xfrm flipV="1">
              <a:off x="4084285" y="2851858"/>
              <a:ext cx="894647" cy="2652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ector reto 39"/>
            <p:cNvCxnSpPr>
              <a:stCxn id="12" idx="2"/>
              <a:endCxn id="13" idx="6"/>
            </p:cNvCxnSpPr>
            <p:nvPr/>
          </p:nvCxnSpPr>
          <p:spPr>
            <a:xfrm flipH="1">
              <a:off x="1779103" y="4584388"/>
              <a:ext cx="920689" cy="122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Conector reto 41"/>
            <p:cNvCxnSpPr>
              <a:stCxn id="12" idx="1"/>
              <a:endCxn id="6" idx="5"/>
            </p:cNvCxnSpPr>
            <p:nvPr/>
          </p:nvCxnSpPr>
          <p:spPr>
            <a:xfrm flipH="1" flipV="1">
              <a:off x="2295716" y="3736587"/>
              <a:ext cx="483652" cy="702722"/>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Conector reto 43"/>
            <p:cNvCxnSpPr>
              <a:stCxn id="6" idx="6"/>
              <a:endCxn id="10" idx="2"/>
            </p:cNvCxnSpPr>
            <p:nvPr/>
          </p:nvCxnSpPr>
          <p:spPr>
            <a:xfrm flipV="1">
              <a:off x="2375292" y="3262202"/>
              <a:ext cx="1245188" cy="329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Conector reto 45"/>
            <p:cNvCxnSpPr>
              <a:stCxn id="12" idx="6"/>
              <a:endCxn id="14" idx="2"/>
            </p:cNvCxnSpPr>
            <p:nvPr/>
          </p:nvCxnSpPr>
          <p:spPr>
            <a:xfrm>
              <a:off x="3243173" y="4584388"/>
              <a:ext cx="1612976" cy="122765"/>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Conector reto 47"/>
            <p:cNvCxnSpPr>
              <a:stCxn id="14" idx="6"/>
              <a:endCxn id="17" idx="2"/>
            </p:cNvCxnSpPr>
            <p:nvPr/>
          </p:nvCxnSpPr>
          <p:spPr>
            <a:xfrm flipV="1">
              <a:off x="5399530" y="4564852"/>
              <a:ext cx="1809470" cy="1423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ector reto 52"/>
            <p:cNvCxnSpPr>
              <a:stCxn id="10" idx="6"/>
              <a:endCxn id="16" idx="2"/>
            </p:cNvCxnSpPr>
            <p:nvPr/>
          </p:nvCxnSpPr>
          <p:spPr>
            <a:xfrm>
              <a:off x="4163861" y="3262202"/>
              <a:ext cx="1920307" cy="474385"/>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Conector reto 57"/>
            <p:cNvCxnSpPr>
              <a:stCxn id="10" idx="0"/>
              <a:endCxn id="8" idx="4"/>
            </p:cNvCxnSpPr>
            <p:nvPr/>
          </p:nvCxnSpPr>
          <p:spPr>
            <a:xfrm flipV="1">
              <a:off x="3892171" y="2461079"/>
              <a:ext cx="551032" cy="595951"/>
            </a:xfrm>
            <a:prstGeom prst="line">
              <a:avLst/>
            </a:prstGeom>
          </p:spPr>
          <p:style>
            <a:lnRef idx="1">
              <a:schemeClr val="accent1"/>
            </a:lnRef>
            <a:fillRef idx="0">
              <a:schemeClr val="accent1"/>
            </a:fillRef>
            <a:effectRef idx="0">
              <a:schemeClr val="accent1"/>
            </a:effectRef>
            <a:fontRef idx="minor">
              <a:schemeClr val="tx1"/>
            </a:fontRef>
          </p:style>
        </p:cxnSp>
        <p:sp>
          <p:nvSpPr>
            <p:cNvPr id="93" name="CaixaDeTexto 92"/>
            <p:cNvSpPr txBox="1"/>
            <p:nvPr/>
          </p:nvSpPr>
          <p:spPr>
            <a:xfrm>
              <a:off x="1936234" y="1926138"/>
              <a:ext cx="347241" cy="373712"/>
            </a:xfrm>
            <a:prstGeom prst="rect">
              <a:avLst/>
            </a:prstGeom>
            <a:noFill/>
          </p:spPr>
          <p:txBody>
            <a:bodyPr wrap="none" rtlCol="0">
              <a:spAutoFit/>
            </a:bodyPr>
            <a:lstStyle/>
            <a:p>
              <a:r>
                <a:rPr lang="pt-BR" sz="1400" dirty="0"/>
                <a:t>2</a:t>
              </a:r>
            </a:p>
          </p:txBody>
        </p:sp>
        <p:sp>
          <p:nvSpPr>
            <p:cNvPr id="94" name="CaixaDeTexto 93"/>
            <p:cNvSpPr txBox="1"/>
            <p:nvPr/>
          </p:nvSpPr>
          <p:spPr>
            <a:xfrm>
              <a:off x="1272976" y="3077096"/>
              <a:ext cx="462180" cy="373712"/>
            </a:xfrm>
            <a:prstGeom prst="rect">
              <a:avLst/>
            </a:prstGeom>
            <a:noFill/>
          </p:spPr>
          <p:txBody>
            <a:bodyPr wrap="none" rtlCol="0">
              <a:spAutoFit/>
            </a:bodyPr>
            <a:lstStyle/>
            <a:p>
              <a:r>
                <a:rPr lang="pt-BR" sz="1400" dirty="0"/>
                <a:t>10</a:t>
              </a:r>
            </a:p>
          </p:txBody>
        </p:sp>
        <p:sp>
          <p:nvSpPr>
            <p:cNvPr id="95" name="CaixaDeTexto 94"/>
            <p:cNvSpPr txBox="1"/>
            <p:nvPr/>
          </p:nvSpPr>
          <p:spPr>
            <a:xfrm>
              <a:off x="2492679" y="2488472"/>
              <a:ext cx="462180" cy="373712"/>
            </a:xfrm>
            <a:prstGeom prst="rect">
              <a:avLst/>
            </a:prstGeom>
            <a:noFill/>
          </p:spPr>
          <p:txBody>
            <a:bodyPr wrap="none" rtlCol="0">
              <a:spAutoFit/>
            </a:bodyPr>
            <a:lstStyle/>
            <a:p>
              <a:r>
                <a:rPr lang="pt-BR" sz="1400" dirty="0"/>
                <a:t>15</a:t>
              </a:r>
            </a:p>
          </p:txBody>
        </p:sp>
        <p:sp>
          <p:nvSpPr>
            <p:cNvPr id="96" name="CaixaDeTexto 95"/>
            <p:cNvSpPr txBox="1"/>
            <p:nvPr/>
          </p:nvSpPr>
          <p:spPr>
            <a:xfrm>
              <a:off x="3549212" y="1866069"/>
              <a:ext cx="347241" cy="373712"/>
            </a:xfrm>
            <a:prstGeom prst="rect">
              <a:avLst/>
            </a:prstGeom>
            <a:noFill/>
          </p:spPr>
          <p:txBody>
            <a:bodyPr wrap="none" rtlCol="0">
              <a:spAutoFit/>
            </a:bodyPr>
            <a:lstStyle/>
            <a:p>
              <a:r>
                <a:rPr lang="pt-BR" sz="1400" dirty="0"/>
                <a:t>3</a:t>
              </a:r>
            </a:p>
          </p:txBody>
        </p:sp>
        <p:sp>
          <p:nvSpPr>
            <p:cNvPr id="97" name="CaixaDeTexto 96"/>
            <p:cNvSpPr txBox="1"/>
            <p:nvPr/>
          </p:nvSpPr>
          <p:spPr>
            <a:xfrm>
              <a:off x="5260338" y="1941930"/>
              <a:ext cx="462180" cy="373712"/>
            </a:xfrm>
            <a:prstGeom prst="rect">
              <a:avLst/>
            </a:prstGeom>
            <a:noFill/>
          </p:spPr>
          <p:txBody>
            <a:bodyPr wrap="none" rtlCol="0">
              <a:spAutoFit/>
            </a:bodyPr>
            <a:lstStyle/>
            <a:p>
              <a:r>
                <a:rPr lang="pt-BR" sz="1400" dirty="0"/>
                <a:t>10</a:t>
              </a:r>
            </a:p>
          </p:txBody>
        </p:sp>
        <p:sp>
          <p:nvSpPr>
            <p:cNvPr id="98" name="CaixaDeTexto 97"/>
            <p:cNvSpPr txBox="1"/>
            <p:nvPr/>
          </p:nvSpPr>
          <p:spPr>
            <a:xfrm>
              <a:off x="2113318" y="4581130"/>
              <a:ext cx="347241" cy="373712"/>
            </a:xfrm>
            <a:prstGeom prst="rect">
              <a:avLst/>
            </a:prstGeom>
            <a:noFill/>
          </p:spPr>
          <p:txBody>
            <a:bodyPr wrap="none" rtlCol="0">
              <a:spAutoFit/>
            </a:bodyPr>
            <a:lstStyle/>
            <a:p>
              <a:r>
                <a:rPr lang="pt-BR" sz="1400" dirty="0"/>
                <a:t>1</a:t>
              </a:r>
            </a:p>
          </p:txBody>
        </p:sp>
        <p:sp>
          <p:nvSpPr>
            <p:cNvPr id="99" name="CaixaDeTexto 98"/>
            <p:cNvSpPr txBox="1"/>
            <p:nvPr/>
          </p:nvSpPr>
          <p:spPr>
            <a:xfrm>
              <a:off x="2971482" y="3346750"/>
              <a:ext cx="347241" cy="373712"/>
            </a:xfrm>
            <a:prstGeom prst="rect">
              <a:avLst/>
            </a:prstGeom>
            <a:noFill/>
          </p:spPr>
          <p:txBody>
            <a:bodyPr wrap="none" rtlCol="0">
              <a:spAutoFit/>
            </a:bodyPr>
            <a:lstStyle/>
            <a:p>
              <a:r>
                <a:rPr lang="pt-BR" sz="1400" dirty="0"/>
                <a:t>5</a:t>
              </a:r>
            </a:p>
          </p:txBody>
        </p:sp>
        <p:sp>
          <p:nvSpPr>
            <p:cNvPr id="100" name="CaixaDeTexto 99"/>
            <p:cNvSpPr txBox="1"/>
            <p:nvPr/>
          </p:nvSpPr>
          <p:spPr>
            <a:xfrm>
              <a:off x="4897551" y="3446429"/>
              <a:ext cx="347241" cy="373712"/>
            </a:xfrm>
            <a:prstGeom prst="rect">
              <a:avLst/>
            </a:prstGeom>
            <a:noFill/>
          </p:spPr>
          <p:txBody>
            <a:bodyPr wrap="none" rtlCol="0">
              <a:spAutoFit/>
            </a:bodyPr>
            <a:lstStyle/>
            <a:p>
              <a:r>
                <a:rPr lang="pt-BR" sz="1400" dirty="0"/>
                <a:t>9</a:t>
              </a:r>
            </a:p>
          </p:txBody>
        </p:sp>
        <p:sp>
          <p:nvSpPr>
            <p:cNvPr id="101" name="CaixaDeTexto 100"/>
            <p:cNvSpPr txBox="1"/>
            <p:nvPr/>
          </p:nvSpPr>
          <p:spPr>
            <a:xfrm>
              <a:off x="3850900" y="2546395"/>
              <a:ext cx="347241" cy="373712"/>
            </a:xfrm>
            <a:prstGeom prst="rect">
              <a:avLst/>
            </a:prstGeom>
            <a:noFill/>
          </p:spPr>
          <p:txBody>
            <a:bodyPr wrap="none" rtlCol="0">
              <a:spAutoFit/>
            </a:bodyPr>
            <a:lstStyle/>
            <a:p>
              <a:r>
                <a:rPr lang="pt-BR" sz="1400" dirty="0"/>
                <a:t>6</a:t>
              </a:r>
            </a:p>
          </p:txBody>
        </p:sp>
        <p:sp>
          <p:nvSpPr>
            <p:cNvPr id="102" name="CaixaDeTexto 101"/>
            <p:cNvSpPr txBox="1"/>
            <p:nvPr/>
          </p:nvSpPr>
          <p:spPr>
            <a:xfrm>
              <a:off x="4486337" y="2915651"/>
              <a:ext cx="462180" cy="373712"/>
            </a:xfrm>
            <a:prstGeom prst="rect">
              <a:avLst/>
            </a:prstGeom>
            <a:noFill/>
          </p:spPr>
          <p:txBody>
            <a:bodyPr wrap="none" rtlCol="0">
              <a:spAutoFit/>
            </a:bodyPr>
            <a:lstStyle/>
            <a:p>
              <a:r>
                <a:rPr lang="pt-BR" sz="1400" dirty="0"/>
                <a:t>12</a:t>
              </a:r>
            </a:p>
          </p:txBody>
        </p:sp>
        <p:sp>
          <p:nvSpPr>
            <p:cNvPr id="103" name="CaixaDeTexto 102"/>
            <p:cNvSpPr txBox="1"/>
            <p:nvPr/>
          </p:nvSpPr>
          <p:spPr>
            <a:xfrm>
              <a:off x="6295320" y="2785690"/>
              <a:ext cx="462180" cy="373712"/>
            </a:xfrm>
            <a:prstGeom prst="rect">
              <a:avLst/>
            </a:prstGeom>
            <a:noFill/>
          </p:spPr>
          <p:txBody>
            <a:bodyPr wrap="none" rtlCol="0">
              <a:spAutoFit/>
            </a:bodyPr>
            <a:lstStyle/>
            <a:p>
              <a:r>
                <a:rPr lang="pt-BR" sz="1400" dirty="0"/>
                <a:t>12</a:t>
              </a:r>
            </a:p>
          </p:txBody>
        </p:sp>
        <p:sp>
          <p:nvSpPr>
            <p:cNvPr id="104" name="CaixaDeTexto 103"/>
            <p:cNvSpPr txBox="1"/>
            <p:nvPr/>
          </p:nvSpPr>
          <p:spPr>
            <a:xfrm>
              <a:off x="6934610" y="2295470"/>
              <a:ext cx="462180" cy="373712"/>
            </a:xfrm>
            <a:prstGeom prst="rect">
              <a:avLst/>
            </a:prstGeom>
            <a:noFill/>
          </p:spPr>
          <p:txBody>
            <a:bodyPr wrap="none" rtlCol="0">
              <a:spAutoFit/>
            </a:bodyPr>
            <a:lstStyle/>
            <a:p>
              <a:r>
                <a:rPr lang="pt-BR" sz="1400" dirty="0"/>
                <a:t>15</a:t>
              </a:r>
            </a:p>
          </p:txBody>
        </p:sp>
        <p:sp>
          <p:nvSpPr>
            <p:cNvPr id="105" name="CaixaDeTexto 104"/>
            <p:cNvSpPr txBox="1"/>
            <p:nvPr/>
          </p:nvSpPr>
          <p:spPr>
            <a:xfrm>
              <a:off x="4013017" y="4591911"/>
              <a:ext cx="347241" cy="373712"/>
            </a:xfrm>
            <a:prstGeom prst="rect">
              <a:avLst/>
            </a:prstGeom>
            <a:noFill/>
          </p:spPr>
          <p:txBody>
            <a:bodyPr wrap="none" rtlCol="0">
              <a:spAutoFit/>
            </a:bodyPr>
            <a:lstStyle/>
            <a:p>
              <a:r>
                <a:rPr lang="pt-BR" sz="1400" dirty="0"/>
                <a:t>2</a:t>
              </a:r>
            </a:p>
          </p:txBody>
        </p:sp>
        <p:sp>
          <p:nvSpPr>
            <p:cNvPr id="106" name="CaixaDeTexto 105"/>
            <p:cNvSpPr txBox="1"/>
            <p:nvPr/>
          </p:nvSpPr>
          <p:spPr>
            <a:xfrm>
              <a:off x="6246287" y="4567402"/>
              <a:ext cx="347241" cy="373712"/>
            </a:xfrm>
            <a:prstGeom prst="rect">
              <a:avLst/>
            </a:prstGeom>
            <a:noFill/>
          </p:spPr>
          <p:txBody>
            <a:bodyPr wrap="none" rtlCol="0">
              <a:spAutoFit/>
            </a:bodyPr>
            <a:lstStyle/>
            <a:p>
              <a:r>
                <a:rPr lang="pt-BR" sz="1400" dirty="0"/>
                <a:t>8</a:t>
              </a:r>
            </a:p>
          </p:txBody>
        </p:sp>
        <p:sp>
          <p:nvSpPr>
            <p:cNvPr id="107" name="CaixaDeTexto 106"/>
            <p:cNvSpPr txBox="1"/>
            <p:nvPr/>
          </p:nvSpPr>
          <p:spPr>
            <a:xfrm>
              <a:off x="6863489" y="3282708"/>
              <a:ext cx="462180" cy="373712"/>
            </a:xfrm>
            <a:prstGeom prst="rect">
              <a:avLst/>
            </a:prstGeom>
            <a:noFill/>
          </p:spPr>
          <p:txBody>
            <a:bodyPr wrap="none" rtlCol="0">
              <a:spAutoFit/>
            </a:bodyPr>
            <a:lstStyle/>
            <a:p>
              <a:r>
                <a:rPr lang="pt-BR" sz="1400" dirty="0"/>
                <a:t>11</a:t>
              </a:r>
            </a:p>
          </p:txBody>
        </p:sp>
        <p:sp>
          <p:nvSpPr>
            <p:cNvPr id="108" name="CaixaDeTexto 107"/>
            <p:cNvSpPr txBox="1"/>
            <p:nvPr/>
          </p:nvSpPr>
          <p:spPr>
            <a:xfrm>
              <a:off x="7006618" y="3861049"/>
              <a:ext cx="347241" cy="373712"/>
            </a:xfrm>
            <a:prstGeom prst="rect">
              <a:avLst/>
            </a:prstGeom>
            <a:noFill/>
          </p:spPr>
          <p:txBody>
            <a:bodyPr wrap="none" rtlCol="0">
              <a:spAutoFit/>
            </a:bodyPr>
            <a:lstStyle/>
            <a:p>
              <a:r>
                <a:rPr lang="pt-BR" sz="1400" dirty="0"/>
                <a:t>7</a:t>
              </a:r>
            </a:p>
          </p:txBody>
        </p:sp>
        <p:sp>
          <p:nvSpPr>
            <p:cNvPr id="109" name="CaixaDeTexto 108"/>
            <p:cNvSpPr txBox="1"/>
            <p:nvPr/>
          </p:nvSpPr>
          <p:spPr>
            <a:xfrm>
              <a:off x="2483768" y="3851757"/>
              <a:ext cx="347241" cy="373712"/>
            </a:xfrm>
            <a:prstGeom prst="rect">
              <a:avLst/>
            </a:prstGeom>
            <a:noFill/>
          </p:spPr>
          <p:txBody>
            <a:bodyPr wrap="none" rtlCol="0">
              <a:spAutoFit/>
            </a:bodyPr>
            <a:lstStyle/>
            <a:p>
              <a:r>
                <a:rPr lang="pt-BR" sz="1400" dirty="0"/>
                <a:t>3</a:t>
              </a:r>
            </a:p>
          </p:txBody>
        </p:sp>
      </p:grpSp>
    </p:spTree>
    <p:extLst>
      <p:ext uri="{BB962C8B-B14F-4D97-AF65-F5344CB8AC3E}">
        <p14:creationId xmlns:p14="http://schemas.microsoft.com/office/powerpoint/2010/main" val="3471609394"/>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8522</TotalTime>
  <Words>3200</Words>
  <Application>Microsoft Office PowerPoint</Application>
  <PresentationFormat>Apresentação na tela (4:3)</PresentationFormat>
  <Paragraphs>701</Paragraphs>
  <Slides>72</Slides>
  <Notes>2</Notes>
  <HiddenSlides>2</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72</vt:i4>
      </vt:variant>
    </vt:vector>
  </HeadingPairs>
  <TitlesOfParts>
    <vt:vector size="77" baseType="lpstr">
      <vt:lpstr>Arial</vt:lpstr>
      <vt:lpstr>Calibri</vt:lpstr>
      <vt:lpstr>Cambria Math</vt:lpstr>
      <vt:lpstr>Consolas</vt:lpstr>
      <vt:lpstr>Tema do Office</vt:lpstr>
      <vt:lpstr>Unidade VIII  Particionamento</vt:lpstr>
      <vt:lpstr>Conjuntos Independentes</vt:lpstr>
      <vt:lpstr>Conjuntos Independentes</vt:lpstr>
      <vt:lpstr>Conjuntos Independentes</vt:lpstr>
      <vt:lpstr>Conjuntos Independentes</vt:lpstr>
      <vt:lpstr>Conjuntos Independentes Maximal e β(G)</vt:lpstr>
      <vt:lpstr>Clique</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Conjuntos Independentes</vt:lpstr>
      <vt:lpstr>Transformação Polinomial (Conteúdo extra)</vt:lpstr>
      <vt:lpstr>Transformação Polinomial (Conteúdo extra)</vt:lpstr>
      <vt:lpstr>Problema NP-Completo (Conteúdo extra)</vt:lpstr>
      <vt:lpstr>Conjuntos Dominantes</vt:lpstr>
      <vt:lpstr>Conjuntos Dominantes Mínimos e α(G) </vt:lpstr>
      <vt:lpstr>Problema dos Bancos 24 Horas</vt:lpstr>
      <vt:lpstr>Problema dos Bancos 24 Horas</vt:lpstr>
      <vt:lpstr>Problema dos Bancos 24 Horas</vt:lpstr>
      <vt:lpstr>Conjuntos Dominantes</vt:lpstr>
      <vt:lpstr>Conjuntos Dominantes</vt:lpstr>
      <vt:lpstr>Conjuntos Dominantes</vt:lpstr>
      <vt:lpstr>Conjuntos Dominantes</vt:lpstr>
      <vt:lpstr>Cobertura de Vértices</vt:lpstr>
      <vt:lpstr>Cobertura de Vértices</vt:lpstr>
      <vt:lpstr>Cobertura de Vértices</vt:lpstr>
      <vt:lpstr>Cobertura de Vértices e Conjunto Independente </vt:lpstr>
      <vt:lpstr>Cobertura de Vértices e Conjunto Independente </vt:lpstr>
      <vt:lpstr>Cobertura de Vértices e Conjunto Independente </vt:lpstr>
      <vt:lpstr>Cobertura de Arestas</vt:lpstr>
      <vt:lpstr>Policiamento de Ruas</vt:lpstr>
      <vt:lpstr>Policiamento de Ruas</vt:lpstr>
      <vt:lpstr>Problema das 8 rainhas (n-rainhas)</vt:lpstr>
      <vt:lpstr>Problema das 8 rainhas (n-rainhas)</vt:lpstr>
      <vt:lpstr>Problema das 8 rainhas (n-rainhas)</vt:lpstr>
      <vt:lpstr>Casamentos</vt:lpstr>
      <vt:lpstr>Casamentos</vt:lpstr>
      <vt:lpstr>Casamentos</vt:lpstr>
      <vt:lpstr>Casamentos</vt:lpstr>
      <vt:lpstr>Casamentos</vt:lpstr>
      <vt:lpstr>Casamentos</vt:lpstr>
      <vt:lpstr>Casamentos</vt:lpstr>
      <vt:lpstr>Casamentos</vt:lpstr>
      <vt:lpstr>Casamentos</vt:lpstr>
      <vt:lpstr>Casamentos</vt:lpstr>
      <vt:lpstr>Casamentos</vt:lpstr>
      <vt:lpstr>Casamentos</vt:lpstr>
      <vt:lpstr>Casamentos</vt:lpstr>
      <vt:lpstr>Casamentos</vt:lpstr>
      <vt:lpstr>Casamentos</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Problema da Atribuição Linear</vt:lpstr>
      <vt:lpstr>Bibliografia</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Algoritmos e Estruturas de Dados</dc:title>
  <dc:creator>henrique</dc:creator>
  <cp:lastModifiedBy>Henrique Silva</cp:lastModifiedBy>
  <cp:revision>496</cp:revision>
  <dcterms:created xsi:type="dcterms:W3CDTF">2011-08-03T02:09:11Z</dcterms:created>
  <dcterms:modified xsi:type="dcterms:W3CDTF">2016-07-04T18:13:38Z</dcterms:modified>
</cp:coreProperties>
</file>