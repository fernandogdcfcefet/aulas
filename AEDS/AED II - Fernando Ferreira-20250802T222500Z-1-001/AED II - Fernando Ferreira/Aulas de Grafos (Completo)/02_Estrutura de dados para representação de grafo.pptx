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329" r:id="rId12"/>
    <p:sldId id="276" r:id="rId13"/>
    <p:sldId id="277" r:id="rId14"/>
    <p:sldId id="279" r:id="rId15"/>
    <p:sldId id="278" r:id="rId16"/>
    <p:sldId id="280" r:id="rId17"/>
    <p:sldId id="282" r:id="rId18"/>
    <p:sldId id="281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22" r:id="rId40"/>
    <p:sldId id="264" r:id="rId4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2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12/08/2016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12/08/2016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12/08/2016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12/08/2016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12/08/2016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12/08/2016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12/08/2016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12/08/2016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12/08/2016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12/08/2016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12/08/2016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12/08/2016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6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Unidade I </a:t>
            </a:r>
            <a:br>
              <a:rPr lang="pt-BR" dirty="0"/>
            </a:br>
            <a:r>
              <a:rPr lang="pt-BR" dirty="0"/>
              <a:t>Estruturas de dados para representação de grafos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Prof. Henrique Batista da Silva</a:t>
            </a:r>
          </a:p>
          <a:p>
            <a:r>
              <a:rPr lang="pt-BR" dirty="0"/>
              <a:t>henriquebsilva@outlook.com.br</a:t>
            </a:r>
          </a:p>
          <a:p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979712" y="6093296"/>
            <a:ext cx="53676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Adaptado do material prof.ª Anna Tostes (PUC Minas)</a:t>
            </a:r>
          </a:p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Implementações foram adaptadas de [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Ziviani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, 2006] </a:t>
            </a:r>
          </a:p>
        </p:txBody>
      </p:sp>
    </p:spTree>
    <p:extLst>
      <p:ext uri="{BB962C8B-B14F-4D97-AF65-F5344CB8AC3E}">
        <p14:creationId xmlns:p14="http://schemas.microsoft.com/office/powerpoint/2010/main" val="191765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de um Grafo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Dado um grafo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400" dirty="0"/>
                  <a:t> = conjunto de vértices.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sz="2400" dirty="0"/>
                  <a:t> = conjunto de arestas, que pode ser representado pelo subconjunto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800" dirty="0"/>
                  <a:t>O tamanho da entrada de dados é medido em termos do:</a:t>
                </a:r>
              </a:p>
              <a:p>
                <a:pPr lvl="1"/>
                <a:r>
                  <a:rPr lang="pt-BR" sz="2400" dirty="0"/>
                  <a:t>Número de vértices </a:t>
                </a:r>
                <a14:m>
                  <m:oMath xmlns:m="http://schemas.openxmlformats.org/officeDocument/2006/math"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lvl="1"/>
                <a:r>
                  <a:rPr lang="pt-BR" sz="2400" dirty="0"/>
                  <a:t>Número de arestas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800" dirty="0"/>
                  <a:t>Se G é conexo, então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d>
                      <m:dPr>
                        <m:begChr m:val="|"/>
                        <m:endChr m:val="|"/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−1.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1992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de um Grafo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pt-BR" sz="2400" dirty="0"/>
                  <a:t>Convenção I (Notação):</a:t>
                </a:r>
              </a:p>
              <a:p>
                <a:pPr lvl="1"/>
                <a:r>
                  <a:rPr lang="pt-BR" sz="2400" dirty="0"/>
                  <a:t>Dentro e somente dentro da notação assintótica os símbolos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pt-BR" sz="2400" dirty="0"/>
                  <a:t> significam respectivamente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lvl="1"/>
                <a:r>
                  <a:rPr lang="pt-BR" sz="2400" dirty="0"/>
                  <a:t>Se um algoritmo “executa em tempo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” é equivalente a dizer que “executa em tempo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”.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Convenção II (Em pseudocódigo):</a:t>
                </a:r>
              </a:p>
              <a:p>
                <a:pPr lvl="1"/>
                <a:r>
                  <a:rPr lang="pt-BR" sz="2400" dirty="0"/>
                  <a:t>O conjunto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400" dirty="0"/>
                  <a:t> de vértices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lang="pt-BR" sz="2400" dirty="0"/>
                  <a:t> é representado por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lvl="1"/>
                <a:r>
                  <a:rPr lang="pt-BR" sz="2400" dirty="0"/>
                  <a:t>O conjunto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pt-BR" sz="2400" dirty="0"/>
                  <a:t> de arestas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é representado por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lvl="1"/>
                <a:r>
                  <a:rPr lang="pt-BR" sz="2400" dirty="0"/>
                  <a:t>Os conjuntos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pt-BR" sz="2400" dirty="0"/>
                  <a:t> são vistos como atributos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2865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Representação de um Grafo: Estruturas de Dados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pt-BR" sz="2400" dirty="0"/>
                  <a:t>Matriz de adjacência:</a:t>
                </a:r>
              </a:p>
              <a:p>
                <a:pPr lvl="1"/>
                <a:r>
                  <a:rPr lang="pt-BR" sz="2000" dirty="0"/>
                  <a:t>Forma preferida de representar grafos densos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|≈</m:t>
                    </m:r>
                    <m:sSup>
                      <m:sSupPr>
                        <m:ctrlP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/>
                  <a:t>.</a:t>
                </a:r>
              </a:p>
              <a:p>
                <a:pPr lvl="1"/>
                <a:r>
                  <a:rPr lang="pt-BR" sz="2000" dirty="0"/>
                  <a:t>Indica rapidamente </a:t>
                </a:r>
                <a14:m>
                  <m:oMath xmlns:m="http://schemas.openxmlformats.org/officeDocument/2006/math">
                    <m:r>
                      <a:rPr lang="pt-BR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pt-BR" sz="2000">
                        <a:latin typeface="Cambria Math" panose="02040503050406030204" pitchFamily="18" charset="0"/>
                      </a:rPr>
                      <m:t>O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000">
                        <a:latin typeface="Cambria Math" panose="02040503050406030204" pitchFamily="18" charset="0"/>
                      </a:rPr>
                      <m:t>)</m:t>
                    </m:r>
                    <m:r>
                      <a:rPr lang="pt-BR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/>
                  <a:t> se existe uma aresta conectando dois vértices.</a:t>
                </a:r>
              </a:p>
              <a:p>
                <a:r>
                  <a:rPr lang="pt-BR" sz="2400" dirty="0"/>
                  <a:t>Lista de adjacência:</a:t>
                </a:r>
              </a:p>
              <a:p>
                <a:pPr lvl="1"/>
                <a:r>
                  <a:rPr lang="pt-BR" sz="2000" dirty="0"/>
                  <a:t>Representação normalmente preferida.</a:t>
                </a:r>
              </a:p>
              <a:p>
                <a:pPr lvl="1"/>
                <a:r>
                  <a:rPr lang="pt-BR" sz="2000" dirty="0"/>
                  <a:t>Provê uma forma compacta de representar grafos esparsos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(|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|≈</m:t>
                    </m:r>
                    <m:r>
                      <a:rPr lang="pt-BR" sz="2000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pt-BR" sz="2000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pt-BR" sz="2000" b="0" i="0" smtClean="0">
                        <a:latin typeface="Cambria Math" panose="02040503050406030204" pitchFamily="18" charset="0"/>
                      </a:rPr>
                      <m:t>|)</m:t>
                    </m:r>
                  </m:oMath>
                </a14:m>
                <a:r>
                  <a:rPr lang="pt-BR" sz="2000" dirty="0"/>
                  <a:t>.</a:t>
                </a:r>
              </a:p>
              <a:p>
                <a:r>
                  <a:rPr lang="pt-BR" sz="2400" dirty="0"/>
                  <a:t>Matriz de incidência:</a:t>
                </a:r>
              </a:p>
              <a:p>
                <a:pPr lvl="1"/>
                <a:r>
                  <a:rPr lang="pt-BR" sz="2000" dirty="0"/>
                  <a:t>Representação que inclui vértice e aresta.</a:t>
                </a:r>
              </a:p>
              <a:p>
                <a:r>
                  <a:rPr lang="pt-BR" sz="2400" dirty="0"/>
                  <a:t>As duas primeiras formas acima são as principais formas de representar um grafo.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b="-41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2802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Matriz de adjacência e grafo dirigido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135493"/>
            <a:ext cx="2914650" cy="2733675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683568" y="1673828"/>
            <a:ext cx="3624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Seja o grafo dirigido abaixo: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4908114" y="1671191"/>
                <a:ext cx="4128382" cy="2028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Este grafo pode ser representado por</a:t>
                </a:r>
              </a:p>
              <a:p>
                <a:r>
                  <a:rPr lang="pt-BR" sz="2400" dirty="0"/>
                  <a:t>uma matriz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onde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representa o número de arestas de</a:t>
                </a:r>
                <a14:m>
                  <m:oMath xmlns:m="http://schemas.openxmlformats.org/officeDocument/2006/math"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114" y="1671191"/>
                <a:ext cx="4128382" cy="2028248"/>
              </a:xfrm>
              <a:prstGeom prst="rect">
                <a:avLst/>
              </a:prstGeom>
              <a:blipFill rotWithShape="0">
                <a:blip r:embed="rId3"/>
                <a:stretch>
                  <a:fillRect l="-2216" t="-2402" b="-450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/>
          <p:cNvSpPr txBox="1"/>
          <p:nvPr/>
        </p:nvSpPr>
        <p:spPr>
          <a:xfrm>
            <a:off x="4908114" y="3952992"/>
            <a:ext cx="2884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Matriz de Adjacência: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48" y="4581128"/>
            <a:ext cx="2952750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735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Matriz de adjacência e grafo dirigido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683568" y="1673828"/>
                <a:ext cx="8247707" cy="12300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400" dirty="0"/>
                  <a:t>Definição: Seja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um grafo dirigido com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, ...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400" dirty="0"/>
                  <a:t>. A</a:t>
                </a:r>
              </a:p>
              <a:p>
                <a:r>
                  <a:rPr lang="pt-BR" sz="2400" dirty="0"/>
                  <a:t>matriz de adjacência de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é a matriz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1…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, 1…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</a:t>
                </a:r>
              </a:p>
              <a:p>
                <a:r>
                  <a:rPr lang="pt-BR" sz="2400" dirty="0"/>
                  <a:t>definida como: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673828"/>
                <a:ext cx="8247707" cy="1230080"/>
              </a:xfrm>
              <a:prstGeom prst="rect">
                <a:avLst/>
              </a:prstGeom>
              <a:blipFill rotWithShape="0">
                <a:blip r:embed="rId2"/>
                <a:stretch>
                  <a:fillRect l="-1109" t="-3980" r="-222" b="-109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1637803" y="3140968"/>
                <a:ext cx="6339236" cy="491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=#</m:t>
                    </m:r>
                  </m:oMath>
                </a14:m>
                <a:r>
                  <a:rPr lang="pt-BR" sz="2400" dirty="0"/>
                  <a:t> de arestas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 2,…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803" y="3140968"/>
                <a:ext cx="6339236" cy="491417"/>
              </a:xfrm>
              <a:prstGeom prst="rect">
                <a:avLst/>
              </a:prstGeom>
              <a:blipFill rotWithShape="0">
                <a:blip r:embed="rId3"/>
                <a:stretch>
                  <a:fillRect t="-8642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/>
              <p:cNvSpPr txBox="1"/>
              <p:nvPr/>
            </p:nvSpPr>
            <p:spPr>
              <a:xfrm>
                <a:off x="899592" y="4077072"/>
                <a:ext cx="7632848" cy="2516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Valor diferente de zero na diagonal principal: laço.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Valor igual a 1 na entrada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400" dirty="0"/>
                  <a:t>): uma única aresta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Valores maiores que 1 na entrada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400" dirty="0"/>
                  <a:t>): arestas paralelas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Espaço: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7" name="CaixaDe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4077072"/>
                <a:ext cx="7632848" cy="2516523"/>
              </a:xfrm>
              <a:prstGeom prst="rect">
                <a:avLst/>
              </a:prstGeom>
              <a:blipFill rotWithShape="0">
                <a:blip r:embed="rId4"/>
                <a:stretch>
                  <a:fillRect l="-1118" t="-1937" r="-240" b="-1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482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Matriz de adjacência e grafo dirigido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Exemplos de matriz de adjacência: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796" y="2204864"/>
            <a:ext cx="3619500" cy="238125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892" y="2204864"/>
            <a:ext cx="3600450" cy="233362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983" y="4586114"/>
            <a:ext cx="2905125" cy="183832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129" y="4538489"/>
            <a:ext cx="284797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39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Matriz de adjacência e grafo dirigido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3568" y="1673828"/>
            <a:ext cx="45467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Dada a matriz de adjacência de um</a:t>
            </a:r>
          </a:p>
          <a:p>
            <a:r>
              <a:rPr lang="pt-BR" sz="2400" dirty="0"/>
              <a:t>grafo: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59" y="2636912"/>
            <a:ext cx="3457575" cy="2133600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827584" y="5013176"/>
            <a:ext cx="3074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Agora desenhe o grafo</a:t>
            </a:r>
          </a:p>
        </p:txBody>
      </p:sp>
    </p:spTree>
    <p:extLst>
      <p:ext uri="{BB962C8B-B14F-4D97-AF65-F5344CB8AC3E}">
        <p14:creationId xmlns:p14="http://schemas.microsoft.com/office/powerpoint/2010/main" val="697121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Matriz de adjacência e grafo dirigido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3568" y="1673828"/>
            <a:ext cx="45467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Dada a matriz de adjacência de um</a:t>
            </a:r>
          </a:p>
          <a:p>
            <a:r>
              <a:rPr lang="pt-BR" sz="2400" dirty="0"/>
              <a:t>grafo: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59" y="2636912"/>
            <a:ext cx="3457575" cy="21336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5851511" y="1673828"/>
            <a:ext cx="3312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Um possível desenho deste grafo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332" y="2526529"/>
            <a:ext cx="391477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173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Matriz de adjacência e grafo </a:t>
            </a:r>
            <a:r>
              <a:rPr lang="pt-BR" b="1" dirty="0"/>
              <a:t>não</a:t>
            </a:r>
            <a:r>
              <a:rPr lang="pt-BR" dirty="0"/>
              <a:t> dirigido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683569" y="1673828"/>
                <a:ext cx="8136904" cy="1230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Definição: Seja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um grafo não dirigido com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, ...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400" dirty="0"/>
                  <a:t>. A matriz de adjacência de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é a matriz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sobre o conjunto de inteiros não negativos tal que:</a:t>
                </a: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9" y="1673828"/>
                <a:ext cx="8136904" cy="1230080"/>
              </a:xfrm>
              <a:prstGeom prst="rect">
                <a:avLst/>
              </a:prstGeom>
              <a:blipFill rotWithShape="0">
                <a:blip r:embed="rId2"/>
                <a:stretch>
                  <a:fillRect l="-1124" t="-3980" b="-109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1637803" y="3140968"/>
                <a:ext cx="7296165" cy="491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=#</m:t>
                    </m:r>
                  </m:oMath>
                </a14:m>
                <a:r>
                  <a:rPr lang="pt-BR" sz="2400" dirty="0"/>
                  <a:t> de arestas conectando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 2,…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803" y="3140968"/>
                <a:ext cx="7296165" cy="491417"/>
              </a:xfrm>
              <a:prstGeom prst="rect">
                <a:avLst/>
              </a:prstGeom>
              <a:blipFill rotWithShape="0">
                <a:blip r:embed="rId3"/>
                <a:stretch>
                  <a:fillRect t="-8642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/>
              <p:cNvSpPr txBox="1"/>
              <p:nvPr/>
            </p:nvSpPr>
            <p:spPr>
              <a:xfrm>
                <a:off x="755576" y="4149080"/>
                <a:ext cx="7488832" cy="2464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Valor diferente de zero na diagonal principal: laço.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Valor igual a 1 na entrada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400" dirty="0"/>
                  <a:t>): uma única aresta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Valores maiores que 1 na entrada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400" dirty="0"/>
                  <a:t>): arestas paralelas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Espaço: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3" name="CaixaDe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4149080"/>
                <a:ext cx="7488832" cy="2464521"/>
              </a:xfrm>
              <a:prstGeom prst="rect">
                <a:avLst/>
              </a:prstGeom>
              <a:blipFill rotWithShape="0">
                <a:blip r:embed="rId4"/>
                <a:stretch>
                  <a:fillRect l="-1140" t="-1980" r="-1954" b="-34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6003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Matriz de adjacência e grafo </a:t>
            </a:r>
            <a:r>
              <a:rPr lang="pt-BR" b="1" dirty="0"/>
              <a:t>não</a:t>
            </a:r>
            <a:r>
              <a:rPr lang="pt-BR" dirty="0"/>
              <a:t> dirigido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683569" y="1673828"/>
                <a:ext cx="8136904" cy="1230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Definição: Seja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um grafo não dirigido com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, ...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400" dirty="0"/>
                  <a:t>. A matriz de adjacência de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é a matriz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sobre o conjunto de inteiros não negativos tal que:</a:t>
                </a: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9" y="1673828"/>
                <a:ext cx="8136904" cy="1230080"/>
              </a:xfrm>
              <a:prstGeom prst="rect">
                <a:avLst/>
              </a:prstGeom>
              <a:blipFill rotWithShape="0">
                <a:blip r:embed="rId2"/>
                <a:stretch>
                  <a:fillRect l="-1124" t="-3980" b="-109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1637803" y="3140968"/>
                <a:ext cx="7296165" cy="491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=#</m:t>
                    </m:r>
                  </m:oMath>
                </a14:m>
                <a:r>
                  <a:rPr lang="pt-BR" sz="2400" dirty="0"/>
                  <a:t> de arestas conectando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 2,…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803" y="3140968"/>
                <a:ext cx="7296165" cy="491417"/>
              </a:xfrm>
              <a:prstGeom prst="rect">
                <a:avLst/>
              </a:prstGeom>
              <a:blipFill rotWithShape="0">
                <a:blip r:embed="rId3"/>
                <a:stretch>
                  <a:fillRect t="-8642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/>
          <p:cNvSpPr txBox="1"/>
          <p:nvPr/>
        </p:nvSpPr>
        <p:spPr>
          <a:xfrm>
            <a:off x="755576" y="3645024"/>
            <a:ext cx="2606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Seja o grafo abaixo: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656" y="4117440"/>
            <a:ext cx="2541000" cy="2528400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5133933" y="3645024"/>
            <a:ext cx="27722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Matriz de adjacência</a:t>
            </a:r>
          </a:p>
          <a:p>
            <a:r>
              <a:rPr lang="pt-BR" sz="2400" dirty="0"/>
              <a:t>correspondente: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925" y="4701944"/>
            <a:ext cx="352425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336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adjacência: análise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42900" lvl="1" indent="-342900">
                  <a:buFont typeface="Arial" pitchFamily="34" charset="0"/>
                  <a:buChar char="•"/>
                </a:pPr>
                <a:r>
                  <a:rPr lang="pt-BR" sz="2400" dirty="0"/>
                  <a:t>Deve ser utilizada para grafos densos, onde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400" dirty="0"/>
                  <a:t> é próximo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(|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|≈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400" dirty="0"/>
                  <a:t>O tempo necessário para acessar um elemento é independente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400" dirty="0"/>
                  <a:t> ou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400" dirty="0"/>
                  <a:t>É muito útil para algoritmos em que necessitamos saber com rapidez se existe uma aresta ligando dois vértices.</a:t>
                </a:r>
              </a:p>
              <a:p>
                <a:r>
                  <a:rPr lang="pt-BR" sz="2400" dirty="0"/>
                  <a:t>A maior desvantagem é que a matriz necessita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de espaço.</a:t>
                </a:r>
              </a:p>
              <a:p>
                <a:r>
                  <a:rPr lang="pt-BR" sz="2400" dirty="0"/>
                  <a:t>Ler ou examinar a matriz tem complexidade de tempo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endParaRPr lang="pt-BR" sz="40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3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5834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incidência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Definição: Seja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/>
                  <a:t>um grafo não dirigido com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400" dirty="0"/>
                  <a:t> e arestas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pt-BR" sz="2400" dirty="0"/>
                  <a:t>. A matriz de incidência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é a matriz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de tamanho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 sobre o conjunto de inteiros não negativos tal que: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51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2945958" y="3255367"/>
                <a:ext cx="4506362" cy="491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400" dirty="0"/>
                  <a:t>quando a aresta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 é incidente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958" y="3255367"/>
                <a:ext cx="4506362" cy="491417"/>
              </a:xfrm>
              <a:prstGeom prst="rect">
                <a:avLst/>
              </a:prstGeom>
              <a:blipFill rotWithShape="0">
                <a:blip r:embed="rId3"/>
                <a:stretch>
                  <a:fillRect l="-2030" t="-8642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/>
          <p:cNvSpPr txBox="1"/>
          <p:nvPr/>
        </p:nvSpPr>
        <p:spPr>
          <a:xfrm>
            <a:off x="2945958" y="3615407"/>
            <a:ext cx="19497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caso contrário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ângulo 5"/>
              <p:cNvSpPr/>
              <p:nvPr/>
            </p:nvSpPr>
            <p:spPr>
              <a:xfrm>
                <a:off x="1547664" y="3174311"/>
                <a:ext cx="1507207" cy="916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</m:e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Retâ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3174311"/>
                <a:ext cx="1507207" cy="91614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/>
          <p:cNvSpPr txBox="1"/>
          <p:nvPr/>
        </p:nvSpPr>
        <p:spPr>
          <a:xfrm>
            <a:off x="251758" y="4077072"/>
            <a:ext cx="1723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Seja o grafo: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101101" y="4055232"/>
            <a:ext cx="27754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Matriz de incidência</a:t>
            </a:r>
          </a:p>
          <a:p>
            <a:r>
              <a:rPr lang="pt-BR" sz="2400" dirty="0"/>
              <a:t>correspondente: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0579" y="4041151"/>
            <a:ext cx="2607000" cy="2721600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942" y="4891909"/>
            <a:ext cx="3761228" cy="154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2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incidência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Definição: Seja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/>
                  <a:t>um grafo dirigido com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400" dirty="0"/>
                  <a:t> e arestas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pt-BR" sz="2400" dirty="0"/>
                  <a:t>. A matriz de incidência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é a matriz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de tamanho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 sobre o conjunto de inteiros não negativos tal que: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  <a:p>
                <a:endParaRPr lang="pt-BR" sz="2400" dirty="0"/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2945958" y="3255367"/>
                <a:ext cx="4506362" cy="491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400" dirty="0"/>
                  <a:t>quando a aresta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 é incidente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958" y="3255367"/>
                <a:ext cx="4506362" cy="491417"/>
              </a:xfrm>
              <a:prstGeom prst="rect">
                <a:avLst/>
              </a:prstGeom>
              <a:blipFill rotWithShape="0">
                <a:blip r:embed="rId3"/>
                <a:stretch>
                  <a:fillRect l="-2030" t="-8642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/>
          <p:cNvSpPr txBox="1"/>
          <p:nvPr/>
        </p:nvSpPr>
        <p:spPr>
          <a:xfrm>
            <a:off x="2945958" y="3615407"/>
            <a:ext cx="19497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caso contrário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ângulo 5"/>
              <p:cNvSpPr/>
              <p:nvPr/>
            </p:nvSpPr>
            <p:spPr>
              <a:xfrm>
                <a:off x="1547664" y="3174311"/>
                <a:ext cx="1507207" cy="916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</m:e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Retâ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3174311"/>
                <a:ext cx="1507207" cy="91614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/>
          <p:cNvSpPr txBox="1"/>
          <p:nvPr/>
        </p:nvSpPr>
        <p:spPr>
          <a:xfrm>
            <a:off x="251758" y="4077072"/>
            <a:ext cx="1723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Seja o grafo: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101101" y="4055232"/>
            <a:ext cx="27754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Matriz de incidência</a:t>
            </a:r>
          </a:p>
          <a:p>
            <a:r>
              <a:rPr lang="pt-BR" sz="2400" dirty="0"/>
              <a:t>correspondente: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246" y="4505902"/>
            <a:ext cx="2353388" cy="2230603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9671" y="4792289"/>
            <a:ext cx="2772000" cy="19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593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adjacência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grafo dirigido: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755576" y="2679303"/>
            <a:ext cx="3624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Seja o grafo dirigido abaixo: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3327587"/>
            <a:ext cx="2304257" cy="2409906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4789637" y="2679303"/>
            <a:ext cx="4354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Este grafo pode ser representado por uma lista de adjacência </a:t>
            </a:r>
            <a:r>
              <a:rPr lang="pt-BR" sz="2400" dirty="0" err="1"/>
              <a:t>Adj</a:t>
            </a:r>
            <a:r>
              <a:rPr lang="pt-BR" sz="2400" dirty="0"/>
              <a:t>: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637" y="3621088"/>
            <a:ext cx="4305300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78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adjacência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916832"/>
            <a:ext cx="2685651" cy="18002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1916832"/>
            <a:ext cx="3069385" cy="1831167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718286" y="3985393"/>
            <a:ext cx="34936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Este grafo pode ser representado por uma lista de adjacência: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4894750" y="4005064"/>
            <a:ext cx="34936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Este grafo pode ser representado por uma lista de adjacência: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673" y="5448201"/>
            <a:ext cx="2628900" cy="1228725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056" y="5448201"/>
            <a:ext cx="2701208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4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adjacência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grafo não dirigido: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755576" y="2679303"/>
            <a:ext cx="1867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Dado o grafo: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4789637" y="2679303"/>
            <a:ext cx="4354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Este grafo pode ser representado por uma lista de adjacência </a:t>
            </a:r>
            <a:r>
              <a:rPr lang="pt-BR" sz="2400" dirty="0" err="1"/>
              <a:t>Adj</a:t>
            </a:r>
            <a:r>
              <a:rPr lang="pt-BR" sz="2400" dirty="0"/>
              <a:t>: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37" y="3331034"/>
            <a:ext cx="2754647" cy="2690253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637" y="3692862"/>
            <a:ext cx="3364574" cy="161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332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adjacência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pt-BR" sz="2400" dirty="0"/>
                  <a:t>Vetor </a:t>
                </a:r>
                <a:r>
                  <a:rPr lang="pt-BR" sz="2400" dirty="0" err="1"/>
                  <a:t>Adj</a:t>
                </a:r>
                <a:r>
                  <a:rPr lang="pt-BR" sz="2400" dirty="0"/>
                  <a:t>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400" dirty="0"/>
                  <a:t> listas, uma para cada vértice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400" dirty="0"/>
                  <a:t>Para cada vértice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400" dirty="0"/>
                  <a:t> a lista de adjacência de Adj</a:t>
                </a:r>
                <a14:m>
                  <m:oMath xmlns:m="http://schemas.openxmlformats.org/officeDocument/2006/math"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2400" dirty="0"/>
                  <a:t> contém os apontadores para todos os vértices adjacente a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400" dirty="0"/>
                  <a:t> no grafo.</a:t>
                </a:r>
              </a:p>
              <a:p>
                <a:pPr lvl="1"/>
                <a:r>
                  <a:rPr lang="pt-BR" sz="2000" dirty="0"/>
                  <a:t>Para grafos dirigidos e não dirigidos</a:t>
                </a:r>
              </a:p>
              <a:p>
                <a:r>
                  <a:rPr lang="pt-BR" sz="2400" dirty="0"/>
                  <a:t>Tamanho de uma lista de adjacência:</a:t>
                </a:r>
              </a:p>
              <a:p>
                <a:pPr lvl="1"/>
                <a:r>
                  <a:rPr lang="pt-BR" sz="2000" dirty="0"/>
                  <a:t>Grafo dirigido: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000" dirty="0"/>
                  <a:t>, cada aresta aparece uma única vez.</a:t>
                </a:r>
              </a:p>
              <a:p>
                <a:pPr lvl="1"/>
                <a:r>
                  <a:rPr lang="pt-BR" sz="2000" dirty="0"/>
                  <a:t>Grafo não dirigido: </a:t>
                </a:r>
                <a14:m>
                  <m:oMath xmlns:m="http://schemas.openxmlformats.org/officeDocument/2006/math">
                    <m:r>
                      <a:rPr lang="pt-BR" sz="20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000" dirty="0"/>
                  <a:t>, cada aresta aparece duas vezes na lista (entrada de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000" dirty="0"/>
                  <a:t> e entrada de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pt-BR" sz="2000" dirty="0"/>
                  <a:t> para (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000" dirty="0"/>
                  <a:t>, </a:t>
                </a:r>
                <a14:m>
                  <m:oMath xmlns:m="http://schemas.openxmlformats.org/officeDocument/2006/math"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pt-BR" sz="2000" dirty="0"/>
                  <a:t>)).</a:t>
                </a:r>
              </a:p>
              <a:p>
                <a:pPr lvl="1"/>
                <a:r>
                  <a:rPr lang="pt-BR" sz="2000" dirty="0"/>
                  <a:t>Espaço: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/>
                  <a:t>.</a:t>
                </a:r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676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1804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 (extra – revisão)</a:t>
            </a:r>
          </a:p>
        </p:txBody>
      </p:sp>
    </p:spTree>
    <p:extLst>
      <p:ext uri="{BB962C8B-B14F-4D97-AF65-F5344CB8AC3E}">
        <p14:creationId xmlns:p14="http://schemas.microsoft.com/office/powerpoint/2010/main" val="2074789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Também podem ser chamadas de listas encadeadas ou listas ligadas.</a:t>
            </a:r>
          </a:p>
          <a:p>
            <a:r>
              <a:rPr lang="pt-BR" dirty="0"/>
              <a:t>Cada item da lista contém a informação que é necessária para alcançar o próximo item.</a:t>
            </a:r>
          </a:p>
          <a:p>
            <a:r>
              <a:rPr lang="pt-BR" dirty="0"/>
              <a:t>Permite utilizar posições não contíguas de memória.</a:t>
            </a:r>
          </a:p>
          <a:p>
            <a:r>
              <a:rPr lang="pt-BR" dirty="0"/>
              <a:t>Inserir e retirar elementos: </a:t>
            </a:r>
          </a:p>
          <a:p>
            <a:pPr lvl="1"/>
            <a:r>
              <a:rPr lang="pt-BR" dirty="0"/>
              <a:t>Não há necessidade de deslocar os itens seguintes da lista.</a:t>
            </a:r>
          </a:p>
        </p:txBody>
      </p:sp>
    </p:spTree>
    <p:extLst>
      <p:ext uri="{BB962C8B-B14F-4D97-AF65-F5344CB8AC3E}">
        <p14:creationId xmlns:p14="http://schemas.microsoft.com/office/powerpoint/2010/main" val="3362787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Há uma célula cabeça (</a:t>
            </a:r>
            <a:r>
              <a:rPr lang="pt-BR" dirty="0" err="1"/>
              <a:t>head</a:t>
            </a:r>
            <a:r>
              <a:rPr lang="pt-BR" dirty="0"/>
              <a:t>):</a:t>
            </a:r>
          </a:p>
          <a:p>
            <a:pPr lvl="1"/>
            <a:r>
              <a:rPr lang="pt-BR" dirty="0"/>
              <a:t>simplifica as operações sobre a lista</a:t>
            </a:r>
          </a:p>
          <a:p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472" y="3501008"/>
            <a:ext cx="6528725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8139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00808"/>
          </a:xfrm>
        </p:spPr>
        <p:txBody>
          <a:bodyPr>
            <a:normAutofit/>
          </a:bodyPr>
          <a:lstStyle/>
          <a:p>
            <a:r>
              <a:rPr lang="pt-BR" dirty="0"/>
              <a:t>A lista é constituída de células:</a:t>
            </a:r>
          </a:p>
          <a:p>
            <a:pPr lvl="1"/>
            <a:r>
              <a:rPr lang="pt-BR" dirty="0"/>
              <a:t>Cada uma contém um item da lista e uma referência para a célula seguinte.</a:t>
            </a:r>
          </a:p>
        </p:txBody>
      </p:sp>
      <p:sp>
        <p:nvSpPr>
          <p:cNvPr id="4" name="Elipse 3"/>
          <p:cNvSpPr/>
          <p:nvPr/>
        </p:nvSpPr>
        <p:spPr>
          <a:xfrm>
            <a:off x="1331640" y="407707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1331640" y="458112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547664" y="422108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527283" y="458112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8" name="Elipse 7"/>
          <p:cNvSpPr/>
          <p:nvPr/>
        </p:nvSpPr>
        <p:spPr>
          <a:xfrm>
            <a:off x="3059832" y="407707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/>
          <p:cNvCxnSpPr>
            <a:stCxn id="8" idx="2"/>
            <a:endCxn id="8" idx="6"/>
          </p:cNvCxnSpPr>
          <p:nvPr/>
        </p:nvCxnSpPr>
        <p:spPr>
          <a:xfrm>
            <a:off x="3059832" y="458112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3275856" y="422108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3255475" y="458112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2" name="Elipse 11"/>
          <p:cNvSpPr/>
          <p:nvPr/>
        </p:nvSpPr>
        <p:spPr>
          <a:xfrm>
            <a:off x="4860032" y="407707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860032" y="458112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5076056" y="422108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5055675" y="458112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6" name="Elipse 15"/>
          <p:cNvSpPr/>
          <p:nvPr/>
        </p:nvSpPr>
        <p:spPr>
          <a:xfrm>
            <a:off x="6588224" y="407707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 reto 16"/>
          <p:cNvCxnSpPr>
            <a:stCxn id="16" idx="2"/>
            <a:endCxn id="16" idx="6"/>
          </p:cNvCxnSpPr>
          <p:nvPr/>
        </p:nvCxnSpPr>
        <p:spPr>
          <a:xfrm>
            <a:off x="6588224" y="458112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6804248" y="422108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783867" y="458112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0" name="Conector em curva 19"/>
          <p:cNvCxnSpPr/>
          <p:nvPr/>
        </p:nvCxnSpPr>
        <p:spPr>
          <a:xfrm flipV="1">
            <a:off x="2339752" y="4405754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em curva 20"/>
          <p:cNvCxnSpPr/>
          <p:nvPr/>
        </p:nvCxnSpPr>
        <p:spPr>
          <a:xfrm flipV="1">
            <a:off x="4139952" y="4437112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em curva 21"/>
          <p:cNvCxnSpPr/>
          <p:nvPr/>
        </p:nvCxnSpPr>
        <p:spPr>
          <a:xfrm flipV="1">
            <a:off x="5868144" y="4437112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1475656" y="508518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583945" y="5086925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</p:spTree>
    <p:extLst>
      <p:ext uri="{BB962C8B-B14F-4D97-AF65-F5344CB8AC3E}">
        <p14:creationId xmlns:p14="http://schemas.microsoft.com/office/powerpoint/2010/main" val="2735566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/>
          <a:lstStyle/>
          <a:p>
            <a:r>
              <a:rPr lang="pt-BR" dirty="0"/>
              <a:t>Construção de uma Lista vazia:</a:t>
            </a:r>
          </a:p>
        </p:txBody>
      </p:sp>
      <p:sp>
        <p:nvSpPr>
          <p:cNvPr id="45" name="Elipse 44"/>
          <p:cNvSpPr/>
          <p:nvPr/>
        </p:nvSpPr>
        <p:spPr>
          <a:xfrm>
            <a:off x="1331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6" name="Conector reto 45"/>
          <p:cNvCxnSpPr>
            <a:stCxn id="45" idx="2"/>
            <a:endCxn id="45" idx="6"/>
          </p:cNvCxnSpPr>
          <p:nvPr/>
        </p:nvCxnSpPr>
        <p:spPr>
          <a:xfrm>
            <a:off x="1331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/>
          <p:cNvSpPr txBox="1"/>
          <p:nvPr/>
        </p:nvSpPr>
        <p:spPr>
          <a:xfrm>
            <a:off x="15476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15272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49" name="CaixaDeTexto 48"/>
          <p:cNvSpPr txBox="1"/>
          <p:nvPr/>
        </p:nvSpPr>
        <p:spPr>
          <a:xfrm>
            <a:off x="1475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50" name="CaixaDeTexto 49"/>
          <p:cNvSpPr txBox="1"/>
          <p:nvPr/>
        </p:nvSpPr>
        <p:spPr>
          <a:xfrm>
            <a:off x="1327361" y="4715910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51" name="Conector de seta reta 50"/>
          <p:cNvCxnSpPr/>
          <p:nvPr/>
        </p:nvCxnSpPr>
        <p:spPr>
          <a:xfrm>
            <a:off x="2152444" y="4077072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/>
          <p:cNvSpPr txBox="1"/>
          <p:nvPr/>
        </p:nvSpPr>
        <p:spPr>
          <a:xfrm>
            <a:off x="3446714" y="3898221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3905428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 fontScale="92500"/>
          </a:bodyPr>
          <a:lstStyle/>
          <a:p>
            <a:r>
              <a:rPr lang="pt-BR" dirty="0"/>
              <a:t>Inserção de um novo elemento na lista (aresta):</a:t>
            </a:r>
          </a:p>
        </p:txBody>
      </p:sp>
      <p:sp>
        <p:nvSpPr>
          <p:cNvPr id="4" name="Elipse 3"/>
          <p:cNvSpPr/>
          <p:nvPr/>
        </p:nvSpPr>
        <p:spPr>
          <a:xfrm>
            <a:off x="1331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1331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5476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5272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475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1327361" y="4715910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42" name="Conector de seta reta 41"/>
          <p:cNvCxnSpPr/>
          <p:nvPr/>
        </p:nvCxnSpPr>
        <p:spPr>
          <a:xfrm>
            <a:off x="2152444" y="4077072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/>
          <p:cNvSpPr txBox="1"/>
          <p:nvPr/>
        </p:nvSpPr>
        <p:spPr>
          <a:xfrm>
            <a:off x="3446714" y="3898221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16735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 fontScale="92500"/>
          </a:bodyPr>
          <a:lstStyle/>
          <a:p>
            <a:r>
              <a:rPr lang="pt-BR" dirty="0"/>
              <a:t>Inserção de um novo elemento na lista (aresta):</a:t>
            </a:r>
          </a:p>
        </p:txBody>
      </p:sp>
      <p:sp>
        <p:nvSpPr>
          <p:cNvPr id="4" name="Elipse 3"/>
          <p:cNvSpPr/>
          <p:nvPr/>
        </p:nvSpPr>
        <p:spPr>
          <a:xfrm>
            <a:off x="1331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1331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5476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5272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475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3131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3131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33478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3274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1327361" y="4715910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2339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3018607" y="2853815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</p:spTree>
    <p:extLst>
      <p:ext uri="{BB962C8B-B14F-4D97-AF65-F5344CB8AC3E}">
        <p14:creationId xmlns:p14="http://schemas.microsoft.com/office/powerpoint/2010/main" val="18529270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 fontScale="92500"/>
          </a:bodyPr>
          <a:lstStyle/>
          <a:p>
            <a:r>
              <a:rPr lang="pt-BR" dirty="0"/>
              <a:t>Inserção de um novo elemento na lista (aresta):</a:t>
            </a:r>
          </a:p>
        </p:txBody>
      </p:sp>
      <p:sp>
        <p:nvSpPr>
          <p:cNvPr id="4" name="Elipse 3"/>
          <p:cNvSpPr/>
          <p:nvPr/>
        </p:nvSpPr>
        <p:spPr>
          <a:xfrm>
            <a:off x="1331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1331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5476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5272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475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3131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3131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33478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3274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3127561" y="4366845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2339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3018607" y="2853815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</p:spTree>
    <p:extLst>
      <p:ext uri="{BB962C8B-B14F-4D97-AF65-F5344CB8AC3E}">
        <p14:creationId xmlns:p14="http://schemas.microsoft.com/office/powerpoint/2010/main" val="2734112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 fontScale="92500"/>
          </a:bodyPr>
          <a:lstStyle/>
          <a:p>
            <a:r>
              <a:rPr lang="pt-BR" dirty="0"/>
              <a:t>Inserção de um novo elemento na lista (aresta):</a:t>
            </a:r>
          </a:p>
        </p:txBody>
      </p:sp>
      <p:sp>
        <p:nvSpPr>
          <p:cNvPr id="4" name="Elipse 3"/>
          <p:cNvSpPr/>
          <p:nvPr/>
        </p:nvSpPr>
        <p:spPr>
          <a:xfrm>
            <a:off x="1331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1331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5476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5272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475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3131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3131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33478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3274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3127561" y="4366845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2339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3018607" y="2853815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cxnSp>
        <p:nvCxnSpPr>
          <p:cNvPr id="16" name="Conector de seta reta 15"/>
          <p:cNvCxnSpPr/>
          <p:nvPr/>
        </p:nvCxnSpPr>
        <p:spPr>
          <a:xfrm>
            <a:off x="3969094" y="4077072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263364" y="3898221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41363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 fontScale="92500"/>
          </a:bodyPr>
          <a:lstStyle/>
          <a:p>
            <a:r>
              <a:rPr lang="pt-BR" dirty="0"/>
              <a:t>Inserção de um novo elemento na lista (aresta):</a:t>
            </a:r>
          </a:p>
        </p:txBody>
      </p:sp>
      <p:sp>
        <p:nvSpPr>
          <p:cNvPr id="4" name="Elipse 3"/>
          <p:cNvSpPr/>
          <p:nvPr/>
        </p:nvSpPr>
        <p:spPr>
          <a:xfrm>
            <a:off x="1331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1331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5476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5272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475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3131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3131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33478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3274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3127561" y="4366845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2339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/>
          <p:cNvSpPr/>
          <p:nvPr/>
        </p:nvSpPr>
        <p:spPr>
          <a:xfrm>
            <a:off x="4977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4977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5193230" y="3500129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172849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4185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4863973" y="2852936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</p:spTree>
    <p:extLst>
      <p:ext uri="{BB962C8B-B14F-4D97-AF65-F5344CB8AC3E}">
        <p14:creationId xmlns:p14="http://schemas.microsoft.com/office/powerpoint/2010/main" val="1303993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 fontScale="92500"/>
          </a:bodyPr>
          <a:lstStyle/>
          <a:p>
            <a:r>
              <a:rPr lang="pt-BR" dirty="0"/>
              <a:t>Inserção de um novo elemento na lista (aresta):</a:t>
            </a:r>
          </a:p>
        </p:txBody>
      </p:sp>
      <p:sp>
        <p:nvSpPr>
          <p:cNvPr id="4" name="Elipse 3"/>
          <p:cNvSpPr/>
          <p:nvPr/>
        </p:nvSpPr>
        <p:spPr>
          <a:xfrm>
            <a:off x="1331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1331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5476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5272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475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3131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3131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33478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3274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2339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/>
          <p:cNvSpPr/>
          <p:nvPr/>
        </p:nvSpPr>
        <p:spPr>
          <a:xfrm>
            <a:off x="4977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4977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5193230" y="3500129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172849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972927" y="436596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4185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4863973" y="2852936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</p:spTree>
    <p:extLst>
      <p:ext uri="{BB962C8B-B14F-4D97-AF65-F5344CB8AC3E}">
        <p14:creationId xmlns:p14="http://schemas.microsoft.com/office/powerpoint/2010/main" val="4289857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 fontScale="92500"/>
          </a:bodyPr>
          <a:lstStyle/>
          <a:p>
            <a:r>
              <a:rPr lang="pt-BR" dirty="0"/>
              <a:t>Inserção de um novo elemento na lista (aresta):</a:t>
            </a:r>
          </a:p>
        </p:txBody>
      </p:sp>
      <p:sp>
        <p:nvSpPr>
          <p:cNvPr id="4" name="Elipse 3"/>
          <p:cNvSpPr/>
          <p:nvPr/>
        </p:nvSpPr>
        <p:spPr>
          <a:xfrm>
            <a:off x="1331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1331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5476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5272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475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3131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3131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33478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3274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2339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5841302" y="4076193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135572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4977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4977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5193230" y="3500129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172849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972927" y="436596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4185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4863973" y="2852936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</p:spTree>
    <p:extLst>
      <p:ext uri="{BB962C8B-B14F-4D97-AF65-F5344CB8AC3E}">
        <p14:creationId xmlns:p14="http://schemas.microsoft.com/office/powerpoint/2010/main" val="12090217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 fontScale="92500"/>
          </a:bodyPr>
          <a:lstStyle/>
          <a:p>
            <a:r>
              <a:rPr lang="pt-BR" dirty="0"/>
              <a:t>Inserção de um novo elemento na lista (aresta):</a:t>
            </a:r>
          </a:p>
        </p:txBody>
      </p:sp>
      <p:sp>
        <p:nvSpPr>
          <p:cNvPr id="4" name="Elipse 3"/>
          <p:cNvSpPr/>
          <p:nvPr/>
        </p:nvSpPr>
        <p:spPr>
          <a:xfrm>
            <a:off x="1331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1331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5476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5272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475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3131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3131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33478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3274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2339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5841302" y="4076193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135572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4977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4977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5193230" y="3500129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172849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972927" y="436596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4185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2931867" y="2934236"/>
            <a:ext cx="1352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1º elemento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4804075" y="2924944"/>
            <a:ext cx="1352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2º elemento</a:t>
            </a:r>
          </a:p>
        </p:txBody>
      </p:sp>
    </p:spTree>
    <p:extLst>
      <p:ext uri="{BB962C8B-B14F-4D97-AF65-F5344CB8AC3E}">
        <p14:creationId xmlns:p14="http://schemas.microsoft.com/office/powerpoint/2010/main" val="22078255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Pesquisa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8995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8995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115616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0952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43608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4999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4999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4637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6956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7079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209454" y="4076193"/>
            <a:ext cx="6029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84368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345358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345358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718586" y="35001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4100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341079" y="436596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553270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26997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26997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3059832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8954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19077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755576" y="26369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pesquisa(2);</a:t>
            </a:r>
          </a:p>
        </p:txBody>
      </p:sp>
    </p:spTree>
    <p:extLst>
      <p:ext uri="{BB962C8B-B14F-4D97-AF65-F5344CB8AC3E}">
        <p14:creationId xmlns:p14="http://schemas.microsoft.com/office/powerpoint/2010/main" val="38981268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Pesquisa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8995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8995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115616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0952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43608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4999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4999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4637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6956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7079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209454" y="4076193"/>
            <a:ext cx="6029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84368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345358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345358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718586" y="35001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4100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341079" y="436596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553270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2699792" y="3356992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26997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3059832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8954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19077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755576" y="26369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pesquisa(2);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755576" y="5408056"/>
            <a:ext cx="33515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>
                <a:solidFill>
                  <a:srgbClr val="FF0000"/>
                </a:solidFill>
              </a:rPr>
              <a:t>while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(</a:t>
            </a:r>
            <a:r>
              <a:rPr lang="pt-BR" dirty="0" err="1">
                <a:solidFill>
                  <a:srgbClr val="FF0000"/>
                </a:solidFill>
              </a:rPr>
              <a:t>aux.prox</a:t>
            </a:r>
            <a:r>
              <a:rPr lang="pt-BR" dirty="0">
                <a:solidFill>
                  <a:srgbClr val="FF0000"/>
                </a:solidFill>
              </a:rPr>
              <a:t> != </a:t>
            </a:r>
            <a:r>
              <a:rPr lang="pt-BR" b="1" dirty="0" err="1">
                <a:solidFill>
                  <a:srgbClr val="FF0000"/>
                </a:solidFill>
              </a:rPr>
              <a:t>null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) </a:t>
            </a:r>
            <a:r>
              <a:rPr lang="pt-BR" dirty="0"/>
              <a:t>{</a:t>
            </a:r>
          </a:p>
          <a:p>
            <a:r>
              <a:rPr lang="pt-BR" b="1" dirty="0"/>
              <a:t>     </a:t>
            </a:r>
            <a:r>
              <a:rPr lang="pt-BR" b="1" dirty="0" err="1"/>
              <a:t>if</a:t>
            </a:r>
            <a:r>
              <a:rPr lang="pt-BR" b="1" dirty="0"/>
              <a:t> </a:t>
            </a:r>
            <a:r>
              <a:rPr lang="pt-BR" dirty="0"/>
              <a:t>(</a:t>
            </a:r>
            <a:r>
              <a:rPr lang="pt-BR" dirty="0" err="1"/>
              <a:t>aux.prox.item</a:t>
            </a:r>
            <a:r>
              <a:rPr lang="pt-BR" dirty="0"/>
              <a:t> == elemento) </a:t>
            </a:r>
          </a:p>
          <a:p>
            <a:r>
              <a:rPr lang="pt-BR" b="1" dirty="0"/>
              <a:t>          </a:t>
            </a:r>
            <a:r>
              <a:rPr lang="pt-BR" b="1" dirty="0" err="1"/>
              <a:t>return</a:t>
            </a:r>
            <a:r>
              <a:rPr lang="pt-BR" b="1" dirty="0"/>
              <a:t> </a:t>
            </a:r>
            <a:r>
              <a:rPr lang="pt-BR" dirty="0" err="1"/>
              <a:t>aux.prox.item</a:t>
            </a:r>
            <a:r>
              <a:rPr lang="pt-BR" dirty="0"/>
              <a:t>;</a:t>
            </a:r>
          </a:p>
          <a:p>
            <a:r>
              <a:rPr lang="pt-BR" dirty="0"/>
              <a:t>     </a:t>
            </a:r>
            <a:r>
              <a:rPr lang="pt-BR" dirty="0" err="1"/>
              <a:t>aux</a:t>
            </a:r>
            <a:r>
              <a:rPr lang="pt-BR" dirty="0"/>
              <a:t> = </a:t>
            </a:r>
            <a:r>
              <a:rPr lang="pt-BR" dirty="0" err="1"/>
              <a:t>aux.prox</a:t>
            </a:r>
            <a:r>
              <a:rPr lang="pt-BR" dirty="0"/>
              <a:t>;</a:t>
            </a:r>
          </a:p>
          <a:p>
            <a:r>
              <a:rPr lang="pt-BR" dirty="0"/>
              <a:t>}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1095042" y="4571836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</p:spTree>
    <p:extLst>
      <p:ext uri="{BB962C8B-B14F-4D97-AF65-F5344CB8AC3E}">
        <p14:creationId xmlns:p14="http://schemas.microsoft.com/office/powerpoint/2010/main" val="13027645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Pesquisa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8995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8995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115616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0952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Prox</a:t>
            </a:r>
            <a:r>
              <a:rPr lang="pt-BR" dirty="0"/>
              <a:t>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43608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4999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4999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4637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6956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7079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209454" y="4076193"/>
            <a:ext cx="6029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84368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345358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345358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718586" y="35001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4100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341079" y="436596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553270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2699792" y="3356992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26997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3059832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8954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19077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755576" y="26369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pesquisa(2);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755576" y="5408056"/>
            <a:ext cx="33515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while</a:t>
            </a:r>
            <a:r>
              <a:rPr lang="pt-BR" b="1" dirty="0"/>
              <a:t> </a:t>
            </a:r>
            <a:r>
              <a:rPr lang="pt-BR" dirty="0"/>
              <a:t>(</a:t>
            </a:r>
            <a:r>
              <a:rPr lang="pt-BR" dirty="0" err="1"/>
              <a:t>aux.prox</a:t>
            </a:r>
            <a:r>
              <a:rPr lang="pt-BR" dirty="0"/>
              <a:t> != </a:t>
            </a:r>
            <a:r>
              <a:rPr lang="pt-BR" b="1" dirty="0" err="1"/>
              <a:t>null</a:t>
            </a:r>
            <a:r>
              <a:rPr lang="pt-BR" b="1" dirty="0"/>
              <a:t> </a:t>
            </a:r>
            <a:r>
              <a:rPr lang="pt-BR" dirty="0"/>
              <a:t>) {</a:t>
            </a:r>
          </a:p>
          <a:p>
            <a:r>
              <a:rPr lang="pt-BR" b="1" dirty="0"/>
              <a:t>     </a:t>
            </a:r>
            <a:r>
              <a:rPr lang="pt-BR" b="1" dirty="0" err="1">
                <a:solidFill>
                  <a:srgbClr val="FF0000"/>
                </a:solidFill>
              </a:rPr>
              <a:t>if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(</a:t>
            </a:r>
            <a:r>
              <a:rPr lang="pt-BR" dirty="0" err="1">
                <a:solidFill>
                  <a:srgbClr val="FF0000"/>
                </a:solidFill>
              </a:rPr>
              <a:t>aux.prox.item</a:t>
            </a:r>
            <a:r>
              <a:rPr lang="pt-BR" dirty="0">
                <a:solidFill>
                  <a:srgbClr val="FF0000"/>
                </a:solidFill>
              </a:rPr>
              <a:t> == elemento) </a:t>
            </a:r>
          </a:p>
          <a:p>
            <a:r>
              <a:rPr lang="pt-BR" b="1" dirty="0"/>
              <a:t>          </a:t>
            </a:r>
            <a:r>
              <a:rPr lang="pt-BR" b="1" dirty="0" err="1"/>
              <a:t>return</a:t>
            </a:r>
            <a:r>
              <a:rPr lang="pt-BR" b="1" dirty="0"/>
              <a:t> </a:t>
            </a:r>
            <a:r>
              <a:rPr lang="pt-BR" dirty="0" err="1"/>
              <a:t>aux.prox.item</a:t>
            </a:r>
            <a:r>
              <a:rPr lang="pt-BR" dirty="0"/>
              <a:t>;</a:t>
            </a:r>
          </a:p>
          <a:p>
            <a:r>
              <a:rPr lang="pt-BR" dirty="0"/>
              <a:t>     </a:t>
            </a:r>
            <a:r>
              <a:rPr lang="pt-BR" dirty="0" err="1"/>
              <a:t>aux</a:t>
            </a:r>
            <a:r>
              <a:rPr lang="pt-BR" dirty="0"/>
              <a:t> = </a:t>
            </a:r>
            <a:r>
              <a:rPr lang="pt-BR" dirty="0" err="1"/>
              <a:t>aux.prox</a:t>
            </a:r>
            <a:r>
              <a:rPr lang="pt-BR" dirty="0"/>
              <a:t>;</a:t>
            </a:r>
          </a:p>
          <a:p>
            <a:r>
              <a:rPr lang="pt-BR" dirty="0"/>
              <a:t>}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1095042" y="4571836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</p:spTree>
    <p:extLst>
      <p:ext uri="{BB962C8B-B14F-4D97-AF65-F5344CB8AC3E}">
        <p14:creationId xmlns:p14="http://schemas.microsoft.com/office/powerpoint/2010/main" val="21646892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Pesquisa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8995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8995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115616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0952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43608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499992" y="3356992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4999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4637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6956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7079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209454" y="4076193"/>
            <a:ext cx="6029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84368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345358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345358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718586" y="35001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4100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341079" y="436596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553270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26997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26997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3059832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8954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19077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755576" y="26369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pesquisa(2);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755576" y="5408056"/>
            <a:ext cx="33515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while</a:t>
            </a:r>
            <a:r>
              <a:rPr lang="pt-BR" b="1" dirty="0"/>
              <a:t> </a:t>
            </a:r>
            <a:r>
              <a:rPr lang="pt-BR" dirty="0"/>
              <a:t>(</a:t>
            </a:r>
            <a:r>
              <a:rPr lang="pt-BR" dirty="0" err="1"/>
              <a:t>aux.prox</a:t>
            </a:r>
            <a:r>
              <a:rPr lang="pt-BR" dirty="0"/>
              <a:t> != </a:t>
            </a:r>
            <a:r>
              <a:rPr lang="pt-BR" b="1" dirty="0" err="1"/>
              <a:t>null</a:t>
            </a:r>
            <a:r>
              <a:rPr lang="pt-BR" b="1" dirty="0"/>
              <a:t> </a:t>
            </a:r>
            <a:r>
              <a:rPr lang="pt-BR" dirty="0"/>
              <a:t>) {</a:t>
            </a:r>
          </a:p>
          <a:p>
            <a:r>
              <a:rPr lang="pt-BR" b="1" dirty="0"/>
              <a:t>     </a:t>
            </a:r>
            <a:r>
              <a:rPr lang="pt-BR" b="1" dirty="0" err="1"/>
              <a:t>if</a:t>
            </a:r>
            <a:r>
              <a:rPr lang="pt-BR" b="1" dirty="0"/>
              <a:t> </a:t>
            </a:r>
            <a:r>
              <a:rPr lang="pt-BR" dirty="0"/>
              <a:t>(</a:t>
            </a:r>
            <a:r>
              <a:rPr lang="pt-BR" dirty="0" err="1"/>
              <a:t>aux.prox.item</a:t>
            </a:r>
            <a:r>
              <a:rPr lang="pt-BR" dirty="0"/>
              <a:t> == elemento) </a:t>
            </a:r>
          </a:p>
          <a:p>
            <a:r>
              <a:rPr lang="pt-BR" b="1" dirty="0"/>
              <a:t>          </a:t>
            </a:r>
            <a:r>
              <a:rPr lang="pt-BR" b="1" dirty="0" err="1"/>
              <a:t>return</a:t>
            </a:r>
            <a:r>
              <a:rPr lang="pt-BR" b="1" dirty="0"/>
              <a:t> </a:t>
            </a:r>
            <a:r>
              <a:rPr lang="pt-BR" dirty="0" err="1"/>
              <a:t>aux.prox.item</a:t>
            </a:r>
            <a:r>
              <a:rPr lang="pt-BR" dirty="0"/>
              <a:t>;</a:t>
            </a:r>
          </a:p>
          <a:p>
            <a:r>
              <a:rPr lang="pt-BR" dirty="0"/>
              <a:t>     </a:t>
            </a:r>
            <a:r>
              <a:rPr lang="pt-BR" dirty="0" err="1">
                <a:solidFill>
                  <a:srgbClr val="FF0000"/>
                </a:solidFill>
              </a:rPr>
              <a:t>aux</a:t>
            </a:r>
            <a:r>
              <a:rPr lang="pt-BR" dirty="0">
                <a:solidFill>
                  <a:srgbClr val="FF0000"/>
                </a:solidFill>
              </a:rPr>
              <a:t> = </a:t>
            </a:r>
            <a:r>
              <a:rPr lang="pt-BR" dirty="0" err="1">
                <a:solidFill>
                  <a:srgbClr val="FF0000"/>
                </a:solidFill>
              </a:rPr>
              <a:t>aux.prox</a:t>
            </a:r>
            <a:r>
              <a:rPr lang="pt-BR" dirty="0"/>
              <a:t>;</a:t>
            </a:r>
          </a:p>
          <a:p>
            <a:r>
              <a:rPr lang="pt-BR" dirty="0"/>
              <a:t>}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915816" y="4355812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</p:spTree>
    <p:extLst>
      <p:ext uri="{BB962C8B-B14F-4D97-AF65-F5344CB8AC3E}">
        <p14:creationId xmlns:p14="http://schemas.microsoft.com/office/powerpoint/2010/main" val="12107564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Pesquisa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8995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8995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115616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0952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43608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499992" y="3356992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4999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4637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6956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7079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209454" y="4076193"/>
            <a:ext cx="6029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84368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345358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345358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718586" y="35001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4100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341079" y="436596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553270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26997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26997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3059832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8954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Prox</a:t>
            </a:r>
            <a:r>
              <a:rPr lang="pt-BR" dirty="0"/>
              <a:t>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19077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755576" y="26369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pesquisa(2);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755576" y="5408056"/>
            <a:ext cx="33515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>
                <a:solidFill>
                  <a:srgbClr val="FF0000"/>
                </a:solidFill>
              </a:rPr>
              <a:t>while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(</a:t>
            </a:r>
            <a:r>
              <a:rPr lang="pt-BR" dirty="0" err="1">
                <a:solidFill>
                  <a:srgbClr val="FF0000"/>
                </a:solidFill>
              </a:rPr>
              <a:t>aux.prox</a:t>
            </a:r>
            <a:r>
              <a:rPr lang="pt-BR" dirty="0">
                <a:solidFill>
                  <a:srgbClr val="FF0000"/>
                </a:solidFill>
              </a:rPr>
              <a:t> != </a:t>
            </a:r>
            <a:r>
              <a:rPr lang="pt-BR" b="1" dirty="0" err="1">
                <a:solidFill>
                  <a:srgbClr val="FF0000"/>
                </a:solidFill>
              </a:rPr>
              <a:t>null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) </a:t>
            </a:r>
            <a:r>
              <a:rPr lang="pt-BR" dirty="0"/>
              <a:t>{</a:t>
            </a:r>
          </a:p>
          <a:p>
            <a:r>
              <a:rPr lang="pt-BR" b="1" dirty="0"/>
              <a:t>     </a:t>
            </a:r>
            <a:r>
              <a:rPr lang="pt-BR" b="1" dirty="0" err="1"/>
              <a:t>if</a:t>
            </a:r>
            <a:r>
              <a:rPr lang="pt-BR" b="1" dirty="0"/>
              <a:t> </a:t>
            </a:r>
            <a:r>
              <a:rPr lang="pt-BR" dirty="0"/>
              <a:t>(</a:t>
            </a:r>
            <a:r>
              <a:rPr lang="pt-BR" dirty="0" err="1"/>
              <a:t>aux.prox.item</a:t>
            </a:r>
            <a:r>
              <a:rPr lang="pt-BR" dirty="0"/>
              <a:t> == elemento) </a:t>
            </a:r>
          </a:p>
          <a:p>
            <a:r>
              <a:rPr lang="pt-BR" b="1" dirty="0"/>
              <a:t>          </a:t>
            </a:r>
            <a:r>
              <a:rPr lang="pt-BR" b="1" dirty="0" err="1"/>
              <a:t>return</a:t>
            </a:r>
            <a:r>
              <a:rPr lang="pt-BR" b="1" dirty="0"/>
              <a:t> </a:t>
            </a:r>
            <a:r>
              <a:rPr lang="pt-BR" dirty="0" err="1"/>
              <a:t>aux.prox.item</a:t>
            </a:r>
            <a:r>
              <a:rPr lang="pt-BR" dirty="0"/>
              <a:t>;</a:t>
            </a:r>
          </a:p>
          <a:p>
            <a:r>
              <a:rPr lang="pt-BR" dirty="0"/>
              <a:t>     </a:t>
            </a:r>
            <a:r>
              <a:rPr lang="pt-BR" dirty="0" err="1"/>
              <a:t>aux</a:t>
            </a:r>
            <a:r>
              <a:rPr lang="pt-BR" dirty="0"/>
              <a:t> = </a:t>
            </a:r>
            <a:r>
              <a:rPr lang="pt-BR" dirty="0" err="1"/>
              <a:t>aux.prox</a:t>
            </a:r>
            <a:r>
              <a:rPr lang="pt-BR" dirty="0"/>
              <a:t>;</a:t>
            </a:r>
          </a:p>
          <a:p>
            <a:r>
              <a:rPr lang="pt-BR" dirty="0"/>
              <a:t>}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915816" y="4355812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</p:spTree>
    <p:extLst>
      <p:ext uri="{BB962C8B-B14F-4D97-AF65-F5344CB8AC3E}">
        <p14:creationId xmlns:p14="http://schemas.microsoft.com/office/powerpoint/2010/main" val="8994441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Pesquisa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8995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8995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115616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0952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43608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499992" y="3356992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4999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4637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6956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7079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209454" y="4076193"/>
            <a:ext cx="6029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84368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345358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345358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718586" y="35001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4100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341079" y="436596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553270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26997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26997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3059832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8954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Prox</a:t>
            </a:r>
            <a:r>
              <a:rPr lang="pt-BR" dirty="0"/>
              <a:t>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19077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755576" y="26369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pesquisa(2);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755576" y="5408056"/>
            <a:ext cx="33515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while</a:t>
            </a:r>
            <a:r>
              <a:rPr lang="pt-BR" b="1" dirty="0"/>
              <a:t> </a:t>
            </a:r>
            <a:r>
              <a:rPr lang="pt-BR" dirty="0"/>
              <a:t>(</a:t>
            </a:r>
            <a:r>
              <a:rPr lang="pt-BR" dirty="0" err="1"/>
              <a:t>aux.prox</a:t>
            </a:r>
            <a:r>
              <a:rPr lang="pt-BR" dirty="0"/>
              <a:t> != </a:t>
            </a:r>
            <a:r>
              <a:rPr lang="pt-BR" b="1" dirty="0" err="1"/>
              <a:t>null</a:t>
            </a:r>
            <a:r>
              <a:rPr lang="pt-BR" b="1" dirty="0"/>
              <a:t> </a:t>
            </a:r>
            <a:r>
              <a:rPr lang="pt-BR" dirty="0"/>
              <a:t>) {</a:t>
            </a:r>
          </a:p>
          <a:p>
            <a:r>
              <a:rPr lang="pt-BR" b="1" dirty="0"/>
              <a:t>     </a:t>
            </a:r>
            <a:r>
              <a:rPr lang="pt-BR" b="1" dirty="0" err="1">
                <a:solidFill>
                  <a:srgbClr val="FF0000"/>
                </a:solidFill>
              </a:rPr>
              <a:t>if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(</a:t>
            </a:r>
            <a:r>
              <a:rPr lang="pt-BR" dirty="0" err="1">
                <a:solidFill>
                  <a:srgbClr val="FF0000"/>
                </a:solidFill>
              </a:rPr>
              <a:t>aux.prox.item</a:t>
            </a:r>
            <a:r>
              <a:rPr lang="pt-BR" dirty="0">
                <a:solidFill>
                  <a:srgbClr val="FF0000"/>
                </a:solidFill>
              </a:rPr>
              <a:t> == elemento</a:t>
            </a:r>
            <a:r>
              <a:rPr lang="pt-BR" dirty="0"/>
              <a:t>) </a:t>
            </a:r>
          </a:p>
          <a:p>
            <a:r>
              <a:rPr lang="pt-BR" b="1" dirty="0"/>
              <a:t>          </a:t>
            </a:r>
            <a:r>
              <a:rPr lang="pt-BR" b="1" dirty="0" err="1"/>
              <a:t>return</a:t>
            </a:r>
            <a:r>
              <a:rPr lang="pt-BR" b="1" dirty="0"/>
              <a:t> </a:t>
            </a:r>
            <a:r>
              <a:rPr lang="pt-BR" dirty="0" err="1"/>
              <a:t>aux.prox.item</a:t>
            </a:r>
            <a:r>
              <a:rPr lang="pt-BR" dirty="0"/>
              <a:t>;</a:t>
            </a:r>
          </a:p>
          <a:p>
            <a:r>
              <a:rPr lang="pt-BR" dirty="0"/>
              <a:t>     </a:t>
            </a:r>
            <a:r>
              <a:rPr lang="pt-BR" dirty="0" err="1"/>
              <a:t>aux</a:t>
            </a:r>
            <a:r>
              <a:rPr lang="pt-BR" dirty="0"/>
              <a:t> = </a:t>
            </a:r>
            <a:r>
              <a:rPr lang="pt-BR" dirty="0" err="1"/>
              <a:t>aux.prox</a:t>
            </a:r>
            <a:r>
              <a:rPr lang="pt-BR" dirty="0"/>
              <a:t>;</a:t>
            </a:r>
          </a:p>
          <a:p>
            <a:r>
              <a:rPr lang="pt-BR" dirty="0"/>
              <a:t>}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915816" y="4355812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</p:spTree>
    <p:extLst>
      <p:ext uri="{BB962C8B-B14F-4D97-AF65-F5344CB8AC3E}">
        <p14:creationId xmlns:p14="http://schemas.microsoft.com/office/powerpoint/2010/main" val="25820105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Pesquisa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8995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8995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115616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0952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43608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499992" y="3356992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4999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4637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6956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7079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209454" y="4076193"/>
            <a:ext cx="6029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84368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345358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345358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718586" y="35001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4100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341079" y="436596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553270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26997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26997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3059832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8954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Prox</a:t>
            </a:r>
            <a:r>
              <a:rPr lang="pt-BR" dirty="0"/>
              <a:t>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19077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755576" y="26369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pesquisa(2);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755576" y="5408056"/>
            <a:ext cx="33515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while</a:t>
            </a:r>
            <a:r>
              <a:rPr lang="pt-BR" b="1" dirty="0"/>
              <a:t> </a:t>
            </a:r>
            <a:r>
              <a:rPr lang="pt-BR" dirty="0"/>
              <a:t>(</a:t>
            </a:r>
            <a:r>
              <a:rPr lang="pt-BR" dirty="0" err="1"/>
              <a:t>aux.prox</a:t>
            </a:r>
            <a:r>
              <a:rPr lang="pt-BR" dirty="0"/>
              <a:t> != </a:t>
            </a:r>
            <a:r>
              <a:rPr lang="pt-BR" b="1" dirty="0" err="1"/>
              <a:t>null</a:t>
            </a:r>
            <a:r>
              <a:rPr lang="pt-BR" b="1" dirty="0"/>
              <a:t> </a:t>
            </a:r>
            <a:r>
              <a:rPr lang="pt-BR" dirty="0"/>
              <a:t>) {</a:t>
            </a:r>
          </a:p>
          <a:p>
            <a:r>
              <a:rPr lang="pt-BR" b="1" dirty="0"/>
              <a:t>     </a:t>
            </a:r>
            <a:r>
              <a:rPr lang="pt-BR" b="1" dirty="0" err="1"/>
              <a:t>if</a:t>
            </a:r>
            <a:r>
              <a:rPr lang="pt-BR" b="1" dirty="0"/>
              <a:t> </a:t>
            </a:r>
            <a:r>
              <a:rPr lang="pt-BR" dirty="0"/>
              <a:t>(</a:t>
            </a:r>
            <a:r>
              <a:rPr lang="pt-BR" dirty="0" err="1"/>
              <a:t>aux.prox.item</a:t>
            </a:r>
            <a:r>
              <a:rPr lang="pt-BR" dirty="0"/>
              <a:t> == elemento) </a:t>
            </a:r>
          </a:p>
          <a:p>
            <a:r>
              <a:rPr lang="pt-BR" b="1" dirty="0"/>
              <a:t>          </a:t>
            </a:r>
            <a:r>
              <a:rPr lang="pt-BR" b="1" dirty="0" err="1">
                <a:solidFill>
                  <a:srgbClr val="FF0000"/>
                </a:solidFill>
              </a:rPr>
              <a:t>return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dirty="0" err="1">
                <a:solidFill>
                  <a:srgbClr val="FF0000"/>
                </a:solidFill>
              </a:rPr>
              <a:t>aux.prox.item</a:t>
            </a:r>
            <a:r>
              <a:rPr lang="pt-BR" dirty="0">
                <a:solidFill>
                  <a:srgbClr val="FF0000"/>
                </a:solidFill>
              </a:rPr>
              <a:t>;</a:t>
            </a:r>
          </a:p>
          <a:p>
            <a:r>
              <a:rPr lang="pt-BR" dirty="0"/>
              <a:t>     </a:t>
            </a:r>
            <a:r>
              <a:rPr lang="pt-BR" dirty="0" err="1"/>
              <a:t>aux</a:t>
            </a:r>
            <a:r>
              <a:rPr lang="pt-BR" dirty="0"/>
              <a:t> = </a:t>
            </a:r>
            <a:r>
              <a:rPr lang="pt-BR" dirty="0" err="1"/>
              <a:t>aux.prox</a:t>
            </a:r>
            <a:r>
              <a:rPr lang="pt-BR" dirty="0"/>
              <a:t>;</a:t>
            </a:r>
          </a:p>
          <a:p>
            <a:r>
              <a:rPr lang="pt-BR" dirty="0"/>
              <a:t>}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915816" y="4355812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</p:spTree>
    <p:extLst>
      <p:ext uri="{BB962C8B-B14F-4D97-AF65-F5344CB8AC3E}">
        <p14:creationId xmlns:p14="http://schemas.microsoft.com/office/powerpoint/2010/main" val="31594242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classe Lista contém: </a:t>
            </a:r>
          </a:p>
          <a:p>
            <a:pPr lvl="1"/>
            <a:r>
              <a:rPr lang="pt-BR" dirty="0"/>
              <a:t>uma referência para a célula cabeça;</a:t>
            </a:r>
          </a:p>
          <a:p>
            <a:pPr lvl="1"/>
            <a:r>
              <a:rPr lang="pt-BR" dirty="0"/>
              <a:t>uma referência para a última célula da lista; e </a:t>
            </a:r>
          </a:p>
          <a:p>
            <a:pPr lvl="1"/>
            <a:r>
              <a:rPr lang="pt-BR" dirty="0"/>
              <a:t>uma referência para armazenar a posição corrente na lista.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247597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3568" y="1844824"/>
            <a:ext cx="8316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Cormen</a:t>
            </a:r>
            <a:r>
              <a:rPr lang="pt-BR" dirty="0"/>
              <a:t> et al., 2009] </a:t>
            </a:r>
            <a:r>
              <a:rPr lang="en-US" dirty="0"/>
              <a:t>Introduction to Algorithms, 3rd edition. </a:t>
            </a:r>
            <a:r>
              <a:rPr lang="pt-BR" dirty="0"/>
              <a:t>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Stein. 2009, 1312 pp. MIT Press, ISBN 9780262033848.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78632" y="2763549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Cormen</a:t>
            </a:r>
            <a:r>
              <a:rPr lang="pt-BR" dirty="0"/>
              <a:t> et al., 2002] Algoritmos: Teoria e Prática – Tradução da segunda edição em inglês. 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Stein. 2002, 936 pp. Editora Campus, ISBN 8535209263.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78632" y="3686879"/>
            <a:ext cx="7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BOAVENTURA NETTO, Paulo Oswaldo; JURKIEWICZ, Samuel. </a:t>
            </a:r>
          </a:p>
          <a:p>
            <a:r>
              <a:rPr lang="pt-BR" dirty="0"/>
              <a:t>Grafos: introdução e prática.  Editora </a:t>
            </a:r>
            <a:r>
              <a:rPr lang="pt-BR" dirty="0" err="1"/>
              <a:t>Blucher</a:t>
            </a:r>
            <a:r>
              <a:rPr lang="pt-BR" dirty="0"/>
              <a:t>. 2009. ISBN: 9788521204732.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78632" y="4333210"/>
            <a:ext cx="7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Sedgewick</a:t>
            </a:r>
            <a:r>
              <a:rPr lang="pt-BR" dirty="0"/>
              <a:t>, 1992] </a:t>
            </a:r>
            <a:r>
              <a:rPr lang="pt-BR" dirty="0" err="1"/>
              <a:t>Algorithms</a:t>
            </a:r>
            <a:r>
              <a:rPr lang="pt-BR" dirty="0"/>
              <a:t> in C++. Robert </a:t>
            </a:r>
            <a:r>
              <a:rPr lang="pt-BR" dirty="0" err="1"/>
              <a:t>Segdewick</a:t>
            </a:r>
            <a:r>
              <a:rPr lang="pt-BR" dirty="0"/>
              <a:t>. c1992, 656 pp. </a:t>
            </a:r>
            <a:r>
              <a:rPr lang="en-US" dirty="0"/>
              <a:t>Boston: Addison Wesley, ISBN 0201510596</a:t>
            </a:r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677820" y="4979541"/>
            <a:ext cx="7926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Marco </a:t>
            </a:r>
            <a:r>
              <a:rPr lang="pt-BR" dirty="0" err="1"/>
              <a:t>Goldbarg</a:t>
            </a:r>
            <a:r>
              <a:rPr lang="pt-BR" dirty="0"/>
              <a:t>; Elizabeth </a:t>
            </a:r>
            <a:r>
              <a:rPr lang="pt-BR" dirty="0" err="1"/>
              <a:t>Goldbarg</a:t>
            </a:r>
            <a:r>
              <a:rPr lang="pt-BR" dirty="0"/>
              <a:t>. Grafos - conceitos , algoritmos e aplicações .</a:t>
            </a:r>
          </a:p>
          <a:p>
            <a:r>
              <a:rPr lang="pt-BR" dirty="0"/>
              <a:t>Campus. 2012.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77820" y="5625872"/>
            <a:ext cx="7633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Ziviani</a:t>
            </a:r>
            <a:r>
              <a:rPr lang="pt-BR" dirty="0"/>
              <a:t>, 2006] Projeto de Algoritmos com Implementações em Java e C++.</a:t>
            </a:r>
          </a:p>
          <a:p>
            <a:r>
              <a:rPr lang="pt-BR" dirty="0" err="1"/>
              <a:t>Nivio</a:t>
            </a:r>
            <a:r>
              <a:rPr lang="pt-BR" dirty="0"/>
              <a:t> </a:t>
            </a:r>
            <a:r>
              <a:rPr lang="pt-BR" dirty="0" err="1"/>
              <a:t>Ziviani</a:t>
            </a:r>
            <a:r>
              <a:rPr lang="pt-BR" dirty="0"/>
              <a:t>. 2006, 642 pp. Editora Thomson, ISBN 8522105251.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661998" y="6272203"/>
            <a:ext cx="8024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Robin J. Wilson. </a:t>
            </a:r>
            <a:r>
              <a:rPr lang="pt-BR" dirty="0" err="1"/>
              <a:t>Introduction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graph</a:t>
            </a:r>
            <a:r>
              <a:rPr lang="pt-BR" dirty="0"/>
              <a:t> </a:t>
            </a:r>
            <a:r>
              <a:rPr lang="pt-BR" dirty="0" err="1"/>
              <a:t>theory</a:t>
            </a:r>
            <a:r>
              <a:rPr lang="pt-BR" dirty="0"/>
              <a:t>. </a:t>
            </a:r>
            <a:r>
              <a:rPr lang="pt-BR" dirty="0" err="1"/>
              <a:t>Longman</a:t>
            </a:r>
            <a:r>
              <a:rPr lang="pt-BR" dirty="0"/>
              <a:t>, 1996</a:t>
            </a:r>
          </a:p>
        </p:txBody>
      </p:sp>
    </p:spTree>
    <p:extLst>
      <p:ext uri="{BB962C8B-B14F-4D97-AF65-F5344CB8AC3E}">
        <p14:creationId xmlns:p14="http://schemas.microsoft.com/office/powerpoint/2010/main" val="32669310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2088</TotalTime>
  <Words>1584</Words>
  <Application>Microsoft Office PowerPoint</Application>
  <PresentationFormat>Apresentação na tela (4:3)</PresentationFormat>
  <Paragraphs>391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Cambria Math</vt:lpstr>
      <vt:lpstr>Tema do Office</vt:lpstr>
      <vt:lpstr>Unidade I  Estruturas de dados para representação de grafos</vt:lpstr>
      <vt:lpstr>Representação de um Grafo</vt:lpstr>
      <vt:lpstr>Representação de um Grafo</vt:lpstr>
      <vt:lpstr>Representação de um Grafo: Estruturas de Dados</vt:lpstr>
      <vt:lpstr>Matriz de adjacência e grafo dirigido</vt:lpstr>
      <vt:lpstr>Matriz de adjacência e grafo dirigido</vt:lpstr>
      <vt:lpstr>Matriz de adjacência e grafo dirigido</vt:lpstr>
      <vt:lpstr>Matriz de adjacência e grafo dirigido</vt:lpstr>
      <vt:lpstr>Matriz de adjacência e grafo dirigido</vt:lpstr>
      <vt:lpstr>Matriz de adjacência e grafo não dirigido</vt:lpstr>
      <vt:lpstr>Matriz de adjacência e grafo não dirigido</vt:lpstr>
      <vt:lpstr>Matriz de adjacência: análise</vt:lpstr>
      <vt:lpstr>Matriz de incidência</vt:lpstr>
      <vt:lpstr>Matriz de incidência</vt:lpstr>
      <vt:lpstr>Lista de adjacência</vt:lpstr>
      <vt:lpstr>Lista de adjacência</vt:lpstr>
      <vt:lpstr>Lista de adjacência</vt:lpstr>
      <vt:lpstr>Lista de adjacência</vt:lpstr>
      <vt:lpstr>Implementação de Listas por meio de Estruturas Auto Referenciadas (extra – revisão)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Estruturas de Dados</dc:title>
  <dc:creator>henrique</dc:creator>
  <cp:lastModifiedBy>Henrique Silva</cp:lastModifiedBy>
  <cp:revision>101</cp:revision>
  <dcterms:created xsi:type="dcterms:W3CDTF">2011-08-03T02:09:11Z</dcterms:created>
  <dcterms:modified xsi:type="dcterms:W3CDTF">2016-08-13T01:55:54Z</dcterms:modified>
</cp:coreProperties>
</file>