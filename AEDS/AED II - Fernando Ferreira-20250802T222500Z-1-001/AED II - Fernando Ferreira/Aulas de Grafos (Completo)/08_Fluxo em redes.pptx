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307" r:id="rId3"/>
    <p:sldId id="308" r:id="rId4"/>
    <p:sldId id="267" r:id="rId5"/>
    <p:sldId id="273" r:id="rId6"/>
    <p:sldId id="269" r:id="rId7"/>
    <p:sldId id="309" r:id="rId8"/>
    <p:sldId id="271" r:id="rId9"/>
    <p:sldId id="272" r:id="rId10"/>
    <p:sldId id="265" r:id="rId11"/>
    <p:sldId id="266" r:id="rId12"/>
    <p:sldId id="270" r:id="rId13"/>
    <p:sldId id="274" r:id="rId14"/>
    <p:sldId id="275" r:id="rId15"/>
    <p:sldId id="276" r:id="rId16"/>
    <p:sldId id="310" r:id="rId17"/>
    <p:sldId id="311" r:id="rId18"/>
    <p:sldId id="277" r:id="rId19"/>
    <p:sldId id="312" r:id="rId20"/>
    <p:sldId id="279" r:id="rId21"/>
    <p:sldId id="313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8" r:id="rId30"/>
    <p:sldId id="287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305" r:id="rId40"/>
    <p:sldId id="298" r:id="rId41"/>
    <p:sldId id="300" r:id="rId42"/>
    <p:sldId id="301" r:id="rId43"/>
    <p:sldId id="302" r:id="rId44"/>
    <p:sldId id="303" r:id="rId45"/>
    <p:sldId id="304" r:id="rId46"/>
    <p:sldId id="264" r:id="rId47"/>
    <p:sldId id="314" r:id="rId4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A01DD-8264-4F1A-8C3C-419F0CCDCEA2}" type="datetimeFigureOut">
              <a:rPr lang="pt-BR" smtClean="0"/>
              <a:t>14/10/2016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8E51D-474B-4B34-A53F-E44EFBD4D9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138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EA75E-C2D9-43C2-A145-3338B802A431}" type="datetime1">
              <a:rPr lang="pt-BR" smtClean="0"/>
              <a:t>14/10/2016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CE781-E6A9-4BE9-BC87-D8E1F14A9B62}" type="datetime1">
              <a:rPr lang="pt-BR" smtClean="0"/>
              <a:t>14/10/2016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DB8D-18EC-4894-8D64-121E9333ED0A}" type="datetime1">
              <a:rPr lang="pt-BR" smtClean="0"/>
              <a:t>14/10/2016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664C3-4D1D-4A70-ADE8-E02B17A46631}" type="datetime1">
              <a:rPr lang="pt-BR" smtClean="0"/>
              <a:t>14/10/2016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7E459-6E6D-4896-B6C9-B5EAF4C91FB8}" type="datetime1">
              <a:rPr lang="pt-BR" smtClean="0"/>
              <a:t>14/10/2016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9070-0CD3-4690-AA63-42008B4C91BD}" type="datetime1">
              <a:rPr lang="pt-BR" smtClean="0"/>
              <a:t>14/10/2016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EB1E8-9D7D-4091-B800-82D601D76EEA}" type="datetime1">
              <a:rPr lang="pt-BR" smtClean="0"/>
              <a:t>14/10/2016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184E-6F45-4A7D-B543-56DDE8F0919B}" type="datetime1">
              <a:rPr lang="pt-BR" smtClean="0"/>
              <a:t>14/10/2016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FF58C-7FE4-468D-8F01-70C0B920E9B8}" type="datetime1">
              <a:rPr lang="pt-BR" smtClean="0"/>
              <a:t>14/10/2016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F4971-8D11-4504-9533-7D6B5E704BF5}" type="datetime1">
              <a:rPr lang="pt-BR" smtClean="0"/>
              <a:t>14/10/2016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7CC8-4F7F-4CA9-B706-B7A832F7EA7D}" type="datetime1">
              <a:rPr lang="pt-BR" smtClean="0"/>
              <a:t>14/10/2016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BED0E-21CD-480B-8EC1-B81D5283D402}" type="datetime1">
              <a:rPr lang="pt-BR" smtClean="0"/>
              <a:t>14/10/2016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Unidade IV </a:t>
            </a:r>
            <a:br>
              <a:rPr lang="pt-BR" dirty="0"/>
            </a:br>
            <a:r>
              <a:rPr lang="pt-BR" dirty="0"/>
              <a:t>Fluxo em grafos</a:t>
            </a:r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redes?</a:t>
            </a:r>
          </a:p>
        </p:txBody>
      </p:sp>
      <p:sp>
        <p:nvSpPr>
          <p:cNvPr id="4" name="Elipse 3"/>
          <p:cNvSpPr/>
          <p:nvPr/>
        </p:nvSpPr>
        <p:spPr>
          <a:xfrm>
            <a:off x="3707904" y="238488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771800" y="3248980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707904" y="404106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868144" y="238488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868144" y="404106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660232" y="3251549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956188" y="2569272"/>
            <a:ext cx="783352" cy="711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923928" y="2492896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6052532" y="2569272"/>
            <a:ext cx="639336" cy="713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892292" y="2569272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956188" y="3433368"/>
            <a:ext cx="783352" cy="639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923928" y="4149080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6052532" y="3435937"/>
            <a:ext cx="639336" cy="63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2627784" y="2888940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804248" y="288894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678699" y="2007643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838939" y="20076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678699" y="4252442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819943" y="425186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cxnSp>
        <p:nvCxnSpPr>
          <p:cNvPr id="33" name="Conector de Seta Reta 32"/>
          <p:cNvCxnSpPr/>
          <p:nvPr/>
        </p:nvCxnSpPr>
        <p:spPr>
          <a:xfrm>
            <a:off x="2627784" y="2492896"/>
            <a:ext cx="8640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1330330" y="2065782"/>
            <a:ext cx="1307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Nó ou Vértices</a:t>
            </a:r>
          </a:p>
        </p:txBody>
      </p:sp>
      <p:cxnSp>
        <p:nvCxnSpPr>
          <p:cNvPr id="35" name="Conector de Seta Reta 34"/>
          <p:cNvCxnSpPr/>
          <p:nvPr/>
        </p:nvCxnSpPr>
        <p:spPr>
          <a:xfrm>
            <a:off x="2424840" y="3820455"/>
            <a:ext cx="8640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1073347" y="3414343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Linhas ou Arestas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1187624" y="5373216"/>
            <a:ext cx="1748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Rede = grafo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0992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 Social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404042"/>
            <a:ext cx="6210094" cy="5308873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458718" y="4941168"/>
            <a:ext cx="26642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Fonte: </a:t>
            </a:r>
            <a:r>
              <a:rPr lang="pt-BR" sz="1600" b="1" dirty="0"/>
              <a:t>"</a:t>
            </a:r>
            <a:r>
              <a:rPr lang="pt-BR" sz="1600" b="1" dirty="0" err="1"/>
              <a:t>Vizster</a:t>
            </a:r>
            <a:r>
              <a:rPr lang="pt-BR" sz="1600" b="1" dirty="0"/>
              <a:t>: </a:t>
            </a:r>
            <a:r>
              <a:rPr lang="pt-BR" sz="1600" b="1" dirty="0" err="1"/>
              <a:t>Visualizing</a:t>
            </a:r>
            <a:r>
              <a:rPr lang="pt-BR" sz="1600" b="1" dirty="0"/>
              <a:t> Online Social Networks." </a:t>
            </a:r>
            <a:r>
              <a:rPr lang="pt-BR" sz="1600" dirty="0"/>
              <a:t>Jeffrey </a:t>
            </a:r>
            <a:r>
              <a:rPr lang="pt-BR" sz="1600" dirty="0" err="1"/>
              <a:t>Heer</a:t>
            </a:r>
            <a:r>
              <a:rPr lang="pt-BR" sz="1600" dirty="0"/>
              <a:t> </a:t>
            </a:r>
            <a:r>
              <a:rPr lang="pt-BR" sz="1600" dirty="0" err="1"/>
              <a:t>and</a:t>
            </a:r>
            <a:r>
              <a:rPr lang="pt-BR" sz="1600" dirty="0"/>
              <a:t> </a:t>
            </a:r>
            <a:r>
              <a:rPr lang="pt-BR" sz="1600" dirty="0" err="1"/>
              <a:t>danah</a:t>
            </a:r>
            <a:r>
              <a:rPr lang="pt-BR" sz="1600" dirty="0"/>
              <a:t> </a:t>
            </a:r>
            <a:r>
              <a:rPr lang="pt-BR" sz="1600" dirty="0" err="1"/>
              <a:t>boyd</a:t>
            </a:r>
            <a:r>
              <a:rPr lang="pt-BR" sz="1600" dirty="0"/>
              <a:t>. </a:t>
            </a:r>
            <a:r>
              <a:rPr lang="pt-BR" sz="1600" i="1" dirty="0"/>
              <a:t>IEEE </a:t>
            </a:r>
            <a:r>
              <a:rPr lang="pt-BR" sz="1600" i="1" dirty="0" err="1"/>
              <a:t>Symposium</a:t>
            </a:r>
            <a:r>
              <a:rPr lang="pt-BR" sz="1600" i="1" dirty="0"/>
              <a:t> </a:t>
            </a:r>
            <a:r>
              <a:rPr lang="pt-BR" sz="1600" i="1" dirty="0" err="1"/>
              <a:t>on</a:t>
            </a:r>
            <a:r>
              <a:rPr lang="pt-BR" sz="1600" i="1" dirty="0"/>
              <a:t> </a:t>
            </a:r>
            <a:r>
              <a:rPr lang="pt-BR" sz="1600" i="1" dirty="0" err="1"/>
              <a:t>Information</a:t>
            </a:r>
            <a:r>
              <a:rPr lang="pt-BR" sz="1600" i="1" dirty="0"/>
              <a:t> </a:t>
            </a:r>
            <a:r>
              <a:rPr lang="pt-BR" sz="1600" i="1" dirty="0" err="1"/>
              <a:t>Visualization</a:t>
            </a:r>
            <a:r>
              <a:rPr lang="pt-BR" sz="1600" i="1" dirty="0"/>
              <a:t> (</a:t>
            </a:r>
            <a:r>
              <a:rPr lang="pt-BR" sz="1600" i="1" dirty="0" err="1"/>
              <a:t>InfoViz</a:t>
            </a:r>
            <a:r>
              <a:rPr lang="pt-BR" sz="1600" i="1" dirty="0"/>
              <a:t> 2005)</a:t>
            </a:r>
            <a:r>
              <a:rPr lang="pt-BR" sz="1600" dirty="0"/>
              <a:t>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297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em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163286"/>
            <a:ext cx="8229600" cy="1962877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Exemplo de uma malha rodoviária.</a:t>
            </a:r>
          </a:p>
          <a:p>
            <a:r>
              <a:rPr lang="pt-BR" dirty="0"/>
              <a:t>Os ‘pesos’ das arestas mostram o número máximo de veículos que podem passar pelos arcos numa determinada unidade de tempo.</a:t>
            </a:r>
          </a:p>
          <a:p>
            <a:r>
              <a:rPr lang="pt-BR" dirty="0"/>
              <a:t>Estes números são chamados de </a:t>
            </a:r>
            <a:r>
              <a:rPr lang="pt-BR" b="1" dirty="0"/>
              <a:t>capacidades</a:t>
            </a:r>
            <a:r>
              <a:rPr lang="pt-BR" dirty="0"/>
              <a:t>.</a:t>
            </a:r>
          </a:p>
        </p:txBody>
      </p:sp>
      <p:sp>
        <p:nvSpPr>
          <p:cNvPr id="4" name="Elipse 3"/>
          <p:cNvSpPr/>
          <p:nvPr/>
        </p:nvSpPr>
        <p:spPr>
          <a:xfrm>
            <a:off x="349188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55776" y="265985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49188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5212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444208" y="266242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740164" y="1980146"/>
            <a:ext cx="783352" cy="711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707904" y="1903770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5836508" y="1980146"/>
            <a:ext cx="639336" cy="713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676268" y="1980146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740164" y="2844242"/>
            <a:ext cx="783352" cy="639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707904" y="3559954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5836508" y="2846811"/>
            <a:ext cx="639336" cy="63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2051720" y="276786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660232" y="2767866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2774520" y="20521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484081" y="15186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18632" y="25055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774520" y="308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27984" y="35569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083478" y="31112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109648" y="20602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11760" y="229981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88224" y="229981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462675" y="141851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622915" y="14185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462675" y="366331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603919" y="36627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32" name="Espaço Reservado para Número de Slide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798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em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163286"/>
            <a:ext cx="8229600" cy="1962877"/>
          </a:xfrm>
        </p:spPr>
        <p:txBody>
          <a:bodyPr>
            <a:normAutofit/>
          </a:bodyPr>
          <a:lstStyle/>
          <a:p>
            <a:r>
              <a:rPr lang="pt-BR" dirty="0"/>
              <a:t>s: fonte emissor de fluxo.</a:t>
            </a:r>
          </a:p>
          <a:p>
            <a:r>
              <a:rPr lang="pt-BR" dirty="0"/>
              <a:t>t: terminal, quem consome o fluxo </a:t>
            </a:r>
          </a:p>
        </p:txBody>
      </p:sp>
      <p:sp>
        <p:nvSpPr>
          <p:cNvPr id="4" name="Elipse 3"/>
          <p:cNvSpPr/>
          <p:nvPr/>
        </p:nvSpPr>
        <p:spPr>
          <a:xfrm>
            <a:off x="349188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55776" y="265985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49188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5212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444208" y="266242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740164" y="1980146"/>
            <a:ext cx="783352" cy="711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707904" y="1903770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5836508" y="1980146"/>
            <a:ext cx="639336" cy="713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676268" y="1980146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740164" y="2844242"/>
            <a:ext cx="783352" cy="639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707904" y="3559954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5836508" y="2846811"/>
            <a:ext cx="639336" cy="63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2051720" y="276786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660232" y="2767866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2774520" y="20521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484081" y="15186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18632" y="25055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774520" y="308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27984" y="35569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083478" y="31112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109648" y="20602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11760" y="229981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88224" y="229981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462675" y="141851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622915" y="14185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462675" y="366331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603919" y="36627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32" name="Espaço Reservado para Número de Slide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620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em grafos</a:t>
            </a:r>
          </a:p>
        </p:txBody>
      </p:sp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163286"/>
            <a:ext cx="8229600" cy="1962877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Qual a capacidade máxima de veículos nesta rede? Ou seja, quantos veículos conseguem sair de s e chegam a t?</a:t>
            </a:r>
          </a:p>
          <a:p>
            <a:r>
              <a:rPr lang="pt-BR" dirty="0"/>
              <a:t>90 ou 80?</a:t>
            </a:r>
          </a:p>
          <a:p>
            <a:r>
              <a:rPr lang="pt-BR" dirty="0"/>
              <a:t>Resposta:</a:t>
            </a:r>
          </a:p>
        </p:txBody>
      </p:sp>
      <p:sp>
        <p:nvSpPr>
          <p:cNvPr id="5" name="Elipse 4"/>
          <p:cNvSpPr/>
          <p:nvPr/>
        </p:nvSpPr>
        <p:spPr>
          <a:xfrm>
            <a:off x="349188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555776" y="265985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349188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565212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444208" y="266242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/>
          <p:cNvCxnSpPr>
            <a:stCxn id="6" idx="7"/>
            <a:endCxn id="5" idx="3"/>
          </p:cNvCxnSpPr>
          <p:nvPr/>
        </p:nvCxnSpPr>
        <p:spPr>
          <a:xfrm flipV="1">
            <a:off x="2740164" y="1980146"/>
            <a:ext cx="783352" cy="711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5" idx="6"/>
            <a:endCxn id="8" idx="2"/>
          </p:cNvCxnSpPr>
          <p:nvPr/>
        </p:nvCxnSpPr>
        <p:spPr>
          <a:xfrm>
            <a:off x="3707904" y="1903770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8" idx="5"/>
            <a:endCxn id="10" idx="1"/>
          </p:cNvCxnSpPr>
          <p:nvPr/>
        </p:nvCxnSpPr>
        <p:spPr>
          <a:xfrm>
            <a:off x="5836508" y="1980146"/>
            <a:ext cx="639336" cy="713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7" idx="7"/>
            <a:endCxn id="8" idx="3"/>
          </p:cNvCxnSpPr>
          <p:nvPr/>
        </p:nvCxnSpPr>
        <p:spPr>
          <a:xfrm flipV="1">
            <a:off x="3676268" y="1980146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5"/>
            <a:endCxn id="7" idx="1"/>
          </p:cNvCxnSpPr>
          <p:nvPr/>
        </p:nvCxnSpPr>
        <p:spPr>
          <a:xfrm>
            <a:off x="2740164" y="2844242"/>
            <a:ext cx="783352" cy="639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7" idx="6"/>
            <a:endCxn id="9" idx="2"/>
          </p:cNvCxnSpPr>
          <p:nvPr/>
        </p:nvCxnSpPr>
        <p:spPr>
          <a:xfrm>
            <a:off x="3707904" y="3559954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7"/>
            <a:endCxn id="10" idx="3"/>
          </p:cNvCxnSpPr>
          <p:nvPr/>
        </p:nvCxnSpPr>
        <p:spPr>
          <a:xfrm flipV="1">
            <a:off x="5836508" y="2846811"/>
            <a:ext cx="639336" cy="63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endCxn id="6" idx="2"/>
          </p:cNvCxnSpPr>
          <p:nvPr/>
        </p:nvCxnSpPr>
        <p:spPr>
          <a:xfrm>
            <a:off x="2051720" y="276786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0" idx="6"/>
          </p:cNvCxnSpPr>
          <p:nvPr/>
        </p:nvCxnSpPr>
        <p:spPr>
          <a:xfrm flipV="1">
            <a:off x="6660232" y="2767866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2774520" y="20521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484081" y="15186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218632" y="25055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774520" y="308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427984" y="35569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083478" y="31112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109648" y="20602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2411760" y="229981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588224" y="229981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462675" y="141851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622915" y="14185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462675" y="366331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603919" y="36627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455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em grafos</a:t>
            </a:r>
          </a:p>
        </p:txBody>
      </p:sp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163286"/>
            <a:ext cx="8229600" cy="1962877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Qual a capacidade máxima de veículos nesta rede? Ou seja, quantos veículos conseguem sair de s e chegam a t?</a:t>
            </a:r>
          </a:p>
          <a:p>
            <a:r>
              <a:rPr lang="pt-BR" dirty="0"/>
              <a:t>90 ou 80?</a:t>
            </a:r>
          </a:p>
          <a:p>
            <a:r>
              <a:rPr lang="pt-BR" dirty="0"/>
              <a:t>Resposta: 70</a:t>
            </a:r>
          </a:p>
        </p:txBody>
      </p:sp>
      <p:sp>
        <p:nvSpPr>
          <p:cNvPr id="5" name="Elipse 4"/>
          <p:cNvSpPr/>
          <p:nvPr/>
        </p:nvSpPr>
        <p:spPr>
          <a:xfrm>
            <a:off x="349188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555776" y="265985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349188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565212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6444208" y="266242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/>
          <p:cNvCxnSpPr>
            <a:stCxn id="6" idx="7"/>
            <a:endCxn id="5" idx="3"/>
          </p:cNvCxnSpPr>
          <p:nvPr/>
        </p:nvCxnSpPr>
        <p:spPr>
          <a:xfrm flipV="1">
            <a:off x="2740164" y="1980146"/>
            <a:ext cx="783352" cy="7113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5" idx="6"/>
            <a:endCxn id="8" idx="2"/>
          </p:cNvCxnSpPr>
          <p:nvPr/>
        </p:nvCxnSpPr>
        <p:spPr>
          <a:xfrm>
            <a:off x="3707904" y="1903770"/>
            <a:ext cx="19442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8" idx="5"/>
            <a:endCxn id="10" idx="1"/>
          </p:cNvCxnSpPr>
          <p:nvPr/>
        </p:nvCxnSpPr>
        <p:spPr>
          <a:xfrm>
            <a:off x="5836508" y="1980146"/>
            <a:ext cx="639336" cy="713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7" idx="7"/>
            <a:endCxn id="8" idx="3"/>
          </p:cNvCxnSpPr>
          <p:nvPr/>
        </p:nvCxnSpPr>
        <p:spPr>
          <a:xfrm flipV="1">
            <a:off x="3676268" y="1980146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5"/>
            <a:endCxn id="7" idx="1"/>
          </p:cNvCxnSpPr>
          <p:nvPr/>
        </p:nvCxnSpPr>
        <p:spPr>
          <a:xfrm>
            <a:off x="2740164" y="2844242"/>
            <a:ext cx="783352" cy="639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7" idx="6"/>
            <a:endCxn id="9" idx="2"/>
          </p:cNvCxnSpPr>
          <p:nvPr/>
        </p:nvCxnSpPr>
        <p:spPr>
          <a:xfrm>
            <a:off x="3707904" y="3559954"/>
            <a:ext cx="19442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7"/>
            <a:endCxn id="10" idx="3"/>
          </p:cNvCxnSpPr>
          <p:nvPr/>
        </p:nvCxnSpPr>
        <p:spPr>
          <a:xfrm flipV="1">
            <a:off x="5836508" y="2846811"/>
            <a:ext cx="639336" cy="6367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endCxn id="6" idx="2"/>
          </p:cNvCxnSpPr>
          <p:nvPr/>
        </p:nvCxnSpPr>
        <p:spPr>
          <a:xfrm>
            <a:off x="2051720" y="276786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0" idx="6"/>
          </p:cNvCxnSpPr>
          <p:nvPr/>
        </p:nvCxnSpPr>
        <p:spPr>
          <a:xfrm flipV="1">
            <a:off x="6660232" y="2767866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2774520" y="20521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484081" y="15186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218632" y="25055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774520" y="308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427984" y="35569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083478" y="31112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109648" y="20602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2411760" y="229981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588224" y="229981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462675" y="141851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622915" y="14185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462675" y="366331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603919" y="36627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624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em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sz="3600" dirty="0"/>
              <a:t>Exemplos:</a:t>
            </a:r>
          </a:p>
          <a:p>
            <a:pPr lvl="1"/>
            <a:r>
              <a:rPr lang="pt-BR" sz="3200" dirty="0"/>
              <a:t>Valores (pesos de arestas) estáticos:</a:t>
            </a:r>
          </a:p>
          <a:p>
            <a:pPr lvl="2"/>
            <a:r>
              <a:rPr lang="pt-BR" sz="2800" dirty="0"/>
              <a:t>A distância da rodovia que liga uma cidade a outra.</a:t>
            </a:r>
          </a:p>
          <a:p>
            <a:pPr lvl="1"/>
            <a:r>
              <a:rPr lang="pt-BR" sz="3200" dirty="0"/>
              <a:t>Valares dinâmicos</a:t>
            </a:r>
          </a:p>
          <a:p>
            <a:pPr lvl="2"/>
            <a:r>
              <a:rPr lang="pt-BR" dirty="0"/>
              <a:t>Na rodovia passam 10 carros por minutos.</a:t>
            </a:r>
          </a:p>
          <a:p>
            <a:pPr lvl="1"/>
            <a:endParaRPr lang="pt-BR" dirty="0"/>
          </a:p>
          <a:p>
            <a:r>
              <a:rPr lang="pt-BR" dirty="0"/>
              <a:t>Fluxo em grafos</a:t>
            </a:r>
          </a:p>
          <a:p>
            <a:pPr lvl="1"/>
            <a:r>
              <a:rPr lang="pt-BR" dirty="0"/>
              <a:t>Quantos veículos passam por minuto em uma rodovia?</a:t>
            </a:r>
          </a:p>
          <a:p>
            <a:pPr lvl="2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6570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em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Recurso que move por meio do arco de um grafo.</a:t>
            </a:r>
          </a:p>
          <a:p>
            <a:r>
              <a:rPr lang="pt-BR" dirty="0"/>
              <a:t>Exemplos:</a:t>
            </a:r>
          </a:p>
          <a:p>
            <a:pPr lvl="1"/>
            <a:r>
              <a:rPr lang="pt-BR" dirty="0"/>
              <a:t>Líquidos em canos;</a:t>
            </a:r>
          </a:p>
          <a:p>
            <a:pPr lvl="1"/>
            <a:r>
              <a:rPr lang="pt-BR" dirty="0"/>
              <a:t>Trafego em rede de computadores</a:t>
            </a:r>
          </a:p>
          <a:p>
            <a:pPr lvl="1"/>
            <a:r>
              <a:rPr lang="pt-BR" dirty="0"/>
              <a:t>Veículos e rodovias</a:t>
            </a:r>
          </a:p>
          <a:p>
            <a:pPr lvl="1"/>
            <a:r>
              <a:rPr lang="pt-BR" dirty="0"/>
              <a:t>Etc...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0674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em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Considere um material percorrendo um sistema deste a origem, onde é produzido, até o destino, onde é consumido </a:t>
            </a:r>
          </a:p>
          <a:p>
            <a:r>
              <a:rPr lang="pt-BR" sz="2400" dirty="0"/>
              <a:t>Exemplos de fluxos: líquidos em tubulação, peças em linhas de montagem, corrente em redes elétricas, informações em redes</a:t>
            </a:r>
          </a:p>
          <a:p>
            <a:r>
              <a:rPr lang="pt-BR" sz="2400" dirty="0"/>
              <a:t>Exemplo: Fábrica em Vancouver (s) e depósito em Winnipeg (t)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149080"/>
            <a:ext cx="556260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657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em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Um Fluxo em Rede G = (V, E) é um grafo dirigido em que cada aresta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24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24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2400" b="0" i="1" smtClean="0">
                        <a:latin typeface="Cambria Math"/>
                        <a:ea typeface="Cambria Math"/>
                      </a:rPr>
                      <m:t>𝐸</m:t>
                    </m:r>
                  </m:oMath>
                </a14:m>
                <a:r>
                  <a:rPr lang="pt-BR" sz="2400" dirty="0"/>
                  <a:t> possui uma capacidade associada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𝑐</m:t>
                    </m:r>
                    <m:r>
                      <a:rPr lang="pt-BR" sz="2400" i="1" dirty="0" smtClean="0">
                        <a:latin typeface="Cambria Math"/>
                      </a:rPr>
                      <m:t>(</m:t>
                    </m:r>
                    <m:r>
                      <a:rPr lang="pt-BR" sz="2400" i="1" dirty="0" smtClean="0">
                        <a:latin typeface="Cambria Math"/>
                      </a:rPr>
                      <m:t>𝑢</m:t>
                    </m:r>
                    <m:r>
                      <a:rPr lang="pt-BR" sz="2400" b="0" i="1" dirty="0" smtClean="0">
                        <a:latin typeface="Cambria Math"/>
                      </a:rPr>
                      <m:t>, </m:t>
                    </m:r>
                    <m:r>
                      <a:rPr lang="pt-BR" sz="2400" i="1" dirty="0">
                        <a:latin typeface="Cambria Math"/>
                      </a:rPr>
                      <m:t>𝑣</m:t>
                    </m:r>
                    <m:r>
                      <a:rPr lang="pt-BR" sz="2400" i="1" dirty="0">
                        <a:latin typeface="Cambria Math"/>
                      </a:rPr>
                      <m:t>)≥0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es-ES" sz="24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/>
                          </a:rPr>
                          <m:t>𝑢</m:t>
                        </m:r>
                        <m:r>
                          <a:rPr lang="pt-BR" sz="2400" i="1">
                            <a:latin typeface="Cambria Math"/>
                          </a:rPr>
                          <m:t>, </m:t>
                        </m:r>
                        <m:r>
                          <a:rPr lang="pt-BR" sz="2400" i="1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2400" i="1" smtClean="0">
                        <a:latin typeface="Cambria Math"/>
                        <a:ea typeface="Cambria Math"/>
                      </a:rPr>
                      <m:t>∉</m:t>
                    </m:r>
                    <m:r>
                      <a:rPr lang="pt-BR" sz="2400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s-ES" sz="2400" dirty="0"/>
                  <a:t>G, consideramos que </a:t>
                </a:r>
                <a14:m>
                  <m:oMath xmlns:m="http://schemas.openxmlformats.org/officeDocument/2006/math">
                    <m:r>
                      <a:rPr lang="pt-BR" sz="2400" i="1" dirty="0">
                        <a:latin typeface="Cambria Math"/>
                      </a:rPr>
                      <m:t>𝑐</m:t>
                    </m:r>
                    <m:d>
                      <m:d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>
                            <a:latin typeface="Cambria Math"/>
                          </a:rPr>
                          <m:t>𝑢</m:t>
                        </m:r>
                        <m:r>
                          <a:rPr lang="pt-BR" sz="2400" i="1" dirty="0">
                            <a:latin typeface="Cambria Math"/>
                          </a:rPr>
                          <m:t>, </m:t>
                        </m:r>
                        <m:r>
                          <a:rPr lang="pt-BR" sz="2400" i="1" dirty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2400" b="0" i="1" dirty="0" smtClean="0">
                        <a:latin typeface="Cambria Math"/>
                      </a:rPr>
                      <m:t>=</m:t>
                    </m:r>
                    <m:r>
                      <a:rPr lang="pt-BR" sz="2400" i="1" dirty="0">
                        <a:latin typeface="Cambria Math"/>
                      </a:rPr>
                      <m:t>0</m:t>
                    </m:r>
                  </m:oMath>
                </a14:m>
                <a:endParaRPr lang="pt-BR" sz="2400" dirty="0"/>
              </a:p>
              <a:p>
                <a:r>
                  <a:rPr lang="pt-BR" sz="2400" dirty="0"/>
                  <a:t>Destacam-se os vértices: s, a origem, e t, o destino</a:t>
                </a:r>
              </a:p>
              <a:p>
                <a:r>
                  <a:rPr lang="pt-BR" sz="2400" dirty="0"/>
                  <a:t>Consideramos que todos os outros vértices estejam em algum caminho de s para t</a:t>
                </a:r>
              </a:p>
              <a:p>
                <a:r>
                  <a:rPr lang="pt-BR" sz="2400" dirty="0"/>
                  <a:t>Um Fluxo em G é uma função de fluxo, tal que:</a:t>
                </a:r>
              </a:p>
              <a:p>
                <a:pPr lvl="1"/>
                <a:r>
                  <a:rPr lang="pt-BR" sz="2000" dirty="0"/>
                  <a:t>Restrição de capacidade: </a:t>
                </a:r>
                <a14:m>
                  <m:oMath xmlns:m="http://schemas.openxmlformats.org/officeDocument/2006/math">
                    <m:r>
                      <a:rPr lang="pt-B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)≤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dirty="0"/>
              </a:p>
              <a:p>
                <a:pPr lvl="1"/>
                <a:r>
                  <a:rPr lang="pt-BR" sz="2000" dirty="0"/>
                  <a:t>Conservação de fluxo: todo fluxo que chega a um vértice do grafo sai dele. Ou seja, todo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−{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000" dirty="0"/>
                  <a:t>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de Seta Reta 4"/>
          <p:cNvCxnSpPr/>
          <p:nvPr/>
        </p:nvCxnSpPr>
        <p:spPr>
          <a:xfrm flipH="1">
            <a:off x="5292080" y="5733256"/>
            <a:ext cx="1080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6372200" y="5589240"/>
                <a:ext cx="20882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pt-BR" dirty="0"/>
                  <a:t> são somente origem e destino, respetivamente.</a:t>
                </a:r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5589240"/>
                <a:ext cx="2088232" cy="923330"/>
              </a:xfrm>
              <a:prstGeom prst="rect">
                <a:avLst/>
              </a:prstGeom>
              <a:blipFill>
                <a:blip r:embed="rId3"/>
                <a:stretch>
                  <a:fillRect l="-2332" t="-3974" b="-99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871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b="1" dirty="0"/>
                  <a:t>Corresponde a achar a maior quantidade de fluxo que pode passar por um dado grafo</a:t>
                </a:r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Para a formulação do problema é importante conhecer a noção de corte: </a:t>
                </a:r>
              </a:p>
              <a:p>
                <a:pPr lvl="1"/>
                <a:r>
                  <a:rPr lang="pt-BR" sz="2400" dirty="0"/>
                  <a:t>Seja G = (V, E) um grafo com fluxo e seja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 tal que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. Então um corte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400" dirty="0"/>
                  <a:t>em G </a:t>
                </a:r>
                <a:r>
                  <a:rPr lang="pt-BR" sz="2400" dirty="0">
                    <a:solidFill>
                      <a:srgbClr val="FF0000"/>
                    </a:solidFill>
                  </a:rPr>
                  <a:t>é um conjunto de arcos de G com extremidade inicial em X e extremidade final em V – X </a:t>
                </a:r>
                <a:r>
                  <a:rPr lang="pt-BR" sz="2400" dirty="0"/>
                  <a:t>(complemento de X em relação a V).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4012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126188"/>
            <a:ext cx="8229600" cy="1999975"/>
          </a:xfrm>
        </p:spPr>
        <p:txBody>
          <a:bodyPr/>
          <a:lstStyle/>
          <a:p>
            <a:r>
              <a:rPr lang="pt-BR" dirty="0"/>
              <a:t>O conjunto {</a:t>
            </a:r>
            <a:r>
              <a:rPr lang="pt-BR" dirty="0" err="1"/>
              <a:t>sa</a:t>
            </a:r>
            <a:r>
              <a:rPr lang="pt-BR" dirty="0"/>
              <a:t>, </a:t>
            </a:r>
            <a:r>
              <a:rPr lang="pt-BR" dirty="0" err="1"/>
              <a:t>sc</a:t>
            </a:r>
            <a:r>
              <a:rPr lang="pt-BR" dirty="0"/>
              <a:t>} é um corte com capacidade 90.</a:t>
            </a:r>
          </a:p>
          <a:p>
            <a:r>
              <a:rPr lang="pt-BR" dirty="0"/>
              <a:t>X = {s} e V – X = {a, b, c, d, t}</a:t>
            </a:r>
          </a:p>
        </p:txBody>
      </p:sp>
      <p:sp>
        <p:nvSpPr>
          <p:cNvPr id="4" name="Elipse 3"/>
          <p:cNvSpPr/>
          <p:nvPr/>
        </p:nvSpPr>
        <p:spPr>
          <a:xfrm>
            <a:off x="349188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55776" y="265985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49188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5212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444208" y="266242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740164" y="1980146"/>
            <a:ext cx="783352" cy="7113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707904" y="1903770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5836508" y="1980146"/>
            <a:ext cx="639336" cy="713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676268" y="1980146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740164" y="2844242"/>
            <a:ext cx="783352" cy="639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707904" y="3559954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5836508" y="2846811"/>
            <a:ext cx="639336" cy="63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2051720" y="276786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660232" y="2767866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2774520" y="20521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484081" y="15186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18632" y="25055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774520" y="308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27984" y="35569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083478" y="31112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109648" y="20602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11760" y="229981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88224" y="229981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462675" y="141851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622915" y="14185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462675" y="366331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603919" y="36627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32" name="Espaço Reservado para Número de Slide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504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126188"/>
            <a:ext cx="8229600" cy="1999975"/>
          </a:xfrm>
        </p:spPr>
        <p:txBody>
          <a:bodyPr/>
          <a:lstStyle/>
          <a:p>
            <a:r>
              <a:rPr lang="pt-BR" dirty="0"/>
              <a:t>O conjunto {</a:t>
            </a:r>
            <a:r>
              <a:rPr lang="pt-BR" dirty="0" err="1"/>
              <a:t>bt</a:t>
            </a:r>
            <a:r>
              <a:rPr lang="pt-BR" dirty="0"/>
              <a:t>, </a:t>
            </a:r>
            <a:r>
              <a:rPr lang="pt-BR" dirty="0" err="1"/>
              <a:t>dt</a:t>
            </a:r>
            <a:r>
              <a:rPr lang="pt-BR" dirty="0"/>
              <a:t>} é um corte com capacidade 80.</a:t>
            </a:r>
          </a:p>
          <a:p>
            <a:r>
              <a:rPr lang="pt-BR" dirty="0"/>
              <a:t>X = {s, a, b, c, d} e V – X = {t}</a:t>
            </a:r>
          </a:p>
        </p:txBody>
      </p:sp>
      <p:sp>
        <p:nvSpPr>
          <p:cNvPr id="4" name="Elipse 3"/>
          <p:cNvSpPr/>
          <p:nvPr/>
        </p:nvSpPr>
        <p:spPr>
          <a:xfrm>
            <a:off x="349188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55776" y="265985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49188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5212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444208" y="266242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740164" y="1980146"/>
            <a:ext cx="783352" cy="711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707904" y="1903770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5836508" y="1980146"/>
            <a:ext cx="639336" cy="713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676268" y="1980146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740164" y="2844242"/>
            <a:ext cx="783352" cy="639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707904" y="3559954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5836508" y="2846811"/>
            <a:ext cx="639336" cy="6367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2051720" y="276786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660232" y="2767866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2774520" y="20521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484081" y="15186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18632" y="25055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774520" y="308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27984" y="35569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083478" y="31112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109648" y="20602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11760" y="229981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88224" y="229981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462675" y="141851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622915" y="14185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462675" y="366331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603919" y="36627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32" name="Espaço Reservado para Número de Slide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081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126188"/>
            <a:ext cx="8229600" cy="1999975"/>
          </a:xfrm>
        </p:spPr>
        <p:txBody>
          <a:bodyPr/>
          <a:lstStyle/>
          <a:p>
            <a:r>
              <a:rPr lang="pt-BR" dirty="0"/>
              <a:t>O conjunto {</a:t>
            </a:r>
            <a:r>
              <a:rPr lang="pt-BR" dirty="0" err="1"/>
              <a:t>sc</a:t>
            </a:r>
            <a:r>
              <a:rPr lang="pt-BR" dirty="0"/>
              <a:t>, </a:t>
            </a:r>
            <a:r>
              <a:rPr lang="pt-BR" dirty="0" err="1"/>
              <a:t>bt</a:t>
            </a:r>
            <a:r>
              <a:rPr lang="pt-BR" dirty="0"/>
              <a:t>} é um corte com capacidade 70.</a:t>
            </a:r>
          </a:p>
          <a:p>
            <a:r>
              <a:rPr lang="pt-BR" dirty="0"/>
              <a:t>X = {s, a, b} e V – X = {c, d, t}</a:t>
            </a:r>
          </a:p>
        </p:txBody>
      </p:sp>
      <p:sp>
        <p:nvSpPr>
          <p:cNvPr id="4" name="Elipse 3"/>
          <p:cNvSpPr/>
          <p:nvPr/>
        </p:nvSpPr>
        <p:spPr>
          <a:xfrm>
            <a:off x="349188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55776" y="265985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49188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5212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444208" y="266242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740164" y="1980146"/>
            <a:ext cx="783352" cy="711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707904" y="1903770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5836508" y="1980146"/>
            <a:ext cx="639336" cy="713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676268" y="1980146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740164" y="2844242"/>
            <a:ext cx="783352" cy="639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707904" y="3559954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5836508" y="2846811"/>
            <a:ext cx="639336" cy="63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2051720" y="276786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660232" y="2767866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2774520" y="20521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484081" y="15186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18632" y="25055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774520" y="308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27984" y="35569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083478" y="31112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109648" y="20602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11760" y="229981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88224" y="229981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462675" y="141851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622915" y="14185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462675" y="366331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603919" y="36627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32" name="Espaço Reservado para Número de Slide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17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126188"/>
            <a:ext cx="8229600" cy="1999975"/>
          </a:xfrm>
        </p:spPr>
        <p:txBody>
          <a:bodyPr/>
          <a:lstStyle/>
          <a:p>
            <a:r>
              <a:rPr lang="pt-BR" dirty="0"/>
              <a:t>O conjunto {</a:t>
            </a:r>
            <a:r>
              <a:rPr lang="pt-BR" dirty="0" err="1"/>
              <a:t>sc</a:t>
            </a:r>
            <a:r>
              <a:rPr lang="pt-BR" dirty="0"/>
              <a:t>, </a:t>
            </a:r>
            <a:r>
              <a:rPr lang="pt-BR" dirty="0" err="1"/>
              <a:t>bt</a:t>
            </a:r>
            <a:r>
              <a:rPr lang="pt-BR" dirty="0"/>
              <a:t>} é um corte com capacidade 70.</a:t>
            </a:r>
          </a:p>
          <a:p>
            <a:r>
              <a:rPr lang="pt-BR" dirty="0"/>
              <a:t>X = {s, a, b} e V – X = {c, d, t}</a:t>
            </a:r>
          </a:p>
        </p:txBody>
      </p:sp>
      <p:sp>
        <p:nvSpPr>
          <p:cNvPr id="4" name="Elipse 3"/>
          <p:cNvSpPr/>
          <p:nvPr/>
        </p:nvSpPr>
        <p:spPr>
          <a:xfrm>
            <a:off x="349188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55776" y="265985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49188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5212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444208" y="266242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740164" y="1980146"/>
            <a:ext cx="783352" cy="711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707904" y="1903770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5836508" y="1980146"/>
            <a:ext cx="639336" cy="713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676268" y="1980146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740164" y="2844242"/>
            <a:ext cx="783352" cy="639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707904" y="3559954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5836508" y="2846811"/>
            <a:ext cx="639336" cy="63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2051720" y="276786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660232" y="2767866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2774520" y="20521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484081" y="15186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18632" y="25055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774520" y="308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27984" y="35569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083478" y="31112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109648" y="20602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11760" y="229981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88224" y="229981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462675" y="141851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622915" y="14185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462675" y="366331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603919" y="36627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234180" y="1380259"/>
            <a:ext cx="2064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Por quê {</a:t>
            </a:r>
            <a:r>
              <a:rPr lang="pt-BR" sz="2000" dirty="0" err="1"/>
              <a:t>sc</a:t>
            </a:r>
            <a:r>
              <a:rPr lang="pt-BR" sz="2000" dirty="0"/>
              <a:t>, </a:t>
            </a:r>
            <a:r>
              <a:rPr lang="pt-BR" sz="2000" dirty="0" err="1"/>
              <a:t>bt</a:t>
            </a:r>
            <a:r>
              <a:rPr lang="pt-BR" sz="2000" dirty="0"/>
              <a:t>} é um corte?</a:t>
            </a:r>
          </a:p>
        </p:txBody>
      </p:sp>
      <p:sp>
        <p:nvSpPr>
          <p:cNvPr id="33" name="Espaço Reservado para Número de Slid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9709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126188"/>
            <a:ext cx="8229600" cy="1999975"/>
          </a:xfrm>
        </p:spPr>
        <p:txBody>
          <a:bodyPr/>
          <a:lstStyle/>
          <a:p>
            <a:r>
              <a:rPr lang="pt-BR" dirty="0"/>
              <a:t>O conjunto {</a:t>
            </a:r>
            <a:r>
              <a:rPr lang="pt-BR" dirty="0" err="1"/>
              <a:t>sc</a:t>
            </a:r>
            <a:r>
              <a:rPr lang="pt-BR" dirty="0"/>
              <a:t>, </a:t>
            </a:r>
            <a:r>
              <a:rPr lang="pt-BR" dirty="0" err="1"/>
              <a:t>bt</a:t>
            </a:r>
            <a:r>
              <a:rPr lang="pt-BR" dirty="0"/>
              <a:t>} é um corte com capacidade 70.</a:t>
            </a:r>
          </a:p>
          <a:p>
            <a:r>
              <a:rPr lang="pt-BR" dirty="0"/>
              <a:t>X = {s, a, b} e V – X = {c, d, t}</a:t>
            </a:r>
          </a:p>
        </p:txBody>
      </p:sp>
      <p:sp>
        <p:nvSpPr>
          <p:cNvPr id="4" name="Elipse 3"/>
          <p:cNvSpPr/>
          <p:nvPr/>
        </p:nvSpPr>
        <p:spPr>
          <a:xfrm>
            <a:off x="349188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55776" y="265985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49188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5212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444208" y="266242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740164" y="1980146"/>
            <a:ext cx="783352" cy="711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707904" y="1903770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676268" y="1980146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707904" y="3559954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5836508" y="2846811"/>
            <a:ext cx="639336" cy="63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2051720" y="276786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660232" y="2767866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2774520" y="20521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484081" y="15186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18632" y="25055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27984" y="35569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083478" y="31112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11760" y="229981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88224" y="229981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462675" y="141851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622915" y="14185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462675" y="366331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603919" y="36627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234180" y="1380259"/>
            <a:ext cx="20645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Por quê {</a:t>
            </a:r>
            <a:r>
              <a:rPr lang="pt-BR" sz="2000" dirty="0" err="1"/>
              <a:t>sc</a:t>
            </a:r>
            <a:r>
              <a:rPr lang="pt-BR" sz="2000" dirty="0"/>
              <a:t>, </a:t>
            </a:r>
            <a:r>
              <a:rPr lang="pt-BR" sz="2000" dirty="0" err="1"/>
              <a:t>bt</a:t>
            </a:r>
            <a:r>
              <a:rPr lang="pt-BR" sz="2000" dirty="0"/>
              <a:t>} é um corte?</a:t>
            </a:r>
          </a:p>
          <a:p>
            <a:r>
              <a:rPr lang="pt-BR" sz="2000" dirty="0"/>
              <a:t>Sua retirada impede o fluxo de ir de s para t </a:t>
            </a:r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782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126188"/>
            <a:ext cx="8229600" cy="1999975"/>
          </a:xfrm>
        </p:spPr>
        <p:txBody>
          <a:bodyPr>
            <a:normAutofit/>
          </a:bodyPr>
          <a:lstStyle/>
          <a:p>
            <a:r>
              <a:rPr lang="pt-BR" dirty="0"/>
              <a:t>O conjunto {</a:t>
            </a:r>
            <a:r>
              <a:rPr lang="pt-BR" dirty="0" err="1"/>
              <a:t>sa</a:t>
            </a:r>
            <a:r>
              <a:rPr lang="pt-BR" dirty="0"/>
              <a:t>, </a:t>
            </a:r>
            <a:r>
              <a:rPr lang="pt-BR" dirty="0" err="1"/>
              <a:t>dt</a:t>
            </a:r>
            <a:r>
              <a:rPr lang="pt-BR" dirty="0"/>
              <a:t>} </a:t>
            </a:r>
            <a:r>
              <a:rPr lang="pt-BR" b="1" dirty="0"/>
              <a:t>não</a:t>
            </a:r>
            <a:r>
              <a:rPr lang="pt-BR" dirty="0"/>
              <a:t> é um corte, pois sua retirada não impede o fluxo de ir de s para t por meio do caminho </a:t>
            </a:r>
            <a:r>
              <a:rPr lang="pt-BR" dirty="0" err="1"/>
              <a:t>scbt</a:t>
            </a:r>
            <a:r>
              <a:rPr lang="pt-BR" dirty="0"/>
              <a:t>.</a:t>
            </a:r>
          </a:p>
        </p:txBody>
      </p:sp>
      <p:sp>
        <p:nvSpPr>
          <p:cNvPr id="4" name="Elipse 3"/>
          <p:cNvSpPr/>
          <p:nvPr/>
        </p:nvSpPr>
        <p:spPr>
          <a:xfrm>
            <a:off x="349188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55776" y="265985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49188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5212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444208" y="266242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740164" y="1980146"/>
            <a:ext cx="783352" cy="7113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707904" y="1903770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5836508" y="1980146"/>
            <a:ext cx="639336" cy="713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676268" y="1980146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740164" y="2844242"/>
            <a:ext cx="783352" cy="639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707904" y="3559954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5836508" y="2846811"/>
            <a:ext cx="639336" cy="6367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2051720" y="276786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660232" y="2767866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2774520" y="20521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484081" y="15186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18632" y="25055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774520" y="308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27984" y="35569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083478" y="31112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109648" y="20602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11760" y="229981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88224" y="229981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462675" y="141851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622915" y="14185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462675" y="366331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603919" y="36627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32" name="Espaço Reservado para Número de Slide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223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126188"/>
            <a:ext cx="8229600" cy="1999975"/>
          </a:xfrm>
        </p:spPr>
        <p:txBody>
          <a:bodyPr>
            <a:normAutofit/>
          </a:bodyPr>
          <a:lstStyle/>
          <a:p>
            <a:r>
              <a:rPr lang="pt-BR" dirty="0"/>
              <a:t>O conjunto {</a:t>
            </a:r>
            <a:r>
              <a:rPr lang="pt-BR" dirty="0" err="1"/>
              <a:t>sa</a:t>
            </a:r>
            <a:r>
              <a:rPr lang="pt-BR" dirty="0"/>
              <a:t>, </a:t>
            </a:r>
            <a:r>
              <a:rPr lang="pt-BR" dirty="0" err="1"/>
              <a:t>dt</a:t>
            </a:r>
            <a:r>
              <a:rPr lang="pt-BR" dirty="0"/>
              <a:t>} </a:t>
            </a:r>
            <a:r>
              <a:rPr lang="pt-BR" b="1" dirty="0"/>
              <a:t>não</a:t>
            </a:r>
            <a:r>
              <a:rPr lang="pt-BR" dirty="0"/>
              <a:t> é um corte, pois sua retirada não impede o fluxo de ir de s para t por meio do caminho </a:t>
            </a:r>
            <a:r>
              <a:rPr lang="pt-BR" dirty="0" err="1"/>
              <a:t>scbt</a:t>
            </a:r>
            <a:r>
              <a:rPr lang="pt-BR" dirty="0"/>
              <a:t>.</a:t>
            </a:r>
          </a:p>
        </p:txBody>
      </p:sp>
      <p:sp>
        <p:nvSpPr>
          <p:cNvPr id="4" name="Elipse 3"/>
          <p:cNvSpPr/>
          <p:nvPr/>
        </p:nvSpPr>
        <p:spPr>
          <a:xfrm>
            <a:off x="349188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55776" y="265985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49188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52120" y="179575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345194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444208" y="266242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707904" y="1903770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5836508" y="1980146"/>
            <a:ext cx="639336" cy="7139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676268" y="1980146"/>
            <a:ext cx="2007488" cy="15034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740164" y="2844242"/>
            <a:ext cx="783352" cy="6393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707904" y="3559954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2051720" y="276786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660232" y="2767866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484081" y="15186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18632" y="25055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774520" y="30815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27984" y="35569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109648" y="20602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11760" y="229981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88224" y="229981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462675" y="141851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622915" y="14185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462675" y="366331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603919" y="36627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9390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menor corte é o conjunto {</a:t>
            </a:r>
            <a:r>
              <a:rPr lang="pt-BR" dirty="0" err="1"/>
              <a:t>sc</a:t>
            </a:r>
            <a:r>
              <a:rPr lang="pt-BR" dirty="0"/>
              <a:t>, </a:t>
            </a:r>
            <a:r>
              <a:rPr lang="pt-BR" dirty="0" err="1"/>
              <a:t>bt</a:t>
            </a:r>
            <a:r>
              <a:rPr lang="pt-BR" dirty="0"/>
              <a:t>}, que é um corte com capacidade 70.</a:t>
            </a:r>
          </a:p>
          <a:p>
            <a:r>
              <a:rPr lang="pt-BR" dirty="0"/>
              <a:t>Veja que este também é o fluxo máximo do grafo.</a:t>
            </a:r>
          </a:p>
        </p:txBody>
      </p:sp>
      <p:sp>
        <p:nvSpPr>
          <p:cNvPr id="4" name="Elipse 3"/>
          <p:cNvSpPr/>
          <p:nvPr/>
        </p:nvSpPr>
        <p:spPr>
          <a:xfrm>
            <a:off x="3275856" y="3753036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339752" y="461713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275856" y="5409220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436096" y="3753036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436096" y="5409220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228184" y="4619701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524140" y="3937424"/>
            <a:ext cx="783352" cy="711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491880" y="3861048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5620484" y="3937424"/>
            <a:ext cx="639336" cy="713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460244" y="3937424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524140" y="4801520"/>
            <a:ext cx="783352" cy="639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491880" y="5517232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5620484" y="4804089"/>
            <a:ext cx="639336" cy="63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1835696" y="472514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444208" y="4725144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2558496" y="40094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268057" y="34758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002608" y="44627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558496" y="50388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211960" y="55142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867454" y="50685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893624" y="40175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195736" y="4257092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372200" y="425709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246651" y="3375795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406891" y="337579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246651" y="562059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387895" y="562002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32" name="Espaço Reservado para Número de Slide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4931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menor corte é o conjunto {</a:t>
            </a:r>
            <a:r>
              <a:rPr lang="pt-BR" dirty="0" err="1"/>
              <a:t>sc</a:t>
            </a:r>
            <a:r>
              <a:rPr lang="pt-BR" dirty="0"/>
              <a:t>, </a:t>
            </a:r>
            <a:r>
              <a:rPr lang="pt-BR" dirty="0" err="1"/>
              <a:t>bt</a:t>
            </a:r>
            <a:r>
              <a:rPr lang="pt-BR" dirty="0"/>
              <a:t>}, que é um corte com capacidade 70.</a:t>
            </a:r>
          </a:p>
          <a:p>
            <a:r>
              <a:rPr lang="pt-BR" dirty="0"/>
              <a:t>Veja que este também é o fluxo máximo do grafo.</a:t>
            </a:r>
          </a:p>
          <a:p>
            <a:r>
              <a:rPr lang="pt-BR" dirty="0"/>
              <a:t>Coincidência? Claro que não.</a:t>
            </a:r>
          </a:p>
          <a:p>
            <a:r>
              <a:rPr lang="pt-BR" dirty="0"/>
              <a:t>Teorema de Ford e </a:t>
            </a:r>
            <a:r>
              <a:rPr lang="pt-BR" dirty="0" err="1"/>
              <a:t>Fulkerson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2610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Teorema de Ford e </a:t>
            </a:r>
            <a:r>
              <a:rPr lang="pt-BR" dirty="0" err="1"/>
              <a:t>Fulkerson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Se partimos de um fluxo total nulo teremos, logo de início, que este fluxo terá sempre valor menor do que a capacidade de qualquer corte.</a:t>
            </a:r>
          </a:p>
          <a:p>
            <a:r>
              <a:rPr lang="pt-BR" dirty="0"/>
              <a:t>Podemos aumentar este fluxo aos poucos, aumentando e testando para comparar o seu valor com as as capacidades dos cortes. </a:t>
            </a:r>
          </a:p>
          <a:p>
            <a:r>
              <a:rPr lang="pt-BR" dirty="0"/>
              <a:t>Em um dado momento, ele se tornará igual a uma das capacidades, e é claro que isso acontecerá com a menor de todas capacidades.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817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Teorema de Ford e </a:t>
            </a:r>
            <a:r>
              <a:rPr lang="pt-BR" dirty="0" err="1"/>
              <a:t>Fulkerson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Portanto, um corte cuja capacidade possa se tornar igual ao valor de um fluxo é um corte de </a:t>
            </a:r>
            <a:r>
              <a:rPr lang="pt-BR" b="1" dirty="0"/>
              <a:t>mínima capacidade</a:t>
            </a:r>
            <a:r>
              <a:rPr lang="pt-BR" dirty="0"/>
              <a:t>.</a:t>
            </a:r>
          </a:p>
          <a:p>
            <a:r>
              <a:rPr lang="pt-BR" dirty="0"/>
              <a:t>Veja que </a:t>
            </a:r>
            <a:r>
              <a:rPr lang="pt-BR" b="1" dirty="0"/>
              <a:t>o fluxo não pode mais aumentar</a:t>
            </a:r>
            <a:r>
              <a:rPr lang="pt-BR" dirty="0"/>
              <a:t>, pois ele passa por todo o corte, e este já estará saturado.</a:t>
            </a:r>
          </a:p>
          <a:p>
            <a:r>
              <a:rPr lang="pt-BR" dirty="0"/>
              <a:t>Portanto, este fluxo será </a:t>
            </a:r>
            <a:r>
              <a:rPr lang="pt-BR" b="1" dirty="0"/>
              <a:t>máximo</a:t>
            </a:r>
            <a:r>
              <a:rPr lang="pt-BR" dirty="0"/>
              <a:t>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5763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Teorema de Ford e </a:t>
            </a:r>
            <a:r>
              <a:rPr lang="pt-BR" dirty="0" err="1"/>
              <a:t>Fulkerson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Chegamos então ao teorema de Ford e </a:t>
            </a:r>
            <a:r>
              <a:rPr lang="pt-BR" dirty="0" err="1"/>
              <a:t>Fulkerson</a:t>
            </a:r>
            <a:r>
              <a:rPr lang="pt-BR" dirty="0"/>
              <a:t> conhecido como </a:t>
            </a:r>
            <a:r>
              <a:rPr lang="pt-BR" b="1" i="1" dirty="0" err="1"/>
              <a:t>max</a:t>
            </a:r>
            <a:r>
              <a:rPr lang="pt-BR" b="1" i="1" dirty="0"/>
              <a:t> </a:t>
            </a:r>
            <a:r>
              <a:rPr lang="pt-BR" b="1" i="1" dirty="0" err="1"/>
              <a:t>flow</a:t>
            </a:r>
            <a:r>
              <a:rPr lang="pt-BR" b="1" i="1" dirty="0"/>
              <a:t>-min </a:t>
            </a:r>
            <a:r>
              <a:rPr lang="pt-BR" b="1" i="1" dirty="0" err="1"/>
              <a:t>cut</a:t>
            </a:r>
            <a:r>
              <a:rPr lang="pt-BR" dirty="0"/>
              <a:t>:</a:t>
            </a:r>
          </a:p>
          <a:p>
            <a:endParaRPr lang="pt-BR" dirty="0"/>
          </a:p>
          <a:p>
            <a:pPr marL="0" indent="0" algn="ctr">
              <a:buNone/>
            </a:pPr>
            <a:r>
              <a:rPr lang="pt-BR" i="1" dirty="0"/>
              <a:t>O valor do fluxo máximo em um grafo é igual à capacidade do corte de capacidade mínima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637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Intensidade do fluxo: </a:t>
            </a:r>
          </a:p>
        </p:txBody>
      </p:sp>
      <p:sp>
        <p:nvSpPr>
          <p:cNvPr id="4" name="Elipse 3"/>
          <p:cNvSpPr/>
          <p:nvPr/>
        </p:nvSpPr>
        <p:spPr>
          <a:xfrm>
            <a:off x="3491880" y="265411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55776" y="3518209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491880" y="4310297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52120" y="265411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4310297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444208" y="352077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740164" y="2838501"/>
            <a:ext cx="783352" cy="711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707904" y="2762125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5836508" y="2838501"/>
            <a:ext cx="639336" cy="713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676268" y="2838501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740164" y="3702597"/>
            <a:ext cx="783352" cy="639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707904" y="4418309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5836508" y="3705166"/>
            <a:ext cx="639336" cy="63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2051720" y="3626221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660232" y="3626221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2774520" y="29105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484081" y="23769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18632" y="33638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774520" y="393993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27984" y="44153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083478" y="396964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109648" y="291860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11760" y="3158169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88224" y="315816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462675" y="227687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622915" y="22768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Espaço Reservado para Conteúdo 2"/>
          <p:cNvSpPr txBox="1">
            <a:spLocks/>
          </p:cNvSpPr>
          <p:nvPr/>
        </p:nvSpPr>
        <p:spPr>
          <a:xfrm>
            <a:off x="457200" y="4725144"/>
            <a:ext cx="8229600" cy="1401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/>
              <a:t>O fluxo neste grafo tem intensidade 70.</a:t>
            </a:r>
          </a:p>
        </p:txBody>
      </p:sp>
      <p:sp>
        <p:nvSpPr>
          <p:cNvPr id="31" name="Espaço Reservado para Número de Slid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6736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Intensidade do fluxo: </a:t>
            </a:r>
          </a:p>
        </p:txBody>
      </p:sp>
      <p:sp>
        <p:nvSpPr>
          <p:cNvPr id="4" name="Elipse 3"/>
          <p:cNvSpPr/>
          <p:nvPr/>
        </p:nvSpPr>
        <p:spPr>
          <a:xfrm>
            <a:off x="3491880" y="265411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55776" y="3518209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491880" y="4310297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52120" y="265411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4310297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444208" y="352077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740164" y="2838501"/>
            <a:ext cx="783352" cy="711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707904" y="2762125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5836508" y="2838501"/>
            <a:ext cx="639336" cy="713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676268" y="2838501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740164" y="3702597"/>
            <a:ext cx="783352" cy="639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707904" y="4418309"/>
            <a:ext cx="19442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5836508" y="3705166"/>
            <a:ext cx="639336" cy="6367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2051720" y="3626221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660232" y="3626221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4218632" y="33638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411760" y="3939933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40/40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27984" y="4415352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40/60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083478" y="3969645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40/50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11760" y="3158169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88224" y="315816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462675" y="227687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622915" y="22768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Espaço Reservado para Conteúdo 2"/>
          <p:cNvSpPr txBox="1">
            <a:spLocks/>
          </p:cNvSpPr>
          <p:nvPr/>
        </p:nvSpPr>
        <p:spPr>
          <a:xfrm>
            <a:off x="457200" y="4725144"/>
            <a:ext cx="8229600" cy="1401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/>
              <a:t>O fluxo neste grafo tem intensidade 70.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2774520" y="29105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484081" y="23769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6109648" y="291860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19" name="Espaço Reservado para Número de Slide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4126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do fluxo máximo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Intensidade do fluxo: </a:t>
            </a:r>
          </a:p>
        </p:txBody>
      </p:sp>
      <p:sp>
        <p:nvSpPr>
          <p:cNvPr id="4" name="Elipse 3"/>
          <p:cNvSpPr/>
          <p:nvPr/>
        </p:nvSpPr>
        <p:spPr>
          <a:xfrm>
            <a:off x="3491880" y="265411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55776" y="3518209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491880" y="4310297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52120" y="2654113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652120" y="4310297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444208" y="352077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>
            <a:stCxn id="5" idx="7"/>
            <a:endCxn id="4" idx="3"/>
          </p:cNvCxnSpPr>
          <p:nvPr/>
        </p:nvCxnSpPr>
        <p:spPr>
          <a:xfrm flipV="1">
            <a:off x="2740164" y="2838501"/>
            <a:ext cx="783352" cy="7113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4" idx="6"/>
            <a:endCxn id="7" idx="2"/>
          </p:cNvCxnSpPr>
          <p:nvPr/>
        </p:nvCxnSpPr>
        <p:spPr>
          <a:xfrm>
            <a:off x="3707904" y="2762125"/>
            <a:ext cx="19442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5"/>
            <a:endCxn id="9" idx="1"/>
          </p:cNvCxnSpPr>
          <p:nvPr/>
        </p:nvCxnSpPr>
        <p:spPr>
          <a:xfrm>
            <a:off x="5836508" y="2838501"/>
            <a:ext cx="639336" cy="713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7" idx="3"/>
          </p:cNvCxnSpPr>
          <p:nvPr/>
        </p:nvCxnSpPr>
        <p:spPr>
          <a:xfrm flipV="1">
            <a:off x="3676268" y="2838501"/>
            <a:ext cx="2007488" cy="150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5"/>
            <a:endCxn id="6" idx="1"/>
          </p:cNvCxnSpPr>
          <p:nvPr/>
        </p:nvCxnSpPr>
        <p:spPr>
          <a:xfrm>
            <a:off x="2740164" y="3702597"/>
            <a:ext cx="783352" cy="639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6"/>
            <a:endCxn id="8" idx="2"/>
          </p:cNvCxnSpPr>
          <p:nvPr/>
        </p:nvCxnSpPr>
        <p:spPr>
          <a:xfrm>
            <a:off x="3707904" y="4418309"/>
            <a:ext cx="19442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8" idx="7"/>
            <a:endCxn id="9" idx="3"/>
          </p:cNvCxnSpPr>
          <p:nvPr/>
        </p:nvCxnSpPr>
        <p:spPr>
          <a:xfrm flipV="1">
            <a:off x="5836508" y="3705166"/>
            <a:ext cx="639336" cy="6367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endCxn id="5" idx="2"/>
          </p:cNvCxnSpPr>
          <p:nvPr/>
        </p:nvCxnSpPr>
        <p:spPr>
          <a:xfrm>
            <a:off x="2051720" y="3626221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</p:cNvCxnSpPr>
          <p:nvPr/>
        </p:nvCxnSpPr>
        <p:spPr>
          <a:xfrm flipV="1">
            <a:off x="6660232" y="3626221"/>
            <a:ext cx="50405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2483768" y="2910509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30/50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484081" y="2376975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30/60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18632" y="33638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411760" y="3939933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40/40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427984" y="4415352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40/60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083478" y="3969645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40/50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109648" y="2918603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30/30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11760" y="3158169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88224" y="315816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462675" y="227687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622915" y="22768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30" name="Espaço Reservado para Conteúdo 2"/>
          <p:cNvSpPr txBox="1">
            <a:spLocks/>
          </p:cNvSpPr>
          <p:nvPr/>
        </p:nvSpPr>
        <p:spPr>
          <a:xfrm>
            <a:off x="457200" y="4725144"/>
            <a:ext cx="8229600" cy="1401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/>
              <a:t>O fluxo neste grafo tem intensidade 70.</a:t>
            </a:r>
          </a:p>
        </p:txBody>
      </p:sp>
      <p:sp>
        <p:nvSpPr>
          <p:cNvPr id="31" name="Espaço Reservado para Número de Slid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822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Algoritmo de Ford e </a:t>
            </a:r>
            <a:r>
              <a:rPr lang="pt-BR" dirty="0" err="1"/>
              <a:t>Fulkerson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Dado um dígrafo capacitado e um fluxo que respeita a capacidade dos arcos, dizemos que um aro </a:t>
            </a:r>
            <a:r>
              <a:rPr lang="pt-BR" dirty="0" err="1"/>
              <a:t>u,v</a:t>
            </a:r>
            <a:r>
              <a:rPr lang="pt-BR" dirty="0"/>
              <a:t> está cheio se o fluxo no arco é igual a sua capacidade.</a:t>
            </a:r>
          </a:p>
          <a:p>
            <a:r>
              <a:rPr lang="pt-BR" dirty="0"/>
              <a:t>Assim, em um caminho de s para t no grafo, se nenhum arco do caminho está cheio, então podemos chamá-lo de </a:t>
            </a:r>
            <a:r>
              <a:rPr lang="pt-BR" b="1" dirty="0"/>
              <a:t>Caminho de Aumento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0076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Ford e </a:t>
            </a:r>
            <a:r>
              <a:rPr lang="pt-BR" dirty="0" err="1"/>
              <a:t>Fulkerson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Redes Residuais:</a:t>
            </a:r>
          </a:p>
          <a:p>
            <a:pPr lvl="1"/>
            <a:r>
              <a:rPr lang="pt-BR" dirty="0"/>
              <a:t>Dado um dígrafo capacitado com vértice inicial e final, e um fluxo f que respeita sua capacidade c. </a:t>
            </a:r>
          </a:p>
          <a:p>
            <a:pPr lvl="1"/>
            <a:r>
              <a:rPr lang="pt-BR" dirty="0"/>
              <a:t>capacidade residual de (u, v) é a quantidade de fluxo adicional que podemos enviar de u para v sem ultrapassar a sua capacidade. Ou seja: 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Uma rede residual consiste em arestas que podem admitir mais fluxo.</a:t>
            </a:r>
          </a:p>
          <a:p>
            <a:pPr lvl="1"/>
            <a:r>
              <a:rPr lang="pt-BR" dirty="0"/>
              <a:t>A capacidade residual do caminho de aumento é a menor capacidade residual do seus arcos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780382" y="3975447"/>
            <a:ext cx="1367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c(a) – f(a)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9203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Algoritmo de Ford e </a:t>
            </a:r>
            <a:r>
              <a:rPr lang="pt-BR" dirty="0" err="1"/>
              <a:t>Fulkerson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Caminho de Aumento: </a:t>
            </a:r>
          </a:p>
          <a:p>
            <a:pPr lvl="1"/>
            <a:r>
              <a:rPr lang="pt-BR" dirty="0"/>
              <a:t>Seja G = (V, E) um grafo e f um fluxo em G. </a:t>
            </a:r>
          </a:p>
          <a:p>
            <a:pPr lvl="1"/>
            <a:r>
              <a:rPr lang="pt-BR" dirty="0"/>
              <a:t>Um caminho de aumento p é um caminho simples de s para t em G</a:t>
            </a:r>
          </a:p>
          <a:p>
            <a:pPr lvl="1"/>
            <a:r>
              <a:rPr lang="pt-BR" dirty="0"/>
              <a:t>A capacidade residual de p é a capacidade máxima pela qual podemos aumentar o fluxo em cada aresta de um caminho de aumento.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8882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Ford e </a:t>
            </a:r>
            <a:r>
              <a:rPr lang="pt-BR" dirty="0" err="1"/>
              <a:t>Fulkerson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Cada iteração do algoritmo começa com um fluxo f que respeita a capacidade. Na primeira iteração o fluxo é zero.</a:t>
            </a:r>
          </a:p>
          <a:p>
            <a:r>
              <a:rPr lang="pt-BR" sz="2400" dirty="0"/>
              <a:t>Entrada: Grafo G = (V,E), vértices s e t</a:t>
            </a:r>
          </a:p>
          <a:p>
            <a:r>
              <a:rPr lang="pt-BR" sz="2400" dirty="0"/>
              <a:t>Saída: Função de fluxo f</a:t>
            </a:r>
          </a:p>
          <a:p>
            <a:r>
              <a:rPr lang="pt-BR" sz="2400" dirty="0"/>
              <a:t>Algoritmo: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403648" y="4077072"/>
            <a:ext cx="67916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Iniciar fluxo f como 0 (para toda aresta f(</a:t>
            </a:r>
            <a:r>
              <a:rPr lang="pt-BR" sz="2000" dirty="0" err="1"/>
              <a:t>u,v</a:t>
            </a:r>
            <a:r>
              <a:rPr lang="pt-BR" sz="2000" dirty="0"/>
              <a:t> ) = 0)</a:t>
            </a:r>
          </a:p>
          <a:p>
            <a:r>
              <a:rPr lang="pt-BR" sz="2000" b="1" dirty="0" err="1"/>
              <a:t>while</a:t>
            </a:r>
            <a:r>
              <a:rPr lang="pt-BR" sz="2000" dirty="0"/>
              <a:t> Existir caminho de aumento p de s para t em G </a:t>
            </a:r>
            <a:r>
              <a:rPr lang="pt-BR" sz="2000" b="1" dirty="0"/>
              <a:t>do</a:t>
            </a:r>
          </a:p>
          <a:p>
            <a:r>
              <a:rPr lang="pt-BR" sz="2000" dirty="0"/>
              <a:t>Encontre um caminho de aumento p </a:t>
            </a:r>
          </a:p>
          <a:p>
            <a:r>
              <a:rPr lang="pt-BR" sz="2000" dirty="0"/>
              <a:t>Calcule a capacidade residual de p</a:t>
            </a:r>
          </a:p>
          <a:p>
            <a:r>
              <a:rPr lang="pt-BR" sz="2000" dirty="0"/>
              <a:t>Ampliar fluxo f ao longo de p</a:t>
            </a:r>
          </a:p>
          <a:p>
            <a:r>
              <a:rPr lang="pt-BR" sz="2000" b="1" dirty="0" err="1"/>
              <a:t>end</a:t>
            </a:r>
            <a:r>
              <a:rPr lang="pt-BR" sz="2000" dirty="0"/>
              <a:t> </a:t>
            </a:r>
            <a:r>
              <a:rPr lang="pt-BR" sz="2000" b="1" dirty="0" err="1"/>
              <a:t>while</a:t>
            </a:r>
            <a:endParaRPr lang="pt-BR" sz="2000" b="1" dirty="0"/>
          </a:p>
          <a:p>
            <a:r>
              <a:rPr lang="pt-BR" sz="2000" b="1" dirty="0" err="1"/>
              <a:t>return</a:t>
            </a:r>
            <a:r>
              <a:rPr lang="pt-BR" sz="2000" dirty="0"/>
              <a:t> f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115222" y="2636912"/>
            <a:ext cx="2160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Na primeira vez irá existir pois o fluxo iniciou em zero, portanto há como aumentar</a:t>
            </a:r>
          </a:p>
        </p:txBody>
      </p:sp>
      <p:cxnSp>
        <p:nvCxnSpPr>
          <p:cNvPr id="7" name="Conector de seta reta 6"/>
          <p:cNvCxnSpPr/>
          <p:nvPr/>
        </p:nvCxnSpPr>
        <p:spPr>
          <a:xfrm flipH="1">
            <a:off x="7308304" y="4077072"/>
            <a:ext cx="504056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6948264" y="4653136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Na primeira vez irá existir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H="1" flipV="1">
            <a:off x="5508104" y="4932458"/>
            <a:ext cx="1296144" cy="87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6948264" y="5254157"/>
            <a:ext cx="2160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a menor capacidade residual dos arcos de p (na primeira vez será o valor do arco de menor capacidade no caminho)</a:t>
            </a:r>
          </a:p>
        </p:txBody>
      </p:sp>
      <p:cxnSp>
        <p:nvCxnSpPr>
          <p:cNvPr id="11" name="Conector de seta reta 10"/>
          <p:cNvCxnSpPr/>
          <p:nvPr/>
        </p:nvCxnSpPr>
        <p:spPr>
          <a:xfrm flipH="1" flipV="1">
            <a:off x="5220072" y="5228739"/>
            <a:ext cx="1584176" cy="8102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3674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Ford e </a:t>
            </a:r>
            <a:r>
              <a:rPr lang="pt-BR" dirty="0" err="1"/>
              <a:t>Fulkerson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475656" y="1556792"/>
            <a:ext cx="67916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Iniciar fluxo f como 0 (para toda aresta f(</a:t>
            </a:r>
            <a:r>
              <a:rPr lang="pt-BR" sz="2000" dirty="0" err="1"/>
              <a:t>u,v</a:t>
            </a:r>
            <a:r>
              <a:rPr lang="pt-BR" sz="2000" dirty="0"/>
              <a:t> ) = 0)</a:t>
            </a:r>
          </a:p>
          <a:p>
            <a:r>
              <a:rPr lang="pt-BR" sz="2000" b="1" dirty="0" err="1"/>
              <a:t>while</a:t>
            </a:r>
            <a:r>
              <a:rPr lang="pt-BR" sz="2000" dirty="0"/>
              <a:t> Existir caminho de aumento p de s para t em G </a:t>
            </a:r>
            <a:r>
              <a:rPr lang="pt-BR" sz="2000" b="1" dirty="0"/>
              <a:t>do</a:t>
            </a:r>
          </a:p>
          <a:p>
            <a:r>
              <a:rPr lang="pt-BR" sz="2000" dirty="0"/>
              <a:t>Encontre um caminho de aumento p </a:t>
            </a:r>
          </a:p>
          <a:p>
            <a:r>
              <a:rPr lang="pt-BR" sz="2000" dirty="0"/>
              <a:t>Calcule a capacidade residual de p</a:t>
            </a:r>
          </a:p>
          <a:p>
            <a:r>
              <a:rPr lang="pt-BR" sz="2000" dirty="0"/>
              <a:t>Ampliar fluxo f ao longo de p</a:t>
            </a:r>
          </a:p>
          <a:p>
            <a:r>
              <a:rPr lang="pt-BR" sz="2000" b="1" dirty="0" err="1"/>
              <a:t>end</a:t>
            </a:r>
            <a:r>
              <a:rPr lang="pt-BR" sz="2000" dirty="0"/>
              <a:t> </a:t>
            </a:r>
            <a:r>
              <a:rPr lang="pt-BR" sz="2000" b="1" dirty="0" err="1"/>
              <a:t>while</a:t>
            </a:r>
            <a:endParaRPr lang="pt-BR" sz="2000" b="1" dirty="0"/>
          </a:p>
          <a:p>
            <a:r>
              <a:rPr lang="pt-BR" sz="2000" b="1" dirty="0" err="1"/>
              <a:t>return</a:t>
            </a:r>
            <a:r>
              <a:rPr lang="pt-BR" sz="2000" dirty="0"/>
              <a:t> f</a:t>
            </a:r>
          </a:p>
        </p:txBody>
      </p:sp>
      <p:pic>
        <p:nvPicPr>
          <p:cNvPr id="58" name="Imagem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000" y="4149080"/>
            <a:ext cx="3762000" cy="1789200"/>
          </a:xfrm>
          <a:prstGeom prst="rect">
            <a:avLst/>
          </a:prstGeom>
        </p:spPr>
      </p:pic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9118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Ford e </a:t>
            </a:r>
            <a:r>
              <a:rPr lang="pt-BR" dirty="0" err="1"/>
              <a:t>Fulkerson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475656" y="1556792"/>
            <a:ext cx="67916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Iniciar fluxo f como 0 (para toda aresta f(</a:t>
            </a:r>
            <a:r>
              <a:rPr lang="pt-BR" sz="2000" dirty="0" err="1"/>
              <a:t>u,v</a:t>
            </a:r>
            <a:r>
              <a:rPr lang="pt-BR" sz="2000" dirty="0"/>
              <a:t> ) = 0)</a:t>
            </a:r>
          </a:p>
          <a:p>
            <a:r>
              <a:rPr lang="pt-BR" sz="2000" b="1" dirty="0" err="1"/>
              <a:t>while</a:t>
            </a:r>
            <a:r>
              <a:rPr lang="pt-BR" sz="2000" dirty="0"/>
              <a:t> Existir caminho de aumento p de s para t em G </a:t>
            </a:r>
            <a:r>
              <a:rPr lang="pt-BR" sz="2000" b="1" dirty="0"/>
              <a:t>do</a:t>
            </a:r>
          </a:p>
          <a:p>
            <a:r>
              <a:rPr lang="pt-BR" sz="2000" dirty="0"/>
              <a:t>Encontre um caminho de aumento p </a:t>
            </a:r>
          </a:p>
          <a:p>
            <a:r>
              <a:rPr lang="pt-BR" sz="2000" dirty="0"/>
              <a:t>Calcule a capacidade residual de p</a:t>
            </a:r>
          </a:p>
          <a:p>
            <a:r>
              <a:rPr lang="pt-BR" sz="2000" dirty="0"/>
              <a:t>Ampliar fluxo f ao longo de p</a:t>
            </a:r>
          </a:p>
          <a:p>
            <a:r>
              <a:rPr lang="pt-BR" sz="2000" b="1" dirty="0" err="1"/>
              <a:t>end</a:t>
            </a:r>
            <a:r>
              <a:rPr lang="pt-BR" sz="2000" dirty="0"/>
              <a:t> </a:t>
            </a:r>
            <a:r>
              <a:rPr lang="pt-BR" sz="2000" b="1" dirty="0" err="1"/>
              <a:t>while</a:t>
            </a:r>
            <a:endParaRPr lang="pt-BR" sz="2000" b="1" dirty="0"/>
          </a:p>
          <a:p>
            <a:r>
              <a:rPr lang="pt-BR" sz="2000" b="1" dirty="0" err="1"/>
              <a:t>return</a:t>
            </a:r>
            <a:r>
              <a:rPr lang="pt-BR" sz="2000" dirty="0"/>
              <a:t> f</a:t>
            </a:r>
          </a:p>
        </p:txBody>
      </p:sp>
      <p:pic>
        <p:nvPicPr>
          <p:cNvPr id="58" name="Imagem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000" y="4149080"/>
            <a:ext cx="3762000" cy="17892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000" y="4149080"/>
            <a:ext cx="3762000" cy="1789200"/>
          </a:xfrm>
          <a:prstGeom prst="rect">
            <a:avLst/>
          </a:prstGeom>
        </p:spPr>
      </p:pic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0394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Ford e </a:t>
            </a:r>
            <a:r>
              <a:rPr lang="pt-BR" dirty="0" err="1"/>
              <a:t>Fulkerson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475656" y="1556792"/>
            <a:ext cx="67916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Iniciar fluxo f como 0 (para toda aresta f(</a:t>
            </a:r>
            <a:r>
              <a:rPr lang="pt-BR" sz="2000" dirty="0" err="1"/>
              <a:t>u,v</a:t>
            </a:r>
            <a:r>
              <a:rPr lang="pt-BR" sz="2000" dirty="0"/>
              <a:t> ) = 0)</a:t>
            </a:r>
          </a:p>
          <a:p>
            <a:r>
              <a:rPr lang="pt-BR" sz="2000" b="1" dirty="0" err="1"/>
              <a:t>while</a:t>
            </a:r>
            <a:r>
              <a:rPr lang="pt-BR" sz="2000" dirty="0"/>
              <a:t> Existir caminho de aumento p de s para t em G </a:t>
            </a:r>
            <a:r>
              <a:rPr lang="pt-BR" sz="2000" b="1" dirty="0"/>
              <a:t>do</a:t>
            </a:r>
          </a:p>
          <a:p>
            <a:r>
              <a:rPr lang="pt-BR" sz="2000" dirty="0"/>
              <a:t>Encontre um caminho de aumento p </a:t>
            </a:r>
          </a:p>
          <a:p>
            <a:r>
              <a:rPr lang="pt-BR" sz="2000" dirty="0"/>
              <a:t>Calcule a capacidade residual de p</a:t>
            </a:r>
          </a:p>
          <a:p>
            <a:r>
              <a:rPr lang="pt-BR" sz="2000" dirty="0"/>
              <a:t>Ampliar fluxo f ao longo de p</a:t>
            </a:r>
          </a:p>
          <a:p>
            <a:r>
              <a:rPr lang="pt-BR" sz="2000" b="1" dirty="0" err="1"/>
              <a:t>end</a:t>
            </a:r>
            <a:r>
              <a:rPr lang="pt-BR" sz="2000" dirty="0"/>
              <a:t> </a:t>
            </a:r>
            <a:r>
              <a:rPr lang="pt-BR" sz="2000" b="1" dirty="0" err="1"/>
              <a:t>while</a:t>
            </a:r>
            <a:endParaRPr lang="pt-BR" sz="2000" b="1" dirty="0"/>
          </a:p>
          <a:p>
            <a:r>
              <a:rPr lang="pt-BR" sz="2000" b="1" dirty="0" err="1"/>
              <a:t>return</a:t>
            </a:r>
            <a:r>
              <a:rPr lang="pt-BR" sz="2000" dirty="0"/>
              <a:t> f</a:t>
            </a:r>
          </a:p>
        </p:txBody>
      </p:sp>
      <p:pic>
        <p:nvPicPr>
          <p:cNvPr id="58" name="Imagem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000" y="4149080"/>
            <a:ext cx="3762000" cy="17892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000" y="4149080"/>
            <a:ext cx="3762000" cy="1789200"/>
          </a:xfrm>
          <a:prstGeom prst="rect">
            <a:avLst/>
          </a:prstGeom>
        </p:spPr>
      </p:pic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5944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Ford e </a:t>
            </a:r>
            <a:r>
              <a:rPr lang="pt-BR" dirty="0" err="1"/>
              <a:t>Fulkerson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475656" y="1556792"/>
            <a:ext cx="67916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Iniciar fluxo f como 0 (para toda aresta f(</a:t>
            </a:r>
            <a:r>
              <a:rPr lang="pt-BR" sz="2000" dirty="0" err="1"/>
              <a:t>u,v</a:t>
            </a:r>
            <a:r>
              <a:rPr lang="pt-BR" sz="2000" dirty="0"/>
              <a:t> ) = 0)</a:t>
            </a:r>
          </a:p>
          <a:p>
            <a:r>
              <a:rPr lang="pt-BR" sz="2000" b="1" dirty="0" err="1"/>
              <a:t>while</a:t>
            </a:r>
            <a:r>
              <a:rPr lang="pt-BR" sz="2000" dirty="0"/>
              <a:t> Existir caminho de aumento p de s para t em G </a:t>
            </a:r>
            <a:r>
              <a:rPr lang="pt-BR" sz="2000" b="1" dirty="0"/>
              <a:t>do</a:t>
            </a:r>
          </a:p>
          <a:p>
            <a:r>
              <a:rPr lang="pt-BR" sz="2000" dirty="0"/>
              <a:t>Encontre um caminho de aumento p </a:t>
            </a:r>
          </a:p>
          <a:p>
            <a:r>
              <a:rPr lang="pt-BR" sz="2000" dirty="0"/>
              <a:t>Calcule a capacidade residual de p</a:t>
            </a:r>
          </a:p>
          <a:p>
            <a:r>
              <a:rPr lang="pt-BR" sz="2000" dirty="0"/>
              <a:t>Ampliar fluxo f ao longo de p</a:t>
            </a:r>
          </a:p>
          <a:p>
            <a:r>
              <a:rPr lang="pt-BR" sz="2000" b="1" dirty="0" err="1"/>
              <a:t>end</a:t>
            </a:r>
            <a:r>
              <a:rPr lang="pt-BR" sz="2000" dirty="0"/>
              <a:t> </a:t>
            </a:r>
            <a:r>
              <a:rPr lang="pt-BR" sz="2000" b="1" dirty="0" err="1"/>
              <a:t>while</a:t>
            </a:r>
            <a:endParaRPr lang="pt-BR" sz="2000" b="1" dirty="0"/>
          </a:p>
          <a:p>
            <a:r>
              <a:rPr lang="pt-BR" sz="2000" b="1" dirty="0" err="1"/>
              <a:t>return</a:t>
            </a:r>
            <a:r>
              <a:rPr lang="pt-BR" sz="2000" dirty="0"/>
              <a:t> f</a:t>
            </a:r>
          </a:p>
        </p:txBody>
      </p:sp>
      <p:pic>
        <p:nvPicPr>
          <p:cNvPr id="58" name="Imagem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000" y="4149080"/>
            <a:ext cx="3762000" cy="17892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000" y="4149080"/>
            <a:ext cx="3762000" cy="17892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000" y="4149080"/>
            <a:ext cx="3762000" cy="1789200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968309" y="6099133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4+7=11/14</a:t>
            </a:r>
          </a:p>
        </p:txBody>
      </p:sp>
      <p:cxnSp>
        <p:nvCxnSpPr>
          <p:cNvPr id="8" name="Conector de seta reta 7"/>
          <p:cNvCxnSpPr/>
          <p:nvPr/>
        </p:nvCxnSpPr>
        <p:spPr>
          <a:xfrm>
            <a:off x="4427984" y="5805264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887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Menor Caminho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Problema</a:t>
                </a:r>
              </a:p>
              <a:p>
                <a:pPr lvl="1"/>
                <a:r>
                  <a:rPr lang="pt-BR" dirty="0"/>
                  <a:t>dado o grafo G=(V, E) orientado e com distâncias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dirty="0"/>
                  <a:t> associado ao arco (i, j).</a:t>
                </a:r>
              </a:p>
              <a:p>
                <a:pPr lvl="1"/>
                <a:r>
                  <a:rPr lang="pt-BR" dirty="0"/>
                  <a:t>Problema: Obter o caminho mais curto entre dois vértices s e t.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 r="-3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8966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Menor Caminho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Comprimento</a:t>
            </a:r>
          </a:p>
          <a:p>
            <a:pPr lvl="1"/>
            <a:r>
              <a:rPr lang="pt-BR" dirty="0"/>
              <a:t>O comprimento de um caminho é igual à soma dos comprimentos (distâncias) dos arcos que formam o caminho. </a:t>
            </a:r>
          </a:p>
          <a:p>
            <a:pPr lvl="1"/>
            <a:r>
              <a:rPr lang="pt-BR" dirty="0"/>
              <a:t>A distância ou comprimento de um arco pode ter diversas interpretações dependendo da aplicação: custos, distâncias, consumo de combustível, etc.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6754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Menor Caminho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  <a:p>
            <a:pPr lvl="1"/>
            <a:r>
              <a:rPr lang="pt-BR" dirty="0"/>
              <a:t>Dado um mapa rodoviário, determinar a rota mais curta de uma cidade a outra (rota mais rápida, rota com menor consumo de combustível, rota com menor valor de pedágio)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04" y="4077072"/>
            <a:ext cx="8763000" cy="2524125"/>
          </a:xfrm>
          <a:prstGeom prst="rect">
            <a:avLst/>
          </a:prstGeom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7481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Menor Caminho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  <a:p>
            <a:pPr lvl="1"/>
            <a:r>
              <a:rPr lang="pt-BR" dirty="0"/>
              <a:t>Dado um mapa rodoviário, determinar a rota mais curta de uma cidade a outra (rota mais rápida, rota com menor consumo de combustível, rota com menor valor de pedágio)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29" y="4077072"/>
            <a:ext cx="8791575" cy="2590800"/>
          </a:xfrm>
          <a:prstGeom prst="rect">
            <a:avLst/>
          </a:prstGeom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97774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Dijkstra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83968" y="154116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5180284" y="343507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3307613" y="343507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843808" y="241037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" name="Conector reto 7"/>
          <p:cNvCxnSpPr>
            <a:stCxn id="4" idx="3"/>
            <a:endCxn id="7" idx="7"/>
          </p:cNvCxnSpPr>
          <p:nvPr/>
        </p:nvCxnSpPr>
        <p:spPr>
          <a:xfrm flipH="1">
            <a:off x="3307613" y="1891412"/>
            <a:ext cx="1055931" cy="57905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5" idx="0"/>
          </p:cNvCxnSpPr>
          <p:nvPr/>
        </p:nvCxnSpPr>
        <p:spPr>
          <a:xfrm>
            <a:off x="4555659" y="1951505"/>
            <a:ext cx="896316" cy="148356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899276" y="226141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Conector de seta reta 11"/>
          <p:cNvCxnSpPr>
            <a:stCxn id="4" idx="5"/>
            <a:endCxn id="11" idx="1"/>
          </p:cNvCxnSpPr>
          <p:nvPr/>
        </p:nvCxnSpPr>
        <p:spPr>
          <a:xfrm>
            <a:off x="4747773" y="1891412"/>
            <a:ext cx="1231079" cy="4300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7"/>
            <a:endCxn id="11" idx="4"/>
          </p:cNvCxnSpPr>
          <p:nvPr/>
        </p:nvCxnSpPr>
        <p:spPr>
          <a:xfrm flipV="1">
            <a:off x="5644089" y="2671759"/>
            <a:ext cx="526878" cy="8234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2"/>
            <a:endCxn id="6" idx="7"/>
          </p:cNvCxnSpPr>
          <p:nvPr/>
        </p:nvCxnSpPr>
        <p:spPr>
          <a:xfrm flipH="1">
            <a:off x="3771418" y="2466587"/>
            <a:ext cx="2127858" cy="1028579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5" idx="2"/>
            <a:endCxn id="6" idx="6"/>
          </p:cNvCxnSpPr>
          <p:nvPr/>
        </p:nvCxnSpPr>
        <p:spPr>
          <a:xfrm flipH="1">
            <a:off x="3850994" y="3640245"/>
            <a:ext cx="132929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7" idx="4"/>
            <a:endCxn id="6" idx="0"/>
          </p:cNvCxnSpPr>
          <p:nvPr/>
        </p:nvCxnSpPr>
        <p:spPr>
          <a:xfrm>
            <a:off x="3115499" y="2820717"/>
            <a:ext cx="463805" cy="61435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5304961" y="177307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3469276" y="18914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060500" y="30603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283968" y="3103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25663" y="23843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5882038" y="30533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443044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pic>
        <p:nvPicPr>
          <p:cNvPr id="62" name="Imagem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4346855"/>
            <a:ext cx="5303782" cy="1890457"/>
          </a:xfrm>
          <a:prstGeom prst="rect">
            <a:avLst/>
          </a:prstGeom>
        </p:spPr>
      </p:pic>
      <p:sp>
        <p:nvSpPr>
          <p:cNvPr id="63" name="CaixaDeTexto 62"/>
          <p:cNvSpPr txBox="1"/>
          <p:nvPr/>
        </p:nvSpPr>
        <p:spPr>
          <a:xfrm>
            <a:off x="2088839" y="1403741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a)</a:t>
            </a:r>
          </a:p>
        </p:txBody>
      </p:sp>
      <p:cxnSp>
        <p:nvCxnSpPr>
          <p:cNvPr id="65" name="Conector de seta reta 64"/>
          <p:cNvCxnSpPr/>
          <p:nvPr/>
        </p:nvCxnSpPr>
        <p:spPr>
          <a:xfrm>
            <a:off x="1331640" y="5085184"/>
            <a:ext cx="6480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6936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Dijkstra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83968" y="1541161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5180284" y="3435073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3307613" y="343507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843808" y="2410373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" name="Conector reto 7"/>
          <p:cNvCxnSpPr>
            <a:stCxn id="4" idx="3"/>
            <a:endCxn id="7" idx="7"/>
          </p:cNvCxnSpPr>
          <p:nvPr/>
        </p:nvCxnSpPr>
        <p:spPr>
          <a:xfrm flipH="1">
            <a:off x="3307613" y="1891412"/>
            <a:ext cx="1055931" cy="579054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5" idx="0"/>
          </p:cNvCxnSpPr>
          <p:nvPr/>
        </p:nvCxnSpPr>
        <p:spPr>
          <a:xfrm>
            <a:off x="4555659" y="1951505"/>
            <a:ext cx="896316" cy="1483568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899276" y="226141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Conector de seta reta 11"/>
          <p:cNvCxnSpPr>
            <a:stCxn id="4" idx="5"/>
            <a:endCxn id="11" idx="1"/>
          </p:cNvCxnSpPr>
          <p:nvPr/>
        </p:nvCxnSpPr>
        <p:spPr>
          <a:xfrm>
            <a:off x="4747773" y="1891412"/>
            <a:ext cx="1231079" cy="430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7"/>
            <a:endCxn id="11" idx="4"/>
          </p:cNvCxnSpPr>
          <p:nvPr/>
        </p:nvCxnSpPr>
        <p:spPr>
          <a:xfrm flipV="1">
            <a:off x="5644089" y="2671759"/>
            <a:ext cx="526878" cy="8234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2"/>
            <a:endCxn id="6" idx="7"/>
          </p:cNvCxnSpPr>
          <p:nvPr/>
        </p:nvCxnSpPr>
        <p:spPr>
          <a:xfrm flipH="1">
            <a:off x="3771418" y="2466587"/>
            <a:ext cx="2127858" cy="1028579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5" idx="2"/>
            <a:endCxn id="6" idx="6"/>
          </p:cNvCxnSpPr>
          <p:nvPr/>
        </p:nvCxnSpPr>
        <p:spPr>
          <a:xfrm flipH="1">
            <a:off x="3850994" y="3640245"/>
            <a:ext cx="132929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7" idx="4"/>
            <a:endCxn id="6" idx="0"/>
          </p:cNvCxnSpPr>
          <p:nvPr/>
        </p:nvCxnSpPr>
        <p:spPr>
          <a:xfrm>
            <a:off x="3115499" y="2820717"/>
            <a:ext cx="463805" cy="61435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5304961" y="177307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3469276" y="18914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060500" y="30603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283968" y="3103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25663" y="23843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5882038" y="30533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443044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pic>
        <p:nvPicPr>
          <p:cNvPr id="62" name="Imagem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4346855"/>
            <a:ext cx="5303782" cy="1890457"/>
          </a:xfrm>
          <a:prstGeom prst="rect">
            <a:avLst/>
          </a:prstGeom>
        </p:spPr>
      </p:pic>
      <p:sp>
        <p:nvSpPr>
          <p:cNvPr id="23" name="CaixaDeTexto 22"/>
          <p:cNvSpPr txBox="1"/>
          <p:nvPr/>
        </p:nvSpPr>
        <p:spPr>
          <a:xfrm>
            <a:off x="2088839" y="140374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b)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1331640" y="5517232"/>
            <a:ext cx="6480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179511" y="1844824"/>
            <a:ext cx="194421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Para saber qual o próximo vértice a ser explorado, verifique qual o vértice de menor caminho até o momento (não finalizado).</a:t>
            </a:r>
          </a:p>
          <a:p>
            <a:endParaRPr lang="pt-BR" sz="1600" dirty="0"/>
          </a:p>
          <a:p>
            <a:r>
              <a:rPr lang="pt-BR" sz="1600" dirty="0"/>
              <a:t>O algoritmo usa uma estratégia gulosa:</a:t>
            </a:r>
          </a:p>
          <a:p>
            <a:r>
              <a:rPr lang="pt-BR" sz="1600" dirty="0"/>
              <a:t>sempre escolher o vértice mais leve (ou o mais perto)</a:t>
            </a:r>
          </a:p>
        </p:txBody>
      </p:sp>
      <p:cxnSp>
        <p:nvCxnSpPr>
          <p:cNvPr id="15" name="Conector de seta reta 14"/>
          <p:cNvCxnSpPr/>
          <p:nvPr/>
        </p:nvCxnSpPr>
        <p:spPr>
          <a:xfrm>
            <a:off x="2277352" y="2568970"/>
            <a:ext cx="42244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4860032" y="5373216"/>
            <a:ext cx="46961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1908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Dijkstra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83968" y="1541161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5180284" y="3435073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3307613" y="3435073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843808" y="2410373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" name="Conector reto 7"/>
          <p:cNvCxnSpPr>
            <a:stCxn id="4" idx="3"/>
            <a:endCxn id="7" idx="7"/>
          </p:cNvCxnSpPr>
          <p:nvPr/>
        </p:nvCxnSpPr>
        <p:spPr>
          <a:xfrm flipH="1">
            <a:off x="3307613" y="1891412"/>
            <a:ext cx="1055931" cy="579054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5" idx="0"/>
          </p:cNvCxnSpPr>
          <p:nvPr/>
        </p:nvCxnSpPr>
        <p:spPr>
          <a:xfrm>
            <a:off x="4555659" y="1951505"/>
            <a:ext cx="896316" cy="1483568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899276" y="226141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Conector de seta reta 11"/>
          <p:cNvCxnSpPr>
            <a:stCxn id="4" idx="5"/>
            <a:endCxn id="11" idx="1"/>
          </p:cNvCxnSpPr>
          <p:nvPr/>
        </p:nvCxnSpPr>
        <p:spPr>
          <a:xfrm>
            <a:off x="4747773" y="1891412"/>
            <a:ext cx="1231079" cy="430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7"/>
            <a:endCxn id="11" idx="4"/>
          </p:cNvCxnSpPr>
          <p:nvPr/>
        </p:nvCxnSpPr>
        <p:spPr>
          <a:xfrm flipV="1">
            <a:off x="5644089" y="2671759"/>
            <a:ext cx="526878" cy="8234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2"/>
            <a:endCxn id="6" idx="7"/>
          </p:cNvCxnSpPr>
          <p:nvPr/>
        </p:nvCxnSpPr>
        <p:spPr>
          <a:xfrm flipH="1">
            <a:off x="3771418" y="2466587"/>
            <a:ext cx="2127858" cy="1028579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5" idx="2"/>
            <a:endCxn id="6" idx="6"/>
          </p:cNvCxnSpPr>
          <p:nvPr/>
        </p:nvCxnSpPr>
        <p:spPr>
          <a:xfrm flipH="1">
            <a:off x="3850994" y="3640245"/>
            <a:ext cx="132929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7" idx="4"/>
            <a:endCxn id="6" idx="0"/>
          </p:cNvCxnSpPr>
          <p:nvPr/>
        </p:nvCxnSpPr>
        <p:spPr>
          <a:xfrm>
            <a:off x="3115499" y="2820717"/>
            <a:ext cx="463805" cy="61435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5304961" y="177307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3469276" y="18914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060500" y="30603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283968" y="3103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25663" y="23843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5882038" y="30533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443044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pic>
        <p:nvPicPr>
          <p:cNvPr id="62" name="Imagem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4346855"/>
            <a:ext cx="5303782" cy="1890457"/>
          </a:xfrm>
          <a:prstGeom prst="rect">
            <a:avLst/>
          </a:prstGeom>
        </p:spPr>
      </p:pic>
      <p:sp>
        <p:nvSpPr>
          <p:cNvPr id="23" name="CaixaDeTexto 22"/>
          <p:cNvSpPr txBox="1"/>
          <p:nvPr/>
        </p:nvSpPr>
        <p:spPr>
          <a:xfrm>
            <a:off x="2088839" y="1403741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c)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1331640" y="5949280"/>
            <a:ext cx="6480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 flipH="1">
            <a:off x="5907528" y="3661430"/>
            <a:ext cx="47038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ângulo 27"/>
          <p:cNvSpPr/>
          <p:nvPr/>
        </p:nvSpPr>
        <p:spPr>
          <a:xfrm>
            <a:off x="6118610" y="5805264"/>
            <a:ext cx="46961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1349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Dijkstra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83968" y="1541161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5180284" y="3435073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3307613" y="3435073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843808" y="2410373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" name="Conector reto 7"/>
          <p:cNvCxnSpPr>
            <a:stCxn id="4" idx="3"/>
            <a:endCxn id="7" idx="7"/>
          </p:cNvCxnSpPr>
          <p:nvPr/>
        </p:nvCxnSpPr>
        <p:spPr>
          <a:xfrm flipH="1">
            <a:off x="3307613" y="1891412"/>
            <a:ext cx="1055931" cy="579054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5" idx="0"/>
          </p:cNvCxnSpPr>
          <p:nvPr/>
        </p:nvCxnSpPr>
        <p:spPr>
          <a:xfrm>
            <a:off x="4555659" y="1951505"/>
            <a:ext cx="896316" cy="1483568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899276" y="226141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Conector de seta reta 11"/>
          <p:cNvCxnSpPr>
            <a:stCxn id="4" idx="5"/>
            <a:endCxn id="11" idx="1"/>
          </p:cNvCxnSpPr>
          <p:nvPr/>
        </p:nvCxnSpPr>
        <p:spPr>
          <a:xfrm>
            <a:off x="4747773" y="1891412"/>
            <a:ext cx="1231079" cy="4300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7"/>
            <a:endCxn id="11" idx="4"/>
          </p:cNvCxnSpPr>
          <p:nvPr/>
        </p:nvCxnSpPr>
        <p:spPr>
          <a:xfrm flipV="1">
            <a:off x="5644089" y="2671759"/>
            <a:ext cx="526878" cy="823407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2"/>
            <a:endCxn id="6" idx="7"/>
          </p:cNvCxnSpPr>
          <p:nvPr/>
        </p:nvCxnSpPr>
        <p:spPr>
          <a:xfrm flipH="1">
            <a:off x="3771418" y="2466587"/>
            <a:ext cx="2127858" cy="1028579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5" idx="2"/>
            <a:endCxn id="6" idx="6"/>
          </p:cNvCxnSpPr>
          <p:nvPr/>
        </p:nvCxnSpPr>
        <p:spPr>
          <a:xfrm flipH="1">
            <a:off x="3850994" y="3640245"/>
            <a:ext cx="1329290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7" idx="4"/>
            <a:endCxn id="6" idx="0"/>
          </p:cNvCxnSpPr>
          <p:nvPr/>
        </p:nvCxnSpPr>
        <p:spPr>
          <a:xfrm>
            <a:off x="3115499" y="2820717"/>
            <a:ext cx="463805" cy="61435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5304961" y="177307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3469276" y="18914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060500" y="30603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283968" y="3103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25663" y="23843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5882038" y="30533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443044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63" name="CaixaDeTexto 62"/>
          <p:cNvSpPr txBox="1"/>
          <p:nvPr/>
        </p:nvSpPr>
        <p:spPr>
          <a:xfrm>
            <a:off x="2088839" y="140374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d)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974" y="4192970"/>
            <a:ext cx="5833064" cy="1823641"/>
          </a:xfrm>
          <a:prstGeom prst="rect">
            <a:avLst/>
          </a:prstGeom>
        </p:spPr>
      </p:pic>
      <p:cxnSp>
        <p:nvCxnSpPr>
          <p:cNvPr id="25" name="Conector de seta reta 24"/>
          <p:cNvCxnSpPr/>
          <p:nvPr/>
        </p:nvCxnSpPr>
        <p:spPr>
          <a:xfrm>
            <a:off x="1043608" y="4941168"/>
            <a:ext cx="6480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/>
          <p:nvPr/>
        </p:nvCxnSpPr>
        <p:spPr>
          <a:xfrm>
            <a:off x="2771800" y="3647084"/>
            <a:ext cx="42244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ângulo 27"/>
          <p:cNvSpPr/>
          <p:nvPr/>
        </p:nvSpPr>
        <p:spPr>
          <a:xfrm>
            <a:off x="5725764" y="4797152"/>
            <a:ext cx="46961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2026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Dijkstra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83968" y="1541161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5180284" y="3435073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3307613" y="3435073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843808" y="2410373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" name="Conector reto 7"/>
          <p:cNvCxnSpPr>
            <a:stCxn id="4" idx="3"/>
            <a:endCxn id="7" idx="7"/>
          </p:cNvCxnSpPr>
          <p:nvPr/>
        </p:nvCxnSpPr>
        <p:spPr>
          <a:xfrm flipH="1">
            <a:off x="3307613" y="1891412"/>
            <a:ext cx="1055931" cy="579054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5" idx="0"/>
          </p:cNvCxnSpPr>
          <p:nvPr/>
        </p:nvCxnSpPr>
        <p:spPr>
          <a:xfrm>
            <a:off x="4555659" y="1951505"/>
            <a:ext cx="896316" cy="1483568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899276" y="226141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Conector de seta reta 11"/>
          <p:cNvCxnSpPr>
            <a:stCxn id="4" idx="5"/>
            <a:endCxn id="11" idx="1"/>
          </p:cNvCxnSpPr>
          <p:nvPr/>
        </p:nvCxnSpPr>
        <p:spPr>
          <a:xfrm>
            <a:off x="4747773" y="1891412"/>
            <a:ext cx="1231079" cy="4300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7"/>
            <a:endCxn id="11" idx="4"/>
          </p:cNvCxnSpPr>
          <p:nvPr/>
        </p:nvCxnSpPr>
        <p:spPr>
          <a:xfrm flipV="1">
            <a:off x="5644089" y="2671759"/>
            <a:ext cx="526878" cy="8234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2"/>
            <a:endCxn id="6" idx="7"/>
          </p:cNvCxnSpPr>
          <p:nvPr/>
        </p:nvCxnSpPr>
        <p:spPr>
          <a:xfrm flipH="1">
            <a:off x="3771418" y="2466587"/>
            <a:ext cx="2127858" cy="1028579"/>
          </a:xfrm>
          <a:prstGeom prst="straightConnector1">
            <a:avLst/>
          </a:prstGeom>
          <a:ln w="571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5" idx="2"/>
            <a:endCxn id="6" idx="6"/>
          </p:cNvCxnSpPr>
          <p:nvPr/>
        </p:nvCxnSpPr>
        <p:spPr>
          <a:xfrm flipH="1">
            <a:off x="3850994" y="3640245"/>
            <a:ext cx="1329290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7" idx="4"/>
            <a:endCxn id="6" idx="0"/>
          </p:cNvCxnSpPr>
          <p:nvPr/>
        </p:nvCxnSpPr>
        <p:spPr>
          <a:xfrm>
            <a:off x="3115499" y="2820717"/>
            <a:ext cx="463805" cy="61435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5304961" y="177307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3469276" y="18914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060500" y="30603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283968" y="3103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25663" y="23843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5882038" y="30533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443044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63" name="CaixaDeTexto 62"/>
          <p:cNvSpPr txBox="1"/>
          <p:nvPr/>
        </p:nvSpPr>
        <p:spPr>
          <a:xfrm>
            <a:off x="2088839" y="1403741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e)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974" y="4192970"/>
            <a:ext cx="5833064" cy="1823641"/>
          </a:xfrm>
          <a:prstGeom prst="rect">
            <a:avLst/>
          </a:prstGeom>
        </p:spPr>
      </p:pic>
      <p:cxnSp>
        <p:nvCxnSpPr>
          <p:cNvPr id="25" name="Conector de seta reta 24"/>
          <p:cNvCxnSpPr/>
          <p:nvPr/>
        </p:nvCxnSpPr>
        <p:spPr>
          <a:xfrm>
            <a:off x="1043608" y="5301208"/>
            <a:ext cx="6480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/>
          <p:nvPr/>
        </p:nvCxnSpPr>
        <p:spPr>
          <a:xfrm flipH="1">
            <a:off x="6516216" y="2466587"/>
            <a:ext cx="47038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/>
          <p:cNvSpPr/>
          <p:nvPr/>
        </p:nvSpPr>
        <p:spPr>
          <a:xfrm>
            <a:off x="6986600" y="5229200"/>
            <a:ext cx="46961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19180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Dijkstra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83968" y="1541161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Elipse 4"/>
          <p:cNvSpPr/>
          <p:nvPr/>
        </p:nvSpPr>
        <p:spPr>
          <a:xfrm>
            <a:off x="5180284" y="3435073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3307613" y="3435073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843808" y="2410373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" name="Conector reto 7"/>
          <p:cNvCxnSpPr>
            <a:stCxn id="4" idx="3"/>
            <a:endCxn id="7" idx="7"/>
          </p:cNvCxnSpPr>
          <p:nvPr/>
        </p:nvCxnSpPr>
        <p:spPr>
          <a:xfrm flipH="1">
            <a:off x="3307613" y="1891412"/>
            <a:ext cx="1055931" cy="579054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5" idx="0"/>
          </p:cNvCxnSpPr>
          <p:nvPr/>
        </p:nvCxnSpPr>
        <p:spPr>
          <a:xfrm>
            <a:off x="4555659" y="1951505"/>
            <a:ext cx="896316" cy="1483568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899276" y="2261415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Conector de seta reta 11"/>
          <p:cNvCxnSpPr>
            <a:stCxn id="4" idx="5"/>
            <a:endCxn id="11" idx="1"/>
          </p:cNvCxnSpPr>
          <p:nvPr/>
        </p:nvCxnSpPr>
        <p:spPr>
          <a:xfrm>
            <a:off x="4747773" y="1891412"/>
            <a:ext cx="1231079" cy="4300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7"/>
            <a:endCxn id="11" idx="4"/>
          </p:cNvCxnSpPr>
          <p:nvPr/>
        </p:nvCxnSpPr>
        <p:spPr>
          <a:xfrm flipV="1">
            <a:off x="5644089" y="2671759"/>
            <a:ext cx="526878" cy="8234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2"/>
            <a:endCxn id="6" idx="7"/>
          </p:cNvCxnSpPr>
          <p:nvPr/>
        </p:nvCxnSpPr>
        <p:spPr>
          <a:xfrm flipH="1">
            <a:off x="3771418" y="2466587"/>
            <a:ext cx="2127858" cy="1028579"/>
          </a:xfrm>
          <a:prstGeom prst="straightConnector1">
            <a:avLst/>
          </a:prstGeom>
          <a:ln w="571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5" idx="2"/>
            <a:endCxn id="6" idx="6"/>
          </p:cNvCxnSpPr>
          <p:nvPr/>
        </p:nvCxnSpPr>
        <p:spPr>
          <a:xfrm flipH="1">
            <a:off x="3850994" y="3640245"/>
            <a:ext cx="1329290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7" idx="4"/>
            <a:endCxn id="6" idx="0"/>
          </p:cNvCxnSpPr>
          <p:nvPr/>
        </p:nvCxnSpPr>
        <p:spPr>
          <a:xfrm>
            <a:off x="3115499" y="2820717"/>
            <a:ext cx="463805" cy="61435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5304961" y="177307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3469276" y="18914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3060500" y="30603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283968" y="31038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525663" y="23843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5882038" y="30533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443044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63" name="CaixaDeTexto 62"/>
          <p:cNvSpPr txBox="1"/>
          <p:nvPr/>
        </p:nvSpPr>
        <p:spPr>
          <a:xfrm>
            <a:off x="2088839" y="1403741"/>
            <a:ext cx="329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f)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974" y="4192970"/>
            <a:ext cx="5833064" cy="1823641"/>
          </a:xfrm>
          <a:prstGeom prst="rect">
            <a:avLst/>
          </a:prstGeom>
        </p:spPr>
      </p:pic>
      <p:cxnSp>
        <p:nvCxnSpPr>
          <p:cNvPr id="25" name="Conector de seta reta 24"/>
          <p:cNvCxnSpPr/>
          <p:nvPr/>
        </p:nvCxnSpPr>
        <p:spPr>
          <a:xfrm>
            <a:off x="1043608" y="5733256"/>
            <a:ext cx="6480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76900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1484784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BOAVENTURA NETTO, Paulo Oswaldo; JURKIEWICZ, Samuel. </a:t>
            </a:r>
          </a:p>
          <a:p>
            <a:r>
              <a:rPr lang="pt-BR" dirty="0"/>
              <a:t>Grafos: introdução e prática.  Editora </a:t>
            </a:r>
            <a:r>
              <a:rPr lang="pt-BR" dirty="0" err="1"/>
              <a:t>Blucher</a:t>
            </a:r>
            <a:r>
              <a:rPr lang="pt-BR" dirty="0"/>
              <a:t>. 2009. ISBN: 9788521204732.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2276872"/>
            <a:ext cx="7488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 </a:t>
            </a:r>
            <a:r>
              <a:rPr lang="en-US" dirty="0"/>
              <a:t>Introduction to Algorithms, 3rd edition.</a:t>
            </a:r>
          </a:p>
          <a:p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</a:t>
            </a:r>
          </a:p>
          <a:p>
            <a:r>
              <a:rPr lang="pt-BR" dirty="0"/>
              <a:t>2009, 1312 pp. 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83568" y="3356992"/>
            <a:ext cx="705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47</a:t>
            </a:fld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283968" y="1541161"/>
            <a:ext cx="543381" cy="410344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5180284" y="343507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Elipse 6"/>
          <p:cNvSpPr/>
          <p:nvPr/>
        </p:nvSpPr>
        <p:spPr>
          <a:xfrm>
            <a:off x="3307613" y="343507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43808" y="241037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2"/>
            <a:endCxn id="8" idx="7"/>
          </p:cNvCxnSpPr>
          <p:nvPr/>
        </p:nvCxnSpPr>
        <p:spPr>
          <a:xfrm flipH="1">
            <a:off x="3307613" y="1746333"/>
            <a:ext cx="976355" cy="72413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5"/>
            <a:endCxn id="6" idx="0"/>
          </p:cNvCxnSpPr>
          <p:nvPr/>
        </p:nvCxnSpPr>
        <p:spPr>
          <a:xfrm>
            <a:off x="4747773" y="1891412"/>
            <a:ext cx="704202" cy="154366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899276" y="226141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Conector de seta reta 11"/>
          <p:cNvCxnSpPr>
            <a:stCxn id="5" idx="6"/>
            <a:endCxn id="11" idx="1"/>
          </p:cNvCxnSpPr>
          <p:nvPr/>
        </p:nvCxnSpPr>
        <p:spPr>
          <a:xfrm>
            <a:off x="4827349" y="1746333"/>
            <a:ext cx="1151503" cy="575175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7"/>
            <a:endCxn id="11" idx="4"/>
          </p:cNvCxnSpPr>
          <p:nvPr/>
        </p:nvCxnSpPr>
        <p:spPr>
          <a:xfrm flipV="1">
            <a:off x="5644089" y="2671759"/>
            <a:ext cx="526878" cy="8234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2"/>
            <a:endCxn id="7" idx="7"/>
          </p:cNvCxnSpPr>
          <p:nvPr/>
        </p:nvCxnSpPr>
        <p:spPr>
          <a:xfrm flipH="1">
            <a:off x="3771418" y="2466587"/>
            <a:ext cx="2127858" cy="1028579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6" idx="2"/>
            <a:endCxn id="7" idx="6"/>
          </p:cNvCxnSpPr>
          <p:nvPr/>
        </p:nvCxnSpPr>
        <p:spPr>
          <a:xfrm flipH="1">
            <a:off x="3850994" y="3640245"/>
            <a:ext cx="132929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8" idx="4"/>
            <a:endCxn id="7" idx="1"/>
          </p:cNvCxnSpPr>
          <p:nvPr/>
        </p:nvCxnSpPr>
        <p:spPr>
          <a:xfrm>
            <a:off x="3115499" y="2820717"/>
            <a:ext cx="271690" cy="67444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534518" y="18400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3504670" y="18308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2990930" y="29863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382411" y="32889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3683647" y="24502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899276" y="29621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24" name="Conector de seta reta 13"/>
          <p:cNvCxnSpPr>
            <a:stCxn id="5" idx="3"/>
            <a:endCxn id="7" idx="0"/>
          </p:cNvCxnSpPr>
          <p:nvPr/>
        </p:nvCxnSpPr>
        <p:spPr>
          <a:xfrm flipH="1">
            <a:off x="3579304" y="1891412"/>
            <a:ext cx="784240" cy="15436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6" idx="3"/>
            <a:endCxn id="7" idx="5"/>
          </p:cNvCxnSpPr>
          <p:nvPr/>
        </p:nvCxnSpPr>
        <p:spPr>
          <a:xfrm flipH="1">
            <a:off x="3771418" y="3785324"/>
            <a:ext cx="1488442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4943253" y="21764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382411" y="37428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4565092" y="26930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639687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5244</TotalTime>
  <Words>2263</Words>
  <Application>Microsoft Office PowerPoint</Application>
  <PresentationFormat>Apresentação na tela (4:3)</PresentationFormat>
  <Paragraphs>534</Paragraphs>
  <Slides>47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1" baseType="lpstr">
      <vt:lpstr>Arial</vt:lpstr>
      <vt:lpstr>Calibri</vt:lpstr>
      <vt:lpstr>Cambria Math</vt:lpstr>
      <vt:lpstr>Tema do Office</vt:lpstr>
      <vt:lpstr>Unidade IV  Fluxo em grafos</vt:lpstr>
      <vt:lpstr>O que são redes?</vt:lpstr>
      <vt:lpstr>Rede Social</vt:lpstr>
      <vt:lpstr>Fluxo em grafos</vt:lpstr>
      <vt:lpstr>Fluxo em grafos</vt:lpstr>
      <vt:lpstr>Fluxo em grafos</vt:lpstr>
      <vt:lpstr>Fluxo em grafos</vt:lpstr>
      <vt:lpstr>Fluxo em grafos</vt:lpstr>
      <vt:lpstr>Fluxo em grafos</vt:lpstr>
      <vt:lpstr>Fluxo em grafos</vt:lpstr>
      <vt:lpstr>Fluxo em grafos</vt:lpstr>
      <vt:lpstr>O problema do fluxo máximo</vt:lpstr>
      <vt:lpstr>O problema do fluxo máximo</vt:lpstr>
      <vt:lpstr>O problema do fluxo máximo</vt:lpstr>
      <vt:lpstr>O problema do fluxo máximo</vt:lpstr>
      <vt:lpstr>O problema do fluxo máximo</vt:lpstr>
      <vt:lpstr>O problema do fluxo máximo</vt:lpstr>
      <vt:lpstr>O problema do fluxo máximo</vt:lpstr>
      <vt:lpstr>O problema do fluxo máximo</vt:lpstr>
      <vt:lpstr>O problema do fluxo máximo</vt:lpstr>
      <vt:lpstr>O problema do fluxo máximo</vt:lpstr>
      <vt:lpstr>Teorema de Ford e Fulkerson</vt:lpstr>
      <vt:lpstr>Teorema de Ford e Fulkerson</vt:lpstr>
      <vt:lpstr>Teorema de Ford e Fulkerson</vt:lpstr>
      <vt:lpstr>O problema do fluxo máximo</vt:lpstr>
      <vt:lpstr>O problema do fluxo máximo</vt:lpstr>
      <vt:lpstr>O problema do fluxo máximo</vt:lpstr>
      <vt:lpstr>Algoritmo de Ford e Fulkerson</vt:lpstr>
      <vt:lpstr>Algoritmo de Ford e Fulkerson</vt:lpstr>
      <vt:lpstr>Algoritmo de Ford e Fulkerson</vt:lpstr>
      <vt:lpstr>Algoritmo de Ford e Fulkerson</vt:lpstr>
      <vt:lpstr>Algoritmo de Ford e Fulkerson</vt:lpstr>
      <vt:lpstr>Algoritmo de Ford e Fulkerson</vt:lpstr>
      <vt:lpstr>Algoritmo de Ford e Fulkerson</vt:lpstr>
      <vt:lpstr>Algoritmo de Ford e Fulkerson</vt:lpstr>
      <vt:lpstr>Algoritmo Menor Caminho</vt:lpstr>
      <vt:lpstr>Algoritmo Menor Caminho</vt:lpstr>
      <vt:lpstr>Algoritmo Menor Caminho</vt:lpstr>
      <vt:lpstr>Algoritmo Menor Caminho</vt:lpstr>
      <vt:lpstr>Dijkstra</vt:lpstr>
      <vt:lpstr>Dijkstra</vt:lpstr>
      <vt:lpstr>Dijkstra</vt:lpstr>
      <vt:lpstr>Dijkstra</vt:lpstr>
      <vt:lpstr>Dijkstra</vt:lpstr>
      <vt:lpstr>Dijkstra</vt:lpstr>
      <vt:lpstr>Bibliografia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335</cp:revision>
  <dcterms:created xsi:type="dcterms:W3CDTF">2011-08-03T02:09:11Z</dcterms:created>
  <dcterms:modified xsi:type="dcterms:W3CDTF">2016-10-14T21:59:20Z</dcterms:modified>
</cp:coreProperties>
</file>