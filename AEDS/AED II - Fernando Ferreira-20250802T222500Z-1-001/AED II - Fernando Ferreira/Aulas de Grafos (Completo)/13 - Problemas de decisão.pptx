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84" r:id="rId3"/>
    <p:sldId id="286" r:id="rId4"/>
    <p:sldId id="287" r:id="rId5"/>
    <p:sldId id="289" r:id="rId6"/>
    <p:sldId id="290" r:id="rId7"/>
    <p:sldId id="291" r:id="rId8"/>
    <p:sldId id="294" r:id="rId9"/>
    <p:sldId id="293" r:id="rId10"/>
    <p:sldId id="295" r:id="rId11"/>
    <p:sldId id="296" r:id="rId12"/>
    <p:sldId id="299" r:id="rId13"/>
    <p:sldId id="342" r:id="rId14"/>
    <p:sldId id="343" r:id="rId15"/>
    <p:sldId id="344" r:id="rId16"/>
    <p:sldId id="345" r:id="rId17"/>
    <p:sldId id="298" r:id="rId18"/>
    <p:sldId id="297" r:id="rId19"/>
    <p:sldId id="301" r:id="rId20"/>
    <p:sldId id="303" r:id="rId21"/>
    <p:sldId id="304" r:id="rId22"/>
    <p:sldId id="305" r:id="rId23"/>
    <p:sldId id="302" r:id="rId24"/>
    <p:sldId id="307" r:id="rId25"/>
    <p:sldId id="278" r:id="rId26"/>
    <p:sldId id="273" r:id="rId27"/>
    <p:sldId id="274" r:id="rId28"/>
    <p:sldId id="308" r:id="rId29"/>
    <p:sldId id="314" r:id="rId30"/>
    <p:sldId id="315" r:id="rId31"/>
    <p:sldId id="318" r:id="rId32"/>
    <p:sldId id="316" r:id="rId33"/>
    <p:sldId id="319" r:id="rId34"/>
    <p:sldId id="306" r:id="rId35"/>
    <p:sldId id="346" r:id="rId36"/>
    <p:sldId id="347" r:id="rId37"/>
    <p:sldId id="256" r:id="rId38"/>
    <p:sldId id="263" r:id="rId39"/>
    <p:sldId id="262" r:id="rId40"/>
    <p:sldId id="264" r:id="rId41"/>
    <p:sldId id="265" r:id="rId42"/>
    <p:sldId id="266" r:id="rId43"/>
    <p:sldId id="260" r:id="rId44"/>
    <p:sldId id="261" r:id="rId45"/>
    <p:sldId id="267" r:id="rId46"/>
    <p:sldId id="268" r:id="rId47"/>
    <p:sldId id="270" r:id="rId48"/>
    <p:sldId id="271" r:id="rId49"/>
    <p:sldId id="272" r:id="rId50"/>
    <p:sldId id="276" r:id="rId51"/>
    <p:sldId id="277" r:id="rId52"/>
    <p:sldId id="279" r:id="rId53"/>
    <p:sldId id="282" r:id="rId54"/>
    <p:sldId id="280" r:id="rId55"/>
    <p:sldId id="281" r:id="rId56"/>
    <p:sldId id="320" r:id="rId57"/>
    <p:sldId id="321" r:id="rId58"/>
    <p:sldId id="288" r:id="rId59"/>
    <p:sldId id="322" r:id="rId60"/>
    <p:sldId id="323" r:id="rId61"/>
    <p:sldId id="324" r:id="rId62"/>
    <p:sldId id="325" r:id="rId63"/>
    <p:sldId id="326" r:id="rId64"/>
    <p:sldId id="327" r:id="rId65"/>
    <p:sldId id="328" r:id="rId66"/>
    <p:sldId id="292" r:id="rId67"/>
    <p:sldId id="329" r:id="rId68"/>
    <p:sldId id="330" r:id="rId69"/>
    <p:sldId id="331" r:id="rId70"/>
    <p:sldId id="332" r:id="rId71"/>
    <p:sldId id="333" r:id="rId72"/>
    <p:sldId id="300" r:id="rId73"/>
    <p:sldId id="334" r:id="rId74"/>
    <p:sldId id="335" r:id="rId75"/>
    <p:sldId id="336" r:id="rId76"/>
    <p:sldId id="337" r:id="rId77"/>
    <p:sldId id="338" r:id="rId78"/>
    <p:sldId id="339" r:id="rId79"/>
    <p:sldId id="340" r:id="rId80"/>
    <p:sldId id="341" r:id="rId81"/>
    <p:sldId id="309" r:id="rId82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19/11/2018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19/11/2018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19/11/2018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19/11/2018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19/11/2018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19/11/2018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19/11/2018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19/11/2018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19/11/2018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19/11/2018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19/11/2018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00DB3-DBF0-4086-B675-117E7A9610B8}" type="datetimeFigureOut">
              <a:rPr lang="pt-BR" smtClean="0"/>
              <a:t>19/11/2018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0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0.png"/><Relationship Id="rId4" Type="http://schemas.openxmlformats.org/officeDocument/2006/relationships/image" Target="../media/image9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0.png"/><Relationship Id="rId4" Type="http://schemas.openxmlformats.org/officeDocument/2006/relationships/image" Target="../media/image9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5" Type="http://schemas.openxmlformats.org/officeDocument/2006/relationships/image" Target="../media/image100.png"/><Relationship Id="rId4" Type="http://schemas.openxmlformats.org/officeDocument/2006/relationships/image" Target="../media/image9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0.png"/><Relationship Id="rId4" Type="http://schemas.openxmlformats.org/officeDocument/2006/relationships/image" Target="../media/image8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0.png"/><Relationship Id="rId4" Type="http://schemas.openxmlformats.org/officeDocument/2006/relationships/image" Target="../media/image8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90.png"/><Relationship Id="rId4" Type="http://schemas.openxmlformats.org/officeDocument/2006/relationships/image" Target="../media/image80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13" Type="http://schemas.openxmlformats.org/officeDocument/2006/relationships/image" Target="../media/image21.png"/><Relationship Id="rId3" Type="http://schemas.openxmlformats.org/officeDocument/2006/relationships/image" Target="../media/image112.png"/><Relationship Id="rId7" Type="http://schemas.openxmlformats.org/officeDocument/2006/relationships/image" Target="../media/image150.png"/><Relationship Id="rId12" Type="http://schemas.openxmlformats.org/officeDocument/2006/relationships/image" Target="../media/image20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11" Type="http://schemas.openxmlformats.org/officeDocument/2006/relationships/image" Target="../media/image19.png"/><Relationship Id="rId5" Type="http://schemas.openxmlformats.org/officeDocument/2006/relationships/image" Target="../media/image131.png"/><Relationship Id="rId10" Type="http://schemas.openxmlformats.org/officeDocument/2006/relationships/image" Target="../media/image18.png"/><Relationship Id="rId4" Type="http://schemas.openxmlformats.org/officeDocument/2006/relationships/image" Target="../media/image121.png"/><Relationship Id="rId9" Type="http://schemas.openxmlformats.org/officeDocument/2006/relationships/image" Target="../media/image170.png"/><Relationship Id="rId14" Type="http://schemas.openxmlformats.org/officeDocument/2006/relationships/image" Target="../media/image22.pn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13" Type="http://schemas.openxmlformats.org/officeDocument/2006/relationships/image" Target="../media/image21.png"/><Relationship Id="rId3" Type="http://schemas.openxmlformats.org/officeDocument/2006/relationships/image" Target="../media/image112.png"/><Relationship Id="rId7" Type="http://schemas.openxmlformats.org/officeDocument/2006/relationships/image" Target="../media/image150.png"/><Relationship Id="rId12" Type="http://schemas.openxmlformats.org/officeDocument/2006/relationships/image" Target="../media/image20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11" Type="http://schemas.openxmlformats.org/officeDocument/2006/relationships/image" Target="../media/image19.png"/><Relationship Id="rId5" Type="http://schemas.openxmlformats.org/officeDocument/2006/relationships/image" Target="../media/image131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4" Type="http://schemas.openxmlformats.org/officeDocument/2006/relationships/image" Target="../media/image121.png"/><Relationship Id="rId9" Type="http://schemas.openxmlformats.org/officeDocument/2006/relationships/image" Target="../media/image170.png"/><Relationship Id="rId14" Type="http://schemas.openxmlformats.org/officeDocument/2006/relationships/image" Target="../media/image22.png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13" Type="http://schemas.openxmlformats.org/officeDocument/2006/relationships/image" Target="../media/image21.png"/><Relationship Id="rId3" Type="http://schemas.openxmlformats.org/officeDocument/2006/relationships/image" Target="../media/image112.png"/><Relationship Id="rId7" Type="http://schemas.openxmlformats.org/officeDocument/2006/relationships/image" Target="../media/image150.png"/><Relationship Id="rId12" Type="http://schemas.openxmlformats.org/officeDocument/2006/relationships/image" Target="../media/image20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11" Type="http://schemas.openxmlformats.org/officeDocument/2006/relationships/image" Target="../media/image19.png"/><Relationship Id="rId5" Type="http://schemas.openxmlformats.org/officeDocument/2006/relationships/image" Target="../media/image131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4" Type="http://schemas.openxmlformats.org/officeDocument/2006/relationships/image" Target="../media/image121.png"/><Relationship Id="rId9" Type="http://schemas.openxmlformats.org/officeDocument/2006/relationships/image" Target="../media/image170.png"/><Relationship Id="rId14" Type="http://schemas.openxmlformats.org/officeDocument/2006/relationships/image" Target="../media/image22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3EAD3C-AFEF-4170-A4C4-5DCB7F0F49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Problemas de Decisão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086A4CF-593F-4D3B-9915-193B4E7624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9509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EE63E6-5803-4711-B212-2E7541A70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D995D7-2442-43B7-9E9E-E3190266FE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Problemas fáceis </a:t>
            </a:r>
            <a:r>
              <a:rPr lang="pt-BR" dirty="0" err="1"/>
              <a:t>vs</a:t>
            </a:r>
            <a:r>
              <a:rPr lang="pt-BR" dirty="0"/>
              <a:t> problemas difíceis</a:t>
            </a:r>
          </a:p>
          <a:p>
            <a:pPr lvl="1"/>
            <a:r>
              <a:rPr lang="pt-BR" dirty="0"/>
              <a:t>Complexidade polinomial </a:t>
            </a:r>
            <a:r>
              <a:rPr lang="pt-BR" dirty="0" err="1"/>
              <a:t>vs</a:t>
            </a:r>
            <a:r>
              <a:rPr lang="pt-BR" dirty="0"/>
              <a:t> complexidade exponencial</a:t>
            </a:r>
          </a:p>
          <a:p>
            <a:pPr lvl="1"/>
            <a:endParaRPr lang="pt-BR" dirty="0"/>
          </a:p>
          <a:p>
            <a:r>
              <a:rPr lang="pt-BR" dirty="0"/>
              <a:t>Objetivo: identificar problemas difíceis</a:t>
            </a:r>
          </a:p>
          <a:p>
            <a:pPr lvl="1"/>
            <a:r>
              <a:rPr lang="pt-BR" dirty="0"/>
              <a:t>Opção por heurísticas</a:t>
            </a:r>
          </a:p>
        </p:txBody>
      </p:sp>
    </p:spTree>
    <p:extLst>
      <p:ext uri="{BB962C8B-B14F-4D97-AF65-F5344CB8AC3E}">
        <p14:creationId xmlns:p14="http://schemas.microsoft.com/office/powerpoint/2010/main" val="4199424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97248B-9E6F-48DD-88CE-D6FB36D38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BF4B3D2-5EB9-4359-B116-1BE9786AD9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Tratáveis (“fáceis”): podem ser resolvidos por um algoritmo de tempo polinomial; </a:t>
            </a:r>
          </a:p>
          <a:p>
            <a:r>
              <a:rPr lang="pt-BR" dirty="0"/>
              <a:t>Intratáveis (“difíceis”): só podem ser resolvidos por algoritmos </a:t>
            </a:r>
            <a:r>
              <a:rPr lang="pt-BR" dirty="0" err="1"/>
              <a:t>superpolinomiais</a:t>
            </a:r>
            <a:r>
              <a:rPr lang="pt-BR" dirty="0"/>
              <a:t> (exponenciais, fatoriais, etc.) </a:t>
            </a:r>
          </a:p>
          <a:p>
            <a:r>
              <a:rPr lang="pt-BR" dirty="0"/>
              <a:t>A complexidade de tempo da maioria dos problemas é polinomial ou exponencial.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56904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2372FD-DF33-48D3-BC7E-2539C6E6C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65176B-BBA0-4A5A-A001-F2B99A390E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Classe NP-Completo: problemas difíceis?</a:t>
            </a:r>
          </a:p>
          <a:p>
            <a:pPr lvl="1"/>
            <a:r>
              <a:rPr lang="pt-BR" dirty="0"/>
              <a:t>Em aberto, mas assumimos que sim</a:t>
            </a:r>
          </a:p>
          <a:p>
            <a:endParaRPr lang="pt-BR" dirty="0"/>
          </a:p>
          <a:p>
            <a:r>
              <a:rPr lang="pt-BR" dirty="0"/>
              <a:t>Propriedade: um problema da classe NP poderá ser resolvido em tempo polinomial se e somente se todos os outros problemas em N P também puderem</a:t>
            </a:r>
          </a:p>
        </p:txBody>
      </p:sp>
    </p:spTree>
    <p:extLst>
      <p:ext uri="{BB962C8B-B14F-4D97-AF65-F5344CB8AC3E}">
        <p14:creationId xmlns:p14="http://schemas.microsoft.com/office/powerpoint/2010/main" val="132087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5D2092-67DF-4D0E-B672-246C5C9AF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E9AF3F4-B611-4E64-B0E0-B459FD6001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3162" y="1417193"/>
            <a:ext cx="4257675" cy="522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375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BDA3E9-E169-4512-83CC-01B045FA7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Problemas fáceis </a:t>
            </a:r>
            <a:r>
              <a:rPr lang="pt-BR" dirty="0" err="1"/>
              <a:t>vs</a:t>
            </a:r>
            <a:r>
              <a:rPr lang="pt-BR" dirty="0"/>
              <a:t> problemas difíceis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FDC7BCE-FE7A-4CAC-BF32-A0AF9B7AA2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As vezes a diferença é sútil: </a:t>
            </a:r>
          </a:p>
          <a:p>
            <a:endParaRPr lang="pt-BR" dirty="0"/>
          </a:p>
          <a:p>
            <a:r>
              <a:rPr lang="pt-BR" dirty="0"/>
              <a:t>Dado um grafo G(V, E) e um inteiro k, existe uma coloração de G com no máximo k cores?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58777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BDA3E9-E169-4512-83CC-01B045FA7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Problemas fáceis </a:t>
            </a:r>
            <a:r>
              <a:rPr lang="pt-BR" dirty="0" err="1"/>
              <a:t>vs</a:t>
            </a:r>
            <a:r>
              <a:rPr lang="pt-BR" dirty="0"/>
              <a:t> problemas difíceis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FDC7BCE-FE7A-4CAC-BF32-A0AF9B7AA2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As vezes a diferença é sútil: </a:t>
            </a:r>
          </a:p>
          <a:p>
            <a:endParaRPr lang="pt-BR" dirty="0"/>
          </a:p>
          <a:p>
            <a:r>
              <a:rPr lang="pt-BR" dirty="0"/>
              <a:t>Dado um grafo G(V, E) e um inteiro k, existe uma coloração de G com no máximo k cores?</a:t>
            </a:r>
          </a:p>
          <a:p>
            <a:pPr lvl="1"/>
            <a:r>
              <a:rPr lang="pt-BR" dirty="0"/>
              <a:t>a) k = 2 </a:t>
            </a:r>
          </a:p>
          <a:p>
            <a:pPr lvl="2"/>
            <a:r>
              <a:rPr lang="pt-BR" dirty="0"/>
              <a:t>Fácil: grafo bipartido</a:t>
            </a:r>
          </a:p>
          <a:p>
            <a:pPr lvl="1"/>
            <a:r>
              <a:rPr lang="pt-BR" dirty="0"/>
              <a:t>b) k &gt; 2</a:t>
            </a:r>
          </a:p>
          <a:p>
            <a:pPr lvl="2"/>
            <a:r>
              <a:rPr lang="pt-BR" dirty="0"/>
              <a:t>Difícil: problema da coloração de vértices</a:t>
            </a:r>
          </a:p>
        </p:txBody>
      </p:sp>
    </p:spTree>
    <p:extLst>
      <p:ext uri="{BB962C8B-B14F-4D97-AF65-F5344CB8AC3E}">
        <p14:creationId xmlns:p14="http://schemas.microsoft.com/office/powerpoint/2010/main" val="234743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BDA3E9-E169-4512-83CC-01B045FA7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Problemas fáceis </a:t>
            </a:r>
            <a:r>
              <a:rPr lang="pt-BR" dirty="0" err="1"/>
              <a:t>vs</a:t>
            </a:r>
            <a:r>
              <a:rPr lang="pt-BR" dirty="0"/>
              <a:t> problemas difíceis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FDC7BCE-FE7A-4CAC-BF32-A0AF9B7AA2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As vezes a diferença é sútil: </a:t>
            </a:r>
          </a:p>
          <a:p>
            <a:endParaRPr lang="pt-BR" dirty="0"/>
          </a:p>
          <a:p>
            <a:r>
              <a:rPr lang="pt-BR" dirty="0"/>
              <a:t>Dado um grafo G(V, E) existe um ciclo simples que passa por todos os vértices sem repetir nenhum?</a:t>
            </a:r>
          </a:p>
          <a:p>
            <a:pPr lvl="1"/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545983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BDA3E9-E169-4512-83CC-01B045FA7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Problemas fáceis </a:t>
            </a:r>
            <a:r>
              <a:rPr lang="pt-BR" dirty="0" err="1"/>
              <a:t>vs</a:t>
            </a:r>
            <a:r>
              <a:rPr lang="pt-BR" dirty="0"/>
              <a:t> problemas difíceis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FDC7BCE-FE7A-4CAC-BF32-A0AF9B7AA2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As vezes a diferença é sútil: </a:t>
            </a:r>
          </a:p>
          <a:p>
            <a:endParaRPr lang="pt-BR" dirty="0"/>
          </a:p>
          <a:p>
            <a:r>
              <a:rPr lang="pt-BR" dirty="0"/>
              <a:t>Dado um grafo G(V, E) existe um ciclo simples que passa por todos os vértices sem repetir nenhum?</a:t>
            </a:r>
          </a:p>
          <a:p>
            <a:pPr lvl="1"/>
            <a:r>
              <a:rPr lang="pt-BR" dirty="0"/>
              <a:t>a) grau máximo igual a 2</a:t>
            </a:r>
          </a:p>
          <a:p>
            <a:pPr lvl="2"/>
            <a:r>
              <a:rPr lang="pt-BR" dirty="0"/>
              <a:t>Fácil </a:t>
            </a:r>
          </a:p>
          <a:p>
            <a:pPr lvl="1"/>
            <a:r>
              <a:rPr lang="pt-BR" dirty="0"/>
              <a:t>b) grau máximo &gt; 2</a:t>
            </a:r>
          </a:p>
          <a:p>
            <a:pPr lvl="2"/>
            <a:r>
              <a:rPr lang="pt-BR" dirty="0"/>
              <a:t>Difícil: problema do ciclo hamiltoniano</a:t>
            </a:r>
          </a:p>
          <a:p>
            <a:pPr lvl="1"/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51945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BDA3E9-E169-4512-83CC-01B045FA7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Problemas fáceis </a:t>
            </a:r>
            <a:r>
              <a:rPr lang="pt-BR" dirty="0" err="1"/>
              <a:t>vs</a:t>
            </a:r>
            <a:r>
              <a:rPr lang="pt-BR" dirty="0"/>
              <a:t> problemas difíceis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FDC7BCE-FE7A-4CAC-BF32-A0AF9B7AA2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As vezes a diferença é sútil: </a:t>
            </a:r>
          </a:p>
          <a:p>
            <a:endParaRPr lang="pt-BR" dirty="0"/>
          </a:p>
          <a:p>
            <a:r>
              <a:rPr lang="pt-BR" dirty="0"/>
              <a:t>Dado um grafo G(V, E) e um inteiro k, existe uma cobertura de arestas de tamanho no máximo k?</a:t>
            </a:r>
          </a:p>
          <a:p>
            <a:endParaRPr lang="pt-BR" dirty="0"/>
          </a:p>
          <a:p>
            <a:r>
              <a:rPr lang="pt-BR" dirty="0"/>
              <a:t>Dado um grafo G(V, E) e um inteiro k, existe uma cobertura de vértices de tamanho no máximo k?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684485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BDA3E9-E169-4512-83CC-01B045FA7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Problemas fáceis </a:t>
            </a:r>
            <a:r>
              <a:rPr lang="pt-BR" dirty="0" err="1"/>
              <a:t>vs</a:t>
            </a:r>
            <a:r>
              <a:rPr lang="pt-BR" dirty="0"/>
              <a:t> problemas difíceis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FDC7BCE-FE7A-4CAC-BF32-A0AF9B7AA2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As vezes a diferença é sútil: </a:t>
            </a:r>
          </a:p>
          <a:p>
            <a:endParaRPr lang="pt-BR" dirty="0"/>
          </a:p>
          <a:p>
            <a:r>
              <a:rPr lang="pt-BR" dirty="0"/>
              <a:t>Dado um grafo G(V, E) e um inteiro k, existe uma cobertura de arestas de tamanho no máximo k?</a:t>
            </a:r>
          </a:p>
          <a:p>
            <a:pPr lvl="1"/>
            <a:r>
              <a:rPr lang="pt-BR" dirty="0"/>
              <a:t>Fácil</a:t>
            </a:r>
          </a:p>
          <a:p>
            <a:endParaRPr lang="pt-BR" dirty="0"/>
          </a:p>
          <a:p>
            <a:r>
              <a:rPr lang="pt-BR" dirty="0"/>
              <a:t>Dado um grafo G(V, E) e um inteiro k, existe uma cobertura de vértices de tamanho no máximo k?</a:t>
            </a:r>
          </a:p>
          <a:p>
            <a:pPr lvl="1"/>
            <a:r>
              <a:rPr lang="pt-BR" dirty="0"/>
              <a:t>Difícil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319671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965BA9-1D7C-4A7D-B13B-9786352D1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Classe NP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39875F-298E-4D56-8FF8-3A8FA4F8DB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Problemas de decisão (saída: sem ou não)</a:t>
            </a:r>
          </a:p>
          <a:p>
            <a:r>
              <a:rPr lang="pt-BR" dirty="0"/>
              <a:t>Problemas de otimização </a:t>
            </a:r>
            <a:r>
              <a:rPr lang="pt-BR" dirty="0" err="1"/>
              <a:t>vs</a:t>
            </a:r>
            <a:r>
              <a:rPr lang="pt-BR" dirty="0"/>
              <a:t> problema de decisão:</a:t>
            </a:r>
          </a:p>
          <a:p>
            <a:pPr lvl="1"/>
            <a:r>
              <a:rPr lang="pt-BR" dirty="0"/>
              <a:t>Determinar o circuito simples que passa por todos os vértices com custo total mínimo (otimização) </a:t>
            </a:r>
          </a:p>
          <a:p>
            <a:pPr lvl="1"/>
            <a:r>
              <a:rPr lang="pt-BR" dirty="0"/>
              <a:t>Existe um circuito simples que passa por todos os vértices com custo menor ou igual a k (decisão)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310733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41058A-5698-4A8E-8F58-1F6A9AC90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Classe NP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4C8F8AC-68FA-4C6F-931D-1B9BF5096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NP (Non-</a:t>
            </a:r>
            <a:r>
              <a:rPr lang="pt-BR" dirty="0" err="1"/>
              <a:t>Deterministic</a:t>
            </a:r>
            <a:r>
              <a:rPr lang="pt-BR" dirty="0"/>
              <a:t> </a:t>
            </a:r>
            <a:r>
              <a:rPr lang="pt-BR" dirty="0" err="1"/>
              <a:t>Polynomial</a:t>
            </a:r>
            <a:r>
              <a:rPr lang="pt-BR" dirty="0"/>
              <a:t> time): problemas de decisão cuja solução pode ser </a:t>
            </a:r>
            <a:r>
              <a:rPr lang="pt-BR" b="1" dirty="0"/>
              <a:t>verificada</a:t>
            </a:r>
            <a:r>
              <a:rPr lang="pt-BR" dirty="0"/>
              <a:t> em tempo polinomial com </a:t>
            </a:r>
            <a:r>
              <a:rPr lang="pt-BR" b="1" dirty="0"/>
              <a:t>algoritmo determinista</a:t>
            </a:r>
            <a:r>
              <a:rPr lang="pt-BR" dirty="0"/>
              <a:t>.</a:t>
            </a:r>
          </a:p>
          <a:p>
            <a:endParaRPr lang="pt-BR" dirty="0"/>
          </a:p>
          <a:p>
            <a:r>
              <a:rPr lang="pt-BR" dirty="0"/>
              <a:t>Ou, problemas de decisão cuja solução pode ser </a:t>
            </a:r>
            <a:r>
              <a:rPr lang="pt-BR" b="1" dirty="0"/>
              <a:t>determinada</a:t>
            </a:r>
            <a:r>
              <a:rPr lang="pt-BR" dirty="0"/>
              <a:t> em tempo polinomial com </a:t>
            </a:r>
            <a:r>
              <a:rPr lang="pt-BR" b="1" dirty="0"/>
              <a:t>algoritmo não determinista</a:t>
            </a:r>
          </a:p>
        </p:txBody>
      </p:sp>
    </p:spTree>
    <p:extLst>
      <p:ext uri="{BB962C8B-B14F-4D97-AF65-F5344CB8AC3E}">
        <p14:creationId xmlns:p14="http://schemas.microsoft.com/office/powerpoint/2010/main" val="28488173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D8B5E0-C50A-41C9-BA6D-D7C6F9193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não determinista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11AFBA1-6F71-48EB-A6AA-3C227C9AD0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Escolhe a alternativa que leva a solução ótima, caso uma exista</a:t>
            </a:r>
          </a:p>
          <a:p>
            <a:r>
              <a:rPr lang="pt-BR" dirty="0"/>
              <a:t>Caso não exista, retorna qualquer resposta</a:t>
            </a:r>
          </a:p>
          <a:p>
            <a:r>
              <a:rPr lang="pt-BR" dirty="0"/>
              <a:t>Complexidade: C(1)</a:t>
            </a:r>
          </a:p>
          <a:p>
            <a:endParaRPr lang="pt-BR" dirty="0"/>
          </a:p>
          <a:p>
            <a:pPr marL="0" indent="0" algn="ctr">
              <a:buNone/>
            </a:pPr>
            <a:r>
              <a:rPr lang="pt-BR" b="1" i="1" dirty="0"/>
              <a:t>Arcabouço teórico</a:t>
            </a:r>
          </a:p>
        </p:txBody>
      </p:sp>
    </p:spTree>
    <p:extLst>
      <p:ext uri="{BB962C8B-B14F-4D97-AF65-F5344CB8AC3E}">
        <p14:creationId xmlns:p14="http://schemas.microsoft.com/office/powerpoint/2010/main" val="36127123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D8B5E0-C50A-41C9-BA6D-D7C6F9193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não determinista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11AFBA1-6F71-48EB-A6AA-3C227C9AD0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Exemplo: pesquisar um elemento x em um vetor A de n elementos</a:t>
            </a:r>
          </a:p>
          <a:p>
            <a:pPr lvl="1"/>
            <a:r>
              <a:rPr lang="pt-BR" dirty="0"/>
              <a:t>Função que retorna um valor qualquer entre 1 e n e compara com x para verificar se houve sucesso ou não. </a:t>
            </a:r>
          </a:p>
          <a:p>
            <a:pPr lvl="1"/>
            <a:r>
              <a:rPr lang="pt-BR" dirty="0"/>
              <a:t>Algoritmo não determinista: C(1)</a:t>
            </a:r>
          </a:p>
          <a:p>
            <a:pPr lvl="1"/>
            <a:r>
              <a:rPr lang="pt-BR" dirty="0"/>
              <a:t>Pesquisa sequencial é C(n/2), deterministicamente</a:t>
            </a:r>
          </a:p>
        </p:txBody>
      </p:sp>
    </p:spTree>
    <p:extLst>
      <p:ext uri="{BB962C8B-B14F-4D97-AF65-F5344CB8AC3E}">
        <p14:creationId xmlns:p14="http://schemas.microsoft.com/office/powerpoint/2010/main" val="31110406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E395EC-B6B1-4ED1-99E4-4E820FE83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não determinista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49A2D95-397F-45F7-B71D-3024DAFE6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Exemplo: árvore geradora</a:t>
            </a:r>
          </a:p>
          <a:p>
            <a:pPr lvl="1"/>
            <a:r>
              <a:rPr lang="pt-BR" dirty="0"/>
              <a:t>Entrada: grafo conexo não direcionado</a:t>
            </a:r>
          </a:p>
          <a:p>
            <a:pPr lvl="1"/>
            <a:r>
              <a:rPr lang="pt-BR" dirty="0"/>
              <a:t>Algoritmo: </a:t>
            </a:r>
            <a:r>
              <a:rPr lang="pt-BR" b="1" dirty="0"/>
              <a:t>enquanto</a:t>
            </a:r>
            <a:r>
              <a:rPr lang="pt-BR" dirty="0"/>
              <a:t> uma aresta pode ser removida de forma que o grafo ainda se mantenha conectado, </a:t>
            </a:r>
          </a:p>
          <a:p>
            <a:pPr lvl="1"/>
            <a:r>
              <a:rPr lang="pt-BR" dirty="0"/>
              <a:t>Saída: uma árvore geradora (observe que um grafo pode possuir várias árvores geradoras e portanto há várias soluções para o problema)</a:t>
            </a:r>
          </a:p>
          <a:p>
            <a:r>
              <a:rPr lang="pt-BR" dirty="0"/>
              <a:t>Obs.: não confundir com </a:t>
            </a:r>
            <a:r>
              <a:rPr lang="pt-BR" b="1" dirty="0"/>
              <a:t>árvore geradora mínima</a:t>
            </a:r>
            <a:r>
              <a:rPr lang="pt-BR" dirty="0"/>
              <a:t>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676402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4ACE23-D025-4190-9DBA-1177078B0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Classes P, </a:t>
            </a:r>
            <a:r>
              <a:rPr lang="pt-BR"/>
              <a:t>NP e NPC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FAC4FF-59EB-4CE7-828D-04F1120BA2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Classe P: Está na classe P se puder ser resolvido em tempo polinomial.</a:t>
            </a:r>
          </a:p>
          <a:p>
            <a:r>
              <a:rPr lang="pt-BR" dirty="0"/>
              <a:t>Classe NP: Está na classe NP se puder ser verificado em tempo polinomial.</a:t>
            </a:r>
          </a:p>
          <a:p>
            <a:r>
              <a:rPr lang="pt-BR" dirty="0"/>
              <a:t>Classe NP-Completo: Um problema X está na classe NP-Completo se:</a:t>
            </a:r>
          </a:p>
          <a:p>
            <a:pPr lvl="1"/>
            <a:r>
              <a:rPr lang="pt-BR" dirty="0"/>
              <a:t>X pertence à NP</a:t>
            </a:r>
          </a:p>
          <a:p>
            <a:pPr lvl="1"/>
            <a:r>
              <a:rPr lang="pt-BR" dirty="0"/>
              <a:t>Qualquer problema da classe NPC puder ser resolvido em tempo polinomial se, e somente se, X puder ser resolvido em tempo polinomial.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758260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B9065D-E5DC-4F8F-8006-7817723E6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Problemas NP-Completos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2BBC653-3819-4E66-AE95-0CEDEBC2C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Ainda não foi descoberto um algoritmo polinomial para qualquer problema NP-Completo </a:t>
            </a:r>
          </a:p>
          <a:p>
            <a:r>
              <a:rPr lang="pt-BR" dirty="0"/>
              <a:t>Ninguém até hoje foi capaz de demonstrar formalmente que os problemas NP-Completos são intratáveis </a:t>
            </a:r>
          </a:p>
          <a:p>
            <a:r>
              <a:rPr lang="pt-BR" dirty="0"/>
              <a:t>Muitos problemas NP-Completos são muito parecidos com problemas polinomiais conhecidos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175560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DF0FB1-FB19-4382-99E0-50333206C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Transformação polinomial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8492C6-8003-46DA-8C43-EEF6A2A7A0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Informalmente, um problema está em NP-Completo se ele está em NP e é “tão difícil” quanto qualquer outro problema em NP</a:t>
            </a:r>
          </a:p>
          <a:p>
            <a:endParaRPr lang="pt-BR" dirty="0"/>
          </a:p>
          <a:p>
            <a:r>
              <a:rPr lang="pt-BR" dirty="0"/>
              <a:t>Ser “tão difícil quanto”: transformação polinomial</a:t>
            </a:r>
          </a:p>
        </p:txBody>
      </p:sp>
    </p:spTree>
    <p:extLst>
      <p:ext uri="{BB962C8B-B14F-4D97-AF65-F5344CB8AC3E}">
        <p14:creationId xmlns:p14="http://schemas.microsoft.com/office/powerpoint/2010/main" val="38820208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777F18-31E8-4262-8B32-F2509F604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Transformação polinomial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B9DB1BA-BDEC-4FEA-8E24-A40145F817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Sejam A e B problemas de decisão </a:t>
            </a:r>
          </a:p>
          <a:p>
            <a:r>
              <a:rPr lang="pt-BR" dirty="0"/>
              <a:t>Sejam α uma instância de A e β uma instância de B </a:t>
            </a:r>
          </a:p>
          <a:p>
            <a:r>
              <a:rPr lang="pt-BR" dirty="0"/>
              <a:t>Suponha que B possa ser resolvido em tempo polinomial </a:t>
            </a:r>
          </a:p>
          <a:p>
            <a:r>
              <a:rPr lang="pt-BR" dirty="0"/>
              <a:t>Suponha um algoritmo P que transforme α em β , com as seguintes propriedades: </a:t>
            </a:r>
          </a:p>
          <a:p>
            <a:pPr lvl="1"/>
            <a:r>
              <a:rPr lang="pt-BR" dirty="0"/>
              <a:t>a transformação é feita em tempo polinomial </a:t>
            </a:r>
          </a:p>
          <a:p>
            <a:pPr lvl="1"/>
            <a:r>
              <a:rPr lang="pt-BR" dirty="0"/>
              <a:t>as respostas são as mesmas, isto é, a resposta de β é SIM se, e somente se, a resposta para α for SIM </a:t>
            </a:r>
          </a:p>
        </p:txBody>
      </p:sp>
    </p:spTree>
    <p:extLst>
      <p:ext uri="{BB962C8B-B14F-4D97-AF65-F5344CB8AC3E}">
        <p14:creationId xmlns:p14="http://schemas.microsoft.com/office/powerpoint/2010/main" val="37506956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6AE892-C2A6-4998-A4CE-AA6BFD0C4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Transformação polinomial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67CC1A2-F6DE-4382-BFEB-9942C7B17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 algoritmo polinomial para resolver α consiste em: </a:t>
            </a:r>
          </a:p>
          <a:p>
            <a:pPr lvl="1"/>
            <a:r>
              <a:rPr lang="pt-BR" dirty="0"/>
              <a:t>aplique P para transformar α em β </a:t>
            </a:r>
          </a:p>
          <a:p>
            <a:pPr lvl="1"/>
            <a:r>
              <a:rPr lang="pt-BR" dirty="0"/>
              <a:t>resolva β </a:t>
            </a:r>
          </a:p>
          <a:p>
            <a:pPr lvl="1"/>
            <a:r>
              <a:rPr lang="pt-BR" dirty="0"/>
              <a:t>use a resposta de β como resposta para α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350529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FEE991-CA87-4EDC-9704-B3A6C1F89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Transformação polinomial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B3FC68D-87B2-45C9-9609-0B91E64063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Suponha que existam dois problemas de “sim/não” Π1 e Π2</a:t>
            </a:r>
          </a:p>
          <a:p>
            <a:r>
              <a:rPr lang="pt-BR" dirty="0"/>
              <a:t>Suponha que um algoritmo A2 resolva Pi2</a:t>
            </a:r>
          </a:p>
          <a:p>
            <a:r>
              <a:rPr lang="pt-BR" dirty="0"/>
              <a:t>Se for possível transformar Pi1 em Pi2 e a solução de Pi2 em solução de Pi1, então A2 pode ser utilizado para resolver Pi1. </a:t>
            </a:r>
          </a:p>
          <a:p>
            <a:r>
              <a:rPr lang="pt-BR" dirty="0"/>
              <a:t>Se pudermos realizar as transformações nos dois sentidos em tempo polinomial, então Pi1 é </a:t>
            </a:r>
            <a:r>
              <a:rPr lang="pt-BR" dirty="0" err="1"/>
              <a:t>polinomialmente</a:t>
            </a:r>
            <a:r>
              <a:rPr lang="pt-BR" dirty="0"/>
              <a:t> transformável em Pi2. </a:t>
            </a:r>
          </a:p>
        </p:txBody>
      </p:sp>
    </p:spTree>
    <p:extLst>
      <p:ext uri="{BB962C8B-B14F-4D97-AF65-F5344CB8AC3E}">
        <p14:creationId xmlns:p14="http://schemas.microsoft.com/office/powerpoint/2010/main" val="41836527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DF0FB1-FB19-4382-99E0-50333206C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Transformação polinomial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8492C6-8003-46DA-8C43-EEF6A2A7A0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Esse conceito é importante para definir a classe NP-completo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F7C83FA-82BF-4D7E-963B-58A981A88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844824"/>
            <a:ext cx="8202170" cy="242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083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Conjuntos Independentes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Exemplo de cardinalidade 4: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𝑆</m:t>
                    </m:r>
                    <m:r>
                      <a:rPr lang="pt-BR" b="0" i="1" dirty="0" smtClean="0">
                        <a:latin typeface="Cambria Math"/>
                      </a:rPr>
                      <m:t>=</m:t>
                    </m:r>
                    <m:r>
                      <a:rPr lang="pt-BR" i="1" dirty="0">
                        <a:latin typeface="Cambria Math"/>
                      </a:rPr>
                      <m:t>{0, 2, 1, 6}</m:t>
                    </m:r>
                  </m:oMath>
                </a14:m>
                <a:r>
                  <a:rPr lang="pt-BR" dirty="0"/>
                  <a:t>.</a:t>
                </a:r>
              </a:p>
              <a:p>
                <a:pPr lvl="1"/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175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lipse 4"/>
          <p:cNvSpPr/>
          <p:nvPr/>
        </p:nvSpPr>
        <p:spPr>
          <a:xfrm>
            <a:off x="4867747" y="3356992"/>
            <a:ext cx="543381" cy="410344"/>
          </a:xfrm>
          <a:prstGeom prst="ellipse">
            <a:avLst/>
          </a:prstGeom>
          <a:solidFill>
            <a:srgbClr val="00B0F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" name="Elipse 5"/>
          <p:cNvSpPr/>
          <p:nvPr/>
        </p:nvSpPr>
        <p:spPr>
          <a:xfrm>
            <a:off x="2549134" y="3356992"/>
            <a:ext cx="543381" cy="410344"/>
          </a:xfrm>
          <a:prstGeom prst="ellipse">
            <a:avLst/>
          </a:prstGeom>
          <a:solidFill>
            <a:srgbClr val="00B0F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" name="Elipse 6"/>
          <p:cNvSpPr/>
          <p:nvPr/>
        </p:nvSpPr>
        <p:spPr>
          <a:xfrm>
            <a:off x="3668579" y="4327113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549734" y="5232604"/>
            <a:ext cx="543381" cy="410344"/>
          </a:xfrm>
          <a:prstGeom prst="ellipse">
            <a:avLst/>
          </a:prstGeom>
          <a:solidFill>
            <a:srgbClr val="00B0F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11" name="Conector reto 10"/>
          <p:cNvCxnSpPr>
            <a:stCxn id="7" idx="1"/>
            <a:endCxn id="6" idx="5"/>
          </p:cNvCxnSpPr>
          <p:nvPr/>
        </p:nvCxnSpPr>
        <p:spPr>
          <a:xfrm flipH="1" flipV="1">
            <a:off x="3012939" y="3707243"/>
            <a:ext cx="735216" cy="679963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4867748" y="5232604"/>
            <a:ext cx="543381" cy="410344"/>
          </a:xfrm>
          <a:prstGeom prst="ellipse">
            <a:avLst/>
          </a:prstGeom>
          <a:solidFill>
            <a:srgbClr val="00B0F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6</a:t>
            </a:r>
          </a:p>
        </p:txBody>
      </p:sp>
      <p:cxnSp>
        <p:nvCxnSpPr>
          <p:cNvPr id="13" name="Conector de seta reta 12"/>
          <p:cNvCxnSpPr>
            <a:stCxn id="5" idx="3"/>
            <a:endCxn id="7" idx="7"/>
          </p:cNvCxnSpPr>
          <p:nvPr/>
        </p:nvCxnSpPr>
        <p:spPr>
          <a:xfrm flipH="1">
            <a:off x="4132384" y="3707243"/>
            <a:ext cx="814939" cy="67996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12" idx="1"/>
            <a:endCxn id="7" idx="5"/>
          </p:cNvCxnSpPr>
          <p:nvPr/>
        </p:nvCxnSpPr>
        <p:spPr>
          <a:xfrm flipH="1" flipV="1">
            <a:off x="4132384" y="4677364"/>
            <a:ext cx="814940" cy="61533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7" idx="3"/>
            <a:endCxn id="8" idx="7"/>
          </p:cNvCxnSpPr>
          <p:nvPr/>
        </p:nvCxnSpPr>
        <p:spPr>
          <a:xfrm flipH="1">
            <a:off x="3013539" y="4677364"/>
            <a:ext cx="734616" cy="615333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867746" y="432325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33" name="Conector reto 32"/>
          <p:cNvCxnSpPr>
            <a:stCxn id="5" idx="4"/>
            <a:endCxn id="32" idx="0"/>
          </p:cNvCxnSpPr>
          <p:nvPr/>
        </p:nvCxnSpPr>
        <p:spPr>
          <a:xfrm flipH="1">
            <a:off x="5139437" y="3767336"/>
            <a:ext cx="1" cy="5559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to 34"/>
          <p:cNvCxnSpPr>
            <a:stCxn id="32" idx="4"/>
            <a:endCxn id="12" idx="0"/>
          </p:cNvCxnSpPr>
          <p:nvPr/>
        </p:nvCxnSpPr>
        <p:spPr>
          <a:xfrm>
            <a:off x="5139437" y="4733594"/>
            <a:ext cx="2" cy="4990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tângulo 3">
            <a:extLst>
              <a:ext uri="{FF2B5EF4-FFF2-40B4-BE49-F238E27FC236}">
                <a16:creationId xmlns:a16="http://schemas.microsoft.com/office/drawing/2014/main" id="{92F298AE-E49A-4FCF-A72E-E637B0058376}"/>
              </a:ext>
            </a:extLst>
          </p:cNvPr>
          <p:cNvSpPr/>
          <p:nvPr/>
        </p:nvSpPr>
        <p:spPr>
          <a:xfrm>
            <a:off x="6146489" y="3688140"/>
            <a:ext cx="259228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/>
              <a:t>É o </a:t>
            </a:r>
            <a:r>
              <a:rPr lang="pt-BR" sz="2400" b="1" dirty="0"/>
              <a:t>maior</a:t>
            </a:r>
            <a:r>
              <a:rPr lang="pt-BR" sz="2400" dirty="0"/>
              <a:t> conjunto de vértices que não tem arestas entre si</a:t>
            </a:r>
          </a:p>
        </p:txBody>
      </p:sp>
    </p:spTree>
    <p:extLst>
      <p:ext uri="{BB962C8B-B14F-4D97-AF65-F5344CB8AC3E}">
        <p14:creationId xmlns:p14="http://schemas.microsoft.com/office/powerpoint/2010/main" val="42198338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Conjuntos Independentes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Exemplo de cardinalidade 4: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𝑆</m:t>
                    </m:r>
                    <m:r>
                      <a:rPr lang="pt-BR" b="0" i="1" dirty="0" smtClean="0">
                        <a:latin typeface="Cambria Math"/>
                      </a:rPr>
                      <m:t>=</m:t>
                    </m:r>
                    <m:r>
                      <a:rPr lang="pt-BR" i="1" dirty="0">
                        <a:latin typeface="Cambria Math"/>
                      </a:rPr>
                      <m:t>{0, 2, 1, 6}</m:t>
                    </m:r>
                  </m:oMath>
                </a14:m>
                <a:r>
                  <a:rPr lang="pt-BR" dirty="0"/>
                  <a:t>.</a:t>
                </a:r>
              </a:p>
              <a:p>
                <a:pPr lvl="1"/>
                <a:r>
                  <a:rPr lang="pt-BR" dirty="0"/>
                  <a:t>Obtendo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𝐶</m:t>
                    </m:r>
                    <m:r>
                      <a:rPr lang="pt-BR" i="1" dirty="0" smtClean="0">
                        <a:latin typeface="Cambria Math"/>
                      </a:rPr>
                      <m:t>(</m:t>
                    </m:r>
                    <m:r>
                      <a:rPr lang="pt-BR" i="1" dirty="0" smtClean="0">
                        <a:latin typeface="Cambria Math"/>
                      </a:rPr>
                      <m:t>𝐺</m:t>
                    </m:r>
                    <m:r>
                      <a:rPr lang="pt-BR" i="1" dirty="0" smtClean="0">
                        <a:latin typeface="Cambria Math"/>
                      </a:rPr>
                      <m:t>)</m:t>
                    </m:r>
                  </m:oMath>
                </a14:m>
                <a:endParaRPr lang="pt-BR" dirty="0"/>
              </a:p>
              <a:p>
                <a:pPr lvl="1"/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lipse 4"/>
          <p:cNvSpPr/>
          <p:nvPr/>
        </p:nvSpPr>
        <p:spPr>
          <a:xfrm>
            <a:off x="4867747" y="3356992"/>
            <a:ext cx="543381" cy="410344"/>
          </a:xfrm>
          <a:prstGeom prst="ellipse">
            <a:avLst/>
          </a:prstGeom>
          <a:solidFill>
            <a:srgbClr val="00B0F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" name="Elipse 5"/>
          <p:cNvSpPr/>
          <p:nvPr/>
        </p:nvSpPr>
        <p:spPr>
          <a:xfrm>
            <a:off x="2549134" y="3356992"/>
            <a:ext cx="543381" cy="410344"/>
          </a:xfrm>
          <a:prstGeom prst="ellipse">
            <a:avLst/>
          </a:prstGeom>
          <a:solidFill>
            <a:srgbClr val="00B0F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" name="Elipse 6"/>
          <p:cNvSpPr/>
          <p:nvPr/>
        </p:nvSpPr>
        <p:spPr>
          <a:xfrm>
            <a:off x="3668579" y="4327113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549734" y="5232604"/>
            <a:ext cx="543381" cy="410344"/>
          </a:xfrm>
          <a:prstGeom prst="ellipse">
            <a:avLst/>
          </a:prstGeom>
          <a:solidFill>
            <a:srgbClr val="00B0F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11" name="Conector reto 10"/>
          <p:cNvCxnSpPr>
            <a:stCxn id="7" idx="1"/>
            <a:endCxn id="6" idx="5"/>
          </p:cNvCxnSpPr>
          <p:nvPr/>
        </p:nvCxnSpPr>
        <p:spPr>
          <a:xfrm flipH="1" flipV="1">
            <a:off x="3012939" y="3707243"/>
            <a:ext cx="735216" cy="679963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4867748" y="5232604"/>
            <a:ext cx="543381" cy="410344"/>
          </a:xfrm>
          <a:prstGeom prst="ellipse">
            <a:avLst/>
          </a:prstGeom>
          <a:solidFill>
            <a:srgbClr val="00B0F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6</a:t>
            </a:r>
          </a:p>
        </p:txBody>
      </p:sp>
      <p:cxnSp>
        <p:nvCxnSpPr>
          <p:cNvPr id="13" name="Conector de seta reta 12"/>
          <p:cNvCxnSpPr>
            <a:stCxn id="5" idx="3"/>
            <a:endCxn id="7" idx="7"/>
          </p:cNvCxnSpPr>
          <p:nvPr/>
        </p:nvCxnSpPr>
        <p:spPr>
          <a:xfrm flipH="1">
            <a:off x="4132384" y="3707243"/>
            <a:ext cx="814939" cy="67996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12" idx="1"/>
            <a:endCxn id="7" idx="5"/>
          </p:cNvCxnSpPr>
          <p:nvPr/>
        </p:nvCxnSpPr>
        <p:spPr>
          <a:xfrm flipH="1" flipV="1">
            <a:off x="4132384" y="4677364"/>
            <a:ext cx="814940" cy="61533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7" idx="3"/>
            <a:endCxn id="8" idx="7"/>
          </p:cNvCxnSpPr>
          <p:nvPr/>
        </p:nvCxnSpPr>
        <p:spPr>
          <a:xfrm flipH="1">
            <a:off x="3013539" y="4677364"/>
            <a:ext cx="734616" cy="615333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867746" y="432325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33" name="Conector reto 32"/>
          <p:cNvCxnSpPr>
            <a:stCxn id="5" idx="4"/>
            <a:endCxn id="32" idx="0"/>
          </p:cNvCxnSpPr>
          <p:nvPr/>
        </p:nvCxnSpPr>
        <p:spPr>
          <a:xfrm flipH="1">
            <a:off x="5139437" y="3767336"/>
            <a:ext cx="1" cy="5559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to 34"/>
          <p:cNvCxnSpPr>
            <a:stCxn id="32" idx="4"/>
            <a:endCxn id="12" idx="0"/>
          </p:cNvCxnSpPr>
          <p:nvPr/>
        </p:nvCxnSpPr>
        <p:spPr>
          <a:xfrm>
            <a:off x="5139437" y="4733594"/>
            <a:ext cx="2" cy="4990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2"/>
            <a:endCxn id="6" idx="6"/>
          </p:cNvCxnSpPr>
          <p:nvPr/>
        </p:nvCxnSpPr>
        <p:spPr>
          <a:xfrm flipH="1">
            <a:off x="3092515" y="3562164"/>
            <a:ext cx="1775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/>
          <p:cNvCxnSpPr>
            <a:stCxn id="12" idx="2"/>
            <a:endCxn id="8" idx="6"/>
          </p:cNvCxnSpPr>
          <p:nvPr/>
        </p:nvCxnSpPr>
        <p:spPr>
          <a:xfrm flipH="1">
            <a:off x="3093115" y="5437776"/>
            <a:ext cx="17746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>
            <a:stCxn id="6" idx="4"/>
            <a:endCxn id="8" idx="0"/>
          </p:cNvCxnSpPr>
          <p:nvPr/>
        </p:nvCxnSpPr>
        <p:spPr>
          <a:xfrm>
            <a:off x="2820825" y="3767336"/>
            <a:ext cx="600" cy="14652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em curva 29"/>
          <p:cNvCxnSpPr>
            <a:stCxn id="5" idx="3"/>
            <a:endCxn id="8" idx="6"/>
          </p:cNvCxnSpPr>
          <p:nvPr/>
        </p:nvCxnSpPr>
        <p:spPr>
          <a:xfrm rot="5400000">
            <a:off x="3154953" y="3645405"/>
            <a:ext cx="1730533" cy="1854208"/>
          </a:xfrm>
          <a:prstGeom prst="curved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em curva 33"/>
          <p:cNvCxnSpPr>
            <a:stCxn id="6" idx="5"/>
            <a:endCxn id="12" idx="2"/>
          </p:cNvCxnSpPr>
          <p:nvPr/>
        </p:nvCxnSpPr>
        <p:spPr>
          <a:xfrm rot="16200000" flipH="1">
            <a:off x="3075077" y="3645104"/>
            <a:ext cx="1730533" cy="1854809"/>
          </a:xfrm>
          <a:prstGeom prst="curved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to 37"/>
          <p:cNvCxnSpPr>
            <a:stCxn id="6" idx="5"/>
            <a:endCxn id="32" idx="1"/>
          </p:cNvCxnSpPr>
          <p:nvPr/>
        </p:nvCxnSpPr>
        <p:spPr>
          <a:xfrm>
            <a:off x="3012939" y="3707243"/>
            <a:ext cx="1934383" cy="6761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to 47"/>
          <p:cNvCxnSpPr>
            <a:stCxn id="8" idx="6"/>
            <a:endCxn id="32" idx="3"/>
          </p:cNvCxnSpPr>
          <p:nvPr/>
        </p:nvCxnSpPr>
        <p:spPr>
          <a:xfrm flipV="1">
            <a:off x="3093115" y="4673501"/>
            <a:ext cx="1854207" cy="7642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em curva 49"/>
          <p:cNvCxnSpPr>
            <a:stCxn id="5" idx="6"/>
            <a:endCxn id="12" idx="6"/>
          </p:cNvCxnSpPr>
          <p:nvPr/>
        </p:nvCxnSpPr>
        <p:spPr>
          <a:xfrm>
            <a:off x="5411128" y="3562164"/>
            <a:ext cx="1" cy="1875612"/>
          </a:xfrm>
          <a:prstGeom prst="curvedConnector3">
            <a:avLst>
              <a:gd name="adj1" fmla="val 228601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to 52"/>
          <p:cNvCxnSpPr>
            <a:stCxn id="7" idx="6"/>
            <a:endCxn id="32" idx="2"/>
          </p:cNvCxnSpPr>
          <p:nvPr/>
        </p:nvCxnSpPr>
        <p:spPr>
          <a:xfrm flipV="1">
            <a:off x="4211960" y="4528422"/>
            <a:ext cx="655786" cy="38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40173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Conjuntos Independentes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Exemplo de cardinalidade 4: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𝑆</m:t>
                    </m:r>
                    <m:r>
                      <a:rPr lang="pt-BR" b="0" i="1" dirty="0" smtClean="0">
                        <a:latin typeface="Cambria Math"/>
                      </a:rPr>
                      <m:t>=</m:t>
                    </m:r>
                    <m:r>
                      <a:rPr lang="pt-BR" i="1" dirty="0">
                        <a:latin typeface="Cambria Math"/>
                      </a:rPr>
                      <m:t>{0, 2, 1, 6}</m:t>
                    </m:r>
                  </m:oMath>
                </a14:m>
                <a:r>
                  <a:rPr lang="pt-BR" dirty="0"/>
                  <a:t>.</a:t>
                </a:r>
              </a:p>
              <a:p>
                <a:pPr lvl="1"/>
                <a:r>
                  <a:rPr lang="pt-BR" dirty="0"/>
                  <a:t>Obtendo </a:t>
                </a:r>
                <a14:m>
                  <m:oMath xmlns:m="http://schemas.openxmlformats.org/officeDocument/2006/math">
                    <m:r>
                      <a:rPr lang="pt-BR" i="1" dirty="0">
                        <a:latin typeface="Cambria Math"/>
                      </a:rPr>
                      <m:t>𝐶</m:t>
                    </m:r>
                    <m:r>
                      <a:rPr lang="pt-BR" i="1" dirty="0">
                        <a:latin typeface="Cambria Math"/>
                      </a:rPr>
                      <m:t>(</m:t>
                    </m:r>
                    <m:r>
                      <a:rPr lang="pt-BR" i="1" dirty="0">
                        <a:latin typeface="Cambria Math"/>
                      </a:rPr>
                      <m:t>𝐺</m:t>
                    </m:r>
                    <m:r>
                      <a:rPr lang="pt-BR" i="1" dirty="0">
                        <a:latin typeface="Cambria Math"/>
                      </a:rPr>
                      <m:t>)</m:t>
                    </m:r>
                  </m:oMath>
                </a14:m>
                <a:endParaRPr lang="pt-BR" dirty="0"/>
              </a:p>
              <a:p>
                <a:pPr lvl="1"/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lipse 4"/>
          <p:cNvSpPr/>
          <p:nvPr/>
        </p:nvSpPr>
        <p:spPr>
          <a:xfrm>
            <a:off x="4867747" y="3356992"/>
            <a:ext cx="543381" cy="410344"/>
          </a:xfrm>
          <a:prstGeom prst="ellipse">
            <a:avLst/>
          </a:prstGeom>
          <a:solidFill>
            <a:srgbClr val="00B0F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" name="Elipse 5"/>
          <p:cNvSpPr/>
          <p:nvPr/>
        </p:nvSpPr>
        <p:spPr>
          <a:xfrm>
            <a:off x="2549134" y="3356992"/>
            <a:ext cx="543381" cy="410344"/>
          </a:xfrm>
          <a:prstGeom prst="ellipse">
            <a:avLst/>
          </a:prstGeom>
          <a:solidFill>
            <a:srgbClr val="00B0F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" name="Elipse 6"/>
          <p:cNvSpPr/>
          <p:nvPr/>
        </p:nvSpPr>
        <p:spPr>
          <a:xfrm>
            <a:off x="3668579" y="4327113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549734" y="5232604"/>
            <a:ext cx="543381" cy="410344"/>
          </a:xfrm>
          <a:prstGeom prst="ellipse">
            <a:avLst/>
          </a:prstGeom>
          <a:solidFill>
            <a:srgbClr val="00B0F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Elipse 11"/>
          <p:cNvSpPr/>
          <p:nvPr/>
        </p:nvSpPr>
        <p:spPr>
          <a:xfrm>
            <a:off x="4867748" y="5232604"/>
            <a:ext cx="543381" cy="410344"/>
          </a:xfrm>
          <a:prstGeom prst="ellipse">
            <a:avLst/>
          </a:prstGeom>
          <a:solidFill>
            <a:srgbClr val="00B0F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2" name="Elipse 31"/>
          <p:cNvSpPr/>
          <p:nvPr/>
        </p:nvSpPr>
        <p:spPr>
          <a:xfrm>
            <a:off x="4870325" y="432325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9" name="Conector reto 8"/>
          <p:cNvCxnSpPr>
            <a:stCxn id="5" idx="2"/>
            <a:endCxn id="6" idx="6"/>
          </p:cNvCxnSpPr>
          <p:nvPr/>
        </p:nvCxnSpPr>
        <p:spPr>
          <a:xfrm flipH="1">
            <a:off x="3092515" y="3562164"/>
            <a:ext cx="1775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/>
          <p:cNvCxnSpPr>
            <a:stCxn id="12" idx="2"/>
            <a:endCxn id="8" idx="6"/>
          </p:cNvCxnSpPr>
          <p:nvPr/>
        </p:nvCxnSpPr>
        <p:spPr>
          <a:xfrm flipH="1">
            <a:off x="3093115" y="5437776"/>
            <a:ext cx="17746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>
            <a:stCxn id="6" idx="4"/>
            <a:endCxn id="8" idx="0"/>
          </p:cNvCxnSpPr>
          <p:nvPr/>
        </p:nvCxnSpPr>
        <p:spPr>
          <a:xfrm>
            <a:off x="2820825" y="3767336"/>
            <a:ext cx="600" cy="14652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em curva 29"/>
          <p:cNvCxnSpPr>
            <a:stCxn id="5" idx="3"/>
            <a:endCxn id="8" idx="6"/>
          </p:cNvCxnSpPr>
          <p:nvPr/>
        </p:nvCxnSpPr>
        <p:spPr>
          <a:xfrm rot="5400000">
            <a:off x="3154953" y="3645405"/>
            <a:ext cx="1730533" cy="1854208"/>
          </a:xfrm>
          <a:prstGeom prst="curved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em curva 33"/>
          <p:cNvCxnSpPr>
            <a:stCxn id="6" idx="5"/>
            <a:endCxn id="12" idx="2"/>
          </p:cNvCxnSpPr>
          <p:nvPr/>
        </p:nvCxnSpPr>
        <p:spPr>
          <a:xfrm rot="16200000" flipH="1">
            <a:off x="3075077" y="3645104"/>
            <a:ext cx="1730533" cy="1854809"/>
          </a:xfrm>
          <a:prstGeom prst="curved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to 37"/>
          <p:cNvCxnSpPr>
            <a:stCxn id="6" idx="5"/>
            <a:endCxn id="32" idx="1"/>
          </p:cNvCxnSpPr>
          <p:nvPr/>
        </p:nvCxnSpPr>
        <p:spPr>
          <a:xfrm>
            <a:off x="3012939" y="3707243"/>
            <a:ext cx="1936962" cy="6761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to 47"/>
          <p:cNvCxnSpPr>
            <a:stCxn id="8" idx="6"/>
            <a:endCxn id="32" idx="3"/>
          </p:cNvCxnSpPr>
          <p:nvPr/>
        </p:nvCxnSpPr>
        <p:spPr>
          <a:xfrm flipV="1">
            <a:off x="3093115" y="4673501"/>
            <a:ext cx="1856786" cy="7642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em curva 49"/>
          <p:cNvCxnSpPr>
            <a:stCxn id="5" idx="6"/>
            <a:endCxn id="12" idx="6"/>
          </p:cNvCxnSpPr>
          <p:nvPr/>
        </p:nvCxnSpPr>
        <p:spPr>
          <a:xfrm>
            <a:off x="5411128" y="3562164"/>
            <a:ext cx="1" cy="1875612"/>
          </a:xfrm>
          <a:prstGeom prst="curvedConnector3">
            <a:avLst>
              <a:gd name="adj1" fmla="val 228601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7" idx="6"/>
            <a:endCxn id="32" idx="2"/>
          </p:cNvCxnSpPr>
          <p:nvPr/>
        </p:nvCxnSpPr>
        <p:spPr>
          <a:xfrm flipV="1">
            <a:off x="4211960" y="4528422"/>
            <a:ext cx="658365" cy="38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74066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Conjuntos Independentes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Exemplo de cardinalidade 4: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𝑆</m:t>
                    </m:r>
                    <m:r>
                      <a:rPr lang="pt-BR" b="0" i="1" dirty="0" smtClean="0">
                        <a:latin typeface="Cambria Math"/>
                      </a:rPr>
                      <m:t>=</m:t>
                    </m:r>
                    <m:r>
                      <a:rPr lang="pt-BR" i="1" dirty="0">
                        <a:latin typeface="Cambria Math"/>
                      </a:rPr>
                      <m:t>{0, 2, 1, 6}</m:t>
                    </m:r>
                  </m:oMath>
                </a14:m>
                <a:r>
                  <a:rPr lang="pt-BR" dirty="0"/>
                  <a:t>.</a:t>
                </a:r>
              </a:p>
              <a:p>
                <a:pPr lvl="1"/>
                <a:r>
                  <a:rPr lang="pt-BR" dirty="0"/>
                  <a:t>Obtendo </a:t>
                </a:r>
                <a14:m>
                  <m:oMath xmlns:m="http://schemas.openxmlformats.org/officeDocument/2006/math">
                    <m:r>
                      <a:rPr lang="pt-BR" i="1" dirty="0">
                        <a:latin typeface="Cambria Math"/>
                      </a:rPr>
                      <m:t>𝐶</m:t>
                    </m:r>
                    <m:r>
                      <a:rPr lang="pt-BR" i="1" dirty="0">
                        <a:latin typeface="Cambria Math"/>
                      </a:rPr>
                      <m:t>(</m:t>
                    </m:r>
                    <m:r>
                      <a:rPr lang="pt-BR" i="1" dirty="0">
                        <a:latin typeface="Cambria Math"/>
                      </a:rPr>
                      <m:t>𝐺</m:t>
                    </m:r>
                    <m:r>
                      <a:rPr lang="pt-BR" i="1" dirty="0">
                        <a:latin typeface="Cambria Math"/>
                      </a:rPr>
                      <m:t>)</m:t>
                    </m:r>
                  </m:oMath>
                </a14:m>
                <a:endParaRPr lang="pt-BR" dirty="0"/>
              </a:p>
              <a:p>
                <a:pPr lvl="1"/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lipse 4"/>
          <p:cNvSpPr/>
          <p:nvPr/>
        </p:nvSpPr>
        <p:spPr>
          <a:xfrm>
            <a:off x="4867747" y="3356992"/>
            <a:ext cx="543381" cy="410344"/>
          </a:xfrm>
          <a:prstGeom prst="ellipse">
            <a:avLst/>
          </a:prstGeom>
          <a:solidFill>
            <a:srgbClr val="00B0F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" name="Elipse 5"/>
          <p:cNvSpPr/>
          <p:nvPr/>
        </p:nvSpPr>
        <p:spPr>
          <a:xfrm>
            <a:off x="2549134" y="3356992"/>
            <a:ext cx="543381" cy="410344"/>
          </a:xfrm>
          <a:prstGeom prst="ellipse">
            <a:avLst/>
          </a:prstGeom>
          <a:solidFill>
            <a:srgbClr val="00B0F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" name="Elipse 6"/>
          <p:cNvSpPr/>
          <p:nvPr/>
        </p:nvSpPr>
        <p:spPr>
          <a:xfrm>
            <a:off x="827584" y="4327113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549734" y="5232604"/>
            <a:ext cx="543381" cy="410344"/>
          </a:xfrm>
          <a:prstGeom prst="ellipse">
            <a:avLst/>
          </a:prstGeom>
          <a:solidFill>
            <a:srgbClr val="00B0F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Elipse 11"/>
          <p:cNvSpPr/>
          <p:nvPr/>
        </p:nvSpPr>
        <p:spPr>
          <a:xfrm>
            <a:off x="4867748" y="5232604"/>
            <a:ext cx="543381" cy="410344"/>
          </a:xfrm>
          <a:prstGeom prst="ellipse">
            <a:avLst/>
          </a:prstGeom>
          <a:solidFill>
            <a:srgbClr val="00B0F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2" name="Elipse 31"/>
          <p:cNvSpPr/>
          <p:nvPr/>
        </p:nvSpPr>
        <p:spPr>
          <a:xfrm>
            <a:off x="1940387" y="432325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9" name="Conector reto 8"/>
          <p:cNvCxnSpPr>
            <a:stCxn id="5" idx="2"/>
            <a:endCxn id="6" idx="6"/>
          </p:cNvCxnSpPr>
          <p:nvPr/>
        </p:nvCxnSpPr>
        <p:spPr>
          <a:xfrm flipH="1">
            <a:off x="3092515" y="3562164"/>
            <a:ext cx="1775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/>
          <p:cNvCxnSpPr>
            <a:stCxn id="12" idx="2"/>
            <a:endCxn id="8" idx="6"/>
          </p:cNvCxnSpPr>
          <p:nvPr/>
        </p:nvCxnSpPr>
        <p:spPr>
          <a:xfrm flipH="1">
            <a:off x="3093115" y="5437776"/>
            <a:ext cx="17746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>
            <a:stCxn id="6" idx="4"/>
            <a:endCxn id="8" idx="0"/>
          </p:cNvCxnSpPr>
          <p:nvPr/>
        </p:nvCxnSpPr>
        <p:spPr>
          <a:xfrm>
            <a:off x="2820825" y="3767336"/>
            <a:ext cx="600" cy="14652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to 37"/>
          <p:cNvCxnSpPr>
            <a:stCxn id="6" idx="3"/>
            <a:endCxn id="32" idx="0"/>
          </p:cNvCxnSpPr>
          <p:nvPr/>
        </p:nvCxnSpPr>
        <p:spPr>
          <a:xfrm flipH="1">
            <a:off x="2212078" y="3707243"/>
            <a:ext cx="416632" cy="6160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to 47"/>
          <p:cNvCxnSpPr>
            <a:stCxn id="8" idx="1"/>
            <a:endCxn id="32" idx="4"/>
          </p:cNvCxnSpPr>
          <p:nvPr/>
        </p:nvCxnSpPr>
        <p:spPr>
          <a:xfrm flipH="1" flipV="1">
            <a:off x="2212078" y="4733594"/>
            <a:ext cx="417232" cy="5591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7" idx="6"/>
            <a:endCxn id="32" idx="2"/>
          </p:cNvCxnSpPr>
          <p:nvPr/>
        </p:nvCxnSpPr>
        <p:spPr>
          <a:xfrm flipV="1">
            <a:off x="1370965" y="4528422"/>
            <a:ext cx="569422" cy="38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em curva 23"/>
          <p:cNvCxnSpPr>
            <a:stCxn id="6" idx="5"/>
            <a:endCxn id="12" idx="2"/>
          </p:cNvCxnSpPr>
          <p:nvPr/>
        </p:nvCxnSpPr>
        <p:spPr>
          <a:xfrm rot="16200000" flipH="1">
            <a:off x="3075077" y="3645104"/>
            <a:ext cx="1730533" cy="1854809"/>
          </a:xfrm>
          <a:prstGeom prst="curved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em curva 25"/>
          <p:cNvCxnSpPr>
            <a:stCxn id="5" idx="3"/>
            <a:endCxn id="8" idx="6"/>
          </p:cNvCxnSpPr>
          <p:nvPr/>
        </p:nvCxnSpPr>
        <p:spPr>
          <a:xfrm rot="5400000">
            <a:off x="3154953" y="3645405"/>
            <a:ext cx="1730533" cy="1854208"/>
          </a:xfrm>
          <a:prstGeom prst="curved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em curva 27"/>
          <p:cNvCxnSpPr>
            <a:stCxn id="5" idx="6"/>
            <a:endCxn id="12" idx="6"/>
          </p:cNvCxnSpPr>
          <p:nvPr/>
        </p:nvCxnSpPr>
        <p:spPr>
          <a:xfrm>
            <a:off x="5411128" y="3562164"/>
            <a:ext cx="1" cy="1875612"/>
          </a:xfrm>
          <a:prstGeom prst="curvedConnector3">
            <a:avLst>
              <a:gd name="adj1" fmla="val 228601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75919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Conjuntos Independentes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Exemplo de cardinalidade 4: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𝑆</m:t>
                    </m:r>
                    <m:r>
                      <a:rPr lang="pt-BR" b="0" i="1" dirty="0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t-B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 dirty="0">
                            <a:latin typeface="Cambria Math"/>
                          </a:rPr>
                          <m:t>0, 2, 1, 6</m:t>
                        </m:r>
                      </m:e>
                    </m:d>
                    <m:r>
                      <a:rPr lang="pt-BR" b="0" i="1" dirty="0" smtClean="0">
                        <a:latin typeface="Cambria Math"/>
                      </a:rPr>
                      <m:t>=</m:t>
                    </m:r>
                    <m:r>
                      <a:rPr lang="pt-BR" b="0" i="1" dirty="0" smtClean="0">
                        <a:latin typeface="Cambria Math"/>
                      </a:rPr>
                      <m:t>𝐶𝑙𝑖𝑞𝑢𝑒</m:t>
                    </m:r>
                    <m:r>
                      <a:rPr lang="pt-BR" b="0" i="1" dirty="0" smtClean="0">
                        <a:latin typeface="Cambria Math"/>
                      </a:rPr>
                      <m:t> </m:t>
                    </m:r>
                    <m:r>
                      <a:rPr lang="pt-BR" b="0" i="1" dirty="0" smtClean="0">
                        <a:latin typeface="Cambria Math"/>
                      </a:rPr>
                      <m:t>𝑒𝑚</m:t>
                    </m:r>
                    <m:r>
                      <a:rPr lang="pt-BR" b="0" i="1" dirty="0" smtClean="0">
                        <a:latin typeface="Cambria Math"/>
                      </a:rPr>
                      <m:t> </m:t>
                    </m:r>
                    <m:r>
                      <a:rPr lang="pt-BR" b="0" i="1" dirty="0" smtClean="0">
                        <a:latin typeface="Cambria Math"/>
                      </a:rPr>
                      <m:t>𝐶</m:t>
                    </m:r>
                    <m:r>
                      <a:rPr lang="pt-BR" b="0" i="1" dirty="0" smtClean="0">
                        <a:latin typeface="Cambria Math"/>
                      </a:rPr>
                      <m:t>(</m:t>
                    </m:r>
                    <m:r>
                      <a:rPr lang="pt-BR" b="0" i="1" dirty="0" smtClean="0">
                        <a:latin typeface="Cambria Math"/>
                      </a:rPr>
                      <m:t>𝐺</m:t>
                    </m:r>
                    <m:r>
                      <a:rPr lang="pt-BR" b="0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pt-BR" dirty="0"/>
                  <a:t>.</a:t>
                </a:r>
              </a:p>
              <a:p>
                <a:pPr lvl="1"/>
                <a:r>
                  <a:rPr lang="pt-BR" dirty="0"/>
                  <a:t>Obtendo </a:t>
                </a:r>
                <a14:m>
                  <m:oMath xmlns:m="http://schemas.openxmlformats.org/officeDocument/2006/math">
                    <m:r>
                      <a:rPr lang="pt-BR" i="1" dirty="0">
                        <a:latin typeface="Cambria Math"/>
                      </a:rPr>
                      <m:t>𝐶</m:t>
                    </m:r>
                    <m:r>
                      <a:rPr lang="pt-BR" i="1" dirty="0">
                        <a:latin typeface="Cambria Math"/>
                      </a:rPr>
                      <m:t>(</m:t>
                    </m:r>
                    <m:r>
                      <a:rPr lang="pt-BR" i="1" dirty="0">
                        <a:latin typeface="Cambria Math"/>
                      </a:rPr>
                      <m:t>𝐺</m:t>
                    </m:r>
                    <m:r>
                      <a:rPr lang="pt-BR" i="1" dirty="0">
                        <a:latin typeface="Cambria Math"/>
                      </a:rPr>
                      <m:t>)</m:t>
                    </m:r>
                  </m:oMath>
                </a14:m>
                <a:endParaRPr lang="pt-BR" dirty="0"/>
              </a:p>
              <a:p>
                <a:pPr lvl="1"/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lipse 4"/>
          <p:cNvSpPr/>
          <p:nvPr/>
        </p:nvSpPr>
        <p:spPr>
          <a:xfrm>
            <a:off x="4867747" y="3356992"/>
            <a:ext cx="543381" cy="410344"/>
          </a:xfrm>
          <a:prstGeom prst="ellipse">
            <a:avLst/>
          </a:prstGeom>
          <a:solidFill>
            <a:srgbClr val="00B0F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" name="Elipse 5"/>
          <p:cNvSpPr/>
          <p:nvPr/>
        </p:nvSpPr>
        <p:spPr>
          <a:xfrm>
            <a:off x="2549134" y="3356992"/>
            <a:ext cx="543381" cy="410344"/>
          </a:xfrm>
          <a:prstGeom prst="ellipse">
            <a:avLst/>
          </a:prstGeom>
          <a:solidFill>
            <a:srgbClr val="00B0F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" name="Elipse 6"/>
          <p:cNvSpPr/>
          <p:nvPr/>
        </p:nvSpPr>
        <p:spPr>
          <a:xfrm>
            <a:off x="827584" y="4327113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549734" y="5232604"/>
            <a:ext cx="543381" cy="410344"/>
          </a:xfrm>
          <a:prstGeom prst="ellipse">
            <a:avLst/>
          </a:prstGeom>
          <a:solidFill>
            <a:srgbClr val="00B0F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Elipse 11"/>
          <p:cNvSpPr/>
          <p:nvPr/>
        </p:nvSpPr>
        <p:spPr>
          <a:xfrm>
            <a:off x="4867748" y="5232604"/>
            <a:ext cx="543381" cy="410344"/>
          </a:xfrm>
          <a:prstGeom prst="ellipse">
            <a:avLst/>
          </a:prstGeom>
          <a:solidFill>
            <a:srgbClr val="00B0F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2" name="Elipse 31"/>
          <p:cNvSpPr/>
          <p:nvPr/>
        </p:nvSpPr>
        <p:spPr>
          <a:xfrm>
            <a:off x="1940387" y="432325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9" name="Conector reto 8"/>
          <p:cNvCxnSpPr>
            <a:stCxn id="5" idx="2"/>
            <a:endCxn id="6" idx="6"/>
          </p:cNvCxnSpPr>
          <p:nvPr/>
        </p:nvCxnSpPr>
        <p:spPr>
          <a:xfrm flipH="1">
            <a:off x="3092515" y="3562164"/>
            <a:ext cx="1775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/>
          <p:cNvCxnSpPr>
            <a:stCxn id="12" idx="2"/>
            <a:endCxn id="8" idx="6"/>
          </p:cNvCxnSpPr>
          <p:nvPr/>
        </p:nvCxnSpPr>
        <p:spPr>
          <a:xfrm flipH="1">
            <a:off x="3093115" y="5437776"/>
            <a:ext cx="17746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>
            <a:stCxn id="6" idx="4"/>
            <a:endCxn id="8" idx="0"/>
          </p:cNvCxnSpPr>
          <p:nvPr/>
        </p:nvCxnSpPr>
        <p:spPr>
          <a:xfrm>
            <a:off x="2820825" y="3767336"/>
            <a:ext cx="600" cy="14652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to 37"/>
          <p:cNvCxnSpPr>
            <a:stCxn id="6" idx="3"/>
            <a:endCxn id="32" idx="0"/>
          </p:cNvCxnSpPr>
          <p:nvPr/>
        </p:nvCxnSpPr>
        <p:spPr>
          <a:xfrm flipH="1">
            <a:off x="2212078" y="3707243"/>
            <a:ext cx="416632" cy="6160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to 47"/>
          <p:cNvCxnSpPr>
            <a:stCxn id="8" idx="1"/>
            <a:endCxn id="32" idx="4"/>
          </p:cNvCxnSpPr>
          <p:nvPr/>
        </p:nvCxnSpPr>
        <p:spPr>
          <a:xfrm flipH="1" flipV="1">
            <a:off x="2212078" y="4733594"/>
            <a:ext cx="417232" cy="5591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7" idx="6"/>
            <a:endCxn id="32" idx="2"/>
          </p:cNvCxnSpPr>
          <p:nvPr/>
        </p:nvCxnSpPr>
        <p:spPr>
          <a:xfrm flipV="1">
            <a:off x="1370965" y="4528422"/>
            <a:ext cx="569422" cy="38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6" idx="5"/>
            <a:endCxn id="12" idx="1"/>
          </p:cNvCxnSpPr>
          <p:nvPr/>
        </p:nvCxnSpPr>
        <p:spPr>
          <a:xfrm>
            <a:off x="3012939" y="3707243"/>
            <a:ext cx="1934385" cy="15854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5" idx="3"/>
            <a:endCxn id="8" idx="7"/>
          </p:cNvCxnSpPr>
          <p:nvPr/>
        </p:nvCxnSpPr>
        <p:spPr>
          <a:xfrm flipH="1">
            <a:off x="3013539" y="3707243"/>
            <a:ext cx="1933784" cy="15854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/>
          <p:cNvCxnSpPr>
            <a:stCxn id="5" idx="4"/>
            <a:endCxn id="12" idx="0"/>
          </p:cNvCxnSpPr>
          <p:nvPr/>
        </p:nvCxnSpPr>
        <p:spPr>
          <a:xfrm>
            <a:off x="5139438" y="3767336"/>
            <a:ext cx="1" cy="14652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4986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Transformação Polinomial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Problema de decisão: Seja </a:t>
                </a:r>
                <a14:m>
                  <m:oMath xmlns:m="http://schemas.openxmlformats.org/officeDocument/2006/math">
                    <m:r>
                      <a:rPr lang="pt-BR" i="1" dirty="0">
                        <a:latin typeface="Cambria Math"/>
                      </a:rPr>
                      <m:t>𝐺</m:t>
                    </m:r>
                    <m:r>
                      <a:rPr lang="pt-BR" i="1" dirty="0">
                        <a:latin typeface="Cambria Math"/>
                      </a:rPr>
                      <m:t>=(</m:t>
                    </m:r>
                    <m:r>
                      <a:rPr lang="pt-BR" i="1" dirty="0">
                        <a:latin typeface="Cambria Math"/>
                      </a:rPr>
                      <m:t>𝑉</m:t>
                    </m:r>
                    <m:r>
                      <a:rPr lang="pt-BR" i="1" dirty="0">
                        <a:latin typeface="Cambria Math"/>
                      </a:rPr>
                      <m:t>, </m:t>
                    </m:r>
                    <m:r>
                      <a:rPr lang="pt-BR" i="1" dirty="0">
                        <a:latin typeface="Cambria Math"/>
                      </a:rPr>
                      <m:t>𝐸</m:t>
                    </m:r>
                    <m:r>
                      <a:rPr lang="pt-BR" i="1" dirty="0">
                        <a:latin typeface="Cambria Math"/>
                      </a:rPr>
                      <m:t>) </m:t>
                    </m:r>
                  </m:oMath>
                </a14:m>
                <a:r>
                  <a:rPr lang="pt-BR" dirty="0"/>
                  <a:t>um grafo e um inteiro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𝑘</m:t>
                    </m:r>
                  </m:oMath>
                </a14:m>
                <a:r>
                  <a:rPr lang="pt-BR" dirty="0"/>
                  <a:t>, existe um conjunto independente com no mínimo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𝑘</m:t>
                    </m:r>
                  </m:oMath>
                </a14:m>
                <a:r>
                  <a:rPr lang="pt-BR" dirty="0"/>
                  <a:t> vértices?</a:t>
                </a:r>
              </a:p>
              <a:p>
                <a:endParaRPr lang="pt-BR" dirty="0"/>
              </a:p>
              <a:p>
                <a:r>
                  <a:rPr lang="pt-BR" dirty="0"/>
                  <a:t>Problema de decisão: Seja </a:t>
                </a:r>
                <a14:m>
                  <m:oMath xmlns:m="http://schemas.openxmlformats.org/officeDocument/2006/math">
                    <m:r>
                      <a:rPr lang="pt-BR" i="1" dirty="0">
                        <a:latin typeface="Cambria Math"/>
                      </a:rPr>
                      <m:t>𝐺</m:t>
                    </m:r>
                    <m:r>
                      <a:rPr lang="pt-BR" i="1" dirty="0">
                        <a:latin typeface="Cambria Math"/>
                      </a:rPr>
                      <m:t>=(</m:t>
                    </m:r>
                    <m:r>
                      <a:rPr lang="pt-BR" i="1" dirty="0">
                        <a:latin typeface="Cambria Math"/>
                      </a:rPr>
                      <m:t>𝑉</m:t>
                    </m:r>
                    <m:r>
                      <a:rPr lang="pt-BR" i="1" dirty="0">
                        <a:latin typeface="Cambria Math"/>
                      </a:rPr>
                      <m:t>, </m:t>
                    </m:r>
                    <m:r>
                      <a:rPr lang="pt-BR" i="1" dirty="0">
                        <a:latin typeface="Cambria Math"/>
                      </a:rPr>
                      <m:t>𝐸</m:t>
                    </m:r>
                    <m:r>
                      <a:rPr lang="pt-BR" i="1" dirty="0">
                        <a:latin typeface="Cambria Math"/>
                      </a:rPr>
                      <m:t>) </m:t>
                    </m:r>
                  </m:oMath>
                </a14:m>
                <a:r>
                  <a:rPr lang="pt-BR" dirty="0"/>
                  <a:t>um grafo e um inteiro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𝑘</m:t>
                    </m:r>
                  </m:oMath>
                </a14:m>
                <a:r>
                  <a:rPr lang="pt-BR" dirty="0"/>
                  <a:t>, existe uma clique em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𝐺</m:t>
                    </m:r>
                  </m:oMath>
                </a14:m>
                <a:r>
                  <a:rPr lang="pt-BR" dirty="0"/>
                  <a:t> com no mínimo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𝑘</m:t>
                    </m:r>
                  </m:oMath>
                </a14:m>
                <a:r>
                  <a:rPr lang="pt-BR" dirty="0"/>
                  <a:t> vértices?</a:t>
                </a:r>
              </a:p>
              <a:p>
                <a:endParaRPr lang="pt-BR" dirty="0"/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61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49483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Transformação Polinomial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pt-BR" sz="2400" dirty="0"/>
                  <a:t>Sejam P</a:t>
                </a:r>
                <a:r>
                  <a:rPr lang="pt-BR" sz="2400" baseline="-25000" dirty="0"/>
                  <a:t>1</a:t>
                </a:r>
                <a:r>
                  <a:rPr lang="pt-BR" sz="2400" dirty="0"/>
                  <a:t> o problema da Clique e P</a:t>
                </a:r>
                <a:r>
                  <a:rPr lang="pt-BR" sz="2400" baseline="-25000" dirty="0"/>
                  <a:t>2</a:t>
                </a:r>
                <a:r>
                  <a:rPr lang="pt-BR" sz="2400" dirty="0"/>
                  <a:t> o problema do conjunto independente. </a:t>
                </a:r>
              </a:p>
              <a:p>
                <a:r>
                  <a:rPr lang="pt-BR" sz="2400" dirty="0">
                    <a:ea typeface="Cambria Math"/>
                  </a:rPr>
                  <a:t>Transformação polinomial de </a:t>
                </a:r>
                <a:r>
                  <a:rPr lang="pt-BR" sz="2400" dirty="0"/>
                  <a:t>P</a:t>
                </a:r>
                <a:r>
                  <a:rPr lang="pt-BR" sz="2400" baseline="-25000" dirty="0"/>
                  <a:t>1  </a:t>
                </a:r>
                <a:r>
                  <a:rPr lang="pt-BR" sz="2400" dirty="0">
                    <a:ea typeface="Cambria Math"/>
                  </a:rPr>
                  <a:t>para </a:t>
                </a:r>
                <a:r>
                  <a:rPr lang="pt-BR" sz="2400" dirty="0"/>
                  <a:t>P</a:t>
                </a:r>
                <a:r>
                  <a:rPr lang="pt-BR" sz="2400" baseline="-25000" dirty="0"/>
                  <a:t>2</a:t>
                </a:r>
                <a:r>
                  <a:rPr lang="pt-BR" sz="2400" dirty="0">
                    <a:ea typeface="Cambria Math"/>
                  </a:rPr>
                  <a:t> (</a:t>
                </a:r>
                <a:r>
                  <a:rPr lang="pt-BR" sz="2400" dirty="0"/>
                  <a:t>P</a:t>
                </a:r>
                <a:r>
                  <a:rPr lang="pt-BR" sz="2400" baseline="-25000" dirty="0"/>
                  <a:t>1</a:t>
                </a:r>
                <a:r>
                  <a:rPr lang="pt-BR" sz="2400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/>
                        <a:ea typeface="Cambria Math"/>
                      </a:rPr>
                      <m:t>∝</m:t>
                    </m:r>
                  </m:oMath>
                </a14:m>
                <a:r>
                  <a:rPr lang="pt-BR" sz="2400" dirty="0">
                    <a:ea typeface="Cambria Math"/>
                  </a:rPr>
                  <a:t> </a:t>
                </a:r>
                <a:r>
                  <a:rPr lang="pt-BR" sz="2400" dirty="0"/>
                  <a:t>P</a:t>
                </a:r>
                <a:r>
                  <a:rPr lang="pt-BR" sz="2400" baseline="-25000" dirty="0"/>
                  <a:t>2</a:t>
                </a:r>
                <a:r>
                  <a:rPr lang="pt-BR" sz="2400" dirty="0">
                    <a:ea typeface="Cambria Math"/>
                  </a:rPr>
                  <a:t>)</a:t>
                </a:r>
              </a:p>
              <a:p>
                <a:pPr lvl="1"/>
                <a:r>
                  <a:rPr lang="pt-BR" sz="2000" dirty="0">
                    <a:ea typeface="Cambria Math"/>
                  </a:rPr>
                  <a:t>Seja uma instância genérica da Clique definida por um grafo </a:t>
                </a:r>
                <a14:m>
                  <m:oMath xmlns:m="http://schemas.openxmlformats.org/officeDocument/2006/math">
                    <m:r>
                      <a:rPr lang="pt-BR" sz="2000" i="1" dirty="0">
                        <a:latin typeface="Cambria Math"/>
                      </a:rPr>
                      <m:t>𝐺</m:t>
                    </m:r>
                    <m:r>
                      <a:rPr lang="pt-BR" sz="2000" i="1" dirty="0">
                        <a:latin typeface="Cambria Math"/>
                      </a:rPr>
                      <m:t>=(</m:t>
                    </m:r>
                    <m:r>
                      <a:rPr lang="pt-BR" sz="2000" i="1" dirty="0">
                        <a:latin typeface="Cambria Math"/>
                      </a:rPr>
                      <m:t>𝑉</m:t>
                    </m:r>
                    <m:r>
                      <a:rPr lang="pt-BR" sz="2000" i="1" dirty="0">
                        <a:latin typeface="Cambria Math"/>
                      </a:rPr>
                      <m:t>, </m:t>
                    </m:r>
                    <m:r>
                      <a:rPr lang="pt-BR" sz="2000" i="1" dirty="0">
                        <a:latin typeface="Cambria Math"/>
                      </a:rPr>
                      <m:t>𝐸</m:t>
                    </m:r>
                    <m:r>
                      <a:rPr lang="pt-BR" sz="2000" i="1" dirty="0">
                        <a:latin typeface="Cambria Math"/>
                      </a:rPr>
                      <m:t>) </m:t>
                    </m:r>
                  </m:oMath>
                </a14:m>
                <a:r>
                  <a:rPr lang="pt-BR" sz="2000" dirty="0"/>
                  <a:t>e um inteiro </a:t>
                </a:r>
                <a14:m>
                  <m:oMath xmlns:m="http://schemas.openxmlformats.org/officeDocument/2006/math">
                    <m:r>
                      <a:rPr lang="pt-BR" sz="2000" i="1" dirty="0">
                        <a:latin typeface="Cambria Math"/>
                      </a:rPr>
                      <m:t>𝑘</m:t>
                    </m:r>
                    <m:r>
                      <a:rPr lang="pt-BR" sz="2000" i="1" dirty="0" smtClean="0">
                        <a:latin typeface="Cambria Math"/>
                        <a:ea typeface="Cambria Math"/>
                      </a:rPr>
                      <m:t>&gt;</m:t>
                    </m:r>
                    <m:r>
                      <a:rPr lang="pt-BR" sz="2000" b="0" i="1" dirty="0" smtClean="0">
                        <a:latin typeface="Cambria Math"/>
                        <a:ea typeface="Cambria Math"/>
                      </a:rPr>
                      <m:t>0</m:t>
                    </m:r>
                  </m:oMath>
                </a14:m>
                <a:r>
                  <a:rPr lang="pt-BR" sz="2000" dirty="0"/>
                  <a:t>.</a:t>
                </a:r>
              </a:p>
              <a:p>
                <a:pPr lvl="1"/>
                <a:r>
                  <a:rPr lang="pt-BR" sz="2000" dirty="0"/>
                  <a:t>Criamos uma instância do conjunto independente considerando o grafo complementar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sz="20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000" b="0" i="1" dirty="0" smtClean="0">
                            <a:latin typeface="Cambria Math"/>
                          </a:rPr>
                          <m:t>𝐺</m:t>
                        </m:r>
                      </m:e>
                    </m:acc>
                  </m:oMath>
                </a14:m>
                <a:r>
                  <a:rPr lang="pt-BR" sz="2000" dirty="0"/>
                  <a:t> de </a:t>
                </a:r>
                <a14:m>
                  <m:oMath xmlns:m="http://schemas.openxmlformats.org/officeDocument/2006/math">
                    <m:r>
                      <a:rPr lang="pt-BR" sz="2000" i="1" dirty="0">
                        <a:latin typeface="Cambria Math"/>
                      </a:rPr>
                      <m:t>𝐺</m:t>
                    </m:r>
                  </m:oMath>
                </a14:m>
                <a:r>
                  <a:rPr lang="pt-BR" sz="2000" dirty="0"/>
                  <a:t> e o mesmo inteiro </a:t>
                </a:r>
                <a14:m>
                  <m:oMath xmlns:m="http://schemas.openxmlformats.org/officeDocument/2006/math">
                    <m:r>
                      <a:rPr lang="pt-BR" sz="2000" i="1" dirty="0">
                        <a:latin typeface="Cambria Math"/>
                      </a:rPr>
                      <m:t>𝑘</m:t>
                    </m:r>
                  </m:oMath>
                </a14:m>
                <a:r>
                  <a:rPr lang="pt-BR" sz="2000" dirty="0"/>
                  <a:t>.</a:t>
                </a:r>
              </a:p>
              <a:p>
                <a:r>
                  <a:rPr lang="pt-BR" sz="2400" dirty="0"/>
                  <a:t>A transformação é polinomial pois:</a:t>
                </a:r>
              </a:p>
              <a:p>
                <a:pPr lvl="1"/>
                <a:r>
                  <a:rPr lang="pt-BR" sz="2000" dirty="0"/>
                  <a:t>O grafo complementar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sz="20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000" i="1" dirty="0">
                            <a:latin typeface="Cambria Math"/>
                          </a:rPr>
                          <m:t>𝐺</m:t>
                        </m:r>
                      </m:e>
                    </m:acc>
                  </m:oMath>
                </a14:m>
                <a:r>
                  <a:rPr lang="pt-BR" sz="2000" dirty="0"/>
                  <a:t> pode ser obtido em tempo polinomial (</a:t>
                </a:r>
                <a14:m>
                  <m:oMath xmlns:m="http://schemas.openxmlformats.org/officeDocument/2006/math">
                    <m:r>
                      <a:rPr lang="pt-BR" sz="2000" b="0" i="1" smtClean="0">
                        <a:latin typeface="Cambria Math"/>
                      </a:rPr>
                      <m:t>𝑂</m:t>
                    </m:r>
                    <m:r>
                      <a:rPr lang="pt-BR" sz="2000" b="0" i="1" smtClean="0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pt-BR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000" b="0" i="1" smtClean="0">
                            <a:latin typeface="Cambria Math"/>
                          </a:rPr>
                          <m:t>𝑉</m:t>
                        </m:r>
                      </m:e>
                      <m:sup>
                        <m:r>
                          <a:rPr lang="pt-BR" sz="2000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pt-BR" sz="2000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pt-BR" sz="2000" dirty="0"/>
                  <a:t>).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pt-BR" sz="2000" i="1" dirty="0">
                        <a:latin typeface="Cambria Math"/>
                      </a:rPr>
                      <m:t>𝐺</m:t>
                    </m:r>
                  </m:oMath>
                </a14:m>
                <a:r>
                  <a:rPr lang="pt-BR" sz="2000" dirty="0"/>
                  <a:t> possui uma clique de tamanho 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/>
                        <a:ea typeface="Cambria Math"/>
                      </a:rPr>
                      <m:t>≥</m:t>
                    </m:r>
                    <m:r>
                      <a:rPr lang="pt-BR" sz="2000" i="1" dirty="0">
                        <a:latin typeface="Cambria Math"/>
                      </a:rPr>
                      <m:t>𝑘</m:t>
                    </m:r>
                    <m:r>
                      <a:rPr lang="pt-BR" sz="2000" i="1" dirty="0">
                        <a:latin typeface="Cambria Math"/>
                      </a:rPr>
                      <m:t> </m:t>
                    </m:r>
                  </m:oMath>
                </a14:m>
                <a:r>
                  <a:rPr lang="pt-BR" sz="2000" dirty="0"/>
                  <a:t>se e somente se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sz="20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000" i="1" dirty="0">
                            <a:latin typeface="Cambria Math"/>
                          </a:rPr>
                          <m:t>𝐺</m:t>
                        </m:r>
                      </m:e>
                    </m:acc>
                  </m:oMath>
                </a14:m>
                <a:r>
                  <a:rPr lang="pt-BR" sz="2000" dirty="0"/>
                  <a:t> tem conjunto independente de tamanho </a:t>
                </a:r>
                <a14:m>
                  <m:oMath xmlns:m="http://schemas.openxmlformats.org/officeDocument/2006/math">
                    <m:r>
                      <a:rPr lang="pt-BR" sz="2000" i="1" dirty="0">
                        <a:latin typeface="Cambria Math"/>
                        <a:ea typeface="Cambria Math"/>
                      </a:rPr>
                      <m:t>≥</m:t>
                    </m:r>
                    <m:r>
                      <a:rPr lang="pt-BR" sz="2000" i="1" dirty="0">
                        <a:latin typeface="Cambria Math"/>
                      </a:rPr>
                      <m:t>𝑘</m:t>
                    </m:r>
                    <m:r>
                      <a:rPr lang="pt-BR" sz="2000" i="1" dirty="0">
                        <a:latin typeface="Cambria Math"/>
                      </a:rPr>
                      <m:t> </m:t>
                    </m:r>
                  </m:oMath>
                </a14:m>
                <a:r>
                  <a:rPr lang="pt-BR" sz="2000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63" t="-1078" r="-51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0270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0621A4-1ED3-400E-A73F-E201480D8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Transformação Polinomial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9BA37EF-62D7-41A5-BF9E-AA091E432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Se existe um algoritmo que resolve o Conjunto Independente em tempo polinomial, ele pode ser usado para resolver a clique também em tempo polinomial</a:t>
            </a:r>
          </a:p>
          <a:p>
            <a:endParaRPr lang="pt-BR" dirty="0"/>
          </a:p>
          <a:p>
            <a:r>
              <a:rPr lang="pt-BR" dirty="0"/>
              <a:t>Diz-se que Clique ∝ Conjunto Independente</a:t>
            </a:r>
          </a:p>
        </p:txBody>
      </p:sp>
    </p:spTree>
    <p:extLst>
      <p:ext uri="{BB962C8B-B14F-4D97-AF65-F5344CB8AC3E}">
        <p14:creationId xmlns:p14="http://schemas.microsoft.com/office/powerpoint/2010/main" val="23789587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Problema NP-Completo e NP Difícil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Um problema P</a:t>
                </a:r>
                <a:r>
                  <a:rPr lang="pt-BR" baseline="-25000" dirty="0"/>
                  <a:t>1</a:t>
                </a:r>
                <a:r>
                  <a:rPr lang="pt-BR" dirty="0"/>
                  <a:t> é NP-Completo se:</a:t>
                </a:r>
              </a:p>
              <a:p>
                <a:pPr marL="971550" lvl="1" indent="-514350">
                  <a:buFont typeface="+mj-lt"/>
                  <a:buAutoNum type="arabicParenR"/>
                </a:pPr>
                <a:r>
                  <a:rPr lang="pt-BR" dirty="0"/>
                  <a:t>P</a:t>
                </a:r>
                <a:r>
                  <a:rPr lang="pt-BR" baseline="-25000" dirty="0"/>
                  <a:t>1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pt-BR" b="0" i="1" dirty="0" smtClean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pt-BR" dirty="0"/>
                  <a:t>NP</a:t>
                </a:r>
              </a:p>
              <a:p>
                <a:pPr marL="971550" lvl="1" indent="-514350">
                  <a:buFont typeface="+mj-lt"/>
                  <a:buAutoNum type="arabicParenR"/>
                </a:pPr>
                <a:r>
                  <a:rPr lang="pt-BR" dirty="0"/>
                  <a:t>P’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/>
                        <a:ea typeface="Cambria Math"/>
                      </a:rPr>
                      <m:t>∝</m:t>
                    </m:r>
                  </m:oMath>
                </a14:m>
                <a:r>
                  <a:rPr lang="pt-BR" dirty="0"/>
                  <a:t> P</a:t>
                </a:r>
                <a:r>
                  <a:rPr lang="pt-BR" baseline="-25000" dirty="0"/>
                  <a:t>1  </a:t>
                </a:r>
                <a:r>
                  <a:rPr lang="pt-BR" dirty="0"/>
                  <a:t>para todo P’ </a:t>
                </a:r>
                <a14:m>
                  <m:oMath xmlns:m="http://schemas.openxmlformats.org/officeDocument/2006/math">
                    <m:r>
                      <a:rPr lang="pt-BR" i="1" dirty="0">
                        <a:latin typeface="Cambria Math"/>
                        <a:ea typeface="Cambria Math"/>
                      </a:rPr>
                      <m:t>∈ </m:t>
                    </m:r>
                  </m:oMath>
                </a14:m>
                <a:r>
                  <a:rPr lang="pt-BR" dirty="0"/>
                  <a:t>NP-Completo</a:t>
                </a:r>
              </a:p>
              <a:p>
                <a:pPr marL="457200" lvl="1" indent="0">
                  <a:buNone/>
                </a:pPr>
                <a:endParaRPr lang="pt-BR" dirty="0"/>
              </a:p>
              <a:p>
                <a:r>
                  <a:rPr lang="pt-BR" dirty="0"/>
                  <a:t>Quando P</a:t>
                </a:r>
                <a:r>
                  <a:rPr lang="pt-BR" baseline="-25000" dirty="0"/>
                  <a:t>1</a:t>
                </a:r>
                <a:r>
                  <a:rPr lang="pt-BR" dirty="0"/>
                  <a:t> é NP-Difícil?</a:t>
                </a:r>
              </a:p>
              <a:p>
                <a:pPr lvl="1"/>
                <a:r>
                  <a:rPr lang="pt-BR" dirty="0"/>
                  <a:t>Quando apenas a propriedade 2 for válida.</a:t>
                </a:r>
              </a:p>
              <a:p>
                <a:pPr marL="0" indent="0">
                  <a:buNone/>
                </a:pPr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175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9290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C4FAF3-012C-4A61-A0EC-0E7349F73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 da Parada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DACE8D2-904F-4B43-9778-130CCC2002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Dado um algoritmo determinista qualquer A com entrada E, A termina ou entra em loop infinito?</a:t>
            </a:r>
          </a:p>
          <a:p>
            <a:endParaRPr lang="pt-BR" dirty="0"/>
          </a:p>
          <a:p>
            <a:r>
              <a:rPr lang="pt-BR" dirty="0"/>
              <a:t>Problema NP-difícil mas que não é NP-Completo.</a:t>
            </a:r>
          </a:p>
          <a:p>
            <a:pPr lvl="1"/>
            <a:r>
              <a:rPr lang="pt-BR" dirty="0"/>
              <a:t>Problema indecidível: não há algoritmo de qualquer complexidade que o resolva</a:t>
            </a:r>
          </a:p>
        </p:txBody>
      </p:sp>
    </p:spTree>
    <p:extLst>
      <p:ext uri="{BB962C8B-B14F-4D97-AF65-F5344CB8AC3E}">
        <p14:creationId xmlns:p14="http://schemas.microsoft.com/office/powerpoint/2010/main" val="22994133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647CF2-D9E9-45C0-BDD5-F9A2867A3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SAT ∝ Parada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E64799-670A-40CE-AE90-80FF2A503F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Problema da </a:t>
            </a:r>
            <a:r>
              <a:rPr lang="pt-BR" dirty="0" err="1"/>
              <a:t>Satisfabilidade</a:t>
            </a:r>
            <a:r>
              <a:rPr lang="pt-BR" dirty="0"/>
              <a:t> (SAT): dada as variáveis booleanas x1, x2, x3, x4 e a expressão S = (x1 + x2)(x2 + x3 + x4), existe alguma (pelo menos uma) atribuição de valores verdade para as variáveis de tal forma que torne a fórmula verdadeira?</a:t>
            </a:r>
          </a:p>
        </p:txBody>
      </p:sp>
    </p:spTree>
    <p:extLst>
      <p:ext uri="{BB962C8B-B14F-4D97-AF65-F5344CB8AC3E}">
        <p14:creationId xmlns:p14="http://schemas.microsoft.com/office/powerpoint/2010/main" val="36344333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BCC43C-8AD1-4342-8175-DE1BB6BC8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SAT ∝ Parada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4EEE40-0CA0-4A40-B604-D2C9BE93FD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sz="2800" dirty="0"/>
              <a:t>Seja a entrada do SAT uma expressão booleana S qualquer</a:t>
            </a:r>
          </a:p>
          <a:p>
            <a:r>
              <a:rPr lang="pt-BR" sz="2800" dirty="0"/>
              <a:t>Construa uma instância do problema da parada consistindo de um algoritmo A e entrada E como segue:</a:t>
            </a:r>
          </a:p>
          <a:p>
            <a:pPr lvl="1"/>
            <a:r>
              <a:rPr lang="pt-BR" sz="2400" dirty="0"/>
              <a:t>Faça E = S</a:t>
            </a:r>
          </a:p>
          <a:p>
            <a:pPr lvl="1"/>
            <a:r>
              <a:rPr lang="pt-BR" sz="2400" dirty="0"/>
              <a:t>Seja A o algoritmo:</a:t>
            </a:r>
          </a:p>
          <a:p>
            <a:pPr lvl="2"/>
            <a:r>
              <a:rPr lang="pt-BR" sz="2000" dirty="0"/>
              <a:t>Avalie todas as 2</a:t>
            </a:r>
            <a:r>
              <a:rPr lang="pt-BR" sz="2000" baseline="30000" dirty="0"/>
              <a:t>n</a:t>
            </a:r>
            <a:r>
              <a:rPr lang="pt-BR" sz="2000" dirty="0"/>
              <a:t> possibilidade de atribuição de valores booleanos para as n variáveis que compõem S</a:t>
            </a:r>
          </a:p>
          <a:p>
            <a:pPr lvl="2"/>
            <a:r>
              <a:rPr lang="pt-BR" sz="2000" dirty="0"/>
              <a:t>Se S for </a:t>
            </a:r>
            <a:r>
              <a:rPr lang="pt-BR" sz="2000" dirty="0" err="1"/>
              <a:t>satisfatível</a:t>
            </a:r>
            <a:r>
              <a:rPr lang="pt-BR" sz="2000" dirty="0"/>
              <a:t> (alguma das possibilidades resulta em S = </a:t>
            </a:r>
            <a:r>
              <a:rPr lang="pt-BR" sz="2000" dirty="0" err="1"/>
              <a:t>true</a:t>
            </a:r>
            <a:r>
              <a:rPr lang="pt-BR" sz="2000" dirty="0"/>
              <a:t>), o algoritmo termina (</a:t>
            </a:r>
            <a:r>
              <a:rPr lang="pt-BR" sz="2000" dirty="0" err="1"/>
              <a:t>return</a:t>
            </a:r>
            <a:r>
              <a:rPr lang="pt-BR" sz="2000" dirty="0"/>
              <a:t>)</a:t>
            </a:r>
          </a:p>
          <a:p>
            <a:pPr lvl="2"/>
            <a:r>
              <a:rPr lang="pt-BR" sz="2000" dirty="0"/>
              <a:t>Senão, ele entra em loop infinito (</a:t>
            </a:r>
            <a:r>
              <a:rPr lang="pt-BR" sz="2000" dirty="0" err="1"/>
              <a:t>while</a:t>
            </a:r>
            <a:r>
              <a:rPr lang="pt-BR" sz="2000" dirty="0"/>
              <a:t>(1))</a:t>
            </a:r>
          </a:p>
          <a:p>
            <a:pPr lvl="2"/>
            <a:endParaRPr lang="pt-BR" sz="2000" dirty="0"/>
          </a:p>
          <a:p>
            <a:r>
              <a:rPr lang="pt-BR" sz="2800" dirty="0"/>
              <a:t>S é </a:t>
            </a:r>
            <a:r>
              <a:rPr lang="pt-BR" sz="2800" dirty="0" err="1"/>
              <a:t>satisfatível</a:t>
            </a:r>
            <a:r>
              <a:rPr lang="pt-BR" sz="2800" dirty="0"/>
              <a:t> se e somente se A para.</a:t>
            </a:r>
          </a:p>
        </p:txBody>
      </p:sp>
    </p:spTree>
    <p:extLst>
      <p:ext uri="{BB962C8B-B14F-4D97-AF65-F5344CB8AC3E}">
        <p14:creationId xmlns:p14="http://schemas.microsoft.com/office/powerpoint/2010/main" val="38260207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BCC43C-8AD1-4342-8175-DE1BB6BC8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primeiro problema NP-Completo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4EEE40-0CA0-4A40-B604-D2C9BE93FD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CIRCUIT – SAT (problema da </a:t>
            </a:r>
            <a:r>
              <a:rPr lang="pt-BR" dirty="0" err="1"/>
              <a:t>satisfatibilidade</a:t>
            </a:r>
            <a:r>
              <a:rPr lang="pt-BR" dirty="0"/>
              <a:t> de circuito lógico)</a:t>
            </a:r>
          </a:p>
          <a:p>
            <a:pPr lvl="1"/>
            <a:r>
              <a:rPr lang="pt-BR" dirty="0"/>
              <a:t>CIRCUIT – SAT ∈ NP</a:t>
            </a:r>
          </a:p>
          <a:p>
            <a:pPr lvl="1"/>
            <a:r>
              <a:rPr lang="pt-BR" dirty="0"/>
              <a:t>P ∝ CIRCUIT – SAT para todo P ∈ NP </a:t>
            </a:r>
          </a:p>
          <a:p>
            <a:pPr lvl="2"/>
            <a:r>
              <a:rPr lang="pt-BR" dirty="0"/>
              <a:t>Prova: mostra como obter de um algoritmo polinomial A com entrada E que verifica uma candidata a solução S’ um circuito </a:t>
            </a:r>
            <a:r>
              <a:rPr lang="pt-BR" dirty="0" err="1"/>
              <a:t>combinatorial</a:t>
            </a:r>
            <a:r>
              <a:rPr lang="pt-BR" dirty="0"/>
              <a:t> C tal que S’ é solução se e somente se C é </a:t>
            </a:r>
            <a:r>
              <a:rPr lang="pt-BR" dirty="0" err="1"/>
              <a:t>satisfatível</a:t>
            </a:r>
            <a:endParaRPr lang="pt-BR" dirty="0"/>
          </a:p>
          <a:p>
            <a:pPr lvl="2"/>
            <a:r>
              <a:rPr lang="pt-BR" dirty="0"/>
              <a:t>“simula” execução de A com C</a:t>
            </a:r>
          </a:p>
          <a:p>
            <a:pPr lvl="2"/>
            <a:r>
              <a:rPr lang="pt-BR" dirty="0"/>
              <a:t>Transformação em tempo polinomial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758714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Exercício: Mostre que o Problema de Isomorfismo de </a:t>
            </a:r>
            <a:r>
              <a:rPr lang="pt-BR" dirty="0" err="1"/>
              <a:t>Subgrafos</a:t>
            </a:r>
            <a:r>
              <a:rPr lang="pt-BR" dirty="0"/>
              <a:t> é NP-Completo</a:t>
            </a:r>
          </a:p>
        </p:txBody>
      </p:sp>
    </p:spTree>
    <p:extLst>
      <p:ext uri="{BB962C8B-B14F-4D97-AF65-F5344CB8AC3E}">
        <p14:creationId xmlns:p14="http://schemas.microsoft.com/office/powerpoint/2010/main" val="1695150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um </a:t>
            </a:r>
            <a:r>
              <a:rPr lang="pt-BR" dirty="0" err="1"/>
              <a:t>subgrafo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pt-BR" dirty="0"/>
                  <a:t>Um </a:t>
                </a:r>
                <a:r>
                  <a:rPr lang="pt-BR" dirty="0" err="1"/>
                  <a:t>subgrafo</a:t>
                </a:r>
                <a:r>
                  <a:rPr lang="pt-BR" dirty="0"/>
                  <a:t> de um grafo G é um grafo cujo conjunto de vértices é um subconjunto dos vértices de G, e cuja relação de adjacência é um subconjunto das relações de G restrita a este subconjunto.</a:t>
                </a:r>
              </a:p>
              <a:p>
                <a:endParaRPr lang="pt-BR" dirty="0"/>
              </a:p>
              <a:p>
                <a:r>
                  <a:rPr lang="pt-BR" dirty="0"/>
                  <a:t>Pode-se dizer também que um grafo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dirty="0" smtClean="0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pt-BR" b="0" i="1" dirty="0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dirty="0"/>
                  <a:t> contém outro grafo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 dirty="0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pt-BR" b="0" i="1" dirty="0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dirty="0"/>
                  <a:t> se algum </a:t>
                </a:r>
                <a:r>
                  <a:rPr lang="pt-BR" dirty="0" err="1"/>
                  <a:t>subgrafo</a:t>
                </a:r>
                <a:r>
                  <a:rPr lang="pt-BR" dirty="0"/>
                  <a:t>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 dirty="0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pt-BR" i="1" dirty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dirty="0"/>
                  <a:t> é isomórfico ao grafo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 dirty="0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pt-BR" b="0" i="1" dirty="0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283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35911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um </a:t>
            </a:r>
            <a:r>
              <a:rPr lang="pt-BR" dirty="0" err="1"/>
              <a:t>subgrafo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1628056" y="2564904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2699792" y="2559089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1645026" y="3501008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2699792" y="3501008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3563888" y="2996952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899592" y="3068960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onector reto 10"/>
          <p:cNvCxnSpPr>
            <a:stCxn id="8" idx="1"/>
            <a:endCxn id="5" idx="6"/>
          </p:cNvCxnSpPr>
          <p:nvPr/>
        </p:nvCxnSpPr>
        <p:spPr>
          <a:xfrm flipH="1" flipV="1">
            <a:off x="2843808" y="2631097"/>
            <a:ext cx="741171" cy="3869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/>
          <p:nvPr/>
        </p:nvCxnSpPr>
        <p:spPr>
          <a:xfrm flipH="1">
            <a:off x="1772072" y="2578834"/>
            <a:ext cx="927720" cy="5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4" idx="4"/>
            <a:endCxn id="6" idx="4"/>
          </p:cNvCxnSpPr>
          <p:nvPr/>
        </p:nvCxnSpPr>
        <p:spPr>
          <a:xfrm>
            <a:off x="1700064" y="2708920"/>
            <a:ext cx="16970" cy="9361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/>
          <p:cNvCxnSpPr>
            <a:stCxn id="6" idx="6"/>
            <a:endCxn id="7" idx="2"/>
          </p:cNvCxnSpPr>
          <p:nvPr/>
        </p:nvCxnSpPr>
        <p:spPr>
          <a:xfrm>
            <a:off x="1789042" y="3573016"/>
            <a:ext cx="9107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/>
          <p:cNvCxnSpPr>
            <a:stCxn id="5" idx="4"/>
            <a:endCxn id="7" idx="4"/>
          </p:cNvCxnSpPr>
          <p:nvPr/>
        </p:nvCxnSpPr>
        <p:spPr>
          <a:xfrm>
            <a:off x="2771800" y="2703105"/>
            <a:ext cx="0" cy="9419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>
            <a:stCxn id="9" idx="6"/>
            <a:endCxn id="6" idx="5"/>
          </p:cNvCxnSpPr>
          <p:nvPr/>
        </p:nvCxnSpPr>
        <p:spPr>
          <a:xfrm>
            <a:off x="1043608" y="3140968"/>
            <a:ext cx="724343" cy="4829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1559658" y="227687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1</a:t>
            </a:r>
            <a:endParaRPr lang="pt-BR" dirty="0"/>
          </a:p>
        </p:txBody>
      </p:sp>
      <p:sp>
        <p:nvSpPr>
          <p:cNvPr id="27" name="CaixaDeTexto 26"/>
          <p:cNvSpPr txBox="1"/>
          <p:nvPr/>
        </p:nvSpPr>
        <p:spPr>
          <a:xfrm>
            <a:off x="2639778" y="227687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2</a:t>
            </a:r>
            <a:endParaRPr lang="pt-BR" dirty="0"/>
          </a:p>
        </p:txBody>
      </p:sp>
      <p:sp>
        <p:nvSpPr>
          <p:cNvPr id="28" name="CaixaDeTexto 27"/>
          <p:cNvSpPr txBox="1"/>
          <p:nvPr/>
        </p:nvSpPr>
        <p:spPr>
          <a:xfrm>
            <a:off x="1559658" y="362527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3</a:t>
            </a:r>
            <a:endParaRPr lang="pt-BR" dirty="0"/>
          </a:p>
        </p:txBody>
      </p:sp>
      <p:sp>
        <p:nvSpPr>
          <p:cNvPr id="29" name="CaixaDeTexto 28"/>
          <p:cNvSpPr txBox="1"/>
          <p:nvPr/>
        </p:nvSpPr>
        <p:spPr>
          <a:xfrm>
            <a:off x="2639778" y="362527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4</a:t>
            </a:r>
            <a:endParaRPr lang="pt-BR" dirty="0"/>
          </a:p>
        </p:txBody>
      </p:sp>
      <p:sp>
        <p:nvSpPr>
          <p:cNvPr id="30" name="CaixaDeTexto 29"/>
          <p:cNvSpPr txBox="1"/>
          <p:nvPr/>
        </p:nvSpPr>
        <p:spPr>
          <a:xfrm>
            <a:off x="3500446" y="3140968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5</a:t>
            </a:r>
            <a:endParaRPr lang="pt-BR" dirty="0"/>
          </a:p>
        </p:txBody>
      </p:sp>
      <p:sp>
        <p:nvSpPr>
          <p:cNvPr id="31" name="CaixaDeTexto 30"/>
          <p:cNvSpPr txBox="1"/>
          <p:nvPr/>
        </p:nvSpPr>
        <p:spPr>
          <a:xfrm>
            <a:off x="827584" y="2780928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6</a:t>
            </a:r>
            <a:endParaRPr lang="pt-BR" dirty="0"/>
          </a:p>
        </p:txBody>
      </p:sp>
      <p:cxnSp>
        <p:nvCxnSpPr>
          <p:cNvPr id="33" name="Conector reto 32"/>
          <p:cNvCxnSpPr>
            <a:stCxn id="4" idx="5"/>
            <a:endCxn id="7" idx="5"/>
          </p:cNvCxnSpPr>
          <p:nvPr/>
        </p:nvCxnSpPr>
        <p:spPr>
          <a:xfrm>
            <a:off x="1750981" y="2687829"/>
            <a:ext cx="1071736" cy="9361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/>
          <p:nvPr/>
        </p:nvSpPr>
        <p:spPr>
          <a:xfrm>
            <a:off x="5648510" y="2564904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Elipse 34"/>
          <p:cNvSpPr/>
          <p:nvPr/>
        </p:nvSpPr>
        <p:spPr>
          <a:xfrm>
            <a:off x="6720246" y="2559089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Elipse 35"/>
          <p:cNvSpPr/>
          <p:nvPr/>
        </p:nvSpPr>
        <p:spPr>
          <a:xfrm>
            <a:off x="5665480" y="3501008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/>
          <p:cNvSpPr/>
          <p:nvPr/>
        </p:nvSpPr>
        <p:spPr>
          <a:xfrm>
            <a:off x="6720246" y="3501008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/>
          <p:cNvSpPr/>
          <p:nvPr/>
        </p:nvSpPr>
        <p:spPr>
          <a:xfrm>
            <a:off x="7584342" y="2996952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0" name="Conector reto 39"/>
          <p:cNvCxnSpPr>
            <a:stCxn id="38" idx="1"/>
            <a:endCxn id="35" idx="6"/>
          </p:cNvCxnSpPr>
          <p:nvPr/>
        </p:nvCxnSpPr>
        <p:spPr>
          <a:xfrm flipH="1" flipV="1">
            <a:off x="6864262" y="2631097"/>
            <a:ext cx="741171" cy="3869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/>
          <p:nvPr/>
        </p:nvCxnSpPr>
        <p:spPr>
          <a:xfrm flipH="1">
            <a:off x="5792526" y="2578834"/>
            <a:ext cx="927720" cy="5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to 41"/>
          <p:cNvCxnSpPr>
            <a:stCxn id="34" idx="4"/>
            <a:endCxn id="36" idx="4"/>
          </p:cNvCxnSpPr>
          <p:nvPr/>
        </p:nvCxnSpPr>
        <p:spPr>
          <a:xfrm>
            <a:off x="5720518" y="2708920"/>
            <a:ext cx="16970" cy="9361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/>
          <p:cNvCxnSpPr>
            <a:stCxn id="36" idx="6"/>
            <a:endCxn id="37" idx="2"/>
          </p:cNvCxnSpPr>
          <p:nvPr/>
        </p:nvCxnSpPr>
        <p:spPr>
          <a:xfrm>
            <a:off x="5809496" y="3573016"/>
            <a:ext cx="9107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/>
          <p:cNvCxnSpPr>
            <a:stCxn id="35" idx="4"/>
            <a:endCxn id="37" idx="4"/>
          </p:cNvCxnSpPr>
          <p:nvPr/>
        </p:nvCxnSpPr>
        <p:spPr>
          <a:xfrm>
            <a:off x="6792254" y="2703105"/>
            <a:ext cx="0" cy="9419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aixaDeTexto 45"/>
          <p:cNvSpPr txBox="1"/>
          <p:nvPr/>
        </p:nvSpPr>
        <p:spPr>
          <a:xfrm>
            <a:off x="5580112" y="227687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1</a:t>
            </a:r>
            <a:endParaRPr lang="pt-BR" dirty="0"/>
          </a:p>
        </p:txBody>
      </p:sp>
      <p:sp>
        <p:nvSpPr>
          <p:cNvPr id="47" name="CaixaDeTexto 46"/>
          <p:cNvSpPr txBox="1"/>
          <p:nvPr/>
        </p:nvSpPr>
        <p:spPr>
          <a:xfrm>
            <a:off x="6660232" y="227687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2</a:t>
            </a:r>
            <a:endParaRPr lang="pt-BR" dirty="0"/>
          </a:p>
        </p:txBody>
      </p:sp>
      <p:sp>
        <p:nvSpPr>
          <p:cNvPr id="48" name="CaixaDeTexto 47"/>
          <p:cNvSpPr txBox="1"/>
          <p:nvPr/>
        </p:nvSpPr>
        <p:spPr>
          <a:xfrm>
            <a:off x="5580112" y="362527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3</a:t>
            </a:r>
            <a:endParaRPr lang="pt-BR" dirty="0"/>
          </a:p>
        </p:txBody>
      </p:sp>
      <p:sp>
        <p:nvSpPr>
          <p:cNvPr id="49" name="CaixaDeTexto 48"/>
          <p:cNvSpPr txBox="1"/>
          <p:nvPr/>
        </p:nvSpPr>
        <p:spPr>
          <a:xfrm>
            <a:off x="6660232" y="362527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4</a:t>
            </a:r>
            <a:endParaRPr lang="pt-BR" dirty="0"/>
          </a:p>
        </p:txBody>
      </p:sp>
      <p:sp>
        <p:nvSpPr>
          <p:cNvPr id="50" name="CaixaDeTexto 49"/>
          <p:cNvSpPr txBox="1"/>
          <p:nvPr/>
        </p:nvSpPr>
        <p:spPr>
          <a:xfrm>
            <a:off x="7520900" y="3140968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5</a:t>
            </a:r>
            <a:endParaRPr lang="pt-BR" dirty="0"/>
          </a:p>
        </p:txBody>
      </p:sp>
      <p:cxnSp>
        <p:nvCxnSpPr>
          <p:cNvPr id="52" name="Conector reto 51"/>
          <p:cNvCxnSpPr>
            <a:stCxn id="34" idx="5"/>
            <a:endCxn id="37" idx="5"/>
          </p:cNvCxnSpPr>
          <p:nvPr/>
        </p:nvCxnSpPr>
        <p:spPr>
          <a:xfrm>
            <a:off x="5771435" y="2687829"/>
            <a:ext cx="1071736" cy="9361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CaixaDeTexto 52"/>
              <p:cNvSpPr txBox="1"/>
              <p:nvPr/>
            </p:nvSpPr>
            <p:spPr>
              <a:xfrm>
                <a:off x="755576" y="1700808"/>
                <a:ext cx="4787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𝐺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3" name="CaixaDeTexto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1700808"/>
                <a:ext cx="478721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CaixaDeTexto 53"/>
              <p:cNvSpPr txBox="1"/>
              <p:nvPr/>
            </p:nvSpPr>
            <p:spPr>
              <a:xfrm>
                <a:off x="5508104" y="1700808"/>
                <a:ext cx="4840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𝐺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4" name="CaixaDeTexto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8104" y="1700808"/>
                <a:ext cx="484042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4509120"/>
                <a:ext cx="8229600" cy="1617043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t-BR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pt-BR" dirty="0"/>
                  <a:t>é um </a:t>
                </a:r>
                <a:r>
                  <a:rPr lang="pt-BR" dirty="0" err="1"/>
                  <a:t>subgrafo</a:t>
                </a:r>
                <a:r>
                  <a:rPr lang="pt-BR" dirty="0"/>
                  <a:t>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dirty="0"/>
                  <a:t>.</a:t>
                </a:r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55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4509120"/>
                <a:ext cx="8229600" cy="1617043"/>
              </a:xfrm>
              <a:blipFill rotWithShape="1">
                <a:blip r:embed="rId4"/>
                <a:stretch>
                  <a:fillRect t="-452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81580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Isomorfismo de Grafos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800" dirty="0"/>
                  <a:t>Dois </a:t>
                </a:r>
                <a:r>
                  <a:rPr lang="en-US" sz="2800" dirty="0" err="1"/>
                  <a:t>grafos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dirty="0" smtClean="0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800" i="1" dirty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dirty="0" smtClean="0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800" b="0" i="1" dirty="0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/>
                  <a:t> </a:t>
                </a:r>
                <a:r>
                  <a:rPr lang="en-US" sz="2800" dirty="0" err="1"/>
                  <a:t>são</a:t>
                </a:r>
                <a:r>
                  <a:rPr lang="en-US" sz="2800" dirty="0"/>
                  <a:t> </a:t>
                </a:r>
                <a:r>
                  <a:rPr lang="en-US" sz="2800" dirty="0" err="1"/>
                  <a:t>isomórficos</a:t>
                </a:r>
                <a:r>
                  <a:rPr lang="en-US" sz="2800" dirty="0"/>
                  <a:t>, se </a:t>
                </a:r>
                <a:r>
                  <a:rPr lang="en-US" sz="2800" dirty="0" err="1"/>
                  <a:t>existe</a:t>
                </a:r>
                <a:r>
                  <a:rPr lang="en-US" sz="2800" dirty="0"/>
                  <a:t> </a:t>
                </a:r>
                <a:r>
                  <a:rPr lang="en-US" sz="2800" dirty="0" err="1"/>
                  <a:t>uma</a:t>
                </a:r>
                <a:r>
                  <a:rPr lang="en-US" sz="2800" dirty="0"/>
                  <a:t> </a:t>
                </a:r>
                <a:r>
                  <a:rPr lang="en-US" sz="2800" dirty="0" err="1"/>
                  <a:t>correspodência</a:t>
                </a:r>
                <a:r>
                  <a:rPr lang="en-US" sz="2800" dirty="0"/>
                  <a:t> um </a:t>
                </a:r>
                <a:r>
                  <a:rPr lang="en-US" sz="2800" dirty="0" err="1"/>
                  <a:t>para</a:t>
                </a:r>
                <a:r>
                  <a:rPr lang="en-US" sz="2800" dirty="0"/>
                  <a:t> um entre </a:t>
                </a:r>
                <a:r>
                  <a:rPr lang="en-US" sz="2800" dirty="0" err="1"/>
                  <a:t>os</a:t>
                </a:r>
                <a:r>
                  <a:rPr lang="en-US" sz="2800" dirty="0"/>
                  <a:t> </a:t>
                </a:r>
                <a:r>
                  <a:rPr lang="en-US" sz="2800" dirty="0" err="1"/>
                  <a:t>vértices</a:t>
                </a:r>
                <a:r>
                  <a:rPr lang="en-US" sz="2800" dirty="0"/>
                  <a:t> dos </a:t>
                </a:r>
                <a:r>
                  <a:rPr lang="en-US" sz="2800" dirty="0" err="1"/>
                  <a:t>grafos</a:t>
                </a:r>
                <a:r>
                  <a:rPr lang="en-US" sz="2800" dirty="0"/>
                  <a:t>, </a:t>
                </a:r>
                <a:r>
                  <a:rPr lang="en-US" sz="2800" dirty="0" err="1"/>
                  <a:t>talque</a:t>
                </a:r>
                <a:r>
                  <a:rPr lang="en-US" sz="2800" dirty="0"/>
                  <a:t> </a:t>
                </a:r>
                <a:r>
                  <a:rPr lang="en-US" sz="2800" dirty="0" err="1"/>
                  <a:t>dois</a:t>
                </a:r>
                <a:r>
                  <a:rPr lang="en-US" sz="2800" dirty="0"/>
                  <a:t> </a:t>
                </a:r>
                <a:r>
                  <a:rPr lang="en-US" sz="2800" dirty="0" err="1"/>
                  <a:t>vértices</a:t>
                </a:r>
                <a:r>
                  <a:rPr lang="en-US" sz="2800" dirty="0"/>
                  <a:t> </a:t>
                </a:r>
                <a:r>
                  <a:rPr lang="en-US" sz="2800" dirty="0" err="1"/>
                  <a:t>são</a:t>
                </a:r>
                <a:r>
                  <a:rPr lang="en-US" sz="2800" dirty="0"/>
                  <a:t> </a:t>
                </a:r>
                <a:r>
                  <a:rPr lang="pt-BR" sz="2800" dirty="0"/>
                  <a:t>adjacentes</a:t>
                </a:r>
                <a:r>
                  <a:rPr lang="en-US" sz="2800" dirty="0"/>
                  <a:t> </a:t>
                </a:r>
                <a:r>
                  <a:rPr lang="en-US" sz="2800" dirty="0" err="1"/>
                  <a:t>em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dirty="0" smtClean="0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800" i="1" dirty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/>
                  <a:t> se, e </a:t>
                </a:r>
                <a:r>
                  <a:rPr lang="en-US" sz="2800" dirty="0" err="1"/>
                  <a:t>somente</a:t>
                </a:r>
                <a:r>
                  <a:rPr lang="en-US" sz="2800" dirty="0"/>
                  <a:t> se, </a:t>
                </a:r>
                <a:r>
                  <a:rPr lang="en-US" sz="2800" dirty="0" err="1"/>
                  <a:t>seus</a:t>
                </a:r>
                <a:r>
                  <a:rPr lang="en-US" sz="2800" dirty="0"/>
                  <a:t> </a:t>
                </a:r>
                <a:r>
                  <a:rPr lang="en-US" sz="2800" dirty="0" err="1"/>
                  <a:t>conrrespondentes</a:t>
                </a:r>
                <a:r>
                  <a:rPr lang="en-US" sz="2800" dirty="0"/>
                  <a:t> </a:t>
                </a:r>
                <a:r>
                  <a:rPr lang="en-US" sz="2800" dirty="0" err="1"/>
                  <a:t>vértices</a:t>
                </a:r>
                <a:r>
                  <a:rPr lang="en-US" sz="2800" dirty="0"/>
                  <a:t> </a:t>
                </a:r>
                <a:r>
                  <a:rPr lang="en-US" sz="2800" dirty="0" err="1"/>
                  <a:t>em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 dirty="0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800" i="1" dirty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/>
                  <a:t> </a:t>
                </a:r>
                <a:r>
                  <a:rPr lang="en-US" sz="2800" dirty="0" err="1"/>
                  <a:t>são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também</a:t>
                </a:r>
                <a:r>
                  <a:rPr lang="en-US" sz="2800" dirty="0"/>
                  <a:t> </a:t>
                </a:r>
                <a:r>
                  <a:rPr lang="en-US" sz="2800" dirty="0" err="1"/>
                  <a:t>adjacentes</a:t>
                </a:r>
                <a:r>
                  <a:rPr lang="en-US" sz="2800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259" t="-1213" r="-44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3874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Isomorfismo de Grafos</a:t>
            </a:r>
          </a:p>
        </p:txBody>
      </p:sp>
      <p:sp>
        <p:nvSpPr>
          <p:cNvPr id="4" name="Elipse 3"/>
          <p:cNvSpPr/>
          <p:nvPr/>
        </p:nvSpPr>
        <p:spPr>
          <a:xfrm>
            <a:off x="2348136" y="1844824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2365106" y="2780928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3419872" y="2780928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1619672" y="2348880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reto 11"/>
          <p:cNvCxnSpPr>
            <a:stCxn id="4" idx="4"/>
            <a:endCxn id="6" idx="4"/>
          </p:cNvCxnSpPr>
          <p:nvPr/>
        </p:nvCxnSpPr>
        <p:spPr>
          <a:xfrm>
            <a:off x="2420144" y="1988840"/>
            <a:ext cx="16970" cy="9361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6" idx="6"/>
            <a:endCxn id="7" idx="2"/>
          </p:cNvCxnSpPr>
          <p:nvPr/>
        </p:nvCxnSpPr>
        <p:spPr>
          <a:xfrm>
            <a:off x="2509122" y="2852936"/>
            <a:ext cx="9107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9" idx="6"/>
            <a:endCxn id="6" idx="5"/>
          </p:cNvCxnSpPr>
          <p:nvPr/>
        </p:nvCxnSpPr>
        <p:spPr>
          <a:xfrm>
            <a:off x="1763688" y="2420888"/>
            <a:ext cx="724343" cy="4829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2279738" y="155679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1</a:t>
            </a:r>
            <a:endParaRPr lang="pt-BR" dirty="0"/>
          </a:p>
        </p:txBody>
      </p:sp>
      <p:sp>
        <p:nvSpPr>
          <p:cNvPr id="18" name="CaixaDeTexto 17"/>
          <p:cNvSpPr txBox="1"/>
          <p:nvPr/>
        </p:nvSpPr>
        <p:spPr>
          <a:xfrm>
            <a:off x="2279738" y="290519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3</a:t>
            </a:r>
            <a:endParaRPr lang="pt-BR" dirty="0"/>
          </a:p>
        </p:txBody>
      </p:sp>
      <p:sp>
        <p:nvSpPr>
          <p:cNvPr id="19" name="CaixaDeTexto 18"/>
          <p:cNvSpPr txBox="1"/>
          <p:nvPr/>
        </p:nvSpPr>
        <p:spPr>
          <a:xfrm>
            <a:off x="3359858" y="290519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4</a:t>
            </a:r>
            <a:endParaRPr lang="pt-BR" dirty="0"/>
          </a:p>
        </p:txBody>
      </p:sp>
      <p:sp>
        <p:nvSpPr>
          <p:cNvPr id="21" name="CaixaDeTexto 20"/>
          <p:cNvSpPr txBox="1"/>
          <p:nvPr/>
        </p:nvSpPr>
        <p:spPr>
          <a:xfrm>
            <a:off x="1547664" y="2060848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6</a:t>
            </a:r>
            <a:endParaRPr lang="pt-BR" dirty="0"/>
          </a:p>
        </p:txBody>
      </p:sp>
      <p:cxnSp>
        <p:nvCxnSpPr>
          <p:cNvPr id="22" name="Conector reto 21"/>
          <p:cNvCxnSpPr>
            <a:stCxn id="4" idx="5"/>
            <a:endCxn id="7" idx="5"/>
          </p:cNvCxnSpPr>
          <p:nvPr/>
        </p:nvCxnSpPr>
        <p:spPr>
          <a:xfrm>
            <a:off x="2471061" y="1967749"/>
            <a:ext cx="1071736" cy="9361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Elipse 22"/>
          <p:cNvSpPr/>
          <p:nvPr/>
        </p:nvSpPr>
        <p:spPr>
          <a:xfrm>
            <a:off x="6368590" y="1844824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Elipse 24"/>
          <p:cNvSpPr/>
          <p:nvPr/>
        </p:nvSpPr>
        <p:spPr>
          <a:xfrm>
            <a:off x="6385560" y="2780928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Elipse 25"/>
          <p:cNvSpPr/>
          <p:nvPr/>
        </p:nvSpPr>
        <p:spPr>
          <a:xfrm>
            <a:off x="7440326" y="2780928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0" name="Conector reto 29"/>
          <p:cNvCxnSpPr>
            <a:stCxn id="23" idx="4"/>
            <a:endCxn id="25" idx="4"/>
          </p:cNvCxnSpPr>
          <p:nvPr/>
        </p:nvCxnSpPr>
        <p:spPr>
          <a:xfrm>
            <a:off x="6440598" y="1988840"/>
            <a:ext cx="16970" cy="9361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to 30"/>
          <p:cNvCxnSpPr>
            <a:stCxn id="25" idx="6"/>
            <a:endCxn id="26" idx="2"/>
          </p:cNvCxnSpPr>
          <p:nvPr/>
        </p:nvCxnSpPr>
        <p:spPr>
          <a:xfrm>
            <a:off x="6529576" y="2852936"/>
            <a:ext cx="9107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/>
          <p:cNvSpPr txBox="1"/>
          <p:nvPr/>
        </p:nvSpPr>
        <p:spPr>
          <a:xfrm>
            <a:off x="6300192" y="155679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3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6300192" y="290519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1</a:t>
            </a:r>
            <a:endParaRPr lang="pt-BR" dirty="0"/>
          </a:p>
        </p:txBody>
      </p:sp>
      <p:sp>
        <p:nvSpPr>
          <p:cNvPr id="36" name="CaixaDeTexto 35"/>
          <p:cNvSpPr txBox="1"/>
          <p:nvPr/>
        </p:nvSpPr>
        <p:spPr>
          <a:xfrm>
            <a:off x="7380312" y="290519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4</a:t>
            </a:r>
            <a:endParaRPr lang="pt-BR" dirty="0"/>
          </a:p>
        </p:txBody>
      </p:sp>
      <p:cxnSp>
        <p:nvCxnSpPr>
          <p:cNvPr id="38" name="Conector reto 37"/>
          <p:cNvCxnSpPr>
            <a:stCxn id="23" idx="5"/>
            <a:endCxn id="26" idx="5"/>
          </p:cNvCxnSpPr>
          <p:nvPr/>
        </p:nvCxnSpPr>
        <p:spPr>
          <a:xfrm>
            <a:off x="6491515" y="1967749"/>
            <a:ext cx="1071736" cy="9361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aixaDeTexto 38"/>
              <p:cNvSpPr txBox="1"/>
              <p:nvPr/>
            </p:nvSpPr>
            <p:spPr>
              <a:xfrm>
                <a:off x="755576" y="1700808"/>
                <a:ext cx="4787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𝐺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9" name="CaixaDeTexto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1700808"/>
                <a:ext cx="478721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CaixaDeTexto 39"/>
              <p:cNvSpPr txBox="1"/>
              <p:nvPr/>
            </p:nvSpPr>
            <p:spPr>
              <a:xfrm>
                <a:off x="4427984" y="1700808"/>
                <a:ext cx="4840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𝐺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0" name="CaixaDeTexto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7984" y="1700808"/>
                <a:ext cx="484042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Elipse 43"/>
          <p:cNvSpPr/>
          <p:nvPr/>
        </p:nvSpPr>
        <p:spPr>
          <a:xfrm>
            <a:off x="5580112" y="2348880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5" name="Conector reto 44"/>
          <p:cNvCxnSpPr>
            <a:stCxn id="44" idx="6"/>
            <a:endCxn id="23" idx="2"/>
          </p:cNvCxnSpPr>
          <p:nvPr/>
        </p:nvCxnSpPr>
        <p:spPr>
          <a:xfrm flipV="1">
            <a:off x="5724128" y="1916832"/>
            <a:ext cx="644462" cy="504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aixaDeTexto 45"/>
          <p:cNvSpPr txBox="1"/>
          <p:nvPr/>
        </p:nvSpPr>
        <p:spPr>
          <a:xfrm>
            <a:off x="5508104" y="2060848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6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5250980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Isomorfismo de Grafos</a:t>
            </a:r>
          </a:p>
        </p:txBody>
      </p:sp>
      <p:sp>
        <p:nvSpPr>
          <p:cNvPr id="4" name="Elipse 3"/>
          <p:cNvSpPr/>
          <p:nvPr/>
        </p:nvSpPr>
        <p:spPr>
          <a:xfrm>
            <a:off x="2348136" y="1844824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2365106" y="2780928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3419872" y="2780928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1619672" y="2348880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reto 11"/>
          <p:cNvCxnSpPr>
            <a:stCxn id="4" idx="4"/>
            <a:endCxn id="6" idx="4"/>
          </p:cNvCxnSpPr>
          <p:nvPr/>
        </p:nvCxnSpPr>
        <p:spPr>
          <a:xfrm>
            <a:off x="2420144" y="1988840"/>
            <a:ext cx="16970" cy="9361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6" idx="6"/>
            <a:endCxn id="7" idx="2"/>
          </p:cNvCxnSpPr>
          <p:nvPr/>
        </p:nvCxnSpPr>
        <p:spPr>
          <a:xfrm>
            <a:off x="2509122" y="2852936"/>
            <a:ext cx="9107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9" idx="6"/>
            <a:endCxn id="6" idx="5"/>
          </p:cNvCxnSpPr>
          <p:nvPr/>
        </p:nvCxnSpPr>
        <p:spPr>
          <a:xfrm>
            <a:off x="1763688" y="2420888"/>
            <a:ext cx="724343" cy="4829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2279738" y="155679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1</a:t>
            </a:r>
            <a:endParaRPr lang="pt-BR" dirty="0"/>
          </a:p>
        </p:txBody>
      </p:sp>
      <p:sp>
        <p:nvSpPr>
          <p:cNvPr id="18" name="CaixaDeTexto 17"/>
          <p:cNvSpPr txBox="1"/>
          <p:nvPr/>
        </p:nvSpPr>
        <p:spPr>
          <a:xfrm>
            <a:off x="2279738" y="290519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3</a:t>
            </a:r>
            <a:endParaRPr lang="pt-BR" dirty="0"/>
          </a:p>
        </p:txBody>
      </p:sp>
      <p:sp>
        <p:nvSpPr>
          <p:cNvPr id="19" name="CaixaDeTexto 18"/>
          <p:cNvSpPr txBox="1"/>
          <p:nvPr/>
        </p:nvSpPr>
        <p:spPr>
          <a:xfrm>
            <a:off x="3359858" y="290519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4</a:t>
            </a:r>
            <a:endParaRPr lang="pt-BR" dirty="0"/>
          </a:p>
        </p:txBody>
      </p:sp>
      <p:sp>
        <p:nvSpPr>
          <p:cNvPr id="21" name="CaixaDeTexto 20"/>
          <p:cNvSpPr txBox="1"/>
          <p:nvPr/>
        </p:nvSpPr>
        <p:spPr>
          <a:xfrm>
            <a:off x="1547664" y="2060848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6</a:t>
            </a:r>
            <a:endParaRPr lang="pt-BR" dirty="0"/>
          </a:p>
        </p:txBody>
      </p:sp>
      <p:cxnSp>
        <p:nvCxnSpPr>
          <p:cNvPr id="22" name="Conector reto 21"/>
          <p:cNvCxnSpPr>
            <a:stCxn id="4" idx="5"/>
            <a:endCxn id="7" idx="5"/>
          </p:cNvCxnSpPr>
          <p:nvPr/>
        </p:nvCxnSpPr>
        <p:spPr>
          <a:xfrm>
            <a:off x="2471061" y="1967749"/>
            <a:ext cx="1071736" cy="9361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Elipse 22"/>
          <p:cNvSpPr/>
          <p:nvPr/>
        </p:nvSpPr>
        <p:spPr>
          <a:xfrm>
            <a:off x="6368590" y="1844824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Elipse 24"/>
          <p:cNvSpPr/>
          <p:nvPr/>
        </p:nvSpPr>
        <p:spPr>
          <a:xfrm>
            <a:off x="6385560" y="2780928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Elipse 25"/>
          <p:cNvSpPr/>
          <p:nvPr/>
        </p:nvSpPr>
        <p:spPr>
          <a:xfrm>
            <a:off x="7440326" y="2780928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0" name="Conector reto 29"/>
          <p:cNvCxnSpPr>
            <a:stCxn id="23" idx="4"/>
            <a:endCxn id="25" idx="4"/>
          </p:cNvCxnSpPr>
          <p:nvPr/>
        </p:nvCxnSpPr>
        <p:spPr>
          <a:xfrm>
            <a:off x="6440598" y="1988840"/>
            <a:ext cx="16970" cy="9361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to 30"/>
          <p:cNvCxnSpPr>
            <a:stCxn id="25" idx="6"/>
            <a:endCxn id="26" idx="2"/>
          </p:cNvCxnSpPr>
          <p:nvPr/>
        </p:nvCxnSpPr>
        <p:spPr>
          <a:xfrm>
            <a:off x="6529576" y="2852936"/>
            <a:ext cx="9107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/>
          <p:cNvSpPr txBox="1"/>
          <p:nvPr/>
        </p:nvSpPr>
        <p:spPr>
          <a:xfrm>
            <a:off x="6300192" y="155679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3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6300192" y="290519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1</a:t>
            </a:r>
            <a:endParaRPr lang="pt-BR" dirty="0"/>
          </a:p>
        </p:txBody>
      </p:sp>
      <p:sp>
        <p:nvSpPr>
          <p:cNvPr id="36" name="CaixaDeTexto 35"/>
          <p:cNvSpPr txBox="1"/>
          <p:nvPr/>
        </p:nvSpPr>
        <p:spPr>
          <a:xfrm>
            <a:off x="7380312" y="290519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4</a:t>
            </a:r>
            <a:endParaRPr lang="pt-BR" dirty="0"/>
          </a:p>
        </p:txBody>
      </p:sp>
      <p:cxnSp>
        <p:nvCxnSpPr>
          <p:cNvPr id="38" name="Conector reto 37"/>
          <p:cNvCxnSpPr>
            <a:stCxn id="23" idx="5"/>
            <a:endCxn id="26" idx="5"/>
          </p:cNvCxnSpPr>
          <p:nvPr/>
        </p:nvCxnSpPr>
        <p:spPr>
          <a:xfrm>
            <a:off x="6491515" y="1967749"/>
            <a:ext cx="1071736" cy="9361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aixaDeTexto 38"/>
              <p:cNvSpPr txBox="1"/>
              <p:nvPr/>
            </p:nvSpPr>
            <p:spPr>
              <a:xfrm>
                <a:off x="755576" y="1700808"/>
                <a:ext cx="4787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𝐺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9" name="CaixaDeTexto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1700808"/>
                <a:ext cx="478721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CaixaDeTexto 39"/>
              <p:cNvSpPr txBox="1"/>
              <p:nvPr/>
            </p:nvSpPr>
            <p:spPr>
              <a:xfrm>
                <a:off x="4427984" y="1700808"/>
                <a:ext cx="4840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𝐺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0" name="CaixaDeTexto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7984" y="1700808"/>
                <a:ext cx="484042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Elipse 43"/>
          <p:cNvSpPr/>
          <p:nvPr/>
        </p:nvSpPr>
        <p:spPr>
          <a:xfrm>
            <a:off x="5580112" y="2348880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5" name="Conector reto 44"/>
          <p:cNvCxnSpPr>
            <a:stCxn id="44" idx="6"/>
            <a:endCxn id="23" idx="2"/>
          </p:cNvCxnSpPr>
          <p:nvPr/>
        </p:nvCxnSpPr>
        <p:spPr>
          <a:xfrm flipV="1">
            <a:off x="5724128" y="1916832"/>
            <a:ext cx="644462" cy="504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aixaDeTexto 45"/>
          <p:cNvSpPr txBox="1"/>
          <p:nvPr/>
        </p:nvSpPr>
        <p:spPr>
          <a:xfrm>
            <a:off x="5508104" y="2060848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6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CaixaDeTexto 60"/>
              <p:cNvSpPr txBox="1"/>
              <p:nvPr/>
            </p:nvSpPr>
            <p:spPr>
              <a:xfrm>
                <a:off x="755576" y="4005064"/>
                <a:ext cx="4943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𝐻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1" name="CaixaDeTexto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4005064"/>
                <a:ext cx="494366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CaixaDeTexto 61"/>
              <p:cNvSpPr txBox="1"/>
              <p:nvPr/>
            </p:nvSpPr>
            <p:spPr>
              <a:xfrm>
                <a:off x="4427984" y="4005064"/>
                <a:ext cx="4996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𝐻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2" name="CaixaDeTexto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7984" y="4005064"/>
                <a:ext cx="499688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Elipse 65"/>
          <p:cNvSpPr/>
          <p:nvPr/>
        </p:nvSpPr>
        <p:spPr>
          <a:xfrm>
            <a:off x="2348136" y="4653136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7" name="Elipse 66"/>
          <p:cNvSpPr/>
          <p:nvPr/>
        </p:nvSpPr>
        <p:spPr>
          <a:xfrm>
            <a:off x="3419872" y="4647321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8" name="Elipse 67"/>
          <p:cNvSpPr/>
          <p:nvPr/>
        </p:nvSpPr>
        <p:spPr>
          <a:xfrm>
            <a:off x="2365106" y="5589240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9" name="Elipse 68"/>
          <p:cNvSpPr/>
          <p:nvPr/>
        </p:nvSpPr>
        <p:spPr>
          <a:xfrm>
            <a:off x="3419872" y="5589240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1" name="Elipse 70"/>
          <p:cNvSpPr/>
          <p:nvPr/>
        </p:nvSpPr>
        <p:spPr>
          <a:xfrm>
            <a:off x="1619672" y="5157192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73" name="Conector reto 72"/>
          <p:cNvCxnSpPr/>
          <p:nvPr/>
        </p:nvCxnSpPr>
        <p:spPr>
          <a:xfrm flipH="1">
            <a:off x="2492152" y="4667066"/>
            <a:ext cx="927720" cy="5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to 73"/>
          <p:cNvCxnSpPr>
            <a:stCxn id="66" idx="4"/>
            <a:endCxn id="68" idx="4"/>
          </p:cNvCxnSpPr>
          <p:nvPr/>
        </p:nvCxnSpPr>
        <p:spPr>
          <a:xfrm>
            <a:off x="2420144" y="4797152"/>
            <a:ext cx="16970" cy="9361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/>
          <p:cNvCxnSpPr>
            <a:stCxn id="68" idx="6"/>
            <a:endCxn id="69" idx="2"/>
          </p:cNvCxnSpPr>
          <p:nvPr/>
        </p:nvCxnSpPr>
        <p:spPr>
          <a:xfrm>
            <a:off x="2509122" y="5661248"/>
            <a:ext cx="9107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to 75"/>
          <p:cNvCxnSpPr>
            <a:stCxn id="67" idx="4"/>
            <a:endCxn id="69" idx="4"/>
          </p:cNvCxnSpPr>
          <p:nvPr/>
        </p:nvCxnSpPr>
        <p:spPr>
          <a:xfrm>
            <a:off x="3491880" y="4791337"/>
            <a:ext cx="0" cy="9419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to 76"/>
          <p:cNvCxnSpPr>
            <a:stCxn id="71" idx="6"/>
            <a:endCxn id="68" idx="5"/>
          </p:cNvCxnSpPr>
          <p:nvPr/>
        </p:nvCxnSpPr>
        <p:spPr>
          <a:xfrm>
            <a:off x="1763688" y="5229200"/>
            <a:ext cx="724343" cy="4829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CaixaDeTexto 77"/>
          <p:cNvSpPr txBox="1"/>
          <p:nvPr/>
        </p:nvSpPr>
        <p:spPr>
          <a:xfrm>
            <a:off x="2279738" y="436510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1</a:t>
            </a:r>
            <a:endParaRPr lang="pt-BR" dirty="0"/>
          </a:p>
        </p:txBody>
      </p:sp>
      <p:sp>
        <p:nvSpPr>
          <p:cNvPr id="79" name="CaixaDeTexto 78"/>
          <p:cNvSpPr txBox="1"/>
          <p:nvPr/>
        </p:nvSpPr>
        <p:spPr>
          <a:xfrm>
            <a:off x="3359858" y="436510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2</a:t>
            </a:r>
            <a:endParaRPr lang="pt-BR" dirty="0"/>
          </a:p>
        </p:txBody>
      </p:sp>
      <p:sp>
        <p:nvSpPr>
          <p:cNvPr id="80" name="CaixaDeTexto 79"/>
          <p:cNvSpPr txBox="1"/>
          <p:nvPr/>
        </p:nvSpPr>
        <p:spPr>
          <a:xfrm>
            <a:off x="2279738" y="571351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3</a:t>
            </a:r>
            <a:endParaRPr lang="pt-BR" dirty="0"/>
          </a:p>
        </p:txBody>
      </p:sp>
      <p:sp>
        <p:nvSpPr>
          <p:cNvPr id="81" name="CaixaDeTexto 80"/>
          <p:cNvSpPr txBox="1"/>
          <p:nvPr/>
        </p:nvSpPr>
        <p:spPr>
          <a:xfrm>
            <a:off x="3359858" y="571351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4</a:t>
            </a:r>
            <a:endParaRPr lang="pt-BR" dirty="0"/>
          </a:p>
        </p:txBody>
      </p:sp>
      <p:sp>
        <p:nvSpPr>
          <p:cNvPr id="83" name="CaixaDeTexto 82"/>
          <p:cNvSpPr txBox="1"/>
          <p:nvPr/>
        </p:nvSpPr>
        <p:spPr>
          <a:xfrm>
            <a:off x="1547664" y="486916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6</a:t>
            </a:r>
            <a:endParaRPr lang="pt-BR" dirty="0"/>
          </a:p>
        </p:txBody>
      </p:sp>
      <p:sp>
        <p:nvSpPr>
          <p:cNvPr id="85" name="Elipse 84"/>
          <p:cNvSpPr/>
          <p:nvPr/>
        </p:nvSpPr>
        <p:spPr>
          <a:xfrm>
            <a:off x="6152566" y="4293096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6" name="Elipse 85"/>
          <p:cNvSpPr/>
          <p:nvPr/>
        </p:nvSpPr>
        <p:spPr>
          <a:xfrm>
            <a:off x="6703447" y="4728630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7" name="Elipse 86"/>
          <p:cNvSpPr/>
          <p:nvPr/>
        </p:nvSpPr>
        <p:spPr>
          <a:xfrm>
            <a:off x="6169536" y="5229200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8" name="Elipse 87"/>
          <p:cNvSpPr/>
          <p:nvPr/>
        </p:nvSpPr>
        <p:spPr>
          <a:xfrm>
            <a:off x="7224302" y="5229200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9" name="Elipse 88"/>
          <p:cNvSpPr/>
          <p:nvPr/>
        </p:nvSpPr>
        <p:spPr>
          <a:xfrm>
            <a:off x="6753616" y="5949280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0" name="Conector reto 89"/>
          <p:cNvCxnSpPr>
            <a:stCxn id="86" idx="1"/>
            <a:endCxn id="85" idx="6"/>
          </p:cNvCxnSpPr>
          <p:nvPr/>
        </p:nvCxnSpPr>
        <p:spPr>
          <a:xfrm flipH="1" flipV="1">
            <a:off x="6296582" y="4365104"/>
            <a:ext cx="427956" cy="3846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reto 90"/>
          <p:cNvCxnSpPr>
            <a:stCxn id="85" idx="4"/>
            <a:endCxn id="87" idx="4"/>
          </p:cNvCxnSpPr>
          <p:nvPr/>
        </p:nvCxnSpPr>
        <p:spPr>
          <a:xfrm>
            <a:off x="6224574" y="4437112"/>
            <a:ext cx="16970" cy="9361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ector reto 91"/>
          <p:cNvCxnSpPr>
            <a:stCxn id="87" idx="6"/>
            <a:endCxn id="88" idx="2"/>
          </p:cNvCxnSpPr>
          <p:nvPr/>
        </p:nvCxnSpPr>
        <p:spPr>
          <a:xfrm>
            <a:off x="6313552" y="5301208"/>
            <a:ext cx="9107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ector reto 92"/>
          <p:cNvCxnSpPr>
            <a:stCxn id="86" idx="5"/>
            <a:endCxn id="88" idx="1"/>
          </p:cNvCxnSpPr>
          <p:nvPr/>
        </p:nvCxnSpPr>
        <p:spPr>
          <a:xfrm>
            <a:off x="6826372" y="4851555"/>
            <a:ext cx="419021" cy="3987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ector reto 93"/>
          <p:cNvCxnSpPr>
            <a:stCxn id="89" idx="6"/>
            <a:endCxn id="87" idx="5"/>
          </p:cNvCxnSpPr>
          <p:nvPr/>
        </p:nvCxnSpPr>
        <p:spPr>
          <a:xfrm flipH="1" flipV="1">
            <a:off x="6292461" y="5352125"/>
            <a:ext cx="605171" cy="6691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CaixaDeTexto 94"/>
          <p:cNvSpPr txBox="1"/>
          <p:nvPr/>
        </p:nvSpPr>
        <p:spPr>
          <a:xfrm>
            <a:off x="6084168" y="400506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1</a:t>
            </a:r>
            <a:endParaRPr lang="pt-BR" dirty="0"/>
          </a:p>
        </p:txBody>
      </p:sp>
      <p:sp>
        <p:nvSpPr>
          <p:cNvPr id="96" name="CaixaDeTexto 95"/>
          <p:cNvSpPr txBox="1"/>
          <p:nvPr/>
        </p:nvSpPr>
        <p:spPr>
          <a:xfrm>
            <a:off x="6792254" y="450912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2</a:t>
            </a:r>
            <a:endParaRPr lang="pt-BR" dirty="0"/>
          </a:p>
        </p:txBody>
      </p:sp>
      <p:sp>
        <p:nvSpPr>
          <p:cNvPr id="97" name="CaixaDeTexto 96"/>
          <p:cNvSpPr txBox="1"/>
          <p:nvPr/>
        </p:nvSpPr>
        <p:spPr>
          <a:xfrm>
            <a:off x="6084168" y="535347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3</a:t>
            </a:r>
            <a:endParaRPr lang="pt-BR" dirty="0"/>
          </a:p>
        </p:txBody>
      </p:sp>
      <p:sp>
        <p:nvSpPr>
          <p:cNvPr id="98" name="CaixaDeTexto 97"/>
          <p:cNvSpPr txBox="1"/>
          <p:nvPr/>
        </p:nvSpPr>
        <p:spPr>
          <a:xfrm>
            <a:off x="7164288" y="535347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4</a:t>
            </a:r>
            <a:endParaRPr lang="pt-BR" dirty="0"/>
          </a:p>
        </p:txBody>
      </p:sp>
      <p:sp>
        <p:nvSpPr>
          <p:cNvPr id="99" name="CaixaDeTexto 98"/>
          <p:cNvSpPr txBox="1"/>
          <p:nvPr/>
        </p:nvSpPr>
        <p:spPr>
          <a:xfrm>
            <a:off x="6681608" y="5661248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6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5923536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Problema de Isomorfismo de </a:t>
            </a:r>
            <a:r>
              <a:rPr lang="pt-BR" dirty="0" err="1"/>
              <a:t>Subgrafos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pt-BR" dirty="0"/>
                  <a:t>Definição (Problema de decisão):</a:t>
                </a:r>
              </a:p>
              <a:p>
                <a:pPr lvl="1"/>
                <a:r>
                  <a:rPr lang="pt-BR" dirty="0"/>
                  <a:t>Dado um grafo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b="0" i="1" smtClean="0">
                        <a:latin typeface="Cambria Math"/>
                      </a:rPr>
                      <m:t>=(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pt-BR" dirty="0"/>
                  <a:t> e um grafo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t-BR" i="1">
                        <a:latin typeface="Cambria Math"/>
                      </a:rPr>
                      <m:t>=(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t-BR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t-BR" i="1">
                        <a:latin typeface="Cambria Math"/>
                      </a:rPr>
                      <m:t>)</m:t>
                    </m:r>
                  </m:oMath>
                </a14:m>
                <a:r>
                  <a:rPr lang="pt-BR" dirty="0"/>
                  <a:t>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dirty="0"/>
                  <a:t>contém um </a:t>
                </a:r>
                <a:r>
                  <a:rPr lang="pt-BR" dirty="0" err="1"/>
                  <a:t>subgrafo</a:t>
                </a:r>
                <a:r>
                  <a:rPr lang="pt-BR" dirty="0"/>
                  <a:t> isomórfico 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dirty="0"/>
                  <a:t>?</a:t>
                </a:r>
              </a:p>
              <a:p>
                <a:pPr lvl="1"/>
                <a:r>
                  <a:rPr lang="pt-BR" dirty="0"/>
                  <a:t>Respostas possíveis:</a:t>
                </a:r>
              </a:p>
              <a:p>
                <a:pPr lvl="2"/>
                <a:r>
                  <a:rPr lang="pt-BR" dirty="0"/>
                  <a:t>Sim, caso contenha; ou</a:t>
                </a:r>
              </a:p>
              <a:p>
                <a:pPr lvl="2"/>
                <a:r>
                  <a:rPr lang="pt-BR" dirty="0"/>
                  <a:t>Não, caso contrário. </a:t>
                </a:r>
              </a:p>
              <a:p>
                <a:r>
                  <a:rPr lang="pt-BR" dirty="0"/>
                  <a:t>Objetivo:</a:t>
                </a:r>
              </a:p>
              <a:p>
                <a:pPr lvl="1"/>
                <a:r>
                  <a:rPr lang="pt-BR" dirty="0"/>
                  <a:t>Provar que o Problema de Isomorfismo de </a:t>
                </a:r>
                <a:r>
                  <a:rPr lang="pt-BR" dirty="0" err="1"/>
                  <a:t>Subgrafos</a:t>
                </a:r>
                <a:r>
                  <a:rPr lang="pt-BR" dirty="0"/>
                  <a:t> (IS) é um problema NP-Completo. 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2830" b="-363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94511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Prova problema NP-Completo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prova é divida em duas partes:</a:t>
            </a:r>
          </a:p>
          <a:p>
            <a:pPr lvl="1"/>
            <a:r>
              <a:rPr lang="pt-BR" dirty="0"/>
              <a:t>Provar que IS é NP;</a:t>
            </a:r>
          </a:p>
          <a:p>
            <a:pPr lvl="1"/>
            <a:r>
              <a:rPr lang="pt-BR" dirty="0"/>
              <a:t>Encontrar um problema X conhecido da classe de problemas NP-Completo e então reduzir X ao IS</a:t>
            </a:r>
          </a:p>
        </p:txBody>
      </p:sp>
    </p:spTree>
    <p:extLst>
      <p:ext uri="{BB962C8B-B14F-4D97-AF65-F5344CB8AC3E}">
        <p14:creationId xmlns:p14="http://schemas.microsoft.com/office/powerpoint/2010/main" val="429061474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Provar que IS é NP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611560" y="1386056"/>
            <a:ext cx="7479548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//verifica se H1 é um grafo isomórfico a algum </a:t>
            </a:r>
            <a:r>
              <a:rPr lang="pt-BR" dirty="0" err="1"/>
              <a:t>subgrafo</a:t>
            </a:r>
            <a:r>
              <a:rPr lang="pt-BR" dirty="0"/>
              <a:t> de H2 (de tamanho k)</a:t>
            </a:r>
          </a:p>
          <a:p>
            <a:r>
              <a:rPr lang="pt-BR" dirty="0" err="1"/>
              <a:t>verifica_isomorfismo</a:t>
            </a:r>
            <a:r>
              <a:rPr lang="pt-BR" dirty="0"/>
              <a:t> (H1, H2, k)</a:t>
            </a:r>
          </a:p>
          <a:p>
            <a:r>
              <a:rPr lang="pt-BR" dirty="0"/>
              <a:t>{</a:t>
            </a:r>
          </a:p>
          <a:p>
            <a:r>
              <a:rPr lang="pt-BR" dirty="0"/>
              <a:t>	//verifica se o </a:t>
            </a:r>
            <a:r>
              <a:rPr lang="pt-BR" dirty="0" err="1"/>
              <a:t>subgrafo</a:t>
            </a:r>
            <a:r>
              <a:rPr lang="pt-BR" dirty="0"/>
              <a:t> isomórfico tem tamanho k</a:t>
            </a:r>
          </a:p>
          <a:p>
            <a:r>
              <a:rPr lang="pt-BR" dirty="0"/>
              <a:t>	</a:t>
            </a:r>
            <a:r>
              <a:rPr lang="pt-BR" dirty="0" err="1"/>
              <a:t>if</a:t>
            </a:r>
            <a:r>
              <a:rPr lang="pt-BR" dirty="0"/>
              <a:t> (k != |H1|)</a:t>
            </a:r>
          </a:p>
          <a:p>
            <a:r>
              <a:rPr lang="pt-BR" dirty="0"/>
              <a:t>		</a:t>
            </a:r>
            <a:r>
              <a:rPr lang="pt-BR" dirty="0" err="1"/>
              <a:t>return</a:t>
            </a:r>
            <a:r>
              <a:rPr lang="pt-BR" dirty="0"/>
              <a:t> false;</a:t>
            </a:r>
          </a:p>
          <a:p>
            <a:r>
              <a:rPr lang="pt-BR" dirty="0"/>
              <a:t>		</a:t>
            </a:r>
          </a:p>
          <a:p>
            <a:r>
              <a:rPr lang="pt-BR" dirty="0"/>
              <a:t>	//verifica se os vértices de H1 estão em H2</a:t>
            </a:r>
          </a:p>
          <a:p>
            <a:r>
              <a:rPr lang="pt-BR" dirty="0"/>
              <a:t>	para todo v em V(H1) faça</a:t>
            </a:r>
          </a:p>
          <a:p>
            <a:r>
              <a:rPr lang="pt-BR" dirty="0"/>
              <a:t>		</a:t>
            </a:r>
            <a:r>
              <a:rPr lang="pt-BR" dirty="0" err="1"/>
              <a:t>if</a:t>
            </a:r>
            <a:r>
              <a:rPr lang="pt-BR" dirty="0"/>
              <a:t> (!V(H2).contem(v))</a:t>
            </a:r>
          </a:p>
          <a:p>
            <a:r>
              <a:rPr lang="pt-BR" dirty="0"/>
              <a:t>			</a:t>
            </a:r>
            <a:r>
              <a:rPr lang="pt-BR" dirty="0" err="1"/>
              <a:t>return</a:t>
            </a:r>
            <a:r>
              <a:rPr lang="pt-BR" dirty="0"/>
              <a:t> false;</a:t>
            </a:r>
          </a:p>
          <a:p>
            <a:r>
              <a:rPr lang="pt-BR" dirty="0"/>
              <a:t>			</a:t>
            </a:r>
          </a:p>
          <a:p>
            <a:r>
              <a:rPr lang="pt-BR" dirty="0"/>
              <a:t>	//verifica se as arestas de H1 estão em H2</a:t>
            </a:r>
          </a:p>
          <a:p>
            <a:r>
              <a:rPr lang="pt-BR" dirty="0"/>
              <a:t>	para todo e(</a:t>
            </a:r>
            <a:r>
              <a:rPr lang="pt-BR" dirty="0" err="1"/>
              <a:t>u,v</a:t>
            </a:r>
            <a:r>
              <a:rPr lang="pt-BR" dirty="0"/>
              <a:t>) em E(H1) faça</a:t>
            </a:r>
          </a:p>
          <a:p>
            <a:r>
              <a:rPr lang="pt-BR" dirty="0"/>
              <a:t>		</a:t>
            </a:r>
            <a:r>
              <a:rPr lang="pt-BR" dirty="0" err="1"/>
              <a:t>if</a:t>
            </a:r>
            <a:r>
              <a:rPr lang="pt-BR" dirty="0"/>
              <a:t> (!E(H2).contem(e(</a:t>
            </a:r>
            <a:r>
              <a:rPr lang="pt-BR" dirty="0" err="1"/>
              <a:t>u,v</a:t>
            </a:r>
            <a:r>
              <a:rPr lang="pt-BR" dirty="0"/>
              <a:t>)))</a:t>
            </a:r>
          </a:p>
          <a:p>
            <a:r>
              <a:rPr lang="pt-BR" dirty="0"/>
              <a:t>			</a:t>
            </a:r>
            <a:r>
              <a:rPr lang="pt-BR" dirty="0" err="1"/>
              <a:t>return</a:t>
            </a:r>
            <a:r>
              <a:rPr lang="pt-BR" dirty="0"/>
              <a:t> false;</a:t>
            </a:r>
          </a:p>
          <a:p>
            <a:r>
              <a:rPr lang="pt-BR" dirty="0"/>
              <a:t>			</a:t>
            </a:r>
          </a:p>
          <a:p>
            <a:r>
              <a:rPr lang="pt-BR" dirty="0"/>
              <a:t>	</a:t>
            </a:r>
            <a:r>
              <a:rPr lang="pt-BR" dirty="0" err="1"/>
              <a:t>return</a:t>
            </a:r>
            <a:r>
              <a:rPr lang="pt-BR" dirty="0"/>
              <a:t> </a:t>
            </a:r>
            <a:r>
              <a:rPr lang="pt-BR" dirty="0" err="1"/>
              <a:t>true</a:t>
            </a:r>
            <a:r>
              <a:rPr lang="pt-BR" dirty="0"/>
              <a:t>;</a:t>
            </a:r>
          </a:p>
          <a:p>
            <a:r>
              <a:rPr lang="pt-BR" dirty="0"/>
              <a:t>}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5796136" y="6093296"/>
            <a:ext cx="3107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Tempo Computacional: O(V+E)</a:t>
            </a:r>
          </a:p>
        </p:txBody>
      </p:sp>
    </p:spTree>
    <p:extLst>
      <p:ext uri="{BB962C8B-B14F-4D97-AF65-F5344CB8AC3E}">
        <p14:creationId xmlns:p14="http://schemas.microsoft.com/office/powerpoint/2010/main" val="386809453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Transformação Polinomial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Problema NP-Completo: Clique.</a:t>
            </a:r>
          </a:p>
          <a:p>
            <a:r>
              <a:rPr lang="pt-BR" dirty="0"/>
              <a:t>Clique:</a:t>
            </a:r>
          </a:p>
          <a:p>
            <a:pPr lvl="1"/>
            <a:r>
              <a:rPr lang="pt-BR" dirty="0"/>
              <a:t>Uma Clique de um grafo G é um </a:t>
            </a:r>
            <a:r>
              <a:rPr lang="pt-BR" dirty="0" err="1"/>
              <a:t>subgrafo</a:t>
            </a:r>
            <a:r>
              <a:rPr lang="pt-BR" dirty="0"/>
              <a:t> completo de G.</a:t>
            </a:r>
          </a:p>
          <a:p>
            <a:endParaRPr lang="pt-BR" dirty="0"/>
          </a:p>
          <a:p>
            <a:r>
              <a:rPr lang="pt-BR" dirty="0"/>
              <a:t>Seja uma instância genérica da Clique dada por um grafo G(V,A), é necessário obter uma instância do IS.</a:t>
            </a:r>
          </a:p>
        </p:txBody>
      </p:sp>
    </p:spTree>
    <p:extLst>
      <p:ext uri="{BB962C8B-B14F-4D97-AF65-F5344CB8AC3E}">
        <p14:creationId xmlns:p14="http://schemas.microsoft.com/office/powerpoint/2010/main" val="209027149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Transformação Polinomial: Clique ∝ 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pt-BR" sz="3600" dirty="0"/>
                  <a:t>Considere (G, k) sendo uma instância de uma Clique, em que queremos determinar se o grafo G contém uma Clique de tamanho k.</a:t>
                </a:r>
              </a:p>
              <a:p>
                <a:endParaRPr lang="pt-BR" sz="3600" dirty="0"/>
              </a:p>
              <a:p>
                <a:r>
                  <a:rPr lang="pt-BR" sz="3600" dirty="0"/>
                  <a:t>Agora, considere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600" i="1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pt-BR" sz="36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3600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600" i="1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pt-BR" sz="3600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3600" dirty="0"/>
                  <a:t> como instâncias do IS, construídas da seguinte maneira:</a:t>
                </a:r>
              </a:p>
              <a:p>
                <a:pPr lvl="1"/>
                <a:r>
                  <a:rPr lang="pt-BR" sz="3600" dirty="0"/>
                  <a:t>Faça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600" b="0" i="1" smtClean="0">
                            <a:latin typeface="Cambria Math"/>
                          </a:rPr>
                          <m:t> </m:t>
                        </m:r>
                        <m:r>
                          <a:rPr lang="pt-BR" sz="3600" i="1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pt-BR" sz="36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3600" dirty="0"/>
                  <a:t>um grafo completo com k vértices</a:t>
                </a:r>
              </a:p>
              <a:p>
                <a:pPr lvl="1"/>
                <a:r>
                  <a:rPr lang="pt-BR" sz="3600" dirty="0"/>
                  <a:t>Faça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600" i="1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pt-BR" sz="3600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3600" dirty="0"/>
                  <a:t> = G, sendo:</a:t>
                </a:r>
              </a:p>
              <a:p>
                <a:pPr lvl="2"/>
                <a:r>
                  <a:rPr lang="pt-BR" sz="3100" dirty="0"/>
                  <a:t>Todo vértice de G também é vértice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200" i="1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pt-BR" sz="32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3100" dirty="0"/>
                  <a:t>.</a:t>
                </a:r>
              </a:p>
              <a:p>
                <a:pPr lvl="2"/>
                <a:r>
                  <a:rPr lang="pt-BR" sz="3100" dirty="0"/>
                  <a:t>Toda aresta de G também é aresta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200" i="1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pt-BR" sz="32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3100" dirty="0"/>
                  <a:t>.</a:t>
                </a:r>
              </a:p>
              <a:p>
                <a:pPr lvl="1"/>
                <a:r>
                  <a:rPr lang="pt-BR" sz="3600" dirty="0"/>
                  <a:t>Esta operação pode ser feita em tempo polinomial.</a:t>
                </a:r>
              </a:p>
              <a:p>
                <a:pPr marL="0" indent="0">
                  <a:buNone/>
                </a:pPr>
                <a:endParaRPr lang="pt-BR" dirty="0"/>
              </a:p>
              <a:p>
                <a:pPr marL="914400" lvl="2" indent="0">
                  <a:buNone/>
                </a:pPr>
                <a:r>
                  <a:rPr lang="pt-BR" dirty="0"/>
                  <a:t>  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037" t="-2426" r="-29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227037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Transformação Polinomial: Clique ∝ 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Agora será provado que:</a:t>
                </a:r>
              </a:p>
              <a:p>
                <a:pPr lvl="1"/>
                <a:r>
                  <a:rPr lang="pt-BR" dirty="0"/>
                  <a:t>Se existe solução da Clique em (</a:t>
                </a:r>
                <a:r>
                  <a:rPr lang="pt-BR" dirty="0" err="1"/>
                  <a:t>G,k</a:t>
                </a:r>
                <a:r>
                  <a:rPr lang="pt-BR" dirty="0"/>
                  <a:t>), existe solução do IS em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dirty="0"/>
                  <a:t>);</a:t>
                </a:r>
              </a:p>
              <a:p>
                <a:pPr lvl="1"/>
                <a:r>
                  <a:rPr lang="pt-BR" dirty="0"/>
                  <a:t>Se existe solução do IS em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dirty="0"/>
                  <a:t>), existe solução da Clique em (</a:t>
                </a:r>
                <a:r>
                  <a:rPr lang="pt-BR" dirty="0" err="1"/>
                  <a:t>G,k</a:t>
                </a:r>
                <a:r>
                  <a:rPr lang="pt-BR" dirty="0"/>
                  <a:t>).</a:t>
                </a:r>
              </a:p>
              <a:p>
                <a:endParaRPr lang="pt-BR" dirty="0"/>
              </a:p>
              <a:p>
                <a:pPr lvl="1"/>
                <a:endParaRPr lang="pt-BR" dirty="0"/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 r="-140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26671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Transformação Polinomial: Clique ∝ 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1"/>
                <a:ext cx="8229600" cy="2044824"/>
              </a:xfrm>
            </p:spPr>
            <p:txBody>
              <a:bodyPr>
                <a:normAutofit/>
              </a:bodyPr>
              <a:lstStyle/>
              <a:p>
                <a:r>
                  <a:rPr lang="pt-BR" sz="2400" dirty="0"/>
                  <a:t>Existe uma Clique de tamanho k em G se e somente 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400" dirty="0"/>
                  <a:t> é um </a:t>
                </a:r>
                <a:r>
                  <a:rPr lang="pt-BR" sz="2400" dirty="0" err="1"/>
                  <a:t>subgrafo</a:t>
                </a:r>
                <a:r>
                  <a:rPr lang="pt-BR" sz="2400" dirty="0"/>
                  <a:t>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pt-BR" sz="2400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400" dirty="0"/>
                  <a:t> (pois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pt-BR" sz="2400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400" dirty="0"/>
                  <a:t>= G,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400" dirty="0"/>
                  <a:t> é um grafo completo de tamanho k).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1"/>
                <a:ext cx="8229600" cy="2044824"/>
              </a:xfrm>
              <a:blipFill rotWithShape="1">
                <a:blip r:embed="rId2"/>
                <a:stretch>
                  <a:fillRect l="-963" t="-2388" r="-2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/>
              <p:cNvSpPr txBox="1"/>
              <p:nvPr/>
            </p:nvSpPr>
            <p:spPr>
              <a:xfrm>
                <a:off x="4139952" y="4077072"/>
                <a:ext cx="4943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𝐻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" name="CaixaDe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9952" y="4077072"/>
                <a:ext cx="494366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lipse 4"/>
          <p:cNvSpPr/>
          <p:nvPr/>
        </p:nvSpPr>
        <p:spPr>
          <a:xfrm>
            <a:off x="3716288" y="4725144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4788024" y="4719329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3719898" y="5661248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4774664" y="5661248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/>
          <p:cNvCxnSpPr/>
          <p:nvPr/>
        </p:nvCxnSpPr>
        <p:spPr>
          <a:xfrm flipH="1">
            <a:off x="3860304" y="4739074"/>
            <a:ext cx="927720" cy="5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4"/>
            <a:endCxn id="7" idx="0"/>
          </p:cNvCxnSpPr>
          <p:nvPr/>
        </p:nvCxnSpPr>
        <p:spPr>
          <a:xfrm>
            <a:off x="3788296" y="4869160"/>
            <a:ext cx="361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7" idx="6"/>
            <a:endCxn id="8" idx="2"/>
          </p:cNvCxnSpPr>
          <p:nvPr/>
        </p:nvCxnSpPr>
        <p:spPr>
          <a:xfrm>
            <a:off x="3863914" y="5733256"/>
            <a:ext cx="9107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6" idx="4"/>
            <a:endCxn id="8" idx="0"/>
          </p:cNvCxnSpPr>
          <p:nvPr/>
        </p:nvCxnSpPr>
        <p:spPr>
          <a:xfrm flipH="1">
            <a:off x="4846672" y="4863345"/>
            <a:ext cx="13360" cy="7979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3647890" y="443711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1</a:t>
            </a:r>
            <a:endParaRPr lang="pt-BR" dirty="0"/>
          </a:p>
        </p:txBody>
      </p:sp>
      <p:sp>
        <p:nvSpPr>
          <p:cNvPr id="16" name="CaixaDeTexto 15"/>
          <p:cNvSpPr txBox="1"/>
          <p:nvPr/>
        </p:nvSpPr>
        <p:spPr>
          <a:xfrm>
            <a:off x="4728010" y="443711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2</a:t>
            </a:r>
            <a:endParaRPr lang="pt-BR" dirty="0"/>
          </a:p>
        </p:txBody>
      </p:sp>
      <p:sp>
        <p:nvSpPr>
          <p:cNvPr id="17" name="CaixaDeTexto 16"/>
          <p:cNvSpPr txBox="1"/>
          <p:nvPr/>
        </p:nvSpPr>
        <p:spPr>
          <a:xfrm>
            <a:off x="3647890" y="578551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3</a:t>
            </a:r>
            <a:endParaRPr lang="pt-BR" dirty="0"/>
          </a:p>
        </p:txBody>
      </p:sp>
      <p:sp>
        <p:nvSpPr>
          <p:cNvPr id="18" name="CaixaDeTexto 17"/>
          <p:cNvSpPr txBox="1"/>
          <p:nvPr/>
        </p:nvSpPr>
        <p:spPr>
          <a:xfrm>
            <a:off x="4728010" y="578551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4</a:t>
            </a:r>
            <a:endParaRPr lang="pt-BR" dirty="0"/>
          </a:p>
        </p:txBody>
      </p:sp>
      <p:cxnSp>
        <p:nvCxnSpPr>
          <p:cNvPr id="21" name="Conector reto 20"/>
          <p:cNvCxnSpPr>
            <a:stCxn id="6" idx="3"/>
            <a:endCxn id="7" idx="7"/>
          </p:cNvCxnSpPr>
          <p:nvPr/>
        </p:nvCxnSpPr>
        <p:spPr>
          <a:xfrm flipH="1">
            <a:off x="3842823" y="4842254"/>
            <a:ext cx="966292" cy="8400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>
            <a:stCxn id="8" idx="1"/>
            <a:endCxn id="5" idx="5"/>
          </p:cNvCxnSpPr>
          <p:nvPr/>
        </p:nvCxnSpPr>
        <p:spPr>
          <a:xfrm flipH="1" flipV="1">
            <a:off x="3839213" y="4848069"/>
            <a:ext cx="956542" cy="8342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aixaDeTexto 23"/>
              <p:cNvSpPr txBox="1"/>
              <p:nvPr/>
            </p:nvSpPr>
            <p:spPr>
              <a:xfrm>
                <a:off x="7306000" y="4077072"/>
                <a:ext cx="4996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𝐻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4" name="CaixaDeTexto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6000" y="4077072"/>
                <a:ext cx="499689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Elipse 41"/>
          <p:cNvSpPr/>
          <p:nvPr/>
        </p:nvSpPr>
        <p:spPr>
          <a:xfrm>
            <a:off x="967990" y="4725144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Elipse 42"/>
          <p:cNvSpPr/>
          <p:nvPr/>
        </p:nvSpPr>
        <p:spPr>
          <a:xfrm>
            <a:off x="2039726" y="4719329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Elipse 43"/>
          <p:cNvSpPr/>
          <p:nvPr/>
        </p:nvSpPr>
        <p:spPr>
          <a:xfrm>
            <a:off x="971600" y="5661248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Elipse 44"/>
          <p:cNvSpPr/>
          <p:nvPr/>
        </p:nvSpPr>
        <p:spPr>
          <a:xfrm>
            <a:off x="2026366" y="5661248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6" name="Conector reto 45"/>
          <p:cNvCxnSpPr/>
          <p:nvPr/>
        </p:nvCxnSpPr>
        <p:spPr>
          <a:xfrm flipH="1">
            <a:off x="1112006" y="4739074"/>
            <a:ext cx="927720" cy="5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to 46"/>
          <p:cNvCxnSpPr>
            <a:stCxn id="42" idx="4"/>
            <a:endCxn id="44" idx="0"/>
          </p:cNvCxnSpPr>
          <p:nvPr/>
        </p:nvCxnSpPr>
        <p:spPr>
          <a:xfrm>
            <a:off x="1039998" y="4869160"/>
            <a:ext cx="361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to 47"/>
          <p:cNvCxnSpPr>
            <a:stCxn id="44" idx="6"/>
            <a:endCxn id="45" idx="2"/>
          </p:cNvCxnSpPr>
          <p:nvPr/>
        </p:nvCxnSpPr>
        <p:spPr>
          <a:xfrm>
            <a:off x="1115616" y="5733256"/>
            <a:ext cx="9107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/>
          <p:cNvCxnSpPr>
            <a:stCxn id="43" idx="4"/>
            <a:endCxn id="45" idx="0"/>
          </p:cNvCxnSpPr>
          <p:nvPr/>
        </p:nvCxnSpPr>
        <p:spPr>
          <a:xfrm flipH="1">
            <a:off x="2098374" y="4863345"/>
            <a:ext cx="13360" cy="7979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aixaDeTexto 49"/>
          <p:cNvSpPr txBox="1"/>
          <p:nvPr/>
        </p:nvSpPr>
        <p:spPr>
          <a:xfrm>
            <a:off x="899592" y="443711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1</a:t>
            </a:r>
            <a:endParaRPr lang="pt-BR" dirty="0"/>
          </a:p>
        </p:txBody>
      </p:sp>
      <p:sp>
        <p:nvSpPr>
          <p:cNvPr id="51" name="CaixaDeTexto 50"/>
          <p:cNvSpPr txBox="1"/>
          <p:nvPr/>
        </p:nvSpPr>
        <p:spPr>
          <a:xfrm>
            <a:off x="1979712" y="443711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2</a:t>
            </a:r>
            <a:endParaRPr lang="pt-BR" dirty="0"/>
          </a:p>
        </p:txBody>
      </p:sp>
      <p:sp>
        <p:nvSpPr>
          <p:cNvPr id="52" name="CaixaDeTexto 51"/>
          <p:cNvSpPr txBox="1"/>
          <p:nvPr/>
        </p:nvSpPr>
        <p:spPr>
          <a:xfrm>
            <a:off x="899592" y="578551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3</a:t>
            </a:r>
            <a:endParaRPr lang="pt-BR" dirty="0"/>
          </a:p>
        </p:txBody>
      </p:sp>
      <p:sp>
        <p:nvSpPr>
          <p:cNvPr id="53" name="CaixaDeTexto 52"/>
          <p:cNvSpPr txBox="1"/>
          <p:nvPr/>
        </p:nvSpPr>
        <p:spPr>
          <a:xfrm>
            <a:off x="1979712" y="578551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4</a:t>
            </a:r>
            <a:endParaRPr lang="pt-BR" dirty="0"/>
          </a:p>
        </p:txBody>
      </p:sp>
      <p:cxnSp>
        <p:nvCxnSpPr>
          <p:cNvPr id="54" name="Conector reto 53"/>
          <p:cNvCxnSpPr>
            <a:stCxn id="43" idx="3"/>
            <a:endCxn id="44" idx="7"/>
          </p:cNvCxnSpPr>
          <p:nvPr/>
        </p:nvCxnSpPr>
        <p:spPr>
          <a:xfrm flipH="1">
            <a:off x="1094525" y="4842254"/>
            <a:ext cx="966292" cy="8400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/>
          <p:cNvCxnSpPr>
            <a:stCxn id="45" idx="1"/>
            <a:endCxn id="42" idx="5"/>
          </p:cNvCxnSpPr>
          <p:nvPr/>
        </p:nvCxnSpPr>
        <p:spPr>
          <a:xfrm flipH="1" flipV="1">
            <a:off x="1090915" y="4848069"/>
            <a:ext cx="956542" cy="8342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CaixaDeTexto 55"/>
              <p:cNvSpPr txBox="1"/>
              <p:nvPr/>
            </p:nvSpPr>
            <p:spPr>
              <a:xfrm>
                <a:off x="1341330" y="4077072"/>
                <a:ext cx="3935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/>
                        </a:rPr>
                        <m:t>𝐺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6" name="CaixaDeTexto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1330" y="4077072"/>
                <a:ext cx="393569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Elipse 56"/>
          <p:cNvSpPr/>
          <p:nvPr/>
        </p:nvSpPr>
        <p:spPr>
          <a:xfrm>
            <a:off x="179512" y="5229200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8" name="Conector reto 57"/>
          <p:cNvCxnSpPr>
            <a:stCxn id="57" idx="6"/>
            <a:endCxn id="44" idx="2"/>
          </p:cNvCxnSpPr>
          <p:nvPr/>
        </p:nvCxnSpPr>
        <p:spPr>
          <a:xfrm>
            <a:off x="323528" y="5301208"/>
            <a:ext cx="648072" cy="432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/>
          <p:cNvSpPr txBox="1"/>
          <p:nvPr/>
        </p:nvSpPr>
        <p:spPr>
          <a:xfrm>
            <a:off x="107504" y="49411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110" name="Elipse 109"/>
          <p:cNvSpPr/>
          <p:nvPr/>
        </p:nvSpPr>
        <p:spPr>
          <a:xfrm>
            <a:off x="6944654" y="4725144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1" name="Elipse 110"/>
          <p:cNvSpPr/>
          <p:nvPr/>
        </p:nvSpPr>
        <p:spPr>
          <a:xfrm>
            <a:off x="8016390" y="4719329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2" name="Elipse 111"/>
          <p:cNvSpPr/>
          <p:nvPr/>
        </p:nvSpPr>
        <p:spPr>
          <a:xfrm>
            <a:off x="6948264" y="5661248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3" name="Elipse 112"/>
          <p:cNvSpPr/>
          <p:nvPr/>
        </p:nvSpPr>
        <p:spPr>
          <a:xfrm>
            <a:off x="8003030" y="5661248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4" name="Conector reto 113"/>
          <p:cNvCxnSpPr/>
          <p:nvPr/>
        </p:nvCxnSpPr>
        <p:spPr>
          <a:xfrm flipH="1">
            <a:off x="7088670" y="4739074"/>
            <a:ext cx="927720" cy="5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ector reto 114"/>
          <p:cNvCxnSpPr>
            <a:stCxn id="110" idx="4"/>
            <a:endCxn id="112" idx="0"/>
          </p:cNvCxnSpPr>
          <p:nvPr/>
        </p:nvCxnSpPr>
        <p:spPr>
          <a:xfrm>
            <a:off x="7016662" y="4869160"/>
            <a:ext cx="361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ector reto 115"/>
          <p:cNvCxnSpPr>
            <a:stCxn id="112" idx="6"/>
            <a:endCxn id="113" idx="2"/>
          </p:cNvCxnSpPr>
          <p:nvPr/>
        </p:nvCxnSpPr>
        <p:spPr>
          <a:xfrm>
            <a:off x="7092280" y="5733256"/>
            <a:ext cx="9107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ector reto 116"/>
          <p:cNvCxnSpPr>
            <a:stCxn id="111" idx="4"/>
            <a:endCxn id="113" idx="0"/>
          </p:cNvCxnSpPr>
          <p:nvPr/>
        </p:nvCxnSpPr>
        <p:spPr>
          <a:xfrm flipH="1">
            <a:off x="8075038" y="4863345"/>
            <a:ext cx="13360" cy="7979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CaixaDeTexto 117"/>
          <p:cNvSpPr txBox="1"/>
          <p:nvPr/>
        </p:nvSpPr>
        <p:spPr>
          <a:xfrm>
            <a:off x="6876256" y="443711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1</a:t>
            </a:r>
            <a:endParaRPr lang="pt-BR" dirty="0"/>
          </a:p>
        </p:txBody>
      </p:sp>
      <p:sp>
        <p:nvSpPr>
          <p:cNvPr id="119" name="CaixaDeTexto 118"/>
          <p:cNvSpPr txBox="1"/>
          <p:nvPr/>
        </p:nvSpPr>
        <p:spPr>
          <a:xfrm>
            <a:off x="7956376" y="443711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2</a:t>
            </a:r>
            <a:endParaRPr lang="pt-BR" dirty="0"/>
          </a:p>
        </p:txBody>
      </p:sp>
      <p:sp>
        <p:nvSpPr>
          <p:cNvPr id="120" name="CaixaDeTexto 119"/>
          <p:cNvSpPr txBox="1"/>
          <p:nvPr/>
        </p:nvSpPr>
        <p:spPr>
          <a:xfrm>
            <a:off x="6876256" y="578551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3</a:t>
            </a:r>
            <a:endParaRPr lang="pt-BR" dirty="0"/>
          </a:p>
        </p:txBody>
      </p:sp>
      <p:sp>
        <p:nvSpPr>
          <p:cNvPr id="121" name="CaixaDeTexto 120"/>
          <p:cNvSpPr txBox="1"/>
          <p:nvPr/>
        </p:nvSpPr>
        <p:spPr>
          <a:xfrm>
            <a:off x="7956376" y="578551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4</a:t>
            </a:r>
            <a:endParaRPr lang="pt-BR" dirty="0"/>
          </a:p>
        </p:txBody>
      </p:sp>
      <p:cxnSp>
        <p:nvCxnSpPr>
          <p:cNvPr id="122" name="Conector reto 121"/>
          <p:cNvCxnSpPr>
            <a:stCxn id="111" idx="3"/>
            <a:endCxn id="112" idx="7"/>
          </p:cNvCxnSpPr>
          <p:nvPr/>
        </p:nvCxnSpPr>
        <p:spPr>
          <a:xfrm flipH="1">
            <a:off x="7071189" y="4842254"/>
            <a:ext cx="966292" cy="8400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ector reto 122"/>
          <p:cNvCxnSpPr>
            <a:stCxn id="113" idx="1"/>
            <a:endCxn id="110" idx="5"/>
          </p:cNvCxnSpPr>
          <p:nvPr/>
        </p:nvCxnSpPr>
        <p:spPr>
          <a:xfrm flipH="1" flipV="1">
            <a:off x="7067579" y="4848069"/>
            <a:ext cx="956542" cy="8342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Elipse 123"/>
          <p:cNvSpPr/>
          <p:nvPr/>
        </p:nvSpPr>
        <p:spPr>
          <a:xfrm>
            <a:off x="6156176" y="5229200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5" name="Conector reto 124"/>
          <p:cNvCxnSpPr>
            <a:stCxn id="124" idx="6"/>
            <a:endCxn id="112" idx="2"/>
          </p:cNvCxnSpPr>
          <p:nvPr/>
        </p:nvCxnSpPr>
        <p:spPr>
          <a:xfrm>
            <a:off x="6300192" y="5301208"/>
            <a:ext cx="648072" cy="432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CaixaDeTexto 125"/>
          <p:cNvSpPr txBox="1"/>
          <p:nvPr/>
        </p:nvSpPr>
        <p:spPr>
          <a:xfrm>
            <a:off x="6084168" y="49411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91635946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Transformação Polinomial: Clique ∝ 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1"/>
                <a:ext cx="8229600" cy="2044824"/>
              </a:xfrm>
            </p:spPr>
            <p:txBody>
              <a:bodyPr>
                <a:normAutofit/>
              </a:bodyPr>
              <a:lstStyle/>
              <a:p>
                <a:r>
                  <a:rPr lang="pt-BR" sz="2400" dirty="0"/>
                  <a:t>Existe uma Clique de tamanho k em G se e somente 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400" dirty="0"/>
                  <a:t> é um </a:t>
                </a:r>
                <a:r>
                  <a:rPr lang="pt-BR" sz="2400" dirty="0" err="1"/>
                  <a:t>subgrafo</a:t>
                </a:r>
                <a:r>
                  <a:rPr lang="pt-BR" sz="2400" dirty="0"/>
                  <a:t>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400" dirty="0"/>
                  <a:t> (pois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400" dirty="0"/>
                  <a:t>= G,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400" dirty="0"/>
                  <a:t> é um grafo completo de tamanho k).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1"/>
                <a:ext cx="8229600" cy="2044824"/>
              </a:xfrm>
              <a:blipFill rotWithShape="1">
                <a:blip r:embed="rId2"/>
                <a:stretch>
                  <a:fillRect l="-963" t="-2388" r="-2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CaixaDeTexto 59"/>
              <p:cNvSpPr txBox="1"/>
              <p:nvPr/>
            </p:nvSpPr>
            <p:spPr>
              <a:xfrm>
                <a:off x="4139952" y="4077072"/>
                <a:ext cx="4943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𝐻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0" name="CaixaDeTexto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9952" y="4077072"/>
                <a:ext cx="494366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Elipse 60"/>
          <p:cNvSpPr/>
          <p:nvPr/>
        </p:nvSpPr>
        <p:spPr>
          <a:xfrm>
            <a:off x="3716288" y="4725144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2" name="Elipse 61"/>
          <p:cNvSpPr/>
          <p:nvPr/>
        </p:nvSpPr>
        <p:spPr>
          <a:xfrm>
            <a:off x="4788024" y="4719329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3" name="Elipse 62"/>
          <p:cNvSpPr/>
          <p:nvPr/>
        </p:nvSpPr>
        <p:spPr>
          <a:xfrm>
            <a:off x="3719898" y="5661248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4" name="Elipse 63"/>
          <p:cNvSpPr/>
          <p:nvPr/>
        </p:nvSpPr>
        <p:spPr>
          <a:xfrm>
            <a:off x="4774664" y="5661248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5" name="Conector reto 64"/>
          <p:cNvCxnSpPr/>
          <p:nvPr/>
        </p:nvCxnSpPr>
        <p:spPr>
          <a:xfrm flipH="1">
            <a:off x="3860304" y="4739074"/>
            <a:ext cx="927720" cy="5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/>
          <p:cNvCxnSpPr>
            <a:stCxn id="61" idx="4"/>
            <a:endCxn id="63" idx="0"/>
          </p:cNvCxnSpPr>
          <p:nvPr/>
        </p:nvCxnSpPr>
        <p:spPr>
          <a:xfrm>
            <a:off x="3788296" y="4869160"/>
            <a:ext cx="361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to 66"/>
          <p:cNvCxnSpPr>
            <a:stCxn id="63" idx="6"/>
            <a:endCxn id="64" idx="2"/>
          </p:cNvCxnSpPr>
          <p:nvPr/>
        </p:nvCxnSpPr>
        <p:spPr>
          <a:xfrm>
            <a:off x="3863914" y="5733256"/>
            <a:ext cx="9107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reto 67"/>
          <p:cNvCxnSpPr>
            <a:stCxn id="62" idx="4"/>
            <a:endCxn id="64" idx="0"/>
          </p:cNvCxnSpPr>
          <p:nvPr/>
        </p:nvCxnSpPr>
        <p:spPr>
          <a:xfrm flipH="1">
            <a:off x="4846672" y="4863345"/>
            <a:ext cx="13360" cy="7979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CaixaDeTexto 68"/>
          <p:cNvSpPr txBox="1"/>
          <p:nvPr/>
        </p:nvSpPr>
        <p:spPr>
          <a:xfrm>
            <a:off x="3647890" y="443711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1</a:t>
            </a:r>
            <a:endParaRPr lang="pt-BR" dirty="0"/>
          </a:p>
        </p:txBody>
      </p:sp>
      <p:sp>
        <p:nvSpPr>
          <p:cNvPr id="70" name="CaixaDeTexto 69"/>
          <p:cNvSpPr txBox="1"/>
          <p:nvPr/>
        </p:nvSpPr>
        <p:spPr>
          <a:xfrm>
            <a:off x="4728010" y="443711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2</a:t>
            </a:r>
            <a:endParaRPr lang="pt-BR" dirty="0"/>
          </a:p>
        </p:txBody>
      </p:sp>
      <p:sp>
        <p:nvSpPr>
          <p:cNvPr id="71" name="CaixaDeTexto 70"/>
          <p:cNvSpPr txBox="1"/>
          <p:nvPr/>
        </p:nvSpPr>
        <p:spPr>
          <a:xfrm>
            <a:off x="3647890" y="578551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3</a:t>
            </a:r>
            <a:endParaRPr lang="pt-BR" dirty="0"/>
          </a:p>
        </p:txBody>
      </p:sp>
      <p:sp>
        <p:nvSpPr>
          <p:cNvPr id="72" name="CaixaDeTexto 71"/>
          <p:cNvSpPr txBox="1"/>
          <p:nvPr/>
        </p:nvSpPr>
        <p:spPr>
          <a:xfrm>
            <a:off x="4728010" y="578551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4</a:t>
            </a:r>
            <a:endParaRPr lang="pt-BR" dirty="0"/>
          </a:p>
        </p:txBody>
      </p:sp>
      <p:cxnSp>
        <p:nvCxnSpPr>
          <p:cNvPr id="73" name="Conector reto 72"/>
          <p:cNvCxnSpPr>
            <a:stCxn id="62" idx="3"/>
            <a:endCxn id="63" idx="7"/>
          </p:cNvCxnSpPr>
          <p:nvPr/>
        </p:nvCxnSpPr>
        <p:spPr>
          <a:xfrm flipH="1">
            <a:off x="3842823" y="4842254"/>
            <a:ext cx="966292" cy="8400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to 73"/>
          <p:cNvCxnSpPr>
            <a:stCxn id="64" idx="1"/>
            <a:endCxn id="61" idx="5"/>
          </p:cNvCxnSpPr>
          <p:nvPr/>
        </p:nvCxnSpPr>
        <p:spPr>
          <a:xfrm flipH="1" flipV="1">
            <a:off x="3839213" y="4848069"/>
            <a:ext cx="956542" cy="8342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CaixaDeTexto 74"/>
              <p:cNvSpPr txBox="1"/>
              <p:nvPr/>
            </p:nvSpPr>
            <p:spPr>
              <a:xfrm>
                <a:off x="7306000" y="4077072"/>
                <a:ext cx="4996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𝐻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5" name="CaixaDeTexto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6000" y="4077072"/>
                <a:ext cx="499689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Elipse 75"/>
          <p:cNvSpPr/>
          <p:nvPr/>
        </p:nvSpPr>
        <p:spPr>
          <a:xfrm>
            <a:off x="967990" y="4725144"/>
            <a:ext cx="144016" cy="14401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7" name="Elipse 76"/>
          <p:cNvSpPr/>
          <p:nvPr/>
        </p:nvSpPr>
        <p:spPr>
          <a:xfrm>
            <a:off x="2039726" y="4719329"/>
            <a:ext cx="144016" cy="14401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8" name="Elipse 77"/>
          <p:cNvSpPr/>
          <p:nvPr/>
        </p:nvSpPr>
        <p:spPr>
          <a:xfrm>
            <a:off x="971600" y="5661248"/>
            <a:ext cx="144016" cy="14401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9" name="Elipse 78"/>
          <p:cNvSpPr/>
          <p:nvPr/>
        </p:nvSpPr>
        <p:spPr>
          <a:xfrm>
            <a:off x="2026366" y="5661248"/>
            <a:ext cx="144016" cy="14401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0" name="Conector reto 79"/>
          <p:cNvCxnSpPr/>
          <p:nvPr/>
        </p:nvCxnSpPr>
        <p:spPr>
          <a:xfrm flipH="1">
            <a:off x="1112006" y="4739074"/>
            <a:ext cx="927720" cy="5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/>
          <p:cNvCxnSpPr>
            <a:stCxn id="76" idx="4"/>
            <a:endCxn id="78" idx="0"/>
          </p:cNvCxnSpPr>
          <p:nvPr/>
        </p:nvCxnSpPr>
        <p:spPr>
          <a:xfrm>
            <a:off x="1039998" y="4869160"/>
            <a:ext cx="361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reto 81"/>
          <p:cNvCxnSpPr>
            <a:stCxn id="78" idx="6"/>
            <a:endCxn id="79" idx="2"/>
          </p:cNvCxnSpPr>
          <p:nvPr/>
        </p:nvCxnSpPr>
        <p:spPr>
          <a:xfrm>
            <a:off x="1115616" y="5733256"/>
            <a:ext cx="9107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ector reto 82"/>
          <p:cNvCxnSpPr>
            <a:stCxn id="77" idx="4"/>
            <a:endCxn id="79" idx="0"/>
          </p:cNvCxnSpPr>
          <p:nvPr/>
        </p:nvCxnSpPr>
        <p:spPr>
          <a:xfrm flipH="1">
            <a:off x="2098374" y="4863345"/>
            <a:ext cx="13360" cy="7979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CaixaDeTexto 83"/>
          <p:cNvSpPr txBox="1"/>
          <p:nvPr/>
        </p:nvSpPr>
        <p:spPr>
          <a:xfrm>
            <a:off x="899592" y="443711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1</a:t>
            </a:r>
            <a:endParaRPr lang="pt-BR" dirty="0"/>
          </a:p>
        </p:txBody>
      </p:sp>
      <p:sp>
        <p:nvSpPr>
          <p:cNvPr id="85" name="CaixaDeTexto 84"/>
          <p:cNvSpPr txBox="1"/>
          <p:nvPr/>
        </p:nvSpPr>
        <p:spPr>
          <a:xfrm>
            <a:off x="1979712" y="443711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2</a:t>
            </a:r>
            <a:endParaRPr lang="pt-BR" dirty="0"/>
          </a:p>
        </p:txBody>
      </p:sp>
      <p:sp>
        <p:nvSpPr>
          <p:cNvPr id="86" name="CaixaDeTexto 85"/>
          <p:cNvSpPr txBox="1"/>
          <p:nvPr/>
        </p:nvSpPr>
        <p:spPr>
          <a:xfrm>
            <a:off x="899592" y="578551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3</a:t>
            </a:r>
            <a:endParaRPr lang="pt-BR" dirty="0"/>
          </a:p>
        </p:txBody>
      </p:sp>
      <p:sp>
        <p:nvSpPr>
          <p:cNvPr id="87" name="CaixaDeTexto 86"/>
          <p:cNvSpPr txBox="1"/>
          <p:nvPr/>
        </p:nvSpPr>
        <p:spPr>
          <a:xfrm>
            <a:off x="1979712" y="578551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4</a:t>
            </a:r>
            <a:endParaRPr lang="pt-BR" dirty="0"/>
          </a:p>
        </p:txBody>
      </p:sp>
      <p:cxnSp>
        <p:nvCxnSpPr>
          <p:cNvPr id="88" name="Conector reto 87"/>
          <p:cNvCxnSpPr>
            <a:stCxn id="77" idx="3"/>
            <a:endCxn id="78" idx="7"/>
          </p:cNvCxnSpPr>
          <p:nvPr/>
        </p:nvCxnSpPr>
        <p:spPr>
          <a:xfrm flipH="1">
            <a:off x="1094525" y="4842254"/>
            <a:ext cx="966292" cy="8400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ector reto 88"/>
          <p:cNvCxnSpPr>
            <a:stCxn id="79" idx="1"/>
            <a:endCxn id="76" idx="5"/>
          </p:cNvCxnSpPr>
          <p:nvPr/>
        </p:nvCxnSpPr>
        <p:spPr>
          <a:xfrm flipH="1" flipV="1">
            <a:off x="1090915" y="4848069"/>
            <a:ext cx="956542" cy="8342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CaixaDeTexto 89"/>
              <p:cNvSpPr txBox="1"/>
              <p:nvPr/>
            </p:nvSpPr>
            <p:spPr>
              <a:xfrm>
                <a:off x="1341330" y="4077072"/>
                <a:ext cx="3935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/>
                        </a:rPr>
                        <m:t>𝐺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90" name="CaixaDeTexto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1330" y="4077072"/>
                <a:ext cx="393569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" name="Elipse 90"/>
          <p:cNvSpPr/>
          <p:nvPr/>
        </p:nvSpPr>
        <p:spPr>
          <a:xfrm>
            <a:off x="179512" y="5229200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2" name="Conector reto 91"/>
          <p:cNvCxnSpPr>
            <a:stCxn id="91" idx="6"/>
            <a:endCxn id="78" idx="2"/>
          </p:cNvCxnSpPr>
          <p:nvPr/>
        </p:nvCxnSpPr>
        <p:spPr>
          <a:xfrm>
            <a:off x="323528" y="5301208"/>
            <a:ext cx="648072" cy="432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CaixaDeTexto 92"/>
          <p:cNvSpPr txBox="1"/>
          <p:nvPr/>
        </p:nvSpPr>
        <p:spPr>
          <a:xfrm>
            <a:off x="107504" y="49411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94" name="Elipse 93"/>
          <p:cNvSpPr/>
          <p:nvPr/>
        </p:nvSpPr>
        <p:spPr>
          <a:xfrm>
            <a:off x="6944654" y="4725144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5" name="Elipse 94"/>
          <p:cNvSpPr/>
          <p:nvPr/>
        </p:nvSpPr>
        <p:spPr>
          <a:xfrm>
            <a:off x="8016390" y="4719329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6" name="Elipse 95"/>
          <p:cNvSpPr/>
          <p:nvPr/>
        </p:nvSpPr>
        <p:spPr>
          <a:xfrm>
            <a:off x="6948264" y="5661248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7" name="Elipse 96"/>
          <p:cNvSpPr/>
          <p:nvPr/>
        </p:nvSpPr>
        <p:spPr>
          <a:xfrm>
            <a:off x="8003030" y="5661248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8" name="Conector reto 97"/>
          <p:cNvCxnSpPr/>
          <p:nvPr/>
        </p:nvCxnSpPr>
        <p:spPr>
          <a:xfrm flipH="1">
            <a:off x="7088670" y="4739074"/>
            <a:ext cx="927720" cy="5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ector reto 98"/>
          <p:cNvCxnSpPr>
            <a:stCxn id="94" idx="4"/>
            <a:endCxn id="96" idx="0"/>
          </p:cNvCxnSpPr>
          <p:nvPr/>
        </p:nvCxnSpPr>
        <p:spPr>
          <a:xfrm>
            <a:off x="7016662" y="4869160"/>
            <a:ext cx="361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ector reto 99"/>
          <p:cNvCxnSpPr>
            <a:stCxn id="96" idx="6"/>
            <a:endCxn id="97" idx="2"/>
          </p:cNvCxnSpPr>
          <p:nvPr/>
        </p:nvCxnSpPr>
        <p:spPr>
          <a:xfrm>
            <a:off x="7092280" y="5733256"/>
            <a:ext cx="9107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ector reto 100"/>
          <p:cNvCxnSpPr>
            <a:stCxn id="95" idx="4"/>
            <a:endCxn id="97" idx="0"/>
          </p:cNvCxnSpPr>
          <p:nvPr/>
        </p:nvCxnSpPr>
        <p:spPr>
          <a:xfrm flipH="1">
            <a:off x="8075038" y="4863345"/>
            <a:ext cx="13360" cy="7979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CaixaDeTexto 101"/>
          <p:cNvSpPr txBox="1"/>
          <p:nvPr/>
        </p:nvSpPr>
        <p:spPr>
          <a:xfrm>
            <a:off x="6876256" y="443711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1</a:t>
            </a:r>
            <a:endParaRPr lang="pt-BR" dirty="0"/>
          </a:p>
        </p:txBody>
      </p:sp>
      <p:sp>
        <p:nvSpPr>
          <p:cNvPr id="103" name="CaixaDeTexto 102"/>
          <p:cNvSpPr txBox="1"/>
          <p:nvPr/>
        </p:nvSpPr>
        <p:spPr>
          <a:xfrm>
            <a:off x="7956376" y="443711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2</a:t>
            </a:r>
            <a:endParaRPr lang="pt-BR" dirty="0"/>
          </a:p>
        </p:txBody>
      </p:sp>
      <p:sp>
        <p:nvSpPr>
          <p:cNvPr id="104" name="CaixaDeTexto 103"/>
          <p:cNvSpPr txBox="1"/>
          <p:nvPr/>
        </p:nvSpPr>
        <p:spPr>
          <a:xfrm>
            <a:off x="6876256" y="578551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3</a:t>
            </a:r>
            <a:endParaRPr lang="pt-BR" dirty="0"/>
          </a:p>
        </p:txBody>
      </p:sp>
      <p:sp>
        <p:nvSpPr>
          <p:cNvPr id="105" name="CaixaDeTexto 104"/>
          <p:cNvSpPr txBox="1"/>
          <p:nvPr/>
        </p:nvSpPr>
        <p:spPr>
          <a:xfrm>
            <a:off x="7956376" y="578551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4</a:t>
            </a:r>
            <a:endParaRPr lang="pt-BR" dirty="0"/>
          </a:p>
        </p:txBody>
      </p:sp>
      <p:cxnSp>
        <p:nvCxnSpPr>
          <p:cNvPr id="106" name="Conector reto 105"/>
          <p:cNvCxnSpPr>
            <a:stCxn id="95" idx="3"/>
            <a:endCxn id="96" idx="7"/>
          </p:cNvCxnSpPr>
          <p:nvPr/>
        </p:nvCxnSpPr>
        <p:spPr>
          <a:xfrm flipH="1">
            <a:off x="7071189" y="4842254"/>
            <a:ext cx="966292" cy="8400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reto 106"/>
          <p:cNvCxnSpPr>
            <a:stCxn id="97" idx="1"/>
            <a:endCxn id="94" idx="5"/>
          </p:cNvCxnSpPr>
          <p:nvPr/>
        </p:nvCxnSpPr>
        <p:spPr>
          <a:xfrm flipH="1" flipV="1">
            <a:off x="7067579" y="4848069"/>
            <a:ext cx="956542" cy="8342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Elipse 107"/>
          <p:cNvSpPr/>
          <p:nvPr/>
        </p:nvSpPr>
        <p:spPr>
          <a:xfrm>
            <a:off x="6156176" y="5229200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9" name="Conector reto 108"/>
          <p:cNvCxnSpPr>
            <a:stCxn id="108" idx="6"/>
            <a:endCxn id="96" idx="2"/>
          </p:cNvCxnSpPr>
          <p:nvPr/>
        </p:nvCxnSpPr>
        <p:spPr>
          <a:xfrm>
            <a:off x="6300192" y="5301208"/>
            <a:ext cx="648072" cy="432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CaixaDeTexto 126"/>
          <p:cNvSpPr txBox="1"/>
          <p:nvPr/>
        </p:nvSpPr>
        <p:spPr>
          <a:xfrm>
            <a:off x="6084168" y="49411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490025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Transformação Polinomial: Clique ∝ 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2404863"/>
              </a:xfrm>
            </p:spPr>
            <p:txBody>
              <a:bodyPr>
                <a:normAutofit/>
              </a:bodyPr>
              <a:lstStyle/>
              <a:p>
                <a:r>
                  <a:rPr lang="pt-BR" sz="2400" dirty="0"/>
                  <a:t>Existe uma Clique de tamanho k em G se e somente 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400" dirty="0"/>
                  <a:t> é um </a:t>
                </a:r>
                <a:r>
                  <a:rPr lang="pt-BR" sz="2400" dirty="0" err="1"/>
                  <a:t>subgrafo</a:t>
                </a:r>
                <a:r>
                  <a:rPr lang="pt-BR" sz="2400" dirty="0"/>
                  <a:t>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400" dirty="0"/>
                  <a:t> (pois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400" dirty="0"/>
                  <a:t>= G,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400" dirty="0"/>
                  <a:t> é um grafo completo de tamanho k).</a:t>
                </a:r>
              </a:p>
              <a:p>
                <a:r>
                  <a:rPr lang="pt-BR" sz="2400" dirty="0"/>
                  <a:t>Encontrando uma Clique em G de tamanho k, resolve o problema de isomorfismo de </a:t>
                </a:r>
                <a:r>
                  <a:rPr lang="pt-BR" sz="2400" dirty="0" err="1"/>
                  <a:t>subgrafos</a:t>
                </a:r>
                <a:r>
                  <a:rPr lang="pt-BR" sz="2400" dirty="0"/>
                  <a:t> entre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400" i="1">
                        <a:latin typeface="Cambria Math"/>
                      </a:rPr>
                      <m:t> </m:t>
                    </m:r>
                  </m:oMath>
                </a14:m>
                <a:r>
                  <a:rPr lang="pt-BR" sz="2400" dirty="0"/>
                  <a:t>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400" dirty="0"/>
                  <a:t>. Pois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400" i="1">
                        <a:latin typeface="Cambria Math"/>
                      </a:rPr>
                      <m:t> </m:t>
                    </m:r>
                  </m:oMath>
                </a14:m>
                <a:r>
                  <a:rPr lang="pt-BR" sz="2400" dirty="0"/>
                  <a:t>é um grafo isomórfico a um </a:t>
                </a:r>
                <a:r>
                  <a:rPr lang="pt-BR" sz="2400" dirty="0" err="1"/>
                  <a:t>subgrafo</a:t>
                </a:r>
                <a:r>
                  <a:rPr lang="pt-BR" sz="2400" dirty="0"/>
                  <a:t>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t-BR" sz="2400" i="1">
                        <a:latin typeface="Cambria Math"/>
                      </a:rPr>
                      <m:t> </m:t>
                    </m:r>
                  </m:oMath>
                </a14:m>
                <a:r>
                  <a:rPr lang="pt-BR" sz="2400" dirty="0"/>
                  <a:t>de tamanho k.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2404863"/>
              </a:xfrm>
              <a:blipFill rotWithShape="1">
                <a:blip r:embed="rId2"/>
                <a:stretch>
                  <a:fillRect l="-963" t="-2030" r="-222" b="-380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CaixaDeTexto 59"/>
              <p:cNvSpPr txBox="1"/>
              <p:nvPr/>
            </p:nvSpPr>
            <p:spPr>
              <a:xfrm>
                <a:off x="4139952" y="4077072"/>
                <a:ext cx="4943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𝐻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0" name="CaixaDeTexto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9952" y="4077072"/>
                <a:ext cx="494366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Elipse 60"/>
          <p:cNvSpPr/>
          <p:nvPr/>
        </p:nvSpPr>
        <p:spPr>
          <a:xfrm>
            <a:off x="3716288" y="4725144"/>
            <a:ext cx="144016" cy="14401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2" name="Elipse 61"/>
          <p:cNvSpPr/>
          <p:nvPr/>
        </p:nvSpPr>
        <p:spPr>
          <a:xfrm>
            <a:off x="4788024" y="4719329"/>
            <a:ext cx="144016" cy="14401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3" name="Elipse 62"/>
          <p:cNvSpPr/>
          <p:nvPr/>
        </p:nvSpPr>
        <p:spPr>
          <a:xfrm>
            <a:off x="3719898" y="5661248"/>
            <a:ext cx="144016" cy="14401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4" name="Elipse 63"/>
          <p:cNvSpPr/>
          <p:nvPr/>
        </p:nvSpPr>
        <p:spPr>
          <a:xfrm>
            <a:off x="4774664" y="5661248"/>
            <a:ext cx="144016" cy="14401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5" name="Conector reto 64"/>
          <p:cNvCxnSpPr/>
          <p:nvPr/>
        </p:nvCxnSpPr>
        <p:spPr>
          <a:xfrm flipH="1">
            <a:off x="3860304" y="4739074"/>
            <a:ext cx="927720" cy="5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/>
          <p:cNvCxnSpPr>
            <a:stCxn id="61" idx="4"/>
            <a:endCxn id="63" idx="0"/>
          </p:cNvCxnSpPr>
          <p:nvPr/>
        </p:nvCxnSpPr>
        <p:spPr>
          <a:xfrm>
            <a:off x="3788296" y="4869160"/>
            <a:ext cx="361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to 66"/>
          <p:cNvCxnSpPr>
            <a:stCxn id="63" idx="6"/>
            <a:endCxn id="64" idx="2"/>
          </p:cNvCxnSpPr>
          <p:nvPr/>
        </p:nvCxnSpPr>
        <p:spPr>
          <a:xfrm>
            <a:off x="3863914" y="5733256"/>
            <a:ext cx="9107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reto 67"/>
          <p:cNvCxnSpPr>
            <a:stCxn id="62" idx="4"/>
            <a:endCxn id="64" idx="0"/>
          </p:cNvCxnSpPr>
          <p:nvPr/>
        </p:nvCxnSpPr>
        <p:spPr>
          <a:xfrm flipH="1">
            <a:off x="4846672" y="4863345"/>
            <a:ext cx="13360" cy="7979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CaixaDeTexto 68"/>
          <p:cNvSpPr txBox="1"/>
          <p:nvPr/>
        </p:nvSpPr>
        <p:spPr>
          <a:xfrm>
            <a:off x="3647890" y="443711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1</a:t>
            </a:r>
            <a:endParaRPr lang="pt-BR" dirty="0"/>
          </a:p>
        </p:txBody>
      </p:sp>
      <p:sp>
        <p:nvSpPr>
          <p:cNvPr id="70" name="CaixaDeTexto 69"/>
          <p:cNvSpPr txBox="1"/>
          <p:nvPr/>
        </p:nvSpPr>
        <p:spPr>
          <a:xfrm>
            <a:off x="4728010" y="443711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2</a:t>
            </a:r>
            <a:endParaRPr lang="pt-BR" dirty="0"/>
          </a:p>
        </p:txBody>
      </p:sp>
      <p:sp>
        <p:nvSpPr>
          <p:cNvPr id="71" name="CaixaDeTexto 70"/>
          <p:cNvSpPr txBox="1"/>
          <p:nvPr/>
        </p:nvSpPr>
        <p:spPr>
          <a:xfrm>
            <a:off x="3647890" y="578551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3</a:t>
            </a:r>
            <a:endParaRPr lang="pt-BR" dirty="0"/>
          </a:p>
        </p:txBody>
      </p:sp>
      <p:sp>
        <p:nvSpPr>
          <p:cNvPr id="72" name="CaixaDeTexto 71"/>
          <p:cNvSpPr txBox="1"/>
          <p:nvPr/>
        </p:nvSpPr>
        <p:spPr>
          <a:xfrm>
            <a:off x="4728010" y="578551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4</a:t>
            </a:r>
            <a:endParaRPr lang="pt-BR" dirty="0"/>
          </a:p>
        </p:txBody>
      </p:sp>
      <p:cxnSp>
        <p:nvCxnSpPr>
          <p:cNvPr id="73" name="Conector reto 72"/>
          <p:cNvCxnSpPr>
            <a:stCxn id="62" idx="3"/>
            <a:endCxn id="63" idx="7"/>
          </p:cNvCxnSpPr>
          <p:nvPr/>
        </p:nvCxnSpPr>
        <p:spPr>
          <a:xfrm flipH="1">
            <a:off x="3842823" y="4842254"/>
            <a:ext cx="966292" cy="8400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to 73"/>
          <p:cNvCxnSpPr>
            <a:stCxn id="64" idx="1"/>
            <a:endCxn id="61" idx="5"/>
          </p:cNvCxnSpPr>
          <p:nvPr/>
        </p:nvCxnSpPr>
        <p:spPr>
          <a:xfrm flipH="1" flipV="1">
            <a:off x="3839213" y="4848069"/>
            <a:ext cx="956542" cy="8342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CaixaDeTexto 74"/>
              <p:cNvSpPr txBox="1"/>
              <p:nvPr/>
            </p:nvSpPr>
            <p:spPr>
              <a:xfrm>
                <a:off x="7306000" y="4077072"/>
                <a:ext cx="4996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𝐻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5" name="CaixaDeTexto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6000" y="4077072"/>
                <a:ext cx="499689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Elipse 75"/>
          <p:cNvSpPr/>
          <p:nvPr/>
        </p:nvSpPr>
        <p:spPr>
          <a:xfrm>
            <a:off x="967990" y="4725144"/>
            <a:ext cx="144016" cy="14401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7" name="Elipse 76"/>
          <p:cNvSpPr/>
          <p:nvPr/>
        </p:nvSpPr>
        <p:spPr>
          <a:xfrm>
            <a:off x="2039726" y="4719329"/>
            <a:ext cx="144016" cy="14401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8" name="Elipse 77"/>
          <p:cNvSpPr/>
          <p:nvPr/>
        </p:nvSpPr>
        <p:spPr>
          <a:xfrm>
            <a:off x="971600" y="5661248"/>
            <a:ext cx="144016" cy="14401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9" name="Elipse 78"/>
          <p:cNvSpPr/>
          <p:nvPr/>
        </p:nvSpPr>
        <p:spPr>
          <a:xfrm>
            <a:off x="2026366" y="5661248"/>
            <a:ext cx="144016" cy="14401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0" name="Conector reto 79"/>
          <p:cNvCxnSpPr/>
          <p:nvPr/>
        </p:nvCxnSpPr>
        <p:spPr>
          <a:xfrm flipH="1">
            <a:off x="1112006" y="4739074"/>
            <a:ext cx="927720" cy="5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/>
          <p:cNvCxnSpPr>
            <a:stCxn id="76" idx="4"/>
            <a:endCxn id="78" idx="0"/>
          </p:cNvCxnSpPr>
          <p:nvPr/>
        </p:nvCxnSpPr>
        <p:spPr>
          <a:xfrm>
            <a:off x="1039998" y="4869160"/>
            <a:ext cx="361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reto 81"/>
          <p:cNvCxnSpPr>
            <a:stCxn id="78" idx="6"/>
            <a:endCxn id="79" idx="2"/>
          </p:cNvCxnSpPr>
          <p:nvPr/>
        </p:nvCxnSpPr>
        <p:spPr>
          <a:xfrm>
            <a:off x="1115616" y="5733256"/>
            <a:ext cx="9107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ector reto 82"/>
          <p:cNvCxnSpPr>
            <a:stCxn id="77" idx="4"/>
            <a:endCxn id="79" idx="0"/>
          </p:cNvCxnSpPr>
          <p:nvPr/>
        </p:nvCxnSpPr>
        <p:spPr>
          <a:xfrm flipH="1">
            <a:off x="2098374" y="4863345"/>
            <a:ext cx="13360" cy="7979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CaixaDeTexto 83"/>
          <p:cNvSpPr txBox="1"/>
          <p:nvPr/>
        </p:nvSpPr>
        <p:spPr>
          <a:xfrm>
            <a:off x="899592" y="443711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1</a:t>
            </a:r>
            <a:endParaRPr lang="pt-BR" dirty="0"/>
          </a:p>
        </p:txBody>
      </p:sp>
      <p:sp>
        <p:nvSpPr>
          <p:cNvPr id="85" name="CaixaDeTexto 84"/>
          <p:cNvSpPr txBox="1"/>
          <p:nvPr/>
        </p:nvSpPr>
        <p:spPr>
          <a:xfrm>
            <a:off x="1979712" y="443711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2</a:t>
            </a:r>
            <a:endParaRPr lang="pt-BR" dirty="0"/>
          </a:p>
        </p:txBody>
      </p:sp>
      <p:sp>
        <p:nvSpPr>
          <p:cNvPr id="86" name="CaixaDeTexto 85"/>
          <p:cNvSpPr txBox="1"/>
          <p:nvPr/>
        </p:nvSpPr>
        <p:spPr>
          <a:xfrm>
            <a:off x="899592" y="578551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3</a:t>
            </a:r>
            <a:endParaRPr lang="pt-BR" dirty="0"/>
          </a:p>
        </p:txBody>
      </p:sp>
      <p:sp>
        <p:nvSpPr>
          <p:cNvPr id="87" name="CaixaDeTexto 86"/>
          <p:cNvSpPr txBox="1"/>
          <p:nvPr/>
        </p:nvSpPr>
        <p:spPr>
          <a:xfrm>
            <a:off x="1979712" y="578551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4</a:t>
            </a:r>
            <a:endParaRPr lang="pt-BR" dirty="0"/>
          </a:p>
        </p:txBody>
      </p:sp>
      <p:cxnSp>
        <p:nvCxnSpPr>
          <p:cNvPr id="88" name="Conector reto 87"/>
          <p:cNvCxnSpPr>
            <a:stCxn id="77" idx="3"/>
            <a:endCxn id="78" idx="7"/>
          </p:cNvCxnSpPr>
          <p:nvPr/>
        </p:nvCxnSpPr>
        <p:spPr>
          <a:xfrm flipH="1">
            <a:off x="1094525" y="4842254"/>
            <a:ext cx="966292" cy="8400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ector reto 88"/>
          <p:cNvCxnSpPr>
            <a:stCxn id="79" idx="1"/>
            <a:endCxn id="76" idx="5"/>
          </p:cNvCxnSpPr>
          <p:nvPr/>
        </p:nvCxnSpPr>
        <p:spPr>
          <a:xfrm flipH="1" flipV="1">
            <a:off x="1090915" y="4848069"/>
            <a:ext cx="956542" cy="8342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CaixaDeTexto 89"/>
              <p:cNvSpPr txBox="1"/>
              <p:nvPr/>
            </p:nvSpPr>
            <p:spPr>
              <a:xfrm>
                <a:off x="1341330" y="4077072"/>
                <a:ext cx="3935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/>
                        </a:rPr>
                        <m:t>𝐺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90" name="CaixaDeTexto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1330" y="4077072"/>
                <a:ext cx="393569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" name="Elipse 90"/>
          <p:cNvSpPr/>
          <p:nvPr/>
        </p:nvSpPr>
        <p:spPr>
          <a:xfrm>
            <a:off x="179512" y="5229200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2" name="Conector reto 91"/>
          <p:cNvCxnSpPr>
            <a:stCxn id="91" idx="6"/>
            <a:endCxn id="78" idx="2"/>
          </p:cNvCxnSpPr>
          <p:nvPr/>
        </p:nvCxnSpPr>
        <p:spPr>
          <a:xfrm>
            <a:off x="323528" y="5301208"/>
            <a:ext cx="648072" cy="432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CaixaDeTexto 92"/>
          <p:cNvSpPr txBox="1"/>
          <p:nvPr/>
        </p:nvSpPr>
        <p:spPr>
          <a:xfrm>
            <a:off x="107504" y="49411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94" name="Elipse 93"/>
          <p:cNvSpPr/>
          <p:nvPr/>
        </p:nvSpPr>
        <p:spPr>
          <a:xfrm>
            <a:off x="6944654" y="4725144"/>
            <a:ext cx="144016" cy="14401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5" name="Elipse 94"/>
          <p:cNvSpPr/>
          <p:nvPr/>
        </p:nvSpPr>
        <p:spPr>
          <a:xfrm>
            <a:off x="8016390" y="4719329"/>
            <a:ext cx="144016" cy="14401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6" name="Elipse 95"/>
          <p:cNvSpPr/>
          <p:nvPr/>
        </p:nvSpPr>
        <p:spPr>
          <a:xfrm>
            <a:off x="6948264" y="5661248"/>
            <a:ext cx="144016" cy="14401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7" name="Elipse 96"/>
          <p:cNvSpPr/>
          <p:nvPr/>
        </p:nvSpPr>
        <p:spPr>
          <a:xfrm>
            <a:off x="8003030" y="5661248"/>
            <a:ext cx="144016" cy="14401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8" name="Conector reto 97"/>
          <p:cNvCxnSpPr/>
          <p:nvPr/>
        </p:nvCxnSpPr>
        <p:spPr>
          <a:xfrm flipH="1">
            <a:off x="7088670" y="4739074"/>
            <a:ext cx="927720" cy="5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ector reto 98"/>
          <p:cNvCxnSpPr>
            <a:stCxn id="94" idx="4"/>
            <a:endCxn id="96" idx="0"/>
          </p:cNvCxnSpPr>
          <p:nvPr/>
        </p:nvCxnSpPr>
        <p:spPr>
          <a:xfrm>
            <a:off x="7016662" y="4869160"/>
            <a:ext cx="361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ector reto 99"/>
          <p:cNvCxnSpPr>
            <a:stCxn id="96" idx="6"/>
            <a:endCxn id="97" idx="2"/>
          </p:cNvCxnSpPr>
          <p:nvPr/>
        </p:nvCxnSpPr>
        <p:spPr>
          <a:xfrm>
            <a:off x="7092280" y="5733256"/>
            <a:ext cx="9107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ector reto 100"/>
          <p:cNvCxnSpPr>
            <a:stCxn id="95" idx="4"/>
            <a:endCxn id="97" idx="0"/>
          </p:cNvCxnSpPr>
          <p:nvPr/>
        </p:nvCxnSpPr>
        <p:spPr>
          <a:xfrm flipH="1">
            <a:off x="8075038" y="4863345"/>
            <a:ext cx="13360" cy="7979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CaixaDeTexto 101"/>
          <p:cNvSpPr txBox="1"/>
          <p:nvPr/>
        </p:nvSpPr>
        <p:spPr>
          <a:xfrm>
            <a:off x="6876256" y="443711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1</a:t>
            </a:r>
            <a:endParaRPr lang="pt-BR" dirty="0"/>
          </a:p>
        </p:txBody>
      </p:sp>
      <p:sp>
        <p:nvSpPr>
          <p:cNvPr id="103" name="CaixaDeTexto 102"/>
          <p:cNvSpPr txBox="1"/>
          <p:nvPr/>
        </p:nvSpPr>
        <p:spPr>
          <a:xfrm>
            <a:off x="7956376" y="443711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2</a:t>
            </a:r>
            <a:endParaRPr lang="pt-BR" dirty="0"/>
          </a:p>
        </p:txBody>
      </p:sp>
      <p:sp>
        <p:nvSpPr>
          <p:cNvPr id="104" name="CaixaDeTexto 103"/>
          <p:cNvSpPr txBox="1"/>
          <p:nvPr/>
        </p:nvSpPr>
        <p:spPr>
          <a:xfrm>
            <a:off x="6876256" y="578551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3</a:t>
            </a:r>
            <a:endParaRPr lang="pt-BR" dirty="0"/>
          </a:p>
        </p:txBody>
      </p:sp>
      <p:sp>
        <p:nvSpPr>
          <p:cNvPr id="105" name="CaixaDeTexto 104"/>
          <p:cNvSpPr txBox="1"/>
          <p:nvPr/>
        </p:nvSpPr>
        <p:spPr>
          <a:xfrm>
            <a:off x="7956376" y="578551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4</a:t>
            </a:r>
            <a:endParaRPr lang="pt-BR" dirty="0"/>
          </a:p>
        </p:txBody>
      </p:sp>
      <p:cxnSp>
        <p:nvCxnSpPr>
          <p:cNvPr id="106" name="Conector reto 105"/>
          <p:cNvCxnSpPr>
            <a:stCxn id="95" idx="3"/>
            <a:endCxn id="96" idx="7"/>
          </p:cNvCxnSpPr>
          <p:nvPr/>
        </p:nvCxnSpPr>
        <p:spPr>
          <a:xfrm flipH="1">
            <a:off x="7071189" y="4842254"/>
            <a:ext cx="966292" cy="8400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reto 106"/>
          <p:cNvCxnSpPr>
            <a:stCxn id="97" idx="1"/>
            <a:endCxn id="94" idx="5"/>
          </p:cNvCxnSpPr>
          <p:nvPr/>
        </p:nvCxnSpPr>
        <p:spPr>
          <a:xfrm flipH="1" flipV="1">
            <a:off x="7067579" y="4848069"/>
            <a:ext cx="956542" cy="8342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Elipse 107"/>
          <p:cNvSpPr/>
          <p:nvPr/>
        </p:nvSpPr>
        <p:spPr>
          <a:xfrm>
            <a:off x="6156176" y="5229200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9" name="Conector reto 108"/>
          <p:cNvCxnSpPr>
            <a:stCxn id="108" idx="6"/>
            <a:endCxn id="96" idx="2"/>
          </p:cNvCxnSpPr>
          <p:nvPr/>
        </p:nvCxnSpPr>
        <p:spPr>
          <a:xfrm>
            <a:off x="6300192" y="5301208"/>
            <a:ext cx="648072" cy="432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CaixaDeTexto 126"/>
          <p:cNvSpPr txBox="1"/>
          <p:nvPr/>
        </p:nvSpPr>
        <p:spPr>
          <a:xfrm>
            <a:off x="6084168" y="49411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aixaDeTexto 21"/>
              <p:cNvSpPr txBox="1"/>
              <p:nvPr/>
            </p:nvSpPr>
            <p:spPr>
              <a:xfrm>
                <a:off x="847489" y="6453336"/>
                <a:ext cx="59515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Logo, a solução da Clique em G é solução do IS entre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/>
                      </a:rPr>
                      <m:t> </m:t>
                    </m:r>
                  </m:oMath>
                </a14:m>
                <a:r>
                  <a:rPr lang="pt-BR" dirty="0"/>
                  <a:t>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22" name="CaixaDeTexto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489" y="6453336"/>
                <a:ext cx="5951501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820" t="-8333" r="-102" b="-2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633354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Transformação Polinomial: Clique ∝ 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1"/>
                <a:ext cx="8229600" cy="2044824"/>
              </a:xfrm>
            </p:spPr>
            <p:txBody>
              <a:bodyPr>
                <a:normAutofit/>
              </a:bodyPr>
              <a:lstStyle/>
              <a:p>
                <a:r>
                  <a:rPr lang="pt-BR" sz="2800" dirty="0"/>
                  <a:t>Similarmente, se existe uma solução do problema de isomorfismo de </a:t>
                </a:r>
                <a:r>
                  <a:rPr lang="pt-BR" sz="2800" dirty="0" err="1"/>
                  <a:t>subgrafos</a:t>
                </a:r>
                <a:r>
                  <a:rPr lang="pt-BR" sz="2800" dirty="0"/>
                  <a:t> entre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pt-BR" sz="28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800" i="1">
                        <a:latin typeface="Cambria Math"/>
                      </a:rPr>
                      <m:t> </m:t>
                    </m:r>
                  </m:oMath>
                </a14:m>
                <a:r>
                  <a:rPr lang="pt-BR" sz="2800" dirty="0"/>
                  <a:t>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pt-BR" sz="2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t-BR" sz="2800" i="1">
                        <a:latin typeface="Cambria Math"/>
                      </a:rPr>
                      <m:t> </m:t>
                    </m:r>
                  </m:oMath>
                </a14:m>
                <a:r>
                  <a:rPr lang="pt-BR" sz="2800" dirty="0"/>
                  <a:t>com k vértices. 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1"/>
                <a:ext cx="8229600" cy="2044824"/>
              </a:xfrm>
              <a:blipFill rotWithShape="1">
                <a:blip r:embed="rId2"/>
                <a:stretch>
                  <a:fillRect l="-1259" t="-2687" r="-11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Elipse 77"/>
          <p:cNvSpPr/>
          <p:nvPr/>
        </p:nvSpPr>
        <p:spPr>
          <a:xfrm>
            <a:off x="967990" y="4725144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9" name="Elipse 78"/>
          <p:cNvSpPr/>
          <p:nvPr/>
        </p:nvSpPr>
        <p:spPr>
          <a:xfrm>
            <a:off x="2039726" y="4719329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0" name="Elipse 79"/>
          <p:cNvSpPr/>
          <p:nvPr/>
        </p:nvSpPr>
        <p:spPr>
          <a:xfrm>
            <a:off x="971600" y="5661248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1" name="Elipse 80"/>
          <p:cNvSpPr/>
          <p:nvPr/>
        </p:nvSpPr>
        <p:spPr>
          <a:xfrm>
            <a:off x="2026366" y="5661248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2" name="Conector reto 81"/>
          <p:cNvCxnSpPr/>
          <p:nvPr/>
        </p:nvCxnSpPr>
        <p:spPr>
          <a:xfrm flipH="1">
            <a:off x="1112006" y="4739074"/>
            <a:ext cx="927720" cy="5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ector reto 82"/>
          <p:cNvCxnSpPr>
            <a:stCxn id="78" idx="4"/>
            <a:endCxn id="80" idx="0"/>
          </p:cNvCxnSpPr>
          <p:nvPr/>
        </p:nvCxnSpPr>
        <p:spPr>
          <a:xfrm>
            <a:off x="1039998" y="4869160"/>
            <a:ext cx="361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reto 83"/>
          <p:cNvCxnSpPr>
            <a:stCxn id="80" idx="6"/>
            <a:endCxn id="81" idx="2"/>
          </p:cNvCxnSpPr>
          <p:nvPr/>
        </p:nvCxnSpPr>
        <p:spPr>
          <a:xfrm>
            <a:off x="1115616" y="5733256"/>
            <a:ext cx="9107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ector reto 84"/>
          <p:cNvCxnSpPr>
            <a:stCxn id="79" idx="4"/>
            <a:endCxn id="81" idx="0"/>
          </p:cNvCxnSpPr>
          <p:nvPr/>
        </p:nvCxnSpPr>
        <p:spPr>
          <a:xfrm flipH="1">
            <a:off x="2098374" y="4863345"/>
            <a:ext cx="13360" cy="7979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CaixaDeTexto 85"/>
          <p:cNvSpPr txBox="1"/>
          <p:nvPr/>
        </p:nvSpPr>
        <p:spPr>
          <a:xfrm>
            <a:off x="899592" y="443711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1</a:t>
            </a:r>
            <a:endParaRPr lang="pt-BR" dirty="0"/>
          </a:p>
        </p:txBody>
      </p:sp>
      <p:sp>
        <p:nvSpPr>
          <p:cNvPr id="87" name="CaixaDeTexto 86"/>
          <p:cNvSpPr txBox="1"/>
          <p:nvPr/>
        </p:nvSpPr>
        <p:spPr>
          <a:xfrm>
            <a:off x="1979712" y="443711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2</a:t>
            </a:r>
            <a:endParaRPr lang="pt-BR" dirty="0"/>
          </a:p>
        </p:txBody>
      </p:sp>
      <p:sp>
        <p:nvSpPr>
          <p:cNvPr id="88" name="CaixaDeTexto 87"/>
          <p:cNvSpPr txBox="1"/>
          <p:nvPr/>
        </p:nvSpPr>
        <p:spPr>
          <a:xfrm>
            <a:off x="899592" y="578551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3</a:t>
            </a:r>
            <a:endParaRPr lang="pt-BR" dirty="0"/>
          </a:p>
        </p:txBody>
      </p:sp>
      <p:sp>
        <p:nvSpPr>
          <p:cNvPr id="89" name="CaixaDeTexto 88"/>
          <p:cNvSpPr txBox="1"/>
          <p:nvPr/>
        </p:nvSpPr>
        <p:spPr>
          <a:xfrm>
            <a:off x="1979712" y="578551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4</a:t>
            </a:r>
            <a:endParaRPr lang="pt-BR" dirty="0"/>
          </a:p>
        </p:txBody>
      </p:sp>
      <p:cxnSp>
        <p:nvCxnSpPr>
          <p:cNvPr id="90" name="Conector reto 89"/>
          <p:cNvCxnSpPr>
            <a:stCxn id="79" idx="3"/>
            <a:endCxn id="80" idx="7"/>
          </p:cNvCxnSpPr>
          <p:nvPr/>
        </p:nvCxnSpPr>
        <p:spPr>
          <a:xfrm flipH="1">
            <a:off x="1094525" y="4842254"/>
            <a:ext cx="966292" cy="8400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reto 90"/>
          <p:cNvCxnSpPr>
            <a:stCxn id="81" idx="1"/>
            <a:endCxn id="78" idx="5"/>
          </p:cNvCxnSpPr>
          <p:nvPr/>
        </p:nvCxnSpPr>
        <p:spPr>
          <a:xfrm flipH="1" flipV="1">
            <a:off x="1090915" y="4848069"/>
            <a:ext cx="956542" cy="8342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CaixaDeTexto 91"/>
              <p:cNvSpPr txBox="1"/>
              <p:nvPr/>
            </p:nvSpPr>
            <p:spPr>
              <a:xfrm>
                <a:off x="1341330" y="4077072"/>
                <a:ext cx="3935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/>
                        </a:rPr>
                        <m:t>𝐺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92" name="CaixaDeTexto 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1330" y="4077072"/>
                <a:ext cx="393569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Elipse 92"/>
          <p:cNvSpPr/>
          <p:nvPr/>
        </p:nvSpPr>
        <p:spPr>
          <a:xfrm>
            <a:off x="179512" y="5229200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4" name="Conector reto 93"/>
          <p:cNvCxnSpPr>
            <a:stCxn id="93" idx="6"/>
            <a:endCxn id="80" idx="2"/>
          </p:cNvCxnSpPr>
          <p:nvPr/>
        </p:nvCxnSpPr>
        <p:spPr>
          <a:xfrm>
            <a:off x="323528" y="5301208"/>
            <a:ext cx="648072" cy="432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CaixaDeTexto 94"/>
          <p:cNvSpPr txBox="1"/>
          <p:nvPr/>
        </p:nvSpPr>
        <p:spPr>
          <a:xfrm>
            <a:off x="107504" y="49411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3" name="CaixaDeTexto 162"/>
              <p:cNvSpPr txBox="1"/>
              <p:nvPr/>
            </p:nvSpPr>
            <p:spPr>
              <a:xfrm>
                <a:off x="4139952" y="4077072"/>
                <a:ext cx="4943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𝐻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63" name="CaixaDeTexto 1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9952" y="4077072"/>
                <a:ext cx="494366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4" name="Elipse 163"/>
          <p:cNvSpPr/>
          <p:nvPr/>
        </p:nvSpPr>
        <p:spPr>
          <a:xfrm>
            <a:off x="3716288" y="4725144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5" name="Elipse 164"/>
          <p:cNvSpPr/>
          <p:nvPr/>
        </p:nvSpPr>
        <p:spPr>
          <a:xfrm>
            <a:off x="4788024" y="4719329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6" name="Elipse 165"/>
          <p:cNvSpPr/>
          <p:nvPr/>
        </p:nvSpPr>
        <p:spPr>
          <a:xfrm>
            <a:off x="3719898" y="5661248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7" name="Elipse 166"/>
          <p:cNvSpPr/>
          <p:nvPr/>
        </p:nvSpPr>
        <p:spPr>
          <a:xfrm>
            <a:off x="4774664" y="5661248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68" name="Conector reto 167"/>
          <p:cNvCxnSpPr/>
          <p:nvPr/>
        </p:nvCxnSpPr>
        <p:spPr>
          <a:xfrm flipH="1">
            <a:off x="3860304" y="4739074"/>
            <a:ext cx="927720" cy="5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Conector reto 168"/>
          <p:cNvCxnSpPr>
            <a:stCxn id="164" idx="4"/>
            <a:endCxn id="166" idx="0"/>
          </p:cNvCxnSpPr>
          <p:nvPr/>
        </p:nvCxnSpPr>
        <p:spPr>
          <a:xfrm>
            <a:off x="3788296" y="4869160"/>
            <a:ext cx="361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Conector reto 169"/>
          <p:cNvCxnSpPr>
            <a:stCxn id="166" idx="6"/>
            <a:endCxn id="167" idx="2"/>
          </p:cNvCxnSpPr>
          <p:nvPr/>
        </p:nvCxnSpPr>
        <p:spPr>
          <a:xfrm>
            <a:off x="3863914" y="5733256"/>
            <a:ext cx="9107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Conector reto 170"/>
          <p:cNvCxnSpPr>
            <a:stCxn id="165" idx="4"/>
            <a:endCxn id="167" idx="0"/>
          </p:cNvCxnSpPr>
          <p:nvPr/>
        </p:nvCxnSpPr>
        <p:spPr>
          <a:xfrm flipH="1">
            <a:off x="4846672" y="4863345"/>
            <a:ext cx="13360" cy="7979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CaixaDeTexto 171"/>
          <p:cNvSpPr txBox="1"/>
          <p:nvPr/>
        </p:nvSpPr>
        <p:spPr>
          <a:xfrm>
            <a:off x="3647890" y="443711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1</a:t>
            </a:r>
            <a:endParaRPr lang="pt-BR" dirty="0"/>
          </a:p>
        </p:txBody>
      </p:sp>
      <p:sp>
        <p:nvSpPr>
          <p:cNvPr id="173" name="CaixaDeTexto 172"/>
          <p:cNvSpPr txBox="1"/>
          <p:nvPr/>
        </p:nvSpPr>
        <p:spPr>
          <a:xfrm>
            <a:off x="4728010" y="443711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2</a:t>
            </a:r>
            <a:endParaRPr lang="pt-BR" dirty="0"/>
          </a:p>
        </p:txBody>
      </p:sp>
      <p:sp>
        <p:nvSpPr>
          <p:cNvPr id="174" name="CaixaDeTexto 173"/>
          <p:cNvSpPr txBox="1"/>
          <p:nvPr/>
        </p:nvSpPr>
        <p:spPr>
          <a:xfrm>
            <a:off x="3647890" y="578551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3</a:t>
            </a:r>
            <a:endParaRPr lang="pt-BR" dirty="0"/>
          </a:p>
        </p:txBody>
      </p:sp>
      <p:sp>
        <p:nvSpPr>
          <p:cNvPr id="175" name="CaixaDeTexto 174"/>
          <p:cNvSpPr txBox="1"/>
          <p:nvPr/>
        </p:nvSpPr>
        <p:spPr>
          <a:xfrm>
            <a:off x="4728010" y="578551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4</a:t>
            </a:r>
            <a:endParaRPr lang="pt-BR" dirty="0"/>
          </a:p>
        </p:txBody>
      </p:sp>
      <p:cxnSp>
        <p:nvCxnSpPr>
          <p:cNvPr id="176" name="Conector reto 175"/>
          <p:cNvCxnSpPr>
            <a:stCxn id="165" idx="3"/>
            <a:endCxn id="166" idx="7"/>
          </p:cNvCxnSpPr>
          <p:nvPr/>
        </p:nvCxnSpPr>
        <p:spPr>
          <a:xfrm flipH="1">
            <a:off x="3842823" y="4842254"/>
            <a:ext cx="966292" cy="8400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Conector reto 176"/>
          <p:cNvCxnSpPr>
            <a:stCxn id="167" idx="1"/>
            <a:endCxn id="164" idx="5"/>
          </p:cNvCxnSpPr>
          <p:nvPr/>
        </p:nvCxnSpPr>
        <p:spPr>
          <a:xfrm flipH="1" flipV="1">
            <a:off x="3839213" y="4848069"/>
            <a:ext cx="956542" cy="8342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CaixaDeTexto 177"/>
              <p:cNvSpPr txBox="1"/>
              <p:nvPr/>
            </p:nvSpPr>
            <p:spPr>
              <a:xfrm>
                <a:off x="7306000" y="4077072"/>
                <a:ext cx="4996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𝐻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78" name="CaixaDeTexto 1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6000" y="4077072"/>
                <a:ext cx="499689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9" name="Elipse 178"/>
          <p:cNvSpPr/>
          <p:nvPr/>
        </p:nvSpPr>
        <p:spPr>
          <a:xfrm>
            <a:off x="6944654" y="4725144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0" name="Elipse 179"/>
          <p:cNvSpPr/>
          <p:nvPr/>
        </p:nvSpPr>
        <p:spPr>
          <a:xfrm>
            <a:off x="8016390" y="4719329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1" name="Elipse 180"/>
          <p:cNvSpPr/>
          <p:nvPr/>
        </p:nvSpPr>
        <p:spPr>
          <a:xfrm>
            <a:off x="6948264" y="5661248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2" name="Elipse 181"/>
          <p:cNvSpPr/>
          <p:nvPr/>
        </p:nvSpPr>
        <p:spPr>
          <a:xfrm>
            <a:off x="8003030" y="5661248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83" name="Conector reto 182"/>
          <p:cNvCxnSpPr/>
          <p:nvPr/>
        </p:nvCxnSpPr>
        <p:spPr>
          <a:xfrm flipH="1">
            <a:off x="7088670" y="4739074"/>
            <a:ext cx="927720" cy="5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Conector reto 183"/>
          <p:cNvCxnSpPr>
            <a:stCxn id="179" idx="4"/>
            <a:endCxn id="181" idx="0"/>
          </p:cNvCxnSpPr>
          <p:nvPr/>
        </p:nvCxnSpPr>
        <p:spPr>
          <a:xfrm>
            <a:off x="7016662" y="4869160"/>
            <a:ext cx="361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Conector reto 184"/>
          <p:cNvCxnSpPr>
            <a:stCxn id="181" idx="6"/>
            <a:endCxn id="182" idx="2"/>
          </p:cNvCxnSpPr>
          <p:nvPr/>
        </p:nvCxnSpPr>
        <p:spPr>
          <a:xfrm>
            <a:off x="7092280" y="5733256"/>
            <a:ext cx="9107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Conector reto 185"/>
          <p:cNvCxnSpPr>
            <a:stCxn id="180" idx="4"/>
            <a:endCxn id="182" idx="0"/>
          </p:cNvCxnSpPr>
          <p:nvPr/>
        </p:nvCxnSpPr>
        <p:spPr>
          <a:xfrm flipH="1">
            <a:off x="8075038" y="4863345"/>
            <a:ext cx="13360" cy="7979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CaixaDeTexto 186"/>
          <p:cNvSpPr txBox="1"/>
          <p:nvPr/>
        </p:nvSpPr>
        <p:spPr>
          <a:xfrm>
            <a:off x="6876256" y="443711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1</a:t>
            </a:r>
            <a:endParaRPr lang="pt-BR" dirty="0"/>
          </a:p>
        </p:txBody>
      </p:sp>
      <p:sp>
        <p:nvSpPr>
          <p:cNvPr id="188" name="CaixaDeTexto 187"/>
          <p:cNvSpPr txBox="1"/>
          <p:nvPr/>
        </p:nvSpPr>
        <p:spPr>
          <a:xfrm>
            <a:off x="7956376" y="443711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2</a:t>
            </a:r>
            <a:endParaRPr lang="pt-BR" dirty="0"/>
          </a:p>
        </p:txBody>
      </p:sp>
      <p:sp>
        <p:nvSpPr>
          <p:cNvPr id="189" name="CaixaDeTexto 188"/>
          <p:cNvSpPr txBox="1"/>
          <p:nvPr/>
        </p:nvSpPr>
        <p:spPr>
          <a:xfrm>
            <a:off x="6876256" y="578551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3</a:t>
            </a:r>
            <a:endParaRPr lang="pt-BR" dirty="0"/>
          </a:p>
        </p:txBody>
      </p:sp>
      <p:sp>
        <p:nvSpPr>
          <p:cNvPr id="190" name="CaixaDeTexto 189"/>
          <p:cNvSpPr txBox="1"/>
          <p:nvPr/>
        </p:nvSpPr>
        <p:spPr>
          <a:xfrm>
            <a:off x="7956376" y="578551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4</a:t>
            </a:r>
            <a:endParaRPr lang="pt-BR" dirty="0"/>
          </a:p>
        </p:txBody>
      </p:sp>
      <p:cxnSp>
        <p:nvCxnSpPr>
          <p:cNvPr id="191" name="Conector reto 190"/>
          <p:cNvCxnSpPr>
            <a:stCxn id="180" idx="3"/>
            <a:endCxn id="181" idx="7"/>
          </p:cNvCxnSpPr>
          <p:nvPr/>
        </p:nvCxnSpPr>
        <p:spPr>
          <a:xfrm flipH="1">
            <a:off x="7071189" y="4842254"/>
            <a:ext cx="966292" cy="8400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Conector reto 191"/>
          <p:cNvCxnSpPr>
            <a:stCxn id="182" idx="1"/>
            <a:endCxn id="179" idx="5"/>
          </p:cNvCxnSpPr>
          <p:nvPr/>
        </p:nvCxnSpPr>
        <p:spPr>
          <a:xfrm flipH="1" flipV="1">
            <a:off x="7067579" y="4848069"/>
            <a:ext cx="956542" cy="8342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Elipse 192"/>
          <p:cNvSpPr/>
          <p:nvPr/>
        </p:nvSpPr>
        <p:spPr>
          <a:xfrm>
            <a:off x="6156176" y="5229200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94" name="Conector reto 193"/>
          <p:cNvCxnSpPr>
            <a:stCxn id="193" idx="6"/>
            <a:endCxn id="181" idx="2"/>
          </p:cNvCxnSpPr>
          <p:nvPr/>
        </p:nvCxnSpPr>
        <p:spPr>
          <a:xfrm>
            <a:off x="6300192" y="5301208"/>
            <a:ext cx="648072" cy="432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CaixaDeTexto 194"/>
          <p:cNvSpPr txBox="1"/>
          <p:nvPr/>
        </p:nvSpPr>
        <p:spPr>
          <a:xfrm>
            <a:off x="6084168" y="49411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6441177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Transformação Polinomial: Clique ∝ 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1"/>
                <a:ext cx="8229600" cy="2044824"/>
              </a:xfrm>
            </p:spPr>
            <p:txBody>
              <a:bodyPr>
                <a:normAutofit/>
              </a:bodyPr>
              <a:lstStyle/>
              <a:p>
                <a:r>
                  <a:rPr lang="pt-BR" sz="2800" dirty="0"/>
                  <a:t>Similarmente, se existe uma solução do problema de isomorfismo de </a:t>
                </a:r>
                <a:r>
                  <a:rPr lang="pt-BR" sz="2800" dirty="0" err="1"/>
                  <a:t>subgrafos</a:t>
                </a:r>
                <a:r>
                  <a:rPr lang="pt-BR" sz="2800" dirty="0"/>
                  <a:t> entre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pt-BR" sz="28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800" i="1">
                        <a:latin typeface="Cambria Math"/>
                      </a:rPr>
                      <m:t> </m:t>
                    </m:r>
                  </m:oMath>
                </a14:m>
                <a:r>
                  <a:rPr lang="pt-BR" sz="2800" dirty="0"/>
                  <a:t>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pt-BR" sz="2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t-BR" sz="2800" i="1">
                        <a:latin typeface="Cambria Math"/>
                      </a:rPr>
                      <m:t> </m:t>
                    </m:r>
                  </m:oMath>
                </a14:m>
                <a:r>
                  <a:rPr lang="pt-BR" sz="2800" dirty="0"/>
                  <a:t>com k vértices. 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1"/>
                <a:ext cx="8229600" cy="2044824"/>
              </a:xfrm>
              <a:blipFill rotWithShape="1">
                <a:blip r:embed="rId2"/>
                <a:stretch>
                  <a:fillRect l="-1259" t="-2687" r="-11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Elipse 77"/>
          <p:cNvSpPr/>
          <p:nvPr/>
        </p:nvSpPr>
        <p:spPr>
          <a:xfrm>
            <a:off x="967990" y="4725144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9" name="Elipse 78"/>
          <p:cNvSpPr/>
          <p:nvPr/>
        </p:nvSpPr>
        <p:spPr>
          <a:xfrm>
            <a:off x="2039726" y="4719329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0" name="Elipse 79"/>
          <p:cNvSpPr/>
          <p:nvPr/>
        </p:nvSpPr>
        <p:spPr>
          <a:xfrm>
            <a:off x="971600" y="5661248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1" name="Elipse 80"/>
          <p:cNvSpPr/>
          <p:nvPr/>
        </p:nvSpPr>
        <p:spPr>
          <a:xfrm>
            <a:off x="2026366" y="5661248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2" name="Conector reto 81"/>
          <p:cNvCxnSpPr/>
          <p:nvPr/>
        </p:nvCxnSpPr>
        <p:spPr>
          <a:xfrm flipH="1">
            <a:off x="1112006" y="4739074"/>
            <a:ext cx="927720" cy="5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ector reto 82"/>
          <p:cNvCxnSpPr>
            <a:stCxn id="78" idx="4"/>
            <a:endCxn id="80" idx="0"/>
          </p:cNvCxnSpPr>
          <p:nvPr/>
        </p:nvCxnSpPr>
        <p:spPr>
          <a:xfrm>
            <a:off x="1039998" y="4869160"/>
            <a:ext cx="361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reto 83"/>
          <p:cNvCxnSpPr>
            <a:stCxn id="80" idx="6"/>
            <a:endCxn id="81" idx="2"/>
          </p:cNvCxnSpPr>
          <p:nvPr/>
        </p:nvCxnSpPr>
        <p:spPr>
          <a:xfrm>
            <a:off x="1115616" y="5733256"/>
            <a:ext cx="9107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ector reto 84"/>
          <p:cNvCxnSpPr>
            <a:stCxn id="79" idx="4"/>
            <a:endCxn id="81" idx="0"/>
          </p:cNvCxnSpPr>
          <p:nvPr/>
        </p:nvCxnSpPr>
        <p:spPr>
          <a:xfrm flipH="1">
            <a:off x="2098374" y="4863345"/>
            <a:ext cx="13360" cy="7979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CaixaDeTexto 85"/>
          <p:cNvSpPr txBox="1"/>
          <p:nvPr/>
        </p:nvSpPr>
        <p:spPr>
          <a:xfrm>
            <a:off x="899592" y="443711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1</a:t>
            </a:r>
            <a:endParaRPr lang="pt-BR" dirty="0"/>
          </a:p>
        </p:txBody>
      </p:sp>
      <p:sp>
        <p:nvSpPr>
          <p:cNvPr id="87" name="CaixaDeTexto 86"/>
          <p:cNvSpPr txBox="1"/>
          <p:nvPr/>
        </p:nvSpPr>
        <p:spPr>
          <a:xfrm>
            <a:off x="1979712" y="443711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2</a:t>
            </a:r>
            <a:endParaRPr lang="pt-BR" dirty="0"/>
          </a:p>
        </p:txBody>
      </p:sp>
      <p:sp>
        <p:nvSpPr>
          <p:cNvPr id="88" name="CaixaDeTexto 87"/>
          <p:cNvSpPr txBox="1"/>
          <p:nvPr/>
        </p:nvSpPr>
        <p:spPr>
          <a:xfrm>
            <a:off x="899592" y="578551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3</a:t>
            </a:r>
            <a:endParaRPr lang="pt-BR" dirty="0"/>
          </a:p>
        </p:txBody>
      </p:sp>
      <p:sp>
        <p:nvSpPr>
          <p:cNvPr id="89" name="CaixaDeTexto 88"/>
          <p:cNvSpPr txBox="1"/>
          <p:nvPr/>
        </p:nvSpPr>
        <p:spPr>
          <a:xfrm>
            <a:off x="1979712" y="578551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4</a:t>
            </a:r>
            <a:endParaRPr lang="pt-BR" dirty="0"/>
          </a:p>
        </p:txBody>
      </p:sp>
      <p:cxnSp>
        <p:nvCxnSpPr>
          <p:cNvPr id="90" name="Conector reto 89"/>
          <p:cNvCxnSpPr>
            <a:stCxn id="79" idx="3"/>
            <a:endCxn id="80" idx="7"/>
          </p:cNvCxnSpPr>
          <p:nvPr/>
        </p:nvCxnSpPr>
        <p:spPr>
          <a:xfrm flipH="1">
            <a:off x="1094525" y="4842254"/>
            <a:ext cx="966292" cy="8400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reto 90"/>
          <p:cNvCxnSpPr>
            <a:stCxn id="81" idx="1"/>
            <a:endCxn id="78" idx="5"/>
          </p:cNvCxnSpPr>
          <p:nvPr/>
        </p:nvCxnSpPr>
        <p:spPr>
          <a:xfrm flipH="1" flipV="1">
            <a:off x="1090915" y="4848069"/>
            <a:ext cx="956542" cy="8342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CaixaDeTexto 91"/>
              <p:cNvSpPr txBox="1"/>
              <p:nvPr/>
            </p:nvSpPr>
            <p:spPr>
              <a:xfrm>
                <a:off x="1341330" y="4077072"/>
                <a:ext cx="3935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/>
                        </a:rPr>
                        <m:t>𝐺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92" name="CaixaDeTexto 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1330" y="4077072"/>
                <a:ext cx="393569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Elipse 92"/>
          <p:cNvSpPr/>
          <p:nvPr/>
        </p:nvSpPr>
        <p:spPr>
          <a:xfrm>
            <a:off x="179512" y="5229200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4" name="Conector reto 93"/>
          <p:cNvCxnSpPr>
            <a:stCxn id="93" idx="6"/>
            <a:endCxn id="80" idx="2"/>
          </p:cNvCxnSpPr>
          <p:nvPr/>
        </p:nvCxnSpPr>
        <p:spPr>
          <a:xfrm>
            <a:off x="323528" y="5301208"/>
            <a:ext cx="648072" cy="432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CaixaDeTexto 94"/>
          <p:cNvSpPr txBox="1"/>
          <p:nvPr/>
        </p:nvSpPr>
        <p:spPr>
          <a:xfrm>
            <a:off x="107504" y="49411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CaixaDeTexto 129"/>
              <p:cNvSpPr txBox="1"/>
              <p:nvPr/>
            </p:nvSpPr>
            <p:spPr>
              <a:xfrm>
                <a:off x="4139952" y="4077072"/>
                <a:ext cx="4943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𝐻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30" name="CaixaDeTexto 1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9952" y="4077072"/>
                <a:ext cx="494366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1" name="Elipse 130"/>
          <p:cNvSpPr/>
          <p:nvPr/>
        </p:nvSpPr>
        <p:spPr>
          <a:xfrm>
            <a:off x="3716288" y="4725144"/>
            <a:ext cx="144016" cy="14401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2" name="Elipse 131"/>
          <p:cNvSpPr/>
          <p:nvPr/>
        </p:nvSpPr>
        <p:spPr>
          <a:xfrm>
            <a:off x="4788024" y="4719329"/>
            <a:ext cx="144016" cy="14401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3" name="Elipse 132"/>
          <p:cNvSpPr/>
          <p:nvPr/>
        </p:nvSpPr>
        <p:spPr>
          <a:xfrm>
            <a:off x="3719898" y="5661248"/>
            <a:ext cx="144016" cy="14401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4" name="Elipse 133"/>
          <p:cNvSpPr/>
          <p:nvPr/>
        </p:nvSpPr>
        <p:spPr>
          <a:xfrm>
            <a:off x="4774664" y="5661248"/>
            <a:ext cx="144016" cy="14401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5" name="Conector reto 134"/>
          <p:cNvCxnSpPr/>
          <p:nvPr/>
        </p:nvCxnSpPr>
        <p:spPr>
          <a:xfrm flipH="1">
            <a:off x="3860304" y="4739074"/>
            <a:ext cx="927720" cy="5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Conector reto 135"/>
          <p:cNvCxnSpPr>
            <a:stCxn id="131" idx="4"/>
            <a:endCxn id="133" idx="0"/>
          </p:cNvCxnSpPr>
          <p:nvPr/>
        </p:nvCxnSpPr>
        <p:spPr>
          <a:xfrm>
            <a:off x="3788296" y="4869160"/>
            <a:ext cx="361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ector reto 136"/>
          <p:cNvCxnSpPr>
            <a:stCxn id="133" idx="6"/>
            <a:endCxn id="134" idx="2"/>
          </p:cNvCxnSpPr>
          <p:nvPr/>
        </p:nvCxnSpPr>
        <p:spPr>
          <a:xfrm>
            <a:off x="3863914" y="5733256"/>
            <a:ext cx="9107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Conector reto 137"/>
          <p:cNvCxnSpPr>
            <a:stCxn id="132" idx="4"/>
            <a:endCxn id="134" idx="0"/>
          </p:cNvCxnSpPr>
          <p:nvPr/>
        </p:nvCxnSpPr>
        <p:spPr>
          <a:xfrm flipH="1">
            <a:off x="4846672" y="4863345"/>
            <a:ext cx="13360" cy="7979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CaixaDeTexto 138"/>
          <p:cNvSpPr txBox="1"/>
          <p:nvPr/>
        </p:nvSpPr>
        <p:spPr>
          <a:xfrm>
            <a:off x="3647890" y="443711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1</a:t>
            </a:r>
            <a:endParaRPr lang="pt-BR" dirty="0"/>
          </a:p>
        </p:txBody>
      </p:sp>
      <p:sp>
        <p:nvSpPr>
          <p:cNvPr id="140" name="CaixaDeTexto 139"/>
          <p:cNvSpPr txBox="1"/>
          <p:nvPr/>
        </p:nvSpPr>
        <p:spPr>
          <a:xfrm>
            <a:off x="4728010" y="443711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2</a:t>
            </a:r>
            <a:endParaRPr lang="pt-BR" dirty="0"/>
          </a:p>
        </p:txBody>
      </p:sp>
      <p:sp>
        <p:nvSpPr>
          <p:cNvPr id="141" name="CaixaDeTexto 140"/>
          <p:cNvSpPr txBox="1"/>
          <p:nvPr/>
        </p:nvSpPr>
        <p:spPr>
          <a:xfrm>
            <a:off x="3647890" y="578551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3</a:t>
            </a:r>
            <a:endParaRPr lang="pt-BR" dirty="0"/>
          </a:p>
        </p:txBody>
      </p:sp>
      <p:sp>
        <p:nvSpPr>
          <p:cNvPr id="142" name="CaixaDeTexto 141"/>
          <p:cNvSpPr txBox="1"/>
          <p:nvPr/>
        </p:nvSpPr>
        <p:spPr>
          <a:xfrm>
            <a:off x="4728010" y="578551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4</a:t>
            </a:r>
            <a:endParaRPr lang="pt-BR" dirty="0"/>
          </a:p>
        </p:txBody>
      </p:sp>
      <p:cxnSp>
        <p:nvCxnSpPr>
          <p:cNvPr id="143" name="Conector reto 142"/>
          <p:cNvCxnSpPr>
            <a:stCxn id="132" idx="3"/>
            <a:endCxn id="133" idx="7"/>
          </p:cNvCxnSpPr>
          <p:nvPr/>
        </p:nvCxnSpPr>
        <p:spPr>
          <a:xfrm flipH="1">
            <a:off x="3842823" y="4842254"/>
            <a:ext cx="966292" cy="8400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Conector reto 143"/>
          <p:cNvCxnSpPr>
            <a:stCxn id="134" idx="1"/>
            <a:endCxn id="131" idx="5"/>
          </p:cNvCxnSpPr>
          <p:nvPr/>
        </p:nvCxnSpPr>
        <p:spPr>
          <a:xfrm flipH="1" flipV="1">
            <a:off x="3839213" y="4848069"/>
            <a:ext cx="956542" cy="8342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CaixaDeTexto 144"/>
              <p:cNvSpPr txBox="1"/>
              <p:nvPr/>
            </p:nvSpPr>
            <p:spPr>
              <a:xfrm>
                <a:off x="7306000" y="4077072"/>
                <a:ext cx="4996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𝐻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45" name="CaixaDeTexto 1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6000" y="4077072"/>
                <a:ext cx="499689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6" name="Elipse 145"/>
          <p:cNvSpPr/>
          <p:nvPr/>
        </p:nvSpPr>
        <p:spPr>
          <a:xfrm>
            <a:off x="6944654" y="4725144"/>
            <a:ext cx="144016" cy="14401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7" name="Elipse 146"/>
          <p:cNvSpPr/>
          <p:nvPr/>
        </p:nvSpPr>
        <p:spPr>
          <a:xfrm>
            <a:off x="8016390" y="4719329"/>
            <a:ext cx="144016" cy="14401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8" name="Elipse 147"/>
          <p:cNvSpPr/>
          <p:nvPr/>
        </p:nvSpPr>
        <p:spPr>
          <a:xfrm>
            <a:off x="6948264" y="5661248"/>
            <a:ext cx="144016" cy="14401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9" name="Elipse 148"/>
          <p:cNvSpPr/>
          <p:nvPr/>
        </p:nvSpPr>
        <p:spPr>
          <a:xfrm>
            <a:off x="8003030" y="5661248"/>
            <a:ext cx="144016" cy="14401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50" name="Conector reto 149"/>
          <p:cNvCxnSpPr/>
          <p:nvPr/>
        </p:nvCxnSpPr>
        <p:spPr>
          <a:xfrm flipH="1">
            <a:off x="7088670" y="4739074"/>
            <a:ext cx="927720" cy="5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Conector reto 150"/>
          <p:cNvCxnSpPr>
            <a:stCxn id="146" idx="4"/>
            <a:endCxn id="148" idx="0"/>
          </p:cNvCxnSpPr>
          <p:nvPr/>
        </p:nvCxnSpPr>
        <p:spPr>
          <a:xfrm>
            <a:off x="7016662" y="4869160"/>
            <a:ext cx="361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Conector reto 151"/>
          <p:cNvCxnSpPr>
            <a:stCxn id="148" idx="6"/>
            <a:endCxn id="149" idx="2"/>
          </p:cNvCxnSpPr>
          <p:nvPr/>
        </p:nvCxnSpPr>
        <p:spPr>
          <a:xfrm>
            <a:off x="7092280" y="5733256"/>
            <a:ext cx="9107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Conector reto 152"/>
          <p:cNvCxnSpPr>
            <a:stCxn id="147" idx="4"/>
            <a:endCxn id="149" idx="0"/>
          </p:cNvCxnSpPr>
          <p:nvPr/>
        </p:nvCxnSpPr>
        <p:spPr>
          <a:xfrm flipH="1">
            <a:off x="8075038" y="4863345"/>
            <a:ext cx="13360" cy="7979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CaixaDeTexto 153"/>
          <p:cNvSpPr txBox="1"/>
          <p:nvPr/>
        </p:nvSpPr>
        <p:spPr>
          <a:xfrm>
            <a:off x="6876256" y="443711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1</a:t>
            </a:r>
            <a:endParaRPr lang="pt-BR" dirty="0"/>
          </a:p>
        </p:txBody>
      </p:sp>
      <p:sp>
        <p:nvSpPr>
          <p:cNvPr id="155" name="CaixaDeTexto 154"/>
          <p:cNvSpPr txBox="1"/>
          <p:nvPr/>
        </p:nvSpPr>
        <p:spPr>
          <a:xfrm>
            <a:off x="7956376" y="443711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2</a:t>
            </a:r>
            <a:endParaRPr lang="pt-BR" dirty="0"/>
          </a:p>
        </p:txBody>
      </p:sp>
      <p:sp>
        <p:nvSpPr>
          <p:cNvPr id="156" name="CaixaDeTexto 155"/>
          <p:cNvSpPr txBox="1"/>
          <p:nvPr/>
        </p:nvSpPr>
        <p:spPr>
          <a:xfrm>
            <a:off x="6876256" y="578551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3</a:t>
            </a:r>
            <a:endParaRPr lang="pt-BR" dirty="0"/>
          </a:p>
        </p:txBody>
      </p:sp>
      <p:sp>
        <p:nvSpPr>
          <p:cNvPr id="157" name="CaixaDeTexto 156"/>
          <p:cNvSpPr txBox="1"/>
          <p:nvPr/>
        </p:nvSpPr>
        <p:spPr>
          <a:xfrm>
            <a:off x="7956376" y="578551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4</a:t>
            </a:r>
            <a:endParaRPr lang="pt-BR" dirty="0"/>
          </a:p>
        </p:txBody>
      </p:sp>
      <p:cxnSp>
        <p:nvCxnSpPr>
          <p:cNvPr id="158" name="Conector reto 157"/>
          <p:cNvCxnSpPr>
            <a:stCxn id="147" idx="3"/>
            <a:endCxn id="148" idx="7"/>
          </p:cNvCxnSpPr>
          <p:nvPr/>
        </p:nvCxnSpPr>
        <p:spPr>
          <a:xfrm flipH="1">
            <a:off x="7071189" y="4842254"/>
            <a:ext cx="966292" cy="8400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Conector reto 158"/>
          <p:cNvCxnSpPr>
            <a:stCxn id="149" idx="1"/>
            <a:endCxn id="146" idx="5"/>
          </p:cNvCxnSpPr>
          <p:nvPr/>
        </p:nvCxnSpPr>
        <p:spPr>
          <a:xfrm flipH="1" flipV="1">
            <a:off x="7067579" y="4848069"/>
            <a:ext cx="956542" cy="8342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Elipse 159"/>
          <p:cNvSpPr/>
          <p:nvPr/>
        </p:nvSpPr>
        <p:spPr>
          <a:xfrm>
            <a:off x="6156176" y="5229200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61" name="Conector reto 160"/>
          <p:cNvCxnSpPr>
            <a:stCxn id="160" idx="6"/>
            <a:endCxn id="148" idx="2"/>
          </p:cNvCxnSpPr>
          <p:nvPr/>
        </p:nvCxnSpPr>
        <p:spPr>
          <a:xfrm>
            <a:off x="6300192" y="5301208"/>
            <a:ext cx="648072" cy="432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CaixaDeTexto 161"/>
          <p:cNvSpPr txBox="1"/>
          <p:nvPr/>
        </p:nvSpPr>
        <p:spPr>
          <a:xfrm>
            <a:off x="6084168" y="49411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19092597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Transformação Polinomial: Clique ∝ 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1"/>
                <a:ext cx="8229600" cy="2044824"/>
              </a:xfrm>
            </p:spPr>
            <p:txBody>
              <a:bodyPr>
                <a:normAutofit/>
              </a:bodyPr>
              <a:lstStyle/>
              <a:p>
                <a:r>
                  <a:rPr lang="pt-BR" sz="2800" dirty="0"/>
                  <a:t>Similarmente, se existe uma solução do problema de isomorfismo de </a:t>
                </a:r>
                <a:r>
                  <a:rPr lang="pt-BR" sz="2800" dirty="0" err="1"/>
                  <a:t>subgrafos</a:t>
                </a:r>
                <a:r>
                  <a:rPr lang="pt-BR" sz="2800" dirty="0"/>
                  <a:t> entre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pt-BR" sz="28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800" i="1">
                        <a:latin typeface="Cambria Math"/>
                      </a:rPr>
                      <m:t> </m:t>
                    </m:r>
                  </m:oMath>
                </a14:m>
                <a:r>
                  <a:rPr lang="pt-BR" sz="2800" dirty="0"/>
                  <a:t>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pt-BR" sz="2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t-BR" sz="2800" i="1">
                        <a:latin typeface="Cambria Math"/>
                      </a:rPr>
                      <m:t> </m:t>
                    </m:r>
                  </m:oMath>
                </a14:m>
                <a:r>
                  <a:rPr lang="pt-BR" sz="2800" dirty="0"/>
                  <a:t>com k vértices. </a:t>
                </a:r>
              </a:p>
              <a:p>
                <a:r>
                  <a:rPr lang="pt-BR" sz="2800" dirty="0"/>
                  <a:t>Existe uma Clique em G com exatamente k vértices.  </a:t>
                </a:r>
              </a:p>
              <a:p>
                <a:endParaRPr lang="pt-BR" sz="2800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1"/>
                <a:ext cx="8229600" cy="2044824"/>
              </a:xfrm>
              <a:blipFill rotWithShape="1">
                <a:blip r:embed="rId2"/>
                <a:stretch>
                  <a:fillRect l="-1259" t="-2687" r="-1111" b="-59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Elipse 92"/>
          <p:cNvSpPr/>
          <p:nvPr/>
        </p:nvSpPr>
        <p:spPr>
          <a:xfrm>
            <a:off x="967990" y="4725144"/>
            <a:ext cx="144016" cy="14401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4" name="Elipse 93"/>
          <p:cNvSpPr/>
          <p:nvPr/>
        </p:nvSpPr>
        <p:spPr>
          <a:xfrm>
            <a:off x="2039726" y="4719329"/>
            <a:ext cx="144016" cy="14401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5" name="Elipse 94"/>
          <p:cNvSpPr/>
          <p:nvPr/>
        </p:nvSpPr>
        <p:spPr>
          <a:xfrm>
            <a:off x="971600" y="5661248"/>
            <a:ext cx="144016" cy="14401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6" name="Elipse 95"/>
          <p:cNvSpPr/>
          <p:nvPr/>
        </p:nvSpPr>
        <p:spPr>
          <a:xfrm>
            <a:off x="2026366" y="5661248"/>
            <a:ext cx="144016" cy="14401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7" name="Conector reto 96"/>
          <p:cNvCxnSpPr/>
          <p:nvPr/>
        </p:nvCxnSpPr>
        <p:spPr>
          <a:xfrm flipH="1">
            <a:off x="1112006" y="4739074"/>
            <a:ext cx="927720" cy="5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ector reto 97"/>
          <p:cNvCxnSpPr>
            <a:stCxn id="93" idx="4"/>
            <a:endCxn id="95" idx="0"/>
          </p:cNvCxnSpPr>
          <p:nvPr/>
        </p:nvCxnSpPr>
        <p:spPr>
          <a:xfrm>
            <a:off x="1039998" y="4869160"/>
            <a:ext cx="361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ector reto 98"/>
          <p:cNvCxnSpPr>
            <a:stCxn id="95" idx="6"/>
            <a:endCxn id="96" idx="2"/>
          </p:cNvCxnSpPr>
          <p:nvPr/>
        </p:nvCxnSpPr>
        <p:spPr>
          <a:xfrm>
            <a:off x="1115616" y="5733256"/>
            <a:ext cx="9107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ector reto 99"/>
          <p:cNvCxnSpPr>
            <a:stCxn id="94" idx="4"/>
            <a:endCxn id="96" idx="0"/>
          </p:cNvCxnSpPr>
          <p:nvPr/>
        </p:nvCxnSpPr>
        <p:spPr>
          <a:xfrm flipH="1">
            <a:off x="2098374" y="4863345"/>
            <a:ext cx="13360" cy="7979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CaixaDeTexto 100"/>
          <p:cNvSpPr txBox="1"/>
          <p:nvPr/>
        </p:nvSpPr>
        <p:spPr>
          <a:xfrm>
            <a:off x="899592" y="443711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1</a:t>
            </a:r>
            <a:endParaRPr lang="pt-BR" dirty="0"/>
          </a:p>
        </p:txBody>
      </p:sp>
      <p:sp>
        <p:nvSpPr>
          <p:cNvPr id="102" name="CaixaDeTexto 101"/>
          <p:cNvSpPr txBox="1"/>
          <p:nvPr/>
        </p:nvSpPr>
        <p:spPr>
          <a:xfrm>
            <a:off x="1979712" y="443711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2</a:t>
            </a:r>
            <a:endParaRPr lang="pt-BR" dirty="0"/>
          </a:p>
        </p:txBody>
      </p:sp>
      <p:sp>
        <p:nvSpPr>
          <p:cNvPr id="103" name="CaixaDeTexto 102"/>
          <p:cNvSpPr txBox="1"/>
          <p:nvPr/>
        </p:nvSpPr>
        <p:spPr>
          <a:xfrm>
            <a:off x="899592" y="578551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3</a:t>
            </a:r>
            <a:endParaRPr lang="pt-BR" dirty="0"/>
          </a:p>
        </p:txBody>
      </p:sp>
      <p:sp>
        <p:nvSpPr>
          <p:cNvPr id="104" name="CaixaDeTexto 103"/>
          <p:cNvSpPr txBox="1"/>
          <p:nvPr/>
        </p:nvSpPr>
        <p:spPr>
          <a:xfrm>
            <a:off x="1979712" y="578551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4</a:t>
            </a:r>
            <a:endParaRPr lang="pt-BR" dirty="0"/>
          </a:p>
        </p:txBody>
      </p:sp>
      <p:cxnSp>
        <p:nvCxnSpPr>
          <p:cNvPr id="105" name="Conector reto 104"/>
          <p:cNvCxnSpPr>
            <a:stCxn id="94" idx="3"/>
            <a:endCxn id="95" idx="7"/>
          </p:cNvCxnSpPr>
          <p:nvPr/>
        </p:nvCxnSpPr>
        <p:spPr>
          <a:xfrm flipH="1">
            <a:off x="1094525" y="4842254"/>
            <a:ext cx="966292" cy="8400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ector reto 105"/>
          <p:cNvCxnSpPr>
            <a:stCxn id="96" idx="1"/>
            <a:endCxn id="93" idx="5"/>
          </p:cNvCxnSpPr>
          <p:nvPr/>
        </p:nvCxnSpPr>
        <p:spPr>
          <a:xfrm flipH="1" flipV="1">
            <a:off x="1090915" y="4848069"/>
            <a:ext cx="956542" cy="8342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CaixaDeTexto 106"/>
              <p:cNvSpPr txBox="1"/>
              <p:nvPr/>
            </p:nvSpPr>
            <p:spPr>
              <a:xfrm>
                <a:off x="1341330" y="4077072"/>
                <a:ext cx="3935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/>
                        </a:rPr>
                        <m:t>𝐺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7" name="CaixaDeTexto 10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1330" y="4077072"/>
                <a:ext cx="393569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" name="Elipse 107"/>
          <p:cNvSpPr/>
          <p:nvPr/>
        </p:nvSpPr>
        <p:spPr>
          <a:xfrm>
            <a:off x="179512" y="5229200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9" name="Conector reto 108"/>
          <p:cNvCxnSpPr>
            <a:stCxn id="108" idx="6"/>
            <a:endCxn id="95" idx="2"/>
          </p:cNvCxnSpPr>
          <p:nvPr/>
        </p:nvCxnSpPr>
        <p:spPr>
          <a:xfrm>
            <a:off x="323528" y="5301208"/>
            <a:ext cx="648072" cy="432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CaixaDeTexto 126"/>
          <p:cNvSpPr txBox="1"/>
          <p:nvPr/>
        </p:nvSpPr>
        <p:spPr>
          <a:xfrm>
            <a:off x="107504" y="49411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CaixaDeTexto 127"/>
              <p:cNvSpPr txBox="1"/>
              <p:nvPr/>
            </p:nvSpPr>
            <p:spPr>
              <a:xfrm>
                <a:off x="4139952" y="4077072"/>
                <a:ext cx="4943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𝐻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28" name="CaixaDeTexto 1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9952" y="4077072"/>
                <a:ext cx="494366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9" name="Elipse 128"/>
          <p:cNvSpPr/>
          <p:nvPr/>
        </p:nvSpPr>
        <p:spPr>
          <a:xfrm>
            <a:off x="3716288" y="4725144"/>
            <a:ext cx="144016" cy="14401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0" name="Elipse 129"/>
          <p:cNvSpPr/>
          <p:nvPr/>
        </p:nvSpPr>
        <p:spPr>
          <a:xfrm>
            <a:off x="4788024" y="4719329"/>
            <a:ext cx="144016" cy="14401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1" name="Elipse 130"/>
          <p:cNvSpPr/>
          <p:nvPr/>
        </p:nvSpPr>
        <p:spPr>
          <a:xfrm>
            <a:off x="3719898" y="5661248"/>
            <a:ext cx="144016" cy="14401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2" name="Elipse 131"/>
          <p:cNvSpPr/>
          <p:nvPr/>
        </p:nvSpPr>
        <p:spPr>
          <a:xfrm>
            <a:off x="4774664" y="5661248"/>
            <a:ext cx="144016" cy="14401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3" name="Conector reto 132"/>
          <p:cNvCxnSpPr/>
          <p:nvPr/>
        </p:nvCxnSpPr>
        <p:spPr>
          <a:xfrm flipH="1">
            <a:off x="3860304" y="4739074"/>
            <a:ext cx="927720" cy="5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Conector reto 133"/>
          <p:cNvCxnSpPr>
            <a:stCxn id="129" idx="4"/>
            <a:endCxn id="131" idx="0"/>
          </p:cNvCxnSpPr>
          <p:nvPr/>
        </p:nvCxnSpPr>
        <p:spPr>
          <a:xfrm>
            <a:off x="3788296" y="4869160"/>
            <a:ext cx="361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Conector reto 134"/>
          <p:cNvCxnSpPr>
            <a:stCxn id="131" idx="6"/>
            <a:endCxn id="132" idx="2"/>
          </p:cNvCxnSpPr>
          <p:nvPr/>
        </p:nvCxnSpPr>
        <p:spPr>
          <a:xfrm>
            <a:off x="3863914" y="5733256"/>
            <a:ext cx="9107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Conector reto 135"/>
          <p:cNvCxnSpPr>
            <a:stCxn id="130" idx="4"/>
            <a:endCxn id="132" idx="0"/>
          </p:cNvCxnSpPr>
          <p:nvPr/>
        </p:nvCxnSpPr>
        <p:spPr>
          <a:xfrm flipH="1">
            <a:off x="4846672" y="4863345"/>
            <a:ext cx="13360" cy="7979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CaixaDeTexto 136"/>
          <p:cNvSpPr txBox="1"/>
          <p:nvPr/>
        </p:nvSpPr>
        <p:spPr>
          <a:xfrm>
            <a:off x="3647890" y="443711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1</a:t>
            </a:r>
            <a:endParaRPr lang="pt-BR" dirty="0"/>
          </a:p>
        </p:txBody>
      </p:sp>
      <p:sp>
        <p:nvSpPr>
          <p:cNvPr id="138" name="CaixaDeTexto 137"/>
          <p:cNvSpPr txBox="1"/>
          <p:nvPr/>
        </p:nvSpPr>
        <p:spPr>
          <a:xfrm>
            <a:off x="4728010" y="443711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2</a:t>
            </a:r>
            <a:endParaRPr lang="pt-BR" dirty="0"/>
          </a:p>
        </p:txBody>
      </p:sp>
      <p:sp>
        <p:nvSpPr>
          <p:cNvPr id="139" name="CaixaDeTexto 138"/>
          <p:cNvSpPr txBox="1"/>
          <p:nvPr/>
        </p:nvSpPr>
        <p:spPr>
          <a:xfrm>
            <a:off x="3647890" y="578551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3</a:t>
            </a:r>
            <a:endParaRPr lang="pt-BR" dirty="0"/>
          </a:p>
        </p:txBody>
      </p:sp>
      <p:sp>
        <p:nvSpPr>
          <p:cNvPr id="140" name="CaixaDeTexto 139"/>
          <p:cNvSpPr txBox="1"/>
          <p:nvPr/>
        </p:nvSpPr>
        <p:spPr>
          <a:xfrm>
            <a:off x="4728010" y="578551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4</a:t>
            </a:r>
            <a:endParaRPr lang="pt-BR" dirty="0"/>
          </a:p>
        </p:txBody>
      </p:sp>
      <p:cxnSp>
        <p:nvCxnSpPr>
          <p:cNvPr id="141" name="Conector reto 140"/>
          <p:cNvCxnSpPr>
            <a:stCxn id="130" idx="3"/>
            <a:endCxn id="131" idx="7"/>
          </p:cNvCxnSpPr>
          <p:nvPr/>
        </p:nvCxnSpPr>
        <p:spPr>
          <a:xfrm flipH="1">
            <a:off x="3842823" y="4842254"/>
            <a:ext cx="966292" cy="8400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Conector reto 141"/>
          <p:cNvCxnSpPr>
            <a:stCxn id="132" idx="1"/>
            <a:endCxn id="129" idx="5"/>
          </p:cNvCxnSpPr>
          <p:nvPr/>
        </p:nvCxnSpPr>
        <p:spPr>
          <a:xfrm flipH="1" flipV="1">
            <a:off x="3839213" y="4848069"/>
            <a:ext cx="956542" cy="8342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CaixaDeTexto 142"/>
              <p:cNvSpPr txBox="1"/>
              <p:nvPr/>
            </p:nvSpPr>
            <p:spPr>
              <a:xfrm>
                <a:off x="7306000" y="4077072"/>
                <a:ext cx="4996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𝐻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43" name="CaixaDeTexto 1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6000" y="4077072"/>
                <a:ext cx="499689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4" name="Elipse 143"/>
          <p:cNvSpPr/>
          <p:nvPr/>
        </p:nvSpPr>
        <p:spPr>
          <a:xfrm>
            <a:off x="6944654" y="4725144"/>
            <a:ext cx="144016" cy="14401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5" name="Elipse 144"/>
          <p:cNvSpPr/>
          <p:nvPr/>
        </p:nvSpPr>
        <p:spPr>
          <a:xfrm>
            <a:off x="8016390" y="4719329"/>
            <a:ext cx="144016" cy="14401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6" name="Elipse 145"/>
          <p:cNvSpPr/>
          <p:nvPr/>
        </p:nvSpPr>
        <p:spPr>
          <a:xfrm>
            <a:off x="6948264" y="5661248"/>
            <a:ext cx="144016" cy="14401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7" name="Elipse 146"/>
          <p:cNvSpPr/>
          <p:nvPr/>
        </p:nvSpPr>
        <p:spPr>
          <a:xfrm>
            <a:off x="8003030" y="5661248"/>
            <a:ext cx="144016" cy="14401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48" name="Conector reto 147"/>
          <p:cNvCxnSpPr/>
          <p:nvPr/>
        </p:nvCxnSpPr>
        <p:spPr>
          <a:xfrm flipH="1">
            <a:off x="7088670" y="4739074"/>
            <a:ext cx="927720" cy="5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ector reto 148"/>
          <p:cNvCxnSpPr>
            <a:stCxn id="144" idx="4"/>
            <a:endCxn id="146" idx="0"/>
          </p:cNvCxnSpPr>
          <p:nvPr/>
        </p:nvCxnSpPr>
        <p:spPr>
          <a:xfrm>
            <a:off x="7016662" y="4869160"/>
            <a:ext cx="361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Conector reto 149"/>
          <p:cNvCxnSpPr>
            <a:stCxn id="146" idx="6"/>
            <a:endCxn id="147" idx="2"/>
          </p:cNvCxnSpPr>
          <p:nvPr/>
        </p:nvCxnSpPr>
        <p:spPr>
          <a:xfrm>
            <a:off x="7092280" y="5733256"/>
            <a:ext cx="9107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Conector reto 150"/>
          <p:cNvCxnSpPr>
            <a:stCxn id="145" idx="4"/>
            <a:endCxn id="147" idx="0"/>
          </p:cNvCxnSpPr>
          <p:nvPr/>
        </p:nvCxnSpPr>
        <p:spPr>
          <a:xfrm flipH="1">
            <a:off x="8075038" y="4863345"/>
            <a:ext cx="13360" cy="7979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CaixaDeTexto 151"/>
          <p:cNvSpPr txBox="1"/>
          <p:nvPr/>
        </p:nvSpPr>
        <p:spPr>
          <a:xfrm>
            <a:off x="6876256" y="443711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1</a:t>
            </a:r>
            <a:endParaRPr lang="pt-BR" dirty="0"/>
          </a:p>
        </p:txBody>
      </p:sp>
      <p:sp>
        <p:nvSpPr>
          <p:cNvPr id="153" name="CaixaDeTexto 152"/>
          <p:cNvSpPr txBox="1"/>
          <p:nvPr/>
        </p:nvSpPr>
        <p:spPr>
          <a:xfrm>
            <a:off x="7956376" y="443711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2</a:t>
            </a:r>
            <a:endParaRPr lang="pt-BR" dirty="0"/>
          </a:p>
        </p:txBody>
      </p:sp>
      <p:sp>
        <p:nvSpPr>
          <p:cNvPr id="154" name="CaixaDeTexto 153"/>
          <p:cNvSpPr txBox="1"/>
          <p:nvPr/>
        </p:nvSpPr>
        <p:spPr>
          <a:xfrm>
            <a:off x="6876256" y="578551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3</a:t>
            </a:r>
            <a:endParaRPr lang="pt-BR" dirty="0"/>
          </a:p>
        </p:txBody>
      </p:sp>
      <p:sp>
        <p:nvSpPr>
          <p:cNvPr id="155" name="CaixaDeTexto 154"/>
          <p:cNvSpPr txBox="1"/>
          <p:nvPr/>
        </p:nvSpPr>
        <p:spPr>
          <a:xfrm>
            <a:off x="7956376" y="578551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4</a:t>
            </a:r>
            <a:endParaRPr lang="pt-BR" dirty="0"/>
          </a:p>
        </p:txBody>
      </p:sp>
      <p:cxnSp>
        <p:nvCxnSpPr>
          <p:cNvPr id="156" name="Conector reto 155"/>
          <p:cNvCxnSpPr>
            <a:stCxn id="145" idx="3"/>
            <a:endCxn id="146" idx="7"/>
          </p:cNvCxnSpPr>
          <p:nvPr/>
        </p:nvCxnSpPr>
        <p:spPr>
          <a:xfrm flipH="1">
            <a:off x="7071189" y="4842254"/>
            <a:ext cx="966292" cy="8400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Conector reto 156"/>
          <p:cNvCxnSpPr>
            <a:stCxn id="147" idx="1"/>
            <a:endCxn id="144" idx="5"/>
          </p:cNvCxnSpPr>
          <p:nvPr/>
        </p:nvCxnSpPr>
        <p:spPr>
          <a:xfrm flipH="1" flipV="1">
            <a:off x="7067579" y="4848069"/>
            <a:ext cx="956542" cy="8342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Elipse 157"/>
          <p:cNvSpPr/>
          <p:nvPr/>
        </p:nvSpPr>
        <p:spPr>
          <a:xfrm>
            <a:off x="6156176" y="5229200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59" name="Conector reto 158"/>
          <p:cNvCxnSpPr>
            <a:stCxn id="158" idx="6"/>
            <a:endCxn id="146" idx="2"/>
          </p:cNvCxnSpPr>
          <p:nvPr/>
        </p:nvCxnSpPr>
        <p:spPr>
          <a:xfrm>
            <a:off x="6300192" y="5301208"/>
            <a:ext cx="648072" cy="432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CaixaDeTexto 159"/>
          <p:cNvSpPr txBox="1"/>
          <p:nvPr/>
        </p:nvSpPr>
        <p:spPr>
          <a:xfrm>
            <a:off x="6084168" y="49411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CaixaDeTexto 160"/>
              <p:cNvSpPr txBox="1"/>
              <p:nvPr/>
            </p:nvSpPr>
            <p:spPr>
              <a:xfrm>
                <a:off x="847489" y="6453336"/>
                <a:ext cx="80101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Por mapeamento dos vértices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t-BR" i="1">
                        <a:latin typeface="Cambria Math"/>
                      </a:rPr>
                      <m:t> </m:t>
                    </m:r>
                  </m:oMath>
                </a14:m>
                <a:r>
                  <a:rPr lang="pt-BR" dirty="0"/>
                  <a:t>em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dirty="0"/>
                  <a:t>, obtém-se a Clique de tamanho k em G.</a:t>
                </a:r>
              </a:p>
            </p:txBody>
          </p:sp>
        </mc:Choice>
        <mc:Fallback xmlns="">
          <p:sp>
            <p:nvSpPr>
              <p:cNvPr id="161" name="CaixaDeTexto 1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489" y="6453336"/>
                <a:ext cx="8010142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609" t="-8333" b="-2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317776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Conclusão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Portanto, o problema de Isomorfismo de </a:t>
            </a:r>
            <a:r>
              <a:rPr lang="pt-BR" dirty="0" err="1"/>
              <a:t>Subgrafos</a:t>
            </a:r>
            <a:r>
              <a:rPr lang="pt-BR" dirty="0"/>
              <a:t> é NP-Completo.</a:t>
            </a:r>
          </a:p>
        </p:txBody>
      </p:sp>
    </p:spTree>
    <p:extLst>
      <p:ext uri="{BB962C8B-B14F-4D97-AF65-F5344CB8AC3E}">
        <p14:creationId xmlns:p14="http://schemas.microsoft.com/office/powerpoint/2010/main" val="31478378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Problema da Árvore de Steiner</a:t>
            </a:r>
          </a:p>
        </p:txBody>
      </p:sp>
      <p:sp>
        <p:nvSpPr>
          <p:cNvPr id="6" name="Título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1556435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Árvore de Steiner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pt-BR" sz="2800" dirty="0"/>
                  <a:t>Considere um grafo G(V, E), não dirigido.</a:t>
                </a:r>
              </a:p>
              <a:p>
                <a:r>
                  <a:rPr lang="pt-BR" sz="2800" dirty="0"/>
                  <a:t>Considere também um subconjunto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/>
                      </a:rPr>
                      <m:t>𝑇</m:t>
                    </m:r>
                    <m:r>
                      <a:rPr lang="pt-BR" sz="2800" b="0" i="1" smtClean="0">
                        <a:latin typeface="Cambria Math"/>
                      </a:rPr>
                      <m:t>⊆</m:t>
                    </m:r>
                    <m:r>
                      <a:rPr lang="pt-BR" sz="2800" b="0" i="1" smtClean="0">
                        <a:latin typeface="Cambria Math"/>
                      </a:rPr>
                      <m:t>𝑉</m:t>
                    </m:r>
                  </m:oMath>
                </a14:m>
                <a:r>
                  <a:rPr lang="pt-BR" sz="2800" dirty="0"/>
                  <a:t> (de nós terminais) e o subconjunto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/>
                      </a:rPr>
                      <m:t>𝑆</m:t>
                    </m:r>
                    <m:r>
                      <a:rPr lang="pt-BR" sz="2800" i="1">
                        <a:latin typeface="Cambria Math"/>
                      </a:rPr>
                      <m:t>⊆</m:t>
                    </m:r>
                    <m:r>
                      <a:rPr lang="pt-BR" sz="2800" i="1">
                        <a:latin typeface="Cambria Math"/>
                      </a:rPr>
                      <m:t>𝑉</m:t>
                    </m:r>
                    <m:r>
                      <a:rPr lang="pt-BR" sz="2800" i="1">
                        <a:latin typeface="Cambria Math"/>
                      </a:rPr>
                      <m:t> </m:t>
                    </m:r>
                  </m:oMath>
                </a14:m>
                <a:r>
                  <a:rPr lang="pt-BR" sz="2800" dirty="0"/>
                  <a:t>(de nós de Steiner).</a:t>
                </a:r>
              </a:p>
              <a:p>
                <a:pPr lvl="1"/>
                <a:r>
                  <a:rPr lang="pt-BR" sz="2400" dirty="0"/>
                  <a:t>Tais que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/>
                      </a:rPr>
                      <m:t>𝑇</m:t>
                    </m:r>
                    <m:r>
                      <a:rPr lang="pt-BR" sz="2400" i="1" smtClean="0">
                        <a:latin typeface="Cambria Math"/>
                        <a:ea typeface="Cambria Math"/>
                      </a:rPr>
                      <m:t>∪</m:t>
                    </m:r>
                    <m:r>
                      <a:rPr lang="pt-BR" sz="2400" b="0" i="1" smtClean="0">
                        <a:latin typeface="Cambria Math"/>
                      </a:rPr>
                      <m:t>𝑆</m:t>
                    </m:r>
                    <m:r>
                      <a:rPr lang="pt-BR" sz="2400" b="0" i="1" smtClean="0">
                        <a:latin typeface="Cambria Math"/>
                      </a:rPr>
                      <m:t>=</m:t>
                    </m:r>
                    <m:r>
                      <a:rPr lang="pt-BR" sz="2400" b="0" i="1" smtClean="0">
                        <a:latin typeface="Cambria Math"/>
                      </a:rPr>
                      <m:t>𝑉</m:t>
                    </m:r>
                  </m:oMath>
                </a14:m>
                <a:r>
                  <a:rPr lang="pt-BR" sz="2400" dirty="0"/>
                  <a:t> e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/>
                      </a:rPr>
                      <m:t>𝑇</m:t>
                    </m:r>
                    <m:r>
                      <a:rPr lang="pt-BR" sz="2400" i="1" smtClean="0">
                        <a:latin typeface="Cambria Math"/>
                        <a:ea typeface="Cambria Math"/>
                      </a:rPr>
                      <m:t>∩</m:t>
                    </m:r>
                    <m:r>
                      <a:rPr lang="pt-BR" sz="2400" i="1">
                        <a:latin typeface="Cambria Math"/>
                      </a:rPr>
                      <m:t>𝑆</m:t>
                    </m:r>
                    <m:r>
                      <a:rPr lang="pt-BR" sz="2400" i="1">
                        <a:latin typeface="Cambria Math"/>
                      </a:rPr>
                      <m:t>=∅</m:t>
                    </m:r>
                  </m:oMath>
                </a14:m>
                <a:r>
                  <a:rPr lang="pt-BR" sz="2400" dirty="0"/>
                  <a:t>.</a:t>
                </a:r>
              </a:p>
              <a:p>
                <a:r>
                  <a:rPr lang="pt-BR" sz="2800" dirty="0"/>
                  <a:t>A Árvore de Steiner é uma árvore em G que une todos os vértices pertencentes a T e, opcionalmente, alguns vértices de S.</a:t>
                </a:r>
              </a:p>
              <a:p>
                <a:r>
                  <a:rPr lang="pt-BR" sz="2800" dirty="0"/>
                  <a:t>Não é necessário utilizar todos os vértices de V.</a:t>
                </a:r>
              </a:p>
              <a:p>
                <a:r>
                  <a:rPr lang="pt-BR" sz="2800" dirty="0"/>
                  <a:t>Vértices em S são utilizados para manter a conectividade. </a:t>
                </a:r>
              </a:p>
              <a:p>
                <a:endParaRPr lang="pt-BR" sz="2800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11" t="-1078" r="-185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524602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Árvore de Steiner</a:t>
            </a:r>
          </a:p>
        </p:txBody>
      </p:sp>
      <p:sp>
        <p:nvSpPr>
          <p:cNvPr id="4" name="Elipse 3"/>
          <p:cNvSpPr/>
          <p:nvPr/>
        </p:nvSpPr>
        <p:spPr>
          <a:xfrm>
            <a:off x="2843808" y="2790220"/>
            <a:ext cx="144016" cy="14401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3915544" y="2894703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" name="Conector reto 7"/>
          <p:cNvCxnSpPr>
            <a:stCxn id="5" idx="2"/>
            <a:endCxn id="4" idx="6"/>
          </p:cNvCxnSpPr>
          <p:nvPr/>
        </p:nvCxnSpPr>
        <p:spPr>
          <a:xfrm flipH="1" flipV="1">
            <a:off x="2987824" y="2862228"/>
            <a:ext cx="927720" cy="1044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/>
              <p:cNvSpPr txBox="1"/>
              <p:nvPr/>
            </p:nvSpPr>
            <p:spPr>
              <a:xfrm>
                <a:off x="2483768" y="2070140"/>
                <a:ext cx="3935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/>
                        </a:rPr>
                        <m:t>𝐺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8" name="CaixaDeTexto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3768" y="2070140"/>
                <a:ext cx="393569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Elipse 21"/>
          <p:cNvSpPr/>
          <p:nvPr/>
        </p:nvSpPr>
        <p:spPr>
          <a:xfrm>
            <a:off x="4926901" y="2934236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Elipse 22"/>
          <p:cNvSpPr/>
          <p:nvPr/>
        </p:nvSpPr>
        <p:spPr>
          <a:xfrm>
            <a:off x="6363816" y="2736035"/>
            <a:ext cx="144016" cy="14401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6" name="Conector reto 25"/>
          <p:cNvCxnSpPr>
            <a:stCxn id="23" idx="2"/>
            <a:endCxn id="22" idx="6"/>
          </p:cNvCxnSpPr>
          <p:nvPr/>
        </p:nvCxnSpPr>
        <p:spPr>
          <a:xfrm flipH="1">
            <a:off x="5070917" y="2808043"/>
            <a:ext cx="1292899" cy="1982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/>
          <p:cNvSpPr/>
          <p:nvPr/>
        </p:nvSpPr>
        <p:spPr>
          <a:xfrm>
            <a:off x="3419872" y="3708501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/>
          <p:cNvSpPr/>
          <p:nvPr/>
        </p:nvSpPr>
        <p:spPr>
          <a:xfrm>
            <a:off x="2555776" y="4374396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8" name="Conector reto 47"/>
          <p:cNvCxnSpPr>
            <a:stCxn id="37" idx="3"/>
            <a:endCxn id="38" idx="7"/>
          </p:cNvCxnSpPr>
          <p:nvPr/>
        </p:nvCxnSpPr>
        <p:spPr>
          <a:xfrm flipH="1">
            <a:off x="2678701" y="3831426"/>
            <a:ext cx="762262" cy="5640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Elipse 49"/>
          <p:cNvSpPr/>
          <p:nvPr/>
        </p:nvSpPr>
        <p:spPr>
          <a:xfrm>
            <a:off x="4644008" y="3687410"/>
            <a:ext cx="144016" cy="14401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" name="Elipse 50"/>
          <p:cNvSpPr/>
          <p:nvPr/>
        </p:nvSpPr>
        <p:spPr>
          <a:xfrm>
            <a:off x="5868144" y="3700929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Elipse 51"/>
          <p:cNvSpPr/>
          <p:nvPr/>
        </p:nvSpPr>
        <p:spPr>
          <a:xfrm>
            <a:off x="5207599" y="4410697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Elipse 52"/>
          <p:cNvSpPr/>
          <p:nvPr/>
        </p:nvSpPr>
        <p:spPr>
          <a:xfrm>
            <a:off x="6588224" y="4392546"/>
            <a:ext cx="144016" cy="14401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4" name="Conector reto 53"/>
          <p:cNvCxnSpPr>
            <a:stCxn id="51" idx="2"/>
            <a:endCxn id="50" idx="6"/>
          </p:cNvCxnSpPr>
          <p:nvPr/>
        </p:nvCxnSpPr>
        <p:spPr>
          <a:xfrm flipH="1" flipV="1">
            <a:off x="4788024" y="3759418"/>
            <a:ext cx="1080120" cy="135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/>
          <p:cNvCxnSpPr>
            <a:stCxn id="50" idx="4"/>
            <a:endCxn id="52" idx="0"/>
          </p:cNvCxnSpPr>
          <p:nvPr/>
        </p:nvCxnSpPr>
        <p:spPr>
          <a:xfrm>
            <a:off x="4716016" y="3831426"/>
            <a:ext cx="563591" cy="5792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to 55"/>
          <p:cNvCxnSpPr>
            <a:stCxn id="52" idx="6"/>
            <a:endCxn id="53" idx="2"/>
          </p:cNvCxnSpPr>
          <p:nvPr/>
        </p:nvCxnSpPr>
        <p:spPr>
          <a:xfrm flipV="1">
            <a:off x="5351615" y="4464554"/>
            <a:ext cx="1236609" cy="181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to 56"/>
          <p:cNvCxnSpPr>
            <a:stCxn id="51" idx="4"/>
            <a:endCxn id="53" idx="0"/>
          </p:cNvCxnSpPr>
          <p:nvPr/>
        </p:nvCxnSpPr>
        <p:spPr>
          <a:xfrm>
            <a:off x="5940152" y="3844945"/>
            <a:ext cx="720080" cy="5476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Elipse 59"/>
          <p:cNvSpPr/>
          <p:nvPr/>
        </p:nvSpPr>
        <p:spPr>
          <a:xfrm>
            <a:off x="4171764" y="4400311"/>
            <a:ext cx="144016" cy="14401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2" name="Conector reto 61"/>
          <p:cNvCxnSpPr>
            <a:stCxn id="4" idx="4"/>
            <a:endCxn id="38" idx="0"/>
          </p:cNvCxnSpPr>
          <p:nvPr/>
        </p:nvCxnSpPr>
        <p:spPr>
          <a:xfrm flipH="1">
            <a:off x="2627784" y="2934236"/>
            <a:ext cx="288032" cy="1440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to 63"/>
          <p:cNvCxnSpPr>
            <a:stCxn id="37" idx="6"/>
            <a:endCxn id="50" idx="2"/>
          </p:cNvCxnSpPr>
          <p:nvPr/>
        </p:nvCxnSpPr>
        <p:spPr>
          <a:xfrm flipV="1">
            <a:off x="3563888" y="3759418"/>
            <a:ext cx="1080120" cy="210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/>
          <p:cNvCxnSpPr>
            <a:stCxn id="5" idx="4"/>
            <a:endCxn id="37" idx="0"/>
          </p:cNvCxnSpPr>
          <p:nvPr/>
        </p:nvCxnSpPr>
        <p:spPr>
          <a:xfrm flipH="1">
            <a:off x="3491880" y="3038719"/>
            <a:ext cx="495672" cy="6697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reto 67"/>
          <p:cNvCxnSpPr>
            <a:stCxn id="22" idx="2"/>
            <a:endCxn id="5" idx="6"/>
          </p:cNvCxnSpPr>
          <p:nvPr/>
        </p:nvCxnSpPr>
        <p:spPr>
          <a:xfrm flipH="1" flipV="1">
            <a:off x="4059560" y="2966711"/>
            <a:ext cx="867341" cy="395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to 73"/>
          <p:cNvCxnSpPr>
            <a:stCxn id="51" idx="0"/>
            <a:endCxn id="23" idx="4"/>
          </p:cNvCxnSpPr>
          <p:nvPr/>
        </p:nvCxnSpPr>
        <p:spPr>
          <a:xfrm flipV="1">
            <a:off x="5940152" y="2880051"/>
            <a:ext cx="495672" cy="8208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to 75"/>
          <p:cNvCxnSpPr>
            <a:stCxn id="5" idx="5"/>
            <a:endCxn id="50" idx="1"/>
          </p:cNvCxnSpPr>
          <p:nvPr/>
        </p:nvCxnSpPr>
        <p:spPr>
          <a:xfrm>
            <a:off x="4038469" y="3017628"/>
            <a:ext cx="626630" cy="6908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reto 77"/>
          <p:cNvCxnSpPr>
            <a:stCxn id="37" idx="0"/>
            <a:endCxn id="4" idx="5"/>
          </p:cNvCxnSpPr>
          <p:nvPr/>
        </p:nvCxnSpPr>
        <p:spPr>
          <a:xfrm flipH="1" flipV="1">
            <a:off x="2966733" y="2913145"/>
            <a:ext cx="525147" cy="7953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reto 83"/>
          <p:cNvCxnSpPr>
            <a:stCxn id="37" idx="4"/>
            <a:endCxn id="60" idx="0"/>
          </p:cNvCxnSpPr>
          <p:nvPr/>
        </p:nvCxnSpPr>
        <p:spPr>
          <a:xfrm>
            <a:off x="3491880" y="3852517"/>
            <a:ext cx="751892" cy="5477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reto 87"/>
          <p:cNvCxnSpPr>
            <a:stCxn id="50" idx="3"/>
            <a:endCxn id="60" idx="7"/>
          </p:cNvCxnSpPr>
          <p:nvPr/>
        </p:nvCxnSpPr>
        <p:spPr>
          <a:xfrm flipH="1">
            <a:off x="4294689" y="3810335"/>
            <a:ext cx="370410" cy="6110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/>
          <p:cNvCxnSpPr>
            <a:stCxn id="60" idx="2"/>
            <a:endCxn id="38" idx="6"/>
          </p:cNvCxnSpPr>
          <p:nvPr/>
        </p:nvCxnSpPr>
        <p:spPr>
          <a:xfrm flipH="1" flipV="1">
            <a:off x="2699792" y="4446404"/>
            <a:ext cx="1471972" cy="259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ector reto 91"/>
          <p:cNvCxnSpPr>
            <a:stCxn id="50" idx="0"/>
            <a:endCxn id="22" idx="4"/>
          </p:cNvCxnSpPr>
          <p:nvPr/>
        </p:nvCxnSpPr>
        <p:spPr>
          <a:xfrm flipV="1">
            <a:off x="4716016" y="3078252"/>
            <a:ext cx="282893" cy="6091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ector reto 93"/>
          <p:cNvCxnSpPr>
            <a:stCxn id="22" idx="5"/>
            <a:endCxn id="51" idx="1"/>
          </p:cNvCxnSpPr>
          <p:nvPr/>
        </p:nvCxnSpPr>
        <p:spPr>
          <a:xfrm>
            <a:off x="5049826" y="3057161"/>
            <a:ext cx="839409" cy="6648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ector reto 122"/>
          <p:cNvCxnSpPr>
            <a:stCxn id="52" idx="2"/>
            <a:endCxn id="60" idx="6"/>
          </p:cNvCxnSpPr>
          <p:nvPr/>
        </p:nvCxnSpPr>
        <p:spPr>
          <a:xfrm flipH="1" flipV="1">
            <a:off x="4315780" y="4472319"/>
            <a:ext cx="891819" cy="103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ector reto 129"/>
          <p:cNvCxnSpPr>
            <a:stCxn id="51" idx="3"/>
            <a:endCxn id="52" idx="7"/>
          </p:cNvCxnSpPr>
          <p:nvPr/>
        </p:nvCxnSpPr>
        <p:spPr>
          <a:xfrm flipH="1">
            <a:off x="5330524" y="3823854"/>
            <a:ext cx="558711" cy="6079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nector reto 131"/>
          <p:cNvCxnSpPr>
            <a:stCxn id="23" idx="4"/>
            <a:endCxn id="53" idx="0"/>
          </p:cNvCxnSpPr>
          <p:nvPr/>
        </p:nvCxnSpPr>
        <p:spPr>
          <a:xfrm>
            <a:off x="6435824" y="2880051"/>
            <a:ext cx="224408" cy="15124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Elipse 132"/>
          <p:cNvSpPr/>
          <p:nvPr/>
        </p:nvSpPr>
        <p:spPr>
          <a:xfrm>
            <a:off x="4691723" y="5016653"/>
            <a:ext cx="144016" cy="14401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5" name="Conector reto 134"/>
          <p:cNvCxnSpPr>
            <a:stCxn id="60" idx="5"/>
            <a:endCxn id="133" idx="1"/>
          </p:cNvCxnSpPr>
          <p:nvPr/>
        </p:nvCxnSpPr>
        <p:spPr>
          <a:xfrm>
            <a:off x="4294689" y="4523236"/>
            <a:ext cx="418125" cy="5145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ector reto 136"/>
          <p:cNvCxnSpPr>
            <a:stCxn id="52" idx="3"/>
            <a:endCxn id="133" idx="7"/>
          </p:cNvCxnSpPr>
          <p:nvPr/>
        </p:nvCxnSpPr>
        <p:spPr>
          <a:xfrm flipH="1">
            <a:off x="4814648" y="4533622"/>
            <a:ext cx="414042" cy="5041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536542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Árvore de Steiner</a:t>
            </a:r>
          </a:p>
        </p:txBody>
      </p:sp>
      <p:sp>
        <p:nvSpPr>
          <p:cNvPr id="4" name="Elipse 3"/>
          <p:cNvSpPr/>
          <p:nvPr/>
        </p:nvSpPr>
        <p:spPr>
          <a:xfrm>
            <a:off x="2843808" y="2790220"/>
            <a:ext cx="144016" cy="14401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3915544" y="2894703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" name="Conector reto 7"/>
          <p:cNvCxnSpPr>
            <a:stCxn id="5" idx="2"/>
            <a:endCxn id="4" idx="6"/>
          </p:cNvCxnSpPr>
          <p:nvPr/>
        </p:nvCxnSpPr>
        <p:spPr>
          <a:xfrm flipH="1" flipV="1">
            <a:off x="2987824" y="2862228"/>
            <a:ext cx="927720" cy="1044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/>
              <p:cNvSpPr txBox="1"/>
              <p:nvPr/>
            </p:nvSpPr>
            <p:spPr>
              <a:xfrm>
                <a:off x="2483768" y="2070140"/>
                <a:ext cx="3935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/>
                        </a:rPr>
                        <m:t>𝐺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8" name="CaixaDeTexto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3768" y="2070140"/>
                <a:ext cx="393569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Elipse 21"/>
          <p:cNvSpPr/>
          <p:nvPr/>
        </p:nvSpPr>
        <p:spPr>
          <a:xfrm>
            <a:off x="4926901" y="2934236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Elipse 22"/>
          <p:cNvSpPr/>
          <p:nvPr/>
        </p:nvSpPr>
        <p:spPr>
          <a:xfrm>
            <a:off x="6363816" y="2736035"/>
            <a:ext cx="144016" cy="14401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6" name="Conector reto 25"/>
          <p:cNvCxnSpPr>
            <a:stCxn id="23" idx="2"/>
            <a:endCxn id="22" idx="6"/>
          </p:cNvCxnSpPr>
          <p:nvPr/>
        </p:nvCxnSpPr>
        <p:spPr>
          <a:xfrm flipH="1">
            <a:off x="5070917" y="2808043"/>
            <a:ext cx="1292899" cy="1982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/>
          <p:cNvSpPr/>
          <p:nvPr/>
        </p:nvSpPr>
        <p:spPr>
          <a:xfrm>
            <a:off x="3419872" y="3708501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/>
          <p:cNvSpPr/>
          <p:nvPr/>
        </p:nvSpPr>
        <p:spPr>
          <a:xfrm>
            <a:off x="2555776" y="4374396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8" name="Conector reto 47"/>
          <p:cNvCxnSpPr>
            <a:stCxn id="37" idx="3"/>
            <a:endCxn id="38" idx="7"/>
          </p:cNvCxnSpPr>
          <p:nvPr/>
        </p:nvCxnSpPr>
        <p:spPr>
          <a:xfrm flipH="1">
            <a:off x="2678701" y="3831426"/>
            <a:ext cx="762262" cy="5640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Elipse 49"/>
          <p:cNvSpPr/>
          <p:nvPr/>
        </p:nvSpPr>
        <p:spPr>
          <a:xfrm>
            <a:off x="4644008" y="3687410"/>
            <a:ext cx="144016" cy="14401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" name="Elipse 50"/>
          <p:cNvSpPr/>
          <p:nvPr/>
        </p:nvSpPr>
        <p:spPr>
          <a:xfrm>
            <a:off x="5868144" y="3700929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Elipse 51"/>
          <p:cNvSpPr/>
          <p:nvPr/>
        </p:nvSpPr>
        <p:spPr>
          <a:xfrm>
            <a:off x="5207599" y="4410697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Elipse 52"/>
          <p:cNvSpPr/>
          <p:nvPr/>
        </p:nvSpPr>
        <p:spPr>
          <a:xfrm>
            <a:off x="6588224" y="4392546"/>
            <a:ext cx="144016" cy="14401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4" name="Conector reto 53"/>
          <p:cNvCxnSpPr>
            <a:stCxn id="51" idx="2"/>
            <a:endCxn id="50" idx="6"/>
          </p:cNvCxnSpPr>
          <p:nvPr/>
        </p:nvCxnSpPr>
        <p:spPr>
          <a:xfrm flipH="1" flipV="1">
            <a:off x="4788024" y="3759418"/>
            <a:ext cx="1080120" cy="135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/>
          <p:cNvCxnSpPr>
            <a:stCxn id="50" idx="4"/>
            <a:endCxn id="52" idx="0"/>
          </p:cNvCxnSpPr>
          <p:nvPr/>
        </p:nvCxnSpPr>
        <p:spPr>
          <a:xfrm>
            <a:off x="4716016" y="3831426"/>
            <a:ext cx="563591" cy="5792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to 55"/>
          <p:cNvCxnSpPr>
            <a:stCxn id="52" idx="6"/>
            <a:endCxn id="53" idx="2"/>
          </p:cNvCxnSpPr>
          <p:nvPr/>
        </p:nvCxnSpPr>
        <p:spPr>
          <a:xfrm flipV="1">
            <a:off x="5351615" y="4464554"/>
            <a:ext cx="1236609" cy="181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to 56"/>
          <p:cNvCxnSpPr>
            <a:stCxn id="51" idx="4"/>
            <a:endCxn id="53" idx="0"/>
          </p:cNvCxnSpPr>
          <p:nvPr/>
        </p:nvCxnSpPr>
        <p:spPr>
          <a:xfrm>
            <a:off x="5940152" y="3844945"/>
            <a:ext cx="720080" cy="5476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Elipse 59"/>
          <p:cNvSpPr/>
          <p:nvPr/>
        </p:nvSpPr>
        <p:spPr>
          <a:xfrm>
            <a:off x="4171764" y="4400311"/>
            <a:ext cx="144016" cy="14401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2" name="Conector reto 61"/>
          <p:cNvCxnSpPr>
            <a:stCxn id="4" idx="4"/>
            <a:endCxn id="38" idx="0"/>
          </p:cNvCxnSpPr>
          <p:nvPr/>
        </p:nvCxnSpPr>
        <p:spPr>
          <a:xfrm flipH="1">
            <a:off x="2627784" y="2934236"/>
            <a:ext cx="288032" cy="1440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to 63"/>
          <p:cNvCxnSpPr>
            <a:stCxn id="37" idx="6"/>
            <a:endCxn id="50" idx="2"/>
          </p:cNvCxnSpPr>
          <p:nvPr/>
        </p:nvCxnSpPr>
        <p:spPr>
          <a:xfrm flipV="1">
            <a:off x="3563888" y="3759418"/>
            <a:ext cx="1080120" cy="210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/>
          <p:cNvCxnSpPr>
            <a:stCxn id="5" idx="4"/>
            <a:endCxn id="37" idx="0"/>
          </p:cNvCxnSpPr>
          <p:nvPr/>
        </p:nvCxnSpPr>
        <p:spPr>
          <a:xfrm flipH="1">
            <a:off x="3491880" y="3038719"/>
            <a:ext cx="495672" cy="6697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reto 67"/>
          <p:cNvCxnSpPr>
            <a:stCxn id="22" idx="2"/>
            <a:endCxn id="5" idx="6"/>
          </p:cNvCxnSpPr>
          <p:nvPr/>
        </p:nvCxnSpPr>
        <p:spPr>
          <a:xfrm flipH="1" flipV="1">
            <a:off x="4059560" y="2966711"/>
            <a:ext cx="867341" cy="395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to 73"/>
          <p:cNvCxnSpPr>
            <a:stCxn id="51" idx="0"/>
            <a:endCxn id="23" idx="4"/>
          </p:cNvCxnSpPr>
          <p:nvPr/>
        </p:nvCxnSpPr>
        <p:spPr>
          <a:xfrm flipV="1">
            <a:off x="5940152" y="2880051"/>
            <a:ext cx="495672" cy="8208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to 75"/>
          <p:cNvCxnSpPr>
            <a:stCxn id="5" idx="5"/>
            <a:endCxn id="50" idx="1"/>
          </p:cNvCxnSpPr>
          <p:nvPr/>
        </p:nvCxnSpPr>
        <p:spPr>
          <a:xfrm>
            <a:off x="4038469" y="3017628"/>
            <a:ext cx="626630" cy="6908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reto 77"/>
          <p:cNvCxnSpPr>
            <a:stCxn id="37" idx="0"/>
            <a:endCxn id="4" idx="5"/>
          </p:cNvCxnSpPr>
          <p:nvPr/>
        </p:nvCxnSpPr>
        <p:spPr>
          <a:xfrm flipH="1" flipV="1">
            <a:off x="2966733" y="2913145"/>
            <a:ext cx="525147" cy="7953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reto 83"/>
          <p:cNvCxnSpPr>
            <a:stCxn id="37" idx="4"/>
            <a:endCxn id="60" idx="0"/>
          </p:cNvCxnSpPr>
          <p:nvPr/>
        </p:nvCxnSpPr>
        <p:spPr>
          <a:xfrm>
            <a:off x="3491880" y="3852517"/>
            <a:ext cx="751892" cy="5477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reto 87"/>
          <p:cNvCxnSpPr>
            <a:stCxn id="50" idx="3"/>
            <a:endCxn id="60" idx="7"/>
          </p:cNvCxnSpPr>
          <p:nvPr/>
        </p:nvCxnSpPr>
        <p:spPr>
          <a:xfrm flipH="1">
            <a:off x="4294689" y="3810335"/>
            <a:ext cx="370410" cy="6110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/>
          <p:cNvCxnSpPr>
            <a:stCxn id="60" idx="2"/>
            <a:endCxn id="38" idx="6"/>
          </p:cNvCxnSpPr>
          <p:nvPr/>
        </p:nvCxnSpPr>
        <p:spPr>
          <a:xfrm flipH="1" flipV="1">
            <a:off x="2699792" y="4446404"/>
            <a:ext cx="1471972" cy="259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ector reto 91"/>
          <p:cNvCxnSpPr>
            <a:stCxn id="50" idx="0"/>
            <a:endCxn id="22" idx="4"/>
          </p:cNvCxnSpPr>
          <p:nvPr/>
        </p:nvCxnSpPr>
        <p:spPr>
          <a:xfrm flipV="1">
            <a:off x="4716016" y="3078252"/>
            <a:ext cx="282893" cy="6091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ector reto 93"/>
          <p:cNvCxnSpPr>
            <a:stCxn id="22" idx="5"/>
            <a:endCxn id="51" idx="1"/>
          </p:cNvCxnSpPr>
          <p:nvPr/>
        </p:nvCxnSpPr>
        <p:spPr>
          <a:xfrm>
            <a:off x="5049826" y="3057161"/>
            <a:ext cx="839409" cy="6648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ector reto 122"/>
          <p:cNvCxnSpPr>
            <a:stCxn id="52" idx="2"/>
            <a:endCxn id="60" idx="6"/>
          </p:cNvCxnSpPr>
          <p:nvPr/>
        </p:nvCxnSpPr>
        <p:spPr>
          <a:xfrm flipH="1" flipV="1">
            <a:off x="4315780" y="4472319"/>
            <a:ext cx="891819" cy="103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ector reto 129"/>
          <p:cNvCxnSpPr>
            <a:stCxn id="51" idx="3"/>
            <a:endCxn id="52" idx="7"/>
          </p:cNvCxnSpPr>
          <p:nvPr/>
        </p:nvCxnSpPr>
        <p:spPr>
          <a:xfrm flipH="1">
            <a:off x="5330524" y="3823854"/>
            <a:ext cx="558711" cy="6079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nector reto 131"/>
          <p:cNvCxnSpPr>
            <a:stCxn id="23" idx="4"/>
            <a:endCxn id="53" idx="0"/>
          </p:cNvCxnSpPr>
          <p:nvPr/>
        </p:nvCxnSpPr>
        <p:spPr>
          <a:xfrm>
            <a:off x="6435824" y="2880051"/>
            <a:ext cx="224408" cy="15124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Elipse 132"/>
          <p:cNvSpPr/>
          <p:nvPr/>
        </p:nvSpPr>
        <p:spPr>
          <a:xfrm>
            <a:off x="4691723" y="5016653"/>
            <a:ext cx="144016" cy="14401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5" name="Conector reto 134"/>
          <p:cNvCxnSpPr>
            <a:stCxn id="60" idx="5"/>
            <a:endCxn id="133" idx="1"/>
          </p:cNvCxnSpPr>
          <p:nvPr/>
        </p:nvCxnSpPr>
        <p:spPr>
          <a:xfrm>
            <a:off x="4294689" y="4523236"/>
            <a:ext cx="418125" cy="5145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ector reto 136"/>
          <p:cNvCxnSpPr>
            <a:stCxn id="52" idx="3"/>
            <a:endCxn id="133" idx="7"/>
          </p:cNvCxnSpPr>
          <p:nvPr/>
        </p:nvCxnSpPr>
        <p:spPr>
          <a:xfrm flipH="1">
            <a:off x="4814648" y="4533622"/>
            <a:ext cx="414042" cy="5041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Conector de seta reta 138"/>
          <p:cNvCxnSpPr/>
          <p:nvPr/>
        </p:nvCxnSpPr>
        <p:spPr>
          <a:xfrm flipH="1">
            <a:off x="6588224" y="2295456"/>
            <a:ext cx="504056" cy="44057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CaixaDeTexto 139"/>
          <p:cNvSpPr txBox="1"/>
          <p:nvPr/>
        </p:nvSpPr>
        <p:spPr>
          <a:xfrm>
            <a:off x="6372200" y="1916832"/>
            <a:ext cx="1480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Nós terminais</a:t>
            </a:r>
          </a:p>
        </p:txBody>
      </p:sp>
      <p:cxnSp>
        <p:nvCxnSpPr>
          <p:cNvPr id="143" name="Conector de seta reta 142"/>
          <p:cNvCxnSpPr/>
          <p:nvPr/>
        </p:nvCxnSpPr>
        <p:spPr>
          <a:xfrm flipV="1">
            <a:off x="1691680" y="4544366"/>
            <a:ext cx="720080" cy="33408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CaixaDeTexto 143"/>
          <p:cNvSpPr txBox="1"/>
          <p:nvPr/>
        </p:nvSpPr>
        <p:spPr>
          <a:xfrm>
            <a:off x="211082" y="4791337"/>
            <a:ext cx="15543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Nós de Steiner</a:t>
            </a:r>
          </a:p>
        </p:txBody>
      </p:sp>
    </p:spTree>
    <p:extLst>
      <p:ext uri="{BB962C8B-B14F-4D97-AF65-F5344CB8AC3E}">
        <p14:creationId xmlns:p14="http://schemas.microsoft.com/office/powerpoint/2010/main" val="67047821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Árvore de Steiner</a:t>
            </a:r>
          </a:p>
        </p:txBody>
      </p:sp>
      <p:sp>
        <p:nvSpPr>
          <p:cNvPr id="4" name="Elipse 3"/>
          <p:cNvSpPr/>
          <p:nvPr/>
        </p:nvSpPr>
        <p:spPr>
          <a:xfrm>
            <a:off x="2843808" y="2790220"/>
            <a:ext cx="144016" cy="14401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3915544" y="2894703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" name="Conector reto 7"/>
          <p:cNvCxnSpPr>
            <a:stCxn id="5" idx="2"/>
            <a:endCxn id="4" idx="6"/>
          </p:cNvCxnSpPr>
          <p:nvPr/>
        </p:nvCxnSpPr>
        <p:spPr>
          <a:xfrm flipH="1" flipV="1">
            <a:off x="2987824" y="2862228"/>
            <a:ext cx="927720" cy="1044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/>
              <p:cNvSpPr txBox="1"/>
              <p:nvPr/>
            </p:nvSpPr>
            <p:spPr>
              <a:xfrm>
                <a:off x="2483768" y="2070140"/>
                <a:ext cx="3935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/>
                        </a:rPr>
                        <m:t>𝐺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8" name="CaixaDeTexto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3768" y="2070140"/>
                <a:ext cx="393569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Elipse 21"/>
          <p:cNvSpPr/>
          <p:nvPr/>
        </p:nvSpPr>
        <p:spPr>
          <a:xfrm>
            <a:off x="4926901" y="2934236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Elipse 22"/>
          <p:cNvSpPr/>
          <p:nvPr/>
        </p:nvSpPr>
        <p:spPr>
          <a:xfrm>
            <a:off x="6363816" y="2736035"/>
            <a:ext cx="144016" cy="14401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6" name="Conector reto 25"/>
          <p:cNvCxnSpPr>
            <a:stCxn id="23" idx="2"/>
            <a:endCxn id="22" idx="6"/>
          </p:cNvCxnSpPr>
          <p:nvPr/>
        </p:nvCxnSpPr>
        <p:spPr>
          <a:xfrm flipH="1">
            <a:off x="5070917" y="2808043"/>
            <a:ext cx="1292899" cy="19820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/>
          <p:cNvSpPr/>
          <p:nvPr/>
        </p:nvSpPr>
        <p:spPr>
          <a:xfrm>
            <a:off x="3419872" y="3708501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/>
          <p:cNvSpPr/>
          <p:nvPr/>
        </p:nvSpPr>
        <p:spPr>
          <a:xfrm>
            <a:off x="2555776" y="4374396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8" name="Conector reto 47"/>
          <p:cNvCxnSpPr>
            <a:stCxn id="37" idx="3"/>
            <a:endCxn id="38" idx="7"/>
          </p:cNvCxnSpPr>
          <p:nvPr/>
        </p:nvCxnSpPr>
        <p:spPr>
          <a:xfrm flipH="1">
            <a:off x="2678701" y="3831426"/>
            <a:ext cx="762262" cy="5640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Elipse 49"/>
          <p:cNvSpPr/>
          <p:nvPr/>
        </p:nvSpPr>
        <p:spPr>
          <a:xfrm>
            <a:off x="4644008" y="3687410"/>
            <a:ext cx="144016" cy="14401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" name="Elipse 50"/>
          <p:cNvSpPr/>
          <p:nvPr/>
        </p:nvSpPr>
        <p:spPr>
          <a:xfrm>
            <a:off x="5868144" y="3700929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Elipse 51"/>
          <p:cNvSpPr/>
          <p:nvPr/>
        </p:nvSpPr>
        <p:spPr>
          <a:xfrm>
            <a:off x="5207599" y="4410697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Elipse 52"/>
          <p:cNvSpPr/>
          <p:nvPr/>
        </p:nvSpPr>
        <p:spPr>
          <a:xfrm>
            <a:off x="6588224" y="4392546"/>
            <a:ext cx="144016" cy="14401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4" name="Conector reto 53"/>
          <p:cNvCxnSpPr>
            <a:stCxn id="51" idx="2"/>
            <a:endCxn id="50" idx="6"/>
          </p:cNvCxnSpPr>
          <p:nvPr/>
        </p:nvCxnSpPr>
        <p:spPr>
          <a:xfrm flipH="1" flipV="1">
            <a:off x="4788024" y="3759418"/>
            <a:ext cx="1080120" cy="1351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/>
          <p:cNvCxnSpPr>
            <a:stCxn id="50" idx="4"/>
            <a:endCxn id="52" idx="0"/>
          </p:cNvCxnSpPr>
          <p:nvPr/>
        </p:nvCxnSpPr>
        <p:spPr>
          <a:xfrm>
            <a:off x="4716016" y="3831426"/>
            <a:ext cx="563591" cy="5792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to 55"/>
          <p:cNvCxnSpPr>
            <a:stCxn id="52" idx="6"/>
            <a:endCxn id="53" idx="2"/>
          </p:cNvCxnSpPr>
          <p:nvPr/>
        </p:nvCxnSpPr>
        <p:spPr>
          <a:xfrm flipV="1">
            <a:off x="5351615" y="4464554"/>
            <a:ext cx="1236609" cy="181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to 56"/>
          <p:cNvCxnSpPr>
            <a:stCxn id="51" idx="4"/>
            <a:endCxn id="53" idx="0"/>
          </p:cNvCxnSpPr>
          <p:nvPr/>
        </p:nvCxnSpPr>
        <p:spPr>
          <a:xfrm>
            <a:off x="5940152" y="3844945"/>
            <a:ext cx="720080" cy="54760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Elipse 59"/>
          <p:cNvSpPr/>
          <p:nvPr/>
        </p:nvSpPr>
        <p:spPr>
          <a:xfrm>
            <a:off x="4171764" y="4400311"/>
            <a:ext cx="144016" cy="14401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2" name="Conector reto 61"/>
          <p:cNvCxnSpPr>
            <a:stCxn id="4" idx="4"/>
            <a:endCxn id="38" idx="0"/>
          </p:cNvCxnSpPr>
          <p:nvPr/>
        </p:nvCxnSpPr>
        <p:spPr>
          <a:xfrm flipH="1">
            <a:off x="2627784" y="2934236"/>
            <a:ext cx="288032" cy="1440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to 63"/>
          <p:cNvCxnSpPr>
            <a:stCxn id="37" idx="6"/>
            <a:endCxn id="50" idx="2"/>
          </p:cNvCxnSpPr>
          <p:nvPr/>
        </p:nvCxnSpPr>
        <p:spPr>
          <a:xfrm flipV="1">
            <a:off x="3563888" y="3759418"/>
            <a:ext cx="1080120" cy="210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/>
          <p:cNvCxnSpPr>
            <a:stCxn id="5" idx="4"/>
            <a:endCxn id="37" idx="0"/>
          </p:cNvCxnSpPr>
          <p:nvPr/>
        </p:nvCxnSpPr>
        <p:spPr>
          <a:xfrm flipH="1">
            <a:off x="3491880" y="3038719"/>
            <a:ext cx="495672" cy="6697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reto 67"/>
          <p:cNvCxnSpPr>
            <a:stCxn id="22" idx="2"/>
            <a:endCxn id="5" idx="6"/>
          </p:cNvCxnSpPr>
          <p:nvPr/>
        </p:nvCxnSpPr>
        <p:spPr>
          <a:xfrm flipH="1" flipV="1">
            <a:off x="4059560" y="2966711"/>
            <a:ext cx="867341" cy="395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to 73"/>
          <p:cNvCxnSpPr>
            <a:stCxn id="51" idx="0"/>
            <a:endCxn id="23" idx="4"/>
          </p:cNvCxnSpPr>
          <p:nvPr/>
        </p:nvCxnSpPr>
        <p:spPr>
          <a:xfrm flipV="1">
            <a:off x="5940152" y="2880051"/>
            <a:ext cx="495672" cy="8208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to 75"/>
          <p:cNvCxnSpPr>
            <a:stCxn id="5" idx="5"/>
            <a:endCxn id="50" idx="1"/>
          </p:cNvCxnSpPr>
          <p:nvPr/>
        </p:nvCxnSpPr>
        <p:spPr>
          <a:xfrm>
            <a:off x="4038469" y="3017628"/>
            <a:ext cx="626630" cy="6908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reto 77"/>
          <p:cNvCxnSpPr>
            <a:stCxn id="37" idx="0"/>
            <a:endCxn id="4" idx="5"/>
          </p:cNvCxnSpPr>
          <p:nvPr/>
        </p:nvCxnSpPr>
        <p:spPr>
          <a:xfrm flipH="1" flipV="1">
            <a:off x="2966733" y="2913145"/>
            <a:ext cx="525147" cy="79535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reto 83"/>
          <p:cNvCxnSpPr>
            <a:stCxn id="37" idx="4"/>
            <a:endCxn id="60" idx="0"/>
          </p:cNvCxnSpPr>
          <p:nvPr/>
        </p:nvCxnSpPr>
        <p:spPr>
          <a:xfrm>
            <a:off x="3491880" y="3852517"/>
            <a:ext cx="751892" cy="54779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reto 87"/>
          <p:cNvCxnSpPr>
            <a:stCxn id="50" idx="3"/>
            <a:endCxn id="60" idx="7"/>
          </p:cNvCxnSpPr>
          <p:nvPr/>
        </p:nvCxnSpPr>
        <p:spPr>
          <a:xfrm flipH="1">
            <a:off x="4294689" y="3810335"/>
            <a:ext cx="370410" cy="61106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/>
          <p:cNvCxnSpPr>
            <a:stCxn id="60" idx="2"/>
            <a:endCxn id="38" idx="6"/>
          </p:cNvCxnSpPr>
          <p:nvPr/>
        </p:nvCxnSpPr>
        <p:spPr>
          <a:xfrm flipH="1" flipV="1">
            <a:off x="2699792" y="4446404"/>
            <a:ext cx="1471972" cy="259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ector reto 91"/>
          <p:cNvCxnSpPr>
            <a:stCxn id="50" idx="0"/>
            <a:endCxn id="22" idx="4"/>
          </p:cNvCxnSpPr>
          <p:nvPr/>
        </p:nvCxnSpPr>
        <p:spPr>
          <a:xfrm flipV="1">
            <a:off x="4716016" y="3078252"/>
            <a:ext cx="282893" cy="60915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ector reto 93"/>
          <p:cNvCxnSpPr>
            <a:stCxn id="22" idx="5"/>
            <a:endCxn id="51" idx="1"/>
          </p:cNvCxnSpPr>
          <p:nvPr/>
        </p:nvCxnSpPr>
        <p:spPr>
          <a:xfrm>
            <a:off x="5049826" y="3057161"/>
            <a:ext cx="839409" cy="6648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ector reto 122"/>
          <p:cNvCxnSpPr>
            <a:stCxn id="52" idx="2"/>
            <a:endCxn id="60" idx="6"/>
          </p:cNvCxnSpPr>
          <p:nvPr/>
        </p:nvCxnSpPr>
        <p:spPr>
          <a:xfrm flipH="1" flipV="1">
            <a:off x="4315780" y="4472319"/>
            <a:ext cx="891819" cy="103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ector reto 129"/>
          <p:cNvCxnSpPr>
            <a:stCxn id="51" idx="3"/>
            <a:endCxn id="52" idx="7"/>
          </p:cNvCxnSpPr>
          <p:nvPr/>
        </p:nvCxnSpPr>
        <p:spPr>
          <a:xfrm flipH="1">
            <a:off x="5330524" y="3823854"/>
            <a:ext cx="558711" cy="6079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nector reto 131"/>
          <p:cNvCxnSpPr>
            <a:stCxn id="23" idx="4"/>
            <a:endCxn id="53" idx="0"/>
          </p:cNvCxnSpPr>
          <p:nvPr/>
        </p:nvCxnSpPr>
        <p:spPr>
          <a:xfrm>
            <a:off x="6435824" y="2880051"/>
            <a:ext cx="224408" cy="15124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Elipse 132"/>
          <p:cNvSpPr/>
          <p:nvPr/>
        </p:nvSpPr>
        <p:spPr>
          <a:xfrm>
            <a:off x="4691723" y="5016653"/>
            <a:ext cx="144016" cy="14401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5" name="Conector reto 134"/>
          <p:cNvCxnSpPr>
            <a:stCxn id="60" idx="5"/>
            <a:endCxn id="133" idx="1"/>
          </p:cNvCxnSpPr>
          <p:nvPr/>
        </p:nvCxnSpPr>
        <p:spPr>
          <a:xfrm>
            <a:off x="4294689" y="4523236"/>
            <a:ext cx="418125" cy="51450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ector reto 136"/>
          <p:cNvCxnSpPr>
            <a:stCxn id="52" idx="3"/>
            <a:endCxn id="133" idx="7"/>
          </p:cNvCxnSpPr>
          <p:nvPr/>
        </p:nvCxnSpPr>
        <p:spPr>
          <a:xfrm flipH="1">
            <a:off x="4814648" y="4533622"/>
            <a:ext cx="414042" cy="5041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243479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Árvore de Steiner</a:t>
            </a:r>
          </a:p>
        </p:txBody>
      </p:sp>
      <p:sp>
        <p:nvSpPr>
          <p:cNvPr id="4" name="Elipse 3"/>
          <p:cNvSpPr/>
          <p:nvPr/>
        </p:nvSpPr>
        <p:spPr>
          <a:xfrm>
            <a:off x="2843808" y="2790220"/>
            <a:ext cx="144016" cy="14401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/>
              <p:cNvSpPr txBox="1"/>
              <p:nvPr/>
            </p:nvSpPr>
            <p:spPr>
              <a:xfrm>
                <a:off x="2483768" y="2070140"/>
                <a:ext cx="3935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/>
                        </a:rPr>
                        <m:t>𝐺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8" name="CaixaDeTexto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3768" y="2070140"/>
                <a:ext cx="393569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Elipse 21"/>
          <p:cNvSpPr/>
          <p:nvPr/>
        </p:nvSpPr>
        <p:spPr>
          <a:xfrm>
            <a:off x="4926901" y="2934236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Elipse 22"/>
          <p:cNvSpPr/>
          <p:nvPr/>
        </p:nvSpPr>
        <p:spPr>
          <a:xfrm>
            <a:off x="6363816" y="2736035"/>
            <a:ext cx="144016" cy="14401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6" name="Conector reto 25"/>
          <p:cNvCxnSpPr>
            <a:stCxn id="23" idx="2"/>
            <a:endCxn id="22" idx="6"/>
          </p:cNvCxnSpPr>
          <p:nvPr/>
        </p:nvCxnSpPr>
        <p:spPr>
          <a:xfrm flipH="1">
            <a:off x="5070917" y="2808043"/>
            <a:ext cx="1292899" cy="19820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/>
          <p:cNvSpPr/>
          <p:nvPr/>
        </p:nvSpPr>
        <p:spPr>
          <a:xfrm>
            <a:off x="3419872" y="3708501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" name="Elipse 49"/>
          <p:cNvSpPr/>
          <p:nvPr/>
        </p:nvSpPr>
        <p:spPr>
          <a:xfrm>
            <a:off x="4644008" y="3687410"/>
            <a:ext cx="144016" cy="14401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" name="Elipse 50"/>
          <p:cNvSpPr/>
          <p:nvPr/>
        </p:nvSpPr>
        <p:spPr>
          <a:xfrm>
            <a:off x="5868144" y="3700929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Elipse 52"/>
          <p:cNvSpPr/>
          <p:nvPr/>
        </p:nvSpPr>
        <p:spPr>
          <a:xfrm>
            <a:off x="6588224" y="4392546"/>
            <a:ext cx="144016" cy="14401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4" name="Conector reto 53"/>
          <p:cNvCxnSpPr>
            <a:stCxn id="51" idx="2"/>
            <a:endCxn id="50" idx="6"/>
          </p:cNvCxnSpPr>
          <p:nvPr/>
        </p:nvCxnSpPr>
        <p:spPr>
          <a:xfrm flipH="1" flipV="1">
            <a:off x="4788024" y="3759418"/>
            <a:ext cx="1080120" cy="1351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to 56"/>
          <p:cNvCxnSpPr>
            <a:stCxn id="51" idx="4"/>
            <a:endCxn id="53" idx="0"/>
          </p:cNvCxnSpPr>
          <p:nvPr/>
        </p:nvCxnSpPr>
        <p:spPr>
          <a:xfrm>
            <a:off x="5940152" y="3844945"/>
            <a:ext cx="720080" cy="54760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Elipse 59"/>
          <p:cNvSpPr/>
          <p:nvPr/>
        </p:nvSpPr>
        <p:spPr>
          <a:xfrm>
            <a:off x="4171764" y="4400311"/>
            <a:ext cx="144016" cy="14401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78" name="Conector reto 77"/>
          <p:cNvCxnSpPr>
            <a:stCxn id="37" idx="0"/>
            <a:endCxn id="4" idx="5"/>
          </p:cNvCxnSpPr>
          <p:nvPr/>
        </p:nvCxnSpPr>
        <p:spPr>
          <a:xfrm flipH="1" flipV="1">
            <a:off x="2966733" y="2913145"/>
            <a:ext cx="525147" cy="79535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reto 83"/>
          <p:cNvCxnSpPr>
            <a:stCxn id="37" idx="4"/>
            <a:endCxn id="60" idx="0"/>
          </p:cNvCxnSpPr>
          <p:nvPr/>
        </p:nvCxnSpPr>
        <p:spPr>
          <a:xfrm>
            <a:off x="3491880" y="3852517"/>
            <a:ext cx="751892" cy="54779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reto 87"/>
          <p:cNvCxnSpPr>
            <a:stCxn id="50" idx="3"/>
            <a:endCxn id="60" idx="7"/>
          </p:cNvCxnSpPr>
          <p:nvPr/>
        </p:nvCxnSpPr>
        <p:spPr>
          <a:xfrm flipH="1">
            <a:off x="4294689" y="3810335"/>
            <a:ext cx="370410" cy="61106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ector reto 91"/>
          <p:cNvCxnSpPr>
            <a:stCxn id="50" idx="0"/>
            <a:endCxn id="22" idx="4"/>
          </p:cNvCxnSpPr>
          <p:nvPr/>
        </p:nvCxnSpPr>
        <p:spPr>
          <a:xfrm flipV="1">
            <a:off x="4716016" y="3078252"/>
            <a:ext cx="282893" cy="60915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Elipse 132"/>
          <p:cNvSpPr/>
          <p:nvPr/>
        </p:nvSpPr>
        <p:spPr>
          <a:xfrm>
            <a:off x="4691723" y="5016653"/>
            <a:ext cx="144016" cy="14401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5" name="Conector reto 134"/>
          <p:cNvCxnSpPr>
            <a:stCxn id="60" idx="5"/>
            <a:endCxn id="133" idx="1"/>
          </p:cNvCxnSpPr>
          <p:nvPr/>
        </p:nvCxnSpPr>
        <p:spPr>
          <a:xfrm>
            <a:off x="4294689" y="4523236"/>
            <a:ext cx="418125" cy="51450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/>
          <p:cNvSpPr txBox="1"/>
          <p:nvPr/>
        </p:nvSpPr>
        <p:spPr>
          <a:xfrm>
            <a:off x="899592" y="6093296"/>
            <a:ext cx="51539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Os nós de Steiner mantém o grafo resultante conexo.</a:t>
            </a:r>
          </a:p>
        </p:txBody>
      </p:sp>
    </p:spTree>
    <p:extLst>
      <p:ext uri="{BB962C8B-B14F-4D97-AF65-F5344CB8AC3E}">
        <p14:creationId xmlns:p14="http://schemas.microsoft.com/office/powerpoint/2010/main" val="131421584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 da Árvore de Steiner (ST)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Definição (Problema de decisão):</a:t>
                </a:r>
              </a:p>
              <a:p>
                <a:pPr lvl="1"/>
                <a:r>
                  <a:rPr lang="pt-BR" dirty="0"/>
                  <a:t>Considere um grafo G(V, E), um subconjunto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b="0" i="0" smtClean="0">
                        <a:latin typeface="Cambria Math"/>
                      </a:rPr>
                      <m:t>T</m:t>
                    </m:r>
                    <m:r>
                      <a:rPr lang="pt-BR" i="1">
                        <a:latin typeface="Cambria Math"/>
                      </a:rPr>
                      <m:t>⊆</m:t>
                    </m:r>
                    <m:r>
                      <a:rPr lang="pt-BR" i="1">
                        <a:latin typeface="Cambria Math"/>
                      </a:rPr>
                      <m:t>𝑉</m:t>
                    </m:r>
                  </m:oMath>
                </a14:m>
                <a:r>
                  <a:rPr lang="pt-BR" dirty="0"/>
                  <a:t>e um inteiro k.</a:t>
                </a:r>
              </a:p>
              <a:p>
                <a:pPr lvl="1"/>
                <a:r>
                  <a:rPr lang="pt-BR" dirty="0"/>
                  <a:t>Existe uma </a:t>
                </a:r>
                <a:r>
                  <a:rPr lang="pt-BR" dirty="0" err="1"/>
                  <a:t>subárvore</a:t>
                </a:r>
                <a:r>
                  <a:rPr lang="pt-BR" dirty="0"/>
                  <a:t> de G que inclui todos os vértices de T e que tenha no máximo k arestas?</a:t>
                </a:r>
              </a:p>
              <a:p>
                <a:pPr lvl="1"/>
                <a:endParaRPr lang="pt-BR" dirty="0"/>
              </a:p>
              <a:p>
                <a:pPr lvl="1"/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175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517098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7B9F67-FCF6-451D-8403-7FF7ADAE5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 da Árvore de Steiner (ST)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F87169A-9BFA-487B-BF6F-E31922BAEB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>
                <a:solidFill>
                  <a:srgbClr val="FF0000"/>
                </a:solidFill>
              </a:rPr>
              <a:t>Desafio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Provar que o Problema da Árvore de Steiner (ST) é um problema NP-Completo. </a:t>
            </a:r>
          </a:p>
          <a:p>
            <a:pPr lvl="1"/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7361174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Prova problema NP-Completo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prova é divida em duas partes:</a:t>
            </a:r>
          </a:p>
          <a:p>
            <a:pPr lvl="1"/>
            <a:r>
              <a:rPr lang="pt-BR" dirty="0"/>
              <a:t>Provar que ST é NP;</a:t>
            </a:r>
          </a:p>
          <a:p>
            <a:pPr lvl="1"/>
            <a:r>
              <a:rPr lang="pt-BR" dirty="0"/>
              <a:t>Encontrar um problema X conhecido da classe de problemas NP-Completo e então reduzir X ao ST</a:t>
            </a:r>
          </a:p>
        </p:txBody>
      </p:sp>
    </p:spTree>
    <p:extLst>
      <p:ext uri="{BB962C8B-B14F-4D97-AF65-F5344CB8AC3E}">
        <p14:creationId xmlns:p14="http://schemas.microsoft.com/office/powerpoint/2010/main" val="221089750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Provar que ST é NP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467544" y="1268760"/>
            <a:ext cx="8518679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 err="1">
                <a:latin typeface="Courier New" pitchFamily="49" charset="0"/>
                <a:cs typeface="Courier New" pitchFamily="49" charset="0"/>
              </a:rPr>
              <a:t>verifica_ST</a:t>
            </a:r>
            <a:r>
              <a:rPr lang="pt-BR" sz="1400" dirty="0">
                <a:latin typeface="Courier New" pitchFamily="49" charset="0"/>
                <a:cs typeface="Courier New" pitchFamily="49" charset="0"/>
              </a:rPr>
              <a:t> (G, T, k, S)</a:t>
            </a:r>
          </a:p>
          <a:p>
            <a:r>
              <a:rPr lang="pt-BR" sz="14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pt-BR" sz="14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pt-BR" sz="1400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//verifica se S é uma árvore (conexa e acíclica)</a:t>
            </a:r>
          </a:p>
          <a:p>
            <a:r>
              <a:rPr lang="pt-BR" sz="14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pt-BR" sz="1400" dirty="0" err="1">
                <a:latin typeface="Courier New" pitchFamily="49" charset="0"/>
                <a:cs typeface="Courier New" pitchFamily="49" charset="0"/>
              </a:rPr>
              <a:t>if</a:t>
            </a:r>
            <a:r>
              <a:rPr lang="pt-BR" sz="1400" dirty="0">
                <a:latin typeface="Courier New" pitchFamily="49" charset="0"/>
                <a:cs typeface="Courier New" pitchFamily="49" charset="0"/>
              </a:rPr>
              <a:t> (!</a:t>
            </a:r>
            <a:r>
              <a:rPr lang="pt-BR" sz="1400" dirty="0" err="1">
                <a:latin typeface="Courier New" pitchFamily="49" charset="0"/>
                <a:cs typeface="Courier New" pitchFamily="49" charset="0"/>
              </a:rPr>
              <a:t>isTree</a:t>
            </a:r>
            <a:r>
              <a:rPr lang="pt-BR" sz="1400" dirty="0">
                <a:latin typeface="Courier New" pitchFamily="49" charset="0"/>
                <a:cs typeface="Courier New" pitchFamily="49" charset="0"/>
              </a:rPr>
              <a:t>(S)) //pode-se usar busca em profundidade com tempo O(V+E)</a:t>
            </a:r>
          </a:p>
          <a:p>
            <a:r>
              <a:rPr lang="pt-BR" sz="14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pt-BR" sz="1400" dirty="0" err="1">
                <a:latin typeface="Courier New" pitchFamily="49" charset="0"/>
                <a:cs typeface="Courier New" pitchFamily="49" charset="0"/>
              </a:rPr>
              <a:t>return</a:t>
            </a:r>
            <a:r>
              <a:rPr lang="pt-BR" sz="1400" dirty="0">
                <a:latin typeface="Courier New" pitchFamily="49" charset="0"/>
                <a:cs typeface="Courier New" pitchFamily="49" charset="0"/>
              </a:rPr>
              <a:t> false;</a:t>
            </a:r>
          </a:p>
          <a:p>
            <a:r>
              <a:rPr lang="pt-BR" sz="1400" dirty="0">
                <a:latin typeface="Courier New" pitchFamily="49" charset="0"/>
                <a:cs typeface="Courier New" pitchFamily="49" charset="0"/>
              </a:rPr>
              <a:t>		</a:t>
            </a:r>
          </a:p>
          <a:p>
            <a:r>
              <a:rPr lang="pt-BR" sz="14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pt-BR" sz="1400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//verifica se a árvore S inclui todos os vértices em T</a:t>
            </a:r>
          </a:p>
          <a:p>
            <a:r>
              <a:rPr lang="pt-BR" sz="1400" dirty="0">
                <a:latin typeface="Courier New" pitchFamily="49" charset="0"/>
                <a:cs typeface="Courier New" pitchFamily="49" charset="0"/>
              </a:rPr>
              <a:t>	para todo v em V(S) faça</a:t>
            </a:r>
          </a:p>
          <a:p>
            <a:r>
              <a:rPr lang="pt-BR" sz="14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pt-BR" sz="1400" dirty="0" err="1">
                <a:latin typeface="Courier New" pitchFamily="49" charset="0"/>
                <a:cs typeface="Courier New" pitchFamily="49" charset="0"/>
              </a:rPr>
              <a:t>if</a:t>
            </a:r>
            <a:r>
              <a:rPr lang="pt-BR" sz="1400" dirty="0">
                <a:latin typeface="Courier New" pitchFamily="49" charset="0"/>
                <a:cs typeface="Courier New" pitchFamily="49" charset="0"/>
              </a:rPr>
              <a:t> (!V(T).contem(v))</a:t>
            </a:r>
          </a:p>
          <a:p>
            <a:r>
              <a:rPr lang="pt-BR" sz="1400" dirty="0">
                <a:latin typeface="Courier New" pitchFamily="49" charset="0"/>
                <a:cs typeface="Courier New" pitchFamily="49" charset="0"/>
              </a:rPr>
              <a:t>			</a:t>
            </a:r>
            <a:r>
              <a:rPr lang="pt-BR" sz="1400" dirty="0" err="1">
                <a:latin typeface="Courier New" pitchFamily="49" charset="0"/>
                <a:cs typeface="Courier New" pitchFamily="49" charset="0"/>
              </a:rPr>
              <a:t>return</a:t>
            </a:r>
            <a:r>
              <a:rPr lang="pt-BR" sz="1400" dirty="0">
                <a:latin typeface="Courier New" pitchFamily="49" charset="0"/>
                <a:cs typeface="Courier New" pitchFamily="49" charset="0"/>
              </a:rPr>
              <a:t> false;</a:t>
            </a:r>
          </a:p>
          <a:p>
            <a:r>
              <a:rPr lang="pt-BR" sz="1400" dirty="0">
                <a:latin typeface="Courier New" pitchFamily="49" charset="0"/>
                <a:cs typeface="Courier New" pitchFamily="49" charset="0"/>
              </a:rPr>
              <a:t>			</a:t>
            </a:r>
          </a:p>
          <a:p>
            <a:r>
              <a:rPr lang="pt-BR" sz="14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pt-BR" sz="1400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//verifica se o número de arestas em S não é maior do que k</a:t>
            </a:r>
          </a:p>
          <a:p>
            <a:r>
              <a:rPr lang="pt-BR" sz="14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pt-BR" sz="1400" dirty="0" err="1">
                <a:latin typeface="Courier New" pitchFamily="49" charset="0"/>
                <a:cs typeface="Courier New" pitchFamily="49" charset="0"/>
              </a:rPr>
              <a:t>if</a:t>
            </a:r>
            <a:r>
              <a:rPr lang="pt-BR" sz="1400" dirty="0">
                <a:latin typeface="Courier New" pitchFamily="49" charset="0"/>
                <a:cs typeface="Courier New" pitchFamily="49" charset="0"/>
              </a:rPr>
              <a:t> (E(S).</a:t>
            </a:r>
            <a:r>
              <a:rPr lang="pt-BR" sz="1400" dirty="0" err="1">
                <a:latin typeface="Courier New" pitchFamily="49" charset="0"/>
                <a:cs typeface="Courier New" pitchFamily="49" charset="0"/>
              </a:rPr>
              <a:t>count</a:t>
            </a:r>
            <a:r>
              <a:rPr lang="pt-BR" sz="1400" dirty="0">
                <a:latin typeface="Courier New" pitchFamily="49" charset="0"/>
                <a:cs typeface="Courier New" pitchFamily="49" charset="0"/>
              </a:rPr>
              <a:t>() &gt; k)</a:t>
            </a:r>
          </a:p>
          <a:p>
            <a:r>
              <a:rPr lang="pt-BR" sz="14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pt-BR" sz="1400" dirty="0" err="1">
                <a:latin typeface="Courier New" pitchFamily="49" charset="0"/>
                <a:cs typeface="Courier New" pitchFamily="49" charset="0"/>
              </a:rPr>
              <a:t>return</a:t>
            </a:r>
            <a:r>
              <a:rPr lang="pt-BR" sz="1400" dirty="0">
                <a:latin typeface="Courier New" pitchFamily="49" charset="0"/>
                <a:cs typeface="Courier New" pitchFamily="49" charset="0"/>
              </a:rPr>
              <a:t> false;</a:t>
            </a:r>
          </a:p>
          <a:p>
            <a:r>
              <a:rPr lang="pt-BR" sz="1400" dirty="0">
                <a:latin typeface="Courier New" pitchFamily="49" charset="0"/>
                <a:cs typeface="Courier New" pitchFamily="49" charset="0"/>
              </a:rPr>
              <a:t>			</a:t>
            </a:r>
          </a:p>
          <a:p>
            <a:r>
              <a:rPr lang="pt-BR" sz="14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pt-BR" sz="1400" dirty="0" err="1">
                <a:latin typeface="Courier New" pitchFamily="49" charset="0"/>
                <a:cs typeface="Courier New" pitchFamily="49" charset="0"/>
              </a:rPr>
              <a:t>return</a:t>
            </a:r>
            <a:r>
              <a:rPr lang="pt-BR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1400" dirty="0" err="1">
                <a:latin typeface="Courier New" pitchFamily="49" charset="0"/>
                <a:cs typeface="Courier New" pitchFamily="49" charset="0"/>
              </a:rPr>
              <a:t>true</a:t>
            </a:r>
            <a:r>
              <a:rPr lang="pt-BR" sz="14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pt-BR" sz="14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/>
              <p:cNvSpPr txBox="1"/>
              <p:nvPr/>
            </p:nvSpPr>
            <p:spPr>
              <a:xfrm>
                <a:off x="4139952" y="6090671"/>
                <a:ext cx="41734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b="0" i="1" dirty="0">
                    <a:latin typeface="Cambria Math"/>
                  </a:rPr>
                  <a:t>Custo computacional : 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/>
                          </a:rPr>
                          <m:t> </m:t>
                        </m:r>
                        <m:d>
                          <m:d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0" i="1" smtClean="0">
                                <a:latin typeface="Cambria Math"/>
                              </a:rPr>
                              <m:t>𝑉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+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𝐸</m:t>
                            </m:r>
                          </m:e>
                        </m:d>
                        <m:r>
                          <a:rPr lang="pt-BR" b="0" i="1" smtClean="0">
                            <a:latin typeface="Cambria Math"/>
                          </a:rPr>
                          <m:t>+</m:t>
                        </m:r>
                        <m:sSup>
                          <m:sSup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b="0" i="1" smtClean="0">
                                <a:latin typeface="Cambria Math"/>
                              </a:rPr>
                              <m:t>𝑉</m:t>
                            </m:r>
                          </m:e>
                          <m:sup>
                            <m:r>
                              <a:rPr lang="pt-BR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pt-BR" dirty="0"/>
              </a:p>
            </p:txBody>
          </p:sp>
        </mc:Choice>
        <mc:Fallback xmlns="">
          <p:sp>
            <p:nvSpPr>
              <p:cNvPr id="6" name="CaixaDeTexto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9952" y="6090671"/>
                <a:ext cx="4173450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1168" t="-11475" b="-213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814437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Transformação Polinomial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pt-BR" dirty="0"/>
                  <a:t>Problema NP-Completo: Cobertura Exata por 3-Conjuntos (X3C).</a:t>
                </a:r>
              </a:p>
              <a:p>
                <a:r>
                  <a:rPr lang="pt-BR" dirty="0"/>
                  <a:t>X3C:</a:t>
                </a:r>
              </a:p>
              <a:p>
                <a:pPr lvl="1"/>
                <a:r>
                  <a:rPr lang="pt-BR" dirty="0"/>
                  <a:t>Seja uma conjunto finito X, com |X| = 3q.</a:t>
                </a:r>
              </a:p>
              <a:p>
                <a:pPr lvl="1"/>
                <a:r>
                  <a:rPr lang="pt-BR" dirty="0"/>
                  <a:t>Um coleção C de conjunto de 3 elementos de X, sendo: 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pt-BR" b="0" i="1" smtClean="0">
                        <a:latin typeface="Cambria Math"/>
                      </a:rPr>
                      <m:t>𝐶</m:t>
                    </m:r>
                    <m:r>
                      <a:rPr lang="pt-BR" b="0" i="1" smtClean="0">
                        <a:latin typeface="Cambria Math"/>
                      </a:rPr>
                      <m:t>={</m:t>
                    </m:r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t-BR" i="1">
                        <a:latin typeface="Cambria Math"/>
                      </a:rPr>
                      <m:t>,</m:t>
                    </m:r>
                    <m:r>
                      <a:rPr lang="pt-BR" b="0" i="1" smtClean="0">
                        <a:latin typeface="Cambria Math"/>
                      </a:rPr>
                      <m:t>…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pt-BR" i="1">
                        <a:latin typeface="Cambria Math"/>
                      </a:rPr>
                      <m:t>,</m:t>
                    </m:r>
                    <m:r>
                      <a:rPr lang="pt-BR" b="0" i="1" smtClean="0">
                        <a:latin typeface="Cambria Math"/>
                      </a:rPr>
                      <m:t>}</m:t>
                    </m:r>
                  </m:oMath>
                </a14:m>
                <a:r>
                  <a:rPr lang="pt-BR" dirty="0"/>
                  <a:t>.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pt-BR" b="0" i="1" smtClean="0">
                        <a:latin typeface="Cambria Math"/>
                      </a:rPr>
                      <m:t>⊆</m:t>
                    </m:r>
                    <m:r>
                      <a:rPr lang="pt-BR" b="0" i="1" smtClean="0">
                        <a:latin typeface="Cambria Math"/>
                      </a:rPr>
                      <m:t>𝑋</m:t>
                    </m:r>
                  </m:oMath>
                </a14:m>
                <a:r>
                  <a:rPr lang="pt-BR" dirty="0"/>
                  <a:t>, sendo que |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pt-BR" i="1">
                        <a:latin typeface="Cambria Math"/>
                      </a:rPr>
                      <m:t> </m:t>
                    </m:r>
                  </m:oMath>
                </a14:m>
                <a:r>
                  <a:rPr lang="pt-BR" dirty="0"/>
                  <a:t>| = 3 (pois cada conjunto tem 3 elementos) para todo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/>
                      </a:rPr>
                      <m:t>1≤</m:t>
                    </m:r>
                    <m:r>
                      <a:rPr lang="pt-BR" b="0" i="1" smtClean="0">
                        <a:latin typeface="Cambria Math"/>
                      </a:rPr>
                      <m:t>𝑖</m:t>
                    </m:r>
                    <m:r>
                      <a:rPr lang="pt-BR" b="0" i="1" smtClean="0">
                        <a:latin typeface="Cambria Math"/>
                      </a:rPr>
                      <m:t>≤</m:t>
                    </m:r>
                    <m:r>
                      <a:rPr lang="pt-BR" b="0" i="1" smtClean="0">
                        <a:latin typeface="Cambria Math"/>
                      </a:rPr>
                      <m:t>𝑛</m:t>
                    </m:r>
                  </m:oMath>
                </a14:m>
                <a:r>
                  <a:rPr lang="pt-BR" dirty="0"/>
                  <a:t>. </a:t>
                </a:r>
              </a:p>
              <a:p>
                <a:pPr lvl="1"/>
                <a:r>
                  <a:rPr lang="pt-BR" dirty="0"/>
                  <a:t>A coleção C contém uma cobertura exata para X, ou seja, existe uma </a:t>
                </a:r>
                <a:r>
                  <a:rPr lang="pt-BR" dirty="0" err="1"/>
                  <a:t>subcoleção</a:t>
                </a:r>
                <a:r>
                  <a:rPr lang="pt-BR" dirty="0"/>
                  <a:t> C’ de C tal que todo elemento de X ocorre exatamente em um membro de C?</a:t>
                </a:r>
              </a:p>
              <a:p>
                <a:pPr lvl="2"/>
                <a:endParaRPr lang="pt-BR" dirty="0"/>
              </a:p>
              <a:p>
                <a:pPr lvl="2"/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85" t="-2022" r="-103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942202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Transformação Polinomial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Seja C’ uma </a:t>
            </a:r>
            <a:r>
              <a:rPr lang="pt-BR" dirty="0" err="1"/>
              <a:t>subcoleção</a:t>
            </a:r>
            <a:r>
              <a:rPr lang="pt-BR" dirty="0"/>
              <a:t> válida para o problema 3XC, então:</a:t>
            </a:r>
          </a:p>
          <a:p>
            <a:pPr lvl="1"/>
            <a:r>
              <a:rPr lang="pt-BR" dirty="0"/>
              <a:t>os membros da solução C’ formam uma partição do conjunto X.</a:t>
            </a:r>
          </a:p>
          <a:p>
            <a:pPr lvl="1"/>
            <a:r>
              <a:rPr lang="pt-BR" dirty="0"/>
              <a:t>|C’| = q (pois |X| = 3q e cada coleção de C’ contém 3 elementos).</a:t>
            </a:r>
          </a:p>
        </p:txBody>
      </p:sp>
    </p:spTree>
    <p:extLst>
      <p:ext uri="{BB962C8B-B14F-4D97-AF65-F5344CB8AC3E}">
        <p14:creationId xmlns:p14="http://schemas.microsoft.com/office/powerpoint/2010/main" val="2650753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Transformação Polinomial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800" dirty="0"/>
                  <a:t>Um exemplo do X3C:</a:t>
                </a:r>
              </a:p>
              <a:p>
                <a:pPr lvl="1"/>
                <a:r>
                  <a:rPr lang="pt-BR" sz="2400" dirty="0"/>
                  <a:t>Considere X = {1, 2, 3, 4, 5, 6}.</a:t>
                </a:r>
              </a:p>
              <a:p>
                <a:pPr lvl="1"/>
                <a:r>
                  <a:rPr lang="pt-BR" sz="2400" dirty="0"/>
                  <a:t>Considere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/>
                      </a:rPr>
                      <m:t>𝑛</m:t>
                    </m:r>
                    <m:r>
                      <a:rPr lang="pt-BR" sz="2400" b="0" i="1" smtClean="0">
                        <a:latin typeface="Cambria Math"/>
                      </a:rPr>
                      <m:t>=4</m:t>
                    </m:r>
                  </m:oMath>
                </a14:m>
                <a:r>
                  <a:rPr lang="pt-BR" sz="2400" dirty="0"/>
                  <a:t> e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/>
                      </a:rPr>
                      <m:t>𝐶</m:t>
                    </m:r>
                    <m:r>
                      <a:rPr lang="pt-BR" sz="2400" i="1">
                        <a:latin typeface="Cambria Math"/>
                      </a:rPr>
                      <m:t>={</m:t>
                    </m:r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400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t-BR" sz="2400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pt-BR" sz="2400" b="0" i="1" smtClean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pt-BR" sz="2400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pt-BR" sz="2400" b="0" i="1" smtClean="0">
                            <a:latin typeface="Cambria Math"/>
                          </a:rPr>
                          <m:t>4</m:t>
                        </m:r>
                      </m:sub>
                    </m:sSub>
                    <m:r>
                      <a:rPr lang="pt-BR" sz="2400" i="1">
                        <a:latin typeface="Cambria Math"/>
                      </a:rPr>
                      <m:t>}</m:t>
                    </m:r>
                  </m:oMath>
                </a14:m>
                <a:r>
                  <a:rPr lang="pt-BR" sz="2400" dirty="0"/>
                  <a:t>, sendo: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pt-BR" sz="20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000" b="0" i="1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t-B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b="0" i="1" smtClean="0">
                            <a:latin typeface="Cambria Math"/>
                          </a:rPr>
                          <m:t>1, 2, 3</m:t>
                        </m:r>
                      </m:e>
                    </m:d>
                    <m:r>
                      <a:rPr lang="pt-BR" sz="2000" b="0" i="1" smtClean="0">
                        <a:latin typeface="Cambria Math"/>
                      </a:rPr>
                      <m:t>.</m:t>
                    </m:r>
                  </m:oMath>
                </a14:m>
                <a:endParaRPr lang="pt-BR" sz="2000" b="0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pt-BR" sz="20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t-BR" sz="2000" i="1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b="0" i="1" smtClean="0">
                            <a:latin typeface="Cambria Math"/>
                          </a:rPr>
                          <m:t>3</m:t>
                        </m:r>
                        <m:r>
                          <a:rPr lang="pt-BR" sz="2000" i="1">
                            <a:latin typeface="Cambria Math"/>
                          </a:rPr>
                          <m:t>, </m:t>
                        </m:r>
                        <m:r>
                          <a:rPr lang="pt-BR" sz="2000" b="0" i="1" smtClean="0">
                            <a:latin typeface="Cambria Math"/>
                          </a:rPr>
                          <m:t>5</m:t>
                        </m:r>
                        <m:r>
                          <a:rPr lang="pt-BR" sz="2000" i="1">
                            <a:latin typeface="Cambria Math"/>
                          </a:rPr>
                          <m:t>, </m:t>
                        </m:r>
                        <m:r>
                          <a:rPr lang="pt-BR" sz="2000" b="0" i="1" smtClean="0">
                            <a:latin typeface="Cambria Math"/>
                          </a:rPr>
                          <m:t>4</m:t>
                        </m:r>
                      </m:e>
                    </m:d>
                    <m:r>
                      <a:rPr lang="pt-BR" sz="2000" i="1">
                        <a:latin typeface="Cambria Math"/>
                      </a:rPr>
                      <m:t>.</m:t>
                    </m:r>
                  </m:oMath>
                </a14:m>
                <a:endParaRPr lang="pt-BR" sz="2000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pt-BR" sz="2000" b="0" i="1" smtClean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pt-BR" sz="2000" i="1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b="0" i="1" smtClean="0">
                            <a:latin typeface="Cambria Math"/>
                          </a:rPr>
                          <m:t>4</m:t>
                        </m:r>
                        <m:r>
                          <a:rPr lang="pt-BR" sz="2000" i="1">
                            <a:latin typeface="Cambria Math"/>
                          </a:rPr>
                          <m:t>, </m:t>
                        </m:r>
                        <m:r>
                          <a:rPr lang="pt-BR" sz="2000" b="0" i="1" smtClean="0">
                            <a:latin typeface="Cambria Math"/>
                          </a:rPr>
                          <m:t>5</m:t>
                        </m:r>
                        <m:r>
                          <a:rPr lang="pt-BR" sz="2000" i="1">
                            <a:latin typeface="Cambria Math"/>
                          </a:rPr>
                          <m:t>, </m:t>
                        </m:r>
                        <m:r>
                          <a:rPr lang="pt-BR" sz="2000" b="0" i="1" smtClean="0">
                            <a:latin typeface="Cambria Math"/>
                          </a:rPr>
                          <m:t>6</m:t>
                        </m:r>
                      </m:e>
                    </m:d>
                    <m:r>
                      <a:rPr lang="pt-BR" sz="2000" i="1">
                        <a:latin typeface="Cambria Math"/>
                      </a:rPr>
                      <m:t>.</m:t>
                    </m:r>
                  </m:oMath>
                </a14:m>
                <a:endParaRPr lang="pt-BR" sz="2000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pt-BR" sz="2000" b="0" i="1" smtClean="0">
                            <a:latin typeface="Cambria Math"/>
                          </a:rPr>
                          <m:t>4</m:t>
                        </m:r>
                      </m:sub>
                    </m:sSub>
                    <m:r>
                      <a:rPr lang="pt-BR" sz="2000" i="1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i="1">
                            <a:latin typeface="Cambria Math"/>
                          </a:rPr>
                          <m:t>1, </m:t>
                        </m:r>
                        <m:r>
                          <a:rPr lang="pt-BR" sz="2000" b="0" i="1" smtClean="0">
                            <a:latin typeface="Cambria Math"/>
                          </a:rPr>
                          <m:t>3</m:t>
                        </m:r>
                        <m:r>
                          <a:rPr lang="pt-BR" sz="2000" i="1">
                            <a:latin typeface="Cambria Math"/>
                          </a:rPr>
                          <m:t>, </m:t>
                        </m:r>
                        <m:r>
                          <a:rPr lang="pt-BR" sz="2000" b="0" i="1" smtClean="0">
                            <a:latin typeface="Cambria Math"/>
                          </a:rPr>
                          <m:t>5</m:t>
                        </m:r>
                      </m:e>
                    </m:d>
                    <m:r>
                      <a:rPr lang="pt-BR" sz="2000" i="1">
                        <a:latin typeface="Cambria Math"/>
                      </a:rPr>
                      <m:t>.</m:t>
                    </m:r>
                  </m:oMath>
                </a14:m>
                <a:endParaRPr lang="pt-BR" sz="2000" dirty="0"/>
              </a:p>
              <a:p>
                <a:pPr lvl="1"/>
                <a:r>
                  <a:rPr lang="pt-BR" sz="2400" dirty="0"/>
                  <a:t>Existe uma </a:t>
                </a:r>
                <a:r>
                  <a:rPr lang="pt-BR" sz="2400" dirty="0" err="1"/>
                  <a:t>subcoleção</a:t>
                </a:r>
                <a:r>
                  <a:rPr lang="pt-BR" sz="2400" dirty="0"/>
                  <a:t> C’ de C tal que todo elemento de X ocorre exatamente em um membro de C?</a:t>
                </a:r>
              </a:p>
              <a:p>
                <a:pPr lvl="1"/>
                <a:endParaRPr lang="pt-BR" dirty="0"/>
              </a:p>
              <a:p>
                <a:endParaRPr lang="pt-BR" dirty="0"/>
              </a:p>
              <a:p>
                <a:pPr lvl="1"/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259" t="-1213" r="-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441014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Transformação Polinomial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997152"/>
              </a:xfrm>
            </p:spPr>
            <p:txBody>
              <a:bodyPr>
                <a:normAutofit/>
              </a:bodyPr>
              <a:lstStyle/>
              <a:p>
                <a:r>
                  <a:rPr lang="pt-BR" sz="2800" dirty="0"/>
                  <a:t>Um exemplo do X3C:</a:t>
                </a:r>
              </a:p>
              <a:p>
                <a:pPr lvl="1"/>
                <a:r>
                  <a:rPr lang="pt-BR" sz="2400" dirty="0"/>
                  <a:t>Considere X = {1, 2, 3, 4, 5, 6}.</a:t>
                </a:r>
              </a:p>
              <a:p>
                <a:pPr lvl="1"/>
                <a:r>
                  <a:rPr lang="pt-BR" sz="2400" dirty="0"/>
                  <a:t>Considere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/>
                      </a:rPr>
                      <m:t>𝑛</m:t>
                    </m:r>
                    <m:r>
                      <a:rPr lang="pt-BR" sz="2400" b="0" i="1" smtClean="0">
                        <a:latin typeface="Cambria Math"/>
                      </a:rPr>
                      <m:t>=4</m:t>
                    </m:r>
                  </m:oMath>
                </a14:m>
                <a:r>
                  <a:rPr lang="pt-BR" sz="2400" dirty="0"/>
                  <a:t> e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/>
                      </a:rPr>
                      <m:t>𝐶</m:t>
                    </m:r>
                    <m:r>
                      <a:rPr lang="pt-BR" sz="2400" i="1">
                        <a:latin typeface="Cambria Math"/>
                      </a:rPr>
                      <m:t>={</m:t>
                    </m:r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400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t-BR" sz="2400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pt-BR" sz="2400" b="0" i="1" smtClean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pt-BR" sz="2400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pt-BR" sz="2400" b="0" i="1" smtClean="0">
                            <a:latin typeface="Cambria Math"/>
                          </a:rPr>
                          <m:t>4</m:t>
                        </m:r>
                      </m:sub>
                    </m:sSub>
                    <m:r>
                      <a:rPr lang="pt-BR" sz="2400" i="1">
                        <a:latin typeface="Cambria Math"/>
                      </a:rPr>
                      <m:t>}</m:t>
                    </m:r>
                  </m:oMath>
                </a14:m>
                <a:r>
                  <a:rPr lang="pt-BR" sz="2400" dirty="0"/>
                  <a:t>, sendo: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pt-BR" sz="2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t-BR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1, 2, 3</m:t>
                        </m:r>
                      </m:e>
                    </m:d>
                    <m:r>
                      <a:rPr lang="pt-BR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.</m:t>
                    </m:r>
                  </m:oMath>
                </a14:m>
                <a:endParaRPr lang="pt-BR" sz="2000" b="0" dirty="0">
                  <a:solidFill>
                    <a:srgbClr val="FF0000"/>
                  </a:solidFill>
                </a:endParaRP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pt-BR" sz="20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t-BR" sz="2000" i="1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b="0" i="1" smtClean="0">
                            <a:latin typeface="Cambria Math"/>
                          </a:rPr>
                          <m:t>3</m:t>
                        </m:r>
                        <m:r>
                          <a:rPr lang="pt-BR" sz="2000" i="1">
                            <a:latin typeface="Cambria Math"/>
                          </a:rPr>
                          <m:t>, </m:t>
                        </m:r>
                        <m:r>
                          <a:rPr lang="pt-BR" sz="2000" b="0" i="1" smtClean="0">
                            <a:latin typeface="Cambria Math"/>
                          </a:rPr>
                          <m:t>5</m:t>
                        </m:r>
                        <m:r>
                          <a:rPr lang="pt-BR" sz="2000" i="1">
                            <a:latin typeface="Cambria Math"/>
                          </a:rPr>
                          <m:t>, </m:t>
                        </m:r>
                        <m:r>
                          <a:rPr lang="pt-BR" sz="2000" b="0" i="1" smtClean="0">
                            <a:latin typeface="Cambria Math"/>
                          </a:rPr>
                          <m:t>4</m:t>
                        </m:r>
                      </m:e>
                    </m:d>
                    <m:r>
                      <a:rPr lang="pt-BR" sz="2000" i="1">
                        <a:latin typeface="Cambria Math"/>
                      </a:rPr>
                      <m:t>.</m:t>
                    </m:r>
                  </m:oMath>
                </a14:m>
                <a:endParaRPr lang="pt-BR" sz="2000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pt-BR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pt-BR" sz="2000" i="1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t-BR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4</m:t>
                        </m:r>
                        <m:r>
                          <a:rPr lang="pt-BR" sz="2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, </m:t>
                        </m:r>
                        <m:r>
                          <a:rPr lang="pt-BR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5</m:t>
                        </m:r>
                        <m:r>
                          <a:rPr lang="pt-BR" sz="2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, </m:t>
                        </m:r>
                        <m:r>
                          <a:rPr lang="pt-BR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6</m:t>
                        </m:r>
                      </m:e>
                    </m:d>
                    <m:r>
                      <a:rPr lang="pt-BR" sz="2000" i="1">
                        <a:solidFill>
                          <a:srgbClr val="FF0000"/>
                        </a:solidFill>
                        <a:latin typeface="Cambria Math"/>
                      </a:rPr>
                      <m:t>.</m:t>
                    </m:r>
                  </m:oMath>
                </a14:m>
                <a:endParaRPr lang="pt-BR" sz="2000" dirty="0">
                  <a:solidFill>
                    <a:srgbClr val="FF0000"/>
                  </a:solidFill>
                </a:endParaRP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pt-BR" sz="2000" b="0" i="1" smtClean="0">
                            <a:latin typeface="Cambria Math"/>
                          </a:rPr>
                          <m:t>4</m:t>
                        </m:r>
                      </m:sub>
                    </m:sSub>
                    <m:r>
                      <a:rPr lang="pt-BR" sz="2000" i="1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i="1">
                            <a:latin typeface="Cambria Math"/>
                          </a:rPr>
                          <m:t>1, </m:t>
                        </m:r>
                        <m:r>
                          <a:rPr lang="pt-BR" sz="2000" b="0" i="1" smtClean="0">
                            <a:latin typeface="Cambria Math"/>
                          </a:rPr>
                          <m:t>3</m:t>
                        </m:r>
                        <m:r>
                          <a:rPr lang="pt-BR" sz="2000" i="1">
                            <a:latin typeface="Cambria Math"/>
                          </a:rPr>
                          <m:t>, </m:t>
                        </m:r>
                        <m:r>
                          <a:rPr lang="pt-BR" sz="2000" b="0" i="1" smtClean="0">
                            <a:latin typeface="Cambria Math"/>
                          </a:rPr>
                          <m:t>5</m:t>
                        </m:r>
                      </m:e>
                    </m:d>
                    <m:r>
                      <a:rPr lang="pt-BR" sz="2000" i="1">
                        <a:latin typeface="Cambria Math"/>
                      </a:rPr>
                      <m:t>.</m:t>
                    </m:r>
                  </m:oMath>
                </a14:m>
                <a:endParaRPr lang="pt-BR" sz="2000" dirty="0"/>
              </a:p>
              <a:p>
                <a:pPr lvl="1"/>
                <a:r>
                  <a:rPr lang="pt-BR" sz="2400" dirty="0"/>
                  <a:t>Existe uma </a:t>
                </a:r>
                <a:r>
                  <a:rPr lang="pt-BR" sz="2400" dirty="0" err="1"/>
                  <a:t>subcoleção</a:t>
                </a:r>
                <a:r>
                  <a:rPr lang="pt-BR" sz="2400" dirty="0"/>
                  <a:t> C’ de C tal que todo elemento de X ocorre exatamente em um membro de C?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pt-BR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𝐶</m:t>
                    </m:r>
                    <m:r>
                      <a:rPr lang="pt-BR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′=</m:t>
                    </m:r>
                    <m:d>
                      <m:dPr>
                        <m:begChr m:val="{"/>
                        <m:endChr m:val="}"/>
                        <m:ctrlPr>
                          <a:rPr lang="pt-BR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0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𝐶</m:t>
                            </m:r>
                          </m:e>
                          <m:sub>
                            <m:r>
                              <a:rPr lang="pt-BR" sz="20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pt-BR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pt-BR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0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𝐶</m:t>
                            </m:r>
                          </m:e>
                          <m:sub>
                            <m:r>
                              <a:rPr lang="pt-BR" sz="20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pt-BR" sz="2000" i="1">
                        <a:solidFill>
                          <a:srgbClr val="FF0000"/>
                        </a:solidFill>
                        <a:latin typeface="Cambria Math"/>
                      </a:rPr>
                      <m:t>.</m:t>
                    </m:r>
                  </m:oMath>
                </a14:m>
                <a:endParaRPr lang="pt-BR" sz="2000" dirty="0">
                  <a:solidFill>
                    <a:srgbClr val="FF0000"/>
                  </a:solidFill>
                </a:endParaRPr>
              </a:p>
              <a:p>
                <a:pPr lvl="1"/>
                <a:r>
                  <a:rPr lang="pt-BR" sz="2400" dirty="0"/>
                  <a:t>Sendo assim, |C’| = q (2 elementos), pois X = 3q (6 elementos).</a:t>
                </a:r>
              </a:p>
              <a:p>
                <a:pPr lvl="1"/>
                <a:endParaRPr lang="pt-BR" sz="2400" dirty="0"/>
              </a:p>
              <a:p>
                <a:pPr lvl="1"/>
                <a:endParaRPr lang="pt-BR" dirty="0"/>
              </a:p>
              <a:p>
                <a:endParaRPr lang="pt-BR" dirty="0"/>
              </a:p>
              <a:p>
                <a:pPr lvl="1"/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997152"/>
              </a:xfrm>
              <a:blipFill rotWithShape="1">
                <a:blip r:embed="rId2"/>
                <a:stretch>
                  <a:fillRect l="-1259" t="-1099" r="-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838730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Transformação Polinomial: X3C ∝ 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pt-BR" dirty="0"/>
                  <a:t>Construir uma instância de ST a partir de um instância genérica de X3C. Sendo assim:</a:t>
                </a:r>
              </a:p>
              <a:p>
                <a:pPr lvl="1"/>
                <a:r>
                  <a:rPr lang="pt-BR" dirty="0"/>
                  <a:t>Dada uma instância de X3C, definida pelo conjunto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/>
                      </a:rPr>
                      <m:t>𝑋</m:t>
                    </m:r>
                    <m:r>
                      <a:rPr lang="pt-BR" b="0" i="1" smtClean="0">
                        <a:latin typeface="Cambria Math"/>
                      </a:rPr>
                      <m:t>={</m:t>
                    </m:r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/>
                          </a:rPr>
                          <m:t> </m:t>
                        </m:r>
                        <m:r>
                          <a:rPr lang="pt-BR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t-BR" b="0" i="1" smtClean="0">
                        <a:latin typeface="Cambria Math"/>
                      </a:rPr>
                      <m:t>, …,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3</m:t>
                        </m:r>
                        <m:r>
                          <a:rPr lang="pt-BR" b="0" i="1" smtClean="0">
                            <a:latin typeface="Cambria Math"/>
                          </a:rPr>
                          <m:t>𝑞</m:t>
                        </m:r>
                      </m:sub>
                    </m:sSub>
                    <m:r>
                      <a:rPr lang="pt-BR" b="0" i="1" smtClean="0">
                        <a:latin typeface="Cambria Math"/>
                      </a:rPr>
                      <m:t>}</m:t>
                    </m:r>
                  </m:oMath>
                </a14:m>
                <a:r>
                  <a:rPr lang="pt-BR" dirty="0"/>
                  <a:t>; </a:t>
                </a:r>
              </a:p>
              <a:p>
                <a:pPr lvl="1"/>
                <a:r>
                  <a:rPr lang="pt-BR" dirty="0"/>
                  <a:t>e uma coleção de conjuntos de 3 elementos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/>
                      </a:rPr>
                      <m:t>𝐶</m:t>
                    </m:r>
                    <m:r>
                      <a:rPr lang="pt-BR" i="1">
                        <a:latin typeface="Cambria Math"/>
                      </a:rPr>
                      <m:t>={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t-BR" i="1">
                        <a:latin typeface="Cambria Math"/>
                      </a:rPr>
                      <m:t>,…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pt-BR" i="1">
                        <a:latin typeface="Cambria Math"/>
                      </a:rPr>
                      <m:t>,}</m:t>
                    </m:r>
                  </m:oMath>
                </a14:m>
                <a:r>
                  <a:rPr lang="pt-BR" dirty="0"/>
                  <a:t>.</a:t>
                </a:r>
              </a:p>
              <a:p>
                <a:pPr lvl="1"/>
                <a:r>
                  <a:rPr lang="pt-BR" dirty="0"/>
                  <a:t>Construir uma instância de ST, Considerando:</a:t>
                </a:r>
              </a:p>
              <a:p>
                <a:pPr lvl="2"/>
                <a:r>
                  <a:rPr lang="pt-BR" dirty="0"/>
                  <a:t>o grafo G; </a:t>
                </a:r>
              </a:p>
              <a:p>
                <a:pPr lvl="2"/>
                <a:r>
                  <a:rPr lang="pt-BR" dirty="0"/>
                  <a:t>o conjunto dos terminais T;</a:t>
                </a:r>
              </a:p>
              <a:p>
                <a:pPr lvl="2"/>
                <a:r>
                  <a:rPr lang="pt-BR" dirty="0"/>
                  <a:t>e o limite superior k da árvore geradora.</a:t>
                </a:r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283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650900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Transformação Polinomial: X3C ∝ 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342900" lvl="1" indent="-342900">
                  <a:buFont typeface="Arial" pitchFamily="34" charset="0"/>
                  <a:buChar char="•"/>
                </a:pPr>
                <a:r>
                  <a:rPr lang="pt-BR" dirty="0"/>
                  <a:t>Então, dada a instância do X3C, sendo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/>
                      </a:rPr>
                      <m:t>𝑋</m:t>
                    </m:r>
                    <m:r>
                      <a:rPr lang="pt-BR" i="1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pt-BR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pt-BR" i="1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/>
                              </a:rPr>
                              <m:t> </m:t>
                            </m:r>
                            <m:r>
                              <a:rPr lang="pt-BR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pt-BR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pt-BR" i="1">
                            <a:latin typeface="Cambria Math"/>
                          </a:rPr>
                          <m:t>, …,</m:t>
                        </m:r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pt-BR" i="1">
                                <a:latin typeface="Cambria Math"/>
                              </a:rPr>
                              <m:t>3</m:t>
                            </m:r>
                            <m:r>
                              <a:rPr lang="pt-BR" i="1">
                                <a:latin typeface="Cambria Math"/>
                              </a:rPr>
                              <m:t>𝑞</m:t>
                            </m:r>
                          </m:sub>
                        </m:sSub>
                      </m:e>
                    </m:d>
                  </m:oMath>
                </a14:m>
                <a:r>
                  <a:rPr lang="pt-BR" dirty="0"/>
                  <a:t> e 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/>
                      </a:rPr>
                      <m:t>𝐶</m:t>
                    </m:r>
                    <m:r>
                      <a:rPr lang="pt-BR" i="1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/>
                              </a:rPr>
                              <m:t>𝐶</m:t>
                            </m:r>
                          </m:e>
                          <m:sub>
                            <m:r>
                              <a:rPr lang="pt-BR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pt-BR" i="1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/>
                              </a:rPr>
                              <m:t>𝐶</m:t>
                            </m:r>
                          </m:e>
                          <m:sub>
                            <m:r>
                              <a:rPr lang="pt-BR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pt-BR" i="1">
                            <a:latin typeface="Cambria Math"/>
                          </a:rPr>
                          <m:t>,…</m:t>
                        </m:r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/>
                              </a:rPr>
                              <m:t>𝐶</m:t>
                            </m:r>
                          </m:e>
                          <m:sub>
                            <m:r>
                              <a:rPr lang="pt-BR" i="1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  <m:r>
                          <a:rPr lang="pt-BR" i="1">
                            <a:latin typeface="Cambria Math"/>
                          </a:rPr>
                          <m:t>,</m:t>
                        </m:r>
                      </m:e>
                    </m:d>
                  </m:oMath>
                </a14:m>
                <a:r>
                  <a:rPr lang="pt-BR" dirty="0"/>
                  <a:t>, temos:</a:t>
                </a:r>
              </a:p>
              <a:p>
                <a:pPr marL="742950" lvl="2" indent="-342900"/>
                <a:r>
                  <a:rPr lang="pt-BR" dirty="0"/>
                  <a:t>Conjunto de vértices do grafo G para ST:</a:t>
                </a:r>
              </a:p>
              <a:p>
                <a:pPr marL="1200150" lvl="3" indent="-342900"/>
                <a14:m>
                  <m:oMath xmlns:m="http://schemas.openxmlformats.org/officeDocument/2006/math">
                    <m:r>
                      <a:rPr lang="pt-BR" b="0" i="1" smtClean="0">
                        <a:latin typeface="Cambria Math"/>
                      </a:rPr>
                      <m:t>𝑉</m:t>
                    </m:r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/>
                          </a:rPr>
                          <m:t>𝐺</m:t>
                        </m:r>
                      </m:e>
                    </m:d>
                    <m:r>
                      <a:rPr lang="pt-BR" b="0" i="1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/>
                          </a:rPr>
                          <m:t>𝑣</m:t>
                        </m:r>
                      </m:e>
                    </m:d>
                    <m:r>
                      <a:rPr lang="pt-BR" b="0" i="1" smtClean="0">
                        <a:latin typeface="Cambria Math"/>
                        <a:ea typeface="Cambria Math"/>
                      </a:rPr>
                      <m:t>∪</m:t>
                    </m:r>
                    <m:d>
                      <m:dPr>
                        <m:begChr m:val="{"/>
                        <m:endChr m:val="}"/>
                        <m:ctrlPr>
                          <a:rPr lang="pt-BR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/>
                              </a:rPr>
                              <m:t>𝑐</m:t>
                            </m:r>
                          </m:e>
                          <m:sub>
                            <m:r>
                              <a:rPr lang="pt-BR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pt-BR" i="1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/>
                              </a:rPr>
                              <m:t>𝑐</m:t>
                            </m:r>
                          </m:e>
                          <m:sub>
                            <m:r>
                              <a:rPr lang="pt-BR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pt-BR" i="1">
                            <a:latin typeface="Cambria Math"/>
                          </a:rPr>
                          <m:t>,…</m:t>
                        </m:r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/>
                              </a:rPr>
                              <m:t>𝑐</m:t>
                            </m:r>
                          </m:e>
                          <m:sub>
                            <m:r>
                              <a:rPr lang="pt-BR" i="1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pt-BR" b="0" i="1" smtClean="0">
                        <a:latin typeface="Cambria Math"/>
                        <a:ea typeface="Cambria Math"/>
                      </a:rPr>
                      <m:t>∪{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 </m:t>
                        </m:r>
                        <m:r>
                          <a:rPr lang="pt-BR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t-BR" i="1">
                        <a:latin typeface="Cambria Math"/>
                      </a:rPr>
                      <m:t>, …,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3</m:t>
                        </m:r>
                        <m:r>
                          <a:rPr lang="pt-BR" i="1">
                            <a:latin typeface="Cambria Math"/>
                          </a:rPr>
                          <m:t>𝑞</m:t>
                        </m:r>
                      </m:sub>
                    </m:sSub>
                    <m:r>
                      <a:rPr lang="pt-BR" b="0" i="1" smtClean="0">
                        <a:latin typeface="Cambria Math"/>
                      </a:rPr>
                      <m:t>}</m:t>
                    </m:r>
                  </m:oMath>
                </a14:m>
                <a:r>
                  <a:rPr lang="pt-BR" dirty="0"/>
                  <a:t> </a:t>
                </a:r>
              </a:p>
              <a:p>
                <a:pPr marL="1200150" lvl="3" indent="-342900"/>
                <a:r>
                  <a:rPr lang="pt-BR" dirty="0"/>
                  <a:t>Ou seja, o grafo para ST é composto de todos os elementos de X, todos os elementos de C e mais um vértice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/>
                      </a:rPr>
                      <m:t>𝑣</m:t>
                    </m:r>
                  </m:oMath>
                </a14:m>
                <a:r>
                  <a:rPr lang="pt-BR" dirty="0"/>
                  <a:t>.</a:t>
                </a:r>
              </a:p>
              <a:p>
                <a:pPr marL="742950" lvl="2" indent="-342900"/>
                <a:r>
                  <a:rPr lang="pt-BR" dirty="0"/>
                  <a:t>Conjunto de arestas do grafo G para ST:</a:t>
                </a:r>
              </a:p>
              <a:p>
                <a:pPr marL="1200150" lvl="3" indent="-342900"/>
                <a:r>
                  <a:rPr lang="pt-BR" dirty="0"/>
                  <a:t>Há uma aresta de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/>
                      </a:rPr>
                      <m:t>𝑣</m:t>
                    </m:r>
                  </m:oMath>
                </a14:m>
                <a:r>
                  <a:rPr lang="pt-BR" dirty="0"/>
                  <a:t> para todos os vértices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dirty="0"/>
                  <a:t>.</a:t>
                </a:r>
              </a:p>
              <a:p>
                <a:pPr marL="1200150" lvl="3" indent="-342900"/>
                <a:r>
                  <a:rPr lang="pt-BR" dirty="0"/>
                  <a:t>Há também uma aresta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pt-BR" dirty="0"/>
                  <a:t> se os elementos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pt-BR" dirty="0"/>
                  <a:t> aparece no conjunto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dirty="0"/>
                  <a:t> na instância do X3C. </a:t>
                </a:r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259" t="-121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245895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Transformação Polinomial: X3C ∝ ST</a:t>
            </a:r>
          </a:p>
        </p:txBody>
      </p:sp>
      <p:sp>
        <p:nvSpPr>
          <p:cNvPr id="4" name="Elipse 3"/>
          <p:cNvSpPr/>
          <p:nvPr/>
        </p:nvSpPr>
        <p:spPr>
          <a:xfrm>
            <a:off x="1725209" y="4744889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2834118" y="4305192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2855209" y="6021288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2834118" y="3606017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onector reto 8"/>
          <p:cNvCxnSpPr>
            <a:stCxn id="4" idx="4"/>
            <a:endCxn id="6" idx="2"/>
          </p:cNvCxnSpPr>
          <p:nvPr/>
        </p:nvCxnSpPr>
        <p:spPr>
          <a:xfrm>
            <a:off x="1797217" y="4888905"/>
            <a:ext cx="1057992" cy="12043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/>
          <p:cNvCxnSpPr>
            <a:stCxn id="7" idx="1"/>
            <a:endCxn id="4" idx="0"/>
          </p:cNvCxnSpPr>
          <p:nvPr/>
        </p:nvCxnSpPr>
        <p:spPr>
          <a:xfrm flipH="1">
            <a:off x="1797217" y="3627108"/>
            <a:ext cx="1057992" cy="11177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/>
              <p:cNvSpPr txBox="1"/>
              <p:nvPr/>
            </p:nvSpPr>
            <p:spPr>
              <a:xfrm>
                <a:off x="899592" y="3284984"/>
                <a:ext cx="3935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/>
                        </a:rPr>
                        <m:t>𝐺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8" name="CaixaDeTexto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3284984"/>
                <a:ext cx="393569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Conector reto 34"/>
          <p:cNvCxnSpPr>
            <a:stCxn id="4" idx="6"/>
            <a:endCxn id="5" idx="2"/>
          </p:cNvCxnSpPr>
          <p:nvPr/>
        </p:nvCxnSpPr>
        <p:spPr>
          <a:xfrm flipV="1">
            <a:off x="1869225" y="4377200"/>
            <a:ext cx="964893" cy="4396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/>
          <p:cNvSpPr/>
          <p:nvPr/>
        </p:nvSpPr>
        <p:spPr>
          <a:xfrm>
            <a:off x="3825143" y="3429000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/>
          <p:cNvSpPr/>
          <p:nvPr/>
        </p:nvSpPr>
        <p:spPr>
          <a:xfrm>
            <a:off x="3825143" y="4005064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/>
          <p:cNvSpPr/>
          <p:nvPr/>
        </p:nvSpPr>
        <p:spPr>
          <a:xfrm>
            <a:off x="3825143" y="4581128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0" name="Conector reto 39"/>
          <p:cNvCxnSpPr>
            <a:stCxn id="7" idx="7"/>
            <a:endCxn id="36" idx="2"/>
          </p:cNvCxnSpPr>
          <p:nvPr/>
        </p:nvCxnSpPr>
        <p:spPr>
          <a:xfrm flipV="1">
            <a:off x="2957043" y="3501008"/>
            <a:ext cx="868100" cy="1261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to 41"/>
          <p:cNvCxnSpPr>
            <a:stCxn id="7" idx="5"/>
            <a:endCxn id="38" idx="2"/>
          </p:cNvCxnSpPr>
          <p:nvPr/>
        </p:nvCxnSpPr>
        <p:spPr>
          <a:xfrm>
            <a:off x="2957043" y="3728942"/>
            <a:ext cx="868100" cy="924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/>
          <p:cNvCxnSpPr>
            <a:stCxn id="7" idx="6"/>
            <a:endCxn id="37" idx="2"/>
          </p:cNvCxnSpPr>
          <p:nvPr/>
        </p:nvCxnSpPr>
        <p:spPr>
          <a:xfrm>
            <a:off x="2978134" y="3678025"/>
            <a:ext cx="847009" cy="3990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1"/>
                <a:ext cx="8229600" cy="1252736"/>
              </a:xfrm>
            </p:spPr>
            <p:txBody>
              <a:bodyPr>
                <a:normAutofit fontScale="92500"/>
              </a:bodyPr>
              <a:lstStyle/>
              <a:p>
                <a:r>
                  <a:rPr lang="pt-BR" sz="2800" dirty="0"/>
                  <a:t>Então, para a instância do X3C, </a:t>
                </a:r>
                <a:r>
                  <a:rPr lang="pt-BR" sz="2400" dirty="0"/>
                  <a:t>X = {1, 2, 3, 4, 5, 6}, 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/>
                      </a:rPr>
                      <m:t>𝑛</m:t>
                    </m:r>
                    <m:r>
                      <a:rPr lang="pt-BR" sz="2400" i="1">
                        <a:latin typeface="Cambria Math"/>
                      </a:rPr>
                      <m:t>=4</m:t>
                    </m:r>
                  </m:oMath>
                </a14:m>
                <a:r>
                  <a:rPr lang="pt-BR" sz="2400" dirty="0"/>
                  <a:t> e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/>
                      </a:rPr>
                      <m:t>𝐶</m:t>
                    </m:r>
                    <m:r>
                      <a:rPr lang="pt-BR" sz="2400" i="1">
                        <a:latin typeface="Cambria Math"/>
                      </a:rPr>
                      <m:t>={</m:t>
                    </m:r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400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t-BR" sz="2400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pt-BR" sz="2400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4</m:t>
                        </m:r>
                      </m:sub>
                    </m:sSub>
                    <m:r>
                      <a:rPr lang="pt-BR" sz="2400" i="1">
                        <a:latin typeface="Cambria Math"/>
                      </a:rPr>
                      <m:t>}</m:t>
                    </m:r>
                  </m:oMath>
                </a14:m>
                <a:r>
                  <a:rPr lang="pt-BR" sz="2400" dirty="0"/>
                  <a:t>, onde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400" i="1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>
                            <a:latin typeface="Cambria Math"/>
                          </a:rPr>
                          <m:t>1, 2, 3</m:t>
                        </m:r>
                      </m:e>
                    </m:d>
                    <m:r>
                      <a:rPr lang="pt-BR" sz="2400" i="1">
                        <a:latin typeface="Cambria Math"/>
                      </a:rPr>
                      <m:t> </m:t>
                    </m:r>
                  </m:oMath>
                </a14:m>
                <a:r>
                  <a:rPr lang="pt-BR" sz="2400" dirty="0"/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t-BR" sz="2400" i="1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>
                            <a:latin typeface="Cambria Math"/>
                          </a:rPr>
                          <m:t>3, 5, 4</m:t>
                        </m:r>
                      </m:e>
                    </m:d>
                    <m:r>
                      <a:rPr lang="pt-BR" sz="2400" i="1">
                        <a:latin typeface="Cambria Math"/>
                      </a:rPr>
                      <m:t> </m:t>
                    </m:r>
                  </m:oMath>
                </a14:m>
                <a:r>
                  <a:rPr lang="pt-BR" sz="2400" dirty="0"/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pt-BR" sz="2400" i="1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>
                            <a:latin typeface="Cambria Math"/>
                          </a:rPr>
                          <m:t>4, 5, 6</m:t>
                        </m:r>
                      </m:e>
                    </m:d>
                    <m:r>
                      <a:rPr lang="pt-BR" sz="2400" i="1">
                        <a:latin typeface="Cambria Math"/>
                      </a:rPr>
                      <m:t> </m:t>
                    </m:r>
                  </m:oMath>
                </a14:m>
                <a:r>
                  <a:rPr lang="pt-BR" sz="2400" dirty="0"/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4</m:t>
                        </m:r>
                      </m:sub>
                    </m:sSub>
                    <m:r>
                      <a:rPr lang="pt-BR" sz="2400" i="1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>
                            <a:latin typeface="Cambria Math"/>
                          </a:rPr>
                          <m:t>1, 3, 5</m:t>
                        </m:r>
                      </m:e>
                    </m:d>
                    <m:r>
                      <a:rPr lang="pt-BR" sz="2400" i="1">
                        <a:latin typeface="Cambria Math"/>
                      </a:rPr>
                      <m:t>. </m:t>
                    </m:r>
                  </m:oMath>
                </a14:m>
                <a:r>
                  <a:rPr lang="pt-BR" sz="2400" dirty="0"/>
                  <a:t> Temos o grafo G, da seguinte forma:</a:t>
                </a:r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45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1"/>
                <a:ext cx="8229600" cy="1252736"/>
              </a:xfrm>
              <a:blipFill rotWithShape="1">
                <a:blip r:embed="rId3"/>
                <a:stretch>
                  <a:fillRect l="-1111" t="-3902" b="-195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Elipse 47"/>
          <p:cNvSpPr/>
          <p:nvPr/>
        </p:nvSpPr>
        <p:spPr>
          <a:xfrm>
            <a:off x="2834118" y="5229200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0" name="Conector reto 49"/>
          <p:cNvCxnSpPr>
            <a:stCxn id="4" idx="5"/>
            <a:endCxn id="48" idx="2"/>
          </p:cNvCxnSpPr>
          <p:nvPr/>
        </p:nvCxnSpPr>
        <p:spPr>
          <a:xfrm>
            <a:off x="1848134" y="4867814"/>
            <a:ext cx="985984" cy="4333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/>
          <p:cNvSpPr/>
          <p:nvPr/>
        </p:nvSpPr>
        <p:spPr>
          <a:xfrm>
            <a:off x="3825143" y="5157192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7" name="Elipse 56"/>
          <p:cNvSpPr/>
          <p:nvPr/>
        </p:nvSpPr>
        <p:spPr>
          <a:xfrm>
            <a:off x="3825143" y="5733256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3" name="Conector reto 62"/>
          <p:cNvCxnSpPr>
            <a:stCxn id="5" idx="6"/>
            <a:endCxn id="38" idx="2"/>
          </p:cNvCxnSpPr>
          <p:nvPr/>
        </p:nvCxnSpPr>
        <p:spPr>
          <a:xfrm>
            <a:off x="2978134" y="4377200"/>
            <a:ext cx="847009" cy="2759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to 64"/>
          <p:cNvCxnSpPr>
            <a:stCxn id="5" idx="5"/>
            <a:endCxn id="56" idx="2"/>
          </p:cNvCxnSpPr>
          <p:nvPr/>
        </p:nvCxnSpPr>
        <p:spPr>
          <a:xfrm>
            <a:off x="2957043" y="4428117"/>
            <a:ext cx="868100" cy="8010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to 66"/>
          <p:cNvCxnSpPr>
            <a:stCxn id="5" idx="5"/>
            <a:endCxn id="57" idx="2"/>
          </p:cNvCxnSpPr>
          <p:nvPr/>
        </p:nvCxnSpPr>
        <p:spPr>
          <a:xfrm>
            <a:off x="2957043" y="4428117"/>
            <a:ext cx="868100" cy="13771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reto 68"/>
          <p:cNvCxnSpPr>
            <a:stCxn id="48" idx="6"/>
            <a:endCxn id="56" idx="2"/>
          </p:cNvCxnSpPr>
          <p:nvPr/>
        </p:nvCxnSpPr>
        <p:spPr>
          <a:xfrm flipV="1">
            <a:off x="2978134" y="5229200"/>
            <a:ext cx="847009" cy="720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to 70"/>
          <p:cNvCxnSpPr>
            <a:stCxn id="48" idx="5"/>
            <a:endCxn id="57" idx="2"/>
          </p:cNvCxnSpPr>
          <p:nvPr/>
        </p:nvCxnSpPr>
        <p:spPr>
          <a:xfrm>
            <a:off x="2957043" y="5352125"/>
            <a:ext cx="868100" cy="4531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to 72"/>
          <p:cNvCxnSpPr>
            <a:stCxn id="48" idx="4"/>
            <a:endCxn id="46" idx="2"/>
          </p:cNvCxnSpPr>
          <p:nvPr/>
        </p:nvCxnSpPr>
        <p:spPr>
          <a:xfrm>
            <a:off x="2906126" y="5373216"/>
            <a:ext cx="919017" cy="10081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/>
          <p:cNvCxnSpPr>
            <a:stCxn id="6" idx="6"/>
            <a:endCxn id="36" idx="3"/>
          </p:cNvCxnSpPr>
          <p:nvPr/>
        </p:nvCxnSpPr>
        <p:spPr>
          <a:xfrm flipV="1">
            <a:off x="2999225" y="3551925"/>
            <a:ext cx="847009" cy="25413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to 76"/>
          <p:cNvCxnSpPr>
            <a:stCxn id="6" idx="6"/>
            <a:endCxn id="38" idx="2"/>
          </p:cNvCxnSpPr>
          <p:nvPr/>
        </p:nvCxnSpPr>
        <p:spPr>
          <a:xfrm flipV="1">
            <a:off x="2999225" y="4653136"/>
            <a:ext cx="825918" cy="1440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reto 78"/>
          <p:cNvCxnSpPr>
            <a:stCxn id="6" idx="4"/>
            <a:endCxn id="57" idx="3"/>
          </p:cNvCxnSpPr>
          <p:nvPr/>
        </p:nvCxnSpPr>
        <p:spPr>
          <a:xfrm flipV="1">
            <a:off x="2927217" y="5856181"/>
            <a:ext cx="919017" cy="3091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CaixaDeTexto 79"/>
              <p:cNvSpPr txBox="1"/>
              <p:nvPr/>
            </p:nvSpPr>
            <p:spPr>
              <a:xfrm>
                <a:off x="1451865" y="4509120"/>
                <a:ext cx="3741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/>
                        </a:rPr>
                        <m:t>𝑣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80" name="CaixaDeTexto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1865" y="4509120"/>
                <a:ext cx="374141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Retângulo 80"/>
              <p:cNvSpPr/>
              <p:nvPr/>
            </p:nvSpPr>
            <p:spPr>
              <a:xfrm>
                <a:off x="2546086" y="3275692"/>
                <a:ext cx="43973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81" name="Retângulo 8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086" y="3275692"/>
                <a:ext cx="439736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Retângulo 81"/>
              <p:cNvSpPr/>
              <p:nvPr/>
            </p:nvSpPr>
            <p:spPr>
              <a:xfrm>
                <a:off x="2546086" y="3995772"/>
                <a:ext cx="44505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82" name="Retângulo 8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086" y="3995772"/>
                <a:ext cx="445058" cy="36933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Retângulo 82"/>
              <p:cNvSpPr/>
              <p:nvPr/>
            </p:nvSpPr>
            <p:spPr>
              <a:xfrm>
                <a:off x="2546086" y="4931876"/>
                <a:ext cx="44505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83" name="Retângulo 8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086" y="4931876"/>
                <a:ext cx="445058" cy="369332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Retângulo 83"/>
              <p:cNvSpPr/>
              <p:nvPr/>
            </p:nvSpPr>
            <p:spPr>
              <a:xfrm>
                <a:off x="2546086" y="5651956"/>
                <a:ext cx="44505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84" name="Retângulo 8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086" y="5651956"/>
                <a:ext cx="445058" cy="369332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Retângulo 84"/>
              <p:cNvSpPr/>
              <p:nvPr/>
            </p:nvSpPr>
            <p:spPr>
              <a:xfrm>
                <a:off x="3901228" y="3212976"/>
                <a:ext cx="46076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85" name="Retângulo 8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1228" y="3212976"/>
                <a:ext cx="460767" cy="369332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Retângulo 85"/>
              <p:cNvSpPr/>
              <p:nvPr/>
            </p:nvSpPr>
            <p:spPr>
              <a:xfrm>
                <a:off x="3901228" y="3789040"/>
                <a:ext cx="46608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86" name="Retângulo 8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1228" y="3789040"/>
                <a:ext cx="466089" cy="369332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Retângulo 86"/>
              <p:cNvSpPr/>
              <p:nvPr/>
            </p:nvSpPr>
            <p:spPr>
              <a:xfrm>
                <a:off x="3901228" y="4437112"/>
                <a:ext cx="46608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87" name="Retângulo 8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1228" y="4437112"/>
                <a:ext cx="466089" cy="369332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Retângulo 87"/>
              <p:cNvSpPr/>
              <p:nvPr/>
            </p:nvSpPr>
            <p:spPr>
              <a:xfrm>
                <a:off x="3901228" y="4941168"/>
                <a:ext cx="46608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88" name="Retângulo 8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1228" y="4941168"/>
                <a:ext cx="466089" cy="369332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Retângulo 88"/>
              <p:cNvSpPr/>
              <p:nvPr/>
            </p:nvSpPr>
            <p:spPr>
              <a:xfrm>
                <a:off x="3914238" y="5517232"/>
                <a:ext cx="46609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89" name="Retângulo 8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4238" y="5517232"/>
                <a:ext cx="466090" cy="369332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Elipse 45"/>
          <p:cNvSpPr/>
          <p:nvPr/>
        </p:nvSpPr>
        <p:spPr>
          <a:xfrm>
            <a:off x="3825143" y="6309320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tângulo 46"/>
              <p:cNvSpPr/>
              <p:nvPr/>
            </p:nvSpPr>
            <p:spPr>
              <a:xfrm>
                <a:off x="3914238" y="6084004"/>
                <a:ext cx="941733" cy="3907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6</m:t>
                        </m:r>
                      </m:sub>
                    </m:sSub>
                  </m:oMath>
                </a14:m>
                <a:r>
                  <a:rPr lang="pt-BR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3</m:t>
                        </m:r>
                        <m:r>
                          <a:rPr lang="pt-BR" i="1">
                            <a:latin typeface="Cambria Math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pt-BR" dirty="0"/>
                  <a:t>)</a:t>
                </a:r>
              </a:p>
            </p:txBody>
          </p:sp>
        </mc:Choice>
        <mc:Fallback xmlns="">
          <p:sp>
            <p:nvSpPr>
              <p:cNvPr id="47" name="Retângulo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4238" y="6084004"/>
                <a:ext cx="941733" cy="390748"/>
              </a:xfrm>
              <a:prstGeom prst="rect">
                <a:avLst/>
              </a:prstGeom>
              <a:blipFill rotWithShape="1">
                <a:blip r:embed="rId14"/>
                <a:stretch>
                  <a:fillRect t="-6250" r="-5161" b="-2031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110622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Transformação Polinomial: X3C ∝ ST</a:t>
            </a:r>
          </a:p>
        </p:txBody>
      </p:sp>
      <p:sp>
        <p:nvSpPr>
          <p:cNvPr id="4" name="Elipse 3"/>
          <p:cNvSpPr/>
          <p:nvPr/>
        </p:nvSpPr>
        <p:spPr>
          <a:xfrm>
            <a:off x="1725209" y="4744889"/>
            <a:ext cx="144016" cy="14401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2834118" y="4305192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2855209" y="6021288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2834118" y="3606017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onector reto 8"/>
          <p:cNvCxnSpPr>
            <a:stCxn id="4" idx="4"/>
            <a:endCxn id="6" idx="2"/>
          </p:cNvCxnSpPr>
          <p:nvPr/>
        </p:nvCxnSpPr>
        <p:spPr>
          <a:xfrm>
            <a:off x="1797217" y="4888905"/>
            <a:ext cx="1057992" cy="12043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/>
          <p:cNvCxnSpPr>
            <a:stCxn id="7" idx="1"/>
            <a:endCxn id="4" idx="0"/>
          </p:cNvCxnSpPr>
          <p:nvPr/>
        </p:nvCxnSpPr>
        <p:spPr>
          <a:xfrm flipH="1">
            <a:off x="1797217" y="3627108"/>
            <a:ext cx="1057992" cy="11177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/>
              <p:cNvSpPr txBox="1"/>
              <p:nvPr/>
            </p:nvSpPr>
            <p:spPr>
              <a:xfrm>
                <a:off x="899592" y="3284984"/>
                <a:ext cx="3935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/>
                        </a:rPr>
                        <m:t>𝐺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8" name="CaixaDeTexto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3284984"/>
                <a:ext cx="393569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Conector reto 34"/>
          <p:cNvCxnSpPr>
            <a:stCxn id="4" idx="6"/>
            <a:endCxn id="5" idx="2"/>
          </p:cNvCxnSpPr>
          <p:nvPr/>
        </p:nvCxnSpPr>
        <p:spPr>
          <a:xfrm flipV="1">
            <a:off x="1869225" y="4377200"/>
            <a:ext cx="964893" cy="4396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/>
          <p:cNvSpPr/>
          <p:nvPr/>
        </p:nvSpPr>
        <p:spPr>
          <a:xfrm>
            <a:off x="3825143" y="3429000"/>
            <a:ext cx="144016" cy="14401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/>
          <p:cNvSpPr/>
          <p:nvPr/>
        </p:nvSpPr>
        <p:spPr>
          <a:xfrm>
            <a:off x="3825143" y="4005064"/>
            <a:ext cx="144016" cy="14401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/>
          <p:cNvSpPr/>
          <p:nvPr/>
        </p:nvSpPr>
        <p:spPr>
          <a:xfrm>
            <a:off x="3825143" y="4581128"/>
            <a:ext cx="144016" cy="14401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0" name="Conector reto 39"/>
          <p:cNvCxnSpPr>
            <a:stCxn id="7" idx="7"/>
            <a:endCxn id="36" idx="2"/>
          </p:cNvCxnSpPr>
          <p:nvPr/>
        </p:nvCxnSpPr>
        <p:spPr>
          <a:xfrm flipV="1">
            <a:off x="2957043" y="3501008"/>
            <a:ext cx="868100" cy="1261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to 41"/>
          <p:cNvCxnSpPr>
            <a:stCxn id="7" idx="5"/>
            <a:endCxn id="38" idx="2"/>
          </p:cNvCxnSpPr>
          <p:nvPr/>
        </p:nvCxnSpPr>
        <p:spPr>
          <a:xfrm>
            <a:off x="2957043" y="3728942"/>
            <a:ext cx="868100" cy="924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/>
          <p:cNvCxnSpPr>
            <a:stCxn id="7" idx="6"/>
            <a:endCxn id="37" idx="2"/>
          </p:cNvCxnSpPr>
          <p:nvPr/>
        </p:nvCxnSpPr>
        <p:spPr>
          <a:xfrm>
            <a:off x="2978134" y="3678025"/>
            <a:ext cx="847009" cy="3990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1"/>
                <a:ext cx="8229600" cy="1252736"/>
              </a:xfrm>
            </p:spPr>
            <p:txBody>
              <a:bodyPr>
                <a:normAutofit fontScale="92500"/>
              </a:bodyPr>
              <a:lstStyle/>
              <a:p>
                <a:r>
                  <a:rPr lang="pt-BR" sz="2800" dirty="0"/>
                  <a:t>Então, para a instância do X3C, </a:t>
                </a:r>
                <a:r>
                  <a:rPr lang="pt-BR" sz="2400" dirty="0"/>
                  <a:t>X = {1, 2, 3, 4, 5, 6}, 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/>
                      </a:rPr>
                      <m:t>𝑛</m:t>
                    </m:r>
                    <m:r>
                      <a:rPr lang="pt-BR" sz="2400" i="1">
                        <a:latin typeface="Cambria Math"/>
                      </a:rPr>
                      <m:t>=4</m:t>
                    </m:r>
                  </m:oMath>
                </a14:m>
                <a:r>
                  <a:rPr lang="pt-BR" sz="2400" dirty="0"/>
                  <a:t> e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/>
                      </a:rPr>
                      <m:t>𝐶</m:t>
                    </m:r>
                    <m:r>
                      <a:rPr lang="pt-BR" sz="2400" i="1">
                        <a:latin typeface="Cambria Math"/>
                      </a:rPr>
                      <m:t>={</m:t>
                    </m:r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400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t-BR" sz="2400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pt-BR" sz="2400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4</m:t>
                        </m:r>
                      </m:sub>
                    </m:sSub>
                    <m:r>
                      <a:rPr lang="pt-BR" sz="2400" i="1">
                        <a:latin typeface="Cambria Math"/>
                      </a:rPr>
                      <m:t>}</m:t>
                    </m:r>
                  </m:oMath>
                </a14:m>
                <a:r>
                  <a:rPr lang="pt-BR" sz="2400" dirty="0"/>
                  <a:t>, onde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400" i="1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>
                            <a:latin typeface="Cambria Math"/>
                          </a:rPr>
                          <m:t>1, 2, 3</m:t>
                        </m:r>
                      </m:e>
                    </m:d>
                    <m:r>
                      <a:rPr lang="pt-BR" sz="2400" i="1">
                        <a:latin typeface="Cambria Math"/>
                      </a:rPr>
                      <m:t> </m:t>
                    </m:r>
                  </m:oMath>
                </a14:m>
                <a:r>
                  <a:rPr lang="pt-BR" sz="2400" dirty="0"/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t-BR" sz="2400" i="1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>
                            <a:latin typeface="Cambria Math"/>
                          </a:rPr>
                          <m:t>3, 5, 4</m:t>
                        </m:r>
                      </m:e>
                    </m:d>
                    <m:r>
                      <a:rPr lang="pt-BR" sz="2400" i="1">
                        <a:latin typeface="Cambria Math"/>
                      </a:rPr>
                      <m:t> </m:t>
                    </m:r>
                  </m:oMath>
                </a14:m>
                <a:r>
                  <a:rPr lang="pt-BR" sz="2400" dirty="0"/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pt-BR" sz="2400" i="1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>
                            <a:latin typeface="Cambria Math"/>
                          </a:rPr>
                          <m:t>4, 5, 6</m:t>
                        </m:r>
                      </m:e>
                    </m:d>
                    <m:r>
                      <a:rPr lang="pt-BR" sz="2400" i="1">
                        <a:latin typeface="Cambria Math"/>
                      </a:rPr>
                      <m:t> </m:t>
                    </m:r>
                  </m:oMath>
                </a14:m>
                <a:r>
                  <a:rPr lang="pt-BR" sz="2400" dirty="0"/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4</m:t>
                        </m:r>
                      </m:sub>
                    </m:sSub>
                    <m:r>
                      <a:rPr lang="pt-BR" sz="2400" i="1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>
                            <a:latin typeface="Cambria Math"/>
                          </a:rPr>
                          <m:t>1, 3, 5</m:t>
                        </m:r>
                      </m:e>
                    </m:d>
                    <m:r>
                      <a:rPr lang="pt-BR" sz="2400" i="1">
                        <a:latin typeface="Cambria Math"/>
                      </a:rPr>
                      <m:t>. </m:t>
                    </m:r>
                  </m:oMath>
                </a14:m>
                <a:r>
                  <a:rPr lang="pt-BR" sz="2400" dirty="0"/>
                  <a:t> Temos o grafo G, da seguinte forma:</a:t>
                </a:r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45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1"/>
                <a:ext cx="8229600" cy="1252736"/>
              </a:xfrm>
              <a:blipFill rotWithShape="1">
                <a:blip r:embed="rId3"/>
                <a:stretch>
                  <a:fillRect l="-1111" t="-3902" b="-195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Elipse 47"/>
          <p:cNvSpPr/>
          <p:nvPr/>
        </p:nvSpPr>
        <p:spPr>
          <a:xfrm>
            <a:off x="2834118" y="5229200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0" name="Conector reto 49"/>
          <p:cNvCxnSpPr>
            <a:stCxn id="4" idx="5"/>
            <a:endCxn id="48" idx="2"/>
          </p:cNvCxnSpPr>
          <p:nvPr/>
        </p:nvCxnSpPr>
        <p:spPr>
          <a:xfrm>
            <a:off x="1848134" y="4867814"/>
            <a:ext cx="985984" cy="4333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/>
          <p:cNvSpPr/>
          <p:nvPr/>
        </p:nvSpPr>
        <p:spPr>
          <a:xfrm>
            <a:off x="3825143" y="5157192"/>
            <a:ext cx="144016" cy="14401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7" name="Elipse 56"/>
          <p:cNvSpPr/>
          <p:nvPr/>
        </p:nvSpPr>
        <p:spPr>
          <a:xfrm>
            <a:off x="3825143" y="5733256"/>
            <a:ext cx="144016" cy="14401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8" name="Elipse 57"/>
          <p:cNvSpPr/>
          <p:nvPr/>
        </p:nvSpPr>
        <p:spPr>
          <a:xfrm>
            <a:off x="3825143" y="6309320"/>
            <a:ext cx="144016" cy="14401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3" name="Conector reto 62"/>
          <p:cNvCxnSpPr>
            <a:stCxn id="5" idx="6"/>
            <a:endCxn id="38" idx="2"/>
          </p:cNvCxnSpPr>
          <p:nvPr/>
        </p:nvCxnSpPr>
        <p:spPr>
          <a:xfrm>
            <a:off x="2978134" y="4377200"/>
            <a:ext cx="847009" cy="2759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to 64"/>
          <p:cNvCxnSpPr>
            <a:stCxn id="5" idx="5"/>
            <a:endCxn id="56" idx="2"/>
          </p:cNvCxnSpPr>
          <p:nvPr/>
        </p:nvCxnSpPr>
        <p:spPr>
          <a:xfrm>
            <a:off x="2957043" y="4428117"/>
            <a:ext cx="868100" cy="8010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to 66"/>
          <p:cNvCxnSpPr>
            <a:stCxn id="5" idx="5"/>
            <a:endCxn id="57" idx="2"/>
          </p:cNvCxnSpPr>
          <p:nvPr/>
        </p:nvCxnSpPr>
        <p:spPr>
          <a:xfrm>
            <a:off x="2957043" y="4428117"/>
            <a:ext cx="868100" cy="13771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reto 68"/>
          <p:cNvCxnSpPr>
            <a:stCxn id="48" idx="6"/>
            <a:endCxn id="56" idx="2"/>
          </p:cNvCxnSpPr>
          <p:nvPr/>
        </p:nvCxnSpPr>
        <p:spPr>
          <a:xfrm flipV="1">
            <a:off x="2978134" y="5229200"/>
            <a:ext cx="847009" cy="720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to 70"/>
          <p:cNvCxnSpPr>
            <a:stCxn id="48" idx="5"/>
            <a:endCxn id="57" idx="2"/>
          </p:cNvCxnSpPr>
          <p:nvPr/>
        </p:nvCxnSpPr>
        <p:spPr>
          <a:xfrm>
            <a:off x="2957043" y="5352125"/>
            <a:ext cx="868100" cy="4531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to 72"/>
          <p:cNvCxnSpPr>
            <a:stCxn id="48" idx="4"/>
            <a:endCxn id="58" idx="2"/>
          </p:cNvCxnSpPr>
          <p:nvPr/>
        </p:nvCxnSpPr>
        <p:spPr>
          <a:xfrm>
            <a:off x="2906126" y="5373216"/>
            <a:ext cx="919017" cy="10081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/>
          <p:cNvCxnSpPr>
            <a:stCxn id="6" idx="6"/>
            <a:endCxn id="36" idx="3"/>
          </p:cNvCxnSpPr>
          <p:nvPr/>
        </p:nvCxnSpPr>
        <p:spPr>
          <a:xfrm flipV="1">
            <a:off x="2999225" y="3551925"/>
            <a:ext cx="847009" cy="25413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to 76"/>
          <p:cNvCxnSpPr>
            <a:stCxn id="6" idx="6"/>
            <a:endCxn id="38" idx="2"/>
          </p:cNvCxnSpPr>
          <p:nvPr/>
        </p:nvCxnSpPr>
        <p:spPr>
          <a:xfrm flipV="1">
            <a:off x="2999225" y="4653136"/>
            <a:ext cx="825918" cy="1440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reto 78"/>
          <p:cNvCxnSpPr>
            <a:stCxn id="6" idx="4"/>
            <a:endCxn id="57" idx="3"/>
          </p:cNvCxnSpPr>
          <p:nvPr/>
        </p:nvCxnSpPr>
        <p:spPr>
          <a:xfrm flipV="1">
            <a:off x="2927217" y="5856181"/>
            <a:ext cx="919017" cy="3091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CaixaDeTexto 79"/>
              <p:cNvSpPr txBox="1"/>
              <p:nvPr/>
            </p:nvSpPr>
            <p:spPr>
              <a:xfrm>
                <a:off x="1451865" y="4509120"/>
                <a:ext cx="3741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/>
                        </a:rPr>
                        <m:t>𝑣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80" name="CaixaDeTexto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1865" y="4509120"/>
                <a:ext cx="374141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Retângulo 80"/>
              <p:cNvSpPr/>
              <p:nvPr/>
            </p:nvSpPr>
            <p:spPr>
              <a:xfrm>
                <a:off x="2546086" y="3275692"/>
                <a:ext cx="43973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81" name="Retângulo 8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086" y="3275692"/>
                <a:ext cx="439736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Retângulo 81"/>
              <p:cNvSpPr/>
              <p:nvPr/>
            </p:nvSpPr>
            <p:spPr>
              <a:xfrm>
                <a:off x="2546086" y="3995772"/>
                <a:ext cx="44505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82" name="Retângulo 8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086" y="3995772"/>
                <a:ext cx="445058" cy="36933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Retângulo 82"/>
              <p:cNvSpPr/>
              <p:nvPr/>
            </p:nvSpPr>
            <p:spPr>
              <a:xfrm>
                <a:off x="2546086" y="4931876"/>
                <a:ext cx="44505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83" name="Retângulo 8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086" y="4931876"/>
                <a:ext cx="445058" cy="369332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Retângulo 83"/>
              <p:cNvSpPr/>
              <p:nvPr/>
            </p:nvSpPr>
            <p:spPr>
              <a:xfrm>
                <a:off x="2546086" y="5651956"/>
                <a:ext cx="44505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84" name="Retângulo 8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086" y="5651956"/>
                <a:ext cx="445058" cy="369332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Retângulo 84"/>
              <p:cNvSpPr/>
              <p:nvPr/>
            </p:nvSpPr>
            <p:spPr>
              <a:xfrm>
                <a:off x="3901228" y="3212976"/>
                <a:ext cx="46076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85" name="Retângulo 8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1228" y="3212976"/>
                <a:ext cx="460767" cy="369332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Retângulo 85"/>
              <p:cNvSpPr/>
              <p:nvPr/>
            </p:nvSpPr>
            <p:spPr>
              <a:xfrm>
                <a:off x="3901228" y="3789040"/>
                <a:ext cx="46608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86" name="Retângulo 8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1228" y="3789040"/>
                <a:ext cx="466089" cy="369332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Retângulo 86"/>
              <p:cNvSpPr/>
              <p:nvPr/>
            </p:nvSpPr>
            <p:spPr>
              <a:xfrm>
                <a:off x="3901228" y="4437112"/>
                <a:ext cx="46608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87" name="Retângulo 8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1228" y="4437112"/>
                <a:ext cx="466089" cy="369332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Retângulo 87"/>
              <p:cNvSpPr/>
              <p:nvPr/>
            </p:nvSpPr>
            <p:spPr>
              <a:xfrm>
                <a:off x="3901228" y="4941168"/>
                <a:ext cx="46608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88" name="Retângulo 8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1228" y="4941168"/>
                <a:ext cx="466089" cy="369332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Retângulo 88"/>
              <p:cNvSpPr/>
              <p:nvPr/>
            </p:nvSpPr>
            <p:spPr>
              <a:xfrm>
                <a:off x="3914238" y="5517232"/>
                <a:ext cx="46609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89" name="Retângulo 8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4238" y="5517232"/>
                <a:ext cx="466090" cy="369332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Retângulo 89"/>
              <p:cNvSpPr/>
              <p:nvPr/>
            </p:nvSpPr>
            <p:spPr>
              <a:xfrm>
                <a:off x="3914238" y="6084004"/>
                <a:ext cx="941733" cy="3907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6</m:t>
                        </m:r>
                      </m:sub>
                    </m:sSub>
                  </m:oMath>
                </a14:m>
                <a:r>
                  <a:rPr lang="pt-BR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3</m:t>
                        </m:r>
                        <m:r>
                          <a:rPr lang="pt-BR" i="1">
                            <a:latin typeface="Cambria Math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pt-BR" dirty="0"/>
                  <a:t>)</a:t>
                </a:r>
              </a:p>
            </p:txBody>
          </p:sp>
        </mc:Choice>
        <mc:Fallback xmlns="">
          <p:sp>
            <p:nvSpPr>
              <p:cNvPr id="90" name="Retângulo 8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4238" y="6084004"/>
                <a:ext cx="941733" cy="390748"/>
              </a:xfrm>
              <a:prstGeom prst="rect">
                <a:avLst/>
              </a:prstGeom>
              <a:blipFill rotWithShape="1">
                <a:blip r:embed="rId14"/>
                <a:stretch>
                  <a:fillRect t="-6250" r="-5161" b="-2031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Espaço Reservado para Conteúdo 2"/>
              <p:cNvSpPr txBox="1">
                <a:spLocks/>
              </p:cNvSpPr>
              <p:nvPr/>
            </p:nvSpPr>
            <p:spPr>
              <a:xfrm>
                <a:off x="5292080" y="2924944"/>
                <a:ext cx="3577591" cy="334372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pt-BR" sz="2000" dirty="0"/>
                  <a:t>Conjunto de nós terminais </a:t>
                </a:r>
                <a14:m>
                  <m:oMath xmlns:m="http://schemas.openxmlformats.org/officeDocument/2006/math">
                    <m:r>
                      <a:rPr lang="pt-BR" sz="2000" i="1">
                        <a:latin typeface="Cambria Math"/>
                      </a:rPr>
                      <m:t>𝑇</m:t>
                    </m:r>
                    <m:r>
                      <a:rPr lang="pt-BR" sz="2000" i="1">
                        <a:latin typeface="Cambria Math"/>
                      </a:rPr>
                      <m:t> </m:t>
                    </m:r>
                  </m:oMath>
                </a14:m>
                <a:r>
                  <a:rPr lang="pt-BR" sz="2000" dirty="0"/>
                  <a:t>no ST: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pt-BR" sz="1800" b="0" i="1" smtClean="0">
                        <a:latin typeface="Cambria Math"/>
                      </a:rPr>
                      <m:t>𝑇</m:t>
                    </m:r>
                    <m:r>
                      <a:rPr lang="pt-BR" sz="1800" b="0" i="1" smtClean="0">
                        <a:latin typeface="Cambria Math"/>
                      </a:rPr>
                      <m:t>={</m:t>
                    </m:r>
                    <m:r>
                      <a:rPr lang="pt-BR" sz="1800" b="0" i="1" smtClean="0">
                        <a:latin typeface="Cambria Math"/>
                      </a:rPr>
                      <m:t>𝑣</m:t>
                    </m:r>
                    <m:r>
                      <a:rPr lang="pt-BR" sz="1800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pt-B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8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sz="18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1800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pt-B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800" i="1">
                            <a:latin typeface="Cambria Math"/>
                          </a:rPr>
                          <m:t> </m:t>
                        </m:r>
                        <m:r>
                          <a:rPr lang="pt-BR" sz="18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sz="1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t-BR" sz="1800" i="1">
                        <a:latin typeface="Cambria Math"/>
                      </a:rPr>
                      <m:t>, …,</m:t>
                    </m:r>
                    <m:sSub>
                      <m:sSubPr>
                        <m:ctrlPr>
                          <a:rPr lang="pt-B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8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sz="1800" i="1">
                            <a:latin typeface="Cambria Math"/>
                          </a:rPr>
                          <m:t>3</m:t>
                        </m:r>
                        <m:r>
                          <a:rPr lang="pt-BR" sz="1800" i="1">
                            <a:latin typeface="Cambria Math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pt-BR" sz="1800" dirty="0"/>
                  <a:t>}.</a:t>
                </a:r>
              </a:p>
              <a:p>
                <a:r>
                  <a:rPr lang="pt-BR" sz="2200" dirty="0"/>
                  <a:t>O limite superior k = 4q.</a:t>
                </a:r>
              </a:p>
              <a:p>
                <a:pPr lvl="1"/>
                <a:r>
                  <a:rPr lang="pt-BR" sz="1800" dirty="0"/>
                  <a:t>Ou seja, a quantidade máxima de arestas da árvore de Steiner é definida como 4q.</a:t>
                </a:r>
              </a:p>
            </p:txBody>
          </p:sp>
        </mc:Choice>
        <mc:Fallback xmlns="">
          <p:sp>
            <p:nvSpPr>
              <p:cNvPr id="43" name="Espaço Reservado para Conteúd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2080" y="2924944"/>
                <a:ext cx="3577591" cy="3343726"/>
              </a:xfrm>
              <a:prstGeom prst="rect">
                <a:avLst/>
              </a:prstGeom>
              <a:blipFill rotWithShape="1">
                <a:blip r:embed="rId15"/>
                <a:stretch>
                  <a:fillRect l="-1874" t="-912" r="-10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843052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Transformação Polinomial: X3C ∝ ST</a:t>
            </a:r>
          </a:p>
        </p:txBody>
      </p:sp>
      <p:sp>
        <p:nvSpPr>
          <p:cNvPr id="4" name="Elipse 3"/>
          <p:cNvSpPr/>
          <p:nvPr/>
        </p:nvSpPr>
        <p:spPr>
          <a:xfrm>
            <a:off x="1725209" y="4744889"/>
            <a:ext cx="144016" cy="14401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2834118" y="4305192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2855209" y="6021288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2834118" y="3606017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onector reto 8"/>
          <p:cNvCxnSpPr>
            <a:stCxn id="4" idx="4"/>
            <a:endCxn id="6" idx="2"/>
          </p:cNvCxnSpPr>
          <p:nvPr/>
        </p:nvCxnSpPr>
        <p:spPr>
          <a:xfrm>
            <a:off x="1797217" y="4888905"/>
            <a:ext cx="1057992" cy="12043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/>
          <p:cNvCxnSpPr>
            <a:stCxn id="7" idx="1"/>
            <a:endCxn id="4" idx="0"/>
          </p:cNvCxnSpPr>
          <p:nvPr/>
        </p:nvCxnSpPr>
        <p:spPr>
          <a:xfrm flipH="1">
            <a:off x="1797217" y="3627108"/>
            <a:ext cx="1057992" cy="11177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/>
              <p:cNvSpPr txBox="1"/>
              <p:nvPr/>
            </p:nvSpPr>
            <p:spPr>
              <a:xfrm>
                <a:off x="899592" y="3284984"/>
                <a:ext cx="3935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/>
                        </a:rPr>
                        <m:t>𝐺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8" name="CaixaDeTexto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3284984"/>
                <a:ext cx="393569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Conector reto 34"/>
          <p:cNvCxnSpPr>
            <a:stCxn id="4" idx="6"/>
            <a:endCxn id="5" idx="2"/>
          </p:cNvCxnSpPr>
          <p:nvPr/>
        </p:nvCxnSpPr>
        <p:spPr>
          <a:xfrm flipV="1">
            <a:off x="1869225" y="4377200"/>
            <a:ext cx="964893" cy="4396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/>
          <p:cNvSpPr/>
          <p:nvPr/>
        </p:nvSpPr>
        <p:spPr>
          <a:xfrm>
            <a:off x="3825143" y="3429000"/>
            <a:ext cx="144016" cy="14401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/>
          <p:cNvSpPr/>
          <p:nvPr/>
        </p:nvSpPr>
        <p:spPr>
          <a:xfrm>
            <a:off x="3825143" y="4005064"/>
            <a:ext cx="144016" cy="14401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/>
          <p:cNvSpPr/>
          <p:nvPr/>
        </p:nvSpPr>
        <p:spPr>
          <a:xfrm>
            <a:off x="3825143" y="4581128"/>
            <a:ext cx="144016" cy="14401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0" name="Conector reto 39"/>
          <p:cNvCxnSpPr>
            <a:stCxn id="7" idx="7"/>
            <a:endCxn id="36" idx="2"/>
          </p:cNvCxnSpPr>
          <p:nvPr/>
        </p:nvCxnSpPr>
        <p:spPr>
          <a:xfrm flipV="1">
            <a:off x="2957043" y="3501008"/>
            <a:ext cx="868100" cy="1261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to 41"/>
          <p:cNvCxnSpPr>
            <a:stCxn id="7" idx="5"/>
            <a:endCxn id="38" idx="2"/>
          </p:cNvCxnSpPr>
          <p:nvPr/>
        </p:nvCxnSpPr>
        <p:spPr>
          <a:xfrm>
            <a:off x="2957043" y="3728942"/>
            <a:ext cx="868100" cy="924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/>
          <p:cNvCxnSpPr>
            <a:stCxn id="7" idx="6"/>
            <a:endCxn id="37" idx="2"/>
          </p:cNvCxnSpPr>
          <p:nvPr/>
        </p:nvCxnSpPr>
        <p:spPr>
          <a:xfrm>
            <a:off x="2978134" y="3678025"/>
            <a:ext cx="847009" cy="3990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1"/>
                <a:ext cx="8229600" cy="1252736"/>
              </a:xfrm>
            </p:spPr>
            <p:txBody>
              <a:bodyPr>
                <a:normAutofit fontScale="92500"/>
              </a:bodyPr>
              <a:lstStyle/>
              <a:p>
                <a:r>
                  <a:rPr lang="pt-BR" sz="2800" dirty="0"/>
                  <a:t>Então, para a instância do X3C, </a:t>
                </a:r>
                <a:r>
                  <a:rPr lang="pt-BR" sz="2400" dirty="0"/>
                  <a:t>X = {1, 2, 3, 4, 5, 6}, 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/>
                      </a:rPr>
                      <m:t>𝑛</m:t>
                    </m:r>
                    <m:r>
                      <a:rPr lang="pt-BR" sz="2400" i="1">
                        <a:latin typeface="Cambria Math"/>
                      </a:rPr>
                      <m:t>=4</m:t>
                    </m:r>
                  </m:oMath>
                </a14:m>
                <a:r>
                  <a:rPr lang="pt-BR" sz="2400" dirty="0"/>
                  <a:t> e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/>
                      </a:rPr>
                      <m:t>𝐶</m:t>
                    </m:r>
                    <m:r>
                      <a:rPr lang="pt-BR" sz="2400" i="1">
                        <a:latin typeface="Cambria Math"/>
                      </a:rPr>
                      <m:t>={</m:t>
                    </m:r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400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t-BR" sz="2400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pt-BR" sz="2400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4</m:t>
                        </m:r>
                      </m:sub>
                    </m:sSub>
                    <m:r>
                      <a:rPr lang="pt-BR" sz="2400" i="1">
                        <a:latin typeface="Cambria Math"/>
                      </a:rPr>
                      <m:t>}</m:t>
                    </m:r>
                  </m:oMath>
                </a14:m>
                <a:r>
                  <a:rPr lang="pt-BR" sz="2400" dirty="0"/>
                  <a:t>, onde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400" i="1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>
                            <a:latin typeface="Cambria Math"/>
                          </a:rPr>
                          <m:t>1, 2, 3</m:t>
                        </m:r>
                      </m:e>
                    </m:d>
                    <m:r>
                      <a:rPr lang="pt-BR" sz="2400" i="1">
                        <a:latin typeface="Cambria Math"/>
                      </a:rPr>
                      <m:t> </m:t>
                    </m:r>
                  </m:oMath>
                </a14:m>
                <a:r>
                  <a:rPr lang="pt-BR" sz="2400" dirty="0"/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t-BR" sz="2400" i="1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>
                            <a:latin typeface="Cambria Math"/>
                          </a:rPr>
                          <m:t>3, 5, 4</m:t>
                        </m:r>
                      </m:e>
                    </m:d>
                    <m:r>
                      <a:rPr lang="pt-BR" sz="2400" i="1">
                        <a:latin typeface="Cambria Math"/>
                      </a:rPr>
                      <m:t> </m:t>
                    </m:r>
                  </m:oMath>
                </a14:m>
                <a:r>
                  <a:rPr lang="pt-BR" sz="2400" dirty="0"/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pt-BR" sz="2400" i="1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>
                            <a:latin typeface="Cambria Math"/>
                          </a:rPr>
                          <m:t>4, 5, 6</m:t>
                        </m:r>
                      </m:e>
                    </m:d>
                    <m:r>
                      <a:rPr lang="pt-BR" sz="2400" i="1">
                        <a:latin typeface="Cambria Math"/>
                      </a:rPr>
                      <m:t> </m:t>
                    </m:r>
                  </m:oMath>
                </a14:m>
                <a:r>
                  <a:rPr lang="pt-BR" sz="2400" dirty="0"/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4</m:t>
                        </m:r>
                      </m:sub>
                    </m:sSub>
                    <m:r>
                      <a:rPr lang="pt-BR" sz="2400" i="1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>
                            <a:latin typeface="Cambria Math"/>
                          </a:rPr>
                          <m:t>1, 3, 5</m:t>
                        </m:r>
                      </m:e>
                    </m:d>
                    <m:r>
                      <a:rPr lang="pt-BR" sz="2400" i="1">
                        <a:latin typeface="Cambria Math"/>
                      </a:rPr>
                      <m:t>. </m:t>
                    </m:r>
                  </m:oMath>
                </a14:m>
                <a:r>
                  <a:rPr lang="pt-BR" sz="2400" dirty="0"/>
                  <a:t> Temos o grafo G, da seguinte forma:</a:t>
                </a:r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45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1"/>
                <a:ext cx="8229600" cy="1252736"/>
              </a:xfrm>
              <a:blipFill rotWithShape="1">
                <a:blip r:embed="rId3"/>
                <a:stretch>
                  <a:fillRect l="-1111" t="-3902" b="-195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Elipse 47"/>
          <p:cNvSpPr/>
          <p:nvPr/>
        </p:nvSpPr>
        <p:spPr>
          <a:xfrm>
            <a:off x="2834118" y="5229200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0" name="Conector reto 49"/>
          <p:cNvCxnSpPr>
            <a:stCxn id="4" idx="5"/>
            <a:endCxn id="48" idx="2"/>
          </p:cNvCxnSpPr>
          <p:nvPr/>
        </p:nvCxnSpPr>
        <p:spPr>
          <a:xfrm>
            <a:off x="1848134" y="4867814"/>
            <a:ext cx="985984" cy="4333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/>
          <p:cNvSpPr/>
          <p:nvPr/>
        </p:nvSpPr>
        <p:spPr>
          <a:xfrm>
            <a:off x="3825143" y="5157192"/>
            <a:ext cx="144016" cy="14401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7" name="Elipse 56"/>
          <p:cNvSpPr/>
          <p:nvPr/>
        </p:nvSpPr>
        <p:spPr>
          <a:xfrm>
            <a:off x="3825143" y="5733256"/>
            <a:ext cx="144016" cy="14401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8" name="Elipse 57"/>
          <p:cNvSpPr/>
          <p:nvPr/>
        </p:nvSpPr>
        <p:spPr>
          <a:xfrm>
            <a:off x="3825143" y="6309320"/>
            <a:ext cx="144016" cy="14401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3" name="Conector reto 62"/>
          <p:cNvCxnSpPr>
            <a:stCxn id="5" idx="6"/>
            <a:endCxn id="38" idx="2"/>
          </p:cNvCxnSpPr>
          <p:nvPr/>
        </p:nvCxnSpPr>
        <p:spPr>
          <a:xfrm>
            <a:off x="2978134" y="4377200"/>
            <a:ext cx="847009" cy="2759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to 64"/>
          <p:cNvCxnSpPr>
            <a:stCxn id="5" idx="5"/>
            <a:endCxn id="56" idx="2"/>
          </p:cNvCxnSpPr>
          <p:nvPr/>
        </p:nvCxnSpPr>
        <p:spPr>
          <a:xfrm>
            <a:off x="2957043" y="4428117"/>
            <a:ext cx="868100" cy="8010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to 66"/>
          <p:cNvCxnSpPr>
            <a:stCxn id="5" idx="5"/>
            <a:endCxn id="57" idx="2"/>
          </p:cNvCxnSpPr>
          <p:nvPr/>
        </p:nvCxnSpPr>
        <p:spPr>
          <a:xfrm>
            <a:off x="2957043" y="4428117"/>
            <a:ext cx="868100" cy="13771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reto 68"/>
          <p:cNvCxnSpPr>
            <a:stCxn id="48" idx="6"/>
            <a:endCxn id="56" idx="2"/>
          </p:cNvCxnSpPr>
          <p:nvPr/>
        </p:nvCxnSpPr>
        <p:spPr>
          <a:xfrm flipV="1">
            <a:off x="2978134" y="5229200"/>
            <a:ext cx="847009" cy="720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to 70"/>
          <p:cNvCxnSpPr>
            <a:stCxn id="48" idx="5"/>
            <a:endCxn id="57" idx="2"/>
          </p:cNvCxnSpPr>
          <p:nvPr/>
        </p:nvCxnSpPr>
        <p:spPr>
          <a:xfrm>
            <a:off x="2957043" y="5352125"/>
            <a:ext cx="868100" cy="4531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to 72"/>
          <p:cNvCxnSpPr>
            <a:stCxn id="48" idx="4"/>
            <a:endCxn id="58" idx="2"/>
          </p:cNvCxnSpPr>
          <p:nvPr/>
        </p:nvCxnSpPr>
        <p:spPr>
          <a:xfrm>
            <a:off x="2906126" y="5373216"/>
            <a:ext cx="919017" cy="10081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/>
          <p:cNvCxnSpPr>
            <a:stCxn id="6" idx="6"/>
            <a:endCxn id="36" idx="3"/>
          </p:cNvCxnSpPr>
          <p:nvPr/>
        </p:nvCxnSpPr>
        <p:spPr>
          <a:xfrm flipV="1">
            <a:off x="2999225" y="3551925"/>
            <a:ext cx="847009" cy="25413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to 76"/>
          <p:cNvCxnSpPr>
            <a:stCxn id="6" idx="6"/>
            <a:endCxn id="38" idx="2"/>
          </p:cNvCxnSpPr>
          <p:nvPr/>
        </p:nvCxnSpPr>
        <p:spPr>
          <a:xfrm flipV="1">
            <a:off x="2999225" y="4653136"/>
            <a:ext cx="825918" cy="1440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reto 78"/>
          <p:cNvCxnSpPr>
            <a:stCxn id="6" idx="4"/>
            <a:endCxn id="57" idx="3"/>
          </p:cNvCxnSpPr>
          <p:nvPr/>
        </p:nvCxnSpPr>
        <p:spPr>
          <a:xfrm flipV="1">
            <a:off x="2927217" y="5856181"/>
            <a:ext cx="919017" cy="3091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CaixaDeTexto 79"/>
              <p:cNvSpPr txBox="1"/>
              <p:nvPr/>
            </p:nvSpPr>
            <p:spPr>
              <a:xfrm>
                <a:off x="1451865" y="4509120"/>
                <a:ext cx="3741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/>
                        </a:rPr>
                        <m:t>𝑣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80" name="CaixaDeTexto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1865" y="4509120"/>
                <a:ext cx="374141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Retângulo 80"/>
              <p:cNvSpPr/>
              <p:nvPr/>
            </p:nvSpPr>
            <p:spPr>
              <a:xfrm>
                <a:off x="2546086" y="3275692"/>
                <a:ext cx="43973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81" name="Retângulo 8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086" y="3275692"/>
                <a:ext cx="439736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Retângulo 81"/>
              <p:cNvSpPr/>
              <p:nvPr/>
            </p:nvSpPr>
            <p:spPr>
              <a:xfrm>
                <a:off x="2546086" y="3995772"/>
                <a:ext cx="44505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82" name="Retângulo 8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086" y="3995772"/>
                <a:ext cx="445058" cy="36933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Retângulo 82"/>
              <p:cNvSpPr/>
              <p:nvPr/>
            </p:nvSpPr>
            <p:spPr>
              <a:xfrm>
                <a:off x="2546086" y="4931876"/>
                <a:ext cx="44505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83" name="Retângulo 8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086" y="4931876"/>
                <a:ext cx="445058" cy="369332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Retângulo 83"/>
              <p:cNvSpPr/>
              <p:nvPr/>
            </p:nvSpPr>
            <p:spPr>
              <a:xfrm>
                <a:off x="2546086" y="5651956"/>
                <a:ext cx="44505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84" name="Retângulo 8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086" y="5651956"/>
                <a:ext cx="445058" cy="369332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Retângulo 84"/>
              <p:cNvSpPr/>
              <p:nvPr/>
            </p:nvSpPr>
            <p:spPr>
              <a:xfrm>
                <a:off x="3901228" y="3212976"/>
                <a:ext cx="46076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85" name="Retângulo 8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1228" y="3212976"/>
                <a:ext cx="460767" cy="369332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Retângulo 85"/>
              <p:cNvSpPr/>
              <p:nvPr/>
            </p:nvSpPr>
            <p:spPr>
              <a:xfrm>
                <a:off x="3901228" y="3789040"/>
                <a:ext cx="46608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86" name="Retângulo 8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1228" y="3789040"/>
                <a:ext cx="466089" cy="369332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Retângulo 86"/>
              <p:cNvSpPr/>
              <p:nvPr/>
            </p:nvSpPr>
            <p:spPr>
              <a:xfrm>
                <a:off x="3901228" y="4437112"/>
                <a:ext cx="46608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87" name="Retângulo 8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1228" y="4437112"/>
                <a:ext cx="466089" cy="369332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Retângulo 87"/>
              <p:cNvSpPr/>
              <p:nvPr/>
            </p:nvSpPr>
            <p:spPr>
              <a:xfrm>
                <a:off x="3901228" y="4941168"/>
                <a:ext cx="46608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88" name="Retângulo 8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1228" y="4941168"/>
                <a:ext cx="466089" cy="369332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Retângulo 88"/>
              <p:cNvSpPr/>
              <p:nvPr/>
            </p:nvSpPr>
            <p:spPr>
              <a:xfrm>
                <a:off x="3914238" y="5517232"/>
                <a:ext cx="46609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89" name="Retângulo 8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4238" y="5517232"/>
                <a:ext cx="466090" cy="369332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Retângulo 89"/>
              <p:cNvSpPr/>
              <p:nvPr/>
            </p:nvSpPr>
            <p:spPr>
              <a:xfrm>
                <a:off x="3914238" y="6084004"/>
                <a:ext cx="941733" cy="3907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6</m:t>
                        </m:r>
                      </m:sub>
                    </m:sSub>
                  </m:oMath>
                </a14:m>
                <a:r>
                  <a:rPr lang="pt-BR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3</m:t>
                        </m:r>
                        <m:r>
                          <a:rPr lang="pt-BR" i="1">
                            <a:latin typeface="Cambria Math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pt-BR" dirty="0"/>
                  <a:t>)</a:t>
                </a:r>
              </a:p>
            </p:txBody>
          </p:sp>
        </mc:Choice>
        <mc:Fallback xmlns="">
          <p:sp>
            <p:nvSpPr>
              <p:cNvPr id="90" name="Retângulo 8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4238" y="6084004"/>
                <a:ext cx="941733" cy="390748"/>
              </a:xfrm>
              <a:prstGeom prst="rect">
                <a:avLst/>
              </a:prstGeom>
              <a:blipFill rotWithShape="1">
                <a:blip r:embed="rId14"/>
                <a:stretch>
                  <a:fillRect t="-6250" r="-5161" b="-2031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Espaço Reservado para Conteúdo 2"/>
              <p:cNvSpPr txBox="1">
                <a:spLocks/>
              </p:cNvSpPr>
              <p:nvPr/>
            </p:nvSpPr>
            <p:spPr>
              <a:xfrm>
                <a:off x="5292080" y="2924944"/>
                <a:ext cx="3577591" cy="334372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pt-BR" sz="2000" dirty="0"/>
                  <a:t>Conjunto de nós terminais </a:t>
                </a:r>
                <a14:m>
                  <m:oMath xmlns:m="http://schemas.openxmlformats.org/officeDocument/2006/math">
                    <m:r>
                      <a:rPr lang="pt-BR" sz="2000" i="1">
                        <a:latin typeface="Cambria Math"/>
                      </a:rPr>
                      <m:t>𝑇</m:t>
                    </m:r>
                    <m:r>
                      <a:rPr lang="pt-BR" sz="2000" i="1">
                        <a:latin typeface="Cambria Math"/>
                      </a:rPr>
                      <m:t> </m:t>
                    </m:r>
                  </m:oMath>
                </a14:m>
                <a:r>
                  <a:rPr lang="pt-BR" sz="2000" dirty="0"/>
                  <a:t>no ST: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pt-BR" sz="1800" b="0" i="1" smtClean="0">
                        <a:latin typeface="Cambria Math"/>
                      </a:rPr>
                      <m:t>𝑇</m:t>
                    </m:r>
                    <m:r>
                      <a:rPr lang="pt-BR" sz="1800" b="0" i="1" smtClean="0">
                        <a:latin typeface="Cambria Math"/>
                      </a:rPr>
                      <m:t>={</m:t>
                    </m:r>
                    <m:r>
                      <a:rPr lang="pt-BR" sz="1800" b="0" i="1" smtClean="0">
                        <a:latin typeface="Cambria Math"/>
                      </a:rPr>
                      <m:t>𝑣</m:t>
                    </m:r>
                    <m:r>
                      <a:rPr lang="pt-BR" sz="1800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pt-B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8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sz="18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1800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pt-B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800" i="1">
                            <a:latin typeface="Cambria Math"/>
                          </a:rPr>
                          <m:t> </m:t>
                        </m:r>
                        <m:r>
                          <a:rPr lang="pt-BR" sz="18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sz="1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t-BR" sz="1800" i="1">
                        <a:latin typeface="Cambria Math"/>
                      </a:rPr>
                      <m:t>, …,</m:t>
                    </m:r>
                    <m:sSub>
                      <m:sSubPr>
                        <m:ctrlPr>
                          <a:rPr lang="pt-B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8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sz="1800" i="1">
                            <a:latin typeface="Cambria Math"/>
                          </a:rPr>
                          <m:t>3</m:t>
                        </m:r>
                        <m:r>
                          <a:rPr lang="pt-BR" sz="1800" i="1">
                            <a:latin typeface="Cambria Math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pt-BR" sz="1800" dirty="0"/>
                  <a:t>}.</a:t>
                </a:r>
              </a:p>
              <a:p>
                <a:r>
                  <a:rPr lang="pt-BR" sz="2200" dirty="0"/>
                  <a:t>O limite superior k = 4q.</a:t>
                </a:r>
              </a:p>
              <a:p>
                <a:pPr lvl="1"/>
                <a:r>
                  <a:rPr lang="pt-BR" sz="1800" dirty="0"/>
                  <a:t>Ou seja, a quantidade máxima de arestas da árvore de Steiner é definida como 4q.</a:t>
                </a:r>
              </a:p>
            </p:txBody>
          </p:sp>
        </mc:Choice>
        <mc:Fallback xmlns="">
          <p:sp>
            <p:nvSpPr>
              <p:cNvPr id="43" name="Espaço Reservado para Conteúd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2080" y="2924944"/>
                <a:ext cx="3577591" cy="3343726"/>
              </a:xfrm>
              <a:prstGeom prst="rect">
                <a:avLst/>
              </a:prstGeom>
              <a:blipFill rotWithShape="1">
                <a:blip r:embed="rId15"/>
                <a:stretch>
                  <a:fillRect l="-1874" t="-912" r="-10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Conector de seta reta 45"/>
          <p:cNvCxnSpPr/>
          <p:nvPr/>
        </p:nvCxnSpPr>
        <p:spPr>
          <a:xfrm flipV="1">
            <a:off x="1797217" y="6197073"/>
            <a:ext cx="974583" cy="18425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/>
          <p:cNvSpPr txBox="1"/>
          <p:nvPr/>
        </p:nvSpPr>
        <p:spPr>
          <a:xfrm>
            <a:off x="514948" y="6237312"/>
            <a:ext cx="12487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Nós de Steiner</a:t>
            </a:r>
          </a:p>
        </p:txBody>
      </p:sp>
    </p:spTree>
    <p:extLst>
      <p:ext uri="{BB962C8B-B14F-4D97-AF65-F5344CB8AC3E}">
        <p14:creationId xmlns:p14="http://schemas.microsoft.com/office/powerpoint/2010/main" val="411480140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Transformação Polinomial: X3C ∝ ST</a:t>
            </a:r>
          </a:p>
        </p:txBody>
      </p:sp>
      <p:sp>
        <p:nvSpPr>
          <p:cNvPr id="43" name="Elipse 42"/>
          <p:cNvSpPr/>
          <p:nvPr/>
        </p:nvSpPr>
        <p:spPr>
          <a:xfrm>
            <a:off x="5685649" y="4744889"/>
            <a:ext cx="144016" cy="14401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Elipse 43"/>
          <p:cNvSpPr/>
          <p:nvPr/>
        </p:nvSpPr>
        <p:spPr>
          <a:xfrm>
            <a:off x="6794558" y="4305192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Elipse 44"/>
          <p:cNvSpPr/>
          <p:nvPr/>
        </p:nvSpPr>
        <p:spPr>
          <a:xfrm>
            <a:off x="6815649" y="6021288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Elipse 45"/>
          <p:cNvSpPr/>
          <p:nvPr/>
        </p:nvSpPr>
        <p:spPr>
          <a:xfrm>
            <a:off x="6794558" y="3606017"/>
            <a:ext cx="144016" cy="14401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7" name="Conector reto 46"/>
          <p:cNvCxnSpPr>
            <a:stCxn id="43" idx="4"/>
            <a:endCxn id="45" idx="2"/>
          </p:cNvCxnSpPr>
          <p:nvPr/>
        </p:nvCxnSpPr>
        <p:spPr>
          <a:xfrm>
            <a:off x="5757657" y="4888905"/>
            <a:ext cx="1057992" cy="12043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to 47"/>
          <p:cNvCxnSpPr>
            <a:stCxn id="46" idx="1"/>
            <a:endCxn id="43" idx="0"/>
          </p:cNvCxnSpPr>
          <p:nvPr/>
        </p:nvCxnSpPr>
        <p:spPr>
          <a:xfrm flipH="1">
            <a:off x="5757657" y="3627108"/>
            <a:ext cx="1057992" cy="111778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aixaDeTexto 48"/>
              <p:cNvSpPr txBox="1"/>
              <p:nvPr/>
            </p:nvSpPr>
            <p:spPr>
              <a:xfrm>
                <a:off x="5402567" y="3284984"/>
                <a:ext cx="3935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/>
                        </a:rPr>
                        <m:t>𝐺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9" name="CaixaDeTexto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2567" y="3284984"/>
                <a:ext cx="393569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Conector reto 49"/>
          <p:cNvCxnSpPr>
            <a:stCxn id="43" idx="6"/>
            <a:endCxn id="44" idx="2"/>
          </p:cNvCxnSpPr>
          <p:nvPr/>
        </p:nvCxnSpPr>
        <p:spPr>
          <a:xfrm flipV="1">
            <a:off x="5829665" y="4377200"/>
            <a:ext cx="964893" cy="4396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Elipse 50"/>
          <p:cNvSpPr/>
          <p:nvPr/>
        </p:nvSpPr>
        <p:spPr>
          <a:xfrm>
            <a:off x="7785583" y="3429000"/>
            <a:ext cx="144016" cy="14401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Elipse 51"/>
          <p:cNvSpPr/>
          <p:nvPr/>
        </p:nvSpPr>
        <p:spPr>
          <a:xfrm>
            <a:off x="7785583" y="4005064"/>
            <a:ext cx="144016" cy="14401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Elipse 52"/>
          <p:cNvSpPr/>
          <p:nvPr/>
        </p:nvSpPr>
        <p:spPr>
          <a:xfrm>
            <a:off x="7785583" y="4581128"/>
            <a:ext cx="144016" cy="14401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4" name="Conector reto 53"/>
          <p:cNvCxnSpPr>
            <a:stCxn id="46" idx="7"/>
            <a:endCxn id="51" idx="2"/>
          </p:cNvCxnSpPr>
          <p:nvPr/>
        </p:nvCxnSpPr>
        <p:spPr>
          <a:xfrm flipV="1">
            <a:off x="6917483" y="3501008"/>
            <a:ext cx="868100" cy="1261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/>
          <p:cNvCxnSpPr>
            <a:stCxn id="46" idx="5"/>
            <a:endCxn id="53" idx="2"/>
          </p:cNvCxnSpPr>
          <p:nvPr/>
        </p:nvCxnSpPr>
        <p:spPr>
          <a:xfrm>
            <a:off x="6917483" y="3728942"/>
            <a:ext cx="868100" cy="924194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to 55"/>
          <p:cNvCxnSpPr>
            <a:stCxn id="46" idx="6"/>
            <a:endCxn id="52" idx="2"/>
          </p:cNvCxnSpPr>
          <p:nvPr/>
        </p:nvCxnSpPr>
        <p:spPr>
          <a:xfrm>
            <a:off x="6938574" y="3678025"/>
            <a:ext cx="847009" cy="39904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Elipse 56"/>
          <p:cNvSpPr/>
          <p:nvPr/>
        </p:nvSpPr>
        <p:spPr>
          <a:xfrm>
            <a:off x="6794558" y="5229200"/>
            <a:ext cx="144016" cy="14401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8" name="Conector reto 57"/>
          <p:cNvCxnSpPr>
            <a:stCxn id="43" idx="5"/>
            <a:endCxn id="57" idx="2"/>
          </p:cNvCxnSpPr>
          <p:nvPr/>
        </p:nvCxnSpPr>
        <p:spPr>
          <a:xfrm>
            <a:off x="5808574" y="4867814"/>
            <a:ext cx="985984" cy="433394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Elipse 58"/>
          <p:cNvSpPr/>
          <p:nvPr/>
        </p:nvSpPr>
        <p:spPr>
          <a:xfrm>
            <a:off x="7785583" y="5157192"/>
            <a:ext cx="144016" cy="14401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Elipse 59"/>
          <p:cNvSpPr/>
          <p:nvPr/>
        </p:nvSpPr>
        <p:spPr>
          <a:xfrm>
            <a:off x="7785583" y="5733256"/>
            <a:ext cx="144016" cy="14401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1" name="Elipse 60"/>
          <p:cNvSpPr/>
          <p:nvPr/>
        </p:nvSpPr>
        <p:spPr>
          <a:xfrm>
            <a:off x="7785583" y="6309320"/>
            <a:ext cx="144016" cy="14401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2" name="Conector reto 61"/>
          <p:cNvCxnSpPr>
            <a:stCxn id="44" idx="6"/>
            <a:endCxn id="53" idx="2"/>
          </p:cNvCxnSpPr>
          <p:nvPr/>
        </p:nvCxnSpPr>
        <p:spPr>
          <a:xfrm>
            <a:off x="6938574" y="4377200"/>
            <a:ext cx="847009" cy="2759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reto 62"/>
          <p:cNvCxnSpPr>
            <a:stCxn id="44" idx="5"/>
            <a:endCxn id="59" idx="2"/>
          </p:cNvCxnSpPr>
          <p:nvPr/>
        </p:nvCxnSpPr>
        <p:spPr>
          <a:xfrm>
            <a:off x="6917483" y="4428117"/>
            <a:ext cx="868100" cy="8010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to 63"/>
          <p:cNvCxnSpPr>
            <a:stCxn id="44" idx="5"/>
            <a:endCxn id="60" idx="2"/>
          </p:cNvCxnSpPr>
          <p:nvPr/>
        </p:nvCxnSpPr>
        <p:spPr>
          <a:xfrm>
            <a:off x="6917483" y="4428117"/>
            <a:ext cx="868100" cy="13771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to 64"/>
          <p:cNvCxnSpPr>
            <a:stCxn id="57" idx="6"/>
            <a:endCxn id="59" idx="2"/>
          </p:cNvCxnSpPr>
          <p:nvPr/>
        </p:nvCxnSpPr>
        <p:spPr>
          <a:xfrm flipV="1">
            <a:off x="6938574" y="5229200"/>
            <a:ext cx="847009" cy="72008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/>
          <p:cNvCxnSpPr>
            <a:stCxn id="57" idx="5"/>
            <a:endCxn id="60" idx="2"/>
          </p:cNvCxnSpPr>
          <p:nvPr/>
        </p:nvCxnSpPr>
        <p:spPr>
          <a:xfrm>
            <a:off x="6917483" y="5352125"/>
            <a:ext cx="868100" cy="453139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to 66"/>
          <p:cNvCxnSpPr>
            <a:stCxn id="57" idx="4"/>
            <a:endCxn id="61" idx="2"/>
          </p:cNvCxnSpPr>
          <p:nvPr/>
        </p:nvCxnSpPr>
        <p:spPr>
          <a:xfrm>
            <a:off x="6866566" y="5373216"/>
            <a:ext cx="919017" cy="1008112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reto 67"/>
          <p:cNvCxnSpPr>
            <a:stCxn id="45" idx="6"/>
            <a:endCxn id="51" idx="3"/>
          </p:cNvCxnSpPr>
          <p:nvPr/>
        </p:nvCxnSpPr>
        <p:spPr>
          <a:xfrm flipV="1">
            <a:off x="6959665" y="3551925"/>
            <a:ext cx="847009" cy="25413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reto 68"/>
          <p:cNvCxnSpPr>
            <a:stCxn id="45" idx="6"/>
            <a:endCxn id="53" idx="2"/>
          </p:cNvCxnSpPr>
          <p:nvPr/>
        </p:nvCxnSpPr>
        <p:spPr>
          <a:xfrm flipV="1">
            <a:off x="6959665" y="4653136"/>
            <a:ext cx="825918" cy="1440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 reto 69"/>
          <p:cNvCxnSpPr>
            <a:stCxn id="45" idx="4"/>
            <a:endCxn id="60" idx="3"/>
          </p:cNvCxnSpPr>
          <p:nvPr/>
        </p:nvCxnSpPr>
        <p:spPr>
          <a:xfrm flipV="1">
            <a:off x="6887657" y="5856181"/>
            <a:ext cx="919017" cy="3091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CaixaDeTexto 70"/>
              <p:cNvSpPr txBox="1"/>
              <p:nvPr/>
            </p:nvSpPr>
            <p:spPr>
              <a:xfrm>
                <a:off x="5412305" y="4509120"/>
                <a:ext cx="3741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/>
                        </a:rPr>
                        <m:t>𝑣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1" name="CaixaDeTexto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2305" y="4509120"/>
                <a:ext cx="374141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Retângulo 71"/>
              <p:cNvSpPr/>
              <p:nvPr/>
            </p:nvSpPr>
            <p:spPr>
              <a:xfrm>
                <a:off x="6506526" y="3275692"/>
                <a:ext cx="43973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2" name="Retângulo 7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6526" y="3275692"/>
                <a:ext cx="439736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tângulo 72"/>
              <p:cNvSpPr/>
              <p:nvPr/>
            </p:nvSpPr>
            <p:spPr>
              <a:xfrm>
                <a:off x="6506526" y="3995772"/>
                <a:ext cx="44505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3" name="Retângulo 7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6526" y="3995772"/>
                <a:ext cx="445058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Retângulo 73"/>
              <p:cNvSpPr/>
              <p:nvPr/>
            </p:nvSpPr>
            <p:spPr>
              <a:xfrm>
                <a:off x="6506526" y="4931876"/>
                <a:ext cx="44505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4" name="Retângulo 7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6526" y="4931876"/>
                <a:ext cx="445058" cy="36933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Retângulo 74"/>
              <p:cNvSpPr/>
              <p:nvPr/>
            </p:nvSpPr>
            <p:spPr>
              <a:xfrm>
                <a:off x="6506526" y="5651956"/>
                <a:ext cx="44505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5" name="Retângulo 7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6526" y="5651956"/>
                <a:ext cx="445058" cy="369332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Retângulo 75"/>
              <p:cNvSpPr/>
              <p:nvPr/>
            </p:nvSpPr>
            <p:spPr>
              <a:xfrm>
                <a:off x="7861668" y="3212976"/>
                <a:ext cx="46076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6" name="Retângulo 7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1668" y="3212976"/>
                <a:ext cx="460767" cy="369332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Retângulo 76"/>
              <p:cNvSpPr/>
              <p:nvPr/>
            </p:nvSpPr>
            <p:spPr>
              <a:xfrm>
                <a:off x="7861668" y="3789040"/>
                <a:ext cx="46608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7" name="Retângulo 7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1668" y="3789040"/>
                <a:ext cx="466089" cy="369332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Retângulo 77"/>
              <p:cNvSpPr/>
              <p:nvPr/>
            </p:nvSpPr>
            <p:spPr>
              <a:xfrm>
                <a:off x="7861668" y="4437112"/>
                <a:ext cx="46608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8" name="Retângulo 7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1668" y="4437112"/>
                <a:ext cx="466089" cy="369332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Retângulo 78"/>
              <p:cNvSpPr/>
              <p:nvPr/>
            </p:nvSpPr>
            <p:spPr>
              <a:xfrm>
                <a:off x="7861668" y="4941168"/>
                <a:ext cx="46608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9" name="Retângulo 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1668" y="4941168"/>
                <a:ext cx="466089" cy="369332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Retângulo 79"/>
              <p:cNvSpPr/>
              <p:nvPr/>
            </p:nvSpPr>
            <p:spPr>
              <a:xfrm>
                <a:off x="7874678" y="5517232"/>
                <a:ext cx="46609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80" name="Retângulo 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4678" y="5517232"/>
                <a:ext cx="466090" cy="369332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Retângulo 80"/>
              <p:cNvSpPr/>
              <p:nvPr/>
            </p:nvSpPr>
            <p:spPr>
              <a:xfrm>
                <a:off x="7874678" y="6084004"/>
                <a:ext cx="941733" cy="3907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6</m:t>
                        </m:r>
                      </m:sub>
                    </m:sSub>
                  </m:oMath>
                </a14:m>
                <a:r>
                  <a:rPr lang="pt-BR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3</m:t>
                        </m:r>
                        <m:r>
                          <a:rPr lang="pt-BR" i="1">
                            <a:latin typeface="Cambria Math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pt-BR" dirty="0"/>
                  <a:t>)</a:t>
                </a:r>
              </a:p>
            </p:txBody>
          </p:sp>
        </mc:Choice>
        <mc:Fallback xmlns="">
          <p:sp>
            <p:nvSpPr>
              <p:cNvPr id="81" name="Retângulo 8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4678" y="6084004"/>
                <a:ext cx="941733" cy="390748"/>
              </a:xfrm>
              <a:prstGeom prst="rect">
                <a:avLst/>
              </a:prstGeom>
              <a:blipFill rotWithShape="1">
                <a:blip r:embed="rId13"/>
                <a:stretch>
                  <a:fillRect t="-6250" r="-5195" b="-2031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pt-BR" sz="2000" dirty="0"/>
                  <a:t>Existe uma árvore de Steiner no grafo G, com no máximo k arestas, se e somente se, existe uma cobertura exata para a instância do problema X3C.</a:t>
                </a:r>
              </a:p>
              <a:p>
                <a:r>
                  <a:rPr lang="pt-BR" sz="2000" dirty="0"/>
                  <a:t>Assim, vimos que existe uma cobertura exata C’ para a instância do X3C apresentada (ou suponha para qualquer instância genérica do X3C).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pt-BR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00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𝐶</m:t>
                        </m:r>
                      </m:e>
                      <m:sup>
                        <m:r>
                          <a:rPr lang="pt-BR" sz="200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pt-BR" sz="2000" i="1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t-B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0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𝐶</m:t>
                            </m:r>
                          </m:e>
                          <m:sub>
                            <m:r>
                              <a:rPr lang="pt-BR" sz="20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pt-BR" sz="20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pt-B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0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𝐶</m:t>
                            </m:r>
                          </m:e>
                          <m:sub>
                            <m:r>
                              <a:rPr lang="pt-BR" sz="20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pt-BR" sz="2000" i="1">
                        <a:solidFill>
                          <a:schemeClr val="tx1"/>
                        </a:solidFill>
                        <a:latin typeface="Cambria Math"/>
                      </a:rPr>
                      <m:t>.</m:t>
                    </m:r>
                  </m:oMath>
                </a14:m>
                <a:endParaRPr lang="pt-BR" sz="2000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pt-BR" sz="2000" dirty="0"/>
                  <a:t>onde |C’| = q, pois X = 3q.</a:t>
                </a:r>
              </a:p>
              <a:p>
                <a:pPr lvl="1"/>
                <a:endParaRPr lang="pt-BR" sz="2000" dirty="0"/>
              </a:p>
              <a:p>
                <a:pPr lvl="1"/>
                <a:endParaRPr lang="pt-BR" sz="2000" dirty="0"/>
              </a:p>
              <a:p>
                <a:pPr lvl="1"/>
                <a:endParaRPr lang="pt-BR" sz="2000" dirty="0"/>
              </a:p>
              <a:p>
                <a:pPr lvl="1"/>
                <a:endParaRPr lang="pt-BR" sz="2000" dirty="0"/>
              </a:p>
              <a:p>
                <a:pPr lvl="1"/>
                <a:endParaRPr lang="pt-BR" sz="2000" dirty="0"/>
              </a:p>
              <a:p>
                <a:pPr marL="457200" lvl="1" indent="0">
                  <a:buNone/>
                </a:pPr>
                <a:endParaRPr lang="pt-BR" sz="2000" dirty="0"/>
              </a:p>
              <a:p>
                <a:pPr marL="457200" lvl="1" indent="0">
                  <a:buNone/>
                </a:pPr>
                <a:r>
                  <a:rPr lang="pt-BR" sz="2000" dirty="0"/>
                  <a:t> </a:t>
                </a:r>
              </a:p>
              <a:p>
                <a:endParaRPr lang="pt-BR" sz="2000" dirty="0"/>
              </a:p>
            </p:txBody>
          </p:sp>
        </mc:Choice>
        <mc:Fallback xmlns="">
          <p:sp>
            <p:nvSpPr>
              <p:cNvPr id="82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  <a:blipFill rotWithShape="1">
                <a:blip r:embed="rId14"/>
                <a:stretch>
                  <a:fillRect l="-593" t="-1348" r="-37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711469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Transformação Polinomial: X3C ∝ 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pt-BR" sz="2000" dirty="0"/>
                  <a:t>Existe uma árvore de Steiner no grafo G, com no máximo k arestas, se e somente se, existe uma cobertura exata para a instância do problema X3C.</a:t>
                </a:r>
              </a:p>
              <a:p>
                <a:r>
                  <a:rPr lang="pt-BR" sz="2000" dirty="0"/>
                  <a:t>Assim, vimos que existe uma cobertura exata C’ para a instância do X3C apresentada (ou suponha para qualquer instância genérica do X3C).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pt-BR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00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𝐶</m:t>
                        </m:r>
                      </m:e>
                      <m:sup>
                        <m:r>
                          <a:rPr lang="pt-BR" sz="200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pt-BR" sz="2000" i="1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t-B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0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𝐶</m:t>
                            </m:r>
                          </m:e>
                          <m:sub>
                            <m:r>
                              <a:rPr lang="pt-BR" sz="20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pt-BR" sz="20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pt-B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0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𝐶</m:t>
                            </m:r>
                          </m:e>
                          <m:sub>
                            <m:r>
                              <a:rPr lang="pt-BR" sz="20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pt-BR" sz="2000" i="1">
                        <a:solidFill>
                          <a:schemeClr val="tx1"/>
                        </a:solidFill>
                        <a:latin typeface="Cambria Math"/>
                      </a:rPr>
                      <m:t>.</m:t>
                    </m:r>
                  </m:oMath>
                </a14:m>
                <a:endParaRPr lang="pt-BR" sz="2000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pt-BR" sz="2000" dirty="0"/>
                  <a:t>onde |C’| = q, pois X = 3q.</a:t>
                </a:r>
              </a:p>
              <a:p>
                <a:pPr lvl="1"/>
                <a:r>
                  <a:rPr lang="pt-BR" sz="2000" dirty="0"/>
                  <a:t>Logo a árvore de gerada</a:t>
                </a:r>
              </a:p>
              <a:p>
                <a:pPr marL="457200" lvl="1" indent="0">
                  <a:buNone/>
                </a:pPr>
                <a:r>
                  <a:rPr lang="pt-BR" sz="2000" dirty="0"/>
                  <a:t>é uma árvore de Steiner resolvendo </a:t>
                </a:r>
              </a:p>
              <a:p>
                <a:pPr marL="457200" lvl="1" indent="0">
                  <a:buNone/>
                </a:pPr>
                <a:r>
                  <a:rPr lang="pt-BR" sz="2000" dirty="0"/>
                  <a:t>o problema ST com q + 3q arestas.</a:t>
                </a:r>
              </a:p>
              <a:p>
                <a:pPr marL="457200" lvl="1" indent="0">
                  <a:buNone/>
                </a:pPr>
                <a:r>
                  <a:rPr lang="pt-BR" sz="2000" dirty="0"/>
                  <a:t>Sendo que, q + 3q = 4q. Como </a:t>
                </a:r>
              </a:p>
              <a:p>
                <a:pPr marL="457200" lvl="1" indent="0">
                  <a:buNone/>
                </a:pPr>
                <a:r>
                  <a:rPr lang="pt-BR" sz="2000" dirty="0"/>
                  <a:t>definido anteriormente, </a:t>
                </a:r>
              </a:p>
              <a:p>
                <a:pPr marL="457200" lvl="1" indent="0">
                  <a:buNone/>
                </a:pPr>
                <a:r>
                  <a:rPr lang="pt-BR" sz="2000" dirty="0"/>
                  <a:t>4q = k arestas.</a:t>
                </a:r>
              </a:p>
              <a:p>
                <a:pPr marL="457200" lvl="1" indent="0">
                  <a:buNone/>
                </a:pPr>
                <a:r>
                  <a:rPr lang="pt-BR" sz="2000" dirty="0"/>
                  <a:t> </a:t>
                </a:r>
              </a:p>
              <a:p>
                <a:endParaRPr lang="pt-BR" sz="2000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593" t="-1348" r="-37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Elipse 42"/>
          <p:cNvSpPr/>
          <p:nvPr/>
        </p:nvSpPr>
        <p:spPr>
          <a:xfrm>
            <a:off x="5685649" y="4744889"/>
            <a:ext cx="144016" cy="14401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Elipse 43"/>
          <p:cNvSpPr/>
          <p:nvPr/>
        </p:nvSpPr>
        <p:spPr>
          <a:xfrm>
            <a:off x="6794558" y="4305192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Elipse 44"/>
          <p:cNvSpPr/>
          <p:nvPr/>
        </p:nvSpPr>
        <p:spPr>
          <a:xfrm>
            <a:off x="6815649" y="6021288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Elipse 45"/>
          <p:cNvSpPr/>
          <p:nvPr/>
        </p:nvSpPr>
        <p:spPr>
          <a:xfrm>
            <a:off x="6794558" y="3606017"/>
            <a:ext cx="144016" cy="14401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7" name="Conector reto 46"/>
          <p:cNvCxnSpPr>
            <a:stCxn id="43" idx="4"/>
            <a:endCxn id="45" idx="2"/>
          </p:cNvCxnSpPr>
          <p:nvPr/>
        </p:nvCxnSpPr>
        <p:spPr>
          <a:xfrm>
            <a:off x="5757657" y="4888905"/>
            <a:ext cx="1057992" cy="12043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to 47"/>
          <p:cNvCxnSpPr>
            <a:stCxn id="46" idx="1"/>
            <a:endCxn id="43" idx="0"/>
          </p:cNvCxnSpPr>
          <p:nvPr/>
        </p:nvCxnSpPr>
        <p:spPr>
          <a:xfrm flipH="1">
            <a:off x="5757657" y="3627108"/>
            <a:ext cx="1057992" cy="111778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aixaDeTexto 48"/>
              <p:cNvSpPr txBox="1"/>
              <p:nvPr/>
            </p:nvSpPr>
            <p:spPr>
              <a:xfrm>
                <a:off x="5402567" y="3284984"/>
                <a:ext cx="3935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/>
                        </a:rPr>
                        <m:t>𝐺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9" name="CaixaDeTexto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2567" y="3284984"/>
                <a:ext cx="393569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Conector reto 49"/>
          <p:cNvCxnSpPr>
            <a:stCxn id="43" idx="6"/>
            <a:endCxn id="44" idx="2"/>
          </p:cNvCxnSpPr>
          <p:nvPr/>
        </p:nvCxnSpPr>
        <p:spPr>
          <a:xfrm flipV="1">
            <a:off x="5829665" y="4377200"/>
            <a:ext cx="964893" cy="4396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Elipse 50"/>
          <p:cNvSpPr/>
          <p:nvPr/>
        </p:nvSpPr>
        <p:spPr>
          <a:xfrm>
            <a:off x="7785583" y="3429000"/>
            <a:ext cx="144016" cy="14401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Elipse 51"/>
          <p:cNvSpPr/>
          <p:nvPr/>
        </p:nvSpPr>
        <p:spPr>
          <a:xfrm>
            <a:off x="7785583" y="4005064"/>
            <a:ext cx="144016" cy="14401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Elipse 52"/>
          <p:cNvSpPr/>
          <p:nvPr/>
        </p:nvSpPr>
        <p:spPr>
          <a:xfrm>
            <a:off x="7785583" y="4581128"/>
            <a:ext cx="144016" cy="14401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4" name="Conector reto 53"/>
          <p:cNvCxnSpPr>
            <a:stCxn id="46" idx="7"/>
            <a:endCxn id="51" idx="2"/>
          </p:cNvCxnSpPr>
          <p:nvPr/>
        </p:nvCxnSpPr>
        <p:spPr>
          <a:xfrm flipV="1">
            <a:off x="6917483" y="3501008"/>
            <a:ext cx="868100" cy="1261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/>
          <p:cNvCxnSpPr>
            <a:stCxn id="46" idx="5"/>
            <a:endCxn id="53" idx="2"/>
          </p:cNvCxnSpPr>
          <p:nvPr/>
        </p:nvCxnSpPr>
        <p:spPr>
          <a:xfrm>
            <a:off x="6917483" y="3728942"/>
            <a:ext cx="868100" cy="92419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to 55"/>
          <p:cNvCxnSpPr>
            <a:stCxn id="46" idx="6"/>
            <a:endCxn id="52" idx="2"/>
          </p:cNvCxnSpPr>
          <p:nvPr/>
        </p:nvCxnSpPr>
        <p:spPr>
          <a:xfrm>
            <a:off x="6938574" y="3678025"/>
            <a:ext cx="847009" cy="39904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Elipse 56"/>
          <p:cNvSpPr/>
          <p:nvPr/>
        </p:nvSpPr>
        <p:spPr>
          <a:xfrm>
            <a:off x="6794558" y="5229200"/>
            <a:ext cx="144016" cy="14401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8" name="Conector reto 57"/>
          <p:cNvCxnSpPr>
            <a:stCxn id="43" idx="5"/>
            <a:endCxn id="57" idx="2"/>
          </p:cNvCxnSpPr>
          <p:nvPr/>
        </p:nvCxnSpPr>
        <p:spPr>
          <a:xfrm>
            <a:off x="5808574" y="4867814"/>
            <a:ext cx="985984" cy="43339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Elipse 58"/>
          <p:cNvSpPr/>
          <p:nvPr/>
        </p:nvSpPr>
        <p:spPr>
          <a:xfrm>
            <a:off x="7785583" y="5157192"/>
            <a:ext cx="144016" cy="14401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Elipse 59"/>
          <p:cNvSpPr/>
          <p:nvPr/>
        </p:nvSpPr>
        <p:spPr>
          <a:xfrm>
            <a:off x="7785583" y="5733256"/>
            <a:ext cx="144016" cy="14401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1" name="Elipse 60"/>
          <p:cNvSpPr/>
          <p:nvPr/>
        </p:nvSpPr>
        <p:spPr>
          <a:xfrm>
            <a:off x="7785583" y="6309320"/>
            <a:ext cx="144016" cy="14401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2" name="Conector reto 61"/>
          <p:cNvCxnSpPr>
            <a:stCxn id="44" idx="6"/>
            <a:endCxn id="53" idx="2"/>
          </p:cNvCxnSpPr>
          <p:nvPr/>
        </p:nvCxnSpPr>
        <p:spPr>
          <a:xfrm>
            <a:off x="6938574" y="4377200"/>
            <a:ext cx="847009" cy="2759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reto 62"/>
          <p:cNvCxnSpPr>
            <a:stCxn id="44" idx="5"/>
            <a:endCxn id="59" idx="2"/>
          </p:cNvCxnSpPr>
          <p:nvPr/>
        </p:nvCxnSpPr>
        <p:spPr>
          <a:xfrm>
            <a:off x="6917483" y="4428117"/>
            <a:ext cx="868100" cy="8010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to 63"/>
          <p:cNvCxnSpPr>
            <a:stCxn id="44" idx="5"/>
            <a:endCxn id="60" idx="2"/>
          </p:cNvCxnSpPr>
          <p:nvPr/>
        </p:nvCxnSpPr>
        <p:spPr>
          <a:xfrm>
            <a:off x="6917483" y="4428117"/>
            <a:ext cx="868100" cy="13771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to 64"/>
          <p:cNvCxnSpPr>
            <a:stCxn id="57" idx="6"/>
            <a:endCxn id="59" idx="2"/>
          </p:cNvCxnSpPr>
          <p:nvPr/>
        </p:nvCxnSpPr>
        <p:spPr>
          <a:xfrm flipV="1">
            <a:off x="6938574" y="5229200"/>
            <a:ext cx="847009" cy="7200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/>
          <p:cNvCxnSpPr>
            <a:stCxn id="57" idx="5"/>
            <a:endCxn id="60" idx="2"/>
          </p:cNvCxnSpPr>
          <p:nvPr/>
        </p:nvCxnSpPr>
        <p:spPr>
          <a:xfrm>
            <a:off x="6917483" y="5352125"/>
            <a:ext cx="868100" cy="45313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to 66"/>
          <p:cNvCxnSpPr>
            <a:stCxn id="57" idx="4"/>
            <a:endCxn id="61" idx="2"/>
          </p:cNvCxnSpPr>
          <p:nvPr/>
        </p:nvCxnSpPr>
        <p:spPr>
          <a:xfrm>
            <a:off x="6866566" y="5373216"/>
            <a:ext cx="919017" cy="100811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reto 67"/>
          <p:cNvCxnSpPr>
            <a:stCxn id="45" idx="6"/>
            <a:endCxn id="51" idx="3"/>
          </p:cNvCxnSpPr>
          <p:nvPr/>
        </p:nvCxnSpPr>
        <p:spPr>
          <a:xfrm flipV="1">
            <a:off x="6959665" y="3551925"/>
            <a:ext cx="847009" cy="25413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reto 68"/>
          <p:cNvCxnSpPr>
            <a:stCxn id="45" idx="6"/>
            <a:endCxn id="53" idx="2"/>
          </p:cNvCxnSpPr>
          <p:nvPr/>
        </p:nvCxnSpPr>
        <p:spPr>
          <a:xfrm flipV="1">
            <a:off x="6959665" y="4653136"/>
            <a:ext cx="825918" cy="1440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 reto 69"/>
          <p:cNvCxnSpPr>
            <a:stCxn id="45" idx="4"/>
            <a:endCxn id="60" idx="3"/>
          </p:cNvCxnSpPr>
          <p:nvPr/>
        </p:nvCxnSpPr>
        <p:spPr>
          <a:xfrm flipV="1">
            <a:off x="6887657" y="5856181"/>
            <a:ext cx="919017" cy="3091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CaixaDeTexto 70"/>
              <p:cNvSpPr txBox="1"/>
              <p:nvPr/>
            </p:nvSpPr>
            <p:spPr>
              <a:xfrm>
                <a:off x="5412305" y="4509120"/>
                <a:ext cx="3741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/>
                        </a:rPr>
                        <m:t>𝑣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1" name="CaixaDeTexto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2305" y="4509120"/>
                <a:ext cx="374141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Retângulo 71"/>
              <p:cNvSpPr/>
              <p:nvPr/>
            </p:nvSpPr>
            <p:spPr>
              <a:xfrm>
                <a:off x="6506526" y="3275692"/>
                <a:ext cx="43973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2" name="Retângulo 7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6526" y="3275692"/>
                <a:ext cx="439736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tângulo 72"/>
              <p:cNvSpPr/>
              <p:nvPr/>
            </p:nvSpPr>
            <p:spPr>
              <a:xfrm>
                <a:off x="6506526" y="3995772"/>
                <a:ext cx="44505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3" name="Retângulo 7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6526" y="3995772"/>
                <a:ext cx="445058" cy="36933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Retângulo 73"/>
              <p:cNvSpPr/>
              <p:nvPr/>
            </p:nvSpPr>
            <p:spPr>
              <a:xfrm>
                <a:off x="6506526" y="4931876"/>
                <a:ext cx="44505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4" name="Retângulo 7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6526" y="4931876"/>
                <a:ext cx="445058" cy="369332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Retângulo 74"/>
              <p:cNvSpPr/>
              <p:nvPr/>
            </p:nvSpPr>
            <p:spPr>
              <a:xfrm>
                <a:off x="6506526" y="5651956"/>
                <a:ext cx="44505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5" name="Retângulo 7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6526" y="5651956"/>
                <a:ext cx="445058" cy="369332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Retângulo 75"/>
              <p:cNvSpPr/>
              <p:nvPr/>
            </p:nvSpPr>
            <p:spPr>
              <a:xfrm>
                <a:off x="7861668" y="3212976"/>
                <a:ext cx="46076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6" name="Retângulo 7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1668" y="3212976"/>
                <a:ext cx="460767" cy="369332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Retângulo 76"/>
              <p:cNvSpPr/>
              <p:nvPr/>
            </p:nvSpPr>
            <p:spPr>
              <a:xfrm>
                <a:off x="7861668" y="3789040"/>
                <a:ext cx="46608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7" name="Retângulo 7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1668" y="3789040"/>
                <a:ext cx="466089" cy="369332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Retângulo 77"/>
              <p:cNvSpPr/>
              <p:nvPr/>
            </p:nvSpPr>
            <p:spPr>
              <a:xfrm>
                <a:off x="7861668" y="4437112"/>
                <a:ext cx="46608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8" name="Retângulo 7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1668" y="4437112"/>
                <a:ext cx="466089" cy="369332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Retângulo 78"/>
              <p:cNvSpPr/>
              <p:nvPr/>
            </p:nvSpPr>
            <p:spPr>
              <a:xfrm>
                <a:off x="7861668" y="4941168"/>
                <a:ext cx="46608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9" name="Retângulo 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1668" y="4941168"/>
                <a:ext cx="466089" cy="369332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Retângulo 79"/>
              <p:cNvSpPr/>
              <p:nvPr/>
            </p:nvSpPr>
            <p:spPr>
              <a:xfrm>
                <a:off x="7874678" y="5517232"/>
                <a:ext cx="46609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80" name="Retângulo 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4678" y="5517232"/>
                <a:ext cx="466090" cy="369332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Retângulo 80"/>
              <p:cNvSpPr/>
              <p:nvPr/>
            </p:nvSpPr>
            <p:spPr>
              <a:xfrm>
                <a:off x="7874678" y="6084004"/>
                <a:ext cx="941733" cy="3907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6</m:t>
                        </m:r>
                      </m:sub>
                    </m:sSub>
                  </m:oMath>
                </a14:m>
                <a:r>
                  <a:rPr lang="pt-BR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3</m:t>
                        </m:r>
                        <m:r>
                          <a:rPr lang="pt-BR" i="1">
                            <a:latin typeface="Cambria Math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pt-BR" dirty="0"/>
                  <a:t>)</a:t>
                </a:r>
              </a:p>
            </p:txBody>
          </p:sp>
        </mc:Choice>
        <mc:Fallback xmlns="">
          <p:sp>
            <p:nvSpPr>
              <p:cNvPr id="81" name="Retângulo 8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4678" y="6084004"/>
                <a:ext cx="941733" cy="390748"/>
              </a:xfrm>
              <a:prstGeom prst="rect">
                <a:avLst/>
              </a:prstGeom>
              <a:blipFill rotWithShape="1">
                <a:blip r:embed="rId14"/>
                <a:stretch>
                  <a:fillRect t="-6250" r="-5195" b="-2031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668368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Transformação Polinomial: X3C ∝ 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pt-BR" sz="2000" dirty="0"/>
                  <a:t>Existe uma árvore de Steiner no grafo G, com no máximo k arestas, se e somente se, existe uma cobertura exata para a instância do problema X3C.</a:t>
                </a:r>
              </a:p>
              <a:p>
                <a:r>
                  <a:rPr lang="pt-BR" sz="2000" dirty="0"/>
                  <a:t>Assim, vimos que existe uma cobertura exata C’ para a instância do X3C apresentada (ou suponha para qualquer instância genérica do X3C).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pt-BR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00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𝐶</m:t>
                        </m:r>
                      </m:e>
                      <m:sup>
                        <m:r>
                          <a:rPr lang="pt-BR" sz="200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pt-BR" sz="2000" i="1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t-B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0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𝐶</m:t>
                            </m:r>
                          </m:e>
                          <m:sub>
                            <m:r>
                              <a:rPr lang="pt-BR" sz="20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pt-BR" sz="20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pt-B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0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𝐶</m:t>
                            </m:r>
                          </m:e>
                          <m:sub>
                            <m:r>
                              <a:rPr lang="pt-BR" sz="20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pt-BR" sz="2000" i="1">
                        <a:solidFill>
                          <a:schemeClr val="tx1"/>
                        </a:solidFill>
                        <a:latin typeface="Cambria Math"/>
                      </a:rPr>
                      <m:t>.</m:t>
                    </m:r>
                  </m:oMath>
                </a14:m>
                <a:endParaRPr lang="pt-BR" sz="2000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pt-BR" sz="2000" dirty="0"/>
                  <a:t>onde |C’| = q, pois X = 3q.</a:t>
                </a:r>
              </a:p>
              <a:p>
                <a:pPr lvl="1"/>
                <a:r>
                  <a:rPr lang="pt-BR" sz="2000" dirty="0"/>
                  <a:t>Logo a árvore de gerada</a:t>
                </a:r>
              </a:p>
              <a:p>
                <a:pPr marL="457200" lvl="1" indent="0">
                  <a:buNone/>
                </a:pPr>
                <a:r>
                  <a:rPr lang="pt-BR" sz="2000" dirty="0"/>
                  <a:t>é uma árvore de Steiner resolvendo </a:t>
                </a:r>
              </a:p>
              <a:p>
                <a:pPr marL="457200" lvl="1" indent="0">
                  <a:buNone/>
                </a:pPr>
                <a:r>
                  <a:rPr lang="pt-BR" sz="2000" dirty="0"/>
                  <a:t>o problema ST com q + 3q arestas.</a:t>
                </a:r>
              </a:p>
              <a:p>
                <a:pPr marL="457200" lvl="1" indent="0">
                  <a:buNone/>
                </a:pPr>
                <a:r>
                  <a:rPr lang="pt-BR" sz="2000" dirty="0"/>
                  <a:t>Sendo que, q + 3q = 4q. Como </a:t>
                </a:r>
              </a:p>
              <a:p>
                <a:pPr marL="457200" lvl="1" indent="0">
                  <a:buNone/>
                </a:pPr>
                <a:r>
                  <a:rPr lang="pt-BR" sz="2000" dirty="0"/>
                  <a:t>definido anteriormente, </a:t>
                </a:r>
              </a:p>
              <a:p>
                <a:pPr marL="457200" lvl="1" indent="0">
                  <a:buNone/>
                </a:pPr>
                <a:r>
                  <a:rPr lang="pt-BR" sz="2000" dirty="0"/>
                  <a:t>4q = k arestas.</a:t>
                </a:r>
              </a:p>
              <a:p>
                <a:pPr marL="457200" lvl="1" indent="0">
                  <a:buNone/>
                </a:pPr>
                <a:r>
                  <a:rPr lang="pt-BR" sz="2000" dirty="0"/>
                  <a:t> </a:t>
                </a:r>
              </a:p>
              <a:p>
                <a:endParaRPr lang="pt-BR" sz="2000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593" t="-1348" r="-37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Elipse 42"/>
          <p:cNvSpPr/>
          <p:nvPr/>
        </p:nvSpPr>
        <p:spPr>
          <a:xfrm>
            <a:off x="5685649" y="4744889"/>
            <a:ext cx="144016" cy="14401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Elipse 43"/>
          <p:cNvSpPr/>
          <p:nvPr/>
        </p:nvSpPr>
        <p:spPr>
          <a:xfrm>
            <a:off x="6794558" y="4305192"/>
            <a:ext cx="144016" cy="144016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Elipse 44"/>
          <p:cNvSpPr/>
          <p:nvPr/>
        </p:nvSpPr>
        <p:spPr>
          <a:xfrm>
            <a:off x="6815649" y="6021288"/>
            <a:ext cx="144016" cy="144016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Elipse 45"/>
          <p:cNvSpPr/>
          <p:nvPr/>
        </p:nvSpPr>
        <p:spPr>
          <a:xfrm>
            <a:off x="6794558" y="3606017"/>
            <a:ext cx="144016" cy="14401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7" name="Conector reto 46"/>
          <p:cNvCxnSpPr>
            <a:stCxn id="43" idx="4"/>
            <a:endCxn id="45" idx="2"/>
          </p:cNvCxnSpPr>
          <p:nvPr/>
        </p:nvCxnSpPr>
        <p:spPr>
          <a:xfrm>
            <a:off x="5757657" y="4888905"/>
            <a:ext cx="1057992" cy="120439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to 47"/>
          <p:cNvCxnSpPr>
            <a:stCxn id="46" idx="1"/>
            <a:endCxn id="43" idx="0"/>
          </p:cNvCxnSpPr>
          <p:nvPr/>
        </p:nvCxnSpPr>
        <p:spPr>
          <a:xfrm flipH="1">
            <a:off x="5757657" y="3627108"/>
            <a:ext cx="1057992" cy="111778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aixaDeTexto 48"/>
              <p:cNvSpPr txBox="1"/>
              <p:nvPr/>
            </p:nvSpPr>
            <p:spPr>
              <a:xfrm>
                <a:off x="5402567" y="3284984"/>
                <a:ext cx="3935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/>
                        </a:rPr>
                        <m:t>𝐺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9" name="CaixaDeTexto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2567" y="3284984"/>
                <a:ext cx="393569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Conector reto 49"/>
          <p:cNvCxnSpPr>
            <a:stCxn id="43" idx="6"/>
            <a:endCxn id="44" idx="2"/>
          </p:cNvCxnSpPr>
          <p:nvPr/>
        </p:nvCxnSpPr>
        <p:spPr>
          <a:xfrm flipV="1">
            <a:off x="5829665" y="4377200"/>
            <a:ext cx="964893" cy="43969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Elipse 50"/>
          <p:cNvSpPr/>
          <p:nvPr/>
        </p:nvSpPr>
        <p:spPr>
          <a:xfrm>
            <a:off x="7785583" y="3429000"/>
            <a:ext cx="144016" cy="14401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Elipse 51"/>
          <p:cNvSpPr/>
          <p:nvPr/>
        </p:nvSpPr>
        <p:spPr>
          <a:xfrm>
            <a:off x="7785583" y="4005064"/>
            <a:ext cx="144016" cy="14401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Elipse 52"/>
          <p:cNvSpPr/>
          <p:nvPr/>
        </p:nvSpPr>
        <p:spPr>
          <a:xfrm>
            <a:off x="7785583" y="4581128"/>
            <a:ext cx="144016" cy="14401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4" name="Conector reto 53"/>
          <p:cNvCxnSpPr>
            <a:stCxn id="46" idx="7"/>
            <a:endCxn id="51" idx="2"/>
          </p:cNvCxnSpPr>
          <p:nvPr/>
        </p:nvCxnSpPr>
        <p:spPr>
          <a:xfrm flipV="1">
            <a:off x="6917483" y="3501008"/>
            <a:ext cx="868100" cy="1261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/>
          <p:cNvCxnSpPr>
            <a:stCxn id="46" idx="5"/>
            <a:endCxn id="53" idx="2"/>
          </p:cNvCxnSpPr>
          <p:nvPr/>
        </p:nvCxnSpPr>
        <p:spPr>
          <a:xfrm>
            <a:off x="6917483" y="3728942"/>
            <a:ext cx="868100" cy="92419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to 55"/>
          <p:cNvCxnSpPr>
            <a:stCxn id="46" idx="6"/>
            <a:endCxn id="52" idx="2"/>
          </p:cNvCxnSpPr>
          <p:nvPr/>
        </p:nvCxnSpPr>
        <p:spPr>
          <a:xfrm>
            <a:off x="6938574" y="3678025"/>
            <a:ext cx="847009" cy="39904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Elipse 56"/>
          <p:cNvSpPr/>
          <p:nvPr/>
        </p:nvSpPr>
        <p:spPr>
          <a:xfrm>
            <a:off x="6794558" y="5229200"/>
            <a:ext cx="144016" cy="14401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8" name="Conector reto 57"/>
          <p:cNvCxnSpPr>
            <a:stCxn id="43" idx="5"/>
            <a:endCxn id="57" idx="2"/>
          </p:cNvCxnSpPr>
          <p:nvPr/>
        </p:nvCxnSpPr>
        <p:spPr>
          <a:xfrm>
            <a:off x="5808574" y="4867814"/>
            <a:ext cx="985984" cy="43339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Elipse 58"/>
          <p:cNvSpPr/>
          <p:nvPr/>
        </p:nvSpPr>
        <p:spPr>
          <a:xfrm>
            <a:off x="7785583" y="5157192"/>
            <a:ext cx="144016" cy="14401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Elipse 59"/>
          <p:cNvSpPr/>
          <p:nvPr/>
        </p:nvSpPr>
        <p:spPr>
          <a:xfrm>
            <a:off x="7785583" y="5733256"/>
            <a:ext cx="144016" cy="14401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1" name="Elipse 60"/>
          <p:cNvSpPr/>
          <p:nvPr/>
        </p:nvSpPr>
        <p:spPr>
          <a:xfrm>
            <a:off x="7785583" y="6309320"/>
            <a:ext cx="144016" cy="14401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2" name="Conector reto 61"/>
          <p:cNvCxnSpPr>
            <a:stCxn id="44" idx="6"/>
            <a:endCxn id="53" idx="2"/>
          </p:cNvCxnSpPr>
          <p:nvPr/>
        </p:nvCxnSpPr>
        <p:spPr>
          <a:xfrm>
            <a:off x="6938574" y="4377200"/>
            <a:ext cx="847009" cy="2759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reto 62"/>
          <p:cNvCxnSpPr>
            <a:stCxn id="44" idx="5"/>
            <a:endCxn id="59" idx="2"/>
          </p:cNvCxnSpPr>
          <p:nvPr/>
        </p:nvCxnSpPr>
        <p:spPr>
          <a:xfrm>
            <a:off x="6917483" y="4428117"/>
            <a:ext cx="868100" cy="80108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to 63"/>
          <p:cNvCxnSpPr>
            <a:stCxn id="44" idx="5"/>
            <a:endCxn id="60" idx="2"/>
          </p:cNvCxnSpPr>
          <p:nvPr/>
        </p:nvCxnSpPr>
        <p:spPr>
          <a:xfrm>
            <a:off x="6917483" y="4428117"/>
            <a:ext cx="868100" cy="137714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to 64"/>
          <p:cNvCxnSpPr>
            <a:stCxn id="57" idx="6"/>
            <a:endCxn id="59" idx="2"/>
          </p:cNvCxnSpPr>
          <p:nvPr/>
        </p:nvCxnSpPr>
        <p:spPr>
          <a:xfrm flipV="1">
            <a:off x="6938574" y="5229200"/>
            <a:ext cx="847009" cy="7200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/>
          <p:cNvCxnSpPr>
            <a:stCxn id="57" idx="5"/>
            <a:endCxn id="60" idx="2"/>
          </p:cNvCxnSpPr>
          <p:nvPr/>
        </p:nvCxnSpPr>
        <p:spPr>
          <a:xfrm>
            <a:off x="6917483" y="5352125"/>
            <a:ext cx="868100" cy="45313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to 66"/>
          <p:cNvCxnSpPr>
            <a:stCxn id="57" idx="4"/>
            <a:endCxn id="61" idx="2"/>
          </p:cNvCxnSpPr>
          <p:nvPr/>
        </p:nvCxnSpPr>
        <p:spPr>
          <a:xfrm>
            <a:off x="6866566" y="5373216"/>
            <a:ext cx="919017" cy="100811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reto 67"/>
          <p:cNvCxnSpPr>
            <a:stCxn id="45" idx="6"/>
            <a:endCxn id="51" idx="3"/>
          </p:cNvCxnSpPr>
          <p:nvPr/>
        </p:nvCxnSpPr>
        <p:spPr>
          <a:xfrm flipV="1">
            <a:off x="6959665" y="3551925"/>
            <a:ext cx="847009" cy="254137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reto 68"/>
          <p:cNvCxnSpPr>
            <a:stCxn id="45" idx="6"/>
            <a:endCxn id="53" idx="2"/>
          </p:cNvCxnSpPr>
          <p:nvPr/>
        </p:nvCxnSpPr>
        <p:spPr>
          <a:xfrm flipV="1">
            <a:off x="6959665" y="4653136"/>
            <a:ext cx="825918" cy="144016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 reto 69"/>
          <p:cNvCxnSpPr>
            <a:stCxn id="45" idx="4"/>
            <a:endCxn id="60" idx="3"/>
          </p:cNvCxnSpPr>
          <p:nvPr/>
        </p:nvCxnSpPr>
        <p:spPr>
          <a:xfrm flipV="1">
            <a:off x="6887657" y="5856181"/>
            <a:ext cx="919017" cy="30912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CaixaDeTexto 70"/>
              <p:cNvSpPr txBox="1"/>
              <p:nvPr/>
            </p:nvSpPr>
            <p:spPr>
              <a:xfrm>
                <a:off x="5412305" y="4509120"/>
                <a:ext cx="3741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/>
                        </a:rPr>
                        <m:t>𝑣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1" name="CaixaDeTexto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2305" y="4509120"/>
                <a:ext cx="374141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Retângulo 71"/>
              <p:cNvSpPr/>
              <p:nvPr/>
            </p:nvSpPr>
            <p:spPr>
              <a:xfrm>
                <a:off x="6506526" y="3275692"/>
                <a:ext cx="43973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2" name="Retângulo 7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6526" y="3275692"/>
                <a:ext cx="439736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tângulo 72"/>
              <p:cNvSpPr/>
              <p:nvPr/>
            </p:nvSpPr>
            <p:spPr>
              <a:xfrm>
                <a:off x="6506526" y="3995772"/>
                <a:ext cx="44505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3" name="Retângulo 7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6526" y="3995772"/>
                <a:ext cx="445058" cy="36933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Retângulo 73"/>
              <p:cNvSpPr/>
              <p:nvPr/>
            </p:nvSpPr>
            <p:spPr>
              <a:xfrm>
                <a:off x="6506526" y="4931876"/>
                <a:ext cx="44505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4" name="Retângulo 7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6526" y="4931876"/>
                <a:ext cx="445058" cy="369332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Retângulo 74"/>
              <p:cNvSpPr/>
              <p:nvPr/>
            </p:nvSpPr>
            <p:spPr>
              <a:xfrm>
                <a:off x="6506526" y="5651956"/>
                <a:ext cx="44505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5" name="Retângulo 7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6526" y="5651956"/>
                <a:ext cx="445058" cy="369332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Retângulo 75"/>
              <p:cNvSpPr/>
              <p:nvPr/>
            </p:nvSpPr>
            <p:spPr>
              <a:xfrm>
                <a:off x="7861668" y="3212976"/>
                <a:ext cx="46076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6" name="Retângulo 7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1668" y="3212976"/>
                <a:ext cx="460767" cy="369332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Retângulo 76"/>
              <p:cNvSpPr/>
              <p:nvPr/>
            </p:nvSpPr>
            <p:spPr>
              <a:xfrm>
                <a:off x="7861668" y="3789040"/>
                <a:ext cx="46608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7" name="Retângulo 7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1668" y="3789040"/>
                <a:ext cx="466089" cy="369332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Retângulo 77"/>
              <p:cNvSpPr/>
              <p:nvPr/>
            </p:nvSpPr>
            <p:spPr>
              <a:xfrm>
                <a:off x="7861668" y="4437112"/>
                <a:ext cx="46608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8" name="Retângulo 7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1668" y="4437112"/>
                <a:ext cx="466089" cy="369332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Retângulo 78"/>
              <p:cNvSpPr/>
              <p:nvPr/>
            </p:nvSpPr>
            <p:spPr>
              <a:xfrm>
                <a:off x="7861668" y="4941168"/>
                <a:ext cx="46608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9" name="Retângulo 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1668" y="4941168"/>
                <a:ext cx="466089" cy="369332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Retângulo 79"/>
              <p:cNvSpPr/>
              <p:nvPr/>
            </p:nvSpPr>
            <p:spPr>
              <a:xfrm>
                <a:off x="7874678" y="5517232"/>
                <a:ext cx="46609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80" name="Retângulo 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4678" y="5517232"/>
                <a:ext cx="466090" cy="369332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Retângulo 80"/>
              <p:cNvSpPr/>
              <p:nvPr/>
            </p:nvSpPr>
            <p:spPr>
              <a:xfrm>
                <a:off x="7874678" y="6084004"/>
                <a:ext cx="941733" cy="3907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6</m:t>
                        </m:r>
                      </m:sub>
                    </m:sSub>
                  </m:oMath>
                </a14:m>
                <a:r>
                  <a:rPr lang="pt-BR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3</m:t>
                        </m:r>
                        <m:r>
                          <a:rPr lang="pt-BR" i="1">
                            <a:latin typeface="Cambria Math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pt-BR" dirty="0"/>
                  <a:t>)</a:t>
                </a:r>
              </a:p>
            </p:txBody>
          </p:sp>
        </mc:Choice>
        <mc:Fallback xmlns="">
          <p:sp>
            <p:nvSpPr>
              <p:cNvPr id="81" name="Retângulo 8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4678" y="6084004"/>
                <a:ext cx="941733" cy="390748"/>
              </a:xfrm>
              <a:prstGeom prst="rect">
                <a:avLst/>
              </a:prstGeom>
              <a:blipFill rotWithShape="1">
                <a:blip r:embed="rId14"/>
                <a:stretch>
                  <a:fillRect t="-6250" r="-5195" b="-2031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Conector de seta reta 81"/>
          <p:cNvCxnSpPr>
            <a:stCxn id="83" idx="2"/>
          </p:cNvCxnSpPr>
          <p:nvPr/>
        </p:nvCxnSpPr>
        <p:spPr>
          <a:xfrm>
            <a:off x="5484402" y="4057810"/>
            <a:ext cx="1310156" cy="102670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CaixaDeTexto 82"/>
          <p:cNvSpPr txBox="1"/>
          <p:nvPr/>
        </p:nvSpPr>
        <p:spPr>
          <a:xfrm>
            <a:off x="4860032" y="3750033"/>
            <a:ext cx="12487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Nós de Steiner</a:t>
            </a:r>
          </a:p>
        </p:txBody>
      </p:sp>
      <p:cxnSp>
        <p:nvCxnSpPr>
          <p:cNvPr id="5" name="Conector de seta reta 4"/>
          <p:cNvCxnSpPr>
            <a:stCxn id="83" idx="3"/>
          </p:cNvCxnSpPr>
          <p:nvPr/>
        </p:nvCxnSpPr>
        <p:spPr>
          <a:xfrm flipV="1">
            <a:off x="6108772" y="3789041"/>
            <a:ext cx="685786" cy="11488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de seta reta 83"/>
          <p:cNvCxnSpPr>
            <a:stCxn id="85" idx="0"/>
          </p:cNvCxnSpPr>
          <p:nvPr/>
        </p:nvCxnSpPr>
        <p:spPr>
          <a:xfrm flipV="1">
            <a:off x="4932589" y="4941168"/>
            <a:ext cx="646361" cy="27664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CaixaDeTexto 84"/>
          <p:cNvSpPr txBox="1"/>
          <p:nvPr/>
        </p:nvSpPr>
        <p:spPr>
          <a:xfrm>
            <a:off x="4141050" y="5217812"/>
            <a:ext cx="158307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O vértice v garante que o grafo gerado seja conexo.</a:t>
            </a:r>
          </a:p>
        </p:txBody>
      </p:sp>
    </p:spTree>
    <p:extLst>
      <p:ext uri="{BB962C8B-B14F-4D97-AF65-F5344CB8AC3E}">
        <p14:creationId xmlns:p14="http://schemas.microsoft.com/office/powerpoint/2010/main" val="127872822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Transformação Polinomial: X3C ∝ ST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Portanto, resolvendo o problema X3C (ou seja, se há uma cobertura exata), obtém-se uma árvore de Steiner com no máximo k arestas. </a:t>
            </a:r>
          </a:p>
        </p:txBody>
      </p:sp>
    </p:spTree>
    <p:extLst>
      <p:ext uri="{BB962C8B-B14F-4D97-AF65-F5344CB8AC3E}">
        <p14:creationId xmlns:p14="http://schemas.microsoft.com/office/powerpoint/2010/main" val="237928369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Transformação Polinomial: X3C ∝ 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4955105" cy="4525963"/>
              </a:xfrm>
            </p:spPr>
            <p:txBody>
              <a:bodyPr>
                <a:normAutofit/>
              </a:bodyPr>
              <a:lstStyle/>
              <a:p>
                <a:r>
                  <a:rPr lang="pt-BR" sz="2000" dirty="0"/>
                  <a:t>Suponha uma árvore de Steiner S, com no máximo 4q arestas.</a:t>
                </a:r>
              </a:p>
              <a:p>
                <a:r>
                  <a:rPr lang="pt-BR" sz="2000" dirty="0"/>
                  <a:t>Sendo assim, S contém 4q + 1 vértices e contem os vértices terminais: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pt-BR" sz="1800" i="1" smtClean="0">
                        <a:latin typeface="Cambria Math"/>
                      </a:rPr>
                      <m:t>𝑇</m:t>
                    </m:r>
                    <m:r>
                      <a:rPr lang="pt-BR" sz="1800" i="1">
                        <a:latin typeface="Cambria Math"/>
                      </a:rPr>
                      <m:t>={</m:t>
                    </m:r>
                    <m:r>
                      <a:rPr lang="pt-BR" sz="1800" i="1">
                        <a:latin typeface="Cambria Math"/>
                      </a:rPr>
                      <m:t>𝑣</m:t>
                    </m:r>
                    <m:r>
                      <a:rPr lang="pt-BR" sz="1800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pt-B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8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sz="18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1800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pt-B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800" i="1">
                            <a:latin typeface="Cambria Math"/>
                          </a:rPr>
                          <m:t> </m:t>
                        </m:r>
                        <m:r>
                          <a:rPr lang="pt-BR" sz="18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sz="1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t-BR" sz="1800" i="1">
                        <a:latin typeface="Cambria Math"/>
                      </a:rPr>
                      <m:t>, …,</m:t>
                    </m:r>
                    <m:sSub>
                      <m:sSubPr>
                        <m:ctrlPr>
                          <a:rPr lang="pt-B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8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sz="1800" i="1">
                            <a:latin typeface="Cambria Math"/>
                          </a:rPr>
                          <m:t>3</m:t>
                        </m:r>
                        <m:r>
                          <a:rPr lang="pt-BR" sz="1800" i="1">
                            <a:latin typeface="Cambria Math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pt-BR" sz="1800" dirty="0"/>
                  <a:t>}.</a:t>
                </a:r>
                <a:endParaRPr lang="pt-BR" sz="700" dirty="0"/>
              </a:p>
              <a:p>
                <a:r>
                  <a:rPr lang="pt-BR" sz="2000" dirty="0"/>
                  <a:t>Então, S contém no máximo q vértices do conjunto C (no exemplo ao lado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pt-BR" sz="20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000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pt-BR" sz="2000" b="0" i="1" smtClean="0"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r>
                  <a:rPr lang="pt-BR" sz="2000" dirty="0"/>
                  <a:t>), pois os restantes são terminais.</a:t>
                </a:r>
              </a:p>
              <a:p>
                <a:r>
                  <a:rPr lang="pt-BR" sz="2000" dirty="0"/>
                  <a:t>Como o grau dos vértices em C, que incidem em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sz="20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000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>
                            <a:latin typeface="Cambria Math"/>
                          </a:rPr>
                          <m:t> </m:t>
                        </m:r>
                        <m:r>
                          <a:rPr lang="pt-BR" sz="20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sz="20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t-BR" sz="2000" i="1">
                        <a:latin typeface="Cambria Math"/>
                      </a:rPr>
                      <m:t>, …,</m:t>
                    </m:r>
                    <m:sSub>
                      <m:sSubPr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sz="2000" i="1">
                            <a:latin typeface="Cambria Math"/>
                          </a:rPr>
                          <m:t>3</m:t>
                        </m:r>
                        <m:r>
                          <a:rPr lang="pt-BR" sz="2000" i="1">
                            <a:latin typeface="Cambria Math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pt-BR" sz="2000" dirty="0"/>
                  <a:t> é igual a 3, temos todos os vértices terminais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sz="20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000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>
                            <a:latin typeface="Cambria Math"/>
                          </a:rPr>
                          <m:t> </m:t>
                        </m:r>
                        <m:r>
                          <a:rPr lang="pt-BR" sz="20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sz="20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t-BR" sz="2000" i="1">
                        <a:latin typeface="Cambria Math"/>
                      </a:rPr>
                      <m:t>, …,</m:t>
                    </m:r>
                    <m:sSub>
                      <m:sSubPr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sz="2000" i="1">
                            <a:latin typeface="Cambria Math"/>
                          </a:rPr>
                          <m:t>3</m:t>
                        </m:r>
                        <m:r>
                          <a:rPr lang="pt-BR" sz="2000" i="1">
                            <a:latin typeface="Cambria Math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pt-BR" sz="2000" dirty="0"/>
                  <a:t> cobertos uma única vez por cada elemento de C.</a:t>
                </a:r>
              </a:p>
              <a:p>
                <a:endParaRPr lang="pt-BR" sz="2000" dirty="0"/>
              </a:p>
              <a:p>
                <a:endParaRPr lang="pt-BR" sz="2000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4955105" cy="4525963"/>
              </a:xfrm>
              <a:blipFill rotWithShape="1">
                <a:blip r:embed="rId2"/>
                <a:stretch>
                  <a:fillRect l="-984" t="-674" r="-36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Elipse 42"/>
          <p:cNvSpPr/>
          <p:nvPr/>
        </p:nvSpPr>
        <p:spPr>
          <a:xfrm>
            <a:off x="5685649" y="4744889"/>
            <a:ext cx="144016" cy="14401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Elipse 43"/>
          <p:cNvSpPr/>
          <p:nvPr/>
        </p:nvSpPr>
        <p:spPr>
          <a:xfrm>
            <a:off x="6794558" y="4305192"/>
            <a:ext cx="144016" cy="144016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Elipse 44"/>
          <p:cNvSpPr/>
          <p:nvPr/>
        </p:nvSpPr>
        <p:spPr>
          <a:xfrm>
            <a:off x="6815649" y="6021288"/>
            <a:ext cx="144016" cy="144016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Elipse 45"/>
          <p:cNvSpPr/>
          <p:nvPr/>
        </p:nvSpPr>
        <p:spPr>
          <a:xfrm>
            <a:off x="6794558" y="3606017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7" name="Conector reto 46"/>
          <p:cNvCxnSpPr>
            <a:stCxn id="43" idx="4"/>
            <a:endCxn id="45" idx="2"/>
          </p:cNvCxnSpPr>
          <p:nvPr/>
        </p:nvCxnSpPr>
        <p:spPr>
          <a:xfrm>
            <a:off x="5757657" y="4888905"/>
            <a:ext cx="1057992" cy="120439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to 47"/>
          <p:cNvCxnSpPr>
            <a:stCxn id="46" idx="1"/>
            <a:endCxn id="43" idx="0"/>
          </p:cNvCxnSpPr>
          <p:nvPr/>
        </p:nvCxnSpPr>
        <p:spPr>
          <a:xfrm flipH="1">
            <a:off x="5757657" y="3627108"/>
            <a:ext cx="1057992" cy="111778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aixaDeTexto 48"/>
              <p:cNvSpPr txBox="1"/>
              <p:nvPr/>
            </p:nvSpPr>
            <p:spPr>
              <a:xfrm>
                <a:off x="5402567" y="3284984"/>
                <a:ext cx="3935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/>
                        </a:rPr>
                        <m:t>𝐺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9" name="CaixaDeTexto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2567" y="3284984"/>
                <a:ext cx="393569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Conector reto 49"/>
          <p:cNvCxnSpPr>
            <a:stCxn id="43" idx="6"/>
            <a:endCxn id="44" idx="2"/>
          </p:cNvCxnSpPr>
          <p:nvPr/>
        </p:nvCxnSpPr>
        <p:spPr>
          <a:xfrm flipV="1">
            <a:off x="5829665" y="4377200"/>
            <a:ext cx="964893" cy="43969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Elipse 50"/>
          <p:cNvSpPr/>
          <p:nvPr/>
        </p:nvSpPr>
        <p:spPr>
          <a:xfrm>
            <a:off x="7785583" y="3429000"/>
            <a:ext cx="144016" cy="14401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Elipse 51"/>
          <p:cNvSpPr/>
          <p:nvPr/>
        </p:nvSpPr>
        <p:spPr>
          <a:xfrm>
            <a:off x="7785583" y="4005064"/>
            <a:ext cx="144016" cy="14401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Elipse 52"/>
          <p:cNvSpPr/>
          <p:nvPr/>
        </p:nvSpPr>
        <p:spPr>
          <a:xfrm>
            <a:off x="7785583" y="4581128"/>
            <a:ext cx="144016" cy="14401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4" name="Conector reto 53"/>
          <p:cNvCxnSpPr>
            <a:stCxn id="46" idx="7"/>
            <a:endCxn id="51" idx="2"/>
          </p:cNvCxnSpPr>
          <p:nvPr/>
        </p:nvCxnSpPr>
        <p:spPr>
          <a:xfrm flipV="1">
            <a:off x="6917483" y="3501008"/>
            <a:ext cx="868100" cy="1261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/>
          <p:cNvCxnSpPr>
            <a:stCxn id="46" idx="5"/>
            <a:endCxn id="53" idx="2"/>
          </p:cNvCxnSpPr>
          <p:nvPr/>
        </p:nvCxnSpPr>
        <p:spPr>
          <a:xfrm>
            <a:off x="6917483" y="3728942"/>
            <a:ext cx="868100" cy="92419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to 55"/>
          <p:cNvCxnSpPr>
            <a:stCxn id="46" idx="6"/>
            <a:endCxn id="52" idx="2"/>
          </p:cNvCxnSpPr>
          <p:nvPr/>
        </p:nvCxnSpPr>
        <p:spPr>
          <a:xfrm>
            <a:off x="6938574" y="3678025"/>
            <a:ext cx="847009" cy="39904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Elipse 56"/>
          <p:cNvSpPr/>
          <p:nvPr/>
        </p:nvSpPr>
        <p:spPr>
          <a:xfrm>
            <a:off x="6794558" y="5229200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8" name="Conector reto 57"/>
          <p:cNvCxnSpPr>
            <a:stCxn id="43" idx="5"/>
            <a:endCxn id="57" idx="2"/>
          </p:cNvCxnSpPr>
          <p:nvPr/>
        </p:nvCxnSpPr>
        <p:spPr>
          <a:xfrm>
            <a:off x="5808574" y="4867814"/>
            <a:ext cx="985984" cy="43339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Elipse 58"/>
          <p:cNvSpPr/>
          <p:nvPr/>
        </p:nvSpPr>
        <p:spPr>
          <a:xfrm>
            <a:off x="7785583" y="5157192"/>
            <a:ext cx="144016" cy="14401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Elipse 59"/>
          <p:cNvSpPr/>
          <p:nvPr/>
        </p:nvSpPr>
        <p:spPr>
          <a:xfrm>
            <a:off x="7785583" y="5733256"/>
            <a:ext cx="144016" cy="14401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1" name="Elipse 60"/>
          <p:cNvSpPr/>
          <p:nvPr/>
        </p:nvSpPr>
        <p:spPr>
          <a:xfrm>
            <a:off x="7785583" y="6309320"/>
            <a:ext cx="144016" cy="14401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2" name="Conector reto 61"/>
          <p:cNvCxnSpPr>
            <a:stCxn id="44" idx="6"/>
            <a:endCxn id="53" idx="2"/>
          </p:cNvCxnSpPr>
          <p:nvPr/>
        </p:nvCxnSpPr>
        <p:spPr>
          <a:xfrm>
            <a:off x="6938574" y="4377200"/>
            <a:ext cx="847009" cy="2759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reto 62"/>
          <p:cNvCxnSpPr>
            <a:stCxn id="44" idx="5"/>
            <a:endCxn id="59" idx="2"/>
          </p:cNvCxnSpPr>
          <p:nvPr/>
        </p:nvCxnSpPr>
        <p:spPr>
          <a:xfrm>
            <a:off x="6917483" y="4428117"/>
            <a:ext cx="868100" cy="80108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to 63"/>
          <p:cNvCxnSpPr>
            <a:stCxn id="44" idx="5"/>
            <a:endCxn id="60" idx="2"/>
          </p:cNvCxnSpPr>
          <p:nvPr/>
        </p:nvCxnSpPr>
        <p:spPr>
          <a:xfrm>
            <a:off x="6917483" y="4428117"/>
            <a:ext cx="868100" cy="137714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to 64"/>
          <p:cNvCxnSpPr>
            <a:stCxn id="57" idx="6"/>
            <a:endCxn id="59" idx="2"/>
          </p:cNvCxnSpPr>
          <p:nvPr/>
        </p:nvCxnSpPr>
        <p:spPr>
          <a:xfrm flipV="1">
            <a:off x="6938574" y="5229200"/>
            <a:ext cx="847009" cy="7200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/>
          <p:cNvCxnSpPr>
            <a:stCxn id="57" idx="5"/>
            <a:endCxn id="60" idx="2"/>
          </p:cNvCxnSpPr>
          <p:nvPr/>
        </p:nvCxnSpPr>
        <p:spPr>
          <a:xfrm>
            <a:off x="6917483" y="5352125"/>
            <a:ext cx="868100" cy="45313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to 66"/>
          <p:cNvCxnSpPr>
            <a:stCxn id="57" idx="4"/>
            <a:endCxn id="61" idx="2"/>
          </p:cNvCxnSpPr>
          <p:nvPr/>
        </p:nvCxnSpPr>
        <p:spPr>
          <a:xfrm>
            <a:off x="6866566" y="5373216"/>
            <a:ext cx="919017" cy="100811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reto 67"/>
          <p:cNvCxnSpPr>
            <a:stCxn id="45" idx="6"/>
            <a:endCxn id="51" idx="3"/>
          </p:cNvCxnSpPr>
          <p:nvPr/>
        </p:nvCxnSpPr>
        <p:spPr>
          <a:xfrm flipV="1">
            <a:off x="6959665" y="3551925"/>
            <a:ext cx="847009" cy="254137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reto 68"/>
          <p:cNvCxnSpPr>
            <a:stCxn id="45" idx="6"/>
            <a:endCxn id="53" idx="2"/>
          </p:cNvCxnSpPr>
          <p:nvPr/>
        </p:nvCxnSpPr>
        <p:spPr>
          <a:xfrm flipV="1">
            <a:off x="6959665" y="4653136"/>
            <a:ext cx="825918" cy="144016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 reto 69"/>
          <p:cNvCxnSpPr>
            <a:stCxn id="45" idx="4"/>
            <a:endCxn id="60" idx="3"/>
          </p:cNvCxnSpPr>
          <p:nvPr/>
        </p:nvCxnSpPr>
        <p:spPr>
          <a:xfrm flipV="1">
            <a:off x="6887657" y="5856181"/>
            <a:ext cx="919017" cy="30912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CaixaDeTexto 70"/>
              <p:cNvSpPr txBox="1"/>
              <p:nvPr/>
            </p:nvSpPr>
            <p:spPr>
              <a:xfrm>
                <a:off x="5412305" y="4509120"/>
                <a:ext cx="3741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/>
                        </a:rPr>
                        <m:t>𝑣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1" name="CaixaDeTexto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2305" y="4509120"/>
                <a:ext cx="374141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Retângulo 71"/>
              <p:cNvSpPr/>
              <p:nvPr/>
            </p:nvSpPr>
            <p:spPr>
              <a:xfrm>
                <a:off x="6506526" y="3275692"/>
                <a:ext cx="43973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2" name="Retângulo 7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6526" y="3275692"/>
                <a:ext cx="439736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tângulo 72"/>
              <p:cNvSpPr/>
              <p:nvPr/>
            </p:nvSpPr>
            <p:spPr>
              <a:xfrm>
                <a:off x="6506526" y="3995772"/>
                <a:ext cx="44505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3" name="Retângulo 7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6526" y="3995772"/>
                <a:ext cx="445058" cy="36933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Retângulo 73"/>
              <p:cNvSpPr/>
              <p:nvPr/>
            </p:nvSpPr>
            <p:spPr>
              <a:xfrm>
                <a:off x="6506526" y="4931876"/>
                <a:ext cx="44505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4" name="Retângulo 7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6526" y="4931876"/>
                <a:ext cx="445058" cy="369332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Retângulo 74"/>
              <p:cNvSpPr/>
              <p:nvPr/>
            </p:nvSpPr>
            <p:spPr>
              <a:xfrm>
                <a:off x="6506526" y="5651956"/>
                <a:ext cx="44505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5" name="Retângulo 7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6526" y="5651956"/>
                <a:ext cx="445058" cy="369332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Retângulo 75"/>
              <p:cNvSpPr/>
              <p:nvPr/>
            </p:nvSpPr>
            <p:spPr>
              <a:xfrm>
                <a:off x="7861668" y="3212976"/>
                <a:ext cx="46076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6" name="Retângulo 7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1668" y="3212976"/>
                <a:ext cx="460767" cy="369332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Retângulo 76"/>
              <p:cNvSpPr/>
              <p:nvPr/>
            </p:nvSpPr>
            <p:spPr>
              <a:xfrm>
                <a:off x="7861668" y="3789040"/>
                <a:ext cx="46608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7" name="Retângulo 7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1668" y="3789040"/>
                <a:ext cx="466089" cy="369332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Retângulo 77"/>
              <p:cNvSpPr/>
              <p:nvPr/>
            </p:nvSpPr>
            <p:spPr>
              <a:xfrm>
                <a:off x="7861668" y="4437112"/>
                <a:ext cx="46608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8" name="Retângulo 7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1668" y="4437112"/>
                <a:ext cx="466089" cy="369332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Retângulo 78"/>
              <p:cNvSpPr/>
              <p:nvPr/>
            </p:nvSpPr>
            <p:spPr>
              <a:xfrm>
                <a:off x="7861668" y="4941168"/>
                <a:ext cx="46608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9" name="Retângulo 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1668" y="4941168"/>
                <a:ext cx="466089" cy="369332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Retângulo 79"/>
              <p:cNvSpPr/>
              <p:nvPr/>
            </p:nvSpPr>
            <p:spPr>
              <a:xfrm>
                <a:off x="7874678" y="5517232"/>
                <a:ext cx="46609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80" name="Retângulo 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4678" y="5517232"/>
                <a:ext cx="466090" cy="369332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Retângulo 80"/>
              <p:cNvSpPr/>
              <p:nvPr/>
            </p:nvSpPr>
            <p:spPr>
              <a:xfrm>
                <a:off x="7874678" y="6084004"/>
                <a:ext cx="941733" cy="3907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6</m:t>
                        </m:r>
                      </m:sub>
                    </m:sSub>
                  </m:oMath>
                </a14:m>
                <a:r>
                  <a:rPr lang="pt-BR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3</m:t>
                        </m:r>
                        <m:r>
                          <a:rPr lang="pt-BR" i="1">
                            <a:latin typeface="Cambria Math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pt-BR" dirty="0"/>
                  <a:t>)</a:t>
                </a:r>
              </a:p>
            </p:txBody>
          </p:sp>
        </mc:Choice>
        <mc:Fallback xmlns="">
          <p:sp>
            <p:nvSpPr>
              <p:cNvPr id="81" name="Retângulo 8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4678" y="6084004"/>
                <a:ext cx="941733" cy="390748"/>
              </a:xfrm>
              <a:prstGeom prst="rect">
                <a:avLst/>
              </a:prstGeom>
              <a:blipFill rotWithShape="1">
                <a:blip r:embed="rId14"/>
                <a:stretch>
                  <a:fillRect t="-6250" r="-5195" b="-2031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964581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Transformação Polinomial: X3C ∝ 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4955105" cy="4525963"/>
              </a:xfrm>
            </p:spPr>
            <p:txBody>
              <a:bodyPr>
                <a:normAutofit/>
              </a:bodyPr>
              <a:lstStyle/>
              <a:p>
                <a:r>
                  <a:rPr lang="pt-BR" sz="2000" dirty="0"/>
                  <a:t>Assim, sendo os vértices em C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pt-BR" sz="20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000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pt-BR" sz="2000" i="1"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r>
                  <a:rPr lang="pt-BR" sz="2000" dirty="0"/>
                  <a:t> (no exemplo ao lado), então a solução C’ do problema do X3C é dada pelo conjunto:</a:t>
                </a:r>
              </a:p>
              <a:p>
                <a:pPr marL="342900" lvl="2" indent="-342900"/>
                <a14:m>
                  <m:oMath xmlns:m="http://schemas.openxmlformats.org/officeDocument/2006/math">
                    <m:r>
                      <a:rPr lang="pt-BR" sz="2000" i="1">
                        <a:solidFill>
                          <a:srgbClr val="FF0000"/>
                        </a:solidFill>
                        <a:latin typeface="Cambria Math"/>
                      </a:rPr>
                      <m:t>𝐶</m:t>
                    </m:r>
                    <m:r>
                      <a:rPr lang="pt-BR" sz="2000" i="1">
                        <a:solidFill>
                          <a:srgbClr val="FF0000"/>
                        </a:solidFill>
                        <a:latin typeface="Cambria Math"/>
                      </a:rPr>
                      <m:t>′=</m:t>
                    </m:r>
                    <m:d>
                      <m:dPr>
                        <m:begChr m:val="{"/>
                        <m:endChr m:val="}"/>
                        <m:ctrlPr>
                          <a:rPr lang="pt-BR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0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𝐶</m:t>
                            </m:r>
                          </m:e>
                          <m:sub>
                            <m:r>
                              <a:rPr lang="pt-BR" sz="20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pt-BR" sz="2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pt-BR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0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𝐶</m:t>
                            </m:r>
                          </m:e>
                          <m:sub>
                            <m:r>
                              <a:rPr lang="pt-BR" sz="20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pt-BR" sz="2000" i="1">
                        <a:solidFill>
                          <a:srgbClr val="FF0000"/>
                        </a:solidFill>
                        <a:latin typeface="Cambria Math"/>
                      </a:rPr>
                      <m:t>.</m:t>
                    </m:r>
                  </m:oMath>
                </a14:m>
                <a:endParaRPr lang="pt-BR" sz="2000" dirty="0">
                  <a:solidFill>
                    <a:srgbClr val="FF0000"/>
                  </a:solidFill>
                </a:endParaRPr>
              </a:p>
              <a:p>
                <a:endParaRPr lang="pt-BR" sz="2000" dirty="0"/>
              </a:p>
              <a:p>
                <a:endParaRPr lang="pt-BR" sz="2000" dirty="0"/>
              </a:p>
              <a:p>
                <a:endParaRPr lang="pt-BR" sz="2000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4955105" cy="4525963"/>
              </a:xfrm>
              <a:blipFill rotWithShape="1">
                <a:blip r:embed="rId2"/>
                <a:stretch>
                  <a:fillRect l="-984" t="-674" r="-73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Elipse 42"/>
          <p:cNvSpPr/>
          <p:nvPr/>
        </p:nvSpPr>
        <p:spPr>
          <a:xfrm>
            <a:off x="5685649" y="4744889"/>
            <a:ext cx="144016" cy="14401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Elipse 43"/>
          <p:cNvSpPr/>
          <p:nvPr/>
        </p:nvSpPr>
        <p:spPr>
          <a:xfrm>
            <a:off x="6794558" y="4305192"/>
            <a:ext cx="144016" cy="144016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Elipse 44"/>
          <p:cNvSpPr/>
          <p:nvPr/>
        </p:nvSpPr>
        <p:spPr>
          <a:xfrm>
            <a:off x="6815649" y="6021288"/>
            <a:ext cx="144016" cy="144016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Elipse 45"/>
          <p:cNvSpPr/>
          <p:nvPr/>
        </p:nvSpPr>
        <p:spPr>
          <a:xfrm>
            <a:off x="6794558" y="3606017"/>
            <a:ext cx="144016" cy="14401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7" name="Conector reto 46"/>
          <p:cNvCxnSpPr>
            <a:stCxn id="43" idx="4"/>
            <a:endCxn id="45" idx="2"/>
          </p:cNvCxnSpPr>
          <p:nvPr/>
        </p:nvCxnSpPr>
        <p:spPr>
          <a:xfrm>
            <a:off x="5757657" y="4888905"/>
            <a:ext cx="1057992" cy="120439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to 47"/>
          <p:cNvCxnSpPr>
            <a:stCxn id="46" idx="1"/>
            <a:endCxn id="43" idx="0"/>
          </p:cNvCxnSpPr>
          <p:nvPr/>
        </p:nvCxnSpPr>
        <p:spPr>
          <a:xfrm flipH="1">
            <a:off x="5757657" y="3627108"/>
            <a:ext cx="1057992" cy="111778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aixaDeTexto 48"/>
              <p:cNvSpPr txBox="1"/>
              <p:nvPr/>
            </p:nvSpPr>
            <p:spPr>
              <a:xfrm>
                <a:off x="5402567" y="3284984"/>
                <a:ext cx="3935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/>
                        </a:rPr>
                        <m:t>𝐺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9" name="CaixaDeTexto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2567" y="3284984"/>
                <a:ext cx="393569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Conector reto 49"/>
          <p:cNvCxnSpPr>
            <a:stCxn id="43" idx="6"/>
            <a:endCxn id="44" idx="2"/>
          </p:cNvCxnSpPr>
          <p:nvPr/>
        </p:nvCxnSpPr>
        <p:spPr>
          <a:xfrm flipV="1">
            <a:off x="5829665" y="4377200"/>
            <a:ext cx="964893" cy="43969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Elipse 50"/>
          <p:cNvSpPr/>
          <p:nvPr/>
        </p:nvSpPr>
        <p:spPr>
          <a:xfrm>
            <a:off x="7785583" y="3429000"/>
            <a:ext cx="144016" cy="14401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Elipse 51"/>
          <p:cNvSpPr/>
          <p:nvPr/>
        </p:nvSpPr>
        <p:spPr>
          <a:xfrm>
            <a:off x="7785583" y="4005064"/>
            <a:ext cx="144016" cy="14401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Elipse 52"/>
          <p:cNvSpPr/>
          <p:nvPr/>
        </p:nvSpPr>
        <p:spPr>
          <a:xfrm>
            <a:off x="7785583" y="4581128"/>
            <a:ext cx="144016" cy="14401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4" name="Conector reto 53"/>
          <p:cNvCxnSpPr>
            <a:stCxn id="46" idx="7"/>
            <a:endCxn id="51" idx="2"/>
          </p:cNvCxnSpPr>
          <p:nvPr/>
        </p:nvCxnSpPr>
        <p:spPr>
          <a:xfrm flipV="1">
            <a:off x="6917483" y="3501008"/>
            <a:ext cx="868100" cy="1261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/>
          <p:cNvCxnSpPr>
            <a:stCxn id="46" idx="5"/>
            <a:endCxn id="53" idx="2"/>
          </p:cNvCxnSpPr>
          <p:nvPr/>
        </p:nvCxnSpPr>
        <p:spPr>
          <a:xfrm>
            <a:off x="6917483" y="3728942"/>
            <a:ext cx="868100" cy="92419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to 55"/>
          <p:cNvCxnSpPr>
            <a:stCxn id="46" idx="6"/>
            <a:endCxn id="52" idx="2"/>
          </p:cNvCxnSpPr>
          <p:nvPr/>
        </p:nvCxnSpPr>
        <p:spPr>
          <a:xfrm>
            <a:off x="6938574" y="3678025"/>
            <a:ext cx="847009" cy="39904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Elipse 56"/>
          <p:cNvSpPr/>
          <p:nvPr/>
        </p:nvSpPr>
        <p:spPr>
          <a:xfrm>
            <a:off x="6794558" y="5229200"/>
            <a:ext cx="144016" cy="14401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8" name="Conector reto 57"/>
          <p:cNvCxnSpPr>
            <a:stCxn id="43" idx="5"/>
            <a:endCxn id="57" idx="2"/>
          </p:cNvCxnSpPr>
          <p:nvPr/>
        </p:nvCxnSpPr>
        <p:spPr>
          <a:xfrm>
            <a:off x="5808574" y="4867814"/>
            <a:ext cx="985984" cy="43339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Elipse 58"/>
          <p:cNvSpPr/>
          <p:nvPr/>
        </p:nvSpPr>
        <p:spPr>
          <a:xfrm>
            <a:off x="7785583" y="5157192"/>
            <a:ext cx="144016" cy="14401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Elipse 59"/>
          <p:cNvSpPr/>
          <p:nvPr/>
        </p:nvSpPr>
        <p:spPr>
          <a:xfrm>
            <a:off x="7785583" y="5733256"/>
            <a:ext cx="144016" cy="14401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1" name="Elipse 60"/>
          <p:cNvSpPr/>
          <p:nvPr/>
        </p:nvSpPr>
        <p:spPr>
          <a:xfrm>
            <a:off x="7785583" y="6309320"/>
            <a:ext cx="144016" cy="14401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2" name="Conector reto 61"/>
          <p:cNvCxnSpPr>
            <a:stCxn id="44" idx="6"/>
            <a:endCxn id="53" idx="2"/>
          </p:cNvCxnSpPr>
          <p:nvPr/>
        </p:nvCxnSpPr>
        <p:spPr>
          <a:xfrm>
            <a:off x="6938574" y="4377200"/>
            <a:ext cx="847009" cy="2759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reto 62"/>
          <p:cNvCxnSpPr>
            <a:stCxn id="44" idx="5"/>
            <a:endCxn id="59" idx="2"/>
          </p:cNvCxnSpPr>
          <p:nvPr/>
        </p:nvCxnSpPr>
        <p:spPr>
          <a:xfrm>
            <a:off x="6917483" y="4428117"/>
            <a:ext cx="868100" cy="80108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to 63"/>
          <p:cNvCxnSpPr>
            <a:stCxn id="44" idx="5"/>
            <a:endCxn id="60" idx="2"/>
          </p:cNvCxnSpPr>
          <p:nvPr/>
        </p:nvCxnSpPr>
        <p:spPr>
          <a:xfrm>
            <a:off x="6917483" y="4428117"/>
            <a:ext cx="868100" cy="137714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to 64"/>
          <p:cNvCxnSpPr>
            <a:stCxn id="57" idx="6"/>
            <a:endCxn id="59" idx="2"/>
          </p:cNvCxnSpPr>
          <p:nvPr/>
        </p:nvCxnSpPr>
        <p:spPr>
          <a:xfrm flipV="1">
            <a:off x="6938574" y="5229200"/>
            <a:ext cx="847009" cy="7200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/>
          <p:cNvCxnSpPr>
            <a:stCxn id="57" idx="5"/>
            <a:endCxn id="60" idx="2"/>
          </p:cNvCxnSpPr>
          <p:nvPr/>
        </p:nvCxnSpPr>
        <p:spPr>
          <a:xfrm>
            <a:off x="6917483" y="5352125"/>
            <a:ext cx="868100" cy="45313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to 66"/>
          <p:cNvCxnSpPr>
            <a:stCxn id="57" idx="4"/>
            <a:endCxn id="61" idx="2"/>
          </p:cNvCxnSpPr>
          <p:nvPr/>
        </p:nvCxnSpPr>
        <p:spPr>
          <a:xfrm>
            <a:off x="6866566" y="5373216"/>
            <a:ext cx="919017" cy="100811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reto 67"/>
          <p:cNvCxnSpPr>
            <a:stCxn id="45" idx="6"/>
            <a:endCxn id="51" idx="3"/>
          </p:cNvCxnSpPr>
          <p:nvPr/>
        </p:nvCxnSpPr>
        <p:spPr>
          <a:xfrm flipV="1">
            <a:off x="6959665" y="3551925"/>
            <a:ext cx="847009" cy="254137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reto 68"/>
          <p:cNvCxnSpPr>
            <a:stCxn id="45" idx="6"/>
            <a:endCxn id="53" idx="2"/>
          </p:cNvCxnSpPr>
          <p:nvPr/>
        </p:nvCxnSpPr>
        <p:spPr>
          <a:xfrm flipV="1">
            <a:off x="6959665" y="4653136"/>
            <a:ext cx="825918" cy="144016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 reto 69"/>
          <p:cNvCxnSpPr>
            <a:stCxn id="45" idx="4"/>
            <a:endCxn id="60" idx="3"/>
          </p:cNvCxnSpPr>
          <p:nvPr/>
        </p:nvCxnSpPr>
        <p:spPr>
          <a:xfrm flipV="1">
            <a:off x="6887657" y="5856181"/>
            <a:ext cx="919017" cy="30912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CaixaDeTexto 70"/>
              <p:cNvSpPr txBox="1"/>
              <p:nvPr/>
            </p:nvSpPr>
            <p:spPr>
              <a:xfrm>
                <a:off x="5412305" y="4509120"/>
                <a:ext cx="3741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/>
                        </a:rPr>
                        <m:t>𝑣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1" name="CaixaDeTexto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2305" y="4509120"/>
                <a:ext cx="374141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Retângulo 71"/>
              <p:cNvSpPr/>
              <p:nvPr/>
            </p:nvSpPr>
            <p:spPr>
              <a:xfrm>
                <a:off x="6506526" y="3275692"/>
                <a:ext cx="43973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2" name="Retângulo 7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6526" y="3275692"/>
                <a:ext cx="439736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tângulo 72"/>
              <p:cNvSpPr/>
              <p:nvPr/>
            </p:nvSpPr>
            <p:spPr>
              <a:xfrm>
                <a:off x="6506526" y="3995772"/>
                <a:ext cx="44505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3" name="Retângulo 7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6526" y="3995772"/>
                <a:ext cx="445058" cy="36933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Retângulo 73"/>
              <p:cNvSpPr/>
              <p:nvPr/>
            </p:nvSpPr>
            <p:spPr>
              <a:xfrm>
                <a:off x="6506526" y="4931876"/>
                <a:ext cx="44505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4" name="Retângulo 7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6526" y="4931876"/>
                <a:ext cx="445058" cy="369332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Retângulo 74"/>
              <p:cNvSpPr/>
              <p:nvPr/>
            </p:nvSpPr>
            <p:spPr>
              <a:xfrm>
                <a:off x="6506526" y="5651956"/>
                <a:ext cx="44505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5" name="Retângulo 7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6526" y="5651956"/>
                <a:ext cx="445058" cy="369332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Retângulo 75"/>
              <p:cNvSpPr/>
              <p:nvPr/>
            </p:nvSpPr>
            <p:spPr>
              <a:xfrm>
                <a:off x="7861668" y="3212976"/>
                <a:ext cx="46076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6" name="Retângulo 7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1668" y="3212976"/>
                <a:ext cx="460767" cy="369332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Retângulo 76"/>
              <p:cNvSpPr/>
              <p:nvPr/>
            </p:nvSpPr>
            <p:spPr>
              <a:xfrm>
                <a:off x="7861668" y="3789040"/>
                <a:ext cx="46608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7" name="Retângulo 7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1668" y="3789040"/>
                <a:ext cx="466089" cy="369332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Retângulo 77"/>
              <p:cNvSpPr/>
              <p:nvPr/>
            </p:nvSpPr>
            <p:spPr>
              <a:xfrm>
                <a:off x="7861668" y="4437112"/>
                <a:ext cx="46608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8" name="Retângulo 7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1668" y="4437112"/>
                <a:ext cx="466089" cy="369332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Retângulo 78"/>
              <p:cNvSpPr/>
              <p:nvPr/>
            </p:nvSpPr>
            <p:spPr>
              <a:xfrm>
                <a:off x="7861668" y="4941168"/>
                <a:ext cx="46608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9" name="Retângulo 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1668" y="4941168"/>
                <a:ext cx="466089" cy="369332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Retângulo 79"/>
              <p:cNvSpPr/>
              <p:nvPr/>
            </p:nvSpPr>
            <p:spPr>
              <a:xfrm>
                <a:off x="7874678" y="5517232"/>
                <a:ext cx="46609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80" name="Retângulo 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4678" y="5517232"/>
                <a:ext cx="466090" cy="369332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Retângulo 80"/>
              <p:cNvSpPr/>
              <p:nvPr/>
            </p:nvSpPr>
            <p:spPr>
              <a:xfrm>
                <a:off x="7874678" y="6084004"/>
                <a:ext cx="941733" cy="3907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6</m:t>
                        </m:r>
                      </m:sub>
                    </m:sSub>
                  </m:oMath>
                </a14:m>
                <a:r>
                  <a:rPr lang="pt-BR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3</m:t>
                        </m:r>
                        <m:r>
                          <a:rPr lang="pt-BR" i="1">
                            <a:latin typeface="Cambria Math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pt-BR" dirty="0"/>
                  <a:t>)</a:t>
                </a:r>
              </a:p>
            </p:txBody>
          </p:sp>
        </mc:Choice>
        <mc:Fallback xmlns="">
          <p:sp>
            <p:nvSpPr>
              <p:cNvPr id="81" name="Retângulo 8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4678" y="6084004"/>
                <a:ext cx="941733" cy="390748"/>
              </a:xfrm>
              <a:prstGeom prst="rect">
                <a:avLst/>
              </a:prstGeom>
              <a:blipFill rotWithShape="1">
                <a:blip r:embed="rId14"/>
                <a:stretch>
                  <a:fillRect t="-6250" r="-5195" b="-2031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204691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Conclusão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Portanto, o problema da Árvore de Steiner é NP-Completo.</a:t>
            </a:r>
          </a:p>
        </p:txBody>
      </p:sp>
    </p:spTree>
    <p:extLst>
      <p:ext uri="{BB962C8B-B14F-4D97-AF65-F5344CB8AC3E}">
        <p14:creationId xmlns:p14="http://schemas.microsoft.com/office/powerpoint/2010/main" val="32817673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1589</TotalTime>
  <Words>4338</Words>
  <Application>Microsoft Office PowerPoint</Application>
  <PresentationFormat>Apresentação na tela (4:3)</PresentationFormat>
  <Paragraphs>712</Paragraphs>
  <Slides>81</Slides>
  <Notes>0</Notes>
  <HiddenSlides>18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81</vt:i4>
      </vt:variant>
    </vt:vector>
  </HeadingPairs>
  <TitlesOfParts>
    <vt:vector size="86" baseType="lpstr">
      <vt:lpstr>Arial</vt:lpstr>
      <vt:lpstr>Calibri</vt:lpstr>
      <vt:lpstr>Cambria Math</vt:lpstr>
      <vt:lpstr>Courier New</vt:lpstr>
      <vt:lpstr>Tema do Office</vt:lpstr>
      <vt:lpstr>Problemas de Decisão</vt:lpstr>
      <vt:lpstr>Introdução</vt:lpstr>
      <vt:lpstr>Introdução</vt:lpstr>
      <vt:lpstr>Introdução</vt:lpstr>
      <vt:lpstr>Introdução</vt:lpstr>
      <vt:lpstr>Problemas fáceis vs problemas difíceis</vt:lpstr>
      <vt:lpstr>Problemas fáceis vs problemas difíceis</vt:lpstr>
      <vt:lpstr>Problemas fáceis vs problemas difíceis</vt:lpstr>
      <vt:lpstr>Problemas fáceis vs problemas difíceis</vt:lpstr>
      <vt:lpstr>Problemas fáceis vs problemas difíceis</vt:lpstr>
      <vt:lpstr>Problemas fáceis vs problemas difíceis</vt:lpstr>
      <vt:lpstr>Classe NP</vt:lpstr>
      <vt:lpstr>Classe NP</vt:lpstr>
      <vt:lpstr>Algoritmo não determinista</vt:lpstr>
      <vt:lpstr>Algoritmo não determinista</vt:lpstr>
      <vt:lpstr>Algoritmo não determinista</vt:lpstr>
      <vt:lpstr>Classes P, NP e NPC</vt:lpstr>
      <vt:lpstr>Problemas NP-Completos</vt:lpstr>
      <vt:lpstr>Transformação polinomial</vt:lpstr>
      <vt:lpstr>Transformação polinomial</vt:lpstr>
      <vt:lpstr>Transformação polinomial</vt:lpstr>
      <vt:lpstr>Transformação polinomial</vt:lpstr>
      <vt:lpstr>Transformação polinomial</vt:lpstr>
      <vt:lpstr>Conjuntos Independentes</vt:lpstr>
      <vt:lpstr>Conjuntos Independentes</vt:lpstr>
      <vt:lpstr>Conjuntos Independentes</vt:lpstr>
      <vt:lpstr>Conjuntos Independentes</vt:lpstr>
      <vt:lpstr>Conjuntos Independentes</vt:lpstr>
      <vt:lpstr>Transformação Polinomial</vt:lpstr>
      <vt:lpstr>Transformação Polinomial</vt:lpstr>
      <vt:lpstr>Transformação Polinomial</vt:lpstr>
      <vt:lpstr>Problema NP-Completo e NP Difícil</vt:lpstr>
      <vt:lpstr>Problema da Parada</vt:lpstr>
      <vt:lpstr>SAT ∝ Parada</vt:lpstr>
      <vt:lpstr>SAT ∝ Parada</vt:lpstr>
      <vt:lpstr>O primeiro problema NP-Completo</vt:lpstr>
      <vt:lpstr>Exercício: Mostre que o Problema de Isomorfismo de Subgrafos é NP-Completo</vt:lpstr>
      <vt:lpstr>O que é um subgrafo</vt:lpstr>
      <vt:lpstr>O que é um subgrafo</vt:lpstr>
      <vt:lpstr>Isomorfismo de Grafos</vt:lpstr>
      <vt:lpstr>Isomorfismo de Grafos</vt:lpstr>
      <vt:lpstr>Isomorfismo de Grafos</vt:lpstr>
      <vt:lpstr>Problema de Isomorfismo de Subgrafos</vt:lpstr>
      <vt:lpstr>Prova problema NP-Completo</vt:lpstr>
      <vt:lpstr>Provar que IS é NP</vt:lpstr>
      <vt:lpstr>Transformação Polinomial</vt:lpstr>
      <vt:lpstr>Transformação Polinomial: Clique ∝ IS</vt:lpstr>
      <vt:lpstr>Transformação Polinomial: Clique ∝ IS</vt:lpstr>
      <vt:lpstr>Transformação Polinomial: Clique ∝ IS</vt:lpstr>
      <vt:lpstr>Transformação Polinomial: Clique ∝ IS</vt:lpstr>
      <vt:lpstr>Transformação Polinomial: Clique ∝ IS</vt:lpstr>
      <vt:lpstr>Transformação Polinomial: Clique ∝ IS</vt:lpstr>
      <vt:lpstr>Transformação Polinomial: Clique ∝ IS</vt:lpstr>
      <vt:lpstr>Transformação Polinomial: Clique ∝ IS</vt:lpstr>
      <vt:lpstr>Conclusão</vt:lpstr>
      <vt:lpstr>Problema da Árvore de Steiner</vt:lpstr>
      <vt:lpstr>Árvore de Steiner</vt:lpstr>
      <vt:lpstr>Árvore de Steiner</vt:lpstr>
      <vt:lpstr>Árvore de Steiner</vt:lpstr>
      <vt:lpstr>Árvore de Steiner</vt:lpstr>
      <vt:lpstr>Árvore de Steiner</vt:lpstr>
      <vt:lpstr>Problema da Árvore de Steiner (ST)</vt:lpstr>
      <vt:lpstr>Problema da Árvore de Steiner (ST)</vt:lpstr>
      <vt:lpstr>Prova problema NP-Completo</vt:lpstr>
      <vt:lpstr>Provar que ST é NP</vt:lpstr>
      <vt:lpstr>Transformação Polinomial</vt:lpstr>
      <vt:lpstr>Transformação Polinomial</vt:lpstr>
      <vt:lpstr>Transformação Polinomial</vt:lpstr>
      <vt:lpstr>Transformação Polinomial</vt:lpstr>
      <vt:lpstr>Transformação Polinomial: X3C ∝ ST</vt:lpstr>
      <vt:lpstr>Transformação Polinomial: X3C ∝ ST</vt:lpstr>
      <vt:lpstr>Transformação Polinomial: X3C ∝ ST</vt:lpstr>
      <vt:lpstr>Transformação Polinomial: X3C ∝ ST</vt:lpstr>
      <vt:lpstr>Transformação Polinomial: X3C ∝ ST</vt:lpstr>
      <vt:lpstr>Transformação Polinomial: X3C ∝ ST</vt:lpstr>
      <vt:lpstr>Transformação Polinomial: X3C ∝ ST</vt:lpstr>
      <vt:lpstr>Transformação Polinomial: X3C ∝ ST</vt:lpstr>
      <vt:lpstr>Transformação Polinomial: X3C ∝ ST</vt:lpstr>
      <vt:lpstr>Transformação Polinomial: X3C ∝ ST</vt:lpstr>
      <vt:lpstr>Transformação Polinomial: X3C ∝ ST</vt:lpstr>
      <vt:lpstr>Conclusão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Problema de Isomorfismo de Subgrafos</dc:title>
  <dc:creator>Henrique</dc:creator>
  <cp:lastModifiedBy>Henrique Silva</cp:lastModifiedBy>
  <cp:revision>82</cp:revision>
  <dcterms:created xsi:type="dcterms:W3CDTF">2012-06-15T14:56:58Z</dcterms:created>
  <dcterms:modified xsi:type="dcterms:W3CDTF">2018-11-19T07:48:54Z</dcterms:modified>
</cp:coreProperties>
</file>