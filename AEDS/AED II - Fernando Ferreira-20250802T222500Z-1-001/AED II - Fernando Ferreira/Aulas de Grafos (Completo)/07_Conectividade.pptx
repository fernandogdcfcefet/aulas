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80" r:id="rId7"/>
    <p:sldId id="281" r:id="rId8"/>
    <p:sldId id="282" r:id="rId9"/>
    <p:sldId id="269" r:id="rId10"/>
    <p:sldId id="271" r:id="rId11"/>
    <p:sldId id="272" r:id="rId12"/>
    <p:sldId id="283" r:id="rId13"/>
    <p:sldId id="274" r:id="rId14"/>
    <p:sldId id="284" r:id="rId15"/>
    <p:sldId id="275" r:id="rId16"/>
    <p:sldId id="285" r:id="rId17"/>
    <p:sldId id="276" r:id="rId18"/>
    <p:sldId id="273" r:id="rId19"/>
    <p:sldId id="279" r:id="rId20"/>
    <p:sldId id="264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28/09/2016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III </a:t>
            </a:r>
            <a:br>
              <a:rPr lang="pt-BR"/>
            </a:br>
            <a:r>
              <a:rPr lang="pt-BR"/>
              <a:t>Separabilidade </a:t>
            </a:r>
            <a:r>
              <a:rPr lang="pt-BR" dirty="0"/>
              <a:t>e Conectividade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Cut</a:t>
            </a:r>
            <a:r>
              <a:rPr lang="pt-BR" dirty="0"/>
              <a:t>-set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 err="1"/>
              <a:t>Cut</a:t>
            </a:r>
            <a:r>
              <a:rPr lang="pt-BR" sz="2000" dirty="0"/>
              <a:t>-set de um grafo conexo G é um conjunto de arestas de G cuja remoção desconecta G.</a:t>
            </a:r>
          </a:p>
          <a:p>
            <a:pPr lvl="1"/>
            <a:r>
              <a:rPr lang="pt-BR" sz="1800" dirty="0"/>
              <a:t>Nenhum </a:t>
            </a:r>
            <a:r>
              <a:rPr lang="pt-BR" sz="1800" dirty="0" err="1"/>
              <a:t>subconjuto</a:t>
            </a:r>
            <a:r>
              <a:rPr lang="pt-BR" sz="1800" dirty="0"/>
              <a:t> próprio de um </a:t>
            </a:r>
            <a:r>
              <a:rPr lang="pt-BR" sz="1800" dirty="0" err="1"/>
              <a:t>cut</a:t>
            </a:r>
            <a:r>
              <a:rPr lang="pt-BR" sz="1800" dirty="0"/>
              <a:t>-set pode ser um </a:t>
            </a:r>
            <a:r>
              <a:rPr lang="pt-BR" sz="1800" dirty="0" err="1"/>
              <a:t>cut</a:t>
            </a:r>
            <a:r>
              <a:rPr lang="pt-BR" sz="1800" dirty="0"/>
              <a:t>-set. </a:t>
            </a:r>
          </a:p>
          <a:p>
            <a:r>
              <a:rPr lang="pt-BR" sz="2000" dirty="0"/>
              <a:t>Um </a:t>
            </a:r>
            <a:r>
              <a:rPr lang="pt-BR" sz="2000" dirty="0" err="1"/>
              <a:t>cut</a:t>
            </a:r>
            <a:r>
              <a:rPr lang="pt-BR" sz="2000" dirty="0"/>
              <a:t>-set particiona os vértices do grafo em 2 subconjuntos disjuntos.</a:t>
            </a:r>
          </a:p>
          <a:p>
            <a:r>
              <a:rPr lang="pt-BR" sz="2000" dirty="0"/>
              <a:t>Exemplo: Dada uma rede de comunicação, telecomunicações ou transportes, como medir a robustez da rede?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506" y="3927698"/>
            <a:ext cx="48577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1403648" y="5851685"/>
            <a:ext cx="605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</a:t>
            </a:r>
            <a:r>
              <a:rPr lang="pt-BR" dirty="0" err="1"/>
              <a:t>cut</a:t>
            </a:r>
            <a:r>
              <a:rPr lang="pt-BR" dirty="0"/>
              <a:t>-set com o menor número de arestas é o mais vulnerável.</a:t>
            </a:r>
          </a:p>
        </p:txBody>
      </p:sp>
      <p:cxnSp>
        <p:nvCxnSpPr>
          <p:cNvPr id="6" name="Conector de seta reta 5"/>
          <p:cNvCxnSpPr/>
          <p:nvPr/>
        </p:nvCxnSpPr>
        <p:spPr>
          <a:xfrm>
            <a:off x="5724128" y="5373216"/>
            <a:ext cx="864096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6732240" y="5157192"/>
            <a:ext cx="153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bridge (ponte)</a:t>
            </a:r>
          </a:p>
        </p:txBody>
      </p:sp>
    </p:spTree>
    <p:extLst>
      <p:ext uri="{BB962C8B-B14F-4D97-AF65-F5344CB8AC3E}">
        <p14:creationId xmlns:p14="http://schemas.microsoft.com/office/powerpoint/2010/main" val="2076609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Cut</a:t>
            </a:r>
            <a:r>
              <a:rPr lang="pt-BR" dirty="0"/>
              <a:t>-set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TEOREMA: Todo </a:t>
            </a:r>
            <a:r>
              <a:rPr lang="pt-BR" dirty="0" err="1"/>
              <a:t>cut</a:t>
            </a:r>
            <a:r>
              <a:rPr lang="pt-BR" dirty="0"/>
              <a:t>-set de um grafo conexo G contém pelo menos uma aresta de cada árvore geradora de G.</a:t>
            </a:r>
          </a:p>
          <a:p>
            <a:pPr lvl="1"/>
            <a:r>
              <a:rPr lang="pt-BR" dirty="0"/>
              <a:t>Qualquer conjunto mínimo de arestas que contém pelo menos uma aresta de cada árvore geradora é um </a:t>
            </a:r>
            <a:r>
              <a:rPr lang="pt-BR" dirty="0" err="1"/>
              <a:t>cut</a:t>
            </a:r>
            <a:r>
              <a:rPr lang="pt-BR" dirty="0"/>
              <a:t>-set.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34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 </a:t>
            </a:r>
            <a:r>
              <a:rPr lang="pt-BR" dirty="0" err="1"/>
              <a:t>Separabilidade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pt-BR" dirty="0"/>
                  <a:t>Conectividade de aresta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 smtClean="0">
                        <a:latin typeface="Cambria Math"/>
                        <a:ea typeface="Cambria Math"/>
                      </a:rPr>
                      <m:t>λ</m:t>
                    </m:r>
                    <m:r>
                      <a:rPr lang="pt-BR" i="1" dirty="0" smtClean="0">
                        <a:latin typeface="Cambria Math"/>
                      </a:rPr>
                      <m:t>(</m:t>
                    </m:r>
                    <m:r>
                      <a:rPr lang="pt-BR" i="1" dirty="0" smtClean="0">
                        <a:latin typeface="Cambria Math"/>
                      </a:rPr>
                      <m:t>𝐺</m:t>
                    </m:r>
                    <m:r>
                      <a:rPr lang="pt-BR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:</a:t>
                </a:r>
              </a:p>
              <a:p>
                <a:pPr lvl="1"/>
                <a:r>
                  <a:rPr lang="pt-BR" dirty="0"/>
                  <a:t>Corresponde ao menor número de arestas do grafo cuja remoção o desconecta. Ou seja, é o número de aresta do menor </a:t>
                </a:r>
                <a:r>
                  <a:rPr lang="pt-BR" dirty="0" err="1"/>
                  <a:t>cut</a:t>
                </a:r>
                <a:r>
                  <a:rPr lang="pt-BR" dirty="0"/>
                  <a:t>-set de G.</a:t>
                </a:r>
              </a:p>
              <a:p>
                <a:r>
                  <a:rPr lang="pt-BR" dirty="0"/>
                  <a:t>Conectividade de vértice K(G) (ou simplesmente conectividade):</a:t>
                </a:r>
              </a:p>
              <a:p>
                <a:pPr lvl="1"/>
                <a:r>
                  <a:rPr lang="pt-BR" dirty="0"/>
                  <a:t>Corresponde ao menor número de vértices do grafo cuja remoção o desconecta.</a:t>
                </a:r>
              </a:p>
              <a:p>
                <a:r>
                  <a:rPr lang="pt-BR" dirty="0"/>
                  <a:t>Grafo K-conexo:</a:t>
                </a:r>
              </a:p>
              <a:p>
                <a:pPr lvl="1"/>
                <a:r>
                  <a:rPr lang="pt-BR" dirty="0"/>
                  <a:t>Grafo de conectividade de vértice igual a K.</a:t>
                </a:r>
              </a:p>
              <a:p>
                <a:r>
                  <a:rPr lang="pt-BR" dirty="0"/>
                  <a:t>Grafo separável:</a:t>
                </a:r>
              </a:p>
              <a:p>
                <a:pPr lvl="1"/>
                <a:r>
                  <a:rPr lang="pt-BR" dirty="0"/>
                  <a:t>Grafo com conectividade de vértice igual a 1.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24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 </a:t>
            </a:r>
            <a:r>
              <a:rPr lang="pt-BR" dirty="0" err="1"/>
              <a:t>Separabilidade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vértice que desconecta o grafo separável é chamado de ponto de articulação ou </a:t>
            </a:r>
            <a:r>
              <a:rPr lang="pt-BR" sz="2400" dirty="0" err="1"/>
              <a:t>cut</a:t>
            </a:r>
            <a:r>
              <a:rPr lang="pt-BR" sz="2400" dirty="0"/>
              <a:t>-vértice.</a:t>
            </a:r>
          </a:p>
          <a:p>
            <a:r>
              <a:rPr lang="pt-BR" sz="2400" dirty="0"/>
              <a:t>A conectividade de aresta de um grafo G não pode exceder ao grau do vértice de menor grau.</a:t>
            </a:r>
          </a:p>
          <a:p>
            <a:pPr lvl="1"/>
            <a:r>
              <a:rPr lang="pt-BR" sz="2000" dirty="0"/>
              <a:t>Se um vértice tem grau 1, então a conectividade de aresta é composto por apenas uma aresta.</a:t>
            </a:r>
          </a:p>
          <a:p>
            <a:r>
              <a:rPr lang="pt-BR" sz="2400" dirty="0"/>
              <a:t>A conectividade de vértice não pode exceder a conectividade de aresta de 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1400214" y="4974267"/>
                <a:ext cx="605210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400" dirty="0"/>
                  <a:t>Para todo grafo conexo G tem-se: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/>
                      </a:rPr>
                      <m:t>𝐾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</m:d>
                    <m:r>
                      <a:rPr lang="pt-BR" sz="2400" i="1">
                        <a:latin typeface="Cambria Math"/>
                        <a:ea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l-GR" sz="2400" i="1" dirty="0">
                        <a:latin typeface="Cambria Math"/>
                        <a:ea typeface="Cambria Math"/>
                      </a:rPr>
                      <m:t>λ</m:t>
                    </m:r>
                    <m:r>
                      <a:rPr lang="pt-BR" sz="2400" i="1" dirty="0">
                        <a:latin typeface="Cambria Math"/>
                      </a:rPr>
                      <m:t>(</m:t>
                    </m:r>
                    <m:r>
                      <a:rPr lang="pt-BR" sz="2400" i="1" dirty="0">
                        <a:latin typeface="Cambria Math"/>
                      </a:rPr>
                      <m:t>𝐺</m:t>
                    </m:r>
                    <m:r>
                      <a:rPr lang="pt-BR" sz="2400" i="1" dirty="0">
                        <a:latin typeface="Cambria Math"/>
                      </a:rPr>
                      <m:t>)≤</m:t>
                    </m:r>
                  </m:oMath>
                </a14:m>
                <a:r>
                  <a:rPr lang="pt-BR" sz="2400" dirty="0"/>
                  <a:t> grau do vértice de menor grau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214" y="4974267"/>
                <a:ext cx="6052106" cy="830997"/>
              </a:xfrm>
              <a:prstGeom prst="rect">
                <a:avLst/>
              </a:prstGeom>
              <a:blipFill rotWithShape="1">
                <a:blip r:embed="rId2"/>
                <a:stretch>
                  <a:fillRect t="-5882" r="-1109" b="-161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48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 </a:t>
            </a:r>
            <a:r>
              <a:rPr lang="pt-BR" dirty="0" err="1"/>
              <a:t>Separabilidade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Exercício: Encontre um grafo 4-conexo com 8 vértices e 16 arestas</a:t>
            </a:r>
          </a:p>
        </p:txBody>
      </p:sp>
    </p:spTree>
    <p:extLst>
      <p:ext uri="{BB962C8B-B14F-4D97-AF65-F5344CB8AC3E}">
        <p14:creationId xmlns:p14="http://schemas.microsoft.com/office/powerpoint/2010/main" val="132531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 </a:t>
            </a:r>
            <a:r>
              <a:rPr lang="pt-BR" dirty="0" err="1"/>
              <a:t>Separabilidade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Exercício: Encontre um grafo 4-conexo com 8 vértices e 16 arestas</a:t>
            </a:r>
          </a:p>
        </p:txBody>
      </p:sp>
      <p:sp>
        <p:nvSpPr>
          <p:cNvPr id="73" name="Elipse 72"/>
          <p:cNvSpPr/>
          <p:nvPr/>
        </p:nvSpPr>
        <p:spPr>
          <a:xfrm>
            <a:off x="2915816" y="386649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/>
          <p:cNvSpPr/>
          <p:nvPr/>
        </p:nvSpPr>
        <p:spPr>
          <a:xfrm>
            <a:off x="3635896" y="34290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Elipse 74"/>
          <p:cNvSpPr/>
          <p:nvPr/>
        </p:nvSpPr>
        <p:spPr>
          <a:xfrm>
            <a:off x="4644008" y="34290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5364088" y="386104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2915816" y="470288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3635896" y="52292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4644008" y="52292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/>
          <p:cNvSpPr/>
          <p:nvPr/>
        </p:nvSpPr>
        <p:spPr>
          <a:xfrm>
            <a:off x="5364088" y="47202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reto 83"/>
          <p:cNvCxnSpPr>
            <a:stCxn id="75" idx="6"/>
            <a:endCxn id="76" idx="1"/>
          </p:cNvCxnSpPr>
          <p:nvPr/>
        </p:nvCxnSpPr>
        <p:spPr>
          <a:xfrm>
            <a:off x="4788024" y="3501008"/>
            <a:ext cx="597155" cy="381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75" idx="5"/>
            <a:endCxn id="81" idx="1"/>
          </p:cNvCxnSpPr>
          <p:nvPr/>
        </p:nvCxnSpPr>
        <p:spPr>
          <a:xfrm>
            <a:off x="4766933" y="3551925"/>
            <a:ext cx="618246" cy="1189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76" idx="4"/>
            <a:endCxn id="81" idx="0"/>
          </p:cNvCxnSpPr>
          <p:nvPr/>
        </p:nvCxnSpPr>
        <p:spPr>
          <a:xfrm>
            <a:off x="5436096" y="4005064"/>
            <a:ext cx="0" cy="715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/>
          <p:cNvCxnSpPr>
            <a:stCxn id="81" idx="3"/>
            <a:endCxn id="79" idx="6"/>
          </p:cNvCxnSpPr>
          <p:nvPr/>
        </p:nvCxnSpPr>
        <p:spPr>
          <a:xfrm flipH="1">
            <a:off x="4788024" y="4843133"/>
            <a:ext cx="597155" cy="458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/>
          <p:cNvCxnSpPr>
            <a:stCxn id="76" idx="3"/>
            <a:endCxn id="79" idx="3"/>
          </p:cNvCxnSpPr>
          <p:nvPr/>
        </p:nvCxnSpPr>
        <p:spPr>
          <a:xfrm flipH="1">
            <a:off x="4665099" y="3983973"/>
            <a:ext cx="72008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/>
          <p:cNvCxnSpPr>
            <a:stCxn id="81" idx="2"/>
            <a:endCxn id="78" idx="2"/>
          </p:cNvCxnSpPr>
          <p:nvPr/>
        </p:nvCxnSpPr>
        <p:spPr>
          <a:xfrm flipH="1">
            <a:off x="3635896" y="4792216"/>
            <a:ext cx="1728192" cy="50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/>
          <p:cNvCxnSpPr>
            <a:stCxn id="79" idx="3"/>
            <a:endCxn id="78" idx="5"/>
          </p:cNvCxnSpPr>
          <p:nvPr/>
        </p:nvCxnSpPr>
        <p:spPr>
          <a:xfrm flipH="1">
            <a:off x="3758821" y="5352125"/>
            <a:ext cx="906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78" idx="5"/>
            <a:endCxn id="73" idx="5"/>
          </p:cNvCxnSpPr>
          <p:nvPr/>
        </p:nvCxnSpPr>
        <p:spPr>
          <a:xfrm flipH="1" flipV="1">
            <a:off x="3038741" y="3989424"/>
            <a:ext cx="720080" cy="1362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78" idx="2"/>
            <a:endCxn id="77" idx="5"/>
          </p:cNvCxnSpPr>
          <p:nvPr/>
        </p:nvCxnSpPr>
        <p:spPr>
          <a:xfrm flipH="1" flipV="1">
            <a:off x="3038741" y="4825814"/>
            <a:ext cx="597155" cy="47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/>
          <p:cNvCxnSpPr>
            <a:stCxn id="73" idx="3"/>
            <a:endCxn id="77" idx="1"/>
          </p:cNvCxnSpPr>
          <p:nvPr/>
        </p:nvCxnSpPr>
        <p:spPr>
          <a:xfrm>
            <a:off x="2936907" y="3989424"/>
            <a:ext cx="0" cy="734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/>
          <p:cNvCxnSpPr>
            <a:stCxn id="77" idx="7"/>
            <a:endCxn id="74" idx="3"/>
          </p:cNvCxnSpPr>
          <p:nvPr/>
        </p:nvCxnSpPr>
        <p:spPr>
          <a:xfrm flipV="1">
            <a:off x="3038741" y="3551925"/>
            <a:ext cx="618246" cy="1172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/>
          <p:cNvCxnSpPr>
            <a:stCxn id="73" idx="0"/>
            <a:endCxn id="74" idx="1"/>
          </p:cNvCxnSpPr>
          <p:nvPr/>
        </p:nvCxnSpPr>
        <p:spPr>
          <a:xfrm flipV="1">
            <a:off x="2987824" y="3450091"/>
            <a:ext cx="669163" cy="416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/>
          <p:cNvCxnSpPr>
            <a:stCxn id="73" idx="7"/>
            <a:endCxn id="75" idx="2"/>
          </p:cNvCxnSpPr>
          <p:nvPr/>
        </p:nvCxnSpPr>
        <p:spPr>
          <a:xfrm flipV="1">
            <a:off x="3038741" y="3501008"/>
            <a:ext cx="1605267" cy="386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/>
          <p:cNvCxnSpPr>
            <a:stCxn id="74" idx="7"/>
            <a:endCxn id="75" idx="1"/>
          </p:cNvCxnSpPr>
          <p:nvPr/>
        </p:nvCxnSpPr>
        <p:spPr>
          <a:xfrm>
            <a:off x="3758821" y="3450091"/>
            <a:ext cx="906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/>
          <p:cNvCxnSpPr>
            <a:stCxn id="76" idx="2"/>
            <a:endCxn id="74" idx="6"/>
          </p:cNvCxnSpPr>
          <p:nvPr/>
        </p:nvCxnSpPr>
        <p:spPr>
          <a:xfrm flipH="1" flipV="1">
            <a:off x="3779912" y="3501008"/>
            <a:ext cx="1584176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to 140"/>
          <p:cNvCxnSpPr>
            <a:stCxn id="79" idx="2"/>
            <a:endCxn id="77" idx="6"/>
          </p:cNvCxnSpPr>
          <p:nvPr/>
        </p:nvCxnSpPr>
        <p:spPr>
          <a:xfrm flipH="1" flipV="1">
            <a:off x="3059832" y="4774897"/>
            <a:ext cx="1584176" cy="526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08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 </a:t>
            </a:r>
            <a:r>
              <a:rPr lang="pt-BR" dirty="0" err="1"/>
              <a:t>Separabilidade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Exercício: Encontre um grafo 4-conexo com 8 vértices e 16 arestas</a:t>
            </a:r>
          </a:p>
        </p:txBody>
      </p:sp>
      <p:sp>
        <p:nvSpPr>
          <p:cNvPr id="73" name="Elipse 72"/>
          <p:cNvSpPr/>
          <p:nvPr/>
        </p:nvSpPr>
        <p:spPr>
          <a:xfrm>
            <a:off x="2915816" y="386649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/>
          <p:cNvSpPr/>
          <p:nvPr/>
        </p:nvSpPr>
        <p:spPr>
          <a:xfrm>
            <a:off x="3635896" y="342900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Elipse 74"/>
          <p:cNvSpPr/>
          <p:nvPr/>
        </p:nvSpPr>
        <p:spPr>
          <a:xfrm>
            <a:off x="4644008" y="34290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5364088" y="386104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2915816" y="470288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3635896" y="52292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4644008" y="5229200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/>
          <p:cNvSpPr/>
          <p:nvPr/>
        </p:nvSpPr>
        <p:spPr>
          <a:xfrm>
            <a:off x="5364088" y="472020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reto 83"/>
          <p:cNvCxnSpPr>
            <a:stCxn id="75" idx="6"/>
            <a:endCxn id="76" idx="1"/>
          </p:cNvCxnSpPr>
          <p:nvPr/>
        </p:nvCxnSpPr>
        <p:spPr>
          <a:xfrm>
            <a:off x="4788024" y="3501008"/>
            <a:ext cx="597155" cy="381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to 85"/>
          <p:cNvCxnSpPr>
            <a:stCxn id="75" idx="5"/>
            <a:endCxn id="81" idx="1"/>
          </p:cNvCxnSpPr>
          <p:nvPr/>
        </p:nvCxnSpPr>
        <p:spPr>
          <a:xfrm>
            <a:off x="4766933" y="3551925"/>
            <a:ext cx="618246" cy="1189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76" idx="4"/>
            <a:endCxn id="81" idx="0"/>
          </p:cNvCxnSpPr>
          <p:nvPr/>
        </p:nvCxnSpPr>
        <p:spPr>
          <a:xfrm>
            <a:off x="5436096" y="4005064"/>
            <a:ext cx="0" cy="715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to 105"/>
          <p:cNvCxnSpPr>
            <a:stCxn id="81" idx="3"/>
            <a:endCxn id="79" idx="6"/>
          </p:cNvCxnSpPr>
          <p:nvPr/>
        </p:nvCxnSpPr>
        <p:spPr>
          <a:xfrm flipH="1">
            <a:off x="4788024" y="4843133"/>
            <a:ext cx="597155" cy="458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/>
          <p:cNvCxnSpPr>
            <a:stCxn id="76" idx="3"/>
            <a:endCxn id="79" idx="3"/>
          </p:cNvCxnSpPr>
          <p:nvPr/>
        </p:nvCxnSpPr>
        <p:spPr>
          <a:xfrm flipH="1">
            <a:off x="4665099" y="3983973"/>
            <a:ext cx="72008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/>
          <p:cNvCxnSpPr>
            <a:stCxn id="81" idx="2"/>
            <a:endCxn id="78" idx="2"/>
          </p:cNvCxnSpPr>
          <p:nvPr/>
        </p:nvCxnSpPr>
        <p:spPr>
          <a:xfrm flipH="1">
            <a:off x="3635896" y="4792216"/>
            <a:ext cx="1728192" cy="50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/>
          <p:cNvCxnSpPr>
            <a:stCxn id="79" idx="3"/>
            <a:endCxn id="78" idx="5"/>
          </p:cNvCxnSpPr>
          <p:nvPr/>
        </p:nvCxnSpPr>
        <p:spPr>
          <a:xfrm flipH="1">
            <a:off x="3758821" y="5352125"/>
            <a:ext cx="906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78" idx="5"/>
            <a:endCxn id="73" idx="5"/>
          </p:cNvCxnSpPr>
          <p:nvPr/>
        </p:nvCxnSpPr>
        <p:spPr>
          <a:xfrm flipH="1" flipV="1">
            <a:off x="3038741" y="3989424"/>
            <a:ext cx="720080" cy="1362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to 115"/>
          <p:cNvCxnSpPr>
            <a:stCxn id="78" idx="2"/>
            <a:endCxn id="77" idx="5"/>
          </p:cNvCxnSpPr>
          <p:nvPr/>
        </p:nvCxnSpPr>
        <p:spPr>
          <a:xfrm flipH="1" flipV="1">
            <a:off x="3038741" y="4825814"/>
            <a:ext cx="597155" cy="47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to 117"/>
          <p:cNvCxnSpPr>
            <a:stCxn id="73" idx="3"/>
            <a:endCxn id="77" idx="1"/>
          </p:cNvCxnSpPr>
          <p:nvPr/>
        </p:nvCxnSpPr>
        <p:spPr>
          <a:xfrm>
            <a:off x="2936907" y="3989424"/>
            <a:ext cx="0" cy="734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/>
          <p:cNvCxnSpPr>
            <a:stCxn id="77" idx="7"/>
            <a:endCxn id="74" idx="3"/>
          </p:cNvCxnSpPr>
          <p:nvPr/>
        </p:nvCxnSpPr>
        <p:spPr>
          <a:xfrm flipV="1">
            <a:off x="3038741" y="3551925"/>
            <a:ext cx="618246" cy="1172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to 121"/>
          <p:cNvCxnSpPr>
            <a:stCxn id="73" idx="0"/>
            <a:endCxn id="74" idx="1"/>
          </p:cNvCxnSpPr>
          <p:nvPr/>
        </p:nvCxnSpPr>
        <p:spPr>
          <a:xfrm flipV="1">
            <a:off x="2987824" y="3450091"/>
            <a:ext cx="669163" cy="416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to 123"/>
          <p:cNvCxnSpPr>
            <a:stCxn id="73" idx="7"/>
            <a:endCxn id="75" idx="2"/>
          </p:cNvCxnSpPr>
          <p:nvPr/>
        </p:nvCxnSpPr>
        <p:spPr>
          <a:xfrm flipV="1">
            <a:off x="3038741" y="3501008"/>
            <a:ext cx="1605267" cy="386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25"/>
          <p:cNvCxnSpPr>
            <a:stCxn id="74" idx="7"/>
            <a:endCxn id="75" idx="1"/>
          </p:cNvCxnSpPr>
          <p:nvPr/>
        </p:nvCxnSpPr>
        <p:spPr>
          <a:xfrm>
            <a:off x="3758821" y="3450091"/>
            <a:ext cx="906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to 127"/>
          <p:cNvCxnSpPr>
            <a:stCxn id="76" idx="2"/>
            <a:endCxn id="74" idx="6"/>
          </p:cNvCxnSpPr>
          <p:nvPr/>
        </p:nvCxnSpPr>
        <p:spPr>
          <a:xfrm flipH="1" flipV="1">
            <a:off x="3779912" y="3501008"/>
            <a:ext cx="1584176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to 140"/>
          <p:cNvCxnSpPr>
            <a:stCxn id="79" idx="2"/>
            <a:endCxn id="77" idx="6"/>
          </p:cNvCxnSpPr>
          <p:nvPr/>
        </p:nvCxnSpPr>
        <p:spPr>
          <a:xfrm flipH="1" flipV="1">
            <a:off x="3059832" y="4774897"/>
            <a:ext cx="1584176" cy="526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44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Caminhamento em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Busca em profundidade</a:t>
            </a:r>
          </a:p>
          <a:p>
            <a:pPr lvl="1"/>
            <a:r>
              <a:rPr lang="pt-BR" dirty="0"/>
              <a:t>Caminha no grafo visitando todos os seus vértices sempre procurando o vértice mais profundo</a:t>
            </a:r>
          </a:p>
          <a:p>
            <a:endParaRPr lang="pt-BR" dirty="0"/>
          </a:p>
          <a:p>
            <a:r>
              <a:rPr lang="pt-BR" dirty="0"/>
              <a:t>Busca em largura</a:t>
            </a:r>
          </a:p>
          <a:p>
            <a:pPr lvl="1"/>
            <a:r>
              <a:rPr lang="pt-BR" dirty="0"/>
              <a:t>Expandir o conjunto de vértices de forma uniforme em que são visitados todos os vértices de mesma distância ao início antes de visitar outros níveis.</a:t>
            </a:r>
          </a:p>
        </p:txBody>
      </p:sp>
    </p:spTree>
    <p:extLst>
      <p:ext uri="{BB962C8B-B14F-4D97-AF65-F5344CB8AC3E}">
        <p14:creationId xmlns:p14="http://schemas.microsoft.com/office/powerpoint/2010/main" val="1074986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Desconexo</a:t>
            </a:r>
          </a:p>
          <a:p>
            <a:pPr lvl="1"/>
            <a:r>
              <a:rPr lang="pt-BR" sz="2000" dirty="0"/>
              <a:t>Um grafo é não-conexo ou desconexo se nem todo par de vértices é unido por uma cadeia</a:t>
            </a:r>
          </a:p>
        </p:txBody>
      </p:sp>
    </p:spTree>
    <p:extLst>
      <p:ext uri="{BB962C8B-B14F-4D97-AF65-F5344CB8AC3E}">
        <p14:creationId xmlns:p14="http://schemas.microsoft.com/office/powerpoint/2010/main" val="2004483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47" name="Elipse 46"/>
          <p:cNvSpPr/>
          <p:nvPr/>
        </p:nvSpPr>
        <p:spPr>
          <a:xfrm>
            <a:off x="971600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Elipse 48"/>
          <p:cNvSpPr/>
          <p:nvPr/>
        </p:nvSpPr>
        <p:spPr>
          <a:xfrm>
            <a:off x="2140631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971600" y="33352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Elipse 51"/>
          <p:cNvSpPr/>
          <p:nvPr/>
        </p:nvSpPr>
        <p:spPr>
          <a:xfrm>
            <a:off x="2145857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3" name="Conector de seta reta 52"/>
          <p:cNvCxnSpPr>
            <a:stCxn id="52" idx="0"/>
            <a:endCxn id="49" idx="4"/>
          </p:cNvCxnSpPr>
          <p:nvPr/>
        </p:nvCxnSpPr>
        <p:spPr>
          <a:xfrm flipH="1" flipV="1">
            <a:off x="2412322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7" idx="6"/>
            <a:endCxn id="49" idx="2"/>
          </p:cNvCxnSpPr>
          <p:nvPr/>
        </p:nvCxnSpPr>
        <p:spPr>
          <a:xfrm>
            <a:off x="1514981" y="2266020"/>
            <a:ext cx="62565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0" idx="6"/>
            <a:endCxn id="52" idx="2"/>
          </p:cNvCxnSpPr>
          <p:nvPr/>
        </p:nvCxnSpPr>
        <p:spPr>
          <a:xfrm flipV="1">
            <a:off x="1514981" y="3539275"/>
            <a:ext cx="630876" cy="118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0" idx="0"/>
            <a:endCxn id="47" idx="4"/>
          </p:cNvCxnSpPr>
          <p:nvPr/>
        </p:nvCxnSpPr>
        <p:spPr>
          <a:xfrm flipV="1">
            <a:off x="1243291" y="2471192"/>
            <a:ext cx="0" cy="86409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2932719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Elipse 65"/>
          <p:cNvSpPr/>
          <p:nvPr/>
        </p:nvSpPr>
        <p:spPr>
          <a:xfrm>
            <a:off x="2937945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7" name="Conector de seta reta 66"/>
          <p:cNvCxnSpPr>
            <a:stCxn id="66" idx="0"/>
            <a:endCxn id="65" idx="4"/>
          </p:cNvCxnSpPr>
          <p:nvPr/>
        </p:nvCxnSpPr>
        <p:spPr>
          <a:xfrm flipH="1" flipV="1">
            <a:off x="3204410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/>
          <p:cNvSpPr txBox="1"/>
          <p:nvPr/>
        </p:nvSpPr>
        <p:spPr>
          <a:xfrm>
            <a:off x="1716833" y="1484784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Desconexo</a:t>
            </a:r>
          </a:p>
        </p:txBody>
      </p:sp>
    </p:spTree>
    <p:extLst>
      <p:ext uri="{BB962C8B-B14F-4D97-AF65-F5344CB8AC3E}">
        <p14:creationId xmlns:p14="http://schemas.microsoft.com/office/powerpoint/2010/main" val="407270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Desconexo</a:t>
            </a:r>
          </a:p>
          <a:p>
            <a:pPr lvl="1"/>
            <a:r>
              <a:rPr lang="pt-BR" sz="2000" dirty="0"/>
              <a:t>Um grafo é não-conexo ou desconexo se nem todo par de vértices é unido por uma cadeia</a:t>
            </a:r>
          </a:p>
          <a:p>
            <a:r>
              <a:rPr lang="pt-BR" sz="2400" dirty="0"/>
              <a:t>S-conexo</a:t>
            </a:r>
          </a:p>
          <a:p>
            <a:pPr lvl="1"/>
            <a:r>
              <a:rPr lang="pt-BR" sz="2000" dirty="0"/>
              <a:t>Um grafo é simplesmente conexo ou s-conexo se todo par de vértices é unido por pelo menos uma cadeia</a:t>
            </a:r>
          </a:p>
        </p:txBody>
      </p:sp>
    </p:spTree>
    <p:extLst>
      <p:ext uri="{BB962C8B-B14F-4D97-AF65-F5344CB8AC3E}">
        <p14:creationId xmlns:p14="http://schemas.microsoft.com/office/powerpoint/2010/main" val="574629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47" name="Elipse 46"/>
          <p:cNvSpPr/>
          <p:nvPr/>
        </p:nvSpPr>
        <p:spPr>
          <a:xfrm>
            <a:off x="971600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Elipse 48"/>
          <p:cNvSpPr/>
          <p:nvPr/>
        </p:nvSpPr>
        <p:spPr>
          <a:xfrm>
            <a:off x="2140631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971600" y="33352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Elipse 51"/>
          <p:cNvSpPr/>
          <p:nvPr/>
        </p:nvSpPr>
        <p:spPr>
          <a:xfrm>
            <a:off x="2145857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3" name="Conector de seta reta 52"/>
          <p:cNvCxnSpPr>
            <a:stCxn id="52" idx="0"/>
            <a:endCxn id="49" idx="4"/>
          </p:cNvCxnSpPr>
          <p:nvPr/>
        </p:nvCxnSpPr>
        <p:spPr>
          <a:xfrm flipH="1" flipV="1">
            <a:off x="2412322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7" idx="6"/>
            <a:endCxn id="49" idx="2"/>
          </p:cNvCxnSpPr>
          <p:nvPr/>
        </p:nvCxnSpPr>
        <p:spPr>
          <a:xfrm>
            <a:off x="1514981" y="2266020"/>
            <a:ext cx="62565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0" idx="6"/>
            <a:endCxn id="52" idx="2"/>
          </p:cNvCxnSpPr>
          <p:nvPr/>
        </p:nvCxnSpPr>
        <p:spPr>
          <a:xfrm flipV="1">
            <a:off x="1514981" y="3539275"/>
            <a:ext cx="630876" cy="118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0" idx="0"/>
            <a:endCxn id="47" idx="4"/>
          </p:cNvCxnSpPr>
          <p:nvPr/>
        </p:nvCxnSpPr>
        <p:spPr>
          <a:xfrm flipV="1">
            <a:off x="1243291" y="2471192"/>
            <a:ext cx="0" cy="86409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2932719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Elipse 65"/>
          <p:cNvSpPr/>
          <p:nvPr/>
        </p:nvSpPr>
        <p:spPr>
          <a:xfrm>
            <a:off x="2937945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7" name="Conector de seta reta 66"/>
          <p:cNvCxnSpPr>
            <a:stCxn id="66" idx="0"/>
            <a:endCxn id="65" idx="4"/>
          </p:cNvCxnSpPr>
          <p:nvPr/>
        </p:nvCxnSpPr>
        <p:spPr>
          <a:xfrm flipH="1" flipV="1">
            <a:off x="3204410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5436096" y="2091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3" name="Elipse 82"/>
          <p:cNvSpPr/>
          <p:nvPr/>
        </p:nvSpPr>
        <p:spPr>
          <a:xfrm>
            <a:off x="5441322" y="336436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84" name="Conector de seta reta 83"/>
          <p:cNvCxnSpPr>
            <a:stCxn id="83" idx="0"/>
            <a:endCxn id="82" idx="4"/>
          </p:cNvCxnSpPr>
          <p:nvPr/>
        </p:nvCxnSpPr>
        <p:spPr>
          <a:xfrm flipH="1" flipV="1">
            <a:off x="5707787" y="2501456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ipse 84"/>
          <p:cNvSpPr/>
          <p:nvPr/>
        </p:nvSpPr>
        <p:spPr>
          <a:xfrm>
            <a:off x="6571321" y="2774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86" name="Conector reto 85"/>
          <p:cNvCxnSpPr>
            <a:stCxn id="82" idx="5"/>
            <a:endCxn id="85" idx="1"/>
          </p:cNvCxnSpPr>
          <p:nvPr/>
        </p:nvCxnSpPr>
        <p:spPr>
          <a:xfrm>
            <a:off x="5899901" y="2441363"/>
            <a:ext cx="750996" cy="39284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>
            <a:stCxn id="83" idx="7"/>
            <a:endCxn id="85" idx="3"/>
          </p:cNvCxnSpPr>
          <p:nvPr/>
        </p:nvCxnSpPr>
        <p:spPr>
          <a:xfrm flipV="1">
            <a:off x="5905127" y="3124363"/>
            <a:ext cx="745770" cy="30009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/>
          <p:cNvSpPr/>
          <p:nvPr/>
        </p:nvSpPr>
        <p:spPr>
          <a:xfrm>
            <a:off x="7789938" y="2774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9" name="Conector reto 88"/>
          <p:cNvCxnSpPr>
            <a:stCxn id="85" idx="6"/>
            <a:endCxn id="88" idx="2"/>
          </p:cNvCxnSpPr>
          <p:nvPr/>
        </p:nvCxnSpPr>
        <p:spPr>
          <a:xfrm>
            <a:off x="7114702" y="2979284"/>
            <a:ext cx="675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/>
          <p:cNvSpPr txBox="1"/>
          <p:nvPr/>
        </p:nvSpPr>
        <p:spPr>
          <a:xfrm>
            <a:off x="1716833" y="1484784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Desconexo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6372200" y="1484784"/>
            <a:ext cx="1027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S-conexo</a:t>
            </a:r>
          </a:p>
        </p:txBody>
      </p:sp>
    </p:spTree>
    <p:extLst>
      <p:ext uri="{BB962C8B-B14F-4D97-AF65-F5344CB8AC3E}">
        <p14:creationId xmlns:p14="http://schemas.microsoft.com/office/powerpoint/2010/main" val="85517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Desconexo</a:t>
            </a:r>
          </a:p>
          <a:p>
            <a:pPr lvl="1"/>
            <a:r>
              <a:rPr lang="pt-BR" sz="2000" dirty="0"/>
              <a:t>Um grafo é não-conexo ou desconexo se nem todo par de vértices é unido por uma cadeia</a:t>
            </a:r>
          </a:p>
          <a:p>
            <a:r>
              <a:rPr lang="pt-BR" sz="2400" dirty="0"/>
              <a:t>S-conexo</a:t>
            </a:r>
          </a:p>
          <a:p>
            <a:pPr lvl="1"/>
            <a:r>
              <a:rPr lang="pt-BR" sz="2000" dirty="0"/>
              <a:t>Um grafo é simplesmente conexo ou s-conexo se todo par de vértices é unido por pelo menos uma cadeia</a:t>
            </a:r>
          </a:p>
          <a:p>
            <a:r>
              <a:rPr lang="pt-BR" sz="2400" dirty="0"/>
              <a:t>SF-conexo</a:t>
            </a:r>
          </a:p>
          <a:p>
            <a:pPr lvl="1"/>
            <a:r>
              <a:rPr lang="pt-BR" sz="2000" dirty="0"/>
              <a:t>Um grafo é </a:t>
            </a:r>
            <a:r>
              <a:rPr lang="pt-BR" sz="2000" dirty="0" err="1"/>
              <a:t>semi-fortemente</a:t>
            </a:r>
            <a:r>
              <a:rPr lang="pt-BR" sz="2000" dirty="0"/>
              <a:t> conexo ou </a:t>
            </a:r>
            <a:r>
              <a:rPr lang="pt-BR" sz="2000" dirty="0" err="1"/>
              <a:t>sf</a:t>
            </a:r>
            <a:r>
              <a:rPr lang="pt-BR" sz="2000" dirty="0"/>
              <a:t>-conexo se para todo par de vértice, pelo menos um deles é alcançável a partir do outro</a:t>
            </a:r>
          </a:p>
        </p:txBody>
      </p:sp>
    </p:spTree>
    <p:extLst>
      <p:ext uri="{BB962C8B-B14F-4D97-AF65-F5344CB8AC3E}">
        <p14:creationId xmlns:p14="http://schemas.microsoft.com/office/powerpoint/2010/main" val="2199783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47" name="Elipse 46"/>
          <p:cNvSpPr/>
          <p:nvPr/>
        </p:nvSpPr>
        <p:spPr>
          <a:xfrm>
            <a:off x="971600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Elipse 48"/>
          <p:cNvSpPr/>
          <p:nvPr/>
        </p:nvSpPr>
        <p:spPr>
          <a:xfrm>
            <a:off x="2140631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971600" y="33352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Elipse 51"/>
          <p:cNvSpPr/>
          <p:nvPr/>
        </p:nvSpPr>
        <p:spPr>
          <a:xfrm>
            <a:off x="2145857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3" name="Conector de seta reta 52"/>
          <p:cNvCxnSpPr>
            <a:stCxn id="52" idx="0"/>
            <a:endCxn id="49" idx="4"/>
          </p:cNvCxnSpPr>
          <p:nvPr/>
        </p:nvCxnSpPr>
        <p:spPr>
          <a:xfrm flipH="1" flipV="1">
            <a:off x="2412322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7" idx="6"/>
            <a:endCxn id="49" idx="2"/>
          </p:cNvCxnSpPr>
          <p:nvPr/>
        </p:nvCxnSpPr>
        <p:spPr>
          <a:xfrm>
            <a:off x="1514981" y="2266020"/>
            <a:ext cx="62565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0" idx="6"/>
            <a:endCxn id="52" idx="2"/>
          </p:cNvCxnSpPr>
          <p:nvPr/>
        </p:nvCxnSpPr>
        <p:spPr>
          <a:xfrm flipV="1">
            <a:off x="1514981" y="3539275"/>
            <a:ext cx="630876" cy="118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0" idx="0"/>
            <a:endCxn id="47" idx="4"/>
          </p:cNvCxnSpPr>
          <p:nvPr/>
        </p:nvCxnSpPr>
        <p:spPr>
          <a:xfrm flipV="1">
            <a:off x="1243291" y="2471192"/>
            <a:ext cx="0" cy="86409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2932719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Elipse 65"/>
          <p:cNvSpPr/>
          <p:nvPr/>
        </p:nvSpPr>
        <p:spPr>
          <a:xfrm>
            <a:off x="2937945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7" name="Conector de seta reta 66"/>
          <p:cNvCxnSpPr>
            <a:stCxn id="66" idx="0"/>
            <a:endCxn id="65" idx="4"/>
          </p:cNvCxnSpPr>
          <p:nvPr/>
        </p:nvCxnSpPr>
        <p:spPr>
          <a:xfrm flipH="1" flipV="1">
            <a:off x="3204410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5436096" y="2091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3" name="Elipse 82"/>
          <p:cNvSpPr/>
          <p:nvPr/>
        </p:nvSpPr>
        <p:spPr>
          <a:xfrm>
            <a:off x="5441322" y="336436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84" name="Conector de seta reta 83"/>
          <p:cNvCxnSpPr>
            <a:stCxn id="83" idx="0"/>
            <a:endCxn id="82" idx="4"/>
          </p:cNvCxnSpPr>
          <p:nvPr/>
        </p:nvCxnSpPr>
        <p:spPr>
          <a:xfrm flipH="1" flipV="1">
            <a:off x="5707787" y="2501456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ipse 84"/>
          <p:cNvSpPr/>
          <p:nvPr/>
        </p:nvSpPr>
        <p:spPr>
          <a:xfrm>
            <a:off x="6571321" y="2774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86" name="Conector reto 85"/>
          <p:cNvCxnSpPr>
            <a:stCxn id="82" idx="5"/>
            <a:endCxn id="85" idx="1"/>
          </p:cNvCxnSpPr>
          <p:nvPr/>
        </p:nvCxnSpPr>
        <p:spPr>
          <a:xfrm>
            <a:off x="5899901" y="2441363"/>
            <a:ext cx="750996" cy="39284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>
            <a:stCxn id="83" idx="7"/>
            <a:endCxn id="85" idx="3"/>
          </p:cNvCxnSpPr>
          <p:nvPr/>
        </p:nvCxnSpPr>
        <p:spPr>
          <a:xfrm flipV="1">
            <a:off x="5905127" y="3124363"/>
            <a:ext cx="745770" cy="30009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/>
          <p:cNvSpPr/>
          <p:nvPr/>
        </p:nvSpPr>
        <p:spPr>
          <a:xfrm>
            <a:off x="7789938" y="2774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9" name="Conector reto 88"/>
          <p:cNvCxnSpPr>
            <a:stCxn id="85" idx="6"/>
            <a:endCxn id="88" idx="2"/>
          </p:cNvCxnSpPr>
          <p:nvPr/>
        </p:nvCxnSpPr>
        <p:spPr>
          <a:xfrm>
            <a:off x="7114702" y="2979284"/>
            <a:ext cx="675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/>
          <p:cNvSpPr/>
          <p:nvPr/>
        </p:nvSpPr>
        <p:spPr>
          <a:xfrm>
            <a:off x="971600" y="4509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2" name="Elipse 91"/>
          <p:cNvSpPr/>
          <p:nvPr/>
        </p:nvSpPr>
        <p:spPr>
          <a:xfrm>
            <a:off x="976826" y="57823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3" name="Conector de seta reta 92"/>
          <p:cNvCxnSpPr>
            <a:stCxn id="92" idx="0"/>
            <a:endCxn id="91" idx="4"/>
          </p:cNvCxnSpPr>
          <p:nvPr/>
        </p:nvCxnSpPr>
        <p:spPr>
          <a:xfrm flipH="1" flipV="1">
            <a:off x="1243291" y="4919464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ipse 93"/>
          <p:cNvSpPr/>
          <p:nvPr/>
        </p:nvSpPr>
        <p:spPr>
          <a:xfrm>
            <a:off x="2106825" y="5192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5" name="Conector reto 94"/>
          <p:cNvCxnSpPr>
            <a:stCxn id="91" idx="5"/>
            <a:endCxn id="94" idx="1"/>
          </p:cNvCxnSpPr>
          <p:nvPr/>
        </p:nvCxnSpPr>
        <p:spPr>
          <a:xfrm>
            <a:off x="1435405" y="4859371"/>
            <a:ext cx="750996" cy="3928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92" idx="7"/>
            <a:endCxn id="94" idx="3"/>
          </p:cNvCxnSpPr>
          <p:nvPr/>
        </p:nvCxnSpPr>
        <p:spPr>
          <a:xfrm flipV="1">
            <a:off x="1440631" y="5542371"/>
            <a:ext cx="745770" cy="30009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ipse 96"/>
          <p:cNvSpPr/>
          <p:nvPr/>
        </p:nvSpPr>
        <p:spPr>
          <a:xfrm>
            <a:off x="3325442" y="5192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8" name="Conector reto 97"/>
          <p:cNvCxnSpPr>
            <a:stCxn id="94" idx="6"/>
            <a:endCxn id="97" idx="2"/>
          </p:cNvCxnSpPr>
          <p:nvPr/>
        </p:nvCxnSpPr>
        <p:spPr>
          <a:xfrm>
            <a:off x="2650206" y="5397292"/>
            <a:ext cx="675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ipse 98"/>
          <p:cNvSpPr/>
          <p:nvPr/>
        </p:nvSpPr>
        <p:spPr>
          <a:xfrm>
            <a:off x="3325801" y="57823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00" name="Conector reto 99"/>
          <p:cNvCxnSpPr>
            <a:stCxn id="92" idx="6"/>
            <a:endCxn id="99" idx="2"/>
          </p:cNvCxnSpPr>
          <p:nvPr/>
        </p:nvCxnSpPr>
        <p:spPr>
          <a:xfrm>
            <a:off x="1520207" y="5987547"/>
            <a:ext cx="1805594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/>
          <p:cNvSpPr txBox="1"/>
          <p:nvPr/>
        </p:nvSpPr>
        <p:spPr>
          <a:xfrm>
            <a:off x="1716833" y="1484784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Desconexo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6372200" y="1484784"/>
            <a:ext cx="1027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S-conexo</a:t>
            </a:r>
          </a:p>
        </p:txBody>
      </p:sp>
      <p:sp>
        <p:nvSpPr>
          <p:cNvPr id="125" name="CaixaDeTexto 124"/>
          <p:cNvSpPr txBox="1"/>
          <p:nvPr/>
        </p:nvSpPr>
        <p:spPr>
          <a:xfrm>
            <a:off x="1802593" y="4127381"/>
            <a:ext cx="1133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SF-conexo</a:t>
            </a:r>
          </a:p>
        </p:txBody>
      </p:sp>
    </p:spTree>
    <p:extLst>
      <p:ext uri="{BB962C8B-B14F-4D97-AF65-F5344CB8AC3E}">
        <p14:creationId xmlns:p14="http://schemas.microsoft.com/office/powerpoint/2010/main" val="85517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Desconexo</a:t>
            </a:r>
          </a:p>
          <a:p>
            <a:pPr lvl="1"/>
            <a:r>
              <a:rPr lang="pt-BR" sz="2000" dirty="0"/>
              <a:t>Um grafo é não-conexo ou desconexo se nem todo par de vértices é unido por uma cadeia</a:t>
            </a:r>
          </a:p>
          <a:p>
            <a:r>
              <a:rPr lang="pt-BR" sz="2400" dirty="0"/>
              <a:t>S-conexo</a:t>
            </a:r>
          </a:p>
          <a:p>
            <a:pPr lvl="1"/>
            <a:r>
              <a:rPr lang="pt-BR" sz="2000" dirty="0"/>
              <a:t>Um grafo é simplesmente conexo ou s-conexo se todo par de vértices é unido por pelo menos uma cadeia</a:t>
            </a:r>
          </a:p>
          <a:p>
            <a:r>
              <a:rPr lang="pt-BR" sz="2400" dirty="0"/>
              <a:t>SF-conexo</a:t>
            </a:r>
          </a:p>
          <a:p>
            <a:pPr lvl="1"/>
            <a:r>
              <a:rPr lang="pt-BR" sz="2000" dirty="0"/>
              <a:t>Um grafo é </a:t>
            </a:r>
            <a:r>
              <a:rPr lang="pt-BR" sz="2000" dirty="0" err="1"/>
              <a:t>semi-fortemente</a:t>
            </a:r>
            <a:r>
              <a:rPr lang="pt-BR" sz="2000" dirty="0"/>
              <a:t> conexo ou </a:t>
            </a:r>
            <a:r>
              <a:rPr lang="pt-BR" sz="2000" dirty="0" err="1"/>
              <a:t>sf</a:t>
            </a:r>
            <a:r>
              <a:rPr lang="pt-BR" sz="2000" dirty="0"/>
              <a:t>-conexo se para todo par de vértice, pelo menos um deles é alcançável a partir do outro</a:t>
            </a:r>
          </a:p>
          <a:p>
            <a:r>
              <a:rPr lang="pt-BR" sz="2400" dirty="0"/>
              <a:t>F-conexo</a:t>
            </a:r>
          </a:p>
          <a:p>
            <a:pPr lvl="1"/>
            <a:r>
              <a:rPr lang="pt-BR" sz="2000" dirty="0"/>
              <a:t>Um grafo é fortemente conexo ou f-conexo se todos os vértices são mutuamente alcançáveis</a:t>
            </a:r>
          </a:p>
        </p:txBody>
      </p:sp>
    </p:spTree>
    <p:extLst>
      <p:ext uri="{BB962C8B-B14F-4D97-AF65-F5344CB8AC3E}">
        <p14:creationId xmlns:p14="http://schemas.microsoft.com/office/powerpoint/2010/main" val="267470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Conectividade em dígrafos</a:t>
            </a:r>
          </a:p>
        </p:txBody>
      </p:sp>
      <p:sp>
        <p:nvSpPr>
          <p:cNvPr id="47" name="Elipse 46"/>
          <p:cNvSpPr/>
          <p:nvPr/>
        </p:nvSpPr>
        <p:spPr>
          <a:xfrm>
            <a:off x="971600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" name="Elipse 48"/>
          <p:cNvSpPr/>
          <p:nvPr/>
        </p:nvSpPr>
        <p:spPr>
          <a:xfrm>
            <a:off x="2140631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971600" y="33352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Elipse 51"/>
          <p:cNvSpPr/>
          <p:nvPr/>
        </p:nvSpPr>
        <p:spPr>
          <a:xfrm>
            <a:off x="2145857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53" name="Conector de seta reta 52"/>
          <p:cNvCxnSpPr>
            <a:stCxn id="52" idx="0"/>
            <a:endCxn id="49" idx="4"/>
          </p:cNvCxnSpPr>
          <p:nvPr/>
        </p:nvCxnSpPr>
        <p:spPr>
          <a:xfrm flipH="1" flipV="1">
            <a:off x="2412322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47" idx="6"/>
            <a:endCxn id="49" idx="2"/>
          </p:cNvCxnSpPr>
          <p:nvPr/>
        </p:nvCxnSpPr>
        <p:spPr>
          <a:xfrm>
            <a:off x="1514981" y="2266020"/>
            <a:ext cx="62565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0" idx="6"/>
            <a:endCxn id="52" idx="2"/>
          </p:cNvCxnSpPr>
          <p:nvPr/>
        </p:nvCxnSpPr>
        <p:spPr>
          <a:xfrm flipV="1">
            <a:off x="1514981" y="3539275"/>
            <a:ext cx="630876" cy="118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0" idx="0"/>
            <a:endCxn id="47" idx="4"/>
          </p:cNvCxnSpPr>
          <p:nvPr/>
        </p:nvCxnSpPr>
        <p:spPr>
          <a:xfrm flipV="1">
            <a:off x="1243291" y="2471192"/>
            <a:ext cx="0" cy="86409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/>
          <p:cNvSpPr/>
          <p:nvPr/>
        </p:nvSpPr>
        <p:spPr>
          <a:xfrm>
            <a:off x="2932719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Elipse 65"/>
          <p:cNvSpPr/>
          <p:nvPr/>
        </p:nvSpPr>
        <p:spPr>
          <a:xfrm>
            <a:off x="2937945" y="33341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67" name="Conector de seta reta 66"/>
          <p:cNvCxnSpPr>
            <a:stCxn id="66" idx="0"/>
            <a:endCxn id="65" idx="4"/>
          </p:cNvCxnSpPr>
          <p:nvPr/>
        </p:nvCxnSpPr>
        <p:spPr>
          <a:xfrm flipH="1" flipV="1">
            <a:off x="3204410" y="2471192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5436096" y="2091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3" name="Elipse 82"/>
          <p:cNvSpPr/>
          <p:nvPr/>
        </p:nvSpPr>
        <p:spPr>
          <a:xfrm>
            <a:off x="5441322" y="336436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84" name="Conector de seta reta 83"/>
          <p:cNvCxnSpPr>
            <a:stCxn id="83" idx="0"/>
            <a:endCxn id="82" idx="4"/>
          </p:cNvCxnSpPr>
          <p:nvPr/>
        </p:nvCxnSpPr>
        <p:spPr>
          <a:xfrm flipH="1" flipV="1">
            <a:off x="5707787" y="2501456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ipse 84"/>
          <p:cNvSpPr/>
          <p:nvPr/>
        </p:nvSpPr>
        <p:spPr>
          <a:xfrm>
            <a:off x="6571321" y="2774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86" name="Conector reto 85"/>
          <p:cNvCxnSpPr>
            <a:stCxn id="82" idx="5"/>
            <a:endCxn id="85" idx="1"/>
          </p:cNvCxnSpPr>
          <p:nvPr/>
        </p:nvCxnSpPr>
        <p:spPr>
          <a:xfrm>
            <a:off x="5899901" y="2441363"/>
            <a:ext cx="750996" cy="392842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>
            <a:stCxn id="83" idx="7"/>
            <a:endCxn id="85" idx="3"/>
          </p:cNvCxnSpPr>
          <p:nvPr/>
        </p:nvCxnSpPr>
        <p:spPr>
          <a:xfrm flipV="1">
            <a:off x="5905127" y="3124363"/>
            <a:ext cx="745770" cy="30009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Elipse 87"/>
          <p:cNvSpPr/>
          <p:nvPr/>
        </p:nvSpPr>
        <p:spPr>
          <a:xfrm>
            <a:off x="7789938" y="27741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89" name="Conector reto 88"/>
          <p:cNvCxnSpPr>
            <a:stCxn id="85" idx="6"/>
            <a:endCxn id="88" idx="2"/>
          </p:cNvCxnSpPr>
          <p:nvPr/>
        </p:nvCxnSpPr>
        <p:spPr>
          <a:xfrm>
            <a:off x="7114702" y="2979284"/>
            <a:ext cx="675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/>
          <p:cNvSpPr/>
          <p:nvPr/>
        </p:nvSpPr>
        <p:spPr>
          <a:xfrm>
            <a:off x="971600" y="4509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2" name="Elipse 91"/>
          <p:cNvSpPr/>
          <p:nvPr/>
        </p:nvSpPr>
        <p:spPr>
          <a:xfrm>
            <a:off x="976826" y="57823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93" name="Conector de seta reta 92"/>
          <p:cNvCxnSpPr>
            <a:stCxn id="92" idx="0"/>
            <a:endCxn id="91" idx="4"/>
          </p:cNvCxnSpPr>
          <p:nvPr/>
        </p:nvCxnSpPr>
        <p:spPr>
          <a:xfrm flipH="1" flipV="1">
            <a:off x="1243291" y="4919464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ipse 93"/>
          <p:cNvSpPr/>
          <p:nvPr/>
        </p:nvSpPr>
        <p:spPr>
          <a:xfrm>
            <a:off x="2106825" y="5192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95" name="Conector reto 94"/>
          <p:cNvCxnSpPr>
            <a:stCxn id="91" idx="5"/>
            <a:endCxn id="94" idx="1"/>
          </p:cNvCxnSpPr>
          <p:nvPr/>
        </p:nvCxnSpPr>
        <p:spPr>
          <a:xfrm>
            <a:off x="1435405" y="4859371"/>
            <a:ext cx="750996" cy="3928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92" idx="7"/>
            <a:endCxn id="94" idx="3"/>
          </p:cNvCxnSpPr>
          <p:nvPr/>
        </p:nvCxnSpPr>
        <p:spPr>
          <a:xfrm flipV="1">
            <a:off x="1440631" y="5542371"/>
            <a:ext cx="745770" cy="30009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ipse 96"/>
          <p:cNvSpPr/>
          <p:nvPr/>
        </p:nvSpPr>
        <p:spPr>
          <a:xfrm>
            <a:off x="3325442" y="5192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8" name="Conector reto 97"/>
          <p:cNvCxnSpPr>
            <a:stCxn id="94" idx="6"/>
            <a:endCxn id="97" idx="2"/>
          </p:cNvCxnSpPr>
          <p:nvPr/>
        </p:nvCxnSpPr>
        <p:spPr>
          <a:xfrm>
            <a:off x="2650206" y="5397292"/>
            <a:ext cx="675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Elipse 98"/>
          <p:cNvSpPr/>
          <p:nvPr/>
        </p:nvSpPr>
        <p:spPr>
          <a:xfrm>
            <a:off x="3325801" y="57823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00" name="Conector reto 99"/>
          <p:cNvCxnSpPr>
            <a:stCxn id="92" idx="6"/>
            <a:endCxn id="99" idx="2"/>
          </p:cNvCxnSpPr>
          <p:nvPr/>
        </p:nvCxnSpPr>
        <p:spPr>
          <a:xfrm>
            <a:off x="1520207" y="5987547"/>
            <a:ext cx="1805594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Elipse 101"/>
          <p:cNvSpPr/>
          <p:nvPr/>
        </p:nvSpPr>
        <p:spPr>
          <a:xfrm>
            <a:off x="5436096" y="4509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Elipse 102"/>
          <p:cNvSpPr/>
          <p:nvPr/>
        </p:nvSpPr>
        <p:spPr>
          <a:xfrm>
            <a:off x="5441322" y="57823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04" name="Conector de seta reta 103"/>
          <p:cNvCxnSpPr>
            <a:stCxn id="103" idx="0"/>
            <a:endCxn id="102" idx="4"/>
          </p:cNvCxnSpPr>
          <p:nvPr/>
        </p:nvCxnSpPr>
        <p:spPr>
          <a:xfrm flipH="1" flipV="1">
            <a:off x="5707787" y="4919464"/>
            <a:ext cx="5226" cy="8629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ipse 104"/>
          <p:cNvSpPr/>
          <p:nvPr/>
        </p:nvSpPr>
        <p:spPr>
          <a:xfrm>
            <a:off x="6571321" y="5192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06" name="Conector reto 105"/>
          <p:cNvCxnSpPr>
            <a:stCxn id="102" idx="5"/>
            <a:endCxn id="105" idx="1"/>
          </p:cNvCxnSpPr>
          <p:nvPr/>
        </p:nvCxnSpPr>
        <p:spPr>
          <a:xfrm>
            <a:off x="5899901" y="4859371"/>
            <a:ext cx="750996" cy="3928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to 106"/>
          <p:cNvCxnSpPr>
            <a:stCxn id="103" idx="7"/>
            <a:endCxn id="105" idx="3"/>
          </p:cNvCxnSpPr>
          <p:nvPr/>
        </p:nvCxnSpPr>
        <p:spPr>
          <a:xfrm flipV="1">
            <a:off x="5905127" y="5542371"/>
            <a:ext cx="745770" cy="300097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Elipse 107"/>
          <p:cNvSpPr/>
          <p:nvPr/>
        </p:nvSpPr>
        <p:spPr>
          <a:xfrm>
            <a:off x="7789938" y="450912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9" name="Conector reto 108"/>
          <p:cNvCxnSpPr>
            <a:stCxn id="105" idx="7"/>
            <a:endCxn id="108" idx="3"/>
          </p:cNvCxnSpPr>
          <p:nvPr/>
        </p:nvCxnSpPr>
        <p:spPr>
          <a:xfrm flipV="1">
            <a:off x="7035126" y="4859371"/>
            <a:ext cx="834388" cy="3928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Elipse 109"/>
          <p:cNvSpPr/>
          <p:nvPr/>
        </p:nvSpPr>
        <p:spPr>
          <a:xfrm>
            <a:off x="7790297" y="578237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11" name="Conector reto 110"/>
          <p:cNvCxnSpPr>
            <a:stCxn id="103" idx="6"/>
            <a:endCxn id="110" idx="2"/>
          </p:cNvCxnSpPr>
          <p:nvPr/>
        </p:nvCxnSpPr>
        <p:spPr>
          <a:xfrm>
            <a:off x="5984703" y="5987547"/>
            <a:ext cx="1805594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102" idx="6"/>
            <a:endCxn id="108" idx="2"/>
          </p:cNvCxnSpPr>
          <p:nvPr/>
        </p:nvCxnSpPr>
        <p:spPr>
          <a:xfrm>
            <a:off x="5979477" y="4714292"/>
            <a:ext cx="1810461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to 119"/>
          <p:cNvCxnSpPr>
            <a:stCxn id="110" idx="0"/>
            <a:endCxn id="108" idx="4"/>
          </p:cNvCxnSpPr>
          <p:nvPr/>
        </p:nvCxnSpPr>
        <p:spPr>
          <a:xfrm flipH="1" flipV="1">
            <a:off x="8061629" y="4919464"/>
            <a:ext cx="359" cy="862911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/>
          <p:cNvSpPr txBox="1"/>
          <p:nvPr/>
        </p:nvSpPr>
        <p:spPr>
          <a:xfrm>
            <a:off x="1716833" y="1484784"/>
            <a:ext cx="119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Desconexo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6372200" y="1484784"/>
            <a:ext cx="1027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S-conexo</a:t>
            </a:r>
          </a:p>
        </p:txBody>
      </p:sp>
      <p:sp>
        <p:nvSpPr>
          <p:cNvPr id="125" name="CaixaDeTexto 124"/>
          <p:cNvSpPr txBox="1"/>
          <p:nvPr/>
        </p:nvSpPr>
        <p:spPr>
          <a:xfrm>
            <a:off x="1802593" y="4127381"/>
            <a:ext cx="1133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SF-conexo</a:t>
            </a:r>
          </a:p>
        </p:txBody>
      </p:sp>
      <p:sp>
        <p:nvSpPr>
          <p:cNvPr id="126" name="CaixaDeTexto 125"/>
          <p:cNvSpPr txBox="1"/>
          <p:nvPr/>
        </p:nvSpPr>
        <p:spPr>
          <a:xfrm>
            <a:off x="6352851" y="4139788"/>
            <a:ext cx="1027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F-conexo</a:t>
            </a:r>
          </a:p>
        </p:txBody>
      </p:sp>
    </p:spTree>
    <p:extLst>
      <p:ext uri="{BB962C8B-B14F-4D97-AF65-F5344CB8AC3E}">
        <p14:creationId xmlns:p14="http://schemas.microsoft.com/office/powerpoint/2010/main" val="85517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Componentes Fortemente Conectados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pt-BR" sz="2000" dirty="0"/>
                  <a:t>Um </a:t>
                </a:r>
                <a:r>
                  <a:rPr lang="pt-BR" sz="2000" b="1" dirty="0"/>
                  <a:t>componente fortemente conectado </a:t>
                </a:r>
                <a:r>
                  <a:rPr lang="pt-BR" sz="2000" dirty="0"/>
                  <a:t>de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𝐺</m:t>
                    </m:r>
                    <m:r>
                      <a:rPr lang="pt-BR" sz="2000" i="1" dirty="0">
                        <a:latin typeface="Cambria Math"/>
                      </a:rPr>
                      <m:t>=(</m:t>
                    </m:r>
                    <m:r>
                      <a:rPr lang="pt-BR" sz="2000" i="1" dirty="0">
                        <a:latin typeface="Cambria Math"/>
                      </a:rPr>
                      <m:t>𝑉</m:t>
                    </m:r>
                    <m:r>
                      <a:rPr lang="pt-BR" sz="2000" i="1" dirty="0" smtClean="0">
                        <a:latin typeface="Cambria Math"/>
                      </a:rPr>
                      <m:t>, </m:t>
                    </m:r>
                    <m:r>
                      <a:rPr lang="pt-BR" sz="2000" i="1" dirty="0" smtClean="0">
                        <a:latin typeface="Cambria Math"/>
                      </a:rPr>
                      <m:t>𝐴</m:t>
                    </m:r>
                    <m:r>
                      <a:rPr lang="pt-BR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pt-BR" sz="2000" dirty="0"/>
                  <a:t> é um conjunto maximal de vértices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𝐶</m:t>
                    </m:r>
                    <m:r>
                      <a:rPr lang="pt-BR" sz="2000" i="1" dirty="0" smtClean="0">
                        <a:latin typeface="Cambria Math"/>
                        <a:ea typeface="Cambria Math"/>
                      </a:rPr>
                      <m:t>⊆</m:t>
                    </m:r>
                    <m:r>
                      <a:rPr lang="pt-BR" sz="2000" i="1" dirty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tal que para todo par de vértices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 em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pt-BR" sz="2000" dirty="0"/>
                  <a:t>,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 são mutuamente alcançáveis.</a:t>
                </a:r>
              </a:p>
              <a:p>
                <a:r>
                  <a:rPr lang="pt-BR" sz="2000" dirty="0"/>
                  <a:t>Podemos particionar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em 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000" b="0" i="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pt-BR" sz="2000" dirty="0"/>
                  <a:t>, tal que vértices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 são equivalentes se e somente se existe um caminho de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pt-BR" sz="2000" dirty="0"/>
                  <a:t> a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 e um caminho de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pt-BR" sz="2000" dirty="0"/>
                  <a:t> a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/>
                      </a:rPr>
                      <m:t>𝑢</m:t>
                    </m:r>
                  </m:oMath>
                </a14:m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endParaRPr lang="pt-BR" sz="2000" dirty="0"/>
              </a:p>
              <a:p>
                <a:r>
                  <a:rPr lang="pt-BR" sz="2000" dirty="0"/>
                  <a:t>Os elementos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sz="2000" i="1" dirty="0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sz="2000" b="0" i="1" dirty="0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r>
                  <a:rPr lang="pt-BR" sz="2000" dirty="0"/>
                  <a:t> são chamados de </a:t>
                </a:r>
                <a:r>
                  <a:rPr lang="pt-BR" sz="2000" b="1" dirty="0"/>
                  <a:t>componentes fortemente conectados </a:t>
                </a:r>
                <a:r>
                  <a:rPr lang="pt-BR" sz="2000" dirty="0"/>
                  <a:t>de G</a:t>
                </a:r>
              </a:p>
              <a:p>
                <a:r>
                  <a:rPr lang="pt-BR" sz="2000" dirty="0"/>
                  <a:t>Se G for f-conexo, então C = V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 b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429000"/>
            <a:ext cx="3096344" cy="1388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613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Componentes Fortemente Conectados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800" dirty="0"/>
              <a:t>Projete um algoritmo para encontrar os componentes f-conexos de um grafo. Você deve utilizar o algoritmo de busca em profundidade e o algoritmo para encontrar grafo transposto (da lista de exercícios 2) para auxiliar na descoberta dos componentes f-conexos. </a:t>
            </a:r>
          </a:p>
          <a:p>
            <a:r>
              <a:rPr lang="pt-BR" sz="2800" dirty="0"/>
              <a:t>Descreva qual a complexidade do algoritmo proposto.</a:t>
            </a:r>
          </a:p>
          <a:p>
            <a:r>
              <a:rPr lang="pt-BR" sz="2800" dirty="0"/>
              <a:t>Não precisa implementar, dê apenas a solução do algoritmo.  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30677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1484784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4673</TotalTime>
  <Words>809</Words>
  <Application>Microsoft Office PowerPoint</Application>
  <PresentationFormat>Apresentação na tela (4:3)</PresentationFormat>
  <Paragraphs>145</Paragraphs>
  <Slides>20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 Math</vt:lpstr>
      <vt:lpstr>Tema do Office</vt:lpstr>
      <vt:lpstr>Unidade III  Separabilidade e Conectividade</vt:lpstr>
      <vt:lpstr>Cut-set</vt:lpstr>
      <vt:lpstr>Cut-set</vt:lpstr>
      <vt:lpstr>Conectividade e Separabilidade</vt:lpstr>
      <vt:lpstr>Conectividade e Separabilidade</vt:lpstr>
      <vt:lpstr>Conectividade e Separabilidade</vt:lpstr>
      <vt:lpstr>Conectividade e Separabilidade</vt:lpstr>
      <vt:lpstr>Conectividade e Separabilidade</vt:lpstr>
      <vt:lpstr>Caminhamento em grafos</vt:lpstr>
      <vt:lpstr>Conectividade em dígrafos</vt:lpstr>
      <vt:lpstr>Conectividade em dígrafos</vt:lpstr>
      <vt:lpstr>Conectividade em dígrafos</vt:lpstr>
      <vt:lpstr>Conectividade em dígrafos</vt:lpstr>
      <vt:lpstr>Conectividade em dígrafos</vt:lpstr>
      <vt:lpstr>Conectividade em dígrafos</vt:lpstr>
      <vt:lpstr>Conectividade em dígrafos</vt:lpstr>
      <vt:lpstr>Conectividade em dígrafos</vt:lpstr>
      <vt:lpstr>Componentes Fortemente Conectados</vt:lpstr>
      <vt:lpstr>Componentes Fortemente Conectados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292</cp:revision>
  <dcterms:created xsi:type="dcterms:W3CDTF">2011-08-03T02:09:11Z</dcterms:created>
  <dcterms:modified xsi:type="dcterms:W3CDTF">2016-09-28T11:31:03Z</dcterms:modified>
</cp:coreProperties>
</file>