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6" r:id="rId5"/>
    <p:sldId id="278" r:id="rId6"/>
    <p:sldId id="283" r:id="rId7"/>
    <p:sldId id="269" r:id="rId8"/>
    <p:sldId id="270" r:id="rId9"/>
    <p:sldId id="272" r:id="rId10"/>
    <p:sldId id="274" r:id="rId11"/>
    <p:sldId id="276" r:id="rId12"/>
    <p:sldId id="277" r:id="rId13"/>
    <p:sldId id="279" r:id="rId14"/>
    <p:sldId id="280" r:id="rId15"/>
    <p:sldId id="281" r:id="rId16"/>
    <p:sldId id="284" r:id="rId17"/>
    <p:sldId id="285" r:id="rId18"/>
    <p:sldId id="305" r:id="rId19"/>
    <p:sldId id="286" r:id="rId20"/>
    <p:sldId id="288" r:id="rId21"/>
    <p:sldId id="289" r:id="rId22"/>
    <p:sldId id="290" r:id="rId23"/>
    <p:sldId id="291" r:id="rId24"/>
    <p:sldId id="287" r:id="rId25"/>
    <p:sldId id="292" r:id="rId26"/>
    <p:sldId id="293" r:id="rId27"/>
    <p:sldId id="296" r:id="rId28"/>
    <p:sldId id="297" r:id="rId29"/>
    <p:sldId id="299" r:id="rId30"/>
    <p:sldId id="302" r:id="rId31"/>
    <p:sldId id="303" r:id="rId32"/>
    <p:sldId id="304" r:id="rId33"/>
    <p:sldId id="264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29/04/2014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</a:t>
            </a:r>
            <a:r>
              <a:rPr lang="pt-BR" dirty="0" smtClean="0"/>
              <a:t>VI </a:t>
            </a:r>
            <a:br>
              <a:rPr lang="pt-BR" dirty="0" smtClean="0"/>
            </a:br>
            <a:r>
              <a:rPr lang="pt-BR" dirty="0" err="1"/>
              <a:t>Planaridade</a:t>
            </a:r>
            <a:r>
              <a:rPr lang="pt-BR" dirty="0"/>
              <a:t> e Dualidade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 grafo planar é um grafo que pode ser desenhado no plano sem cruzamento de arestas.</a:t>
            </a:r>
            <a:endParaRPr lang="pt-BR" dirty="0"/>
          </a:p>
        </p:txBody>
      </p:sp>
      <p:sp>
        <p:nvSpPr>
          <p:cNvPr id="61" name="Elipse 60"/>
          <p:cNvSpPr/>
          <p:nvPr/>
        </p:nvSpPr>
        <p:spPr>
          <a:xfrm>
            <a:off x="2843808" y="29969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3746636" y="299216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2843808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3746636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>
            <a:stCxn id="61" idx="6"/>
            <a:endCxn id="62" idx="2"/>
          </p:cNvCxnSpPr>
          <p:nvPr/>
        </p:nvCxnSpPr>
        <p:spPr>
          <a:xfrm flipV="1">
            <a:off x="2987824" y="3064168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2" idx="4"/>
            <a:endCxn id="64" idx="0"/>
          </p:cNvCxnSpPr>
          <p:nvPr/>
        </p:nvCxnSpPr>
        <p:spPr>
          <a:xfrm>
            <a:off x="3818644" y="3136176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4" idx="2"/>
            <a:endCxn id="63" idx="6"/>
          </p:cNvCxnSpPr>
          <p:nvPr/>
        </p:nvCxnSpPr>
        <p:spPr>
          <a:xfrm flipH="1">
            <a:off x="2987824" y="3933056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1" idx="4"/>
            <a:endCxn id="63" idx="0"/>
          </p:cNvCxnSpPr>
          <p:nvPr/>
        </p:nvCxnSpPr>
        <p:spPr>
          <a:xfrm>
            <a:off x="2915816" y="3140968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62" idx="3"/>
            <a:endCxn id="63" idx="7"/>
          </p:cNvCxnSpPr>
          <p:nvPr/>
        </p:nvCxnSpPr>
        <p:spPr>
          <a:xfrm flipH="1">
            <a:off x="2966733" y="3115085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1" idx="5"/>
            <a:endCxn id="64" idx="1"/>
          </p:cNvCxnSpPr>
          <p:nvPr/>
        </p:nvCxnSpPr>
        <p:spPr>
          <a:xfrm>
            <a:off x="2966733" y="3119877"/>
            <a:ext cx="800994" cy="762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644008" y="3183359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K</a:t>
            </a:r>
            <a:r>
              <a:rPr lang="pt-BR" sz="2400" baseline="-25000" dirty="0" smtClean="0"/>
              <a:t>4</a:t>
            </a:r>
            <a:r>
              <a:rPr lang="pt-BR" sz="2400" dirty="0" smtClean="0"/>
              <a:t> é planar?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9596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 grafo planar é um grafo que pode ser desenhado no plano sem cruzamento de arestas.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051721" y="465313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954549" y="464834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2051721" y="55172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2954549" y="55172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 flipV="1">
            <a:off x="2195737" y="4720352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8" idx="0"/>
          </p:cNvCxnSpPr>
          <p:nvPr/>
        </p:nvCxnSpPr>
        <p:spPr>
          <a:xfrm>
            <a:off x="3026557" y="4792360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195737" y="558924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4" idx="4"/>
            <a:endCxn id="7" idx="0"/>
          </p:cNvCxnSpPr>
          <p:nvPr/>
        </p:nvCxnSpPr>
        <p:spPr>
          <a:xfrm>
            <a:off x="2123729" y="479715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em curva 19"/>
          <p:cNvCxnSpPr>
            <a:stCxn id="4" idx="2"/>
            <a:endCxn id="8" idx="4"/>
          </p:cNvCxnSpPr>
          <p:nvPr/>
        </p:nvCxnSpPr>
        <p:spPr>
          <a:xfrm rot="10800000" flipH="1" flipV="1">
            <a:off x="2051721" y="4725144"/>
            <a:ext cx="974836" cy="936104"/>
          </a:xfrm>
          <a:prstGeom prst="curvedConnector4">
            <a:avLst>
              <a:gd name="adj1" fmla="val -30880"/>
              <a:gd name="adj2" fmla="val 1292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5848778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5848778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5397364" y="5594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6300192" y="5594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4" idx="0"/>
            <a:endCxn id="25" idx="4"/>
          </p:cNvCxnSpPr>
          <p:nvPr/>
        </p:nvCxnSpPr>
        <p:spPr>
          <a:xfrm flipV="1">
            <a:off x="5920786" y="4653136"/>
            <a:ext cx="0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>
            <a:stCxn id="25" idx="5"/>
            <a:endCxn id="27" idx="0"/>
          </p:cNvCxnSpPr>
          <p:nvPr/>
        </p:nvCxnSpPr>
        <p:spPr>
          <a:xfrm>
            <a:off x="5971703" y="463204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7" idx="2"/>
            <a:endCxn id="26" idx="6"/>
          </p:cNvCxnSpPr>
          <p:nvPr/>
        </p:nvCxnSpPr>
        <p:spPr>
          <a:xfrm flipH="1">
            <a:off x="5541380" y="566604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4" idx="3"/>
            <a:endCxn id="26" idx="7"/>
          </p:cNvCxnSpPr>
          <p:nvPr/>
        </p:nvCxnSpPr>
        <p:spPr>
          <a:xfrm flipH="1">
            <a:off x="5520289" y="535212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6" idx="3"/>
            <a:endCxn id="7" idx="7"/>
          </p:cNvCxnSpPr>
          <p:nvPr/>
        </p:nvCxnSpPr>
        <p:spPr>
          <a:xfrm flipH="1">
            <a:off x="2174646" y="4771269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25" idx="3"/>
            <a:endCxn id="26" idx="0"/>
          </p:cNvCxnSpPr>
          <p:nvPr/>
        </p:nvCxnSpPr>
        <p:spPr>
          <a:xfrm flipH="1">
            <a:off x="5469372" y="463204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27" idx="1"/>
            <a:endCxn id="24" idx="5"/>
          </p:cNvCxnSpPr>
          <p:nvPr/>
        </p:nvCxnSpPr>
        <p:spPr>
          <a:xfrm flipH="1" flipV="1">
            <a:off x="5971703" y="535212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/>
          <p:cNvSpPr/>
          <p:nvPr/>
        </p:nvSpPr>
        <p:spPr>
          <a:xfrm>
            <a:off x="2843808" y="29969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3746636" y="299216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2843808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3746636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>
            <a:stCxn id="61" idx="6"/>
            <a:endCxn id="62" idx="2"/>
          </p:cNvCxnSpPr>
          <p:nvPr/>
        </p:nvCxnSpPr>
        <p:spPr>
          <a:xfrm flipV="1">
            <a:off x="2987824" y="3064168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2" idx="4"/>
            <a:endCxn id="64" idx="0"/>
          </p:cNvCxnSpPr>
          <p:nvPr/>
        </p:nvCxnSpPr>
        <p:spPr>
          <a:xfrm>
            <a:off x="3818644" y="3136176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4" idx="2"/>
            <a:endCxn id="63" idx="6"/>
          </p:cNvCxnSpPr>
          <p:nvPr/>
        </p:nvCxnSpPr>
        <p:spPr>
          <a:xfrm flipH="1">
            <a:off x="2987824" y="3933056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1" idx="4"/>
            <a:endCxn id="63" idx="0"/>
          </p:cNvCxnSpPr>
          <p:nvPr/>
        </p:nvCxnSpPr>
        <p:spPr>
          <a:xfrm>
            <a:off x="2915816" y="3140968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62" idx="3"/>
            <a:endCxn id="63" idx="7"/>
          </p:cNvCxnSpPr>
          <p:nvPr/>
        </p:nvCxnSpPr>
        <p:spPr>
          <a:xfrm flipH="1">
            <a:off x="2966733" y="3115085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1" idx="5"/>
            <a:endCxn id="64" idx="1"/>
          </p:cNvCxnSpPr>
          <p:nvPr/>
        </p:nvCxnSpPr>
        <p:spPr>
          <a:xfrm>
            <a:off x="2966733" y="3119877"/>
            <a:ext cx="800994" cy="762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644008" y="3183359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K</a:t>
            </a:r>
            <a:r>
              <a:rPr lang="pt-BR" sz="2400" baseline="-25000" dirty="0" smtClean="0"/>
              <a:t>4</a:t>
            </a:r>
            <a:r>
              <a:rPr lang="pt-BR" sz="2400" dirty="0" smtClean="0"/>
              <a:t> é planar?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1264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Mas nem todo grafo é planar:</a:t>
            </a:r>
          </a:p>
          <a:p>
            <a:r>
              <a:rPr lang="pt-BR" sz="2800" dirty="0" smtClean="0"/>
              <a:t>Grafos de </a:t>
            </a:r>
            <a:r>
              <a:rPr lang="pt-BR" sz="2800" dirty="0" err="1"/>
              <a:t>Kuratowski</a:t>
            </a:r>
            <a:r>
              <a:rPr lang="pt-BR" sz="2800" dirty="0" smtClean="0"/>
              <a:t>:</a:t>
            </a:r>
          </a:p>
          <a:p>
            <a:pPr lvl="1"/>
            <a:r>
              <a:rPr lang="pt-BR" sz="2400" dirty="0" smtClean="0"/>
              <a:t>K</a:t>
            </a:r>
            <a:r>
              <a:rPr lang="pt-BR" sz="2400" baseline="-25000" dirty="0" smtClean="0"/>
              <a:t>5</a:t>
            </a:r>
            <a:r>
              <a:rPr lang="pt-BR" sz="2400" dirty="0" smtClean="0"/>
              <a:t> e K</a:t>
            </a:r>
            <a:r>
              <a:rPr lang="pt-BR" sz="2400" baseline="-25000" dirty="0" smtClean="0"/>
              <a:t>3,3</a:t>
            </a:r>
            <a:r>
              <a:rPr lang="pt-BR" sz="2400" dirty="0" smtClean="0"/>
              <a:t> não são planares.</a:t>
            </a:r>
            <a:endParaRPr lang="pt-BR" sz="2400" dirty="0"/>
          </a:p>
          <a:p>
            <a:endParaRPr lang="pt-BR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12976"/>
            <a:ext cx="4583655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143" y="5091678"/>
            <a:ext cx="4701985" cy="109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37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dirty="0" smtClean="0"/>
              <a:t>Propriedades </a:t>
            </a:r>
            <a:r>
              <a:rPr lang="pt-BR" sz="2000" dirty="0"/>
              <a:t>em comum </a:t>
            </a:r>
            <a:r>
              <a:rPr lang="pt-BR" sz="2000" dirty="0" smtClean="0"/>
              <a:t>entre </a:t>
            </a:r>
            <a:r>
              <a:rPr lang="pt-BR" sz="2000" dirty="0"/>
              <a:t>K</a:t>
            </a:r>
            <a:r>
              <a:rPr lang="pt-BR" sz="2000" baseline="-25000" dirty="0"/>
              <a:t>5</a:t>
            </a:r>
            <a:r>
              <a:rPr lang="pt-BR" sz="2000" dirty="0"/>
              <a:t> e K</a:t>
            </a:r>
            <a:r>
              <a:rPr lang="pt-BR" sz="2000" baseline="-25000" dirty="0"/>
              <a:t>3,3</a:t>
            </a:r>
            <a:r>
              <a:rPr lang="pt-BR" sz="2000" dirty="0"/>
              <a:t> </a:t>
            </a:r>
            <a:endParaRPr lang="pt-BR" sz="2000" dirty="0" smtClean="0"/>
          </a:p>
          <a:p>
            <a:pPr lvl="1"/>
            <a:r>
              <a:rPr lang="pt-BR" sz="1800" dirty="0"/>
              <a:t>Ambos são regulares</a:t>
            </a:r>
          </a:p>
          <a:p>
            <a:pPr lvl="1"/>
            <a:r>
              <a:rPr lang="pt-BR" sz="1800" dirty="0" smtClean="0"/>
              <a:t>Ambos </a:t>
            </a:r>
            <a:r>
              <a:rPr lang="pt-BR" sz="1800" dirty="0"/>
              <a:t>são não planares</a:t>
            </a:r>
          </a:p>
          <a:p>
            <a:pPr lvl="1"/>
            <a:r>
              <a:rPr lang="pt-BR" sz="1800" dirty="0" smtClean="0"/>
              <a:t>A </a:t>
            </a:r>
            <a:r>
              <a:rPr lang="pt-BR" sz="1800" dirty="0"/>
              <a:t>remoção de uma aresta ou um vértice torna o grafo planar</a:t>
            </a:r>
          </a:p>
          <a:p>
            <a:pPr lvl="1"/>
            <a:r>
              <a:rPr lang="pt-BR" sz="1800" dirty="0"/>
              <a:t>K</a:t>
            </a:r>
            <a:r>
              <a:rPr lang="pt-BR" sz="1800" baseline="-25000" dirty="0"/>
              <a:t>5</a:t>
            </a:r>
            <a:r>
              <a:rPr lang="pt-BR" sz="1800" dirty="0" smtClean="0"/>
              <a:t> </a:t>
            </a:r>
            <a:r>
              <a:rPr lang="pt-BR" sz="1800" dirty="0"/>
              <a:t>é o grafo não-planar com o menor número de vértices e o K</a:t>
            </a:r>
            <a:r>
              <a:rPr lang="pt-BR" sz="1800" baseline="-25000" dirty="0"/>
              <a:t>3,3 </a:t>
            </a:r>
            <a:r>
              <a:rPr lang="pt-BR" sz="1800" dirty="0" smtClean="0"/>
              <a:t>com </a:t>
            </a:r>
            <a:r>
              <a:rPr lang="pt-BR" sz="1800" dirty="0"/>
              <a:t>o menor número de </a:t>
            </a:r>
            <a:r>
              <a:rPr lang="pt-BR" sz="1800" dirty="0" smtClean="0"/>
              <a:t>arestas</a:t>
            </a:r>
          </a:p>
          <a:p>
            <a:pPr lvl="1"/>
            <a:endParaRPr lang="pt-BR" sz="1800" dirty="0" smtClean="0"/>
          </a:p>
          <a:p>
            <a:r>
              <a:rPr lang="pt-BR" sz="2400" dirty="0" smtClean="0"/>
              <a:t>Teorema</a:t>
            </a:r>
          </a:p>
          <a:p>
            <a:pPr lvl="1"/>
            <a:r>
              <a:rPr lang="pt-BR" sz="2000" dirty="0"/>
              <a:t>Qualquer grafo planar simples pode ter sua representação </a:t>
            </a:r>
            <a:r>
              <a:rPr lang="pt-BR" sz="2000" dirty="0" smtClean="0"/>
              <a:t>planar utilizando </a:t>
            </a:r>
            <a:r>
              <a:rPr lang="pt-BR" sz="2000" dirty="0"/>
              <a:t>apenas linhas retas.</a:t>
            </a:r>
          </a:p>
          <a:p>
            <a:pPr lvl="2"/>
            <a:r>
              <a:rPr lang="pt-BR" sz="1800" dirty="0"/>
              <a:t>Região (ou face): uma representação gráfica planar de um grafo divide o </a:t>
            </a:r>
            <a:r>
              <a:rPr lang="pt-BR" sz="1800" dirty="0" smtClean="0"/>
              <a:t>plano em </a:t>
            </a:r>
            <a:r>
              <a:rPr lang="pt-BR" sz="1800" dirty="0"/>
              <a:t>regiões ou faces. Cada região é caracterizada pelas arestas que a contornam.</a:t>
            </a:r>
          </a:p>
          <a:p>
            <a:pPr lvl="2"/>
            <a:r>
              <a:rPr lang="pt-BR" sz="1800" dirty="0"/>
              <a:t>Região infinita: é a porção infinita do plano que não é contornada por arestas</a:t>
            </a:r>
          </a:p>
        </p:txBody>
      </p:sp>
    </p:spTree>
    <p:extLst>
      <p:ext uri="{BB962C8B-B14F-4D97-AF65-F5344CB8AC3E}">
        <p14:creationId xmlns:p14="http://schemas.microsoft.com/office/powerpoint/2010/main" val="2415390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Quantas faces tem o K</a:t>
            </a:r>
            <a:r>
              <a:rPr lang="pt-BR" baseline="-25000" dirty="0" smtClean="0"/>
              <a:t>4</a:t>
            </a:r>
            <a:r>
              <a:rPr lang="pt-BR" dirty="0" smtClean="0"/>
              <a:t> ?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11960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220780" y="297171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123728" y="510509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444208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0"/>
            <a:endCxn id="5" idx="4"/>
          </p:cNvCxnSpPr>
          <p:nvPr/>
        </p:nvCxnSpPr>
        <p:spPr>
          <a:xfrm flipV="1">
            <a:off x="4283968" y="3115731"/>
            <a:ext cx="8820" cy="11053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0"/>
          </p:cNvCxnSpPr>
          <p:nvPr/>
        </p:nvCxnSpPr>
        <p:spPr>
          <a:xfrm>
            <a:off x="4343705" y="3094640"/>
            <a:ext cx="2172511" cy="19905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2267744" y="5157192"/>
            <a:ext cx="4176464" cy="19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3"/>
            <a:endCxn id="6" idx="7"/>
          </p:cNvCxnSpPr>
          <p:nvPr/>
        </p:nvCxnSpPr>
        <p:spPr>
          <a:xfrm flipH="1">
            <a:off x="2246653" y="4344013"/>
            <a:ext cx="1986398" cy="78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0"/>
          </p:cNvCxnSpPr>
          <p:nvPr/>
        </p:nvCxnSpPr>
        <p:spPr>
          <a:xfrm flipH="1">
            <a:off x="2195736" y="3094640"/>
            <a:ext cx="2046135" cy="2010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1"/>
            <a:endCxn id="4" idx="5"/>
          </p:cNvCxnSpPr>
          <p:nvPr/>
        </p:nvCxnSpPr>
        <p:spPr>
          <a:xfrm flipH="1" flipV="1">
            <a:off x="4334885" y="4344013"/>
            <a:ext cx="2130414" cy="762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635896" y="38771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4716016" y="3861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</a:t>
            </a:r>
            <a:endParaRPr lang="pt-BR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4141945" y="46531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</a:t>
            </a:r>
            <a:endParaRPr lang="pt-BR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5940152" y="30422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4</a:t>
            </a:r>
            <a:endParaRPr lang="pt-BR" dirty="0"/>
          </a:p>
        </p:txBody>
      </p:sp>
      <p:cxnSp>
        <p:nvCxnSpPr>
          <p:cNvPr id="43" name="Conector de seta reta 42"/>
          <p:cNvCxnSpPr/>
          <p:nvPr/>
        </p:nvCxnSpPr>
        <p:spPr>
          <a:xfrm>
            <a:off x="6300192" y="3212976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7380312" y="2996952"/>
            <a:ext cx="1524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Região infinita</a:t>
            </a:r>
          </a:p>
        </p:txBody>
      </p:sp>
    </p:spTree>
    <p:extLst>
      <p:ext uri="{BB962C8B-B14F-4D97-AF65-F5344CB8AC3E}">
        <p14:creationId xmlns:p14="http://schemas.microsoft.com/office/powerpoint/2010/main" val="157388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Note que todo </a:t>
            </a:r>
            <a:r>
              <a:rPr lang="pt-BR" sz="2400" dirty="0" err="1" smtClean="0"/>
              <a:t>subgrafo</a:t>
            </a:r>
            <a:r>
              <a:rPr lang="pt-BR" sz="2400" dirty="0" smtClean="0"/>
              <a:t> de um grafo planar é também planar:</a:t>
            </a:r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r>
              <a:rPr lang="pt-BR" sz="2400" dirty="0" smtClean="0"/>
              <a:t>E também que todo grafo com um </a:t>
            </a:r>
            <a:r>
              <a:rPr lang="pt-BR" sz="2400" dirty="0" err="1" smtClean="0"/>
              <a:t>subgrafo</a:t>
            </a:r>
            <a:r>
              <a:rPr lang="pt-BR" sz="2400" dirty="0" smtClean="0"/>
              <a:t> não planar, também é não planar. Assim, qualquer grafo que tenha K</a:t>
            </a:r>
            <a:r>
              <a:rPr lang="pt-BR" sz="2400" baseline="-25000" dirty="0" smtClean="0"/>
              <a:t>5</a:t>
            </a:r>
            <a:r>
              <a:rPr lang="pt-BR" sz="2400" dirty="0" smtClean="0"/>
              <a:t> </a:t>
            </a:r>
            <a:r>
              <a:rPr lang="pt-BR" sz="2400" dirty="0"/>
              <a:t>e K</a:t>
            </a:r>
            <a:r>
              <a:rPr lang="pt-BR" sz="2400" baseline="-25000" dirty="0"/>
              <a:t>3,3</a:t>
            </a:r>
            <a:r>
              <a:rPr lang="pt-BR" sz="2400" dirty="0"/>
              <a:t> </a:t>
            </a:r>
            <a:r>
              <a:rPr lang="pt-BR" sz="2400" dirty="0" smtClean="0"/>
              <a:t>como um </a:t>
            </a:r>
            <a:r>
              <a:rPr lang="pt-BR" sz="2400" dirty="0" err="1" smtClean="0"/>
              <a:t>subgrafo</a:t>
            </a:r>
            <a:r>
              <a:rPr lang="pt-BR" sz="2400" dirty="0" smtClean="0"/>
              <a:t> não é planar.</a:t>
            </a:r>
            <a:endParaRPr lang="pt-BR" sz="2400" dirty="0"/>
          </a:p>
        </p:txBody>
      </p:sp>
      <p:sp>
        <p:nvSpPr>
          <p:cNvPr id="4" name="Elipse 3"/>
          <p:cNvSpPr/>
          <p:nvPr/>
        </p:nvSpPr>
        <p:spPr>
          <a:xfrm>
            <a:off x="2267745" y="228645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170573" y="22816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267745" y="31505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170573" y="31505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2411761" y="2353672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242581" y="2425680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2411761" y="322256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2339753" y="24304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em curva 11"/>
          <p:cNvCxnSpPr>
            <a:stCxn id="4" idx="2"/>
            <a:endCxn id="7" idx="4"/>
          </p:cNvCxnSpPr>
          <p:nvPr/>
        </p:nvCxnSpPr>
        <p:spPr>
          <a:xfrm rot="10800000" flipH="1" flipV="1">
            <a:off x="2267745" y="2358464"/>
            <a:ext cx="974836" cy="936104"/>
          </a:xfrm>
          <a:prstGeom prst="curvedConnector4">
            <a:avLst>
              <a:gd name="adj1" fmla="val -30880"/>
              <a:gd name="adj2" fmla="val 1292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5" idx="3"/>
            <a:endCxn id="6" idx="7"/>
          </p:cNvCxnSpPr>
          <p:nvPr/>
        </p:nvCxnSpPr>
        <p:spPr>
          <a:xfrm flipH="1">
            <a:off x="2390670" y="2404589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5436097" y="22816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6338925" y="2276872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5436097" y="3145760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6338925" y="3145760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4" idx="6"/>
            <a:endCxn id="15" idx="2"/>
          </p:cNvCxnSpPr>
          <p:nvPr/>
        </p:nvCxnSpPr>
        <p:spPr>
          <a:xfrm flipV="1">
            <a:off x="5580113" y="2348880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5" idx="4"/>
            <a:endCxn id="17" idx="0"/>
          </p:cNvCxnSpPr>
          <p:nvPr/>
        </p:nvCxnSpPr>
        <p:spPr>
          <a:xfrm>
            <a:off x="6410933" y="2420888"/>
            <a:ext cx="0" cy="7248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2"/>
            <a:endCxn id="16" idx="6"/>
          </p:cNvCxnSpPr>
          <p:nvPr/>
        </p:nvCxnSpPr>
        <p:spPr>
          <a:xfrm flipH="1">
            <a:off x="5580113" y="3217768"/>
            <a:ext cx="7588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4" idx="4"/>
            <a:endCxn id="16" idx="0"/>
          </p:cNvCxnSpPr>
          <p:nvPr/>
        </p:nvCxnSpPr>
        <p:spPr>
          <a:xfrm>
            <a:off x="5508105" y="2425680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em curva 21"/>
          <p:cNvCxnSpPr>
            <a:stCxn id="14" idx="2"/>
            <a:endCxn id="17" idx="4"/>
          </p:cNvCxnSpPr>
          <p:nvPr/>
        </p:nvCxnSpPr>
        <p:spPr>
          <a:xfrm rot="10800000" flipH="1" flipV="1">
            <a:off x="5436097" y="2353672"/>
            <a:ext cx="974836" cy="936104"/>
          </a:xfrm>
          <a:prstGeom prst="curvedConnector4">
            <a:avLst>
              <a:gd name="adj1" fmla="val -30880"/>
              <a:gd name="adj2" fmla="val 1292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3"/>
            <a:endCxn id="16" idx="7"/>
          </p:cNvCxnSpPr>
          <p:nvPr/>
        </p:nvCxnSpPr>
        <p:spPr>
          <a:xfrm flipH="1">
            <a:off x="5559022" y="2399797"/>
            <a:ext cx="800994" cy="767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88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Homeomorfismo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Dizemos que um grafo H é homeomorfo a G se H puder ser </a:t>
            </a:r>
            <a:r>
              <a:rPr lang="pt-BR" sz="2800" dirty="0" smtClean="0"/>
              <a:t>obtido de </a:t>
            </a:r>
            <a:r>
              <a:rPr lang="pt-BR" sz="2800" dirty="0"/>
              <a:t>G pela inserção de vértices de grau 2 em pontos </a:t>
            </a:r>
            <a:r>
              <a:rPr lang="pt-BR" sz="2800" dirty="0" smtClean="0"/>
              <a:t>intermediários de </a:t>
            </a:r>
            <a:r>
              <a:rPr lang="pt-BR" sz="2800" dirty="0"/>
              <a:t>suas </a:t>
            </a:r>
            <a:r>
              <a:rPr lang="pt-BR" sz="2800" dirty="0" smtClean="0"/>
              <a:t>arestas.</a:t>
            </a:r>
            <a:endParaRPr lang="pt-BR" sz="2800" dirty="0"/>
          </a:p>
        </p:txBody>
      </p:sp>
      <p:sp>
        <p:nvSpPr>
          <p:cNvPr id="14" name="Elipse 13"/>
          <p:cNvSpPr/>
          <p:nvPr/>
        </p:nvSpPr>
        <p:spPr>
          <a:xfrm>
            <a:off x="2339752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2339752" y="34286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1475656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218720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4" idx="0"/>
            <a:endCxn id="15" idx="4"/>
          </p:cNvCxnSpPr>
          <p:nvPr/>
        </p:nvCxnSpPr>
        <p:spPr>
          <a:xfrm flipV="1">
            <a:off x="2411760" y="3572686"/>
            <a:ext cx="0" cy="936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5" idx="5"/>
            <a:endCxn id="17" idx="0"/>
          </p:cNvCxnSpPr>
          <p:nvPr/>
        </p:nvCxnSpPr>
        <p:spPr>
          <a:xfrm>
            <a:off x="2462677" y="3551595"/>
            <a:ext cx="828051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2"/>
            <a:endCxn id="16" idx="6"/>
          </p:cNvCxnSpPr>
          <p:nvPr/>
        </p:nvCxnSpPr>
        <p:spPr>
          <a:xfrm flipH="1">
            <a:off x="1619672" y="5130274"/>
            <a:ext cx="1599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4" idx="3"/>
            <a:endCxn id="16" idx="7"/>
          </p:cNvCxnSpPr>
          <p:nvPr/>
        </p:nvCxnSpPr>
        <p:spPr>
          <a:xfrm flipH="1">
            <a:off x="1598581" y="4632045"/>
            <a:ext cx="762262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3"/>
            <a:endCxn id="16" idx="0"/>
          </p:cNvCxnSpPr>
          <p:nvPr/>
        </p:nvCxnSpPr>
        <p:spPr>
          <a:xfrm flipH="1">
            <a:off x="1547664" y="3551595"/>
            <a:ext cx="813179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1"/>
            <a:endCxn id="14" idx="5"/>
          </p:cNvCxnSpPr>
          <p:nvPr/>
        </p:nvCxnSpPr>
        <p:spPr>
          <a:xfrm flipH="1" flipV="1">
            <a:off x="2462677" y="4632045"/>
            <a:ext cx="777134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755576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16" idx="2"/>
            <a:endCxn id="60" idx="5"/>
          </p:cNvCxnSpPr>
          <p:nvPr/>
        </p:nvCxnSpPr>
        <p:spPr>
          <a:xfrm flipH="1" flipV="1">
            <a:off x="878501" y="4632045"/>
            <a:ext cx="597155" cy="498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6084168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6084168" y="34286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Elipse 64"/>
          <p:cNvSpPr/>
          <p:nvPr/>
        </p:nvSpPr>
        <p:spPr>
          <a:xfrm>
            <a:off x="5220072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Elipse 65"/>
          <p:cNvSpPr/>
          <p:nvPr/>
        </p:nvSpPr>
        <p:spPr>
          <a:xfrm>
            <a:off x="6963136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7" name="Conector reto 66"/>
          <p:cNvCxnSpPr>
            <a:stCxn id="63" idx="0"/>
            <a:endCxn id="64" idx="4"/>
          </p:cNvCxnSpPr>
          <p:nvPr/>
        </p:nvCxnSpPr>
        <p:spPr>
          <a:xfrm flipV="1">
            <a:off x="6156176" y="3572686"/>
            <a:ext cx="0" cy="936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4" idx="5"/>
            <a:endCxn id="66" idx="0"/>
          </p:cNvCxnSpPr>
          <p:nvPr/>
        </p:nvCxnSpPr>
        <p:spPr>
          <a:xfrm>
            <a:off x="6207093" y="3551595"/>
            <a:ext cx="828051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66" idx="2"/>
            <a:endCxn id="65" idx="6"/>
          </p:cNvCxnSpPr>
          <p:nvPr/>
        </p:nvCxnSpPr>
        <p:spPr>
          <a:xfrm flipH="1">
            <a:off x="5364088" y="5130274"/>
            <a:ext cx="1599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63" idx="3"/>
            <a:endCxn id="65" idx="7"/>
          </p:cNvCxnSpPr>
          <p:nvPr/>
        </p:nvCxnSpPr>
        <p:spPr>
          <a:xfrm flipH="1">
            <a:off x="5342997" y="4632045"/>
            <a:ext cx="762262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4" idx="3"/>
            <a:endCxn id="65" idx="0"/>
          </p:cNvCxnSpPr>
          <p:nvPr/>
        </p:nvCxnSpPr>
        <p:spPr>
          <a:xfrm flipH="1">
            <a:off x="5292080" y="3551595"/>
            <a:ext cx="813179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>
            <a:stCxn id="66" idx="1"/>
            <a:endCxn id="63" idx="5"/>
          </p:cNvCxnSpPr>
          <p:nvPr/>
        </p:nvCxnSpPr>
        <p:spPr>
          <a:xfrm flipH="1" flipV="1">
            <a:off x="6207093" y="4632045"/>
            <a:ext cx="777134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/>
          <p:cNvSpPr/>
          <p:nvPr/>
        </p:nvSpPr>
        <p:spPr>
          <a:xfrm>
            <a:off x="4499992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4" name="Conector reto 73"/>
          <p:cNvCxnSpPr>
            <a:stCxn id="65" idx="2"/>
            <a:endCxn id="73" idx="5"/>
          </p:cNvCxnSpPr>
          <p:nvPr/>
        </p:nvCxnSpPr>
        <p:spPr>
          <a:xfrm flipH="1" flipV="1">
            <a:off x="4622917" y="4632045"/>
            <a:ext cx="597155" cy="498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74"/>
          <p:cNvSpPr/>
          <p:nvPr/>
        </p:nvSpPr>
        <p:spPr>
          <a:xfrm>
            <a:off x="5580112" y="431254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4849486" y="47971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Elipse 76"/>
          <p:cNvSpPr/>
          <p:nvPr/>
        </p:nvSpPr>
        <p:spPr>
          <a:xfrm>
            <a:off x="6084168" y="414397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6588224" y="428799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929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Teorema de </a:t>
            </a:r>
            <a:r>
              <a:rPr lang="pt-BR" dirty="0" err="1" smtClean="0"/>
              <a:t>Kuratowski</a:t>
            </a:r>
            <a:r>
              <a:rPr lang="pt-BR" dirty="0" smtClean="0"/>
              <a:t>:</a:t>
            </a:r>
          </a:p>
          <a:p>
            <a:pPr lvl="1"/>
            <a:r>
              <a:rPr lang="pt-BR" dirty="0"/>
              <a:t>Um grafo é </a:t>
            </a:r>
            <a:r>
              <a:rPr lang="pt-BR" dirty="0" smtClean="0"/>
              <a:t>planar se, e somente se, </a:t>
            </a:r>
            <a:r>
              <a:rPr lang="pt-BR" dirty="0"/>
              <a:t>nenhum de seus </a:t>
            </a:r>
            <a:r>
              <a:rPr lang="pt-BR" dirty="0" err="1"/>
              <a:t>subgrafos</a:t>
            </a:r>
            <a:r>
              <a:rPr lang="pt-BR" dirty="0"/>
              <a:t> </a:t>
            </a:r>
            <a:r>
              <a:rPr lang="pt-BR" dirty="0" smtClean="0"/>
              <a:t>for homeomorfo a </a:t>
            </a:r>
            <a:r>
              <a:rPr lang="pt-BR" dirty="0"/>
              <a:t>K</a:t>
            </a:r>
            <a:r>
              <a:rPr lang="pt-BR" baseline="-25000" dirty="0"/>
              <a:t>5</a:t>
            </a:r>
            <a:r>
              <a:rPr lang="pt-BR" dirty="0"/>
              <a:t> e K</a:t>
            </a:r>
            <a:r>
              <a:rPr lang="pt-BR" baseline="-25000" dirty="0"/>
              <a:t>3,3</a:t>
            </a:r>
            <a:r>
              <a:rPr lang="pt-BR" dirty="0"/>
              <a:t> 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86" name="Elipse 85"/>
          <p:cNvSpPr/>
          <p:nvPr/>
        </p:nvSpPr>
        <p:spPr>
          <a:xfrm>
            <a:off x="1260121" y="371670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Elipse 86"/>
          <p:cNvSpPr/>
          <p:nvPr/>
        </p:nvSpPr>
        <p:spPr>
          <a:xfrm>
            <a:off x="2556265" y="3717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Elipse 87"/>
          <p:cNvSpPr/>
          <p:nvPr/>
        </p:nvSpPr>
        <p:spPr>
          <a:xfrm>
            <a:off x="3852409" y="371670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Elipse 88"/>
          <p:cNvSpPr/>
          <p:nvPr/>
        </p:nvSpPr>
        <p:spPr>
          <a:xfrm>
            <a:off x="1259632" y="52288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Elipse 89"/>
          <p:cNvSpPr/>
          <p:nvPr/>
        </p:nvSpPr>
        <p:spPr>
          <a:xfrm>
            <a:off x="2555776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/>
          <p:cNvSpPr/>
          <p:nvPr/>
        </p:nvSpPr>
        <p:spPr>
          <a:xfrm>
            <a:off x="3851920" y="52288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2" name="Conector reto 91"/>
          <p:cNvCxnSpPr>
            <a:stCxn id="88" idx="4"/>
            <a:endCxn id="91" idx="0"/>
          </p:cNvCxnSpPr>
          <p:nvPr/>
        </p:nvCxnSpPr>
        <p:spPr>
          <a:xfrm flipH="1">
            <a:off x="3923928" y="386071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>
            <a:stCxn id="88" idx="3"/>
            <a:endCxn id="90" idx="7"/>
          </p:cNvCxnSpPr>
          <p:nvPr/>
        </p:nvCxnSpPr>
        <p:spPr>
          <a:xfrm flipH="1">
            <a:off x="2678701" y="3839627"/>
            <a:ext cx="1194799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88" idx="2"/>
            <a:endCxn id="89" idx="6"/>
          </p:cNvCxnSpPr>
          <p:nvPr/>
        </p:nvCxnSpPr>
        <p:spPr>
          <a:xfrm flipH="1">
            <a:off x="1403648" y="3788710"/>
            <a:ext cx="2448761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>
            <a:stCxn id="87" idx="5"/>
            <a:endCxn id="91" idx="1"/>
          </p:cNvCxnSpPr>
          <p:nvPr/>
        </p:nvCxnSpPr>
        <p:spPr>
          <a:xfrm>
            <a:off x="2679190" y="3839957"/>
            <a:ext cx="1193821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87" idx="3"/>
            <a:endCxn id="89" idx="7"/>
          </p:cNvCxnSpPr>
          <p:nvPr/>
        </p:nvCxnSpPr>
        <p:spPr>
          <a:xfrm flipH="1">
            <a:off x="1382557" y="3839957"/>
            <a:ext cx="1194799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87" idx="4"/>
            <a:endCxn id="90" idx="0"/>
          </p:cNvCxnSpPr>
          <p:nvPr/>
        </p:nvCxnSpPr>
        <p:spPr>
          <a:xfrm flipH="1">
            <a:off x="2627784" y="386104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/>
          <p:cNvCxnSpPr>
            <a:stCxn id="86" idx="6"/>
            <a:endCxn id="91" idx="2"/>
          </p:cNvCxnSpPr>
          <p:nvPr/>
        </p:nvCxnSpPr>
        <p:spPr>
          <a:xfrm>
            <a:off x="1404137" y="3788710"/>
            <a:ext cx="2447783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>
            <a:stCxn id="86" idx="5"/>
            <a:endCxn id="90" idx="1"/>
          </p:cNvCxnSpPr>
          <p:nvPr/>
        </p:nvCxnSpPr>
        <p:spPr>
          <a:xfrm>
            <a:off x="1383046" y="3839627"/>
            <a:ext cx="1193821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>
            <a:stCxn id="86" idx="4"/>
            <a:endCxn id="89" idx="0"/>
          </p:cNvCxnSpPr>
          <p:nvPr/>
        </p:nvCxnSpPr>
        <p:spPr>
          <a:xfrm flipH="1">
            <a:off x="1331640" y="386071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/>
          <p:cNvSpPr/>
          <p:nvPr/>
        </p:nvSpPr>
        <p:spPr>
          <a:xfrm>
            <a:off x="5148064" y="3717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Elipse 101"/>
          <p:cNvSpPr/>
          <p:nvPr/>
        </p:nvSpPr>
        <p:spPr>
          <a:xfrm>
            <a:off x="6444208" y="371736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Elipse 102"/>
          <p:cNvSpPr/>
          <p:nvPr/>
        </p:nvSpPr>
        <p:spPr>
          <a:xfrm>
            <a:off x="7740352" y="3717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Elipse 103"/>
          <p:cNvSpPr/>
          <p:nvPr/>
        </p:nvSpPr>
        <p:spPr>
          <a:xfrm>
            <a:off x="5147575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Elipse 104"/>
          <p:cNvSpPr/>
          <p:nvPr/>
        </p:nvSpPr>
        <p:spPr>
          <a:xfrm>
            <a:off x="6443719" y="522953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Elipse 105"/>
          <p:cNvSpPr/>
          <p:nvPr/>
        </p:nvSpPr>
        <p:spPr>
          <a:xfrm>
            <a:off x="7739863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7" name="Conector reto 106"/>
          <p:cNvCxnSpPr>
            <a:stCxn id="103" idx="4"/>
            <a:endCxn id="106" idx="0"/>
          </p:cNvCxnSpPr>
          <p:nvPr/>
        </p:nvCxnSpPr>
        <p:spPr>
          <a:xfrm flipH="1">
            <a:off x="7811871" y="386104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/>
          <p:cNvCxnSpPr>
            <a:stCxn id="103" idx="3"/>
            <a:endCxn id="105" idx="7"/>
          </p:cNvCxnSpPr>
          <p:nvPr/>
        </p:nvCxnSpPr>
        <p:spPr>
          <a:xfrm flipH="1">
            <a:off x="6566644" y="3839957"/>
            <a:ext cx="1194799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to 108"/>
          <p:cNvCxnSpPr>
            <a:stCxn id="103" idx="2"/>
            <a:endCxn id="104" idx="6"/>
          </p:cNvCxnSpPr>
          <p:nvPr/>
        </p:nvCxnSpPr>
        <p:spPr>
          <a:xfrm flipH="1">
            <a:off x="5291591" y="3789040"/>
            <a:ext cx="2448761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/>
          <p:cNvCxnSpPr>
            <a:stCxn id="102" idx="5"/>
            <a:endCxn id="106" idx="1"/>
          </p:cNvCxnSpPr>
          <p:nvPr/>
        </p:nvCxnSpPr>
        <p:spPr>
          <a:xfrm>
            <a:off x="6567133" y="3840287"/>
            <a:ext cx="1193821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/>
          <p:cNvCxnSpPr>
            <a:stCxn id="102" idx="3"/>
            <a:endCxn id="104" idx="7"/>
          </p:cNvCxnSpPr>
          <p:nvPr/>
        </p:nvCxnSpPr>
        <p:spPr>
          <a:xfrm flipH="1">
            <a:off x="5270500" y="3840287"/>
            <a:ext cx="1194799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/>
          <p:cNvCxnSpPr>
            <a:stCxn id="102" idx="4"/>
            <a:endCxn id="105" idx="0"/>
          </p:cNvCxnSpPr>
          <p:nvPr/>
        </p:nvCxnSpPr>
        <p:spPr>
          <a:xfrm flipH="1">
            <a:off x="6515727" y="386137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to 112"/>
          <p:cNvCxnSpPr>
            <a:stCxn id="101" idx="6"/>
            <a:endCxn id="106" idx="2"/>
          </p:cNvCxnSpPr>
          <p:nvPr/>
        </p:nvCxnSpPr>
        <p:spPr>
          <a:xfrm>
            <a:off x="5292080" y="3789040"/>
            <a:ext cx="2447783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101" idx="5"/>
            <a:endCxn id="105" idx="1"/>
          </p:cNvCxnSpPr>
          <p:nvPr/>
        </p:nvCxnSpPr>
        <p:spPr>
          <a:xfrm>
            <a:off x="5270989" y="3839957"/>
            <a:ext cx="1193821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/>
          <p:cNvCxnSpPr>
            <a:stCxn id="101" idx="4"/>
            <a:endCxn id="104" idx="0"/>
          </p:cNvCxnSpPr>
          <p:nvPr/>
        </p:nvCxnSpPr>
        <p:spPr>
          <a:xfrm flipH="1">
            <a:off x="5219583" y="386104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/>
          <p:cNvSpPr/>
          <p:nvPr/>
        </p:nvSpPr>
        <p:spPr>
          <a:xfrm>
            <a:off x="1251838" y="447344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" name="Elipse 116"/>
          <p:cNvSpPr/>
          <p:nvPr/>
        </p:nvSpPr>
        <p:spPr>
          <a:xfrm>
            <a:off x="1619672" y="47971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Elipse 117"/>
          <p:cNvSpPr/>
          <p:nvPr/>
        </p:nvSpPr>
        <p:spPr>
          <a:xfrm>
            <a:off x="3851920" y="447278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62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Contração de arestas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Uma aresta é dita contraída se ela pode ser excluída do grafo e seus extremos são identificados.</a:t>
            </a:r>
            <a:endParaRPr lang="pt-BR" dirty="0"/>
          </a:p>
        </p:txBody>
      </p:sp>
      <p:sp>
        <p:nvSpPr>
          <p:cNvPr id="29" name="Elipse 28"/>
          <p:cNvSpPr/>
          <p:nvPr/>
        </p:nvSpPr>
        <p:spPr>
          <a:xfrm>
            <a:off x="1979712" y="393305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2882540" y="39282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1979712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2882540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29" idx="6"/>
            <a:endCxn id="30" idx="2"/>
          </p:cNvCxnSpPr>
          <p:nvPr/>
        </p:nvCxnSpPr>
        <p:spPr>
          <a:xfrm flipV="1">
            <a:off x="2123728" y="4000271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0" idx="4"/>
            <a:endCxn id="32" idx="0"/>
          </p:cNvCxnSpPr>
          <p:nvPr/>
        </p:nvCxnSpPr>
        <p:spPr>
          <a:xfrm>
            <a:off x="2954548" y="4072279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2"/>
            <a:endCxn id="31" idx="6"/>
          </p:cNvCxnSpPr>
          <p:nvPr/>
        </p:nvCxnSpPr>
        <p:spPr>
          <a:xfrm flipH="1">
            <a:off x="2123728" y="4869159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9" idx="4"/>
            <a:endCxn id="31" idx="0"/>
          </p:cNvCxnSpPr>
          <p:nvPr/>
        </p:nvCxnSpPr>
        <p:spPr>
          <a:xfrm>
            <a:off x="2051720" y="4077071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30" idx="3"/>
            <a:endCxn id="31" idx="7"/>
          </p:cNvCxnSpPr>
          <p:nvPr/>
        </p:nvCxnSpPr>
        <p:spPr>
          <a:xfrm flipH="1">
            <a:off x="2102637" y="4051188"/>
            <a:ext cx="800994" cy="767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5292080" y="393305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5292080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6194908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reto 44"/>
          <p:cNvCxnSpPr>
            <a:stCxn id="42" idx="2"/>
            <a:endCxn id="41" idx="6"/>
          </p:cNvCxnSpPr>
          <p:nvPr/>
        </p:nvCxnSpPr>
        <p:spPr>
          <a:xfrm flipH="1">
            <a:off x="5436096" y="4869159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9" idx="4"/>
            <a:endCxn id="41" idx="0"/>
          </p:cNvCxnSpPr>
          <p:nvPr/>
        </p:nvCxnSpPr>
        <p:spPr>
          <a:xfrm>
            <a:off x="5364088" y="4077071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em curva 5"/>
          <p:cNvCxnSpPr>
            <a:stCxn id="42" idx="4"/>
            <a:endCxn id="41" idx="5"/>
          </p:cNvCxnSpPr>
          <p:nvPr/>
        </p:nvCxnSpPr>
        <p:spPr>
          <a:xfrm rot="5400000" flipH="1">
            <a:off x="5830415" y="4504667"/>
            <a:ext cx="21091" cy="851911"/>
          </a:xfrm>
          <a:prstGeom prst="curvedConnector3">
            <a:avLst>
              <a:gd name="adj1" fmla="val -108387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em curva 7"/>
          <p:cNvCxnSpPr>
            <a:stCxn id="39" idx="2"/>
            <a:endCxn id="41" idx="2"/>
          </p:cNvCxnSpPr>
          <p:nvPr/>
        </p:nvCxnSpPr>
        <p:spPr>
          <a:xfrm rot="10800000" flipV="1">
            <a:off x="5292080" y="4005063"/>
            <a:ext cx="12700" cy="86409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3779912" y="4434715"/>
            <a:ext cx="720080" cy="239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09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Teorema:</a:t>
            </a:r>
          </a:p>
          <a:p>
            <a:pPr lvl="1"/>
            <a:r>
              <a:rPr lang="pt-BR" dirty="0"/>
              <a:t>Um grafo é </a:t>
            </a:r>
            <a:r>
              <a:rPr lang="pt-BR" dirty="0" smtClean="0"/>
              <a:t>planar se, e somente se, </a:t>
            </a:r>
            <a:r>
              <a:rPr lang="pt-BR" dirty="0"/>
              <a:t>nenhum de seus </a:t>
            </a:r>
            <a:r>
              <a:rPr lang="pt-BR" dirty="0" err="1"/>
              <a:t>subgrafos</a:t>
            </a:r>
            <a:r>
              <a:rPr lang="pt-BR" dirty="0"/>
              <a:t> </a:t>
            </a:r>
            <a:r>
              <a:rPr lang="pt-BR" dirty="0" smtClean="0"/>
              <a:t>podem ser contraídos a </a:t>
            </a:r>
            <a:r>
              <a:rPr lang="pt-BR" dirty="0"/>
              <a:t>K</a:t>
            </a:r>
            <a:r>
              <a:rPr lang="pt-BR" baseline="-25000" dirty="0"/>
              <a:t>5</a:t>
            </a:r>
            <a:r>
              <a:rPr lang="pt-BR" dirty="0"/>
              <a:t> e K</a:t>
            </a:r>
            <a:r>
              <a:rPr lang="pt-BR" baseline="-25000" dirty="0"/>
              <a:t>3,3</a:t>
            </a:r>
            <a:r>
              <a:rPr lang="pt-BR" dirty="0"/>
              <a:t> 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16" name="Elipse 15"/>
          <p:cNvSpPr/>
          <p:nvPr/>
        </p:nvSpPr>
        <p:spPr>
          <a:xfrm>
            <a:off x="2601386" y="393305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2085070" y="54924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3086411" y="54924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/>
          <p:cNvCxnSpPr>
            <a:stCxn id="16" idx="5"/>
            <a:endCxn id="18" idx="0"/>
          </p:cNvCxnSpPr>
          <p:nvPr/>
        </p:nvCxnSpPr>
        <p:spPr>
          <a:xfrm>
            <a:off x="2724311" y="4055981"/>
            <a:ext cx="434108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6" idx="3"/>
            <a:endCxn id="17" idx="0"/>
          </p:cNvCxnSpPr>
          <p:nvPr/>
        </p:nvCxnSpPr>
        <p:spPr>
          <a:xfrm flipH="1">
            <a:off x="2157078" y="4055981"/>
            <a:ext cx="465399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1763688" y="44880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3419872" y="449641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18" idx="2"/>
            <a:endCxn id="25" idx="5"/>
          </p:cNvCxnSpPr>
          <p:nvPr/>
        </p:nvCxnSpPr>
        <p:spPr>
          <a:xfrm flipH="1" flipV="1">
            <a:off x="1886613" y="4610954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25" idx="6"/>
            <a:endCxn id="52" idx="2"/>
          </p:cNvCxnSpPr>
          <p:nvPr/>
        </p:nvCxnSpPr>
        <p:spPr>
          <a:xfrm>
            <a:off x="1907704" y="4560037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2" idx="3"/>
            <a:endCxn id="17" idx="7"/>
          </p:cNvCxnSpPr>
          <p:nvPr/>
        </p:nvCxnSpPr>
        <p:spPr>
          <a:xfrm flipH="1">
            <a:off x="2207995" y="4619338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2601386" y="350100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1835696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3347864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1475656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377991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/>
          <p:cNvCxnSpPr>
            <a:stCxn id="64" idx="1"/>
            <a:endCxn id="60" idx="6"/>
          </p:cNvCxnSpPr>
          <p:nvPr/>
        </p:nvCxnSpPr>
        <p:spPr>
          <a:xfrm flipH="1" flipV="1">
            <a:off x="2745402" y="3573016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0" idx="2"/>
            <a:endCxn id="63" idx="7"/>
          </p:cNvCxnSpPr>
          <p:nvPr/>
        </p:nvCxnSpPr>
        <p:spPr>
          <a:xfrm flipH="1">
            <a:off x="1598581" y="3573016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3" idx="4"/>
            <a:endCxn id="61" idx="1"/>
          </p:cNvCxnSpPr>
          <p:nvPr/>
        </p:nvCxnSpPr>
        <p:spPr>
          <a:xfrm>
            <a:off x="1547664" y="4365104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64" idx="4"/>
            <a:endCxn id="62" idx="7"/>
          </p:cNvCxnSpPr>
          <p:nvPr/>
        </p:nvCxnSpPr>
        <p:spPr>
          <a:xfrm flipH="1">
            <a:off x="3470789" y="4365104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61" idx="6"/>
            <a:endCxn id="62" idx="2"/>
          </p:cNvCxnSpPr>
          <p:nvPr/>
        </p:nvCxnSpPr>
        <p:spPr>
          <a:xfrm>
            <a:off x="1979712" y="5877272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60" idx="4"/>
            <a:endCxn id="16" idx="0"/>
          </p:cNvCxnSpPr>
          <p:nvPr/>
        </p:nvCxnSpPr>
        <p:spPr>
          <a:xfrm>
            <a:off x="2673394" y="3645024"/>
            <a:ext cx="0" cy="2880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64" idx="3"/>
            <a:endCxn id="52" idx="7"/>
          </p:cNvCxnSpPr>
          <p:nvPr/>
        </p:nvCxnSpPr>
        <p:spPr>
          <a:xfrm flipH="1">
            <a:off x="3542797" y="4344013"/>
            <a:ext cx="258206" cy="1734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63" idx="5"/>
            <a:endCxn id="25" idx="1"/>
          </p:cNvCxnSpPr>
          <p:nvPr/>
        </p:nvCxnSpPr>
        <p:spPr>
          <a:xfrm>
            <a:off x="1598581" y="4344013"/>
            <a:ext cx="186198" cy="1651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62" idx="1"/>
            <a:endCxn id="18" idx="5"/>
          </p:cNvCxnSpPr>
          <p:nvPr/>
        </p:nvCxnSpPr>
        <p:spPr>
          <a:xfrm flipH="1" flipV="1">
            <a:off x="3209336" y="5615409"/>
            <a:ext cx="159619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17" idx="3"/>
            <a:endCxn id="61" idx="7"/>
          </p:cNvCxnSpPr>
          <p:nvPr/>
        </p:nvCxnSpPr>
        <p:spPr>
          <a:xfrm flipH="1">
            <a:off x="1958621" y="5615409"/>
            <a:ext cx="147540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39" idx="5"/>
            <a:endCxn id="41" idx="0"/>
          </p:cNvCxnSpPr>
          <p:nvPr/>
        </p:nvCxnSpPr>
        <p:spPr>
          <a:xfrm>
            <a:off x="6705842" y="3623933"/>
            <a:ext cx="695561" cy="2181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39" idx="3"/>
            <a:endCxn id="40" idx="0"/>
          </p:cNvCxnSpPr>
          <p:nvPr/>
        </p:nvCxnSpPr>
        <p:spPr>
          <a:xfrm flipH="1">
            <a:off x="5889235" y="3623933"/>
            <a:ext cx="714773" cy="2181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41" idx="1"/>
            <a:endCxn id="42" idx="5"/>
          </p:cNvCxnSpPr>
          <p:nvPr/>
        </p:nvCxnSpPr>
        <p:spPr>
          <a:xfrm flipH="1" flipV="1">
            <a:off x="5580112" y="4344013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42" idx="6"/>
            <a:endCxn id="43" idx="2"/>
          </p:cNvCxnSpPr>
          <p:nvPr/>
        </p:nvCxnSpPr>
        <p:spPr>
          <a:xfrm>
            <a:off x="5601203" y="4293096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43" idx="3"/>
            <a:endCxn id="40" idx="7"/>
          </p:cNvCxnSpPr>
          <p:nvPr/>
        </p:nvCxnSpPr>
        <p:spPr>
          <a:xfrm flipH="1">
            <a:off x="5940152" y="4344013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6582917" y="350100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5817227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7329395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5457187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7761443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reto 43"/>
          <p:cNvCxnSpPr>
            <a:stCxn id="43" idx="1"/>
            <a:endCxn id="39" idx="6"/>
          </p:cNvCxnSpPr>
          <p:nvPr/>
        </p:nvCxnSpPr>
        <p:spPr>
          <a:xfrm flipH="1" flipV="1">
            <a:off x="6726933" y="3573016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9" idx="2"/>
            <a:endCxn id="42" idx="7"/>
          </p:cNvCxnSpPr>
          <p:nvPr/>
        </p:nvCxnSpPr>
        <p:spPr>
          <a:xfrm flipH="1">
            <a:off x="5580112" y="3573016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42" idx="4"/>
            <a:endCxn id="40" idx="1"/>
          </p:cNvCxnSpPr>
          <p:nvPr/>
        </p:nvCxnSpPr>
        <p:spPr>
          <a:xfrm>
            <a:off x="5529195" y="4365104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43" idx="4"/>
            <a:endCxn id="41" idx="7"/>
          </p:cNvCxnSpPr>
          <p:nvPr/>
        </p:nvCxnSpPr>
        <p:spPr>
          <a:xfrm flipH="1">
            <a:off x="7452320" y="4365104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0" idx="6"/>
            <a:endCxn id="41" idx="2"/>
          </p:cNvCxnSpPr>
          <p:nvPr/>
        </p:nvCxnSpPr>
        <p:spPr>
          <a:xfrm>
            <a:off x="5961243" y="5877272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/>
          <p:cNvCxnSpPr/>
          <p:nvPr/>
        </p:nvCxnSpPr>
        <p:spPr>
          <a:xfrm>
            <a:off x="4283968" y="5066456"/>
            <a:ext cx="72008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614705" y="6093296"/>
            <a:ext cx="4389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Grafo de </a:t>
            </a:r>
            <a:r>
              <a:rPr lang="pt-BR" dirty="0" err="1"/>
              <a:t>Petersen</a:t>
            </a:r>
            <a:r>
              <a:rPr lang="pt-BR" dirty="0"/>
              <a:t> pode ser contraído em K</a:t>
            </a:r>
            <a:r>
              <a:rPr lang="pt-BR" baseline="-25000" dirty="0"/>
              <a:t>5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1499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Número </a:t>
            </a:r>
            <a:r>
              <a:rPr lang="pt-BR" dirty="0"/>
              <a:t>de cruzamento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Se tentarmos desenhar </a:t>
            </a:r>
            <a:r>
              <a:rPr lang="pt-BR" sz="2800" dirty="0"/>
              <a:t>K</a:t>
            </a:r>
            <a:r>
              <a:rPr lang="pt-BR" sz="2800" baseline="-25000" dirty="0"/>
              <a:t>5</a:t>
            </a:r>
            <a:r>
              <a:rPr lang="pt-BR" sz="2800" dirty="0"/>
              <a:t> </a:t>
            </a:r>
            <a:r>
              <a:rPr lang="pt-BR" sz="2800" dirty="0" smtClean="0"/>
              <a:t>ou </a:t>
            </a:r>
            <a:r>
              <a:rPr lang="pt-BR" sz="2800" dirty="0"/>
              <a:t>K</a:t>
            </a:r>
            <a:r>
              <a:rPr lang="pt-BR" sz="2800" baseline="-25000" dirty="0"/>
              <a:t>3,3</a:t>
            </a:r>
            <a:r>
              <a:rPr lang="pt-BR" sz="2800" dirty="0" smtClean="0"/>
              <a:t> no plano, então deve existir pelo menos um cruzamento e arestas, desde que </a:t>
            </a:r>
            <a:r>
              <a:rPr lang="pt-BR" sz="2800" dirty="0"/>
              <a:t>K</a:t>
            </a:r>
            <a:r>
              <a:rPr lang="pt-BR" sz="2800" baseline="-25000" dirty="0"/>
              <a:t>5</a:t>
            </a:r>
            <a:r>
              <a:rPr lang="pt-BR" sz="2800" dirty="0"/>
              <a:t> </a:t>
            </a:r>
            <a:r>
              <a:rPr lang="pt-BR" sz="2800" dirty="0" smtClean="0"/>
              <a:t>e </a:t>
            </a:r>
            <a:r>
              <a:rPr lang="pt-BR" sz="2800" dirty="0"/>
              <a:t>K</a:t>
            </a:r>
            <a:r>
              <a:rPr lang="pt-BR" sz="2800" baseline="-25000" dirty="0"/>
              <a:t>3,3</a:t>
            </a:r>
            <a:r>
              <a:rPr lang="pt-BR" sz="2800" dirty="0"/>
              <a:t> </a:t>
            </a:r>
            <a:r>
              <a:rPr lang="pt-BR" sz="2800" dirty="0" smtClean="0"/>
              <a:t>não são planares.</a:t>
            </a:r>
          </a:p>
          <a:p>
            <a:endParaRPr lang="pt-BR" sz="2800" dirty="0"/>
          </a:p>
        </p:txBody>
      </p:sp>
      <p:sp>
        <p:nvSpPr>
          <p:cNvPr id="4" name="Elipse 3"/>
          <p:cNvSpPr/>
          <p:nvPr/>
        </p:nvSpPr>
        <p:spPr>
          <a:xfrm>
            <a:off x="4852385" y="524695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7495502" y="62882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749550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586693" y="632373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587398" y="422108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8172400" y="525465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6" idx="5"/>
            <a:endCxn id="9" idx="0"/>
          </p:cNvCxnSpPr>
          <p:nvPr/>
        </p:nvCxnSpPr>
        <p:spPr>
          <a:xfrm>
            <a:off x="7618427" y="4344013"/>
            <a:ext cx="625981" cy="91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2"/>
            <a:endCxn id="8" idx="6"/>
          </p:cNvCxnSpPr>
          <p:nvPr/>
        </p:nvCxnSpPr>
        <p:spPr>
          <a:xfrm flipH="1">
            <a:off x="5731414" y="4293096"/>
            <a:ext cx="1764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2"/>
            <a:endCxn id="7" idx="7"/>
          </p:cNvCxnSpPr>
          <p:nvPr/>
        </p:nvCxnSpPr>
        <p:spPr>
          <a:xfrm flipH="1">
            <a:off x="5709618" y="4293096"/>
            <a:ext cx="1785884" cy="2051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5" idx="5"/>
            <a:endCxn id="9" idx="4"/>
          </p:cNvCxnSpPr>
          <p:nvPr/>
        </p:nvCxnSpPr>
        <p:spPr>
          <a:xfrm flipV="1">
            <a:off x="7618427" y="5398674"/>
            <a:ext cx="625981" cy="1012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7" idx="6"/>
          </p:cNvCxnSpPr>
          <p:nvPr/>
        </p:nvCxnSpPr>
        <p:spPr>
          <a:xfrm flipH="1" flipV="1">
            <a:off x="5730709" y="6395738"/>
            <a:ext cx="1785884" cy="1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5" idx="1"/>
            <a:endCxn id="8" idx="5"/>
          </p:cNvCxnSpPr>
          <p:nvPr/>
        </p:nvCxnSpPr>
        <p:spPr>
          <a:xfrm flipH="1" flipV="1">
            <a:off x="5710323" y="4344013"/>
            <a:ext cx="1806270" cy="196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0"/>
            <a:endCxn id="8" idx="3"/>
          </p:cNvCxnSpPr>
          <p:nvPr/>
        </p:nvCxnSpPr>
        <p:spPr>
          <a:xfrm flipV="1">
            <a:off x="4924393" y="4344013"/>
            <a:ext cx="684096" cy="902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4" idx="4"/>
            <a:endCxn id="7" idx="0"/>
          </p:cNvCxnSpPr>
          <p:nvPr/>
        </p:nvCxnSpPr>
        <p:spPr>
          <a:xfrm>
            <a:off x="4924393" y="5390966"/>
            <a:ext cx="734308" cy="932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em curva 60"/>
          <p:cNvCxnSpPr>
            <a:stCxn id="9" idx="6"/>
            <a:endCxn id="4" idx="1"/>
          </p:cNvCxnSpPr>
          <p:nvPr/>
        </p:nvCxnSpPr>
        <p:spPr>
          <a:xfrm flipH="1" flipV="1">
            <a:off x="4873476" y="5268041"/>
            <a:ext cx="3442940" cy="58625"/>
          </a:xfrm>
          <a:prstGeom prst="curvedConnector4">
            <a:avLst>
              <a:gd name="adj1" fmla="val -11899"/>
              <a:gd name="adj2" fmla="val 315122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74" idx="1"/>
            <a:endCxn id="75" idx="5"/>
          </p:cNvCxnSpPr>
          <p:nvPr/>
        </p:nvCxnSpPr>
        <p:spPr>
          <a:xfrm flipH="1" flipV="1">
            <a:off x="1310549" y="4754970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75" idx="6"/>
            <a:endCxn id="76" idx="2"/>
          </p:cNvCxnSpPr>
          <p:nvPr/>
        </p:nvCxnSpPr>
        <p:spPr>
          <a:xfrm>
            <a:off x="1331640" y="4704053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76" idx="3"/>
            <a:endCxn id="73" idx="7"/>
          </p:cNvCxnSpPr>
          <p:nvPr/>
        </p:nvCxnSpPr>
        <p:spPr>
          <a:xfrm flipH="1">
            <a:off x="1670589" y="4754970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/>
          <p:cNvSpPr/>
          <p:nvPr/>
        </p:nvSpPr>
        <p:spPr>
          <a:xfrm>
            <a:off x="2313354" y="391196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Elipse 72"/>
          <p:cNvSpPr/>
          <p:nvPr/>
        </p:nvSpPr>
        <p:spPr>
          <a:xfrm>
            <a:off x="1547664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Elipse 73"/>
          <p:cNvSpPr/>
          <p:nvPr/>
        </p:nvSpPr>
        <p:spPr>
          <a:xfrm>
            <a:off x="3059832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Elipse 74"/>
          <p:cNvSpPr/>
          <p:nvPr/>
        </p:nvSpPr>
        <p:spPr>
          <a:xfrm>
            <a:off x="1187624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3491880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7" name="Conector reto 76"/>
          <p:cNvCxnSpPr>
            <a:stCxn id="76" idx="1"/>
            <a:endCxn id="72" idx="6"/>
          </p:cNvCxnSpPr>
          <p:nvPr/>
        </p:nvCxnSpPr>
        <p:spPr>
          <a:xfrm flipH="1" flipV="1">
            <a:off x="2457370" y="3983973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72" idx="2"/>
            <a:endCxn id="75" idx="7"/>
          </p:cNvCxnSpPr>
          <p:nvPr/>
        </p:nvCxnSpPr>
        <p:spPr>
          <a:xfrm flipH="1">
            <a:off x="1310549" y="3983973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75" idx="4"/>
            <a:endCxn id="73" idx="1"/>
          </p:cNvCxnSpPr>
          <p:nvPr/>
        </p:nvCxnSpPr>
        <p:spPr>
          <a:xfrm>
            <a:off x="1259632" y="4776061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/>
          <p:cNvCxnSpPr>
            <a:stCxn id="76" idx="4"/>
            <a:endCxn id="74" idx="7"/>
          </p:cNvCxnSpPr>
          <p:nvPr/>
        </p:nvCxnSpPr>
        <p:spPr>
          <a:xfrm flipH="1">
            <a:off x="3182757" y="4776061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73" idx="6"/>
            <a:endCxn id="74" idx="2"/>
          </p:cNvCxnSpPr>
          <p:nvPr/>
        </p:nvCxnSpPr>
        <p:spPr>
          <a:xfrm>
            <a:off x="1691680" y="6288229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em curva 82"/>
          <p:cNvCxnSpPr>
            <a:stCxn id="74" idx="5"/>
            <a:endCxn id="72" idx="7"/>
          </p:cNvCxnSpPr>
          <p:nvPr/>
        </p:nvCxnSpPr>
        <p:spPr>
          <a:xfrm rot="5400000" flipH="1">
            <a:off x="1606473" y="4762862"/>
            <a:ext cx="2406090" cy="746478"/>
          </a:xfrm>
          <a:prstGeom prst="curvedConnector5">
            <a:avLst>
              <a:gd name="adj1" fmla="val -13264"/>
              <a:gd name="adj2" fmla="val -123890"/>
              <a:gd name="adj3" fmla="val 1095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em curva 86"/>
          <p:cNvCxnSpPr>
            <a:stCxn id="72" idx="0"/>
            <a:endCxn id="73" idx="2"/>
          </p:cNvCxnSpPr>
          <p:nvPr/>
        </p:nvCxnSpPr>
        <p:spPr>
          <a:xfrm rot="16200000" flipH="1" flipV="1">
            <a:off x="778381" y="4681248"/>
            <a:ext cx="2376264" cy="837698"/>
          </a:xfrm>
          <a:prstGeom prst="curvedConnector4">
            <a:avLst>
              <a:gd name="adj1" fmla="val -9620"/>
              <a:gd name="adj2" fmla="val 22131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78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Número </a:t>
            </a:r>
            <a:r>
              <a:rPr lang="pt-BR" dirty="0"/>
              <a:t>de cruzamento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No entanto, não precisamos mais do que um cruzamento de arestas. E podemos afirmar que </a:t>
            </a:r>
            <a:r>
              <a:rPr lang="pt-BR" sz="2800" dirty="0"/>
              <a:t>K</a:t>
            </a:r>
            <a:r>
              <a:rPr lang="pt-BR" sz="2800" baseline="-25000" dirty="0"/>
              <a:t>5</a:t>
            </a:r>
            <a:r>
              <a:rPr lang="pt-BR" sz="2800" dirty="0"/>
              <a:t> e K</a:t>
            </a:r>
            <a:r>
              <a:rPr lang="pt-BR" sz="2800" baseline="-25000" dirty="0"/>
              <a:t>3,3</a:t>
            </a:r>
            <a:r>
              <a:rPr lang="pt-BR" sz="2800" dirty="0"/>
              <a:t> </a:t>
            </a:r>
            <a:r>
              <a:rPr lang="pt-BR" sz="2800" dirty="0" smtClean="0"/>
              <a:t>não são planares apenas com um cruzamento. </a:t>
            </a:r>
            <a:endParaRPr lang="pt-BR" sz="2800" dirty="0"/>
          </a:p>
        </p:txBody>
      </p:sp>
      <p:sp>
        <p:nvSpPr>
          <p:cNvPr id="34" name="Elipse 33"/>
          <p:cNvSpPr/>
          <p:nvPr/>
        </p:nvSpPr>
        <p:spPr>
          <a:xfrm>
            <a:off x="4852385" y="524695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7495502" y="62882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749550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5586693" y="632373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5587398" y="422108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8172400" y="525465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36" idx="5"/>
            <a:endCxn id="39" idx="0"/>
          </p:cNvCxnSpPr>
          <p:nvPr/>
        </p:nvCxnSpPr>
        <p:spPr>
          <a:xfrm>
            <a:off x="7618427" y="4344013"/>
            <a:ext cx="625981" cy="91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6" idx="2"/>
            <a:endCxn id="38" idx="6"/>
          </p:cNvCxnSpPr>
          <p:nvPr/>
        </p:nvCxnSpPr>
        <p:spPr>
          <a:xfrm flipH="1">
            <a:off x="5731414" y="4293096"/>
            <a:ext cx="1764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36" idx="2"/>
            <a:endCxn id="37" idx="7"/>
          </p:cNvCxnSpPr>
          <p:nvPr/>
        </p:nvCxnSpPr>
        <p:spPr>
          <a:xfrm flipH="1">
            <a:off x="5709618" y="4293096"/>
            <a:ext cx="1785884" cy="2051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5" idx="5"/>
            <a:endCxn id="39" idx="4"/>
          </p:cNvCxnSpPr>
          <p:nvPr/>
        </p:nvCxnSpPr>
        <p:spPr>
          <a:xfrm flipV="1">
            <a:off x="7618427" y="5398674"/>
            <a:ext cx="625981" cy="1012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5" idx="3"/>
            <a:endCxn id="37" idx="6"/>
          </p:cNvCxnSpPr>
          <p:nvPr/>
        </p:nvCxnSpPr>
        <p:spPr>
          <a:xfrm flipH="1" flipV="1">
            <a:off x="5730709" y="6395738"/>
            <a:ext cx="1785884" cy="1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5" idx="1"/>
            <a:endCxn id="38" idx="5"/>
          </p:cNvCxnSpPr>
          <p:nvPr/>
        </p:nvCxnSpPr>
        <p:spPr>
          <a:xfrm flipH="1" flipV="1">
            <a:off x="5710323" y="4344013"/>
            <a:ext cx="1806270" cy="196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4" idx="0"/>
            <a:endCxn id="38" idx="3"/>
          </p:cNvCxnSpPr>
          <p:nvPr/>
        </p:nvCxnSpPr>
        <p:spPr>
          <a:xfrm flipV="1">
            <a:off x="4924393" y="4344013"/>
            <a:ext cx="684096" cy="902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34" idx="4"/>
            <a:endCxn id="37" idx="0"/>
          </p:cNvCxnSpPr>
          <p:nvPr/>
        </p:nvCxnSpPr>
        <p:spPr>
          <a:xfrm>
            <a:off x="4924393" y="5390966"/>
            <a:ext cx="734308" cy="932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em curva 47"/>
          <p:cNvCxnSpPr>
            <a:stCxn id="39" idx="6"/>
            <a:endCxn id="34" idx="1"/>
          </p:cNvCxnSpPr>
          <p:nvPr/>
        </p:nvCxnSpPr>
        <p:spPr>
          <a:xfrm flipH="1" flipV="1">
            <a:off x="4873476" y="5268041"/>
            <a:ext cx="3442940" cy="58625"/>
          </a:xfrm>
          <a:prstGeom prst="curvedConnector4">
            <a:avLst>
              <a:gd name="adj1" fmla="val -11899"/>
              <a:gd name="adj2" fmla="val 315122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54" idx="1"/>
            <a:endCxn id="55" idx="5"/>
          </p:cNvCxnSpPr>
          <p:nvPr/>
        </p:nvCxnSpPr>
        <p:spPr>
          <a:xfrm flipH="1" flipV="1">
            <a:off x="1310549" y="4754970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55" idx="6"/>
            <a:endCxn id="56" idx="2"/>
          </p:cNvCxnSpPr>
          <p:nvPr/>
        </p:nvCxnSpPr>
        <p:spPr>
          <a:xfrm>
            <a:off x="1331640" y="4704053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56" idx="3"/>
            <a:endCxn id="53" idx="7"/>
          </p:cNvCxnSpPr>
          <p:nvPr/>
        </p:nvCxnSpPr>
        <p:spPr>
          <a:xfrm flipH="1">
            <a:off x="1670589" y="4754970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2313354" y="391196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1547664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/>
          <p:cNvSpPr/>
          <p:nvPr/>
        </p:nvSpPr>
        <p:spPr>
          <a:xfrm>
            <a:off x="3059832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/>
          <p:cNvSpPr/>
          <p:nvPr/>
        </p:nvSpPr>
        <p:spPr>
          <a:xfrm>
            <a:off x="1187624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3491880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7" name="Conector reto 56"/>
          <p:cNvCxnSpPr>
            <a:stCxn id="56" idx="1"/>
            <a:endCxn id="52" idx="6"/>
          </p:cNvCxnSpPr>
          <p:nvPr/>
        </p:nvCxnSpPr>
        <p:spPr>
          <a:xfrm flipH="1" flipV="1">
            <a:off x="2457370" y="3983973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2" idx="2"/>
            <a:endCxn id="55" idx="7"/>
          </p:cNvCxnSpPr>
          <p:nvPr/>
        </p:nvCxnSpPr>
        <p:spPr>
          <a:xfrm flipH="1">
            <a:off x="1310549" y="3983973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5" idx="4"/>
            <a:endCxn id="53" idx="1"/>
          </p:cNvCxnSpPr>
          <p:nvPr/>
        </p:nvCxnSpPr>
        <p:spPr>
          <a:xfrm>
            <a:off x="1259632" y="4776061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6" idx="4"/>
            <a:endCxn id="54" idx="7"/>
          </p:cNvCxnSpPr>
          <p:nvPr/>
        </p:nvCxnSpPr>
        <p:spPr>
          <a:xfrm flipH="1">
            <a:off x="3182757" y="4776061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3" idx="6"/>
            <a:endCxn id="54" idx="2"/>
          </p:cNvCxnSpPr>
          <p:nvPr/>
        </p:nvCxnSpPr>
        <p:spPr>
          <a:xfrm>
            <a:off x="1691680" y="6288229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em curva 62"/>
          <p:cNvCxnSpPr>
            <a:stCxn id="54" idx="5"/>
            <a:endCxn id="52" idx="7"/>
          </p:cNvCxnSpPr>
          <p:nvPr/>
        </p:nvCxnSpPr>
        <p:spPr>
          <a:xfrm rot="5400000" flipH="1">
            <a:off x="1606473" y="4762862"/>
            <a:ext cx="2406090" cy="746478"/>
          </a:xfrm>
          <a:prstGeom prst="curvedConnector5">
            <a:avLst>
              <a:gd name="adj1" fmla="val -13264"/>
              <a:gd name="adj2" fmla="val -123890"/>
              <a:gd name="adj3" fmla="val 1095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em curva 63"/>
          <p:cNvCxnSpPr>
            <a:stCxn id="52" idx="0"/>
            <a:endCxn id="53" idx="2"/>
          </p:cNvCxnSpPr>
          <p:nvPr/>
        </p:nvCxnSpPr>
        <p:spPr>
          <a:xfrm rot="16200000" flipH="1" flipV="1">
            <a:off x="778381" y="4681248"/>
            <a:ext cx="2376264" cy="837698"/>
          </a:xfrm>
          <a:prstGeom prst="curvedConnector4">
            <a:avLst>
              <a:gd name="adj1" fmla="val -9620"/>
              <a:gd name="adj2" fmla="val 22131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575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Número </a:t>
            </a:r>
            <a:r>
              <a:rPr lang="pt-BR" dirty="0"/>
              <a:t>de cruzamento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Portanto o número de cruzamento </a:t>
            </a:r>
            <a:r>
              <a:rPr lang="pt-BR" sz="2400" dirty="0" err="1" smtClean="0"/>
              <a:t>cr</a:t>
            </a:r>
            <a:r>
              <a:rPr lang="pt-BR" sz="2400" dirty="0" smtClean="0"/>
              <a:t>(G) de G é o número mínimo de cruzamentos que podem ocorrer quando G é desenhado no plano. Assim, podemos medir o quão “não planar” um grafo é. Ex.: </a:t>
            </a:r>
            <a:r>
              <a:rPr lang="pt-BR" sz="2400" dirty="0" err="1" smtClean="0"/>
              <a:t>cr</a:t>
            </a:r>
            <a:r>
              <a:rPr lang="pt-BR" sz="2400" dirty="0" smtClean="0"/>
              <a:t>(</a:t>
            </a:r>
            <a:r>
              <a:rPr lang="pt-BR" sz="2400" dirty="0"/>
              <a:t>K</a:t>
            </a:r>
            <a:r>
              <a:rPr lang="pt-BR" sz="2400" baseline="-25000" dirty="0"/>
              <a:t>5</a:t>
            </a:r>
            <a:r>
              <a:rPr lang="pt-BR" sz="2400" dirty="0" smtClean="0"/>
              <a:t>) = </a:t>
            </a:r>
            <a:r>
              <a:rPr lang="pt-BR" sz="2400" dirty="0" err="1" smtClean="0"/>
              <a:t>cr</a:t>
            </a:r>
            <a:r>
              <a:rPr lang="pt-BR" sz="2400" dirty="0" smtClean="0"/>
              <a:t>(</a:t>
            </a:r>
            <a:r>
              <a:rPr lang="pt-BR" sz="2400" dirty="0"/>
              <a:t>K</a:t>
            </a:r>
            <a:r>
              <a:rPr lang="pt-BR" sz="2400" baseline="-25000" dirty="0"/>
              <a:t>3,3</a:t>
            </a:r>
            <a:r>
              <a:rPr lang="pt-BR" sz="2400" dirty="0" smtClean="0"/>
              <a:t>) = 1</a:t>
            </a:r>
          </a:p>
          <a:p>
            <a:endParaRPr lang="pt-BR" sz="2800" dirty="0"/>
          </a:p>
        </p:txBody>
      </p:sp>
      <p:sp>
        <p:nvSpPr>
          <p:cNvPr id="34" name="Elipse 33"/>
          <p:cNvSpPr/>
          <p:nvPr/>
        </p:nvSpPr>
        <p:spPr>
          <a:xfrm>
            <a:off x="4852385" y="524695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7495502" y="62882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749550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5586693" y="632373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5587398" y="422108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8172400" y="525465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36" idx="5"/>
            <a:endCxn id="39" idx="0"/>
          </p:cNvCxnSpPr>
          <p:nvPr/>
        </p:nvCxnSpPr>
        <p:spPr>
          <a:xfrm>
            <a:off x="7618427" y="4344013"/>
            <a:ext cx="625981" cy="91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6" idx="2"/>
            <a:endCxn id="38" idx="6"/>
          </p:cNvCxnSpPr>
          <p:nvPr/>
        </p:nvCxnSpPr>
        <p:spPr>
          <a:xfrm flipH="1">
            <a:off x="5731414" y="4293096"/>
            <a:ext cx="1764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36" idx="2"/>
            <a:endCxn id="37" idx="7"/>
          </p:cNvCxnSpPr>
          <p:nvPr/>
        </p:nvCxnSpPr>
        <p:spPr>
          <a:xfrm flipH="1">
            <a:off x="5709618" y="4293096"/>
            <a:ext cx="1785884" cy="2051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5" idx="5"/>
            <a:endCxn id="39" idx="4"/>
          </p:cNvCxnSpPr>
          <p:nvPr/>
        </p:nvCxnSpPr>
        <p:spPr>
          <a:xfrm flipV="1">
            <a:off x="7618427" y="5398674"/>
            <a:ext cx="625981" cy="1012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5" idx="3"/>
            <a:endCxn id="37" idx="6"/>
          </p:cNvCxnSpPr>
          <p:nvPr/>
        </p:nvCxnSpPr>
        <p:spPr>
          <a:xfrm flipH="1" flipV="1">
            <a:off x="5730709" y="6395738"/>
            <a:ext cx="1785884" cy="1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5" idx="1"/>
            <a:endCxn id="38" idx="5"/>
          </p:cNvCxnSpPr>
          <p:nvPr/>
        </p:nvCxnSpPr>
        <p:spPr>
          <a:xfrm flipH="1" flipV="1">
            <a:off x="5710323" y="4344013"/>
            <a:ext cx="1806270" cy="196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4" idx="0"/>
            <a:endCxn id="38" idx="3"/>
          </p:cNvCxnSpPr>
          <p:nvPr/>
        </p:nvCxnSpPr>
        <p:spPr>
          <a:xfrm flipV="1">
            <a:off x="4924393" y="4344013"/>
            <a:ext cx="684096" cy="902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34" idx="4"/>
            <a:endCxn id="37" idx="0"/>
          </p:cNvCxnSpPr>
          <p:nvPr/>
        </p:nvCxnSpPr>
        <p:spPr>
          <a:xfrm>
            <a:off x="4924393" y="5390966"/>
            <a:ext cx="734308" cy="932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em curva 47"/>
          <p:cNvCxnSpPr>
            <a:stCxn id="39" idx="6"/>
            <a:endCxn id="34" idx="1"/>
          </p:cNvCxnSpPr>
          <p:nvPr/>
        </p:nvCxnSpPr>
        <p:spPr>
          <a:xfrm flipH="1" flipV="1">
            <a:off x="4873476" y="5268041"/>
            <a:ext cx="3442940" cy="58625"/>
          </a:xfrm>
          <a:prstGeom prst="curvedConnector4">
            <a:avLst>
              <a:gd name="adj1" fmla="val -11899"/>
              <a:gd name="adj2" fmla="val 315122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54" idx="1"/>
            <a:endCxn id="55" idx="5"/>
          </p:cNvCxnSpPr>
          <p:nvPr/>
        </p:nvCxnSpPr>
        <p:spPr>
          <a:xfrm flipH="1" flipV="1">
            <a:off x="1310549" y="4754970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55" idx="6"/>
            <a:endCxn id="56" idx="2"/>
          </p:cNvCxnSpPr>
          <p:nvPr/>
        </p:nvCxnSpPr>
        <p:spPr>
          <a:xfrm>
            <a:off x="1331640" y="4704053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56" idx="3"/>
            <a:endCxn id="53" idx="7"/>
          </p:cNvCxnSpPr>
          <p:nvPr/>
        </p:nvCxnSpPr>
        <p:spPr>
          <a:xfrm flipH="1">
            <a:off x="1670589" y="4754970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2313354" y="391196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1547664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/>
          <p:cNvSpPr/>
          <p:nvPr/>
        </p:nvSpPr>
        <p:spPr>
          <a:xfrm>
            <a:off x="3059832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/>
          <p:cNvSpPr/>
          <p:nvPr/>
        </p:nvSpPr>
        <p:spPr>
          <a:xfrm>
            <a:off x="1187624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3491880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7" name="Conector reto 56"/>
          <p:cNvCxnSpPr>
            <a:stCxn id="56" idx="1"/>
            <a:endCxn id="52" idx="6"/>
          </p:cNvCxnSpPr>
          <p:nvPr/>
        </p:nvCxnSpPr>
        <p:spPr>
          <a:xfrm flipH="1" flipV="1">
            <a:off x="2457370" y="3983973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2" idx="2"/>
            <a:endCxn id="55" idx="7"/>
          </p:cNvCxnSpPr>
          <p:nvPr/>
        </p:nvCxnSpPr>
        <p:spPr>
          <a:xfrm flipH="1">
            <a:off x="1310549" y="3983973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5" idx="4"/>
            <a:endCxn id="53" idx="1"/>
          </p:cNvCxnSpPr>
          <p:nvPr/>
        </p:nvCxnSpPr>
        <p:spPr>
          <a:xfrm>
            <a:off x="1259632" y="4776061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6" idx="4"/>
            <a:endCxn id="54" idx="7"/>
          </p:cNvCxnSpPr>
          <p:nvPr/>
        </p:nvCxnSpPr>
        <p:spPr>
          <a:xfrm flipH="1">
            <a:off x="3182757" y="4776061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3" idx="6"/>
            <a:endCxn id="54" idx="2"/>
          </p:cNvCxnSpPr>
          <p:nvPr/>
        </p:nvCxnSpPr>
        <p:spPr>
          <a:xfrm>
            <a:off x="1691680" y="6288229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em curva 62"/>
          <p:cNvCxnSpPr>
            <a:stCxn id="54" idx="5"/>
            <a:endCxn id="52" idx="7"/>
          </p:cNvCxnSpPr>
          <p:nvPr/>
        </p:nvCxnSpPr>
        <p:spPr>
          <a:xfrm rot="5400000" flipH="1">
            <a:off x="1606473" y="4762862"/>
            <a:ext cx="2406090" cy="746478"/>
          </a:xfrm>
          <a:prstGeom prst="curvedConnector5">
            <a:avLst>
              <a:gd name="adj1" fmla="val -13264"/>
              <a:gd name="adj2" fmla="val -123890"/>
              <a:gd name="adj3" fmla="val 1095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em curva 63"/>
          <p:cNvCxnSpPr>
            <a:stCxn id="52" idx="0"/>
            <a:endCxn id="53" idx="2"/>
          </p:cNvCxnSpPr>
          <p:nvPr/>
        </p:nvCxnSpPr>
        <p:spPr>
          <a:xfrm rot="16200000" flipH="1" flipV="1">
            <a:off x="778381" y="4681248"/>
            <a:ext cx="2376264" cy="837698"/>
          </a:xfrm>
          <a:prstGeom prst="curvedConnector4">
            <a:avLst>
              <a:gd name="adj1" fmla="val -9620"/>
              <a:gd name="adj2" fmla="val 22131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05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Fórmula de Euler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Seja G um grafo conexo planar com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sz="2800" dirty="0"/>
                  <a:t> vértices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𝑒</m:t>
                    </m:r>
                  </m:oMath>
                </a14:m>
                <a:r>
                  <a:rPr lang="pt-BR" sz="2800" dirty="0"/>
                  <a:t> arestas. </a:t>
                </a:r>
                <a:r>
                  <a:rPr lang="pt-BR" sz="2800" dirty="0" smtClean="0"/>
                  <a:t>O número </a:t>
                </a:r>
                <a:r>
                  <a:rPr lang="pt-BR" sz="2800" dirty="0"/>
                  <a:t>de faces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sz="2800" dirty="0" smtClean="0"/>
                  <a:t> do </a:t>
                </a:r>
                <a:r>
                  <a:rPr lang="pt-BR" sz="2800" dirty="0"/>
                  <a:t>grafo é</a:t>
                </a:r>
                <a:r>
                  <a:rPr lang="pt-BR" sz="2800" dirty="0" smtClean="0"/>
                  <a:t>:</a:t>
                </a:r>
              </a:p>
              <a:p>
                <a:endParaRPr lang="pt-BR" sz="2800" dirty="0"/>
              </a:p>
              <a:p>
                <a:endParaRPr lang="pt-BR" sz="2800" dirty="0" smtClean="0"/>
              </a:p>
              <a:p>
                <a:r>
                  <a:rPr lang="pt-BR" sz="2800" dirty="0" smtClean="0"/>
                  <a:t>Ou</a:t>
                </a:r>
              </a:p>
              <a:p>
                <a:pPr lvl="1"/>
                <a:r>
                  <a:rPr lang="pt-BR" sz="2400" dirty="0" smtClean="0"/>
                  <a:t>Ex.: K</a:t>
                </a:r>
                <a:r>
                  <a:rPr lang="pt-BR" sz="2400" baseline="-25000" dirty="0" smtClean="0"/>
                  <a:t>4</a:t>
                </a:r>
                <a:r>
                  <a:rPr lang="pt-BR" sz="2400" dirty="0" smtClean="0"/>
                  <a:t> </a:t>
                </a:r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258773" y="2780928"/>
                <a:ext cx="23933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  <m:r>
                        <a:rPr lang="pt-BR" sz="2800" b="0" i="1" smtClean="0">
                          <a:latin typeface="Cambria Math"/>
                        </a:rPr>
                        <m:t>=</m:t>
                      </m:r>
                      <m:r>
                        <a:rPr lang="pt-BR" sz="2800" b="0" i="1" smtClean="0">
                          <a:latin typeface="Cambria Math"/>
                        </a:rPr>
                        <m:t>𝑒</m:t>
                      </m:r>
                      <m:r>
                        <a:rPr lang="pt-BR" sz="2800" b="0" i="1" smtClean="0">
                          <a:latin typeface="Cambria Math"/>
                        </a:rPr>
                        <m:t>−</m:t>
                      </m:r>
                      <m:r>
                        <a:rPr lang="pt-BR" sz="2800" b="0" i="1" smtClean="0">
                          <a:latin typeface="Cambria Math"/>
                        </a:rPr>
                        <m:t>𝑛</m:t>
                      </m:r>
                      <m:r>
                        <a:rPr lang="pt-BR" sz="2800" b="0" i="1" smtClean="0"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773" y="2780928"/>
                <a:ext cx="239334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1475656" y="3553852"/>
                <a:ext cx="23933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2=</m:t>
                      </m:r>
                      <m:r>
                        <a:rPr lang="pt-BR" sz="2800" b="0" i="1" smtClean="0">
                          <a:latin typeface="Cambria Math"/>
                        </a:rPr>
                        <m:t>𝑛</m:t>
                      </m:r>
                      <m:r>
                        <a:rPr lang="pt-BR" sz="2800" b="0" i="1" smtClean="0">
                          <a:latin typeface="Cambria Math"/>
                        </a:rPr>
                        <m:t>−</m:t>
                      </m:r>
                      <m:r>
                        <a:rPr lang="pt-BR" sz="2800" b="0" i="1" smtClean="0">
                          <a:latin typeface="Cambria Math"/>
                        </a:rPr>
                        <m:t>𝑒</m:t>
                      </m:r>
                      <m:r>
                        <a:rPr lang="pt-BR" sz="2800" b="0" i="1" smtClean="0">
                          <a:latin typeface="Cambria Math"/>
                        </a:rPr>
                        <m:t>+</m:t>
                      </m:r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553852"/>
                <a:ext cx="2393347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lipse 6"/>
          <p:cNvSpPr/>
          <p:nvPr/>
        </p:nvSpPr>
        <p:spPr>
          <a:xfrm>
            <a:off x="1999078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1999078" y="486916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547664" y="595407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2450492" y="595407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7" idx="0"/>
            <a:endCxn id="8" idx="4"/>
          </p:cNvCxnSpPr>
          <p:nvPr/>
        </p:nvCxnSpPr>
        <p:spPr>
          <a:xfrm flipV="1">
            <a:off x="2071086" y="5013176"/>
            <a:ext cx="0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5"/>
            <a:endCxn id="10" idx="0"/>
          </p:cNvCxnSpPr>
          <p:nvPr/>
        </p:nvCxnSpPr>
        <p:spPr>
          <a:xfrm>
            <a:off x="2122003" y="499208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2"/>
            <a:endCxn id="9" idx="6"/>
          </p:cNvCxnSpPr>
          <p:nvPr/>
        </p:nvCxnSpPr>
        <p:spPr>
          <a:xfrm flipH="1">
            <a:off x="1691680" y="602608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7" idx="3"/>
            <a:endCxn id="9" idx="7"/>
          </p:cNvCxnSpPr>
          <p:nvPr/>
        </p:nvCxnSpPr>
        <p:spPr>
          <a:xfrm flipH="1">
            <a:off x="1670589" y="571216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9" idx="0"/>
          </p:cNvCxnSpPr>
          <p:nvPr/>
        </p:nvCxnSpPr>
        <p:spPr>
          <a:xfrm flipH="1">
            <a:off x="1619672" y="499208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0" idx="1"/>
            <a:endCxn id="7" idx="5"/>
          </p:cNvCxnSpPr>
          <p:nvPr/>
        </p:nvCxnSpPr>
        <p:spPr>
          <a:xfrm flipH="1" flipV="1">
            <a:off x="2122003" y="571216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/>
              <p:cNvSpPr txBox="1"/>
              <p:nvPr/>
            </p:nvSpPr>
            <p:spPr>
              <a:xfrm>
                <a:off x="4421750" y="5211468"/>
                <a:ext cx="376673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  <m:r>
                        <a:rPr lang="pt-BR" sz="2800" b="0" i="1" smtClean="0">
                          <a:latin typeface="Cambria Math"/>
                        </a:rPr>
                        <m:t>=6−4+2→</m:t>
                      </m:r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  <m:r>
                        <a:rPr lang="pt-BR" sz="2800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pt-BR" sz="2800" b="0" dirty="0" smtClean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750" y="5211468"/>
                <a:ext cx="3766737" cy="95410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/>
          <p:cNvCxnSpPr/>
          <p:nvPr/>
        </p:nvCxnSpPr>
        <p:spPr>
          <a:xfrm>
            <a:off x="3131840" y="5473078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60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Fórmula de </a:t>
            </a:r>
            <a:r>
              <a:rPr lang="pt-BR" dirty="0" smtClean="0"/>
              <a:t>Euler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Fórmula de </a:t>
                </a:r>
                <a:r>
                  <a:rPr lang="pt-BR" dirty="0" smtClean="0"/>
                  <a:t>Euler pode ser facilmente estendida para grafos desconexos:</a:t>
                </a:r>
              </a:p>
              <a:p>
                <a:pPr lvl="1"/>
                <a:r>
                  <a:rPr lang="pt-BR" dirty="0" smtClean="0"/>
                  <a:t>Seja G uma grafo planar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 smtClean="0"/>
                  <a:t> vértices,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𝑒</m:t>
                    </m:r>
                  </m:oMath>
                </a14:m>
                <a:r>
                  <a:rPr lang="pt-BR" dirty="0" smtClean="0"/>
                  <a:t> arestas,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dirty="0" smtClean="0"/>
                  <a:t> faces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pt-BR" dirty="0" smtClean="0"/>
                  <a:t> componentes, então: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131840" y="3831431"/>
                <a:ext cx="2620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𝑛</m:t>
                      </m:r>
                      <m:r>
                        <a:rPr lang="pt-BR" sz="2400" b="0" i="1" smtClean="0">
                          <a:latin typeface="Cambria Math"/>
                        </a:rPr>
                        <m:t>−</m:t>
                      </m:r>
                      <m:r>
                        <a:rPr lang="pt-BR" sz="2400" b="0" i="1" smtClean="0">
                          <a:latin typeface="Cambria Math"/>
                        </a:rPr>
                        <m:t>𝑒</m:t>
                      </m:r>
                      <m:r>
                        <a:rPr lang="pt-BR" sz="2400" b="0" i="1" smtClean="0">
                          <a:latin typeface="Cambria Math"/>
                        </a:rPr>
                        <m:t>+</m:t>
                      </m:r>
                      <m:r>
                        <a:rPr lang="pt-BR" sz="2400" b="0" i="1" smtClean="0">
                          <a:latin typeface="Cambria Math"/>
                        </a:rPr>
                        <m:t>𝑓</m:t>
                      </m:r>
                      <m:r>
                        <a:rPr lang="pt-BR" sz="2400" b="0" i="1" smtClean="0">
                          <a:latin typeface="Cambria Math"/>
                        </a:rPr>
                        <m:t>=</m:t>
                      </m:r>
                      <m:r>
                        <a:rPr lang="pt-BR" sz="2400" b="0" i="1" smtClean="0">
                          <a:latin typeface="Cambria Math"/>
                        </a:rPr>
                        <m:t>𝑘</m:t>
                      </m:r>
                      <m:r>
                        <a:rPr lang="pt-BR" sz="2400" b="0" i="1" smtClean="0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831431"/>
                <a:ext cx="262039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1259632" y="503907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162460" y="503428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259632" y="59031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2162460" y="59031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5" idx="6"/>
            <a:endCxn id="6" idx="2"/>
          </p:cNvCxnSpPr>
          <p:nvPr/>
        </p:nvCxnSpPr>
        <p:spPr>
          <a:xfrm flipV="1">
            <a:off x="1403648" y="5106288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4"/>
            <a:endCxn id="8" idx="0"/>
          </p:cNvCxnSpPr>
          <p:nvPr/>
        </p:nvCxnSpPr>
        <p:spPr>
          <a:xfrm>
            <a:off x="2234468" y="5178296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8" idx="2"/>
            <a:endCxn id="7" idx="6"/>
          </p:cNvCxnSpPr>
          <p:nvPr/>
        </p:nvCxnSpPr>
        <p:spPr>
          <a:xfrm flipH="1">
            <a:off x="1403648" y="5975176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4"/>
            <a:endCxn id="7" idx="0"/>
          </p:cNvCxnSpPr>
          <p:nvPr/>
        </p:nvCxnSpPr>
        <p:spPr>
          <a:xfrm>
            <a:off x="1331640" y="5183088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7" idx="7"/>
          </p:cNvCxnSpPr>
          <p:nvPr/>
        </p:nvCxnSpPr>
        <p:spPr>
          <a:xfrm flipH="1">
            <a:off x="1382557" y="5157205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3649950" y="55172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649950" y="48643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2987824" y="594928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94928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4" idx="0"/>
            <a:endCxn id="15" idx="4"/>
          </p:cNvCxnSpPr>
          <p:nvPr/>
        </p:nvCxnSpPr>
        <p:spPr>
          <a:xfrm flipV="1">
            <a:off x="3721958" y="5008384"/>
            <a:ext cx="0" cy="508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5" idx="5"/>
            <a:endCxn id="17" idx="0"/>
          </p:cNvCxnSpPr>
          <p:nvPr/>
        </p:nvCxnSpPr>
        <p:spPr>
          <a:xfrm>
            <a:off x="3772875" y="4987293"/>
            <a:ext cx="655109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2"/>
            <a:endCxn id="16" idx="6"/>
          </p:cNvCxnSpPr>
          <p:nvPr/>
        </p:nvCxnSpPr>
        <p:spPr>
          <a:xfrm flipH="1">
            <a:off x="3131840" y="6021288"/>
            <a:ext cx="1224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4" idx="3"/>
            <a:endCxn id="16" idx="7"/>
          </p:cNvCxnSpPr>
          <p:nvPr/>
        </p:nvCxnSpPr>
        <p:spPr>
          <a:xfrm flipH="1">
            <a:off x="3110749" y="5640157"/>
            <a:ext cx="560292" cy="330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3"/>
            <a:endCxn id="16" idx="0"/>
          </p:cNvCxnSpPr>
          <p:nvPr/>
        </p:nvCxnSpPr>
        <p:spPr>
          <a:xfrm flipH="1">
            <a:off x="3059832" y="4987293"/>
            <a:ext cx="611209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1"/>
            <a:endCxn id="14" idx="5"/>
          </p:cNvCxnSpPr>
          <p:nvPr/>
        </p:nvCxnSpPr>
        <p:spPr>
          <a:xfrm flipH="1" flipV="1">
            <a:off x="3772875" y="5640157"/>
            <a:ext cx="604192" cy="330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/>
              <p:cNvSpPr txBox="1"/>
              <p:nvPr/>
            </p:nvSpPr>
            <p:spPr>
              <a:xfrm>
                <a:off x="5837666" y="5229200"/>
                <a:ext cx="2838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8 −11+6=2+1</m:t>
                      </m:r>
                    </m:oMath>
                  </m:oMathPara>
                </a14:m>
                <a:endParaRPr lang="pt-BR" sz="2400" b="0" dirty="0" smtClean="0"/>
              </a:p>
            </p:txBody>
          </p:sp>
        </mc:Choice>
        <mc:Fallback xmlns="">
          <p:sp>
            <p:nvSpPr>
              <p:cNvPr id="24" name="CaixaDe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666" y="5229200"/>
                <a:ext cx="2838790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/>
          <p:cNvCxnSpPr/>
          <p:nvPr/>
        </p:nvCxnSpPr>
        <p:spPr>
          <a:xfrm>
            <a:off x="4716016" y="5473078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6468320" y="5661248"/>
                <a:ext cx="1529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3=2+1</m:t>
                      </m:r>
                    </m:oMath>
                  </m:oMathPara>
                </a14:m>
                <a:endParaRPr lang="pt-BR" sz="2400" b="0" dirty="0" smtClean="0"/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20" y="5661248"/>
                <a:ext cx="1529586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aixaDeTexto 26"/>
          <p:cNvSpPr txBox="1"/>
          <p:nvPr/>
        </p:nvSpPr>
        <p:spPr>
          <a:xfrm>
            <a:off x="146200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356388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6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2699792" y="4940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</a:t>
            </a:r>
            <a:endParaRPr lang="pt-BR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3406218" y="5229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4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3766258" y="5229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5</a:t>
            </a:r>
            <a:endParaRPr lang="pt-BR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1822042" y="5507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9785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Dado um grafo G planar, o grafo dual de G planar, </a:t>
                </a:r>
                <a:r>
                  <a:rPr lang="pt-BR" dirty="0" smtClean="0"/>
                  <a:t>G*, é construído </a:t>
                </a:r>
                <a:r>
                  <a:rPr lang="pt-BR" dirty="0"/>
                  <a:t>pelas regras abaixo</a:t>
                </a:r>
                <a:r>
                  <a:rPr lang="pt-BR" dirty="0" smtClean="0"/>
                  <a:t>:</a:t>
                </a:r>
              </a:p>
              <a:p>
                <a:pPr lvl="1"/>
                <a:r>
                  <a:rPr lang="pt-BR" dirty="0"/>
                  <a:t>Para cada face f de G, </a:t>
                </a:r>
                <a:r>
                  <a:rPr lang="pt-BR" dirty="0" smtClean="0"/>
                  <a:t>G* </a:t>
                </a:r>
                <a:r>
                  <a:rPr lang="pt-BR" dirty="0"/>
                  <a:t>possui um vértice </a:t>
                </a:r>
                <a:r>
                  <a:rPr lang="pt-BR" dirty="0" smtClean="0"/>
                  <a:t>f* </a:t>
                </a:r>
                <a:endParaRPr lang="pt-BR" dirty="0"/>
              </a:p>
              <a:p>
                <a:pPr lvl="1"/>
                <a:r>
                  <a:rPr lang="pt-BR" dirty="0"/>
                  <a:t>As arestas de </a:t>
                </a:r>
                <a:r>
                  <a:rPr lang="pt-BR" dirty="0" smtClean="0"/>
                  <a:t>G* </a:t>
                </a:r>
                <a:r>
                  <a:rPr lang="pt-BR" dirty="0"/>
                  <a:t>são geradas da seguinte forma</a:t>
                </a:r>
                <a:r>
                  <a:rPr lang="pt-BR" dirty="0" smtClean="0"/>
                  <a:t>:</a:t>
                </a:r>
              </a:p>
              <a:p>
                <a:pPr lvl="2"/>
                <a:r>
                  <a:rPr lang="pt-BR" dirty="0"/>
                  <a:t>Se duas faces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/>
                  <a:t> são adjacentes então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 smtClean="0"/>
                  <a:t>* </a:t>
                </a:r>
                <a:r>
                  <a:rPr lang="pt-BR" dirty="0"/>
                  <a:t>é adjacente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 smtClean="0"/>
                  <a:t>*</a:t>
                </a:r>
                <a:endParaRPr lang="pt-BR" dirty="0"/>
              </a:p>
              <a:p>
                <a:pPr lvl="2"/>
                <a:r>
                  <a:rPr lang="pt-BR" dirty="0" smtClean="0"/>
                  <a:t>Se </a:t>
                </a:r>
                <a:r>
                  <a:rPr lang="pt-BR" dirty="0"/>
                  <a:t>uma aresta está inteiramente contida em uma face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smtClean="0"/>
                  <a:t>então existe </a:t>
                </a:r>
                <a:r>
                  <a:rPr lang="pt-BR" dirty="0"/>
                  <a:t>um loop no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 smtClean="0"/>
                  <a:t>*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794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Dado um grafo G planar, o grafo dual de G planar, </a:t>
                </a:r>
                <a:r>
                  <a:rPr lang="pt-BR" dirty="0" smtClean="0"/>
                  <a:t>G*, é construído </a:t>
                </a:r>
                <a:r>
                  <a:rPr lang="pt-BR" dirty="0"/>
                  <a:t>pelas regras abaixo</a:t>
                </a:r>
                <a:r>
                  <a:rPr lang="pt-BR" dirty="0" smtClean="0"/>
                  <a:t>:</a:t>
                </a:r>
              </a:p>
              <a:p>
                <a:pPr lvl="1"/>
                <a:r>
                  <a:rPr lang="pt-BR" dirty="0"/>
                  <a:t>Para cada face f de G, </a:t>
                </a:r>
                <a:r>
                  <a:rPr lang="pt-BR" dirty="0" smtClean="0"/>
                  <a:t>G* </a:t>
                </a:r>
                <a:r>
                  <a:rPr lang="pt-BR" dirty="0"/>
                  <a:t>possui um vértice </a:t>
                </a:r>
                <a:r>
                  <a:rPr lang="pt-BR" dirty="0" smtClean="0"/>
                  <a:t>f* </a:t>
                </a:r>
                <a:endParaRPr lang="pt-BR" dirty="0"/>
              </a:p>
              <a:p>
                <a:pPr lvl="1"/>
                <a:r>
                  <a:rPr lang="pt-BR" dirty="0"/>
                  <a:t>As arestas de </a:t>
                </a:r>
                <a:r>
                  <a:rPr lang="pt-BR" dirty="0" smtClean="0"/>
                  <a:t>G* </a:t>
                </a:r>
                <a:r>
                  <a:rPr lang="pt-BR" dirty="0"/>
                  <a:t>são geradas da seguinte forma</a:t>
                </a:r>
                <a:r>
                  <a:rPr lang="pt-BR" dirty="0" smtClean="0"/>
                  <a:t>:</a:t>
                </a:r>
              </a:p>
              <a:p>
                <a:pPr lvl="2"/>
                <a:r>
                  <a:rPr lang="pt-BR" dirty="0"/>
                  <a:t>Se duas faces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/>
                  <a:t> são adjacentes então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 smtClean="0"/>
                  <a:t>* </a:t>
                </a:r>
                <a:r>
                  <a:rPr lang="pt-BR" dirty="0"/>
                  <a:t>é adjacente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 smtClean="0"/>
                  <a:t>*</a:t>
                </a:r>
                <a:endParaRPr lang="pt-BR" dirty="0"/>
              </a:p>
              <a:p>
                <a:pPr lvl="2"/>
                <a:r>
                  <a:rPr lang="pt-BR" dirty="0"/>
                  <a:t>Se houver mais de uma aresta em comum entre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smtClean="0"/>
                  <a:t>então haverá </a:t>
                </a:r>
                <a:r>
                  <a:rPr lang="pt-BR" dirty="0"/>
                  <a:t>arestas paralelas entre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 smtClean="0"/>
                  <a:t>* </a:t>
                </a:r>
                <a:r>
                  <a:rPr lang="pt-BR" dirty="0"/>
                  <a:t>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 smtClean="0"/>
                  <a:t>*</a:t>
                </a:r>
                <a:endParaRPr lang="pt-BR" dirty="0"/>
              </a:p>
              <a:p>
                <a:pPr lvl="2"/>
                <a:r>
                  <a:rPr lang="pt-BR" dirty="0"/>
                  <a:t>Se uma aresta está inteiramente contida em uma face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smtClean="0"/>
                  <a:t>então existe </a:t>
                </a:r>
                <a:r>
                  <a:rPr lang="pt-BR" dirty="0"/>
                  <a:t>um loop no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 smtClean="0"/>
                  <a:t>*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b="-25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43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0910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592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em curva 33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em curva 37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43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em curva 33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em curva 37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935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em curva 33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em curva 37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em curva 14"/>
          <p:cNvCxnSpPr>
            <a:stCxn id="18" idx="0"/>
            <a:endCxn id="19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em curva 27"/>
          <p:cNvCxnSpPr>
            <a:stCxn id="18" idx="5"/>
            <a:endCxn id="19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259632" y="3068960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Grafo Planar 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6617724" y="3068960"/>
            <a:ext cx="1183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Grafo Dual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07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O número de arestas que limitam a região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em G é igual </a:t>
                </a:r>
                <a:r>
                  <a:rPr lang="pt-BR" dirty="0" smtClean="0"/>
                  <a:t>ao grau </a:t>
                </a:r>
                <a:r>
                  <a:rPr lang="pt-BR" dirty="0"/>
                  <a:t>do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* em </a:t>
                </a:r>
                <a:r>
                  <a:rPr lang="pt-BR" dirty="0" smtClean="0"/>
                  <a:t>G*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5" idx="6"/>
            <a:endCxn id="1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6"/>
            <a:endCxn id="1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em curva 19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em curva 24"/>
          <p:cNvCxnSpPr>
            <a:stCxn id="18" idx="0"/>
            <a:endCxn id="19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em curva 25"/>
          <p:cNvCxnSpPr>
            <a:stCxn id="18" idx="5"/>
            <a:endCxn id="19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766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grafo </a:t>
            </a:r>
            <a:r>
              <a:rPr lang="pt-BR" dirty="0" smtClean="0"/>
              <a:t>G* </a:t>
            </a:r>
            <a:r>
              <a:rPr lang="pt-BR" dirty="0"/>
              <a:t>é planar</a:t>
            </a:r>
          </a:p>
        </p:txBody>
      </p:sp>
      <p:sp>
        <p:nvSpPr>
          <p:cNvPr id="29" name="Elipse 28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29" idx="6"/>
            <a:endCxn id="30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0" idx="4"/>
            <a:endCxn id="32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2"/>
            <a:endCxn id="31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9" idx="4"/>
            <a:endCxn id="31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30" idx="3"/>
            <a:endCxn id="31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/>
          <p:cNvCxnSpPr>
            <a:stCxn id="30" idx="6"/>
            <a:endCxn id="38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2" idx="6"/>
            <a:endCxn id="38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em curva 44"/>
          <p:cNvCxnSpPr>
            <a:stCxn id="41" idx="1"/>
            <a:endCxn id="44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em curva 45"/>
          <p:cNvCxnSpPr>
            <a:stCxn id="41" idx="2"/>
            <a:endCxn id="44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41" idx="5"/>
            <a:endCxn id="42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2" idx="6"/>
            <a:endCxn id="43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2" idx="4"/>
            <a:endCxn id="44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em curva 49"/>
          <p:cNvCxnSpPr>
            <a:stCxn id="43" idx="0"/>
            <a:endCxn id="44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em curva 50"/>
          <p:cNvCxnSpPr>
            <a:stCxn id="43" idx="5"/>
            <a:endCxn id="44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G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919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grafo G também é dual de </a:t>
            </a:r>
            <a:r>
              <a:rPr lang="pt-BR" dirty="0" smtClean="0"/>
              <a:t>G*, </a:t>
            </a:r>
            <a:r>
              <a:rPr lang="pt-BR" dirty="0"/>
              <a:t>então dizemos que G e </a:t>
            </a:r>
            <a:r>
              <a:rPr lang="pt-BR" dirty="0" smtClean="0"/>
              <a:t>G* são </a:t>
            </a:r>
            <a:r>
              <a:rPr lang="pt-BR" dirty="0"/>
              <a:t>grafos duais</a:t>
            </a:r>
          </a:p>
        </p:txBody>
      </p:sp>
      <p:sp>
        <p:nvSpPr>
          <p:cNvPr id="77" name="Elipse 76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/>
          <p:cNvCxnSpPr>
            <a:stCxn id="77" idx="6"/>
            <a:endCxn id="78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>
            <a:stCxn id="78" idx="4"/>
            <a:endCxn id="80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80" idx="2"/>
            <a:endCxn id="79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77" idx="4"/>
            <a:endCxn id="79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8" idx="3"/>
            <a:endCxn id="79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ipse 85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7" name="Conector reto 86"/>
          <p:cNvCxnSpPr>
            <a:stCxn id="78" idx="6"/>
            <a:endCxn id="86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80" idx="6"/>
            <a:endCxn id="86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lipse 88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Elipse 89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Elipse 91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3" name="Conector em curva 92"/>
          <p:cNvCxnSpPr>
            <a:stCxn id="89" idx="1"/>
            <a:endCxn id="92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em curva 93"/>
          <p:cNvCxnSpPr>
            <a:stCxn id="89" idx="2"/>
            <a:endCxn id="92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>
            <a:stCxn id="89" idx="5"/>
            <a:endCxn id="90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90" idx="6"/>
            <a:endCxn id="91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90" idx="4"/>
            <a:endCxn id="92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em curva 97"/>
          <p:cNvCxnSpPr>
            <a:stCxn id="91" idx="0"/>
            <a:endCxn id="92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em curva 98"/>
          <p:cNvCxnSpPr>
            <a:stCxn id="91" idx="5"/>
            <a:endCxn id="92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aixaDeTexto 99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  <p:sp>
        <p:nvSpPr>
          <p:cNvPr id="101" name="CaixaDeTexto 100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635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Relações: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 smtClean="0"/>
                  <a:t>* =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dirty="0" smtClean="0"/>
                  <a:t>;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pt-BR" dirty="0" smtClean="0"/>
                  <a:t>* =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pt-BR" dirty="0" smtClean="0"/>
                  <a:t>;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dirty="0" smtClean="0"/>
                  <a:t>* =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 smtClean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Elipse 76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/>
          <p:cNvCxnSpPr>
            <a:stCxn id="77" idx="6"/>
            <a:endCxn id="78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>
            <a:stCxn id="78" idx="4"/>
            <a:endCxn id="80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80" idx="2"/>
            <a:endCxn id="79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77" idx="4"/>
            <a:endCxn id="79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8" idx="3"/>
            <a:endCxn id="79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ipse 85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7" name="Conector reto 86"/>
          <p:cNvCxnSpPr>
            <a:stCxn id="78" idx="6"/>
            <a:endCxn id="86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80" idx="6"/>
            <a:endCxn id="86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lipse 88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Elipse 89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Elipse 91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3" name="Conector em curva 92"/>
          <p:cNvCxnSpPr>
            <a:stCxn id="89" idx="1"/>
            <a:endCxn id="92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em curva 93"/>
          <p:cNvCxnSpPr>
            <a:stCxn id="89" idx="2"/>
            <a:endCxn id="92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>
            <a:stCxn id="89" idx="5"/>
            <a:endCxn id="90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90" idx="6"/>
            <a:endCxn id="91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90" idx="4"/>
            <a:endCxn id="92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em curva 97"/>
          <p:cNvCxnSpPr>
            <a:stCxn id="91" idx="0"/>
            <a:endCxn id="92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em curva 98"/>
          <p:cNvCxnSpPr>
            <a:stCxn id="91" idx="5"/>
            <a:endCxn id="92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aixaDeTexto 99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</a:t>
            </a:r>
            <a:endParaRPr lang="pt-BR" dirty="0"/>
          </a:p>
        </p:txBody>
      </p:sp>
      <p:sp>
        <p:nvSpPr>
          <p:cNvPr id="101" name="CaixaDeTexto 100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</a:rPr>
              <a:t>G*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886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Quais grafos completos e bipartidos completos são planares?</a:t>
            </a:r>
          </a:p>
          <a:p>
            <a:r>
              <a:rPr lang="pt-BR" dirty="0" smtClean="0"/>
              <a:t>Mostre que o K</a:t>
            </a:r>
            <a:r>
              <a:rPr lang="pt-BR" baseline="-25000" dirty="0" smtClean="0"/>
              <a:t>4,3</a:t>
            </a:r>
            <a:r>
              <a:rPr lang="pt-BR" dirty="0" smtClean="0"/>
              <a:t> e o grafo de </a:t>
            </a:r>
            <a:r>
              <a:rPr lang="pt-BR" dirty="0" err="1" smtClean="0"/>
              <a:t>Petersen</a:t>
            </a:r>
            <a:r>
              <a:rPr lang="pt-BR" dirty="0" smtClean="0"/>
              <a:t> tem número de cruzamento igual a 2 cada um.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3922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3724255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735361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736702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5"/>
            <a:endCxn id="6" idx="0"/>
          </p:cNvCxnSpPr>
          <p:nvPr/>
        </p:nvCxnSpPr>
        <p:spPr>
          <a:xfrm>
            <a:off x="4374602" y="3847180"/>
            <a:ext cx="434108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3"/>
            <a:endCxn id="5" idx="0"/>
          </p:cNvCxnSpPr>
          <p:nvPr/>
        </p:nvCxnSpPr>
        <p:spPr>
          <a:xfrm flipH="1">
            <a:off x="3807369" y="3847180"/>
            <a:ext cx="465399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3858286" y="4410537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4859627" y="5406608"/>
            <a:ext cx="159619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47540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25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4581128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735361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736702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5"/>
            <a:endCxn id="6" idx="0"/>
          </p:cNvCxnSpPr>
          <p:nvPr/>
        </p:nvCxnSpPr>
        <p:spPr>
          <a:xfrm>
            <a:off x="4374602" y="4704053"/>
            <a:ext cx="434108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3"/>
            <a:endCxn id="5" idx="0"/>
          </p:cNvCxnSpPr>
          <p:nvPr/>
        </p:nvCxnSpPr>
        <p:spPr>
          <a:xfrm flipH="1">
            <a:off x="3807369" y="4704053"/>
            <a:ext cx="465399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3858286" y="4410537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1144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4859627" y="5406608"/>
            <a:ext cx="159619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47540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307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4581128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735361" y="5283683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736702" y="5283683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5"/>
            <a:endCxn id="6" idx="0"/>
          </p:cNvCxnSpPr>
          <p:nvPr/>
        </p:nvCxnSpPr>
        <p:spPr>
          <a:xfrm>
            <a:off x="4374602" y="4704053"/>
            <a:ext cx="434108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3"/>
            <a:endCxn id="5" idx="0"/>
          </p:cNvCxnSpPr>
          <p:nvPr/>
        </p:nvCxnSpPr>
        <p:spPr>
          <a:xfrm flipH="1">
            <a:off x="3807369" y="4704053"/>
            <a:ext cx="465399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3858286" y="4410537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1144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4859627" y="5406608"/>
            <a:ext cx="159619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47540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81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4581128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788024" y="5283683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707904" y="5283683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3"/>
            <a:endCxn id="6" idx="0"/>
          </p:cNvCxnSpPr>
          <p:nvPr/>
        </p:nvCxnSpPr>
        <p:spPr>
          <a:xfrm flipH="1">
            <a:off x="3779912" y="4704053"/>
            <a:ext cx="492856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5"/>
            <a:endCxn id="5" idx="0"/>
          </p:cNvCxnSpPr>
          <p:nvPr/>
        </p:nvCxnSpPr>
        <p:spPr>
          <a:xfrm>
            <a:off x="4374602" y="4704053"/>
            <a:ext cx="485430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71000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4910949" y="4410537"/>
            <a:ext cx="180305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11449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3830829" y="5406608"/>
            <a:ext cx="1188417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200203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982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227687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</a:t>
            </a:r>
            <a:r>
              <a:rPr lang="pt-BR" dirty="0" smtClean="0"/>
              <a:t>2009] </a:t>
            </a:r>
            <a:r>
              <a:rPr lang="en-US" dirty="0" smtClean="0"/>
              <a:t>Introduction </a:t>
            </a:r>
            <a:r>
              <a:rPr lang="en-US" dirty="0"/>
              <a:t>to Algorithms, 3rd edition.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</a:t>
            </a:r>
            <a:r>
              <a:rPr lang="pt-BR" dirty="0" smtClean="0"/>
              <a:t>Clifford </a:t>
            </a:r>
            <a:r>
              <a:rPr lang="pt-BR" dirty="0"/>
              <a:t>Stein.</a:t>
            </a:r>
          </a:p>
          <a:p>
            <a:r>
              <a:rPr lang="pt-BR" dirty="0"/>
              <a:t>2009, 1312 </a:t>
            </a:r>
            <a:r>
              <a:rPr lang="pt-BR" dirty="0" smtClean="0"/>
              <a:t>pp. MIT </a:t>
            </a:r>
            <a:r>
              <a:rPr lang="pt-BR" dirty="0"/>
              <a:t>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3568" y="3356992"/>
            <a:ext cx="705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</a:t>
            </a:r>
            <a:r>
              <a:rPr lang="pt-BR" dirty="0" smtClean="0"/>
              <a:t>2006] Projeto </a:t>
            </a:r>
            <a:r>
              <a:rPr lang="pt-BR" dirty="0"/>
              <a:t>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 smtClean="0"/>
              <a:t>. 2006</a:t>
            </a:r>
            <a:r>
              <a:rPr lang="pt-BR" dirty="0"/>
              <a:t>, 642 pp</a:t>
            </a:r>
            <a:r>
              <a:rPr lang="pt-BR" dirty="0" smtClean="0"/>
              <a:t>. Editora </a:t>
            </a:r>
            <a:r>
              <a:rPr lang="pt-BR" dirty="0"/>
              <a:t>Thomson, ISBN 8522105251.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55576" y="1402121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Robin J. </a:t>
            </a:r>
            <a:r>
              <a:rPr lang="pt-BR" dirty="0"/>
              <a:t>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 smtClean="0"/>
              <a:t>theory</a:t>
            </a:r>
            <a:r>
              <a:rPr lang="pt-BR" dirty="0" smtClean="0"/>
              <a:t>. </a:t>
            </a:r>
          </a:p>
          <a:p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6088</TotalTime>
  <Words>1052</Words>
  <Application>Microsoft Office PowerPoint</Application>
  <PresentationFormat>Apresentação na tela (4:3)</PresentationFormat>
  <Paragraphs>144</Paragraphs>
  <Slides>33</Slides>
  <Notes>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4" baseType="lpstr">
      <vt:lpstr>Tema do Office</vt:lpstr>
      <vt:lpstr>Unidade VI  Planaridade e Dualidade</vt:lpstr>
      <vt:lpstr>Planaridade</vt:lpstr>
      <vt:lpstr>Planaridade</vt:lpstr>
      <vt:lpstr>Planaridade</vt:lpstr>
      <vt:lpstr>Planaridade</vt:lpstr>
      <vt:lpstr>Planaridade</vt:lpstr>
      <vt:lpstr>Planaridade</vt:lpstr>
      <vt:lpstr>Homeomorfismo</vt:lpstr>
      <vt:lpstr>Planaridade</vt:lpstr>
      <vt:lpstr>Contração de arestas</vt:lpstr>
      <vt:lpstr>Planaridade</vt:lpstr>
      <vt:lpstr>Número de cruzamento</vt:lpstr>
      <vt:lpstr>Número de cruzamento</vt:lpstr>
      <vt:lpstr>Número de cruzamento</vt:lpstr>
      <vt:lpstr>Fórmula de Euler</vt:lpstr>
      <vt:lpstr>Fórmula de Euler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Exercícios</vt:lpstr>
      <vt:lpstr>Exercícios</vt:lpstr>
      <vt:lpstr>Exercícios</vt:lpstr>
      <vt:lpstr>Exercícios</vt:lpstr>
      <vt:lpstr>Exercícios</vt:lpstr>
      <vt:lpstr>Bibliografia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</cp:lastModifiedBy>
  <cp:revision>395</cp:revision>
  <dcterms:created xsi:type="dcterms:W3CDTF">2011-08-03T02:09:11Z</dcterms:created>
  <dcterms:modified xsi:type="dcterms:W3CDTF">2014-04-29T12:57:31Z</dcterms:modified>
</cp:coreProperties>
</file>