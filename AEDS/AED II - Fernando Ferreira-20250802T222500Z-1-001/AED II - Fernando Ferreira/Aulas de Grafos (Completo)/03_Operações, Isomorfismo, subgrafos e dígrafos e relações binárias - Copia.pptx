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85" r:id="rId4"/>
    <p:sldId id="286" r:id="rId5"/>
    <p:sldId id="287" r:id="rId6"/>
    <p:sldId id="283" r:id="rId7"/>
    <p:sldId id="326" r:id="rId8"/>
    <p:sldId id="328" r:id="rId9"/>
    <p:sldId id="327" r:id="rId10"/>
    <p:sldId id="329" r:id="rId11"/>
    <p:sldId id="330" r:id="rId12"/>
    <p:sldId id="288" r:id="rId13"/>
    <p:sldId id="289" r:id="rId14"/>
    <p:sldId id="290" r:id="rId15"/>
    <p:sldId id="291" r:id="rId16"/>
    <p:sldId id="292" r:id="rId17"/>
    <p:sldId id="296" r:id="rId18"/>
    <p:sldId id="295" r:id="rId19"/>
    <p:sldId id="298" r:id="rId20"/>
    <p:sldId id="308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9" r:id="rId29"/>
    <p:sldId id="331" r:id="rId30"/>
    <p:sldId id="324" r:id="rId31"/>
    <p:sldId id="325" r:id="rId32"/>
    <p:sldId id="321" r:id="rId33"/>
    <p:sldId id="320" r:id="rId34"/>
    <p:sldId id="264" r:id="rId3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-14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22/02/2014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Unidade I 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Operações, </a:t>
            </a:r>
            <a:r>
              <a:rPr lang="pt-BR" dirty="0"/>
              <a:t>Isomorfismo, </a:t>
            </a:r>
            <a:r>
              <a:rPr lang="pt-BR" dirty="0" err="1"/>
              <a:t>subgrafos</a:t>
            </a:r>
            <a:r>
              <a:rPr lang="pt-BR" dirty="0"/>
              <a:t> e dígrafos e relações binárias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Prof. Henrique Batista da Silva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1979712" y="6237312"/>
            <a:ext cx="5159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Adaptado do material </a:t>
            </a: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prof.ª </a:t>
            </a:r>
            <a:r>
              <a:rPr lang="pt-BR" dirty="0">
                <a:solidFill>
                  <a:schemeClr val="bg1">
                    <a:lumMod val="50000"/>
                  </a:schemeClr>
                </a:solidFill>
              </a:rPr>
              <a:t>Anna Tostes (PUC Minas</a:t>
            </a:r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União</a:t>
                </a:r>
              </a:p>
              <a:p>
                <a:pPr lvl="1"/>
                <a:r>
                  <a:rPr lang="pt-BR" sz="2400" dirty="0" smtClean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é formado pelo 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e o conjunto de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.</a:t>
                </a:r>
              </a:p>
              <a:p>
                <a:endParaRPr lang="pt-BR" sz="2800" dirty="0" smtClean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199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União</a:t>
                </a:r>
              </a:p>
              <a:p>
                <a:pPr lvl="1"/>
                <a:r>
                  <a:rPr lang="pt-BR" sz="2400" dirty="0" smtClean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é formado pelo 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e o conjunto de arestas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 smtClean="0">
                        <a:latin typeface="Cambria Math"/>
                        <a:ea typeface="Cambria Math"/>
                      </a:rPr>
                      <m:t>∪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.</a:t>
                </a:r>
              </a:p>
              <a:p>
                <a:endParaRPr lang="pt-BR" sz="2800" dirty="0" smtClean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75" y="3904291"/>
            <a:ext cx="770572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523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Soma</a:t>
                </a:r>
              </a:p>
              <a:p>
                <a:pPr lvl="1"/>
                <a:r>
                  <a:rPr lang="pt-BR" sz="2400" dirty="0" smtClean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é formado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e de arestas liando cada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.</a:t>
                </a:r>
              </a:p>
              <a:p>
                <a:endParaRPr lang="pt-BR" sz="2800" dirty="0" smtClean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57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Soma</a:t>
                </a:r>
              </a:p>
              <a:p>
                <a:pPr lvl="1"/>
                <a:r>
                  <a:rPr lang="pt-BR" sz="2400" dirty="0" smtClean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dois grafos. O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</a:rPr>
                          <m:t>𝐺</m:t>
                        </m:r>
                        <m:r>
                          <a:rPr lang="pt-BR" sz="2400" b="0" i="1" smtClean="0">
                            <a:latin typeface="Cambria Math"/>
                          </a:rPr>
                          <m:t>=</m:t>
                        </m:r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/>
                      </a:rPr>
                      <m:t>+</m:t>
                    </m:r>
                    <m:r>
                      <a:rPr lang="pt-BR" sz="2400" b="0" i="1" smtClean="0">
                        <a:latin typeface="Cambria Math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pt-BR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 é formado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400" i="1">
                        <a:latin typeface="Cambria Math"/>
                        <a:ea typeface="Cambria Math"/>
                      </a:rPr>
                      <m:t>∪ </m:t>
                    </m:r>
                    <m:sSub>
                      <m:sSubPr>
                        <m:ctrlPr>
                          <a:rPr lang="pt-BR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</a:t>
                </a:r>
                <a:r>
                  <a:rPr lang="pt-BR" sz="2400" dirty="0" smtClean="0"/>
                  <a:t>e de arestas ligando cada vértice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 smtClean="0"/>
                  <a:t>.</a:t>
                </a:r>
              </a:p>
              <a:p>
                <a:endParaRPr lang="pt-BR" sz="2800" dirty="0" smtClean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2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98" y="3933056"/>
            <a:ext cx="7791450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023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Propriedades</a:t>
                </a:r>
              </a:p>
              <a:p>
                <a:pPr lvl="1"/>
                <a:r>
                  <a:rPr lang="pt-BR" sz="2400" dirty="0" smtClean="0"/>
                  <a:t>Podem ser aplicadas a qualquer número finito de grafos.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associativas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).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comutativas (a </a:t>
                </a:r>
                <a:r>
                  <a:rPr lang="pt-BR" sz="2400" dirty="0"/>
                  <a:t>ordem dos operandos não </a:t>
                </a:r>
                <a:r>
                  <a:rPr lang="pt-BR" sz="2400" dirty="0" smtClean="0"/>
                  <a:t>altera </a:t>
                </a:r>
                <a:r>
                  <a:rPr lang="pt-BR" sz="2400" dirty="0"/>
                  <a:t>o </a:t>
                </a:r>
                <a:r>
                  <a:rPr lang="pt-BR" sz="2400" dirty="0" smtClean="0"/>
                  <a:t>resultado).</a:t>
                </a:r>
              </a:p>
              <a:p>
                <a:pPr lvl="1"/>
                <a:endParaRPr lang="pt-BR" sz="2400" dirty="0" smtClean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751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Propriedades</a:t>
                </a:r>
              </a:p>
              <a:p>
                <a:pPr lvl="1"/>
                <a:r>
                  <a:rPr lang="pt-BR" sz="2400" dirty="0" smtClean="0"/>
                  <a:t>Podem ser aplicadas a qualquer número finito de grafos.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associativas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).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comutativas (a </a:t>
                </a:r>
                <a:r>
                  <a:rPr lang="pt-BR" sz="2400" dirty="0"/>
                  <a:t>ordem dos operandos não </a:t>
                </a:r>
                <a:r>
                  <a:rPr lang="pt-BR" sz="2400" dirty="0" smtClean="0"/>
                  <a:t>altera </a:t>
                </a:r>
                <a:r>
                  <a:rPr lang="pt-BR" sz="2400" dirty="0"/>
                  <a:t>o </a:t>
                </a:r>
                <a:r>
                  <a:rPr lang="pt-BR" sz="2400" dirty="0" smtClean="0"/>
                  <a:t>resultado).</a:t>
                </a:r>
              </a:p>
              <a:p>
                <a:pPr lvl="1"/>
                <a:endParaRPr lang="pt-BR" sz="2400" dirty="0" smtClean="0"/>
              </a:p>
              <a:p>
                <a:r>
                  <a:rPr lang="pt-BR" sz="2800" dirty="0" smtClean="0"/>
                  <a:t>Grafos Direcionados</a:t>
                </a:r>
                <a:endParaRPr lang="pt-BR" sz="2800" dirty="0"/>
              </a:p>
              <a:p>
                <a:pPr lvl="1"/>
                <a:r>
                  <a:rPr lang="pt-BR" sz="2400" dirty="0" smtClean="0"/>
                  <a:t>As propriedades de associação </a:t>
                </a:r>
                <a:r>
                  <a:rPr lang="pt-BR" sz="2400" dirty="0"/>
                  <a:t>e comutação são mantidas</a:t>
                </a:r>
                <a:r>
                  <a:rPr lang="pt-BR" sz="2400" dirty="0" smtClean="0"/>
                  <a:t>?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61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Propriedades</a:t>
                </a:r>
              </a:p>
              <a:p>
                <a:pPr lvl="1"/>
                <a:r>
                  <a:rPr lang="pt-BR" sz="2400" dirty="0" smtClean="0"/>
                  <a:t>Podem ser aplicadas a qualquer número finito de grafos.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associativas (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4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).</a:t>
                </a:r>
                <a:endParaRPr lang="pt-BR" sz="2400" dirty="0"/>
              </a:p>
              <a:p>
                <a:pPr lvl="1"/>
                <a:r>
                  <a:rPr lang="pt-BR" sz="2400" dirty="0"/>
                  <a:t>São operações </a:t>
                </a:r>
                <a:r>
                  <a:rPr lang="pt-BR" sz="2400" dirty="0" smtClean="0"/>
                  <a:t>comutativas (a </a:t>
                </a:r>
                <a:r>
                  <a:rPr lang="pt-BR" sz="2400" dirty="0"/>
                  <a:t>ordem dos operandos não </a:t>
                </a:r>
                <a:r>
                  <a:rPr lang="pt-BR" sz="2400" dirty="0" smtClean="0"/>
                  <a:t>altera </a:t>
                </a:r>
                <a:r>
                  <a:rPr lang="pt-BR" sz="2400" dirty="0"/>
                  <a:t>o </a:t>
                </a:r>
                <a:r>
                  <a:rPr lang="pt-BR" sz="2400" dirty="0" smtClean="0"/>
                  <a:t>resultado).</a:t>
                </a:r>
              </a:p>
              <a:p>
                <a:pPr lvl="1"/>
                <a:endParaRPr lang="pt-BR" sz="2400" dirty="0" smtClean="0"/>
              </a:p>
              <a:p>
                <a:r>
                  <a:rPr lang="pt-BR" sz="2800" dirty="0" smtClean="0"/>
                  <a:t>Grafos Direcionados</a:t>
                </a:r>
                <a:endParaRPr lang="pt-BR" sz="2800" dirty="0"/>
              </a:p>
              <a:p>
                <a:pPr lvl="1"/>
                <a:r>
                  <a:rPr lang="pt-BR" sz="2400" dirty="0" smtClean="0"/>
                  <a:t>As propriedades de associação </a:t>
                </a:r>
                <a:r>
                  <a:rPr lang="pt-BR" sz="2400" dirty="0"/>
                  <a:t>e comutação são mantidas</a:t>
                </a:r>
                <a:r>
                  <a:rPr lang="pt-BR" sz="2400" dirty="0" smtClean="0"/>
                  <a:t>?</a:t>
                </a:r>
              </a:p>
              <a:p>
                <a:pPr lvl="2"/>
                <a:r>
                  <a:rPr lang="pt-BR" sz="2000" dirty="0" smtClean="0"/>
                  <a:t>União: sim</a:t>
                </a:r>
              </a:p>
              <a:p>
                <a:pPr lvl="2"/>
                <a:r>
                  <a:rPr lang="pt-BR" sz="2000" dirty="0" smtClean="0"/>
                  <a:t>Soma: associativa, mas não comutativa.</a:t>
                </a:r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959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sobre grafos</a:t>
            </a:r>
          </a:p>
        </p:txBody>
      </p:sp>
      <p:sp>
        <p:nvSpPr>
          <p:cNvPr id="4" name="Elipse 3"/>
          <p:cNvSpPr/>
          <p:nvPr/>
        </p:nvSpPr>
        <p:spPr>
          <a:xfrm>
            <a:off x="1043608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1043607" y="350100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6" name="Conector reto 5"/>
          <p:cNvCxnSpPr>
            <a:stCxn id="4" idx="4"/>
            <a:endCxn id="5" idx="0"/>
          </p:cNvCxnSpPr>
          <p:nvPr/>
        </p:nvCxnSpPr>
        <p:spPr>
          <a:xfrm flipH="1">
            <a:off x="1315298" y="2471192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lipse 6"/>
          <p:cNvSpPr/>
          <p:nvPr/>
        </p:nvSpPr>
        <p:spPr>
          <a:xfrm>
            <a:off x="2843808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2843807" y="350100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7" idx="4"/>
            <a:endCxn id="8" idx="0"/>
          </p:cNvCxnSpPr>
          <p:nvPr/>
        </p:nvCxnSpPr>
        <p:spPr>
          <a:xfrm flipH="1">
            <a:off x="3115498" y="2471192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2051720" y="2693712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+</a:t>
            </a:r>
            <a:endParaRPr lang="pt-BR" sz="32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775154" y="2693711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=</a:t>
            </a:r>
            <a:endParaRPr lang="pt-BR" sz="3200" dirty="0"/>
          </a:p>
        </p:txBody>
      </p:sp>
      <p:sp>
        <p:nvSpPr>
          <p:cNvPr id="12" name="Elipse 11"/>
          <p:cNvSpPr/>
          <p:nvPr/>
        </p:nvSpPr>
        <p:spPr>
          <a:xfrm>
            <a:off x="4572001" y="206084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4572000" y="350100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4" name="Conector reto 13"/>
          <p:cNvCxnSpPr>
            <a:stCxn id="12" idx="4"/>
            <a:endCxn id="13" idx="0"/>
          </p:cNvCxnSpPr>
          <p:nvPr/>
        </p:nvCxnSpPr>
        <p:spPr>
          <a:xfrm flipH="1">
            <a:off x="4843691" y="2471192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6300193" y="205591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6300192" y="349607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7" name="Conector reto 16"/>
          <p:cNvCxnSpPr>
            <a:stCxn id="15" idx="4"/>
            <a:endCxn id="16" idx="0"/>
          </p:cNvCxnSpPr>
          <p:nvPr/>
        </p:nvCxnSpPr>
        <p:spPr>
          <a:xfrm flipH="1">
            <a:off x="6571883" y="2466256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3" idx="6"/>
            <a:endCxn id="16" idx="2"/>
          </p:cNvCxnSpPr>
          <p:nvPr/>
        </p:nvCxnSpPr>
        <p:spPr>
          <a:xfrm flipV="1">
            <a:off x="5115381" y="3701244"/>
            <a:ext cx="1184811" cy="4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13" idx="7"/>
            <a:endCxn id="15" idx="3"/>
          </p:cNvCxnSpPr>
          <p:nvPr/>
        </p:nvCxnSpPr>
        <p:spPr>
          <a:xfrm flipV="1">
            <a:off x="5035805" y="2406163"/>
            <a:ext cx="1343964" cy="1154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2" idx="6"/>
            <a:endCxn id="15" idx="2"/>
          </p:cNvCxnSpPr>
          <p:nvPr/>
        </p:nvCxnSpPr>
        <p:spPr>
          <a:xfrm flipV="1">
            <a:off x="5115382" y="2261084"/>
            <a:ext cx="1184811" cy="4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2" idx="5"/>
            <a:endCxn id="16" idx="1"/>
          </p:cNvCxnSpPr>
          <p:nvPr/>
        </p:nvCxnSpPr>
        <p:spPr>
          <a:xfrm>
            <a:off x="5035806" y="2411099"/>
            <a:ext cx="1343962" cy="1145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1067563" y="454962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Elipse 28"/>
          <p:cNvSpPr/>
          <p:nvPr/>
        </p:nvSpPr>
        <p:spPr>
          <a:xfrm>
            <a:off x="1067562" y="598978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0" name="Conector reto 29"/>
          <p:cNvCxnSpPr>
            <a:stCxn id="28" idx="4"/>
            <a:endCxn id="29" idx="0"/>
          </p:cNvCxnSpPr>
          <p:nvPr/>
        </p:nvCxnSpPr>
        <p:spPr>
          <a:xfrm flipH="1">
            <a:off x="1339253" y="4959970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2867763" y="454962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" name="Elipse 31"/>
          <p:cNvSpPr/>
          <p:nvPr/>
        </p:nvSpPr>
        <p:spPr>
          <a:xfrm>
            <a:off x="2867762" y="598978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3" name="Conector reto 32"/>
          <p:cNvCxnSpPr>
            <a:stCxn id="31" idx="4"/>
            <a:endCxn id="32" idx="0"/>
          </p:cNvCxnSpPr>
          <p:nvPr/>
        </p:nvCxnSpPr>
        <p:spPr>
          <a:xfrm flipH="1">
            <a:off x="3139453" y="4959970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/>
          <p:cNvSpPr txBox="1"/>
          <p:nvPr/>
        </p:nvSpPr>
        <p:spPr>
          <a:xfrm>
            <a:off x="2075675" y="518249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+</a:t>
            </a:r>
            <a:endParaRPr lang="pt-BR" sz="3200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3799109" y="518248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=</a:t>
            </a:r>
            <a:endParaRPr lang="pt-BR" sz="3200" dirty="0"/>
          </a:p>
        </p:txBody>
      </p:sp>
      <p:sp>
        <p:nvSpPr>
          <p:cNvPr id="36" name="Elipse 35"/>
          <p:cNvSpPr/>
          <p:nvPr/>
        </p:nvSpPr>
        <p:spPr>
          <a:xfrm>
            <a:off x="4595956" y="454962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Elipse 36"/>
          <p:cNvSpPr/>
          <p:nvPr/>
        </p:nvSpPr>
        <p:spPr>
          <a:xfrm>
            <a:off x="4595955" y="598978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8" name="Conector reto 37"/>
          <p:cNvCxnSpPr>
            <a:stCxn id="36" idx="4"/>
            <a:endCxn id="37" idx="0"/>
          </p:cNvCxnSpPr>
          <p:nvPr/>
        </p:nvCxnSpPr>
        <p:spPr>
          <a:xfrm flipH="1">
            <a:off x="4867646" y="4959970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6324148" y="454469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2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0" name="Elipse 39"/>
          <p:cNvSpPr/>
          <p:nvPr/>
        </p:nvSpPr>
        <p:spPr>
          <a:xfrm>
            <a:off x="6324147" y="598485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41" name="Conector reto 40"/>
          <p:cNvCxnSpPr>
            <a:stCxn id="39" idx="4"/>
            <a:endCxn id="40" idx="0"/>
          </p:cNvCxnSpPr>
          <p:nvPr/>
        </p:nvCxnSpPr>
        <p:spPr>
          <a:xfrm flipH="1">
            <a:off x="6595838" y="495503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/>
          <p:cNvCxnSpPr>
            <a:stCxn id="37" idx="6"/>
            <a:endCxn id="40" idx="2"/>
          </p:cNvCxnSpPr>
          <p:nvPr/>
        </p:nvCxnSpPr>
        <p:spPr>
          <a:xfrm flipV="1">
            <a:off x="5139336" y="6190022"/>
            <a:ext cx="1184811" cy="493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/>
          <p:cNvCxnSpPr>
            <a:stCxn id="37" idx="7"/>
            <a:endCxn id="39" idx="3"/>
          </p:cNvCxnSpPr>
          <p:nvPr/>
        </p:nvCxnSpPr>
        <p:spPr>
          <a:xfrm flipV="1">
            <a:off x="5059760" y="4894941"/>
            <a:ext cx="1343964" cy="1154938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>
            <a:stCxn id="36" idx="6"/>
            <a:endCxn id="39" idx="2"/>
          </p:cNvCxnSpPr>
          <p:nvPr/>
        </p:nvCxnSpPr>
        <p:spPr>
          <a:xfrm flipV="1">
            <a:off x="5139337" y="4749862"/>
            <a:ext cx="1184811" cy="493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6" idx="5"/>
            <a:endCxn id="40" idx="1"/>
          </p:cNvCxnSpPr>
          <p:nvPr/>
        </p:nvCxnSpPr>
        <p:spPr>
          <a:xfrm>
            <a:off x="5059761" y="4899877"/>
            <a:ext cx="1343962" cy="1145066"/>
          </a:xfrm>
          <a:prstGeom prst="straightConnector1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287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Operações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dirty="0" smtClean="0"/>
                  <a:t>Remoção de aresta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é uma aresta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,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o </a:t>
                </a:r>
                <a:r>
                  <a:rPr lang="pt-BR" dirty="0"/>
                  <a:t>grafo obtido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 smtClean="0"/>
                  <a:t> </a:t>
                </a:r>
                <a:r>
                  <a:rPr lang="pt-BR" dirty="0"/>
                  <a:t>pela remoção da aresta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dirty="0"/>
                  <a:t>. 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é um conjunto de arestas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 smtClean="0"/>
                  <a:t>,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/>
                  <a:t> </a:t>
                </a:r>
                <a:r>
                  <a:rPr lang="pt-BR" dirty="0" smtClean="0"/>
                  <a:t>ao </a:t>
                </a:r>
                <a:r>
                  <a:rPr lang="pt-BR" dirty="0"/>
                  <a:t>grafo obtido pela remoção das arestas 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dirty="0" smtClean="0"/>
                  <a:t>.</a:t>
                </a:r>
              </a:p>
              <a:p>
                <a:r>
                  <a:rPr lang="pt-BR" dirty="0"/>
                  <a:t>Remoção de </a:t>
                </a:r>
                <a:r>
                  <a:rPr lang="pt-BR" dirty="0" smtClean="0"/>
                  <a:t>vértice</a:t>
                </a:r>
              </a:p>
              <a:p>
                <a:pPr lvl="1"/>
                <a:r>
                  <a:rPr lang="pt-BR" dirty="0"/>
                  <a:t>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é um vértice de um grafo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 denota-se por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 smtClean="0"/>
                  <a:t> </a:t>
                </a:r>
                <a:r>
                  <a:rPr lang="pt-BR" dirty="0"/>
                  <a:t>o grafo obtido </a:t>
                </a:r>
                <a:r>
                  <a:rPr lang="pt-BR" dirty="0" smtClean="0"/>
                  <a:t>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 smtClean="0"/>
                  <a:t> </a:t>
                </a:r>
                <a:r>
                  <a:rPr lang="pt-BR" dirty="0"/>
                  <a:t>pela remoção do vértice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 conjuntamente com as arestas incidentes </a:t>
                </a:r>
                <a:r>
                  <a:rPr lang="pt-BR" dirty="0" smtClean="0"/>
                  <a:t>a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dirty="0"/>
                  <a:t>. Denota-se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 smtClean="0"/>
                  <a:t> </a:t>
                </a:r>
                <a:r>
                  <a:rPr lang="pt-BR" dirty="0"/>
                  <a:t>ao grafo obtido pela remoção dos vértices em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 smtClean="0"/>
                  <a:t>, sendo </a:t>
                </a:r>
                <a14:m>
                  <m:oMath xmlns:m="http://schemas.openxmlformats.org/officeDocument/2006/math">
                    <m:r>
                      <a:rPr lang="pt-BR" b="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dirty="0"/>
                  <a:t> um conjunto qualquer de vértices de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481" t="-3504" r="-7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408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Contração de aresta/vértice</a:t>
                </a:r>
              </a:p>
              <a:p>
                <a:pPr lvl="1"/>
                <a:r>
                  <a:rPr lang="pt-BR" sz="2400" dirty="0"/>
                  <a:t>Denota-se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 o grafo obtido pela contração da aresta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. </a:t>
                </a:r>
                <a:r>
                  <a:rPr lang="pt-BR" sz="2400" dirty="0" smtClean="0"/>
                  <a:t>Remova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400" dirty="0"/>
                  <a:t>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400" dirty="0"/>
                  <a:t> e una suas extremidades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400" dirty="0"/>
                  <a:t> de tal forma que o </a:t>
                </a:r>
                <a:r>
                  <a:rPr lang="pt-BR" sz="2400" dirty="0" smtClean="0"/>
                  <a:t>vértice resultante </a:t>
                </a:r>
                <a:r>
                  <a:rPr lang="pt-BR" sz="2400" dirty="0"/>
                  <a:t>seja incidente às arestas originalmente incidentes 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4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 r="-12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18074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6" name="Elipse 15"/>
          <p:cNvSpPr/>
          <p:nvPr/>
        </p:nvSpPr>
        <p:spPr>
          <a:xfrm>
            <a:off x="5180746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081816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6935764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1" name="Conector reto 20"/>
          <p:cNvCxnSpPr>
            <a:stCxn id="15" idx="5"/>
            <a:endCxn id="18" idx="1"/>
          </p:cNvCxnSpPr>
          <p:nvPr/>
        </p:nvCxnSpPr>
        <p:spPr>
          <a:xfrm>
            <a:off x="5644552" y="4688682"/>
            <a:ext cx="516840" cy="50193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7"/>
            <a:endCxn id="18" idx="3"/>
          </p:cNvCxnSpPr>
          <p:nvPr/>
        </p:nvCxnSpPr>
        <p:spPr>
          <a:xfrm flipV="1">
            <a:off x="5644551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6" idx="6"/>
            <a:endCxn id="19" idx="2"/>
          </p:cNvCxnSpPr>
          <p:nvPr/>
        </p:nvCxnSpPr>
        <p:spPr>
          <a:xfrm>
            <a:off x="5724127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5" idx="4"/>
            <a:endCxn id="16" idx="0"/>
          </p:cNvCxnSpPr>
          <p:nvPr/>
        </p:nvCxnSpPr>
        <p:spPr>
          <a:xfrm flipH="1">
            <a:off x="5452437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ipse 28"/>
          <p:cNvSpPr/>
          <p:nvPr/>
        </p:nvSpPr>
        <p:spPr>
          <a:xfrm>
            <a:off x="693681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pt-BR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Conector reto 29"/>
          <p:cNvCxnSpPr>
            <a:endCxn id="29" idx="2"/>
          </p:cNvCxnSpPr>
          <p:nvPr/>
        </p:nvCxnSpPr>
        <p:spPr>
          <a:xfrm>
            <a:off x="5736030" y="4543603"/>
            <a:ext cx="120078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H="1">
            <a:off x="5868144" y="3789040"/>
            <a:ext cx="1152128" cy="432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/>
          <p:cNvSpPr txBox="1"/>
          <p:nvPr/>
        </p:nvSpPr>
        <p:spPr>
          <a:xfrm>
            <a:off x="7164288" y="3501008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Vértice resultante da união de 0 e 1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76140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Dois </a:t>
                </a:r>
                <a:r>
                  <a:rPr lang="en-US" sz="2000" dirty="0" err="1"/>
                  <a:t>grafos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isomórficos</a:t>
                </a:r>
                <a:r>
                  <a:rPr lang="en-US" sz="2000" dirty="0"/>
                  <a:t>, se </a:t>
                </a:r>
                <a:r>
                  <a:rPr lang="en-US" sz="2000" dirty="0" err="1"/>
                  <a:t>existe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uma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correspodência</a:t>
                </a:r>
                <a:r>
                  <a:rPr lang="en-US" sz="2000" dirty="0"/>
                  <a:t> um </a:t>
                </a:r>
                <a:r>
                  <a:rPr lang="en-US" sz="2000" dirty="0" err="1"/>
                  <a:t>para</a:t>
                </a:r>
                <a:r>
                  <a:rPr lang="en-US" sz="2000" dirty="0"/>
                  <a:t> um entre </a:t>
                </a:r>
                <a:r>
                  <a:rPr lang="en-US" sz="2000" dirty="0" err="1"/>
                  <a:t>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dos </a:t>
                </a:r>
                <a:r>
                  <a:rPr lang="en-US" sz="2000" dirty="0" err="1"/>
                  <a:t>grafos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talque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dois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pt-BR" sz="2000" dirty="0"/>
                  <a:t>adjacentes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se, e </a:t>
                </a:r>
                <a:r>
                  <a:rPr lang="en-US" sz="2000" dirty="0" err="1"/>
                  <a:t>somente</a:t>
                </a:r>
                <a:r>
                  <a:rPr lang="en-US" sz="2000" dirty="0"/>
                  <a:t> se, </a:t>
                </a:r>
                <a:r>
                  <a:rPr lang="en-US" sz="2000" dirty="0" err="1"/>
                  <a:t>seus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conrrespondentes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vértices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em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0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são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também</a:t>
                </a:r>
                <a:r>
                  <a:rPr lang="en-US" sz="2000" dirty="0"/>
                  <a:t> </a:t>
                </a:r>
                <a:r>
                  <a:rPr lang="en-US" sz="2000" dirty="0" err="1" smtClean="0"/>
                  <a:t>adjacentes</a:t>
                </a:r>
                <a:r>
                  <a:rPr lang="en-US" sz="2000" dirty="0" smtClean="0"/>
                  <a:t> (</a:t>
                </a:r>
                <a:r>
                  <a:rPr lang="pt-BR" sz="2000" dirty="0" smtClean="0"/>
                  <a:t>as </a:t>
                </a:r>
                <a:r>
                  <a:rPr lang="pt-BR" sz="2000" dirty="0"/>
                  <a:t>relações de incidência são </a:t>
                </a:r>
                <a:r>
                  <a:rPr lang="pt-BR" sz="2000" dirty="0" smtClean="0"/>
                  <a:t>preservadas).</a:t>
                </a:r>
                <a:endParaRPr lang="pt-BR" sz="2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8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3068960"/>
            <a:ext cx="7128792" cy="36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50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447" y="1988840"/>
            <a:ext cx="6149105" cy="3024336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899592" y="4869160"/>
            <a:ext cx="73254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representam o mesmo grafo G</a:t>
            </a:r>
            <a:r>
              <a:rPr lang="pt-BR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 smtClean="0"/>
              <a:t>Conjuntos </a:t>
            </a:r>
            <a:r>
              <a:rPr lang="pt-BR" sz="2000" dirty="0"/>
              <a:t>de vértices e arestas são idênticos.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Funções aresta-vértice são as mesmas.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O termo isomorfos vem do grego, o que significa a mesma forma.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899592" y="1472464"/>
            <a:ext cx="2316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/>
              <a:t>Os desenhos abaixo: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719383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800"/>
            <a:ext cx="5248275" cy="50292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156177" y="1916832"/>
            <a:ext cx="2808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Estes grafos </a:t>
            </a:r>
            <a:r>
              <a:rPr lang="pt-BR" sz="2000" dirty="0" smtClean="0"/>
              <a:t>são diferentes </a:t>
            </a:r>
            <a:r>
              <a:rPr lang="pt-BR" sz="2000" dirty="0"/>
              <a:t>apesar </a:t>
            </a:r>
            <a:r>
              <a:rPr lang="pt-BR" sz="2000" dirty="0" smtClean="0"/>
              <a:t>de possuírem </a:t>
            </a:r>
            <a:r>
              <a:rPr lang="pt-BR" sz="2000" dirty="0"/>
              <a:t>os </a:t>
            </a:r>
            <a:r>
              <a:rPr lang="pt-BR" sz="2000" dirty="0" smtClean="0"/>
              <a:t>mesmos conjuntos </a:t>
            </a:r>
            <a:r>
              <a:rPr lang="pt-BR" sz="2000" dirty="0"/>
              <a:t>de </a:t>
            </a:r>
            <a:r>
              <a:rPr lang="pt-BR" sz="2000" dirty="0" smtClean="0"/>
              <a:t>vértices e </a:t>
            </a:r>
            <a:r>
              <a:rPr lang="pt-BR" sz="2000" dirty="0"/>
              <a:t>arestas</a:t>
            </a:r>
            <a:r>
              <a:rPr lang="pt-BR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/>
              <a:t>As </a:t>
            </a:r>
            <a:r>
              <a:rPr lang="pt-BR" sz="2000" dirty="0" smtClean="0"/>
              <a:t>funções aresta-vértice não são as </a:t>
            </a:r>
            <a:r>
              <a:rPr lang="pt-BR" sz="2000" dirty="0"/>
              <a:t>mesmas.</a:t>
            </a:r>
          </a:p>
        </p:txBody>
      </p:sp>
    </p:spTree>
    <p:extLst>
      <p:ext uri="{BB962C8B-B14F-4D97-AF65-F5344CB8AC3E}">
        <p14:creationId xmlns:p14="http://schemas.microsoft.com/office/powerpoint/2010/main" val="1729547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Isomorfismo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Condições necessárias mas não suficientes para que G e H </a:t>
            </a:r>
            <a:r>
              <a:rPr lang="pt-BR" sz="2800" dirty="0" smtClean="0"/>
              <a:t>sejam isomorfos</a:t>
            </a:r>
            <a:r>
              <a:rPr lang="pt-BR" sz="2800" dirty="0"/>
              <a:t>:</a:t>
            </a:r>
          </a:p>
          <a:p>
            <a:pPr lvl="1"/>
            <a:r>
              <a:rPr lang="pt-BR" sz="2400" dirty="0"/>
              <a:t>Mesmo número de vértices</a:t>
            </a:r>
          </a:p>
          <a:p>
            <a:pPr lvl="1"/>
            <a:r>
              <a:rPr lang="pt-BR" sz="2400" dirty="0"/>
              <a:t>Mesmo número de arestas</a:t>
            </a:r>
          </a:p>
          <a:p>
            <a:pPr lvl="1"/>
            <a:r>
              <a:rPr lang="pt-BR" sz="2400" dirty="0"/>
              <a:t>Mesmo número de componentes</a:t>
            </a:r>
          </a:p>
          <a:p>
            <a:pPr lvl="1"/>
            <a:r>
              <a:rPr lang="pt-BR" sz="2400" dirty="0"/>
              <a:t>Mesmo número de vértices com o mesmo </a:t>
            </a:r>
            <a:r>
              <a:rPr lang="pt-BR" sz="2400" dirty="0" smtClean="0"/>
              <a:t>grau</a:t>
            </a:r>
            <a:endParaRPr lang="pt-BR" sz="2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37112"/>
            <a:ext cx="8191500" cy="10287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79808" y="5802997"/>
            <a:ext cx="75843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/>
              <a:t>Não existe um algoritmo eficiente para determinar se dois</a:t>
            </a:r>
          </a:p>
          <a:p>
            <a:pPr algn="ctr"/>
            <a:r>
              <a:rPr lang="pt-BR" sz="2400" b="1" dirty="0"/>
              <a:t>grafos são isomorfos</a:t>
            </a:r>
          </a:p>
        </p:txBody>
      </p:sp>
    </p:spTree>
    <p:extLst>
      <p:ext uri="{BB962C8B-B14F-4D97-AF65-F5344CB8AC3E}">
        <p14:creationId xmlns:p14="http://schemas.microsoft.com/office/powerpoint/2010/main" val="305293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Seja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800" dirty="0" smtClean="0"/>
                  <a:t>um </a:t>
                </a:r>
                <a:r>
                  <a:rPr lang="pt-BR" sz="2800" dirty="0"/>
                  <a:t>grafo simples dirigido ou </a:t>
                </a:r>
                <a:r>
                  <a:rPr lang="pt-BR" sz="2800" dirty="0" smtClean="0"/>
                  <a:t>não dirigido</a:t>
                </a:r>
              </a:p>
              <a:p>
                <a:r>
                  <a:rPr lang="pt-BR" sz="2800" dirty="0"/>
                  <a:t>O complemento de </a:t>
                </a:r>
                <a14:m>
                  <m:oMath xmlns:m="http://schemas.openxmlformats.org/officeDocument/2006/math">
                    <m:r>
                      <a:rPr lang="pt-BR" sz="2800" i="1">
                        <a:latin typeface="Cambria Math"/>
                      </a:rPr>
                      <m:t>𝐺</m:t>
                    </m:r>
                  </m:oMath>
                </a14:m>
                <a:r>
                  <a:rPr lang="pt-BR" sz="2800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8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8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>
                        <a:latin typeface="Cambria Math"/>
                      </a:rPr>
                      <m:t>𝐺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, é um grafo formado da </a:t>
                </a:r>
                <a:r>
                  <a:rPr lang="pt-BR" sz="2800" dirty="0" smtClean="0"/>
                  <a:t>seguinte maneira:</a:t>
                </a:r>
              </a:p>
              <a:p>
                <a:pPr lvl="1"/>
                <a:r>
                  <a:rPr lang="pt-BR" sz="2400" dirty="0"/>
                  <a:t>Os vértices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são todos os vértices de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𝐺</m:t>
                    </m:r>
                  </m:oMath>
                </a14:m>
                <a:endParaRPr lang="pt-BR" sz="2400" dirty="0"/>
              </a:p>
              <a:p>
                <a:pPr lvl="1"/>
                <a:r>
                  <a:rPr lang="pt-BR" sz="2400" dirty="0"/>
                  <a:t>As arestas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>
                        <a:latin typeface="Cambria Math" panose="02040503050406030204" pitchFamily="18" charset="0"/>
                      </a:rPr>
                      <m:t>C</m:t>
                    </m:r>
                    <m:r>
                      <a:rPr lang="pt-BR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>
                        <a:latin typeface="Cambria Math"/>
                      </a:rPr>
                      <m:t>𝐺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são exatamente as arestas que faltam </a:t>
                </a:r>
                <a:r>
                  <a:rPr lang="pt-BR" sz="2400" dirty="0" smtClean="0"/>
                  <a:t>em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𝐺</m:t>
                    </m:r>
                  </m:oMath>
                </a14:m>
                <a:r>
                  <a:rPr lang="pt-BR" sz="2400" dirty="0" smtClean="0"/>
                  <a:t> </a:t>
                </a:r>
                <a:r>
                  <a:rPr lang="pt-BR" sz="2400" dirty="0"/>
                  <a:t>para formarmos um grafo </a:t>
                </a:r>
                <a:r>
                  <a:rPr lang="pt-BR" sz="2400" dirty="0" smtClean="0"/>
                  <a:t>completo.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0504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200" dirty="0" smtClean="0"/>
                  <a:t>Subgrafo</a:t>
                </a:r>
              </a:p>
              <a:p>
                <a:pPr lvl="1"/>
                <a:r>
                  <a:rPr lang="pt-BR" sz="2200" dirty="0" smtClean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smtClean="0"/>
                  <a:t>é dito ser </a:t>
                </a:r>
                <a:r>
                  <a:rPr lang="pt-BR" sz="2200" dirty="0" err="1" smtClean="0"/>
                  <a:t>subgrafo</a:t>
                </a:r>
                <a:r>
                  <a:rPr lang="pt-BR" sz="2200" dirty="0"/>
                  <a:t> </a:t>
                </a:r>
                <a:r>
                  <a:rPr lang="pt-BR" sz="2200" dirty="0" smtClean="0"/>
                  <a:t>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 smtClean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 smtClean="0"/>
                  <a:t>.</a:t>
                </a:r>
              </a:p>
              <a:p>
                <a:r>
                  <a:rPr lang="pt-BR" sz="2200" dirty="0" smtClean="0">
                    <a:solidFill>
                      <a:schemeClr val="bg1"/>
                    </a:solidFill>
                  </a:rPr>
                  <a:t>Sub-grafo</a:t>
                </a:r>
                <a:r>
                  <a:rPr lang="pt-BR" sz="2200" dirty="0">
                    <a:solidFill>
                      <a:schemeClr val="bg1"/>
                    </a:solidFill>
                  </a:rPr>
                  <a:t> </a:t>
                </a:r>
                <a:r>
                  <a:rPr lang="pt-BR" sz="2200" dirty="0" smtClean="0">
                    <a:solidFill>
                      <a:schemeClr val="bg1"/>
                    </a:solidFill>
                  </a:rPr>
                  <a:t>induzido</a:t>
                </a:r>
              </a:p>
              <a:p>
                <a:pPr lvl="1"/>
                <a:r>
                  <a:rPr lang="pt-BR" sz="2200" dirty="0">
                    <a:solidFill>
                      <a:schemeClr val="bg1"/>
                    </a:solidFill>
                  </a:rPr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 é um </a:t>
                </a:r>
                <a:r>
                  <a:rPr lang="pt-BR" sz="2200" dirty="0" err="1">
                    <a:solidFill>
                      <a:schemeClr val="bg1"/>
                    </a:solidFill>
                  </a:rPr>
                  <a:t>subgrafo</a:t>
                </a:r>
                <a:r>
                  <a:rPr lang="pt-BR" sz="2200" dirty="0">
                    <a:solidFill>
                      <a:schemeClr val="bg1"/>
                    </a:solidFill>
                  </a:rPr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 e possui </a:t>
                </a:r>
                <a:r>
                  <a:rPr lang="pt-BR" sz="2200" dirty="0" smtClean="0">
                    <a:solidFill>
                      <a:schemeClr val="bg1"/>
                    </a:solidFill>
                  </a:rPr>
                  <a:t>toda aresta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dirty="0" smtClean="0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 tal que ambos,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 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, estejam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, </a:t>
                </a:r>
                <a:r>
                  <a:rPr lang="pt-BR" sz="2200" dirty="0" smtClean="0">
                    <a:solidFill>
                      <a:schemeClr val="bg1"/>
                    </a:solidFill>
                  </a:rPr>
                  <a:t>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 smtClean="0">
                    <a:solidFill>
                      <a:schemeClr val="bg1"/>
                    </a:solidFill>
                  </a:rPr>
                  <a:t> </a:t>
                </a:r>
                <a:r>
                  <a:rPr lang="pt-BR" sz="2200" dirty="0">
                    <a:solidFill>
                      <a:schemeClr val="bg1"/>
                    </a:solidFill>
                  </a:rPr>
                  <a:t>é o </a:t>
                </a:r>
                <a:r>
                  <a:rPr lang="pt-BR" sz="2200" dirty="0" err="1">
                    <a:solidFill>
                      <a:schemeClr val="bg1"/>
                    </a:solidFill>
                  </a:rPr>
                  <a:t>subgrafo</a:t>
                </a:r>
                <a:r>
                  <a:rPr lang="pt-BR" sz="2200" dirty="0">
                    <a:solidFill>
                      <a:schemeClr val="bg1"/>
                    </a:solidFill>
                  </a:rPr>
                  <a:t> induzido pelo subconjunto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323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200" dirty="0" smtClean="0"/>
                  <a:t>Subgrafo</a:t>
                </a:r>
              </a:p>
              <a:p>
                <a:pPr lvl="1"/>
                <a:r>
                  <a:rPr lang="pt-BR" sz="2200" dirty="0" smtClean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smtClean="0"/>
                  <a:t>é dito ser </a:t>
                </a:r>
                <a:r>
                  <a:rPr lang="pt-BR" sz="2200" dirty="0" err="1" smtClean="0"/>
                  <a:t>subgrafo</a:t>
                </a:r>
                <a:r>
                  <a:rPr lang="pt-BR" sz="2200" dirty="0"/>
                  <a:t> </a:t>
                </a:r>
                <a:r>
                  <a:rPr lang="pt-BR" sz="2200" dirty="0" smtClean="0"/>
                  <a:t>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 smtClean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 smtClean="0"/>
                  <a:t>.</a:t>
                </a:r>
              </a:p>
              <a:p>
                <a:r>
                  <a:rPr lang="pt-BR" sz="2200" dirty="0" err="1"/>
                  <a:t>Sub-grafo</a:t>
                </a:r>
                <a:r>
                  <a:rPr lang="pt-BR" sz="2200" dirty="0"/>
                  <a:t> </a:t>
                </a:r>
                <a:r>
                  <a:rPr lang="pt-BR" sz="2200" dirty="0" smtClean="0"/>
                  <a:t>induzido</a:t>
                </a:r>
              </a:p>
              <a:p>
                <a:pPr lvl="1"/>
                <a:r>
                  <a:rPr lang="pt-BR" sz="22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um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e possui </a:t>
                </a:r>
                <a:r>
                  <a:rPr lang="pt-BR" sz="2200" dirty="0" smtClean="0"/>
                  <a:t>toda aresta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200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tal que ambos,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200" dirty="0"/>
                  <a:t>, estejam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, </a:t>
                </a:r>
                <a:r>
                  <a:rPr lang="pt-BR" sz="2200" dirty="0" smtClean="0"/>
                  <a:t>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 smtClean="0"/>
                  <a:t> </a:t>
                </a:r>
                <a:r>
                  <a:rPr lang="pt-BR" sz="2200" dirty="0"/>
                  <a:t>é o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induzido pelo subconjunto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366515"/>
            <a:ext cx="1752600" cy="17335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4356990"/>
            <a:ext cx="1809750" cy="1743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200" dirty="0" smtClean="0"/>
                  <a:t>subgrafo</a:t>
                </a:r>
                <a:endParaRPr lang="pt-BR" sz="2200" dirty="0"/>
              </a:p>
              <a:p>
                <a:r>
                  <a:rPr lang="pt-BR" sz="2200" dirty="0"/>
                  <a:t>induzido por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blipFill rotWithShape="0">
                <a:blip r:embed="rId5"/>
                <a:stretch>
                  <a:fillRect l="-2935" t="-4724" b="-14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300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200" dirty="0" smtClean="0"/>
                  <a:t>Subgrafo</a:t>
                </a:r>
              </a:p>
              <a:p>
                <a:pPr lvl="1"/>
                <a:r>
                  <a:rPr lang="pt-BR" sz="2200" dirty="0" smtClean="0"/>
                  <a:t>Um grafo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</a:t>
                </a:r>
                <a:r>
                  <a:rPr lang="pt-BR" sz="2200" dirty="0" smtClean="0"/>
                  <a:t>é dito ser </a:t>
                </a:r>
                <a:r>
                  <a:rPr lang="pt-BR" sz="2200" dirty="0" err="1" smtClean="0"/>
                  <a:t>subgrafo</a:t>
                </a:r>
                <a:r>
                  <a:rPr lang="pt-BR" sz="2200" dirty="0"/>
                  <a:t> </a:t>
                </a:r>
                <a:r>
                  <a:rPr lang="pt-BR" sz="2200" dirty="0" smtClean="0"/>
                  <a:t>de um grafo </a:t>
                </a:r>
                <a14:m>
                  <m:oMath xmlns:m="http://schemas.openxmlformats.org/officeDocument/2006/math"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 smtClean="0"/>
                  <a:t> quando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pt-BR" sz="2200" dirty="0" smtClean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  <m:r>
                      <a:rPr lang="pt-BR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pt-BR" sz="2200" dirty="0" smtClean="0"/>
                  <a:t>.</a:t>
                </a:r>
              </a:p>
              <a:p>
                <a:r>
                  <a:rPr lang="pt-BR" sz="2200" dirty="0" err="1"/>
                  <a:t>Sub-grafo</a:t>
                </a:r>
                <a:r>
                  <a:rPr lang="pt-BR" sz="2200" dirty="0"/>
                  <a:t> </a:t>
                </a:r>
                <a:r>
                  <a:rPr lang="pt-BR" sz="2200" dirty="0" smtClean="0"/>
                  <a:t>induzido</a:t>
                </a:r>
              </a:p>
              <a:p>
                <a:pPr lvl="1"/>
                <a:r>
                  <a:rPr lang="pt-BR" sz="2200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é um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sz="22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200" dirty="0"/>
                  <a:t> e possui </a:t>
                </a:r>
                <a:r>
                  <a:rPr lang="pt-BR" sz="2200" dirty="0" smtClean="0"/>
                  <a:t>toda aresta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200" i="1" dirty="0" err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t-BR" sz="22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sz="2200" dirty="0"/>
                  <a:t>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200" dirty="0"/>
                  <a:t> tal que ambos,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pt-BR" sz="2200" dirty="0"/>
                  <a:t> e </a:t>
                </a:r>
                <a14:m>
                  <m:oMath xmlns:m="http://schemas.openxmlformats.org/officeDocument/2006/math">
                    <m:r>
                      <a:rPr lang="pt-BR" sz="22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sz="2200" dirty="0"/>
                  <a:t>, estejam em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, </a:t>
                </a:r>
                <a:r>
                  <a:rPr lang="pt-BR" sz="2200" dirty="0" smtClean="0"/>
                  <a:t>então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 smtClean="0"/>
                  <a:t> </a:t>
                </a:r>
                <a:r>
                  <a:rPr lang="pt-BR" sz="2200" dirty="0"/>
                  <a:t>é o </a:t>
                </a:r>
                <a:r>
                  <a:rPr lang="pt-BR" sz="2200" dirty="0" err="1"/>
                  <a:t>subgrafo</a:t>
                </a:r>
                <a:r>
                  <a:rPr lang="pt-BR" sz="2200" dirty="0"/>
                  <a:t> induzido pelo subconjunto de vértices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2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2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200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815" t="-943" r="-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4366515"/>
            <a:ext cx="1752600" cy="173355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4356990"/>
            <a:ext cx="1809750" cy="17430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200" dirty="0" smtClean="0"/>
                  <a:t>subgrafo</a:t>
                </a:r>
                <a:endParaRPr lang="pt-BR" sz="2200" dirty="0"/>
              </a:p>
              <a:p>
                <a:r>
                  <a:rPr lang="pt-BR" sz="2200" dirty="0"/>
                  <a:t>induzido por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pt-BR" sz="22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sz="2200" b="0" i="1" dirty="0" smtClean="0">
                            <a:latin typeface="Cambria Math" panose="02040503050406030204" pitchFamily="18" charset="0"/>
                          </a:rPr>
                          <m:t>1,2,3,4</m:t>
                        </m:r>
                      </m:e>
                    </m:d>
                  </m:oMath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568" y="4653136"/>
                <a:ext cx="2700291" cy="769441"/>
              </a:xfrm>
              <a:prstGeom prst="rect">
                <a:avLst/>
              </a:prstGeom>
              <a:blipFill rotWithShape="0">
                <a:blip r:embed="rId5"/>
                <a:stretch>
                  <a:fillRect l="-2935" t="-4724" b="-14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de seta reta 7"/>
          <p:cNvCxnSpPr/>
          <p:nvPr/>
        </p:nvCxnSpPr>
        <p:spPr>
          <a:xfrm flipH="1">
            <a:off x="7137834" y="5013176"/>
            <a:ext cx="108012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/>
          <p:cNvSpPr txBox="1"/>
          <p:nvPr/>
        </p:nvSpPr>
        <p:spPr>
          <a:xfrm>
            <a:off x="7020272" y="5085184"/>
            <a:ext cx="20369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Se qualquer uma das arestas forem eliminadas, o grafo continua sendo um </a:t>
            </a:r>
            <a:r>
              <a:rPr lang="pt-BR" sz="1600" dirty="0" err="1" smtClean="0"/>
              <a:t>subgrafo</a:t>
            </a:r>
            <a:r>
              <a:rPr lang="pt-BR" sz="1600" dirty="0" smtClean="0"/>
              <a:t>, mas não será um </a:t>
            </a:r>
            <a:r>
              <a:rPr lang="pt-BR" sz="1600" dirty="0" err="1" smtClean="0"/>
              <a:t>subgrafo</a:t>
            </a:r>
            <a:r>
              <a:rPr lang="pt-BR" sz="1600" dirty="0" smtClean="0"/>
              <a:t> induzido.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578966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Um grafo </a:t>
                </a:r>
                <a:r>
                  <a:rPr lang="pt-BR" sz="2800" dirty="0"/>
                  <a:t>g</a:t>
                </a:r>
                <a:r>
                  <a:rPr lang="pt-BR" sz="2800" dirty="0" smtClean="0"/>
                  <a:t> é dito ser um </a:t>
                </a:r>
                <a:r>
                  <a:rPr lang="pt-BR" sz="2800" dirty="0" err="1"/>
                  <a:t>subgrafo</a:t>
                </a:r>
                <a:r>
                  <a:rPr lang="pt-BR" sz="2800" dirty="0"/>
                  <a:t> de um grafo G se todos </a:t>
                </a:r>
                <a:r>
                  <a:rPr lang="pt-BR" sz="2800" dirty="0" smtClean="0"/>
                  <a:t>os vértices </a:t>
                </a:r>
                <a:r>
                  <a:rPr lang="pt-BR" sz="2800" dirty="0"/>
                  <a:t>e todas as arestas de g estão em </a:t>
                </a:r>
                <a:r>
                  <a:rPr lang="pt-BR" sz="2800" dirty="0" smtClean="0"/>
                  <a:t>G:</a:t>
                </a:r>
              </a:p>
              <a:p>
                <a:r>
                  <a:rPr lang="pt-BR" sz="2800" dirty="0"/>
                  <a:t>Observações</a:t>
                </a:r>
                <a:r>
                  <a:rPr lang="pt-BR" sz="2800" dirty="0" smtClean="0"/>
                  <a:t>:</a:t>
                </a:r>
              </a:p>
              <a:p>
                <a:pPr lvl="1"/>
                <a:r>
                  <a:rPr lang="pt-BR" sz="2400" dirty="0"/>
                  <a:t>Todo grafo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si </a:t>
                </a:r>
                <a:r>
                  <a:rPr lang="pt-BR" sz="2400" dirty="0" smtClean="0"/>
                  <a:t>próprio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 é </a:t>
                </a:r>
                <a:r>
                  <a:rPr lang="pt-BR" sz="2400" dirty="0" err="1" smtClean="0"/>
                  <a:t>subgrafo</a:t>
                </a:r>
                <a:r>
                  <a:rPr lang="pt-BR" sz="2400" dirty="0" smtClean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)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5601585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ipse 25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5220072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696423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9" name="Elipse 28"/>
          <p:cNvSpPr/>
          <p:nvPr/>
        </p:nvSpPr>
        <p:spPr>
          <a:xfrm>
            <a:off x="6121142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0" name="Elipse 29"/>
          <p:cNvSpPr/>
          <p:nvPr/>
        </p:nvSpPr>
        <p:spPr>
          <a:xfrm>
            <a:off x="6975090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1" name="Conector reto 30"/>
          <p:cNvCxnSpPr>
            <a:stCxn id="26" idx="6"/>
            <a:endCxn id="28" idx="2"/>
          </p:cNvCxnSpPr>
          <p:nvPr/>
        </p:nvCxnSpPr>
        <p:spPr>
          <a:xfrm>
            <a:off x="5763454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6" idx="4"/>
            <a:endCxn id="29" idx="1"/>
          </p:cNvCxnSpPr>
          <p:nvPr/>
        </p:nvCxnSpPr>
        <p:spPr>
          <a:xfrm>
            <a:off x="5491764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27" idx="7"/>
            <a:endCxn id="29" idx="3"/>
          </p:cNvCxnSpPr>
          <p:nvPr/>
        </p:nvCxnSpPr>
        <p:spPr>
          <a:xfrm flipV="1">
            <a:off x="5683877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27" idx="6"/>
            <a:endCxn id="30" idx="2"/>
          </p:cNvCxnSpPr>
          <p:nvPr/>
        </p:nvCxnSpPr>
        <p:spPr>
          <a:xfrm>
            <a:off x="5763453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8" idx="4"/>
            <a:endCxn id="29" idx="7"/>
          </p:cNvCxnSpPr>
          <p:nvPr/>
        </p:nvCxnSpPr>
        <p:spPr>
          <a:xfrm flipH="1">
            <a:off x="6584947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6" idx="4"/>
            <a:endCxn id="27" idx="0"/>
          </p:cNvCxnSpPr>
          <p:nvPr/>
        </p:nvCxnSpPr>
        <p:spPr>
          <a:xfrm flipH="1">
            <a:off x="5491763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0448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Um grafo g é dito ser um </a:t>
                </a:r>
                <a:r>
                  <a:rPr lang="pt-BR" sz="2800" dirty="0" err="1"/>
                  <a:t>subgrafo</a:t>
                </a:r>
                <a:r>
                  <a:rPr lang="pt-BR" sz="2800" dirty="0"/>
                  <a:t> de um grafo G se todos </a:t>
                </a:r>
                <a:r>
                  <a:rPr lang="pt-BR" sz="2800" dirty="0" smtClean="0"/>
                  <a:t>os vértices </a:t>
                </a:r>
                <a:r>
                  <a:rPr lang="pt-BR" sz="2800" dirty="0"/>
                  <a:t>e todas as arestas de g estão em </a:t>
                </a:r>
                <a:r>
                  <a:rPr lang="pt-BR" sz="2800" dirty="0" smtClean="0"/>
                  <a:t>G:</a:t>
                </a:r>
              </a:p>
              <a:p>
                <a:r>
                  <a:rPr lang="pt-BR" sz="2800" dirty="0"/>
                  <a:t>Observações</a:t>
                </a:r>
                <a:r>
                  <a:rPr lang="pt-BR" sz="2800" dirty="0" smtClean="0"/>
                  <a:t>:</a:t>
                </a:r>
              </a:p>
              <a:p>
                <a:pPr lvl="1"/>
                <a:r>
                  <a:rPr lang="pt-BR" sz="2400" dirty="0" smtClean="0"/>
                  <a:t>O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um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G é </a:t>
                </a:r>
                <a:r>
                  <a:rPr lang="pt-BR" sz="2400" dirty="0" err="1"/>
                  <a:t>subgrafo</a:t>
                </a:r>
                <a:r>
                  <a:rPr lang="pt-BR" sz="2400" dirty="0"/>
                  <a:t> de </a:t>
                </a:r>
                <a:r>
                  <a:rPr lang="pt-BR" sz="2400" dirty="0" smtClean="0"/>
                  <a:t>G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pt-BR" sz="2400" dirty="0" smtClean="0"/>
                  <a:t> é </a:t>
                </a:r>
                <a:r>
                  <a:rPr lang="pt-BR" sz="2400" dirty="0" err="1" smtClean="0"/>
                  <a:t>subgrafo</a:t>
                </a:r>
                <a:r>
                  <a:rPr lang="pt-BR" sz="2400" dirty="0" smtClean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)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494206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5238370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395275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4037587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3765897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3958010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7" idx="4"/>
            <a:endCxn id="18" idx="7"/>
          </p:cNvCxnSpPr>
          <p:nvPr/>
        </p:nvCxnSpPr>
        <p:spPr>
          <a:xfrm flipH="1">
            <a:off x="4859080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4"/>
            <a:endCxn id="16" idx="0"/>
          </p:cNvCxnSpPr>
          <p:nvPr/>
        </p:nvCxnSpPr>
        <p:spPr>
          <a:xfrm flipH="1">
            <a:off x="3765896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24520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508555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Elipse 47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0" name="Elipse 49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1" name="Elipse 50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52" name="Conector reto 51"/>
          <p:cNvCxnSpPr>
            <a:stCxn id="48" idx="6"/>
            <a:endCxn id="50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48" idx="4"/>
            <a:endCxn id="51" idx="1"/>
          </p:cNvCxnSpPr>
          <p:nvPr/>
        </p:nvCxnSpPr>
        <p:spPr>
          <a:xfrm>
            <a:off x="6483127" y="4889458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/>
          <p:cNvCxnSpPr>
            <a:stCxn id="50" idx="4"/>
            <a:endCxn id="51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tângulo 56"/>
              <p:cNvSpPr/>
              <p:nvPr/>
            </p:nvSpPr>
            <p:spPr>
              <a:xfrm>
                <a:off x="6592948" y="3857715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57" name="Retângulo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24520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736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Um grafo g é dito ser um </a:t>
            </a:r>
            <a:r>
              <a:rPr lang="pt-BR" sz="2800" dirty="0" err="1"/>
              <a:t>subgrafo</a:t>
            </a:r>
            <a:r>
              <a:rPr lang="pt-BR" sz="2800" dirty="0"/>
              <a:t> de um grafo G se todos </a:t>
            </a:r>
            <a:r>
              <a:rPr lang="pt-BR" sz="2800" dirty="0" smtClean="0"/>
              <a:t>os vértices </a:t>
            </a:r>
            <a:r>
              <a:rPr lang="pt-BR" sz="2800" dirty="0"/>
              <a:t>e todas as arestas de g estão em </a:t>
            </a:r>
            <a:r>
              <a:rPr lang="pt-BR" sz="2800" dirty="0" smtClean="0"/>
              <a:t>G:</a:t>
            </a:r>
          </a:p>
          <a:p>
            <a:r>
              <a:rPr lang="pt-BR" sz="2800" dirty="0"/>
              <a:t>Observações</a:t>
            </a:r>
            <a:r>
              <a:rPr lang="pt-BR" sz="2800" dirty="0" smtClean="0"/>
              <a:t>:</a:t>
            </a:r>
          </a:p>
          <a:p>
            <a:pPr lvl="1"/>
            <a:r>
              <a:rPr lang="pt-BR" sz="2400" dirty="0" smtClean="0"/>
              <a:t>Um </a:t>
            </a:r>
            <a:r>
              <a:rPr lang="pt-BR" sz="2400" dirty="0"/>
              <a:t>vértice simples de G é um </a:t>
            </a:r>
            <a:r>
              <a:rPr lang="pt-BR" sz="2400" dirty="0" err="1"/>
              <a:t>subgrafo</a:t>
            </a:r>
            <a:r>
              <a:rPr lang="pt-BR" sz="2400" dirty="0"/>
              <a:t> de </a:t>
            </a:r>
            <a:r>
              <a:rPr lang="pt-BR" sz="2400" dirty="0" smtClean="0"/>
              <a:t>G</a:t>
            </a:r>
            <a:endParaRPr lang="pt-BR" sz="2400" dirty="0"/>
          </a:p>
        </p:txBody>
      </p:sp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14"/>
              <p:cNvSpPr/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5" name="Retâ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6" name="Retâ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16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366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Um grafo g é dito ser um </a:t>
            </a:r>
            <a:r>
              <a:rPr lang="pt-BR" sz="2800" dirty="0" err="1"/>
              <a:t>subgrafo</a:t>
            </a:r>
            <a:r>
              <a:rPr lang="pt-BR" sz="2800" dirty="0"/>
              <a:t> de um grafo G se todos </a:t>
            </a:r>
            <a:r>
              <a:rPr lang="pt-BR" sz="2800" dirty="0" smtClean="0"/>
              <a:t>os vértices </a:t>
            </a:r>
            <a:r>
              <a:rPr lang="pt-BR" sz="2800" dirty="0"/>
              <a:t>e todas as arestas de g estão em </a:t>
            </a:r>
            <a:r>
              <a:rPr lang="pt-BR" sz="2800" dirty="0" smtClean="0"/>
              <a:t>G:</a:t>
            </a:r>
          </a:p>
          <a:p>
            <a:r>
              <a:rPr lang="pt-BR" sz="2800" dirty="0"/>
              <a:t>Observações</a:t>
            </a:r>
            <a:r>
              <a:rPr lang="pt-BR" sz="2800" dirty="0" smtClean="0"/>
              <a:t>:</a:t>
            </a:r>
          </a:p>
          <a:p>
            <a:pPr lvl="1"/>
            <a:r>
              <a:rPr lang="pt-BR" sz="2400" dirty="0" smtClean="0"/>
              <a:t>Uma </a:t>
            </a:r>
            <a:r>
              <a:rPr lang="pt-BR" sz="2400" dirty="0"/>
              <a:t>aresta simples de G (juntamente com suas extremidades</a:t>
            </a:r>
            <a:r>
              <a:rPr lang="pt-BR" sz="2400" dirty="0" smtClean="0"/>
              <a:t>) é </a:t>
            </a:r>
            <a:r>
              <a:rPr lang="pt-BR" sz="2400" dirty="0" err="1"/>
              <a:t>subgrafo</a:t>
            </a:r>
            <a:r>
              <a:rPr lang="pt-BR" sz="2400" dirty="0"/>
              <a:t> de G</a:t>
            </a:r>
          </a:p>
        </p:txBody>
      </p:sp>
      <p:sp>
        <p:nvSpPr>
          <p:cNvPr id="4" name="Elipse 3"/>
          <p:cNvSpPr/>
          <p:nvPr/>
        </p:nvSpPr>
        <p:spPr>
          <a:xfrm>
            <a:off x="1259632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1259631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003796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2160701" y="5130519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3014649" y="577859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803013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1531323" y="4748775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723436" y="5480770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803012" y="5983763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624506" y="4748775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1531322" y="4748775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tângulo 14"/>
              <p:cNvSpPr/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5" name="Retângulo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1585" y="3717032"/>
                <a:ext cx="1524520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tângulo 15"/>
              <p:cNvSpPr/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16" name="Retângulo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113" y="3717032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Elipse 16"/>
          <p:cNvSpPr/>
          <p:nvPr/>
        </p:nvSpPr>
        <p:spPr>
          <a:xfrm>
            <a:off x="5220073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6964237" y="4338431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2" name="Conector reto 21"/>
          <p:cNvCxnSpPr>
            <a:stCxn id="17" idx="6"/>
            <a:endCxn id="19" idx="2"/>
          </p:cNvCxnSpPr>
          <p:nvPr/>
        </p:nvCxnSpPr>
        <p:spPr>
          <a:xfrm>
            <a:off x="5763454" y="4543603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462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Subgrafos</a:t>
                </a:r>
                <a:r>
                  <a:rPr lang="pt-BR" sz="2800" dirty="0"/>
                  <a:t> disjuntos de arestas: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 smtClean="0"/>
                  <a:t> </a:t>
                </a:r>
                <a:r>
                  <a:rPr lang="pt-BR" sz="2800" dirty="0"/>
                  <a:t>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arestas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não tiverem </a:t>
                </a:r>
                <a:r>
                  <a:rPr lang="pt-BR" sz="2800" dirty="0"/>
                  <a:t>nenhuma aresta em comum</a:t>
                </a:r>
                <a:r>
                  <a:rPr lang="pt-BR" sz="28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 </a:t>
                </a:r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podem ter vértices em </a:t>
                </a:r>
                <a:r>
                  <a:rPr lang="pt-BR" sz="2400" dirty="0" smtClean="0"/>
                  <a:t>comum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085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Subgrafos</a:t>
                </a:r>
                <a:r>
                  <a:rPr lang="pt-BR" sz="2800" dirty="0"/>
                  <a:t> disjuntos de arestas: 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 smtClean="0"/>
                  <a:t> </a:t>
                </a:r>
                <a:r>
                  <a:rPr lang="pt-BR" sz="2800" dirty="0"/>
                  <a:t>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arestas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não tiverem </a:t>
                </a:r>
                <a:r>
                  <a:rPr lang="pt-BR" sz="2800" dirty="0"/>
                  <a:t>nenhuma aresta em comum</a:t>
                </a:r>
                <a:r>
                  <a:rPr lang="pt-BR" sz="2800" dirty="0" smtClean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 smtClean="0"/>
                  <a:t> </a:t>
                </a:r>
                <a:r>
                  <a:rPr lang="pt-BR" sz="2400" dirty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400" dirty="0"/>
                  <a:t> podem ter vértices em </a:t>
                </a:r>
                <a:r>
                  <a:rPr lang="pt-BR" sz="2400" dirty="0" smtClean="0"/>
                  <a:t>comum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6"/>
            <a:endCxn id="8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4"/>
            <a:endCxn id="7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3494206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4395275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3765897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3958010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5" idx="4"/>
            <a:endCxn id="16" idx="0"/>
          </p:cNvCxnSpPr>
          <p:nvPr/>
        </p:nvCxnSpPr>
        <p:spPr>
          <a:xfrm flipH="1">
            <a:off x="3765896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Elipse 25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Elipse 26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8" name="Elipse 27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29" name="Conector reto 28"/>
          <p:cNvCxnSpPr>
            <a:stCxn id="26" idx="6"/>
            <a:endCxn id="27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7" idx="4"/>
            <a:endCxn id="28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tângulo 31"/>
              <p:cNvSpPr/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2" name="Retângulo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115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Subgrafos</a:t>
                </a:r>
                <a:r>
                  <a:rPr lang="pt-BR" sz="2800" dirty="0"/>
                  <a:t> disjuntos de </a:t>
                </a:r>
                <a:r>
                  <a:rPr lang="pt-BR" sz="2800" dirty="0" smtClean="0"/>
                  <a:t>vértices: </a:t>
                </a:r>
                <a:r>
                  <a:rPr lang="pt-BR" sz="2800" dirty="0"/>
                  <a:t>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 smtClean="0"/>
                  <a:t> </a:t>
                </a:r>
                <a:r>
                  <a:rPr lang="pt-BR" sz="2800" dirty="0"/>
                  <a:t>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</a:t>
                </a:r>
                <a:r>
                  <a:rPr lang="pt-BR" sz="2800" dirty="0" smtClean="0"/>
                  <a:t>vértices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não tiverem nenhum vértice </a:t>
                </a:r>
                <a:r>
                  <a:rPr lang="pt-BR" sz="2800" dirty="0"/>
                  <a:t>em comum</a:t>
                </a:r>
                <a:r>
                  <a:rPr lang="pt-BR" sz="2800" dirty="0" smtClean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972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Sub-grafo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 smtClean="0"/>
                  <a:t>Subgrafos</a:t>
                </a:r>
                <a:r>
                  <a:rPr lang="pt-BR" sz="2800" dirty="0"/>
                  <a:t> disjuntos de </a:t>
                </a:r>
                <a:r>
                  <a:rPr lang="pt-BR" sz="2800" dirty="0" smtClean="0"/>
                  <a:t>vértices: </a:t>
                </a:r>
                <a:r>
                  <a:rPr lang="pt-BR" sz="2800" dirty="0"/>
                  <a:t>dois (ou mais) </a:t>
                </a:r>
                <a:r>
                  <a:rPr lang="pt-BR" sz="2800" dirty="0" err="1"/>
                  <a:t>subgrafos</a:t>
                </a:r>
                <a:r>
                  <a:rPr lang="pt-BR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 smtClean="0"/>
                  <a:t> </a:t>
                </a:r>
                <a:r>
                  <a:rPr lang="pt-BR" sz="2800" dirty="0"/>
                  <a:t>de um grafo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pt-BR" sz="2800" dirty="0"/>
                  <a:t> são disjuntos de </a:t>
                </a:r>
                <a:r>
                  <a:rPr lang="pt-BR" sz="2800" dirty="0" smtClean="0"/>
                  <a:t>vértices 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800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2800" dirty="0"/>
                  <a:t> </a:t>
                </a:r>
                <a:r>
                  <a:rPr lang="pt-BR" sz="2800" dirty="0" smtClean="0"/>
                  <a:t>não tiverem nenhum vértice </a:t>
                </a:r>
                <a:r>
                  <a:rPr lang="pt-BR" sz="2800" dirty="0"/>
                  <a:t>em comum</a:t>
                </a:r>
                <a:r>
                  <a:rPr lang="pt-BR" sz="2800" dirty="0" smtClean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3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tângulo 23"/>
              <p:cNvSpPr/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4" name="Retângulo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718" y="3861048"/>
                <a:ext cx="1508555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tângulo 24"/>
              <p:cNvSpPr/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i="1">
                        <a:latin typeface="Cambria Math"/>
                      </a:rPr>
                      <m:t>,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25" name="Retângulo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2050" y="3861048"/>
                <a:ext cx="1278748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tângulo 31"/>
              <p:cNvSpPr/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/>
                      </a:rPr>
                      <m:t>, </m:t>
                    </m:r>
                    <m:sSub>
                      <m:sSubPr>
                        <m:ctrlPr>
                          <a:rPr lang="pt-BR" i="1">
                            <a:latin typeface="Cambria Math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 xmlns="">
          <p:sp>
            <p:nvSpPr>
              <p:cNvPr id="32" name="Retângulo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948" y="3857715"/>
                <a:ext cx="158222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/>
          <p:cNvSpPr/>
          <p:nvPr/>
        </p:nvSpPr>
        <p:spPr>
          <a:xfrm>
            <a:off x="683569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3" name="Elipse 32"/>
          <p:cNvSpPr/>
          <p:nvPr/>
        </p:nvSpPr>
        <p:spPr>
          <a:xfrm>
            <a:off x="683568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4" name="Elipse 33"/>
          <p:cNvSpPr/>
          <p:nvPr/>
        </p:nvSpPr>
        <p:spPr>
          <a:xfrm>
            <a:off x="2427733" y="448244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5" name="Elipse 34"/>
          <p:cNvSpPr/>
          <p:nvPr/>
        </p:nvSpPr>
        <p:spPr>
          <a:xfrm>
            <a:off x="1584638" y="5274535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6" name="Elipse 35"/>
          <p:cNvSpPr/>
          <p:nvPr/>
        </p:nvSpPr>
        <p:spPr>
          <a:xfrm>
            <a:off x="2438586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37" name="Conector reto 36"/>
          <p:cNvCxnSpPr>
            <a:stCxn id="30" idx="6"/>
            <a:endCxn id="34" idx="2"/>
          </p:cNvCxnSpPr>
          <p:nvPr/>
        </p:nvCxnSpPr>
        <p:spPr>
          <a:xfrm>
            <a:off x="1226950" y="4687619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30" idx="4"/>
            <a:endCxn id="35" idx="1"/>
          </p:cNvCxnSpPr>
          <p:nvPr/>
        </p:nvCxnSpPr>
        <p:spPr>
          <a:xfrm>
            <a:off x="955260" y="4892791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33" idx="7"/>
            <a:endCxn id="35" idx="3"/>
          </p:cNvCxnSpPr>
          <p:nvPr/>
        </p:nvCxnSpPr>
        <p:spPr>
          <a:xfrm flipV="1">
            <a:off x="1147373" y="5624786"/>
            <a:ext cx="516841" cy="357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3" idx="6"/>
            <a:endCxn id="36" idx="2"/>
          </p:cNvCxnSpPr>
          <p:nvPr/>
        </p:nvCxnSpPr>
        <p:spPr>
          <a:xfrm>
            <a:off x="1226949" y="6127779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4" idx="4"/>
            <a:endCxn id="35" idx="7"/>
          </p:cNvCxnSpPr>
          <p:nvPr/>
        </p:nvCxnSpPr>
        <p:spPr>
          <a:xfrm flipH="1">
            <a:off x="2048443" y="4892791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30" idx="4"/>
            <a:endCxn id="33" idx="0"/>
          </p:cNvCxnSpPr>
          <p:nvPr/>
        </p:nvCxnSpPr>
        <p:spPr>
          <a:xfrm flipH="1">
            <a:off x="955259" y="4892791"/>
            <a:ext cx="1" cy="1029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3494205" y="592260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2" name="Elipse 51"/>
          <p:cNvSpPr/>
          <p:nvPr/>
        </p:nvSpPr>
        <p:spPr>
          <a:xfrm>
            <a:off x="6211436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3" name="Elipse 52"/>
          <p:cNvSpPr/>
          <p:nvPr/>
        </p:nvSpPr>
        <p:spPr>
          <a:xfrm>
            <a:off x="7955600" y="4479114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4" name="Elipse 53"/>
          <p:cNvSpPr/>
          <p:nvPr/>
        </p:nvSpPr>
        <p:spPr>
          <a:xfrm>
            <a:off x="7112505" y="527120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55" name="Conector reto 54"/>
          <p:cNvCxnSpPr>
            <a:stCxn id="52" idx="6"/>
            <a:endCxn id="53" idx="2"/>
          </p:cNvCxnSpPr>
          <p:nvPr/>
        </p:nvCxnSpPr>
        <p:spPr>
          <a:xfrm>
            <a:off x="6754817" y="4684286"/>
            <a:ext cx="120078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/>
          <p:cNvCxnSpPr>
            <a:stCxn id="52" idx="4"/>
            <a:endCxn id="54" idx="1"/>
          </p:cNvCxnSpPr>
          <p:nvPr/>
        </p:nvCxnSpPr>
        <p:spPr>
          <a:xfrm>
            <a:off x="6483127" y="4889458"/>
            <a:ext cx="708954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/>
          <p:cNvCxnSpPr>
            <a:stCxn id="53" idx="4"/>
            <a:endCxn id="54" idx="7"/>
          </p:cNvCxnSpPr>
          <p:nvPr/>
        </p:nvCxnSpPr>
        <p:spPr>
          <a:xfrm flipH="1">
            <a:off x="7576310" y="4889458"/>
            <a:ext cx="650981" cy="4418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/>
          <p:cNvSpPr/>
          <p:nvPr/>
        </p:nvSpPr>
        <p:spPr>
          <a:xfrm>
            <a:off x="5249223" y="594443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5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59" name="Conector reto 58"/>
          <p:cNvCxnSpPr>
            <a:endCxn id="58" idx="2"/>
          </p:cNvCxnSpPr>
          <p:nvPr/>
        </p:nvCxnSpPr>
        <p:spPr>
          <a:xfrm>
            <a:off x="4037586" y="6149610"/>
            <a:ext cx="12116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10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90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196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3528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/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/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6797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248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Transposto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 smtClean="0"/>
                  <a:t>Dado um grafo direcionado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seu grafo </a:t>
                </a:r>
                <a:r>
                  <a:rPr lang="pt-BR" sz="2400" dirty="0" smtClean="0"/>
                  <a:t>transposto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tal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2400" dirty="0"/>
                  <a:t> é o conjunto de arestas 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 smtClean="0"/>
                  <a:t>, com </a:t>
                </a:r>
                <a:r>
                  <a:rPr lang="pt-BR" sz="2400" dirty="0"/>
                  <a:t>sentido </a:t>
                </a:r>
                <a:r>
                  <a:rPr lang="pt-BR" sz="2400" dirty="0" smtClean="0"/>
                  <a:t>oposto.</a:t>
                </a:r>
              </a:p>
              <a:p>
                <a:r>
                  <a:rPr lang="pt-BR" sz="2400" dirty="0"/>
                  <a:t>Gere o grafo transposto do grafo </a:t>
                </a:r>
                <a:r>
                  <a:rPr lang="pt-BR" sz="2400" dirty="0" smtClean="0"/>
                  <a:t>abaixo:</a:t>
                </a:r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963" t="-1078" r="-16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683569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683568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2427733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Elipse 6"/>
          <p:cNvSpPr/>
          <p:nvPr/>
        </p:nvSpPr>
        <p:spPr>
          <a:xfrm>
            <a:off x="1584638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reto 8"/>
          <p:cNvCxnSpPr>
            <a:stCxn id="4" idx="6"/>
            <a:endCxn id="6" idx="2"/>
          </p:cNvCxnSpPr>
          <p:nvPr/>
        </p:nvCxnSpPr>
        <p:spPr>
          <a:xfrm>
            <a:off x="1226950" y="3634172"/>
            <a:ext cx="120078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7" idx="1"/>
          </p:cNvCxnSpPr>
          <p:nvPr/>
        </p:nvCxnSpPr>
        <p:spPr>
          <a:xfrm>
            <a:off x="955260" y="3839344"/>
            <a:ext cx="708954" cy="44183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5" idx="7"/>
            <a:endCxn id="7" idx="3"/>
          </p:cNvCxnSpPr>
          <p:nvPr/>
        </p:nvCxnSpPr>
        <p:spPr>
          <a:xfrm flipV="1">
            <a:off x="1147373" y="4571339"/>
            <a:ext cx="516841" cy="35791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4" idx="4"/>
            <a:endCxn id="5" idx="0"/>
          </p:cNvCxnSpPr>
          <p:nvPr/>
        </p:nvCxnSpPr>
        <p:spPr>
          <a:xfrm flipH="1">
            <a:off x="955259" y="3839344"/>
            <a:ext cx="1" cy="1029816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3563888" y="4391777"/>
            <a:ext cx="12241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5680512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0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680511" y="486916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4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Elipse 16"/>
          <p:cNvSpPr/>
          <p:nvPr/>
        </p:nvSpPr>
        <p:spPr>
          <a:xfrm>
            <a:off x="7424676" y="3429000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1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6581581" y="422108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3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9" name="Conector reto 18"/>
          <p:cNvCxnSpPr>
            <a:stCxn id="15" idx="6"/>
            <a:endCxn id="17" idx="2"/>
          </p:cNvCxnSpPr>
          <p:nvPr/>
        </p:nvCxnSpPr>
        <p:spPr>
          <a:xfrm>
            <a:off x="6223893" y="3634172"/>
            <a:ext cx="1200783" cy="0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4"/>
            <a:endCxn id="18" idx="1"/>
          </p:cNvCxnSpPr>
          <p:nvPr/>
        </p:nvCxnSpPr>
        <p:spPr>
          <a:xfrm>
            <a:off x="5952203" y="3839344"/>
            <a:ext cx="708954" cy="441837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7"/>
            <a:endCxn id="18" idx="3"/>
          </p:cNvCxnSpPr>
          <p:nvPr/>
        </p:nvCxnSpPr>
        <p:spPr>
          <a:xfrm flipV="1">
            <a:off x="6144316" y="4571339"/>
            <a:ext cx="516841" cy="357914"/>
          </a:xfrm>
          <a:prstGeom prst="line">
            <a:avLst/>
          </a:prstGeom>
          <a:ln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4"/>
            <a:endCxn id="16" idx="0"/>
          </p:cNvCxnSpPr>
          <p:nvPr/>
        </p:nvCxnSpPr>
        <p:spPr>
          <a:xfrm flipH="1">
            <a:off x="5952202" y="3839344"/>
            <a:ext cx="1" cy="1029816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779930" y="5962003"/>
            <a:ext cx="7135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Apenas se calcula o transposto de um grafo direcionado</a:t>
            </a:r>
          </a:p>
        </p:txBody>
      </p:sp>
    </p:spTree>
    <p:extLst>
      <p:ext uri="{BB962C8B-B14F-4D97-AF65-F5344CB8AC3E}">
        <p14:creationId xmlns:p14="http://schemas.microsoft.com/office/powerpoint/2010/main" val="3910259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1844824"/>
            <a:ext cx="8316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</a:t>
            </a:r>
            <a:r>
              <a:rPr lang="pt-BR" dirty="0" smtClean="0"/>
              <a:t>] </a:t>
            </a:r>
            <a:r>
              <a:rPr lang="en-US" dirty="0" smtClean="0"/>
              <a:t>Introduction </a:t>
            </a:r>
            <a:r>
              <a:rPr lang="en-US" dirty="0"/>
              <a:t>to Algorithms, 3rd edition</a:t>
            </a:r>
            <a:r>
              <a:rPr lang="en-US" dirty="0" smtClean="0"/>
              <a:t>. </a:t>
            </a:r>
            <a:r>
              <a:rPr lang="pt-BR" dirty="0" smtClean="0"/>
              <a:t>Thomas </a:t>
            </a:r>
            <a:r>
              <a:rPr lang="pt-BR" dirty="0"/>
              <a:t>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</a:t>
            </a:r>
            <a:r>
              <a:rPr lang="pt-BR" dirty="0" smtClean="0"/>
              <a:t>. 2009</a:t>
            </a:r>
            <a:r>
              <a:rPr lang="pt-BR" dirty="0"/>
              <a:t>, 1312 pp</a:t>
            </a:r>
            <a:r>
              <a:rPr lang="pt-BR" dirty="0" smtClean="0"/>
              <a:t>. MIT </a:t>
            </a:r>
            <a:r>
              <a:rPr lang="pt-BR" dirty="0"/>
              <a:t>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78632" y="2763549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Cormen</a:t>
            </a:r>
            <a:r>
              <a:rPr lang="pt-BR" dirty="0"/>
              <a:t> et al., 2002</a:t>
            </a:r>
            <a:r>
              <a:rPr lang="pt-BR" dirty="0" smtClean="0"/>
              <a:t>] Algoritmos</a:t>
            </a:r>
            <a:r>
              <a:rPr lang="pt-BR" dirty="0"/>
              <a:t>: Teoria e Prática – Tradução da segunda edição em inglês</a:t>
            </a:r>
            <a:r>
              <a:rPr lang="pt-BR" dirty="0" smtClean="0"/>
              <a:t>. Thomas </a:t>
            </a:r>
            <a:r>
              <a:rPr lang="pt-BR" dirty="0"/>
              <a:t>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</a:t>
            </a:r>
            <a:r>
              <a:rPr lang="pt-BR" dirty="0" smtClean="0"/>
              <a:t>. 2002</a:t>
            </a:r>
            <a:r>
              <a:rPr lang="pt-BR" dirty="0"/>
              <a:t>, 936 pp</a:t>
            </a:r>
            <a:r>
              <a:rPr lang="pt-BR" dirty="0" smtClean="0"/>
              <a:t>. Editora </a:t>
            </a:r>
            <a:r>
              <a:rPr lang="pt-BR" dirty="0"/>
              <a:t>Campus, ISBN 8535209263.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78632" y="3686879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BOAVENTURA NETTO, Paulo Oswaldo; JURKIEWICZ, Samuel</a:t>
            </a:r>
            <a:r>
              <a:rPr lang="pt-BR" dirty="0" smtClean="0"/>
              <a:t>. </a:t>
            </a:r>
          </a:p>
          <a:p>
            <a:r>
              <a:rPr lang="pt-BR" dirty="0" smtClean="0"/>
              <a:t>Grafos</a:t>
            </a:r>
            <a:r>
              <a:rPr lang="pt-BR" dirty="0"/>
              <a:t>: introdução </a:t>
            </a:r>
            <a:r>
              <a:rPr lang="pt-BR" dirty="0" smtClean="0"/>
              <a:t>e prática</a:t>
            </a:r>
            <a:r>
              <a:rPr lang="pt-BR" dirty="0"/>
              <a:t>. </a:t>
            </a:r>
            <a:r>
              <a:rPr lang="pt-BR" dirty="0" smtClean="0"/>
              <a:t> Editora </a:t>
            </a:r>
            <a:r>
              <a:rPr lang="pt-BR" dirty="0" err="1"/>
              <a:t>Blucher</a:t>
            </a:r>
            <a:r>
              <a:rPr lang="pt-BR" dirty="0"/>
              <a:t>. 2009. ISBN: 9788521204732.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78632" y="4333210"/>
            <a:ext cx="7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Sedgewick</a:t>
            </a:r>
            <a:r>
              <a:rPr lang="pt-BR" dirty="0"/>
              <a:t>, 1992</a:t>
            </a:r>
            <a:r>
              <a:rPr lang="pt-BR" dirty="0" smtClean="0"/>
              <a:t>] </a:t>
            </a:r>
            <a:r>
              <a:rPr lang="pt-BR" dirty="0" err="1" smtClean="0"/>
              <a:t>Algorithms</a:t>
            </a:r>
            <a:r>
              <a:rPr lang="pt-BR" dirty="0" smtClean="0"/>
              <a:t> </a:t>
            </a:r>
            <a:r>
              <a:rPr lang="pt-BR" dirty="0"/>
              <a:t>in C</a:t>
            </a:r>
            <a:r>
              <a:rPr lang="pt-BR" dirty="0" smtClean="0"/>
              <a:t>++. Robert </a:t>
            </a:r>
            <a:r>
              <a:rPr lang="pt-BR" dirty="0" err="1"/>
              <a:t>Segdewick</a:t>
            </a:r>
            <a:r>
              <a:rPr lang="pt-BR" dirty="0" smtClean="0"/>
              <a:t>. c1992</a:t>
            </a:r>
            <a:r>
              <a:rPr lang="pt-BR" dirty="0"/>
              <a:t>, 656 pp</a:t>
            </a:r>
            <a:r>
              <a:rPr lang="pt-BR" dirty="0" smtClean="0"/>
              <a:t>. </a:t>
            </a:r>
            <a:r>
              <a:rPr lang="en-US" dirty="0" smtClean="0"/>
              <a:t>Boston</a:t>
            </a:r>
            <a:r>
              <a:rPr lang="en-US" dirty="0"/>
              <a:t>: Addison Wesley, ISBN 0201510596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677820" y="4979541"/>
            <a:ext cx="7926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Marco </a:t>
            </a:r>
            <a:r>
              <a:rPr lang="pt-BR" dirty="0" err="1" smtClean="0"/>
              <a:t>Goldbarg</a:t>
            </a:r>
            <a:r>
              <a:rPr lang="pt-BR" dirty="0" smtClean="0"/>
              <a:t>; Elizabeth </a:t>
            </a:r>
            <a:r>
              <a:rPr lang="pt-BR" dirty="0" err="1" smtClean="0"/>
              <a:t>Goldbarg</a:t>
            </a:r>
            <a:r>
              <a:rPr lang="pt-BR" dirty="0" smtClean="0"/>
              <a:t>. Grafos </a:t>
            </a:r>
            <a:r>
              <a:rPr lang="pt-BR" dirty="0"/>
              <a:t>- </a:t>
            </a:r>
            <a:r>
              <a:rPr lang="pt-BR" dirty="0" smtClean="0"/>
              <a:t>conceitos </a:t>
            </a:r>
            <a:r>
              <a:rPr lang="pt-BR" dirty="0"/>
              <a:t>, </a:t>
            </a:r>
            <a:r>
              <a:rPr lang="pt-BR" dirty="0" smtClean="0"/>
              <a:t>algoritmos e aplicações </a:t>
            </a:r>
            <a:r>
              <a:rPr lang="pt-BR" dirty="0"/>
              <a:t>.</a:t>
            </a:r>
          </a:p>
          <a:p>
            <a:r>
              <a:rPr lang="pt-BR" dirty="0"/>
              <a:t>Campus. 2012.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77820" y="5625872"/>
            <a:ext cx="76336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</a:t>
            </a:r>
            <a:r>
              <a:rPr lang="pt-BR" dirty="0" smtClean="0"/>
              <a:t>] Projeto </a:t>
            </a:r>
            <a:r>
              <a:rPr lang="pt-BR" dirty="0"/>
              <a:t>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 smtClean="0"/>
              <a:t>. 2006</a:t>
            </a:r>
            <a:r>
              <a:rPr lang="pt-BR" dirty="0"/>
              <a:t>, 642 pp</a:t>
            </a:r>
            <a:r>
              <a:rPr lang="pt-BR" dirty="0" smtClean="0"/>
              <a:t>. Editora </a:t>
            </a:r>
            <a:r>
              <a:rPr lang="pt-BR" dirty="0"/>
              <a:t>Thomson, ISBN 8522105251.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1998" y="6272203"/>
            <a:ext cx="80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Robin J. </a:t>
            </a:r>
            <a:r>
              <a:rPr lang="pt-BR" dirty="0"/>
              <a:t>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 smtClean="0"/>
              <a:t>theory</a:t>
            </a:r>
            <a:r>
              <a:rPr lang="pt-BR" dirty="0" smtClean="0"/>
              <a:t>. </a:t>
            </a:r>
            <a:r>
              <a:rPr lang="pt-BR" dirty="0" err="1" smtClean="0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2646</Words>
  <Application>Microsoft Office PowerPoint</Application>
  <PresentationFormat>Apresentação na tela (4:3)</PresentationFormat>
  <Paragraphs>294</Paragraphs>
  <Slides>34</Slides>
  <Notes>0</Notes>
  <HiddenSlides>4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Tema do Office</vt:lpstr>
      <vt:lpstr>Unidade I  Operações, Isomorfismo, subgrafos e dígrafos e relações binárias</vt:lpstr>
      <vt:lpstr>Operações sobre grafos</vt:lpstr>
      <vt:lpstr>Operações sobre grafos</vt:lpstr>
      <vt:lpstr>Operações sobre grafos</vt:lpstr>
      <vt:lpstr>Operações sobre grafos</vt:lpstr>
      <vt:lpstr>Operações sobre grafos</vt:lpstr>
      <vt:lpstr>Operações sobre grafos</vt:lpstr>
      <vt:lpstr>Operações sobre grafos</vt:lpstr>
      <vt:lpstr>Operações sobre grafos</vt:lpstr>
      <vt:lpstr>Operações</vt:lpstr>
      <vt:lpstr>Operações</vt:lpstr>
      <vt:lpstr>Isomorfismo</vt:lpstr>
      <vt:lpstr>Isomorfismo</vt:lpstr>
      <vt:lpstr>Isomorfismo</vt:lpstr>
      <vt:lpstr>Isomorfismo</vt:lpstr>
      <vt:lpstr>Grafo complementar</vt:lpstr>
      <vt:lpstr>Sub-grafo</vt:lpstr>
      <vt:lpstr>Sub-grafo</vt:lpstr>
      <vt:lpstr>Sub-grafo</vt:lpstr>
      <vt:lpstr>Sub-grafo</vt:lpstr>
      <vt:lpstr>Sub-grafo</vt:lpstr>
      <vt:lpstr>Sub-grafo</vt:lpstr>
      <vt:lpstr>Sub-grafo</vt:lpstr>
      <vt:lpstr>Sub-grafo</vt:lpstr>
      <vt:lpstr>Sub-grafo</vt:lpstr>
      <vt:lpstr>Sub-grafo</vt:lpstr>
      <vt:lpstr>Sub-grafo</vt:lpstr>
      <vt:lpstr>Grafo Transposto</vt:lpstr>
      <vt:lpstr>Grafo Transposto</vt:lpstr>
      <vt:lpstr>Grafo Transposto</vt:lpstr>
      <vt:lpstr>Grafo Transposto</vt:lpstr>
      <vt:lpstr>Grafo Transposto</vt:lpstr>
      <vt:lpstr>Grafo Transposto</vt:lpstr>
      <vt:lpstr>Bibliografia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</cp:lastModifiedBy>
  <cp:revision>114</cp:revision>
  <dcterms:created xsi:type="dcterms:W3CDTF">2011-08-03T02:09:11Z</dcterms:created>
  <dcterms:modified xsi:type="dcterms:W3CDTF">2014-02-23T02:55:35Z</dcterms:modified>
</cp:coreProperties>
</file>