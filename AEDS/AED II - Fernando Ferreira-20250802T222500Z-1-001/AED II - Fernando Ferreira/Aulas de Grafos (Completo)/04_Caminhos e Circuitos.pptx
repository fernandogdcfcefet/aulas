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373" r:id="rId5"/>
    <p:sldId id="272" r:id="rId6"/>
    <p:sldId id="274" r:id="rId7"/>
    <p:sldId id="27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374" r:id="rId19"/>
    <p:sldId id="376" r:id="rId20"/>
    <p:sldId id="300" r:id="rId21"/>
    <p:sldId id="316" r:id="rId22"/>
    <p:sldId id="315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60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8" r:id="rId61"/>
    <p:sldId id="353" r:id="rId62"/>
    <p:sldId id="359" r:id="rId63"/>
    <p:sldId id="354" r:id="rId64"/>
    <p:sldId id="355" r:id="rId65"/>
    <p:sldId id="356" r:id="rId66"/>
    <p:sldId id="357" r:id="rId67"/>
    <p:sldId id="361" r:id="rId68"/>
    <p:sldId id="362" r:id="rId69"/>
    <p:sldId id="363" r:id="rId70"/>
    <p:sldId id="369" r:id="rId71"/>
    <p:sldId id="364" r:id="rId72"/>
    <p:sldId id="365" r:id="rId73"/>
    <p:sldId id="370" r:id="rId74"/>
    <p:sldId id="366" r:id="rId75"/>
    <p:sldId id="367" r:id="rId76"/>
    <p:sldId id="371" r:id="rId77"/>
    <p:sldId id="368" r:id="rId78"/>
    <p:sldId id="314" r:id="rId79"/>
    <p:sldId id="375" r:id="rId80"/>
    <p:sldId id="377" r:id="rId81"/>
    <p:sldId id="378" r:id="rId82"/>
    <p:sldId id="390" r:id="rId83"/>
    <p:sldId id="379" r:id="rId84"/>
    <p:sldId id="380" r:id="rId85"/>
    <p:sldId id="381" r:id="rId86"/>
    <p:sldId id="446" r:id="rId87"/>
    <p:sldId id="447" r:id="rId88"/>
    <p:sldId id="448" r:id="rId89"/>
    <p:sldId id="449" r:id="rId90"/>
    <p:sldId id="450" r:id="rId91"/>
    <p:sldId id="454" r:id="rId92"/>
    <p:sldId id="452" r:id="rId93"/>
    <p:sldId id="453" r:id="rId94"/>
    <p:sldId id="391" r:id="rId95"/>
    <p:sldId id="392" r:id="rId96"/>
    <p:sldId id="394" r:id="rId97"/>
    <p:sldId id="393" r:id="rId98"/>
    <p:sldId id="398" r:id="rId99"/>
    <p:sldId id="399" r:id="rId100"/>
    <p:sldId id="400" r:id="rId101"/>
    <p:sldId id="407" r:id="rId102"/>
    <p:sldId id="408" r:id="rId103"/>
    <p:sldId id="409" r:id="rId104"/>
    <p:sldId id="410" r:id="rId105"/>
    <p:sldId id="411" r:id="rId106"/>
    <p:sldId id="412" r:id="rId107"/>
    <p:sldId id="413" r:id="rId108"/>
    <p:sldId id="414" r:id="rId109"/>
    <p:sldId id="415" r:id="rId110"/>
    <p:sldId id="416" r:id="rId111"/>
    <p:sldId id="417" r:id="rId112"/>
    <p:sldId id="418" r:id="rId113"/>
    <p:sldId id="419" r:id="rId114"/>
    <p:sldId id="420" r:id="rId115"/>
    <p:sldId id="421" r:id="rId116"/>
    <p:sldId id="422" r:id="rId117"/>
    <p:sldId id="423" r:id="rId118"/>
    <p:sldId id="424" r:id="rId119"/>
    <p:sldId id="425" r:id="rId120"/>
    <p:sldId id="427" r:id="rId121"/>
    <p:sldId id="426" r:id="rId122"/>
    <p:sldId id="428" r:id="rId123"/>
    <p:sldId id="429" r:id="rId124"/>
    <p:sldId id="430" r:id="rId125"/>
    <p:sldId id="431" r:id="rId126"/>
    <p:sldId id="432" r:id="rId127"/>
    <p:sldId id="433" r:id="rId128"/>
    <p:sldId id="434" r:id="rId129"/>
    <p:sldId id="435" r:id="rId130"/>
    <p:sldId id="436" r:id="rId131"/>
    <p:sldId id="437" r:id="rId132"/>
    <p:sldId id="438" r:id="rId133"/>
    <p:sldId id="439" r:id="rId134"/>
    <p:sldId id="440" r:id="rId135"/>
    <p:sldId id="441" r:id="rId136"/>
    <p:sldId id="442" r:id="rId137"/>
    <p:sldId id="455" r:id="rId138"/>
    <p:sldId id="466" r:id="rId139"/>
    <p:sldId id="467" r:id="rId140"/>
    <p:sldId id="468" r:id="rId141"/>
    <p:sldId id="469" r:id="rId142"/>
    <p:sldId id="470" r:id="rId143"/>
    <p:sldId id="471" r:id="rId144"/>
    <p:sldId id="472" r:id="rId145"/>
    <p:sldId id="443" r:id="rId146"/>
    <p:sldId id="473" r:id="rId147"/>
    <p:sldId id="474" r:id="rId148"/>
    <p:sldId id="475" r:id="rId149"/>
    <p:sldId id="264" r:id="rId15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18/08/2016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II </a:t>
            </a:r>
            <a:br>
              <a:rPr lang="pt-BR" dirty="0"/>
            </a:br>
            <a:r>
              <a:rPr lang="pt-BR" dirty="0"/>
              <a:t>Caminhos e Circuitos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2267744" y="6093296"/>
            <a:ext cx="448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Implementações adaptadas de [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Ziviani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, 2006] </a:t>
            </a: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Caminhos e circuitos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000" dirty="0"/>
                  <a:t>Sequência de arestas: sequência alternada de vértices e arestas começando e terminando com vértice. Cada aresta é incidente ao vértice que a precede e a antecede:</a:t>
                </a:r>
              </a:p>
              <a:p>
                <a:pPr lvl="1"/>
                <a:r>
                  <a:rPr lang="pt-BR" sz="1800" dirty="0"/>
                  <a:t>Ex.: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𝑎</m:t>
                    </m:r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𝑎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pt-BR" sz="1800" i="1" dirty="0" smtClean="0">
                        <a:latin typeface="Cambria Math"/>
                      </a:rPr>
                      <m:t>𝑔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pt-BR" sz="1800" dirty="0"/>
              </a:p>
              <a:p>
                <a:r>
                  <a:rPr lang="pt-BR" sz="2000" dirty="0"/>
                  <a:t>Caminho: sequência de arestas no qual nenhuma aresta aparece mais de uma vez:</a:t>
                </a:r>
              </a:p>
              <a:p>
                <a:pPr lvl="1"/>
                <a:r>
                  <a:rPr lang="pt-BR" sz="1800" dirty="0"/>
                  <a:t>Ex.: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𝑎</m:t>
                    </m:r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𝑒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𝑓</m:t>
                    </m:r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Caminho aberto: vértice inicial é diferente </a:t>
                </a:r>
              </a:p>
              <a:p>
                <a:pPr marL="457200" lvl="1" indent="0">
                  <a:buNone/>
                </a:pPr>
                <a:r>
                  <a:rPr lang="pt-BR" sz="1800" dirty="0"/>
                  <a:t>do vértice final</a:t>
                </a:r>
              </a:p>
              <a:p>
                <a:pPr lvl="2"/>
                <a:r>
                  <a:rPr lang="pt-BR" sz="1800" dirty="0"/>
                  <a:t>Ex.: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𝑎</m:t>
                    </m:r>
                    <m:r>
                      <a:rPr lang="pt-BR" sz="18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pt-BR" sz="1800" dirty="0"/>
              </a:p>
              <a:p>
                <a:pPr lvl="1"/>
                <a:r>
                  <a:rPr lang="pt-BR" sz="1800" dirty="0"/>
                  <a:t>Caminho fechado: caminhos que começam </a:t>
                </a:r>
              </a:p>
              <a:p>
                <a:pPr marL="457200" lvl="1" indent="0">
                  <a:buNone/>
                </a:pPr>
                <a:r>
                  <a:rPr lang="pt-BR" sz="1800" dirty="0"/>
                  <a:t>e terminam no mesmo vértice:</a:t>
                </a:r>
              </a:p>
              <a:p>
                <a:pPr lvl="2"/>
                <a:r>
                  <a:rPr lang="pt-BR" sz="1800" dirty="0"/>
                  <a:t>Ex.: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𝑎</m:t>
                    </m:r>
                    <m:r>
                      <a:rPr lang="pt-BR" sz="18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i="1" dirty="0">
                        <a:latin typeface="Cambria Math"/>
                      </a:rPr>
                      <m:t> </m:t>
                    </m:r>
                    <m:r>
                      <a:rPr lang="pt-BR" sz="1800" i="1" dirty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pt-B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i="1" dirty="0">
                            <a:latin typeface="Cambria Math"/>
                          </a:rPr>
                          <m:t> </m:t>
                        </m:r>
                        <m:r>
                          <a:rPr lang="pt-BR" sz="1800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pt-BR" sz="1800" b="0" i="1" dirty="0" smtClean="0">
                        <a:latin typeface="Cambria Math"/>
                      </a:rPr>
                      <m:t> </m:t>
                    </m:r>
                    <m:r>
                      <a:rPr lang="pt-BR" sz="1800" i="1" dirty="0" smtClean="0">
                        <a:latin typeface="Cambria Math"/>
                      </a:rPr>
                      <m:t>𝑔</m:t>
                    </m:r>
                    <m:r>
                      <a:rPr lang="pt-BR" sz="180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pt-BR" sz="18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pt-BR" sz="1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933056"/>
            <a:ext cx="290512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364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Cadeias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 um grafo dirigido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´</m:t>
                    </m:r>
                  </m:oMath>
                </a14:m>
                <a:r>
                  <a:rPr lang="pt-BR" sz="2400" dirty="0"/>
                  <a:t> o seu grafo não-dirigido associado</a:t>
                </a:r>
              </a:p>
              <a:p>
                <a:r>
                  <a:rPr lang="pt-BR" sz="2400" dirty="0"/>
                  <a:t>Uma cadeia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/>
                  <a:t> é um caminho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´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852936"/>
            <a:ext cx="8424936" cy="249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1284048" y="5661248"/>
                <a:ext cx="650389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𝑎</m:t>
                    </m:r>
                    <m:r>
                      <a:rPr lang="pt-BR" sz="2400" i="1" dirty="0" smtClean="0">
                        <a:latin typeface="Cambria Math"/>
                      </a:rPr>
                      <m:t>−</m:t>
                    </m:r>
                    <m:r>
                      <a:rPr lang="pt-BR" sz="2400" i="1" dirty="0" smtClean="0">
                        <a:latin typeface="Cambria Math"/>
                      </a:rPr>
                      <m:t>𝑓</m:t>
                    </m:r>
                    <m:r>
                      <a:rPr lang="pt-BR" sz="2400" i="1" dirty="0" smtClean="0">
                        <a:latin typeface="Cambria Math"/>
                      </a:rPr>
                      <m:t>−</m:t>
                    </m:r>
                    <m:r>
                      <a:rPr lang="pt-BR" sz="2400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pt-BR" sz="2400" dirty="0"/>
                  <a:t> é um caminho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´</m:t>
                    </m:r>
                  </m:oMath>
                </a14:m>
                <a:r>
                  <a:rPr lang="pt-BR" sz="2400" dirty="0"/>
                  <a:t> e uma cadeia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048" y="5661248"/>
                <a:ext cx="6503896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29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 em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Dado um </a:t>
                </a:r>
                <a:r>
                  <a:rPr lang="en-US" dirty="0" err="1"/>
                  <a:t>grafo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pt-BR" dirty="0"/>
                  <a:t>direcionado ou não direcionado:</a:t>
                </a:r>
              </a:p>
              <a:p>
                <a:pPr lvl="1"/>
                <a:r>
                  <a:rPr lang="en-US" dirty="0"/>
                  <a:t>Meta: </a:t>
                </a:r>
                <a:r>
                  <a:rPr lang="pt-BR" dirty="0"/>
                  <a:t>metodicamente, explorar todos os vértices e todas as arestas.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3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As arestas são exploradas a partir do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mais recentemente descoberto que ainda possui arestas não exploradas saindo dele.</a:t>
                </a:r>
              </a:p>
              <a:p>
                <a:r>
                  <a:rPr lang="pt-BR" dirty="0"/>
                  <a:t>Quando todas as arestas adjacentes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tiverem sido exploradas a busca anda para trás para explorar vértices que saem do vértice do qual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foi descoberto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80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Para acompanhar o progresso do algoritmo cada vértice é colorido de branco, cinza ou preto.</a:t>
            </a:r>
          </a:p>
          <a:p>
            <a:r>
              <a:rPr lang="pt-BR" dirty="0"/>
              <a:t>Todos os vértices são inicializados como branco.</a:t>
            </a:r>
          </a:p>
          <a:p>
            <a:r>
              <a:rPr lang="pt-BR" dirty="0"/>
              <a:t>Quando um vértice é </a:t>
            </a:r>
            <a:r>
              <a:rPr lang="pt-BR" i="1" dirty="0"/>
              <a:t>descoberto </a:t>
            </a:r>
            <a:r>
              <a:rPr lang="pt-BR" dirty="0"/>
              <a:t>pela primeira vez ele torna-se cinza, e é tornado preto quando sua lista de adjacentes tenha sido completamente examinada.</a:t>
            </a:r>
          </a:p>
        </p:txBody>
      </p:sp>
    </p:spTree>
    <p:extLst>
      <p:ext uri="{BB962C8B-B14F-4D97-AF65-F5344CB8AC3E}">
        <p14:creationId xmlns:p14="http://schemas.microsoft.com/office/powerpoint/2010/main" val="2904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2792466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361709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410296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1525293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2696343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421554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143171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200596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372803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888001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27585" y="1484784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Todos os vértice são inicializados com branco.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um vértice é visitado pela primeira vez ele torna-se cinza.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Quando sua lista de adjacentes foi totalmente explorada ele torna-se vermelho</a:t>
            </a:r>
          </a:p>
        </p:txBody>
      </p:sp>
    </p:spTree>
    <p:extLst>
      <p:ext uri="{BB962C8B-B14F-4D97-AF65-F5344CB8AC3E}">
        <p14:creationId xmlns:p14="http://schemas.microsoft.com/office/powerpoint/2010/main" val="888001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800" dirty="0"/>
                  <a:t>O tempo de descoberta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> é o momento em que o vértice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800" dirty="0"/>
                  <a:t> foi visitado pela primeira vez</a:t>
                </a:r>
              </a:p>
              <a:p>
                <a:r>
                  <a:rPr lang="pt-BR" sz="2800" dirty="0"/>
                  <a:t>O tempo de término do exame da lista de adjacentes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> é o momento em que a visita a toda lista de vértices adjacentes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800" dirty="0"/>
                  <a:t> foi concluída. </a:t>
                </a:r>
              </a:p>
              <a:p>
                <a:r>
                  <a:rPr lang="pt-BR" sz="2800" dirty="0"/>
                  <a:t>Estes registros são inteiros 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2|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pois existe um evento de descoberta e um evento de término para cada um dos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pt-BR" sz="2800" dirty="0"/>
                  <a:t>vértices.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14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641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67544" y="1844824"/>
            <a:ext cx="459927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endParaRPr lang="pt-BR" sz="1400" dirty="0"/>
          </a:p>
          <a:p>
            <a:r>
              <a:rPr lang="pt-BR" sz="1400" dirty="0"/>
              <a:t>    {</a:t>
            </a:r>
          </a:p>
          <a:p>
            <a:r>
              <a:rPr lang="en-US" sz="1400" dirty="0"/>
              <a:t>        public static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branco</a:t>
            </a:r>
            <a:r>
              <a:rPr lang="en-US" sz="1400" dirty="0"/>
              <a:t> = 0;</a:t>
            </a:r>
          </a:p>
          <a:p>
            <a:r>
              <a:rPr lang="en-US" sz="1400" dirty="0"/>
              <a:t>        public static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cinza</a:t>
            </a:r>
            <a:r>
              <a:rPr lang="en-US" sz="1400" dirty="0"/>
              <a:t>  = 1;</a:t>
            </a:r>
          </a:p>
          <a:p>
            <a:r>
              <a:rPr lang="en-US" sz="1400" dirty="0"/>
              <a:t>        public static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preto</a:t>
            </a:r>
            <a:r>
              <a:rPr lang="en-US" sz="1400" dirty="0"/>
              <a:t>  = 2;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[]d;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[]t;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[]antecessor;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Grafo </a:t>
            </a:r>
            <a:r>
              <a:rPr lang="pt-BR" sz="1400" dirty="0" err="1"/>
              <a:t>grafo</a:t>
            </a:r>
            <a:r>
              <a:rPr lang="pt-BR" sz="1400" dirty="0"/>
              <a:t>;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r>
              <a:rPr lang="pt-BR" sz="1400" dirty="0"/>
              <a:t> (Grafo </a:t>
            </a:r>
            <a:r>
              <a:rPr lang="pt-BR" sz="1400" dirty="0" err="1"/>
              <a:t>grafo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this.grafo</a:t>
            </a:r>
            <a:r>
              <a:rPr lang="pt-BR" sz="1400" dirty="0"/>
              <a:t> = grafo; </a:t>
            </a:r>
            <a:r>
              <a:rPr lang="pt-BR" sz="1400" dirty="0" err="1"/>
              <a:t>int</a:t>
            </a:r>
            <a:r>
              <a:rPr lang="pt-BR" sz="1400" dirty="0"/>
              <a:t> n = </a:t>
            </a:r>
            <a:r>
              <a:rPr lang="pt-BR" sz="1400" dirty="0" err="1"/>
              <a:t>this.grafo.get_numVertices</a:t>
            </a:r>
            <a:r>
              <a:rPr lang="pt-BR" sz="1400" dirty="0"/>
              <a:t>();</a:t>
            </a:r>
          </a:p>
          <a:p>
            <a:r>
              <a:rPr lang="en-US" sz="1400" dirty="0"/>
              <a:t>            d = new </a:t>
            </a:r>
            <a:r>
              <a:rPr lang="en-US" sz="1400" dirty="0" err="1"/>
              <a:t>int</a:t>
            </a:r>
            <a:r>
              <a:rPr lang="en-US" sz="1400" dirty="0"/>
              <a:t>[n]; t = new </a:t>
            </a:r>
            <a:r>
              <a:rPr lang="en-US" sz="1400" dirty="0" err="1"/>
              <a:t>int</a:t>
            </a:r>
            <a:r>
              <a:rPr lang="en-US" sz="1400" dirty="0"/>
              <a:t>[n]; antecessor = new </a:t>
            </a:r>
            <a:r>
              <a:rPr lang="en-US" sz="1400" dirty="0" err="1"/>
              <a:t>int</a:t>
            </a:r>
            <a:r>
              <a:rPr lang="en-US" sz="1400" dirty="0"/>
              <a:t>[n];</a:t>
            </a:r>
          </a:p>
          <a:p>
            <a:r>
              <a:rPr lang="pt-BR" sz="1400" dirty="0"/>
              <a:t>        }</a:t>
            </a:r>
          </a:p>
          <a:p>
            <a:endParaRPr lang="pt-BR" sz="1400" dirty="0"/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d (</a:t>
            </a:r>
            <a:r>
              <a:rPr lang="en-US" sz="1400" dirty="0" err="1"/>
              <a:t>int</a:t>
            </a:r>
            <a:r>
              <a:rPr lang="en-US" sz="1400" dirty="0"/>
              <a:t> v) { return </a:t>
            </a:r>
            <a:r>
              <a:rPr lang="en-US" sz="1400" dirty="0" err="1"/>
              <a:t>this.d</a:t>
            </a:r>
            <a:r>
              <a:rPr lang="en-US" sz="1400" dirty="0"/>
              <a:t>[v];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t (</a:t>
            </a:r>
            <a:r>
              <a:rPr lang="en-US" sz="1400" dirty="0" err="1"/>
              <a:t>int</a:t>
            </a:r>
            <a:r>
              <a:rPr lang="en-US" sz="1400" dirty="0"/>
              <a:t> v) { return this.t[v]; }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antecessor (</a:t>
            </a:r>
            <a:r>
              <a:rPr lang="pt-BR" sz="1400" dirty="0" err="1"/>
              <a:t>int</a:t>
            </a:r>
            <a:r>
              <a:rPr lang="pt-BR" sz="1400" dirty="0"/>
              <a:t> v) { </a:t>
            </a:r>
            <a:r>
              <a:rPr lang="pt-BR" sz="1400" dirty="0" err="1"/>
              <a:t>return</a:t>
            </a:r>
            <a:r>
              <a:rPr lang="pt-BR" sz="1400" dirty="0"/>
              <a:t> </a:t>
            </a:r>
            <a:r>
              <a:rPr lang="pt-BR" sz="1400" dirty="0" err="1"/>
              <a:t>this.antecessor</a:t>
            </a:r>
            <a:r>
              <a:rPr lang="pt-BR" sz="1400" dirty="0"/>
              <a:t>[v]; }</a:t>
            </a:r>
          </a:p>
        </p:txBody>
      </p:sp>
    </p:spTree>
    <p:extLst>
      <p:ext uri="{BB962C8B-B14F-4D97-AF65-F5344CB8AC3E}">
        <p14:creationId xmlns:p14="http://schemas.microsoft.com/office/powerpoint/2010/main" val="1329329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67544" y="1844824"/>
            <a:ext cx="5383269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r>
              <a:rPr lang="pt-BR" sz="1400" dirty="0"/>
              <a:t> () </a:t>
            </a:r>
          </a:p>
          <a:p>
            <a:r>
              <a:rPr lang="pt-BR" sz="1400" dirty="0"/>
              <a:t>       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int</a:t>
            </a:r>
            <a:r>
              <a:rPr lang="en-US" sz="1400" dirty="0"/>
              <a:t> tempo = 0; </a:t>
            </a:r>
            <a:r>
              <a:rPr lang="en-US" sz="1400" dirty="0" err="1"/>
              <a:t>int</a:t>
            </a:r>
            <a:r>
              <a:rPr lang="en-US" sz="1400" dirty="0"/>
              <a:t> []</a:t>
            </a:r>
            <a:r>
              <a:rPr lang="en-US" sz="1400" dirty="0" err="1"/>
              <a:t>cor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</a:t>
            </a:r>
            <a:r>
              <a:rPr lang="en-US" sz="1400" dirty="0" err="1"/>
              <a:t>this.grafo</a:t>
            </a:r>
            <a:r>
              <a:rPr lang="en-US" sz="1400" dirty="0"/>
              <a:t>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n-US" sz="1400" dirty="0" err="1"/>
              <a:t>numVertices</a:t>
            </a:r>
            <a:r>
              <a:rPr lang="en-US" sz="1400" dirty="0"/>
              <a:t> ()]; </a:t>
            </a:r>
          </a:p>
          <a:p>
            <a:endParaRPr lang="pt-BR" sz="1400" dirty="0"/>
          </a:p>
          <a:p>
            <a:r>
              <a:rPr lang="es-ES" sz="1400" dirty="0"/>
              <a:t>            </a:t>
            </a:r>
            <a:r>
              <a:rPr lang="es-ES" sz="1400" dirty="0" err="1"/>
              <a:t>for</a:t>
            </a:r>
            <a:r>
              <a:rPr lang="es-ES" sz="1400" dirty="0"/>
              <a:t> (</a:t>
            </a:r>
            <a:r>
              <a:rPr lang="es-ES" sz="1400" dirty="0" err="1"/>
              <a:t>int</a:t>
            </a:r>
            <a:r>
              <a:rPr lang="es-ES" sz="1400" dirty="0"/>
              <a:t> u = 0; u &lt; grafo.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s-ES" sz="1400" dirty="0" err="1"/>
              <a:t>numVertices</a:t>
            </a:r>
            <a:r>
              <a:rPr lang="es-ES" sz="1400" dirty="0"/>
              <a:t> (); u++) 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cor[u] = branco; </a:t>
            </a:r>
            <a:r>
              <a:rPr lang="pt-BR" sz="1400" dirty="0" err="1"/>
              <a:t>this.antecessor</a:t>
            </a:r>
            <a:r>
              <a:rPr lang="pt-BR" sz="1400" dirty="0"/>
              <a:t>[u] = -1;</a:t>
            </a:r>
          </a:p>
          <a:p>
            <a:r>
              <a:rPr lang="pt-BR" sz="1400" dirty="0"/>
              <a:t>            }     </a:t>
            </a:r>
          </a:p>
          <a:p>
            <a:r>
              <a:rPr lang="pt-BR" sz="1400" dirty="0"/>
              <a:t>            </a:t>
            </a:r>
          </a:p>
          <a:p>
            <a:r>
              <a:rPr lang="es-ES" sz="1400" dirty="0"/>
              <a:t>            </a:t>
            </a:r>
            <a:r>
              <a:rPr lang="es-ES" sz="1400" dirty="0" err="1"/>
              <a:t>for</a:t>
            </a:r>
            <a:r>
              <a:rPr lang="es-ES" sz="1400" dirty="0"/>
              <a:t> (</a:t>
            </a:r>
            <a:r>
              <a:rPr lang="es-ES" sz="1400" dirty="0" err="1"/>
              <a:t>int</a:t>
            </a:r>
            <a:r>
              <a:rPr lang="es-ES" sz="1400" dirty="0"/>
              <a:t> u = 0; u &lt; grafo.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s-ES" sz="1400" dirty="0" err="1"/>
              <a:t>numVertices</a:t>
            </a:r>
            <a:r>
              <a:rPr lang="es-ES" sz="1400" dirty="0"/>
              <a:t> (); u++)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(cor[u] == branco) 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(u, tempo, cor);</a:t>
            </a:r>
          </a:p>
          <a:p>
            <a:r>
              <a:rPr lang="pt-BR" sz="1400" dirty="0"/>
              <a:t>        }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Elipse 6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" name="Conector reto 9"/>
          <p:cNvCxnSpPr>
            <a:stCxn id="6" idx="3"/>
            <a:endCxn id="9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2"/>
            <a:endCxn id="9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4"/>
            <a:endCxn id="7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4" name="Conector de seta reta 13"/>
          <p:cNvCxnSpPr>
            <a:stCxn id="6" idx="5"/>
            <a:endCxn id="13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6"/>
            <a:endCxn id="13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  <a:endCxn id="8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780121" y="341970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</p:spTree>
    <p:extLst>
      <p:ext uri="{BB962C8B-B14F-4D97-AF65-F5344CB8AC3E}">
        <p14:creationId xmlns:p14="http://schemas.microsoft.com/office/powerpoint/2010/main" val="1011206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67544" y="1844824"/>
            <a:ext cx="5383269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buscaEmProfundidade</a:t>
            </a:r>
            <a:r>
              <a:rPr lang="pt-BR" sz="1400" dirty="0"/>
              <a:t> () </a:t>
            </a:r>
          </a:p>
          <a:p>
            <a:r>
              <a:rPr lang="pt-BR" sz="1400" dirty="0"/>
              <a:t>       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int</a:t>
            </a:r>
            <a:r>
              <a:rPr lang="en-US" sz="1400" dirty="0"/>
              <a:t> tempo = 0; </a:t>
            </a:r>
            <a:r>
              <a:rPr lang="en-US" sz="1400" dirty="0" err="1"/>
              <a:t>int</a:t>
            </a:r>
            <a:r>
              <a:rPr lang="en-US" sz="1400" dirty="0"/>
              <a:t> []</a:t>
            </a:r>
            <a:r>
              <a:rPr lang="en-US" sz="1400" dirty="0" err="1"/>
              <a:t>cor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</a:t>
            </a:r>
            <a:r>
              <a:rPr lang="en-US" sz="1400" dirty="0" err="1"/>
              <a:t>this.grafo</a:t>
            </a:r>
            <a:r>
              <a:rPr lang="en-US" sz="1400" dirty="0"/>
              <a:t>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n-US" sz="1400" dirty="0" err="1"/>
              <a:t>numVertices</a:t>
            </a:r>
            <a:r>
              <a:rPr lang="en-US" sz="1400" dirty="0"/>
              <a:t> ()]; </a:t>
            </a:r>
          </a:p>
          <a:p>
            <a:endParaRPr lang="pt-BR" sz="1400" dirty="0"/>
          </a:p>
          <a:p>
            <a:r>
              <a:rPr lang="es-ES" sz="1400" dirty="0"/>
              <a:t>            </a:t>
            </a:r>
            <a:r>
              <a:rPr lang="es-ES" sz="1400" dirty="0" err="1"/>
              <a:t>for</a:t>
            </a:r>
            <a:r>
              <a:rPr lang="es-ES" sz="1400" dirty="0"/>
              <a:t> (</a:t>
            </a:r>
            <a:r>
              <a:rPr lang="es-ES" sz="1400" dirty="0" err="1"/>
              <a:t>int</a:t>
            </a:r>
            <a:r>
              <a:rPr lang="es-ES" sz="1400" dirty="0"/>
              <a:t> u = 0; u &lt; grafo.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s-ES" sz="1400" dirty="0" err="1"/>
              <a:t>numVertices</a:t>
            </a:r>
            <a:r>
              <a:rPr lang="es-ES" sz="1400" dirty="0"/>
              <a:t> (); u++) </a:t>
            </a:r>
          </a:p>
          <a:p>
            <a:r>
              <a:rPr lang="pt-BR" sz="1400" dirty="0"/>
              <a:t>            {</a:t>
            </a:r>
          </a:p>
          <a:p>
            <a:r>
              <a:rPr lang="pt-BR" sz="1400" dirty="0"/>
              <a:t>                cor[u] = branco; </a:t>
            </a:r>
            <a:r>
              <a:rPr lang="pt-BR" sz="1400" dirty="0" err="1"/>
              <a:t>this.antecessor</a:t>
            </a:r>
            <a:r>
              <a:rPr lang="pt-BR" sz="1400" dirty="0"/>
              <a:t>[u] = -1;</a:t>
            </a:r>
          </a:p>
          <a:p>
            <a:r>
              <a:rPr lang="pt-BR" sz="1400" dirty="0"/>
              <a:t>            }     </a:t>
            </a:r>
          </a:p>
          <a:p>
            <a:r>
              <a:rPr lang="pt-BR" sz="1400" dirty="0"/>
              <a:t>            </a:t>
            </a:r>
          </a:p>
          <a:p>
            <a:r>
              <a:rPr lang="es-ES" sz="1400" dirty="0"/>
              <a:t>            </a:t>
            </a:r>
            <a:r>
              <a:rPr lang="es-ES" sz="1400" dirty="0" err="1"/>
              <a:t>for</a:t>
            </a:r>
            <a:r>
              <a:rPr lang="es-ES" sz="1400" dirty="0"/>
              <a:t> (</a:t>
            </a:r>
            <a:r>
              <a:rPr lang="es-ES" sz="1400" dirty="0" err="1"/>
              <a:t>int</a:t>
            </a:r>
            <a:r>
              <a:rPr lang="es-ES" sz="1400" dirty="0"/>
              <a:t> u = 0; u &lt; grafo.</a:t>
            </a:r>
            <a:r>
              <a:rPr lang="pt-BR" sz="1400" dirty="0"/>
              <a:t> </a:t>
            </a:r>
            <a:r>
              <a:rPr lang="pt-BR" sz="1400" dirty="0" err="1"/>
              <a:t>get</a:t>
            </a:r>
            <a:r>
              <a:rPr lang="pt-BR" sz="1400" dirty="0"/>
              <a:t>_</a:t>
            </a:r>
            <a:r>
              <a:rPr lang="es-ES" sz="1400" dirty="0" err="1"/>
              <a:t>numVertices</a:t>
            </a:r>
            <a:r>
              <a:rPr lang="es-ES" sz="1400" dirty="0"/>
              <a:t> (); u++)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(cor[u] == branco) 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(u, tempo, cor)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}</a:t>
            </a:r>
          </a:p>
        </p:txBody>
      </p:sp>
      <p:sp>
        <p:nvSpPr>
          <p:cNvPr id="4" name="Elipse 3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4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4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55576" y="537949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Início da chamada da função </a:t>
            </a:r>
            <a:r>
              <a:rPr lang="pt-BR" dirty="0" err="1"/>
              <a:t>visitaDfs</a:t>
            </a:r>
            <a:endParaRPr lang="pt-BR" dirty="0"/>
          </a:p>
        </p:txBody>
      </p:sp>
      <p:cxnSp>
        <p:nvCxnSpPr>
          <p:cNvPr id="22" name="Conector de Seta Reta 21"/>
          <p:cNvCxnSpPr/>
          <p:nvPr/>
        </p:nvCxnSpPr>
        <p:spPr>
          <a:xfrm flipV="1">
            <a:off x="2339752" y="4653136"/>
            <a:ext cx="720080" cy="58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687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/>
              <a:t>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244722" y="1497558"/>
            <a:ext cx="17197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0</a:t>
            </a:r>
          </a:p>
          <a:p>
            <a:r>
              <a:rPr lang="pt-BR" dirty="0"/>
              <a:t>cor [u] = branco </a:t>
            </a:r>
          </a:p>
        </p:txBody>
      </p:sp>
      <p:cxnSp>
        <p:nvCxnSpPr>
          <p:cNvPr id="23" name="Conector de seta reta 22"/>
          <p:cNvCxnSpPr/>
          <p:nvPr/>
        </p:nvCxnSpPr>
        <p:spPr>
          <a:xfrm>
            <a:off x="6204167" y="1708618"/>
            <a:ext cx="99968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</p:spTree>
    <p:extLst>
      <p:ext uri="{BB962C8B-B14F-4D97-AF65-F5344CB8AC3E}">
        <p14:creationId xmlns:p14="http://schemas.microsoft.com/office/powerpoint/2010/main" val="1461882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cor[u] = cinza; </a:t>
            </a:r>
            <a:r>
              <a:rPr lang="pt-BR" sz="1400" dirty="0" err="1">
                <a:solidFill>
                  <a:srgbClr val="FF0000"/>
                </a:solidFill>
              </a:rPr>
              <a:t>this.d</a:t>
            </a:r>
            <a:r>
              <a:rPr lang="pt-BR" sz="1400" dirty="0">
                <a:solidFill>
                  <a:srgbClr val="FF0000"/>
                </a:solidFill>
              </a:rPr>
              <a:t>[u] = ++tempo</a:t>
            </a:r>
            <a:r>
              <a:rPr lang="pt-BR" sz="1400" dirty="0"/>
              <a:t>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1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435553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1</a:t>
            </a:r>
          </a:p>
          <a:p>
            <a:r>
              <a:rPr lang="pt-BR" dirty="0"/>
              <a:t>cor [u] = cinza</a:t>
            </a:r>
          </a:p>
        </p:txBody>
      </p:sp>
      <p:cxnSp>
        <p:nvCxnSpPr>
          <p:cNvPr id="23" name="Conector de seta reta 22"/>
          <p:cNvCxnSpPr/>
          <p:nvPr/>
        </p:nvCxnSpPr>
        <p:spPr>
          <a:xfrm>
            <a:off x="3059832" y="2420888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3923928" y="2132856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Verifica se lista de </a:t>
            </a:r>
            <a:r>
              <a:rPr lang="pt-BR" sz="1400" dirty="0" err="1"/>
              <a:t>adj</a:t>
            </a:r>
            <a:r>
              <a:rPr lang="pt-BR" sz="1400" dirty="0"/>
              <a:t> do vértice u está vazia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233270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1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1)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42885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173107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1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1)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42885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312644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1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1)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42885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760776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cor[u] = cinza; </a:t>
            </a:r>
            <a:r>
              <a:rPr lang="pt-BR" sz="1400" dirty="0" err="1">
                <a:solidFill>
                  <a:srgbClr val="FF0000"/>
                </a:solidFill>
              </a:rPr>
              <a:t>this.d</a:t>
            </a:r>
            <a:r>
              <a:rPr lang="pt-BR" sz="1400" dirty="0">
                <a:solidFill>
                  <a:srgbClr val="FF0000"/>
                </a:solidFill>
              </a:rPr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tempo = 2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44008" y="270892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1608493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tempo = 2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44008" y="270892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296861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</a:t>
            </a:r>
            <a:r>
              <a:rPr lang="pt-BR" sz="1400" dirty="0">
                <a:solidFill>
                  <a:srgbClr val="FF0000"/>
                </a:solidFill>
              </a:rPr>
              <a:t>cor[u] = preto; this.t[u] = ++tempo;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</a:t>
            </a:r>
            <a:r>
              <a:rPr lang="pt-BR" sz="1400" dirty="0" err="1">
                <a:solidFill>
                  <a:srgbClr val="FF0000"/>
                </a:solidFill>
              </a:rPr>
              <a:t>return</a:t>
            </a:r>
            <a:r>
              <a:rPr lang="pt-BR" sz="1400" dirty="0">
                <a:solidFill>
                  <a:srgbClr val="FF0000"/>
                </a:solidFill>
              </a:rPr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258312" y="1497558"/>
            <a:ext cx="1529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tempo = 3</a:t>
            </a:r>
          </a:p>
          <a:p>
            <a:r>
              <a:rPr lang="pt-BR" dirty="0"/>
              <a:t>cor [u] = preto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44008" y="270892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88971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</a:t>
            </a:r>
            <a:r>
              <a:rPr lang="pt-BR" sz="1400" dirty="0">
                <a:solidFill>
                  <a:srgbClr val="FF0000"/>
                </a:solidFill>
              </a:rPr>
              <a:t>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3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1)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42885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967175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</a:t>
            </a:r>
            <a:r>
              <a:rPr lang="pt-BR" sz="1400" dirty="0">
                <a:solidFill>
                  <a:srgbClr val="FF0000"/>
                </a:solidFill>
              </a:rPr>
              <a:t>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>
                <a:solidFill>
                  <a:srgbClr val="FF0000"/>
                </a:solidFill>
              </a:rPr>
              <a:t>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3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2)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22818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4158809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/>
              <a:t>             </a:t>
            </a:r>
            <a:r>
              <a:rPr lang="pt-BR" sz="1400" dirty="0">
                <a:solidFill>
                  <a:srgbClr val="FF0000"/>
                </a:solidFill>
              </a:rPr>
              <a:t>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3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2)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22818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271391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 get_v2 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(v, tempo, cor);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3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2)</a:t>
            </a:r>
          </a:p>
          <a:p>
            <a:r>
              <a:rPr lang="pt-BR" sz="1400" dirty="0"/>
              <a:t>v = 2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22818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262922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cor[u] = cinza; </a:t>
            </a:r>
            <a:r>
              <a:rPr lang="pt-BR" sz="1400" dirty="0" err="1">
                <a:solidFill>
                  <a:srgbClr val="FF0000"/>
                </a:solidFill>
              </a:rPr>
              <a:t>this.d</a:t>
            </a:r>
            <a:r>
              <a:rPr lang="pt-BR" sz="1400" dirty="0">
                <a:solidFill>
                  <a:srgbClr val="FF0000"/>
                </a:solidFill>
              </a:rPr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4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476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</a:t>
            </a:r>
          </a:p>
          <a:p>
            <a:r>
              <a:rPr lang="pt-BR" sz="1400" dirty="0"/>
              <a:t>v =  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965788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 get_v2 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4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(2 -&gt; 1)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652120" y="48598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587784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4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(2 -&gt; 3)</a:t>
            </a:r>
          </a:p>
          <a:p>
            <a:r>
              <a:rPr lang="pt-BR" sz="1400" dirty="0"/>
              <a:t>v = 1 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7085038" y="48598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8340510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 get_v2 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4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(2 -&gt; 3)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7085038" y="48598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1451125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cor[u] = cinza; </a:t>
            </a:r>
            <a:r>
              <a:rPr lang="pt-BR" sz="1400" dirty="0" err="1">
                <a:solidFill>
                  <a:srgbClr val="FF0000"/>
                </a:solidFill>
              </a:rPr>
              <a:t>this.d</a:t>
            </a:r>
            <a:r>
              <a:rPr lang="pt-BR" sz="1400" dirty="0">
                <a:solidFill>
                  <a:srgbClr val="FF0000"/>
                </a:solidFill>
              </a:rPr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tempo = 5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(2 -&gt; 3)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1451398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/>
              <a:t>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cor[u] = preto; this.t[u] = ++tempo;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</a:t>
            </a:r>
            <a:r>
              <a:rPr lang="pt-BR" sz="1400" dirty="0" err="1">
                <a:solidFill>
                  <a:srgbClr val="FF0000"/>
                </a:solidFill>
              </a:rPr>
              <a:t>return</a:t>
            </a:r>
            <a:r>
              <a:rPr lang="pt-BR" sz="1400" dirty="0">
                <a:solidFill>
                  <a:srgbClr val="FF0000"/>
                </a:solidFill>
              </a:rPr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529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tempo = 6</a:t>
            </a:r>
          </a:p>
          <a:p>
            <a:r>
              <a:rPr lang="pt-BR" dirty="0"/>
              <a:t>cor [u] = preto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(2 -&gt; 3)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228982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6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(2 -&gt; 3)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7085038" y="485986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13686083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</a:t>
            </a:r>
            <a:r>
              <a:rPr lang="pt-BR" sz="1400" dirty="0">
                <a:solidFill>
                  <a:srgbClr val="FF0000"/>
                </a:solidFill>
              </a:rPr>
              <a:t>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6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79723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6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4211428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</a:t>
            </a:r>
            <a:r>
              <a:rPr lang="pt-BR" sz="1400" dirty="0">
                <a:solidFill>
                  <a:srgbClr val="FF0000"/>
                </a:solidFill>
              </a:rPr>
              <a:t>cor[u] = preto; this.t[u] = ++tempo;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</a:t>
            </a:r>
            <a:r>
              <a:rPr lang="pt-BR" sz="1400" dirty="0" err="1">
                <a:solidFill>
                  <a:srgbClr val="FF0000"/>
                </a:solidFill>
              </a:rPr>
              <a:t>return</a:t>
            </a:r>
            <a:r>
              <a:rPr lang="pt-BR" sz="1400" dirty="0">
                <a:solidFill>
                  <a:srgbClr val="FF0000"/>
                </a:solidFill>
              </a:rPr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529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tempo = 7</a:t>
            </a:r>
          </a:p>
          <a:p>
            <a:r>
              <a:rPr lang="pt-BR" dirty="0"/>
              <a:t>cor [u] = preto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987113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</a:t>
            </a:r>
            <a:r>
              <a:rPr lang="pt-BR" sz="1400" dirty="0">
                <a:solidFill>
                  <a:srgbClr val="FF0000"/>
                </a:solidFill>
              </a:rPr>
              <a:t>tempo = </a:t>
            </a:r>
            <a:r>
              <a:rPr lang="pt-BR" sz="1400" dirty="0" err="1">
                <a:solidFill>
                  <a:srgbClr val="FF0000"/>
                </a:solidFill>
              </a:rPr>
              <a:t>this.visitaDfs</a:t>
            </a:r>
            <a:r>
              <a:rPr lang="pt-BR" sz="1400" dirty="0">
                <a:solidFill>
                  <a:srgbClr val="FF0000"/>
                </a:solidFill>
              </a:rPr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7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2)</a:t>
            </a:r>
          </a:p>
          <a:p>
            <a:r>
              <a:rPr lang="pt-BR" sz="1400" dirty="0"/>
              <a:t>v = 2 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22818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282431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</a:t>
            </a:r>
            <a:r>
              <a:rPr lang="pt-BR" sz="1400" dirty="0">
                <a:solidFill>
                  <a:srgbClr val="FF0000"/>
                </a:solidFill>
              </a:rPr>
              <a:t>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7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3)</a:t>
            </a:r>
          </a:p>
          <a:p>
            <a:r>
              <a:rPr lang="pt-BR" sz="1400" dirty="0"/>
              <a:t>v = 2 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22905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20976370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 get_v2 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7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2708920"/>
            <a:ext cx="144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aresta (0 -&gt; 3)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229054" y="41490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4739635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490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7</a:t>
            </a:r>
          </a:p>
          <a:p>
            <a:r>
              <a:rPr lang="pt-BR" dirty="0"/>
              <a:t>cor [u] = cinza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33288599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/>
              <a:t>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</a:t>
            </a:r>
            <a:r>
              <a:rPr lang="pt-BR" sz="1400" dirty="0">
                <a:solidFill>
                  <a:srgbClr val="FF0000"/>
                </a:solidFill>
              </a:rPr>
              <a:t>cor[u] = preto; this.t[u] = ++tempo;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</a:t>
            </a:r>
            <a:r>
              <a:rPr lang="pt-BR" sz="1400" dirty="0" err="1">
                <a:solidFill>
                  <a:srgbClr val="FF0000"/>
                </a:solidFill>
              </a:rPr>
              <a:t>return</a:t>
            </a:r>
            <a:r>
              <a:rPr lang="pt-BR" sz="1400" dirty="0">
                <a:solidFill>
                  <a:srgbClr val="FF0000"/>
                </a:solidFill>
              </a:rPr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529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8</a:t>
            </a:r>
          </a:p>
          <a:p>
            <a:r>
              <a:rPr lang="pt-BR" dirty="0"/>
              <a:t>cor [u] = preto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</p:spTree>
    <p:extLst>
      <p:ext uri="{BB962C8B-B14F-4D97-AF65-F5344CB8AC3E}">
        <p14:creationId xmlns:p14="http://schemas.microsoft.com/office/powerpoint/2010/main" val="4028719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82416" y="1628800"/>
            <a:ext cx="410529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int visitaDfs (int u, int tempo, int []cor) </a:t>
            </a:r>
            <a:r>
              <a:rPr lang="pt-BR" sz="1400" dirty="0"/>
              <a:t>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</a:t>
            </a:r>
            <a:r>
              <a:rPr lang="pt-BR" sz="1400" dirty="0"/>
              <a:t>cor[u] = cinza; </a:t>
            </a:r>
            <a:r>
              <a:rPr lang="pt-BR" sz="1400" dirty="0" err="1"/>
              <a:t>this.d</a:t>
            </a:r>
            <a:r>
              <a:rPr lang="pt-BR" sz="1400" dirty="0"/>
              <a:t>[u] = ++tempo;</a:t>
            </a:r>
          </a:p>
          <a:p>
            <a:r>
              <a:rPr lang="pt-BR" sz="1400" dirty="0"/>
              <a:t>        </a:t>
            </a:r>
          </a:p>
          <a:p>
            <a:r>
              <a:rPr lang="pt-BR" sz="1400" dirty="0"/>
              <a:t>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int</a:t>
            </a:r>
            <a:r>
              <a:rPr lang="pt-BR" sz="1400" dirty="0"/>
              <a:t> v = a. get_v2 ();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</a:t>
            </a:r>
          </a:p>
          <a:p>
            <a:r>
              <a:rPr lang="pt-BR" sz="1400" dirty="0"/>
              <a:t>                        tempo = </a:t>
            </a:r>
            <a:r>
              <a:rPr lang="pt-BR" sz="1400" dirty="0" err="1"/>
              <a:t>this.visitaDfs</a:t>
            </a:r>
            <a:r>
              <a:rPr lang="pt-BR" sz="1400" dirty="0"/>
              <a:t> (v, tempo, cor);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/>
              <a:t>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}</a:t>
            </a:r>
          </a:p>
          <a:p>
            <a:r>
              <a:rPr lang="pt-BR" sz="1400" dirty="0"/>
              <a:t>       }</a:t>
            </a:r>
          </a:p>
          <a:p>
            <a:r>
              <a:rPr lang="pt-BR" sz="1400" dirty="0"/>
              <a:t>       cor[u] = preto; this.t[u] = ++tempo;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return</a:t>
            </a:r>
            <a:r>
              <a:rPr lang="pt-BR" sz="1400" dirty="0"/>
              <a:t> tempo;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240205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240204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820916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796580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068271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339961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511895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820916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704010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783585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092607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780121" y="34197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47814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36357" y="521533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385483" y="517432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385482" y="3409703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9 , 10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258312" y="1497558"/>
            <a:ext cx="1529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tempo = 8</a:t>
            </a:r>
          </a:p>
          <a:p>
            <a:r>
              <a:rPr lang="pt-BR" dirty="0"/>
              <a:t>cor [u] = preto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780121" y="31409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, t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63689" y="6093296"/>
            <a:ext cx="590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Neste passo, o mesmo procedimento é repetido para o vértice 4, até que a função seja finalizada. </a:t>
            </a:r>
          </a:p>
        </p:txBody>
      </p:sp>
    </p:spTree>
    <p:extLst>
      <p:ext uri="{BB962C8B-B14F-4D97-AF65-F5344CB8AC3E}">
        <p14:creationId xmlns:p14="http://schemas.microsoft.com/office/powerpoint/2010/main" val="579969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arestas no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sz="2000" b="1" dirty="0"/>
                  <a:t>Arestas de árvore: </a:t>
                </a:r>
                <a:r>
                  <a:rPr lang="pt-BR" sz="2000" dirty="0"/>
                  <a:t>são arestas de uma árvore de busca em profundidade. A aresta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000" dirty="0"/>
                  <a:t>é uma aresta de árvore se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000" dirty="0"/>
                  <a:t> foi descoberto pela primeira vez ao percorrer a aresta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000" dirty="0"/>
                  <a:t>. Ou seja, quando encontra um vértice branco.</a:t>
                </a:r>
              </a:p>
              <a:p>
                <a:r>
                  <a:rPr lang="pt-BR" sz="2000" b="1" dirty="0"/>
                  <a:t>Arestas de retorno</a:t>
                </a:r>
                <a:r>
                  <a:rPr lang="pt-BR" sz="2000" dirty="0"/>
                  <a:t>: conectam um vértice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000" dirty="0"/>
                  <a:t> com um antecessor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em uma árvore de busca em profundidade (inclui </a:t>
                </a:r>
                <a:r>
                  <a:rPr lang="pt-BR" sz="2000" i="1" dirty="0"/>
                  <a:t>self-loops</a:t>
                </a:r>
                <a:r>
                  <a:rPr lang="pt-BR" sz="2000" dirty="0"/>
                  <a:t>). De um descendente para um ancestral (Encontra </a:t>
                </a:r>
                <a:r>
                  <a:rPr lang="en-US" sz="2000" dirty="0"/>
                  <a:t>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cinza</a:t>
                </a:r>
                <a:r>
                  <a:rPr lang="en-US" sz="2000" dirty="0"/>
                  <a:t> – </a:t>
                </a:r>
                <a:r>
                  <a:rPr lang="en-US" sz="2000" dirty="0" err="1"/>
                  <a:t>sendo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cinza</a:t>
                </a:r>
                <a:r>
                  <a:rPr lang="en-US" sz="2000" dirty="0"/>
                  <a:t> para </a:t>
                </a:r>
                <a:r>
                  <a:rPr lang="en-US" sz="2000" dirty="0" err="1"/>
                  <a:t>cinza</a:t>
                </a:r>
                <a:r>
                  <a:rPr lang="pt-BR" sz="2000" dirty="0"/>
                  <a:t>). </a:t>
                </a:r>
              </a:p>
              <a:p>
                <a:r>
                  <a:rPr lang="pt-BR" sz="2000" b="1" dirty="0"/>
                  <a:t>Arestas de avanço</a:t>
                </a:r>
                <a:r>
                  <a:rPr lang="pt-BR" sz="2000" dirty="0"/>
                  <a:t>: </a:t>
                </a:r>
                <a:r>
                  <a:rPr lang="pt-BR" sz="2000" b="1" i="1" dirty="0"/>
                  <a:t>não pertencem à árvore de busca em profundidade </a:t>
                </a:r>
                <a:r>
                  <a:rPr lang="pt-BR" sz="2000" dirty="0"/>
                  <a:t>mas conectam um vértice a um descendente que pertence à árvore de busca em profundidade (de um ancestral para um descendente, quando encontra 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pt-BR" sz="2000" dirty="0"/>
                  <a:t>preto).</a:t>
                </a:r>
              </a:p>
              <a:p>
                <a:r>
                  <a:rPr lang="pt-BR" sz="2000" b="1" dirty="0"/>
                  <a:t>Arestas de cruzamento</a:t>
                </a:r>
                <a:r>
                  <a:rPr lang="pt-BR" sz="2000" dirty="0"/>
                  <a:t>: podem conectar vértices na mesma árvore de busca em profundidade, ou em duas árvores diferentes (</a:t>
                </a:r>
                <a:r>
                  <a:rPr lang="en-US" sz="2000" dirty="0"/>
                  <a:t>de 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cinza</a:t>
                </a:r>
                <a:r>
                  <a:rPr lang="en-US" sz="2000" dirty="0"/>
                  <a:t> para um </a:t>
                </a:r>
                <a:r>
                  <a:rPr lang="en-US" sz="2000" dirty="0" err="1"/>
                  <a:t>vértice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preto</a:t>
                </a:r>
                <a:r>
                  <a:rPr lang="en-US" sz="2000" dirty="0"/>
                  <a:t>)</a:t>
                </a:r>
                <a:r>
                  <a:rPr lang="pt-BR" sz="2000" dirty="0"/>
                  <a:t>.</a:t>
                </a:r>
              </a:p>
              <a:p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82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8983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arestas no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Classificação de arestas pode ser útil para derivar outros algoritmos.</a:t>
                </a:r>
              </a:p>
              <a:p>
                <a:r>
                  <a:rPr lang="pt-BR" sz="2800" dirty="0"/>
                  <a:t>Na busca em profundidade cada aresta pode ser classificada pela cor do vértice que é alcançado pela primeira vez:</a:t>
                </a:r>
              </a:p>
              <a:p>
                <a:pPr lvl="1"/>
                <a:r>
                  <a:rPr lang="pt-BR" sz="2400" dirty="0"/>
                  <a:t>Branco indica uma aresta de árvore.</a:t>
                </a:r>
              </a:p>
              <a:p>
                <a:pPr lvl="1"/>
                <a:r>
                  <a:rPr lang="pt-BR" sz="2400" dirty="0"/>
                  <a:t>Cinza indica uma aresta de retorno.</a:t>
                </a:r>
              </a:p>
              <a:p>
                <a:pPr lvl="1"/>
                <a:r>
                  <a:rPr lang="pt-BR" sz="2400" dirty="0"/>
                  <a:t>Preto indica uma aresta de avanço quando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sz="2400" dirty="0"/>
                  <a:t> é descoberto antes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ou uma aresta de cruzamento caso contrário.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5230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95118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822637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22" name="Retângulo 21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55002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23" name="Retângulo 22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2020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24" name="Retângulo 23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9536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_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4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25" name="Retângulo 24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6" name="Retângulo 25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0" name="Retângulo 29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78426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26" name="Retângulo 25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0" name="Retângulo 29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3251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26" name="Retângulo 25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0" name="Retângulo 29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1" name="Retângulo 30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452629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0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33" name="Retângulo 32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28435011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0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32" name="Retângulo 31"/>
          <p:cNvSpPr/>
          <p:nvPr/>
        </p:nvSpPr>
        <p:spPr>
          <a:xfrm>
            <a:off x="5099470" y="4077072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33" name="Retângulo 32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3197148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1" name="Retângulo 30"/>
          <p:cNvSpPr/>
          <p:nvPr/>
        </p:nvSpPr>
        <p:spPr>
          <a:xfrm>
            <a:off x="5099470" y="4077072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32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33" name="Retângulo 32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6516499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49369" y="340970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 , 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2" name="Retângulo 31"/>
          <p:cNvSpPr/>
          <p:nvPr/>
        </p:nvSpPr>
        <p:spPr>
          <a:xfrm>
            <a:off x="5099470" y="4077072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3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34" name="Retângulo 33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5940152" y="4229472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11745609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6249369" y="3409703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9 , 10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111701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2 , 3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644008" y="34197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249370" y="51743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100244" y="521533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4 , 7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308383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946249" y="4077072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4810345" y="5085184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32" name="Retângulo 31"/>
          <p:cNvSpPr/>
          <p:nvPr/>
        </p:nvSpPr>
        <p:spPr>
          <a:xfrm>
            <a:off x="5099470" y="4077072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3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t-BR" sz="2000" b="1" dirty="0"/>
              <a:t>Arestas de árvore: </a:t>
            </a:r>
            <a:r>
              <a:rPr lang="pt-BR" sz="2000" dirty="0"/>
              <a:t>encontra um vértice branco.</a:t>
            </a:r>
          </a:p>
          <a:p>
            <a:r>
              <a:rPr lang="pt-BR" sz="2000" b="1" dirty="0"/>
              <a:t>Arestas de retorno</a:t>
            </a:r>
            <a:r>
              <a:rPr lang="pt-BR" sz="2000" dirty="0"/>
              <a:t>: Encontra </a:t>
            </a:r>
            <a:r>
              <a:rPr lang="en-US" sz="2000" dirty="0"/>
              <a:t>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(</a:t>
            </a:r>
            <a:r>
              <a:rPr lang="en-US" sz="2000" dirty="0" err="1"/>
              <a:t>cinza</a:t>
            </a:r>
            <a:r>
              <a:rPr lang="en-US" sz="2000" dirty="0"/>
              <a:t> para </a:t>
            </a:r>
            <a:r>
              <a:rPr lang="en-US" sz="2000" dirty="0" err="1"/>
              <a:t>cinza</a:t>
            </a:r>
            <a:r>
              <a:rPr lang="en-US" sz="2000" dirty="0"/>
              <a:t>).</a:t>
            </a:r>
          </a:p>
          <a:p>
            <a:r>
              <a:rPr lang="pt-BR" sz="2000" b="1" dirty="0"/>
              <a:t>Arestas de avanço</a:t>
            </a:r>
            <a:r>
              <a:rPr lang="pt-BR" sz="2000" dirty="0"/>
              <a:t>: encontra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pt-BR" sz="2000" dirty="0"/>
              <a:t>preto (u é descoberto antes de v).</a:t>
            </a:r>
          </a:p>
          <a:p>
            <a:r>
              <a:rPr lang="pt-BR" sz="2000" b="1" dirty="0"/>
              <a:t>Arestas de cruzamento</a:t>
            </a:r>
            <a:r>
              <a:rPr lang="pt-BR" sz="2000" dirty="0"/>
              <a:t>: </a:t>
            </a:r>
            <a:r>
              <a:rPr lang="en-US" sz="2000" dirty="0"/>
              <a:t>de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cinza</a:t>
            </a:r>
            <a:r>
              <a:rPr lang="en-US" sz="2000" dirty="0"/>
              <a:t> para um </a:t>
            </a:r>
            <a:r>
              <a:rPr lang="en-US" sz="2000" dirty="0" err="1"/>
              <a:t>vértice</a:t>
            </a:r>
            <a:r>
              <a:rPr lang="en-US" sz="2000" dirty="0"/>
              <a:t> </a:t>
            </a:r>
            <a:r>
              <a:rPr lang="en-US" sz="2000" dirty="0" err="1"/>
              <a:t>preto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sp>
        <p:nvSpPr>
          <p:cNvPr id="34" name="Retângulo 33"/>
          <p:cNvSpPr/>
          <p:nvPr/>
        </p:nvSpPr>
        <p:spPr>
          <a:xfrm>
            <a:off x="3563888" y="508518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5940152" y="4229472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39433783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7876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0608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80379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74589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28891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85005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63756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779912" y="536392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28803598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3779912" y="536392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25733801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3779912" y="536392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</p:spTree>
    <p:extLst>
      <p:ext uri="{BB962C8B-B14F-4D97-AF65-F5344CB8AC3E}">
        <p14:creationId xmlns:p14="http://schemas.microsoft.com/office/powerpoint/2010/main" val="35389659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3779912" y="536392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4047047" y="4149080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98167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uma aresta de retorno:</a:t>
            </a:r>
          </a:p>
          <a:p>
            <a:pPr lvl="1"/>
            <a:r>
              <a:rPr lang="pt-BR" b="1" dirty="0"/>
              <a:t>Arestas de retorno</a:t>
            </a:r>
            <a:r>
              <a:rPr lang="pt-BR" dirty="0"/>
              <a:t>: Encontra </a:t>
            </a:r>
            <a:r>
              <a:rPr lang="en-US" dirty="0"/>
              <a:t>um </a:t>
            </a:r>
            <a:r>
              <a:rPr lang="en-US" dirty="0" err="1"/>
              <a:t>vértice</a:t>
            </a:r>
            <a:r>
              <a:rPr lang="en-US" dirty="0"/>
              <a:t> </a:t>
            </a:r>
            <a:r>
              <a:rPr lang="en-US" dirty="0" err="1"/>
              <a:t>cinza</a:t>
            </a:r>
            <a:r>
              <a:rPr lang="en-US" dirty="0"/>
              <a:t> (</a:t>
            </a:r>
            <a:r>
              <a:rPr lang="en-US" dirty="0" err="1"/>
              <a:t>cinza</a:t>
            </a:r>
            <a:r>
              <a:rPr lang="en-US" dirty="0"/>
              <a:t> para </a:t>
            </a:r>
            <a:r>
              <a:rPr lang="en-US" dirty="0" err="1"/>
              <a:t>cinza</a:t>
            </a:r>
            <a:r>
              <a:rPr lang="en-US" dirty="0"/>
              <a:t>).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4"/>
            <a:endCxn id="7" idx="0"/>
          </p:cNvCxnSpPr>
          <p:nvPr/>
        </p:nvCxnSpPr>
        <p:spPr>
          <a:xfrm flipH="1">
            <a:off x="3125470" y="3718942"/>
            <a:ext cx="239" cy="1480999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2226251" y="3675197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2218057" y="478786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3317823" y="4483020"/>
            <a:ext cx="4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arv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3779912" y="5363924"/>
            <a:ext cx="575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cruz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047047" y="4149080"/>
            <a:ext cx="624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avan</a:t>
            </a:r>
            <a:endParaRPr lang="pt-BR" dirty="0"/>
          </a:p>
        </p:txBody>
      </p:sp>
      <p:sp>
        <p:nvSpPr>
          <p:cNvPr id="24" name="Retângulo 23"/>
          <p:cNvSpPr/>
          <p:nvPr/>
        </p:nvSpPr>
        <p:spPr>
          <a:xfrm>
            <a:off x="3059832" y="4139788"/>
            <a:ext cx="452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ret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62832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da 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𝑣𝑖𝑠𝑖𝑡𝑎𝐷𝑓𝑠</m:t>
                    </m:r>
                    <m:r>
                      <a:rPr lang="pt-BR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é chamado exatamente uma vez para cada vértice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  <m:r>
                      <a:rPr lang="pt-BR" sz="240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2400" i="1" dirty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400" dirty="0"/>
                  <a:t> .</a:t>
                </a:r>
              </a:p>
              <a:p>
                <a:r>
                  <a:rPr lang="pt-BR" sz="2400" dirty="0"/>
                  <a:t>Durante a execução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𝑣𝑖𝑠𝑖𝑡𝑎𝐷𝑓𝑠</m:t>
                    </m:r>
                    <m:r>
                      <a:rPr lang="pt-BR" sz="2400" i="1" dirty="0">
                        <a:latin typeface="Cambria Math"/>
                      </a:rPr>
                      <m:t>(</m:t>
                    </m:r>
                    <m:r>
                      <a:rPr lang="pt-BR" sz="2400" i="1" dirty="0">
                        <a:latin typeface="Cambria Math"/>
                      </a:rPr>
                      <m:t>𝑢</m:t>
                    </m:r>
                    <m:r>
                      <a:rPr lang="pt-BR" sz="2400" i="1" dirty="0">
                        <a:latin typeface="Cambria Math"/>
                      </a:rPr>
                      <m:t>, </m:t>
                    </m:r>
                    <m:r>
                      <a:rPr lang="pt-BR" sz="2400" i="1" dirty="0" smtClean="0">
                        <a:latin typeface="Cambria Math"/>
                      </a:rPr>
                      <m:t>𝑡𝑒𝑚𝑝𝑜</m:t>
                    </m:r>
                    <m:r>
                      <a:rPr lang="pt-BR" sz="2400" i="1" dirty="0" smtClean="0">
                        <a:latin typeface="Cambria Math"/>
                      </a:rPr>
                      <m:t>, </m:t>
                    </m:r>
                    <m:r>
                      <a:rPr lang="pt-BR" sz="2400" i="1" dirty="0" smtClean="0">
                        <a:latin typeface="Cambria Math"/>
                      </a:rPr>
                      <m:t>𝑐𝑜𝑟</m:t>
                    </m:r>
                    <m:r>
                      <a:rPr lang="pt-BR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, o anel principal é executado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|</m:t>
                    </m:r>
                    <m:r>
                      <a:rPr lang="pt-BR" sz="2400" i="1" dirty="0" err="1">
                        <a:latin typeface="Cambria Math"/>
                      </a:rPr>
                      <m:t>𝑎𝑑𝑗</m:t>
                    </m:r>
                    <m:r>
                      <a:rPr lang="pt-BR" sz="2400" i="1" dirty="0">
                        <a:latin typeface="Cambria Math"/>
                      </a:rPr>
                      <m:t>[</m:t>
                    </m:r>
                    <m:r>
                      <a:rPr lang="pt-BR" sz="2400" i="1" dirty="0">
                        <a:latin typeface="Cambria Math"/>
                      </a:rPr>
                      <m:t>𝑢</m:t>
                    </m:r>
                    <m:r>
                      <a:rPr lang="pt-BR" sz="2400" i="1" dirty="0" smtClean="0">
                        <a:latin typeface="Cambria Math"/>
                      </a:rPr>
                      <m:t>]| </m:t>
                    </m:r>
                  </m:oMath>
                </a14:m>
                <a:r>
                  <a:rPr lang="pt-BR" sz="2400" dirty="0"/>
                  <a:t>vezes (ou seja, para cada aresta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400" dirty="0"/>
                  <a:t>).</a:t>
                </a:r>
              </a:p>
              <a:p>
                <a:r>
                  <a:rPr lang="pt-BR" sz="2400" dirty="0"/>
                  <a:t>Então: 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O tempo total de execução de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/>
                      </a:rPr>
                      <m:t>𝑣𝑖𝑠𝑖𝑡𝑎𝐷𝑓𝑠</m:t>
                    </m:r>
                  </m:oMath>
                </a14:m>
                <a:r>
                  <a:rPr lang="pt-BR" sz="2400" dirty="0"/>
                  <a:t>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Logo, a complexidade do algoritmo é  </a:t>
                </a:r>
                <a14:m>
                  <m:oMath xmlns:m="http://schemas.openxmlformats.org/officeDocument/2006/math">
                    <m:r>
                      <a:rPr lang="pt-BR" sz="2400" i="1" dirty="0">
                        <a:latin typeface="Cambria Math"/>
                      </a:rPr>
                      <m:t>𝑂</m:t>
                    </m:r>
                    <m:r>
                      <a:rPr lang="pt-BR" sz="2400" i="1" dirty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/>
                          </a:rPr>
                          <m:t>𝑉</m:t>
                        </m:r>
                      </m:e>
                    </m:d>
                    <m:r>
                      <a:rPr lang="pt-BR" sz="2400" b="0" i="1" dirty="0" smtClean="0">
                        <a:latin typeface="Cambria Math"/>
                      </a:rPr>
                      <m:t>+</m:t>
                    </m:r>
                    <m:r>
                      <a:rPr lang="pt-BR" sz="2400" i="1" dirty="0">
                        <a:latin typeface="Cambria Math"/>
                      </a:rPr>
                      <m:t>|</m:t>
                    </m:r>
                    <m:r>
                      <a:rPr lang="pt-BR" sz="2400" i="1" dirty="0">
                        <a:latin typeface="Cambria Math"/>
                      </a:rPr>
                      <m:t>𝐴</m:t>
                    </m:r>
                    <m:r>
                      <a:rPr lang="pt-BR" sz="2400" i="1" dirty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347864" y="3888503"/>
                <a:ext cx="2314928" cy="764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b="0" i="1" smtClean="0">
                              <a:latin typeface="Cambria Math"/>
                            </a:rPr>
                            <m:t>𝑢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i="1" dirty="0" err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 err="1">
                                  <a:latin typeface="Cambria Math"/>
                                </a:rPr>
                                <m:t>𝑎𝑑𝑗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dirty="0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d>
                          <m:r>
                            <a:rPr lang="pt-BR" b="0" i="1" dirty="0" smtClean="0">
                              <a:latin typeface="Cambria Math"/>
                            </a:rPr>
                            <m:t>=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𝑂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(|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𝐴</m:t>
                          </m:r>
                          <m:r>
                            <a:rPr lang="pt-BR" b="0" i="1" dirty="0" smtClean="0">
                              <a:latin typeface="Cambria Math"/>
                            </a:rPr>
                            <m:t>|)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888503"/>
                <a:ext cx="2314928" cy="76463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3449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Teste de circuito</a:t>
            </a:r>
          </a:p>
          <a:p>
            <a:pPr lvl="1"/>
            <a:r>
              <a:rPr lang="pt-BR" dirty="0"/>
              <a:t>Se uma </a:t>
            </a:r>
            <a:r>
              <a:rPr lang="pt-BR" b="1" dirty="0"/>
              <a:t>aresta de retorno </a:t>
            </a:r>
            <a:r>
              <a:rPr lang="pt-BR" dirty="0"/>
              <a:t>é encontrada na busca em profundidade então o grafo possui um </a:t>
            </a:r>
            <a:r>
              <a:rPr lang="pt-BR" b="1" dirty="0"/>
              <a:t>ciclo</a:t>
            </a:r>
          </a:p>
          <a:p>
            <a:pPr lvl="1"/>
            <a:r>
              <a:rPr lang="pt-BR" dirty="0"/>
              <a:t>Um grafo é acíclico se e somente se na busca em profundidade não for encontrada nenhuma </a:t>
            </a:r>
            <a:r>
              <a:rPr lang="pt-BR" b="1" dirty="0"/>
              <a:t>aresta de retorno</a:t>
            </a:r>
            <a:r>
              <a:rPr lang="pt-BR" dirty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22659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Implemente um algoritmo para detectar ciclos em um grafo. Seu algoritmo irá receber como entrada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retornará como saída os vértices que fazem parte do ciclo (se houver ciclo). Em sua implementação, considere que o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tenha somente um ciclo (se houver). </a:t>
                </a:r>
              </a:p>
              <a:p>
                <a:r>
                  <a:rPr lang="pt-BR" dirty="0"/>
                  <a:t>Dica: modifique a implementação do algoritmo de busca em profundidade.</a:t>
                </a:r>
              </a:p>
              <a:p>
                <a:r>
                  <a:rPr lang="pt-BR" dirty="0"/>
                  <a:t>Entrega: a definir.  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r="-25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3633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Expandir o conjunto de vértices de forma uniforme em que são visitados todos os vértices de mesma distância ao início antes de visitar outros níveis.</a:t>
                </a:r>
              </a:p>
              <a:p>
                <a:r>
                  <a:rPr lang="pt-BR" sz="2800" dirty="0"/>
                  <a:t>Ideia</a:t>
                </a:r>
              </a:p>
              <a:p>
                <a:pPr lvl="1"/>
                <a:r>
                  <a:rPr lang="pt-BR" sz="2400" dirty="0"/>
                  <a:t>Na busca em largura o algoritmo descobre todos os vértices a uma distância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400" dirty="0"/>
                  <a:t> do vértice de origem antes de descobrir os que estão a uma distância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400" dirty="0"/>
                  <a:t>O grafo pode ser direcionado ou não direcionado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0147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Algoritmo:</a:t>
                </a:r>
              </a:p>
              <a:p>
                <a:pPr lvl="1"/>
                <a:r>
                  <a:rPr lang="pt-BR" dirty="0"/>
                  <a:t>Cada vértice é colorido de branco, cinza ou preto.</a:t>
                </a:r>
              </a:p>
              <a:p>
                <a:pPr lvl="1"/>
                <a:r>
                  <a:rPr lang="pt-BR" dirty="0"/>
                  <a:t>Todos os vértices são inicializados com branco</a:t>
                </a:r>
              </a:p>
              <a:p>
                <a:pPr lvl="1"/>
                <a:r>
                  <a:rPr lang="pt-BR" dirty="0"/>
                  <a:t>Quando um vértice é descoberto pela primeira vez ele torna-se cinza</a:t>
                </a:r>
              </a:p>
              <a:p>
                <a:pPr lvl="1"/>
                <a:r>
                  <a:rPr lang="pt-BR" dirty="0"/>
                  <a:t>Vértices cujos adjacentes são todos descobertos tornam-se pretos.</a:t>
                </a:r>
              </a:p>
              <a:p>
                <a:pPr lvl="1"/>
                <a:r>
                  <a:rPr lang="pt-BR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𝑢</m:t>
                        </m:r>
                        <m:r>
                          <a:rPr lang="pt-BR" b="0" i="1" smtClean="0">
                            <a:latin typeface="Cambria Math"/>
                          </a:rPr>
                          <m:t>, </m:t>
                        </m:r>
                        <m:r>
                          <a:rPr lang="pt-BR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dirty="0"/>
                  <a:t> e 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dirty="0"/>
                  <a:t> é preto, então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 tem quer ser cinza ou preto.</a:t>
                </a:r>
              </a:p>
              <a:p>
                <a:pPr lvl="1"/>
                <a:r>
                  <a:rPr lang="pt-BR" dirty="0"/>
                  <a:t>Vértices cinzas podem ter adjacentes brancos.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2695" r="-1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5876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5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6482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393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7420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1797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1846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6721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5480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9117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7992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08172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Elipse 3"/>
          <p:cNvSpPr/>
          <p:nvPr/>
        </p:nvSpPr>
        <p:spPr>
          <a:xfrm>
            <a:off x="4104092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104091" y="480885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684803" y="336869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2660467" y="517432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4" idx="3"/>
            <a:endCxn id="7" idx="0"/>
          </p:cNvCxnSpPr>
          <p:nvPr/>
        </p:nvCxnSpPr>
        <p:spPr>
          <a:xfrm flipH="1">
            <a:off x="2932158" y="3718942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5" idx="2"/>
            <a:endCxn id="7" idx="6"/>
          </p:cNvCxnSpPr>
          <p:nvPr/>
        </p:nvCxnSpPr>
        <p:spPr>
          <a:xfrm flipH="1">
            <a:off x="3203848" y="5014023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5" idx="0"/>
          </p:cNvCxnSpPr>
          <p:nvPr/>
        </p:nvCxnSpPr>
        <p:spPr>
          <a:xfrm flipH="1">
            <a:off x="4375782" y="3779035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684803" y="5178896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9" name="Conector de seta reta 18"/>
          <p:cNvCxnSpPr>
            <a:stCxn id="4" idx="5"/>
            <a:endCxn id="17" idx="1"/>
          </p:cNvCxnSpPr>
          <p:nvPr/>
        </p:nvCxnSpPr>
        <p:spPr>
          <a:xfrm>
            <a:off x="4567897" y="3718942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5" idx="6"/>
            <a:endCxn id="17" idx="2"/>
          </p:cNvCxnSpPr>
          <p:nvPr/>
        </p:nvCxnSpPr>
        <p:spPr>
          <a:xfrm>
            <a:off x="4647472" y="5014023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17" idx="0"/>
            <a:endCxn id="6" idx="4"/>
          </p:cNvCxnSpPr>
          <p:nvPr/>
        </p:nvCxnSpPr>
        <p:spPr>
          <a:xfrm flipV="1">
            <a:off x="5956494" y="3779035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pt-BR" sz="1800" dirty="0"/>
                  <a:t>Algoritmo:</a:t>
                </a:r>
              </a:p>
              <a:p>
                <a:pPr lvl="1"/>
                <a:r>
                  <a:rPr lang="pt-BR" sz="1600" dirty="0"/>
                  <a:t>Todos os vértices são inicializados com branco</a:t>
                </a:r>
              </a:p>
              <a:p>
                <a:pPr lvl="1"/>
                <a:r>
                  <a:rPr lang="pt-BR" sz="1600" dirty="0"/>
                  <a:t>Quando um vértice é descoberto pela primeira vez ele torna-se cinza</a:t>
                </a:r>
              </a:p>
              <a:p>
                <a:pPr lvl="1"/>
                <a:r>
                  <a:rPr lang="pt-BR" sz="1600" dirty="0"/>
                  <a:t>Vértices cujos adjacentes são todos descobertos tornam-se pretos.</a:t>
                </a:r>
              </a:p>
              <a:p>
                <a:pPr lvl="1"/>
                <a:r>
                  <a:rPr lang="pt-BR" sz="1600" dirty="0"/>
                  <a:t>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latin typeface="Cambria Math"/>
                          </a:rPr>
                          <m:t>𝑢</m:t>
                        </m:r>
                        <m:r>
                          <a:rPr lang="pt-BR" sz="1600" b="0" i="1" smtClean="0">
                            <a:latin typeface="Cambria Math"/>
                          </a:rPr>
                          <m:t>, </m:t>
                        </m:r>
                        <m:r>
                          <a:rPr lang="pt-BR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pt-BR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1600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r>
                  <a:rPr lang="pt-BR" sz="1600" dirty="0"/>
                  <a:t> e o vértice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1600" dirty="0"/>
                  <a:t> é preto, então </a:t>
                </a:r>
                <a14:m>
                  <m:oMath xmlns:m="http://schemas.openxmlformats.org/officeDocument/2006/math">
                    <m:r>
                      <a:rPr lang="pt-BR" sz="16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1600" dirty="0"/>
                  <a:t> tem quer ser cinza ou preto.</a:t>
                </a:r>
              </a:p>
            </p:txBody>
          </p:sp>
        </mc:Choice>
        <mc:Fallback xmlns="">
          <p:sp>
            <p:nvSpPr>
              <p:cNvPr id="14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2"/>
                <a:stretch>
                  <a:fillRect l="-444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7748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335534"/>
            <a:ext cx="5749394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BuscaEmLargura</a:t>
            </a:r>
            <a:r>
              <a:rPr lang="pt-BR" sz="1400" dirty="0"/>
              <a:t>    {</a:t>
            </a:r>
          </a:p>
          <a:p>
            <a:r>
              <a:rPr lang="en-US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const</a:t>
            </a:r>
            <a:r>
              <a:rPr lang="pt-BR" sz="1400" dirty="0"/>
              <a:t> byte branco = 0;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const</a:t>
            </a:r>
            <a:r>
              <a:rPr lang="pt-BR" sz="1400" dirty="0"/>
              <a:t> byte cinza  = 1;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const</a:t>
            </a:r>
            <a:r>
              <a:rPr lang="en-US" sz="1400" dirty="0"/>
              <a:t> byte </a:t>
            </a:r>
            <a:r>
              <a:rPr lang="en-US" sz="1400" dirty="0" err="1"/>
              <a:t>preto</a:t>
            </a:r>
            <a:r>
              <a:rPr lang="en-US" sz="1400" dirty="0"/>
              <a:t>  = 2;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[]d;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</a:t>
            </a:r>
            <a:r>
              <a:rPr lang="pt-BR" sz="1400" dirty="0" err="1"/>
              <a:t>int</a:t>
            </a:r>
            <a:r>
              <a:rPr lang="pt-BR" sz="1400" dirty="0"/>
              <a:t> [] antecessor;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private</a:t>
            </a:r>
            <a:r>
              <a:rPr lang="pt-BR" sz="1400" dirty="0"/>
              <a:t> Grafo </a:t>
            </a:r>
            <a:r>
              <a:rPr lang="pt-BR" sz="1400" dirty="0" err="1"/>
              <a:t>grafo</a:t>
            </a:r>
            <a:r>
              <a:rPr lang="pt-BR" sz="1400" dirty="0"/>
              <a:t>; 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BuscaEmLargura</a:t>
            </a:r>
            <a:r>
              <a:rPr lang="pt-BR" sz="1400" dirty="0"/>
              <a:t> (Grafo </a:t>
            </a:r>
            <a:r>
              <a:rPr lang="pt-BR" sz="1400" dirty="0" err="1"/>
              <a:t>grafo</a:t>
            </a:r>
            <a:r>
              <a:rPr lang="pt-BR" sz="1400" dirty="0"/>
              <a:t>)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this.grafo</a:t>
            </a:r>
            <a:r>
              <a:rPr lang="pt-BR" sz="1400" dirty="0"/>
              <a:t> = grafo; </a:t>
            </a:r>
            <a:r>
              <a:rPr lang="pt-BR" sz="1400" dirty="0" err="1"/>
              <a:t>int</a:t>
            </a:r>
            <a:r>
              <a:rPr lang="pt-BR" sz="1400" dirty="0"/>
              <a:t> n = </a:t>
            </a:r>
            <a:r>
              <a:rPr lang="pt-BR" sz="1400" dirty="0" err="1"/>
              <a:t>this.grafo.get_numVertices</a:t>
            </a:r>
            <a:r>
              <a:rPr lang="pt-BR" sz="1400" dirty="0"/>
              <a:t>();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this.d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[n]; </a:t>
            </a:r>
            <a:r>
              <a:rPr lang="en-US" sz="1400" dirty="0" err="1"/>
              <a:t>this.antecessor</a:t>
            </a:r>
            <a:r>
              <a:rPr lang="en-US" sz="1400" dirty="0"/>
              <a:t> = new </a:t>
            </a:r>
            <a:r>
              <a:rPr lang="en-US" sz="1400" dirty="0" err="1"/>
              <a:t>int</a:t>
            </a:r>
            <a:r>
              <a:rPr lang="en-US" sz="1400" dirty="0"/>
              <a:t>[n];</a:t>
            </a:r>
          </a:p>
          <a:p>
            <a:r>
              <a:rPr lang="pt-BR" sz="1400" dirty="0"/>
              <a:t>       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get_d</a:t>
            </a:r>
            <a:r>
              <a:rPr lang="en-US" sz="1400" dirty="0"/>
              <a:t> (</a:t>
            </a:r>
            <a:r>
              <a:rPr lang="en-US" sz="1400" dirty="0" err="1"/>
              <a:t>int</a:t>
            </a:r>
            <a:r>
              <a:rPr lang="en-US" sz="1400" dirty="0"/>
              <a:t> v) { return </a:t>
            </a:r>
            <a:r>
              <a:rPr lang="en-US" sz="1400" dirty="0" err="1"/>
              <a:t>this.d</a:t>
            </a:r>
            <a:r>
              <a:rPr lang="en-US" sz="1400" dirty="0"/>
              <a:t>[v]; }</a:t>
            </a:r>
          </a:p>
          <a:p>
            <a:r>
              <a:rPr lang="en-US" sz="1400" dirty="0"/>
              <a:t>        public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get_antecessor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v) { return </a:t>
            </a:r>
            <a:r>
              <a:rPr lang="en-US" sz="1400" dirty="0" err="1"/>
              <a:t>this.antecessor</a:t>
            </a:r>
            <a:r>
              <a:rPr lang="en-US" sz="1400" dirty="0"/>
              <a:t>[v]; }  </a:t>
            </a:r>
          </a:p>
          <a:p>
            <a:endParaRPr lang="pt-BR" sz="1400" dirty="0"/>
          </a:p>
          <a:p>
            <a:r>
              <a:rPr lang="pt-BR" sz="1400" dirty="0"/>
              <a:t>    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imprimeCaminho</a:t>
            </a:r>
            <a:r>
              <a:rPr lang="pt-BR" sz="1400" dirty="0"/>
              <a:t> (</a:t>
            </a:r>
            <a:r>
              <a:rPr lang="pt-BR" sz="1400" dirty="0" err="1"/>
              <a:t>int</a:t>
            </a:r>
            <a:r>
              <a:rPr lang="pt-BR" sz="1400" dirty="0"/>
              <a:t> origem, </a:t>
            </a:r>
            <a:r>
              <a:rPr lang="pt-BR" sz="1400" dirty="0" err="1"/>
              <a:t>int</a:t>
            </a:r>
            <a:r>
              <a:rPr lang="pt-BR" sz="1400" dirty="0"/>
              <a:t> v) {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if</a:t>
            </a:r>
            <a:r>
              <a:rPr lang="pt-BR" sz="1400" dirty="0"/>
              <a:t> (origem == v)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(origem);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else</a:t>
            </a:r>
            <a:r>
              <a:rPr lang="pt-BR" sz="1400" dirty="0"/>
              <a:t> </a:t>
            </a:r>
            <a:r>
              <a:rPr lang="pt-BR" sz="1400" dirty="0" err="1"/>
              <a:t>if</a:t>
            </a:r>
            <a:r>
              <a:rPr lang="pt-BR" sz="1400" dirty="0"/>
              <a:t> (</a:t>
            </a:r>
            <a:r>
              <a:rPr lang="pt-BR" sz="1400" dirty="0" err="1"/>
              <a:t>this.antecessor</a:t>
            </a:r>
            <a:r>
              <a:rPr lang="pt-BR" sz="1400" dirty="0"/>
              <a:t>[v] == -1)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("</a:t>
            </a:r>
            <a:r>
              <a:rPr lang="pt-BR" sz="1400" dirty="0" err="1"/>
              <a:t>Nao</a:t>
            </a:r>
            <a:r>
              <a:rPr lang="pt-BR" sz="1400" dirty="0"/>
              <a:t> existe caminho de " + origem + " ate " + v);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else</a:t>
            </a:r>
            <a:r>
              <a:rPr lang="pt-BR" sz="1400" dirty="0"/>
              <a:t> {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imprimeCaminho</a:t>
            </a:r>
            <a:r>
              <a:rPr lang="pt-BR" sz="1400" dirty="0"/>
              <a:t> (origem, </a:t>
            </a:r>
            <a:r>
              <a:rPr lang="pt-BR" sz="1400" dirty="0" err="1"/>
              <a:t>this.antecessor</a:t>
            </a:r>
            <a:r>
              <a:rPr lang="pt-BR" sz="1400" dirty="0"/>
              <a:t>[v]);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Console.WriteLine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}    </a:t>
            </a:r>
          </a:p>
          <a:p>
            <a:r>
              <a:rPr lang="pt-BR" sz="1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6728012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1560" y="1556792"/>
            <a:ext cx="541622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buscaEmLargura</a:t>
            </a:r>
            <a:r>
              <a:rPr lang="pt-BR" dirty="0"/>
              <a:t> () {</a:t>
            </a:r>
          </a:p>
          <a:p>
            <a:r>
              <a:rPr lang="pt-BR" dirty="0"/>
              <a:t>            </a:t>
            </a:r>
            <a:r>
              <a:rPr lang="pt-BR" dirty="0" err="1"/>
              <a:t>int</a:t>
            </a:r>
            <a:r>
              <a:rPr lang="pt-BR" dirty="0"/>
              <a:t> []cor = new </a:t>
            </a:r>
            <a:r>
              <a:rPr lang="pt-BR" dirty="0" err="1"/>
              <a:t>int</a:t>
            </a:r>
            <a:r>
              <a:rPr lang="pt-BR" dirty="0"/>
              <a:t>[</a:t>
            </a:r>
            <a:r>
              <a:rPr lang="pt-BR" dirty="0" err="1"/>
              <a:t>this.grafo.get_numVertices</a:t>
            </a:r>
            <a:r>
              <a:rPr lang="pt-BR" dirty="0"/>
              <a:t> ()];</a:t>
            </a:r>
          </a:p>
          <a:p>
            <a:endParaRPr lang="pt-BR" dirty="0"/>
          </a:p>
          <a:p>
            <a:r>
              <a:rPr lang="pt-BR" dirty="0"/>
              <a:t>            for (</a:t>
            </a:r>
            <a:r>
              <a:rPr lang="pt-BR" dirty="0" err="1"/>
              <a:t>int</a:t>
            </a:r>
            <a:r>
              <a:rPr lang="pt-BR" dirty="0"/>
              <a:t> u = 0; u &lt; </a:t>
            </a:r>
            <a:r>
              <a:rPr lang="pt-BR" dirty="0" err="1"/>
              <a:t>grafo.get_numVertices</a:t>
            </a:r>
            <a:r>
              <a:rPr lang="pt-BR" dirty="0"/>
              <a:t>(); u++)</a:t>
            </a:r>
          </a:p>
          <a:p>
            <a:r>
              <a:rPr lang="pt-BR" dirty="0"/>
              <a:t>            {</a:t>
            </a:r>
          </a:p>
          <a:p>
            <a:r>
              <a:rPr lang="pt-BR" dirty="0"/>
              <a:t>                cor[u] = branco; </a:t>
            </a:r>
            <a:r>
              <a:rPr lang="pt-BR" dirty="0" err="1"/>
              <a:t>this.d</a:t>
            </a:r>
            <a:r>
              <a:rPr lang="pt-BR" dirty="0"/>
              <a:t>[u] = Int32.MaxValue; </a:t>
            </a:r>
          </a:p>
          <a:p>
            <a:r>
              <a:rPr lang="pt-BR" dirty="0"/>
              <a:t>                </a:t>
            </a:r>
            <a:r>
              <a:rPr lang="pt-BR" dirty="0" err="1"/>
              <a:t>this.antecessor</a:t>
            </a:r>
            <a:r>
              <a:rPr lang="pt-BR" dirty="0"/>
              <a:t>[u] = -1;</a:t>
            </a:r>
          </a:p>
          <a:p>
            <a:r>
              <a:rPr lang="pt-BR" dirty="0"/>
              <a:t>            }</a:t>
            </a:r>
          </a:p>
          <a:p>
            <a:r>
              <a:rPr lang="pt-BR" dirty="0"/>
              <a:t>            for (</a:t>
            </a:r>
            <a:r>
              <a:rPr lang="pt-BR" dirty="0" err="1"/>
              <a:t>int</a:t>
            </a:r>
            <a:r>
              <a:rPr lang="pt-BR" dirty="0"/>
              <a:t> u = 0; u &lt; </a:t>
            </a:r>
            <a:r>
              <a:rPr lang="pt-BR" dirty="0" err="1"/>
              <a:t>grafo.get_numVertices</a:t>
            </a:r>
            <a:r>
              <a:rPr lang="pt-BR" dirty="0"/>
              <a:t>(); u++)</a:t>
            </a:r>
          </a:p>
          <a:p>
            <a:r>
              <a:rPr lang="pt-BR" dirty="0"/>
              <a:t>            </a:t>
            </a:r>
            <a:r>
              <a:rPr lang="pt-BR" dirty="0" err="1"/>
              <a:t>if</a:t>
            </a:r>
            <a:r>
              <a:rPr lang="pt-BR" dirty="0"/>
              <a:t> (cor[u] == branco) </a:t>
            </a:r>
          </a:p>
          <a:p>
            <a:r>
              <a:rPr lang="pt-BR" dirty="0"/>
              <a:t>                     </a:t>
            </a:r>
            <a:r>
              <a:rPr lang="pt-BR" dirty="0" err="1"/>
              <a:t>this.visitaBfs</a:t>
            </a:r>
            <a:r>
              <a:rPr lang="pt-BR" dirty="0"/>
              <a:t> (u, cor);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85704768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1560" y="1556792"/>
            <a:ext cx="541622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buscaEmLargura</a:t>
            </a:r>
            <a:r>
              <a:rPr lang="pt-BR" dirty="0"/>
              <a:t> () {</a:t>
            </a:r>
          </a:p>
          <a:p>
            <a:r>
              <a:rPr lang="pt-BR" dirty="0"/>
              <a:t>            </a:t>
            </a:r>
            <a:r>
              <a:rPr lang="pt-BR" dirty="0" err="1"/>
              <a:t>int</a:t>
            </a:r>
            <a:r>
              <a:rPr lang="pt-BR" dirty="0"/>
              <a:t> []cor = new </a:t>
            </a:r>
            <a:r>
              <a:rPr lang="pt-BR" dirty="0" err="1"/>
              <a:t>int</a:t>
            </a:r>
            <a:r>
              <a:rPr lang="pt-BR" dirty="0"/>
              <a:t>[</a:t>
            </a:r>
            <a:r>
              <a:rPr lang="pt-BR" dirty="0" err="1"/>
              <a:t>this.grafo.get_numVertices</a:t>
            </a:r>
            <a:r>
              <a:rPr lang="pt-BR" dirty="0"/>
              <a:t> ()];</a:t>
            </a:r>
          </a:p>
          <a:p>
            <a:endParaRPr lang="pt-BR" dirty="0"/>
          </a:p>
          <a:p>
            <a:r>
              <a:rPr lang="pt-BR" dirty="0"/>
              <a:t>            for (</a:t>
            </a:r>
            <a:r>
              <a:rPr lang="pt-BR" dirty="0" err="1"/>
              <a:t>int</a:t>
            </a:r>
            <a:r>
              <a:rPr lang="pt-BR" dirty="0"/>
              <a:t> u = 0; u &lt; </a:t>
            </a:r>
            <a:r>
              <a:rPr lang="pt-BR" dirty="0" err="1"/>
              <a:t>grafo.get_numVertices</a:t>
            </a:r>
            <a:r>
              <a:rPr lang="pt-BR" dirty="0"/>
              <a:t>(); u++)</a:t>
            </a:r>
          </a:p>
          <a:p>
            <a:r>
              <a:rPr lang="pt-BR" dirty="0"/>
              <a:t>            {</a:t>
            </a:r>
          </a:p>
          <a:p>
            <a:r>
              <a:rPr lang="pt-BR" dirty="0"/>
              <a:t>                cor[u] = branco; </a:t>
            </a:r>
            <a:r>
              <a:rPr lang="pt-BR" dirty="0" err="1"/>
              <a:t>this.d</a:t>
            </a:r>
            <a:r>
              <a:rPr lang="pt-BR" dirty="0"/>
              <a:t>[u] = Int32.MaxValue; </a:t>
            </a:r>
          </a:p>
          <a:p>
            <a:r>
              <a:rPr lang="pt-BR" dirty="0"/>
              <a:t>                </a:t>
            </a:r>
            <a:r>
              <a:rPr lang="pt-BR" dirty="0" err="1"/>
              <a:t>this.antecessor</a:t>
            </a:r>
            <a:r>
              <a:rPr lang="pt-BR" dirty="0"/>
              <a:t>[u] = -1;</a:t>
            </a:r>
          </a:p>
          <a:p>
            <a:r>
              <a:rPr lang="pt-BR" dirty="0"/>
              <a:t>            }</a:t>
            </a:r>
          </a:p>
          <a:p>
            <a:r>
              <a:rPr lang="pt-BR" dirty="0"/>
              <a:t>            for (</a:t>
            </a:r>
            <a:r>
              <a:rPr lang="pt-BR" dirty="0" err="1"/>
              <a:t>int</a:t>
            </a:r>
            <a:r>
              <a:rPr lang="pt-BR" dirty="0"/>
              <a:t> u = 0; u &lt; </a:t>
            </a:r>
            <a:r>
              <a:rPr lang="pt-BR" dirty="0" err="1"/>
              <a:t>grafo.get_numVertices</a:t>
            </a:r>
            <a:r>
              <a:rPr lang="pt-BR" dirty="0"/>
              <a:t>(); u++)</a:t>
            </a:r>
          </a:p>
          <a:p>
            <a:r>
              <a:rPr lang="pt-BR" dirty="0"/>
              <a:t>            </a:t>
            </a:r>
            <a:r>
              <a:rPr lang="pt-BR" dirty="0" err="1"/>
              <a:t>if</a:t>
            </a:r>
            <a:r>
              <a:rPr lang="pt-BR" dirty="0"/>
              <a:t> (cor[u] == branco) </a:t>
            </a:r>
          </a:p>
          <a:p>
            <a:r>
              <a:rPr lang="pt-BR" dirty="0">
                <a:solidFill>
                  <a:srgbClr val="FF0000"/>
                </a:solidFill>
              </a:rPr>
              <a:t>                     </a:t>
            </a:r>
            <a:r>
              <a:rPr lang="pt-BR" dirty="0" err="1">
                <a:solidFill>
                  <a:srgbClr val="FF0000"/>
                </a:solidFill>
              </a:rPr>
              <a:t>this.visitaBfs</a:t>
            </a:r>
            <a:r>
              <a:rPr lang="pt-BR" dirty="0">
                <a:solidFill>
                  <a:srgbClr val="FF0000"/>
                </a:solidFill>
              </a:rPr>
              <a:t> (u, cor);</a:t>
            </a:r>
          </a:p>
          <a:p>
            <a:r>
              <a:rPr lang="pt-BR" dirty="0"/>
              <a:t>        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55576" y="537949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Início da chamada da função </a:t>
            </a:r>
            <a:r>
              <a:rPr lang="pt-BR" dirty="0" err="1"/>
              <a:t>visitaBfs</a:t>
            </a:r>
            <a:endParaRPr lang="pt-BR" dirty="0"/>
          </a:p>
        </p:txBody>
      </p:sp>
      <p:cxnSp>
        <p:nvCxnSpPr>
          <p:cNvPr id="6" name="Conector de Seta Reta 5"/>
          <p:cNvCxnSpPr/>
          <p:nvPr/>
        </p:nvCxnSpPr>
        <p:spPr>
          <a:xfrm flipV="1">
            <a:off x="2339752" y="4653136"/>
            <a:ext cx="720080" cy="58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7056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675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88776322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</a:t>
            </a:r>
            <a:r>
              <a:rPr lang="pt-BR" sz="1400" dirty="0">
                <a:solidFill>
                  <a:srgbClr val="FF0000"/>
                </a:solidFill>
              </a:rPr>
              <a:t>cor[u] = cinza; </a:t>
            </a:r>
            <a:r>
              <a:rPr lang="pt-BR" sz="1400" dirty="0" err="1">
                <a:solidFill>
                  <a:srgbClr val="FF0000"/>
                </a:solidFill>
              </a:rPr>
              <a:t>this.d</a:t>
            </a:r>
            <a:r>
              <a:rPr lang="pt-BR" sz="1400" dirty="0">
                <a:solidFill>
                  <a:srgbClr val="FF0000"/>
                </a:solidFill>
              </a:rPr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675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631958" y="536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9980390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FilaRef</a:t>
            </a:r>
            <a:r>
              <a:rPr lang="pt-BR" sz="1400" dirty="0">
                <a:solidFill>
                  <a:srgbClr val="FF0000"/>
                </a:solidFill>
              </a:rPr>
              <a:t> fila = new </a:t>
            </a:r>
            <a:r>
              <a:rPr lang="pt-BR" sz="1400" dirty="0" err="1">
                <a:solidFill>
                  <a:srgbClr val="FF0000"/>
                </a:solidFill>
              </a:rPr>
              <a:t>FilaRef</a:t>
            </a:r>
            <a:r>
              <a:rPr lang="pt-BR" sz="1400" dirty="0">
                <a:solidFill>
                  <a:srgbClr val="FF0000"/>
                </a:solidFill>
              </a:rPr>
              <a:t> (); </a:t>
            </a:r>
            <a:r>
              <a:rPr lang="pt-BR" sz="1400" dirty="0" err="1">
                <a:solidFill>
                  <a:srgbClr val="FF0000"/>
                </a:solidFill>
              </a:rPr>
              <a:t>fila.enfileira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fila.vazia</a:t>
            </a:r>
            <a:r>
              <a:rPr lang="pt-BR" sz="1400" dirty="0">
                <a:solidFill>
                  <a:srgbClr val="FF0000"/>
                </a:solidFill>
              </a:rPr>
              <a:t> ())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68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0 -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631958" y="536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9074876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</a:t>
            </a:r>
            <a:r>
              <a:rPr lang="fr-FR" sz="1400" dirty="0">
                <a:solidFill>
                  <a:srgbClr val="FF0000"/>
                </a:solidFill>
              </a:rPr>
              <a:t>int aux = (int)fila.desenfileira (); u = aux;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675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(0 - 1)</a:t>
            </a:r>
          </a:p>
          <a:p>
            <a:r>
              <a:rPr lang="pt-BR" sz="1400" dirty="0"/>
              <a:t>v =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6248911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644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(0 - 1)</a:t>
            </a:r>
          </a:p>
          <a:p>
            <a:r>
              <a:rPr lang="pt-BR" sz="1400" dirty="0"/>
              <a:t>v = 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1160107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>
                <a:solidFill>
                  <a:srgbClr val="FF0000"/>
                </a:solidFill>
              </a:rPr>
              <a:t>cor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cinza</a:t>
            </a:r>
            <a:r>
              <a:rPr lang="en-US" sz="1400" dirty="0">
                <a:solidFill>
                  <a:srgbClr val="FF0000"/>
                </a:solidFill>
              </a:rPr>
              <a:t>;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[u] + 1;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 </a:t>
            </a:r>
            <a:r>
              <a:rPr lang="pt-BR" sz="1400" dirty="0" err="1">
                <a:solidFill>
                  <a:srgbClr val="FF0000"/>
                </a:solidFill>
              </a:rPr>
              <a:t>fila.enfileira</a:t>
            </a:r>
            <a:r>
              <a:rPr lang="pt-BR" sz="1400" dirty="0">
                <a:solidFill>
                  <a:srgbClr val="FF0000"/>
                </a:solidFill>
              </a:rPr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(0 - 1)</a:t>
            </a:r>
          </a:p>
          <a:p>
            <a:r>
              <a:rPr lang="pt-BR" sz="1400" dirty="0"/>
              <a:t>v = 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4267597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</a:t>
            </a:r>
            <a:r>
              <a:rPr lang="pt-BR" sz="1400" dirty="0">
                <a:solidFill>
                  <a:srgbClr val="FF0000"/>
                </a:solidFill>
              </a:rPr>
              <a:t>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(0 - 2)</a:t>
            </a:r>
          </a:p>
          <a:p>
            <a:r>
              <a:rPr lang="pt-BR" sz="1400" dirty="0"/>
              <a:t>v = 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47127230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(0 - 2)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31699663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>
                <a:solidFill>
                  <a:srgbClr val="FF0000"/>
                </a:solidFill>
              </a:rPr>
              <a:t>cor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cinza</a:t>
            </a:r>
            <a:r>
              <a:rPr lang="en-US" sz="1400" dirty="0">
                <a:solidFill>
                  <a:srgbClr val="FF0000"/>
                </a:solidFill>
              </a:rPr>
              <a:t>;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[u] + 1;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 </a:t>
            </a:r>
            <a:r>
              <a:rPr lang="pt-BR" sz="1400" dirty="0" err="1">
                <a:solidFill>
                  <a:srgbClr val="FF0000"/>
                </a:solidFill>
              </a:rPr>
              <a:t>fila.enfileira</a:t>
            </a:r>
            <a:r>
              <a:rPr lang="pt-BR" sz="1400" dirty="0">
                <a:solidFill>
                  <a:srgbClr val="FF0000"/>
                </a:solidFill>
              </a:rPr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(0 - 2)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9664509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</a:t>
            </a:r>
            <a:r>
              <a:rPr lang="pt-BR" sz="1400" dirty="0">
                <a:solidFill>
                  <a:srgbClr val="FF0000"/>
                </a:solidFill>
              </a:rPr>
              <a:t>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(0 - 3)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26989433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(0 - 3)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55859035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>
                <a:solidFill>
                  <a:srgbClr val="FF0000"/>
                </a:solidFill>
              </a:rPr>
              <a:t>cor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cinza</a:t>
            </a:r>
            <a:r>
              <a:rPr lang="en-US" sz="1400" dirty="0">
                <a:solidFill>
                  <a:srgbClr val="FF0000"/>
                </a:solidFill>
              </a:rPr>
              <a:t>;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[u] + 1;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 </a:t>
            </a:r>
            <a:r>
              <a:rPr lang="pt-BR" sz="1400" dirty="0" err="1">
                <a:solidFill>
                  <a:srgbClr val="FF0000"/>
                </a:solidFill>
              </a:rPr>
              <a:t>fila.enfileira</a:t>
            </a:r>
            <a:r>
              <a:rPr lang="pt-BR" sz="1400" dirty="0">
                <a:solidFill>
                  <a:srgbClr val="FF0000"/>
                </a:solidFill>
              </a:rPr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537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67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(0 - 3)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5694030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</a:t>
            </a:r>
            <a:r>
              <a:rPr lang="pt-BR" sz="1400" dirty="0">
                <a:solidFill>
                  <a:srgbClr val="FF0000"/>
                </a:solidFill>
              </a:rPr>
              <a:t>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537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6647800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</a:t>
            </a:r>
            <a:r>
              <a:rPr lang="pt-BR" sz="1400" dirty="0">
                <a:solidFill>
                  <a:srgbClr val="FF0000"/>
                </a:solidFill>
              </a:rPr>
              <a:t>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537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5494998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fila.vazia</a:t>
            </a:r>
            <a:r>
              <a:rPr lang="pt-BR" sz="1400" dirty="0">
                <a:solidFill>
                  <a:srgbClr val="FF0000"/>
                </a:solidFill>
              </a:rPr>
              <a:t> ())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537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0</a:t>
            </a:r>
          </a:p>
          <a:p>
            <a:r>
              <a:rPr lang="pt-BR" dirty="0"/>
              <a:t>Fila: 1 - 2 - 3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403789247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>
                <a:solidFill>
                  <a:srgbClr val="FF0000"/>
                </a:solidFill>
              </a:rPr>
              <a:t>                int aux = (int)fila.desenfileira (); u = aux;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Fila: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00076627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Fila: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1 - 0</a:t>
            </a:r>
          </a:p>
          <a:p>
            <a:r>
              <a:rPr lang="pt-BR" sz="1400" dirty="0"/>
              <a:t>v = 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76989329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Fila: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1 - 2</a:t>
            </a:r>
          </a:p>
          <a:p>
            <a:r>
              <a:rPr lang="pt-BR" sz="1400" dirty="0"/>
              <a:t>v = 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27529356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/>
              <a:t>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Fila: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1 - 2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78046165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Fila: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62551140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/>
              <a:t>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</a:t>
            </a:r>
            <a:r>
              <a:rPr lang="pt-BR" sz="1400" dirty="0">
                <a:solidFill>
                  <a:srgbClr val="FF0000"/>
                </a:solidFill>
              </a:rPr>
              <a:t>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1</a:t>
            </a:r>
          </a:p>
          <a:p>
            <a:r>
              <a:rPr lang="pt-BR" dirty="0"/>
              <a:t>Fila: 2 - 3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45380875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fila.vazia</a:t>
            </a:r>
            <a:r>
              <a:rPr lang="pt-BR" sz="1400" dirty="0">
                <a:solidFill>
                  <a:srgbClr val="FF0000"/>
                </a:solidFill>
              </a:rPr>
              <a:t> ())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{</a:t>
            </a:r>
          </a:p>
          <a:p>
            <a:r>
              <a:rPr lang="fr-FR" sz="1400" dirty="0">
                <a:solidFill>
                  <a:srgbClr val="FF0000"/>
                </a:solidFill>
              </a:rPr>
              <a:t>                int aux = (int)fila.desenfileira (); u = aux;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/>
              <a:t>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Fila: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2788057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Fila: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2 - 1</a:t>
            </a:r>
          </a:p>
          <a:p>
            <a:r>
              <a:rPr lang="pt-BR" sz="1400" dirty="0"/>
              <a:t>v = 1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23267322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Fila: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2 - 0</a:t>
            </a:r>
          </a:p>
          <a:p>
            <a:r>
              <a:rPr lang="pt-BR" sz="1400" dirty="0"/>
              <a:t>v = 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63837253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Fila: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2 - 3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63837253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</a:t>
            </a:r>
            <a:r>
              <a:rPr lang="pt-BR" sz="1400" dirty="0">
                <a:solidFill>
                  <a:srgbClr val="FF0000"/>
                </a:solidFill>
              </a:rPr>
              <a:t>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2</a:t>
            </a:r>
          </a:p>
          <a:p>
            <a:r>
              <a:rPr lang="pt-BR" dirty="0"/>
              <a:t>Fila: 3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2276888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fila.vazia</a:t>
            </a:r>
            <a:r>
              <a:rPr lang="pt-BR" sz="1400" dirty="0">
                <a:solidFill>
                  <a:srgbClr val="FF0000"/>
                </a:solidFill>
              </a:rPr>
              <a:t> ())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{</a:t>
            </a:r>
          </a:p>
          <a:p>
            <a:r>
              <a:rPr lang="fr-FR" sz="1400" dirty="0">
                <a:solidFill>
                  <a:srgbClr val="FF0000"/>
                </a:solidFill>
              </a:rPr>
              <a:t>                int aux = (int)fila.desenfileira (); u = aux;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833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Fila: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12155430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833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Fila: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3 - 0</a:t>
            </a:r>
          </a:p>
          <a:p>
            <a:r>
              <a:rPr lang="pt-BR" sz="1400" dirty="0"/>
              <a:t>v = 0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293516552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833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Fila: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3 - 2</a:t>
            </a:r>
          </a:p>
          <a:p>
            <a:r>
              <a:rPr lang="pt-BR" sz="1400" dirty="0"/>
              <a:t>v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409550184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            </a:t>
            </a:r>
            <a:r>
              <a:rPr lang="en-US" sz="1400" dirty="0" err="1">
                <a:solidFill>
                  <a:srgbClr val="FF0000"/>
                </a:solidFill>
              </a:rPr>
              <a:t>cor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cinza</a:t>
            </a:r>
            <a:r>
              <a:rPr lang="en-US" sz="1400" dirty="0">
                <a:solidFill>
                  <a:srgbClr val="FF0000"/>
                </a:solidFill>
              </a:rPr>
              <a:t>;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[v] = </a:t>
            </a:r>
            <a:r>
              <a:rPr lang="en-US" sz="1400" dirty="0" err="1">
                <a:solidFill>
                  <a:srgbClr val="FF0000"/>
                </a:solidFill>
              </a:rPr>
              <a:t>this.d</a:t>
            </a:r>
            <a:r>
              <a:rPr lang="en-US" sz="1400" dirty="0">
                <a:solidFill>
                  <a:srgbClr val="FF0000"/>
                </a:solidFill>
              </a:rPr>
              <a:t>[u] + 1;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    </a:t>
            </a:r>
            <a:r>
              <a:rPr lang="pt-BR" sz="1400" dirty="0" err="1">
                <a:solidFill>
                  <a:srgbClr val="FF0000"/>
                </a:solidFill>
              </a:rPr>
              <a:t>this.antecessor</a:t>
            </a:r>
            <a:r>
              <a:rPr lang="pt-BR" sz="1400" dirty="0">
                <a:solidFill>
                  <a:srgbClr val="FF0000"/>
                </a:solidFill>
              </a:rPr>
              <a:t>[v] = u; </a:t>
            </a:r>
            <a:r>
              <a:rPr lang="pt-BR" sz="1400" dirty="0" err="1">
                <a:solidFill>
                  <a:srgbClr val="FF0000"/>
                </a:solidFill>
              </a:rPr>
              <a:t>fila.enfileira</a:t>
            </a:r>
            <a:r>
              <a:rPr lang="pt-BR" sz="1400" dirty="0">
                <a:solidFill>
                  <a:srgbClr val="FF0000"/>
                </a:solidFill>
              </a:rPr>
              <a:t> (v);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Fila: 4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3 - 4</a:t>
            </a:r>
          </a:p>
          <a:p>
            <a:r>
              <a:rPr lang="pt-BR" sz="1400" dirty="0"/>
              <a:t>v = 4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8513210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</a:t>
            </a:r>
            <a:r>
              <a:rPr lang="pt-BR" sz="1400" dirty="0">
                <a:solidFill>
                  <a:srgbClr val="FF0000"/>
                </a:solidFill>
              </a:rPr>
              <a:t>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3</a:t>
            </a:r>
          </a:p>
          <a:p>
            <a:r>
              <a:rPr lang="pt-BR" dirty="0"/>
              <a:t>Fila: 4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4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332452512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fila.vazia</a:t>
            </a:r>
            <a:r>
              <a:rPr lang="pt-BR" sz="1400" dirty="0">
                <a:solidFill>
                  <a:srgbClr val="FF0000"/>
                </a:solidFill>
              </a:rPr>
              <a:t> ())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{</a:t>
            </a:r>
          </a:p>
          <a:p>
            <a:r>
              <a:rPr lang="fr-FR" sz="1400" dirty="0">
                <a:solidFill>
                  <a:srgbClr val="FF0000"/>
                </a:solidFill>
              </a:rPr>
              <a:t>                int aux = (int)fila.desenfileira (); u = aux;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(!</a:t>
            </a:r>
            <a:r>
              <a:rPr lang="pt-BR" sz="1400" dirty="0" err="1">
                <a:solidFill>
                  <a:srgbClr val="FF0000"/>
                </a:solidFill>
              </a:rPr>
              <a:t>this.grafo.listaAdjVazia</a:t>
            </a:r>
            <a:r>
              <a:rPr lang="pt-BR" sz="1400" dirty="0">
                <a:solidFill>
                  <a:srgbClr val="FF0000"/>
                </a:solidFill>
              </a:rPr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833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4</a:t>
            </a:r>
          </a:p>
          <a:p>
            <a:r>
              <a:rPr lang="pt-BR" dirty="0"/>
              <a:t>Fila: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4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9721378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Grafo.Aresta</a:t>
            </a:r>
            <a:r>
              <a:rPr lang="pt-BR" sz="1400" dirty="0">
                <a:solidFill>
                  <a:srgbClr val="FF0000"/>
                </a:solidFill>
              </a:rPr>
              <a:t> a = </a:t>
            </a:r>
            <a:r>
              <a:rPr lang="pt-BR" sz="1400" dirty="0" err="1">
                <a:solidFill>
                  <a:srgbClr val="FF0000"/>
                </a:solidFill>
              </a:rPr>
              <a:t>this.grafo.primeiroListaAdj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</a:t>
            </a:r>
            <a:r>
              <a:rPr lang="pt-BR" sz="1400" dirty="0" err="1">
                <a:solidFill>
                  <a:srgbClr val="FF0000"/>
                </a:solidFill>
              </a:rPr>
              <a:t>while</a:t>
            </a:r>
            <a:r>
              <a:rPr lang="pt-BR" sz="1400" dirty="0">
                <a:solidFill>
                  <a:srgbClr val="FF0000"/>
                </a:solidFill>
              </a:rPr>
              <a:t> (a != </a:t>
            </a:r>
            <a:r>
              <a:rPr lang="pt-BR" sz="1400" dirty="0" err="1">
                <a:solidFill>
                  <a:srgbClr val="FF0000"/>
                </a:solidFill>
              </a:rPr>
              <a:t>null</a:t>
            </a:r>
            <a:r>
              <a:rPr lang="pt-BR" sz="1400" dirty="0">
                <a:solidFill>
                  <a:srgbClr val="FF0000"/>
                </a:solidFill>
              </a:rPr>
              <a:t>) 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{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int</a:t>
            </a:r>
            <a:r>
              <a:rPr lang="pt-BR" sz="1400" dirty="0">
                <a:solidFill>
                  <a:srgbClr val="FF0000"/>
                </a:solidFill>
              </a:rPr>
              <a:t> v = a.get_v2();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</a:t>
            </a:r>
            <a:r>
              <a:rPr lang="pt-BR" sz="1400" dirty="0" err="1">
                <a:solidFill>
                  <a:srgbClr val="FF0000"/>
                </a:solidFill>
              </a:rPr>
              <a:t>if</a:t>
            </a:r>
            <a:r>
              <a:rPr lang="pt-BR" sz="1400" dirty="0">
                <a:solidFill>
                  <a:srgbClr val="FF0000"/>
                </a:solidFill>
              </a:rPr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</a:t>
            </a:r>
            <a:r>
              <a:rPr lang="pt-BR" sz="1400" dirty="0">
                <a:solidFill>
                  <a:srgbClr val="FF0000"/>
                </a:solidFill>
              </a:rPr>
              <a:t>}</a:t>
            </a:r>
          </a:p>
          <a:p>
            <a:r>
              <a:rPr lang="pt-BR" sz="1400" dirty="0">
                <a:solidFill>
                  <a:srgbClr val="FF0000"/>
                </a:solidFill>
              </a:rPr>
              <a:t>                        a = </a:t>
            </a:r>
            <a:r>
              <a:rPr lang="pt-BR" sz="1400" dirty="0" err="1">
                <a:solidFill>
                  <a:srgbClr val="FF0000"/>
                </a:solidFill>
              </a:rPr>
              <a:t>this.grafo.proxAdj</a:t>
            </a:r>
            <a:r>
              <a:rPr lang="pt-BR" sz="1400" dirty="0">
                <a:solidFill>
                  <a:srgbClr val="FF0000"/>
                </a:solidFill>
              </a:rPr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833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4</a:t>
            </a:r>
          </a:p>
          <a:p>
            <a:r>
              <a:rPr lang="pt-BR" dirty="0"/>
              <a:t>Fila: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758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3 - 4</a:t>
            </a:r>
          </a:p>
          <a:p>
            <a:r>
              <a:rPr lang="pt-BR" sz="1400" dirty="0"/>
              <a:t>v = 4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3311724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772816"/>
            <a:ext cx="442589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private void visitaBfs (int u, int []cor) {</a:t>
            </a:r>
          </a:p>
          <a:p>
            <a:r>
              <a:rPr lang="pt-BR" sz="1400" dirty="0"/>
              <a:t>            cor[u] = cinza; </a:t>
            </a:r>
            <a:r>
              <a:rPr lang="pt-BR" sz="1400" dirty="0" err="1"/>
              <a:t>this.d</a:t>
            </a:r>
            <a:r>
              <a:rPr lang="pt-BR" sz="1400" dirty="0"/>
              <a:t>[u] = 0;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FilaRef</a:t>
            </a:r>
            <a:r>
              <a:rPr lang="pt-BR" sz="1400" dirty="0"/>
              <a:t> fila = new </a:t>
            </a:r>
            <a:r>
              <a:rPr lang="pt-BR" sz="1400" dirty="0" err="1"/>
              <a:t>FilaRef</a:t>
            </a:r>
            <a:r>
              <a:rPr lang="pt-BR" sz="1400" dirty="0"/>
              <a:t> (); </a:t>
            </a:r>
            <a:r>
              <a:rPr lang="pt-BR" sz="1400" dirty="0" err="1"/>
              <a:t>fila.enfileira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</a:t>
            </a:r>
            <a:r>
              <a:rPr lang="pt-BR" sz="1400" dirty="0" err="1"/>
              <a:t>while</a:t>
            </a:r>
            <a:r>
              <a:rPr lang="pt-BR" sz="1400" dirty="0"/>
              <a:t> (!</a:t>
            </a:r>
            <a:r>
              <a:rPr lang="pt-BR" sz="1400" dirty="0" err="1"/>
              <a:t>fila.vazia</a:t>
            </a:r>
            <a:r>
              <a:rPr lang="pt-BR" sz="1400" dirty="0"/>
              <a:t> ()) </a:t>
            </a:r>
          </a:p>
          <a:p>
            <a:r>
              <a:rPr lang="pt-BR" sz="1400" dirty="0"/>
              <a:t>            {</a:t>
            </a:r>
          </a:p>
          <a:p>
            <a:r>
              <a:rPr lang="fr-FR" sz="1400" dirty="0"/>
              <a:t>                int aux = (int)fila.desenfileira (); u = aux; </a:t>
            </a:r>
          </a:p>
          <a:p>
            <a:r>
              <a:rPr lang="pt-BR" sz="1400" dirty="0"/>
              <a:t>                </a:t>
            </a:r>
            <a:r>
              <a:rPr lang="pt-BR" sz="1400" dirty="0" err="1"/>
              <a:t>if</a:t>
            </a:r>
            <a:r>
              <a:rPr lang="pt-BR" sz="1400" dirty="0"/>
              <a:t> (!</a:t>
            </a:r>
            <a:r>
              <a:rPr lang="pt-BR" sz="1400" dirty="0" err="1"/>
              <a:t>this.grafo.listaAdjVazia</a:t>
            </a:r>
            <a:r>
              <a:rPr lang="pt-BR" sz="1400" dirty="0"/>
              <a:t> (u)) </a:t>
            </a:r>
          </a:p>
          <a:p>
            <a:r>
              <a:rPr lang="pt-BR" sz="1400" dirty="0"/>
              <a:t>               {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Grafo.Aresta</a:t>
            </a:r>
            <a:r>
              <a:rPr lang="pt-BR" sz="1400" dirty="0"/>
              <a:t> a = </a:t>
            </a:r>
            <a:r>
              <a:rPr lang="pt-BR" sz="1400" dirty="0" err="1"/>
              <a:t>this.grafo.primeiroListaAdj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</a:t>
            </a:r>
            <a:r>
              <a:rPr lang="pt-BR" sz="1400" dirty="0" err="1"/>
              <a:t>while</a:t>
            </a:r>
            <a:r>
              <a:rPr lang="pt-BR" sz="1400" dirty="0"/>
              <a:t> (a != </a:t>
            </a:r>
            <a:r>
              <a:rPr lang="pt-BR" sz="1400" dirty="0" err="1"/>
              <a:t>null</a:t>
            </a:r>
            <a:r>
              <a:rPr lang="pt-BR" sz="1400" dirty="0"/>
              <a:t>) </a:t>
            </a:r>
          </a:p>
          <a:p>
            <a:r>
              <a:rPr lang="pt-BR" sz="1400" dirty="0"/>
              <a:t>                    {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int</a:t>
            </a:r>
            <a:r>
              <a:rPr lang="pt-BR" sz="1400" dirty="0"/>
              <a:t> v = a.get_v2();</a:t>
            </a:r>
          </a:p>
          <a:p>
            <a:r>
              <a:rPr lang="pt-BR" sz="1400" dirty="0"/>
              <a:t>                        </a:t>
            </a:r>
            <a:r>
              <a:rPr lang="pt-BR" sz="1400" dirty="0" err="1"/>
              <a:t>if</a:t>
            </a:r>
            <a:r>
              <a:rPr lang="pt-BR" sz="1400" dirty="0"/>
              <a:t> (cor[v] == branco) {</a:t>
            </a:r>
          </a:p>
          <a:p>
            <a:r>
              <a:rPr lang="en-US" sz="1400" dirty="0"/>
              <a:t>                            </a:t>
            </a:r>
            <a:r>
              <a:rPr lang="en-US" sz="1400" dirty="0" err="1"/>
              <a:t>cor</a:t>
            </a:r>
            <a:r>
              <a:rPr lang="en-US" sz="1400" dirty="0"/>
              <a:t>[v] = </a:t>
            </a:r>
            <a:r>
              <a:rPr lang="en-US" sz="1400" dirty="0" err="1"/>
              <a:t>cinza</a:t>
            </a:r>
            <a:r>
              <a:rPr lang="en-US" sz="1400" dirty="0"/>
              <a:t>; </a:t>
            </a:r>
            <a:r>
              <a:rPr lang="en-US" sz="1400" dirty="0" err="1"/>
              <a:t>this.d</a:t>
            </a:r>
            <a:r>
              <a:rPr lang="en-US" sz="1400" dirty="0"/>
              <a:t>[v] = </a:t>
            </a:r>
            <a:r>
              <a:rPr lang="en-US" sz="1400" dirty="0" err="1"/>
              <a:t>this.d</a:t>
            </a:r>
            <a:r>
              <a:rPr lang="en-US" sz="1400" dirty="0"/>
              <a:t>[u] + 1;</a:t>
            </a:r>
          </a:p>
          <a:p>
            <a:r>
              <a:rPr lang="pt-BR" sz="1400" dirty="0"/>
              <a:t>                            </a:t>
            </a:r>
            <a:r>
              <a:rPr lang="pt-BR" sz="1400" dirty="0" err="1"/>
              <a:t>this.antecessor</a:t>
            </a:r>
            <a:r>
              <a:rPr lang="pt-BR" sz="1400" dirty="0"/>
              <a:t>[v] = u; </a:t>
            </a:r>
            <a:r>
              <a:rPr lang="pt-BR" sz="1400" dirty="0" err="1"/>
              <a:t>fila.enfileira</a:t>
            </a:r>
            <a:r>
              <a:rPr lang="pt-BR" sz="1400" dirty="0"/>
              <a:t> (v);</a:t>
            </a:r>
          </a:p>
          <a:p>
            <a:r>
              <a:rPr lang="pt-BR" sz="1400" dirty="0"/>
              <a:t>                        }</a:t>
            </a:r>
          </a:p>
          <a:p>
            <a:r>
              <a:rPr lang="pt-BR" sz="1400" dirty="0"/>
              <a:t>                        a = </a:t>
            </a:r>
            <a:r>
              <a:rPr lang="pt-BR" sz="1400" dirty="0" err="1"/>
              <a:t>this.grafo.proxAdj</a:t>
            </a:r>
            <a:r>
              <a:rPr lang="pt-BR" sz="1400" dirty="0"/>
              <a:t> (u);</a:t>
            </a:r>
          </a:p>
          <a:p>
            <a:r>
              <a:rPr lang="pt-BR" sz="1400" dirty="0"/>
              <a:t>                    }</a:t>
            </a:r>
          </a:p>
          <a:p>
            <a:r>
              <a:rPr lang="pt-BR" sz="1400" dirty="0"/>
              <a:t>                }</a:t>
            </a:r>
          </a:p>
          <a:p>
            <a:r>
              <a:rPr lang="pt-BR" sz="1400" dirty="0"/>
              <a:t>                </a:t>
            </a:r>
            <a:r>
              <a:rPr lang="pt-BR" sz="1400" dirty="0">
                <a:solidFill>
                  <a:srgbClr val="FF0000"/>
                </a:solidFill>
              </a:rPr>
              <a:t>cor[u] = preto;</a:t>
            </a:r>
          </a:p>
          <a:p>
            <a:r>
              <a:rPr lang="pt-BR" sz="1400" dirty="0"/>
              <a:t>           }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5" name="Elipse 4"/>
          <p:cNvSpPr/>
          <p:nvPr/>
        </p:nvSpPr>
        <p:spPr>
          <a:xfrm>
            <a:off x="6387277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Elipse 5"/>
          <p:cNvSpPr/>
          <p:nvPr/>
        </p:nvSpPr>
        <p:spPr>
          <a:xfrm>
            <a:off x="6387276" y="499649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7967988" y="3556339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4943652" y="5361975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ector reto 8"/>
          <p:cNvCxnSpPr>
            <a:stCxn id="5" idx="3"/>
            <a:endCxn id="8" idx="0"/>
          </p:cNvCxnSpPr>
          <p:nvPr/>
        </p:nvCxnSpPr>
        <p:spPr>
          <a:xfrm flipH="1">
            <a:off x="5215343" y="3906590"/>
            <a:ext cx="1251510" cy="145538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8" idx="6"/>
          </p:cNvCxnSpPr>
          <p:nvPr/>
        </p:nvCxnSpPr>
        <p:spPr>
          <a:xfrm flipH="1">
            <a:off x="5487033" y="5201671"/>
            <a:ext cx="900243" cy="3654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4"/>
            <a:endCxn id="6" idx="0"/>
          </p:cNvCxnSpPr>
          <p:nvPr/>
        </p:nvCxnSpPr>
        <p:spPr>
          <a:xfrm flipH="1">
            <a:off x="6658967" y="3966683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7967988" y="5366544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3" name="Conector de seta reta 12"/>
          <p:cNvCxnSpPr>
            <a:stCxn id="5" idx="5"/>
            <a:endCxn id="12" idx="1"/>
          </p:cNvCxnSpPr>
          <p:nvPr/>
        </p:nvCxnSpPr>
        <p:spPr>
          <a:xfrm>
            <a:off x="6851082" y="3906590"/>
            <a:ext cx="1196482" cy="1520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6"/>
            <a:endCxn id="12" idx="2"/>
          </p:cNvCxnSpPr>
          <p:nvPr/>
        </p:nvCxnSpPr>
        <p:spPr>
          <a:xfrm>
            <a:off x="6930657" y="5201671"/>
            <a:ext cx="1037331" cy="37004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12" idx="0"/>
            <a:endCxn id="7" idx="4"/>
          </p:cNvCxnSpPr>
          <p:nvPr/>
        </p:nvCxnSpPr>
        <p:spPr>
          <a:xfrm flipV="1">
            <a:off x="8239679" y="3966683"/>
            <a:ext cx="0" cy="139986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7244722" y="1497558"/>
            <a:ext cx="833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 = 4</a:t>
            </a:r>
          </a:p>
          <a:p>
            <a:r>
              <a:rPr lang="pt-BR" dirty="0"/>
              <a:t>Fila:     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860032" y="1475492"/>
            <a:ext cx="134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vértice atual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00192" y="16601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644008" y="270892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 = NULL</a:t>
            </a:r>
          </a:p>
          <a:p>
            <a:r>
              <a:rPr lang="pt-BR" sz="1400" dirty="0"/>
              <a:t>v = 4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924137" y="3544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631958" y="53639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6504166" y="5340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529499" y="5299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8529498" y="3534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924137" y="3265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16985607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Busca em Largura - Análise (para</a:t>
            </a:r>
            <a:br>
              <a:rPr lang="pt-BR" dirty="0"/>
            </a:br>
            <a:r>
              <a:rPr lang="pt-BR" dirty="0"/>
              <a:t>listas de adjacência)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O custo de inicialização do primeiro anel no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𝑏𝑢𝑠𝑐𝑎𝐸𝑚𝐿𝑎𝑟𝑔𝑢𝑟𝑎</m:t>
                    </m:r>
                    <m:r>
                      <a:rPr lang="pt-BR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O custo do segundo anel é também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𝑣𝑖𝑠𝑖𝑡𝑎𝐵𝑓𝑠</m:t>
                    </m:r>
                  </m:oMath>
                </a14:m>
                <a:r>
                  <a:rPr lang="pt-BR" sz="2400" dirty="0"/>
                  <a:t>: enfileirar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𝑑𝑒𝑠𝑒𝑛𝑓𝑖𝑙𝑒𝑖𝑟𝑎𝑟</m:t>
                    </m:r>
                    <m:r>
                      <a:rPr lang="pt-BR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pt-BR" sz="2400" dirty="0"/>
                  <a:t>têm custo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pt-BR" sz="2400" dirty="0"/>
                  <a:t>, logo, o custo total com a fila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Cada lista de adjacentes é percorrida no máximo uma vez, quando o vértice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𝑑𝑒𝑠𝑒𝑛𝑓𝑖𝑙𝑒𝑖𝑟𝑎𝑑𝑜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Desde que a soma de todas as listas de adjacentes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, o tempo total gasto com as listas de adjacentes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400" dirty="0"/>
                  <a:t>Complexidade total: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 | + 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0598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 mais curto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000" dirty="0"/>
                  <a:t>A busca em largura encontra o caminho mais curto entre dois vértice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r>
                  <a:rPr lang="pt-BR" sz="2000" dirty="0"/>
                  <a:t>O caminho entre dois vértices quaisquer fica armazenado no vetor antecessor.</a:t>
                </a:r>
              </a:p>
              <a:p>
                <a:r>
                  <a:rPr lang="pt-BR" sz="2000" dirty="0"/>
                  <a:t>O programa abaixo imprime os vértices do caminho mais curto entre o vértice origem (do </a:t>
                </a:r>
                <a:r>
                  <a:rPr lang="pt-BR" sz="2000" dirty="0" err="1"/>
                  <a:t>bfs</a:t>
                </a:r>
                <a:r>
                  <a:rPr lang="pt-BR" sz="2000" dirty="0"/>
                  <a:t>) e outro vértice qualquer do grafo (a distância aqui não considera peso de arestas).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827584" y="4149080"/>
            <a:ext cx="65492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imprimeCaminho</a:t>
            </a:r>
            <a:r>
              <a:rPr lang="pt-BR" sz="1600" dirty="0"/>
              <a:t> (</a:t>
            </a:r>
            <a:r>
              <a:rPr lang="pt-BR" sz="1600" dirty="0" err="1"/>
              <a:t>int</a:t>
            </a:r>
            <a:r>
              <a:rPr lang="pt-BR" sz="1600" dirty="0"/>
              <a:t> origem, </a:t>
            </a:r>
            <a:r>
              <a:rPr lang="pt-BR" sz="1600" dirty="0" err="1"/>
              <a:t>int</a:t>
            </a:r>
            <a:r>
              <a:rPr lang="pt-BR" sz="1600" dirty="0"/>
              <a:t> v) {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if</a:t>
            </a:r>
            <a:r>
              <a:rPr lang="pt-BR" sz="1600" dirty="0"/>
              <a:t> (origem == v) 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Console.WriteLine</a:t>
            </a:r>
            <a:r>
              <a:rPr lang="pt-BR" sz="1600" dirty="0"/>
              <a:t> (origem);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else</a:t>
            </a:r>
            <a:r>
              <a:rPr lang="pt-BR" sz="1600" dirty="0"/>
              <a:t> </a:t>
            </a:r>
            <a:r>
              <a:rPr lang="pt-BR" sz="1600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this.antecessor</a:t>
            </a:r>
            <a:r>
              <a:rPr lang="pt-BR" sz="1600" dirty="0"/>
              <a:t>[v] == -1) 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Console.WriteLine</a:t>
            </a:r>
            <a:r>
              <a:rPr lang="pt-BR" sz="1600" dirty="0"/>
              <a:t> ("</a:t>
            </a:r>
            <a:r>
              <a:rPr lang="pt-BR" sz="1600" dirty="0" err="1"/>
              <a:t>Nao</a:t>
            </a:r>
            <a:r>
              <a:rPr lang="pt-BR" sz="1600" dirty="0"/>
              <a:t> existe caminho de " + origem + " ate " + v);</a:t>
            </a:r>
          </a:p>
          <a:p>
            <a:r>
              <a:rPr lang="pt-BR" sz="1600" dirty="0"/>
              <a:t>            </a:t>
            </a:r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imprimeCaminho</a:t>
            </a:r>
            <a:r>
              <a:rPr lang="pt-BR" sz="1600" dirty="0"/>
              <a:t> (origem, </a:t>
            </a:r>
            <a:r>
              <a:rPr lang="pt-BR" sz="1600" dirty="0" err="1"/>
              <a:t>this.antecessor</a:t>
            </a:r>
            <a:r>
              <a:rPr lang="pt-BR" sz="1600" dirty="0"/>
              <a:t>[v]);</a:t>
            </a:r>
          </a:p>
          <a:p>
            <a:r>
              <a:rPr lang="pt-BR" sz="1600" dirty="0"/>
              <a:t>                </a:t>
            </a:r>
            <a:r>
              <a:rPr lang="pt-BR" sz="1600" dirty="0" err="1"/>
              <a:t>Console.WriteLine</a:t>
            </a:r>
            <a:r>
              <a:rPr lang="pt-BR" sz="1600" dirty="0"/>
              <a:t> (v);</a:t>
            </a:r>
          </a:p>
          <a:p>
            <a:r>
              <a:rPr lang="pt-BR" sz="1600" dirty="0"/>
              <a:t>            }    </a:t>
            </a:r>
          </a:p>
          <a:p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78796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Grafos direcionados acíclicos pode ser usados para indicar precedência de eventos</a:t>
                </a:r>
              </a:p>
              <a:p>
                <a:r>
                  <a:rPr lang="pt-BR" sz="2800" dirty="0"/>
                  <a:t>Uma aresta direcionada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(</m:t>
                    </m:r>
                    <m:r>
                      <a:rPr lang="pt-BR" sz="2800" i="1" dirty="0" smtClean="0">
                        <a:latin typeface="Cambria Math"/>
                      </a:rPr>
                      <m:t>𝑢</m:t>
                    </m:r>
                    <m:r>
                      <a:rPr lang="pt-BR" sz="2800" i="1" dirty="0" smtClean="0">
                        <a:latin typeface="Cambria Math"/>
                      </a:rPr>
                      <m:t>, </m:t>
                    </m:r>
                    <m:r>
                      <a:rPr lang="pt-BR" sz="2800" i="1" dirty="0">
                        <a:latin typeface="Cambria Math"/>
                      </a:rPr>
                      <m:t>𝑣</m:t>
                    </m:r>
                    <m:r>
                      <a:rPr lang="pt-BR" sz="28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pt-BR" sz="2800" dirty="0"/>
                  <a:t>indica que a atividade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800" dirty="0"/>
                  <a:t> tem que ocorrer antes da atividade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r>
                  <a:rPr lang="pt-BR" sz="2800" dirty="0"/>
                  <a:t>Os vértices ordenados topologicamente aparecem em ordem inversa aos seus tempos de término na busca em profundidade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10299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00808"/>
            <a:ext cx="6590323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6228184" y="5661248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</a:t>
            </a:r>
          </a:p>
        </p:txBody>
      </p:sp>
    </p:spTree>
    <p:extLst>
      <p:ext uri="{BB962C8B-B14F-4D97-AF65-F5344CB8AC3E}">
        <p14:creationId xmlns:p14="http://schemas.microsoft.com/office/powerpoint/2010/main" val="192055905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Algoritmo para ordenar topologicamente um grafo direcionado acíclico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𝐺</m:t>
                    </m:r>
                    <m:r>
                      <a:rPr lang="pt-BR" sz="2400" i="1" dirty="0" smtClean="0">
                        <a:latin typeface="Cambria Math"/>
                      </a:rPr>
                      <m:t>=(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, 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r>
                  <a:rPr lang="pt-BR" sz="2000" dirty="0"/>
                  <a:t>Aplicar a busca em profundidade no grafo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pt-BR" sz="2000" dirty="0"/>
                  <a:t> para obter os tempos de término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𝑡</m:t>
                    </m:r>
                    <m:r>
                      <a:rPr lang="pt-BR" sz="2000" i="1" dirty="0" smtClean="0">
                        <a:latin typeface="Cambria Math"/>
                      </a:rPr>
                      <m:t>[</m:t>
                    </m:r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  <m:r>
                      <a:rPr lang="pt-BR" sz="20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sz="2000" dirty="0"/>
                  <a:t> para cada vértice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.</a:t>
                </a:r>
              </a:p>
              <a:p>
                <a:pPr lvl="1"/>
                <a:r>
                  <a:rPr lang="pt-BR" sz="2000" dirty="0"/>
                  <a:t>Ao término de cada vértice, insira-o na frente de uma lista linear encadeada.</a:t>
                </a:r>
              </a:p>
              <a:p>
                <a:pPr lvl="1"/>
                <a:r>
                  <a:rPr lang="pt-BR" sz="2000" dirty="0"/>
                  <a:t>Retornar a lista encadeada de vértices.</a:t>
                </a:r>
              </a:p>
              <a:p>
                <a:pPr lvl="1"/>
                <a:endParaRPr lang="pt-BR" sz="2000" dirty="0"/>
              </a:p>
              <a:p>
                <a:r>
                  <a:rPr lang="pt-BR" sz="2400" dirty="0"/>
                  <a:t>A Custo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b="0" i="1" dirty="0" smtClean="0">
                        <a:latin typeface="Cambria Math"/>
                      </a:rPr>
                      <m:t>|</m:t>
                    </m:r>
                    <m:r>
                      <a:rPr lang="pt-BR" sz="2400" i="1" dirty="0" smtClean="0">
                        <a:latin typeface="Cambria Math"/>
                      </a:rPr>
                      <m:t> + |</m:t>
                    </m:r>
                    <m:r>
                      <a:rPr lang="pt-BR" sz="2400" i="1" dirty="0" smtClean="0">
                        <a:latin typeface="Cambria Math"/>
                      </a:rPr>
                      <m:t>𝐴</m:t>
                    </m:r>
                    <m:r>
                      <a:rPr lang="pt-BR" sz="2400" i="1" dirty="0" smtClean="0">
                        <a:latin typeface="Cambria Math"/>
                      </a:rPr>
                      <m:t>|)</m:t>
                    </m:r>
                  </m:oMath>
                </a14:m>
                <a:r>
                  <a:rPr lang="pt-BR" sz="2400" dirty="0"/>
                  <a:t>, uma vez que a busca em profundidade tem complexidade de tempo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>
                        <a:latin typeface="Cambria Math"/>
                      </a:rPr>
                      <m:t>(|</m:t>
                    </m:r>
                    <m:r>
                      <a:rPr lang="pt-BR" sz="2400" i="1" dirty="0">
                        <a:latin typeface="Cambria Math"/>
                      </a:rPr>
                      <m:t>𝑉</m:t>
                    </m:r>
                    <m:r>
                      <a:rPr lang="pt-BR" sz="2400" i="1" dirty="0">
                        <a:latin typeface="Cambria Math"/>
                      </a:rPr>
                      <m:t>| + |</m:t>
                    </m:r>
                    <m:r>
                      <a:rPr lang="pt-BR" sz="2400" i="1" dirty="0">
                        <a:latin typeface="Cambria Math"/>
                      </a:rPr>
                      <m:t>𝐴</m:t>
                    </m:r>
                    <m:r>
                      <a:rPr lang="pt-BR" sz="2400" i="1" dirty="0">
                        <a:latin typeface="Cambria Math"/>
                      </a:rPr>
                      <m:t>|) </m:t>
                    </m:r>
                  </m:oMath>
                </a14:m>
                <a:r>
                  <a:rPr lang="pt-BR" sz="2400" dirty="0"/>
                  <a:t>e o custo para inserir cada um dos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|</m:t>
                    </m:r>
                    <m:r>
                      <a:rPr lang="pt-BR" sz="2400" i="1" dirty="0" smtClean="0">
                        <a:latin typeface="Cambria Math"/>
                      </a:rPr>
                      <m:t>𝑉</m:t>
                    </m:r>
                    <m:r>
                      <a:rPr lang="pt-BR" sz="2400" i="1" dirty="0" smtClean="0">
                        <a:latin typeface="Cambria Math"/>
                      </a:rPr>
                      <m:t>| </m:t>
                    </m:r>
                  </m:oMath>
                </a14:m>
                <a:r>
                  <a:rPr lang="pt-BR" sz="2400" dirty="0"/>
                  <a:t>vértices na frente da lista linear encadeada custa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𝑂</m:t>
                    </m:r>
                    <m:r>
                      <a:rPr lang="pt-BR" sz="2400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630" b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7226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Deve-se inserir uma chamada ao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𝑖𝑛𝑠𝑒𝑟𝑒𝑃𝑟𝑖𝑚𝑒𝑖𝑟𝑜</m:t>
                    </m:r>
                  </m:oMath>
                </a14:m>
                <a:r>
                  <a:rPr lang="pt-BR" sz="2400" dirty="0"/>
                  <a:t> no método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𝑏𝑢𝑠𝑐𝑎𝐷𝑓𝑠</m:t>
                    </m:r>
                  </m:oMath>
                </a14:m>
                <a:r>
                  <a:rPr lang="pt-BR" sz="2400" dirty="0"/>
                  <a:t>, logo após o momento em que o tempo de término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/>
                      </a:rPr>
                      <m:t>𝑡</m:t>
                    </m:r>
                    <m:r>
                      <a:rPr lang="pt-BR" sz="2400" i="1" dirty="0" smtClean="0">
                        <a:latin typeface="Cambria Math"/>
                      </a:rPr>
                      <m:t>[</m:t>
                    </m:r>
                    <m:r>
                      <a:rPr lang="pt-BR" sz="2400" i="1" dirty="0" smtClean="0">
                        <a:latin typeface="Cambria Math"/>
                      </a:rPr>
                      <m:t>𝑢</m:t>
                    </m:r>
                    <m:r>
                      <a:rPr lang="pt-BR" sz="24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sz="2400" dirty="0"/>
                  <a:t> é obtido e o vértice é pintado de preto.</a:t>
                </a:r>
              </a:p>
              <a:p>
                <a:r>
                  <a:rPr lang="pt-BR" sz="2400" dirty="0"/>
                  <a:t>Ao final, basta retornar a lista obtida.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2064485" y="3645024"/>
            <a:ext cx="42579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/ / Insere antes do primeiro item da lista</a:t>
            </a:r>
          </a:p>
          <a:p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void</a:t>
            </a:r>
            <a:r>
              <a:rPr lang="pt-BR" b="1" dirty="0"/>
              <a:t> </a:t>
            </a:r>
            <a:r>
              <a:rPr lang="pt-BR" dirty="0" err="1"/>
              <a:t>inserePrimeiro</a:t>
            </a:r>
            <a:r>
              <a:rPr lang="pt-BR" dirty="0"/>
              <a:t> (</a:t>
            </a:r>
            <a:r>
              <a:rPr lang="pt-BR" dirty="0" err="1"/>
              <a:t>int</a:t>
            </a:r>
            <a:r>
              <a:rPr lang="pt-BR" dirty="0"/>
              <a:t> v) {</a:t>
            </a:r>
          </a:p>
          <a:p>
            <a:r>
              <a:rPr lang="pt-BR" dirty="0"/>
              <a:t>            </a:t>
            </a:r>
            <a:r>
              <a:rPr lang="pt-BR" dirty="0" err="1"/>
              <a:t>Celula</a:t>
            </a:r>
            <a:r>
              <a:rPr lang="pt-BR" dirty="0"/>
              <a:t> item = new </a:t>
            </a:r>
            <a:r>
              <a:rPr lang="pt-BR" dirty="0" err="1"/>
              <a:t>Celula</a:t>
            </a:r>
            <a:r>
              <a:rPr lang="pt-BR" dirty="0"/>
              <a:t>(v, 0);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/>
              <a:t>CelulaRef</a:t>
            </a:r>
            <a:r>
              <a:rPr lang="pt-BR" dirty="0"/>
              <a:t>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this.primeiro.prox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this.primeiro.prox</a:t>
            </a:r>
            <a:r>
              <a:rPr lang="pt-BR" dirty="0"/>
              <a:t> = new </a:t>
            </a:r>
            <a:r>
              <a:rPr lang="pt-BR" dirty="0" err="1"/>
              <a:t>CelulaRef</a:t>
            </a:r>
            <a:r>
              <a:rPr lang="pt-BR" dirty="0"/>
              <a:t>();</a:t>
            </a:r>
          </a:p>
          <a:p>
            <a:r>
              <a:rPr lang="pt-BR" dirty="0"/>
              <a:t>            </a:t>
            </a:r>
            <a:r>
              <a:rPr lang="pt-BR" dirty="0" err="1"/>
              <a:t>this.primeiro.prox.item</a:t>
            </a:r>
            <a:r>
              <a:rPr lang="pt-BR" dirty="0"/>
              <a:t> = item;</a:t>
            </a:r>
          </a:p>
          <a:p>
            <a:r>
              <a:rPr lang="pt-BR" dirty="0"/>
              <a:t>            </a:t>
            </a:r>
            <a:r>
              <a:rPr lang="pt-BR" dirty="0" err="1"/>
              <a:t>this.primeiro.prox.prox</a:t>
            </a:r>
            <a:r>
              <a:rPr lang="pt-BR" dirty="0"/>
              <a:t> = </a:t>
            </a:r>
            <a:r>
              <a:rPr lang="pt-BR" dirty="0" err="1"/>
              <a:t>aux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417099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Elipse 6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reto 8"/>
          <p:cNvCxnSpPr>
            <a:stCxn id="5" idx="5"/>
            <a:endCxn id="7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3"/>
            <a:endCxn id="5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1"/>
          <p:cNvCxnSpPr>
            <a:stCxn id="4" idx="5"/>
            <a:endCxn id="11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5" idx="6"/>
            <a:endCxn id="11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331640" y="423566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7" name="Conector de seta reta 36"/>
          <p:cNvCxnSpPr>
            <a:stCxn id="11" idx="2"/>
            <a:endCxn id="7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6156176" y="2564904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</a:t>
            </a:r>
            <a:r>
              <a:rPr lang="pt-BR" dirty="0" err="1"/>
              <a:t>null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826425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</a:t>
            </a:r>
            <a:r>
              <a:rPr lang="pt-BR" dirty="0" err="1"/>
              <a:t>null</a:t>
            </a:r>
            <a:r>
              <a:rPr lang="pt-BR" dirty="0"/>
              <a:t> </a:t>
            </a:r>
          </a:p>
        </p:txBody>
      </p:sp>
      <p:sp>
        <p:nvSpPr>
          <p:cNvPr id="19" name="Elipse 18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3" name="Conector reto 22"/>
          <p:cNvCxnSpPr>
            <a:stCxn id="20" idx="5"/>
            <a:endCxn id="21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9" idx="3"/>
            <a:endCxn id="20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Conector de seta reta 25"/>
          <p:cNvCxnSpPr>
            <a:stCxn id="19" idx="5"/>
            <a:endCxn id="25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0" idx="6"/>
            <a:endCxn id="25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2264803" y="5238989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2" name="Conector de seta reta 31"/>
          <p:cNvCxnSpPr>
            <a:stCxn id="25" idx="2"/>
            <a:endCxn id="21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835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12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</a:t>
            </a:r>
            <a:r>
              <a:rPr lang="pt-BR" dirty="0" err="1"/>
              <a:t>null</a:t>
            </a:r>
            <a:r>
              <a:rPr lang="pt-BR" dirty="0"/>
              <a:t> </a:t>
            </a:r>
          </a:p>
        </p:txBody>
      </p:sp>
      <p:sp>
        <p:nvSpPr>
          <p:cNvPr id="18" name="Elipse 17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" name="Elipse 21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Elipse 32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5" name="Conector reto 34"/>
          <p:cNvCxnSpPr>
            <a:stCxn id="22" idx="5"/>
            <a:endCxn id="33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18" idx="3"/>
            <a:endCxn id="22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8" name="Conector de seta reta 37"/>
          <p:cNvCxnSpPr>
            <a:stCxn id="18" idx="5"/>
            <a:endCxn id="37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2" idx="6"/>
            <a:endCxn id="37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264803" y="523898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_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44" name="Conector de seta reta 43"/>
          <p:cNvCxnSpPr>
            <a:stCxn id="37" idx="2"/>
            <a:endCxn id="33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25724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sp>
        <p:nvSpPr>
          <p:cNvPr id="19" name="Elipse 18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Elipse 20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4" name="Conector reto 23"/>
          <p:cNvCxnSpPr>
            <a:stCxn id="20" idx="5"/>
            <a:endCxn id="21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9" idx="3"/>
            <a:endCxn id="20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7" name="Conector de seta reta 26"/>
          <p:cNvCxnSpPr>
            <a:stCxn id="19" idx="5"/>
            <a:endCxn id="26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0" idx="6"/>
            <a:endCxn id="26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076056" y="521990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 , _</a:t>
            </a:r>
          </a:p>
        </p:txBody>
      </p:sp>
      <p:cxnSp>
        <p:nvCxnSpPr>
          <p:cNvPr id="34" name="Conector de seta reta 33"/>
          <p:cNvCxnSpPr>
            <a:stCxn id="26" idx="2"/>
            <a:endCxn id="21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50149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158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sp>
        <p:nvSpPr>
          <p:cNvPr id="22" name="Elipse 21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Elipse 32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6" name="Conector reto 35"/>
          <p:cNvCxnSpPr>
            <a:stCxn id="23" idx="5"/>
            <a:endCxn id="33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2" idx="3"/>
            <a:endCxn id="23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9" name="Conector de seta reta 38"/>
          <p:cNvCxnSpPr>
            <a:stCxn id="22" idx="5"/>
            <a:endCxn id="38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23" idx="6"/>
            <a:endCxn id="38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5076056" y="521990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_</a:t>
            </a:r>
          </a:p>
        </p:txBody>
      </p:sp>
      <p:cxnSp>
        <p:nvCxnSpPr>
          <p:cNvPr id="45" name="Conector de seta reta 44"/>
          <p:cNvCxnSpPr>
            <a:stCxn id="38" idx="2"/>
            <a:endCxn id="33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25143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200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d -&gt;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sp>
        <p:nvSpPr>
          <p:cNvPr id="18" name="Elipse 17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Elipse 18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Elipse 19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4" name="Conector reto 23"/>
          <p:cNvCxnSpPr>
            <a:stCxn id="19" idx="5"/>
            <a:endCxn id="20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9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27" name="Conector de seta reta 26"/>
          <p:cNvCxnSpPr>
            <a:stCxn id="18" idx="5"/>
            <a:endCxn id="26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19" idx="6"/>
            <a:endCxn id="26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331640" y="423566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_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34" name="Conector de seta reta 33"/>
          <p:cNvCxnSpPr>
            <a:stCxn id="26" idx="2"/>
            <a:endCxn id="20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67650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2394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c -&gt; d -&gt;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cxnSp>
        <p:nvCxnSpPr>
          <p:cNvPr id="50" name="Conector de seta reta 49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" name="Elipse 21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3" name="Elipse 22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5" name="Conector reto 34"/>
          <p:cNvCxnSpPr>
            <a:stCxn id="22" idx="5"/>
            <a:endCxn id="23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1" idx="3"/>
            <a:endCxn id="22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38" name="Conector de seta reta 37"/>
          <p:cNvCxnSpPr>
            <a:stCxn id="21" idx="5"/>
            <a:endCxn id="37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2" idx="6"/>
            <a:endCxn id="37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3419872" y="327569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_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44" name="Conector de seta reta 43"/>
          <p:cNvCxnSpPr>
            <a:stCxn id="37" idx="2"/>
            <a:endCxn id="23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79576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(grafo deve ser orientado e acíclico):</a:t>
            </a:r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156176" y="2564904"/>
            <a:ext cx="2796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Lista: a -&gt; c -&gt; d -&gt; b -&gt; </a:t>
            </a:r>
            <a:r>
              <a:rPr lang="pt-BR" dirty="0" err="1"/>
              <a:t>null</a:t>
            </a:r>
            <a:r>
              <a:rPr lang="pt-BR" dirty="0"/>
              <a:t>  </a:t>
            </a:r>
          </a:p>
        </p:txBody>
      </p:sp>
      <p:cxnSp>
        <p:nvCxnSpPr>
          <p:cNvPr id="50" name="Conector de seta reta 49"/>
          <p:cNvCxnSpPr/>
          <p:nvPr/>
        </p:nvCxnSpPr>
        <p:spPr>
          <a:xfrm>
            <a:off x="5004048" y="274957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2854018" y="3308598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0" name="Elipse 19"/>
          <p:cNvSpPr/>
          <p:nvPr/>
        </p:nvSpPr>
        <p:spPr>
          <a:xfrm>
            <a:off x="1907704" y="4241462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853779" y="5199941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6" name="Conector reto 25"/>
          <p:cNvCxnSpPr>
            <a:stCxn id="20" idx="5"/>
            <a:endCxn id="24" idx="1"/>
          </p:cNvCxnSpPr>
          <p:nvPr/>
        </p:nvCxnSpPr>
        <p:spPr>
          <a:xfrm>
            <a:off x="2371509" y="4591713"/>
            <a:ext cx="561846" cy="66832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9" idx="3"/>
            <a:endCxn id="20" idx="7"/>
          </p:cNvCxnSpPr>
          <p:nvPr/>
        </p:nvCxnSpPr>
        <p:spPr>
          <a:xfrm flipH="1">
            <a:off x="2371509" y="3658849"/>
            <a:ext cx="562085" cy="6427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4572000" y="5197977"/>
            <a:ext cx="543381" cy="410344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29" name="Conector de seta reta 28"/>
          <p:cNvCxnSpPr>
            <a:stCxn id="19" idx="5"/>
            <a:endCxn id="28" idx="0"/>
          </p:cNvCxnSpPr>
          <p:nvPr/>
        </p:nvCxnSpPr>
        <p:spPr>
          <a:xfrm>
            <a:off x="3317823" y="3658849"/>
            <a:ext cx="1525868" cy="1539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20" idx="6"/>
            <a:endCxn id="28" idx="1"/>
          </p:cNvCxnSpPr>
          <p:nvPr/>
        </p:nvCxnSpPr>
        <p:spPr>
          <a:xfrm>
            <a:off x="2451085" y="4446634"/>
            <a:ext cx="2200491" cy="811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3419872" y="327569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1 , 8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264803" y="52389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3 , 4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331640" y="42356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2 , 7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076056" y="52199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5 , 6</a:t>
            </a:r>
          </a:p>
        </p:txBody>
      </p:sp>
      <p:cxnSp>
        <p:nvCxnSpPr>
          <p:cNvPr id="45" name="Conector de seta reta 44"/>
          <p:cNvCxnSpPr>
            <a:stCxn id="28" idx="2"/>
            <a:endCxn id="24" idx="6"/>
          </p:cNvCxnSpPr>
          <p:nvPr/>
        </p:nvCxnSpPr>
        <p:spPr>
          <a:xfrm flipH="1">
            <a:off x="3397160" y="5403149"/>
            <a:ext cx="1174840" cy="19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9626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Topológica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Implementem a solução de ordenação topológica dada em sala. Lembre-se que a ordenação topológica é aplicada apenas em grafos orientados e acíclicos.</a:t>
            </a:r>
          </a:p>
          <a:p>
            <a:r>
              <a:rPr lang="pt-BR" dirty="0"/>
              <a:t>Utilize o algoritmo de detecção de ciclos em grafos para verificar se o grafo é acíclico.</a:t>
            </a:r>
          </a:p>
          <a:p>
            <a:r>
              <a:rPr lang="pt-BR" dirty="0"/>
              <a:t>Altere a implementação de busca em profundidade para fazer a ordenação topológica.</a:t>
            </a:r>
          </a:p>
        </p:txBody>
      </p:sp>
    </p:spTree>
    <p:extLst>
      <p:ext uri="{BB962C8B-B14F-4D97-AF65-F5344CB8AC3E}">
        <p14:creationId xmlns:p14="http://schemas.microsoft.com/office/powerpoint/2010/main" val="181111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329564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FilaRef</a:t>
            </a:r>
            <a:endParaRPr lang="pt-BR" dirty="0"/>
          </a:p>
          <a:p>
            <a:r>
              <a:rPr lang="pt-BR" dirty="0"/>
              <a:t>    {</a:t>
            </a:r>
          </a:p>
          <a:p>
            <a:r>
              <a:rPr lang="pt-BR" dirty="0"/>
              <a:t>    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item;</a:t>
            </a:r>
          </a:p>
          <a:p>
            <a:r>
              <a:rPr lang="pt-BR" dirty="0"/>
              <a:t>    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</a:t>
            </a:r>
            <a:r>
              <a:rPr lang="pt-BR" dirty="0" err="1"/>
              <a:t>prox</a:t>
            </a:r>
            <a:r>
              <a:rPr lang="pt-BR" dirty="0"/>
              <a:t>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  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frente;</a:t>
            </a:r>
          </a:p>
          <a:p>
            <a:r>
              <a:rPr lang="pt-BR" dirty="0"/>
              <a:t>    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Celula</a:t>
            </a:r>
            <a:r>
              <a:rPr lang="pt-BR" dirty="0"/>
              <a:t> </a:t>
            </a:r>
            <a:r>
              <a:rPr lang="pt-BR" dirty="0" err="1"/>
              <a:t>tras</a:t>
            </a:r>
            <a:r>
              <a:rPr lang="pt-BR" dirty="0"/>
              <a:t>;</a:t>
            </a:r>
          </a:p>
          <a:p>
            <a:r>
              <a:rPr lang="pt-BR" dirty="0"/>
              <a:t>    </a:t>
            </a:r>
          </a:p>
          <a:p>
            <a:r>
              <a:rPr lang="pt-BR" dirty="0"/>
              <a:t>        // Operações</a:t>
            </a:r>
          </a:p>
          <a:p>
            <a:r>
              <a:rPr lang="pt-BR" dirty="0"/>
              <a:t>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FilaRef</a:t>
            </a:r>
            <a:r>
              <a:rPr lang="pt-BR" dirty="0"/>
              <a:t> () </a:t>
            </a:r>
          </a:p>
          <a:p>
            <a:r>
              <a:rPr lang="pt-BR" dirty="0"/>
              <a:t>        { //Cria uma Fila vazia</a:t>
            </a:r>
          </a:p>
          <a:p>
            <a:r>
              <a:rPr lang="pt-BR" dirty="0"/>
              <a:t>            </a:t>
            </a:r>
            <a:r>
              <a:rPr lang="pt-BR" dirty="0" err="1"/>
              <a:t>this.frente</a:t>
            </a:r>
            <a:r>
              <a:rPr lang="pt-BR" dirty="0"/>
              <a:t> = new </a:t>
            </a:r>
            <a:r>
              <a:rPr lang="pt-BR" dirty="0" err="1"/>
              <a:t>Celula</a:t>
            </a:r>
            <a:r>
              <a:rPr lang="pt-BR" dirty="0"/>
              <a:t> ();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</a:t>
            </a:r>
            <a:r>
              <a:rPr lang="pt-BR" dirty="0"/>
              <a:t> = </a:t>
            </a:r>
            <a:r>
              <a:rPr lang="pt-BR" dirty="0" err="1"/>
              <a:t>this.frente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this.frente.prox</a:t>
            </a:r>
            <a:r>
              <a:rPr lang="pt-BR" dirty="0"/>
              <a:t>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49329947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539397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enfileira (</a:t>
            </a:r>
            <a:r>
              <a:rPr lang="pt-BR" dirty="0" err="1"/>
              <a:t>Object</a:t>
            </a:r>
            <a:r>
              <a:rPr lang="pt-BR" dirty="0"/>
              <a:t> x)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this.tras.prox</a:t>
            </a:r>
            <a:r>
              <a:rPr lang="pt-BR" dirty="0"/>
              <a:t> = new </a:t>
            </a:r>
            <a:r>
              <a:rPr lang="pt-BR" dirty="0" err="1"/>
              <a:t>Celula</a:t>
            </a:r>
            <a:r>
              <a:rPr lang="pt-BR" dirty="0"/>
              <a:t> ();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</a:t>
            </a:r>
            <a:r>
              <a:rPr lang="pt-BR" dirty="0"/>
              <a:t> = </a:t>
            </a:r>
            <a:r>
              <a:rPr lang="pt-BR" dirty="0" err="1"/>
              <a:t>this.tras.prox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this.tras.item</a:t>
            </a:r>
            <a:r>
              <a:rPr lang="pt-BR" dirty="0"/>
              <a:t> = x;</a:t>
            </a:r>
          </a:p>
          <a:p>
            <a:r>
              <a:rPr lang="pt-BR" dirty="0"/>
              <a:t>            </a:t>
            </a:r>
            <a:r>
              <a:rPr lang="pt-BR" dirty="0" err="1"/>
              <a:t>this.tras.prox</a:t>
            </a:r>
            <a:r>
              <a:rPr lang="pt-BR" dirty="0"/>
              <a:t>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desenfileira</a:t>
            </a:r>
            <a:r>
              <a:rPr lang="pt-BR" dirty="0"/>
              <a:t> ()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Object</a:t>
            </a:r>
            <a:r>
              <a:rPr lang="pt-BR" dirty="0"/>
              <a:t> item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this.vazia</a:t>
            </a:r>
            <a:r>
              <a:rPr lang="pt-BR" dirty="0"/>
              <a:t> ())</a:t>
            </a:r>
          </a:p>
          <a:p>
            <a:r>
              <a:rPr lang="pt-BR" dirty="0"/>
              <a:t>                </a:t>
            </a:r>
            <a:r>
              <a:rPr lang="pt-BR" dirty="0" err="1"/>
              <a:t>throw</a:t>
            </a:r>
            <a:r>
              <a:rPr lang="pt-BR" dirty="0"/>
              <a:t> new </a:t>
            </a:r>
            <a:r>
              <a:rPr lang="pt-BR" dirty="0" err="1"/>
              <a:t>Exception</a:t>
            </a:r>
            <a:r>
              <a:rPr lang="pt-BR" dirty="0"/>
              <a:t> ("Erro: A fila esta vazia");</a:t>
            </a:r>
          </a:p>
          <a:p>
            <a:r>
              <a:rPr lang="pt-BR" dirty="0"/>
              <a:t>            </a:t>
            </a:r>
          </a:p>
          <a:p>
            <a:r>
              <a:rPr lang="pt-BR" dirty="0"/>
              <a:t>            </a:t>
            </a:r>
            <a:r>
              <a:rPr lang="pt-BR" dirty="0" err="1"/>
              <a:t>this.frente</a:t>
            </a:r>
            <a:r>
              <a:rPr lang="pt-BR" dirty="0"/>
              <a:t> = </a:t>
            </a:r>
            <a:r>
              <a:rPr lang="pt-BR" dirty="0" err="1"/>
              <a:t>this.frente.prox</a:t>
            </a:r>
            <a:r>
              <a:rPr lang="pt-BR" dirty="0"/>
              <a:t>;</a:t>
            </a:r>
          </a:p>
          <a:p>
            <a:r>
              <a:rPr lang="pt-BR" dirty="0"/>
              <a:t>            item = </a:t>
            </a:r>
            <a:r>
              <a:rPr lang="pt-BR" dirty="0" err="1"/>
              <a:t>this.frente.item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return</a:t>
            </a:r>
            <a:r>
              <a:rPr lang="pt-BR" dirty="0"/>
              <a:t> item;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2353171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916832"/>
            <a:ext cx="52036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bool</a:t>
            </a:r>
            <a:r>
              <a:rPr lang="pt-BR" dirty="0"/>
              <a:t> vazia ()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return</a:t>
            </a:r>
            <a:r>
              <a:rPr lang="pt-BR" dirty="0"/>
              <a:t> (</a:t>
            </a:r>
            <a:r>
              <a:rPr lang="pt-BR" dirty="0" err="1"/>
              <a:t>this.frente</a:t>
            </a:r>
            <a:r>
              <a:rPr lang="pt-BR" dirty="0"/>
              <a:t> == </a:t>
            </a:r>
            <a:r>
              <a:rPr lang="pt-BR" dirty="0" err="1"/>
              <a:t>this.tras</a:t>
            </a:r>
            <a:r>
              <a:rPr lang="pt-BR" dirty="0"/>
              <a:t>);</a:t>
            </a:r>
          </a:p>
          <a:p>
            <a:r>
              <a:rPr lang="pt-BR" dirty="0"/>
              <a:t>        }</a:t>
            </a:r>
          </a:p>
          <a:p>
            <a:r>
              <a:rPr lang="pt-BR" dirty="0"/>
              <a:t>    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imprime () </a:t>
            </a:r>
          </a:p>
          <a:p>
            <a:r>
              <a:rPr lang="pt-BR" dirty="0"/>
              <a:t>        {</a:t>
            </a:r>
          </a:p>
          <a:p>
            <a:r>
              <a:rPr lang="pt-BR" dirty="0"/>
              <a:t>            </a:t>
            </a:r>
            <a:r>
              <a:rPr lang="pt-BR" dirty="0" err="1"/>
              <a:t>Celula</a:t>
            </a:r>
            <a:r>
              <a:rPr lang="pt-BR" dirty="0"/>
              <a:t> </a:t>
            </a:r>
            <a:r>
              <a:rPr lang="pt-BR" dirty="0" err="1"/>
              <a:t>aux</a:t>
            </a:r>
            <a:r>
              <a:rPr lang="pt-BR" dirty="0"/>
              <a:t>;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this.frente.prox</a:t>
            </a:r>
            <a:r>
              <a:rPr lang="pt-BR" dirty="0"/>
              <a:t>;</a:t>
            </a:r>
          </a:p>
          <a:p>
            <a:r>
              <a:rPr lang="pt-BR" dirty="0"/>
              <a:t>           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aux</a:t>
            </a:r>
            <a:r>
              <a:rPr lang="pt-BR" dirty="0"/>
              <a:t> != </a:t>
            </a:r>
            <a:r>
              <a:rPr lang="pt-BR" dirty="0" err="1"/>
              <a:t>null</a:t>
            </a:r>
            <a:r>
              <a:rPr lang="pt-BR" dirty="0"/>
              <a:t>) {</a:t>
            </a:r>
          </a:p>
          <a:p>
            <a:r>
              <a:rPr lang="pt-BR" dirty="0"/>
              <a:t>                </a:t>
            </a:r>
            <a:r>
              <a:rPr lang="pt-BR" dirty="0" err="1"/>
              <a:t>Console.WriteLine</a:t>
            </a:r>
            <a:r>
              <a:rPr lang="pt-BR" dirty="0"/>
              <a:t>(" " + </a:t>
            </a:r>
            <a:r>
              <a:rPr lang="pt-BR" dirty="0" err="1"/>
              <a:t>aux.item.ToString</a:t>
            </a:r>
            <a:r>
              <a:rPr lang="pt-BR" dirty="0"/>
              <a:t> ());</a:t>
            </a:r>
          </a:p>
          <a:p>
            <a:r>
              <a:rPr lang="pt-BR" dirty="0"/>
              <a:t>                    </a:t>
            </a:r>
            <a:r>
              <a:rPr lang="pt-BR" dirty="0" err="1"/>
              <a:t>aux</a:t>
            </a:r>
            <a:r>
              <a:rPr lang="pt-BR" dirty="0"/>
              <a:t> = </a:t>
            </a:r>
            <a:r>
              <a:rPr lang="pt-BR" dirty="0" err="1"/>
              <a:t>aux.prox</a:t>
            </a:r>
            <a:r>
              <a:rPr lang="pt-BR" dirty="0"/>
              <a:t>;</a:t>
            </a:r>
          </a:p>
          <a:p>
            <a:r>
              <a:rPr lang="pt-BR" dirty="0"/>
              <a:t>            }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/>
              <a:t>Console.WriteLine</a:t>
            </a:r>
            <a:r>
              <a:rPr lang="pt-BR" dirty="0"/>
              <a:t>();</a:t>
            </a:r>
          </a:p>
          <a:p>
            <a:r>
              <a:rPr lang="pt-BR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47357454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 </a:t>
            </a:r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2002] Algoritmos: Teoria e Prática – Tradução da segunda edição em inglês. 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 2002, 936 pp. Editora 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1992] </a:t>
            </a:r>
            <a:r>
              <a:rPr lang="pt-BR" dirty="0" err="1"/>
              <a:t>Algorithms</a:t>
            </a:r>
            <a:r>
              <a:rPr lang="pt-BR" dirty="0"/>
              <a:t> in C++. Robert </a:t>
            </a:r>
            <a:r>
              <a:rPr lang="pt-BR" dirty="0" err="1"/>
              <a:t>Segdewick</a:t>
            </a:r>
            <a:r>
              <a:rPr lang="pt-BR" dirty="0"/>
              <a:t>. c1992, 656 pp. </a:t>
            </a:r>
            <a:r>
              <a:rPr lang="en-US" dirty="0"/>
              <a:t>Boston: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Marco </a:t>
            </a:r>
            <a:r>
              <a:rPr lang="pt-BR" dirty="0" err="1"/>
              <a:t>Goldbarg</a:t>
            </a:r>
            <a:r>
              <a:rPr lang="pt-BR" dirty="0"/>
              <a:t>; Elizabeth </a:t>
            </a:r>
            <a:r>
              <a:rPr lang="pt-BR" dirty="0" err="1"/>
              <a:t>Goldbarg</a:t>
            </a:r>
            <a:r>
              <a:rPr lang="pt-BR" dirty="0"/>
              <a:t>. Grafos - conceitos , algoritmos e aplicações 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3630</TotalTime>
  <Words>15768</Words>
  <Application>Microsoft Office PowerPoint</Application>
  <PresentationFormat>Apresentação na tela (4:3)</PresentationFormat>
  <Paragraphs>3432</Paragraphs>
  <Slides>149</Slides>
  <Notes>0</Notes>
  <HiddenSlides>5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149</vt:i4>
      </vt:variant>
    </vt:vector>
  </HeadingPairs>
  <TitlesOfParts>
    <vt:vector size="153" baseType="lpstr">
      <vt:lpstr>Arial</vt:lpstr>
      <vt:lpstr>Calibri</vt:lpstr>
      <vt:lpstr>Cambria Math</vt:lpstr>
      <vt:lpstr>Tema do Office</vt:lpstr>
      <vt:lpstr>Unidade II  Caminhos e Circuitos</vt:lpstr>
      <vt:lpstr>Caminhos e circuitos</vt:lpstr>
      <vt:lpstr>Cadeias</vt:lpstr>
      <vt:lpstr>Pesquisa em grafos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Classificação das arestas no DFS</vt:lpstr>
      <vt:lpstr>Classificação das arestas no DFS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Análise da Busca em Profundidade</vt:lpstr>
      <vt:lpstr>Busca em Profundidade</vt:lpstr>
      <vt:lpstr>Busca em Profundidade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</vt:lpstr>
      <vt:lpstr>Busca em Largura - Análise (para listas de adjacência)</vt:lpstr>
      <vt:lpstr>Caminho mais curto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197</cp:revision>
  <dcterms:created xsi:type="dcterms:W3CDTF">2011-08-03T02:09:11Z</dcterms:created>
  <dcterms:modified xsi:type="dcterms:W3CDTF">2016-08-18T13:16:35Z</dcterms:modified>
</cp:coreProperties>
</file>