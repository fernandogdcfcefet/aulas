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89" r:id="rId17"/>
    <p:sldId id="309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52" r:id="rId26"/>
    <p:sldId id="368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9" r:id="rId35"/>
    <p:sldId id="341" r:id="rId36"/>
    <p:sldId id="290" r:id="rId37"/>
    <p:sldId id="342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44" r:id="rId46"/>
    <p:sldId id="346" r:id="rId47"/>
    <p:sldId id="347" r:id="rId48"/>
    <p:sldId id="348" r:id="rId49"/>
    <p:sldId id="349" r:id="rId50"/>
    <p:sldId id="350" r:id="rId51"/>
    <p:sldId id="351" r:id="rId52"/>
    <p:sldId id="343" r:id="rId53"/>
    <p:sldId id="291" r:id="rId54"/>
    <p:sldId id="301" r:id="rId55"/>
    <p:sldId id="302" r:id="rId56"/>
    <p:sldId id="303" r:id="rId57"/>
    <p:sldId id="304" r:id="rId58"/>
    <p:sldId id="305" r:id="rId59"/>
    <p:sldId id="307" r:id="rId60"/>
    <p:sldId id="306" r:id="rId61"/>
    <p:sldId id="353" r:id="rId62"/>
    <p:sldId id="355" r:id="rId63"/>
    <p:sldId id="356" r:id="rId64"/>
    <p:sldId id="357" r:id="rId65"/>
    <p:sldId id="358" r:id="rId66"/>
    <p:sldId id="264" r:id="rId6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III </a:t>
            </a:r>
            <a:br>
              <a:rPr lang="pt-BR" dirty="0"/>
            </a:br>
            <a:r>
              <a:rPr lang="pt-BR" dirty="0"/>
              <a:t>Árvores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Árvore é um grafo conexo que não contém circuitos (acíclico).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TEOREMAS:</a:t>
                </a:r>
              </a:p>
              <a:p>
                <a:pPr lvl="1"/>
                <a:r>
                  <a:rPr lang="pt-BR" sz="2000" dirty="0"/>
                  <a:t>Em uma árvore existe um e apenas um caminho entre cada par de vértices.</a:t>
                </a:r>
              </a:p>
              <a:p>
                <a:pPr lvl="1"/>
                <a:r>
                  <a:rPr lang="pt-BR" sz="2000" dirty="0"/>
                  <a:t>Se em um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, existe um único caminho entre qualquer par de vértices, então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 é uma árvore.</a:t>
                </a:r>
              </a:p>
              <a:p>
                <a:pPr lvl="1"/>
                <a:r>
                  <a:rPr lang="pt-BR" sz="2000" dirty="0"/>
                  <a:t>Uma árvore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vértices tem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000" dirty="0"/>
                  <a:t> arestas</a:t>
                </a:r>
              </a:p>
              <a:p>
                <a:pPr lvl="1"/>
                <a:r>
                  <a:rPr lang="pt-BR" sz="2000" dirty="0"/>
                  <a:t>Todo grafo conexo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vértices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000" dirty="0"/>
                  <a:t> arestas é uma árvore</a:t>
                </a:r>
              </a:p>
              <a:p>
                <a:pPr lvl="1"/>
                <a:r>
                  <a:rPr lang="pt-BR" sz="2000" dirty="0"/>
                  <a:t>Um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 é uma árvore se, e somente se, a remoção de qualquer aresta o desconectar (grafo minimamente conectado).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01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Então,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vértices é uma árvore 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conexo e sem circuito,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conexo e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arestas,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sem circuito e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arestas, ou</a:t>
                </a:r>
              </a:p>
              <a:p>
                <a:pPr lvl="1"/>
                <a:r>
                  <a:rPr lang="pt-BR" dirty="0"/>
                  <a:t>Existe exatamente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caminho entre todos os pares de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um grafo minimamente conectado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19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Em qualquer árvore com pelo menos 2 vértices existem pelo menos 2 vértices pendentes</a:t>
                </a:r>
              </a:p>
              <a:p>
                <a:r>
                  <a:rPr lang="pt-BR" dirty="0"/>
                  <a:t>Em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a distância d entre um par de vértices v</a:t>
                </a:r>
                <a:r>
                  <a:rPr lang="pt-BR" baseline="-25000" dirty="0"/>
                  <a:t>1</a:t>
                </a:r>
                <a:r>
                  <a:rPr lang="pt-BR" dirty="0"/>
                  <a:t> e v</a:t>
                </a:r>
                <a:r>
                  <a:rPr lang="pt-BR" baseline="-25000" dirty="0"/>
                  <a:t>2</a:t>
                </a:r>
                <a:r>
                  <a:rPr lang="pt-BR" dirty="0"/>
                  <a:t> corresponde ao número de arestas no menor caminho que une v</a:t>
                </a:r>
                <a:r>
                  <a:rPr lang="pt-BR" baseline="-25000" dirty="0"/>
                  <a:t>1</a:t>
                </a:r>
                <a:r>
                  <a:rPr lang="pt-BR" dirty="0"/>
                  <a:t> a v</a:t>
                </a:r>
                <a:r>
                  <a:rPr lang="pt-BR" baseline="-25000" dirty="0"/>
                  <a:t>2.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excentricidade</a:t>
                </a:r>
                <a:r>
                  <a:rPr lang="pt-BR" dirty="0"/>
                  <a:t> de um vértice v em um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a distância de v ao vértice mais distante</a:t>
                </a:r>
                <a:endParaRPr lang="pt-BR" baseline="-25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054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Centro de uma Árvore:</a:t>
                </a:r>
              </a:p>
              <a:p>
                <a:pPr lvl="1"/>
                <a:r>
                  <a:rPr lang="pt-BR" dirty="0"/>
                  <a:t>O centro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o vértice de menor excentricidade.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Quantos centros podem ter uma árvore?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69890"/>
            <a:ext cx="38004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06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sz="2800" dirty="0"/>
                  <a:t>TEOREMA:</a:t>
                </a:r>
              </a:p>
              <a:p>
                <a:pPr lvl="1"/>
                <a:r>
                  <a:rPr lang="pt-BR" sz="2400" dirty="0"/>
                  <a:t>Toda árvore tem exatamente 1 ou 2 centros.</a:t>
                </a:r>
              </a:p>
              <a:p>
                <a:pPr lvl="1"/>
                <a:r>
                  <a:rPr lang="pt-BR" sz="2400" dirty="0"/>
                  <a:t>Se uma árvore tem 2 centros, então estes centros são adjacentes.</a:t>
                </a:r>
              </a:p>
              <a:p>
                <a:pPr marL="457200" lvl="1" indent="0">
                  <a:buNone/>
                </a:pPr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r>
                  <a:rPr lang="pt-BR" sz="2400" dirty="0"/>
                  <a:t>Raio de uma árvore é a excentricidade do centro</a:t>
                </a:r>
              </a:p>
              <a:p>
                <a:pPr lvl="1"/>
                <a:r>
                  <a:rPr lang="pt-BR" sz="2400" dirty="0"/>
                  <a:t>Diâmetro de uma árvore é o comprimento do maior caminho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8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57" y="2852936"/>
            <a:ext cx="446722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lipse 3"/>
          <p:cNvSpPr/>
          <p:nvPr/>
        </p:nvSpPr>
        <p:spPr>
          <a:xfrm>
            <a:off x="4427984" y="400506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31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Uma árvore geradora de um grafo conexo G é um </a:t>
                </a:r>
                <a:r>
                  <a:rPr lang="pt-BR" dirty="0" err="1"/>
                  <a:t>subgrafo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contém todos os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é uma árvore</a:t>
                </a:r>
              </a:p>
              <a:p>
                <a:r>
                  <a:rPr lang="pt-BR" dirty="0"/>
                  <a:t>Árvore geradora só é definida para grafos conexo porque toda árvore é conexa</a:t>
                </a:r>
              </a:p>
              <a:p>
                <a:r>
                  <a:rPr lang="pt-BR" dirty="0"/>
                  <a:t>Grafos não conexo possuem florestas geradoras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49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</p:spPr>
            <p:txBody>
              <a:bodyPr/>
              <a:lstStyle/>
              <a:p>
                <a:r>
                  <a:rPr lang="pt-BR" dirty="0"/>
                  <a:t>Dado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uma árvore geradora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define-se:</a:t>
                </a:r>
              </a:p>
              <a:p>
                <a:pPr lvl="1"/>
                <a:r>
                  <a:rPr lang="pt-BR" dirty="0"/>
                  <a:t>Galho: um aresta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Corda: uma aresta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não pertence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  <a:blipFill>
                <a:blip r:embed="rId2"/>
                <a:stretch>
                  <a:fillRect l="-1704" t="-3038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00" y="1772816"/>
            <a:ext cx="2673000" cy="1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8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61048"/>
                <a:ext cx="8229600" cy="226511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TEOREMAS:</a:t>
                </a:r>
              </a:p>
              <a:p>
                <a:pPr lvl="1"/>
                <a:r>
                  <a:rPr lang="pt-BR" dirty="0"/>
                  <a:t>Todo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tem uma árvore geradora</a:t>
                </a:r>
              </a:p>
              <a:p>
                <a:pPr lvl="1"/>
                <a:r>
                  <a:rPr lang="pt-BR" dirty="0"/>
                  <a:t>Dado um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vértices,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arestas e uma árvore geradora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pt-BR" dirty="0"/>
                  <a:t>galhos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pt-BR" dirty="0"/>
                  <a:t> cordas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61048"/>
                <a:ext cx="8229600" cy="2265115"/>
              </a:xfrm>
              <a:blipFill>
                <a:blip r:embed="rId2"/>
                <a:stretch>
                  <a:fillRect l="-1481" t="-5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00" y="1772816"/>
            <a:ext cx="2673000" cy="1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5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Exemplo: Um fazendeiro possui 6 lotes murados como mostrado na figura abaixo. Os lotes estão cheios de água. Quantos muros devem ser removidos para que toda a água seja liberada?</a:t>
            </a:r>
          </a:p>
          <a:p>
            <a:endParaRPr lang="pt-BR" sz="2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789040"/>
            <a:ext cx="2970000" cy="26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3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800" dirty="0"/>
                  <a:t>Árvore Geradora Mínima é uma árvore geradora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com peso mínimo.</a:t>
                </a:r>
              </a:p>
              <a:p>
                <a:r>
                  <a:rPr lang="pt-BR" sz="2800" dirty="0"/>
                  <a:t>Problema:</a:t>
                </a:r>
              </a:p>
              <a:p>
                <a:pPr lvl="1"/>
                <a:r>
                  <a:rPr lang="pt-BR" sz="2400" dirty="0"/>
                  <a:t>Dado um grafo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com pesos associados às arestas, encontrar uma árvore geradora mínima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Exemplo:</a:t>
                </a:r>
              </a:p>
              <a:p>
                <a:pPr lvl="1"/>
                <a:r>
                  <a:rPr lang="pt-BR" sz="2400" dirty="0"/>
                  <a:t>Devemos conectar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cidades v</a:t>
                </a:r>
                <a:r>
                  <a:rPr lang="pt-BR" sz="2400" baseline="-25000" dirty="0"/>
                  <a:t>1</a:t>
                </a:r>
                <a:r>
                  <a:rPr lang="pt-BR" sz="2400" dirty="0"/>
                  <a:t>, v</a:t>
                </a:r>
                <a:r>
                  <a:rPr lang="pt-BR" sz="2400" baseline="-25000" dirty="0"/>
                  <a:t>2</a:t>
                </a:r>
                <a:r>
                  <a:rPr lang="pt-BR" sz="2400" dirty="0"/>
                  <a:t>, ..., </a:t>
                </a:r>
                <a:r>
                  <a:rPr lang="pt-BR" sz="2400" dirty="0" err="1"/>
                  <a:t>v</a:t>
                </a:r>
                <a:r>
                  <a:rPr lang="pt-BR" sz="2400" baseline="-25000" dirty="0" err="1"/>
                  <a:t>n</a:t>
                </a:r>
                <a:r>
                  <a:rPr lang="pt-BR" sz="2400" dirty="0"/>
                  <a:t> através de uma rede de estradas. Seja </a:t>
                </a:r>
                <a:r>
                  <a:rPr lang="pt-BR" sz="2400" dirty="0" err="1"/>
                  <a:t>c</a:t>
                </a:r>
                <a:r>
                  <a:rPr lang="pt-BR" sz="2400" baseline="-25000" dirty="0" err="1"/>
                  <a:t>ij</a:t>
                </a:r>
                <a:r>
                  <a:rPr lang="pt-BR" sz="2400" dirty="0"/>
                  <a:t> o custo de construir uma estrada entre as cidades v</a:t>
                </a:r>
                <a:r>
                  <a:rPr lang="pt-BR" sz="2400" baseline="-25000" dirty="0"/>
                  <a:t>i</a:t>
                </a:r>
                <a:r>
                  <a:rPr lang="pt-BR" sz="2400" dirty="0"/>
                  <a:t> e </a:t>
                </a:r>
                <a:r>
                  <a:rPr lang="pt-BR" sz="2400" dirty="0" err="1"/>
                  <a:t>v</a:t>
                </a:r>
                <a:r>
                  <a:rPr lang="pt-BR" sz="2400" baseline="-25000" dirty="0" err="1"/>
                  <a:t>j</a:t>
                </a:r>
                <a:r>
                  <a:rPr lang="pt-BR" sz="2400" dirty="0"/>
                  <a:t>. O problema é então encontrar a rede que minimiza o custo para conectar as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cidades.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042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Exemplo: Um pomar com 10 pés de frutas deve ser irrigado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Cada cano entre duas árvores tem um custo proporcional ao comprimento do cano e à dificuldade e implantação</a:t>
            </a:r>
          </a:p>
          <a:p>
            <a:r>
              <a:rPr lang="pt-BR" sz="2400" dirty="0"/>
              <a:t>Como encontrar o sistema de irrigação que minimiza o custo de implantação?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88840"/>
            <a:ext cx="4320480" cy="225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0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Projeto de redes de comunicações conectando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localidades.</a:t>
                </a:r>
              </a:p>
              <a:p>
                <a:r>
                  <a:rPr lang="pt-BR" dirty="0"/>
                  <a:t>Arranjo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pt-BR" dirty="0"/>
                  <a:t>conexões, conectando duas localidades cada.</a:t>
                </a:r>
              </a:p>
              <a:p>
                <a:r>
                  <a:rPr lang="pt-BR" dirty="0"/>
                  <a:t>Objetivo: dentre as possibilidades de conexões, achar a que usa menor quantidade de cabos.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2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63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AGM - Algoritmo Genérico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Uma estratégia </a:t>
                </a:r>
                <a:r>
                  <a:rPr lang="pt-BR" sz="2800" b="1" dirty="0"/>
                  <a:t>gulosa </a:t>
                </a:r>
                <a:r>
                  <a:rPr lang="pt-BR" sz="2800" dirty="0"/>
                  <a:t>permite obter a AGM adicionando uma aresta de cada vez.</a:t>
                </a:r>
              </a:p>
              <a:p>
                <a:r>
                  <a:rPr lang="pt-BR" sz="2800" dirty="0"/>
                  <a:t>Invariante: Antes de cada iteração,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é um subconjunto de uma árvore geradora mínima.</a:t>
                </a:r>
              </a:p>
              <a:p>
                <a:r>
                  <a:rPr lang="pt-BR" sz="2800" dirty="0"/>
                  <a:t>A cada passo adicionamos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uma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que não viola o invariante.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é chamada de uma </a:t>
                </a:r>
                <a:r>
                  <a:rPr lang="pt-BR" sz="2800" b="1" dirty="0"/>
                  <a:t>aresta segura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90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dirigido, cujas arestas possuem pesos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Prim</a:t>
                </a:r>
                <a:r>
                  <a:rPr lang="pt-BR" sz="2800" dirty="0"/>
                  <a:t> para obter uma AGM pode ser derivado do algoritmo genérico.</a:t>
                </a:r>
              </a:p>
              <a:p>
                <a:r>
                  <a:rPr lang="pt-BR" sz="2800" dirty="0"/>
                  <a:t>O subconjunto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forma uma única árvore, e a aresta adicionada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é sempre uma aresta de peso mínimo </a:t>
                </a:r>
                <a:r>
                  <a:rPr lang="pt-BR" sz="2800" b="1" dirty="0"/>
                  <a:t>conectando a árvore a um vértice que não esteja na árvore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7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A árvore começa por um vértice qualquer (no caso </a:t>
                </a:r>
                <a:r>
                  <a:rPr lang="pt-BR" sz="2800" b="1" dirty="0"/>
                  <a:t>a</a:t>
                </a:r>
                <a:r>
                  <a:rPr lang="pt-BR" sz="2800" dirty="0"/>
                  <a:t>) e cresce até que “gere” todos os vértices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Quando o algoritmo termina, as arestas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formam uma árvore geradora mínima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8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6" name="CaixaDeTexto 115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373587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774041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4134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03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1112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85992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4093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08725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7171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4576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8419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395536" y="5590981"/>
                <a:ext cx="674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Custo: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𝑉</m:t>
                    </m:r>
                    <m:r>
                      <a:rPr lang="pt-BR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pt-BR" i="1" dirty="0" smtClean="0">
                        <a:latin typeface="Cambria Math"/>
                      </a:rPr>
                      <m:t>𝐸</m:t>
                    </m:r>
                  </m:oMath>
                </a14:m>
                <a:endParaRPr lang="pt-BR" dirty="0"/>
              </a:p>
              <a:p>
                <a:r>
                  <a:rPr lang="pt-BR" dirty="0"/>
                  <a:t>Para grafos densos, temos que: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𝐸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≅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então temos: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/>
                  <a:t> no pior caso.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590981"/>
                <a:ext cx="6742743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814" t="-4717" r="-814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837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6" name="CaixaDeTexto 115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164479" y="4739702"/>
            <a:ext cx="308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164479" y="5451224"/>
            <a:ext cx="3042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164479" y="6162746"/>
            <a:ext cx="3042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  <p:cxnSp>
        <p:nvCxnSpPr>
          <p:cNvPr id="16" name="Conector de Seta Reta 15"/>
          <p:cNvCxnSpPr/>
          <p:nvPr/>
        </p:nvCxnSpPr>
        <p:spPr>
          <a:xfrm>
            <a:off x="3478536" y="5661248"/>
            <a:ext cx="1570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283975" y="5193088"/>
            <a:ext cx="3104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Franja da árvore: contem as arestas candidatas a serem adicionadas á árvore  </a:t>
            </a:r>
          </a:p>
        </p:txBody>
      </p:sp>
      <p:cxnSp>
        <p:nvCxnSpPr>
          <p:cNvPr id="72" name="Conector de Seta Reta 71"/>
          <p:cNvCxnSpPr/>
          <p:nvPr/>
        </p:nvCxnSpPr>
        <p:spPr>
          <a:xfrm>
            <a:off x="3454710" y="6470540"/>
            <a:ext cx="1570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/>
          <p:cNvSpPr txBox="1"/>
          <p:nvPr/>
        </p:nvSpPr>
        <p:spPr>
          <a:xfrm>
            <a:off x="5231254" y="6281336"/>
            <a:ext cx="380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Custo: custo das arestas candidatas </a:t>
            </a:r>
          </a:p>
        </p:txBody>
      </p:sp>
      <p:cxnSp>
        <p:nvCxnSpPr>
          <p:cNvPr id="74" name="Conector de Seta Reta 73"/>
          <p:cNvCxnSpPr/>
          <p:nvPr/>
        </p:nvCxnSpPr>
        <p:spPr>
          <a:xfrm>
            <a:off x="637481" y="2429869"/>
            <a:ext cx="0" cy="1734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/>
          <p:cNvSpPr txBox="1"/>
          <p:nvPr/>
        </p:nvSpPr>
        <p:spPr>
          <a:xfrm>
            <a:off x="457200" y="1628800"/>
            <a:ext cx="340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Parent</a:t>
            </a:r>
            <a:r>
              <a:rPr lang="pt-BR" dirty="0"/>
              <a:t>: conjunto resposta da AGM</a:t>
            </a:r>
          </a:p>
        </p:txBody>
      </p:sp>
    </p:spTree>
    <p:extLst>
      <p:ext uri="{BB962C8B-B14F-4D97-AF65-F5344CB8AC3E}">
        <p14:creationId xmlns:p14="http://schemas.microsoft.com/office/powerpoint/2010/main" val="3668308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08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 </a:t>
            </a:r>
            <a:r>
              <a:rPr lang="pt-BR" sz="2000" u="sng" dirty="0"/>
              <a:t>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132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196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0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9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6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334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132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00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>
                <a:solidFill>
                  <a:srgbClr val="FF0000"/>
                </a:solidFill>
              </a:rPr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>
                <a:solidFill>
                  <a:srgbClr val="FF0000"/>
                </a:solidFill>
              </a:rPr>
              <a:t>d</a:t>
            </a:r>
            <a:r>
              <a:rPr lang="pt-BR" sz="2000" u="sng" dirty="0"/>
              <a:t>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480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9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6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11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8</a:t>
            </a:r>
            <a:r>
              <a:rPr lang="pt-BR" sz="2000" u="sng" dirty="0"/>
              <a:t>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92478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5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6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11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7</a:t>
            </a:r>
            <a:r>
              <a:rPr lang="pt-BR" sz="2000" u="sng" dirty="0"/>
              <a:t>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18607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1112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238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5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11  </a:t>
            </a:r>
            <a:r>
              <a:rPr lang="pt-BR" sz="2000" dirty="0"/>
              <a:t>  </a:t>
            </a:r>
            <a:r>
              <a:rPr lang="pt-BR" sz="2000" u="sng" dirty="0"/>
              <a:t>  7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05409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4093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5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11  </a:t>
            </a:r>
            <a:r>
              <a:rPr lang="pt-BR" sz="2000" dirty="0"/>
              <a:t>  </a:t>
            </a:r>
            <a:r>
              <a:rPr lang="pt-BR" sz="2000" u="sng" dirty="0"/>
              <a:t>  7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81471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7171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g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5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8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7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65155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321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g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e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g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5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8  </a:t>
            </a:r>
            <a:r>
              <a:rPr lang="pt-BR" sz="2000" dirty="0"/>
              <a:t>  </a:t>
            </a:r>
            <a:r>
              <a:rPr lang="pt-BR" sz="2000" u="sng" dirty="0"/>
              <a:t>  7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34292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64479" y="4739702"/>
            <a:ext cx="3321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>
                <a:solidFill>
                  <a:srgbClr val="FF0000"/>
                </a:solidFill>
              </a:rPr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a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d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g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>
                <a:solidFill>
                  <a:srgbClr val="FF0000"/>
                </a:solidFill>
              </a:rPr>
              <a:t>e</a:t>
            </a:r>
            <a:r>
              <a:rPr lang="pt-BR" sz="2000" u="sng" dirty="0"/>
              <a:t>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4479" y="5451224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-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  <a:r>
              <a:rPr lang="pt-BR" sz="2000" dirty="0"/>
              <a:t>  </a:t>
            </a:r>
            <a:r>
              <a:rPr lang="pt-BR" sz="2000" u="sng" dirty="0"/>
              <a:t>  </a:t>
            </a:r>
            <a:r>
              <a:rPr lang="pt-BR" sz="2000" u="sng" dirty="0" err="1"/>
              <a:t>e</a:t>
            </a:r>
            <a:r>
              <a:rPr lang="pt-BR" sz="2000" u="sng" dirty="0"/>
              <a:t>  </a:t>
            </a:r>
            <a:r>
              <a:rPr lang="pt-BR" sz="2000" dirty="0"/>
              <a:t>  </a:t>
            </a:r>
            <a:r>
              <a:rPr lang="pt-BR" sz="2000" u="sng" dirty="0"/>
              <a:t>  a  </a:t>
            </a:r>
            <a:r>
              <a:rPr lang="pt-BR" sz="2000" dirty="0"/>
              <a:t>  </a:t>
            </a:r>
            <a:r>
              <a:rPr lang="pt-BR" sz="2000" u="sng" dirty="0"/>
              <a:t>  d  </a:t>
            </a:r>
            <a:r>
              <a:rPr lang="pt-BR" sz="2000" dirty="0"/>
              <a:t>  </a:t>
            </a:r>
            <a:r>
              <a:rPr lang="pt-BR" sz="2000" u="sng" dirty="0"/>
              <a:t>  g  </a:t>
            </a:r>
            <a:r>
              <a:rPr lang="pt-BR" sz="2000" dirty="0"/>
              <a:t>  </a:t>
            </a:r>
            <a:r>
              <a:rPr lang="pt-BR" sz="2000" u="sng" dirty="0"/>
              <a:t>  e 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64479" y="6162746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  0  </a:t>
            </a:r>
            <a:r>
              <a:rPr lang="pt-BR" sz="2000" dirty="0"/>
              <a:t>  </a:t>
            </a:r>
            <a:r>
              <a:rPr lang="pt-BR" sz="2000" u="sng" dirty="0"/>
              <a:t>  5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6  </a:t>
            </a:r>
            <a:r>
              <a:rPr lang="pt-BR" sz="2000" dirty="0"/>
              <a:t>  </a:t>
            </a:r>
            <a:r>
              <a:rPr lang="pt-BR" sz="2000" u="sng" dirty="0"/>
              <a:t>  8  </a:t>
            </a:r>
            <a:r>
              <a:rPr lang="pt-BR" sz="2000" dirty="0"/>
              <a:t>  </a:t>
            </a:r>
            <a:r>
              <a:rPr lang="pt-BR" sz="2000" u="sng" dirty="0"/>
              <a:t>  7 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65289" y="4418300"/>
            <a:ext cx="876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parent</a:t>
            </a:r>
            <a:endParaRPr lang="pt-BR" sz="2000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223585" y="5169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frj</a:t>
            </a:r>
            <a:endParaRPr lang="pt-BR" sz="2000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207111" y="5881226"/>
            <a:ext cx="61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cost</a:t>
            </a:r>
            <a:endParaRPr lang="pt-BR" sz="2000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637481" y="2429869"/>
            <a:ext cx="0" cy="1734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457200" y="1628800"/>
            <a:ext cx="340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Parent</a:t>
            </a:r>
            <a:r>
              <a:rPr lang="pt-BR" dirty="0"/>
              <a:t>: conjunto resposta da AGM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ixaDeTexto 41"/>
              <p:cNvSpPr txBox="1"/>
              <p:nvPr/>
            </p:nvSpPr>
            <p:spPr>
              <a:xfrm>
                <a:off x="4456885" y="6178135"/>
                <a:ext cx="1987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Custo: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b="0" i="1" dirty="0" smtClean="0">
                        <a:latin typeface="Cambria Math" panose="02040503050406030204" pitchFamily="18" charset="0"/>
                        <a:ea typeface="Cambria Math"/>
                      </a:rPr>
                      <m:t>+</m:t>
                    </m:r>
                    <m:r>
                      <a:rPr lang="pt-BR" i="1" dirty="0" smtClean="0">
                        <a:latin typeface="Cambria Math"/>
                      </a:rPr>
                      <m:t>𝐸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42" name="CaixaDeTexto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885" y="6178135"/>
                <a:ext cx="1987323" cy="369332"/>
              </a:xfrm>
              <a:prstGeom prst="rect">
                <a:avLst/>
              </a:prstGeom>
              <a:blipFill>
                <a:blip r:embed="rId2"/>
                <a:stretch>
                  <a:fillRect l="-2454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681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(</a:t>
            </a:r>
            <a:r>
              <a:rPr lang="pt-BR" dirty="0" err="1"/>
              <a:t>Prim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[</a:t>
            </a:r>
            <a:r>
              <a:rPr lang="pt-BR" sz="2400" dirty="0" err="1"/>
              <a:t>Sedgewick</a:t>
            </a:r>
            <a:r>
              <a:rPr lang="pt-BR" sz="2400" dirty="0"/>
              <a:t> 20.33]  Considere o grafo cujos vértices são os pontos no plano dados abaixo. Suponha que as arestas do grafo são  1-0 3-5 5-2 3-4 5-1 0-3 0-4 4-2 2-3  e o custo de cada aresta é igual ao comprimento do segmento de reta que liga as pontas da aresta.  Aplique o algoritmo de </a:t>
            </a:r>
            <a:r>
              <a:rPr lang="pt-BR" sz="2400" dirty="0" err="1"/>
              <a:t>Prim</a:t>
            </a:r>
            <a:r>
              <a:rPr lang="pt-BR" sz="2400" dirty="0"/>
              <a:t> a esse grafo. Exiba uma figura do grafo e da </a:t>
            </a:r>
            <a:r>
              <a:rPr lang="pt-BR" sz="2400" dirty="0" err="1"/>
              <a:t>subárvore</a:t>
            </a:r>
            <a:r>
              <a:rPr lang="pt-BR" sz="2400" dirty="0"/>
              <a:t> no início de cada iteração. </a:t>
            </a:r>
          </a:p>
          <a:p>
            <a:pPr marL="0" indent="0" algn="ctr">
              <a:buNone/>
            </a:pPr>
            <a:r>
              <a:rPr lang="pt-BR" sz="2400" dirty="0"/>
              <a:t>0 	1 	2 	3 	4 	5 </a:t>
            </a:r>
          </a:p>
          <a:p>
            <a:pPr marL="0" indent="0" algn="ctr">
              <a:buNone/>
            </a:pPr>
            <a:r>
              <a:rPr lang="pt-BR" sz="2400" dirty="0"/>
              <a:t>(1,3) 	(2,1) 	(6,5) 	(3,4) 	(3,7) 	(5,3)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02472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dirigido, cujas arestas possuem pesos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Kruskal</a:t>
                </a:r>
                <a:r>
                  <a:rPr lang="pt-BR" sz="2800" dirty="0"/>
                  <a:t> encontra uma AGM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Kruskal</a:t>
                </a:r>
                <a:r>
                  <a:rPr lang="pt-BR" sz="2800" dirty="0"/>
                  <a:t> inicia com a AGM vazia e acrescenta as arestas de menor peso que não formam circuito</a:t>
                </a:r>
              </a:p>
              <a:p>
                <a:r>
                  <a:rPr lang="pt-BR" sz="2800" dirty="0"/>
                  <a:t>Termina ao inserir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pt-BR" sz="2800" dirty="0"/>
                  <a:t>arestas.</a:t>
                </a:r>
              </a:p>
              <a:p>
                <a:r>
                  <a:rPr lang="pt-BR" sz="2800" dirty="0"/>
                  <a:t>Considera as arestas ordenadas pelo peso.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614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É guloso porque, a cada passo, ele adiciona à floresta uma aresta de menor peso.</a:t>
                </a:r>
              </a:p>
              <a:p>
                <a:r>
                  <a:rPr lang="pt-BR" sz="2800" dirty="0"/>
                  <a:t>Obtém uma AGM adicionando uma aresta de cada vez à floresta e, a cada passo, usa a aresta de menor peso que não forma ciclo.</a:t>
                </a:r>
              </a:p>
              <a:p>
                <a:r>
                  <a:rPr lang="pt-BR" sz="2800" dirty="0"/>
                  <a:t>Inicia com uma floresta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árvores de um vértice: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passos, </a:t>
                </a:r>
                <a:r>
                  <a:rPr lang="pt-BR" sz="2800" b="1" dirty="0"/>
                  <a:t>une duas árvores até que exista apenas uma árvore na floresta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590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395536" y="5445224"/>
                <a:ext cx="60486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Inicialmente existem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árvores (vértices de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até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pt-B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Objetivo: unir todas as árvores pela aresta de menor peso até que haja apenas uma árvore na floresta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445224"/>
                <a:ext cx="6048672" cy="923330"/>
              </a:xfrm>
              <a:prstGeom prst="rect">
                <a:avLst/>
              </a:prstGeom>
              <a:blipFill>
                <a:blip r:embed="rId2"/>
                <a:stretch>
                  <a:fillRect l="-706" t="-3289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3576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16283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42767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512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91567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512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96993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31273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35154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Como saber se uma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 conecta ou não duas árvores na floresta?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pt-BR" sz="2400" dirty="0"/>
                  <a:t>em cada árvore da floresta, eleja um dos vértices para ser o </a:t>
                </a:r>
                <a:r>
                  <a:rPr lang="pt-BR" sz="2400" i="1" dirty="0"/>
                  <a:t>chefe</a:t>
                </a:r>
                <a:r>
                  <a:rPr lang="pt-BR" sz="2400" dirty="0"/>
                  <a:t> da árvore;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pt-BR" sz="2400" dirty="0"/>
                  <a:t>mantenha um vetor chefe[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 …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400" dirty="0"/>
                  <a:t>] tal que chefe[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] é o chefe da árvore que contém o vértice 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Agora, ao adicionar uma nova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, verifique se chefe[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] é diferente de chefe[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].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2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179512" y="6361583"/>
            <a:ext cx="2984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/>
              <a:t>Adaptado de Paulo </a:t>
            </a:r>
            <a:r>
              <a:rPr lang="pt-BR" sz="1400" i="1" dirty="0" err="1"/>
              <a:t>Feofiloff</a:t>
            </a:r>
            <a:r>
              <a:rPr lang="pt-BR" sz="1400" i="1" dirty="0"/>
              <a:t> (IME-USP)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69179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c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e</a:t>
            </a:r>
          </a:p>
        </p:txBody>
      </p:sp>
    </p:spTree>
    <p:extLst>
      <p:ext uri="{BB962C8B-B14F-4D97-AF65-F5344CB8AC3E}">
        <p14:creationId xmlns:p14="http://schemas.microsoft.com/office/powerpoint/2010/main" val="2694075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</a:t>
            </a:r>
            <a:r>
              <a:rPr lang="pt-BR" b="1" dirty="0"/>
              <a:t>b</a:t>
            </a:r>
          </a:p>
          <a:p>
            <a:r>
              <a:rPr lang="pt-BR" dirty="0"/>
              <a:t>Chefe [c] = c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</a:t>
            </a:r>
            <a:r>
              <a:rPr lang="pt-BR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100281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</a:t>
            </a:r>
            <a:r>
              <a:rPr lang="pt-BR" b="1" dirty="0"/>
              <a:t>b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</a:t>
            </a:r>
            <a:r>
              <a:rPr lang="pt-BR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0776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  <a:p>
            <a:r>
              <a:rPr lang="pt-BR" dirty="0"/>
              <a:t>Chefe [c]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b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924887" y="3820398"/>
            <a:ext cx="1" cy="1120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23528" y="5158933"/>
            <a:ext cx="543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Chefe de </a:t>
            </a:r>
            <a:r>
              <a:rPr lang="pt-BR" b="1" dirty="0"/>
              <a:t>b</a:t>
            </a:r>
            <a:r>
              <a:rPr lang="pt-BR" dirty="0"/>
              <a:t> é </a:t>
            </a:r>
            <a:r>
              <a:rPr lang="pt-BR" b="1" dirty="0"/>
              <a:t>igual</a:t>
            </a:r>
            <a:r>
              <a:rPr lang="pt-BR" dirty="0"/>
              <a:t> ao chefe de </a:t>
            </a:r>
            <a:r>
              <a:rPr lang="pt-BR" b="1" dirty="0"/>
              <a:t>c</a:t>
            </a:r>
            <a:r>
              <a:rPr lang="pt-BR" dirty="0"/>
              <a:t>, então a aresta não pode ser adicionada</a:t>
            </a:r>
          </a:p>
        </p:txBody>
      </p:sp>
    </p:spTree>
    <p:extLst>
      <p:ext uri="{BB962C8B-B14F-4D97-AF65-F5344CB8AC3E}">
        <p14:creationId xmlns:p14="http://schemas.microsoft.com/office/powerpoint/2010/main" val="1109215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</a:t>
            </a:r>
            <a:r>
              <a:rPr lang="pt-BR" b="1" dirty="0"/>
              <a:t>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b</a:t>
            </a:r>
          </a:p>
          <a:p>
            <a:r>
              <a:rPr lang="pt-BR" dirty="0"/>
              <a:t>Chefe [d] = </a:t>
            </a:r>
            <a:r>
              <a:rPr lang="pt-BR" b="1" dirty="0"/>
              <a:t>a</a:t>
            </a:r>
          </a:p>
          <a:p>
            <a:r>
              <a:rPr lang="pt-BR" dirty="0"/>
              <a:t>Chefe [e] = b</a:t>
            </a:r>
          </a:p>
        </p:txBody>
      </p:sp>
    </p:spTree>
    <p:extLst>
      <p:ext uri="{BB962C8B-B14F-4D97-AF65-F5344CB8AC3E}">
        <p14:creationId xmlns:p14="http://schemas.microsoft.com/office/powerpoint/2010/main" val="723016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b</a:t>
            </a:r>
          </a:p>
          <a:p>
            <a:r>
              <a:rPr lang="pt-BR" dirty="0"/>
              <a:t>Chefe [d] = </a:t>
            </a:r>
            <a:r>
              <a:rPr lang="pt-BR" b="1" dirty="0">
                <a:solidFill>
                  <a:srgbClr val="FF0000"/>
                </a:solidFill>
              </a:rPr>
              <a:t>a</a:t>
            </a:r>
          </a:p>
          <a:p>
            <a:r>
              <a:rPr lang="pt-BR" dirty="0"/>
              <a:t>Chefe [e]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924887" y="3820398"/>
            <a:ext cx="1" cy="1120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23528" y="5158933"/>
            <a:ext cx="543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Chefe de </a:t>
            </a:r>
            <a:r>
              <a:rPr lang="pt-BR" b="1" dirty="0"/>
              <a:t>d</a:t>
            </a:r>
            <a:r>
              <a:rPr lang="pt-BR" dirty="0"/>
              <a:t> é </a:t>
            </a:r>
            <a:r>
              <a:rPr lang="pt-BR" b="1" dirty="0"/>
              <a:t>diferente</a:t>
            </a:r>
            <a:r>
              <a:rPr lang="pt-BR" dirty="0"/>
              <a:t> do chefe de </a:t>
            </a:r>
            <a:r>
              <a:rPr lang="pt-BR" b="1" dirty="0"/>
              <a:t>e</a:t>
            </a:r>
            <a:r>
              <a:rPr lang="pt-BR" dirty="0"/>
              <a:t>, então a aresta pode ser adicionada</a:t>
            </a:r>
          </a:p>
        </p:txBody>
      </p:sp>
    </p:spTree>
    <p:extLst>
      <p:ext uri="{BB962C8B-B14F-4D97-AF65-F5344CB8AC3E}">
        <p14:creationId xmlns:p14="http://schemas.microsoft.com/office/powerpoint/2010/main" val="2313676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(</a:t>
            </a:r>
            <a:r>
              <a:rPr lang="pt-BR" dirty="0" err="1"/>
              <a:t>Kruskal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[</a:t>
            </a:r>
            <a:r>
              <a:rPr lang="pt-BR" sz="2400" dirty="0" err="1"/>
              <a:t>Sedgewick</a:t>
            </a:r>
            <a:r>
              <a:rPr lang="pt-BR" sz="2400" dirty="0"/>
              <a:t> 20.48] Considere o grafo conexo cujos vértices são os pontos no plano indicados a seguir. Suponha que as arestas do grafo são  1-0 3-5 5-2 3-4 5-1 0-3 0-4 4-2 2-3  e o custo de cada aresta v-w é igual ao comprimento do segmento de reta que liga os pontos v e w no plano. </a:t>
            </a:r>
          </a:p>
          <a:p>
            <a:pPr marL="0" indent="0">
              <a:buNone/>
            </a:pPr>
            <a:endParaRPr lang="pt-BR" sz="2400" dirty="0"/>
          </a:p>
          <a:p>
            <a:pPr marL="0" indent="0" algn="ctr">
              <a:buNone/>
            </a:pPr>
            <a:r>
              <a:rPr lang="pt-BR" sz="2400" dirty="0"/>
              <a:t>0	 1	 2	 3	 4	 5 </a:t>
            </a:r>
          </a:p>
          <a:p>
            <a:pPr marL="0" indent="0" algn="ctr">
              <a:buNone/>
            </a:pPr>
            <a:r>
              <a:rPr lang="pt-BR" sz="2400" dirty="0"/>
              <a:t>(1,3)	 (2,1)	 (6,5)	 (3,4)	 (3,7)	 (5,3) </a:t>
            </a:r>
          </a:p>
          <a:p>
            <a:endParaRPr lang="pt-BR" sz="2400" dirty="0"/>
          </a:p>
          <a:p>
            <a:pPr algn="just"/>
            <a:r>
              <a:rPr lang="pt-BR" sz="2400" dirty="0"/>
              <a:t>Aplique o algoritmo de </a:t>
            </a:r>
            <a:r>
              <a:rPr lang="pt-BR" sz="2400" dirty="0" err="1"/>
              <a:t>Kruskal</a:t>
            </a:r>
            <a:r>
              <a:rPr lang="pt-BR" sz="2400" dirty="0"/>
              <a:t> a esse grafo. Exiba uma figura do grafo e da floresta no início de cada iteração. Dê a ordem em que o algoritmo descobre as arestas da </a:t>
            </a:r>
            <a:r>
              <a:rPr lang="pt-BR" sz="2400" cap="small" dirty="0" err="1"/>
              <a:t>mst</a:t>
            </a:r>
            <a:r>
              <a:rPr lang="pt-BR" sz="2400" dirty="0"/>
              <a:t>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06029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Steiner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Dada uma rede representada por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onde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é o conjunto de nós sensores,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800" dirty="0"/>
                  <a:t> são as arestas que representam as conexões entre eles com um custo associado.</a:t>
                </a:r>
              </a:p>
              <a:p>
                <a:r>
                  <a:rPr lang="pt-BR" sz="2800" dirty="0"/>
                  <a:t>O problema está em como construir a árvore de custo mínimo conectando todos os nós sensores S = s</a:t>
                </a:r>
                <a:r>
                  <a:rPr lang="pt-BR" sz="2800" baseline="-25000" dirty="0"/>
                  <a:t>1</a:t>
                </a:r>
                <a:r>
                  <a:rPr lang="pt-BR" sz="2800" dirty="0"/>
                  <a:t> , s</a:t>
                </a:r>
                <a:r>
                  <a:rPr lang="pt-BR" sz="2800" baseline="-25000" dirty="0"/>
                  <a:t>2</a:t>
                </a:r>
                <a:r>
                  <a:rPr lang="pt-BR" sz="2800" dirty="0"/>
                  <a:t> , ...  , </a:t>
                </a:r>
                <a:r>
                  <a:rPr lang="pt-BR" sz="2800" dirty="0" err="1"/>
                  <a:t>s</a:t>
                </a:r>
                <a:r>
                  <a:rPr lang="pt-BR" sz="2800" baseline="-25000" dirty="0" err="1"/>
                  <a:t>m</a:t>
                </a:r>
                <a:r>
                  <a:rPr lang="pt-BR" sz="2800" dirty="0"/>
                  <a:t>, S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pt-BR" sz="2800" dirty="0"/>
                  <a:t> V.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814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dirigido.</a:t>
                </a:r>
              </a:p>
              <a:p>
                <a:r>
                  <a:rPr lang="pt-BR" sz="2800" dirty="0"/>
                  <a:t>Considere também um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𝑇</m:t>
                    </m:r>
                    <m:r>
                      <a:rPr lang="pt-BR" sz="2800" b="0" i="1" smtClean="0">
                        <a:latin typeface="Cambria Math"/>
                      </a:rPr>
                      <m:t>⊆</m:t>
                    </m:r>
                    <m:r>
                      <a:rPr lang="pt-BR" sz="28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800" dirty="0"/>
                  <a:t> (de nós terminais) e o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𝑆</m:t>
                    </m:r>
                    <m:r>
                      <a:rPr lang="pt-BR" sz="2800" i="1">
                        <a:latin typeface="Cambria Math"/>
                      </a:rPr>
                      <m:t>⊆</m:t>
                    </m:r>
                    <m:r>
                      <a:rPr lang="pt-BR" sz="2800" i="1">
                        <a:latin typeface="Cambria Math"/>
                      </a:rPr>
                      <m:t>𝑉</m:t>
                    </m:r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(de nós de Steiner).</a:t>
                </a:r>
              </a:p>
              <a:p>
                <a:pPr lvl="1"/>
                <a:r>
                  <a:rPr lang="pt-BR" sz="2400" dirty="0"/>
                  <a:t>Tais que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pt-BR" sz="2400" b="0" i="1" smtClean="0">
                        <a:latin typeface="Cambria Math"/>
                      </a:rPr>
                      <m:t>𝑆</m:t>
                    </m:r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sz="2400" i="1">
                        <a:latin typeface="Cambria Math"/>
                      </a:rPr>
                      <m:t>𝑆</m:t>
                    </m:r>
                    <m:r>
                      <a:rPr lang="pt-BR" sz="2400" i="1">
                        <a:latin typeface="Cambria Math"/>
                      </a:rPr>
                      <m:t>=∅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A Árvore de Steiner é uma árvore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que une todos os vértices pertencentes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800" dirty="0"/>
                  <a:t> e, opcionalmente, alguns vértices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Não é necessário utilizar todos os vértices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Vértices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são utilizados para manter a conectividade.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213" r="-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29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687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/>
          <p:cNvCxnSpPr/>
          <p:nvPr/>
        </p:nvCxnSpPr>
        <p:spPr>
          <a:xfrm flipH="1">
            <a:off x="6588224" y="2295456"/>
            <a:ext cx="504056" cy="4405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/>
          <p:cNvSpPr txBox="1"/>
          <p:nvPr/>
        </p:nvSpPr>
        <p:spPr>
          <a:xfrm>
            <a:off x="6372200" y="1916832"/>
            <a:ext cx="148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terminais</a:t>
            </a:r>
          </a:p>
        </p:txBody>
      </p:sp>
      <p:cxnSp>
        <p:nvCxnSpPr>
          <p:cNvPr id="143" name="Conector de seta reta 142"/>
          <p:cNvCxnSpPr/>
          <p:nvPr/>
        </p:nvCxnSpPr>
        <p:spPr>
          <a:xfrm flipV="1">
            <a:off x="1691680" y="4544366"/>
            <a:ext cx="720080" cy="3340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aixaDeTexto 143"/>
          <p:cNvSpPr txBox="1"/>
          <p:nvPr/>
        </p:nvSpPr>
        <p:spPr>
          <a:xfrm>
            <a:off x="211082" y="4791337"/>
            <a:ext cx="155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de Steiner</a:t>
            </a:r>
          </a:p>
        </p:txBody>
      </p:sp>
    </p:spTree>
    <p:extLst>
      <p:ext uri="{BB962C8B-B14F-4D97-AF65-F5344CB8AC3E}">
        <p14:creationId xmlns:p14="http://schemas.microsoft.com/office/powerpoint/2010/main" val="28506097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124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755576" y="6021288"/>
            <a:ext cx="5704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Os nós de Steiner mantém o grafo resultante conexo.</a:t>
            </a:r>
          </a:p>
        </p:txBody>
      </p:sp>
    </p:spTree>
    <p:extLst>
      <p:ext uri="{BB962C8B-B14F-4D97-AF65-F5344CB8AC3E}">
        <p14:creationId xmlns:p14="http://schemas.microsoft.com/office/powerpoint/2010/main" val="25935019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Semelhante ao problema da árvore geradora mínima:</a:t>
                </a:r>
              </a:p>
              <a:p>
                <a:pPr lvl="1"/>
                <a:r>
                  <a:rPr lang="pt-BR" dirty="0"/>
                  <a:t>Dado um conjunto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de pontos (vértices), interligá-las por um grafo de menor tamanho, que é a soma dos tamanhos de todas as arestas.</a:t>
                </a:r>
              </a:p>
              <a:p>
                <a:r>
                  <a:rPr lang="pt-BR" dirty="0"/>
                  <a:t>As </a:t>
                </a:r>
                <a:r>
                  <a:rPr lang="pt-BR" dirty="0" err="1"/>
                  <a:t>AGMs</a:t>
                </a:r>
                <a:r>
                  <a:rPr lang="pt-BR" dirty="0"/>
                  <a:t> conectam um conjunto de pontos dados e possuem custo mínimo, mas requerem que todas as conexões sejam entre estes pontos.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259" b="-33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491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 Árvore de Steiner (ST)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Definição (Problema de decisão):</a:t>
                </a:r>
              </a:p>
              <a:p>
                <a:pPr lvl="1"/>
                <a:r>
                  <a:rPr lang="pt-BR" dirty="0"/>
                  <a:t>Considere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um subconjunto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T</m:t>
                    </m:r>
                    <m:r>
                      <a:rPr lang="pt-BR" i="1">
                        <a:latin typeface="Cambria Math"/>
                      </a:rPr>
                      <m:t>⊆</m:t>
                    </m:r>
                    <m:r>
                      <a:rPr lang="pt-BR" i="1">
                        <a:latin typeface="Cambria Math"/>
                      </a:rPr>
                      <m:t>𝑉</m:t>
                    </m:r>
                  </m:oMath>
                </a14:m>
                <a:r>
                  <a:rPr lang="pt-BR" dirty="0"/>
                  <a:t>e um inteiro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Existe uma </a:t>
                </a:r>
                <a:r>
                  <a:rPr lang="pt-BR" dirty="0" err="1"/>
                  <a:t>subárvore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inclui todos os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e que tenha no máximo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arestas?</a:t>
                </a:r>
              </a:p>
              <a:p>
                <a:pPr lvl="1"/>
                <a:endParaRPr lang="pt-BR" dirty="0"/>
              </a:p>
              <a:p>
                <a:r>
                  <a:rPr lang="pt-BR" dirty="0"/>
                  <a:t>O Problema da Árvore de Steiner (ST) é um problema NP-Completo. 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5306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5" name="Conector reto 64"/>
          <p:cNvCxnSpPr>
            <a:stCxn id="6" idx="3"/>
            <a:endCxn id="5" idx="1"/>
          </p:cNvCxnSpPr>
          <p:nvPr/>
        </p:nvCxnSpPr>
        <p:spPr>
          <a:xfrm flipV="1">
            <a:off x="3491814" y="2286165"/>
            <a:ext cx="2069945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" idx="3"/>
            <a:endCxn id="11" idx="1"/>
          </p:cNvCxnSpPr>
          <p:nvPr/>
        </p:nvCxnSpPr>
        <p:spPr>
          <a:xfrm>
            <a:off x="3491814" y="2286187"/>
            <a:ext cx="3445453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" idx="2"/>
            <a:endCxn id="8" idx="0"/>
          </p:cNvCxnSpPr>
          <p:nvPr/>
        </p:nvCxnSpPr>
        <p:spPr>
          <a:xfrm flipH="1">
            <a:off x="3116564" y="2535788"/>
            <a:ext cx="9745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" idx="1"/>
            <a:endCxn id="10" idx="0"/>
          </p:cNvCxnSpPr>
          <p:nvPr/>
        </p:nvCxnSpPr>
        <p:spPr>
          <a:xfrm flipH="1">
            <a:off x="1758158" y="2286187"/>
            <a:ext cx="1002646" cy="14476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5" idx="2"/>
            <a:endCxn id="9" idx="0"/>
          </p:cNvCxnSpPr>
          <p:nvPr/>
        </p:nvCxnSpPr>
        <p:spPr>
          <a:xfrm>
            <a:off x="5927298" y="2535788"/>
            <a:ext cx="7357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1"/>
            <a:endCxn id="10" idx="3"/>
          </p:cNvCxnSpPr>
          <p:nvPr/>
        </p:nvCxnSpPr>
        <p:spPr>
          <a:xfrm flipH="1">
            <a:off x="2123663" y="2286165"/>
            <a:ext cx="3438096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11" idx="1"/>
            <a:endCxn id="8" idx="3"/>
          </p:cNvCxnSpPr>
          <p:nvPr/>
        </p:nvCxnSpPr>
        <p:spPr>
          <a:xfrm flipH="1">
            <a:off x="3482102" y="3983454"/>
            <a:ext cx="3455165" cy="17430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11" idx="1"/>
            <a:endCxn id="10" idx="3"/>
          </p:cNvCxnSpPr>
          <p:nvPr/>
        </p:nvCxnSpPr>
        <p:spPr>
          <a:xfrm flipH="1" flipV="1">
            <a:off x="2123663" y="3983432"/>
            <a:ext cx="4813604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9" idx="1"/>
            <a:endCxn id="10" idx="3"/>
          </p:cNvCxnSpPr>
          <p:nvPr/>
        </p:nvCxnSpPr>
        <p:spPr>
          <a:xfrm flipH="1" flipV="1">
            <a:off x="2123663" y="3983432"/>
            <a:ext cx="3445487" cy="17430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9" idx="1"/>
            <a:endCxn id="8" idx="3"/>
          </p:cNvCxnSpPr>
          <p:nvPr/>
        </p:nvCxnSpPr>
        <p:spPr>
          <a:xfrm flipH="1" flipV="1">
            <a:off x="3482102" y="5726507"/>
            <a:ext cx="2087048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" idx="1"/>
            <a:endCxn id="10" idx="2"/>
          </p:cNvCxnSpPr>
          <p:nvPr/>
        </p:nvCxnSpPr>
        <p:spPr>
          <a:xfrm flipH="1" flipV="1">
            <a:off x="1758158" y="4233033"/>
            <a:ext cx="992867" cy="1493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4" name="CaixaDeTexto 183"/>
          <p:cNvSpPr txBox="1"/>
          <p:nvPr/>
        </p:nvSpPr>
        <p:spPr>
          <a:xfrm>
            <a:off x="1803460" y="48609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5" name="CaixaDeTexto 184"/>
          <p:cNvSpPr txBox="1"/>
          <p:nvPr/>
        </p:nvSpPr>
        <p:spPr>
          <a:xfrm>
            <a:off x="3801454" y="27654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6" name="CaixaDeTexto 185"/>
          <p:cNvSpPr txBox="1"/>
          <p:nvPr/>
        </p:nvSpPr>
        <p:spPr>
          <a:xfrm>
            <a:off x="3192852" y="43006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3439816" y="36618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8" name="CaixaDeTexto 187"/>
          <p:cNvSpPr txBox="1"/>
          <p:nvPr/>
        </p:nvSpPr>
        <p:spPr>
          <a:xfrm>
            <a:off x="4321130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192" name="CaixaDeTexto 191"/>
          <p:cNvSpPr txBox="1"/>
          <p:nvPr/>
        </p:nvSpPr>
        <p:spPr>
          <a:xfrm>
            <a:off x="4979398" y="48766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3" name="CaixaDeTexto 192"/>
          <p:cNvSpPr txBox="1"/>
          <p:nvPr/>
        </p:nvSpPr>
        <p:spPr>
          <a:xfrm>
            <a:off x="4404469" y="5710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94" name="CaixaDeTexto 193"/>
          <p:cNvSpPr txBox="1"/>
          <p:nvPr/>
        </p:nvSpPr>
        <p:spPr>
          <a:xfrm>
            <a:off x="6217188" y="3364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95" name="CaixaDeTexto 194"/>
          <p:cNvSpPr txBox="1"/>
          <p:nvPr/>
        </p:nvSpPr>
        <p:spPr>
          <a:xfrm>
            <a:off x="5927297" y="45911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196" name="CaixaDeTexto 195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96415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7" name="Conector reto 66"/>
          <p:cNvCxnSpPr>
            <a:stCxn id="6" idx="3"/>
            <a:endCxn id="11" idx="1"/>
          </p:cNvCxnSpPr>
          <p:nvPr/>
        </p:nvCxnSpPr>
        <p:spPr>
          <a:xfrm>
            <a:off x="3491814" y="2286187"/>
            <a:ext cx="3445453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" idx="2"/>
            <a:endCxn id="8" idx="0"/>
          </p:cNvCxnSpPr>
          <p:nvPr/>
        </p:nvCxnSpPr>
        <p:spPr>
          <a:xfrm flipH="1">
            <a:off x="3116564" y="2535788"/>
            <a:ext cx="9745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5" idx="2"/>
            <a:endCxn id="9" idx="0"/>
          </p:cNvCxnSpPr>
          <p:nvPr/>
        </p:nvCxnSpPr>
        <p:spPr>
          <a:xfrm>
            <a:off x="5927298" y="2535788"/>
            <a:ext cx="7357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1"/>
            <a:endCxn id="10" idx="3"/>
          </p:cNvCxnSpPr>
          <p:nvPr/>
        </p:nvCxnSpPr>
        <p:spPr>
          <a:xfrm flipH="1">
            <a:off x="2123663" y="2286165"/>
            <a:ext cx="3438096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11" idx="1"/>
            <a:endCxn id="8" idx="3"/>
          </p:cNvCxnSpPr>
          <p:nvPr/>
        </p:nvCxnSpPr>
        <p:spPr>
          <a:xfrm flipH="1">
            <a:off x="3482102" y="3983454"/>
            <a:ext cx="3455165" cy="17430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11" idx="1"/>
            <a:endCxn id="10" idx="3"/>
          </p:cNvCxnSpPr>
          <p:nvPr/>
        </p:nvCxnSpPr>
        <p:spPr>
          <a:xfrm flipH="1" flipV="1">
            <a:off x="2123663" y="3983432"/>
            <a:ext cx="4813604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9" idx="1"/>
            <a:endCxn id="10" idx="3"/>
          </p:cNvCxnSpPr>
          <p:nvPr/>
        </p:nvCxnSpPr>
        <p:spPr>
          <a:xfrm flipH="1" flipV="1">
            <a:off x="2123663" y="3983432"/>
            <a:ext cx="3445487" cy="17430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" idx="1"/>
            <a:endCxn id="10" idx="2"/>
          </p:cNvCxnSpPr>
          <p:nvPr/>
        </p:nvCxnSpPr>
        <p:spPr>
          <a:xfrm flipH="1" flipV="1">
            <a:off x="1758158" y="4233033"/>
            <a:ext cx="992867" cy="1493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4" name="CaixaDeTexto 183"/>
          <p:cNvSpPr txBox="1"/>
          <p:nvPr/>
        </p:nvSpPr>
        <p:spPr>
          <a:xfrm>
            <a:off x="1803460" y="48609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5" name="CaixaDeTexto 184"/>
          <p:cNvSpPr txBox="1"/>
          <p:nvPr/>
        </p:nvSpPr>
        <p:spPr>
          <a:xfrm>
            <a:off x="3801454" y="27654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6" name="CaixaDeTexto 185"/>
          <p:cNvSpPr txBox="1"/>
          <p:nvPr/>
        </p:nvSpPr>
        <p:spPr>
          <a:xfrm>
            <a:off x="3192852" y="43006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3439816" y="36618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8" name="CaixaDeTexto 187"/>
          <p:cNvSpPr txBox="1"/>
          <p:nvPr/>
        </p:nvSpPr>
        <p:spPr>
          <a:xfrm>
            <a:off x="4321130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192" name="CaixaDeTexto 191"/>
          <p:cNvSpPr txBox="1"/>
          <p:nvPr/>
        </p:nvSpPr>
        <p:spPr>
          <a:xfrm>
            <a:off x="4979398" y="48766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3" name="CaixaDeTexto 192"/>
          <p:cNvSpPr txBox="1"/>
          <p:nvPr/>
        </p:nvSpPr>
        <p:spPr>
          <a:xfrm>
            <a:off x="4404469" y="5710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94" name="CaixaDeTexto 193"/>
          <p:cNvSpPr txBox="1"/>
          <p:nvPr/>
        </p:nvSpPr>
        <p:spPr>
          <a:xfrm>
            <a:off x="6217188" y="3364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927297" y="45911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8" name="Conector reto 37"/>
          <p:cNvCxnSpPr>
            <a:stCxn id="6" idx="3"/>
            <a:endCxn id="5" idx="1"/>
          </p:cNvCxnSpPr>
          <p:nvPr/>
        </p:nvCxnSpPr>
        <p:spPr>
          <a:xfrm flipV="1">
            <a:off x="3491814" y="2286165"/>
            <a:ext cx="2069945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9" idx="1"/>
            <a:endCxn id="8" idx="3"/>
          </p:cNvCxnSpPr>
          <p:nvPr/>
        </p:nvCxnSpPr>
        <p:spPr>
          <a:xfrm flipH="1" flipV="1">
            <a:off x="3482102" y="5726507"/>
            <a:ext cx="2087048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4444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287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67544" y="203658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K = 3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611560" y="2535788"/>
            <a:ext cx="0" cy="533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107504" y="3212976"/>
            <a:ext cx="11411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Deseja-se gerar </a:t>
            </a:r>
            <a:r>
              <a:rPr lang="pt-BR" sz="1600" b="1" dirty="0"/>
              <a:t>3</a:t>
            </a:r>
            <a:r>
              <a:rPr lang="pt-BR" sz="1600" dirty="0"/>
              <a:t> grupos, portanto, remova as </a:t>
            </a:r>
            <a:r>
              <a:rPr lang="pt-BR" sz="1600" b="1" dirty="0"/>
              <a:t>duas</a:t>
            </a:r>
            <a:r>
              <a:rPr lang="pt-BR" sz="1600" dirty="0"/>
              <a:t> arestas de maior valor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1401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67544" y="203658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K = 3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611560" y="2535788"/>
            <a:ext cx="0" cy="533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07504" y="3212976"/>
            <a:ext cx="11411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Deseja-se gerar </a:t>
            </a:r>
            <a:r>
              <a:rPr lang="pt-BR" sz="1600" b="1" dirty="0"/>
              <a:t>3 </a:t>
            </a:r>
            <a:r>
              <a:rPr lang="pt-BR" sz="1600" dirty="0"/>
              <a:t>grupos, portanto, remova as </a:t>
            </a:r>
            <a:r>
              <a:rPr lang="pt-BR" sz="1600" b="1" dirty="0"/>
              <a:t>duas</a:t>
            </a:r>
            <a:r>
              <a:rPr lang="pt-BR" sz="1600" dirty="0"/>
              <a:t> arestas de maior valor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6851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1484784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5685</TotalTime>
  <Words>3031</Words>
  <Application>Microsoft Office PowerPoint</Application>
  <PresentationFormat>Apresentação na tela (4:3)</PresentationFormat>
  <Paragraphs>979</Paragraphs>
  <Slides>66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0" baseType="lpstr">
      <vt:lpstr>Arial</vt:lpstr>
      <vt:lpstr>Calibri</vt:lpstr>
      <vt:lpstr>Cambria Math</vt:lpstr>
      <vt:lpstr>Tema do Office</vt:lpstr>
      <vt:lpstr>Unidade III  Árvores</vt:lpstr>
      <vt:lpstr>Árvore</vt:lpstr>
      <vt:lpstr>Árvore</vt:lpstr>
      <vt:lpstr>Árvore</vt:lpstr>
      <vt:lpstr>Árvore</vt:lpstr>
      <vt:lpstr>Árvore</vt:lpstr>
      <vt:lpstr>Árvore Geradora</vt:lpstr>
      <vt:lpstr>Árvore Geradora</vt:lpstr>
      <vt:lpstr>Árvore Geradora</vt:lpstr>
      <vt:lpstr>Árvore Geradora</vt:lpstr>
      <vt:lpstr>Árvore Geradora Mínima</vt:lpstr>
      <vt:lpstr>Árvore Geradora Mínima</vt:lpstr>
      <vt:lpstr>Árvore Geradora Mínima</vt:lpstr>
      <vt:lpstr>AGM - Algoritmo Genérico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Exercícios (Prim)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Exercícios (Kruskal)</vt:lpstr>
      <vt:lpstr>Problema de Steiner</vt:lpstr>
      <vt:lpstr>Árvore de Steiner</vt:lpstr>
      <vt:lpstr>Árvore de Steiner</vt:lpstr>
      <vt:lpstr>Árvore de Steiner</vt:lpstr>
      <vt:lpstr>Árvore de Steiner</vt:lpstr>
      <vt:lpstr>Árvore de Steiner</vt:lpstr>
      <vt:lpstr>Árvore de Steiner</vt:lpstr>
      <vt:lpstr>Problema da Árvore de Steiner (ST)</vt:lpstr>
      <vt:lpstr>AGM para resumo estático de vídeo</vt:lpstr>
      <vt:lpstr>AGM para resumo estático de vídeo</vt:lpstr>
      <vt:lpstr>AGM para resumo estático de vídeo</vt:lpstr>
      <vt:lpstr>AGM para resumo estático de vídeo</vt:lpstr>
      <vt:lpstr>AGM para resumo estático de vídeo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373</cp:revision>
  <dcterms:created xsi:type="dcterms:W3CDTF">2011-08-03T02:09:11Z</dcterms:created>
  <dcterms:modified xsi:type="dcterms:W3CDTF">2016-09-15T11:52:42Z</dcterms:modified>
</cp:coreProperties>
</file>