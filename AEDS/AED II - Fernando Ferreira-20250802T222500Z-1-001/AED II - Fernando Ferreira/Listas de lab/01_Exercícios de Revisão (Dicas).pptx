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Silva" userId="850b114bb1845035" providerId="LiveId" clId="{08D117BB-7327-4120-B844-AEF1C24A00DE}"/>
    <pc:docChg chg="addSld delSld modSld">
      <pc:chgData name="Henrique Silva" userId="850b114bb1845035" providerId="LiveId" clId="{08D117BB-7327-4120-B844-AEF1C24A00DE}" dt="2018-02-06T18:22:53.509" v="37" actId="20577"/>
      <pc:docMkLst>
        <pc:docMk/>
      </pc:docMkLst>
      <pc:sldChg chg="modSp add">
        <pc:chgData name="Henrique Silva" userId="850b114bb1845035" providerId="LiveId" clId="{08D117BB-7327-4120-B844-AEF1C24A00DE}" dt="2018-02-06T18:22:53.509" v="37" actId="20577"/>
        <pc:sldMkLst>
          <pc:docMk/>
          <pc:sldMk cId="2197197728" sldId="256"/>
        </pc:sldMkLst>
        <pc:spChg chg="mod">
          <ac:chgData name="Henrique Silva" userId="850b114bb1845035" providerId="LiveId" clId="{08D117BB-7327-4120-B844-AEF1C24A00DE}" dt="2018-02-06T18:22:53.509" v="37" actId="20577"/>
          <ac:spMkLst>
            <pc:docMk/>
            <pc:sldMk cId="2197197728" sldId="256"/>
            <ac:spMk id="2" creationId="{2FDCB879-73A6-42F9-B810-AE6427A5A823}"/>
          </ac:spMkLst>
        </pc:spChg>
      </pc:sldChg>
      <pc:sldChg chg="add del">
        <pc:chgData name="Henrique Silva" userId="850b114bb1845035" providerId="LiveId" clId="{08D117BB-7327-4120-B844-AEF1C24A00DE}" dt="2018-02-06T18:21:44.534" v="2" actId="2696"/>
        <pc:sldMkLst>
          <pc:docMk/>
          <pc:sldMk cId="2514207654" sldId="257"/>
        </pc:sldMkLst>
      </pc:sldChg>
      <pc:sldChg chg="add del">
        <pc:chgData name="Henrique Silva" userId="850b114bb1845035" providerId="LiveId" clId="{08D117BB-7327-4120-B844-AEF1C24A00DE}" dt="2018-02-06T18:21:46.064" v="3" actId="2696"/>
        <pc:sldMkLst>
          <pc:docMk/>
          <pc:sldMk cId="3183036922" sldId="258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2754865154" sldId="259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1326486694" sldId="260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3780383815" sldId="261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4058034646" sldId="262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3280441711" sldId="263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2716622587" sldId="264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1695206739" sldId="265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1484608838" sldId="266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3537615566" sldId="267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1431594056" sldId="268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3964794170" sldId="269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2905918765" sldId="270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3195956674" sldId="271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1514361337" sldId="272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1416822375" sldId="273"/>
        </pc:sldMkLst>
      </pc:sldChg>
      <pc:sldChg chg="add">
        <pc:chgData name="Henrique Silva" userId="850b114bb1845035" providerId="LiveId" clId="{08D117BB-7327-4120-B844-AEF1C24A00DE}" dt="2018-02-06T18:21:34.439" v="1" actId="20577"/>
        <pc:sldMkLst>
          <pc:docMk/>
          <pc:sldMk cId="3577313327" sldId="274"/>
        </pc:sldMkLst>
      </pc:sldChg>
      <pc:sldChg chg="add del">
        <pc:chgData name="Henrique Silva" userId="850b114bb1845035" providerId="LiveId" clId="{08D117BB-7327-4120-B844-AEF1C24A00DE}" dt="2018-02-06T18:22:34.783" v="6" actId="2696"/>
        <pc:sldMkLst>
          <pc:docMk/>
          <pc:sldMk cId="1957008024" sldId="275"/>
        </pc:sldMkLst>
      </pc:sldChg>
      <pc:sldChg chg="add">
        <pc:chgData name="Henrique Silva" userId="850b114bb1845035" providerId="LiveId" clId="{08D117BB-7327-4120-B844-AEF1C24A00DE}" dt="2018-02-06T18:22:30.831" v="5" actId="20577"/>
        <pc:sldMkLst>
          <pc:docMk/>
          <pc:sldMk cId="2588284392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F7090-1C87-4EF9-8728-527C873A6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F659F6-292D-4010-9327-C559EE134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CAB960-B894-41CB-9988-32A16738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DB27B3-BBE0-4116-9FD0-67813BF6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7A3D70-7AEB-4DAD-9FD7-1E00773F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7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56B5A-92B1-4A72-A4BA-3550A801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C91EC-8561-4D8C-93A1-0172D071F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85114D-5E19-469A-8C89-55944C73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564D95-9D0A-4FEA-8780-CBF417A1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88947A-47E5-4D3D-8E26-9D28465B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64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345BD-2770-479D-9315-85CFE1B6C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A02D28-E6A9-4B67-AD29-259A16A24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31DF37-3B25-45F1-8181-105C01FD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B4C581-33A8-4B76-9FD2-B8F0DF01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A61B64-EB32-4539-BEE5-C87BA5A2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50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17064-4FB1-40FA-B7AC-0164E6E6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869D77-B25F-45A0-ACAE-75634B522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6463BA-9B93-455C-8076-1E18FCFEC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0067FB-FE62-4ACE-A3D7-814C3F349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B1E93A-B84B-434C-AD48-13582ABE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6ECBDB-D446-41B9-9080-9FB451C3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76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7E5E0-937C-4B3D-BCB0-0D2B552B3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1CC04F-CE81-4417-9E21-6733017B6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783C24-65D8-4F24-B698-655C3790B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AC3495-D201-44DC-BB75-566D4E49AE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B42F3D-0F2C-4800-8CE9-44DBC6C4A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5D0C40E-776F-4BEC-90EF-24B0D1C7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A33494-AE1B-460F-95CF-92DFB7AE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59238E3-FFBE-4ECA-B1D3-407A23B0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96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B0F10-CBA6-47BC-B947-1225A05F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13CEADA-4AE1-41BB-9792-0AEC9495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76037D-E5F7-46D9-828C-64983070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86C7C2-2943-4117-87C6-53802788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11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2219EF-6DA2-451C-8174-74197B158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80135EC-508B-498B-A3A8-0A05639D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C56301-F566-4EE9-8920-14AE11A2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73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7C194-3FA3-4D14-A0CE-EBEF8D84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7FEC2B-0988-4787-9582-A12BE43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980810-9A4F-47AB-9490-9764D6BC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A558E9-67A6-47EB-AF85-BE86F62E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C8F65C-C7B3-497E-9FF6-C00E393D2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0D86AB-955B-4287-9919-A336FC20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96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849F9-E133-41CF-905E-4995F601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91B299-F99A-44BA-A530-323D4C142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A72956-32B2-4669-8938-71E3729B4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966010-6DDD-4859-8522-4FF049781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DD292B-54FA-4793-8804-CFBDD1A7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871F51-4AC7-4039-B13B-A48FEFAD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678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3153E-E92B-4AC3-850A-4813B15C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3D7948-DF01-44A7-B92A-AF8F9FB5A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FF9169-BC7C-4E48-B086-B8E7446E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0C44A7-DF83-4AA0-843D-9663A178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CA2841-50CF-4F11-8C06-B95B60B4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73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C56297-3734-4A01-8FCF-8ACA5A134C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346B84-6E35-428D-995F-6D75A99CF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D4B96E-FC52-438C-822F-40C5C01E7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D55C58-9A51-498B-8318-07A84475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1590CD-5A72-4ECB-9EAD-4353608F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5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D69BE9-192E-4749-A637-1EA7F622B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E48FE7-0952-4758-85AA-344A90C72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2974FC-B6E9-4D8A-8F97-23DEE9798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DC1A7-0BF0-4640-A4BA-155CBB2CC696}" type="datetimeFigureOut">
              <a:rPr lang="pt-BR" smtClean="0"/>
              <a:t>06/02/2018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73109C-57B4-4E97-809C-5F88928CC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AA9382-187F-40C9-A288-00965D441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EF9FF-831B-4058-9677-E1D2006D5E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54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CB879-73A6-42F9-B810-AE6427A5A8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Laboratório </a:t>
            </a:r>
            <a:r>
              <a:rPr lang="pt-BR"/>
              <a:t>de Computação II -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6A587B-4773-42C1-90B4-A8D94DBFB2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19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FFA38-03E0-4C79-9681-983A3C57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Exercício: Sequência de Fibonacci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B5E652-5B18-4985-87D2-D4B31B091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A sequência de Fibonacci é uma sequência de números inteiros começando por 0 e 1, sendo que cada terma subsequente corresponde a soma dos dois termos anteriores. </a:t>
            </a:r>
          </a:p>
          <a:p>
            <a:r>
              <a:rPr lang="pt-BR" dirty="0"/>
              <a:t>Exemplo até o décimo termo: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1046D1-4793-43EB-9689-980EF5FF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2</a:t>
            </a:fld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C3F93B-D6D3-46C3-9750-F2321B8F73D6}"/>
              </a:ext>
            </a:extLst>
          </p:cNvPr>
          <p:cNvSpPr txBox="1"/>
          <p:nvPr/>
        </p:nvSpPr>
        <p:spPr>
          <a:xfrm>
            <a:off x="3114675" y="3739684"/>
            <a:ext cx="6756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0,    1,    </a:t>
            </a:r>
            <a:r>
              <a:rPr lang="pt-BR" sz="2800" b="1" dirty="0"/>
              <a:t>1</a:t>
            </a:r>
            <a:r>
              <a:rPr lang="pt-BR" sz="2800" dirty="0"/>
              <a:t>,    </a:t>
            </a:r>
            <a:r>
              <a:rPr lang="pt-BR" sz="2800" b="1" dirty="0"/>
              <a:t>2</a:t>
            </a:r>
            <a:r>
              <a:rPr lang="pt-BR" sz="2800" dirty="0"/>
              <a:t>,    </a:t>
            </a:r>
            <a:r>
              <a:rPr lang="pt-BR" sz="2800" b="1" dirty="0"/>
              <a:t>3</a:t>
            </a:r>
            <a:r>
              <a:rPr lang="pt-BR" sz="2800" dirty="0"/>
              <a:t>,    </a:t>
            </a:r>
            <a:r>
              <a:rPr lang="pt-BR" sz="2800" b="1" dirty="0"/>
              <a:t>5</a:t>
            </a:r>
            <a:r>
              <a:rPr lang="pt-BR" sz="2800" dirty="0"/>
              <a:t>,    </a:t>
            </a:r>
            <a:r>
              <a:rPr lang="pt-BR" sz="2800" b="1" dirty="0"/>
              <a:t>8</a:t>
            </a:r>
            <a:r>
              <a:rPr lang="pt-BR" sz="2800" dirty="0"/>
              <a:t>,   </a:t>
            </a:r>
            <a:r>
              <a:rPr lang="pt-BR" sz="2800" b="1" dirty="0"/>
              <a:t>13</a:t>
            </a:r>
            <a:r>
              <a:rPr lang="pt-BR" sz="2800" dirty="0"/>
              <a:t>,   </a:t>
            </a:r>
            <a:r>
              <a:rPr lang="pt-BR" sz="2800" b="1" dirty="0"/>
              <a:t>21</a:t>
            </a:r>
            <a:r>
              <a:rPr lang="pt-BR" sz="2800" dirty="0"/>
              <a:t>,   </a:t>
            </a:r>
            <a:r>
              <a:rPr lang="pt-BR" sz="2800" b="1" dirty="0"/>
              <a:t>34</a:t>
            </a:r>
            <a:r>
              <a:rPr lang="pt-BR" sz="2800" dirty="0"/>
              <a:t>, ...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F37B655-C6CC-41F4-9B30-C2B7DD344004}"/>
              </a:ext>
            </a:extLst>
          </p:cNvPr>
          <p:cNvCxnSpPr/>
          <p:nvPr/>
        </p:nvCxnSpPr>
        <p:spPr>
          <a:xfrm flipV="1">
            <a:off x="4467225" y="4248150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4C907E29-0ABC-4F32-94C2-E5EA9BE7470F}"/>
              </a:ext>
            </a:extLst>
          </p:cNvPr>
          <p:cNvSpPr txBox="1"/>
          <p:nvPr/>
        </p:nvSpPr>
        <p:spPr>
          <a:xfrm>
            <a:off x="4147265" y="477137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 + 1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2C7D221-5B42-449B-9C29-84C51391E87C}"/>
              </a:ext>
            </a:extLst>
          </p:cNvPr>
          <p:cNvCxnSpPr/>
          <p:nvPr/>
        </p:nvCxnSpPr>
        <p:spPr>
          <a:xfrm flipV="1">
            <a:off x="5093728" y="4248150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F14D34-E646-4B2F-AD28-FB8E85F5B827}"/>
              </a:ext>
            </a:extLst>
          </p:cNvPr>
          <p:cNvSpPr txBox="1"/>
          <p:nvPr/>
        </p:nvSpPr>
        <p:spPr>
          <a:xfrm>
            <a:off x="4773768" y="477137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+ 1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E8142D6-D74D-4ED4-BE82-D4DEC32511DC}"/>
              </a:ext>
            </a:extLst>
          </p:cNvPr>
          <p:cNvCxnSpPr/>
          <p:nvPr/>
        </p:nvCxnSpPr>
        <p:spPr>
          <a:xfrm flipV="1">
            <a:off x="5701181" y="4248150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BF0823-6487-4BF1-B23E-28CD95F2D1A5}"/>
              </a:ext>
            </a:extLst>
          </p:cNvPr>
          <p:cNvSpPr txBox="1"/>
          <p:nvPr/>
        </p:nvSpPr>
        <p:spPr>
          <a:xfrm>
            <a:off x="5381221" y="477137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+ 2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75D1DFF-E5F8-4DAD-97B2-E6EB9E289C4C}"/>
              </a:ext>
            </a:extLst>
          </p:cNvPr>
          <p:cNvCxnSpPr/>
          <p:nvPr/>
        </p:nvCxnSpPr>
        <p:spPr>
          <a:xfrm flipV="1">
            <a:off x="6295218" y="4248150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834CCD1-3523-4F74-A635-AF4FEFFCEDE7}"/>
              </a:ext>
            </a:extLst>
          </p:cNvPr>
          <p:cNvSpPr txBox="1"/>
          <p:nvPr/>
        </p:nvSpPr>
        <p:spPr>
          <a:xfrm>
            <a:off x="5975258" y="477137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 + 3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FA138247-A9B6-41C2-B11C-42DEDF2A9E8A}"/>
              </a:ext>
            </a:extLst>
          </p:cNvPr>
          <p:cNvCxnSpPr/>
          <p:nvPr/>
        </p:nvCxnSpPr>
        <p:spPr>
          <a:xfrm flipV="1">
            <a:off x="6856789" y="4246284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04CE951-78A1-41D1-B371-6B286BCC1B93}"/>
              </a:ext>
            </a:extLst>
          </p:cNvPr>
          <p:cNvSpPr txBox="1"/>
          <p:nvPr/>
        </p:nvSpPr>
        <p:spPr>
          <a:xfrm>
            <a:off x="6536829" y="476950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 + 5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E4F8AEC6-DA8C-4309-B0AE-486237246591}"/>
              </a:ext>
            </a:extLst>
          </p:cNvPr>
          <p:cNvCxnSpPr/>
          <p:nvPr/>
        </p:nvCxnSpPr>
        <p:spPr>
          <a:xfrm flipV="1">
            <a:off x="7450826" y="4246284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2E9380E-6A30-42EF-AAAE-314890692F32}"/>
              </a:ext>
            </a:extLst>
          </p:cNvPr>
          <p:cNvSpPr txBox="1"/>
          <p:nvPr/>
        </p:nvSpPr>
        <p:spPr>
          <a:xfrm>
            <a:off x="7130866" y="476950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 + 8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3FA4C03C-0933-4AA3-9C60-C3E85AF12C81}"/>
              </a:ext>
            </a:extLst>
          </p:cNvPr>
          <p:cNvCxnSpPr/>
          <p:nvPr/>
        </p:nvCxnSpPr>
        <p:spPr>
          <a:xfrm flipV="1">
            <a:off x="8067675" y="4246284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942D39D-8A4F-471B-93A9-BA1B3CA2F95A}"/>
              </a:ext>
            </a:extLst>
          </p:cNvPr>
          <p:cNvSpPr txBox="1"/>
          <p:nvPr/>
        </p:nvSpPr>
        <p:spPr>
          <a:xfrm>
            <a:off x="7747715" y="4769504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 + 13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5AB07BAE-5A7B-4314-A335-46DC0BA7F509}"/>
              </a:ext>
            </a:extLst>
          </p:cNvPr>
          <p:cNvCxnSpPr/>
          <p:nvPr/>
        </p:nvCxnSpPr>
        <p:spPr>
          <a:xfrm flipV="1">
            <a:off x="8758380" y="4246284"/>
            <a:ext cx="0" cy="495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9AE2352-F2ED-4D74-AC1A-1013FCCD830E}"/>
              </a:ext>
            </a:extLst>
          </p:cNvPr>
          <p:cNvSpPr txBox="1"/>
          <p:nvPr/>
        </p:nvSpPr>
        <p:spPr>
          <a:xfrm>
            <a:off x="8438420" y="4769504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13 + 21 ...</a:t>
            </a:r>
          </a:p>
        </p:txBody>
      </p:sp>
    </p:spTree>
    <p:extLst>
      <p:ext uri="{BB962C8B-B14F-4D97-AF65-F5344CB8AC3E}">
        <p14:creationId xmlns:p14="http://schemas.microsoft.com/office/powerpoint/2010/main" val="258828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DD278-9067-44D1-AD5D-3EAEE243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Números primos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20BD98-4368-4C65-BC1C-1595C34FD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Determinar todos os números primos entre 1 e n, onde n é informado pelo usuário. Para isto utilize a estratégias do Crivo de </a:t>
            </a:r>
            <a:r>
              <a:rPr lang="pt-BR" dirty="0" err="1"/>
              <a:t>Eratóstenes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C03417-B47A-48E3-93FA-E7F0A7EE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86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DD278-9067-44D1-AD5D-3EAEE243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Crivo de </a:t>
            </a:r>
            <a:r>
              <a:rPr lang="pt-BR" dirty="0" err="1"/>
              <a:t>Eratóstenes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C03417-B47A-48E3-93FA-E7F0A7EE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4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67EA5CF-CE54-4D15-B444-249A1EF0EF9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5448" y="4148666"/>
          <a:ext cx="111411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04">
                  <a:extLst>
                    <a:ext uri="{9D8B030D-6E8A-4147-A177-3AD203B41FA5}">
                      <a16:colId xmlns:a16="http://schemas.microsoft.com/office/drawing/2014/main" val="217261305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8094371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5517675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471218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3441213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79422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7041354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2924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59349322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7814330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8947424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366384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3528402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9860985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2412166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417271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6878094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2753358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693860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895619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28364430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04751338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35776940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7018147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6527928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73184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30713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A84F813-ADA7-4919-A7FB-BB0E197E6E8A}"/>
              </a:ext>
            </a:extLst>
          </p:cNvPr>
          <p:cNvSpPr txBox="1"/>
          <p:nvPr/>
        </p:nvSpPr>
        <p:spPr>
          <a:xfrm>
            <a:off x="525448" y="1690688"/>
            <a:ext cx="114076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n = 26.</a:t>
            </a:r>
          </a:p>
          <a:p>
            <a:r>
              <a:rPr lang="pt-BR" dirty="0"/>
              <a:t>Crie um lista com todos os números inteiros de 1 a n. Então, faça:</a:t>
            </a:r>
          </a:p>
          <a:p>
            <a:r>
              <a:rPr lang="pt-BR" dirty="0"/>
              <a:t>Como 1 é primo, inicie o algoritmo pelo número 2 (que também é primo). Elimine da lista todos números múltiplos de 2.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648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DD278-9067-44D1-AD5D-3EAEE243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Crivo de </a:t>
            </a:r>
            <a:r>
              <a:rPr lang="pt-BR" dirty="0" err="1"/>
              <a:t>Eratóstenes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C03417-B47A-48E3-93FA-E7F0A7EE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5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67EA5CF-CE54-4D15-B444-249A1EF0EF9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5448" y="4148666"/>
          <a:ext cx="111411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04">
                  <a:extLst>
                    <a:ext uri="{9D8B030D-6E8A-4147-A177-3AD203B41FA5}">
                      <a16:colId xmlns:a16="http://schemas.microsoft.com/office/drawing/2014/main" val="217261305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8094371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5517675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471218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3441213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79422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7041354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2924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59349322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7814330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8947424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366384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3528402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9860985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2412166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417271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6878094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2753358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693860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895619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28364430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04751338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35776940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7018147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6527928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73184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30713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A84F813-ADA7-4919-A7FB-BB0E197E6E8A}"/>
              </a:ext>
            </a:extLst>
          </p:cNvPr>
          <p:cNvSpPr txBox="1"/>
          <p:nvPr/>
        </p:nvSpPr>
        <p:spPr>
          <a:xfrm>
            <a:off x="525448" y="1690688"/>
            <a:ext cx="114076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n = 26.</a:t>
            </a:r>
          </a:p>
          <a:p>
            <a:r>
              <a:rPr lang="pt-BR" dirty="0"/>
              <a:t>Crie um lista com todos os números inteiros de 1 a n. Então, faça:</a:t>
            </a:r>
          </a:p>
          <a:p>
            <a:r>
              <a:rPr lang="pt-BR" dirty="0"/>
              <a:t>Como 1 é primo, inicie o algoritmo pelo número 2 (que também é primo). Elimine da lista todos números múltiplos de 2.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038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DD278-9067-44D1-AD5D-3EAEE243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Crivo de </a:t>
            </a:r>
            <a:r>
              <a:rPr lang="pt-BR" dirty="0" err="1"/>
              <a:t>Eratóstenes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C03417-B47A-48E3-93FA-E7F0A7EE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6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67EA5CF-CE54-4D15-B444-249A1EF0EF9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5448" y="4148666"/>
          <a:ext cx="111411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04">
                  <a:extLst>
                    <a:ext uri="{9D8B030D-6E8A-4147-A177-3AD203B41FA5}">
                      <a16:colId xmlns:a16="http://schemas.microsoft.com/office/drawing/2014/main" val="217261305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8094371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5517675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471218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3441213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79422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7041354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2924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59349322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7814330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8947424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366384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3528402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9860985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2412166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417271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6878094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2753358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693860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895619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28364430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04751338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35776940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7018147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6527928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73184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30713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A84F813-ADA7-4919-A7FB-BB0E197E6E8A}"/>
              </a:ext>
            </a:extLst>
          </p:cNvPr>
          <p:cNvSpPr txBox="1"/>
          <p:nvPr/>
        </p:nvSpPr>
        <p:spPr>
          <a:xfrm>
            <a:off x="525448" y="1690688"/>
            <a:ext cx="114653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n = 26.</a:t>
            </a:r>
          </a:p>
          <a:p>
            <a:r>
              <a:rPr lang="pt-BR" dirty="0"/>
              <a:t>Crie um lista com todos os números inteiros de 1 a n. Então, faça:</a:t>
            </a:r>
          </a:p>
          <a:p>
            <a:r>
              <a:rPr lang="pt-BR" dirty="0"/>
              <a:t>Como 1 é primo, inicie o algoritmo pelo número 2 (que também é primo). Elimine da lista todos números múltiplos de 2.</a:t>
            </a:r>
          </a:p>
          <a:p>
            <a:r>
              <a:rPr lang="pt-BR" dirty="0"/>
              <a:t>Passe para o próximo número, 3, que também é primo. Agora elimine da lista todos os múltiplos de 3.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03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DD278-9067-44D1-AD5D-3EAEE243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Crivo de </a:t>
            </a:r>
            <a:r>
              <a:rPr lang="pt-BR" dirty="0" err="1"/>
              <a:t>Eratóstenes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C03417-B47A-48E3-93FA-E7F0A7EE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7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67EA5CF-CE54-4D15-B444-249A1EF0EF9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5448" y="4148666"/>
          <a:ext cx="111411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04">
                  <a:extLst>
                    <a:ext uri="{9D8B030D-6E8A-4147-A177-3AD203B41FA5}">
                      <a16:colId xmlns:a16="http://schemas.microsoft.com/office/drawing/2014/main" val="217261305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8094371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5517675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471218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3441213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79422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7041354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2924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59349322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7814330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8947424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366384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3528402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9860985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2412166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417271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6878094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2753358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693860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895619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28364430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04751338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35776940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7018147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6527928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73184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30713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A84F813-ADA7-4919-A7FB-BB0E197E6E8A}"/>
              </a:ext>
            </a:extLst>
          </p:cNvPr>
          <p:cNvSpPr txBox="1"/>
          <p:nvPr/>
        </p:nvSpPr>
        <p:spPr>
          <a:xfrm>
            <a:off x="525448" y="1690688"/>
            <a:ext cx="114653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n = 26.</a:t>
            </a:r>
          </a:p>
          <a:p>
            <a:r>
              <a:rPr lang="pt-BR" dirty="0"/>
              <a:t>Crie um lista com todos os números inteiros de 1 a n. Então, faça:</a:t>
            </a:r>
          </a:p>
          <a:p>
            <a:r>
              <a:rPr lang="pt-BR" dirty="0"/>
              <a:t>Como 1 é primo, inicie o algoritmo pelo número 2 (que também é primo). Elimine da lista todos números múltiplos de 2.</a:t>
            </a:r>
          </a:p>
          <a:p>
            <a:r>
              <a:rPr lang="pt-BR" dirty="0"/>
              <a:t>Passe para o próximo número, 3, que também é primo. Agora elimine da lista todos os múltiplos de 3.</a:t>
            </a:r>
          </a:p>
          <a:p>
            <a:r>
              <a:rPr lang="pt-BR" dirty="0"/>
              <a:t>Passe para o próximo número, 5, que também é primo. Agora elimine da lista todos os múltiplos de 5.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0441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DD278-9067-44D1-AD5D-3EAEE243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Crivo de </a:t>
            </a:r>
            <a:r>
              <a:rPr lang="pt-BR" dirty="0" err="1"/>
              <a:t>Eratóstenes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C03417-B47A-48E3-93FA-E7F0A7EE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8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67EA5CF-CE54-4D15-B444-249A1EF0EF9E}"/>
              </a:ext>
            </a:extLst>
          </p:cNvPr>
          <p:cNvGraphicFramePr>
            <a:graphicFrameLocks noGrp="1"/>
          </p:cNvGraphicFramePr>
          <p:nvPr/>
        </p:nvGraphicFramePr>
        <p:xfrm>
          <a:off x="525448" y="4148666"/>
          <a:ext cx="111411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04">
                  <a:extLst>
                    <a:ext uri="{9D8B030D-6E8A-4147-A177-3AD203B41FA5}">
                      <a16:colId xmlns:a16="http://schemas.microsoft.com/office/drawing/2014/main" val="217261305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8094371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5517675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471218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3441213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79422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7041354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2924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59349322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7814330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8947424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366384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3528402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9860985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2412166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417271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6878094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2753358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693860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895619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28364430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04751338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35776940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7018147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6527928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73184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30713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A84F813-ADA7-4919-A7FB-BB0E197E6E8A}"/>
              </a:ext>
            </a:extLst>
          </p:cNvPr>
          <p:cNvSpPr txBox="1"/>
          <p:nvPr/>
        </p:nvSpPr>
        <p:spPr>
          <a:xfrm>
            <a:off x="525448" y="1690688"/>
            <a:ext cx="114653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n = 26.</a:t>
            </a:r>
          </a:p>
          <a:p>
            <a:r>
              <a:rPr lang="pt-BR" dirty="0"/>
              <a:t>Crie um lista com todos os números inteiros de 1 a n. Então, faça:</a:t>
            </a:r>
          </a:p>
          <a:p>
            <a:r>
              <a:rPr lang="pt-BR" dirty="0"/>
              <a:t>Como 1 é primo, inicie o algoritmo pelo número 2 (que também é primo). Elimine da lista todos números múltiplos de 2.</a:t>
            </a:r>
          </a:p>
          <a:p>
            <a:r>
              <a:rPr lang="pt-BR" dirty="0"/>
              <a:t>Passe para o próximo número, 3, que também é primo. Agora elimine da lista todos os múltiplos de 3.</a:t>
            </a:r>
          </a:p>
          <a:p>
            <a:r>
              <a:rPr lang="pt-BR" dirty="0"/>
              <a:t>Passe para o próximo número, 5, que também é primo. Agora elimine da lista todos os múltiplos de 5.</a:t>
            </a:r>
          </a:p>
          <a:p>
            <a:r>
              <a:rPr lang="pt-BR" dirty="0"/>
              <a:t>Passe para o próximo número, 7, que também é primo. Agora elimine da lista todos os múltiplos de 7. </a:t>
            </a:r>
          </a:p>
        </p:txBody>
      </p:sp>
    </p:spTree>
    <p:extLst>
      <p:ext uri="{BB962C8B-B14F-4D97-AF65-F5344CB8AC3E}">
        <p14:creationId xmlns:p14="http://schemas.microsoft.com/office/powerpoint/2010/main" val="2716622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DD278-9067-44D1-AD5D-3EAEE243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Crivo de </a:t>
            </a:r>
            <a:r>
              <a:rPr lang="pt-BR" dirty="0" err="1"/>
              <a:t>Eratóstenes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C03417-B47A-48E3-93FA-E7F0A7EE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9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67EA5CF-CE54-4D15-B444-249A1EF0EF9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5448" y="4148666"/>
          <a:ext cx="111411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504">
                  <a:extLst>
                    <a:ext uri="{9D8B030D-6E8A-4147-A177-3AD203B41FA5}">
                      <a16:colId xmlns:a16="http://schemas.microsoft.com/office/drawing/2014/main" val="217261305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8094371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5517675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471218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3441213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79422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27041354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772924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593493227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7814330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48947424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36638436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3528402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9860985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2412166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417271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368780940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27533588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28693860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8956199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283644308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1047513383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2357769409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970181474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652792861"/>
                    </a:ext>
                  </a:extLst>
                </a:gridCol>
                <a:gridCol w="428504">
                  <a:extLst>
                    <a:ext uri="{9D8B030D-6E8A-4147-A177-3AD203B41FA5}">
                      <a16:colId xmlns:a16="http://schemas.microsoft.com/office/drawing/2014/main" val="3873184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30713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A84F813-ADA7-4919-A7FB-BB0E197E6E8A}"/>
              </a:ext>
            </a:extLst>
          </p:cNvPr>
          <p:cNvSpPr txBox="1"/>
          <p:nvPr/>
        </p:nvSpPr>
        <p:spPr>
          <a:xfrm>
            <a:off x="525448" y="1690688"/>
            <a:ext cx="114653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Suponha n = 26.</a:t>
            </a:r>
          </a:p>
          <a:p>
            <a:r>
              <a:rPr lang="pt-BR" dirty="0"/>
              <a:t>Crie um lista com todos os números inteiros de 1 a n. Então, faça:</a:t>
            </a:r>
          </a:p>
          <a:p>
            <a:r>
              <a:rPr lang="pt-BR" dirty="0"/>
              <a:t>Como 1 é primo, inicie o algoritmo pelo número 2 (que também é primo). Elimine da lista todos números múltiplos de 2.</a:t>
            </a:r>
          </a:p>
          <a:p>
            <a:r>
              <a:rPr lang="pt-BR" dirty="0"/>
              <a:t>Passe para o próximo número, 3, que também é primo. Agora elimine da lista todos os múltiplos de 3.</a:t>
            </a:r>
          </a:p>
          <a:p>
            <a:r>
              <a:rPr lang="pt-BR" dirty="0"/>
              <a:t>Passe para o próximo número, 5, que também é primo. Agora elimine da lista todos os múltiplos de 5.</a:t>
            </a:r>
          </a:p>
          <a:p>
            <a:r>
              <a:rPr lang="pt-BR" dirty="0"/>
              <a:t>Passe para o próximo número, 7, que também é primo. Agora elimine da lista todos os múltiplos de 7.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D3ED3A-5A3E-49D4-90C1-0F89A36C5729}"/>
              </a:ext>
            </a:extLst>
          </p:cNvPr>
          <p:cNvSpPr txBox="1"/>
          <p:nvPr/>
        </p:nvSpPr>
        <p:spPr>
          <a:xfrm>
            <a:off x="525448" y="5153025"/>
            <a:ext cx="6314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lista resultante será a lista de todos os números primos de 1 a n.</a:t>
            </a:r>
          </a:p>
        </p:txBody>
      </p:sp>
    </p:spTree>
    <p:extLst>
      <p:ext uri="{BB962C8B-B14F-4D97-AF65-F5344CB8AC3E}">
        <p14:creationId xmlns:p14="http://schemas.microsoft.com/office/powerpoint/2010/main" val="1695206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Máximo divisor comum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239926-2F29-4915-B9DC-B41368D99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Encontrar o máximo divisor comum entre dois números informados pelo usuário a partir do 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608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11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26944-A650-43F7-809D-983C1B973FF6}"/>
              </a:ext>
            </a:extLst>
          </p:cNvPr>
          <p:cNvSpPr/>
          <p:nvPr/>
        </p:nvSpPr>
        <p:spPr>
          <a:xfrm>
            <a:off x="838200" y="1833988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Suponha: MDC (180, 152)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415876-DEB7-494B-8053-828EE2A06A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6054" y="3281839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87260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82458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8666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2375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9524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44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4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5088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960158F-6864-4BC7-85BC-79125F5DF49D}"/>
              </a:ext>
            </a:extLst>
          </p:cNvPr>
          <p:cNvCxnSpPr/>
          <p:nvPr/>
        </p:nvCxnSpPr>
        <p:spPr>
          <a:xfrm flipV="1">
            <a:off x="2262753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8A72A9D-3325-419D-ABB6-8BA45A28945C}"/>
              </a:ext>
            </a:extLst>
          </p:cNvPr>
          <p:cNvSpPr txBox="1"/>
          <p:nvPr/>
        </p:nvSpPr>
        <p:spPr>
          <a:xfrm>
            <a:off x="1703144" y="473270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dividendo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CB120902-1CD4-4E1D-8858-D375F6CB17B7}"/>
              </a:ext>
            </a:extLst>
          </p:cNvPr>
          <p:cNvCxnSpPr/>
          <p:nvPr/>
        </p:nvCxnSpPr>
        <p:spPr>
          <a:xfrm flipV="1">
            <a:off x="3546530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322F10-2AEF-453A-B9ED-6A06D4221644}"/>
              </a:ext>
            </a:extLst>
          </p:cNvPr>
          <p:cNvSpPr txBox="1"/>
          <p:nvPr/>
        </p:nvSpPr>
        <p:spPr>
          <a:xfrm>
            <a:off x="3142412" y="473270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divisor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D8408E45-9853-4025-8B39-72974485FAEA}"/>
              </a:ext>
            </a:extLst>
          </p:cNvPr>
          <p:cNvCxnSpPr>
            <a:cxnSpLocks/>
          </p:cNvCxnSpPr>
          <p:nvPr/>
        </p:nvCxnSpPr>
        <p:spPr>
          <a:xfrm>
            <a:off x="3589030" y="2677645"/>
            <a:ext cx="0" cy="48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80B8E8-A31B-4DC9-94D7-CDE9B95FB18B}"/>
              </a:ext>
            </a:extLst>
          </p:cNvPr>
          <p:cNvSpPr txBox="1"/>
          <p:nvPr/>
        </p:nvSpPr>
        <p:spPr>
          <a:xfrm>
            <a:off x="3026119" y="2262308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quociente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DB146B52-2140-4300-A8E3-7912A290E8FA}"/>
              </a:ext>
            </a:extLst>
          </p:cNvPr>
          <p:cNvCxnSpPr/>
          <p:nvPr/>
        </p:nvCxnSpPr>
        <p:spPr>
          <a:xfrm flipV="1">
            <a:off x="4936866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6CEFC7-4BD7-4E7F-B3AB-E648FC4BCABE}"/>
              </a:ext>
            </a:extLst>
          </p:cNvPr>
          <p:cNvSpPr txBox="1"/>
          <p:nvPr/>
        </p:nvSpPr>
        <p:spPr>
          <a:xfrm>
            <a:off x="4625736" y="4732706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6D6C6A4-0D23-4229-B3FC-5C667EE98B73}"/>
              </a:ext>
            </a:extLst>
          </p:cNvPr>
          <p:cNvSpPr txBox="1"/>
          <p:nvPr/>
        </p:nvSpPr>
        <p:spPr>
          <a:xfrm>
            <a:off x="728420" y="5873858"/>
            <a:ext cx="5920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Dividir os dois números para encontrar o quociente e o resto.</a:t>
            </a:r>
          </a:p>
        </p:txBody>
      </p:sp>
    </p:spTree>
    <p:extLst>
      <p:ext uri="{BB962C8B-B14F-4D97-AF65-F5344CB8AC3E}">
        <p14:creationId xmlns:p14="http://schemas.microsoft.com/office/powerpoint/2010/main" val="3537615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12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26944-A650-43F7-809D-983C1B973FF6}"/>
              </a:ext>
            </a:extLst>
          </p:cNvPr>
          <p:cNvSpPr/>
          <p:nvPr/>
        </p:nvSpPr>
        <p:spPr>
          <a:xfrm>
            <a:off x="838200" y="1833988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Suponha: MDC (180, 152)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415876-DEB7-494B-8053-828EE2A06A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6054" y="3281839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87260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82458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8666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2375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9524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44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4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5088"/>
                  </a:ext>
                </a:extLst>
              </a:tr>
            </a:tbl>
          </a:graphicData>
        </a:graphic>
      </p:graphicFrame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960158F-6864-4BC7-85BC-79125F5DF49D}"/>
              </a:ext>
            </a:extLst>
          </p:cNvPr>
          <p:cNvCxnSpPr/>
          <p:nvPr/>
        </p:nvCxnSpPr>
        <p:spPr>
          <a:xfrm flipV="1">
            <a:off x="2262753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8A72A9D-3325-419D-ABB6-8BA45A28945C}"/>
              </a:ext>
            </a:extLst>
          </p:cNvPr>
          <p:cNvSpPr txBox="1"/>
          <p:nvPr/>
        </p:nvSpPr>
        <p:spPr>
          <a:xfrm>
            <a:off x="1703144" y="473270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dividendo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CB120902-1CD4-4E1D-8858-D375F6CB17B7}"/>
              </a:ext>
            </a:extLst>
          </p:cNvPr>
          <p:cNvCxnSpPr/>
          <p:nvPr/>
        </p:nvCxnSpPr>
        <p:spPr>
          <a:xfrm flipV="1">
            <a:off x="3546530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322F10-2AEF-453A-B9ED-6A06D4221644}"/>
              </a:ext>
            </a:extLst>
          </p:cNvPr>
          <p:cNvSpPr txBox="1"/>
          <p:nvPr/>
        </p:nvSpPr>
        <p:spPr>
          <a:xfrm>
            <a:off x="3142412" y="473270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divisor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D8408E45-9853-4025-8B39-72974485FAEA}"/>
              </a:ext>
            </a:extLst>
          </p:cNvPr>
          <p:cNvCxnSpPr>
            <a:cxnSpLocks/>
          </p:cNvCxnSpPr>
          <p:nvPr/>
        </p:nvCxnSpPr>
        <p:spPr>
          <a:xfrm>
            <a:off x="3589030" y="2677645"/>
            <a:ext cx="0" cy="48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80B8E8-A31B-4DC9-94D7-CDE9B95FB18B}"/>
              </a:ext>
            </a:extLst>
          </p:cNvPr>
          <p:cNvSpPr txBox="1"/>
          <p:nvPr/>
        </p:nvSpPr>
        <p:spPr>
          <a:xfrm>
            <a:off x="3026119" y="2262308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quociente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DB146B52-2140-4300-A8E3-7912A290E8FA}"/>
              </a:ext>
            </a:extLst>
          </p:cNvPr>
          <p:cNvCxnSpPr/>
          <p:nvPr/>
        </p:nvCxnSpPr>
        <p:spPr>
          <a:xfrm flipV="1">
            <a:off x="4936866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6CEFC7-4BD7-4E7F-B3AB-E648FC4BCABE}"/>
              </a:ext>
            </a:extLst>
          </p:cNvPr>
          <p:cNvSpPr txBox="1"/>
          <p:nvPr/>
        </p:nvSpPr>
        <p:spPr>
          <a:xfrm>
            <a:off x="4625736" y="4732706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61904CD-624D-4B49-861F-38DAA5950FCD}"/>
              </a:ext>
            </a:extLst>
          </p:cNvPr>
          <p:cNvSpPr txBox="1"/>
          <p:nvPr/>
        </p:nvSpPr>
        <p:spPr>
          <a:xfrm>
            <a:off x="728420" y="5873858"/>
            <a:ext cx="5920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Dividir os dois números para encontrar o quociente e o resto.</a:t>
            </a:r>
          </a:p>
        </p:txBody>
      </p:sp>
    </p:spTree>
    <p:extLst>
      <p:ext uri="{BB962C8B-B14F-4D97-AF65-F5344CB8AC3E}">
        <p14:creationId xmlns:p14="http://schemas.microsoft.com/office/powerpoint/2010/main" val="1431594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13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26944-A650-43F7-809D-983C1B973FF6}"/>
              </a:ext>
            </a:extLst>
          </p:cNvPr>
          <p:cNvSpPr/>
          <p:nvPr/>
        </p:nvSpPr>
        <p:spPr>
          <a:xfrm>
            <a:off x="838200" y="1833988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Suponha: MDC (180, 152)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415876-DEB7-494B-8053-828EE2A06A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6054" y="3281839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87260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82458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8666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2375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9524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494781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4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5088"/>
                  </a:ext>
                </a:extLst>
              </a:tr>
            </a:tbl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577B6740-7ACC-43F6-9F88-E5B8BBB178E7}"/>
              </a:ext>
            </a:extLst>
          </p:cNvPr>
          <p:cNvCxnSpPr/>
          <p:nvPr/>
        </p:nvCxnSpPr>
        <p:spPr>
          <a:xfrm flipV="1">
            <a:off x="3657600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2DC2EEC-C57D-48BB-9C1C-B86A56AD6691}"/>
              </a:ext>
            </a:extLst>
          </p:cNvPr>
          <p:cNvSpPr txBox="1"/>
          <p:nvPr/>
        </p:nvSpPr>
        <p:spPr>
          <a:xfrm>
            <a:off x="3097991" y="473270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dividendo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640F2F9-FB2D-448B-A924-371A7F1239CE}"/>
              </a:ext>
            </a:extLst>
          </p:cNvPr>
          <p:cNvCxnSpPr/>
          <p:nvPr/>
        </p:nvCxnSpPr>
        <p:spPr>
          <a:xfrm flipV="1">
            <a:off x="4941377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CF6198F-E357-40E6-8EAC-BEC3594DA93B}"/>
              </a:ext>
            </a:extLst>
          </p:cNvPr>
          <p:cNvSpPr txBox="1"/>
          <p:nvPr/>
        </p:nvSpPr>
        <p:spPr>
          <a:xfrm>
            <a:off x="4537259" y="473270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divisor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EE5F0A7-917A-4DA7-975D-96F36BB799F5}"/>
              </a:ext>
            </a:extLst>
          </p:cNvPr>
          <p:cNvCxnSpPr>
            <a:cxnSpLocks/>
          </p:cNvCxnSpPr>
          <p:nvPr/>
        </p:nvCxnSpPr>
        <p:spPr>
          <a:xfrm>
            <a:off x="4983877" y="2677645"/>
            <a:ext cx="0" cy="48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BEE385A-B06E-4E5A-8E18-8CC832E1CE77}"/>
              </a:ext>
            </a:extLst>
          </p:cNvPr>
          <p:cNvSpPr txBox="1"/>
          <p:nvPr/>
        </p:nvSpPr>
        <p:spPr>
          <a:xfrm>
            <a:off x="4420966" y="2262308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quociente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8380415-5249-43FA-92C6-BB6BBDC2CCB1}"/>
              </a:ext>
            </a:extLst>
          </p:cNvPr>
          <p:cNvCxnSpPr/>
          <p:nvPr/>
        </p:nvCxnSpPr>
        <p:spPr>
          <a:xfrm flipV="1">
            <a:off x="6331713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7E4DCB5-366F-4D74-9B44-1C653D6782D1}"/>
              </a:ext>
            </a:extLst>
          </p:cNvPr>
          <p:cNvSpPr txBox="1"/>
          <p:nvPr/>
        </p:nvSpPr>
        <p:spPr>
          <a:xfrm>
            <a:off x="6020583" y="4732706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BA92299-EA13-4076-8B22-090EE3CE488F}"/>
              </a:ext>
            </a:extLst>
          </p:cNvPr>
          <p:cNvSpPr txBox="1"/>
          <p:nvPr/>
        </p:nvSpPr>
        <p:spPr>
          <a:xfrm>
            <a:off x="728420" y="5873858"/>
            <a:ext cx="1045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 o resto da divisão for diferente de zero. Substituir o dividendo (divisor anterior) e o divisor (resto anterior).  </a:t>
            </a:r>
          </a:p>
        </p:txBody>
      </p:sp>
    </p:spTree>
    <p:extLst>
      <p:ext uri="{BB962C8B-B14F-4D97-AF65-F5344CB8AC3E}">
        <p14:creationId xmlns:p14="http://schemas.microsoft.com/office/powerpoint/2010/main" val="3964794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14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26944-A650-43F7-809D-983C1B973FF6}"/>
              </a:ext>
            </a:extLst>
          </p:cNvPr>
          <p:cNvSpPr/>
          <p:nvPr/>
        </p:nvSpPr>
        <p:spPr>
          <a:xfrm>
            <a:off x="838200" y="1833988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Suponha: MDC (180, 152)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415876-DEB7-494B-8053-828EE2A06A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6054" y="3281839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87260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82458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8666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2375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9524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494781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4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5088"/>
                  </a:ext>
                </a:extLst>
              </a:tr>
            </a:tbl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577B6740-7ACC-43F6-9F88-E5B8BBB178E7}"/>
              </a:ext>
            </a:extLst>
          </p:cNvPr>
          <p:cNvCxnSpPr/>
          <p:nvPr/>
        </p:nvCxnSpPr>
        <p:spPr>
          <a:xfrm flipV="1">
            <a:off x="3657600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2DC2EEC-C57D-48BB-9C1C-B86A56AD6691}"/>
              </a:ext>
            </a:extLst>
          </p:cNvPr>
          <p:cNvSpPr txBox="1"/>
          <p:nvPr/>
        </p:nvSpPr>
        <p:spPr>
          <a:xfrm>
            <a:off x="3097991" y="473270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dividendo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640F2F9-FB2D-448B-A924-371A7F1239CE}"/>
              </a:ext>
            </a:extLst>
          </p:cNvPr>
          <p:cNvCxnSpPr/>
          <p:nvPr/>
        </p:nvCxnSpPr>
        <p:spPr>
          <a:xfrm flipV="1">
            <a:off x="4941377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CF6198F-E357-40E6-8EAC-BEC3594DA93B}"/>
              </a:ext>
            </a:extLst>
          </p:cNvPr>
          <p:cNvSpPr txBox="1"/>
          <p:nvPr/>
        </p:nvSpPr>
        <p:spPr>
          <a:xfrm>
            <a:off x="4537259" y="473270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divisor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EE5F0A7-917A-4DA7-975D-96F36BB799F5}"/>
              </a:ext>
            </a:extLst>
          </p:cNvPr>
          <p:cNvCxnSpPr>
            <a:cxnSpLocks/>
          </p:cNvCxnSpPr>
          <p:nvPr/>
        </p:nvCxnSpPr>
        <p:spPr>
          <a:xfrm>
            <a:off x="4983877" y="2677645"/>
            <a:ext cx="0" cy="48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BEE385A-B06E-4E5A-8E18-8CC832E1CE77}"/>
              </a:ext>
            </a:extLst>
          </p:cNvPr>
          <p:cNvSpPr txBox="1"/>
          <p:nvPr/>
        </p:nvSpPr>
        <p:spPr>
          <a:xfrm>
            <a:off x="4420966" y="2262308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quociente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8380415-5249-43FA-92C6-BB6BBDC2CCB1}"/>
              </a:ext>
            </a:extLst>
          </p:cNvPr>
          <p:cNvCxnSpPr/>
          <p:nvPr/>
        </p:nvCxnSpPr>
        <p:spPr>
          <a:xfrm flipV="1">
            <a:off x="6331713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7E4DCB5-366F-4D74-9B44-1C653D6782D1}"/>
              </a:ext>
            </a:extLst>
          </p:cNvPr>
          <p:cNvSpPr txBox="1"/>
          <p:nvPr/>
        </p:nvSpPr>
        <p:spPr>
          <a:xfrm>
            <a:off x="6020583" y="4732706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FE9A3C7-1D9C-42E4-87C3-688AF1B9366E}"/>
              </a:ext>
            </a:extLst>
          </p:cNvPr>
          <p:cNvSpPr txBox="1"/>
          <p:nvPr/>
        </p:nvSpPr>
        <p:spPr>
          <a:xfrm>
            <a:off x="728420" y="5873858"/>
            <a:ext cx="6053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Continuar o procedimento até que o resto da divisão seja zero. </a:t>
            </a:r>
          </a:p>
        </p:txBody>
      </p:sp>
    </p:spTree>
    <p:extLst>
      <p:ext uri="{BB962C8B-B14F-4D97-AF65-F5344CB8AC3E}">
        <p14:creationId xmlns:p14="http://schemas.microsoft.com/office/powerpoint/2010/main" val="2905918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15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26944-A650-43F7-809D-983C1B973FF6}"/>
              </a:ext>
            </a:extLst>
          </p:cNvPr>
          <p:cNvSpPr/>
          <p:nvPr/>
        </p:nvSpPr>
        <p:spPr>
          <a:xfrm>
            <a:off x="838200" y="1833988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Suponha: MDC (180, 152)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415876-DEB7-494B-8053-828EE2A06A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6054" y="3281839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87260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82458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8666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2375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9524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6956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4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5088"/>
                  </a:ext>
                </a:extLst>
              </a:tr>
            </a:tbl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6709F18-9440-486A-AC46-A0ECB9119203}"/>
              </a:ext>
            </a:extLst>
          </p:cNvPr>
          <p:cNvCxnSpPr/>
          <p:nvPr/>
        </p:nvCxnSpPr>
        <p:spPr>
          <a:xfrm flipV="1">
            <a:off x="4912964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85E037E-1228-46C9-87B2-959C028F2D47}"/>
              </a:ext>
            </a:extLst>
          </p:cNvPr>
          <p:cNvSpPr txBox="1"/>
          <p:nvPr/>
        </p:nvSpPr>
        <p:spPr>
          <a:xfrm>
            <a:off x="4353355" y="473270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dividendo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9FDA08D-E32D-4A9D-864E-D360534AC649}"/>
              </a:ext>
            </a:extLst>
          </p:cNvPr>
          <p:cNvCxnSpPr/>
          <p:nvPr/>
        </p:nvCxnSpPr>
        <p:spPr>
          <a:xfrm flipV="1">
            <a:off x="6196741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99B2E54-F179-4148-9E1E-73D53CF966A1}"/>
              </a:ext>
            </a:extLst>
          </p:cNvPr>
          <p:cNvSpPr txBox="1"/>
          <p:nvPr/>
        </p:nvSpPr>
        <p:spPr>
          <a:xfrm>
            <a:off x="5792623" y="473270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divisor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5845B4A-458A-4E68-91F3-64537B6AA91D}"/>
              </a:ext>
            </a:extLst>
          </p:cNvPr>
          <p:cNvCxnSpPr>
            <a:cxnSpLocks/>
          </p:cNvCxnSpPr>
          <p:nvPr/>
        </p:nvCxnSpPr>
        <p:spPr>
          <a:xfrm>
            <a:off x="6239241" y="2677645"/>
            <a:ext cx="0" cy="48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790FF3-8C0C-4750-B783-DA24F8792660}"/>
              </a:ext>
            </a:extLst>
          </p:cNvPr>
          <p:cNvSpPr txBox="1"/>
          <p:nvPr/>
        </p:nvSpPr>
        <p:spPr>
          <a:xfrm>
            <a:off x="5676330" y="2262308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quociente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588C225F-37B5-42AD-A81D-A5A8DB033AB2}"/>
              </a:ext>
            </a:extLst>
          </p:cNvPr>
          <p:cNvCxnSpPr/>
          <p:nvPr/>
        </p:nvCxnSpPr>
        <p:spPr>
          <a:xfrm flipV="1">
            <a:off x="7587077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C95CE1C-1C3E-4224-9D6C-9CC8B4F2885E}"/>
              </a:ext>
            </a:extLst>
          </p:cNvPr>
          <p:cNvSpPr txBox="1"/>
          <p:nvPr/>
        </p:nvSpPr>
        <p:spPr>
          <a:xfrm>
            <a:off x="7275947" y="4732706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630EBDF-9B5C-4BD2-88E7-842DFC5AC9DD}"/>
              </a:ext>
            </a:extLst>
          </p:cNvPr>
          <p:cNvSpPr txBox="1"/>
          <p:nvPr/>
        </p:nvSpPr>
        <p:spPr>
          <a:xfrm>
            <a:off x="728420" y="5873858"/>
            <a:ext cx="6053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Continuar o procedimento até que o resto da divisão seja zero. </a:t>
            </a:r>
          </a:p>
        </p:txBody>
      </p:sp>
    </p:spTree>
    <p:extLst>
      <p:ext uri="{BB962C8B-B14F-4D97-AF65-F5344CB8AC3E}">
        <p14:creationId xmlns:p14="http://schemas.microsoft.com/office/powerpoint/2010/main" val="3195956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16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26944-A650-43F7-809D-983C1B973FF6}"/>
              </a:ext>
            </a:extLst>
          </p:cNvPr>
          <p:cNvSpPr/>
          <p:nvPr/>
        </p:nvSpPr>
        <p:spPr>
          <a:xfrm>
            <a:off x="838200" y="1833988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Suponha: MDC (180, 152)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415876-DEB7-494B-8053-828EE2A06A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6054" y="3281839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87260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82458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8666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2375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9524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6956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4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5088"/>
                  </a:ext>
                </a:extLst>
              </a:tr>
            </a:tbl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6709F18-9440-486A-AC46-A0ECB9119203}"/>
              </a:ext>
            </a:extLst>
          </p:cNvPr>
          <p:cNvCxnSpPr/>
          <p:nvPr/>
        </p:nvCxnSpPr>
        <p:spPr>
          <a:xfrm flipV="1">
            <a:off x="4912964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85E037E-1228-46C9-87B2-959C028F2D47}"/>
              </a:ext>
            </a:extLst>
          </p:cNvPr>
          <p:cNvSpPr txBox="1"/>
          <p:nvPr/>
        </p:nvSpPr>
        <p:spPr>
          <a:xfrm>
            <a:off x="4353355" y="473270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dividendo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9FDA08D-E32D-4A9D-864E-D360534AC649}"/>
              </a:ext>
            </a:extLst>
          </p:cNvPr>
          <p:cNvCxnSpPr/>
          <p:nvPr/>
        </p:nvCxnSpPr>
        <p:spPr>
          <a:xfrm flipV="1">
            <a:off x="6196741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99B2E54-F179-4148-9E1E-73D53CF966A1}"/>
              </a:ext>
            </a:extLst>
          </p:cNvPr>
          <p:cNvSpPr txBox="1"/>
          <p:nvPr/>
        </p:nvSpPr>
        <p:spPr>
          <a:xfrm>
            <a:off x="5792623" y="473270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divisor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5845B4A-458A-4E68-91F3-64537B6AA91D}"/>
              </a:ext>
            </a:extLst>
          </p:cNvPr>
          <p:cNvCxnSpPr>
            <a:cxnSpLocks/>
          </p:cNvCxnSpPr>
          <p:nvPr/>
        </p:nvCxnSpPr>
        <p:spPr>
          <a:xfrm>
            <a:off x="6239241" y="2677645"/>
            <a:ext cx="0" cy="48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790FF3-8C0C-4750-B783-DA24F8792660}"/>
              </a:ext>
            </a:extLst>
          </p:cNvPr>
          <p:cNvSpPr txBox="1"/>
          <p:nvPr/>
        </p:nvSpPr>
        <p:spPr>
          <a:xfrm>
            <a:off x="5676330" y="2262308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quociente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588C225F-37B5-42AD-A81D-A5A8DB033AB2}"/>
              </a:ext>
            </a:extLst>
          </p:cNvPr>
          <p:cNvCxnSpPr/>
          <p:nvPr/>
        </p:nvCxnSpPr>
        <p:spPr>
          <a:xfrm flipV="1">
            <a:off x="7587077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C95CE1C-1C3E-4224-9D6C-9CC8B4F2885E}"/>
              </a:ext>
            </a:extLst>
          </p:cNvPr>
          <p:cNvSpPr txBox="1"/>
          <p:nvPr/>
        </p:nvSpPr>
        <p:spPr>
          <a:xfrm>
            <a:off x="7275947" y="4732706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FFD43F3-1F00-4409-8518-7E483269F11B}"/>
              </a:ext>
            </a:extLst>
          </p:cNvPr>
          <p:cNvSpPr txBox="1"/>
          <p:nvPr/>
        </p:nvSpPr>
        <p:spPr>
          <a:xfrm>
            <a:off x="728420" y="5873858"/>
            <a:ext cx="6053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Continuar o procedimento até que o resto da divisão seja zero. </a:t>
            </a:r>
          </a:p>
        </p:txBody>
      </p:sp>
    </p:spTree>
    <p:extLst>
      <p:ext uri="{BB962C8B-B14F-4D97-AF65-F5344CB8AC3E}">
        <p14:creationId xmlns:p14="http://schemas.microsoft.com/office/powerpoint/2010/main" val="1514361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17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26944-A650-43F7-809D-983C1B973FF6}"/>
              </a:ext>
            </a:extLst>
          </p:cNvPr>
          <p:cNvSpPr/>
          <p:nvPr/>
        </p:nvSpPr>
        <p:spPr>
          <a:xfrm>
            <a:off x="838200" y="1833988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Suponha: MDC (180, 152)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415876-DEB7-494B-8053-828EE2A06A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6054" y="3281839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87260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82458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8666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2375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9524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03752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4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5088"/>
                  </a:ext>
                </a:extLst>
              </a:tr>
            </a:tbl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167AD72-E4C3-499D-9AE3-29AFE1C3D160}"/>
              </a:ext>
            </a:extLst>
          </p:cNvPr>
          <p:cNvCxnSpPr/>
          <p:nvPr/>
        </p:nvCxnSpPr>
        <p:spPr>
          <a:xfrm flipV="1">
            <a:off x="6276814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9168EFA-BE97-4E81-A081-8108847A1532}"/>
              </a:ext>
            </a:extLst>
          </p:cNvPr>
          <p:cNvSpPr txBox="1"/>
          <p:nvPr/>
        </p:nvSpPr>
        <p:spPr>
          <a:xfrm>
            <a:off x="5717205" y="473270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dividendo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63BE6405-355A-4FA8-8547-CC49C847540E}"/>
              </a:ext>
            </a:extLst>
          </p:cNvPr>
          <p:cNvCxnSpPr/>
          <p:nvPr/>
        </p:nvCxnSpPr>
        <p:spPr>
          <a:xfrm flipV="1">
            <a:off x="7560591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E362E83-9A92-4377-A502-2485B8F36DBD}"/>
              </a:ext>
            </a:extLst>
          </p:cNvPr>
          <p:cNvSpPr txBox="1"/>
          <p:nvPr/>
        </p:nvSpPr>
        <p:spPr>
          <a:xfrm>
            <a:off x="7156473" y="473270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divisor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8CDAF3F7-3C1A-4EB7-9FC2-2DA9520F7698}"/>
              </a:ext>
            </a:extLst>
          </p:cNvPr>
          <p:cNvCxnSpPr>
            <a:cxnSpLocks/>
          </p:cNvCxnSpPr>
          <p:nvPr/>
        </p:nvCxnSpPr>
        <p:spPr>
          <a:xfrm>
            <a:off x="7603091" y="2677645"/>
            <a:ext cx="0" cy="48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ED34E70-E680-49CF-B2FA-FD54B004C153}"/>
              </a:ext>
            </a:extLst>
          </p:cNvPr>
          <p:cNvSpPr txBox="1"/>
          <p:nvPr/>
        </p:nvSpPr>
        <p:spPr>
          <a:xfrm>
            <a:off x="7040180" y="2262308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quociente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E2CD85A-C738-4219-879C-F570A62DDF0C}"/>
              </a:ext>
            </a:extLst>
          </p:cNvPr>
          <p:cNvCxnSpPr/>
          <p:nvPr/>
        </p:nvCxnSpPr>
        <p:spPr>
          <a:xfrm flipV="1">
            <a:off x="8950927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906BD45-86C3-4081-8BE6-DBC3174FA6CB}"/>
              </a:ext>
            </a:extLst>
          </p:cNvPr>
          <p:cNvSpPr txBox="1"/>
          <p:nvPr/>
        </p:nvSpPr>
        <p:spPr>
          <a:xfrm>
            <a:off x="8639797" y="4732706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25F5873-153D-4528-A75E-65090EC4DD6F}"/>
              </a:ext>
            </a:extLst>
          </p:cNvPr>
          <p:cNvSpPr txBox="1"/>
          <p:nvPr/>
        </p:nvSpPr>
        <p:spPr>
          <a:xfrm>
            <a:off x="728420" y="5873858"/>
            <a:ext cx="6053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Continuar o procedimento até que o resto da divisão seja zero. </a:t>
            </a:r>
          </a:p>
        </p:txBody>
      </p:sp>
    </p:spTree>
    <p:extLst>
      <p:ext uri="{BB962C8B-B14F-4D97-AF65-F5344CB8AC3E}">
        <p14:creationId xmlns:p14="http://schemas.microsoft.com/office/powerpoint/2010/main" val="1416822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C3544-03B0-4BCE-8D44-83E6565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Algoritmo de Euclides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B929DF-4CD8-4D6D-A4F8-55CBC23F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18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B426944-A650-43F7-809D-983C1B973FF6}"/>
              </a:ext>
            </a:extLst>
          </p:cNvPr>
          <p:cNvSpPr/>
          <p:nvPr/>
        </p:nvSpPr>
        <p:spPr>
          <a:xfrm>
            <a:off x="838200" y="1833988"/>
            <a:ext cx="2658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Suponha: MDC (180, 152)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0415876-DEB7-494B-8053-828EE2A06A8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6054" y="3281839"/>
          <a:ext cx="8128002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7872604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824586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8666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2375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4952402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03752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34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75088"/>
                  </a:ext>
                </a:extLst>
              </a:tr>
            </a:tbl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A167AD72-E4C3-499D-9AE3-29AFE1C3D160}"/>
              </a:ext>
            </a:extLst>
          </p:cNvPr>
          <p:cNvCxnSpPr/>
          <p:nvPr/>
        </p:nvCxnSpPr>
        <p:spPr>
          <a:xfrm flipV="1">
            <a:off x="6276814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9168EFA-BE97-4E81-A081-8108847A1532}"/>
              </a:ext>
            </a:extLst>
          </p:cNvPr>
          <p:cNvSpPr txBox="1"/>
          <p:nvPr/>
        </p:nvSpPr>
        <p:spPr>
          <a:xfrm>
            <a:off x="5717205" y="473270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dividendo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63BE6405-355A-4FA8-8547-CC49C847540E}"/>
              </a:ext>
            </a:extLst>
          </p:cNvPr>
          <p:cNvCxnSpPr/>
          <p:nvPr/>
        </p:nvCxnSpPr>
        <p:spPr>
          <a:xfrm flipV="1">
            <a:off x="7560591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E362E83-9A92-4377-A502-2485B8F36DBD}"/>
              </a:ext>
            </a:extLst>
          </p:cNvPr>
          <p:cNvSpPr txBox="1"/>
          <p:nvPr/>
        </p:nvSpPr>
        <p:spPr>
          <a:xfrm>
            <a:off x="7156473" y="473270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divisor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8CDAF3F7-3C1A-4EB7-9FC2-2DA9520F7698}"/>
              </a:ext>
            </a:extLst>
          </p:cNvPr>
          <p:cNvCxnSpPr>
            <a:cxnSpLocks/>
          </p:cNvCxnSpPr>
          <p:nvPr/>
        </p:nvCxnSpPr>
        <p:spPr>
          <a:xfrm>
            <a:off x="7603091" y="2677645"/>
            <a:ext cx="0" cy="48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ED34E70-E680-49CF-B2FA-FD54B004C153}"/>
              </a:ext>
            </a:extLst>
          </p:cNvPr>
          <p:cNvSpPr txBox="1"/>
          <p:nvPr/>
        </p:nvSpPr>
        <p:spPr>
          <a:xfrm>
            <a:off x="7040180" y="2262308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quociente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E2CD85A-C738-4219-879C-F570A62DDF0C}"/>
              </a:ext>
            </a:extLst>
          </p:cNvPr>
          <p:cNvCxnSpPr/>
          <p:nvPr/>
        </p:nvCxnSpPr>
        <p:spPr>
          <a:xfrm flipV="1">
            <a:off x="8950927" y="4231038"/>
            <a:ext cx="0" cy="449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906BD45-86C3-4081-8BE6-DBC3174FA6CB}"/>
              </a:ext>
            </a:extLst>
          </p:cNvPr>
          <p:cNvSpPr txBox="1"/>
          <p:nvPr/>
        </p:nvSpPr>
        <p:spPr>
          <a:xfrm>
            <a:off x="8639797" y="4732706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F5EBD3D-9AC0-4E3F-8012-6E3ADE55EC4B}"/>
              </a:ext>
            </a:extLst>
          </p:cNvPr>
          <p:cNvSpPr txBox="1"/>
          <p:nvPr/>
        </p:nvSpPr>
        <p:spPr>
          <a:xfrm>
            <a:off x="728420" y="5873858"/>
            <a:ext cx="636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Último resto diferente de zero = 4. Portanto, o MDC (180,152) = 4.</a:t>
            </a:r>
          </a:p>
        </p:txBody>
      </p:sp>
    </p:spTree>
    <p:extLst>
      <p:ext uri="{BB962C8B-B14F-4D97-AF65-F5344CB8AC3E}">
        <p14:creationId xmlns:p14="http://schemas.microsoft.com/office/powerpoint/2010/main" val="3577313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8B3A6-F5B6-47F2-BA8E-78BE62A5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Exercícios: Multiplicação de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8A2388-EA89-47B4-8CF7-E161C758B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altLang="pt-BR" dirty="0"/>
              <a:t>Faça um programa que multiplique duas matrizes de 3 x 3 elementos. As duas matrizes devem ser preenchidas pelo teclado. </a:t>
            </a:r>
          </a:p>
          <a:p>
            <a:endParaRPr lang="pt-BR" altLang="pt-BR" dirty="0"/>
          </a:p>
          <a:p>
            <a:r>
              <a:rPr lang="pt-BR" altLang="pt-BR" dirty="0"/>
              <a:t>Dica: lembre-se da multiplicação de matrizes: 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73EFE0-C224-47FA-BE14-0F580476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45E33-2492-443E-BA29-927FFF6EFCEE}" type="slidenum">
              <a:rPr lang="pt-BR" smtClean="0"/>
              <a:t>19</a:t>
            </a:fld>
            <a:endParaRPr lang="pt-BR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4C42CE9-965B-46C9-8CE3-69944F5EAA1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7175" y="4597400"/>
          <a:ext cx="145161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171266035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411572677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3580303857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6229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pt-BR" sz="1200" dirty="0">
                        <a:solidFill>
                          <a:schemeClr val="accent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81198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8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9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9150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A4538A37-F444-4121-8761-7E87A3DEA99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162175" y="4597400"/>
          <a:ext cx="145161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171266035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411572677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3580303857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6229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81198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91509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BF88B5E5-7BCD-4D1C-9E73-6B9C2A0B134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133850" y="4597400"/>
          <a:ext cx="5676900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2300">
                  <a:extLst>
                    <a:ext uri="{9D8B030D-6E8A-4147-A177-3AD203B41FA5}">
                      <a16:colId xmlns:a16="http://schemas.microsoft.com/office/drawing/2014/main" val="171266035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4115726770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3580303857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1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x1)+(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x4)+(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x7)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1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x2)+(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x5)+(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x8)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1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x3)+(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x6)+(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x9)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6229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4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x1)+(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5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x4)+(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6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x7)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4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x2)+(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5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x5)+(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6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x8)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4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x3)+(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5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x6)+(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6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x9)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81198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x1)+(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8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x4)+(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9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x7)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x2)+(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8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x5)+(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9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x8)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7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x3)+(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8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x6)+(</a:t>
                      </a:r>
                      <a:r>
                        <a:rPr lang="pt-BR" sz="1800" dirty="0">
                          <a:solidFill>
                            <a:schemeClr val="accent1"/>
                          </a:solidFill>
                        </a:rPr>
                        <a:t>9</a:t>
                      </a: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x9)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915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81FF3C6-54E0-444E-812D-3B7E049F0FDF}"/>
                  </a:ext>
                </a:extLst>
              </p:cNvPr>
              <p:cNvSpPr txBox="1"/>
              <p:nvPr/>
            </p:nvSpPr>
            <p:spPr>
              <a:xfrm>
                <a:off x="1807426" y="4939119"/>
                <a:ext cx="2885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81FF3C6-54E0-444E-812D-3B7E049F0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426" y="4939119"/>
                <a:ext cx="288541" cy="369332"/>
              </a:xfrm>
              <a:prstGeom prst="rect">
                <a:avLst/>
              </a:prstGeom>
              <a:blipFill>
                <a:blip r:embed="rId2"/>
                <a:stretch>
                  <a:fillRect l="-16667" r="-18750" b="-1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36CB15F8-3A7B-4F69-83EC-F6BF0955284B}"/>
                  </a:ext>
                </a:extLst>
              </p:cNvPr>
              <p:cNvSpPr txBox="1"/>
              <p:nvPr/>
            </p:nvSpPr>
            <p:spPr>
              <a:xfrm>
                <a:off x="3741929" y="4939119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36CB15F8-3A7B-4F69-83EC-F6BF09552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929" y="4939119"/>
                <a:ext cx="298159" cy="369332"/>
              </a:xfrm>
              <a:prstGeom prst="rect">
                <a:avLst/>
              </a:prstGeom>
              <a:blipFill>
                <a:blip r:embed="rId3"/>
                <a:stretch>
                  <a:fillRect l="-10204" r="-102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CBECEBEE-9634-4B47-BE58-12E518542D0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326588" y="4597400"/>
          <a:ext cx="1732062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7354">
                  <a:extLst>
                    <a:ext uri="{9D8B030D-6E8A-4147-A177-3AD203B41FA5}">
                      <a16:colId xmlns:a16="http://schemas.microsoft.com/office/drawing/2014/main" val="171266035"/>
                    </a:ext>
                  </a:extLst>
                </a:gridCol>
                <a:gridCol w="577354">
                  <a:extLst>
                    <a:ext uri="{9D8B030D-6E8A-4147-A177-3AD203B41FA5}">
                      <a16:colId xmlns:a16="http://schemas.microsoft.com/office/drawing/2014/main" val="4115726770"/>
                    </a:ext>
                  </a:extLst>
                </a:gridCol>
                <a:gridCol w="577354">
                  <a:extLst>
                    <a:ext uri="{9D8B030D-6E8A-4147-A177-3AD203B41FA5}">
                      <a16:colId xmlns:a16="http://schemas.microsoft.com/office/drawing/2014/main" val="3580303857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6229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66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81</a:t>
                      </a:r>
                      <a:endParaRPr lang="pt-BR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96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81198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126</a:t>
                      </a:r>
                    </a:p>
                  </a:txBody>
                  <a:tcPr marL="91427" marR="91427" marT="45733" marB="45733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 marL="91427" marR="91427" marT="45733" marB="45733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915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F69B921-DF47-4454-AAA4-01FCF501186A}"/>
                  </a:ext>
                </a:extLst>
              </p:cNvPr>
              <p:cNvSpPr txBox="1"/>
              <p:nvPr/>
            </p:nvSpPr>
            <p:spPr>
              <a:xfrm>
                <a:off x="9914129" y="4939119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F69B921-DF47-4454-AAA4-01FCF501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129" y="4939119"/>
                <a:ext cx="298159" cy="369332"/>
              </a:xfrm>
              <a:prstGeom prst="rect">
                <a:avLst/>
              </a:prstGeom>
              <a:blipFill>
                <a:blip r:embed="rId4"/>
                <a:stretch>
                  <a:fillRect l="-10204" r="-102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384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1257</Words>
  <Application>Microsoft Office PowerPoint</Application>
  <PresentationFormat>Widescreen</PresentationFormat>
  <Paragraphs>381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Tema do Office</vt:lpstr>
      <vt:lpstr>Laboratório de Computação II - </vt:lpstr>
      <vt:lpstr>Exercício: Sequência de Fibonacci</vt:lpstr>
      <vt:lpstr>Números primos</vt:lpstr>
      <vt:lpstr>Crivo de Eratóstenes</vt:lpstr>
      <vt:lpstr>Crivo de Eratóstenes</vt:lpstr>
      <vt:lpstr>Crivo de Eratóstenes</vt:lpstr>
      <vt:lpstr>Crivo de Eratóstenes</vt:lpstr>
      <vt:lpstr>Crivo de Eratóstenes</vt:lpstr>
      <vt:lpstr>Crivo de Eratóstenes</vt:lpstr>
      <vt:lpstr>Máximo divisor comum</vt:lpstr>
      <vt:lpstr>Algoritmo de Euclides</vt:lpstr>
      <vt:lpstr>Algoritmo de Euclides</vt:lpstr>
      <vt:lpstr>Algoritmo de Euclides</vt:lpstr>
      <vt:lpstr>Algoritmo de Euclides</vt:lpstr>
      <vt:lpstr>Algoritmo de Euclides</vt:lpstr>
      <vt:lpstr>Algoritmo de Euclides</vt:lpstr>
      <vt:lpstr>Algoritmo de Euclides</vt:lpstr>
      <vt:lpstr>Algoritmo de Euclides</vt:lpstr>
      <vt:lpstr>Exercícios: Multiplicação de matrizes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Computação II - </dc:title>
  <dc:creator>Henrique Silva</dc:creator>
  <cp:lastModifiedBy>Henrique Silva</cp:lastModifiedBy>
  <cp:revision>2</cp:revision>
  <dcterms:created xsi:type="dcterms:W3CDTF">2018-02-06T18:21:01Z</dcterms:created>
  <dcterms:modified xsi:type="dcterms:W3CDTF">2018-02-06T18:38:21Z</dcterms:modified>
</cp:coreProperties>
</file>