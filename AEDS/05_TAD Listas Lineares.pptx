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29.xml" ContentType="application/vnd.openxmlformats-officedocument.presentationml.slide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83.xml.rels" ContentType="application/vnd.openxmlformats-package.relationships+xml"/>
  <Override PartName="/ppt/slides/_rels/slide18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6.xml.rels" ContentType="application/vnd.openxmlformats-package.relationships+xml"/>
  <Override PartName="/ppt/slides/_rels/slide81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80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72.xml.rels" ContentType="application/vnd.openxmlformats-package.relationships+xml"/>
  <Override PartName="/ppt/slides/_rels/slide78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79.xml.rels" ContentType="application/vnd.openxmlformats-package.relationships+xml"/>
  <Override PartName="/ppt/slides/_rels/slide25.xml.rels" ContentType="application/vnd.openxmlformats-package.relationships+xml"/>
  <Override PartName="/ppt/slides/_rels/slide90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89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51.xml.rels" ContentType="application/vnd.openxmlformats-package.relationships+xml"/>
  <Override PartName="/ppt/slides/_rels/slide88.xml.rels" ContentType="application/vnd.openxmlformats-package.relationships+xml"/>
  <Override PartName="/ppt/slides/_rels/slide50.xml.rels" ContentType="application/vnd.openxmlformats-package.relationships+xml"/>
  <Override PartName="/ppt/slides/_rels/slide87.xml.rels" ContentType="application/vnd.openxmlformats-package.relationships+xml"/>
  <Override PartName="/ppt/slides/_rels/slide45.xml.rels" ContentType="application/vnd.openxmlformats-package.relationships+xml"/>
  <Override PartName="/ppt/slides/_rels/slide13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84.xml.rels" ContentType="application/vnd.openxmlformats-package.relationships+xml"/>
  <Override PartName="/ppt/slides/_rels/slide60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92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70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66.xml.rels" ContentType="application/vnd.openxmlformats-package.relationships+xml"/>
  <Override PartName="/ppt/slides/_rels/slide76.xml.rels" ContentType="application/vnd.openxmlformats-package.relationships+xml"/>
  <Override PartName="/ppt/slides/_rels/slide75.xml.rels" ContentType="application/vnd.openxmlformats-package.relationships+xml"/>
  <Override PartName="/ppt/slides/_rels/slide86.xml.rels" ContentType="application/vnd.openxmlformats-package.relationships+xml"/>
  <Override PartName="/ppt/slides/_rels/slide74.xml.rels" ContentType="application/vnd.openxmlformats-package.relationships+xml"/>
  <Override PartName="/ppt/slides/_rels/slide85.xml.rels" ContentType="application/vnd.openxmlformats-package.relationships+xml"/>
  <Override PartName="/ppt/slides/_rels/slide73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8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76.xml" ContentType="application/vnd.openxmlformats-officedocument.presentationml.slide+xml"/>
  <Override PartName="/ppt/slides/slide8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74.xml" ContentType="application/vnd.openxmlformats-officedocument.presentationml.slide+xml"/>
  <Override PartName="/ppt/slides/slide85.xml" ContentType="application/vnd.openxmlformats-officedocument.presentationml.slide+xml"/>
  <Override PartName="/ppt/slides/slide73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2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80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8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82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_rels/presentation.xml.rels" ContentType="application/vnd.openxmlformats-package.relationships+xml"/>
  <Override PartName="/ppt/media/image1.gif" ContentType="image/gif"/>
  <Override PartName="/ppt/media/image5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  <p:sldId id="316" r:id="rId86"/>
    <p:sldId id="317" r:id="rId87"/>
    <p:sldId id="318" r:id="rId88"/>
    <p:sldId id="319" r:id="rId89"/>
    <p:sldId id="320" r:id="rId90"/>
    <p:sldId id="321" r:id="rId91"/>
    <p:sldId id="322" r:id="rId92"/>
    <p:sldId id="323" r:id="rId93"/>
    <p:sldId id="324" r:id="rId94"/>
    <p:sldId id="325" r:id="rId95"/>
    <p:sldId id="326" r:id="rId96"/>
    <p:sldId id="327" r:id="rId97"/>
    <p:sldId id="328" r:id="rId98"/>
    <p:sldId id="329" r:id="rId99"/>
    <p:sldId id="330" r:id="rId100"/>
    <p:sldId id="331" r:id="rId101"/>
    <p:sldId id="332" r:id="rId102"/>
    <p:sldId id="333" r:id="rId103"/>
    <p:sldId id="334" r:id="rId104"/>
    <p:sldId id="335" r:id="rId105"/>
    <p:sldId id="336" r:id="rId106"/>
    <p:sldId id="337" r:id="rId107"/>
    <p:sldId id="338" r:id="rId108"/>
    <p:sldId id="339" r:id="rId109"/>
    <p:sldId id="340" r:id="rId110"/>
    <p:sldId id="341" r:id="rId111"/>
    <p:sldId id="342" r:id="rId112"/>
    <p:sldId id="343" r:id="rId113"/>
    <p:sldId id="344" r:id="rId114"/>
    <p:sldId id="345" r:id="rId115"/>
    <p:sldId id="346" r:id="rId116"/>
    <p:sldId id="347" r:id="rId1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slide" Target="slides/slide34.xml"/><Relationship Id="rId60" Type="http://schemas.openxmlformats.org/officeDocument/2006/relationships/slide" Target="slides/slide35.xml"/><Relationship Id="rId61" Type="http://schemas.openxmlformats.org/officeDocument/2006/relationships/slide" Target="slides/slide36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42.xml"/><Relationship Id="rId68" Type="http://schemas.openxmlformats.org/officeDocument/2006/relationships/slide" Target="slides/slide43.xml"/><Relationship Id="rId69" Type="http://schemas.openxmlformats.org/officeDocument/2006/relationships/slide" Target="slides/slide44.xml"/><Relationship Id="rId70" Type="http://schemas.openxmlformats.org/officeDocument/2006/relationships/slide" Target="slides/slide45.xml"/><Relationship Id="rId71" Type="http://schemas.openxmlformats.org/officeDocument/2006/relationships/slide" Target="slides/slide46.xml"/><Relationship Id="rId72" Type="http://schemas.openxmlformats.org/officeDocument/2006/relationships/slide" Target="slides/slide47.xml"/><Relationship Id="rId73" Type="http://schemas.openxmlformats.org/officeDocument/2006/relationships/slide" Target="slides/slide48.xml"/><Relationship Id="rId74" Type="http://schemas.openxmlformats.org/officeDocument/2006/relationships/slide" Target="slides/slide49.xml"/><Relationship Id="rId75" Type="http://schemas.openxmlformats.org/officeDocument/2006/relationships/slide" Target="slides/slide50.xml"/><Relationship Id="rId76" Type="http://schemas.openxmlformats.org/officeDocument/2006/relationships/slide" Target="slides/slide51.xml"/><Relationship Id="rId77" Type="http://schemas.openxmlformats.org/officeDocument/2006/relationships/slide" Target="slides/slide52.xml"/><Relationship Id="rId78" Type="http://schemas.openxmlformats.org/officeDocument/2006/relationships/slide" Target="slides/slide53.xml"/><Relationship Id="rId79" Type="http://schemas.openxmlformats.org/officeDocument/2006/relationships/slide" Target="slides/slide54.xml"/><Relationship Id="rId80" Type="http://schemas.openxmlformats.org/officeDocument/2006/relationships/slide" Target="slides/slide55.xml"/><Relationship Id="rId81" Type="http://schemas.openxmlformats.org/officeDocument/2006/relationships/slide" Target="slides/slide56.xml"/><Relationship Id="rId82" Type="http://schemas.openxmlformats.org/officeDocument/2006/relationships/slide" Target="slides/slide57.xml"/><Relationship Id="rId83" Type="http://schemas.openxmlformats.org/officeDocument/2006/relationships/slide" Target="slides/slide58.xml"/><Relationship Id="rId84" Type="http://schemas.openxmlformats.org/officeDocument/2006/relationships/slide" Target="slides/slide59.xml"/><Relationship Id="rId85" Type="http://schemas.openxmlformats.org/officeDocument/2006/relationships/slide" Target="slides/slide60.xml"/><Relationship Id="rId86" Type="http://schemas.openxmlformats.org/officeDocument/2006/relationships/slide" Target="slides/slide61.xml"/><Relationship Id="rId87" Type="http://schemas.openxmlformats.org/officeDocument/2006/relationships/slide" Target="slides/slide62.xml"/><Relationship Id="rId88" Type="http://schemas.openxmlformats.org/officeDocument/2006/relationships/slide" Target="slides/slide63.xml"/><Relationship Id="rId89" Type="http://schemas.openxmlformats.org/officeDocument/2006/relationships/slide" Target="slides/slide64.xml"/><Relationship Id="rId90" Type="http://schemas.openxmlformats.org/officeDocument/2006/relationships/slide" Target="slides/slide65.xml"/><Relationship Id="rId91" Type="http://schemas.openxmlformats.org/officeDocument/2006/relationships/slide" Target="slides/slide66.xml"/><Relationship Id="rId92" Type="http://schemas.openxmlformats.org/officeDocument/2006/relationships/slide" Target="slides/slide67.xml"/><Relationship Id="rId93" Type="http://schemas.openxmlformats.org/officeDocument/2006/relationships/slide" Target="slides/slide68.xml"/><Relationship Id="rId94" Type="http://schemas.openxmlformats.org/officeDocument/2006/relationships/slide" Target="slides/slide69.xml"/><Relationship Id="rId95" Type="http://schemas.openxmlformats.org/officeDocument/2006/relationships/slide" Target="slides/slide70.xml"/><Relationship Id="rId96" Type="http://schemas.openxmlformats.org/officeDocument/2006/relationships/slide" Target="slides/slide71.xml"/><Relationship Id="rId97" Type="http://schemas.openxmlformats.org/officeDocument/2006/relationships/slide" Target="slides/slide72.xml"/><Relationship Id="rId98" Type="http://schemas.openxmlformats.org/officeDocument/2006/relationships/slide" Target="slides/slide73.xml"/><Relationship Id="rId99" Type="http://schemas.openxmlformats.org/officeDocument/2006/relationships/slide" Target="slides/slide74.xml"/><Relationship Id="rId100" Type="http://schemas.openxmlformats.org/officeDocument/2006/relationships/slide" Target="slides/slide75.xml"/><Relationship Id="rId101" Type="http://schemas.openxmlformats.org/officeDocument/2006/relationships/slide" Target="slides/slide76.xml"/><Relationship Id="rId102" Type="http://schemas.openxmlformats.org/officeDocument/2006/relationships/slide" Target="slides/slide77.xml"/><Relationship Id="rId103" Type="http://schemas.openxmlformats.org/officeDocument/2006/relationships/slide" Target="slides/slide78.xml"/><Relationship Id="rId104" Type="http://schemas.openxmlformats.org/officeDocument/2006/relationships/slide" Target="slides/slide79.xml"/><Relationship Id="rId105" Type="http://schemas.openxmlformats.org/officeDocument/2006/relationships/slide" Target="slides/slide80.xml"/><Relationship Id="rId106" Type="http://schemas.openxmlformats.org/officeDocument/2006/relationships/slide" Target="slides/slide81.xml"/><Relationship Id="rId107" Type="http://schemas.openxmlformats.org/officeDocument/2006/relationships/slide" Target="slides/slide82.xml"/><Relationship Id="rId108" Type="http://schemas.openxmlformats.org/officeDocument/2006/relationships/slide" Target="slides/slide83.xml"/><Relationship Id="rId109" Type="http://schemas.openxmlformats.org/officeDocument/2006/relationships/slide" Target="slides/slide84.xml"/><Relationship Id="rId110" Type="http://schemas.openxmlformats.org/officeDocument/2006/relationships/slide" Target="slides/slide85.xml"/><Relationship Id="rId111" Type="http://schemas.openxmlformats.org/officeDocument/2006/relationships/slide" Target="slides/slide86.xml"/><Relationship Id="rId112" Type="http://schemas.openxmlformats.org/officeDocument/2006/relationships/slide" Target="slides/slide87.xml"/><Relationship Id="rId113" Type="http://schemas.openxmlformats.org/officeDocument/2006/relationships/slide" Target="slides/slide88.xml"/><Relationship Id="rId114" Type="http://schemas.openxmlformats.org/officeDocument/2006/relationships/slide" Target="slides/slide89.xml"/><Relationship Id="rId115" Type="http://schemas.openxmlformats.org/officeDocument/2006/relationships/slide" Target="slides/slide90.xml"/><Relationship Id="rId116" Type="http://schemas.openxmlformats.org/officeDocument/2006/relationships/slide" Target="slides/slide91.xml"/><Relationship Id="rId117" Type="http://schemas.openxmlformats.org/officeDocument/2006/relationships/slide" Target="slides/slide92.xml"/><Relationship Id="rId1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06D488-6A26-4ED4-B405-C40948BBB2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35E3D3-2DBB-4F69-B7A6-E297D54AFF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361C1A-0008-4DBB-9567-B64FE7359C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9E931EB-5F52-4624-8245-5B3B59C0F4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D389634-996D-4868-B31F-7A1A99C3CD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A68899E-38F4-4CCD-87AB-FB1BDBD225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749F347-C6DC-4884-8174-5DB64ECAF9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044E992-EC45-4667-B95C-70F860E3D1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B3B00B4-977A-4483-9CC4-72ABD00B88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72F0996-003A-4CDB-8F92-4AD8A2D3D4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28E5270-6F45-4A2E-8857-7EDE09107F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E90F41D1-8761-4AAA-9C6B-9DF9191594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F518BEE-1058-490F-B4AC-A8F0C9F708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F376C85-8DFC-4ED9-BD8E-8E5425E2B0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C2BB221-C374-4E99-8932-DD908790F5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71306F2-85D5-4350-91D1-6F428BBB02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9DF0C99-E52A-440B-96BF-2A73BB5E64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1E433EF0-1402-4719-8DC1-3A424A7590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29BF051D-ECB0-4A82-9E0F-030B1EE6D5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C28C687A-7B38-4755-8CDE-146C67A624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6B6A9C85-A40A-4CCE-AE17-122A532357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27FCAF98-E8BF-4191-B845-FD382AC79F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6B840E56-F577-4410-B343-4362BA73ED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9B370F81-5D09-4B7E-950C-9A2D85CB6F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C42A44-0322-4E2E-BF9C-39F1A16ABCCA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61937E-AF10-44AE-ABD1-7237F4633710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842423-ADE2-4FEB-AC1A-C9CDEDF1AB5B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C1C414-DD06-425E-B8E7-48914C8D653F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B3EA28-0F5B-4056-80DD-F587FDEAD66F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B24C4B-4B42-4A1D-B910-6CACA4733161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C107B0-984F-4913-AA55-16C180C1BDB5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7F96DE-9E96-4103-A2B3-2FAF27C2BB04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C64F96-99D5-41EC-97AF-0A1292735495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EDE9E4-7220-4725-BFB5-4C20D78C8919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20D18F-AC91-43D7-9708-5624A7843CBE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9EE72F-0FFC-479E-AF5A-489D0AA63987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ED4F60-9EB0-4207-80F8-9CE03CEE8571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523B1B-B5A3-4E2B-99D3-DD257E5BBF5D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DEB4A3-C41A-496C-B068-858D575AE0D6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8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9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41F838-D845-4C21-8FF9-A39D7715C5E6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10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4572FB-A4E3-4C9A-A35F-929627C7B7CD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968AD3-9E69-49DA-815A-0262BA6F27BE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ADEF9D-790C-4704-8ADC-C5CAD3C46A09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1BB53F-26AC-424A-95BE-7A1DC1C58980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ACF027-B8CD-4EDD-9FFC-2F3E85F9B10E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361581-440D-4530-8D6E-B44A12D757BE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F91EC4-5585-4F7B-A329-C995A17F5ADE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C4BBA4-EB48-4592-9D6E-BFFD1AF47CF3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7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7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hyperlink" Target="http://www2.dcc.ufmg.br/livros/algoritmos-java/implementacoes-03.php" TargetMode="External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TAD – Listas Lineares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Prof. Fernando Garcia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81115ED-7617-45C5-B218-208A2E35744E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Referências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6782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Material adaptado do livro: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ZIVIANI, Nivio. Projeto de algoritmos: com implementações em Java e C++. São Paulo: Thomson Learning, c2007. 621 p.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Os código presentes nos slides estão disponíveis no site do autor (link no último slide)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" descr="http://www2.dcc.ufmg.br/livros/algoritmos-java/imagens/cabecalho-livro.gif"/>
          <p:cNvPicPr/>
          <p:nvPr/>
        </p:nvPicPr>
        <p:blipFill>
          <a:blip r:embed="rId1"/>
          <a:stretch/>
        </p:blipFill>
        <p:spPr>
          <a:xfrm>
            <a:off x="8083800" y="2028240"/>
            <a:ext cx="3428280" cy="3428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2DA1476-ADAC-4FB2-A711-2C9A60A4A44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Uma das formas mais simples de interligar os elementos de um conjunto.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Estrutura em que as operações inserir, retirar e localizar são definidas.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São estruturas flexíveis: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podem crescer ou diminuir de tamanho durante a execução de um programa.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Itens de uma lista podem ser: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Acessados;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Inseridos;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retirados.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786AA92-63A6-446D-AA79-DA770C07F9B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Duas listas podem ser concatenadas para formar uma lista única, ou uma pode ser partida em duas ou mais listas.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As listas são adequadas quando não é possível prever a demanda por memória, permitem: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Manipulação de quantidades imprevisíveis de dados.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Manipulação de dados de formato também imprevisível.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FB0FF61-5667-49C7-A644-D2D84F34CE9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São úteis em aplicações tais como manipulação simbólica, gerência de memória, simulação e compiladores.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Uma lista linear é uma sequência de zero ou mais itens , na qual  é de uma determinado tipo e  representa o tamanho da lista linear.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E1945BF-E9C6-42E1-B562-A0DFE88578E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Sua principal propriedade estrutural envolve as posições relativas dos itens em uma dimensão.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Assumindo ,  o primeiro item da lista e  é o último item da lista.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precede  para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sucede  para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o elemento  é dito estar na -ésima posição da lista.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852DDBD-1B36-4C3C-8060-3EDC9488293B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Operação sobre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Para criar uma TAD Lista, precisa-se definir um conjunto de operação.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O conjunto de operações a ser definido depende de cada aplicação.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No entanto, há um conjunto de operações necessário a uma maioria de aplicações, entre elas: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Criar uma lista linear vazia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Inserir um novo item imediatamente após o -ésimo item.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Retirar o -ésimo item.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Localizar o -ésimo item para examinar e/ou alterar o conteúdo de seus componentes.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Fazer uma cópia da lista linear.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Ordenar os itens da lista em ordem ascendente ou descendente, de acordo com alguns de seus componentes.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Pesquisar a ocorrência de um item com um valor particular em algum componente.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7D9DD9E-42B9-4F2E-9D74-A1D0ADA2620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Representação de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Existem várias estruturas de dados que podem ser usadas para representar listas lineares: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As duas representações mais utilizadas são: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por meio de arranjos; e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estruturas auto referenciadas (ou apontadores para linguagens como C e C++).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50B84EF-6317-4894-93D7-FA91D8A1B47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Representação de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rgbClr val="000000"/>
                </a:solidFill>
                <a:latin typeface="Calibri"/>
              </a:rPr>
              <a:t>Exemplos de Operações: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Lista(maxTam). Cria uma lista vazia.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insere(x). Insere  após o último item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retira(x). Retorna o item x que está na posição p da lista, retirando-o da lista e deslocando os itens a partir da posição  para as posições anteriores.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vazia(). Esta função retorna </a:t>
            </a:r>
            <a:r>
              <a:rPr b="0" i="1" lang="pt-BR" sz="2800" spc="-1" strike="noStrike">
                <a:solidFill>
                  <a:srgbClr val="000000"/>
                </a:solidFill>
                <a:latin typeface="Calibri"/>
              </a:rPr>
              <a:t>true 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se lista vazia; senão retorna </a:t>
            </a:r>
            <a:r>
              <a:rPr b="0" i="1" lang="pt-BR" sz="2800" spc="-1" strike="noStrike">
                <a:solidFill>
                  <a:srgbClr val="000000"/>
                </a:solidFill>
                <a:latin typeface="Calibri"/>
              </a:rPr>
              <a:t>false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imprime(). Imprime os itens da lista na ordem de ocorrência.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A73EB66-C225-4BB9-AD3D-0D1817ED0F4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Arranjos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Os itens são armazenados em um arranjo de tamanho suficiente para armazenar 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Os itens da lista são armazenados em posições contíguas de memória.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 lista pode ser percorrida em qualquer direção.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item: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após o último item com custo constante.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no meio da lista requer um deslocamento de todos os itens localizados após o ponto de inserção.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1091F1B-D042-4F40-B7FA-C0DF70E9816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Arranjos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Retirar um item do início da lista requer um deslocamento de itens para preencher o espaço deixado vazio.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Picture 2" descr=""/>
          <p:cNvPicPr/>
          <p:nvPr/>
        </p:nvPicPr>
        <p:blipFill>
          <a:blip r:embed="rId1"/>
          <a:stretch/>
        </p:blipFill>
        <p:spPr>
          <a:xfrm>
            <a:off x="4763160" y="3501000"/>
            <a:ext cx="2628360" cy="2591640"/>
          </a:xfrm>
          <a:prstGeom prst="rect">
            <a:avLst/>
          </a:prstGeom>
          <a:ln w="0">
            <a:noFill/>
          </a:ln>
        </p:spPr>
      </p:pic>
      <p:sp>
        <p:nvSpPr>
          <p:cNvPr id="223" name="Retângulo 5"/>
          <p:cNvSpPr/>
          <p:nvPr/>
        </p:nvSpPr>
        <p:spPr>
          <a:xfrm>
            <a:off x="87120" y="6300000"/>
            <a:ext cx="8372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Referência: ZIVIANI, Nivio. Projeto de algoritmos: com implementações em Java e C++. São Paulo: Thomson Learning, c2007.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7706B32-0132-4E39-837D-9865DE3A65E4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CaixaDeTexto 27"/>
          <p:cNvSpPr/>
          <p:nvPr/>
        </p:nvSpPr>
        <p:spPr>
          <a:xfrm>
            <a:off x="5789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aixaDeTexto 29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aixaDeTexto 33"/>
          <p:cNvSpPr/>
          <p:nvPr/>
        </p:nvSpPr>
        <p:spPr>
          <a:xfrm>
            <a:off x="1708560" y="2668320"/>
            <a:ext cx="750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Insere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aixaDeTexto 5"/>
          <p:cNvSpPr/>
          <p:nvPr/>
        </p:nvSpPr>
        <p:spPr>
          <a:xfrm>
            <a:off x="1169280" y="4782960"/>
            <a:ext cx="715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inserção padrão dos elementos na lista é na posição último. Porém, é possível também fazer inserção em qualquer posição.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068D4E0-4C2A-401E-8C4F-C5108B30998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aixaDeTexto 27"/>
          <p:cNvSpPr/>
          <p:nvPr/>
        </p:nvSpPr>
        <p:spPr>
          <a:xfrm>
            <a:off x="6293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aixaDeTexto 29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aixaDeTexto 33"/>
          <p:cNvSpPr/>
          <p:nvPr/>
        </p:nvSpPr>
        <p:spPr>
          <a:xfrm>
            <a:off x="1708560" y="2668320"/>
            <a:ext cx="750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Insere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aixaDeTexto 34"/>
          <p:cNvSpPr/>
          <p:nvPr/>
        </p:nvSpPr>
        <p:spPr>
          <a:xfrm>
            <a:off x="1169280" y="4782960"/>
            <a:ext cx="715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inserção padrão dos elementos na lista é na posição último. Porém, é possível também fazer inserção em qualquer posição.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1FCBE45-5B74-4CAF-AA98-C3A91F9888A2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CaixaDeTexto 27"/>
          <p:cNvSpPr/>
          <p:nvPr/>
        </p:nvSpPr>
        <p:spPr>
          <a:xfrm>
            <a:off x="6797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aixaDeTexto 29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aixaDeTexto 33"/>
          <p:cNvSpPr/>
          <p:nvPr/>
        </p:nvSpPr>
        <p:spPr>
          <a:xfrm>
            <a:off x="63903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aixaDeTexto 35"/>
          <p:cNvSpPr/>
          <p:nvPr/>
        </p:nvSpPr>
        <p:spPr>
          <a:xfrm>
            <a:off x="1708560" y="2668320"/>
            <a:ext cx="750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Insere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aixaDeTexto 34"/>
          <p:cNvSpPr/>
          <p:nvPr/>
        </p:nvSpPr>
        <p:spPr>
          <a:xfrm>
            <a:off x="1169280" y="4782960"/>
            <a:ext cx="715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inserção padrão dos elementos na lista é na posição último. Porém, é possível também fazer inserção em qualquer posição.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6C99912-A7BD-4F09-AD54-46EB6743176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aixaDeTexto 27"/>
          <p:cNvSpPr/>
          <p:nvPr/>
        </p:nvSpPr>
        <p:spPr>
          <a:xfrm>
            <a:off x="6797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aixaDeTexto 29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aixaDeTexto 33"/>
          <p:cNvSpPr/>
          <p:nvPr/>
        </p:nvSpPr>
        <p:spPr>
          <a:xfrm>
            <a:off x="63903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aixaDeTexto 36"/>
          <p:cNvSpPr/>
          <p:nvPr/>
        </p:nvSpPr>
        <p:spPr>
          <a:xfrm>
            <a:off x="1708920" y="2668320"/>
            <a:ext cx="88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aixaDeTexto 5"/>
          <p:cNvSpPr/>
          <p:nvPr/>
        </p:nvSpPr>
        <p:spPr>
          <a:xfrm>
            <a:off x="1711440" y="4158720"/>
            <a:ext cx="112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Remover: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aixaDeTexto 37"/>
          <p:cNvSpPr/>
          <p:nvPr/>
        </p:nvSpPr>
        <p:spPr>
          <a:xfrm>
            <a:off x="2851200" y="41587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4E26DAF-CF54-40F8-8746-92B89889F033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aixaDeTexto 27"/>
          <p:cNvSpPr/>
          <p:nvPr/>
        </p:nvSpPr>
        <p:spPr>
          <a:xfrm>
            <a:off x="6797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CaixaDeTexto 29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aixaDeTexto 33"/>
          <p:cNvSpPr/>
          <p:nvPr/>
        </p:nvSpPr>
        <p:spPr>
          <a:xfrm>
            <a:off x="63903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aixaDeTexto 36"/>
          <p:cNvSpPr/>
          <p:nvPr/>
        </p:nvSpPr>
        <p:spPr>
          <a:xfrm>
            <a:off x="1708920" y="2668320"/>
            <a:ext cx="88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CaixaDeTexto 5"/>
          <p:cNvSpPr/>
          <p:nvPr/>
        </p:nvSpPr>
        <p:spPr>
          <a:xfrm>
            <a:off x="1724400" y="4158720"/>
            <a:ext cx="3597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Remover: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Pesquisar até encontrar o elemento.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CaixaDeTexto 37"/>
          <p:cNvSpPr/>
          <p:nvPr/>
        </p:nvSpPr>
        <p:spPr>
          <a:xfrm>
            <a:off x="2851200" y="41587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Conector de Seta Reta 16"/>
          <p:cNvSpPr/>
          <p:nvPr/>
        </p:nvSpPr>
        <p:spPr>
          <a:xfrm>
            <a:off x="3540960" y="2022120"/>
            <a:ext cx="360" cy="403560"/>
          </a:xfrm>
          <a:custGeom>
            <a:avLst/>
            <a:gdLst>
              <a:gd name="textAreaLeft" fmla="*/ 0 w 360"/>
              <a:gd name="textAreaRight" fmla="*/ 720 w 360"/>
              <a:gd name="textAreaTop" fmla="*/ 0 h 403560"/>
              <a:gd name="textAreaBottom" fmla="*/ 403920 h 403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678F90D-CDC3-4D9E-9CD3-DCA0234C1CB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aixaDeTexto 27"/>
          <p:cNvSpPr/>
          <p:nvPr/>
        </p:nvSpPr>
        <p:spPr>
          <a:xfrm>
            <a:off x="6797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CaixaDeTexto 29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aixaDeTexto 33"/>
          <p:cNvSpPr/>
          <p:nvPr/>
        </p:nvSpPr>
        <p:spPr>
          <a:xfrm>
            <a:off x="63903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aixaDeTexto 36"/>
          <p:cNvSpPr/>
          <p:nvPr/>
        </p:nvSpPr>
        <p:spPr>
          <a:xfrm>
            <a:off x="1708920" y="2668320"/>
            <a:ext cx="88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CaixaDeTexto 37"/>
          <p:cNvSpPr/>
          <p:nvPr/>
        </p:nvSpPr>
        <p:spPr>
          <a:xfrm>
            <a:off x="2851200" y="41587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Conector de Seta Reta 34"/>
          <p:cNvSpPr/>
          <p:nvPr/>
        </p:nvSpPr>
        <p:spPr>
          <a:xfrm>
            <a:off x="4042440" y="2016360"/>
            <a:ext cx="360" cy="403560"/>
          </a:xfrm>
          <a:custGeom>
            <a:avLst/>
            <a:gdLst>
              <a:gd name="textAreaLeft" fmla="*/ 0 w 360"/>
              <a:gd name="textAreaRight" fmla="*/ 720 w 360"/>
              <a:gd name="textAreaTop" fmla="*/ 0 h 403560"/>
              <a:gd name="textAreaBottom" fmla="*/ 403920 h 403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CaixaDeTexto 35"/>
          <p:cNvSpPr/>
          <p:nvPr/>
        </p:nvSpPr>
        <p:spPr>
          <a:xfrm>
            <a:off x="1724400" y="4158720"/>
            <a:ext cx="3597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Remover: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Pesquisar até encontrar o elemento.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9F2395C-08DD-4AD8-BB41-403B4D0D458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CaixaDeTexto 27"/>
          <p:cNvSpPr/>
          <p:nvPr/>
        </p:nvSpPr>
        <p:spPr>
          <a:xfrm>
            <a:off x="6797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CaixaDeTexto 33"/>
          <p:cNvSpPr/>
          <p:nvPr/>
        </p:nvSpPr>
        <p:spPr>
          <a:xfrm>
            <a:off x="63903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aixaDeTexto 36"/>
          <p:cNvSpPr/>
          <p:nvPr/>
        </p:nvSpPr>
        <p:spPr>
          <a:xfrm>
            <a:off x="1708920" y="2668320"/>
            <a:ext cx="88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aixaDeTexto 37"/>
          <p:cNvSpPr/>
          <p:nvPr/>
        </p:nvSpPr>
        <p:spPr>
          <a:xfrm>
            <a:off x="2851200" y="41587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onector de Seta Reta 34"/>
          <p:cNvSpPr/>
          <p:nvPr/>
        </p:nvSpPr>
        <p:spPr>
          <a:xfrm>
            <a:off x="4516920" y="2016360"/>
            <a:ext cx="360" cy="403560"/>
          </a:xfrm>
          <a:custGeom>
            <a:avLst/>
            <a:gdLst>
              <a:gd name="textAreaLeft" fmla="*/ 0 w 360"/>
              <a:gd name="textAreaRight" fmla="*/ 720 w 360"/>
              <a:gd name="textAreaTop" fmla="*/ 0 h 403560"/>
              <a:gd name="textAreaBottom" fmla="*/ 403920 h 403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CaixaDeTexto 35"/>
          <p:cNvSpPr/>
          <p:nvPr/>
        </p:nvSpPr>
        <p:spPr>
          <a:xfrm>
            <a:off x="1724400" y="4158720"/>
            <a:ext cx="3597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Remover: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Pesquisar até encontrar o elemento.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aixaDeTexto 38"/>
          <p:cNvSpPr/>
          <p:nvPr/>
        </p:nvSpPr>
        <p:spPr>
          <a:xfrm>
            <a:off x="43531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86146A0-3654-46DB-A230-CDDB95D67017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CaixaDeTexto 27"/>
          <p:cNvSpPr/>
          <p:nvPr/>
        </p:nvSpPr>
        <p:spPr>
          <a:xfrm>
            <a:off x="67975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CaixaDeTexto 30"/>
          <p:cNvSpPr/>
          <p:nvPr/>
        </p:nvSpPr>
        <p:spPr>
          <a:xfrm>
            <a:off x="488052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CaixaDeTexto 31"/>
          <p:cNvSpPr/>
          <p:nvPr/>
        </p:nvSpPr>
        <p:spPr>
          <a:xfrm>
            <a:off x="54082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CaixaDeTexto 32"/>
          <p:cNvSpPr/>
          <p:nvPr/>
        </p:nvSpPr>
        <p:spPr>
          <a:xfrm>
            <a:off x="58888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aixaDeTexto 33"/>
          <p:cNvSpPr/>
          <p:nvPr/>
        </p:nvSpPr>
        <p:spPr>
          <a:xfrm>
            <a:off x="63903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CaixaDeTexto 36"/>
          <p:cNvSpPr/>
          <p:nvPr/>
        </p:nvSpPr>
        <p:spPr>
          <a:xfrm>
            <a:off x="1708920" y="2668320"/>
            <a:ext cx="88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CaixaDeTexto 37"/>
          <p:cNvSpPr/>
          <p:nvPr/>
        </p:nvSpPr>
        <p:spPr>
          <a:xfrm>
            <a:off x="2851200" y="41587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Conector de Seta Reta 34"/>
          <p:cNvSpPr/>
          <p:nvPr/>
        </p:nvSpPr>
        <p:spPr>
          <a:xfrm>
            <a:off x="4516920" y="2016360"/>
            <a:ext cx="360" cy="403560"/>
          </a:xfrm>
          <a:custGeom>
            <a:avLst/>
            <a:gdLst>
              <a:gd name="textAreaLeft" fmla="*/ 0 w 360"/>
              <a:gd name="textAreaRight" fmla="*/ 720 w 360"/>
              <a:gd name="textAreaTop" fmla="*/ 0 h 403560"/>
              <a:gd name="textAreaBottom" fmla="*/ 403920 h 403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CaixaDeTexto 35"/>
          <p:cNvSpPr/>
          <p:nvPr/>
        </p:nvSpPr>
        <p:spPr>
          <a:xfrm>
            <a:off x="1724400" y="4158720"/>
            <a:ext cx="3597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Remover: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Pesquisar até encontrar o elemento.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D741134-90F1-41EB-949B-54273237BB94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Propriedade das Listas Lineares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Retângulo 3"/>
          <p:cNvSpPr/>
          <p:nvPr/>
        </p:nvSpPr>
        <p:spPr>
          <a:xfrm>
            <a:off x="3287520" y="2565000"/>
            <a:ext cx="5544000" cy="57528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Conector reto 4"/>
          <p:cNvSpPr/>
          <p:nvPr/>
        </p:nvSpPr>
        <p:spPr>
          <a:xfrm>
            <a:off x="3791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Conector reto 8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Conector reto 9"/>
          <p:cNvSpPr/>
          <p:nvPr/>
        </p:nvSpPr>
        <p:spPr>
          <a:xfrm>
            <a:off x="4295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Conector reto 10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Conector reto 11"/>
          <p:cNvSpPr/>
          <p:nvPr/>
        </p:nvSpPr>
        <p:spPr>
          <a:xfrm>
            <a:off x="479952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onector reto 12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Conector reto 13"/>
          <p:cNvSpPr/>
          <p:nvPr/>
        </p:nvSpPr>
        <p:spPr>
          <a:xfrm>
            <a:off x="530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Conector reto 14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onector reto 17"/>
          <p:cNvSpPr/>
          <p:nvPr/>
        </p:nvSpPr>
        <p:spPr>
          <a:xfrm>
            <a:off x="5807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Conector reto 19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Conector reto 20"/>
          <p:cNvSpPr/>
          <p:nvPr/>
        </p:nvSpPr>
        <p:spPr>
          <a:xfrm>
            <a:off x="6311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Conector reto 21"/>
          <p:cNvSpPr/>
          <p:nvPr/>
        </p:nvSpPr>
        <p:spPr>
          <a:xfrm>
            <a:off x="6815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Conector reto 22"/>
          <p:cNvSpPr/>
          <p:nvPr/>
        </p:nvSpPr>
        <p:spPr>
          <a:xfrm>
            <a:off x="7319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Conector reto 23"/>
          <p:cNvSpPr/>
          <p:nvPr/>
        </p:nvSpPr>
        <p:spPr>
          <a:xfrm>
            <a:off x="782388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onector reto 24"/>
          <p:cNvSpPr/>
          <p:nvPr/>
        </p:nvSpPr>
        <p:spPr>
          <a:xfrm>
            <a:off x="8328240" y="2564640"/>
            <a:ext cx="360" cy="57600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CaixaDeTexto 25"/>
          <p:cNvSpPr/>
          <p:nvPr/>
        </p:nvSpPr>
        <p:spPr>
          <a:xfrm>
            <a:off x="33580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CaixaDeTexto 26"/>
          <p:cNvSpPr/>
          <p:nvPr/>
        </p:nvSpPr>
        <p:spPr>
          <a:xfrm>
            <a:off x="3177720" y="3146040"/>
            <a:ext cx="6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CaixaDeTexto 27"/>
          <p:cNvSpPr/>
          <p:nvPr/>
        </p:nvSpPr>
        <p:spPr>
          <a:xfrm>
            <a:off x="6261120" y="3141000"/>
            <a:ext cx="66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CaixaDeTexto 28"/>
          <p:cNvSpPr/>
          <p:nvPr/>
        </p:nvSpPr>
        <p:spPr>
          <a:xfrm>
            <a:off x="384876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CaixaDeTexto 30"/>
          <p:cNvSpPr/>
          <p:nvPr/>
        </p:nvSpPr>
        <p:spPr>
          <a:xfrm>
            <a:off x="435420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aixaDeTexto 31"/>
          <p:cNvSpPr/>
          <p:nvPr/>
        </p:nvSpPr>
        <p:spPr>
          <a:xfrm>
            <a:off x="488160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CaixaDeTexto 32"/>
          <p:cNvSpPr/>
          <p:nvPr/>
        </p:nvSpPr>
        <p:spPr>
          <a:xfrm>
            <a:off x="536220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CaixaDeTexto 33"/>
          <p:cNvSpPr/>
          <p:nvPr/>
        </p:nvSpPr>
        <p:spPr>
          <a:xfrm>
            <a:off x="5863680" y="2668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CaixaDeTexto 36"/>
          <p:cNvSpPr/>
          <p:nvPr/>
        </p:nvSpPr>
        <p:spPr>
          <a:xfrm>
            <a:off x="1708920" y="2668320"/>
            <a:ext cx="88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CaixaDeTexto 37"/>
          <p:cNvSpPr/>
          <p:nvPr/>
        </p:nvSpPr>
        <p:spPr>
          <a:xfrm>
            <a:off x="2851200" y="41587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CaixaDeTexto 38"/>
          <p:cNvSpPr/>
          <p:nvPr/>
        </p:nvSpPr>
        <p:spPr>
          <a:xfrm>
            <a:off x="1710720" y="4158720"/>
            <a:ext cx="5855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Remover: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Ao encontrar, remover e deslocar todos os demais elementos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Conector de Seta Reta 6"/>
          <p:cNvSpPr/>
          <p:nvPr/>
        </p:nvSpPr>
        <p:spPr>
          <a:xfrm flipH="1">
            <a:off x="4872240" y="2426760"/>
            <a:ext cx="863280" cy="360"/>
          </a:xfrm>
          <a:custGeom>
            <a:avLst/>
            <a:gdLst>
              <a:gd name="textAreaLeft" fmla="*/ 360 w 863280"/>
              <a:gd name="textAreaRight" fmla="*/ 864000 w 863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7489A00-C985-4073-BEF0-D8D9DC27ACB0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por meio de Arranjos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" name="" descr=""/>
          <p:cNvPicPr/>
          <p:nvPr/>
        </p:nvPicPr>
        <p:blipFill>
          <a:blip r:embed="rId1"/>
          <a:stretch/>
        </p:blipFill>
        <p:spPr>
          <a:xfrm>
            <a:off x="2160000" y="1499760"/>
            <a:ext cx="6299640" cy="5194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409AFD2-3ECA-4DE0-9729-D24924CF6C08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por meio de Arranjos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5" name="" descr=""/>
          <p:cNvPicPr/>
          <p:nvPr/>
        </p:nvPicPr>
        <p:blipFill>
          <a:blip r:embed="rId1"/>
          <a:stretch/>
        </p:blipFill>
        <p:spPr>
          <a:xfrm>
            <a:off x="1798560" y="1477080"/>
            <a:ext cx="7561080" cy="5070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690B324-006A-4F96-B6A6-90E866F38921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por meio de Arranjos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7" name="" descr=""/>
          <p:cNvPicPr/>
          <p:nvPr/>
        </p:nvPicPr>
        <p:blipFill>
          <a:blip r:embed="rId1"/>
          <a:stretch/>
        </p:blipFill>
        <p:spPr>
          <a:xfrm>
            <a:off x="1620000" y="1413000"/>
            <a:ext cx="7019640" cy="5369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A5EB386-3079-4870-9124-E3105A9CAEDB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Arranjos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rgbClr val="000000"/>
                </a:solidFill>
                <a:latin typeface="Calibri"/>
              </a:rPr>
              <a:t>Vantagem: 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Economia de memória (os apontadores são implícitos nesta estrutura).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rgbClr val="000000"/>
                </a:solidFill>
                <a:latin typeface="Calibri"/>
              </a:rPr>
              <a:t>Desvantagens: 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Custo para inserir ou retirar itens da lista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No pior caso: deslocamento de todos os itens.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Em aplicações em que não existe previsão sobre o crescimento da lista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Exige a realocação de memória.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4BFDDA6-8748-4BBC-9CAE-1D3422DBBD5B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838080" y="25257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B6F42D7-5002-4EA8-8C50-CAF074FAD22C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Também podem ser chamadas de listas encadeadas ou listas ligadas.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Cada item da lista contém a informação que é necessária para alcançar o próximo item.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Permite utilizar posições não contíguas de memória.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Inserir e retirar elementos: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Não há necessidade de deslocar os itens seguintes da lista.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C97ADB9-E0F3-453F-8E94-01EE1BD3C5F6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Há uma célula cabeça (</a:t>
            </a:r>
            <a:r>
              <a:rPr b="0" i="1" lang="pt-BR" sz="2800" spc="-1" strike="noStrike">
                <a:solidFill>
                  <a:srgbClr val="000000"/>
                </a:solidFill>
                <a:latin typeface="Calibri"/>
              </a:rPr>
              <a:t>head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):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simplifica as operações sobre a lista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5" name="Picture 2" descr=""/>
          <p:cNvPicPr/>
          <p:nvPr/>
        </p:nvPicPr>
        <p:blipFill>
          <a:blip r:embed="rId1"/>
          <a:stretch/>
        </p:blipFill>
        <p:spPr>
          <a:xfrm>
            <a:off x="2948400" y="3501000"/>
            <a:ext cx="6527880" cy="575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25D50FE-324D-452A-B698-388B3FA2E23A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190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 lista é constituída de células: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Cada uma contém um item da lista e uma referência para a célula seguinte.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Elipse 3"/>
          <p:cNvSpPr/>
          <p:nvPr/>
        </p:nvSpPr>
        <p:spPr>
          <a:xfrm>
            <a:off x="2855520" y="407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Conector reto 4"/>
          <p:cNvSpPr/>
          <p:nvPr/>
        </p:nvSpPr>
        <p:spPr>
          <a:xfrm>
            <a:off x="2855520" y="458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CaixaDeTexto 5"/>
          <p:cNvSpPr/>
          <p:nvPr/>
        </p:nvSpPr>
        <p:spPr>
          <a:xfrm>
            <a:off x="3075120" y="422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CaixaDeTexto 6"/>
          <p:cNvSpPr/>
          <p:nvPr/>
        </p:nvSpPr>
        <p:spPr>
          <a:xfrm>
            <a:off x="3054600" y="458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Elipse 7"/>
          <p:cNvSpPr/>
          <p:nvPr/>
        </p:nvSpPr>
        <p:spPr>
          <a:xfrm>
            <a:off x="4583880" y="407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Conector reto 8"/>
          <p:cNvSpPr/>
          <p:nvPr/>
        </p:nvSpPr>
        <p:spPr>
          <a:xfrm>
            <a:off x="4583520" y="458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CaixaDeTexto 9"/>
          <p:cNvSpPr/>
          <p:nvPr/>
        </p:nvSpPr>
        <p:spPr>
          <a:xfrm>
            <a:off x="4803480" y="422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CaixaDeTexto 10"/>
          <p:cNvSpPr/>
          <p:nvPr/>
        </p:nvSpPr>
        <p:spPr>
          <a:xfrm>
            <a:off x="4782600" y="458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Elipse 11"/>
          <p:cNvSpPr/>
          <p:nvPr/>
        </p:nvSpPr>
        <p:spPr>
          <a:xfrm>
            <a:off x="6383880" y="407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Conector reto 12"/>
          <p:cNvSpPr/>
          <p:nvPr/>
        </p:nvSpPr>
        <p:spPr>
          <a:xfrm>
            <a:off x="6383880" y="458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CaixaDeTexto 13"/>
          <p:cNvSpPr/>
          <p:nvPr/>
        </p:nvSpPr>
        <p:spPr>
          <a:xfrm>
            <a:off x="6603480" y="422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CaixaDeTexto 14"/>
          <p:cNvSpPr/>
          <p:nvPr/>
        </p:nvSpPr>
        <p:spPr>
          <a:xfrm>
            <a:off x="6582960" y="458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Elipse 15"/>
          <p:cNvSpPr/>
          <p:nvPr/>
        </p:nvSpPr>
        <p:spPr>
          <a:xfrm>
            <a:off x="8112240" y="407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Conector reto 16"/>
          <p:cNvSpPr/>
          <p:nvPr/>
        </p:nvSpPr>
        <p:spPr>
          <a:xfrm>
            <a:off x="8111880" y="458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CaixaDeTexto 17"/>
          <p:cNvSpPr/>
          <p:nvPr/>
        </p:nvSpPr>
        <p:spPr>
          <a:xfrm>
            <a:off x="8331840" y="422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CaixaDeTexto 18"/>
          <p:cNvSpPr/>
          <p:nvPr/>
        </p:nvSpPr>
        <p:spPr>
          <a:xfrm>
            <a:off x="8310960" y="458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Conector em curva 19"/>
          <p:cNvSpPr/>
          <p:nvPr/>
        </p:nvSpPr>
        <p:spPr>
          <a:xfrm flipV="1">
            <a:off x="3863880" y="44049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Conector em curva 20"/>
          <p:cNvSpPr/>
          <p:nvPr/>
        </p:nvSpPr>
        <p:spPr>
          <a:xfrm flipV="1">
            <a:off x="5663880" y="4436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Conector em curva 21"/>
          <p:cNvSpPr/>
          <p:nvPr/>
        </p:nvSpPr>
        <p:spPr>
          <a:xfrm flipV="1">
            <a:off x="7392240" y="4436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CaixaDeTexto 22"/>
          <p:cNvSpPr/>
          <p:nvPr/>
        </p:nvSpPr>
        <p:spPr>
          <a:xfrm>
            <a:off x="3004920" y="5085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CaixaDeTexto 23"/>
          <p:cNvSpPr/>
          <p:nvPr/>
        </p:nvSpPr>
        <p:spPr>
          <a:xfrm>
            <a:off x="8114760" y="5086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C69F02E-84A6-4CD6-9A01-01378B261D15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Construção de uma Lista vazia: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Elipse 44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Conector reto 45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CaixaDeTexto 46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CaixaDeTexto 47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CaixaDeTexto 48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CaixaDeTexto 49"/>
          <p:cNvSpPr/>
          <p:nvPr/>
        </p:nvSpPr>
        <p:spPr>
          <a:xfrm>
            <a:off x="2858040" y="47160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Conector de seta reta 50"/>
          <p:cNvSpPr/>
          <p:nvPr/>
        </p:nvSpPr>
        <p:spPr>
          <a:xfrm>
            <a:off x="3676320" y="407700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CaixaDeTexto 51"/>
          <p:cNvSpPr/>
          <p:nvPr/>
        </p:nvSpPr>
        <p:spPr>
          <a:xfrm>
            <a:off x="4975560" y="389808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5C136E6-0DBC-4B31-99E2-D3FE1AEF15D3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CaixaDeTexto 23"/>
          <p:cNvSpPr/>
          <p:nvPr/>
        </p:nvSpPr>
        <p:spPr>
          <a:xfrm>
            <a:off x="2858040" y="47160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Conector de seta reta 41"/>
          <p:cNvSpPr/>
          <p:nvPr/>
        </p:nvSpPr>
        <p:spPr>
          <a:xfrm>
            <a:off x="3676320" y="407700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CaixaDeTexto 43"/>
          <p:cNvSpPr/>
          <p:nvPr/>
        </p:nvSpPr>
        <p:spPr>
          <a:xfrm>
            <a:off x="4975560" y="389808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Retângulo 8"/>
          <p:cNvSpPr/>
          <p:nvPr/>
        </p:nvSpPr>
        <p:spPr>
          <a:xfrm>
            <a:off x="6840000" y="4500000"/>
            <a:ext cx="449964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void insere(Lista *lista, void *x) {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*nova = (Celula *) malloc(sizeof(Celula));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lista-&gt;ultimo-&gt;prox = nova;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 = nova;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nova-&gt;item = x;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nova-&gt;prox = NULL;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96422ED-A82A-4B6A-A6E4-8CBEC75CA0EE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CaixaDeTexto 13"/>
          <p:cNvSpPr/>
          <p:nvPr/>
        </p:nvSpPr>
        <p:spPr>
          <a:xfrm>
            <a:off x="487548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CaixaDeTexto 17"/>
          <p:cNvSpPr/>
          <p:nvPr/>
        </p:nvSpPr>
        <p:spPr>
          <a:xfrm>
            <a:off x="2858040" y="47160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CaixaDeTexto 19"/>
          <p:cNvSpPr/>
          <p:nvPr/>
        </p:nvSpPr>
        <p:spPr>
          <a:xfrm>
            <a:off x="4550400" y="285372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etângulo 20"/>
          <p:cNvSpPr/>
          <p:nvPr/>
        </p:nvSpPr>
        <p:spPr>
          <a:xfrm>
            <a:off x="7206120" y="4083480"/>
            <a:ext cx="449352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void insere(Lista *lista, void *x) {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Celula *nova = (Celula *) malloc(sizeof(Celula));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lista-&gt;ultimo-&gt;prox = nova;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 = nova;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nova-&gt;item = x;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nova-&gt;prox = NULL;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5504365-63B8-43B9-B9F3-B6B5635C1BFF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CaixaDeTexto 13"/>
          <p:cNvSpPr/>
          <p:nvPr/>
        </p:nvSpPr>
        <p:spPr>
          <a:xfrm>
            <a:off x="487548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CaixaDeTexto 17"/>
          <p:cNvSpPr/>
          <p:nvPr/>
        </p:nvSpPr>
        <p:spPr>
          <a:xfrm>
            <a:off x="4658400" y="4366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CaixaDeTexto 19"/>
          <p:cNvSpPr/>
          <p:nvPr/>
        </p:nvSpPr>
        <p:spPr>
          <a:xfrm>
            <a:off x="4550400" y="285372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Retângulo 20"/>
          <p:cNvSpPr/>
          <p:nvPr/>
        </p:nvSpPr>
        <p:spPr>
          <a:xfrm>
            <a:off x="7206120" y="4140000"/>
            <a:ext cx="449352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void insere(Lista *lista, void *x) {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*nova = (Celula *) malloc(sizeof(Celula));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lista-&gt;ultimo-&gt;prox = nova;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lista-&gt;ultimo = nova;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nova-&gt;item = x;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nova-&gt;prox = NULL;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87325AE-F8B1-4576-9968-308ED87B5899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CaixaDeTexto 17"/>
          <p:cNvSpPr/>
          <p:nvPr/>
        </p:nvSpPr>
        <p:spPr>
          <a:xfrm>
            <a:off x="4658400" y="4366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CaixaDeTexto 19"/>
          <p:cNvSpPr/>
          <p:nvPr/>
        </p:nvSpPr>
        <p:spPr>
          <a:xfrm>
            <a:off x="4550400" y="285372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etângulo 21"/>
          <p:cNvSpPr/>
          <p:nvPr/>
        </p:nvSpPr>
        <p:spPr>
          <a:xfrm>
            <a:off x="7206120" y="4263480"/>
            <a:ext cx="449352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void insere(Lista *lista, void *x) {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*nova = (Celula *) malloc(sizeof(Celula));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lista-&gt;ultimo-&gt;prox = nova;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 = nova;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nova-&gt;item = x;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nova-&gt;prox = NULL;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CaixaDeTexto 20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F9B2A0F-54F8-46AD-A6AD-597D16B51A01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CaixaDeTexto 17"/>
          <p:cNvSpPr/>
          <p:nvPr/>
        </p:nvSpPr>
        <p:spPr>
          <a:xfrm>
            <a:off x="4658400" y="4366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CaixaDeTexto 19"/>
          <p:cNvSpPr/>
          <p:nvPr/>
        </p:nvSpPr>
        <p:spPr>
          <a:xfrm>
            <a:off x="4550400" y="285372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Conector de seta reta 15"/>
          <p:cNvSpPr/>
          <p:nvPr/>
        </p:nvSpPr>
        <p:spPr>
          <a:xfrm>
            <a:off x="5493240" y="407700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CaixaDeTexto 16"/>
          <p:cNvSpPr/>
          <p:nvPr/>
        </p:nvSpPr>
        <p:spPr>
          <a:xfrm>
            <a:off x="6792120" y="389808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Retângulo 21"/>
          <p:cNvSpPr/>
          <p:nvPr/>
        </p:nvSpPr>
        <p:spPr>
          <a:xfrm>
            <a:off x="7200000" y="4500000"/>
            <a:ext cx="431352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void insere(Lista *lista, void *x) {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*nova = (Celula *) malloc(sizeof(Celula));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lista-&gt;ultimo-&gt;prox = nova;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lista-&gt;ultimo = nova;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nova-&gt;item = x;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c9211e"/>
                </a:solidFill>
                <a:latin typeface="Consolas"/>
                <a:ea typeface="DejaVu Sans"/>
              </a:rPr>
              <a:t>nova-&gt;prox = NULL;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CaixaDeTexto 20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B3D061C-5662-4937-A876-944A846636C4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CaixaDeTexto 17"/>
          <p:cNvSpPr/>
          <p:nvPr/>
        </p:nvSpPr>
        <p:spPr>
          <a:xfrm>
            <a:off x="4658400" y="4366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CaixaDeTexto 25"/>
          <p:cNvSpPr/>
          <p:nvPr/>
        </p:nvSpPr>
        <p:spPr>
          <a:xfrm>
            <a:off x="6720840" y="350028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CaixaDeTexto 29"/>
          <p:cNvSpPr/>
          <p:nvPr/>
        </p:nvSpPr>
        <p:spPr>
          <a:xfrm>
            <a:off x="6395760" y="2853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CaixaDeTexto 27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DC32EA8-52A0-4A3B-92D5-3C1B98B92926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CaixaDeTexto 25"/>
          <p:cNvSpPr/>
          <p:nvPr/>
        </p:nvSpPr>
        <p:spPr>
          <a:xfrm>
            <a:off x="6720840" y="350028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CaixaDeTexto 29"/>
          <p:cNvSpPr/>
          <p:nvPr/>
        </p:nvSpPr>
        <p:spPr>
          <a:xfrm>
            <a:off x="6395760" y="2853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CaixaDeTexto 30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3B37E89-E36E-4F1E-9766-08866A73DE1F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CaixaDeTexto 29"/>
          <p:cNvSpPr/>
          <p:nvPr/>
        </p:nvSpPr>
        <p:spPr>
          <a:xfrm>
            <a:off x="6395760" y="2853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CaixaDeTexto 32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B624006-D44C-4310-9DD8-933DF9574FDF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CaixaDeTexto 29"/>
          <p:cNvSpPr/>
          <p:nvPr/>
        </p:nvSpPr>
        <p:spPr>
          <a:xfrm>
            <a:off x="6395760" y="2853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CaixaDeTexto 32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CA164D7-B862-4896-BB74-460F30C3A0EF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CaixaDeTexto 30"/>
          <p:cNvSpPr/>
          <p:nvPr/>
        </p:nvSpPr>
        <p:spPr>
          <a:xfrm>
            <a:off x="4464720" y="2934360"/>
            <a:ext cx="133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1º 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CaixaDeTexto 31"/>
          <p:cNvSpPr/>
          <p:nvPr/>
        </p:nvSpPr>
        <p:spPr>
          <a:xfrm>
            <a:off x="6337080" y="2925000"/>
            <a:ext cx="133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2º 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CaixaDeTexto 29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CaixaDeTexto 32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CAAD39E-FED4-46AE-8210-E353F8B88AA3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Conector de seta reta 10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CaixaDeTexto 15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Retângulo 8"/>
          <p:cNvSpPr/>
          <p:nvPr/>
        </p:nvSpPr>
        <p:spPr>
          <a:xfrm>
            <a:off x="0" y="4793400"/>
            <a:ext cx="629964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CaixaDeTexto 29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CaixaDeTexto 30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0F87586-0908-49C4-8A2E-16874C249D8E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Retângulo 29"/>
          <p:cNvSpPr/>
          <p:nvPr/>
        </p:nvSpPr>
        <p:spPr>
          <a:xfrm>
            <a:off x="180000" y="509256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211e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c9211e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Conector de Seta Reta 9"/>
          <p:cNvSpPr/>
          <p:nvPr/>
        </p:nvSpPr>
        <p:spPr>
          <a:xfrm flipH="1">
            <a:off x="6558480" y="5477760"/>
            <a:ext cx="1116000" cy="360"/>
          </a:xfrm>
          <a:custGeom>
            <a:avLst/>
            <a:gdLst>
              <a:gd name="textAreaLeft" fmla="*/ 360 w 1116000"/>
              <a:gd name="textAreaRight" fmla="*/ 1116720 w 111600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CaixaDeTexto 10"/>
          <p:cNvSpPr/>
          <p:nvPr/>
        </p:nvSpPr>
        <p:spPr>
          <a:xfrm>
            <a:off x="8071200" y="5204880"/>
            <a:ext cx="38152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Observe que “primeiro” não armazena o primeiro elemento da lista, e sim é uma referência à célula </a:t>
            </a: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que referencia o primeiro elemento.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CaixaDeTexto 33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CaixaDeTexto 34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45D9921-180D-4293-BD2E-D7C027F8FDB3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Retângulo 29"/>
          <p:cNvSpPr/>
          <p:nvPr/>
        </p:nvSpPr>
        <p:spPr>
          <a:xfrm>
            <a:off x="180000" y="504000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c9211e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CaixaDeTexto 34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16753F4-A662-4F6B-A948-1A534F537522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CaixaDeTexto 30"/>
          <p:cNvSpPr/>
          <p:nvPr/>
        </p:nvSpPr>
        <p:spPr>
          <a:xfrm>
            <a:off x="4875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Retângulo 29"/>
          <p:cNvSpPr/>
          <p:nvPr/>
        </p:nvSpPr>
        <p:spPr>
          <a:xfrm>
            <a:off x="0" y="476064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CaixaDeTexto 34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EB4F3CC-662C-4E95-8B2D-3EE42E29E406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CaixaDeTexto 30"/>
          <p:cNvSpPr/>
          <p:nvPr/>
        </p:nvSpPr>
        <p:spPr>
          <a:xfrm>
            <a:off x="4875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Retângulo 29"/>
          <p:cNvSpPr/>
          <p:nvPr/>
        </p:nvSpPr>
        <p:spPr>
          <a:xfrm>
            <a:off x="0" y="476064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CaixaDeTexto 34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B2677AE-FA2D-41CF-B681-17E489E56B2F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CaixaDeTexto 30"/>
          <p:cNvSpPr/>
          <p:nvPr/>
        </p:nvSpPr>
        <p:spPr>
          <a:xfrm>
            <a:off x="4875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CaixaDeTexto 29"/>
          <p:cNvSpPr/>
          <p:nvPr/>
        </p:nvSpPr>
        <p:spPr>
          <a:xfrm>
            <a:off x="6872400" y="486900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Retângulo 33"/>
          <p:cNvSpPr/>
          <p:nvPr/>
        </p:nvSpPr>
        <p:spPr>
          <a:xfrm>
            <a:off x="0" y="476064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Celula *q = aux-&gt;prox;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CaixaDeTexto 35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6282422-A225-4FAD-A358-67D0A0A51555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Retângulo 34"/>
          <p:cNvSpPr/>
          <p:nvPr/>
        </p:nvSpPr>
        <p:spPr>
          <a:xfrm>
            <a:off x="0" y="478620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</a:t>
            </a: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CaixaDeTexto 30"/>
          <p:cNvSpPr/>
          <p:nvPr/>
        </p:nvSpPr>
        <p:spPr>
          <a:xfrm>
            <a:off x="4875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CaixaDeTexto 29"/>
          <p:cNvSpPr/>
          <p:nvPr/>
        </p:nvSpPr>
        <p:spPr>
          <a:xfrm>
            <a:off x="6872400" y="486900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Conector de seta reta 9"/>
          <p:cNvSpPr/>
          <p:nvPr/>
        </p:nvSpPr>
        <p:spPr>
          <a:xfrm>
            <a:off x="6717240" y="6174720"/>
            <a:ext cx="1079280" cy="360"/>
          </a:xfrm>
          <a:custGeom>
            <a:avLst/>
            <a:gdLst>
              <a:gd name="textAreaLeft" fmla="*/ 0 w 1079280"/>
              <a:gd name="textAreaRight" fmla="*/ 1079640 w 107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CaixaDeTexto 15"/>
          <p:cNvSpPr/>
          <p:nvPr/>
        </p:nvSpPr>
        <p:spPr>
          <a:xfrm>
            <a:off x="7941240" y="5704200"/>
            <a:ext cx="1841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Recupera o objeto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CaixaDeTexto 35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2208C6B-424B-44D2-9445-DD5AEFF98D0D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Retângulo 36"/>
          <p:cNvSpPr/>
          <p:nvPr/>
        </p:nvSpPr>
        <p:spPr>
          <a:xfrm>
            <a:off x="0" y="475020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a6a6a6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solidFill>
            <a:schemeClr val="bg1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Conector em curva 28"/>
          <p:cNvSpPr/>
          <p:nvPr/>
        </p:nvSpPr>
        <p:spPr>
          <a:xfrm flipH="1" flipV="1" rot="5400000">
            <a:off x="5542560" y="3522240"/>
            <a:ext cx="790560" cy="458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CaixaDeTexto 30"/>
          <p:cNvSpPr/>
          <p:nvPr/>
        </p:nvSpPr>
        <p:spPr>
          <a:xfrm>
            <a:off x="4875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CaixaDeTexto 32"/>
          <p:cNvSpPr/>
          <p:nvPr/>
        </p:nvSpPr>
        <p:spPr>
          <a:xfrm>
            <a:off x="580860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CaixaDeTexto 29"/>
          <p:cNvSpPr/>
          <p:nvPr/>
        </p:nvSpPr>
        <p:spPr>
          <a:xfrm>
            <a:off x="6872400" y="486900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CaixaDeTexto 33"/>
          <p:cNvSpPr/>
          <p:nvPr/>
        </p:nvSpPr>
        <p:spPr>
          <a:xfrm>
            <a:off x="5812560" y="298692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CaixaDeTexto 35"/>
          <p:cNvSpPr/>
          <p:nvPr/>
        </p:nvSpPr>
        <p:spPr>
          <a:xfrm>
            <a:off x="8097840" y="5766480"/>
            <a:ext cx="3938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Faça aux.prox referenciar o próximo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da lista. Neste caso nulo, pois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não há mais elementos.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Conector de seta reta 9"/>
          <p:cNvSpPr/>
          <p:nvPr/>
        </p:nvSpPr>
        <p:spPr>
          <a:xfrm>
            <a:off x="6717240" y="6174720"/>
            <a:ext cx="1079280" cy="360"/>
          </a:xfrm>
          <a:custGeom>
            <a:avLst/>
            <a:gdLst>
              <a:gd name="textAreaLeft" fmla="*/ 0 w 1079280"/>
              <a:gd name="textAreaRight" fmla="*/ 1079640 w 107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CaixaDeTexto 38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a6a6a6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C14E792-F977-4782-BC38-AB24F26F9993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CaixaDeTexto 27"/>
          <p:cNvSpPr/>
          <p:nvPr/>
        </p:nvSpPr>
        <p:spPr>
          <a:xfrm>
            <a:off x="465840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Conector em curva 28"/>
          <p:cNvSpPr/>
          <p:nvPr/>
        </p:nvSpPr>
        <p:spPr>
          <a:xfrm flipH="1" flipV="1" rot="5400000">
            <a:off x="5542560" y="3522240"/>
            <a:ext cx="790560" cy="458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Conector de seta reta 31"/>
          <p:cNvSpPr/>
          <p:nvPr/>
        </p:nvSpPr>
        <p:spPr>
          <a:xfrm>
            <a:off x="700524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aadc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CaixaDeTexto 32"/>
          <p:cNvSpPr/>
          <p:nvPr/>
        </p:nvSpPr>
        <p:spPr>
          <a:xfrm>
            <a:off x="6036120" y="2421000"/>
            <a:ext cx="48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removido (lixo de memória - inacessível)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CaixaDeTexto 29"/>
          <p:cNvSpPr/>
          <p:nvPr/>
        </p:nvSpPr>
        <p:spPr>
          <a:xfrm>
            <a:off x="6872400" y="435564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CaixaDeTexto 33"/>
          <p:cNvSpPr/>
          <p:nvPr/>
        </p:nvSpPr>
        <p:spPr>
          <a:xfrm>
            <a:off x="5812560" y="298692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Retângulo 30"/>
          <p:cNvSpPr/>
          <p:nvPr/>
        </p:nvSpPr>
        <p:spPr>
          <a:xfrm>
            <a:off x="0" y="478620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ff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a6a6a6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Elipse 37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solidFill>
            <a:schemeClr val="bg1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Conector reto 38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CaixaDeTexto 40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CaixaDeTexto 34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CaixaDeTexto 35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a6a6a6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24A0827-1958-42F1-8429-AF01F239299F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Conector de seta reta 10"/>
          <p:cNvSpPr/>
          <p:nvPr/>
        </p:nvSpPr>
        <p:spPr>
          <a:xfrm>
            <a:off x="514116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CaixaDeTexto 15"/>
          <p:cNvSpPr/>
          <p:nvPr/>
        </p:nvSpPr>
        <p:spPr>
          <a:xfrm>
            <a:off x="394488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Retângulo 8"/>
          <p:cNvSpPr/>
          <p:nvPr/>
        </p:nvSpPr>
        <p:spPr>
          <a:xfrm>
            <a:off x="0" y="4786200"/>
            <a:ext cx="68436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CaixaDeTexto 9"/>
          <p:cNvSpPr/>
          <p:nvPr/>
        </p:nvSpPr>
        <p:spPr>
          <a:xfrm>
            <a:off x="7966080" y="2345040"/>
            <a:ext cx="3597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 se o elemento a ser removido não for o último elemento da lista?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CaixaDeTexto 29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CaixaDeTexto 30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AFE6E0-88F4-4EA0-810A-ADDC79C7F98A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Retângulo 29"/>
          <p:cNvSpPr/>
          <p:nvPr/>
        </p:nvSpPr>
        <p:spPr>
          <a:xfrm>
            <a:off x="0" y="503820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Conector de Seta Reta 9"/>
          <p:cNvSpPr/>
          <p:nvPr/>
        </p:nvSpPr>
        <p:spPr>
          <a:xfrm flipH="1">
            <a:off x="6558480" y="5477760"/>
            <a:ext cx="1116000" cy="360"/>
          </a:xfrm>
          <a:custGeom>
            <a:avLst/>
            <a:gdLst>
              <a:gd name="textAreaLeft" fmla="*/ 360 w 1116000"/>
              <a:gd name="textAreaRight" fmla="*/ 1116720 w 111600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CaixaDeTexto 10"/>
          <p:cNvSpPr/>
          <p:nvPr/>
        </p:nvSpPr>
        <p:spPr>
          <a:xfrm>
            <a:off x="8071200" y="5204880"/>
            <a:ext cx="38152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Observe que o objeto “primeiro” não armazena o primeiro elemento da lista, e sim é uma referência à célula </a:t>
            </a: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que referencia o primeiro elemento.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Conector de seta reta 10"/>
          <p:cNvSpPr/>
          <p:nvPr/>
        </p:nvSpPr>
        <p:spPr>
          <a:xfrm>
            <a:off x="514116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CaixaDeTexto 34"/>
          <p:cNvSpPr/>
          <p:nvPr/>
        </p:nvSpPr>
        <p:spPr>
          <a:xfrm>
            <a:off x="394488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CaixaDeTexto 31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CaixaDeTexto 32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829589E-085B-46C9-AE05-4DD2AF2261F0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Retângulo 29"/>
          <p:cNvSpPr/>
          <p:nvPr/>
        </p:nvSpPr>
        <p:spPr>
          <a:xfrm>
            <a:off x="-3960" y="506628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Conector de seta reta 10"/>
          <p:cNvSpPr/>
          <p:nvPr/>
        </p:nvSpPr>
        <p:spPr>
          <a:xfrm>
            <a:off x="514116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CaixaDeTexto 34"/>
          <p:cNvSpPr/>
          <p:nvPr/>
        </p:nvSpPr>
        <p:spPr>
          <a:xfrm>
            <a:off x="394488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CaixaDeTexto 32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CaixaDeTexto 33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1FDADA4-7CEF-4681-8E35-66BC3393E011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Conector de seta reta 10"/>
          <p:cNvSpPr/>
          <p:nvPr/>
        </p:nvSpPr>
        <p:spPr>
          <a:xfrm>
            <a:off x="514116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CaixaDeTexto 34"/>
          <p:cNvSpPr/>
          <p:nvPr/>
        </p:nvSpPr>
        <p:spPr>
          <a:xfrm>
            <a:off x="394488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Retângulo 32"/>
          <p:cNvSpPr/>
          <p:nvPr/>
        </p:nvSpPr>
        <p:spPr>
          <a:xfrm>
            <a:off x="0" y="511020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Celula *q = aux-&gt;prox;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CaixaDeTexto 35"/>
          <p:cNvSpPr/>
          <p:nvPr/>
        </p:nvSpPr>
        <p:spPr>
          <a:xfrm>
            <a:off x="4991040" y="454536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CaixaDeTexto 29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CaixaDeTexto 33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9EF35FC-2CF5-4094-A9B0-236AC9E022FF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Conector em curva 18"/>
          <p:cNvSpPr/>
          <p:nvPr/>
        </p:nvSpPr>
        <p:spPr>
          <a:xfrm flipV="1">
            <a:off x="3863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Conector de seta reta 10"/>
          <p:cNvSpPr/>
          <p:nvPr/>
        </p:nvSpPr>
        <p:spPr>
          <a:xfrm>
            <a:off x="514116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CaixaDeTexto 34"/>
          <p:cNvSpPr/>
          <p:nvPr/>
        </p:nvSpPr>
        <p:spPr>
          <a:xfrm>
            <a:off x="3944880" y="2421000"/>
            <a:ext cx="250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Retângulo 29"/>
          <p:cNvSpPr/>
          <p:nvPr/>
        </p:nvSpPr>
        <p:spPr>
          <a:xfrm>
            <a:off x="0" y="509256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</a:t>
            </a: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Conector de seta reta 9"/>
          <p:cNvSpPr/>
          <p:nvPr/>
        </p:nvSpPr>
        <p:spPr>
          <a:xfrm>
            <a:off x="6717240" y="6174720"/>
            <a:ext cx="1079280" cy="360"/>
          </a:xfrm>
          <a:custGeom>
            <a:avLst/>
            <a:gdLst>
              <a:gd name="textAreaLeft" fmla="*/ 0 w 1079280"/>
              <a:gd name="textAreaRight" fmla="*/ 1079640 w 107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CaixaDeTexto 36"/>
          <p:cNvSpPr/>
          <p:nvPr/>
        </p:nvSpPr>
        <p:spPr>
          <a:xfrm>
            <a:off x="7941240" y="5704200"/>
            <a:ext cx="1841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Recupera o objeto 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CaixaDeTexto 37"/>
          <p:cNvSpPr/>
          <p:nvPr/>
        </p:nvSpPr>
        <p:spPr>
          <a:xfrm>
            <a:off x="4991040" y="454536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CaixaDeTexto 32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ff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CaixaDeTexto 33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75C294F-A68A-4E36-9566-2C26052053E8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Elipse 3"/>
          <p:cNvSpPr/>
          <p:nvPr/>
        </p:nvSpPr>
        <p:spPr>
          <a:xfrm>
            <a:off x="2855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Conector reto 4"/>
          <p:cNvSpPr/>
          <p:nvPr/>
        </p:nvSpPr>
        <p:spPr>
          <a:xfrm>
            <a:off x="2855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CaixaDeTexto 5"/>
          <p:cNvSpPr/>
          <p:nvPr/>
        </p:nvSpPr>
        <p:spPr>
          <a:xfrm>
            <a:off x="3075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CaixaDeTexto 6"/>
          <p:cNvSpPr/>
          <p:nvPr/>
        </p:nvSpPr>
        <p:spPr>
          <a:xfrm>
            <a:off x="30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CaixaDeTexto 22"/>
          <p:cNvSpPr/>
          <p:nvPr/>
        </p:nvSpPr>
        <p:spPr>
          <a:xfrm>
            <a:off x="3004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Elipse 11"/>
          <p:cNvSpPr/>
          <p:nvPr/>
        </p:nvSpPr>
        <p:spPr>
          <a:xfrm>
            <a:off x="4655880" y="3357000"/>
            <a:ext cx="1007280" cy="1007280"/>
          </a:xfrm>
          <a:prstGeom prst="ellipse">
            <a:avLst/>
          </a:prstGeom>
          <a:noFill/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Conector reto 12"/>
          <p:cNvSpPr/>
          <p:nvPr/>
        </p:nvSpPr>
        <p:spPr>
          <a:xfrm>
            <a:off x="4655520" y="3861000"/>
            <a:ext cx="1008360" cy="360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CaixaDeTexto 14"/>
          <p:cNvSpPr/>
          <p:nvPr/>
        </p:nvSpPr>
        <p:spPr>
          <a:xfrm>
            <a:off x="4854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Conector de seta reta 20"/>
          <p:cNvSpPr/>
          <p:nvPr/>
        </p:nvSpPr>
        <p:spPr>
          <a:xfrm>
            <a:off x="7365240" y="4076280"/>
            <a:ext cx="1151280" cy="360"/>
          </a:xfrm>
          <a:custGeom>
            <a:avLst/>
            <a:gdLst>
              <a:gd name="textAreaLeft" fmla="*/ 0 w 1151280"/>
              <a:gd name="textAreaRight" fmla="*/ 1151640 w 1151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CaixaDeTexto 21"/>
          <p:cNvSpPr/>
          <p:nvPr/>
        </p:nvSpPr>
        <p:spPr>
          <a:xfrm>
            <a:off x="86641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Elipse 23"/>
          <p:cNvSpPr/>
          <p:nvPr/>
        </p:nvSpPr>
        <p:spPr>
          <a:xfrm>
            <a:off x="6501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Conector reto 24"/>
          <p:cNvSpPr/>
          <p:nvPr/>
        </p:nvSpPr>
        <p:spPr>
          <a:xfrm>
            <a:off x="6500880" y="385992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CaixaDeTexto 26"/>
          <p:cNvSpPr/>
          <p:nvPr/>
        </p:nvSpPr>
        <p:spPr>
          <a:xfrm>
            <a:off x="669996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CaixaDeTexto 27"/>
          <p:cNvSpPr/>
          <p:nvPr/>
        </p:nvSpPr>
        <p:spPr>
          <a:xfrm>
            <a:off x="6503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Conector em curva 28"/>
          <p:cNvSpPr/>
          <p:nvPr/>
        </p:nvSpPr>
        <p:spPr>
          <a:xfrm flipV="1">
            <a:off x="5709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a6a6a6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CaixaDeTexto 30"/>
          <p:cNvSpPr/>
          <p:nvPr/>
        </p:nvSpPr>
        <p:spPr>
          <a:xfrm>
            <a:off x="3074760" y="4644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Conector de seta reta 10"/>
          <p:cNvSpPr/>
          <p:nvPr/>
        </p:nvSpPr>
        <p:spPr>
          <a:xfrm>
            <a:off x="5141160" y="2853000"/>
            <a:ext cx="360" cy="431280"/>
          </a:xfrm>
          <a:custGeom>
            <a:avLst/>
            <a:gdLst>
              <a:gd name="textAreaLeft" fmla="*/ 0 w 360"/>
              <a:gd name="textAreaRight" fmla="*/ 720 w 360"/>
              <a:gd name="textAreaTop" fmla="*/ 0 h 431280"/>
              <a:gd name="textAreaBottom" fmla="*/ 431640 h 43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CaixaDeTexto 34"/>
          <p:cNvSpPr/>
          <p:nvPr/>
        </p:nvSpPr>
        <p:spPr>
          <a:xfrm>
            <a:off x="3948120" y="2421000"/>
            <a:ext cx="2901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Lixo de memória (inacessível)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CaixaDeTexto 33"/>
          <p:cNvSpPr/>
          <p:nvPr/>
        </p:nvSpPr>
        <p:spPr>
          <a:xfrm>
            <a:off x="4991040" y="454536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Retângulo 32"/>
          <p:cNvSpPr/>
          <p:nvPr/>
        </p:nvSpPr>
        <p:spPr>
          <a:xfrm>
            <a:off x="0" y="5040000"/>
            <a:ext cx="6843600" cy="17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void* retira(Lista *lista, void *chave) {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*aux = lista-&gt;primeiro;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 &amp;&amp; aux-&gt;prox-&gt;item != chave)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return NULL;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Celula *q = aux-&gt;prox; void *item = q-&gt;item;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DejaVu Sans"/>
              </a:rPr>
              <a:t>aux-&gt;prox = q-&gt;prox;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 == NULL) lista-&gt;ultimo = aux;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free(q);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item;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CaixaDeTexto 37"/>
          <p:cNvSpPr/>
          <p:nvPr/>
        </p:nvSpPr>
        <p:spPr>
          <a:xfrm>
            <a:off x="8100000" y="5400000"/>
            <a:ext cx="3938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Faça aux.prox referenciar o próximo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 da lista. Neste caso, o último elemento.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Conector de seta reta 9"/>
          <p:cNvSpPr/>
          <p:nvPr/>
        </p:nvSpPr>
        <p:spPr>
          <a:xfrm>
            <a:off x="6717240" y="6174720"/>
            <a:ext cx="1079280" cy="360"/>
          </a:xfrm>
          <a:custGeom>
            <a:avLst/>
            <a:gdLst>
              <a:gd name="textAreaLeft" fmla="*/ 0 w 1079280"/>
              <a:gd name="textAreaRight" fmla="*/ 1079640 w 107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Conector: Angulado 16"/>
          <p:cNvSpPr/>
          <p:nvPr/>
        </p:nvSpPr>
        <p:spPr>
          <a:xfrm flipH="1" flipV="1" rot="5400000">
            <a:off x="5181840" y="2749320"/>
            <a:ext cx="360" cy="2931840"/>
          </a:xfrm>
          <a:prstGeom prst="bentConnector3">
            <a:avLst>
              <a:gd name="adj1" fmla="val -42802617"/>
            </a:avLst>
          </a:prstGeom>
          <a:noFill/>
          <a:ln>
            <a:solidFill>
              <a:srgbClr val="00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CaixaDeTexto 29"/>
          <p:cNvSpPr/>
          <p:nvPr/>
        </p:nvSpPr>
        <p:spPr>
          <a:xfrm>
            <a:off x="499716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a6a6a6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CaixaDeTexto 35"/>
          <p:cNvSpPr/>
          <p:nvPr/>
        </p:nvSpPr>
        <p:spPr>
          <a:xfrm>
            <a:off x="6840000" y="347004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29D3D21-BD84-4311-B742-9D5C135D4909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Pesquisa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Elipse 3"/>
          <p:cNvSpPr/>
          <p:nvPr/>
        </p:nvSpPr>
        <p:spPr>
          <a:xfrm>
            <a:off x="2423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Conector reto 4"/>
          <p:cNvSpPr/>
          <p:nvPr/>
        </p:nvSpPr>
        <p:spPr>
          <a:xfrm>
            <a:off x="2423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CaixaDeTexto 5"/>
          <p:cNvSpPr/>
          <p:nvPr/>
        </p:nvSpPr>
        <p:spPr>
          <a:xfrm>
            <a:off x="2643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CaixaDeTexto 6"/>
          <p:cNvSpPr/>
          <p:nvPr/>
        </p:nvSpPr>
        <p:spPr>
          <a:xfrm>
            <a:off x="26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CaixaDeTexto 22"/>
          <p:cNvSpPr/>
          <p:nvPr/>
        </p:nvSpPr>
        <p:spPr>
          <a:xfrm>
            <a:off x="2572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Elipse 11"/>
          <p:cNvSpPr/>
          <p:nvPr/>
        </p:nvSpPr>
        <p:spPr>
          <a:xfrm>
            <a:off x="60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Conector reto 12"/>
          <p:cNvSpPr/>
          <p:nvPr/>
        </p:nvSpPr>
        <p:spPr>
          <a:xfrm>
            <a:off x="602388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CaixaDeTexto 13"/>
          <p:cNvSpPr/>
          <p:nvPr/>
        </p:nvSpPr>
        <p:spPr>
          <a:xfrm>
            <a:off x="637200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CaixaDeTexto 14"/>
          <p:cNvSpPr/>
          <p:nvPr/>
        </p:nvSpPr>
        <p:spPr>
          <a:xfrm>
            <a:off x="622296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Conector em curva 18"/>
          <p:cNvSpPr/>
          <p:nvPr/>
        </p:nvSpPr>
        <p:spPr>
          <a:xfrm flipV="1">
            <a:off x="52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Conector de seta reta 20"/>
          <p:cNvSpPr/>
          <p:nvPr/>
        </p:nvSpPr>
        <p:spPr>
          <a:xfrm>
            <a:off x="8733600" y="4076280"/>
            <a:ext cx="602280" cy="360"/>
          </a:xfrm>
          <a:custGeom>
            <a:avLst/>
            <a:gdLst>
              <a:gd name="textAreaLeft" fmla="*/ 0 w 602280"/>
              <a:gd name="textAreaRight" fmla="*/ 602640 w 602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CaixaDeTexto 21"/>
          <p:cNvSpPr/>
          <p:nvPr/>
        </p:nvSpPr>
        <p:spPr>
          <a:xfrm>
            <a:off x="94129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Elipse 23"/>
          <p:cNvSpPr/>
          <p:nvPr/>
        </p:nvSpPr>
        <p:spPr>
          <a:xfrm>
            <a:off x="7869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Conector reto 24"/>
          <p:cNvSpPr/>
          <p:nvPr/>
        </p:nvSpPr>
        <p:spPr>
          <a:xfrm>
            <a:off x="7869240" y="385992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CaixaDeTexto 25"/>
          <p:cNvSpPr/>
          <p:nvPr/>
        </p:nvSpPr>
        <p:spPr>
          <a:xfrm>
            <a:off x="8244360" y="35002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CaixaDeTexto 26"/>
          <p:cNvSpPr/>
          <p:nvPr/>
        </p:nvSpPr>
        <p:spPr>
          <a:xfrm>
            <a:off x="806832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CaixaDeTexto 27"/>
          <p:cNvSpPr/>
          <p:nvPr/>
        </p:nvSpPr>
        <p:spPr>
          <a:xfrm>
            <a:off x="7871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Conector em curva 28"/>
          <p:cNvSpPr/>
          <p:nvPr/>
        </p:nvSpPr>
        <p:spPr>
          <a:xfrm flipV="1">
            <a:off x="7077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Elipse 30"/>
          <p:cNvSpPr/>
          <p:nvPr/>
        </p:nvSpPr>
        <p:spPr>
          <a:xfrm>
            <a:off x="42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Conector reto 31"/>
          <p:cNvSpPr/>
          <p:nvPr/>
        </p:nvSpPr>
        <p:spPr>
          <a:xfrm>
            <a:off x="4223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CaixaDeTexto 32"/>
          <p:cNvSpPr/>
          <p:nvPr/>
        </p:nvSpPr>
        <p:spPr>
          <a:xfrm>
            <a:off x="458568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CaixaDeTexto 33"/>
          <p:cNvSpPr/>
          <p:nvPr/>
        </p:nvSpPr>
        <p:spPr>
          <a:xfrm>
            <a:off x="44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Conector em curva 34"/>
          <p:cNvSpPr/>
          <p:nvPr/>
        </p:nvSpPr>
        <p:spPr>
          <a:xfrm flipV="1">
            <a:off x="34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CaixaDeTexto 7"/>
          <p:cNvSpPr/>
          <p:nvPr/>
        </p:nvSpPr>
        <p:spPr>
          <a:xfrm>
            <a:off x="2288520" y="2637000"/>
            <a:ext cx="131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pesquisa(2);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Retângulo 29"/>
          <p:cNvSpPr/>
          <p:nvPr/>
        </p:nvSpPr>
        <p:spPr>
          <a:xfrm>
            <a:off x="180000" y="4860000"/>
            <a:ext cx="6571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void* pesquisa(Lista* lista, void* chave)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Celula* aux = lista-&gt;primeiro;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(aux-&gt;prox-&gt;item == chave)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aux-&gt;prox-&gt;item;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NULL;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08DBBFB-2455-45CA-BA2E-0661D2CC4DE6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Pesquisa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Elipse 3"/>
          <p:cNvSpPr/>
          <p:nvPr/>
        </p:nvSpPr>
        <p:spPr>
          <a:xfrm>
            <a:off x="2423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Conector reto 4"/>
          <p:cNvSpPr/>
          <p:nvPr/>
        </p:nvSpPr>
        <p:spPr>
          <a:xfrm>
            <a:off x="2423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CaixaDeTexto 5"/>
          <p:cNvSpPr/>
          <p:nvPr/>
        </p:nvSpPr>
        <p:spPr>
          <a:xfrm>
            <a:off x="2643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CaixaDeTexto 6"/>
          <p:cNvSpPr/>
          <p:nvPr/>
        </p:nvSpPr>
        <p:spPr>
          <a:xfrm>
            <a:off x="26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CaixaDeTexto 22"/>
          <p:cNvSpPr/>
          <p:nvPr/>
        </p:nvSpPr>
        <p:spPr>
          <a:xfrm>
            <a:off x="2572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Elipse 11"/>
          <p:cNvSpPr/>
          <p:nvPr/>
        </p:nvSpPr>
        <p:spPr>
          <a:xfrm>
            <a:off x="60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Conector reto 12"/>
          <p:cNvSpPr/>
          <p:nvPr/>
        </p:nvSpPr>
        <p:spPr>
          <a:xfrm>
            <a:off x="602388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CaixaDeTexto 13"/>
          <p:cNvSpPr/>
          <p:nvPr/>
        </p:nvSpPr>
        <p:spPr>
          <a:xfrm>
            <a:off x="637200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CaixaDeTexto 14"/>
          <p:cNvSpPr/>
          <p:nvPr/>
        </p:nvSpPr>
        <p:spPr>
          <a:xfrm>
            <a:off x="622296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Conector em curva 18"/>
          <p:cNvSpPr/>
          <p:nvPr/>
        </p:nvSpPr>
        <p:spPr>
          <a:xfrm flipV="1">
            <a:off x="52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Conector de seta reta 20"/>
          <p:cNvSpPr/>
          <p:nvPr/>
        </p:nvSpPr>
        <p:spPr>
          <a:xfrm>
            <a:off x="8733600" y="4076280"/>
            <a:ext cx="602280" cy="360"/>
          </a:xfrm>
          <a:custGeom>
            <a:avLst/>
            <a:gdLst>
              <a:gd name="textAreaLeft" fmla="*/ 0 w 602280"/>
              <a:gd name="textAreaRight" fmla="*/ 602640 w 602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CaixaDeTexto 21"/>
          <p:cNvSpPr/>
          <p:nvPr/>
        </p:nvSpPr>
        <p:spPr>
          <a:xfrm>
            <a:off x="94129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Elipse 23"/>
          <p:cNvSpPr/>
          <p:nvPr/>
        </p:nvSpPr>
        <p:spPr>
          <a:xfrm>
            <a:off x="7869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Conector reto 24"/>
          <p:cNvSpPr/>
          <p:nvPr/>
        </p:nvSpPr>
        <p:spPr>
          <a:xfrm>
            <a:off x="7869240" y="385992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CaixaDeTexto 25"/>
          <p:cNvSpPr/>
          <p:nvPr/>
        </p:nvSpPr>
        <p:spPr>
          <a:xfrm>
            <a:off x="8244360" y="35002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CaixaDeTexto 26"/>
          <p:cNvSpPr/>
          <p:nvPr/>
        </p:nvSpPr>
        <p:spPr>
          <a:xfrm>
            <a:off x="806832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CaixaDeTexto 27"/>
          <p:cNvSpPr/>
          <p:nvPr/>
        </p:nvSpPr>
        <p:spPr>
          <a:xfrm>
            <a:off x="7871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Conector em curva 28"/>
          <p:cNvSpPr/>
          <p:nvPr/>
        </p:nvSpPr>
        <p:spPr>
          <a:xfrm flipV="1">
            <a:off x="7077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Elipse 30"/>
          <p:cNvSpPr/>
          <p:nvPr/>
        </p:nvSpPr>
        <p:spPr>
          <a:xfrm>
            <a:off x="4223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Conector reto 31"/>
          <p:cNvSpPr/>
          <p:nvPr/>
        </p:nvSpPr>
        <p:spPr>
          <a:xfrm>
            <a:off x="4223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CaixaDeTexto 32"/>
          <p:cNvSpPr/>
          <p:nvPr/>
        </p:nvSpPr>
        <p:spPr>
          <a:xfrm>
            <a:off x="458568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CaixaDeTexto 33"/>
          <p:cNvSpPr/>
          <p:nvPr/>
        </p:nvSpPr>
        <p:spPr>
          <a:xfrm>
            <a:off x="44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Conector em curva 34"/>
          <p:cNvSpPr/>
          <p:nvPr/>
        </p:nvSpPr>
        <p:spPr>
          <a:xfrm flipV="1">
            <a:off x="34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CaixaDeTexto 7"/>
          <p:cNvSpPr/>
          <p:nvPr/>
        </p:nvSpPr>
        <p:spPr>
          <a:xfrm>
            <a:off x="2288520" y="2637000"/>
            <a:ext cx="131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pesquisa(2);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CaixaDeTexto 29"/>
          <p:cNvSpPr/>
          <p:nvPr/>
        </p:nvSpPr>
        <p:spPr>
          <a:xfrm>
            <a:off x="2622240" y="4572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Retângulo 35"/>
          <p:cNvSpPr/>
          <p:nvPr/>
        </p:nvSpPr>
        <p:spPr>
          <a:xfrm>
            <a:off x="99360" y="4883040"/>
            <a:ext cx="6571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void* pesquisa(Lista* lista, void* chave)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Celula* aux = lista-&gt;primeiro;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while (aux-&gt;prox != NULL)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(aux-&gt;prox-&gt;item == chave)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aux-&gt;prox-&gt;item;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NULL;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AE65360-F4DD-4CA4-8D16-768939FA6D21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Pesquisa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Elipse 3"/>
          <p:cNvSpPr/>
          <p:nvPr/>
        </p:nvSpPr>
        <p:spPr>
          <a:xfrm>
            <a:off x="2423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Conector reto 4"/>
          <p:cNvSpPr/>
          <p:nvPr/>
        </p:nvSpPr>
        <p:spPr>
          <a:xfrm>
            <a:off x="2423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CaixaDeTexto 5"/>
          <p:cNvSpPr/>
          <p:nvPr/>
        </p:nvSpPr>
        <p:spPr>
          <a:xfrm>
            <a:off x="2643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CaixaDeTexto 6"/>
          <p:cNvSpPr/>
          <p:nvPr/>
        </p:nvSpPr>
        <p:spPr>
          <a:xfrm>
            <a:off x="2622960" y="3861000"/>
            <a:ext cx="64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</a:t>
            </a: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CaixaDeTexto 22"/>
          <p:cNvSpPr/>
          <p:nvPr/>
        </p:nvSpPr>
        <p:spPr>
          <a:xfrm>
            <a:off x="2572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Elipse 11"/>
          <p:cNvSpPr/>
          <p:nvPr/>
        </p:nvSpPr>
        <p:spPr>
          <a:xfrm>
            <a:off x="60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Conector reto 12"/>
          <p:cNvSpPr/>
          <p:nvPr/>
        </p:nvSpPr>
        <p:spPr>
          <a:xfrm>
            <a:off x="602388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CaixaDeTexto 13"/>
          <p:cNvSpPr/>
          <p:nvPr/>
        </p:nvSpPr>
        <p:spPr>
          <a:xfrm>
            <a:off x="637200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CaixaDeTexto 14"/>
          <p:cNvSpPr/>
          <p:nvPr/>
        </p:nvSpPr>
        <p:spPr>
          <a:xfrm>
            <a:off x="622296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Conector em curva 18"/>
          <p:cNvSpPr/>
          <p:nvPr/>
        </p:nvSpPr>
        <p:spPr>
          <a:xfrm flipV="1">
            <a:off x="52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Conector de seta reta 20"/>
          <p:cNvSpPr/>
          <p:nvPr/>
        </p:nvSpPr>
        <p:spPr>
          <a:xfrm>
            <a:off x="8733600" y="4076280"/>
            <a:ext cx="602280" cy="360"/>
          </a:xfrm>
          <a:custGeom>
            <a:avLst/>
            <a:gdLst>
              <a:gd name="textAreaLeft" fmla="*/ 0 w 602280"/>
              <a:gd name="textAreaRight" fmla="*/ 602640 w 602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CaixaDeTexto 21"/>
          <p:cNvSpPr/>
          <p:nvPr/>
        </p:nvSpPr>
        <p:spPr>
          <a:xfrm>
            <a:off x="94129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Elipse 23"/>
          <p:cNvSpPr/>
          <p:nvPr/>
        </p:nvSpPr>
        <p:spPr>
          <a:xfrm>
            <a:off x="7869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Conector reto 24"/>
          <p:cNvSpPr/>
          <p:nvPr/>
        </p:nvSpPr>
        <p:spPr>
          <a:xfrm>
            <a:off x="7869240" y="385992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CaixaDeTexto 25"/>
          <p:cNvSpPr/>
          <p:nvPr/>
        </p:nvSpPr>
        <p:spPr>
          <a:xfrm>
            <a:off x="8244360" y="35002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CaixaDeTexto 26"/>
          <p:cNvSpPr/>
          <p:nvPr/>
        </p:nvSpPr>
        <p:spPr>
          <a:xfrm>
            <a:off x="806832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CaixaDeTexto 27"/>
          <p:cNvSpPr/>
          <p:nvPr/>
        </p:nvSpPr>
        <p:spPr>
          <a:xfrm>
            <a:off x="7871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Conector em curva 28"/>
          <p:cNvSpPr/>
          <p:nvPr/>
        </p:nvSpPr>
        <p:spPr>
          <a:xfrm flipV="1">
            <a:off x="7077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Elipse 30"/>
          <p:cNvSpPr/>
          <p:nvPr/>
        </p:nvSpPr>
        <p:spPr>
          <a:xfrm>
            <a:off x="4223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Conector reto 31"/>
          <p:cNvSpPr/>
          <p:nvPr/>
        </p:nvSpPr>
        <p:spPr>
          <a:xfrm>
            <a:off x="4223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CaixaDeTexto 32"/>
          <p:cNvSpPr/>
          <p:nvPr/>
        </p:nvSpPr>
        <p:spPr>
          <a:xfrm>
            <a:off x="458568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CaixaDeTexto 33"/>
          <p:cNvSpPr/>
          <p:nvPr/>
        </p:nvSpPr>
        <p:spPr>
          <a:xfrm>
            <a:off x="44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Conector em curva 34"/>
          <p:cNvSpPr/>
          <p:nvPr/>
        </p:nvSpPr>
        <p:spPr>
          <a:xfrm flipV="1">
            <a:off x="34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CaixaDeTexto 7"/>
          <p:cNvSpPr/>
          <p:nvPr/>
        </p:nvSpPr>
        <p:spPr>
          <a:xfrm>
            <a:off x="2288520" y="2637000"/>
            <a:ext cx="131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pesquisa(2);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CaixaDeTexto 29"/>
          <p:cNvSpPr/>
          <p:nvPr/>
        </p:nvSpPr>
        <p:spPr>
          <a:xfrm>
            <a:off x="2622240" y="4572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Retângulo 35"/>
          <p:cNvSpPr/>
          <p:nvPr/>
        </p:nvSpPr>
        <p:spPr>
          <a:xfrm>
            <a:off x="99360" y="4847040"/>
            <a:ext cx="6571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void* pesquisa(Lista* lista, void* chave)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Celula* aux = lista-&gt;primeiro;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if (aux-&gt;prox-&gt;item == chave)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aux-&gt;prox-&gt;item;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NULL;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D7FDA07-2521-424F-A347-FECC8725E919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Pesquisa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Elipse 3"/>
          <p:cNvSpPr/>
          <p:nvPr/>
        </p:nvSpPr>
        <p:spPr>
          <a:xfrm>
            <a:off x="2423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Conector reto 4"/>
          <p:cNvSpPr/>
          <p:nvPr/>
        </p:nvSpPr>
        <p:spPr>
          <a:xfrm>
            <a:off x="2423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CaixaDeTexto 5"/>
          <p:cNvSpPr/>
          <p:nvPr/>
        </p:nvSpPr>
        <p:spPr>
          <a:xfrm>
            <a:off x="2643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CaixaDeTexto 6"/>
          <p:cNvSpPr/>
          <p:nvPr/>
        </p:nvSpPr>
        <p:spPr>
          <a:xfrm>
            <a:off x="26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CaixaDeTexto 22"/>
          <p:cNvSpPr/>
          <p:nvPr/>
        </p:nvSpPr>
        <p:spPr>
          <a:xfrm>
            <a:off x="2572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Elipse 11"/>
          <p:cNvSpPr/>
          <p:nvPr/>
        </p:nvSpPr>
        <p:spPr>
          <a:xfrm>
            <a:off x="6023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Conector reto 12"/>
          <p:cNvSpPr/>
          <p:nvPr/>
        </p:nvSpPr>
        <p:spPr>
          <a:xfrm>
            <a:off x="602388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CaixaDeTexto 13"/>
          <p:cNvSpPr/>
          <p:nvPr/>
        </p:nvSpPr>
        <p:spPr>
          <a:xfrm>
            <a:off x="637200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CaixaDeTexto 14"/>
          <p:cNvSpPr/>
          <p:nvPr/>
        </p:nvSpPr>
        <p:spPr>
          <a:xfrm>
            <a:off x="622296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Conector em curva 18"/>
          <p:cNvSpPr/>
          <p:nvPr/>
        </p:nvSpPr>
        <p:spPr>
          <a:xfrm flipV="1">
            <a:off x="52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Conector de seta reta 20"/>
          <p:cNvSpPr/>
          <p:nvPr/>
        </p:nvSpPr>
        <p:spPr>
          <a:xfrm>
            <a:off x="8733600" y="4076280"/>
            <a:ext cx="602280" cy="360"/>
          </a:xfrm>
          <a:custGeom>
            <a:avLst/>
            <a:gdLst>
              <a:gd name="textAreaLeft" fmla="*/ 0 w 602280"/>
              <a:gd name="textAreaRight" fmla="*/ 602640 w 602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CaixaDeTexto 21"/>
          <p:cNvSpPr/>
          <p:nvPr/>
        </p:nvSpPr>
        <p:spPr>
          <a:xfrm>
            <a:off x="94129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Elipse 23"/>
          <p:cNvSpPr/>
          <p:nvPr/>
        </p:nvSpPr>
        <p:spPr>
          <a:xfrm>
            <a:off x="7869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Conector reto 24"/>
          <p:cNvSpPr/>
          <p:nvPr/>
        </p:nvSpPr>
        <p:spPr>
          <a:xfrm>
            <a:off x="7869240" y="385992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CaixaDeTexto 25"/>
          <p:cNvSpPr/>
          <p:nvPr/>
        </p:nvSpPr>
        <p:spPr>
          <a:xfrm>
            <a:off x="8244360" y="35002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CaixaDeTexto 26"/>
          <p:cNvSpPr/>
          <p:nvPr/>
        </p:nvSpPr>
        <p:spPr>
          <a:xfrm>
            <a:off x="806832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CaixaDeTexto 27"/>
          <p:cNvSpPr/>
          <p:nvPr/>
        </p:nvSpPr>
        <p:spPr>
          <a:xfrm>
            <a:off x="7871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Conector em curva 28"/>
          <p:cNvSpPr/>
          <p:nvPr/>
        </p:nvSpPr>
        <p:spPr>
          <a:xfrm flipV="1">
            <a:off x="7077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Elipse 30"/>
          <p:cNvSpPr/>
          <p:nvPr/>
        </p:nvSpPr>
        <p:spPr>
          <a:xfrm>
            <a:off x="42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Conector reto 31"/>
          <p:cNvSpPr/>
          <p:nvPr/>
        </p:nvSpPr>
        <p:spPr>
          <a:xfrm>
            <a:off x="4223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CaixaDeTexto 32"/>
          <p:cNvSpPr/>
          <p:nvPr/>
        </p:nvSpPr>
        <p:spPr>
          <a:xfrm>
            <a:off x="458568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CaixaDeTexto 33"/>
          <p:cNvSpPr/>
          <p:nvPr/>
        </p:nvSpPr>
        <p:spPr>
          <a:xfrm>
            <a:off x="44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Conector em curva 34"/>
          <p:cNvSpPr/>
          <p:nvPr/>
        </p:nvSpPr>
        <p:spPr>
          <a:xfrm flipV="1">
            <a:off x="34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CaixaDeTexto 7"/>
          <p:cNvSpPr/>
          <p:nvPr/>
        </p:nvSpPr>
        <p:spPr>
          <a:xfrm>
            <a:off x="2288520" y="2637000"/>
            <a:ext cx="131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pesquisa(2);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CaixaDeTexto 29"/>
          <p:cNvSpPr/>
          <p:nvPr/>
        </p:nvSpPr>
        <p:spPr>
          <a:xfrm>
            <a:off x="4443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Retângulo 35"/>
          <p:cNvSpPr/>
          <p:nvPr/>
        </p:nvSpPr>
        <p:spPr>
          <a:xfrm>
            <a:off x="99360" y="4860000"/>
            <a:ext cx="6571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void* pesquisa(Lista* lista, void* chave)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Celula* aux = lista-&gt;primeiro;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(aux-&gt;prox-&gt;item == chave)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aux-&gt;prox-&gt;item;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aux = aux-&gt;prox;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NULL;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2E76F20-C7F8-460E-A159-E1C090D70760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Pesquisa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Elipse 3"/>
          <p:cNvSpPr/>
          <p:nvPr/>
        </p:nvSpPr>
        <p:spPr>
          <a:xfrm>
            <a:off x="2423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Conector reto 4"/>
          <p:cNvSpPr/>
          <p:nvPr/>
        </p:nvSpPr>
        <p:spPr>
          <a:xfrm>
            <a:off x="2423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CaixaDeTexto 5"/>
          <p:cNvSpPr/>
          <p:nvPr/>
        </p:nvSpPr>
        <p:spPr>
          <a:xfrm>
            <a:off x="2643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CaixaDeTexto 6"/>
          <p:cNvSpPr/>
          <p:nvPr/>
        </p:nvSpPr>
        <p:spPr>
          <a:xfrm>
            <a:off x="26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CaixaDeTexto 22"/>
          <p:cNvSpPr/>
          <p:nvPr/>
        </p:nvSpPr>
        <p:spPr>
          <a:xfrm>
            <a:off x="2572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Elipse 11"/>
          <p:cNvSpPr/>
          <p:nvPr/>
        </p:nvSpPr>
        <p:spPr>
          <a:xfrm>
            <a:off x="6023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Conector reto 12"/>
          <p:cNvSpPr/>
          <p:nvPr/>
        </p:nvSpPr>
        <p:spPr>
          <a:xfrm>
            <a:off x="602388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CaixaDeTexto 13"/>
          <p:cNvSpPr/>
          <p:nvPr/>
        </p:nvSpPr>
        <p:spPr>
          <a:xfrm>
            <a:off x="637200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CaixaDeTexto 14"/>
          <p:cNvSpPr/>
          <p:nvPr/>
        </p:nvSpPr>
        <p:spPr>
          <a:xfrm>
            <a:off x="622296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Conector em curva 18"/>
          <p:cNvSpPr/>
          <p:nvPr/>
        </p:nvSpPr>
        <p:spPr>
          <a:xfrm flipV="1">
            <a:off x="52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Conector de seta reta 20"/>
          <p:cNvSpPr/>
          <p:nvPr/>
        </p:nvSpPr>
        <p:spPr>
          <a:xfrm>
            <a:off x="8733600" y="4076280"/>
            <a:ext cx="602280" cy="360"/>
          </a:xfrm>
          <a:custGeom>
            <a:avLst/>
            <a:gdLst>
              <a:gd name="textAreaLeft" fmla="*/ 0 w 602280"/>
              <a:gd name="textAreaRight" fmla="*/ 602640 w 602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CaixaDeTexto 21"/>
          <p:cNvSpPr/>
          <p:nvPr/>
        </p:nvSpPr>
        <p:spPr>
          <a:xfrm>
            <a:off x="94129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Elipse 23"/>
          <p:cNvSpPr/>
          <p:nvPr/>
        </p:nvSpPr>
        <p:spPr>
          <a:xfrm>
            <a:off x="7869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Conector reto 24"/>
          <p:cNvSpPr/>
          <p:nvPr/>
        </p:nvSpPr>
        <p:spPr>
          <a:xfrm>
            <a:off x="7869240" y="385992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CaixaDeTexto 25"/>
          <p:cNvSpPr/>
          <p:nvPr/>
        </p:nvSpPr>
        <p:spPr>
          <a:xfrm>
            <a:off x="8244360" y="35002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CaixaDeTexto 26"/>
          <p:cNvSpPr/>
          <p:nvPr/>
        </p:nvSpPr>
        <p:spPr>
          <a:xfrm>
            <a:off x="806832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CaixaDeTexto 27"/>
          <p:cNvSpPr/>
          <p:nvPr/>
        </p:nvSpPr>
        <p:spPr>
          <a:xfrm>
            <a:off x="7871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Conector em curva 28"/>
          <p:cNvSpPr/>
          <p:nvPr/>
        </p:nvSpPr>
        <p:spPr>
          <a:xfrm flipV="1">
            <a:off x="7077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Elipse 30"/>
          <p:cNvSpPr/>
          <p:nvPr/>
        </p:nvSpPr>
        <p:spPr>
          <a:xfrm>
            <a:off x="42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Conector reto 31"/>
          <p:cNvSpPr/>
          <p:nvPr/>
        </p:nvSpPr>
        <p:spPr>
          <a:xfrm>
            <a:off x="4223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CaixaDeTexto 32"/>
          <p:cNvSpPr/>
          <p:nvPr/>
        </p:nvSpPr>
        <p:spPr>
          <a:xfrm>
            <a:off x="458568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CaixaDeTexto 33"/>
          <p:cNvSpPr/>
          <p:nvPr/>
        </p:nvSpPr>
        <p:spPr>
          <a:xfrm>
            <a:off x="4422960" y="3861000"/>
            <a:ext cx="64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</a:t>
            </a: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Conector em curva 34"/>
          <p:cNvSpPr/>
          <p:nvPr/>
        </p:nvSpPr>
        <p:spPr>
          <a:xfrm flipV="1">
            <a:off x="34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CaixaDeTexto 7"/>
          <p:cNvSpPr/>
          <p:nvPr/>
        </p:nvSpPr>
        <p:spPr>
          <a:xfrm>
            <a:off x="2288520" y="2637000"/>
            <a:ext cx="131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pesquisa(2);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CaixaDeTexto 29"/>
          <p:cNvSpPr/>
          <p:nvPr/>
        </p:nvSpPr>
        <p:spPr>
          <a:xfrm>
            <a:off x="4443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Retângulo 35"/>
          <p:cNvSpPr/>
          <p:nvPr/>
        </p:nvSpPr>
        <p:spPr>
          <a:xfrm>
            <a:off x="99360" y="4876920"/>
            <a:ext cx="6571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void* pesquisa(Lista* lista, void* chave)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Celula* aux = lista-&gt;primeiro;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while (aux-&gt;prox != NULL)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if (aux-&gt;prox-&gt;item == chave)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aux-&gt;prox-&gt;item;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NULL;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A4BC297-D9D2-4F9B-8AA1-97EBFCF998BC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89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Pesquisa de um elemento na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Elipse 3"/>
          <p:cNvSpPr/>
          <p:nvPr/>
        </p:nvSpPr>
        <p:spPr>
          <a:xfrm>
            <a:off x="242352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Conector reto 4"/>
          <p:cNvSpPr/>
          <p:nvPr/>
        </p:nvSpPr>
        <p:spPr>
          <a:xfrm>
            <a:off x="242352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CaixaDeTexto 5"/>
          <p:cNvSpPr/>
          <p:nvPr/>
        </p:nvSpPr>
        <p:spPr>
          <a:xfrm>
            <a:off x="2643120" y="35010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CaixaDeTexto 6"/>
          <p:cNvSpPr/>
          <p:nvPr/>
        </p:nvSpPr>
        <p:spPr>
          <a:xfrm>
            <a:off x="262260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CaixaDeTexto 22"/>
          <p:cNvSpPr/>
          <p:nvPr/>
        </p:nvSpPr>
        <p:spPr>
          <a:xfrm>
            <a:off x="2572920" y="4365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Elipse 11"/>
          <p:cNvSpPr/>
          <p:nvPr/>
        </p:nvSpPr>
        <p:spPr>
          <a:xfrm>
            <a:off x="6023880" y="33570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Conector reto 12"/>
          <p:cNvSpPr/>
          <p:nvPr/>
        </p:nvSpPr>
        <p:spPr>
          <a:xfrm>
            <a:off x="6023880" y="386100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CaixaDeTexto 13"/>
          <p:cNvSpPr/>
          <p:nvPr/>
        </p:nvSpPr>
        <p:spPr>
          <a:xfrm>
            <a:off x="637200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CaixaDeTexto 14"/>
          <p:cNvSpPr/>
          <p:nvPr/>
        </p:nvSpPr>
        <p:spPr>
          <a:xfrm>
            <a:off x="6222960" y="38610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Conector em curva 18"/>
          <p:cNvSpPr/>
          <p:nvPr/>
        </p:nvSpPr>
        <p:spPr>
          <a:xfrm flipV="1">
            <a:off x="52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Conector de seta reta 20"/>
          <p:cNvSpPr/>
          <p:nvPr/>
        </p:nvSpPr>
        <p:spPr>
          <a:xfrm>
            <a:off x="8733600" y="4076280"/>
            <a:ext cx="602280" cy="360"/>
          </a:xfrm>
          <a:custGeom>
            <a:avLst/>
            <a:gdLst>
              <a:gd name="textAreaLeft" fmla="*/ 0 w 602280"/>
              <a:gd name="textAreaRight" fmla="*/ 602640 w 602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CaixaDeTexto 21"/>
          <p:cNvSpPr/>
          <p:nvPr/>
        </p:nvSpPr>
        <p:spPr>
          <a:xfrm>
            <a:off x="9412920" y="3897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Elipse 23"/>
          <p:cNvSpPr/>
          <p:nvPr/>
        </p:nvSpPr>
        <p:spPr>
          <a:xfrm>
            <a:off x="7869240" y="335628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Conector reto 24"/>
          <p:cNvSpPr/>
          <p:nvPr/>
        </p:nvSpPr>
        <p:spPr>
          <a:xfrm>
            <a:off x="7869240" y="385992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CaixaDeTexto 25"/>
          <p:cNvSpPr/>
          <p:nvPr/>
        </p:nvSpPr>
        <p:spPr>
          <a:xfrm>
            <a:off x="8244360" y="35002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CaixaDeTexto 26"/>
          <p:cNvSpPr/>
          <p:nvPr/>
        </p:nvSpPr>
        <p:spPr>
          <a:xfrm>
            <a:off x="8068320" y="386028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CaixaDeTexto 27"/>
          <p:cNvSpPr/>
          <p:nvPr/>
        </p:nvSpPr>
        <p:spPr>
          <a:xfrm>
            <a:off x="7871760" y="436608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Conector em curva 28"/>
          <p:cNvSpPr/>
          <p:nvPr/>
        </p:nvSpPr>
        <p:spPr>
          <a:xfrm flipV="1">
            <a:off x="7077240" y="37875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Elipse 30"/>
          <p:cNvSpPr/>
          <p:nvPr/>
        </p:nvSpPr>
        <p:spPr>
          <a:xfrm>
            <a:off x="4223880" y="33570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Conector reto 31"/>
          <p:cNvSpPr/>
          <p:nvPr/>
        </p:nvSpPr>
        <p:spPr>
          <a:xfrm>
            <a:off x="4223520" y="386100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CaixaDeTexto 32"/>
          <p:cNvSpPr/>
          <p:nvPr/>
        </p:nvSpPr>
        <p:spPr>
          <a:xfrm>
            <a:off x="4585680" y="35010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CaixaDeTexto 33"/>
          <p:cNvSpPr/>
          <p:nvPr/>
        </p:nvSpPr>
        <p:spPr>
          <a:xfrm>
            <a:off x="4422960" y="3861000"/>
            <a:ext cx="64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Prox</a:t>
            </a: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Conector em curva 34"/>
          <p:cNvSpPr/>
          <p:nvPr/>
        </p:nvSpPr>
        <p:spPr>
          <a:xfrm flipV="1">
            <a:off x="3431880" y="378828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CaixaDeTexto 7"/>
          <p:cNvSpPr/>
          <p:nvPr/>
        </p:nvSpPr>
        <p:spPr>
          <a:xfrm>
            <a:off x="2288520" y="2637000"/>
            <a:ext cx="131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pesquisa(</a:t>
            </a: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2</a:t>
            </a: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CaixaDeTexto 29"/>
          <p:cNvSpPr/>
          <p:nvPr/>
        </p:nvSpPr>
        <p:spPr>
          <a:xfrm>
            <a:off x="4443120" y="435564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Retângulo 35"/>
          <p:cNvSpPr/>
          <p:nvPr/>
        </p:nvSpPr>
        <p:spPr>
          <a:xfrm>
            <a:off x="99360" y="4876920"/>
            <a:ext cx="6571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void* pesquisa(Lista* lista, void* chave)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Celula* aux = lista-&gt;primeiro;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while (aux-&gt;prox != NULL) {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if (aux-&gt;prox-&gt;item == chave)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            </a:t>
            </a:r>
            <a:r>
              <a:rPr b="0" lang="pt-BR" sz="1400" spc="-1" strike="noStrike">
                <a:solidFill>
                  <a:srgbClr val="c9211e"/>
                </a:solidFill>
                <a:latin typeface="Consolas"/>
                <a:ea typeface="DejaVu Sans"/>
              </a:rPr>
              <a:t>return aux-&gt;prox-&gt;item;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aux = aux-&gt;prox;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return NULL;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2364AC4-98F6-46BA-BE18-AB61A8CFBDF9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 classe Lista contém: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uma referência para a célula </a:t>
            </a:r>
            <a:r>
              <a:rPr b="0" i="1" lang="pt-BR" sz="2400" spc="-1" strike="noStrike">
                <a:solidFill>
                  <a:srgbClr val="000000"/>
                </a:solidFill>
                <a:latin typeface="Calibri"/>
              </a:rPr>
              <a:t>head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uma referência para a última célula da lista; e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uma referência para armazenar a posição corrente na lista.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7C0EC8F-2842-4506-A7D4-B7AF347B2F21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title"/>
          </p:nvPr>
        </p:nvSpPr>
        <p:spPr>
          <a:xfrm>
            <a:off x="180000" y="180000"/>
            <a:ext cx="117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Filas usando 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1" name="" descr=""/>
          <p:cNvPicPr/>
          <p:nvPr/>
        </p:nvPicPr>
        <p:blipFill>
          <a:blip r:embed="rId1"/>
          <a:stretch/>
        </p:blipFill>
        <p:spPr>
          <a:xfrm>
            <a:off x="1224000" y="1080000"/>
            <a:ext cx="5829480" cy="5778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3911F4C-5BCD-40AD-8527-0F60FD0CEC31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title"/>
          </p:nvPr>
        </p:nvSpPr>
        <p:spPr>
          <a:xfrm>
            <a:off x="180000" y="185040"/>
            <a:ext cx="11880000" cy="107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Filas usando 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3" name="" descr=""/>
          <p:cNvPicPr/>
          <p:nvPr/>
        </p:nvPicPr>
        <p:blipFill>
          <a:blip r:embed="rId1"/>
          <a:stretch/>
        </p:blipFill>
        <p:spPr>
          <a:xfrm>
            <a:off x="1401480" y="1080000"/>
            <a:ext cx="5798520" cy="5747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FF890A6-4EB6-48F4-A960-28D7F24A2926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PlaceHolder 1"/>
          <p:cNvSpPr>
            <a:spLocks noGrp="1"/>
          </p:cNvSpPr>
          <p:nvPr>
            <p:ph type="title"/>
          </p:nvPr>
        </p:nvSpPr>
        <p:spPr>
          <a:xfrm>
            <a:off x="180000" y="365040"/>
            <a:ext cx="11880000" cy="89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Filas usando 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5" name="" descr=""/>
          <p:cNvPicPr/>
          <p:nvPr/>
        </p:nvPicPr>
        <p:blipFill>
          <a:blip r:embed="rId1"/>
          <a:stretch/>
        </p:blipFill>
        <p:spPr>
          <a:xfrm>
            <a:off x="900000" y="1260000"/>
            <a:ext cx="7035120" cy="4965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DFEF3B5-66B7-4198-B7D4-C919B6570E65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title"/>
          </p:nvPr>
        </p:nvSpPr>
        <p:spPr>
          <a:xfrm>
            <a:off x="180000" y="365040"/>
            <a:ext cx="11700000" cy="89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Filas usando 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7" name="" descr=""/>
          <p:cNvPicPr/>
          <p:nvPr/>
        </p:nvPicPr>
        <p:blipFill>
          <a:blip r:embed="rId1"/>
          <a:stretch/>
        </p:blipFill>
        <p:spPr>
          <a:xfrm>
            <a:off x="648000" y="1260000"/>
            <a:ext cx="6660000" cy="5403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D349F6F-8784-42EB-9EA9-997F9F101697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Implementação de Listas por meio de</a:t>
            </a:r>
            <a:br>
              <a:rPr sz="4400"/>
            </a:b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Estruturas Auto Referenciadas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Vantagem: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Permite inserir ou retirar itens do meio da lista a um custo constante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importante para lista de elementos ordenados.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Bom para aplicações em que não existe previsão sobre o crescimento da lista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o tamanho máximo da lista não precisa ser definido.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Desvantagens: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utilização de memória extra para armazenar as referências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E4FCC05-BF60-4D48-91BF-BEB2B1247425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Exercícios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4444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Implementar classe Lista (por vetor) e Lista (encadeada), e implementar, para cada tipo de lista, um programa que: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Construa a lista vazia;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Insira novos elementos na lista;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Pesquisa um elemento;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Retire um elemento.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Para a Lista (por vetor), implemente uma função para realocar o tamanho do vetor de itens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Implemente uma função para Lista (Lista encadeada) para inserir um elemento em qualquer posição da lista ordenada.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Crie a lista com os elementos: 1, 2, 3, 5, 6.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Insira o elemento 4 de forma ordenada na lista.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6ACA043-3ED9-41F3-9EEF-4979C540FFF0}" type="slidenum">
              <a:t>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As Operações de remoção de uma elemento indica um problema inerente às listas ligadas.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As células das listas contém apenas a referência para os seus sucessores.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Não existe um acesso imediato aos seus predecessores.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521362A-ABE1-4D48-9D55-57264F4F6860}" type="slidenum">
              <a:t>68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Para remover o último elemento da lista deve-se percorrer toda a lista até encontrar o penúltimo elemento.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Para listas longas e muita utilização da remoção do ultimo elemento, podem impactar no processamento rápido da lista. 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1D27C44-A7D9-499E-985F-A59D0F085B2E}" type="slidenum">
              <a:t>69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As listas duplamente ligadas (ou duplamente encadeadas) cada célula da lista contem duas referências: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Uma para o sucessor (igual nas listas ligadas)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Outra para o predecessor.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Conector em curva 19"/>
          <p:cNvSpPr/>
          <p:nvPr/>
        </p:nvSpPr>
        <p:spPr>
          <a:xfrm flipV="1">
            <a:off x="3935880" y="492552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Conector em curva 20"/>
          <p:cNvSpPr/>
          <p:nvPr/>
        </p:nvSpPr>
        <p:spPr>
          <a:xfrm flipV="1">
            <a:off x="5708520" y="4899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Conector em curva 21"/>
          <p:cNvSpPr/>
          <p:nvPr/>
        </p:nvSpPr>
        <p:spPr>
          <a:xfrm flipV="1">
            <a:off x="7459920" y="4899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CaixaDeTexto 22"/>
          <p:cNvSpPr/>
          <p:nvPr/>
        </p:nvSpPr>
        <p:spPr>
          <a:xfrm>
            <a:off x="3004920" y="5661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CaixaDeTexto 23"/>
          <p:cNvSpPr/>
          <p:nvPr/>
        </p:nvSpPr>
        <p:spPr>
          <a:xfrm>
            <a:off x="8114760" y="566316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3" name="Grupo 70"/>
          <p:cNvGrpSpPr/>
          <p:nvPr/>
        </p:nvGrpSpPr>
        <p:grpSpPr>
          <a:xfrm>
            <a:off x="4655520" y="4653000"/>
            <a:ext cx="1008360" cy="1007280"/>
            <a:chOff x="4655520" y="4653000"/>
            <a:chExt cx="1008360" cy="1007280"/>
          </a:xfrm>
        </p:grpSpPr>
        <p:sp>
          <p:nvSpPr>
            <p:cNvPr id="1274" name="CaixaDeTexto 6"/>
            <p:cNvSpPr/>
            <p:nvPr/>
          </p:nvSpPr>
          <p:spPr>
            <a:xfrm>
              <a:off x="4899600" y="510624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5" name="Elipse 7"/>
            <p:cNvSpPr/>
            <p:nvPr/>
          </p:nvSpPr>
          <p:spPr>
            <a:xfrm>
              <a:off x="4655880" y="4653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6" name="Conector reto 8"/>
            <p:cNvSpPr/>
            <p:nvPr/>
          </p:nvSpPr>
          <p:spPr>
            <a:xfrm>
              <a:off x="4655520" y="5157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7" name="CaixaDeTexto 26"/>
            <p:cNvSpPr/>
            <p:nvPr/>
          </p:nvSpPr>
          <p:spPr>
            <a:xfrm>
              <a:off x="4890600" y="535536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8" name="Conector reto 33"/>
            <p:cNvSpPr/>
            <p:nvPr/>
          </p:nvSpPr>
          <p:spPr>
            <a:xfrm flipH="1">
              <a:off x="4727520" y="5373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79" name="Grupo 71"/>
          <p:cNvGrpSpPr/>
          <p:nvPr/>
        </p:nvGrpSpPr>
        <p:grpSpPr>
          <a:xfrm>
            <a:off x="6383880" y="4653000"/>
            <a:ext cx="1008000" cy="1007280"/>
            <a:chOff x="6383880" y="4653000"/>
            <a:chExt cx="1008000" cy="1007280"/>
          </a:xfrm>
        </p:grpSpPr>
        <p:sp>
          <p:nvSpPr>
            <p:cNvPr id="1280" name="CaixaDeTexto 72"/>
            <p:cNvSpPr/>
            <p:nvPr/>
          </p:nvSpPr>
          <p:spPr>
            <a:xfrm>
              <a:off x="6627960" y="510624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1" name="Elipse 73"/>
            <p:cNvSpPr/>
            <p:nvPr/>
          </p:nvSpPr>
          <p:spPr>
            <a:xfrm>
              <a:off x="6383880" y="4653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2" name="Conector reto 74"/>
            <p:cNvSpPr/>
            <p:nvPr/>
          </p:nvSpPr>
          <p:spPr>
            <a:xfrm>
              <a:off x="6383880" y="5157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3" name="CaixaDeTexto 76"/>
            <p:cNvSpPr/>
            <p:nvPr/>
          </p:nvSpPr>
          <p:spPr>
            <a:xfrm>
              <a:off x="6618600" y="535536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4" name="Conector reto 77"/>
            <p:cNvSpPr/>
            <p:nvPr/>
          </p:nvSpPr>
          <p:spPr>
            <a:xfrm flipH="1">
              <a:off x="6455880" y="5373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5" name="Grupo 78"/>
          <p:cNvGrpSpPr/>
          <p:nvPr/>
        </p:nvGrpSpPr>
        <p:grpSpPr>
          <a:xfrm>
            <a:off x="8111880" y="4653000"/>
            <a:ext cx="1008360" cy="1007280"/>
            <a:chOff x="8111880" y="4653000"/>
            <a:chExt cx="1008360" cy="1007280"/>
          </a:xfrm>
        </p:grpSpPr>
        <p:sp>
          <p:nvSpPr>
            <p:cNvPr id="1286" name="CaixaDeTexto 79"/>
            <p:cNvSpPr/>
            <p:nvPr/>
          </p:nvSpPr>
          <p:spPr>
            <a:xfrm>
              <a:off x="8356320" y="510624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7" name="Elipse 80"/>
            <p:cNvSpPr/>
            <p:nvPr/>
          </p:nvSpPr>
          <p:spPr>
            <a:xfrm>
              <a:off x="8112240" y="4653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8" name="Conector reto 81"/>
            <p:cNvSpPr/>
            <p:nvPr/>
          </p:nvSpPr>
          <p:spPr>
            <a:xfrm>
              <a:off x="8111880" y="5157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9" name="CaixaDeTexto 83"/>
            <p:cNvSpPr/>
            <p:nvPr/>
          </p:nvSpPr>
          <p:spPr>
            <a:xfrm>
              <a:off x="8346960" y="535536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0" name="Conector reto 84"/>
            <p:cNvSpPr/>
            <p:nvPr/>
          </p:nvSpPr>
          <p:spPr>
            <a:xfrm flipH="1">
              <a:off x="8183880" y="5373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1" name="Grupo 85"/>
          <p:cNvGrpSpPr/>
          <p:nvPr/>
        </p:nvGrpSpPr>
        <p:grpSpPr>
          <a:xfrm>
            <a:off x="2855520" y="4653000"/>
            <a:ext cx="1008000" cy="1007280"/>
            <a:chOff x="2855520" y="4653000"/>
            <a:chExt cx="1008000" cy="1007280"/>
          </a:xfrm>
        </p:grpSpPr>
        <p:sp>
          <p:nvSpPr>
            <p:cNvPr id="1292" name="CaixaDeTexto 86"/>
            <p:cNvSpPr/>
            <p:nvPr/>
          </p:nvSpPr>
          <p:spPr>
            <a:xfrm>
              <a:off x="3099600" y="510624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3" name="Elipse 87"/>
            <p:cNvSpPr/>
            <p:nvPr/>
          </p:nvSpPr>
          <p:spPr>
            <a:xfrm>
              <a:off x="2855520" y="4653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4" name="Conector reto 88"/>
            <p:cNvSpPr/>
            <p:nvPr/>
          </p:nvSpPr>
          <p:spPr>
            <a:xfrm>
              <a:off x="2855520" y="5157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5" name="CaixaDeTexto 89"/>
            <p:cNvSpPr/>
            <p:nvPr/>
          </p:nvSpPr>
          <p:spPr>
            <a:xfrm>
              <a:off x="3057480" y="4797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6" name="CaixaDeTexto 90"/>
            <p:cNvSpPr/>
            <p:nvPr/>
          </p:nvSpPr>
          <p:spPr>
            <a:xfrm>
              <a:off x="3090240" y="535536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7" name="Conector reto 91"/>
            <p:cNvSpPr/>
            <p:nvPr/>
          </p:nvSpPr>
          <p:spPr>
            <a:xfrm flipH="1">
              <a:off x="2927520" y="5373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98" name="Conector em curva 93"/>
          <p:cNvSpPr/>
          <p:nvPr/>
        </p:nvSpPr>
        <p:spPr>
          <a:xfrm rot="10800000">
            <a:off x="3936600" y="4926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Conector em curva 94"/>
          <p:cNvSpPr/>
          <p:nvPr/>
        </p:nvSpPr>
        <p:spPr>
          <a:xfrm rot="10800000">
            <a:off x="5664600" y="493488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Conector em curva 95"/>
          <p:cNvSpPr/>
          <p:nvPr/>
        </p:nvSpPr>
        <p:spPr>
          <a:xfrm rot="10800000">
            <a:off x="7392960" y="4941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Conector de seta reta 97"/>
          <p:cNvSpPr/>
          <p:nvPr/>
        </p:nvSpPr>
        <p:spPr>
          <a:xfrm flipH="1">
            <a:off x="2278800" y="5509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Conector de seta reta 99"/>
          <p:cNvSpPr/>
          <p:nvPr/>
        </p:nvSpPr>
        <p:spPr>
          <a:xfrm>
            <a:off x="9192240" y="528624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CaixaDeTexto 100"/>
          <p:cNvSpPr/>
          <p:nvPr/>
        </p:nvSpPr>
        <p:spPr>
          <a:xfrm>
            <a:off x="9744480" y="5085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CaixaDeTexto 101"/>
          <p:cNvSpPr/>
          <p:nvPr/>
        </p:nvSpPr>
        <p:spPr>
          <a:xfrm>
            <a:off x="1636200" y="530136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CaixaDeTexto 47"/>
          <p:cNvSpPr/>
          <p:nvPr/>
        </p:nvSpPr>
        <p:spPr>
          <a:xfrm>
            <a:off x="4984560" y="4779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CaixaDeTexto 48"/>
          <p:cNvSpPr/>
          <p:nvPr/>
        </p:nvSpPr>
        <p:spPr>
          <a:xfrm>
            <a:off x="6712560" y="47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CaixaDeTexto 49"/>
          <p:cNvSpPr/>
          <p:nvPr/>
        </p:nvSpPr>
        <p:spPr>
          <a:xfrm>
            <a:off x="8442360" y="4807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54C35E5-A589-4862-9385-CCE051C84A92}" type="slidenum">
              <a:t>70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161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Lista com dois elementos: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Conector em curva 4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Conector em curva 45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CaixaDeTexto 46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CaixaDeTexto 47"/>
          <p:cNvSpPr/>
          <p:nvPr/>
        </p:nvSpPr>
        <p:spPr>
          <a:xfrm>
            <a:off x="645876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4" name="Grupo 48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315" name="CaixaDeTexto 49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6" name="Elipse 50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7" name="Conector reto 51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8" name="CaixaDeTexto 53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9" name="Conector reto 54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0" name="Grupo 62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321" name="CaixaDeTexto 63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2" name="Elipse 64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3" name="Conector reto 65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4" name="CaixaDeTexto 67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5" name="Conector reto 68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6" name="Grupo 69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327" name="CaixaDeTexto 70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8" name="Elipse 71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9" name="Conector reto 72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0" name="CaixaDeTexto 73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1" name="CaixaDeTexto 74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2" name="Conector reto 75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3" name="Conector em curva 76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Conector em curva 78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Conector de seta reta 79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CaixaDeTexto 82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Conector de seta reta 41"/>
          <p:cNvSpPr/>
          <p:nvPr/>
        </p:nvSpPr>
        <p:spPr>
          <a:xfrm>
            <a:off x="7536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CaixaDeTexto 42"/>
          <p:cNvSpPr/>
          <p:nvPr/>
        </p:nvSpPr>
        <p:spPr>
          <a:xfrm>
            <a:off x="8088120" y="4581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CaixaDeTexto 35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CaixaDeTexto 36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25E4FB2-4B2F-4497-85CB-899E53368E48}" type="slidenum">
              <a:t>71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161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Uma nova célula é criada e seus três atributos são inicializados: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Conector em curva 4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Conector em curva 45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CaixaDeTexto 46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CaixaDeTexto 47"/>
          <p:cNvSpPr/>
          <p:nvPr/>
        </p:nvSpPr>
        <p:spPr>
          <a:xfrm>
            <a:off x="645876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47" name="Grupo 48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348" name="CaixaDeTexto 49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9" name="Elipse 50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0" name="Conector reto 51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1" name="CaixaDeTexto 53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2" name="Conector reto 54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3" name="Grupo 62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354" name="CaixaDeTexto 63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5" name="Elipse 64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6" name="Conector reto 65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7" name="CaixaDeTexto 67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8" name="Conector reto 68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9" name="Grupo 69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360" name="CaixaDeTexto 70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1" name="Elipse 71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2" name="Conector reto 72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3" name="CaixaDeTexto 73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4" name="CaixaDeTexto 74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5" name="Conector reto 75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66" name="Conector em curva 76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Conector em curva 78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Conector de seta reta 79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CaixaDeTexto 82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70" name="Grupo 83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371" name="CaixaDeTexto 84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2" name="Elipse 85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3" name="Conector reto 86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4" name="CaixaDeTexto 88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5" name="Conector reto 89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76" name="Conector em curva 90"/>
          <p:cNvSpPr/>
          <p:nvPr/>
        </p:nvSpPr>
        <p:spPr>
          <a:xfrm flipV="1">
            <a:off x="7603920" y="43880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CaixaDeTexto 92"/>
          <p:cNvSpPr/>
          <p:nvPr/>
        </p:nvSpPr>
        <p:spPr>
          <a:xfrm>
            <a:off x="8218080" y="3717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CaixaDeTexto 42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CaixaDeTexto 44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CaixaDeTexto 57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A35E5D7-E882-4137-85DA-A0C20E10AC1C}" type="slidenum">
              <a:t>72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161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prox” da nova célula referencia nulo: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Conector em curva 4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Conector em curva 45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CaixaDeTexto 46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CaixaDeTexto 47"/>
          <p:cNvSpPr/>
          <p:nvPr/>
        </p:nvSpPr>
        <p:spPr>
          <a:xfrm>
            <a:off x="645876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7" name="Grupo 48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388" name="CaixaDeTexto 49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9" name="Elipse 50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0" name="Conector reto 51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1" name="CaixaDeTexto 53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2" name="Conector reto 54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3" name="Grupo 62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394" name="CaixaDeTexto 63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5" name="Elipse 64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6" name="Conector reto 65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7" name="CaixaDeTexto 67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8" name="Conector reto 68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9" name="Grupo 69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400" name="CaixaDeTexto 70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1" name="Elipse 71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2" name="Conector reto 72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3" name="CaixaDeTexto 73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4" name="CaixaDeTexto 74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5" name="Conector reto 75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06" name="Conector em curva 76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Conector em curva 78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Conector de seta reta 79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CaixaDeTexto 82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10" name="Grupo 83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411" name="CaixaDeTexto 84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2" name="Elipse 85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3" name="Conector reto 86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4" name="CaixaDeTexto 88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5" name="Conector reto 89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16" name="Conector em curva 90"/>
          <p:cNvSpPr/>
          <p:nvPr/>
        </p:nvSpPr>
        <p:spPr>
          <a:xfrm flipV="1">
            <a:off x="7603920" y="43880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CaixaDeTexto 92"/>
          <p:cNvSpPr/>
          <p:nvPr/>
        </p:nvSpPr>
        <p:spPr>
          <a:xfrm>
            <a:off x="8218080" y="3717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Conector de seta reta 41"/>
          <p:cNvSpPr/>
          <p:nvPr/>
        </p:nvSpPr>
        <p:spPr>
          <a:xfrm>
            <a:off x="9408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CaixaDeTexto 42"/>
          <p:cNvSpPr/>
          <p:nvPr/>
        </p:nvSpPr>
        <p:spPr>
          <a:xfrm>
            <a:off x="9960480" y="4581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CaixaDeTexto 56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CaixaDeTexto 57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CaixaDeTexto 58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3A5EA8F-F593-4E84-939F-DF2729D83DF3}" type="slidenum">
              <a:t>73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161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prev” referencia o (até então) último elemento da lista: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Conector em curva 4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Conector em curva 45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CaixaDeTexto 46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CaixaDeTexto 47"/>
          <p:cNvSpPr/>
          <p:nvPr/>
        </p:nvSpPr>
        <p:spPr>
          <a:xfrm>
            <a:off x="645876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9" name="Grupo 48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430" name="CaixaDeTexto 49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1" name="Elipse 50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2" name="Conector reto 51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3" name="CaixaDeTexto 53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4" name="Conector reto 54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5" name="Grupo 62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436" name="CaixaDeTexto 63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7" name="Elipse 64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8" name="Conector reto 65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9" name="CaixaDeTexto 67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0" name="Conector reto 68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1" name="Grupo 69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442" name="CaixaDeTexto 70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3" name="Elipse 71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4" name="Conector reto 72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5" name="CaixaDeTexto 73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6" name="CaixaDeTexto 74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7" name="Conector reto 75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48" name="Conector em curva 76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Conector em curva 78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Conector de seta reta 79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CaixaDeTexto 82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52" name="Grupo 83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453" name="CaixaDeTexto 84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4" name="Elipse 85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5" name="Conector reto 86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6" name="CaixaDeTexto 88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7" name="Conector reto 89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8" name="Conector em curva 90"/>
          <p:cNvSpPr/>
          <p:nvPr/>
        </p:nvSpPr>
        <p:spPr>
          <a:xfrm flipV="1">
            <a:off x="7603920" y="43880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CaixaDeTexto 92"/>
          <p:cNvSpPr/>
          <p:nvPr/>
        </p:nvSpPr>
        <p:spPr>
          <a:xfrm>
            <a:off x="8218080" y="3717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Conector de seta reta 41"/>
          <p:cNvSpPr/>
          <p:nvPr/>
        </p:nvSpPr>
        <p:spPr>
          <a:xfrm>
            <a:off x="9408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CaixaDeTexto 42"/>
          <p:cNvSpPr/>
          <p:nvPr/>
        </p:nvSpPr>
        <p:spPr>
          <a:xfrm>
            <a:off x="9960480" y="4581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Conector em curva 44"/>
          <p:cNvSpPr/>
          <p:nvPr/>
        </p:nvSpPr>
        <p:spPr>
          <a:xfrm rot="10800000">
            <a:off x="753696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CaixaDeTexto 55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CaixaDeTexto 56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CaixaDeTexto 57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8806DE0-F841-4430-B2E8-F4A66A6CE195}" type="slidenum">
              <a:t>74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8880" cy="161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ultimo” é ajustado para o novo elemento inserido: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Conector em curva 4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Conector em curva 45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CaixaDeTexto 46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CaixaDeTexto 47"/>
          <p:cNvSpPr/>
          <p:nvPr/>
        </p:nvSpPr>
        <p:spPr>
          <a:xfrm>
            <a:off x="833508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72" name="Grupo 48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473" name="CaixaDeTexto 49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4" name="Elipse 50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5" name="Conector reto 51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6" name="CaixaDeTexto 53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7" name="Conector reto 54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8" name="Grupo 62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479" name="CaixaDeTexto 63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0" name="Elipse 64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1" name="Conector reto 65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2" name="CaixaDeTexto 67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3" name="Conector reto 68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4" name="Grupo 69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485" name="CaixaDeTexto 70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6" name="Elipse 71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7" name="Conector reto 72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8" name="CaixaDeTexto 73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9" name="CaixaDeTexto 74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0" name="Conector reto 75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91" name="Conector em curva 76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Conector em curva 78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Conector de seta reta 79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CaixaDeTexto 82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95" name="Grupo 83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496" name="CaixaDeTexto 84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7" name="Elipse 85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8" name="Conector reto 86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9" name="CaixaDeTexto 88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0" name="Conector reto 89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01" name="Conector em curva 90"/>
          <p:cNvSpPr/>
          <p:nvPr/>
        </p:nvSpPr>
        <p:spPr>
          <a:xfrm flipV="1">
            <a:off x="7603920" y="43880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CaixaDeTexto 92"/>
          <p:cNvSpPr/>
          <p:nvPr/>
        </p:nvSpPr>
        <p:spPr>
          <a:xfrm>
            <a:off x="8218080" y="3717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Conector de seta reta 41"/>
          <p:cNvSpPr/>
          <p:nvPr/>
        </p:nvSpPr>
        <p:spPr>
          <a:xfrm>
            <a:off x="9408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CaixaDeTexto 42"/>
          <p:cNvSpPr/>
          <p:nvPr/>
        </p:nvSpPr>
        <p:spPr>
          <a:xfrm>
            <a:off x="9960480" y="4581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Conector em curva 44"/>
          <p:cNvSpPr/>
          <p:nvPr/>
        </p:nvSpPr>
        <p:spPr>
          <a:xfrm rot="10800000">
            <a:off x="753696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CaixaDeTexto 55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CaixaDeTexto 56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CaixaDeTexto 57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3A69EDC-4A69-4626-9F10-560846C2289F}" type="slidenum">
              <a:t>75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do último elemento da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Remover o último elemento de uma lista duplamente ligada é simples pois há acesso direto do ultimo elemento ao seu predecessor, e nenhum laço é necessário para remover o último elemento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35AD335-00E9-4891-838A-75ACD5F060AC}" type="slidenum">
              <a:t>76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do ultimo elemento da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Não é necessário percorrer a lista.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" name="Conector em curva 44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Conector em curva 46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CaixaDeTexto 47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CaixaDeTexto 48"/>
          <p:cNvSpPr/>
          <p:nvPr/>
        </p:nvSpPr>
        <p:spPr>
          <a:xfrm>
            <a:off x="833508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17" name="Grupo 49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518" name="CaixaDeTexto 50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9" name="Elipse 51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0" name="Conector reto 52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1" name="CaixaDeTexto 54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2" name="Conector reto 55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3" name="Grupo 56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524" name="CaixaDeTexto 57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5" name="Elipse 58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6" name="Conector reto 59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7" name="CaixaDeTexto 61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8" name="Conector reto 62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9" name="Grupo 63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530" name="CaixaDeTexto 64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1" name="Elipse 65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2" name="Conector reto 66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3" name="CaixaDeTexto 67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4" name="CaixaDeTexto 68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5" name="Conector reto 69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36" name="Conector em curva 70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Conector em curva 71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Conector de seta reta 72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CaixaDeTexto 73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40" name="Grupo 74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541" name="CaixaDeTexto 75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2" name="Elipse 76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3" name="Conector reto 77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4" name="CaixaDeTexto 79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5" name="Conector reto 80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46" name="Conector em curva 81"/>
          <p:cNvSpPr/>
          <p:nvPr/>
        </p:nvSpPr>
        <p:spPr>
          <a:xfrm flipV="1">
            <a:off x="7603920" y="43880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Conector de seta reta 83"/>
          <p:cNvSpPr/>
          <p:nvPr/>
        </p:nvSpPr>
        <p:spPr>
          <a:xfrm>
            <a:off x="9408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CaixaDeTexto 84"/>
          <p:cNvSpPr/>
          <p:nvPr/>
        </p:nvSpPr>
        <p:spPr>
          <a:xfrm>
            <a:off x="9960480" y="4581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Conector em curva 85"/>
          <p:cNvSpPr/>
          <p:nvPr/>
        </p:nvSpPr>
        <p:spPr>
          <a:xfrm rot="10800000">
            <a:off x="753696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CaixaDeTexto 45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CaixaDeTexto 82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CaixaDeTexto 86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E3A8E97-E9C4-4F38-BB5A-2B61A58C1A02}" type="slidenum">
              <a:t>77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do ultimo elemento da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Após recuperar o item a ser removido, “prox” do predecessor passa a referenciar NULL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Conector em curva 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Conector em curva 4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CaixaDeTexto 5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CaixaDeTexto 6"/>
          <p:cNvSpPr/>
          <p:nvPr/>
        </p:nvSpPr>
        <p:spPr>
          <a:xfrm>
            <a:off x="833508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59" name="Grupo 7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560" name="CaixaDeTexto 8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1" name="Elipse 9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2" name="Conector reto 10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3" name="CaixaDeTexto 12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4" name="Conector reto 13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5" name="Grupo 14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566" name="CaixaDeTexto 15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7" name="Elipse 16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8" name="Conector reto 17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9" name="CaixaDeTexto 19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0" name="Conector reto 20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1" name="Grupo 21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572" name="CaixaDeTexto 22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3" name="Elipse 23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4" name="Conector reto 24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5" name="CaixaDeTexto 25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6" name="CaixaDeTexto 26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7" name="Conector reto 27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78" name="Conector em curva 28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Conector em curva 29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Conector de seta reta 30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CaixaDeTexto 31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Conector em curva 39"/>
          <p:cNvSpPr/>
          <p:nvPr/>
        </p:nvSpPr>
        <p:spPr>
          <a:xfrm flipH="1" flipV="1" rot="5400000">
            <a:off x="7522200" y="4230000"/>
            <a:ext cx="599040" cy="43560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Conector de seta reta 41"/>
          <p:cNvSpPr/>
          <p:nvPr/>
        </p:nvSpPr>
        <p:spPr>
          <a:xfrm>
            <a:off x="9408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CaixaDeTexto 42"/>
          <p:cNvSpPr/>
          <p:nvPr/>
        </p:nvSpPr>
        <p:spPr>
          <a:xfrm>
            <a:off x="9960480" y="4581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Conector em curva 43"/>
          <p:cNvSpPr/>
          <p:nvPr/>
        </p:nvSpPr>
        <p:spPr>
          <a:xfrm rot="10800000">
            <a:off x="753696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CaixaDeTexto 45"/>
          <p:cNvSpPr/>
          <p:nvPr/>
        </p:nvSpPr>
        <p:spPr>
          <a:xfrm>
            <a:off x="7728120" y="3789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87" name="Grupo 74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588" name="CaixaDeTexto 47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9" name="Elipse 48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0" name="Conector reto 49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1" name="CaixaDeTexto 51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2" name="Conector reto 52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93" name="CaixaDeTexto 53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CaixaDeTexto 54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CaixaDeTexto 55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AAF35F-BAD7-4549-B0AE-042D93097CD9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Remoção do ultimo elemento da lista: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Ultimo elemento é ajustado para o predecessor do elemento a ser removido.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Conector em curva 3"/>
          <p:cNvSpPr/>
          <p:nvPr/>
        </p:nvSpPr>
        <p:spPr>
          <a:xfrm flipV="1">
            <a:off x="3935880" y="442116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Conector em curva 4"/>
          <p:cNvSpPr/>
          <p:nvPr/>
        </p:nvSpPr>
        <p:spPr>
          <a:xfrm flipV="1">
            <a:off x="5803560" y="4395240"/>
            <a:ext cx="64728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CaixaDeTexto 5"/>
          <p:cNvSpPr/>
          <p:nvPr/>
        </p:nvSpPr>
        <p:spPr>
          <a:xfrm>
            <a:off x="3004920" y="515736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CaixaDeTexto 6"/>
          <p:cNvSpPr/>
          <p:nvPr/>
        </p:nvSpPr>
        <p:spPr>
          <a:xfrm>
            <a:off x="6458760" y="5158800"/>
            <a:ext cx="106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Ultimo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elemento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02" name="Grupo 7"/>
          <p:cNvGrpSpPr/>
          <p:nvPr/>
        </p:nvGrpSpPr>
        <p:grpSpPr>
          <a:xfrm>
            <a:off x="4655520" y="4149000"/>
            <a:ext cx="1008360" cy="1007280"/>
            <a:chOff x="4655520" y="4149000"/>
            <a:chExt cx="1008360" cy="1007280"/>
          </a:xfrm>
        </p:grpSpPr>
        <p:sp>
          <p:nvSpPr>
            <p:cNvPr id="1603" name="CaixaDeTexto 8"/>
            <p:cNvSpPr/>
            <p:nvPr/>
          </p:nvSpPr>
          <p:spPr>
            <a:xfrm>
              <a:off x="48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4" name="Elipse 9"/>
            <p:cNvSpPr/>
            <p:nvPr/>
          </p:nvSpPr>
          <p:spPr>
            <a:xfrm>
              <a:off x="46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5" name="Conector reto 10"/>
            <p:cNvSpPr/>
            <p:nvPr/>
          </p:nvSpPr>
          <p:spPr>
            <a:xfrm>
              <a:off x="4655520" y="4653000"/>
              <a:ext cx="1008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6" name="CaixaDeTexto 12"/>
            <p:cNvSpPr/>
            <p:nvPr/>
          </p:nvSpPr>
          <p:spPr>
            <a:xfrm>
              <a:off x="48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7" name="Conector reto 13"/>
            <p:cNvSpPr/>
            <p:nvPr/>
          </p:nvSpPr>
          <p:spPr>
            <a:xfrm flipH="1">
              <a:off x="4727520" y="4869000"/>
              <a:ext cx="86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8" name="Grupo 14"/>
          <p:cNvGrpSpPr/>
          <p:nvPr/>
        </p:nvGrpSpPr>
        <p:grpSpPr>
          <a:xfrm>
            <a:off x="6455880" y="4149000"/>
            <a:ext cx="1008000" cy="1007280"/>
            <a:chOff x="6455880" y="4149000"/>
            <a:chExt cx="1008000" cy="1007280"/>
          </a:xfrm>
        </p:grpSpPr>
        <p:sp>
          <p:nvSpPr>
            <p:cNvPr id="1609" name="CaixaDeTexto 15"/>
            <p:cNvSpPr/>
            <p:nvPr/>
          </p:nvSpPr>
          <p:spPr>
            <a:xfrm>
              <a:off x="669996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0" name="Elipse 16"/>
            <p:cNvSpPr/>
            <p:nvPr/>
          </p:nvSpPr>
          <p:spPr>
            <a:xfrm>
              <a:off x="645588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1" name="Conector reto 17"/>
            <p:cNvSpPr/>
            <p:nvPr/>
          </p:nvSpPr>
          <p:spPr>
            <a:xfrm>
              <a:off x="645588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2" name="CaixaDeTexto 19"/>
            <p:cNvSpPr/>
            <p:nvPr/>
          </p:nvSpPr>
          <p:spPr>
            <a:xfrm>
              <a:off x="669060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3" name="Conector reto 20"/>
            <p:cNvSpPr/>
            <p:nvPr/>
          </p:nvSpPr>
          <p:spPr>
            <a:xfrm flipH="1">
              <a:off x="652788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4" name="Grupo 21"/>
          <p:cNvGrpSpPr/>
          <p:nvPr/>
        </p:nvGrpSpPr>
        <p:grpSpPr>
          <a:xfrm>
            <a:off x="2855520" y="4149000"/>
            <a:ext cx="1008000" cy="1007280"/>
            <a:chOff x="2855520" y="4149000"/>
            <a:chExt cx="1008000" cy="1007280"/>
          </a:xfrm>
        </p:grpSpPr>
        <p:sp>
          <p:nvSpPr>
            <p:cNvPr id="1615" name="CaixaDeTexto 22"/>
            <p:cNvSpPr/>
            <p:nvPr/>
          </p:nvSpPr>
          <p:spPr>
            <a:xfrm>
              <a:off x="309960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6" name="Elipse 23"/>
            <p:cNvSpPr/>
            <p:nvPr/>
          </p:nvSpPr>
          <p:spPr>
            <a:xfrm>
              <a:off x="285552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7" name="Conector reto 24"/>
            <p:cNvSpPr/>
            <p:nvPr/>
          </p:nvSpPr>
          <p:spPr>
            <a:xfrm>
              <a:off x="2855520" y="4653000"/>
              <a:ext cx="100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8" name="CaixaDeTexto 25"/>
            <p:cNvSpPr/>
            <p:nvPr/>
          </p:nvSpPr>
          <p:spPr>
            <a:xfrm>
              <a:off x="3057480" y="4293000"/>
              <a:ext cx="603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8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item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9" name="CaixaDeTexto 26"/>
            <p:cNvSpPr/>
            <p:nvPr/>
          </p:nvSpPr>
          <p:spPr>
            <a:xfrm>
              <a:off x="309024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0" name="Conector reto 27"/>
            <p:cNvSpPr/>
            <p:nvPr/>
          </p:nvSpPr>
          <p:spPr>
            <a:xfrm flipH="1">
              <a:off x="2927520" y="4869000"/>
              <a:ext cx="864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21" name="Conector em curva 28"/>
          <p:cNvSpPr/>
          <p:nvPr/>
        </p:nvSpPr>
        <p:spPr>
          <a:xfrm rot="10800000">
            <a:off x="3936600" y="442260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Conector em curva 29"/>
          <p:cNvSpPr/>
          <p:nvPr/>
        </p:nvSpPr>
        <p:spPr>
          <a:xfrm rot="10800000">
            <a:off x="573660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" name="Conector de seta reta 30"/>
          <p:cNvSpPr/>
          <p:nvPr/>
        </p:nvSpPr>
        <p:spPr>
          <a:xfrm flipH="1">
            <a:off x="2278800" y="5005080"/>
            <a:ext cx="575280" cy="360"/>
          </a:xfrm>
          <a:custGeom>
            <a:avLst/>
            <a:gdLst>
              <a:gd name="textAreaLeft" fmla="*/ 360 w 575280"/>
              <a:gd name="textAreaRight" fmla="*/ 57600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CaixaDeTexto 31"/>
          <p:cNvSpPr/>
          <p:nvPr/>
        </p:nvSpPr>
        <p:spPr>
          <a:xfrm>
            <a:off x="1636200" y="4797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" name="Conector em curva 39"/>
          <p:cNvSpPr/>
          <p:nvPr/>
        </p:nvSpPr>
        <p:spPr>
          <a:xfrm flipH="1" flipV="1" rot="5400000">
            <a:off x="7522200" y="4230000"/>
            <a:ext cx="599040" cy="43560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6" name="Conector em curva 43"/>
          <p:cNvSpPr/>
          <p:nvPr/>
        </p:nvSpPr>
        <p:spPr>
          <a:xfrm rot="10800000">
            <a:off x="7536960" y="4437720"/>
            <a:ext cx="791280" cy="5824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a6a6a6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CaixaDeTexto 45"/>
          <p:cNvSpPr/>
          <p:nvPr/>
        </p:nvSpPr>
        <p:spPr>
          <a:xfrm>
            <a:off x="7728120" y="3789000"/>
            <a:ext cx="66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8" name="Grupo 32"/>
          <p:cNvGrpSpPr/>
          <p:nvPr/>
        </p:nvGrpSpPr>
        <p:grpSpPr>
          <a:xfrm>
            <a:off x="8328240" y="4149000"/>
            <a:ext cx="1008000" cy="1007280"/>
            <a:chOff x="8328240" y="4149000"/>
            <a:chExt cx="1008000" cy="1007280"/>
          </a:xfrm>
        </p:grpSpPr>
        <p:sp>
          <p:nvSpPr>
            <p:cNvPr id="1629" name="CaixaDeTexto 47"/>
            <p:cNvSpPr/>
            <p:nvPr/>
          </p:nvSpPr>
          <p:spPr>
            <a:xfrm>
              <a:off x="8572320" y="4601880"/>
              <a:ext cx="5439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a6a6a6"/>
                  </a:solidFill>
                  <a:latin typeface="Calibri"/>
                  <a:ea typeface="DejaVu Sans"/>
                </a:rPr>
                <a:t>Prox.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0" name="Elipse 48"/>
            <p:cNvSpPr/>
            <p:nvPr/>
          </p:nvSpPr>
          <p:spPr>
            <a:xfrm>
              <a:off x="8328240" y="4149000"/>
              <a:ext cx="1007280" cy="1007280"/>
            </a:xfrm>
            <a:prstGeom prst="ellipse">
              <a:avLst/>
            </a:prstGeom>
            <a:noFill/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1" name="Conector reto 49"/>
            <p:cNvSpPr/>
            <p:nvPr/>
          </p:nvSpPr>
          <p:spPr>
            <a:xfrm>
              <a:off x="8328240" y="4653000"/>
              <a:ext cx="1008000" cy="36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2" name="CaixaDeTexto 51"/>
            <p:cNvSpPr/>
            <p:nvPr/>
          </p:nvSpPr>
          <p:spPr>
            <a:xfrm>
              <a:off x="8562960" y="4851000"/>
              <a:ext cx="5317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pt-BR" sz="1400" spc="-1" strike="noStrike">
                  <a:solidFill>
                    <a:srgbClr val="a6a6a6"/>
                  </a:solidFill>
                  <a:latin typeface="Calibri"/>
                  <a:ea typeface="DejaVu Sans"/>
                </a:rPr>
                <a:t>Prev.</a:t>
              </a: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3" name="Conector reto 52"/>
            <p:cNvSpPr/>
            <p:nvPr/>
          </p:nvSpPr>
          <p:spPr>
            <a:xfrm flipH="1">
              <a:off x="8400240" y="4869000"/>
              <a:ext cx="864000" cy="360"/>
            </a:xfrm>
            <a:prstGeom prst="line">
              <a:avLst/>
            </a:prstGeom>
            <a:ln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34" name="Conector de seta reta 41"/>
          <p:cNvSpPr/>
          <p:nvPr/>
        </p:nvSpPr>
        <p:spPr>
          <a:xfrm>
            <a:off x="9408240" y="4781880"/>
            <a:ext cx="575280" cy="360"/>
          </a:xfrm>
          <a:custGeom>
            <a:avLst/>
            <a:gdLst>
              <a:gd name="textAreaLeft" fmla="*/ 0 w 575280"/>
              <a:gd name="textAreaRight" fmla="*/ 575640 w 575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a6a6a6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" name="CaixaDeTexto 54"/>
          <p:cNvSpPr/>
          <p:nvPr/>
        </p:nvSpPr>
        <p:spPr>
          <a:xfrm>
            <a:off x="9960480" y="4581000"/>
            <a:ext cx="667080" cy="3639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Conector de Seta Reta 55"/>
          <p:cNvSpPr/>
          <p:nvPr/>
        </p:nvSpPr>
        <p:spPr>
          <a:xfrm>
            <a:off x="8809920" y="3516840"/>
            <a:ext cx="360" cy="474120"/>
          </a:xfrm>
          <a:custGeom>
            <a:avLst/>
            <a:gdLst>
              <a:gd name="textAreaLeft" fmla="*/ 0 w 360"/>
              <a:gd name="textAreaRight" fmla="*/ 720 w 360"/>
              <a:gd name="textAreaTop" fmla="*/ 0 h 474120"/>
              <a:gd name="textAreaBottom" fmla="*/ 474480 h 474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7" name="CaixaDeTexto 56"/>
          <p:cNvSpPr/>
          <p:nvPr/>
        </p:nvSpPr>
        <p:spPr>
          <a:xfrm>
            <a:off x="8544240" y="3051000"/>
            <a:ext cx="2901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Lixo de memória (inacessível)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8" name="CaixaDeTexto 57"/>
          <p:cNvSpPr/>
          <p:nvPr/>
        </p:nvSpPr>
        <p:spPr>
          <a:xfrm>
            <a:off x="4977000" y="42948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CaixaDeTexto 58"/>
          <p:cNvSpPr/>
          <p:nvPr/>
        </p:nvSpPr>
        <p:spPr>
          <a:xfrm>
            <a:off x="6774120" y="429732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0" name="CaixaDeTexto 59"/>
          <p:cNvSpPr/>
          <p:nvPr/>
        </p:nvSpPr>
        <p:spPr>
          <a:xfrm>
            <a:off x="8669160" y="4304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a6a6a6"/>
                </a:solidFill>
                <a:latin typeface="Calibri"/>
                <a:ea typeface="DejaVu Sans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D5B2E40-0C6B-4E52-816F-38E4F1C5462B}" type="slidenum">
              <a:t>79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Duplamente Ligadas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Devido a imediata acessibilidade ao ultimo elemento, tanto a operação de inserção quanto a remoção do ultimo elemento são executadas sem a necessidade de percorrer 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66DDEFE-18AF-49E4-882D-52D381BB50F4}" type="slidenum">
              <a:t>80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São listas na qual as células formam um anel: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A lista é finita; 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Cada célula tem um sucessor.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O sucessor do último elemento é o primeiro elemento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Uma mudança na lista linear: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O campo </a:t>
            </a:r>
            <a:r>
              <a:rPr b="0" i="1" lang="pt-BR" sz="2400" spc="-1" strike="noStrike">
                <a:solidFill>
                  <a:srgbClr val="000000"/>
                </a:solidFill>
                <a:latin typeface="Calibri"/>
              </a:rPr>
              <a:t>prox</a:t>
            </a: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 do ultimo elemento referencia o primeiro elemento, ou invés de nulo.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33B5C99-69CC-4C79-965D-26796A6E2A58}" type="slidenum">
              <a:t>81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Neste caso, pode-se usar somente uma referência permanente: o primeiro elemento da lista, ao contrário da lista ligada que utilizava duas: primeiro (</a:t>
            </a:r>
            <a:r>
              <a:rPr b="0" i="1" lang="pt-BR" sz="2800" spc="-1" strike="noStrike">
                <a:solidFill>
                  <a:srgbClr val="000000"/>
                </a:solidFill>
                <a:latin typeface="Calibri"/>
              </a:rPr>
              <a:t>head</a:t>
            </a: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) e ultimo.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63372DC-9D2D-44CC-8B98-FA3ECFFD1A29}" type="slidenum">
              <a:t>82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Lista circular vazia (note que não há mais a referência ao ultimo elemento):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54" name="Grupo 94"/>
          <p:cNvGrpSpPr/>
          <p:nvPr/>
        </p:nvGrpSpPr>
        <p:grpSpPr>
          <a:xfrm>
            <a:off x="2495520" y="4095720"/>
            <a:ext cx="1728360" cy="1205640"/>
            <a:chOff x="2495520" y="4095720"/>
            <a:chExt cx="1728360" cy="1205640"/>
          </a:xfrm>
        </p:grpSpPr>
        <p:sp>
          <p:nvSpPr>
            <p:cNvPr id="1655" name="Conector reto 87"/>
            <p:cNvSpPr/>
            <p:nvPr/>
          </p:nvSpPr>
          <p:spPr>
            <a:xfrm>
              <a:off x="3935520" y="4455720"/>
              <a:ext cx="28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6" name="Conector reto 88"/>
            <p:cNvSpPr/>
            <p:nvPr/>
          </p:nvSpPr>
          <p:spPr>
            <a:xfrm>
              <a:off x="4223520" y="4455720"/>
              <a:ext cx="360" cy="84528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7" name="Conector reto 90"/>
            <p:cNvSpPr/>
            <p:nvPr/>
          </p:nvSpPr>
          <p:spPr>
            <a:xfrm flipV="1">
              <a:off x="2495520" y="4095720"/>
              <a:ext cx="360" cy="120528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8" name="Conector de seta reta 91"/>
            <p:cNvSpPr/>
            <p:nvPr/>
          </p:nvSpPr>
          <p:spPr>
            <a:xfrm>
              <a:off x="2495520" y="4096080"/>
              <a:ext cx="287280" cy="36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4472c4"/>
              </a:solidFill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280" bIns="-4428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9" name="Conector reto 93"/>
            <p:cNvSpPr/>
            <p:nvPr/>
          </p:nvSpPr>
          <p:spPr>
            <a:xfrm flipH="1">
              <a:off x="2495520" y="5301000"/>
              <a:ext cx="172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1A23785-6E5C-42F3-8C2A-F811D786D559}" type="slidenum">
              <a:t>83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Elipse 9"/>
          <p:cNvSpPr/>
          <p:nvPr/>
        </p:nvSpPr>
        <p:spPr>
          <a:xfrm>
            <a:off x="45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Conector reto 10"/>
          <p:cNvSpPr/>
          <p:nvPr/>
        </p:nvSpPr>
        <p:spPr>
          <a:xfrm>
            <a:off x="4583520" y="427104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CaixaDeTexto 12"/>
          <p:cNvSpPr/>
          <p:nvPr/>
        </p:nvSpPr>
        <p:spPr>
          <a:xfrm>
            <a:off x="4782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70" name="Grupo 46"/>
          <p:cNvGrpSpPr/>
          <p:nvPr/>
        </p:nvGrpSpPr>
        <p:grpSpPr>
          <a:xfrm>
            <a:off x="2495520" y="4095720"/>
            <a:ext cx="3384720" cy="1205640"/>
            <a:chOff x="2495520" y="4095720"/>
            <a:chExt cx="3384720" cy="1205640"/>
          </a:xfrm>
        </p:grpSpPr>
        <p:sp>
          <p:nvSpPr>
            <p:cNvPr id="1671" name="Conector reto 31"/>
            <p:cNvSpPr/>
            <p:nvPr/>
          </p:nvSpPr>
          <p:spPr>
            <a:xfrm>
              <a:off x="5591880" y="4455720"/>
              <a:ext cx="28800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2" name="Conector reto 33"/>
            <p:cNvSpPr/>
            <p:nvPr/>
          </p:nvSpPr>
          <p:spPr>
            <a:xfrm>
              <a:off x="5879880" y="4455720"/>
              <a:ext cx="360" cy="84528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3" name="Conector reto 35"/>
            <p:cNvSpPr/>
            <p:nvPr/>
          </p:nvSpPr>
          <p:spPr>
            <a:xfrm flipH="1">
              <a:off x="2495520" y="5301000"/>
              <a:ext cx="3384360" cy="36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4" name="Conector reto 43"/>
            <p:cNvSpPr/>
            <p:nvPr/>
          </p:nvSpPr>
          <p:spPr>
            <a:xfrm flipV="1">
              <a:off x="2495520" y="4095720"/>
              <a:ext cx="360" cy="1205280"/>
            </a:xfrm>
            <a:prstGeom prst="line">
              <a:avLst/>
            </a:prstGeom>
            <a:ln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5" name="Conector de seta reta 45"/>
            <p:cNvSpPr/>
            <p:nvPr/>
          </p:nvSpPr>
          <p:spPr>
            <a:xfrm>
              <a:off x="2495520" y="4096080"/>
              <a:ext cx="287280" cy="36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4472c4"/>
              </a:solidFill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44280" bIns="-4428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76" name="Conector em curva 49"/>
          <p:cNvSpPr/>
          <p:nvPr/>
        </p:nvSpPr>
        <p:spPr>
          <a:xfrm flipV="1">
            <a:off x="3863880" y="40953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CaixaDeTexto 19"/>
          <p:cNvSpPr/>
          <p:nvPr/>
        </p:nvSpPr>
        <p:spPr>
          <a:xfrm>
            <a:off x="4473720" y="3357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CaixaDeTexto 24"/>
          <p:cNvSpPr/>
          <p:nvPr/>
        </p:nvSpPr>
        <p:spPr>
          <a:xfrm>
            <a:off x="4921560" y="38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3EB4B6B-E680-4A82-A3AB-F1D30963F402}" type="slidenum">
              <a:t>84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Inserção de um novo elemento na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" name="Elipse 9"/>
          <p:cNvSpPr/>
          <p:nvPr/>
        </p:nvSpPr>
        <p:spPr>
          <a:xfrm>
            <a:off x="45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Conector reto 10"/>
          <p:cNvSpPr/>
          <p:nvPr/>
        </p:nvSpPr>
        <p:spPr>
          <a:xfrm>
            <a:off x="4583520" y="427104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CaixaDeTexto 12"/>
          <p:cNvSpPr/>
          <p:nvPr/>
        </p:nvSpPr>
        <p:spPr>
          <a:xfrm>
            <a:off x="4782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Conector em curva 49"/>
          <p:cNvSpPr/>
          <p:nvPr/>
        </p:nvSpPr>
        <p:spPr>
          <a:xfrm flipV="1">
            <a:off x="3863880" y="40953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Elipse 34"/>
          <p:cNvSpPr/>
          <p:nvPr/>
        </p:nvSpPr>
        <p:spPr>
          <a:xfrm>
            <a:off x="63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Conector reto 36"/>
          <p:cNvSpPr/>
          <p:nvPr/>
        </p:nvSpPr>
        <p:spPr>
          <a:xfrm>
            <a:off x="638388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CaixaDeTexto 38"/>
          <p:cNvSpPr/>
          <p:nvPr/>
        </p:nvSpPr>
        <p:spPr>
          <a:xfrm>
            <a:off x="658296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Conector em curva 39"/>
          <p:cNvSpPr/>
          <p:nvPr/>
        </p:nvSpPr>
        <p:spPr>
          <a:xfrm flipV="1">
            <a:off x="5663880" y="41169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" name="Conector reto 44"/>
          <p:cNvSpPr/>
          <p:nvPr/>
        </p:nvSpPr>
        <p:spPr>
          <a:xfrm flipH="1">
            <a:off x="2495520" y="5301000"/>
            <a:ext cx="5184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Conector reto 47"/>
          <p:cNvSpPr/>
          <p:nvPr/>
        </p:nvSpPr>
        <p:spPr>
          <a:xfrm flipV="1">
            <a:off x="2495520" y="4095720"/>
            <a:ext cx="360" cy="12052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Conector de seta reta 48"/>
          <p:cNvSpPr/>
          <p:nvPr/>
        </p:nvSpPr>
        <p:spPr>
          <a:xfrm>
            <a:off x="2495520" y="4096080"/>
            <a:ext cx="287280" cy="360"/>
          </a:xfrm>
          <a:custGeom>
            <a:avLst/>
            <a:gdLst>
              <a:gd name="textAreaLeft" fmla="*/ 0 w 287280"/>
              <a:gd name="textAreaRight" fmla="*/ 287640 w 287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Conector reto 8"/>
          <p:cNvSpPr/>
          <p:nvPr/>
        </p:nvSpPr>
        <p:spPr>
          <a:xfrm flipV="1">
            <a:off x="7679880" y="4477680"/>
            <a:ext cx="360" cy="82332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Conector reto 50"/>
          <p:cNvSpPr/>
          <p:nvPr/>
        </p:nvSpPr>
        <p:spPr>
          <a:xfrm flipH="1">
            <a:off x="7463880" y="4455720"/>
            <a:ext cx="216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CaixaDeTexto 23"/>
          <p:cNvSpPr/>
          <p:nvPr/>
        </p:nvSpPr>
        <p:spPr>
          <a:xfrm>
            <a:off x="6273720" y="3357000"/>
            <a:ext cx="125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Nova célula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" name="CaixaDeTexto 25"/>
          <p:cNvSpPr/>
          <p:nvPr/>
        </p:nvSpPr>
        <p:spPr>
          <a:xfrm>
            <a:off x="4921560" y="38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1" name="CaixaDeTexto 26"/>
          <p:cNvSpPr/>
          <p:nvPr/>
        </p:nvSpPr>
        <p:spPr>
          <a:xfrm>
            <a:off x="6753240" y="3890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4AC2396-84B4-4E31-A7EA-7F4B7B33393A}" type="slidenum">
              <a:t>85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Removendo o ultimo elemento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5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Elipse 9"/>
          <p:cNvSpPr/>
          <p:nvPr/>
        </p:nvSpPr>
        <p:spPr>
          <a:xfrm>
            <a:off x="4583880" y="37674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Conector reto 10"/>
          <p:cNvSpPr/>
          <p:nvPr/>
        </p:nvSpPr>
        <p:spPr>
          <a:xfrm>
            <a:off x="4583520" y="427104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" name="CaixaDeTexto 12"/>
          <p:cNvSpPr/>
          <p:nvPr/>
        </p:nvSpPr>
        <p:spPr>
          <a:xfrm>
            <a:off x="4782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2" name="Conector em curva 49"/>
          <p:cNvSpPr/>
          <p:nvPr/>
        </p:nvSpPr>
        <p:spPr>
          <a:xfrm flipV="1">
            <a:off x="3863880" y="40953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" name="Elipse 34"/>
          <p:cNvSpPr/>
          <p:nvPr/>
        </p:nvSpPr>
        <p:spPr>
          <a:xfrm>
            <a:off x="63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" name="Conector reto 36"/>
          <p:cNvSpPr/>
          <p:nvPr/>
        </p:nvSpPr>
        <p:spPr>
          <a:xfrm>
            <a:off x="638388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5" name="CaixaDeTexto 38"/>
          <p:cNvSpPr/>
          <p:nvPr/>
        </p:nvSpPr>
        <p:spPr>
          <a:xfrm>
            <a:off x="658296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6" name="Conector em curva 39"/>
          <p:cNvSpPr/>
          <p:nvPr/>
        </p:nvSpPr>
        <p:spPr>
          <a:xfrm flipV="1">
            <a:off x="5663880" y="41169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Conector reto 44"/>
          <p:cNvSpPr/>
          <p:nvPr/>
        </p:nvSpPr>
        <p:spPr>
          <a:xfrm flipH="1">
            <a:off x="2495520" y="5301000"/>
            <a:ext cx="5184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8" name="Conector reto 47"/>
          <p:cNvSpPr/>
          <p:nvPr/>
        </p:nvSpPr>
        <p:spPr>
          <a:xfrm flipV="1">
            <a:off x="2495520" y="4095720"/>
            <a:ext cx="360" cy="12052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" name="Conector de seta reta 48"/>
          <p:cNvSpPr/>
          <p:nvPr/>
        </p:nvSpPr>
        <p:spPr>
          <a:xfrm>
            <a:off x="2495520" y="4096080"/>
            <a:ext cx="287280" cy="360"/>
          </a:xfrm>
          <a:custGeom>
            <a:avLst/>
            <a:gdLst>
              <a:gd name="textAreaLeft" fmla="*/ 0 w 287280"/>
              <a:gd name="textAreaRight" fmla="*/ 287640 w 287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" name="Conector reto 8"/>
          <p:cNvSpPr/>
          <p:nvPr/>
        </p:nvSpPr>
        <p:spPr>
          <a:xfrm flipV="1">
            <a:off x="7679880" y="4477680"/>
            <a:ext cx="360" cy="82332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1" name="Conector reto 50"/>
          <p:cNvSpPr/>
          <p:nvPr/>
        </p:nvSpPr>
        <p:spPr>
          <a:xfrm flipH="1">
            <a:off x="7463880" y="4455720"/>
            <a:ext cx="216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2" name="CaixaDeTexto 26"/>
          <p:cNvSpPr/>
          <p:nvPr/>
        </p:nvSpPr>
        <p:spPr>
          <a:xfrm>
            <a:off x="3074760" y="3429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CaixaDeTexto 25"/>
          <p:cNvSpPr/>
          <p:nvPr/>
        </p:nvSpPr>
        <p:spPr>
          <a:xfrm>
            <a:off x="4921560" y="38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" name="CaixaDeTexto 27"/>
          <p:cNvSpPr/>
          <p:nvPr/>
        </p:nvSpPr>
        <p:spPr>
          <a:xfrm>
            <a:off x="6753240" y="3890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EFD7913-8098-4A2D-9E3B-E2307464FAE6}" type="slidenum">
              <a:t>86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Removendo o ultimo elemento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8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9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0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" name="Elipse 9"/>
          <p:cNvSpPr/>
          <p:nvPr/>
        </p:nvSpPr>
        <p:spPr>
          <a:xfrm>
            <a:off x="45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3" name="Conector reto 10"/>
          <p:cNvSpPr/>
          <p:nvPr/>
        </p:nvSpPr>
        <p:spPr>
          <a:xfrm>
            <a:off x="4583520" y="427104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" name="CaixaDeTexto 12"/>
          <p:cNvSpPr/>
          <p:nvPr/>
        </p:nvSpPr>
        <p:spPr>
          <a:xfrm>
            <a:off x="4782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5" name="Conector em curva 49"/>
          <p:cNvSpPr/>
          <p:nvPr/>
        </p:nvSpPr>
        <p:spPr>
          <a:xfrm flipV="1">
            <a:off x="3863880" y="40953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" name="Elipse 34"/>
          <p:cNvSpPr/>
          <p:nvPr/>
        </p:nvSpPr>
        <p:spPr>
          <a:xfrm>
            <a:off x="6383880" y="37674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" name="Conector reto 36"/>
          <p:cNvSpPr/>
          <p:nvPr/>
        </p:nvSpPr>
        <p:spPr>
          <a:xfrm>
            <a:off x="638388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CaixaDeTexto 38"/>
          <p:cNvSpPr/>
          <p:nvPr/>
        </p:nvSpPr>
        <p:spPr>
          <a:xfrm>
            <a:off x="658296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" name="Conector em curva 39"/>
          <p:cNvSpPr/>
          <p:nvPr/>
        </p:nvSpPr>
        <p:spPr>
          <a:xfrm flipV="1">
            <a:off x="5663880" y="41169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0" name="Conector reto 44"/>
          <p:cNvSpPr/>
          <p:nvPr/>
        </p:nvSpPr>
        <p:spPr>
          <a:xfrm flipH="1">
            <a:off x="2495520" y="5301000"/>
            <a:ext cx="5184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Conector reto 47"/>
          <p:cNvSpPr/>
          <p:nvPr/>
        </p:nvSpPr>
        <p:spPr>
          <a:xfrm flipV="1">
            <a:off x="2495520" y="4095720"/>
            <a:ext cx="360" cy="12052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2" name="Conector de seta reta 48"/>
          <p:cNvSpPr/>
          <p:nvPr/>
        </p:nvSpPr>
        <p:spPr>
          <a:xfrm>
            <a:off x="2495520" y="4096080"/>
            <a:ext cx="287280" cy="360"/>
          </a:xfrm>
          <a:custGeom>
            <a:avLst/>
            <a:gdLst>
              <a:gd name="textAreaLeft" fmla="*/ 0 w 287280"/>
              <a:gd name="textAreaRight" fmla="*/ 287640 w 287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3" name="Conector reto 8"/>
          <p:cNvSpPr/>
          <p:nvPr/>
        </p:nvSpPr>
        <p:spPr>
          <a:xfrm flipV="1">
            <a:off x="7679880" y="4477680"/>
            <a:ext cx="360" cy="82332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Conector reto 50"/>
          <p:cNvSpPr/>
          <p:nvPr/>
        </p:nvSpPr>
        <p:spPr>
          <a:xfrm flipH="1">
            <a:off x="7463880" y="4455720"/>
            <a:ext cx="216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CaixaDeTexto 26"/>
          <p:cNvSpPr/>
          <p:nvPr/>
        </p:nvSpPr>
        <p:spPr>
          <a:xfrm>
            <a:off x="4803120" y="3429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" name="CaixaDeTexto 25"/>
          <p:cNvSpPr/>
          <p:nvPr/>
        </p:nvSpPr>
        <p:spPr>
          <a:xfrm>
            <a:off x="4921560" y="38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7" name="CaixaDeTexto 27"/>
          <p:cNvSpPr/>
          <p:nvPr/>
        </p:nvSpPr>
        <p:spPr>
          <a:xfrm>
            <a:off x="6753240" y="3890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C7E7AD3-44BA-4707-9608-263B2AD04DF1}" type="slidenum">
              <a:t>87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Removendo um elemento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Elipse 9"/>
          <p:cNvSpPr/>
          <p:nvPr/>
        </p:nvSpPr>
        <p:spPr>
          <a:xfrm>
            <a:off x="45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6" name="Conector reto 10"/>
          <p:cNvSpPr/>
          <p:nvPr/>
        </p:nvSpPr>
        <p:spPr>
          <a:xfrm>
            <a:off x="4583520" y="427104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" name="CaixaDeTexto 12"/>
          <p:cNvSpPr/>
          <p:nvPr/>
        </p:nvSpPr>
        <p:spPr>
          <a:xfrm>
            <a:off x="4782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Conector em curva 49"/>
          <p:cNvSpPr/>
          <p:nvPr/>
        </p:nvSpPr>
        <p:spPr>
          <a:xfrm flipV="1">
            <a:off x="3863880" y="40953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Elipse 34"/>
          <p:cNvSpPr/>
          <p:nvPr/>
        </p:nvSpPr>
        <p:spPr>
          <a:xfrm>
            <a:off x="6383880" y="3767400"/>
            <a:ext cx="1007280" cy="10072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Conector reto 36"/>
          <p:cNvSpPr/>
          <p:nvPr/>
        </p:nvSpPr>
        <p:spPr>
          <a:xfrm>
            <a:off x="638388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CaixaDeTexto 38"/>
          <p:cNvSpPr/>
          <p:nvPr/>
        </p:nvSpPr>
        <p:spPr>
          <a:xfrm>
            <a:off x="658296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Conector em curva 39"/>
          <p:cNvSpPr/>
          <p:nvPr/>
        </p:nvSpPr>
        <p:spPr>
          <a:xfrm flipV="1">
            <a:off x="5663880" y="41169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Conector reto 44"/>
          <p:cNvSpPr/>
          <p:nvPr/>
        </p:nvSpPr>
        <p:spPr>
          <a:xfrm flipH="1">
            <a:off x="2495520" y="5301000"/>
            <a:ext cx="5184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" name="Conector reto 47"/>
          <p:cNvSpPr/>
          <p:nvPr/>
        </p:nvSpPr>
        <p:spPr>
          <a:xfrm flipV="1">
            <a:off x="2495520" y="4095720"/>
            <a:ext cx="360" cy="12052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Conector de seta reta 48"/>
          <p:cNvSpPr/>
          <p:nvPr/>
        </p:nvSpPr>
        <p:spPr>
          <a:xfrm>
            <a:off x="2495520" y="4096080"/>
            <a:ext cx="287280" cy="360"/>
          </a:xfrm>
          <a:custGeom>
            <a:avLst/>
            <a:gdLst>
              <a:gd name="textAreaLeft" fmla="*/ 0 w 287280"/>
              <a:gd name="textAreaRight" fmla="*/ 287640 w 287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Conector reto 8"/>
          <p:cNvSpPr/>
          <p:nvPr/>
        </p:nvSpPr>
        <p:spPr>
          <a:xfrm flipV="1">
            <a:off x="7679880" y="4477680"/>
            <a:ext cx="360" cy="82332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7" name="Conector reto 50"/>
          <p:cNvSpPr/>
          <p:nvPr/>
        </p:nvSpPr>
        <p:spPr>
          <a:xfrm flipH="1">
            <a:off x="7463880" y="4455720"/>
            <a:ext cx="216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8" name="CaixaDeTexto 25"/>
          <p:cNvSpPr/>
          <p:nvPr/>
        </p:nvSpPr>
        <p:spPr>
          <a:xfrm>
            <a:off x="6728400" y="472500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0000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CaixaDeTexto 26"/>
          <p:cNvSpPr/>
          <p:nvPr/>
        </p:nvSpPr>
        <p:spPr>
          <a:xfrm>
            <a:off x="4803120" y="3429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CaixaDeTexto 5"/>
          <p:cNvSpPr/>
          <p:nvPr/>
        </p:nvSpPr>
        <p:spPr>
          <a:xfrm>
            <a:off x="8211960" y="4640760"/>
            <a:ext cx="2214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Recupera o elemento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ser removido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1" name="CaixaDeTexto 27"/>
          <p:cNvSpPr/>
          <p:nvPr/>
        </p:nvSpPr>
        <p:spPr>
          <a:xfrm>
            <a:off x="4921560" y="38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CaixaDeTexto 28"/>
          <p:cNvSpPr/>
          <p:nvPr/>
        </p:nvSpPr>
        <p:spPr>
          <a:xfrm>
            <a:off x="6753240" y="3890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38BA947-9212-4896-967F-A585E9904BF4}" type="slidenum">
              <a:t>88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Removendo um elemento da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5" name="Elipse 13"/>
          <p:cNvSpPr/>
          <p:nvPr/>
        </p:nvSpPr>
        <p:spPr>
          <a:xfrm>
            <a:off x="285552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Conector reto 14"/>
          <p:cNvSpPr/>
          <p:nvPr/>
        </p:nvSpPr>
        <p:spPr>
          <a:xfrm>
            <a:off x="2855520" y="4271040"/>
            <a:ext cx="1008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CaixaDeTexto 15"/>
          <p:cNvSpPr/>
          <p:nvPr/>
        </p:nvSpPr>
        <p:spPr>
          <a:xfrm>
            <a:off x="3075120" y="3911400"/>
            <a:ext cx="60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" name="CaixaDeTexto 16"/>
          <p:cNvSpPr/>
          <p:nvPr/>
        </p:nvSpPr>
        <p:spPr>
          <a:xfrm>
            <a:off x="3054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9" name="CaixaDeTexto 17"/>
          <p:cNvSpPr/>
          <p:nvPr/>
        </p:nvSpPr>
        <p:spPr>
          <a:xfrm>
            <a:off x="3004920" y="4788000"/>
            <a:ext cx="66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Elipse 9"/>
          <p:cNvSpPr/>
          <p:nvPr/>
        </p:nvSpPr>
        <p:spPr>
          <a:xfrm>
            <a:off x="4583880" y="3767400"/>
            <a:ext cx="1007280" cy="1007280"/>
          </a:xfrm>
          <a:prstGeom prst="ellipse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Conector reto 10"/>
          <p:cNvSpPr/>
          <p:nvPr/>
        </p:nvSpPr>
        <p:spPr>
          <a:xfrm>
            <a:off x="4583520" y="4271040"/>
            <a:ext cx="1008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2" name="CaixaDeTexto 12"/>
          <p:cNvSpPr/>
          <p:nvPr/>
        </p:nvSpPr>
        <p:spPr>
          <a:xfrm>
            <a:off x="478260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3" name="Conector em curva 49"/>
          <p:cNvSpPr/>
          <p:nvPr/>
        </p:nvSpPr>
        <p:spPr>
          <a:xfrm flipV="1">
            <a:off x="3863880" y="4095360"/>
            <a:ext cx="667800" cy="35928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" name="Elipse 34"/>
          <p:cNvSpPr/>
          <p:nvPr/>
        </p:nvSpPr>
        <p:spPr>
          <a:xfrm>
            <a:off x="6383880" y="3767400"/>
            <a:ext cx="1007280" cy="1007280"/>
          </a:xfrm>
          <a:prstGeom prst="ellipse">
            <a:avLst/>
          </a:prstGeom>
          <a:noFill/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Conector reto 36"/>
          <p:cNvSpPr/>
          <p:nvPr/>
        </p:nvSpPr>
        <p:spPr>
          <a:xfrm>
            <a:off x="6383880" y="4271040"/>
            <a:ext cx="1008000" cy="360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6" name="CaixaDeTexto 38"/>
          <p:cNvSpPr/>
          <p:nvPr/>
        </p:nvSpPr>
        <p:spPr>
          <a:xfrm>
            <a:off x="6582960" y="4271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Prox.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Conector reto 44"/>
          <p:cNvSpPr/>
          <p:nvPr/>
        </p:nvSpPr>
        <p:spPr>
          <a:xfrm flipH="1">
            <a:off x="2495520" y="5301000"/>
            <a:ext cx="338436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8" name="Conector reto 47"/>
          <p:cNvSpPr/>
          <p:nvPr/>
        </p:nvSpPr>
        <p:spPr>
          <a:xfrm flipV="1">
            <a:off x="2495520" y="4095720"/>
            <a:ext cx="360" cy="12052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Conector de seta reta 48"/>
          <p:cNvSpPr/>
          <p:nvPr/>
        </p:nvSpPr>
        <p:spPr>
          <a:xfrm>
            <a:off x="2495520" y="4096080"/>
            <a:ext cx="287280" cy="360"/>
          </a:xfrm>
          <a:custGeom>
            <a:avLst/>
            <a:gdLst>
              <a:gd name="textAreaLeft" fmla="*/ 0 w 287280"/>
              <a:gd name="textAreaRight" fmla="*/ 287640 w 287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Conector reto 8"/>
          <p:cNvSpPr/>
          <p:nvPr/>
        </p:nvSpPr>
        <p:spPr>
          <a:xfrm flipV="1">
            <a:off x="5879880" y="4477680"/>
            <a:ext cx="360" cy="82332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1" name="Conector reto 50"/>
          <p:cNvSpPr/>
          <p:nvPr/>
        </p:nvSpPr>
        <p:spPr>
          <a:xfrm flipH="1">
            <a:off x="5663880" y="4455720"/>
            <a:ext cx="216000" cy="36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CaixaDeTexto 25"/>
          <p:cNvSpPr/>
          <p:nvPr/>
        </p:nvSpPr>
        <p:spPr>
          <a:xfrm>
            <a:off x="6728400" y="4725000"/>
            <a:ext cx="29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q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" name="CaixaDeTexto 26"/>
          <p:cNvSpPr/>
          <p:nvPr/>
        </p:nvSpPr>
        <p:spPr>
          <a:xfrm>
            <a:off x="4803120" y="3429000"/>
            <a:ext cx="58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Aux.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CaixaDeTexto 6"/>
          <p:cNvSpPr/>
          <p:nvPr/>
        </p:nvSpPr>
        <p:spPr>
          <a:xfrm>
            <a:off x="4717800" y="5385600"/>
            <a:ext cx="5114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Ao invés de referenciar nulo, passa 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referenciar o primeiro elemento (próximo elemento).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" name="Conector de Seta Reta 28"/>
          <p:cNvSpPr/>
          <p:nvPr/>
        </p:nvSpPr>
        <p:spPr>
          <a:xfrm>
            <a:off x="6863040" y="3104640"/>
            <a:ext cx="360" cy="474120"/>
          </a:xfrm>
          <a:custGeom>
            <a:avLst/>
            <a:gdLst>
              <a:gd name="textAreaLeft" fmla="*/ 0 w 360"/>
              <a:gd name="textAreaRight" fmla="*/ 720 w 360"/>
              <a:gd name="textAreaTop" fmla="*/ 0 h 474120"/>
              <a:gd name="textAreaBottom" fmla="*/ 474480 h 474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CaixaDeTexto 29"/>
          <p:cNvSpPr/>
          <p:nvPr/>
        </p:nvSpPr>
        <p:spPr>
          <a:xfrm>
            <a:off x="6597720" y="2638440"/>
            <a:ext cx="2901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Lixo de memória (inacessível)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" name="CaixaDeTexto 30"/>
          <p:cNvSpPr/>
          <p:nvPr/>
        </p:nvSpPr>
        <p:spPr>
          <a:xfrm>
            <a:off x="4921560" y="389700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8" name="CaixaDeTexto 31"/>
          <p:cNvSpPr/>
          <p:nvPr/>
        </p:nvSpPr>
        <p:spPr>
          <a:xfrm>
            <a:off x="6753240" y="3890880"/>
            <a:ext cx="365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pt-BR" sz="1800" spc="-1" strike="noStrike">
                <a:solidFill>
                  <a:srgbClr val="a6a6a6"/>
                </a:solidFill>
                <a:latin typeface="Calibri"/>
                <a:ea typeface="DejaVu Sans"/>
              </a:rPr>
              <a:t>X</a:t>
            </a:r>
            <a:r>
              <a:rPr b="0" i="1" lang="pt-BR" sz="1800" spc="-1" strike="noStrike" baseline="-25000">
                <a:solidFill>
                  <a:srgbClr val="a6a6a6"/>
                </a:solidFill>
                <a:latin typeface="Calibri"/>
                <a:ea typeface="DejaVu Sans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23B321D-8CF9-47A5-968B-3C21E3B64597}" type="slidenum">
              <a:t>89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Listas Circulares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Como nas listas lineares, para remover o ultimo elemento é necessário percorrer toda a lista.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No entanto, com listas circulares é possível acessar qualquer elemento de qualquer ponto da lista (uma vez que a partir do último é possível acessar o primeiro).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B7F6D22-AA53-4632-9D1B-D60D58781D4D}" type="slidenum">
              <a:t>90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Exercícios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Baseado na implementação da lista ligada (lista auto referenciada ou encadeada) apresentada em aula, implemente as listas Duplamente Encadeada e a Lista Circular e suas operações básicas.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Para a lista Duplamente Encadeada implemente operações que: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Insere novo elemento no meio da lista (ordenada);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Remove ultimo elemento;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D255DB6-D40C-4371-9E62-21E6AD5B6DFA}" type="slidenum">
              <a:t>91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Calibri Light"/>
              </a:rPr>
              <a:t>Referências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4444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Baseado no material de aulas de: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ZIVIANI, Nivio. Projeto de algoritmos: com implementações em Java e C++. São Paulo: Thomson Learning, c2007. 621 p.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Para downloads dos códigos em Java: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http://www2.dcc.ufmg.br/livros/algoritmos-java/implementacoes-03.php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Outras referências: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CORMEN, Thomas H. et al. Algoritmos: teoria e prática. Rio de Janeiro: Campus, 2002. 916p. ISBN 8535209263 (Disponível no Acervo).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</a:rPr>
              <a:t>DROZDEK, Adam. Estrutura de dados e algoritmos em C++. São Paulo: Pioneira Thomson Learning, 2002. xviii, 579p. ISBN 8522102953 (Disponível no Acervo).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633A507-33B3-4C09-B573-D7B8F2B65EE1}" type="slidenum">
              <a:t>92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</TotalTime>
  <Application>LibreOffice/24.2.7.2$Linux_X86_64 LibreOffice_project/420$Build-2</Application>
  <AppVersion>15.0000</AppVersion>
  <Words>8179</Words>
  <Paragraphs>1532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2018-02-12T01:38:28Z</dcterms:created>
  <dc:creator>Henrique Silva</dc:creator>
  <dc:description/>
  <dc:language>pt-BR</dc:language>
  <cp:lastModifiedBy/>
  <dcterms:modified xsi:type="dcterms:W3CDTF">2025-08-11T19:51:34Z</dcterms:modified>
  <cp:revision>25</cp:revision>
  <dc:subject/>
  <dc:title>TAD – Listas Lineares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96</vt:i4>
  </property>
</Properties>
</file>