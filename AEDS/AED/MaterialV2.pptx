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4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5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7" r:id="rId2"/>
    <p:sldMasterId id="2147483673" r:id="rId3"/>
    <p:sldMasterId id="2147483685" r:id="rId4"/>
    <p:sldMasterId id="2147483691" r:id="rId5"/>
    <p:sldMasterId id="2147483703" r:id="rId6"/>
  </p:sldMasterIdLst>
  <p:notesMasterIdLst>
    <p:notesMasterId r:id="rId298"/>
  </p:notesMasterIdLst>
  <p:handoutMasterIdLst>
    <p:handoutMasterId r:id="rId299"/>
  </p:handoutMasterIdLst>
  <p:sldIdLst>
    <p:sldId id="256" r:id="rId7"/>
    <p:sldId id="308" r:id="rId8"/>
    <p:sldId id="309" r:id="rId9"/>
    <p:sldId id="311" r:id="rId10"/>
    <p:sldId id="312" r:id="rId11"/>
    <p:sldId id="439" r:id="rId12"/>
    <p:sldId id="699" r:id="rId13"/>
    <p:sldId id="313" r:id="rId14"/>
    <p:sldId id="314" r:id="rId15"/>
    <p:sldId id="339" r:id="rId16"/>
    <p:sldId id="341" r:id="rId17"/>
    <p:sldId id="664" r:id="rId18"/>
    <p:sldId id="665" r:id="rId19"/>
    <p:sldId id="666" r:id="rId20"/>
    <p:sldId id="667" r:id="rId21"/>
    <p:sldId id="668" r:id="rId22"/>
    <p:sldId id="669" r:id="rId23"/>
    <p:sldId id="670" r:id="rId24"/>
    <p:sldId id="671" r:id="rId25"/>
    <p:sldId id="672" r:id="rId26"/>
    <p:sldId id="673" r:id="rId27"/>
    <p:sldId id="674" r:id="rId28"/>
    <p:sldId id="675" r:id="rId29"/>
    <p:sldId id="676" r:id="rId30"/>
    <p:sldId id="677" r:id="rId31"/>
    <p:sldId id="678" r:id="rId32"/>
    <p:sldId id="679" r:id="rId33"/>
    <p:sldId id="680" r:id="rId34"/>
    <p:sldId id="681" r:id="rId35"/>
    <p:sldId id="682" r:id="rId36"/>
    <p:sldId id="683" r:id="rId37"/>
    <p:sldId id="684" r:id="rId38"/>
    <p:sldId id="685" r:id="rId39"/>
    <p:sldId id="686" r:id="rId40"/>
    <p:sldId id="687" r:id="rId41"/>
    <p:sldId id="688" r:id="rId42"/>
    <p:sldId id="689" r:id="rId43"/>
    <p:sldId id="690" r:id="rId44"/>
    <p:sldId id="691" r:id="rId45"/>
    <p:sldId id="692" r:id="rId46"/>
    <p:sldId id="693" r:id="rId47"/>
    <p:sldId id="694" r:id="rId48"/>
    <p:sldId id="695" r:id="rId49"/>
    <p:sldId id="696" r:id="rId50"/>
    <p:sldId id="697" r:id="rId51"/>
    <p:sldId id="698" r:id="rId52"/>
    <p:sldId id="342" r:id="rId53"/>
    <p:sldId id="343" r:id="rId54"/>
    <p:sldId id="344" r:id="rId55"/>
    <p:sldId id="345" r:id="rId56"/>
    <p:sldId id="346" r:id="rId57"/>
    <p:sldId id="347" r:id="rId58"/>
    <p:sldId id="348" r:id="rId59"/>
    <p:sldId id="349" r:id="rId60"/>
    <p:sldId id="350" r:id="rId61"/>
    <p:sldId id="351" r:id="rId62"/>
    <p:sldId id="352" r:id="rId63"/>
    <p:sldId id="353" r:id="rId64"/>
    <p:sldId id="354" r:id="rId65"/>
    <p:sldId id="355" r:id="rId66"/>
    <p:sldId id="356" r:id="rId67"/>
    <p:sldId id="357" r:id="rId68"/>
    <p:sldId id="358" r:id="rId69"/>
    <p:sldId id="315" r:id="rId70"/>
    <p:sldId id="316" r:id="rId71"/>
    <p:sldId id="317" r:id="rId72"/>
    <p:sldId id="318" r:id="rId73"/>
    <p:sldId id="319" r:id="rId74"/>
    <p:sldId id="320" r:id="rId75"/>
    <p:sldId id="321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795" r:id="rId85"/>
    <p:sldId id="796" r:id="rId86"/>
    <p:sldId id="797" r:id="rId87"/>
    <p:sldId id="798" r:id="rId88"/>
    <p:sldId id="334" r:id="rId89"/>
    <p:sldId id="335" r:id="rId90"/>
    <p:sldId id="336" r:id="rId91"/>
    <p:sldId id="337" r:id="rId92"/>
    <p:sldId id="338" r:id="rId93"/>
    <p:sldId id="566" r:id="rId94"/>
    <p:sldId id="567" r:id="rId95"/>
    <p:sldId id="568" r:id="rId96"/>
    <p:sldId id="569" r:id="rId97"/>
    <p:sldId id="570" r:id="rId98"/>
    <p:sldId id="571" r:id="rId99"/>
    <p:sldId id="572" r:id="rId100"/>
    <p:sldId id="573" r:id="rId101"/>
    <p:sldId id="574" r:id="rId102"/>
    <p:sldId id="575" r:id="rId103"/>
    <p:sldId id="576" r:id="rId104"/>
    <p:sldId id="577" r:id="rId105"/>
    <p:sldId id="578" r:id="rId106"/>
    <p:sldId id="579" r:id="rId107"/>
    <p:sldId id="580" r:id="rId108"/>
    <p:sldId id="581" r:id="rId109"/>
    <p:sldId id="582" r:id="rId110"/>
    <p:sldId id="583" r:id="rId111"/>
    <p:sldId id="584" r:id="rId112"/>
    <p:sldId id="585" r:id="rId113"/>
    <p:sldId id="586" r:id="rId114"/>
    <p:sldId id="587" r:id="rId115"/>
    <p:sldId id="588" r:id="rId116"/>
    <p:sldId id="589" r:id="rId117"/>
    <p:sldId id="590" r:id="rId118"/>
    <p:sldId id="591" r:id="rId119"/>
    <p:sldId id="592" r:id="rId120"/>
    <p:sldId id="593" r:id="rId121"/>
    <p:sldId id="594" r:id="rId122"/>
    <p:sldId id="595" r:id="rId123"/>
    <p:sldId id="596" r:id="rId124"/>
    <p:sldId id="597" r:id="rId125"/>
    <p:sldId id="598" r:id="rId126"/>
    <p:sldId id="599" r:id="rId127"/>
    <p:sldId id="625" r:id="rId128"/>
    <p:sldId id="600" r:id="rId129"/>
    <p:sldId id="601" r:id="rId130"/>
    <p:sldId id="602" r:id="rId131"/>
    <p:sldId id="603" r:id="rId132"/>
    <p:sldId id="604" r:id="rId133"/>
    <p:sldId id="605" r:id="rId134"/>
    <p:sldId id="606" r:id="rId135"/>
    <p:sldId id="607" r:id="rId136"/>
    <p:sldId id="608" r:id="rId137"/>
    <p:sldId id="609" r:id="rId138"/>
    <p:sldId id="610" r:id="rId139"/>
    <p:sldId id="611" r:id="rId140"/>
    <p:sldId id="612" r:id="rId141"/>
    <p:sldId id="613" r:id="rId142"/>
    <p:sldId id="614" r:id="rId143"/>
    <p:sldId id="615" r:id="rId144"/>
    <p:sldId id="616" r:id="rId145"/>
    <p:sldId id="617" r:id="rId146"/>
    <p:sldId id="618" r:id="rId147"/>
    <p:sldId id="619" r:id="rId148"/>
    <p:sldId id="620" r:id="rId149"/>
    <p:sldId id="621" r:id="rId150"/>
    <p:sldId id="622" r:id="rId151"/>
    <p:sldId id="623" r:id="rId152"/>
    <p:sldId id="624" r:id="rId153"/>
    <p:sldId id="626" r:id="rId154"/>
    <p:sldId id="627" r:id="rId155"/>
    <p:sldId id="628" r:id="rId156"/>
    <p:sldId id="629" r:id="rId157"/>
    <p:sldId id="630" r:id="rId158"/>
    <p:sldId id="631" r:id="rId159"/>
    <p:sldId id="632" r:id="rId160"/>
    <p:sldId id="633" r:id="rId161"/>
    <p:sldId id="634" r:id="rId162"/>
    <p:sldId id="635" r:id="rId163"/>
    <p:sldId id="636" r:id="rId164"/>
    <p:sldId id="637" r:id="rId165"/>
    <p:sldId id="638" r:id="rId166"/>
    <p:sldId id="639" r:id="rId167"/>
    <p:sldId id="640" r:id="rId168"/>
    <p:sldId id="641" r:id="rId169"/>
    <p:sldId id="642" r:id="rId170"/>
    <p:sldId id="643" r:id="rId171"/>
    <p:sldId id="644" r:id="rId172"/>
    <p:sldId id="645" r:id="rId173"/>
    <p:sldId id="654" r:id="rId174"/>
    <p:sldId id="655" r:id="rId175"/>
    <p:sldId id="656" r:id="rId176"/>
    <p:sldId id="657" r:id="rId177"/>
    <p:sldId id="658" r:id="rId178"/>
    <p:sldId id="659" r:id="rId179"/>
    <p:sldId id="660" r:id="rId180"/>
    <p:sldId id="661" r:id="rId181"/>
    <p:sldId id="662" r:id="rId182"/>
    <p:sldId id="663" r:id="rId183"/>
    <p:sldId id="648" r:id="rId184"/>
    <p:sldId id="649" r:id="rId185"/>
    <p:sldId id="650" r:id="rId186"/>
    <p:sldId id="651" r:id="rId187"/>
    <p:sldId id="652" r:id="rId188"/>
    <p:sldId id="653" r:id="rId189"/>
    <p:sldId id="646" r:id="rId190"/>
    <p:sldId id="647" r:id="rId191"/>
    <p:sldId id="518" r:id="rId192"/>
    <p:sldId id="519" r:id="rId193"/>
    <p:sldId id="520" r:id="rId194"/>
    <p:sldId id="521" r:id="rId195"/>
    <p:sldId id="522" r:id="rId196"/>
    <p:sldId id="523" r:id="rId197"/>
    <p:sldId id="524" r:id="rId198"/>
    <p:sldId id="525" r:id="rId199"/>
    <p:sldId id="526" r:id="rId200"/>
    <p:sldId id="527" r:id="rId201"/>
    <p:sldId id="528" r:id="rId202"/>
    <p:sldId id="529" r:id="rId203"/>
    <p:sldId id="530" r:id="rId204"/>
    <p:sldId id="531" r:id="rId205"/>
    <p:sldId id="532" r:id="rId206"/>
    <p:sldId id="533" r:id="rId207"/>
    <p:sldId id="534" r:id="rId208"/>
    <p:sldId id="535" r:id="rId209"/>
    <p:sldId id="536" r:id="rId210"/>
    <p:sldId id="537" r:id="rId211"/>
    <p:sldId id="538" r:id="rId212"/>
    <p:sldId id="539" r:id="rId213"/>
    <p:sldId id="540" r:id="rId214"/>
    <p:sldId id="541" r:id="rId215"/>
    <p:sldId id="542" r:id="rId216"/>
    <p:sldId id="543" r:id="rId217"/>
    <p:sldId id="544" r:id="rId218"/>
    <p:sldId id="545" r:id="rId219"/>
    <p:sldId id="546" r:id="rId220"/>
    <p:sldId id="547" r:id="rId221"/>
    <p:sldId id="548" r:id="rId222"/>
    <p:sldId id="549" r:id="rId223"/>
    <p:sldId id="550" r:id="rId224"/>
    <p:sldId id="551" r:id="rId225"/>
    <p:sldId id="552" r:id="rId226"/>
    <p:sldId id="553" r:id="rId227"/>
    <p:sldId id="554" r:id="rId228"/>
    <p:sldId id="555" r:id="rId229"/>
    <p:sldId id="556" r:id="rId230"/>
    <p:sldId id="557" r:id="rId231"/>
    <p:sldId id="558" r:id="rId232"/>
    <p:sldId id="559" r:id="rId233"/>
    <p:sldId id="560" r:id="rId234"/>
    <p:sldId id="561" r:id="rId235"/>
    <p:sldId id="562" r:id="rId236"/>
    <p:sldId id="563" r:id="rId237"/>
    <p:sldId id="564" r:id="rId238"/>
    <p:sldId id="565" r:id="rId239"/>
    <p:sldId id="777" r:id="rId240"/>
    <p:sldId id="440" r:id="rId241"/>
    <p:sldId id="441" r:id="rId242"/>
    <p:sldId id="442" r:id="rId243"/>
    <p:sldId id="257" r:id="rId244"/>
    <p:sldId id="258" r:id="rId245"/>
    <p:sldId id="259" r:id="rId246"/>
    <p:sldId id="260" r:id="rId247"/>
    <p:sldId id="261" r:id="rId248"/>
    <p:sldId id="262" r:id="rId249"/>
    <p:sldId id="263" r:id="rId250"/>
    <p:sldId id="264" r:id="rId251"/>
    <p:sldId id="265" r:id="rId252"/>
    <p:sldId id="266" r:id="rId253"/>
    <p:sldId id="267" r:id="rId254"/>
    <p:sldId id="268" r:id="rId255"/>
    <p:sldId id="269" r:id="rId256"/>
    <p:sldId id="270" r:id="rId257"/>
    <p:sldId id="271" r:id="rId258"/>
    <p:sldId id="282" r:id="rId259"/>
    <p:sldId id="283" r:id="rId260"/>
    <p:sldId id="284" r:id="rId261"/>
    <p:sldId id="285" r:id="rId262"/>
    <p:sldId id="286" r:id="rId263"/>
    <p:sldId id="287" r:id="rId264"/>
    <p:sldId id="288" r:id="rId265"/>
    <p:sldId id="289" r:id="rId266"/>
    <p:sldId id="290" r:id="rId267"/>
    <p:sldId id="291" r:id="rId268"/>
    <p:sldId id="297" r:id="rId269"/>
    <p:sldId id="298" r:id="rId270"/>
    <p:sldId id="299" r:id="rId271"/>
    <p:sldId id="300" r:id="rId272"/>
    <p:sldId id="301" r:id="rId273"/>
    <p:sldId id="302" r:id="rId274"/>
    <p:sldId id="303" r:id="rId275"/>
    <p:sldId id="443" r:id="rId276"/>
    <p:sldId id="304" r:id="rId277"/>
    <p:sldId id="305" r:id="rId278"/>
    <p:sldId id="306" r:id="rId279"/>
    <p:sldId id="307" r:id="rId280"/>
    <p:sldId id="778" r:id="rId281"/>
    <p:sldId id="779" r:id="rId282"/>
    <p:sldId id="780" r:id="rId283"/>
    <p:sldId id="781" r:id="rId284"/>
    <p:sldId id="782" r:id="rId285"/>
    <p:sldId id="783" r:id="rId286"/>
    <p:sldId id="784" r:id="rId287"/>
    <p:sldId id="785" r:id="rId288"/>
    <p:sldId id="786" r:id="rId289"/>
    <p:sldId id="787" r:id="rId290"/>
    <p:sldId id="788" r:id="rId291"/>
    <p:sldId id="789" r:id="rId292"/>
    <p:sldId id="790" r:id="rId293"/>
    <p:sldId id="791" r:id="rId294"/>
    <p:sldId id="792" r:id="rId295"/>
    <p:sldId id="793" r:id="rId296"/>
    <p:sldId id="794" r:id="rId297"/>
  </p:sldIdLst>
  <p:sldSz cx="10693400" cy="7556500"/>
  <p:notesSz cx="10693400" cy="75565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0" d="100"/>
          <a:sy n="60" d="100"/>
        </p:scale>
        <p:origin x="-1362" y="-2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8172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1.xml"/><Relationship Id="rId299" Type="http://schemas.openxmlformats.org/officeDocument/2006/relationships/handoutMaster" Target="handoutMasters/handoutMaster1.xml"/><Relationship Id="rId303" Type="http://schemas.openxmlformats.org/officeDocument/2006/relationships/tableStyles" Target="tableStyles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63" Type="http://schemas.openxmlformats.org/officeDocument/2006/relationships/slide" Target="slides/slide57.xml"/><Relationship Id="rId84" Type="http://schemas.openxmlformats.org/officeDocument/2006/relationships/slide" Target="slides/slide78.xml"/><Relationship Id="rId138" Type="http://schemas.openxmlformats.org/officeDocument/2006/relationships/slide" Target="slides/slide132.xml"/><Relationship Id="rId159" Type="http://schemas.openxmlformats.org/officeDocument/2006/relationships/slide" Target="slides/slide153.xml"/><Relationship Id="rId170" Type="http://schemas.openxmlformats.org/officeDocument/2006/relationships/slide" Target="slides/slide164.xml"/><Relationship Id="rId191" Type="http://schemas.openxmlformats.org/officeDocument/2006/relationships/slide" Target="slides/slide185.xml"/><Relationship Id="rId205" Type="http://schemas.openxmlformats.org/officeDocument/2006/relationships/slide" Target="slides/slide199.xml"/><Relationship Id="rId226" Type="http://schemas.openxmlformats.org/officeDocument/2006/relationships/slide" Target="slides/slide220.xml"/><Relationship Id="rId247" Type="http://schemas.openxmlformats.org/officeDocument/2006/relationships/slide" Target="slides/slide241.xml"/><Relationship Id="rId107" Type="http://schemas.openxmlformats.org/officeDocument/2006/relationships/slide" Target="slides/slide101.xml"/><Relationship Id="rId268" Type="http://schemas.openxmlformats.org/officeDocument/2006/relationships/slide" Target="slides/slide262.xml"/><Relationship Id="rId289" Type="http://schemas.openxmlformats.org/officeDocument/2006/relationships/slide" Target="slides/slide283.xml"/><Relationship Id="rId11" Type="http://schemas.openxmlformats.org/officeDocument/2006/relationships/slide" Target="slides/slide5.xml"/><Relationship Id="rId32" Type="http://schemas.openxmlformats.org/officeDocument/2006/relationships/slide" Target="slides/slide26.xml"/><Relationship Id="rId53" Type="http://schemas.openxmlformats.org/officeDocument/2006/relationships/slide" Target="slides/slide47.xml"/><Relationship Id="rId74" Type="http://schemas.openxmlformats.org/officeDocument/2006/relationships/slide" Target="slides/slide68.xml"/><Relationship Id="rId128" Type="http://schemas.openxmlformats.org/officeDocument/2006/relationships/slide" Target="slides/slide122.xml"/><Relationship Id="rId149" Type="http://schemas.openxmlformats.org/officeDocument/2006/relationships/slide" Target="slides/slide143.xml"/><Relationship Id="rId5" Type="http://schemas.openxmlformats.org/officeDocument/2006/relationships/slideMaster" Target="slideMasters/slideMaster5.xml"/><Relationship Id="rId95" Type="http://schemas.openxmlformats.org/officeDocument/2006/relationships/slide" Target="slides/slide89.xml"/><Relationship Id="rId160" Type="http://schemas.openxmlformats.org/officeDocument/2006/relationships/slide" Target="slides/slide154.xml"/><Relationship Id="rId181" Type="http://schemas.openxmlformats.org/officeDocument/2006/relationships/slide" Target="slides/slide175.xml"/><Relationship Id="rId216" Type="http://schemas.openxmlformats.org/officeDocument/2006/relationships/slide" Target="slides/slide210.xml"/><Relationship Id="rId237" Type="http://schemas.openxmlformats.org/officeDocument/2006/relationships/slide" Target="slides/slide231.xml"/><Relationship Id="rId258" Type="http://schemas.openxmlformats.org/officeDocument/2006/relationships/slide" Target="slides/slide252.xml"/><Relationship Id="rId279" Type="http://schemas.openxmlformats.org/officeDocument/2006/relationships/slide" Target="slides/slide273.xml"/><Relationship Id="rId22" Type="http://schemas.openxmlformats.org/officeDocument/2006/relationships/slide" Target="slides/slide16.xml"/><Relationship Id="rId43" Type="http://schemas.openxmlformats.org/officeDocument/2006/relationships/slide" Target="slides/slide37.xml"/><Relationship Id="rId64" Type="http://schemas.openxmlformats.org/officeDocument/2006/relationships/slide" Target="slides/slide58.xml"/><Relationship Id="rId118" Type="http://schemas.openxmlformats.org/officeDocument/2006/relationships/slide" Target="slides/slide112.xml"/><Relationship Id="rId139" Type="http://schemas.openxmlformats.org/officeDocument/2006/relationships/slide" Target="slides/slide133.xml"/><Relationship Id="rId290" Type="http://schemas.openxmlformats.org/officeDocument/2006/relationships/slide" Target="slides/slide284.xml"/><Relationship Id="rId85" Type="http://schemas.openxmlformats.org/officeDocument/2006/relationships/slide" Target="slides/slide79.xml"/><Relationship Id="rId150" Type="http://schemas.openxmlformats.org/officeDocument/2006/relationships/slide" Target="slides/slide144.xml"/><Relationship Id="rId171" Type="http://schemas.openxmlformats.org/officeDocument/2006/relationships/slide" Target="slides/slide165.xml"/><Relationship Id="rId192" Type="http://schemas.openxmlformats.org/officeDocument/2006/relationships/slide" Target="slides/slide186.xml"/><Relationship Id="rId206" Type="http://schemas.openxmlformats.org/officeDocument/2006/relationships/slide" Target="slides/slide200.xml"/><Relationship Id="rId227" Type="http://schemas.openxmlformats.org/officeDocument/2006/relationships/slide" Target="slides/slide221.xml"/><Relationship Id="rId248" Type="http://schemas.openxmlformats.org/officeDocument/2006/relationships/slide" Target="slides/slide242.xml"/><Relationship Id="rId269" Type="http://schemas.openxmlformats.org/officeDocument/2006/relationships/slide" Target="slides/slide263.xml"/><Relationship Id="rId12" Type="http://schemas.openxmlformats.org/officeDocument/2006/relationships/slide" Target="slides/slide6.xml"/><Relationship Id="rId33" Type="http://schemas.openxmlformats.org/officeDocument/2006/relationships/slide" Target="slides/slide27.xml"/><Relationship Id="rId108" Type="http://schemas.openxmlformats.org/officeDocument/2006/relationships/slide" Target="slides/slide102.xml"/><Relationship Id="rId129" Type="http://schemas.openxmlformats.org/officeDocument/2006/relationships/slide" Target="slides/slide123.xml"/><Relationship Id="rId280" Type="http://schemas.openxmlformats.org/officeDocument/2006/relationships/slide" Target="slides/slide274.xml"/><Relationship Id="rId54" Type="http://schemas.openxmlformats.org/officeDocument/2006/relationships/slide" Target="slides/slide48.xml"/><Relationship Id="rId75" Type="http://schemas.openxmlformats.org/officeDocument/2006/relationships/slide" Target="slides/slide69.xml"/><Relationship Id="rId96" Type="http://schemas.openxmlformats.org/officeDocument/2006/relationships/slide" Target="slides/slide90.xml"/><Relationship Id="rId140" Type="http://schemas.openxmlformats.org/officeDocument/2006/relationships/slide" Target="slides/slide134.xml"/><Relationship Id="rId161" Type="http://schemas.openxmlformats.org/officeDocument/2006/relationships/slide" Target="slides/slide155.xml"/><Relationship Id="rId182" Type="http://schemas.openxmlformats.org/officeDocument/2006/relationships/slide" Target="slides/slide176.xml"/><Relationship Id="rId217" Type="http://schemas.openxmlformats.org/officeDocument/2006/relationships/slide" Target="slides/slide211.xml"/><Relationship Id="rId6" Type="http://schemas.openxmlformats.org/officeDocument/2006/relationships/slideMaster" Target="slideMasters/slideMaster6.xml"/><Relationship Id="rId238" Type="http://schemas.openxmlformats.org/officeDocument/2006/relationships/slide" Target="slides/slide232.xml"/><Relationship Id="rId259" Type="http://schemas.openxmlformats.org/officeDocument/2006/relationships/slide" Target="slides/slide253.xml"/><Relationship Id="rId23" Type="http://schemas.openxmlformats.org/officeDocument/2006/relationships/slide" Target="slides/slide17.xml"/><Relationship Id="rId119" Type="http://schemas.openxmlformats.org/officeDocument/2006/relationships/slide" Target="slides/slide113.xml"/><Relationship Id="rId270" Type="http://schemas.openxmlformats.org/officeDocument/2006/relationships/slide" Target="slides/slide264.xml"/><Relationship Id="rId291" Type="http://schemas.openxmlformats.org/officeDocument/2006/relationships/slide" Target="slides/slide285.xml"/><Relationship Id="rId44" Type="http://schemas.openxmlformats.org/officeDocument/2006/relationships/slide" Target="slides/slide38.xml"/><Relationship Id="rId65" Type="http://schemas.openxmlformats.org/officeDocument/2006/relationships/slide" Target="slides/slide59.xml"/><Relationship Id="rId86" Type="http://schemas.openxmlformats.org/officeDocument/2006/relationships/slide" Target="slides/slide80.xml"/><Relationship Id="rId130" Type="http://schemas.openxmlformats.org/officeDocument/2006/relationships/slide" Target="slides/slide124.xml"/><Relationship Id="rId151" Type="http://schemas.openxmlformats.org/officeDocument/2006/relationships/slide" Target="slides/slide145.xml"/><Relationship Id="rId172" Type="http://schemas.openxmlformats.org/officeDocument/2006/relationships/slide" Target="slides/slide166.xml"/><Relationship Id="rId193" Type="http://schemas.openxmlformats.org/officeDocument/2006/relationships/slide" Target="slides/slide187.xml"/><Relationship Id="rId207" Type="http://schemas.openxmlformats.org/officeDocument/2006/relationships/slide" Target="slides/slide201.xml"/><Relationship Id="rId228" Type="http://schemas.openxmlformats.org/officeDocument/2006/relationships/slide" Target="slides/slide222.xml"/><Relationship Id="rId249" Type="http://schemas.openxmlformats.org/officeDocument/2006/relationships/slide" Target="slides/slide243.xml"/><Relationship Id="rId13" Type="http://schemas.openxmlformats.org/officeDocument/2006/relationships/slide" Target="slides/slide7.xml"/><Relationship Id="rId109" Type="http://schemas.openxmlformats.org/officeDocument/2006/relationships/slide" Target="slides/slide103.xml"/><Relationship Id="rId260" Type="http://schemas.openxmlformats.org/officeDocument/2006/relationships/slide" Target="slides/slide254.xml"/><Relationship Id="rId281" Type="http://schemas.openxmlformats.org/officeDocument/2006/relationships/slide" Target="slides/slide275.xml"/><Relationship Id="rId34" Type="http://schemas.openxmlformats.org/officeDocument/2006/relationships/slide" Target="slides/slide28.xml"/><Relationship Id="rId55" Type="http://schemas.openxmlformats.org/officeDocument/2006/relationships/slide" Target="slides/slide49.xml"/><Relationship Id="rId76" Type="http://schemas.openxmlformats.org/officeDocument/2006/relationships/slide" Target="slides/slide70.xml"/><Relationship Id="rId97" Type="http://schemas.openxmlformats.org/officeDocument/2006/relationships/slide" Target="slides/slide91.xml"/><Relationship Id="rId120" Type="http://schemas.openxmlformats.org/officeDocument/2006/relationships/slide" Target="slides/slide114.xml"/><Relationship Id="rId141" Type="http://schemas.openxmlformats.org/officeDocument/2006/relationships/slide" Target="slides/slide135.xml"/><Relationship Id="rId7" Type="http://schemas.openxmlformats.org/officeDocument/2006/relationships/slide" Target="slides/slide1.xml"/><Relationship Id="rId162" Type="http://schemas.openxmlformats.org/officeDocument/2006/relationships/slide" Target="slides/slide156.xml"/><Relationship Id="rId183" Type="http://schemas.openxmlformats.org/officeDocument/2006/relationships/slide" Target="slides/slide177.xml"/><Relationship Id="rId218" Type="http://schemas.openxmlformats.org/officeDocument/2006/relationships/slide" Target="slides/slide212.xml"/><Relationship Id="rId239" Type="http://schemas.openxmlformats.org/officeDocument/2006/relationships/slide" Target="slides/slide233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50" Type="http://schemas.openxmlformats.org/officeDocument/2006/relationships/slide" Target="slides/slide244.xml"/><Relationship Id="rId255" Type="http://schemas.openxmlformats.org/officeDocument/2006/relationships/slide" Target="slides/slide249.xml"/><Relationship Id="rId271" Type="http://schemas.openxmlformats.org/officeDocument/2006/relationships/slide" Target="slides/slide265.xml"/><Relationship Id="rId276" Type="http://schemas.openxmlformats.org/officeDocument/2006/relationships/slide" Target="slides/slide270.xml"/><Relationship Id="rId292" Type="http://schemas.openxmlformats.org/officeDocument/2006/relationships/slide" Target="slides/slide286.xml"/><Relationship Id="rId297" Type="http://schemas.openxmlformats.org/officeDocument/2006/relationships/slide" Target="slides/slide291.xml"/><Relationship Id="rId24" Type="http://schemas.openxmlformats.org/officeDocument/2006/relationships/slide" Target="slides/slide18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66" Type="http://schemas.openxmlformats.org/officeDocument/2006/relationships/slide" Target="slides/slide60.xml"/><Relationship Id="rId87" Type="http://schemas.openxmlformats.org/officeDocument/2006/relationships/slide" Target="slides/slide81.xml"/><Relationship Id="rId110" Type="http://schemas.openxmlformats.org/officeDocument/2006/relationships/slide" Target="slides/slide104.xml"/><Relationship Id="rId115" Type="http://schemas.openxmlformats.org/officeDocument/2006/relationships/slide" Target="slides/slide109.xml"/><Relationship Id="rId131" Type="http://schemas.openxmlformats.org/officeDocument/2006/relationships/slide" Target="slides/slide125.xml"/><Relationship Id="rId136" Type="http://schemas.openxmlformats.org/officeDocument/2006/relationships/slide" Target="slides/slide130.xml"/><Relationship Id="rId157" Type="http://schemas.openxmlformats.org/officeDocument/2006/relationships/slide" Target="slides/slide151.xml"/><Relationship Id="rId178" Type="http://schemas.openxmlformats.org/officeDocument/2006/relationships/slide" Target="slides/slide172.xml"/><Relationship Id="rId301" Type="http://schemas.openxmlformats.org/officeDocument/2006/relationships/viewProps" Target="viewProps.xml"/><Relationship Id="rId61" Type="http://schemas.openxmlformats.org/officeDocument/2006/relationships/slide" Target="slides/slide55.xml"/><Relationship Id="rId82" Type="http://schemas.openxmlformats.org/officeDocument/2006/relationships/slide" Target="slides/slide76.xml"/><Relationship Id="rId152" Type="http://schemas.openxmlformats.org/officeDocument/2006/relationships/slide" Target="slides/slide146.xml"/><Relationship Id="rId173" Type="http://schemas.openxmlformats.org/officeDocument/2006/relationships/slide" Target="slides/slide167.xml"/><Relationship Id="rId194" Type="http://schemas.openxmlformats.org/officeDocument/2006/relationships/slide" Target="slides/slide188.xml"/><Relationship Id="rId199" Type="http://schemas.openxmlformats.org/officeDocument/2006/relationships/slide" Target="slides/slide193.xml"/><Relationship Id="rId203" Type="http://schemas.openxmlformats.org/officeDocument/2006/relationships/slide" Target="slides/slide197.xml"/><Relationship Id="rId208" Type="http://schemas.openxmlformats.org/officeDocument/2006/relationships/slide" Target="slides/slide202.xml"/><Relationship Id="rId229" Type="http://schemas.openxmlformats.org/officeDocument/2006/relationships/slide" Target="slides/slide223.xml"/><Relationship Id="rId19" Type="http://schemas.openxmlformats.org/officeDocument/2006/relationships/slide" Target="slides/slide13.xml"/><Relationship Id="rId224" Type="http://schemas.openxmlformats.org/officeDocument/2006/relationships/slide" Target="slides/slide218.xml"/><Relationship Id="rId240" Type="http://schemas.openxmlformats.org/officeDocument/2006/relationships/slide" Target="slides/slide234.xml"/><Relationship Id="rId245" Type="http://schemas.openxmlformats.org/officeDocument/2006/relationships/slide" Target="slides/slide239.xml"/><Relationship Id="rId261" Type="http://schemas.openxmlformats.org/officeDocument/2006/relationships/slide" Target="slides/slide255.xml"/><Relationship Id="rId266" Type="http://schemas.openxmlformats.org/officeDocument/2006/relationships/slide" Target="slides/slide260.xml"/><Relationship Id="rId287" Type="http://schemas.openxmlformats.org/officeDocument/2006/relationships/slide" Target="slides/slide281.xml"/><Relationship Id="rId14" Type="http://schemas.openxmlformats.org/officeDocument/2006/relationships/slide" Target="slides/slide8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56" Type="http://schemas.openxmlformats.org/officeDocument/2006/relationships/slide" Target="slides/slide50.xml"/><Relationship Id="rId77" Type="http://schemas.openxmlformats.org/officeDocument/2006/relationships/slide" Target="slides/slide71.xml"/><Relationship Id="rId100" Type="http://schemas.openxmlformats.org/officeDocument/2006/relationships/slide" Target="slides/slide94.xml"/><Relationship Id="rId105" Type="http://schemas.openxmlformats.org/officeDocument/2006/relationships/slide" Target="slides/slide99.xml"/><Relationship Id="rId126" Type="http://schemas.openxmlformats.org/officeDocument/2006/relationships/slide" Target="slides/slide120.xml"/><Relationship Id="rId147" Type="http://schemas.openxmlformats.org/officeDocument/2006/relationships/slide" Target="slides/slide141.xml"/><Relationship Id="rId168" Type="http://schemas.openxmlformats.org/officeDocument/2006/relationships/slide" Target="slides/slide162.xml"/><Relationship Id="rId282" Type="http://schemas.openxmlformats.org/officeDocument/2006/relationships/slide" Target="slides/slide276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93" Type="http://schemas.openxmlformats.org/officeDocument/2006/relationships/slide" Target="slides/slide87.xml"/><Relationship Id="rId98" Type="http://schemas.openxmlformats.org/officeDocument/2006/relationships/slide" Target="slides/slide92.xml"/><Relationship Id="rId121" Type="http://schemas.openxmlformats.org/officeDocument/2006/relationships/slide" Target="slides/slide115.xml"/><Relationship Id="rId142" Type="http://schemas.openxmlformats.org/officeDocument/2006/relationships/slide" Target="slides/slide136.xml"/><Relationship Id="rId163" Type="http://schemas.openxmlformats.org/officeDocument/2006/relationships/slide" Target="slides/slide157.xml"/><Relationship Id="rId184" Type="http://schemas.openxmlformats.org/officeDocument/2006/relationships/slide" Target="slides/slide178.xml"/><Relationship Id="rId189" Type="http://schemas.openxmlformats.org/officeDocument/2006/relationships/slide" Target="slides/slide183.xml"/><Relationship Id="rId219" Type="http://schemas.openxmlformats.org/officeDocument/2006/relationships/slide" Target="slides/slide213.xml"/><Relationship Id="rId3" Type="http://schemas.openxmlformats.org/officeDocument/2006/relationships/slideMaster" Target="slideMasters/slideMaster3.xml"/><Relationship Id="rId214" Type="http://schemas.openxmlformats.org/officeDocument/2006/relationships/slide" Target="slides/slide208.xml"/><Relationship Id="rId230" Type="http://schemas.openxmlformats.org/officeDocument/2006/relationships/slide" Target="slides/slide224.xml"/><Relationship Id="rId235" Type="http://schemas.openxmlformats.org/officeDocument/2006/relationships/slide" Target="slides/slide229.xml"/><Relationship Id="rId251" Type="http://schemas.openxmlformats.org/officeDocument/2006/relationships/slide" Target="slides/slide245.xml"/><Relationship Id="rId256" Type="http://schemas.openxmlformats.org/officeDocument/2006/relationships/slide" Target="slides/slide250.xml"/><Relationship Id="rId277" Type="http://schemas.openxmlformats.org/officeDocument/2006/relationships/slide" Target="slides/slide271.xml"/><Relationship Id="rId298" Type="http://schemas.openxmlformats.org/officeDocument/2006/relationships/notesMaster" Target="notesMasters/notesMaster1.xml"/><Relationship Id="rId25" Type="http://schemas.openxmlformats.org/officeDocument/2006/relationships/slide" Target="slides/slide19.xml"/><Relationship Id="rId46" Type="http://schemas.openxmlformats.org/officeDocument/2006/relationships/slide" Target="slides/slide40.xml"/><Relationship Id="rId67" Type="http://schemas.openxmlformats.org/officeDocument/2006/relationships/slide" Target="slides/slide61.xml"/><Relationship Id="rId116" Type="http://schemas.openxmlformats.org/officeDocument/2006/relationships/slide" Target="slides/slide110.xml"/><Relationship Id="rId137" Type="http://schemas.openxmlformats.org/officeDocument/2006/relationships/slide" Target="slides/slide131.xml"/><Relationship Id="rId158" Type="http://schemas.openxmlformats.org/officeDocument/2006/relationships/slide" Target="slides/slide152.xml"/><Relationship Id="rId272" Type="http://schemas.openxmlformats.org/officeDocument/2006/relationships/slide" Target="slides/slide266.xml"/><Relationship Id="rId293" Type="http://schemas.openxmlformats.org/officeDocument/2006/relationships/slide" Target="slides/slide287.xml"/><Relationship Id="rId302" Type="http://schemas.openxmlformats.org/officeDocument/2006/relationships/theme" Target="theme/theme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62" Type="http://schemas.openxmlformats.org/officeDocument/2006/relationships/slide" Target="slides/slide56.xml"/><Relationship Id="rId83" Type="http://schemas.openxmlformats.org/officeDocument/2006/relationships/slide" Target="slides/slide77.xml"/><Relationship Id="rId88" Type="http://schemas.openxmlformats.org/officeDocument/2006/relationships/slide" Target="slides/slide82.xml"/><Relationship Id="rId111" Type="http://schemas.openxmlformats.org/officeDocument/2006/relationships/slide" Target="slides/slide105.xml"/><Relationship Id="rId132" Type="http://schemas.openxmlformats.org/officeDocument/2006/relationships/slide" Target="slides/slide126.xml"/><Relationship Id="rId153" Type="http://schemas.openxmlformats.org/officeDocument/2006/relationships/slide" Target="slides/slide147.xml"/><Relationship Id="rId174" Type="http://schemas.openxmlformats.org/officeDocument/2006/relationships/slide" Target="slides/slide168.xml"/><Relationship Id="rId179" Type="http://schemas.openxmlformats.org/officeDocument/2006/relationships/slide" Target="slides/slide173.xml"/><Relationship Id="rId195" Type="http://schemas.openxmlformats.org/officeDocument/2006/relationships/slide" Target="slides/slide189.xml"/><Relationship Id="rId209" Type="http://schemas.openxmlformats.org/officeDocument/2006/relationships/slide" Target="slides/slide203.xml"/><Relationship Id="rId190" Type="http://schemas.openxmlformats.org/officeDocument/2006/relationships/slide" Target="slides/slide184.xml"/><Relationship Id="rId204" Type="http://schemas.openxmlformats.org/officeDocument/2006/relationships/slide" Target="slides/slide198.xml"/><Relationship Id="rId220" Type="http://schemas.openxmlformats.org/officeDocument/2006/relationships/slide" Target="slides/slide214.xml"/><Relationship Id="rId225" Type="http://schemas.openxmlformats.org/officeDocument/2006/relationships/slide" Target="slides/slide219.xml"/><Relationship Id="rId241" Type="http://schemas.openxmlformats.org/officeDocument/2006/relationships/slide" Target="slides/slide235.xml"/><Relationship Id="rId246" Type="http://schemas.openxmlformats.org/officeDocument/2006/relationships/slide" Target="slides/slide240.xml"/><Relationship Id="rId267" Type="http://schemas.openxmlformats.org/officeDocument/2006/relationships/slide" Target="slides/slide261.xml"/><Relationship Id="rId288" Type="http://schemas.openxmlformats.org/officeDocument/2006/relationships/slide" Target="slides/slide282.xml"/><Relationship Id="rId15" Type="http://schemas.openxmlformats.org/officeDocument/2006/relationships/slide" Target="slides/slide9.xml"/><Relationship Id="rId36" Type="http://schemas.openxmlformats.org/officeDocument/2006/relationships/slide" Target="slides/slide30.xml"/><Relationship Id="rId57" Type="http://schemas.openxmlformats.org/officeDocument/2006/relationships/slide" Target="slides/slide51.xml"/><Relationship Id="rId106" Type="http://schemas.openxmlformats.org/officeDocument/2006/relationships/slide" Target="slides/slide100.xml"/><Relationship Id="rId127" Type="http://schemas.openxmlformats.org/officeDocument/2006/relationships/slide" Target="slides/slide121.xml"/><Relationship Id="rId262" Type="http://schemas.openxmlformats.org/officeDocument/2006/relationships/slide" Target="slides/slide256.xml"/><Relationship Id="rId283" Type="http://schemas.openxmlformats.org/officeDocument/2006/relationships/slide" Target="slides/slide277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52" Type="http://schemas.openxmlformats.org/officeDocument/2006/relationships/slide" Target="slides/slide46.xml"/><Relationship Id="rId73" Type="http://schemas.openxmlformats.org/officeDocument/2006/relationships/slide" Target="slides/slide67.xml"/><Relationship Id="rId78" Type="http://schemas.openxmlformats.org/officeDocument/2006/relationships/slide" Target="slides/slide72.xml"/><Relationship Id="rId94" Type="http://schemas.openxmlformats.org/officeDocument/2006/relationships/slide" Target="slides/slide88.xml"/><Relationship Id="rId99" Type="http://schemas.openxmlformats.org/officeDocument/2006/relationships/slide" Target="slides/slide93.xml"/><Relationship Id="rId101" Type="http://schemas.openxmlformats.org/officeDocument/2006/relationships/slide" Target="slides/slide95.xml"/><Relationship Id="rId122" Type="http://schemas.openxmlformats.org/officeDocument/2006/relationships/slide" Target="slides/slide116.xml"/><Relationship Id="rId143" Type="http://schemas.openxmlformats.org/officeDocument/2006/relationships/slide" Target="slides/slide137.xml"/><Relationship Id="rId148" Type="http://schemas.openxmlformats.org/officeDocument/2006/relationships/slide" Target="slides/slide142.xml"/><Relationship Id="rId164" Type="http://schemas.openxmlformats.org/officeDocument/2006/relationships/slide" Target="slides/slide158.xml"/><Relationship Id="rId169" Type="http://schemas.openxmlformats.org/officeDocument/2006/relationships/slide" Target="slides/slide163.xml"/><Relationship Id="rId185" Type="http://schemas.openxmlformats.org/officeDocument/2006/relationships/slide" Target="slides/slide179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80" Type="http://schemas.openxmlformats.org/officeDocument/2006/relationships/slide" Target="slides/slide174.xml"/><Relationship Id="rId210" Type="http://schemas.openxmlformats.org/officeDocument/2006/relationships/slide" Target="slides/slide204.xml"/><Relationship Id="rId215" Type="http://schemas.openxmlformats.org/officeDocument/2006/relationships/slide" Target="slides/slide209.xml"/><Relationship Id="rId236" Type="http://schemas.openxmlformats.org/officeDocument/2006/relationships/slide" Target="slides/slide230.xml"/><Relationship Id="rId257" Type="http://schemas.openxmlformats.org/officeDocument/2006/relationships/slide" Target="slides/slide251.xml"/><Relationship Id="rId278" Type="http://schemas.openxmlformats.org/officeDocument/2006/relationships/slide" Target="slides/slide272.xml"/><Relationship Id="rId26" Type="http://schemas.openxmlformats.org/officeDocument/2006/relationships/slide" Target="slides/slide20.xml"/><Relationship Id="rId231" Type="http://schemas.openxmlformats.org/officeDocument/2006/relationships/slide" Target="slides/slide225.xml"/><Relationship Id="rId252" Type="http://schemas.openxmlformats.org/officeDocument/2006/relationships/slide" Target="slides/slide246.xml"/><Relationship Id="rId273" Type="http://schemas.openxmlformats.org/officeDocument/2006/relationships/slide" Target="slides/slide267.xml"/><Relationship Id="rId294" Type="http://schemas.openxmlformats.org/officeDocument/2006/relationships/slide" Target="slides/slide288.xml"/><Relationship Id="rId47" Type="http://schemas.openxmlformats.org/officeDocument/2006/relationships/slide" Target="slides/slide41.xml"/><Relationship Id="rId68" Type="http://schemas.openxmlformats.org/officeDocument/2006/relationships/slide" Target="slides/slide62.xml"/><Relationship Id="rId89" Type="http://schemas.openxmlformats.org/officeDocument/2006/relationships/slide" Target="slides/slide83.xml"/><Relationship Id="rId112" Type="http://schemas.openxmlformats.org/officeDocument/2006/relationships/slide" Target="slides/slide106.xml"/><Relationship Id="rId133" Type="http://schemas.openxmlformats.org/officeDocument/2006/relationships/slide" Target="slides/slide127.xml"/><Relationship Id="rId154" Type="http://schemas.openxmlformats.org/officeDocument/2006/relationships/slide" Target="slides/slide148.xml"/><Relationship Id="rId175" Type="http://schemas.openxmlformats.org/officeDocument/2006/relationships/slide" Target="slides/slide169.xml"/><Relationship Id="rId196" Type="http://schemas.openxmlformats.org/officeDocument/2006/relationships/slide" Target="slides/slide190.xml"/><Relationship Id="rId200" Type="http://schemas.openxmlformats.org/officeDocument/2006/relationships/slide" Target="slides/slide194.xml"/><Relationship Id="rId16" Type="http://schemas.openxmlformats.org/officeDocument/2006/relationships/slide" Target="slides/slide10.xml"/><Relationship Id="rId221" Type="http://schemas.openxmlformats.org/officeDocument/2006/relationships/slide" Target="slides/slide215.xml"/><Relationship Id="rId242" Type="http://schemas.openxmlformats.org/officeDocument/2006/relationships/slide" Target="slides/slide236.xml"/><Relationship Id="rId263" Type="http://schemas.openxmlformats.org/officeDocument/2006/relationships/slide" Target="slides/slide257.xml"/><Relationship Id="rId284" Type="http://schemas.openxmlformats.org/officeDocument/2006/relationships/slide" Target="slides/slide278.xml"/><Relationship Id="rId37" Type="http://schemas.openxmlformats.org/officeDocument/2006/relationships/slide" Target="slides/slide31.xml"/><Relationship Id="rId58" Type="http://schemas.openxmlformats.org/officeDocument/2006/relationships/slide" Target="slides/slide52.xml"/><Relationship Id="rId79" Type="http://schemas.openxmlformats.org/officeDocument/2006/relationships/slide" Target="slides/slide73.xml"/><Relationship Id="rId102" Type="http://schemas.openxmlformats.org/officeDocument/2006/relationships/slide" Target="slides/slide96.xml"/><Relationship Id="rId123" Type="http://schemas.openxmlformats.org/officeDocument/2006/relationships/slide" Target="slides/slide117.xml"/><Relationship Id="rId144" Type="http://schemas.openxmlformats.org/officeDocument/2006/relationships/slide" Target="slides/slide138.xml"/><Relationship Id="rId90" Type="http://schemas.openxmlformats.org/officeDocument/2006/relationships/slide" Target="slides/slide84.xml"/><Relationship Id="rId165" Type="http://schemas.openxmlformats.org/officeDocument/2006/relationships/slide" Target="slides/slide159.xml"/><Relationship Id="rId186" Type="http://schemas.openxmlformats.org/officeDocument/2006/relationships/slide" Target="slides/slide180.xml"/><Relationship Id="rId211" Type="http://schemas.openxmlformats.org/officeDocument/2006/relationships/slide" Target="slides/slide205.xml"/><Relationship Id="rId232" Type="http://schemas.openxmlformats.org/officeDocument/2006/relationships/slide" Target="slides/slide226.xml"/><Relationship Id="rId253" Type="http://schemas.openxmlformats.org/officeDocument/2006/relationships/slide" Target="slides/slide247.xml"/><Relationship Id="rId274" Type="http://schemas.openxmlformats.org/officeDocument/2006/relationships/slide" Target="slides/slide268.xml"/><Relationship Id="rId295" Type="http://schemas.openxmlformats.org/officeDocument/2006/relationships/slide" Target="slides/slide289.xml"/><Relationship Id="rId27" Type="http://schemas.openxmlformats.org/officeDocument/2006/relationships/slide" Target="slides/slide21.xml"/><Relationship Id="rId48" Type="http://schemas.openxmlformats.org/officeDocument/2006/relationships/slide" Target="slides/slide42.xml"/><Relationship Id="rId69" Type="http://schemas.openxmlformats.org/officeDocument/2006/relationships/slide" Target="slides/slide63.xml"/><Relationship Id="rId113" Type="http://schemas.openxmlformats.org/officeDocument/2006/relationships/slide" Target="slides/slide107.xml"/><Relationship Id="rId134" Type="http://schemas.openxmlformats.org/officeDocument/2006/relationships/slide" Target="slides/slide128.xml"/><Relationship Id="rId80" Type="http://schemas.openxmlformats.org/officeDocument/2006/relationships/slide" Target="slides/slide74.xml"/><Relationship Id="rId155" Type="http://schemas.openxmlformats.org/officeDocument/2006/relationships/slide" Target="slides/slide149.xml"/><Relationship Id="rId176" Type="http://schemas.openxmlformats.org/officeDocument/2006/relationships/slide" Target="slides/slide170.xml"/><Relationship Id="rId197" Type="http://schemas.openxmlformats.org/officeDocument/2006/relationships/slide" Target="slides/slide191.xml"/><Relationship Id="rId201" Type="http://schemas.openxmlformats.org/officeDocument/2006/relationships/slide" Target="slides/slide195.xml"/><Relationship Id="rId222" Type="http://schemas.openxmlformats.org/officeDocument/2006/relationships/slide" Target="slides/slide216.xml"/><Relationship Id="rId243" Type="http://schemas.openxmlformats.org/officeDocument/2006/relationships/slide" Target="slides/slide237.xml"/><Relationship Id="rId264" Type="http://schemas.openxmlformats.org/officeDocument/2006/relationships/slide" Target="slides/slide258.xml"/><Relationship Id="rId285" Type="http://schemas.openxmlformats.org/officeDocument/2006/relationships/slide" Target="slides/slide279.xml"/><Relationship Id="rId17" Type="http://schemas.openxmlformats.org/officeDocument/2006/relationships/slide" Target="slides/slide11.xml"/><Relationship Id="rId38" Type="http://schemas.openxmlformats.org/officeDocument/2006/relationships/slide" Target="slides/slide32.xml"/><Relationship Id="rId59" Type="http://schemas.openxmlformats.org/officeDocument/2006/relationships/slide" Target="slides/slide53.xml"/><Relationship Id="rId103" Type="http://schemas.openxmlformats.org/officeDocument/2006/relationships/slide" Target="slides/slide97.xml"/><Relationship Id="rId124" Type="http://schemas.openxmlformats.org/officeDocument/2006/relationships/slide" Target="slides/slide118.xml"/><Relationship Id="rId70" Type="http://schemas.openxmlformats.org/officeDocument/2006/relationships/slide" Target="slides/slide64.xml"/><Relationship Id="rId91" Type="http://schemas.openxmlformats.org/officeDocument/2006/relationships/slide" Target="slides/slide85.xml"/><Relationship Id="rId145" Type="http://schemas.openxmlformats.org/officeDocument/2006/relationships/slide" Target="slides/slide139.xml"/><Relationship Id="rId166" Type="http://schemas.openxmlformats.org/officeDocument/2006/relationships/slide" Target="slides/slide160.xml"/><Relationship Id="rId187" Type="http://schemas.openxmlformats.org/officeDocument/2006/relationships/slide" Target="slides/slide181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06.xml"/><Relationship Id="rId233" Type="http://schemas.openxmlformats.org/officeDocument/2006/relationships/slide" Target="slides/slide227.xml"/><Relationship Id="rId254" Type="http://schemas.openxmlformats.org/officeDocument/2006/relationships/slide" Target="slides/slide248.xml"/><Relationship Id="rId28" Type="http://schemas.openxmlformats.org/officeDocument/2006/relationships/slide" Target="slides/slide22.xml"/><Relationship Id="rId49" Type="http://schemas.openxmlformats.org/officeDocument/2006/relationships/slide" Target="slides/slide43.xml"/><Relationship Id="rId114" Type="http://schemas.openxmlformats.org/officeDocument/2006/relationships/slide" Target="slides/slide108.xml"/><Relationship Id="rId275" Type="http://schemas.openxmlformats.org/officeDocument/2006/relationships/slide" Target="slides/slide269.xml"/><Relationship Id="rId296" Type="http://schemas.openxmlformats.org/officeDocument/2006/relationships/slide" Target="slides/slide290.xml"/><Relationship Id="rId300" Type="http://schemas.openxmlformats.org/officeDocument/2006/relationships/presProps" Target="presProps.xml"/><Relationship Id="rId60" Type="http://schemas.openxmlformats.org/officeDocument/2006/relationships/slide" Target="slides/slide54.xml"/><Relationship Id="rId81" Type="http://schemas.openxmlformats.org/officeDocument/2006/relationships/slide" Target="slides/slide75.xml"/><Relationship Id="rId135" Type="http://schemas.openxmlformats.org/officeDocument/2006/relationships/slide" Target="slides/slide129.xml"/><Relationship Id="rId156" Type="http://schemas.openxmlformats.org/officeDocument/2006/relationships/slide" Target="slides/slide150.xml"/><Relationship Id="rId177" Type="http://schemas.openxmlformats.org/officeDocument/2006/relationships/slide" Target="slides/slide171.xml"/><Relationship Id="rId198" Type="http://schemas.openxmlformats.org/officeDocument/2006/relationships/slide" Target="slides/slide192.xml"/><Relationship Id="rId202" Type="http://schemas.openxmlformats.org/officeDocument/2006/relationships/slide" Target="slides/slide196.xml"/><Relationship Id="rId223" Type="http://schemas.openxmlformats.org/officeDocument/2006/relationships/slide" Target="slides/slide217.xml"/><Relationship Id="rId244" Type="http://schemas.openxmlformats.org/officeDocument/2006/relationships/slide" Target="slides/slide238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265" Type="http://schemas.openxmlformats.org/officeDocument/2006/relationships/slide" Target="slides/slide259.xml"/><Relationship Id="rId286" Type="http://schemas.openxmlformats.org/officeDocument/2006/relationships/slide" Target="slides/slide280.xml"/><Relationship Id="rId50" Type="http://schemas.openxmlformats.org/officeDocument/2006/relationships/slide" Target="slides/slide44.xml"/><Relationship Id="rId104" Type="http://schemas.openxmlformats.org/officeDocument/2006/relationships/slide" Target="slides/slide98.xml"/><Relationship Id="rId125" Type="http://schemas.openxmlformats.org/officeDocument/2006/relationships/slide" Target="slides/slide119.xml"/><Relationship Id="rId146" Type="http://schemas.openxmlformats.org/officeDocument/2006/relationships/slide" Target="slides/slide140.xml"/><Relationship Id="rId167" Type="http://schemas.openxmlformats.org/officeDocument/2006/relationships/slide" Target="slides/slide161.xml"/><Relationship Id="rId188" Type="http://schemas.openxmlformats.org/officeDocument/2006/relationships/slide" Target="slides/slide182.xml"/><Relationship Id="rId71" Type="http://schemas.openxmlformats.org/officeDocument/2006/relationships/slide" Target="slides/slide65.xml"/><Relationship Id="rId92" Type="http://schemas.openxmlformats.org/officeDocument/2006/relationships/slide" Target="slides/slide86.xml"/><Relationship Id="rId213" Type="http://schemas.openxmlformats.org/officeDocument/2006/relationships/slide" Target="slides/slide207.xml"/><Relationship Id="rId234" Type="http://schemas.openxmlformats.org/officeDocument/2006/relationships/slide" Target="slides/slide22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6057900" y="0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233DDF-8ADD-4D40-831B-EFAF5BDF5914}" type="datetimeFigureOut">
              <a:rPr lang="pt-BR" smtClean="0"/>
              <a:t>11/04/2019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7177088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6057900" y="7177088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B885A2-398D-461C-BB59-C5B0075AFC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170215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DEDF46-074E-4C45-B1DA-59B0957AE473}" type="datetimeFigureOut">
              <a:rPr lang="pt-BR" smtClean="0"/>
              <a:t>11/04/2019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566738"/>
            <a:ext cx="4010025" cy="2833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1069975" y="3589338"/>
            <a:ext cx="8553450" cy="3400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7177088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6057900" y="7177088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091FBF-96AB-4ED4-B7B8-8DDEA26A06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244934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6AFCE6-2794-4072-9B02-9131E56B3907}" type="slidenum">
              <a:rPr lang="pt-BR" smtClean="0"/>
              <a:t>290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4554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54"/>
            <a:ext cx="9089390" cy="6534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6" y="4231679"/>
            <a:ext cx="7485379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6826D2-01CF-4A1E-8F21-69C9D5064437}" type="datetime1">
              <a:rPr lang="en-US" smtClean="0"/>
              <a:t>4/11/2019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15669" y="2385219"/>
            <a:ext cx="8863330" cy="114935"/>
          </a:xfrm>
          <a:custGeom>
            <a:avLst/>
            <a:gdLst/>
            <a:ahLst/>
            <a:cxnLst/>
            <a:rect l="l" t="t" r="r" b="b"/>
            <a:pathLst>
              <a:path w="8863330" h="114935">
                <a:moveTo>
                  <a:pt x="8863052" y="114414"/>
                </a:moveTo>
                <a:lnTo>
                  <a:pt x="8863052" y="0"/>
                </a:lnTo>
                <a:lnTo>
                  <a:pt x="0" y="0"/>
                </a:lnTo>
                <a:lnTo>
                  <a:pt x="0" y="114414"/>
                </a:lnTo>
                <a:lnTo>
                  <a:pt x="8863052" y="1144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E635CE-E74F-408F-BBE8-46BA919F4EA1}" type="datetime1">
              <a:rPr lang="en-US" smtClean="0"/>
              <a:t>4/11/2019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3" y="1737996"/>
            <a:ext cx="4651629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21" y="1737996"/>
            <a:ext cx="4651629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FDDB3A-8191-4CB2-8D44-725919351B0A}" type="datetime1">
              <a:rPr lang="en-US" smtClean="0"/>
              <a:t>4/11/2019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988960-FA20-4693-A0F9-F1BA6A5387EF}" type="datetime1">
              <a:rPr lang="en-US" smtClean="0"/>
              <a:t>4/11/2019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B0048A-2DD4-433F-A1B8-94AD01C5E802}" type="datetime1">
              <a:rPr lang="en-US" smtClean="0"/>
              <a:t>4/11/2019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34670" y="7027584"/>
            <a:ext cx="2459482" cy="276999"/>
          </a:xfrm>
        </p:spPr>
        <p:txBody>
          <a:bodyPr/>
          <a:lstStyle/>
          <a:p>
            <a:fld id="{F4B22F4D-54A3-4064-90AC-BF8620867796}" type="datetime1">
              <a:rPr lang="en-US" smtClean="0"/>
              <a:t>4/11/2019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635772" y="7027584"/>
            <a:ext cx="3421887" cy="276999"/>
          </a:xfrm>
        </p:spPr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99248" y="7027584"/>
            <a:ext cx="2459482" cy="276999"/>
          </a:xfrm>
        </p:spPr>
        <p:txBody>
          <a:bodyPr/>
          <a:lstStyle/>
          <a:p>
            <a:fld id="{8FB07F6C-0016-4895-A221-D3E20ADBC4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5817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4670" y="967807"/>
            <a:ext cx="8822055" cy="59247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B49C056-62B9-4AD8-B468-EECF1CDA4D43}" type="datetime1">
              <a:rPr lang="en-US" smtClean="0"/>
              <a:t>4/11/2019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A71096-83D1-421A-AD0B-BBF9767604A1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534670" y="2602794"/>
            <a:ext cx="4277360" cy="1738938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5112782" y="2602794"/>
            <a:ext cx="4277360" cy="1738938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"/>
          </p:nvPr>
        </p:nvSpPr>
        <p:spPr>
          <a:xfrm>
            <a:off x="534670" y="1729599"/>
            <a:ext cx="4277360" cy="72542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3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3"/>
          </p:nvPr>
        </p:nvSpPr>
        <p:spPr>
          <a:xfrm>
            <a:off x="5079365" y="1729599"/>
            <a:ext cx="4277360" cy="72542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3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1047306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ítulo e texto em cima do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8350" y="251884"/>
            <a:ext cx="9373433" cy="1184940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712894" y="1763183"/>
            <a:ext cx="9267613" cy="1423467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712894" y="4282017"/>
            <a:ext cx="9267613" cy="1423467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70402C-4998-430B-94F1-DD3269B4914A}" type="datetime1">
              <a:rPr lang="en-US" smtClean="0"/>
              <a:t>4/11/2019</a:t>
            </a:fld>
            <a:endParaRPr lang="pt-BR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9E9A4A-CA64-4DD6-B4DD-FC4F2BA2C025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2743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35583" y="505072"/>
            <a:ext cx="9222232" cy="6617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0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6" y="4231640"/>
            <a:ext cx="748537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21B93D-876C-4B5B-BBB8-35F80BB3CE5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4/11/2019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0930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84A233-C3E6-4375-9FCF-16F5815F8A0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4/11/2019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6794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58444" y="2561975"/>
            <a:ext cx="4388485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21" y="1738032"/>
            <a:ext cx="465162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A3799A-74C1-49AD-8CDD-E8C5C49A1AE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4/11/2019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41454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E1DA87-C3E4-4A50-BE85-7458091DE39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4/11/2019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48419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A8E58-99F3-43D9-AC70-D3D4879C87D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4/11/2019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03816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4"/>
            <a:ext cx="908939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6" y="4231640"/>
            <a:ext cx="748537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748E8D-52CC-4BB9-85F6-5EA06AE7B56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4/11/2019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03363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628FBB-760A-4A28-918C-49EB1D1BDCF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4/11/2019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18228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3" y="1737995"/>
            <a:ext cx="465162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21" y="1737995"/>
            <a:ext cx="465162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03742D-14CF-43CF-B89F-08A21C7FB40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4/11/2019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5850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DC80AE-1EA5-4714-AAAF-77A1A69EF42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4/11/2019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13438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345321-E977-4520-B200-C08FACE731B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4/11/2019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33070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4"/>
            <a:ext cx="908939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6" y="4231665"/>
            <a:ext cx="7485379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991785-968A-49E7-92FD-6C9B8E00173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4/11/2019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81381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5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E2583D-A326-4FE5-B274-BA1E0CF1B65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4/11/2019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45516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91210" y="2492945"/>
            <a:ext cx="3660775" cy="269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21" y="1737995"/>
            <a:ext cx="4651629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FD588A-B6A9-4652-93D4-7E672676ABC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4/11/2019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139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3C884A-CFAE-431A-9BA6-2E746B8EAA1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4/11/2019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6530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085EEA-FDF8-48EF-A074-F38FC2CFE46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4/11/2019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428180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4"/>
            <a:ext cx="908939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5" y="4231640"/>
            <a:ext cx="7485379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576E42-816E-416F-888F-C76252F71A6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4/11/2019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86431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rgbClr val="FF0000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B3BB9-CC7E-4E4A-B779-55E3C02FDC4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4/11/2019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00626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3" y="1737995"/>
            <a:ext cx="4651629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15" y="1737995"/>
            <a:ext cx="4651629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BB5D33-DA88-4AA8-8122-772BFC8B0E8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4/11/2019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3203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1AE5D6-45F0-4084-8B70-0CBCF9784E4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4/11/2019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58780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E02F9-C92A-4D68-BC82-99048AE6DAE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4/11/2019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95041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79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E1A21-40C6-4112-AE2F-C1E4F795A0E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4/11/2019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946842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14400" y="2061063"/>
            <a:ext cx="8863330" cy="114935"/>
          </a:xfrm>
          <a:custGeom>
            <a:avLst/>
            <a:gdLst/>
            <a:ahLst/>
            <a:cxnLst/>
            <a:rect l="l" t="t" r="r" b="b"/>
            <a:pathLst>
              <a:path w="8863330" h="114935">
                <a:moveTo>
                  <a:pt x="0" y="0"/>
                </a:moveTo>
                <a:lnTo>
                  <a:pt x="0" y="114414"/>
                </a:lnTo>
                <a:lnTo>
                  <a:pt x="8863050" y="114414"/>
                </a:lnTo>
                <a:lnTo>
                  <a:pt x="886305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6A2161-45EE-4D43-B259-245D33BD987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4/11/2019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099597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B31A91-98EA-4BD4-90BE-7B165CC4CA9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4/11/2019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24791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95AC68-6E4A-49EE-B1B6-8648C7E9E59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4/11/2019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54201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31AE4D-43CC-4463-B43D-11F0CC21338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4/11/2019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2034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theme" Target="../theme/theme6.xml"/><Relationship Id="rId5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07429" y="2615806"/>
            <a:ext cx="7278573" cy="6559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86" y="1737996"/>
            <a:ext cx="9624059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2" y="7027546"/>
            <a:ext cx="3421887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6"/>
            <a:ext cx="2459482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DC2EC9-1968-4C6F-B01E-40A2E6A655B2}" type="datetime1">
              <a:rPr lang="en-US" smtClean="0"/>
              <a:t>4/11/2019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6"/>
            <a:ext cx="2459482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711" r:id="rId7"/>
    <p:sldLayoutId id="2147483712" r:id="rId8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07143" y="48726"/>
            <a:ext cx="1031747" cy="7552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505" y="568989"/>
            <a:ext cx="9518421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0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4079" y="1932332"/>
            <a:ext cx="89052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2" y="7027581"/>
            <a:ext cx="34218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81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F1D918-1BD7-41E6-8A0E-1A2FF59F163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4/11/2019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133654" y="7295566"/>
            <a:ext cx="207009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6161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07137" y="48726"/>
            <a:ext cx="1031747" cy="7552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5583" y="505035"/>
            <a:ext cx="9222232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5435" y="1292281"/>
            <a:ext cx="9322561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2" y="7027578"/>
            <a:ext cx="34218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78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639FFC-4343-4960-9A7A-46ABEA83938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4/11/2019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2084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07119" y="48726"/>
            <a:ext cx="1031747" cy="7552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764" y="207107"/>
            <a:ext cx="935987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85514" y="1309056"/>
            <a:ext cx="8722370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2" y="7027569"/>
            <a:ext cx="34218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69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F2AEC-1305-4EEE-A4C6-F57AE01007F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4/11/2019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69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451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07083" y="48726"/>
            <a:ext cx="1031747" cy="7552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0219" y="144675"/>
            <a:ext cx="971296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16698" y="3627880"/>
            <a:ext cx="6860033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rgbClr val="FF0000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1" y="7027551"/>
            <a:ext cx="34218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51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A40ABD-9CB4-47DF-BDF5-52C0B7BDFC91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4/11/2019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7890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10485" y="2283269"/>
            <a:ext cx="5472429" cy="13201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7995"/>
            <a:ext cx="962405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5"/>
            <a:ext cx="3421887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4E672D-B3B0-4374-ADE5-E7E00CB42A7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4/11/2019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6518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google.com/site/algoritmosufjf/material" TargetMode="External"/><Relationship Id="rId2" Type="http://schemas.openxmlformats.org/officeDocument/2006/relationships/hyperlink" Target="http://www.dcc.ufmg.br/algoritmos-java/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mitpress.mit.edu/algorithms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user/progdescomplicada" TargetMode="External"/><Relationship Id="rId2" Type="http://schemas.openxmlformats.org/officeDocument/2006/relationships/hyperlink" Target="https://sites.google.com/site/algoritmosturmaespecial/" TargetMode="Externa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rogramacaodescomplicada.wordpress.com/complementar/" TargetMode="External"/><Relationship Id="rId2" Type="http://schemas.openxmlformats.org/officeDocument/2006/relationships/hyperlink" Target="https://www.urionlinejudge.com.br/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sites.google.com/site/laboratoriodealgoritmos/lpa-llpa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4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6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4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5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5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5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5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5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5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5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5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5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4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5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5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4.xml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5.xml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5.xml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46.png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4.xml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50.png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50.png"/><Relationship Id="rId4" Type="http://schemas.openxmlformats.org/officeDocument/2006/relationships/image" Target="../media/image52.png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55.png"/></Relationships>
</file>

<file path=ppt/slides/_rels/slide2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9" Type="http://schemas.openxmlformats.org/officeDocument/2006/relationships/image" Target="../media/image55.png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55.png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68.png"/></Relationships>
</file>

<file path=ppt/slides/_rels/slide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2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2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2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83.png"/></Relationships>
</file>

<file path=ppt/slides/_rels/slide2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76.png"/><Relationship Id="rId4" Type="http://schemas.openxmlformats.org/officeDocument/2006/relationships/image" Target="../media/image86.png"/></Relationships>
</file>

<file path=ppt/slides/_rels/slide2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76.png"/><Relationship Id="rId4" Type="http://schemas.openxmlformats.org/officeDocument/2006/relationships/image" Target="../media/image89.png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80.png"/><Relationship Id="rId4" Type="http://schemas.openxmlformats.org/officeDocument/2006/relationships/image" Target="../media/image92.png"/></Relationships>
</file>

<file path=ppt/slides/_rels/slide2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82.png"/><Relationship Id="rId4" Type="http://schemas.openxmlformats.org/officeDocument/2006/relationships/image" Target="../media/image83.png"/></Relationships>
</file>

<file path=ppt/slides/_rels/slide2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2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76.png"/></Relationships>
</file>

<file path=ppt/slides/_rels/slide2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2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05.png"/></Relationships>
</file>

<file path=ppt/slides/_rels/slide2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67.png"/><Relationship Id="rId4" Type="http://schemas.openxmlformats.org/officeDocument/2006/relationships/image" Target="../media/image107.png"/></Relationships>
</file>

<file path=ppt/slides/_rels/slide2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2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2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4" Type="http://schemas.openxmlformats.org/officeDocument/2006/relationships/image" Target="../media/image80.png"/></Relationships>
</file>

<file path=ppt/slides/_rels/slide2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7" Type="http://schemas.openxmlformats.org/officeDocument/2006/relationships/image" Target="../media/image111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12.png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2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2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2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2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2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2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2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11.png"/></Relationships>
</file>

<file path=ppt/slides/_rels/slide2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11.png"/><Relationship Id="rId4" Type="http://schemas.openxmlformats.org/officeDocument/2006/relationships/image" Target="../media/image82.png"/></Relationships>
</file>

<file path=ppt/slides/_rels/slide2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29.png"/><Relationship Id="rId4" Type="http://schemas.openxmlformats.org/officeDocument/2006/relationships/image" Target="../media/image111.png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5.xml"/></Relationships>
</file>

<file path=ppt/slides/_rels/slide2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5.xml"/></Relationships>
</file>

<file path=ppt/slides/_rels/slide2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5.xml"/></Relationships>
</file>

<file path=ppt/slides/_rels/slide2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5.xml"/></Relationships>
</file>

<file path=ppt/slides/_rels/slide2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5.xml"/></Relationships>
</file>

<file path=ppt/slides/_rels/slide2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5.xml"/></Relationships>
</file>

<file path=ppt/slides/_rels/slide2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9.png"/><Relationship Id="rId4" Type="http://schemas.openxmlformats.org/officeDocument/2006/relationships/image" Target="../media/image138.png"/></Relationships>
</file>

<file path=ppt/slides/_rels/slide2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5.xml"/></Relationships>
</file>

<file path=ppt/slides/_rels/slide2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spc="15" dirty="0"/>
              <a:t>E</a:t>
            </a:r>
            <a:r>
              <a:rPr spc="10" dirty="0"/>
              <a:t>st</a:t>
            </a:r>
            <a:r>
              <a:rPr spc="70" dirty="0"/>
              <a:t>r</a:t>
            </a:r>
            <a:r>
              <a:rPr spc="15" dirty="0"/>
              <a:t>utu</a:t>
            </a:r>
            <a:r>
              <a:rPr spc="-35" dirty="0"/>
              <a:t>r</a:t>
            </a:r>
            <a:r>
              <a:rPr spc="15" dirty="0"/>
              <a:t>as</a:t>
            </a:r>
            <a:r>
              <a:rPr spc="5" dirty="0"/>
              <a:t> </a:t>
            </a:r>
            <a:r>
              <a:rPr spc="15" dirty="0"/>
              <a:t>de</a:t>
            </a:r>
            <a:r>
              <a:rPr spc="5" dirty="0"/>
              <a:t> </a:t>
            </a:r>
            <a:r>
              <a:rPr spc="15" dirty="0" smtClean="0"/>
              <a:t>Dados</a:t>
            </a:r>
            <a:endParaRPr sz="5325" baseline="24256" dirty="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5669" y="3526841"/>
            <a:ext cx="8863330" cy="285115"/>
          </a:xfrm>
          <a:custGeom>
            <a:avLst/>
            <a:gdLst/>
            <a:ahLst/>
            <a:cxnLst/>
            <a:rect l="l" t="t" r="r" b="b"/>
            <a:pathLst>
              <a:path w="8863330" h="285114">
                <a:moveTo>
                  <a:pt x="8863052" y="284607"/>
                </a:moveTo>
                <a:lnTo>
                  <a:pt x="8863052" y="0"/>
                </a:lnTo>
                <a:lnTo>
                  <a:pt x="0" y="0"/>
                </a:lnTo>
                <a:lnTo>
                  <a:pt x="0" y="284607"/>
                </a:lnTo>
                <a:lnTo>
                  <a:pt x="8863052" y="2846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74604" y="5228285"/>
            <a:ext cx="4145279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pt-BR" sz="1700" spc="5" dirty="0" smtClean="0">
                <a:latin typeface="Arial"/>
                <a:cs typeface="Arial"/>
              </a:rPr>
              <a:t>Samuel da Costa Alves </a:t>
            </a:r>
            <a:r>
              <a:rPr lang="pt-BR" sz="1700" spc="5" dirty="0" err="1" smtClean="0">
                <a:latin typeface="Arial"/>
                <a:cs typeface="Arial"/>
              </a:rPr>
              <a:t>Basilio</a:t>
            </a:r>
            <a:endParaRPr lang="pt-BR" sz="1700" spc="5" dirty="0" smtClean="0">
              <a:latin typeface="Arial"/>
              <a:cs typeface="Arial"/>
            </a:endParaRPr>
          </a:p>
        </p:txBody>
      </p:sp>
      <p:sp>
        <p:nvSpPr>
          <p:cNvPr id="8" name="object 4"/>
          <p:cNvSpPr txBox="1"/>
          <p:nvPr/>
        </p:nvSpPr>
        <p:spPr>
          <a:xfrm>
            <a:off x="3258895" y="5726440"/>
            <a:ext cx="4145279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pt-BR" sz="1700" spc="5" smtClean="0">
                <a:latin typeface="Arial"/>
                <a:cs typeface="Arial"/>
              </a:rPr>
              <a:t>samuel@cefetmg.br</a:t>
            </a:r>
            <a:endParaRPr lang="pt-BR" sz="1700" spc="5" dirty="0" smtClean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02005" y="349289"/>
            <a:ext cx="9089390" cy="1586864"/>
          </a:xfrm>
        </p:spPr>
        <p:txBody>
          <a:bodyPr>
            <a:normAutofit/>
          </a:bodyPr>
          <a:lstStyle/>
          <a:p>
            <a:r>
              <a:rPr lang="pt-BR" dirty="0"/>
              <a:t>Apresentação da Disciplina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534670" y="1763222"/>
            <a:ext cx="9624060" cy="5373511"/>
          </a:xfrm>
          <a:prstGeom prst="rect">
            <a:avLst/>
          </a:prstGeom>
        </p:spPr>
        <p:txBody>
          <a:bodyPr lIns="104278" tIns="52139" rIns="104278" bIns="52139">
            <a:noAutofit/>
          </a:bodyPr>
          <a:lstStyle/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spc="5" dirty="0">
                <a:latin typeface="Calibri"/>
                <a:cs typeface="Calibri"/>
              </a:rPr>
              <a:t>Ho</a:t>
            </a:r>
            <a:r>
              <a:rPr lang="pt-BR" spc="-64" dirty="0">
                <a:latin typeface="Calibri"/>
                <a:cs typeface="Calibri"/>
              </a:rPr>
              <a:t>r</a:t>
            </a:r>
            <a:r>
              <a:rPr lang="pt-BR" dirty="0" smtClean="0">
                <a:latin typeface="Calibri"/>
                <a:cs typeface="Calibri"/>
              </a:rPr>
              <a:t>á</a:t>
            </a:r>
            <a:r>
              <a:rPr lang="pt-BR" spc="-5" dirty="0">
                <a:latin typeface="Calibri"/>
                <a:cs typeface="Calibri"/>
              </a:rPr>
              <a:t>r</a:t>
            </a:r>
            <a:r>
              <a:rPr lang="pt-BR" spc="5" dirty="0">
                <a:latin typeface="Calibri"/>
                <a:cs typeface="Calibri"/>
              </a:rPr>
              <a:t>ios </a:t>
            </a:r>
            <a:r>
              <a:rPr lang="pt-BR" dirty="0" smtClean="0">
                <a:latin typeface="Calibri"/>
                <a:cs typeface="Calibri"/>
              </a:rPr>
              <a:t>:</a:t>
            </a:r>
          </a:p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CMA06 – Teoria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Segunda 15:00 – 16:40</a:t>
            </a:r>
          </a:p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CMA07 – Laboratório 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cs typeface="Calibri"/>
              </a:rPr>
              <a:t>Quinta 09:00 </a:t>
            </a:r>
            <a:r>
              <a:rPr lang="pt-BR" dirty="0">
                <a:cs typeface="Calibri"/>
              </a:rPr>
              <a:t>– </a:t>
            </a:r>
            <a:r>
              <a:rPr lang="pt-BR" dirty="0" smtClean="0">
                <a:cs typeface="Calibri"/>
              </a:rPr>
              <a:t>10:40</a:t>
            </a:r>
            <a:r>
              <a:rPr lang="pt-BR" dirty="0" smtClean="0">
                <a:latin typeface="Calibri"/>
                <a:cs typeface="Calibri"/>
              </a:rPr>
              <a:t>; </a:t>
            </a:r>
          </a:p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spc="-5" dirty="0">
                <a:latin typeface="Calibri"/>
                <a:cs typeface="Calibri"/>
              </a:rPr>
              <a:t>C</a:t>
            </a:r>
            <a:r>
              <a:rPr lang="pt-BR" dirty="0" smtClean="0">
                <a:latin typeface="Calibri"/>
                <a:cs typeface="Calibri"/>
              </a:rPr>
              <a:t>a</a:t>
            </a:r>
            <a:r>
              <a:rPr lang="pt-BR" spc="-50" dirty="0">
                <a:latin typeface="Calibri"/>
                <a:cs typeface="Calibri"/>
              </a:rPr>
              <a:t>r</a:t>
            </a:r>
            <a:r>
              <a:rPr lang="pt-BR" spc="-54" dirty="0">
                <a:latin typeface="Calibri"/>
                <a:cs typeface="Calibri"/>
              </a:rPr>
              <a:t>g</a:t>
            </a:r>
            <a:r>
              <a:rPr lang="pt-BR" dirty="0" smtClean="0">
                <a:latin typeface="Calibri"/>
                <a:cs typeface="Calibri"/>
              </a:rPr>
              <a:t>a</a:t>
            </a:r>
            <a:r>
              <a:rPr lang="pt-BR" spc="9" dirty="0">
                <a:latin typeface="Calibri"/>
                <a:cs typeface="Calibri"/>
              </a:rPr>
              <a:t> </a:t>
            </a:r>
            <a:r>
              <a:rPr lang="pt-BR" spc="-5" dirty="0">
                <a:latin typeface="Calibri"/>
                <a:cs typeface="Calibri"/>
              </a:rPr>
              <a:t>h</a:t>
            </a:r>
            <a:r>
              <a:rPr lang="pt-BR" dirty="0">
                <a:latin typeface="Calibri"/>
                <a:cs typeface="Calibri"/>
              </a:rPr>
              <a:t>o</a:t>
            </a:r>
            <a:r>
              <a:rPr lang="pt-BR" spc="-59" dirty="0">
                <a:latin typeface="Calibri"/>
                <a:cs typeface="Calibri"/>
              </a:rPr>
              <a:t>r</a:t>
            </a:r>
            <a:r>
              <a:rPr lang="pt-BR" dirty="0">
                <a:latin typeface="Calibri"/>
                <a:cs typeface="Calibri"/>
              </a:rPr>
              <a:t>ár</a:t>
            </a:r>
            <a:r>
              <a:rPr lang="pt-BR" spc="-5" dirty="0">
                <a:latin typeface="Calibri"/>
                <a:cs typeface="Calibri"/>
              </a:rPr>
              <a:t>i</a:t>
            </a:r>
            <a:r>
              <a:rPr lang="pt-BR" dirty="0">
                <a:latin typeface="Calibri"/>
                <a:cs typeface="Calibri"/>
              </a:rPr>
              <a:t>a</a:t>
            </a:r>
            <a:r>
              <a:rPr lang="pt-BR" spc="9" dirty="0">
                <a:latin typeface="Calibri"/>
                <a:cs typeface="Calibri"/>
              </a:rPr>
              <a:t> </a:t>
            </a:r>
            <a:r>
              <a:rPr lang="pt-BR" spc="-5" dirty="0">
                <a:latin typeface="Calibri"/>
                <a:cs typeface="Calibri"/>
              </a:rPr>
              <a:t>s</a:t>
            </a:r>
            <a:r>
              <a:rPr lang="pt-BR" spc="5" dirty="0">
                <a:latin typeface="Calibri"/>
                <a:cs typeface="Calibri"/>
              </a:rPr>
              <a:t>e</a:t>
            </a:r>
            <a:r>
              <a:rPr lang="pt-BR" spc="-5" dirty="0">
                <a:latin typeface="Calibri"/>
                <a:cs typeface="Calibri"/>
              </a:rPr>
              <a:t>m</a:t>
            </a:r>
            <a:r>
              <a:rPr lang="pt-BR" dirty="0" smtClean="0">
                <a:latin typeface="Calibri"/>
                <a:cs typeface="Calibri"/>
              </a:rPr>
              <a:t>a</a:t>
            </a:r>
            <a:r>
              <a:rPr lang="pt-BR" spc="-5" dirty="0">
                <a:latin typeface="Calibri"/>
                <a:cs typeface="Calibri"/>
              </a:rPr>
              <a:t>n</a:t>
            </a:r>
            <a:r>
              <a:rPr lang="pt-BR" dirty="0" smtClean="0">
                <a:latin typeface="Calibri"/>
                <a:cs typeface="Calibri"/>
              </a:rPr>
              <a:t>al por disciplina:</a:t>
            </a:r>
            <a:endParaRPr lang="pt-BR" dirty="0">
              <a:latin typeface="Calibri"/>
              <a:cs typeface="Calibri"/>
            </a:endParaRPr>
          </a:p>
          <a:p>
            <a:pPr marL="439821" marR="83888" lvl="1">
              <a:lnSpc>
                <a:spcPct val="101725"/>
              </a:lnSpc>
              <a:spcBef>
                <a:spcPts val="602"/>
              </a:spcBef>
            </a:pPr>
            <a:r>
              <a:rPr lang="pt-BR" dirty="0">
                <a:latin typeface="Calibri"/>
                <a:cs typeface="Calibri"/>
              </a:rPr>
              <a:t>2</a:t>
            </a:r>
            <a:r>
              <a:rPr lang="pt-BR" spc="14" dirty="0">
                <a:latin typeface="Calibri"/>
                <a:cs typeface="Calibri"/>
              </a:rPr>
              <a:t> </a:t>
            </a:r>
            <a:r>
              <a:rPr lang="pt-BR" spc="-5" dirty="0">
                <a:latin typeface="Calibri"/>
                <a:cs typeface="Calibri"/>
              </a:rPr>
              <a:t>h</a:t>
            </a:r>
            <a:r>
              <a:rPr lang="pt-BR" spc="-50" dirty="0">
                <a:latin typeface="Calibri"/>
                <a:cs typeface="Calibri"/>
              </a:rPr>
              <a:t>/</a:t>
            </a:r>
            <a:r>
              <a:rPr lang="pt-BR" spc="5" dirty="0">
                <a:latin typeface="Calibri"/>
                <a:cs typeface="Calibri"/>
              </a:rPr>
              <a:t>a</a:t>
            </a:r>
            <a:r>
              <a:rPr lang="pt-BR" spc="-5" dirty="0">
                <a:latin typeface="Calibri"/>
                <a:cs typeface="Calibri"/>
              </a:rPr>
              <a:t>ul</a:t>
            </a:r>
            <a:r>
              <a:rPr lang="pt-BR" spc="5" dirty="0">
                <a:latin typeface="Calibri"/>
                <a:cs typeface="Calibri"/>
              </a:rPr>
              <a:t>a</a:t>
            </a:r>
            <a:r>
              <a:rPr lang="pt-BR" dirty="0">
                <a:latin typeface="Calibri"/>
                <a:cs typeface="Calibri"/>
              </a:rPr>
              <a:t>s;</a:t>
            </a:r>
          </a:p>
          <a:p>
            <a:pPr marR="83888">
              <a:lnSpc>
                <a:spcPct val="101725"/>
              </a:lnSpc>
              <a:spcBef>
                <a:spcPts val="713"/>
              </a:spcBef>
            </a:pPr>
            <a:r>
              <a:rPr lang="pt-BR" spc="-5" dirty="0">
                <a:latin typeface="Calibri"/>
                <a:cs typeface="Calibri"/>
              </a:rPr>
              <a:t>C</a:t>
            </a:r>
            <a:r>
              <a:rPr lang="pt-BR" dirty="0">
                <a:latin typeface="Calibri"/>
                <a:cs typeface="Calibri"/>
              </a:rPr>
              <a:t>a</a:t>
            </a:r>
            <a:r>
              <a:rPr lang="pt-BR" spc="-50" dirty="0">
                <a:latin typeface="Calibri"/>
                <a:cs typeface="Calibri"/>
              </a:rPr>
              <a:t>r</a:t>
            </a:r>
            <a:r>
              <a:rPr lang="pt-BR" spc="-54" dirty="0">
                <a:latin typeface="Calibri"/>
                <a:cs typeface="Calibri"/>
              </a:rPr>
              <a:t>g</a:t>
            </a:r>
            <a:r>
              <a:rPr lang="pt-BR" dirty="0">
                <a:latin typeface="Calibri"/>
                <a:cs typeface="Calibri"/>
              </a:rPr>
              <a:t>a</a:t>
            </a:r>
            <a:r>
              <a:rPr lang="pt-BR" spc="9" dirty="0">
                <a:latin typeface="Calibri"/>
                <a:cs typeface="Calibri"/>
              </a:rPr>
              <a:t> </a:t>
            </a:r>
            <a:r>
              <a:rPr lang="pt-BR" spc="-5" dirty="0">
                <a:latin typeface="Calibri"/>
                <a:cs typeface="Calibri"/>
              </a:rPr>
              <a:t>h</a:t>
            </a:r>
            <a:r>
              <a:rPr lang="pt-BR" dirty="0">
                <a:latin typeface="Calibri"/>
                <a:cs typeface="Calibri"/>
              </a:rPr>
              <a:t>o</a:t>
            </a:r>
            <a:r>
              <a:rPr lang="pt-BR" spc="-59" dirty="0">
                <a:latin typeface="Calibri"/>
                <a:cs typeface="Calibri"/>
              </a:rPr>
              <a:t>r</a:t>
            </a:r>
            <a:r>
              <a:rPr lang="pt-BR" dirty="0">
                <a:latin typeface="Calibri"/>
                <a:cs typeface="Calibri"/>
              </a:rPr>
              <a:t>ár</a:t>
            </a:r>
            <a:r>
              <a:rPr lang="pt-BR" spc="-5" dirty="0">
                <a:latin typeface="Calibri"/>
                <a:cs typeface="Calibri"/>
              </a:rPr>
              <a:t>i</a:t>
            </a:r>
            <a:r>
              <a:rPr lang="pt-BR" dirty="0">
                <a:latin typeface="Calibri"/>
                <a:cs typeface="Calibri"/>
              </a:rPr>
              <a:t>a</a:t>
            </a:r>
            <a:r>
              <a:rPr lang="pt-BR" spc="9" dirty="0">
                <a:latin typeface="Calibri"/>
                <a:cs typeface="Calibri"/>
              </a:rPr>
              <a:t>  total </a:t>
            </a:r>
            <a:r>
              <a:rPr lang="pt-BR" dirty="0" smtClean="0">
                <a:latin typeface="Calibri"/>
                <a:cs typeface="Calibri"/>
              </a:rPr>
              <a:t>por </a:t>
            </a:r>
            <a:r>
              <a:rPr lang="pt-BR" dirty="0">
                <a:latin typeface="Calibri"/>
                <a:cs typeface="Calibri"/>
              </a:rPr>
              <a:t>disciplina :</a:t>
            </a:r>
          </a:p>
          <a:p>
            <a:pPr marL="439821" marR="83888" lvl="1">
              <a:lnSpc>
                <a:spcPct val="101725"/>
              </a:lnSpc>
              <a:spcBef>
                <a:spcPts val="602"/>
              </a:spcBef>
            </a:pPr>
            <a:r>
              <a:rPr lang="pt-BR" dirty="0" smtClean="0">
                <a:latin typeface="Calibri"/>
                <a:cs typeface="Calibri"/>
              </a:rPr>
              <a:t>30</a:t>
            </a:r>
            <a:r>
              <a:rPr lang="pt-BR" spc="-5" dirty="0">
                <a:latin typeface="Calibri"/>
                <a:cs typeface="Calibri"/>
              </a:rPr>
              <a:t>h</a:t>
            </a:r>
            <a:r>
              <a:rPr lang="pt-BR" spc="-50" dirty="0">
                <a:latin typeface="Calibri"/>
                <a:cs typeface="Calibri"/>
              </a:rPr>
              <a:t>/</a:t>
            </a:r>
            <a:r>
              <a:rPr lang="pt-BR" spc="5" dirty="0">
                <a:latin typeface="Calibri"/>
                <a:cs typeface="Calibri"/>
              </a:rPr>
              <a:t>a</a:t>
            </a:r>
            <a:r>
              <a:rPr lang="pt-BR" spc="-5" dirty="0">
                <a:latin typeface="Calibri"/>
                <a:cs typeface="Calibri"/>
              </a:rPr>
              <a:t>ul</a:t>
            </a:r>
            <a:r>
              <a:rPr lang="pt-BR" spc="5" dirty="0">
                <a:latin typeface="Calibri"/>
                <a:cs typeface="Calibri"/>
              </a:rPr>
              <a:t>a</a:t>
            </a:r>
            <a:r>
              <a:rPr lang="pt-BR" dirty="0" smtClean="0">
                <a:latin typeface="Calibri"/>
                <a:cs typeface="Calibri"/>
              </a:rPr>
              <a:t>s</a:t>
            </a:r>
            <a:r>
              <a:rPr lang="pt-BR" dirty="0">
                <a:latin typeface="Calibri"/>
                <a:cs typeface="Calibri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216688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02005" y="349289"/>
            <a:ext cx="9089390" cy="1586864"/>
          </a:xfrm>
        </p:spPr>
        <p:txBody>
          <a:bodyPr>
            <a:normAutofit/>
          </a:bodyPr>
          <a:lstStyle/>
          <a:p>
            <a:r>
              <a:rPr lang="pt-BR" dirty="0" smtClean="0"/>
              <a:t>Pré-requisitos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469900" y="1720889"/>
            <a:ext cx="9624060" cy="5373511"/>
          </a:xfrm>
          <a:prstGeom prst="rect">
            <a:avLst/>
          </a:prstGeom>
        </p:spPr>
        <p:txBody>
          <a:bodyPr lIns="104278" tIns="52139" rIns="104278" bIns="52139">
            <a:noAutofit/>
          </a:bodyPr>
          <a:lstStyle/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CMA01 - </a:t>
            </a:r>
            <a:r>
              <a:rPr lang="pt-BR" dirty="0" err="1"/>
              <a:t>Programacão</a:t>
            </a:r>
            <a:r>
              <a:rPr lang="pt-BR" dirty="0"/>
              <a:t> de Computadores </a:t>
            </a:r>
            <a:r>
              <a:rPr lang="pt-BR" dirty="0" smtClean="0"/>
              <a:t>I</a:t>
            </a:r>
            <a:endParaRPr lang="pt-BR" dirty="0" smtClean="0">
              <a:latin typeface="Calibri"/>
              <a:cs typeface="Calibri"/>
            </a:endParaRPr>
          </a:p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CMA02 - </a:t>
            </a:r>
            <a:r>
              <a:rPr lang="pt-BR" dirty="0" err="1"/>
              <a:t>Lab</a:t>
            </a:r>
            <a:r>
              <a:rPr lang="pt-BR" dirty="0"/>
              <a:t> </a:t>
            </a:r>
            <a:r>
              <a:rPr lang="pt-BR" dirty="0" err="1"/>
              <a:t>Programacão</a:t>
            </a:r>
            <a:r>
              <a:rPr lang="pt-BR" dirty="0"/>
              <a:t> de Computadores </a:t>
            </a:r>
            <a:r>
              <a:rPr lang="pt-BR" dirty="0" smtClean="0"/>
              <a:t>I</a:t>
            </a:r>
            <a:endParaRPr lang="pt-BR" dirty="0" smtClean="0">
              <a:latin typeface="Calibri"/>
              <a:cs typeface="Calibri"/>
            </a:endParaRP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Estruturas de controle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Alternativa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Repetição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Declaração e escopo de variáveis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err="1" smtClean="0">
                <a:latin typeface="Calibri"/>
                <a:cs typeface="Calibri"/>
              </a:rPr>
              <a:t>Subrotinas</a:t>
            </a:r>
            <a:endParaRPr lang="pt-BR" dirty="0" smtClean="0">
              <a:latin typeface="Calibri"/>
              <a:cs typeface="Calibri"/>
            </a:endParaRP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Funções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Procedimentos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Estruturas de dados homogêneas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Vetores numéricos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Vetores de caracteres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Matrizes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endParaRPr lang="pt-BR" dirty="0" smtClean="0">
              <a:latin typeface="Calibri"/>
              <a:cs typeface="Calibri"/>
            </a:endParaRP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endParaRPr lang="pt-BR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87462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652918" y="950126"/>
            <a:ext cx="7519828" cy="139014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087013" marR="51429">
              <a:lnSpc>
                <a:spcPts val="4584"/>
              </a:lnSpc>
              <a:spcBef>
                <a:spcPts val="229"/>
              </a:spcBef>
            </a:pPr>
            <a:endParaRPr sz="4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0023" y="1951247"/>
            <a:ext cx="196849" cy="3682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860"/>
              </a:lnSpc>
              <a:spcBef>
                <a:spcPts val="143"/>
              </a:spcBef>
            </a:pPr>
            <a:endParaRPr sz="27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20442" y="2342645"/>
            <a:ext cx="8505144" cy="14274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534089" marR="45714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/>
              <a:t>Conceitos introdutórios em estruturas de dados</a:t>
            </a:r>
          </a:p>
          <a:p>
            <a:pPr marL="534089" marR="45714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/>
              <a:t>Tipos abstratos de dados</a:t>
            </a:r>
          </a:p>
          <a:p>
            <a:pPr marL="534089" marR="45714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/>
              <a:t>Estruturas de dados: </a:t>
            </a:r>
            <a:endParaRPr lang="pt-BR" sz="2700" dirty="0" smtClean="0"/>
          </a:p>
          <a:p>
            <a:pPr marL="991289" marR="45714" lvl="1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 smtClean="0"/>
              <a:t>Listas</a:t>
            </a:r>
          </a:p>
          <a:p>
            <a:pPr marL="991289" marR="45714" lvl="1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 smtClean="0"/>
              <a:t>Pilhas</a:t>
            </a:r>
          </a:p>
          <a:p>
            <a:pPr marL="991289" marR="45714" lvl="1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 smtClean="0"/>
              <a:t>Filas</a:t>
            </a:r>
          </a:p>
          <a:p>
            <a:pPr marL="991289" marR="45714" lvl="1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 smtClean="0"/>
              <a:t>Árvores</a:t>
            </a:r>
          </a:p>
          <a:p>
            <a:pPr marL="991289" marR="45714" lvl="1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 smtClean="0"/>
              <a:t>Grafos</a:t>
            </a:r>
          </a:p>
          <a:p>
            <a:pPr marL="534089" marR="45714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endParaRPr lang="pt-BR" sz="2700" dirty="0"/>
          </a:p>
        </p:txBody>
      </p:sp>
      <p:sp>
        <p:nvSpPr>
          <p:cNvPr id="5" name="object 5"/>
          <p:cNvSpPr txBox="1"/>
          <p:nvPr/>
        </p:nvSpPr>
        <p:spPr>
          <a:xfrm>
            <a:off x="2224495" y="4177846"/>
            <a:ext cx="152653" cy="8895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ct val="95825"/>
              </a:lnSpc>
              <a:spcBef>
                <a:spcPts val="100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10" name="object 9"/>
          <p:cNvSpPr txBox="1"/>
          <p:nvPr/>
        </p:nvSpPr>
        <p:spPr>
          <a:xfrm>
            <a:off x="1557279" y="604603"/>
            <a:ext cx="7630926" cy="1304035"/>
          </a:xfrm>
          <a:prstGeom prst="rect">
            <a:avLst/>
          </a:prstGeom>
        </p:spPr>
        <p:txBody>
          <a:bodyPr vert="horz" lIns="104278" tIns="52139" rIns="104278" bIns="52139" rtlCol="0" anchor="ctr">
            <a:normAutofit/>
          </a:bodyPr>
          <a:lstStyle>
            <a:lvl1pPr>
              <a:spcBef>
                <a:spcPct val="0"/>
              </a:spcBef>
              <a:buNone/>
              <a:defRPr sz="40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dirty="0" smtClean="0"/>
              <a:t>Conteúdo da Disciplina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81355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652918" y="950125"/>
            <a:ext cx="7717954" cy="51445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17292" marR="33805" algn="ctr">
              <a:lnSpc>
                <a:spcPts val="4584"/>
              </a:lnSpc>
              <a:spcBef>
                <a:spcPts val="229"/>
              </a:spcBef>
            </a:pPr>
            <a:r>
              <a:rPr lang="pt-BR" sz="4600" spc="-114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Principais </a:t>
            </a:r>
            <a:r>
              <a:rPr sz="4600" spc="-114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Referências</a:t>
            </a:r>
            <a:r>
              <a:rPr sz="4600" spc="-114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sz="4600" spc="-114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Bibliográficas</a:t>
            </a:r>
            <a:endParaRPr lang="pt-BR" sz="4600" spc="-114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marL="817292" marR="33805">
              <a:lnSpc>
                <a:spcPts val="4584"/>
              </a:lnSpc>
              <a:spcBef>
                <a:spcPts val="229"/>
              </a:spcBef>
            </a:pPr>
            <a:endParaRPr sz="4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0022" y="19589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10022" y="445822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10022" y="500686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310022" y="55555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1310022" y="2138952"/>
            <a:ext cx="7924831" cy="6476271"/>
          </a:xfrm>
          <a:prstGeom prst="rect">
            <a:avLst/>
          </a:prstGeom>
          <a:noFill/>
        </p:spPr>
        <p:txBody>
          <a:bodyPr wrap="square" lIns="104278" tIns="52139" rIns="104278" bIns="52139" rtlCol="0">
            <a:spAutoFit/>
          </a:bodyPr>
          <a:lstStyle/>
          <a:p>
            <a:pPr marL="325869" indent="-325869">
              <a:lnSpc>
                <a:spcPct val="150000"/>
              </a:lnSpc>
              <a:buFont typeface="Arial" pitchFamily="34" charset="0"/>
              <a:buChar char="•"/>
            </a:pPr>
            <a:r>
              <a:rPr lang="pt-BR" dirty="0"/>
              <a:t>ZIVIANI, N. Projeto de Algoritmos, com implementações em </a:t>
            </a:r>
            <a:r>
              <a:rPr lang="pt-BR" dirty="0" smtClean="0"/>
              <a:t>Pascal e C. </a:t>
            </a:r>
            <a:r>
              <a:rPr lang="pt-BR" dirty="0"/>
              <a:t>Editora </a:t>
            </a:r>
            <a:r>
              <a:rPr lang="pt-BR" dirty="0" smtClean="0"/>
              <a:t>Pioneira, 4</a:t>
            </a:r>
            <a:r>
              <a:rPr lang="pt-BR" baseline="30000" dirty="0" smtClean="0"/>
              <a:t>a</a:t>
            </a:r>
            <a:r>
              <a:rPr lang="pt-BR" dirty="0"/>
              <a:t> edição, </a:t>
            </a:r>
            <a:r>
              <a:rPr lang="pt-BR" dirty="0" smtClean="0"/>
              <a:t>1999.</a:t>
            </a:r>
            <a:r>
              <a:rPr lang="pt-BR" i="1" dirty="0"/>
              <a:t> </a:t>
            </a:r>
            <a:endParaRPr lang="pt-BR" i="1" dirty="0" smtClean="0"/>
          </a:p>
          <a:p>
            <a:pPr lvl="1">
              <a:lnSpc>
                <a:spcPct val="150000"/>
              </a:lnSpc>
            </a:pPr>
            <a:r>
              <a:rPr lang="pt-BR" i="1" dirty="0" smtClean="0"/>
              <a:t>Site </a:t>
            </a:r>
            <a:r>
              <a:rPr lang="pt-BR" i="1" dirty="0"/>
              <a:t>do autor</a:t>
            </a:r>
            <a:r>
              <a:rPr lang="pt-BR" dirty="0" smtClean="0"/>
              <a:t>: </a:t>
            </a:r>
            <a:r>
              <a:rPr lang="pt-BR" u="sng" dirty="0" smtClean="0">
                <a:hlinkClick r:id="rId2"/>
              </a:rPr>
              <a:t>http</a:t>
            </a:r>
            <a:r>
              <a:rPr lang="pt-BR" u="sng" dirty="0">
                <a:hlinkClick r:id="rId2"/>
              </a:rPr>
              <a:t>://www.dcc.ufmg.br/algoritmos-java</a:t>
            </a:r>
            <a:r>
              <a:rPr lang="pt-BR" u="sng" dirty="0" smtClean="0">
                <a:hlinkClick r:id="rId2"/>
              </a:rPr>
              <a:t>/</a:t>
            </a:r>
            <a:endParaRPr lang="pt-BR" u="sng" dirty="0" smtClean="0"/>
          </a:p>
          <a:p>
            <a:pPr lvl="1">
              <a:lnSpc>
                <a:spcPct val="150000"/>
              </a:lnSpc>
            </a:pPr>
            <a:endParaRPr lang="pt-BR" u="sng" dirty="0" smtClean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pt-BR" dirty="0"/>
              <a:t>SILVA, R.L.S. e OLIVEIRA, A. M. Algoritmos em C </a:t>
            </a:r>
            <a:r>
              <a:rPr lang="pt-BR" dirty="0" smtClean="0"/>
              <a:t>, 1 edição. 2014</a:t>
            </a:r>
            <a:r>
              <a:rPr lang="pt-BR" dirty="0"/>
              <a:t> </a:t>
            </a:r>
            <a:endParaRPr lang="pt-BR" dirty="0" smtClean="0"/>
          </a:p>
          <a:p>
            <a:pPr>
              <a:lnSpc>
                <a:spcPct val="150000"/>
              </a:lnSpc>
            </a:pPr>
            <a:r>
              <a:rPr lang="pt-BR" i="1" dirty="0"/>
              <a:t> </a:t>
            </a:r>
            <a:r>
              <a:rPr lang="pt-BR" i="1" dirty="0" smtClean="0"/>
              <a:t>        Site </a:t>
            </a:r>
            <a:r>
              <a:rPr lang="pt-BR" i="1" dirty="0"/>
              <a:t>do autor</a:t>
            </a:r>
            <a:r>
              <a:rPr lang="pt-BR" i="1" dirty="0" smtClean="0"/>
              <a:t>: </a:t>
            </a:r>
            <a:r>
              <a:rPr lang="pt-BR" i="1" dirty="0" smtClean="0">
                <a:hlinkClick r:id="rId3"/>
              </a:rPr>
              <a:t>https://sites.google.com/site/algoritmosufjf/material</a:t>
            </a:r>
            <a:endParaRPr lang="pt-BR" i="1" dirty="0" smtClean="0"/>
          </a:p>
          <a:p>
            <a:pPr lvl="1">
              <a:lnSpc>
                <a:spcPct val="150000"/>
              </a:lnSpc>
            </a:pPr>
            <a:endParaRPr lang="pt-BR" u="sng" dirty="0" smtClean="0"/>
          </a:p>
          <a:p>
            <a:pPr marL="325869" indent="-325869">
              <a:lnSpc>
                <a:spcPct val="150000"/>
              </a:lnSpc>
              <a:buFont typeface="Arial" pitchFamily="34" charset="0"/>
              <a:buChar char="•"/>
            </a:pPr>
            <a:r>
              <a:rPr lang="pt-BR" dirty="0" smtClean="0"/>
              <a:t>CORMEN</a:t>
            </a:r>
            <a:r>
              <a:rPr lang="pt-BR" dirty="0"/>
              <a:t>, T. H. et.al. Algoritmos: teoria e prática, 3 edição. Ed. Campus, 2002.</a:t>
            </a:r>
            <a:r>
              <a:rPr lang="pt-BR" i="1" dirty="0"/>
              <a:t> </a:t>
            </a:r>
            <a:endParaRPr lang="pt-BR" i="1" dirty="0" smtClean="0"/>
          </a:p>
          <a:p>
            <a:pPr lvl="1">
              <a:lnSpc>
                <a:spcPct val="150000"/>
              </a:lnSpc>
            </a:pPr>
            <a:r>
              <a:rPr lang="pt-BR" i="1" dirty="0" smtClean="0"/>
              <a:t>Site </a:t>
            </a:r>
            <a:r>
              <a:rPr lang="pt-BR" i="1" dirty="0"/>
              <a:t>do autor</a:t>
            </a:r>
            <a:r>
              <a:rPr lang="pt-BR" dirty="0"/>
              <a:t>: </a:t>
            </a:r>
            <a:r>
              <a:rPr lang="pt-BR" u="sng" dirty="0">
                <a:hlinkClick r:id="rId4"/>
              </a:rPr>
              <a:t>http://mitpress.mit.edu/algorithms</a:t>
            </a:r>
            <a:r>
              <a:rPr lang="pt-BR" u="sng" dirty="0" smtClean="0">
                <a:hlinkClick r:id="rId4"/>
              </a:rPr>
              <a:t>/</a:t>
            </a:r>
            <a:endParaRPr lang="pt-BR" u="sng" dirty="0" smtClean="0"/>
          </a:p>
          <a:p>
            <a:pPr lvl="1">
              <a:lnSpc>
                <a:spcPct val="150000"/>
              </a:lnSpc>
            </a:pPr>
            <a:endParaRPr lang="pt-BR" u="sng" dirty="0" smtClean="0"/>
          </a:p>
          <a:p>
            <a:pPr lvl="1">
              <a:lnSpc>
                <a:spcPct val="150000"/>
              </a:lnSpc>
            </a:pPr>
            <a:r>
              <a:rPr lang="pt-BR" dirty="0"/>
              <a:t>*</a:t>
            </a:r>
            <a:r>
              <a:rPr lang="pt-BR" spc="5" dirty="0">
                <a:latin typeface="Times New Roman" pitchFamily="18" charset="0"/>
                <a:cs typeface="Times New Roman" pitchFamily="18" charset="0"/>
              </a:rPr>
              <a:t>Transparências adaptadas. Originais por Charles Ornelas Almeida, Israel Guerra, </a:t>
            </a:r>
            <a:r>
              <a:rPr lang="pt-BR" spc="5" dirty="0" err="1">
                <a:latin typeface="Times New Roman" pitchFamily="18" charset="0"/>
                <a:cs typeface="Times New Roman" pitchFamily="18" charset="0"/>
              </a:rPr>
              <a:t>Nivio</a:t>
            </a:r>
            <a:r>
              <a:rPr lang="pt-BR" spc="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pt-BR" spc="5" dirty="0" err="1">
                <a:latin typeface="Times New Roman" pitchFamily="18" charset="0"/>
                <a:cs typeface="Times New Roman" pitchFamily="18" charset="0"/>
              </a:rPr>
              <a:t>Ziviani</a:t>
            </a:r>
            <a:r>
              <a:rPr lang="pt-BR" spc="5" dirty="0">
                <a:latin typeface="Times New Roman" pitchFamily="18" charset="0"/>
                <a:cs typeface="Times New Roman" pitchFamily="18" charset="0"/>
              </a:rPr>
              <a:t>, André </a:t>
            </a:r>
            <a:r>
              <a:rPr lang="pt-BR" spc="5" dirty="0" err="1">
                <a:latin typeface="Times New Roman" pitchFamily="18" charset="0"/>
                <a:cs typeface="Times New Roman" pitchFamily="18" charset="0"/>
              </a:rPr>
              <a:t>Backers</a:t>
            </a:r>
            <a:r>
              <a:rPr lang="pt-BR" spc="5" dirty="0">
                <a:latin typeface="Times New Roman" pitchFamily="18" charset="0"/>
                <a:cs typeface="Times New Roman" pitchFamily="18" charset="0"/>
              </a:rPr>
              <a:t>, Rodrigo Luís de Souza da Silva, </a:t>
            </a:r>
            <a:r>
              <a:rPr lang="pt-BR" spc="5" dirty="0" err="1">
                <a:latin typeface="Times New Roman" pitchFamily="18" charset="0"/>
                <a:cs typeface="Times New Roman" pitchFamily="18" charset="0"/>
              </a:rPr>
              <a:t>Alessandreia</a:t>
            </a:r>
            <a:r>
              <a:rPr lang="pt-BR" spc="5" dirty="0">
                <a:latin typeface="Times New Roman" pitchFamily="18" charset="0"/>
                <a:cs typeface="Times New Roman" pitchFamily="18" charset="0"/>
              </a:rPr>
              <a:t> Marta de Oliveira e João Paulo </a:t>
            </a:r>
            <a:r>
              <a:rPr lang="pt-BR" spc="5" dirty="0" err="1">
                <a:latin typeface="Times New Roman" pitchFamily="18" charset="0"/>
                <a:cs typeface="Times New Roman" pitchFamily="18" charset="0"/>
              </a:rPr>
              <a:t>Scoralick</a:t>
            </a:r>
            <a:endParaRPr lang="pt-BR" spc="5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endParaRPr lang="pt-BR" dirty="0"/>
          </a:p>
          <a:p>
            <a:pPr marL="325869" indent="-325869">
              <a:buFont typeface="Arial" pitchFamily="34" charset="0"/>
              <a:buChar char="•"/>
            </a:pP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06806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652918" y="950125"/>
            <a:ext cx="7717954" cy="51445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17292" marR="33805" algn="ctr">
              <a:lnSpc>
                <a:spcPts val="4584"/>
              </a:lnSpc>
              <a:spcBef>
                <a:spcPts val="229"/>
              </a:spcBef>
            </a:pPr>
            <a:r>
              <a:rPr lang="pt-BR" sz="4600" spc="-114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Links para vídeo aulas</a:t>
            </a:r>
            <a:endParaRPr lang="pt-BR" sz="4600" spc="-114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marL="817292" marR="33805">
              <a:lnSpc>
                <a:spcPts val="4584"/>
              </a:lnSpc>
              <a:spcBef>
                <a:spcPts val="229"/>
              </a:spcBef>
            </a:pPr>
            <a:endParaRPr sz="4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0022" y="19589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10022" y="445822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10022" y="500686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310022" y="55555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1295577" y="2346568"/>
            <a:ext cx="8242123" cy="1828845"/>
          </a:xfrm>
          <a:prstGeom prst="rect">
            <a:avLst/>
          </a:prstGeom>
          <a:noFill/>
        </p:spPr>
        <p:txBody>
          <a:bodyPr wrap="square" lIns="104278" tIns="52139" rIns="104278" bIns="52139" rtlCol="0">
            <a:spAutoFit/>
          </a:bodyPr>
          <a:lstStyle/>
          <a:p>
            <a:r>
              <a:rPr lang="pt-BR" sz="2800" dirty="0">
                <a:hlinkClick r:id="rId2"/>
              </a:rPr>
              <a:t>https://sites.google.com/site/algoritmosturmaespecial</a:t>
            </a:r>
            <a:r>
              <a:rPr lang="pt-BR" sz="2800" dirty="0" smtClean="0">
                <a:hlinkClick r:id="rId2"/>
              </a:rPr>
              <a:t>/</a:t>
            </a:r>
            <a:endParaRPr lang="pt-BR" sz="2800" dirty="0" smtClean="0"/>
          </a:p>
          <a:p>
            <a:endParaRPr lang="pt-BR" sz="2800" dirty="0"/>
          </a:p>
          <a:p>
            <a:r>
              <a:rPr lang="pt-BR" sz="2800" dirty="0">
                <a:hlinkClick r:id="rId3"/>
              </a:rPr>
              <a:t>https://</a:t>
            </a:r>
            <a:r>
              <a:rPr lang="pt-BR" sz="2800" dirty="0" smtClean="0">
                <a:hlinkClick r:id="rId3"/>
              </a:rPr>
              <a:t>www.youtube.com/user/progdescomplicada</a:t>
            </a:r>
            <a:endParaRPr lang="pt-BR" sz="2800" dirty="0" smtClean="0"/>
          </a:p>
          <a:p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4160245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652918" y="950125"/>
            <a:ext cx="7717954" cy="51445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17292" marR="33805" algn="ctr">
              <a:lnSpc>
                <a:spcPts val="4584"/>
              </a:lnSpc>
              <a:spcBef>
                <a:spcPts val="229"/>
              </a:spcBef>
            </a:pPr>
            <a:r>
              <a:rPr lang="pt-BR" sz="4600" spc="-114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Link para lista de exercícios</a:t>
            </a:r>
            <a:endParaRPr lang="pt-BR" sz="4600" spc="-114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marL="817292" marR="33805">
              <a:lnSpc>
                <a:spcPts val="4584"/>
              </a:lnSpc>
              <a:spcBef>
                <a:spcPts val="229"/>
              </a:spcBef>
            </a:pPr>
            <a:endParaRPr sz="4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0022" y="19589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10022" y="445822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10022" y="500686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310022" y="55555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1295577" y="2346568"/>
            <a:ext cx="8242123" cy="3552394"/>
          </a:xfrm>
          <a:prstGeom prst="rect">
            <a:avLst/>
          </a:prstGeom>
          <a:noFill/>
        </p:spPr>
        <p:txBody>
          <a:bodyPr wrap="square" lIns="104278" tIns="52139" rIns="104278" bIns="52139" rtlCol="0">
            <a:spAutoFit/>
          </a:bodyPr>
          <a:lstStyle/>
          <a:p>
            <a:r>
              <a:rPr lang="pt-BR" sz="2800" dirty="0">
                <a:hlinkClick r:id="rId2"/>
              </a:rPr>
              <a:t>https://</a:t>
            </a:r>
            <a:r>
              <a:rPr lang="pt-BR" sz="2800" dirty="0" smtClean="0">
                <a:hlinkClick r:id="rId2"/>
              </a:rPr>
              <a:t>www.urionlinejudge.com.br</a:t>
            </a:r>
            <a:endParaRPr lang="pt-BR" sz="2800" dirty="0" smtClean="0"/>
          </a:p>
          <a:p>
            <a:endParaRPr lang="pt-BR" sz="2800" dirty="0"/>
          </a:p>
          <a:p>
            <a:r>
              <a:rPr lang="pt-BR" sz="2800" dirty="0">
                <a:hlinkClick r:id="rId3"/>
              </a:rPr>
              <a:t>https://programacaodescomplicada.wordpress.com/complementar</a:t>
            </a:r>
            <a:r>
              <a:rPr lang="pt-BR" sz="2800" dirty="0" smtClean="0">
                <a:hlinkClick r:id="rId3"/>
              </a:rPr>
              <a:t>/</a:t>
            </a:r>
            <a:endParaRPr lang="pt-BR" sz="2800" dirty="0" smtClean="0"/>
          </a:p>
          <a:p>
            <a:endParaRPr lang="pt-BR" sz="2800" dirty="0"/>
          </a:p>
          <a:p>
            <a:r>
              <a:rPr lang="pt-BR" sz="2800" dirty="0">
                <a:hlinkClick r:id="rId4"/>
              </a:rPr>
              <a:t>https://</a:t>
            </a:r>
            <a:r>
              <a:rPr lang="pt-BR" sz="2800" dirty="0" smtClean="0">
                <a:hlinkClick r:id="rId4"/>
              </a:rPr>
              <a:t>sites.google.com/site/laboratoriodealgoritmos/lpa-llpa</a:t>
            </a:r>
            <a:endParaRPr lang="pt-BR" sz="2800" dirty="0" smtClean="0"/>
          </a:p>
          <a:p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979525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/>
          <p:nvPr/>
        </p:nvSpPr>
        <p:spPr>
          <a:xfrm>
            <a:off x="1310022" y="1947845"/>
            <a:ext cx="215899" cy="4063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165"/>
              </a:lnSpc>
              <a:spcBef>
                <a:spcPts val="159"/>
              </a:spcBef>
            </a:pPr>
            <a:endParaRPr sz="30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50998" y="1440762"/>
            <a:ext cx="8072669" cy="7721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662"/>
              </a:lnSpc>
              <a:spcBef>
                <a:spcPts val="105"/>
              </a:spcBef>
            </a:pPr>
            <a:endParaRPr sz="3000" spc="-5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75922" y="1970825"/>
            <a:ext cx="576047" cy="4063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154"/>
              </a:lnSpc>
              <a:spcBef>
                <a:spcPts val="157"/>
              </a:spcBef>
            </a:pPr>
            <a:endParaRPr sz="30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55234" y="1970825"/>
            <a:ext cx="937503" cy="4063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154"/>
              </a:lnSpc>
              <a:spcBef>
                <a:spcPts val="157"/>
              </a:spcBef>
            </a:pPr>
            <a:endParaRPr sz="30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97307" y="1970825"/>
            <a:ext cx="471614" cy="4063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154"/>
              </a:lnSpc>
              <a:spcBef>
                <a:spcPts val="157"/>
              </a:spcBef>
            </a:pPr>
            <a:endParaRPr sz="30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67217" y="3159028"/>
            <a:ext cx="258879" cy="7523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760"/>
              </a:lnSpc>
              <a:spcBef>
                <a:spcPts val="138"/>
              </a:spcBef>
            </a:pPr>
            <a:endParaRPr sz="26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0685" y="1404163"/>
            <a:ext cx="9484876" cy="7523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r>
              <a:rPr lang="pt-BR" sz="2300" dirty="0"/>
              <a:t>Avaliação 1</a:t>
            </a:r>
          </a:p>
          <a:p>
            <a:pPr lvl="1"/>
            <a:r>
              <a:rPr lang="pt-BR" sz="2300" dirty="0" smtClean="0"/>
              <a:t>10 pontos</a:t>
            </a:r>
          </a:p>
          <a:p>
            <a:pPr lvl="1"/>
            <a:endParaRPr lang="pt-BR" sz="2300" dirty="0"/>
          </a:p>
          <a:p>
            <a:r>
              <a:rPr lang="pt-BR" sz="2300" dirty="0"/>
              <a:t>Avaliação 2</a:t>
            </a:r>
          </a:p>
          <a:p>
            <a:pPr lvl="1"/>
            <a:r>
              <a:rPr lang="pt-BR" sz="2300" dirty="0"/>
              <a:t>30 </a:t>
            </a:r>
            <a:r>
              <a:rPr lang="pt-BR" sz="2300" dirty="0" smtClean="0"/>
              <a:t>pontos</a:t>
            </a:r>
          </a:p>
          <a:p>
            <a:pPr lvl="1"/>
            <a:endParaRPr lang="pt-BR" sz="2300" dirty="0" smtClean="0"/>
          </a:p>
          <a:p>
            <a:r>
              <a:rPr lang="pt-BR" sz="2300" dirty="0" smtClean="0"/>
              <a:t>Avaliação 3</a:t>
            </a:r>
          </a:p>
          <a:p>
            <a:pPr lvl="1"/>
            <a:r>
              <a:rPr lang="pt-BR" sz="2300" dirty="0" smtClean="0"/>
              <a:t>30 pontos</a:t>
            </a:r>
          </a:p>
          <a:p>
            <a:pPr lvl="1"/>
            <a:endParaRPr lang="pt-BR" sz="2300" dirty="0" smtClean="0"/>
          </a:p>
          <a:p>
            <a:r>
              <a:rPr lang="pt-BR" sz="2300" dirty="0" smtClean="0"/>
              <a:t>Avaliação 4</a:t>
            </a:r>
          </a:p>
          <a:p>
            <a:pPr lvl="1"/>
            <a:r>
              <a:rPr lang="pt-BR" sz="2300" dirty="0" smtClean="0"/>
              <a:t>30 pontos</a:t>
            </a:r>
          </a:p>
          <a:p>
            <a:pPr lvl="1"/>
            <a:endParaRPr lang="pt-BR" sz="2300" dirty="0"/>
          </a:p>
          <a:p>
            <a:r>
              <a:rPr lang="pt-BR" sz="2300" dirty="0"/>
              <a:t>Total 100 pontos</a:t>
            </a:r>
          </a:p>
          <a:p>
            <a:endParaRPr lang="pt-BR" sz="2300" dirty="0"/>
          </a:p>
          <a:p>
            <a:r>
              <a:rPr lang="pt-BR" sz="2300" dirty="0"/>
              <a:t>Aproveitamento mínimo de 60%.</a:t>
            </a:r>
          </a:p>
          <a:p>
            <a:r>
              <a:rPr lang="pt-BR" sz="2300" dirty="0"/>
              <a:t>Presença mínima: 75%. (Em ambas disciplinas)</a:t>
            </a:r>
            <a:endParaRPr sz="23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24495" y="3944689"/>
            <a:ext cx="164845" cy="13101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345"/>
              </a:lnSpc>
              <a:spcBef>
                <a:spcPts val="117"/>
              </a:spcBef>
            </a:pPr>
            <a:endParaRPr sz="2200" dirty="0">
              <a:latin typeface="Arial"/>
              <a:cs typeface="Arial"/>
            </a:endParaRPr>
          </a:p>
        </p:txBody>
      </p:sp>
      <p:sp>
        <p:nvSpPr>
          <p:cNvPr id="14" name="object 9"/>
          <p:cNvSpPr txBox="1"/>
          <p:nvPr/>
        </p:nvSpPr>
        <p:spPr>
          <a:xfrm>
            <a:off x="1649415" y="425450"/>
            <a:ext cx="8076172" cy="78784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087013" marR="51429">
              <a:lnSpc>
                <a:spcPts val="4584"/>
              </a:lnSpc>
              <a:spcBef>
                <a:spcPts val="229"/>
              </a:spcBef>
            </a:pPr>
            <a:r>
              <a:rPr lang="pt-BR" sz="4600" spc="-114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Método de Avaliação </a:t>
            </a:r>
            <a:r>
              <a:rPr lang="pt-BR" sz="3600" spc="5" baseline="3103" dirty="0">
                <a:latin typeface="Calibri"/>
                <a:cs typeface="Calibri"/>
              </a:rPr>
              <a:t>(previsão)</a:t>
            </a:r>
            <a:endParaRPr sz="27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38007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4431166" y="950087"/>
            <a:ext cx="2262884" cy="5847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4584"/>
              </a:lnSpc>
              <a:spcBef>
                <a:spcPts val="229"/>
              </a:spcBef>
            </a:pPr>
            <a:r>
              <a:rPr sz="4600" spc="-114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Dúvidas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0019" y="2033492"/>
            <a:ext cx="228853" cy="21879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374"/>
              </a:lnSpc>
              <a:spcBef>
                <a:spcPts val="168"/>
              </a:spcBef>
            </a:pPr>
            <a:r>
              <a:rPr sz="3200" dirty="0"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  <a:p>
            <a:pPr marL="12698">
              <a:lnSpc>
                <a:spcPct val="95825"/>
              </a:lnSpc>
              <a:spcBef>
                <a:spcPts val="758"/>
              </a:spcBef>
            </a:pPr>
            <a:r>
              <a:rPr sz="3200" dirty="0"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  <a:p>
            <a:pPr marL="12698">
              <a:lnSpc>
                <a:spcPct val="95825"/>
              </a:lnSpc>
              <a:spcBef>
                <a:spcPts val="928"/>
              </a:spcBef>
            </a:pPr>
            <a:r>
              <a:rPr sz="3200" dirty="0"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  <a:p>
            <a:pPr marL="12698">
              <a:lnSpc>
                <a:spcPct val="95825"/>
              </a:lnSpc>
              <a:spcBef>
                <a:spcPts val="928"/>
              </a:spcBef>
            </a:pPr>
            <a:r>
              <a:rPr sz="3200" dirty="0"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652918" y="2058074"/>
            <a:ext cx="2207579" cy="21879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 marR="61708">
              <a:lnSpc>
                <a:spcPts val="3360"/>
              </a:lnSpc>
              <a:spcBef>
                <a:spcPts val="168"/>
              </a:spcBef>
            </a:pPr>
            <a:r>
              <a:rPr sz="4800" spc="-5" baseline="3413" dirty="0">
                <a:latin typeface="Calibri"/>
                <a:cs typeface="Calibri"/>
              </a:rPr>
              <a:t>Dú</a:t>
            </a:r>
            <a:r>
              <a:rPr sz="4800" spc="5" baseline="3413" dirty="0">
                <a:latin typeface="Calibri"/>
                <a:cs typeface="Calibri"/>
              </a:rPr>
              <a:t>v</a:t>
            </a:r>
            <a:r>
              <a:rPr sz="4800" spc="-5" baseline="3413" dirty="0">
                <a:latin typeface="Calibri"/>
                <a:cs typeface="Calibri"/>
              </a:rPr>
              <a:t>id</a:t>
            </a:r>
            <a:r>
              <a:rPr sz="4800" baseline="3413" dirty="0">
                <a:latin typeface="Calibri"/>
                <a:cs typeface="Calibri"/>
              </a:rPr>
              <a:t>a</a:t>
            </a:r>
            <a:r>
              <a:rPr sz="4800" spc="-5" baseline="3413" dirty="0">
                <a:latin typeface="Calibri"/>
                <a:cs typeface="Calibri"/>
              </a:rPr>
              <a:t>s</a:t>
            </a:r>
            <a:r>
              <a:rPr sz="4800" baseline="3413" dirty="0">
                <a:latin typeface="Calibri"/>
                <a:cs typeface="Calibri"/>
              </a:rPr>
              <a:t>?</a:t>
            </a:r>
            <a:endParaRPr sz="3200">
              <a:latin typeface="Calibri"/>
              <a:cs typeface="Calibri"/>
            </a:endParaRPr>
          </a:p>
          <a:p>
            <a:pPr marL="12698">
              <a:lnSpc>
                <a:spcPts val="4609"/>
              </a:lnSpc>
              <a:spcBef>
                <a:spcPts val="122"/>
              </a:spcBef>
            </a:pPr>
            <a:r>
              <a:rPr sz="3200" spc="-59" dirty="0">
                <a:latin typeface="Calibri"/>
                <a:cs typeface="Calibri"/>
              </a:rPr>
              <a:t>P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50" dirty="0">
                <a:latin typeface="Calibri"/>
                <a:cs typeface="Calibri"/>
              </a:rPr>
              <a:t>r</a:t>
            </a:r>
            <a:r>
              <a:rPr sz="3200" spc="5" dirty="0">
                <a:latin typeface="Calibri"/>
                <a:cs typeface="Calibri"/>
              </a:rPr>
              <a:t>g</a:t>
            </a:r>
            <a:r>
              <a:rPr sz="3200" spc="-5" dirty="0">
                <a:latin typeface="Calibri"/>
                <a:cs typeface="Calibri"/>
              </a:rPr>
              <a:t>u</a:t>
            </a:r>
            <a:r>
              <a:rPr sz="3200" spc="-29" dirty="0">
                <a:latin typeface="Calibri"/>
                <a:cs typeface="Calibri"/>
              </a:rPr>
              <a:t>n</a:t>
            </a:r>
            <a:r>
              <a:rPr sz="3200" spc="-39" dirty="0">
                <a:latin typeface="Calibri"/>
                <a:cs typeface="Calibri"/>
              </a:rPr>
              <a:t>t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5" dirty="0">
                <a:latin typeface="Calibri"/>
                <a:cs typeface="Calibri"/>
              </a:rPr>
              <a:t>s</a:t>
            </a:r>
            <a:r>
              <a:rPr sz="3200" dirty="0">
                <a:latin typeface="Calibri"/>
                <a:cs typeface="Calibri"/>
              </a:rPr>
              <a:t>? S</a:t>
            </a:r>
            <a:r>
              <a:rPr sz="3200" spc="-5" dirty="0">
                <a:latin typeface="Calibri"/>
                <a:cs typeface="Calibri"/>
              </a:rPr>
              <a:t>u</a:t>
            </a:r>
            <a:r>
              <a:rPr sz="3200" spc="-19" dirty="0">
                <a:latin typeface="Calibri"/>
                <a:cs typeface="Calibri"/>
              </a:rPr>
              <a:t>g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39" dirty="0">
                <a:latin typeface="Calibri"/>
                <a:cs typeface="Calibri"/>
              </a:rPr>
              <a:t>st</a:t>
            </a:r>
            <a:r>
              <a:rPr sz="3200" dirty="0">
                <a:latin typeface="Calibri"/>
                <a:cs typeface="Calibri"/>
              </a:rPr>
              <a:t>õ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5" dirty="0">
                <a:latin typeface="Calibri"/>
                <a:cs typeface="Calibri"/>
              </a:rPr>
              <a:t>s</a:t>
            </a:r>
            <a:r>
              <a:rPr sz="3200" dirty="0">
                <a:latin typeface="Calibri"/>
                <a:cs typeface="Calibri"/>
              </a:rPr>
              <a:t>? </a:t>
            </a:r>
            <a:r>
              <a:rPr sz="3200" spc="-59" dirty="0">
                <a:latin typeface="Calibri"/>
                <a:cs typeface="Calibri"/>
              </a:rPr>
              <a:t>R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5" dirty="0">
                <a:latin typeface="Calibri"/>
                <a:cs typeface="Calibri"/>
              </a:rPr>
              <a:t>quisi</a:t>
            </a:r>
            <a:r>
              <a:rPr sz="3200" spc="-19" dirty="0">
                <a:latin typeface="Calibri"/>
                <a:cs typeface="Calibri"/>
              </a:rPr>
              <a:t>ç</a:t>
            </a:r>
            <a:r>
              <a:rPr sz="3200" dirty="0">
                <a:latin typeface="Calibri"/>
                <a:cs typeface="Calibri"/>
              </a:rPr>
              <a:t>õ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5" dirty="0">
                <a:latin typeface="Calibri"/>
                <a:cs typeface="Calibri"/>
              </a:rPr>
              <a:t>s</a:t>
            </a:r>
            <a:r>
              <a:rPr sz="3200" dirty="0">
                <a:latin typeface="Calibri"/>
                <a:cs typeface="Calibri"/>
              </a:rPr>
              <a:t>?</a:t>
            </a:r>
            <a:endParaRPr sz="3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6635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95890"/>
            <a:ext cx="6210300" cy="511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dirty="0"/>
              <a:t>R</a:t>
            </a:r>
            <a:r>
              <a:rPr sz="3300" spc="-15" dirty="0"/>
              <a:t>E</a:t>
            </a:r>
            <a:r>
              <a:rPr sz="3300" dirty="0"/>
              <a:t>V</a:t>
            </a:r>
            <a:r>
              <a:rPr sz="3300" spc="-10" dirty="0"/>
              <a:t>I</a:t>
            </a:r>
            <a:r>
              <a:rPr sz="3300" dirty="0"/>
              <a:t>SÃ</a:t>
            </a:r>
            <a:r>
              <a:rPr sz="3300" spc="-5" dirty="0"/>
              <a:t>O:</a:t>
            </a:r>
            <a:r>
              <a:rPr sz="3300" spc="10" dirty="0"/>
              <a:t> </a:t>
            </a:r>
            <a:r>
              <a:rPr sz="3300" spc="-5" dirty="0"/>
              <a:t>T</a:t>
            </a:r>
            <a:r>
              <a:rPr sz="3300" dirty="0"/>
              <a:t>i</a:t>
            </a:r>
            <a:r>
              <a:rPr sz="3300" spc="0" dirty="0"/>
              <a:t>p</a:t>
            </a:r>
            <a:r>
              <a:rPr sz="3300" spc="-5" dirty="0"/>
              <a:t>os</a:t>
            </a:r>
            <a:r>
              <a:rPr sz="3300" spc="5" dirty="0"/>
              <a:t> </a:t>
            </a:r>
            <a:r>
              <a:rPr sz="3300" spc="-5" dirty="0"/>
              <a:t>de</a:t>
            </a:r>
            <a:r>
              <a:rPr sz="3300" spc="5" dirty="0"/>
              <a:t> </a:t>
            </a:r>
            <a:r>
              <a:rPr sz="3300" dirty="0"/>
              <a:t>S</a:t>
            </a:r>
            <a:r>
              <a:rPr sz="3300" spc="-5" dirty="0"/>
              <a:t>ub</a:t>
            </a:r>
            <a:r>
              <a:rPr sz="3300" spc="0" dirty="0"/>
              <a:t>r</a:t>
            </a:r>
            <a:r>
              <a:rPr sz="3300" spc="-5" dirty="0"/>
              <a:t>o</a:t>
            </a:r>
            <a:r>
              <a:rPr sz="3300" dirty="0"/>
              <a:t>ti</a:t>
            </a:r>
            <a:r>
              <a:rPr sz="3300" spc="0" dirty="0"/>
              <a:t>n</a:t>
            </a:r>
            <a:r>
              <a:rPr sz="3300" spc="-5" dirty="0"/>
              <a:t>as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4711698" y="2500814"/>
            <a:ext cx="262509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Im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im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(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endParaRPr sz="23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88313" y="2500814"/>
            <a:ext cx="1614805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a,</a:t>
            </a:r>
            <a:r>
              <a:rPr sz="230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230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b)</a:t>
            </a:r>
            <a:endParaRPr sz="23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4088" y="1892739"/>
            <a:ext cx="3683635" cy="13425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6075" indent="-333375">
              <a:buClr>
                <a:srgbClr val="852A33"/>
              </a:buClr>
              <a:buSzPct val="69696"/>
              <a:buFont typeface="Wingdings"/>
              <a:buChar char=""/>
              <a:tabLst>
                <a:tab pos="346710" algn="l"/>
              </a:tabLst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ed</a:t>
            </a:r>
            <a:r>
              <a:rPr sz="3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men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 marR="5080" algn="r">
              <a:spcBef>
                <a:spcPts val="1080"/>
              </a:spcBef>
            </a:pP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R="480059" algn="r">
              <a:spcBef>
                <a:spcPts val="37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4091" y="3239586"/>
            <a:ext cx="6254115" cy="15542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31235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pri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tf(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“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”,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+b);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60960" algn="ctr">
              <a:spcBef>
                <a:spcPts val="28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18"/>
              </a:spcBef>
            </a:pPr>
            <a:endParaRPr sz="26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47980" indent="-335280">
              <a:buClr>
                <a:srgbClr val="852A33"/>
              </a:buClr>
              <a:buSzPct val="69696"/>
              <a:buFont typeface="Wingdings"/>
              <a:buChar char=""/>
              <a:tabLst>
                <a:tab pos="347980" algn="l"/>
              </a:tabLst>
            </a:pP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89346" y="4867151"/>
            <a:ext cx="1614805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a, int</a:t>
            </a:r>
            <a:r>
              <a:rPr sz="230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b)</a:t>
            </a:r>
            <a:endParaRPr sz="23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16170" y="4867152"/>
            <a:ext cx="2321560" cy="7505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300" b="1" spc="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230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Soma</a:t>
            </a:r>
            <a:r>
              <a:rPr sz="230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(int</a:t>
            </a:r>
            <a:endParaRPr sz="23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65"/>
              </a:spcBef>
            </a:pPr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20677" y="5621373"/>
            <a:ext cx="1031875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retur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94093" y="5621373"/>
            <a:ext cx="1035050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200" spc="5" dirty="0">
                <a:solidFill>
                  <a:prstClr val="black"/>
                </a:solidFill>
                <a:latin typeface="Courier New"/>
                <a:cs typeface="Courier New"/>
              </a:rPr>
              <a:t>(a</a:t>
            </a:r>
            <a:r>
              <a:rPr sz="2200" spc="-5" dirty="0">
                <a:solidFill>
                  <a:prstClr val="black"/>
                </a:solidFill>
                <a:latin typeface="Courier New"/>
                <a:cs typeface="Courier New"/>
              </a:rPr>
              <a:t>+b)</a:t>
            </a:r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14655" y="5989871"/>
            <a:ext cx="193675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490125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7983" y="155603"/>
            <a:ext cx="8274684" cy="11807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P</a:t>
            </a:r>
            <a:r>
              <a:rPr spc="5" dirty="0"/>
              <a:t>a</a:t>
            </a:r>
            <a:r>
              <a:rPr dirty="0"/>
              <a:t>r</a:t>
            </a:r>
            <a:r>
              <a:rPr spc="5" dirty="0"/>
              <a:t>âme</a:t>
            </a:r>
            <a:r>
              <a:rPr dirty="0"/>
              <a:t>tr</a:t>
            </a:r>
            <a:r>
              <a:rPr spc="-5" dirty="0"/>
              <a:t>o</a:t>
            </a:r>
            <a:r>
              <a:rPr dirty="0"/>
              <a:t>s</a:t>
            </a:r>
            <a:r>
              <a:rPr spc="15" dirty="0"/>
              <a:t> </a:t>
            </a:r>
            <a:r>
              <a:rPr spc="-5" dirty="0"/>
              <a:t>d</a:t>
            </a:r>
            <a:r>
              <a:rPr dirty="0"/>
              <a:t>e </a:t>
            </a:r>
            <a:r>
              <a:rPr spc="0" dirty="0"/>
              <a:t>u</a:t>
            </a:r>
            <a:r>
              <a:rPr spc="5" dirty="0"/>
              <a:t>m</a:t>
            </a:r>
            <a:r>
              <a:rPr dirty="0"/>
              <a:t>a </a:t>
            </a:r>
            <a:r>
              <a:rPr spc="5" dirty="0"/>
              <a:t>s</a:t>
            </a:r>
            <a:r>
              <a:rPr spc="-5" dirty="0"/>
              <a:t>ub</a:t>
            </a:r>
            <a:r>
              <a:rPr spc="10" dirty="0"/>
              <a:t>r</a:t>
            </a:r>
            <a:r>
              <a:rPr spc="-5" dirty="0"/>
              <a:t>o</a:t>
            </a:r>
            <a:r>
              <a:rPr dirty="0"/>
              <a:t>t</a:t>
            </a:r>
            <a:r>
              <a:rPr spc="-10" dirty="0"/>
              <a:t>i</a:t>
            </a:r>
            <a:r>
              <a:rPr spc="-5" dirty="0"/>
              <a:t>n</a:t>
            </a:r>
            <a:r>
              <a:rPr dirty="0"/>
              <a:t>a</a:t>
            </a:r>
            <a:r>
              <a:rPr spc="15" dirty="0"/>
              <a:t> </a:t>
            </a:r>
            <a:r>
              <a:rPr spc="5" dirty="0"/>
              <a:t>e</a:t>
            </a:r>
            <a:r>
              <a:rPr dirty="0"/>
              <a:t>m</a:t>
            </a:r>
            <a:r>
              <a:rPr spc="-10" dirty="0"/>
              <a:t> </a:t>
            </a:r>
            <a:r>
              <a:rPr dirty="0"/>
              <a:t>C </a:t>
            </a:r>
            <a:r>
              <a:rPr spc="-5" dirty="0"/>
              <a:t>E</a:t>
            </a:r>
            <a:r>
              <a:rPr spc="5" dirty="0"/>
              <a:t>xem</a:t>
            </a:r>
            <a:r>
              <a:rPr spc="-5" dirty="0"/>
              <a:t>p</a:t>
            </a:r>
            <a:r>
              <a:rPr spc="-10" dirty="0"/>
              <a:t>l</a:t>
            </a:r>
            <a:r>
              <a:rPr spc="-5" dirty="0"/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12807" y="2450594"/>
            <a:ext cx="579120" cy="3603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ta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55067" y="2450594"/>
            <a:ext cx="2549525" cy="3603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525780" algn="l"/>
                <a:tab pos="2048510" algn="l"/>
              </a:tabLst>
            </a:pP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â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	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7774" y="2379117"/>
            <a:ext cx="5601970" cy="8539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0400"/>
              </a:lnSpc>
              <a:tabLst>
                <a:tab pos="1470660" algn="l"/>
                <a:tab pos="2083435" algn="l"/>
                <a:tab pos="2988945" algn="l"/>
                <a:tab pos="4382770" algn="l"/>
              </a:tabLst>
            </a:pP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Cha</a:t>
            </a:r>
            <a:r>
              <a:rPr sz="2300" u="heavy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u="heavy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u="heavy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	por	</a:t>
            </a:r>
            <a:r>
              <a:rPr sz="2300" u="heavy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alor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:	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ualq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er	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7774" y="3786232"/>
            <a:ext cx="9058910" cy="2125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20800"/>
              </a:lnSpc>
            </a:pP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Cha</a:t>
            </a:r>
            <a:r>
              <a:rPr sz="2300" u="heavy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u="heavy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u="heavy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u="heavy" spc="114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por  </a:t>
            </a:r>
            <a:r>
              <a:rPr sz="2300" u="heavy" spc="1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u="heavy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u="heavy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u="heavy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u="heavy" spc="-15" dirty="0">
                <a:solidFill>
                  <a:prstClr val="black"/>
                </a:solidFill>
                <a:latin typeface="Arial"/>
                <a:cs typeface="Arial"/>
              </a:rPr>
              <a:t>ê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u="heavy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u="heavy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u="heavy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:  </a:t>
            </a:r>
            <a:r>
              <a:rPr sz="2300" spc="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1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1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1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1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pa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â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o,</a:t>
            </a:r>
            <a:r>
              <a:rPr sz="2300" spc="9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1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1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gumen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o,</a:t>
            </a:r>
            <a:r>
              <a:rPr sz="2300" spc="1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a,</a:t>
            </a:r>
            <a:r>
              <a:rPr sz="2300" spc="1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pon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ende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ó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a.</a:t>
            </a:r>
            <a:r>
              <a:rPr sz="2300" spc="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o,</a:t>
            </a:r>
            <a:r>
              <a:rPr sz="2300" spc="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ne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ende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pa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â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srgbClr val="FF0000"/>
                </a:solidFill>
                <a:latin typeface="Arial"/>
                <a:cs typeface="Arial"/>
              </a:rPr>
              <a:t>p</a:t>
            </a:r>
            <a:r>
              <a:rPr sz="2300" dirty="0">
                <a:solidFill>
                  <a:srgbClr val="FF0000"/>
                </a:solidFill>
                <a:latin typeface="Arial"/>
                <a:cs typeface="Arial"/>
              </a:rPr>
              <a:t>on</a:t>
            </a:r>
            <a:r>
              <a:rPr sz="2300" spc="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srgbClr val="FF0000"/>
                </a:solidFill>
                <a:latin typeface="Arial"/>
                <a:cs typeface="Arial"/>
              </a:rPr>
              <a:t>ei</a:t>
            </a:r>
            <a:r>
              <a:rPr sz="2300" spc="-5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300" spc="-10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76657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5778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Definição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pt-BR" dirty="0" smtClean="0"/>
              <a:t>Variável </a:t>
            </a:r>
          </a:p>
          <a:p>
            <a:pPr lvl="1" eaLnBrk="1" hangingPunct="1">
              <a:lnSpc>
                <a:spcPct val="90000"/>
              </a:lnSpc>
            </a:pPr>
            <a:r>
              <a:rPr lang="pt-BR" dirty="0" smtClean="0"/>
              <a:t>É um espaço reservado de memória usado para guardar um </a:t>
            </a:r>
            <a:r>
              <a:rPr lang="pt-BR" b="1" i="1" dirty="0" smtClean="0"/>
              <a:t>valor</a:t>
            </a:r>
            <a:r>
              <a:rPr lang="pt-BR" dirty="0" smtClean="0"/>
              <a:t> que pode ser modificado pelo programa;</a:t>
            </a:r>
          </a:p>
          <a:p>
            <a:pPr eaLnBrk="1" hangingPunct="1">
              <a:lnSpc>
                <a:spcPct val="90000"/>
              </a:lnSpc>
            </a:pPr>
            <a:endParaRPr lang="pt-BR" dirty="0" smtClean="0"/>
          </a:p>
          <a:p>
            <a:pPr eaLnBrk="1" hangingPunct="1">
              <a:lnSpc>
                <a:spcPct val="90000"/>
              </a:lnSpc>
            </a:pPr>
            <a:r>
              <a:rPr lang="pt-BR" dirty="0" smtClean="0"/>
              <a:t>Ponteiro </a:t>
            </a:r>
          </a:p>
          <a:p>
            <a:pPr lvl="1" eaLnBrk="1" hangingPunct="1">
              <a:lnSpc>
                <a:spcPct val="90000"/>
              </a:lnSpc>
            </a:pPr>
            <a:r>
              <a:rPr lang="pt-BR" dirty="0" smtClean="0"/>
              <a:t>É um espaço reservado de memória usado para guardar o </a:t>
            </a:r>
            <a:r>
              <a:rPr lang="pt-BR" b="1" i="1" dirty="0" smtClean="0"/>
              <a:t>endereço de memória </a:t>
            </a:r>
            <a:r>
              <a:rPr lang="pt-BR" dirty="0" smtClean="0"/>
              <a:t>de uma outra variável. </a:t>
            </a:r>
          </a:p>
          <a:p>
            <a:pPr lvl="1">
              <a:lnSpc>
                <a:spcPct val="90000"/>
              </a:lnSpc>
            </a:pPr>
            <a:r>
              <a:rPr lang="pt-BR" dirty="0" smtClean="0"/>
              <a:t>Um ponteiro é uma variável como qualquer outra do programa – sua diferença é que ela não armazena um valor inteiro, real, caractere ou booleano. </a:t>
            </a:r>
          </a:p>
          <a:p>
            <a:pPr lvl="1">
              <a:lnSpc>
                <a:spcPct val="90000"/>
              </a:lnSpc>
            </a:pPr>
            <a:r>
              <a:rPr lang="pt-BR" dirty="0" smtClean="0"/>
              <a:t>Ela serve para armazenar endereços de memória (são valores inteiros sem sinal).</a:t>
            </a:r>
          </a:p>
        </p:txBody>
      </p:sp>
    </p:spTree>
    <p:extLst>
      <p:ext uri="{BB962C8B-B14F-4D97-AF65-F5344CB8AC3E}">
        <p14:creationId xmlns:p14="http://schemas.microsoft.com/office/powerpoint/2010/main" val="37539670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5778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Declaração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5480372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Como qualquer variável, um ponteiro também possui um tipo </a:t>
            </a:r>
          </a:p>
          <a:p>
            <a:pPr eaLnBrk="1" hangingPunct="1"/>
            <a:endParaRPr lang="pt-BR" dirty="0" smtClean="0"/>
          </a:p>
          <a:p>
            <a:pPr eaLnBrk="1" hangingPunct="1"/>
            <a:endParaRPr lang="pt-BR" dirty="0" smtClean="0"/>
          </a:p>
          <a:p>
            <a:pPr eaLnBrk="1" hangingPunct="1"/>
            <a:endParaRPr lang="pt-BR" dirty="0" smtClean="0"/>
          </a:p>
          <a:p>
            <a:pPr eaLnBrk="1" hangingPunct="1"/>
            <a:r>
              <a:rPr lang="pt-BR" dirty="0" smtClean="0"/>
              <a:t>É o </a:t>
            </a:r>
            <a:r>
              <a:rPr lang="pt-BR" b="1" i="1" dirty="0" smtClean="0"/>
              <a:t>asterisco</a:t>
            </a:r>
            <a:r>
              <a:rPr lang="pt-BR" dirty="0" smtClean="0"/>
              <a:t> (</a:t>
            </a:r>
            <a:r>
              <a:rPr lang="pt-BR" b="1" dirty="0" smtClean="0"/>
              <a:t>*</a:t>
            </a:r>
            <a:r>
              <a:rPr lang="pt-BR" dirty="0" smtClean="0"/>
              <a:t>) que informa ao compilador que aquela variável não vai guardar um valor mas sim um endereço para o tipo especificado.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32757" y="4617881"/>
            <a:ext cx="2617655" cy="19940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3" name="Grupo 2"/>
          <p:cNvGrpSpPr/>
          <p:nvPr/>
        </p:nvGrpSpPr>
        <p:grpSpPr>
          <a:xfrm>
            <a:off x="6032500" y="1652970"/>
            <a:ext cx="4589251" cy="1500805"/>
            <a:chOff x="4786314" y="1500174"/>
            <a:chExt cx="3924300" cy="1362075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786314" y="1500174"/>
              <a:ext cx="3924300" cy="13620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2" name="Retângulo 1"/>
            <p:cNvSpPr/>
            <p:nvPr/>
          </p:nvSpPr>
          <p:spPr>
            <a:xfrm>
              <a:off x="6619881" y="1772816"/>
              <a:ext cx="128583" cy="2160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5503508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02005" y="594980"/>
            <a:ext cx="9089390" cy="592470"/>
          </a:xfrm>
        </p:spPr>
        <p:txBody>
          <a:bodyPr/>
          <a:lstStyle/>
          <a:p>
            <a:r>
              <a:rPr lang="pt-BR" dirty="0" smtClean="0"/>
              <a:t>Declaração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r>
              <a:rPr lang="pt-BR" dirty="0" smtClean="0"/>
              <a:t>Exemplos de declaração de variáveis e ponteiros</a:t>
            </a:r>
            <a:endParaRPr lang="pt-B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5809" y="2518825"/>
            <a:ext cx="9601782" cy="4019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51840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5016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Declaração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r>
              <a:rPr lang="pt-BR" dirty="0"/>
              <a:t>Na linguagem C, quando declaramos </a:t>
            </a:r>
            <a:r>
              <a:rPr lang="pt-BR" dirty="0" smtClean="0"/>
              <a:t>um ponteiro </a:t>
            </a:r>
            <a:r>
              <a:rPr lang="pt-BR" dirty="0"/>
              <a:t>nós informamos ao compilador para que tipo de variável vamos apontá-lo. </a:t>
            </a:r>
          </a:p>
          <a:p>
            <a:pPr lvl="1"/>
            <a:r>
              <a:rPr lang="pt-BR" dirty="0"/>
              <a:t>Um ponteiro </a:t>
            </a:r>
            <a:r>
              <a:rPr lang="pt-BR" b="1" dirty="0" err="1"/>
              <a:t>int</a:t>
            </a:r>
            <a:r>
              <a:rPr lang="pt-BR" b="1" dirty="0"/>
              <a:t>*</a:t>
            </a:r>
            <a:r>
              <a:rPr lang="pt-BR" dirty="0"/>
              <a:t> aponta para um </a:t>
            </a:r>
            <a:r>
              <a:rPr lang="pt-BR" dirty="0" smtClean="0"/>
              <a:t>inteiro, isto é, </a:t>
            </a:r>
            <a:r>
              <a:rPr lang="pt-BR" b="1" dirty="0" err="1" smtClean="0"/>
              <a:t>int</a:t>
            </a:r>
            <a:endParaRPr lang="pt-BR" b="1" dirty="0" smtClean="0"/>
          </a:p>
          <a:p>
            <a:pPr lvl="1"/>
            <a:r>
              <a:rPr lang="pt-BR" dirty="0" smtClean="0"/>
              <a:t>Esse ponteiro guarda </a:t>
            </a:r>
            <a:r>
              <a:rPr lang="pt-BR" dirty="0"/>
              <a:t>o endereço de memória onde se encontra </a:t>
            </a:r>
            <a:r>
              <a:rPr lang="pt-BR" dirty="0" smtClean="0"/>
              <a:t>armazenada uma </a:t>
            </a:r>
            <a:r>
              <a:rPr lang="pt-BR" dirty="0"/>
              <a:t>variável do tipo </a:t>
            </a:r>
            <a:r>
              <a:rPr lang="pt-BR" b="1" dirty="0" err="1"/>
              <a:t>int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41400188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5778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Inicialização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Ponteiros apontam para uma posição de memória.</a:t>
            </a:r>
          </a:p>
          <a:p>
            <a:pPr lvl="1" eaLnBrk="1" hangingPunct="1"/>
            <a:r>
              <a:rPr lang="pt-BR" b="1" dirty="0" smtClean="0"/>
              <a:t>Cuidado</a:t>
            </a:r>
            <a:r>
              <a:rPr lang="pt-BR" dirty="0" smtClean="0"/>
              <a:t>: Ponteiros não inicializados apontam para um lugar indefinido.</a:t>
            </a:r>
          </a:p>
          <a:p>
            <a:r>
              <a:rPr lang="pt-BR" dirty="0" smtClean="0"/>
              <a:t>Exemplo</a:t>
            </a:r>
          </a:p>
          <a:p>
            <a:pPr lvl="1"/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 *p;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4913567"/>
              </p:ext>
            </p:extLst>
          </p:nvPr>
        </p:nvGraphicFramePr>
        <p:xfrm>
          <a:off x="5792258" y="3901393"/>
          <a:ext cx="3475355" cy="286027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63885"/>
                <a:gridCol w="1118315"/>
                <a:gridCol w="1293155"/>
              </a:tblGrid>
              <a:tr h="408611">
                <a:tc gridSpan="3"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Memória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posição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variável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conteúdo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119</a:t>
                      </a:r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120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 err="1" smtClean="0"/>
                        <a:t>int</a:t>
                      </a:r>
                      <a:r>
                        <a:rPr lang="pt-BR" sz="1800" dirty="0" smtClean="0"/>
                        <a:t> *p</a:t>
                      </a:r>
                      <a:endParaRPr lang="en-US" sz="1800" dirty="0" smtClean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????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121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pt-BR" sz="200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122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123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78389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6540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Inicialização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Um ponteiro pode ter o valor especial NULL que é o endereço de nenhum lugar.</a:t>
            </a:r>
          </a:p>
          <a:p>
            <a:r>
              <a:rPr lang="pt-BR" dirty="0" smtClean="0"/>
              <a:t>Exemplo</a:t>
            </a:r>
          </a:p>
          <a:p>
            <a:pPr lvl="1"/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 *p = NULL;</a:t>
            </a:r>
          </a:p>
          <a:p>
            <a:pPr lvl="1" eaLnBrk="1" hangingPunct="1"/>
            <a:endParaRPr lang="pt-BR" dirty="0" smtClean="0"/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9824831"/>
              </p:ext>
            </p:extLst>
          </p:nvPr>
        </p:nvGraphicFramePr>
        <p:xfrm>
          <a:off x="5380141" y="4538823"/>
          <a:ext cx="3475355" cy="286027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63885"/>
                <a:gridCol w="1118315"/>
                <a:gridCol w="1293155"/>
              </a:tblGrid>
              <a:tr h="408611">
                <a:tc gridSpan="3"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Memória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posição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variável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conteúdo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119</a:t>
                      </a:r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120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 err="1" smtClean="0"/>
                        <a:t>int</a:t>
                      </a:r>
                      <a:r>
                        <a:rPr lang="pt-BR" sz="1800" dirty="0" smtClean="0"/>
                        <a:t> *p</a:t>
                      </a:r>
                      <a:endParaRPr lang="en-US" sz="1800" dirty="0" smtClean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NULL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121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pt-BR" sz="200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122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123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</a:tr>
            </a:tbl>
          </a:graphicData>
        </a:graphic>
      </p:graphicFrame>
      <p:grpSp>
        <p:nvGrpSpPr>
          <p:cNvPr id="12" name="Grupo 11"/>
          <p:cNvGrpSpPr/>
          <p:nvPr/>
        </p:nvGrpSpPr>
        <p:grpSpPr>
          <a:xfrm>
            <a:off x="5519382" y="3313683"/>
            <a:ext cx="3091083" cy="2636922"/>
            <a:chOff x="5072066" y="2428868"/>
            <a:chExt cx="2643206" cy="2393173"/>
          </a:xfrm>
        </p:grpSpPr>
        <p:sp>
          <p:nvSpPr>
            <p:cNvPr id="6" name="Retângulo 5"/>
            <p:cNvSpPr/>
            <p:nvPr/>
          </p:nvSpPr>
          <p:spPr>
            <a:xfrm>
              <a:off x="5072066" y="2428868"/>
              <a:ext cx="2428892" cy="1000132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 smtClean="0"/>
                <a:t>Nenhum lugar na memória</a:t>
              </a:r>
              <a:endParaRPr lang="pt-BR" b="1" dirty="0"/>
            </a:p>
          </p:txBody>
        </p:sp>
        <p:cxnSp>
          <p:nvCxnSpPr>
            <p:cNvPr id="8" name="Conector angulado 7"/>
            <p:cNvCxnSpPr>
              <a:endCxn id="6" idx="3"/>
            </p:cNvCxnSpPr>
            <p:nvPr/>
          </p:nvCxnSpPr>
          <p:spPr>
            <a:xfrm flipH="1" flipV="1">
              <a:off x="7500958" y="2928934"/>
              <a:ext cx="214314" cy="1893107"/>
            </a:xfrm>
            <a:prstGeom prst="bentConnector3">
              <a:avLst>
                <a:gd name="adj1" fmla="val -248887"/>
              </a:avLst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832646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59498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Inicialização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712893" y="1763184"/>
            <a:ext cx="9713172" cy="4869744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Os ponteiros devem ser inicializados antes de serem usados.</a:t>
            </a:r>
          </a:p>
          <a:p>
            <a:r>
              <a:rPr lang="pt-BR" dirty="0" smtClean="0"/>
              <a:t>Assim, devemos apontar um ponteiro para um lugar conhecido</a:t>
            </a:r>
          </a:p>
          <a:p>
            <a:pPr lvl="1" eaLnBrk="1" hangingPunct="1"/>
            <a:r>
              <a:rPr lang="pt-BR" dirty="0" smtClean="0"/>
              <a:t>Podemos apontá-lo para uma variável que já exista no programa.</a:t>
            </a:r>
          </a:p>
        </p:txBody>
      </p:sp>
      <p:sp>
        <p:nvSpPr>
          <p:cNvPr id="2" name="Elipse 1"/>
          <p:cNvSpPr/>
          <p:nvPr/>
        </p:nvSpPr>
        <p:spPr>
          <a:xfrm>
            <a:off x="6576026" y="5703241"/>
            <a:ext cx="356447" cy="3358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278" tIns="52139" rIns="104278" bIns="52139"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6576026" y="6542852"/>
            <a:ext cx="356447" cy="3358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278" tIns="52139" rIns="104278" bIns="52139" rtlCol="0" anchor="ctr"/>
          <a:lstStyle/>
          <a:p>
            <a:pPr algn="ctr"/>
            <a:endParaRPr lang="pt-BR"/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9516346"/>
              </p:ext>
            </p:extLst>
          </p:nvPr>
        </p:nvGraphicFramePr>
        <p:xfrm>
          <a:off x="3675845" y="4460109"/>
          <a:ext cx="3475355" cy="286027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63885"/>
                <a:gridCol w="1118315"/>
                <a:gridCol w="1293155"/>
              </a:tblGrid>
              <a:tr h="408611">
                <a:tc gridSpan="3"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Memória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posição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variável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conteúdo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119</a:t>
                      </a:r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120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 err="1" smtClean="0"/>
                        <a:t>int</a:t>
                      </a:r>
                      <a:r>
                        <a:rPr lang="pt-BR" sz="1800" dirty="0" smtClean="0"/>
                        <a:t> *p</a:t>
                      </a:r>
                      <a:endParaRPr lang="en-US" sz="1800" dirty="0" smtClean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122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121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pt-BR" sz="200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122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 smtClean="0"/>
                        <a:t>int</a:t>
                      </a:r>
                      <a:r>
                        <a:rPr lang="en-US" sz="1800" dirty="0" smtClean="0"/>
                        <a:t> c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123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</a:tr>
            </a:tbl>
          </a:graphicData>
        </a:graphic>
      </p:graphicFrame>
      <p:cxnSp>
        <p:nvCxnSpPr>
          <p:cNvPr id="4" name="Conector angulado 3"/>
          <p:cNvCxnSpPr>
            <a:stCxn id="2" idx="6"/>
            <a:endCxn id="7" idx="6"/>
          </p:cNvCxnSpPr>
          <p:nvPr/>
        </p:nvCxnSpPr>
        <p:spPr>
          <a:xfrm>
            <a:off x="6932472" y="5871163"/>
            <a:ext cx="14852" cy="839611"/>
          </a:xfrm>
          <a:prstGeom prst="bentConnector3">
            <a:avLst>
              <a:gd name="adj1" fmla="val 3654543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43683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6540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Inicialização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6232257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>
              <a:defRPr/>
            </a:pPr>
            <a:r>
              <a:rPr lang="pt-BR" dirty="0" smtClean="0"/>
              <a:t>O ponteiro armazena o endereço da variável para onde ele aponta. </a:t>
            </a:r>
          </a:p>
          <a:p>
            <a:pPr lvl="1" eaLnBrk="1" hangingPunct="1">
              <a:defRPr/>
            </a:pPr>
            <a:r>
              <a:rPr lang="pt-BR" sz="2300" dirty="0"/>
              <a:t>Para saber o endereço de memória de uma variável do nosso programa, usamos o operador </a:t>
            </a:r>
            <a:r>
              <a:rPr lang="pt-BR" sz="2300" b="1" dirty="0"/>
              <a:t>&amp;</a:t>
            </a:r>
            <a:r>
              <a:rPr lang="pt-BR" sz="2300" dirty="0"/>
              <a:t>. </a:t>
            </a:r>
          </a:p>
          <a:p>
            <a:pPr lvl="1">
              <a:defRPr/>
            </a:pPr>
            <a:r>
              <a:rPr lang="pt-BR" sz="2300" dirty="0"/>
              <a:t>Ao armazenar o endereço, o ponteiro estará apontando para aquela variável</a:t>
            </a:r>
          </a:p>
        </p:txBody>
      </p:sp>
      <p:grpSp>
        <p:nvGrpSpPr>
          <p:cNvPr id="7" name="Grupo 6"/>
          <p:cNvGrpSpPr/>
          <p:nvPr/>
        </p:nvGrpSpPr>
        <p:grpSpPr>
          <a:xfrm>
            <a:off x="334134" y="4541403"/>
            <a:ext cx="8298524" cy="2865173"/>
            <a:chOff x="1023938" y="3714752"/>
            <a:chExt cx="7096125" cy="2600325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/>
            <a:srcRect/>
            <a:stretch>
              <a:fillRect/>
            </a:stretch>
          </p:blipFill>
          <p:spPr bwMode="auto">
            <a:xfrm>
              <a:off x="1023938" y="3714752"/>
              <a:ext cx="7096125" cy="2600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6" name="Retângulo 5"/>
            <p:cNvSpPr/>
            <p:nvPr/>
          </p:nvSpPr>
          <p:spPr>
            <a:xfrm>
              <a:off x="1428728" y="5286388"/>
              <a:ext cx="1357322" cy="28575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8" name="Elipse 7"/>
          <p:cNvSpPr/>
          <p:nvPr/>
        </p:nvSpPr>
        <p:spPr>
          <a:xfrm>
            <a:off x="9583565" y="2659959"/>
            <a:ext cx="356447" cy="3358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278" tIns="52139" rIns="104278" bIns="52139"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9583565" y="3499570"/>
            <a:ext cx="356447" cy="3358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278" tIns="52139" rIns="104278" bIns="52139" rtlCol="0" anchor="ctr"/>
          <a:lstStyle/>
          <a:p>
            <a:pPr algn="ctr"/>
            <a:endParaRPr lang="pt-BR"/>
          </a:p>
        </p:txBody>
      </p:sp>
      <p:graphicFrame>
        <p:nvGraphicFramePr>
          <p:cNvPr id="10" name="Tabela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7876307"/>
              </p:ext>
            </p:extLst>
          </p:nvPr>
        </p:nvGraphicFramePr>
        <p:xfrm>
          <a:off x="6683384" y="1416827"/>
          <a:ext cx="3475355" cy="286027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63885"/>
                <a:gridCol w="1118315"/>
                <a:gridCol w="1293155"/>
              </a:tblGrid>
              <a:tr h="408611">
                <a:tc gridSpan="3"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Memória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posição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variável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conteúdo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119</a:t>
                      </a:r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120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 err="1" smtClean="0"/>
                        <a:t>int</a:t>
                      </a:r>
                      <a:r>
                        <a:rPr lang="pt-BR" sz="1800" dirty="0" smtClean="0"/>
                        <a:t> *p</a:t>
                      </a:r>
                      <a:endParaRPr lang="en-US" sz="1800" dirty="0" smtClean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122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121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pt-BR" sz="200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122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 smtClean="0"/>
                        <a:t>int</a:t>
                      </a:r>
                      <a:r>
                        <a:rPr lang="en-US" sz="1800" dirty="0" smtClean="0"/>
                        <a:t> c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123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</a:tr>
            </a:tbl>
          </a:graphicData>
        </a:graphic>
      </p:graphicFrame>
      <p:cxnSp>
        <p:nvCxnSpPr>
          <p:cNvPr id="11" name="Conector angulado 10"/>
          <p:cNvCxnSpPr>
            <a:stCxn id="8" idx="6"/>
            <a:endCxn id="9" idx="6"/>
          </p:cNvCxnSpPr>
          <p:nvPr/>
        </p:nvCxnSpPr>
        <p:spPr>
          <a:xfrm>
            <a:off x="9940012" y="2827881"/>
            <a:ext cx="14852" cy="839611"/>
          </a:xfrm>
          <a:prstGeom prst="bentConnector3">
            <a:avLst>
              <a:gd name="adj1" fmla="val 3654543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71481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5778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Utilização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Tendo um ponteiro armazenado um endereço de memória, como saber o valor guardado dentro dessa posição?</a:t>
            </a:r>
          </a:p>
        </p:txBody>
      </p:sp>
    </p:spTree>
    <p:extLst>
      <p:ext uri="{BB962C8B-B14F-4D97-AF65-F5344CB8AC3E}">
        <p14:creationId xmlns:p14="http://schemas.microsoft.com/office/powerpoint/2010/main" val="1485750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67118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Utilização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9406882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Para acessar o </a:t>
            </a:r>
            <a:r>
              <a:rPr lang="pt-BR" b="1" dirty="0" smtClean="0"/>
              <a:t>valor</a:t>
            </a:r>
            <a:r>
              <a:rPr lang="pt-BR" dirty="0" smtClean="0"/>
              <a:t> guardado dentro de uma posição na memória apontada por um ponteiro, basta usar o operador </a:t>
            </a:r>
            <a:r>
              <a:rPr lang="pt-BR" b="1" i="1" dirty="0" smtClean="0"/>
              <a:t>asterisco</a:t>
            </a:r>
            <a:r>
              <a:rPr lang="pt-BR" dirty="0" smtClean="0"/>
              <a:t> “*” na frente do nome do ponteiro </a:t>
            </a:r>
          </a:p>
        </p:txBody>
      </p:sp>
      <p:grpSp>
        <p:nvGrpSpPr>
          <p:cNvPr id="7" name="Grupo 6"/>
          <p:cNvGrpSpPr/>
          <p:nvPr/>
        </p:nvGrpSpPr>
        <p:grpSpPr>
          <a:xfrm>
            <a:off x="233952" y="3195796"/>
            <a:ext cx="9958229" cy="4282017"/>
            <a:chOff x="200054" y="2900386"/>
            <a:chExt cx="8515350" cy="3886200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00054" y="2900386"/>
              <a:ext cx="8515350" cy="3886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6" name="Retângulo 5"/>
            <p:cNvSpPr/>
            <p:nvPr/>
          </p:nvSpPr>
          <p:spPr>
            <a:xfrm>
              <a:off x="714348" y="5224186"/>
              <a:ext cx="1357322" cy="28575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2362907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7302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Utilização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9323340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b="1" dirty="0" smtClean="0"/>
              <a:t>*p</a:t>
            </a:r>
            <a:r>
              <a:rPr lang="pt-BR" dirty="0" smtClean="0"/>
              <a:t> :conteúdo da posição de memória apontado por </a:t>
            </a:r>
            <a:r>
              <a:rPr lang="pt-BR" b="1" dirty="0" smtClean="0"/>
              <a:t>p</a:t>
            </a:r>
            <a:r>
              <a:rPr lang="pt-BR" dirty="0" smtClean="0"/>
              <a:t>;</a:t>
            </a:r>
          </a:p>
          <a:p>
            <a:pPr eaLnBrk="1" hangingPunct="1"/>
            <a:r>
              <a:rPr lang="pt-BR" b="1" dirty="0" smtClean="0"/>
              <a:t>&amp;c</a:t>
            </a:r>
            <a:r>
              <a:rPr lang="pt-BR" dirty="0" smtClean="0"/>
              <a:t>: o endereço na memória onde está armazenada a variável </a:t>
            </a:r>
            <a:r>
              <a:rPr lang="pt-BR" b="1" dirty="0" smtClean="0"/>
              <a:t>c</a:t>
            </a:r>
            <a:r>
              <a:rPr lang="pt-BR" dirty="0" smtClean="0"/>
              <a:t>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3952" y="3195796"/>
            <a:ext cx="9958229" cy="42820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394244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6540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Utilização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r>
              <a:rPr lang="pt-BR" dirty="0"/>
              <a:t>De modo geral, um ponteiro só pode receber o endereço de memória de uma variável do mesmo tipo do ponteiro</a:t>
            </a:r>
          </a:p>
          <a:p>
            <a:pPr lvl="1"/>
            <a:r>
              <a:rPr lang="pt-BR" dirty="0"/>
              <a:t>Isso ocorre porque diferentes tipos de variáveis ocupam espaços de memória de tamanhos diferentes</a:t>
            </a:r>
          </a:p>
          <a:p>
            <a:pPr lvl="1"/>
            <a:r>
              <a:rPr lang="pt-BR" dirty="0"/>
              <a:t>Na verdade, nós podemos atribuir a um ponteiro de inteiro (</a:t>
            </a:r>
            <a:r>
              <a:rPr lang="pt-BR" b="1" dirty="0" err="1"/>
              <a:t>int</a:t>
            </a:r>
            <a:r>
              <a:rPr lang="pt-BR" b="1" dirty="0"/>
              <a:t> *</a:t>
            </a:r>
            <a:r>
              <a:rPr lang="pt-BR" dirty="0"/>
              <a:t>) o endereço de uma variável do tipo </a:t>
            </a:r>
            <a:r>
              <a:rPr lang="pt-BR" b="1" dirty="0" err="1"/>
              <a:t>float</a:t>
            </a:r>
            <a:r>
              <a:rPr lang="pt-BR" dirty="0"/>
              <a:t>. No entanto, o compilador assume que qualquer endereço que esse ponteiro armazene obrigatoriamente apontará para uma variável do tipo </a:t>
            </a:r>
            <a:r>
              <a:rPr lang="pt-BR" b="1" dirty="0" err="1" smtClean="0"/>
              <a:t>int</a:t>
            </a:r>
            <a:endParaRPr lang="pt-BR" b="1" dirty="0" smtClean="0"/>
          </a:p>
          <a:p>
            <a:pPr lvl="1"/>
            <a:r>
              <a:rPr lang="pt-BR" dirty="0" smtClean="0"/>
              <a:t>Isso gera problemas na interpretação dos valores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605269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4762" y="1500805"/>
            <a:ext cx="9089390" cy="45548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386" name="Título 1"/>
          <p:cNvSpPr>
            <a:spLocks noGrp="1"/>
          </p:cNvSpPr>
          <p:nvPr>
            <p:ph type="ctrTitle"/>
          </p:nvPr>
        </p:nvSpPr>
        <p:spPr>
          <a:xfrm>
            <a:off x="802005" y="442580"/>
            <a:ext cx="9089390" cy="592470"/>
          </a:xfrm>
        </p:spPr>
        <p:txBody>
          <a:bodyPr/>
          <a:lstStyle/>
          <a:p>
            <a:r>
              <a:rPr lang="pt-BR" dirty="0" smtClean="0"/>
              <a:t>Utilização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 b="8163"/>
          <a:stretch>
            <a:fillRect/>
          </a:stretch>
        </p:blipFill>
        <p:spPr bwMode="auto">
          <a:xfrm>
            <a:off x="584763" y="6081312"/>
            <a:ext cx="5536062" cy="1416854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1703477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6540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Operações com ponteiros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Atribuição </a:t>
            </a:r>
          </a:p>
          <a:p>
            <a:pPr lvl="1" eaLnBrk="1" hangingPunct="1"/>
            <a:r>
              <a:rPr lang="pt-BR" dirty="0" smtClean="0"/>
              <a:t>p1 aponta para o mesmo lugar que p2;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pt-BR" sz="3600" b="1" dirty="0"/>
              <a:t>	</a:t>
            </a:r>
          </a:p>
          <a:p>
            <a:pPr lvl="1" eaLnBrk="1" hangingPunct="1">
              <a:buFont typeface="Wingdings" pitchFamily="2" charset="2"/>
              <a:buNone/>
            </a:pPr>
            <a:endParaRPr lang="pt-BR" sz="3600" b="1" dirty="0"/>
          </a:p>
          <a:p>
            <a:pPr lvl="1" eaLnBrk="1" hangingPunct="1"/>
            <a:endParaRPr lang="pt-BR" dirty="0" smtClean="0"/>
          </a:p>
          <a:p>
            <a:pPr lvl="1" eaLnBrk="1" hangingPunct="1"/>
            <a:r>
              <a:rPr lang="pt-BR" dirty="0" smtClean="0"/>
              <a:t>a variável apontada por p1 recebe o mesmo conteúdo da variável apontada por p2;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55700" y="2406650"/>
            <a:ext cx="4489000" cy="1206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07770" y="5504726"/>
            <a:ext cx="4477861" cy="18156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6768222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5778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Operações com ponteiros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712893" y="1763183"/>
            <a:ext cx="9445837" cy="5373511"/>
          </a:xfrm>
          <a:prstGeom prst="rect">
            <a:avLst/>
          </a:prstGeom>
        </p:spPr>
        <p:txBody>
          <a:bodyPr lIns="104278" tIns="52139" rIns="104278" bIns="52139"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pt-BR" dirty="0" smtClean="0"/>
              <a:t>Apenas duas operações aritméticas podem ser utilizadas com no endereço armazenado pelo ponteiro: adição e subtração</a:t>
            </a:r>
          </a:p>
          <a:p>
            <a:pPr>
              <a:lnSpc>
                <a:spcPct val="90000"/>
              </a:lnSpc>
              <a:defRPr/>
            </a:pPr>
            <a:r>
              <a:rPr lang="pt-BR" dirty="0" smtClean="0">
                <a:ea typeface="+mn-ea"/>
              </a:rPr>
              <a:t>podemos apenas somar e subtrair valores INTEIROS</a:t>
            </a:r>
            <a:endParaRPr lang="pt-BR" sz="2600" b="1" dirty="0"/>
          </a:p>
          <a:p>
            <a:pPr lvl="1">
              <a:lnSpc>
                <a:spcPct val="90000"/>
              </a:lnSpc>
              <a:defRPr/>
            </a:pPr>
            <a:r>
              <a:rPr lang="pt-BR" dirty="0" smtClean="0"/>
              <a:t>p++; </a:t>
            </a:r>
          </a:p>
          <a:p>
            <a:pPr lvl="2">
              <a:lnSpc>
                <a:spcPct val="90000"/>
              </a:lnSpc>
              <a:defRPr/>
            </a:pPr>
            <a:r>
              <a:rPr lang="pt-BR" dirty="0" smtClean="0"/>
              <a:t>soma +1 no endereço armazenado no ponteiro. </a:t>
            </a:r>
          </a:p>
          <a:p>
            <a:pPr lvl="1">
              <a:lnSpc>
                <a:spcPct val="90000"/>
              </a:lnSpc>
              <a:defRPr/>
            </a:pPr>
            <a:r>
              <a:rPr lang="pt-BR" dirty="0" smtClean="0"/>
              <a:t>p--; </a:t>
            </a:r>
          </a:p>
          <a:p>
            <a:pPr lvl="2">
              <a:lnSpc>
                <a:spcPct val="90000"/>
              </a:lnSpc>
              <a:defRPr/>
            </a:pPr>
            <a:r>
              <a:rPr lang="pt-BR" dirty="0" smtClean="0"/>
              <a:t>subtrai 1 no endereço armazenado no ponteiro. </a:t>
            </a:r>
          </a:p>
          <a:p>
            <a:pPr lvl="1">
              <a:lnSpc>
                <a:spcPct val="90000"/>
              </a:lnSpc>
              <a:defRPr/>
            </a:pPr>
            <a:r>
              <a:rPr lang="pt-BR" dirty="0" smtClean="0"/>
              <a:t>p = p+15; </a:t>
            </a:r>
          </a:p>
          <a:p>
            <a:pPr lvl="2">
              <a:lnSpc>
                <a:spcPct val="90000"/>
              </a:lnSpc>
              <a:defRPr/>
            </a:pPr>
            <a:r>
              <a:rPr lang="pt-BR" dirty="0" smtClean="0"/>
              <a:t>soma +15 no endereço armazenado no ponteiro.</a:t>
            </a:r>
          </a:p>
          <a:p>
            <a:pPr lvl="1" eaLnBrk="1" hangingPunct="1">
              <a:lnSpc>
                <a:spcPct val="90000"/>
              </a:lnSpc>
              <a:defRPr/>
            </a:pPr>
            <a:endParaRPr lang="pt-BR" sz="2300" b="1" dirty="0"/>
          </a:p>
        </p:txBody>
      </p:sp>
    </p:spTree>
    <p:extLst>
      <p:ext uri="{BB962C8B-B14F-4D97-AF65-F5344CB8AC3E}">
        <p14:creationId xmlns:p14="http://schemas.microsoft.com/office/powerpoint/2010/main" val="13032281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4254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Operações com ponteiros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712893" y="1763183"/>
            <a:ext cx="5719863" cy="5373511"/>
          </a:xfrm>
          <a:prstGeom prst="rect">
            <a:avLst/>
          </a:prstGeom>
        </p:spPr>
        <p:txBody>
          <a:bodyPr lIns="104278" tIns="52139" rIns="104278" bIns="52139">
            <a:normAutofit/>
          </a:bodyPr>
          <a:lstStyle/>
          <a:p>
            <a:pPr>
              <a:lnSpc>
                <a:spcPct val="90000"/>
              </a:lnSpc>
              <a:defRPr/>
            </a:pPr>
            <a:r>
              <a:rPr lang="pt-BR" dirty="0"/>
              <a:t>As operações de adição e subtração no endereço dependem do tipo de dado que o ponteiro aponta.</a:t>
            </a:r>
          </a:p>
          <a:p>
            <a:pPr lvl="1">
              <a:lnSpc>
                <a:spcPct val="90000"/>
              </a:lnSpc>
              <a:defRPr/>
            </a:pPr>
            <a:r>
              <a:rPr lang="pt-BR" dirty="0"/>
              <a:t>Considere um ponteiro para inteiro, </a:t>
            </a:r>
            <a:r>
              <a:rPr lang="pt-BR" dirty="0" err="1"/>
              <a:t>int</a:t>
            </a:r>
            <a:r>
              <a:rPr lang="pt-BR" dirty="0"/>
              <a:t> *. </a:t>
            </a:r>
            <a:endParaRPr lang="pt-BR" dirty="0" smtClean="0"/>
          </a:p>
          <a:p>
            <a:pPr lvl="1">
              <a:lnSpc>
                <a:spcPct val="90000"/>
              </a:lnSpc>
              <a:defRPr/>
            </a:pPr>
            <a:r>
              <a:rPr lang="pt-BR" dirty="0" smtClean="0"/>
              <a:t>O </a:t>
            </a:r>
            <a:r>
              <a:rPr lang="pt-BR" dirty="0"/>
              <a:t>tipo </a:t>
            </a:r>
            <a:r>
              <a:rPr lang="pt-BR" dirty="0" err="1"/>
              <a:t>int</a:t>
            </a:r>
            <a:r>
              <a:rPr lang="pt-BR" dirty="0"/>
              <a:t> ocupa um espaço de 4 bytes na memória.</a:t>
            </a:r>
          </a:p>
          <a:p>
            <a:pPr lvl="1">
              <a:lnSpc>
                <a:spcPct val="90000"/>
              </a:lnSpc>
              <a:defRPr/>
            </a:pPr>
            <a:r>
              <a:rPr lang="pt-BR" dirty="0"/>
              <a:t>Assim, nas operações de adição e subtração são adicionados/subtraídos 4 bytes por incremento/decremento, pois esse é o tamanho de um inteiro na memória e, portanto, é também o valor mínimo necessário para sair dessa posição reservada de memória</a:t>
            </a:r>
          </a:p>
          <a:p>
            <a:pPr>
              <a:lnSpc>
                <a:spcPct val="90000"/>
              </a:lnSpc>
              <a:defRPr/>
            </a:pPr>
            <a:endParaRPr lang="pt-BR" dirty="0"/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141720"/>
              </p:ext>
            </p:extLst>
          </p:nvPr>
        </p:nvGraphicFramePr>
        <p:xfrm>
          <a:off x="6505152" y="1259417"/>
          <a:ext cx="3603488" cy="572055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03109"/>
                <a:gridCol w="1247236"/>
                <a:gridCol w="1253143"/>
              </a:tblGrid>
              <a:tr h="408611">
                <a:tc gridSpan="3"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Memória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posição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variável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conteúdo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119</a:t>
                      </a:r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120</a:t>
                      </a:r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 smtClean="0"/>
                        <a:t>int</a:t>
                      </a:r>
                      <a:r>
                        <a:rPr lang="en-US" sz="1800" dirty="0" smtClean="0"/>
                        <a:t> a</a:t>
                      </a:r>
                      <a:endParaRPr lang="en-US" sz="1800" dirty="0"/>
                    </a:p>
                  </a:txBody>
                  <a:tcPr marL="106934" marR="106934" marT="50377" marB="5037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121</a:t>
                      </a:r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 smtClean="0"/>
                    </a:p>
                  </a:txBody>
                  <a:tcPr marL="106934" marR="106934" marT="50377" marB="5037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122</a:t>
                      </a:r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123</a:t>
                      </a:r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124</a:t>
                      </a:r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 smtClean="0"/>
                        <a:t>int</a:t>
                      </a:r>
                      <a:r>
                        <a:rPr lang="en-US" sz="1800" dirty="0" smtClean="0"/>
                        <a:t> b</a:t>
                      </a:r>
                      <a:endParaRPr lang="en-US" sz="1800" dirty="0"/>
                    </a:p>
                  </a:txBody>
                  <a:tcPr marL="106934" marR="106934" marT="50377" marB="5037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20</a:t>
                      </a:r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125</a:t>
                      </a:r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 smtClean="0"/>
                    </a:p>
                  </a:txBody>
                  <a:tcPr marL="106934" marR="106934" marT="50377" marB="5037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126</a:t>
                      </a:r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</a:txBody>
                  <a:tcPr marL="106934" marR="106934" marT="50377" marB="5037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127</a:t>
                      </a:r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 smtClean="0"/>
                    </a:p>
                  </a:txBody>
                  <a:tcPr marL="106934" marR="106934" marT="50377" marB="5037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128</a:t>
                      </a:r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char c </a:t>
                      </a:r>
                      <a:endParaRPr lang="en-US" sz="1800" dirty="0"/>
                    </a:p>
                  </a:txBody>
                  <a:tcPr marL="106934" marR="106934" marT="50377" marB="5037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‘k’</a:t>
                      </a:r>
                      <a:endParaRPr lang="en-US" sz="1800" dirty="0"/>
                    </a:p>
                  </a:txBody>
                  <a:tcPr marL="106934" marR="106934" marT="50377" marB="50377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129</a:t>
                      </a:r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char d</a:t>
                      </a:r>
                      <a:endParaRPr lang="en-US" sz="1800" dirty="0"/>
                    </a:p>
                  </a:txBody>
                  <a:tcPr marL="106934" marR="106934" marT="50377" marB="5037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‘s’</a:t>
                      </a:r>
                      <a:endParaRPr lang="en-US" sz="1800" dirty="0"/>
                    </a:p>
                  </a:txBody>
                  <a:tcPr marL="106934" marR="106934" marT="50377" marB="50377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130</a:t>
                      </a:r>
                      <a:endParaRPr lang="en-US" sz="1800" dirty="0"/>
                    </a:p>
                  </a:txBody>
                  <a:tcPr marL="106934" marR="106934" marT="50377" marB="50377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95589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6540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Operações com ponteiros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Operações Ilegais com ponteiros</a:t>
            </a:r>
          </a:p>
          <a:p>
            <a:pPr lvl="1" eaLnBrk="1" hangingPunct="1"/>
            <a:r>
              <a:rPr lang="pt-BR" dirty="0" smtClean="0"/>
              <a:t>Dividir ou multiplicar ponteiros;</a:t>
            </a:r>
          </a:p>
          <a:p>
            <a:pPr lvl="1" eaLnBrk="1" hangingPunct="1"/>
            <a:r>
              <a:rPr lang="pt-BR" dirty="0" smtClean="0"/>
              <a:t>Somar o endereço de dois ponteiros;</a:t>
            </a:r>
          </a:p>
          <a:p>
            <a:pPr lvl="1" eaLnBrk="1" hangingPunct="1"/>
            <a:r>
              <a:rPr lang="pt-BR" dirty="0" smtClean="0"/>
              <a:t>Não se pode adicionar ou subtrair valores dos tipos </a:t>
            </a:r>
            <a:r>
              <a:rPr lang="pt-BR" b="1" dirty="0" err="1" smtClean="0"/>
              <a:t>float</a:t>
            </a:r>
            <a:r>
              <a:rPr lang="pt-BR" dirty="0" smtClean="0"/>
              <a:t> ou </a:t>
            </a:r>
            <a:r>
              <a:rPr lang="pt-BR" b="1" dirty="0" err="1" smtClean="0"/>
              <a:t>double</a:t>
            </a:r>
            <a:r>
              <a:rPr lang="pt-BR" dirty="0" smtClean="0"/>
              <a:t> de ponteiros.</a:t>
            </a:r>
          </a:p>
        </p:txBody>
      </p:sp>
    </p:spTree>
    <p:extLst>
      <p:ext uri="{BB962C8B-B14F-4D97-AF65-F5344CB8AC3E}">
        <p14:creationId xmlns:p14="http://schemas.microsoft.com/office/powerpoint/2010/main" val="10322200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6540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Operações com ponteiros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Já sobre seu conteúdo apontado, valem todas as operações</a:t>
            </a:r>
          </a:p>
          <a:p>
            <a:pPr lvl="1" eaLnBrk="1" hangingPunct="1"/>
            <a:r>
              <a:rPr lang="pt-BR" dirty="0" smtClean="0"/>
              <a:t>(*p)++; </a:t>
            </a:r>
          </a:p>
          <a:p>
            <a:pPr lvl="2"/>
            <a:r>
              <a:rPr lang="pt-BR" dirty="0" smtClean="0"/>
              <a:t>incrementar o conteúdo da variável apontada pelo ponteiro p;</a:t>
            </a:r>
          </a:p>
          <a:p>
            <a:pPr lvl="1" eaLnBrk="1" hangingPunct="1"/>
            <a:r>
              <a:rPr lang="pt-BR" dirty="0" smtClean="0"/>
              <a:t>*p = (*p) * 10; </a:t>
            </a:r>
          </a:p>
          <a:p>
            <a:pPr lvl="2"/>
            <a:r>
              <a:rPr lang="pt-BR" dirty="0" smtClean="0"/>
              <a:t>multiplica o conteúdo da variável apontada pelo ponteiro p por 10;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2554" y="4815547"/>
            <a:ext cx="2428293" cy="2057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043252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59498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Operações com ponteiros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Operações relacionais</a:t>
            </a:r>
          </a:p>
          <a:p>
            <a:pPr lvl="1" eaLnBrk="1" hangingPunct="1"/>
            <a:r>
              <a:rPr lang="pt-BR" b="1" dirty="0" smtClean="0"/>
              <a:t>==</a:t>
            </a:r>
            <a:r>
              <a:rPr lang="pt-BR" dirty="0" smtClean="0"/>
              <a:t> e </a:t>
            </a:r>
            <a:r>
              <a:rPr lang="pt-BR" b="1" dirty="0" smtClean="0"/>
              <a:t>!=</a:t>
            </a:r>
            <a:r>
              <a:rPr lang="pt-BR" dirty="0" smtClean="0"/>
              <a:t> para saber se dois ponteiros são iguais ou diferentes. </a:t>
            </a:r>
          </a:p>
          <a:p>
            <a:pPr lvl="1"/>
            <a:r>
              <a:rPr lang="pt-BR" b="1" dirty="0" smtClean="0"/>
              <a:t>&gt;</a:t>
            </a:r>
            <a:r>
              <a:rPr lang="pt-BR" dirty="0" smtClean="0"/>
              <a:t>, </a:t>
            </a:r>
            <a:r>
              <a:rPr lang="pt-BR" b="1" dirty="0" smtClean="0"/>
              <a:t>&lt;</a:t>
            </a:r>
            <a:r>
              <a:rPr lang="pt-BR" dirty="0" smtClean="0"/>
              <a:t>, </a:t>
            </a:r>
            <a:r>
              <a:rPr lang="pt-BR" b="1" dirty="0" smtClean="0"/>
              <a:t>&gt;=</a:t>
            </a:r>
            <a:r>
              <a:rPr lang="pt-BR" dirty="0" smtClean="0"/>
              <a:t> e </a:t>
            </a:r>
            <a:r>
              <a:rPr lang="pt-BR" b="1" dirty="0" smtClean="0"/>
              <a:t>&lt;=</a:t>
            </a:r>
            <a:r>
              <a:rPr lang="pt-BR" dirty="0" smtClean="0"/>
              <a:t> para saber qual ponteiro aponta para uma posição mais alta na memória.</a:t>
            </a:r>
          </a:p>
          <a:p>
            <a:pPr lvl="1" eaLnBrk="1" hangingPunct="1"/>
            <a:endParaRPr lang="pt-BR" dirty="0" smtClean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4251" y="4103624"/>
            <a:ext cx="6404901" cy="3138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2010221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6540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Ponteiros Genéricos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Normalmente, um ponteiro aponta para um tipo específico de dado.</a:t>
            </a:r>
          </a:p>
          <a:p>
            <a:pPr lvl="1" eaLnBrk="1" hangingPunct="1"/>
            <a:r>
              <a:rPr lang="pt-BR" dirty="0" smtClean="0"/>
              <a:t>Um ponteiro genérico é um ponteiro que pode apontar para qualquer tipo de dado.</a:t>
            </a:r>
          </a:p>
          <a:p>
            <a:pPr eaLnBrk="1" hangingPunct="1"/>
            <a:r>
              <a:rPr lang="pt-BR" dirty="0" smtClean="0"/>
              <a:t>Declaração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14844" y="3930434"/>
            <a:ext cx="3263715" cy="3988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520157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5391" y="2550342"/>
            <a:ext cx="8632693" cy="453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560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6540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Ponteiros Genéricos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Exemplos</a:t>
            </a:r>
          </a:p>
        </p:txBody>
      </p:sp>
    </p:spTree>
    <p:extLst>
      <p:ext uri="{BB962C8B-B14F-4D97-AF65-F5344CB8AC3E}">
        <p14:creationId xmlns:p14="http://schemas.microsoft.com/office/powerpoint/2010/main" val="636849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59498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Ponteiros Genéricos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>
            <a:normAutofit/>
          </a:bodyPr>
          <a:lstStyle/>
          <a:p>
            <a:pPr>
              <a:lnSpc>
                <a:spcPct val="90000"/>
              </a:lnSpc>
            </a:pPr>
            <a:r>
              <a:rPr lang="pt-BR" dirty="0"/>
              <a:t>Para acessar o </a:t>
            </a:r>
            <a:r>
              <a:rPr lang="pt-BR" b="1" dirty="0"/>
              <a:t>conteúdo</a:t>
            </a:r>
            <a:r>
              <a:rPr lang="pt-BR" dirty="0"/>
              <a:t> de um ponteiro genérico é preciso antes convertê-lo para o tipo de ponteiro com o qual se deseja </a:t>
            </a:r>
            <a:r>
              <a:rPr lang="pt-BR" dirty="0" smtClean="0"/>
              <a:t>trabalhar</a:t>
            </a:r>
          </a:p>
          <a:p>
            <a:pPr lvl="1">
              <a:lnSpc>
                <a:spcPct val="90000"/>
              </a:lnSpc>
            </a:pPr>
            <a:r>
              <a:rPr lang="pt-BR" dirty="0" smtClean="0"/>
              <a:t>Isso é feito vai </a:t>
            </a:r>
            <a:r>
              <a:rPr lang="pt-BR" b="1" i="1" dirty="0" err="1" smtClean="0"/>
              <a:t>type</a:t>
            </a:r>
            <a:r>
              <a:rPr lang="pt-BR" b="1" i="1" dirty="0" smtClean="0"/>
              <a:t> </a:t>
            </a:r>
            <a:r>
              <a:rPr lang="pt-BR" b="1" i="1" dirty="0" err="1"/>
              <a:t>cast</a:t>
            </a:r>
            <a:endParaRPr lang="pt-BR" b="1" i="1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64273" y="3416194"/>
            <a:ext cx="8164856" cy="40616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381261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4254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Ponteiros e </a:t>
            </a:r>
            <a:r>
              <a:rPr lang="pt-BR" dirty="0" err="1" smtClean="0"/>
              <a:t>Arrays</a:t>
            </a:r>
            <a:endParaRPr lang="pt-BR" dirty="0" smtClean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r>
              <a:rPr lang="pt-BR" dirty="0"/>
              <a:t>Ponteiros e </a:t>
            </a:r>
            <a:r>
              <a:rPr lang="pt-BR" dirty="0" err="1"/>
              <a:t>arrays</a:t>
            </a:r>
            <a:r>
              <a:rPr lang="pt-BR" dirty="0"/>
              <a:t> possuem uma ligação muito forte.</a:t>
            </a:r>
          </a:p>
          <a:p>
            <a:pPr lvl="1"/>
            <a:r>
              <a:rPr lang="pt-BR" dirty="0" err="1"/>
              <a:t>Arrays</a:t>
            </a:r>
            <a:r>
              <a:rPr lang="pt-BR" dirty="0"/>
              <a:t> são agrupamentos de dados do mesmo tipo na memória.</a:t>
            </a:r>
          </a:p>
          <a:p>
            <a:pPr lvl="1"/>
            <a:r>
              <a:rPr lang="pt-BR" dirty="0"/>
              <a:t>Quando declaramos um </a:t>
            </a:r>
            <a:r>
              <a:rPr lang="pt-BR" dirty="0" err="1"/>
              <a:t>array</a:t>
            </a:r>
            <a:r>
              <a:rPr lang="pt-BR" dirty="0"/>
              <a:t>, informamos ao computador para reservar uma certa quantidade de memória a fim de armazenar os elementos do </a:t>
            </a:r>
            <a:r>
              <a:rPr lang="pt-BR" dirty="0" err="1"/>
              <a:t>array</a:t>
            </a:r>
            <a:r>
              <a:rPr lang="pt-BR" dirty="0"/>
              <a:t> de forma </a:t>
            </a:r>
            <a:r>
              <a:rPr lang="pt-BR" dirty="0" err="1" smtClean="0"/>
              <a:t>sequencial</a:t>
            </a:r>
            <a:r>
              <a:rPr lang="pt-BR" dirty="0"/>
              <a:t>. </a:t>
            </a:r>
          </a:p>
          <a:p>
            <a:pPr lvl="1"/>
            <a:r>
              <a:rPr lang="pt-BR" dirty="0"/>
              <a:t>Como resultado dessa operação, o computador nos devolve um ponteiro que aponta para o começo dessa </a:t>
            </a:r>
            <a:r>
              <a:rPr lang="pt-BR" dirty="0" err="1" smtClean="0"/>
              <a:t>sequência</a:t>
            </a:r>
            <a:r>
              <a:rPr lang="pt-BR" dirty="0" smtClean="0"/>
              <a:t> </a:t>
            </a:r>
            <a:r>
              <a:rPr lang="pt-BR" dirty="0"/>
              <a:t>de bytes na memória. 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904106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5016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Ponteiros e </a:t>
            </a:r>
            <a:r>
              <a:rPr lang="pt-BR" dirty="0" err="1" smtClean="0"/>
              <a:t>Arrays</a:t>
            </a:r>
            <a:endParaRPr lang="pt-BR" dirty="0" smtClean="0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712894" y="1763184"/>
            <a:ext cx="5524923" cy="4869744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O nome do </a:t>
            </a:r>
            <a:r>
              <a:rPr lang="pt-BR" dirty="0" err="1" smtClean="0"/>
              <a:t>array</a:t>
            </a:r>
            <a:r>
              <a:rPr lang="pt-BR" dirty="0" smtClean="0"/>
              <a:t> (sem índice) é apenas um ponteiro que aponta para o primeiro elemento do </a:t>
            </a:r>
            <a:r>
              <a:rPr lang="pt-BR" dirty="0" err="1" smtClean="0"/>
              <a:t>array</a:t>
            </a:r>
            <a:r>
              <a:rPr lang="pt-BR" dirty="0" smtClean="0"/>
              <a:t>.</a:t>
            </a:r>
          </a:p>
        </p:txBody>
      </p:sp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9161421"/>
              </p:ext>
            </p:extLst>
          </p:nvPr>
        </p:nvGraphicFramePr>
        <p:xfrm>
          <a:off x="6505152" y="1259416"/>
          <a:ext cx="3475355" cy="490333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63885"/>
                <a:gridCol w="1202917"/>
                <a:gridCol w="1208553"/>
              </a:tblGrid>
              <a:tr h="408611">
                <a:tc gridSpan="3"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Memória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posição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variável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conteúdo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119</a:t>
                      </a:r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120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121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 err="1" smtClean="0"/>
                        <a:t>int</a:t>
                      </a:r>
                      <a:r>
                        <a:rPr lang="pt-BR" sz="1800" dirty="0" smtClean="0"/>
                        <a:t> *p</a:t>
                      </a:r>
                      <a:endParaRPr lang="en-US" sz="1800" dirty="0" smtClean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123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122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123</a:t>
                      </a:r>
                      <a:endParaRPr lang="en-US" sz="1800" dirty="0"/>
                    </a:p>
                  </a:txBody>
                  <a:tcPr marL="106934" marR="106934" marT="50377" marB="50377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err="1" smtClean="0"/>
                        <a:t>int</a:t>
                      </a:r>
                      <a:r>
                        <a:rPr lang="pt-BR" sz="1800" dirty="0" smtClean="0"/>
                        <a:t> </a:t>
                      </a:r>
                      <a:r>
                        <a:rPr lang="pt-BR" sz="1800" dirty="0" err="1" smtClean="0"/>
                        <a:t>vet</a:t>
                      </a:r>
                      <a:r>
                        <a:rPr lang="pt-BR" sz="1800" dirty="0" smtClean="0"/>
                        <a:t>[5]</a:t>
                      </a:r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</a:t>
                      </a:r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124</a:t>
                      </a:r>
                      <a:endParaRPr lang="en-US" sz="1800" dirty="0"/>
                    </a:p>
                  </a:txBody>
                  <a:tcPr marL="106934" marR="106934" marT="50377" marB="50377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2</a:t>
                      </a:r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125</a:t>
                      </a:r>
                      <a:endParaRPr lang="en-US" sz="1800" dirty="0"/>
                    </a:p>
                  </a:txBody>
                  <a:tcPr marL="106934" marR="106934" marT="50377" marB="50377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 smtClean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3</a:t>
                      </a:r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126</a:t>
                      </a:r>
                      <a:endParaRPr lang="en-US" sz="1800" dirty="0"/>
                    </a:p>
                  </a:txBody>
                  <a:tcPr marL="106934" marR="106934" marT="50377" marB="50377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4</a:t>
                      </a:r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127</a:t>
                      </a:r>
                      <a:endParaRPr lang="en-US" sz="1800" dirty="0"/>
                    </a:p>
                  </a:txBody>
                  <a:tcPr marL="106934" marR="106934" marT="50377" marB="50377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 smtClean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5</a:t>
                      </a:r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128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cxnSp>
        <p:nvCxnSpPr>
          <p:cNvPr id="7" name="Conector angulado 6"/>
          <p:cNvCxnSpPr/>
          <p:nvPr/>
        </p:nvCxnSpPr>
        <p:spPr>
          <a:xfrm>
            <a:off x="9695112" y="3139960"/>
            <a:ext cx="1857" cy="755650"/>
          </a:xfrm>
          <a:prstGeom prst="bentConnector3">
            <a:avLst>
              <a:gd name="adj1" fmla="val 45401148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69561" y="3620822"/>
            <a:ext cx="3987747" cy="12804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9541149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6540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Ponteiros e </a:t>
            </a:r>
            <a:r>
              <a:rPr lang="pt-BR" dirty="0" err="1" smtClean="0"/>
              <a:t>Arrays</a:t>
            </a:r>
            <a:endParaRPr lang="pt-BR" dirty="0" smtClean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712893" y="1763183"/>
            <a:ext cx="9713172" cy="5373511"/>
          </a:xfrm>
          <a:prstGeom prst="rect">
            <a:avLst/>
          </a:prstGeom>
        </p:spPr>
        <p:txBody>
          <a:bodyPr lIns="104278" tIns="52139" rIns="104278" bIns="52139">
            <a:normAutofit/>
          </a:bodyPr>
          <a:lstStyle/>
          <a:p>
            <a:pPr eaLnBrk="1" hangingPunct="1">
              <a:lnSpc>
                <a:spcPct val="80000"/>
              </a:lnSpc>
              <a:defRPr/>
            </a:pPr>
            <a:r>
              <a:rPr lang="pt-BR" sz="2700" dirty="0"/>
              <a:t>Os colchetes </a:t>
            </a:r>
            <a:r>
              <a:rPr lang="pt-BR" sz="2700" b="1" dirty="0"/>
              <a:t>[ ]</a:t>
            </a:r>
            <a:r>
              <a:rPr lang="pt-BR" sz="2700" dirty="0"/>
              <a:t> substituem o uso conjunto de operações aritméticas e de acesso ao conteúdo (operador “*”) no acesso ao conteúdo de uma posição de um </a:t>
            </a:r>
            <a:r>
              <a:rPr lang="pt-BR" sz="2700" dirty="0" err="1"/>
              <a:t>array</a:t>
            </a:r>
            <a:r>
              <a:rPr lang="pt-BR" sz="2700" dirty="0"/>
              <a:t> ou ponteiro.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pt-BR" sz="2300" dirty="0"/>
              <a:t>O valor entre colchetes é o deslocamento a partir da posição inicial do </a:t>
            </a:r>
            <a:r>
              <a:rPr lang="pt-BR" sz="2300" dirty="0" err="1"/>
              <a:t>array</a:t>
            </a:r>
            <a:r>
              <a:rPr lang="pt-BR" sz="2300" dirty="0"/>
              <a:t>. 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pt-BR" sz="2300" dirty="0"/>
              <a:t>Nesse caso, </a:t>
            </a:r>
            <a:r>
              <a:rPr lang="pt-BR" sz="2300" b="1" dirty="0"/>
              <a:t>p[2]</a:t>
            </a:r>
            <a:r>
              <a:rPr lang="pt-BR" sz="2300" dirty="0"/>
              <a:t> equivale a </a:t>
            </a:r>
            <a:r>
              <a:rPr lang="pt-BR" sz="2300" b="1" dirty="0"/>
              <a:t>*(p+2)</a:t>
            </a:r>
            <a:r>
              <a:rPr lang="pt-BR" sz="2300" dirty="0"/>
              <a:t>.</a:t>
            </a:r>
          </a:p>
          <a:p>
            <a:pPr lvl="1" eaLnBrk="1" hangingPunct="1">
              <a:lnSpc>
                <a:spcPct val="80000"/>
              </a:lnSpc>
              <a:defRPr/>
            </a:pPr>
            <a:endParaRPr lang="pt-BR" sz="27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pt-BR" sz="2700" dirty="0"/>
              <a:t>	</a:t>
            </a:r>
            <a:endParaRPr lang="pt-BR" sz="2300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8934" y="4565391"/>
            <a:ext cx="8543581" cy="2602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9897323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6540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Ponteiros e </a:t>
            </a:r>
            <a:r>
              <a:rPr lang="pt-BR" dirty="0" err="1" smtClean="0"/>
              <a:t>Arrays</a:t>
            </a:r>
            <a:endParaRPr lang="pt-BR" dirty="0" smtClean="0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Nesse exemplo</a:t>
            </a:r>
          </a:p>
          <a:p>
            <a:pPr lvl="1" eaLnBrk="1" hangingPunct="1">
              <a:buFont typeface="Wingdings" pitchFamily="2" charset="2"/>
              <a:buNone/>
            </a:pPr>
            <a:endParaRPr lang="pt-BR" dirty="0" smtClean="0"/>
          </a:p>
          <a:p>
            <a:pPr lvl="1" eaLnBrk="1" hangingPunct="1">
              <a:buFont typeface="Wingdings" pitchFamily="2" charset="2"/>
              <a:buNone/>
            </a:pPr>
            <a:endParaRPr lang="pt-BR" dirty="0" smtClean="0"/>
          </a:p>
          <a:p>
            <a:pPr lvl="1" eaLnBrk="1" hangingPunct="1">
              <a:buFont typeface="Wingdings" pitchFamily="2" charset="2"/>
              <a:buNone/>
            </a:pPr>
            <a:endParaRPr lang="pt-BR" dirty="0" smtClean="0"/>
          </a:p>
          <a:p>
            <a:pPr eaLnBrk="1" hangingPunct="1"/>
            <a:r>
              <a:rPr lang="pt-BR" dirty="0" smtClean="0"/>
              <a:t>Temos que: </a:t>
            </a:r>
          </a:p>
          <a:p>
            <a:pPr lvl="1" eaLnBrk="1" hangingPunct="1"/>
            <a:r>
              <a:rPr lang="pt-BR" b="1" dirty="0" smtClean="0"/>
              <a:t>*p</a:t>
            </a:r>
            <a:r>
              <a:rPr lang="pt-BR" dirty="0" smtClean="0"/>
              <a:t> é equivalente a </a:t>
            </a:r>
            <a:r>
              <a:rPr lang="pt-BR" b="1" dirty="0" err="1" smtClean="0"/>
              <a:t>vet</a:t>
            </a:r>
            <a:r>
              <a:rPr lang="pt-BR" b="1" dirty="0" smtClean="0"/>
              <a:t>[0]</a:t>
            </a:r>
            <a:r>
              <a:rPr lang="pt-BR" dirty="0" smtClean="0"/>
              <a:t>;</a:t>
            </a:r>
          </a:p>
          <a:p>
            <a:pPr lvl="1" eaLnBrk="1" hangingPunct="1"/>
            <a:r>
              <a:rPr lang="pt-BR" b="1" dirty="0" err="1" smtClean="0"/>
              <a:t>vet</a:t>
            </a:r>
            <a:r>
              <a:rPr lang="pt-BR" b="1" dirty="0" smtClean="0"/>
              <a:t>[índice]</a:t>
            </a:r>
            <a:r>
              <a:rPr lang="pt-BR" dirty="0" smtClean="0"/>
              <a:t> é equivalente a </a:t>
            </a:r>
            <a:r>
              <a:rPr lang="pt-BR" b="1" dirty="0" smtClean="0"/>
              <a:t>*(p+índice)</a:t>
            </a:r>
            <a:r>
              <a:rPr lang="pt-BR" dirty="0" smtClean="0"/>
              <a:t>;</a:t>
            </a:r>
          </a:p>
          <a:p>
            <a:pPr lvl="1" eaLnBrk="1" hangingPunct="1"/>
            <a:r>
              <a:rPr lang="pt-BR" b="1" dirty="0" err="1" smtClean="0"/>
              <a:t>vet</a:t>
            </a:r>
            <a:r>
              <a:rPr lang="pt-BR" dirty="0" smtClean="0"/>
              <a:t> é equivalente a </a:t>
            </a:r>
            <a:r>
              <a:rPr lang="pt-BR" b="1" dirty="0" smtClean="0"/>
              <a:t>&amp;</a:t>
            </a:r>
            <a:r>
              <a:rPr lang="pt-BR" b="1" dirty="0" err="1" smtClean="0"/>
              <a:t>vet</a:t>
            </a:r>
            <a:r>
              <a:rPr lang="pt-BR" b="1" dirty="0" smtClean="0"/>
              <a:t>[0]</a:t>
            </a:r>
            <a:r>
              <a:rPr lang="pt-BR" dirty="0" smtClean="0"/>
              <a:t>;</a:t>
            </a:r>
          </a:p>
          <a:p>
            <a:pPr lvl="1" eaLnBrk="1" hangingPunct="1"/>
            <a:r>
              <a:rPr lang="pt-BR" b="1" dirty="0" smtClean="0"/>
              <a:t>&amp;</a:t>
            </a:r>
            <a:r>
              <a:rPr lang="pt-BR" b="1" dirty="0" err="1" smtClean="0"/>
              <a:t>vet</a:t>
            </a:r>
            <a:r>
              <a:rPr lang="pt-BR" b="1" dirty="0" smtClean="0"/>
              <a:t>[índice]</a:t>
            </a:r>
            <a:r>
              <a:rPr lang="pt-BR" dirty="0" smtClean="0"/>
              <a:t> é equivalente a </a:t>
            </a:r>
            <a:r>
              <a:rPr lang="pt-BR" b="1" dirty="0" smtClean="0"/>
              <a:t>(</a:t>
            </a:r>
            <a:r>
              <a:rPr lang="pt-BR" b="1" dirty="0" err="1" smtClean="0"/>
              <a:t>vet</a:t>
            </a:r>
            <a:r>
              <a:rPr lang="pt-BR" b="1" dirty="0" smtClean="0"/>
              <a:t> + índice)</a:t>
            </a:r>
            <a:r>
              <a:rPr lang="pt-BR" dirty="0" smtClean="0"/>
              <a:t>;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1675" y="2261701"/>
            <a:ext cx="3987747" cy="12804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6540761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Ponteiros e Arrays</a:t>
            </a:r>
          </a:p>
        </p:txBody>
      </p:sp>
      <p:pic>
        <p:nvPicPr>
          <p:cNvPr id="9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/>
          <a:stretch>
            <a:fillRect/>
          </a:stretch>
        </p:blipFill>
        <p:spPr bwMode="auto">
          <a:xfrm>
            <a:off x="1203296" y="2603500"/>
            <a:ext cx="2940109" cy="173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15" name="Picture 3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 bwMode="auto">
          <a:xfrm>
            <a:off x="5719990" y="2603500"/>
            <a:ext cx="3063420" cy="173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Espaço Reservado para Texto 3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pt-BR" dirty="0" smtClean="0"/>
              <a:t>Usando </a:t>
            </a:r>
            <a:r>
              <a:rPr lang="pt-BR" dirty="0" err="1" smtClean="0"/>
              <a:t>array</a:t>
            </a:r>
            <a:endParaRPr lang="pt-BR" dirty="0"/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dirty="0" smtClean="0"/>
              <a:t>Usando ponteiro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740113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err="1" smtClean="0"/>
              <a:t>Arrays</a:t>
            </a:r>
            <a:r>
              <a:rPr lang="pt-BR" dirty="0" smtClean="0"/>
              <a:t> Multidimensionais</a:t>
            </a:r>
          </a:p>
          <a:p>
            <a:pPr lvl="1" eaLnBrk="1" hangingPunct="1"/>
            <a:r>
              <a:rPr lang="pt-BR" dirty="0" smtClean="0"/>
              <a:t>Apesar de terem mais de uma dimensão, na memória os dados são armazenados linearmente. </a:t>
            </a:r>
          </a:p>
          <a:p>
            <a:pPr lvl="1" eaLnBrk="1" hangingPunct="1"/>
            <a:r>
              <a:rPr lang="pt-BR" dirty="0" smtClean="0"/>
              <a:t>Ex.: </a:t>
            </a:r>
          </a:p>
          <a:p>
            <a:pPr lvl="1" eaLnBrk="1" hangingPunct="1"/>
            <a:r>
              <a:rPr lang="pt-BR" dirty="0" err="1" smtClean="0"/>
              <a:t>int</a:t>
            </a:r>
            <a:r>
              <a:rPr lang="pt-BR" dirty="0" smtClean="0"/>
              <a:t> </a:t>
            </a:r>
            <a:r>
              <a:rPr lang="pt-BR" dirty="0" err="1" smtClean="0"/>
              <a:t>mat</a:t>
            </a:r>
            <a:r>
              <a:rPr lang="pt-BR" dirty="0" smtClean="0"/>
              <a:t>[5][5];</a:t>
            </a:r>
          </a:p>
          <a:p>
            <a:pPr eaLnBrk="1" hangingPunct="1"/>
            <a:endParaRPr lang="pt-BR" dirty="0" smtClean="0"/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577850"/>
            <a:ext cx="9089390" cy="653476"/>
          </a:xfrm>
        </p:spPr>
        <p:txBody>
          <a:bodyPr/>
          <a:lstStyle/>
          <a:p>
            <a:pPr eaLnBrk="1" hangingPunct="1"/>
            <a:r>
              <a:rPr lang="pt-BR" dirty="0" smtClean="0"/>
              <a:t>Ponteiros e </a:t>
            </a:r>
            <a:r>
              <a:rPr lang="pt-BR" dirty="0" err="1" smtClean="0"/>
              <a:t>Arrays</a:t>
            </a:r>
            <a:endParaRPr lang="pt-BR" dirty="0" smtClean="0"/>
          </a:p>
        </p:txBody>
      </p:sp>
      <p:grpSp>
        <p:nvGrpSpPr>
          <p:cNvPr id="66" name="Grupo 65"/>
          <p:cNvGrpSpPr/>
          <p:nvPr/>
        </p:nvGrpSpPr>
        <p:grpSpPr>
          <a:xfrm>
            <a:off x="3831802" y="3984680"/>
            <a:ext cx="3118908" cy="2316181"/>
            <a:chOff x="3276600" y="3048000"/>
            <a:chExt cx="2667000" cy="2102080"/>
          </a:xfrm>
        </p:grpSpPr>
        <p:grpSp>
          <p:nvGrpSpPr>
            <p:cNvPr id="67" name="Group 63"/>
            <p:cNvGrpSpPr>
              <a:grpSpLocks/>
            </p:cNvGrpSpPr>
            <p:nvPr/>
          </p:nvGrpSpPr>
          <p:grpSpPr bwMode="auto">
            <a:xfrm>
              <a:off x="3657600" y="3352800"/>
              <a:ext cx="1524000" cy="1524000"/>
              <a:chOff x="3792" y="2304"/>
              <a:chExt cx="960" cy="960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70" name="Rectangle 38"/>
              <p:cNvSpPr>
                <a:spLocks noChangeArrowheads="1"/>
              </p:cNvSpPr>
              <p:nvPr/>
            </p:nvSpPr>
            <p:spPr bwMode="auto">
              <a:xfrm>
                <a:off x="3792" y="2304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" name="Rectangle 39"/>
              <p:cNvSpPr>
                <a:spLocks noChangeArrowheads="1"/>
              </p:cNvSpPr>
              <p:nvPr/>
            </p:nvSpPr>
            <p:spPr bwMode="auto">
              <a:xfrm>
                <a:off x="3984" y="2304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" name="Rectangle 40"/>
              <p:cNvSpPr>
                <a:spLocks noChangeArrowheads="1"/>
              </p:cNvSpPr>
              <p:nvPr/>
            </p:nvSpPr>
            <p:spPr bwMode="auto">
              <a:xfrm>
                <a:off x="4176" y="2304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3" name="Rectangle 41"/>
              <p:cNvSpPr>
                <a:spLocks noChangeArrowheads="1"/>
              </p:cNvSpPr>
              <p:nvPr/>
            </p:nvSpPr>
            <p:spPr bwMode="auto">
              <a:xfrm>
                <a:off x="4368" y="2304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4" name="Rectangle 42"/>
              <p:cNvSpPr>
                <a:spLocks noChangeArrowheads="1"/>
              </p:cNvSpPr>
              <p:nvPr/>
            </p:nvSpPr>
            <p:spPr bwMode="auto">
              <a:xfrm>
                <a:off x="4560" y="2304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" name="Rectangle 43"/>
              <p:cNvSpPr>
                <a:spLocks noChangeArrowheads="1"/>
              </p:cNvSpPr>
              <p:nvPr/>
            </p:nvSpPr>
            <p:spPr bwMode="auto">
              <a:xfrm>
                <a:off x="3792" y="24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" name="Rectangle 44"/>
              <p:cNvSpPr>
                <a:spLocks noChangeArrowheads="1"/>
              </p:cNvSpPr>
              <p:nvPr/>
            </p:nvSpPr>
            <p:spPr bwMode="auto">
              <a:xfrm>
                <a:off x="3984" y="24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7" name="Rectangle 45"/>
              <p:cNvSpPr>
                <a:spLocks noChangeArrowheads="1"/>
              </p:cNvSpPr>
              <p:nvPr/>
            </p:nvSpPr>
            <p:spPr bwMode="auto">
              <a:xfrm>
                <a:off x="4176" y="24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8" name="Rectangle 46"/>
              <p:cNvSpPr>
                <a:spLocks noChangeArrowheads="1"/>
              </p:cNvSpPr>
              <p:nvPr/>
            </p:nvSpPr>
            <p:spPr bwMode="auto">
              <a:xfrm>
                <a:off x="4368" y="24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9" name="Rectangle 47"/>
              <p:cNvSpPr>
                <a:spLocks noChangeArrowheads="1"/>
              </p:cNvSpPr>
              <p:nvPr/>
            </p:nvSpPr>
            <p:spPr bwMode="auto">
              <a:xfrm>
                <a:off x="4560" y="24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" name="Rectangle 48"/>
              <p:cNvSpPr>
                <a:spLocks noChangeArrowheads="1"/>
              </p:cNvSpPr>
              <p:nvPr/>
            </p:nvSpPr>
            <p:spPr bwMode="auto">
              <a:xfrm>
                <a:off x="3792" y="2688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1" name="Rectangle 49"/>
              <p:cNvSpPr>
                <a:spLocks noChangeArrowheads="1"/>
              </p:cNvSpPr>
              <p:nvPr/>
            </p:nvSpPr>
            <p:spPr bwMode="auto">
              <a:xfrm>
                <a:off x="3984" y="2688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" name="Rectangle 50"/>
              <p:cNvSpPr>
                <a:spLocks noChangeArrowheads="1"/>
              </p:cNvSpPr>
              <p:nvPr/>
            </p:nvSpPr>
            <p:spPr bwMode="auto">
              <a:xfrm>
                <a:off x="4176" y="2688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3" name="Rectangle 51"/>
              <p:cNvSpPr>
                <a:spLocks noChangeArrowheads="1"/>
              </p:cNvSpPr>
              <p:nvPr/>
            </p:nvSpPr>
            <p:spPr bwMode="auto">
              <a:xfrm>
                <a:off x="4368" y="2688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4" name="Rectangle 52"/>
              <p:cNvSpPr>
                <a:spLocks noChangeArrowheads="1"/>
              </p:cNvSpPr>
              <p:nvPr/>
            </p:nvSpPr>
            <p:spPr bwMode="auto">
              <a:xfrm>
                <a:off x="4560" y="2688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5" name="Rectangle 53"/>
              <p:cNvSpPr>
                <a:spLocks noChangeArrowheads="1"/>
              </p:cNvSpPr>
              <p:nvPr/>
            </p:nvSpPr>
            <p:spPr bwMode="auto">
              <a:xfrm>
                <a:off x="3792" y="2880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6" name="Rectangle 54"/>
              <p:cNvSpPr>
                <a:spLocks noChangeArrowheads="1"/>
              </p:cNvSpPr>
              <p:nvPr/>
            </p:nvSpPr>
            <p:spPr bwMode="auto">
              <a:xfrm>
                <a:off x="3984" y="2880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7" name="Rectangle 55"/>
              <p:cNvSpPr>
                <a:spLocks noChangeArrowheads="1"/>
              </p:cNvSpPr>
              <p:nvPr/>
            </p:nvSpPr>
            <p:spPr bwMode="auto">
              <a:xfrm>
                <a:off x="4176" y="2880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8" name="Rectangle 56"/>
              <p:cNvSpPr>
                <a:spLocks noChangeArrowheads="1"/>
              </p:cNvSpPr>
              <p:nvPr/>
            </p:nvSpPr>
            <p:spPr bwMode="auto">
              <a:xfrm>
                <a:off x="4368" y="2880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9" name="Rectangle 57"/>
              <p:cNvSpPr>
                <a:spLocks noChangeArrowheads="1"/>
              </p:cNvSpPr>
              <p:nvPr/>
            </p:nvSpPr>
            <p:spPr bwMode="auto">
              <a:xfrm>
                <a:off x="4560" y="2880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0" name="Rectangle 58"/>
              <p:cNvSpPr>
                <a:spLocks noChangeArrowheads="1"/>
              </p:cNvSpPr>
              <p:nvPr/>
            </p:nvSpPr>
            <p:spPr bwMode="auto">
              <a:xfrm>
                <a:off x="3792" y="3072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1" name="Rectangle 59"/>
              <p:cNvSpPr>
                <a:spLocks noChangeArrowheads="1"/>
              </p:cNvSpPr>
              <p:nvPr/>
            </p:nvSpPr>
            <p:spPr bwMode="auto">
              <a:xfrm>
                <a:off x="3984" y="3072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" name="Rectangle 60"/>
              <p:cNvSpPr>
                <a:spLocks noChangeArrowheads="1"/>
              </p:cNvSpPr>
              <p:nvPr/>
            </p:nvSpPr>
            <p:spPr bwMode="auto">
              <a:xfrm>
                <a:off x="4176" y="3072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3" name="Rectangle 61"/>
              <p:cNvSpPr>
                <a:spLocks noChangeArrowheads="1"/>
              </p:cNvSpPr>
              <p:nvPr/>
            </p:nvSpPr>
            <p:spPr bwMode="auto">
              <a:xfrm>
                <a:off x="4368" y="3072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4" name="Rectangle 62"/>
              <p:cNvSpPr>
                <a:spLocks noChangeArrowheads="1"/>
              </p:cNvSpPr>
              <p:nvPr/>
            </p:nvSpPr>
            <p:spPr bwMode="auto">
              <a:xfrm>
                <a:off x="4560" y="3072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8" name="Text Box 65"/>
            <p:cNvSpPr txBox="1">
              <a:spLocks noChangeArrowheads="1"/>
            </p:cNvSpPr>
            <p:nvPr/>
          </p:nvSpPr>
          <p:spPr bwMode="auto">
            <a:xfrm>
              <a:off x="3276600" y="3048000"/>
              <a:ext cx="838200" cy="335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0,0</a:t>
              </a:r>
            </a:p>
          </p:txBody>
        </p:sp>
        <p:sp>
          <p:nvSpPr>
            <p:cNvPr id="69" name="Text Box 66"/>
            <p:cNvSpPr txBox="1">
              <a:spLocks noChangeArrowheads="1"/>
            </p:cNvSpPr>
            <p:nvPr/>
          </p:nvSpPr>
          <p:spPr bwMode="auto">
            <a:xfrm>
              <a:off x="5105400" y="4814888"/>
              <a:ext cx="838200" cy="335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4,4</a:t>
              </a:r>
            </a:p>
          </p:txBody>
        </p:sp>
      </p:grpSp>
      <p:grpSp>
        <p:nvGrpSpPr>
          <p:cNvPr id="95" name="Grupo 2"/>
          <p:cNvGrpSpPr/>
          <p:nvPr/>
        </p:nvGrpSpPr>
        <p:grpSpPr>
          <a:xfrm>
            <a:off x="356447" y="6503513"/>
            <a:ext cx="9178502" cy="659444"/>
            <a:chOff x="381000" y="5334000"/>
            <a:chExt cx="7848600" cy="598487"/>
          </a:xfrm>
        </p:grpSpPr>
        <p:grpSp>
          <p:nvGrpSpPr>
            <p:cNvPr id="96" name="Group 64"/>
            <p:cNvGrpSpPr>
              <a:grpSpLocks/>
            </p:cNvGrpSpPr>
            <p:nvPr/>
          </p:nvGrpSpPr>
          <p:grpSpPr bwMode="auto">
            <a:xfrm>
              <a:off x="457200" y="5627687"/>
              <a:ext cx="7620000" cy="304800"/>
              <a:chOff x="576" y="3696"/>
              <a:chExt cx="4800" cy="192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103" name="Rectangle 4"/>
              <p:cNvSpPr>
                <a:spLocks noChangeArrowheads="1"/>
              </p:cNvSpPr>
              <p:nvPr/>
            </p:nvSpPr>
            <p:spPr bwMode="auto">
              <a:xfrm>
                <a:off x="576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4" name="Rectangle 5"/>
              <p:cNvSpPr>
                <a:spLocks noChangeArrowheads="1"/>
              </p:cNvSpPr>
              <p:nvPr/>
            </p:nvSpPr>
            <p:spPr bwMode="auto">
              <a:xfrm>
                <a:off x="768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5" name="Rectangle 6"/>
              <p:cNvSpPr>
                <a:spLocks noChangeArrowheads="1"/>
              </p:cNvSpPr>
              <p:nvPr/>
            </p:nvSpPr>
            <p:spPr bwMode="auto">
              <a:xfrm>
                <a:off x="960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6" name="Rectangle 7"/>
              <p:cNvSpPr>
                <a:spLocks noChangeArrowheads="1"/>
              </p:cNvSpPr>
              <p:nvPr/>
            </p:nvSpPr>
            <p:spPr bwMode="auto">
              <a:xfrm>
                <a:off x="1152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7" name="Rectangle 8"/>
              <p:cNvSpPr>
                <a:spLocks noChangeArrowheads="1"/>
              </p:cNvSpPr>
              <p:nvPr/>
            </p:nvSpPr>
            <p:spPr bwMode="auto">
              <a:xfrm>
                <a:off x="1344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8" name="Rectangle 9"/>
              <p:cNvSpPr>
                <a:spLocks noChangeArrowheads="1"/>
              </p:cNvSpPr>
              <p:nvPr/>
            </p:nvSpPr>
            <p:spPr bwMode="auto">
              <a:xfrm>
                <a:off x="1536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9" name="Rectangle 10"/>
              <p:cNvSpPr>
                <a:spLocks noChangeArrowheads="1"/>
              </p:cNvSpPr>
              <p:nvPr/>
            </p:nvSpPr>
            <p:spPr bwMode="auto">
              <a:xfrm>
                <a:off x="1728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0" name="Rectangle 11"/>
              <p:cNvSpPr>
                <a:spLocks noChangeArrowheads="1"/>
              </p:cNvSpPr>
              <p:nvPr/>
            </p:nvSpPr>
            <p:spPr bwMode="auto">
              <a:xfrm>
                <a:off x="1920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1" name="Rectangle 12"/>
              <p:cNvSpPr>
                <a:spLocks noChangeArrowheads="1"/>
              </p:cNvSpPr>
              <p:nvPr/>
            </p:nvSpPr>
            <p:spPr bwMode="auto">
              <a:xfrm>
                <a:off x="2112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" name="Rectangle 13"/>
              <p:cNvSpPr>
                <a:spLocks noChangeArrowheads="1"/>
              </p:cNvSpPr>
              <p:nvPr/>
            </p:nvSpPr>
            <p:spPr bwMode="auto">
              <a:xfrm>
                <a:off x="2304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" name="Rectangle 14"/>
              <p:cNvSpPr>
                <a:spLocks noChangeArrowheads="1"/>
              </p:cNvSpPr>
              <p:nvPr/>
            </p:nvSpPr>
            <p:spPr bwMode="auto">
              <a:xfrm>
                <a:off x="2496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4" name="Rectangle 15"/>
              <p:cNvSpPr>
                <a:spLocks noChangeArrowheads="1"/>
              </p:cNvSpPr>
              <p:nvPr/>
            </p:nvSpPr>
            <p:spPr bwMode="auto">
              <a:xfrm>
                <a:off x="2688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5" name="Rectangle 16"/>
              <p:cNvSpPr>
                <a:spLocks noChangeArrowheads="1"/>
              </p:cNvSpPr>
              <p:nvPr/>
            </p:nvSpPr>
            <p:spPr bwMode="auto">
              <a:xfrm>
                <a:off x="2880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6" name="Rectangle 17"/>
              <p:cNvSpPr>
                <a:spLocks noChangeArrowheads="1"/>
              </p:cNvSpPr>
              <p:nvPr/>
            </p:nvSpPr>
            <p:spPr bwMode="auto">
              <a:xfrm>
                <a:off x="3072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" name="Rectangle 18"/>
              <p:cNvSpPr>
                <a:spLocks noChangeArrowheads="1"/>
              </p:cNvSpPr>
              <p:nvPr/>
            </p:nvSpPr>
            <p:spPr bwMode="auto">
              <a:xfrm>
                <a:off x="3264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8" name="Rectangle 19"/>
              <p:cNvSpPr>
                <a:spLocks noChangeArrowheads="1"/>
              </p:cNvSpPr>
              <p:nvPr/>
            </p:nvSpPr>
            <p:spPr bwMode="auto">
              <a:xfrm>
                <a:off x="3456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9" name="Rectangle 20"/>
              <p:cNvSpPr>
                <a:spLocks noChangeArrowheads="1"/>
              </p:cNvSpPr>
              <p:nvPr/>
            </p:nvSpPr>
            <p:spPr bwMode="auto">
              <a:xfrm>
                <a:off x="3648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0" name="Rectangle 21"/>
              <p:cNvSpPr>
                <a:spLocks noChangeArrowheads="1"/>
              </p:cNvSpPr>
              <p:nvPr/>
            </p:nvSpPr>
            <p:spPr bwMode="auto">
              <a:xfrm>
                <a:off x="3840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1" name="Rectangle 22"/>
              <p:cNvSpPr>
                <a:spLocks noChangeArrowheads="1"/>
              </p:cNvSpPr>
              <p:nvPr/>
            </p:nvSpPr>
            <p:spPr bwMode="auto">
              <a:xfrm>
                <a:off x="4032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2" name="Rectangle 23"/>
              <p:cNvSpPr>
                <a:spLocks noChangeArrowheads="1"/>
              </p:cNvSpPr>
              <p:nvPr/>
            </p:nvSpPr>
            <p:spPr bwMode="auto">
              <a:xfrm>
                <a:off x="4224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" name="Rectangle 24"/>
              <p:cNvSpPr>
                <a:spLocks noChangeArrowheads="1"/>
              </p:cNvSpPr>
              <p:nvPr/>
            </p:nvSpPr>
            <p:spPr bwMode="auto">
              <a:xfrm>
                <a:off x="4416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" name="Rectangle 25"/>
              <p:cNvSpPr>
                <a:spLocks noChangeArrowheads="1"/>
              </p:cNvSpPr>
              <p:nvPr/>
            </p:nvSpPr>
            <p:spPr bwMode="auto">
              <a:xfrm>
                <a:off x="4608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5" name="Rectangle 26"/>
              <p:cNvSpPr>
                <a:spLocks noChangeArrowheads="1"/>
              </p:cNvSpPr>
              <p:nvPr/>
            </p:nvSpPr>
            <p:spPr bwMode="auto">
              <a:xfrm>
                <a:off x="4800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6" name="Rectangle 27"/>
              <p:cNvSpPr>
                <a:spLocks noChangeArrowheads="1"/>
              </p:cNvSpPr>
              <p:nvPr/>
            </p:nvSpPr>
            <p:spPr bwMode="auto">
              <a:xfrm>
                <a:off x="4992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7" name="Rectangle 28"/>
              <p:cNvSpPr>
                <a:spLocks noChangeArrowheads="1"/>
              </p:cNvSpPr>
              <p:nvPr/>
            </p:nvSpPr>
            <p:spPr bwMode="auto">
              <a:xfrm>
                <a:off x="5184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97" name="Text Box 67"/>
            <p:cNvSpPr txBox="1">
              <a:spLocks noChangeArrowheads="1"/>
            </p:cNvSpPr>
            <p:nvPr/>
          </p:nvSpPr>
          <p:spPr bwMode="auto">
            <a:xfrm>
              <a:off x="381000" y="5337175"/>
              <a:ext cx="533400" cy="335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0,0</a:t>
              </a:r>
            </a:p>
          </p:txBody>
        </p:sp>
        <p:sp>
          <p:nvSpPr>
            <p:cNvPr id="98" name="Text Box 68"/>
            <p:cNvSpPr txBox="1">
              <a:spLocks noChangeArrowheads="1"/>
            </p:cNvSpPr>
            <p:nvPr/>
          </p:nvSpPr>
          <p:spPr bwMode="auto">
            <a:xfrm>
              <a:off x="1905000" y="5334000"/>
              <a:ext cx="533400" cy="335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1,0</a:t>
              </a:r>
            </a:p>
          </p:txBody>
        </p:sp>
        <p:sp>
          <p:nvSpPr>
            <p:cNvPr id="99" name="Text Box 69"/>
            <p:cNvSpPr txBox="1">
              <a:spLocks noChangeArrowheads="1"/>
            </p:cNvSpPr>
            <p:nvPr/>
          </p:nvSpPr>
          <p:spPr bwMode="auto">
            <a:xfrm>
              <a:off x="3429000" y="5334000"/>
              <a:ext cx="533400" cy="335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2,0</a:t>
              </a:r>
            </a:p>
          </p:txBody>
        </p:sp>
        <p:sp>
          <p:nvSpPr>
            <p:cNvPr id="100" name="Text Box 70"/>
            <p:cNvSpPr txBox="1">
              <a:spLocks noChangeArrowheads="1"/>
            </p:cNvSpPr>
            <p:nvPr/>
          </p:nvSpPr>
          <p:spPr bwMode="auto">
            <a:xfrm>
              <a:off x="4953000" y="5334000"/>
              <a:ext cx="533400" cy="335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3,0</a:t>
              </a:r>
            </a:p>
          </p:txBody>
        </p:sp>
        <p:sp>
          <p:nvSpPr>
            <p:cNvPr id="101" name="Text Box 71"/>
            <p:cNvSpPr txBox="1">
              <a:spLocks noChangeArrowheads="1"/>
            </p:cNvSpPr>
            <p:nvPr/>
          </p:nvSpPr>
          <p:spPr bwMode="auto">
            <a:xfrm>
              <a:off x="6477000" y="5334000"/>
              <a:ext cx="533400" cy="335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4,0</a:t>
              </a:r>
            </a:p>
          </p:txBody>
        </p:sp>
        <p:sp>
          <p:nvSpPr>
            <p:cNvPr id="102" name="Text Box 72"/>
            <p:cNvSpPr txBox="1">
              <a:spLocks noChangeArrowheads="1"/>
            </p:cNvSpPr>
            <p:nvPr/>
          </p:nvSpPr>
          <p:spPr bwMode="auto">
            <a:xfrm>
              <a:off x="7696200" y="5334000"/>
              <a:ext cx="533400" cy="335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4,4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300974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Ponteiros e Arrays</a:t>
            </a:r>
          </a:p>
        </p:txBody>
      </p:sp>
      <p:pic>
        <p:nvPicPr>
          <p:cNvPr id="15362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/>
          <a:stretch>
            <a:fillRect/>
          </a:stretch>
        </p:blipFill>
        <p:spPr bwMode="auto">
          <a:xfrm>
            <a:off x="780208" y="4097337"/>
            <a:ext cx="3786284" cy="173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363" name="Picture 3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 bwMode="auto">
          <a:xfrm>
            <a:off x="5545447" y="4097337"/>
            <a:ext cx="3412507" cy="173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Espaço Reservado para Texto 8"/>
          <p:cNvSpPr>
            <a:spLocks noGrp="1"/>
          </p:cNvSpPr>
          <p:nvPr>
            <p:ph type="body" sz="quarter" idx="1"/>
          </p:nvPr>
        </p:nvSpPr>
        <p:spPr>
          <a:xfrm>
            <a:off x="534670" y="2952313"/>
            <a:ext cx="4277360" cy="725424"/>
          </a:xfrm>
        </p:spPr>
        <p:txBody>
          <a:bodyPr/>
          <a:lstStyle/>
          <a:p>
            <a:r>
              <a:rPr lang="pt-BR" dirty="0" smtClean="0"/>
              <a:t>Usando </a:t>
            </a:r>
            <a:r>
              <a:rPr lang="pt-BR" dirty="0" err="1" smtClean="0"/>
              <a:t>array</a:t>
            </a:r>
            <a:endParaRPr lang="pt-BR" dirty="0"/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3"/>
          </p:nvPr>
        </p:nvSpPr>
        <p:spPr>
          <a:xfrm>
            <a:off x="5079365" y="2952313"/>
            <a:ext cx="4277360" cy="725424"/>
          </a:xfrm>
        </p:spPr>
        <p:txBody>
          <a:bodyPr/>
          <a:lstStyle/>
          <a:p>
            <a:r>
              <a:rPr lang="pt-BR" dirty="0" smtClean="0"/>
              <a:t>Usando ponteiro</a:t>
            </a:r>
            <a:endParaRPr lang="pt-BR" dirty="0"/>
          </a:p>
        </p:txBody>
      </p:sp>
      <p:sp>
        <p:nvSpPr>
          <p:cNvPr id="33797" name="Rectangle 6"/>
          <p:cNvSpPr>
            <a:spLocks noChangeArrowheads="1"/>
          </p:cNvSpPr>
          <p:nvPr/>
        </p:nvSpPr>
        <p:spPr bwMode="auto">
          <a:xfrm>
            <a:off x="534670" y="1763183"/>
            <a:ext cx="9624060" cy="1175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4278" tIns="52139" rIns="104278" bIns="52139"/>
          <a:lstStyle/>
          <a:p>
            <a:pPr marL="391043" indent="-391043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l"/>
            </a:pPr>
            <a:r>
              <a:rPr lang="pt-BR" sz="2300" dirty="0"/>
              <a:t>Pode-se então percorrer as várias dimensões do </a:t>
            </a:r>
            <a:r>
              <a:rPr lang="pt-BR" sz="2300" dirty="0" err="1"/>
              <a:t>array</a:t>
            </a:r>
            <a:r>
              <a:rPr lang="pt-BR" sz="2300" dirty="0"/>
              <a:t> como se existisse apenas uma dimensão. As dimensões mais a direita mudam mais rápido</a:t>
            </a:r>
          </a:p>
        </p:txBody>
      </p:sp>
    </p:spTree>
    <p:extLst>
      <p:ext uri="{BB962C8B-B14F-4D97-AF65-F5344CB8AC3E}">
        <p14:creationId xmlns:p14="http://schemas.microsoft.com/office/powerpoint/2010/main" val="38454516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6065172" cy="5370153"/>
          </a:xfrm>
          <a:prstGeom prst="rect">
            <a:avLst/>
          </a:prstGeom>
        </p:spPr>
        <p:txBody>
          <a:bodyPr lIns="104278" tIns="52139" rIns="104278" bIns="52139">
            <a:normAutofit/>
          </a:bodyPr>
          <a:lstStyle/>
          <a:p>
            <a:pPr>
              <a:lnSpc>
                <a:spcPct val="90000"/>
              </a:lnSpc>
            </a:pPr>
            <a:r>
              <a:rPr lang="pt-BR" dirty="0" smtClean="0"/>
              <a:t>Existem duas abordagens para acessar o conteúdo de um ponteiro para uma </a:t>
            </a:r>
            <a:r>
              <a:rPr lang="pt-BR" dirty="0" err="1" smtClean="0"/>
              <a:t>struct</a:t>
            </a:r>
            <a:endParaRPr lang="pt-BR" dirty="0" smtClean="0"/>
          </a:p>
          <a:p>
            <a:pPr>
              <a:lnSpc>
                <a:spcPct val="90000"/>
              </a:lnSpc>
            </a:pPr>
            <a:r>
              <a:rPr lang="pt-BR" dirty="0" smtClean="0"/>
              <a:t>Abordagem 1</a:t>
            </a:r>
          </a:p>
          <a:p>
            <a:pPr lvl="1">
              <a:lnSpc>
                <a:spcPct val="90000"/>
              </a:lnSpc>
            </a:pPr>
            <a:r>
              <a:rPr lang="pt-BR" dirty="0" smtClean="0"/>
              <a:t>Devemos acessar o conteúdo do ponteiro para </a:t>
            </a:r>
            <a:r>
              <a:rPr lang="pt-BR" dirty="0" err="1" smtClean="0"/>
              <a:t>struct</a:t>
            </a:r>
            <a:r>
              <a:rPr lang="pt-BR" dirty="0" smtClean="0"/>
              <a:t> para somente depois acessar os seus campos e modificá-los.</a:t>
            </a:r>
          </a:p>
          <a:p>
            <a:pPr>
              <a:lnSpc>
                <a:spcPct val="90000"/>
              </a:lnSpc>
            </a:pPr>
            <a:r>
              <a:rPr lang="pt-BR" dirty="0" smtClean="0"/>
              <a:t>Abordagem 2</a:t>
            </a:r>
          </a:p>
          <a:p>
            <a:pPr lvl="1">
              <a:lnSpc>
                <a:spcPct val="90000"/>
              </a:lnSpc>
            </a:pPr>
            <a:r>
              <a:rPr lang="pt-BR" dirty="0" smtClean="0"/>
              <a:t>Podemos usar o </a:t>
            </a:r>
            <a:r>
              <a:rPr lang="pt-BR" b="1" i="1" dirty="0" smtClean="0"/>
              <a:t>operador seta </a:t>
            </a:r>
            <a:r>
              <a:rPr lang="pt-BR" i="1" dirty="0" smtClean="0"/>
              <a:t>“</a:t>
            </a:r>
            <a:r>
              <a:rPr lang="pt-BR" b="1" i="1" dirty="0" smtClean="0">
                <a:latin typeface="Courier New" pitchFamily="49" charset="0"/>
                <a:cs typeface="Courier New" pitchFamily="49" charset="0"/>
              </a:rPr>
              <a:t>-&gt;</a:t>
            </a:r>
            <a:r>
              <a:rPr lang="pt-BR" i="1" dirty="0" smtClean="0"/>
              <a:t>”</a:t>
            </a:r>
            <a:endParaRPr lang="pt-BR" dirty="0" smtClean="0"/>
          </a:p>
          <a:p>
            <a:pPr lvl="1">
              <a:lnSpc>
                <a:spcPct val="90000"/>
              </a:lnSpc>
            </a:pP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ponteiro-&gt;</a:t>
            </a: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nome_campo</a:t>
            </a:r>
            <a:endParaRPr lang="pt-BR" b="1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654050"/>
            <a:ext cx="9089390" cy="653476"/>
          </a:xfrm>
        </p:spPr>
        <p:txBody>
          <a:bodyPr/>
          <a:lstStyle/>
          <a:p>
            <a:pPr eaLnBrk="1" hangingPunct="1"/>
            <a:r>
              <a:rPr lang="pt-BR" dirty="0" smtClean="0"/>
              <a:t>Ponteiro para </a:t>
            </a:r>
            <a:r>
              <a:rPr lang="pt-BR" dirty="0" err="1" smtClean="0"/>
              <a:t>struct</a:t>
            </a:r>
            <a:endParaRPr lang="pt-BR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17555" y="2597539"/>
            <a:ext cx="2673350" cy="3138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511210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>
              <a:lnSpc>
                <a:spcPct val="90000"/>
              </a:lnSpc>
            </a:pPr>
            <a:r>
              <a:rPr lang="pt-BR" dirty="0" smtClean="0"/>
              <a:t>A linguagem C permite criar ponteiros com diferentes níveis de apontamento. </a:t>
            </a:r>
          </a:p>
          <a:p>
            <a:pPr lvl="1" eaLnBrk="1" hangingPunct="1">
              <a:lnSpc>
                <a:spcPct val="90000"/>
              </a:lnSpc>
            </a:pPr>
            <a:r>
              <a:rPr lang="pt-BR" dirty="0" smtClean="0"/>
              <a:t>É possível criar um ponteiro que aponte para outro ponteiro, criando assim vários níveis de apontamento</a:t>
            </a:r>
          </a:p>
          <a:p>
            <a:pPr lvl="1" eaLnBrk="1" hangingPunct="1">
              <a:lnSpc>
                <a:spcPct val="90000"/>
              </a:lnSpc>
            </a:pPr>
            <a:r>
              <a:rPr lang="pt-BR" dirty="0" smtClean="0"/>
              <a:t>Assim, um ponteiro poderá apontar para outro ponteiro, que, por sua vez, aponta para outro ponteiro, que aponta para um terceiro ponteiro e assim por diante.</a:t>
            </a:r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730250"/>
            <a:ext cx="9089390" cy="653476"/>
          </a:xfrm>
        </p:spPr>
        <p:txBody>
          <a:bodyPr/>
          <a:lstStyle/>
          <a:p>
            <a:pPr eaLnBrk="1" hangingPunct="1"/>
            <a:r>
              <a:rPr lang="pt-BR" dirty="0" smtClean="0"/>
              <a:t>Ponteiro para ponteiro</a:t>
            </a:r>
          </a:p>
        </p:txBody>
      </p:sp>
    </p:spTree>
    <p:extLst>
      <p:ext uri="{BB962C8B-B14F-4D97-AF65-F5344CB8AC3E}">
        <p14:creationId xmlns:p14="http://schemas.microsoft.com/office/powerpoint/2010/main" val="39600633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>
              <a:lnSpc>
                <a:spcPct val="90000"/>
              </a:lnSpc>
            </a:pPr>
            <a:r>
              <a:rPr lang="pt-BR" dirty="0"/>
              <a:t>Um ponteiro para um ponteiro é como se você anotasse o endereço de um papel que tem o endereço da casa do seu amigo.</a:t>
            </a:r>
          </a:p>
          <a:p>
            <a:pPr>
              <a:lnSpc>
                <a:spcPct val="90000"/>
              </a:lnSpc>
            </a:pPr>
            <a:endParaRPr lang="pt-BR" dirty="0" smtClean="0"/>
          </a:p>
          <a:p>
            <a:pPr>
              <a:lnSpc>
                <a:spcPct val="90000"/>
              </a:lnSpc>
            </a:pPr>
            <a:r>
              <a:rPr lang="pt-BR" dirty="0" smtClean="0"/>
              <a:t>Podemos </a:t>
            </a:r>
            <a:r>
              <a:rPr lang="pt-BR" dirty="0"/>
              <a:t>declarar um ponteiro para um ponteiro com a seguinte </a:t>
            </a:r>
            <a:r>
              <a:rPr lang="pt-BR" dirty="0" smtClean="0"/>
              <a:t>notação</a:t>
            </a:r>
          </a:p>
          <a:p>
            <a:pPr lvl="1">
              <a:lnSpc>
                <a:spcPct val="90000"/>
              </a:lnSpc>
            </a:pP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tipo_ponteiro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 **</a:t>
            </a: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nome_ponteiro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lnSpc>
                <a:spcPct val="90000"/>
              </a:lnSpc>
            </a:pPr>
            <a:endParaRPr lang="pt-BR" dirty="0" smtClean="0"/>
          </a:p>
          <a:p>
            <a:pPr>
              <a:lnSpc>
                <a:spcPct val="90000"/>
              </a:lnSpc>
            </a:pPr>
            <a:r>
              <a:rPr lang="pt-BR" dirty="0" smtClean="0"/>
              <a:t>Acesso ao conteúdo</a:t>
            </a:r>
          </a:p>
          <a:p>
            <a:pPr lvl="1">
              <a:lnSpc>
                <a:spcPct val="90000"/>
              </a:lnSpc>
            </a:pP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**</a:t>
            </a:r>
            <a:r>
              <a:rPr lang="pt-BR" b="1" dirty="0" err="1">
                <a:latin typeface="Courier New" pitchFamily="49" charset="0"/>
                <a:cs typeface="Courier New" pitchFamily="49" charset="0"/>
              </a:rPr>
              <a:t>nome_ponteiro</a:t>
            </a:r>
            <a:r>
              <a:rPr lang="pt-BR" b="1" dirty="0"/>
              <a:t> </a:t>
            </a:r>
            <a:r>
              <a:rPr lang="pt-BR" dirty="0"/>
              <a:t>é o conteúdo final da variável apontada; </a:t>
            </a:r>
          </a:p>
          <a:p>
            <a:pPr lvl="1">
              <a:lnSpc>
                <a:spcPct val="90000"/>
              </a:lnSpc>
            </a:pPr>
            <a:r>
              <a:rPr lang="pt-BR" b="1" dirty="0">
                <a:latin typeface="Courier New" pitchFamily="49" charset="0"/>
                <a:cs typeface="Courier New" pitchFamily="49" charset="0"/>
              </a:rPr>
              <a:t>*</a:t>
            </a:r>
            <a:r>
              <a:rPr lang="pt-BR" b="1" dirty="0" err="1">
                <a:latin typeface="Courier New" pitchFamily="49" charset="0"/>
                <a:cs typeface="Courier New" pitchFamily="49" charset="0"/>
              </a:rPr>
              <a:t>nome_ponteiro</a:t>
            </a:r>
            <a:r>
              <a:rPr lang="pt-BR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dirty="0"/>
              <a:t>é o conteúdo do ponteiro intermediário.</a:t>
            </a:r>
          </a:p>
        </p:txBody>
      </p:sp>
      <p:sp>
        <p:nvSpPr>
          <p:cNvPr id="368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577850"/>
            <a:ext cx="9089390" cy="653476"/>
          </a:xfrm>
        </p:spPr>
        <p:txBody>
          <a:bodyPr/>
          <a:lstStyle/>
          <a:p>
            <a:pPr eaLnBrk="1" hangingPunct="1"/>
            <a:r>
              <a:rPr lang="pt-BR" dirty="0" smtClean="0"/>
              <a:t>Ponteiro para ponteiro</a:t>
            </a:r>
          </a:p>
        </p:txBody>
      </p:sp>
    </p:spTree>
    <p:extLst>
      <p:ext uri="{BB962C8B-B14F-4D97-AF65-F5344CB8AC3E}">
        <p14:creationId xmlns:p14="http://schemas.microsoft.com/office/powerpoint/2010/main" val="11840314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0591" y="2177748"/>
            <a:ext cx="5823781" cy="25450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7890" name="Título 1"/>
          <p:cNvSpPr>
            <a:spLocks noGrp="1"/>
          </p:cNvSpPr>
          <p:nvPr>
            <p:ph type="ctrTitle"/>
          </p:nvPr>
        </p:nvSpPr>
        <p:spPr>
          <a:xfrm>
            <a:off x="802005" y="806450"/>
            <a:ext cx="9089390" cy="653476"/>
          </a:xfrm>
        </p:spPr>
        <p:txBody>
          <a:bodyPr/>
          <a:lstStyle/>
          <a:p>
            <a:r>
              <a:rPr lang="pt-BR" dirty="0" smtClean="0"/>
              <a:t>Ponteiro para ponteiro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0984302"/>
              </p:ext>
            </p:extLst>
          </p:nvPr>
        </p:nvGraphicFramePr>
        <p:xfrm>
          <a:off x="6015042" y="2825666"/>
          <a:ext cx="4366472" cy="449472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36675"/>
                <a:gridCol w="1574306"/>
                <a:gridCol w="1455491"/>
              </a:tblGrid>
              <a:tr h="408611">
                <a:tc gridSpan="3"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Memória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>
                          <a:solidFill>
                            <a:schemeClr val="bg1"/>
                          </a:solidFill>
                        </a:rPr>
                        <a:t>posição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>
                          <a:solidFill>
                            <a:schemeClr val="bg1"/>
                          </a:solidFill>
                        </a:rPr>
                        <a:t>variável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>
                          <a:solidFill>
                            <a:schemeClr val="bg1"/>
                          </a:solidFill>
                        </a:rPr>
                        <a:t>conteúdo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119</a:t>
                      </a:r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120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121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122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err="1" smtClean="0"/>
                        <a:t>int</a:t>
                      </a:r>
                      <a:r>
                        <a:rPr lang="pt-BR" sz="2000" dirty="0" smtClean="0"/>
                        <a:t> **p2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124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123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124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err="1" smtClean="0"/>
                        <a:t>int</a:t>
                      </a:r>
                      <a:r>
                        <a:rPr lang="pt-BR" sz="2000" dirty="0" smtClean="0"/>
                        <a:t> *p1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126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125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126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err="1" smtClean="0"/>
                        <a:t>int</a:t>
                      </a:r>
                      <a:r>
                        <a:rPr lang="pt-BR" sz="2000" baseline="0" dirty="0" smtClean="0"/>
                        <a:t> x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10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127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</a:tr>
            </a:tbl>
          </a:graphicData>
        </a:graphic>
      </p:graphicFrame>
      <p:cxnSp>
        <p:nvCxnSpPr>
          <p:cNvPr id="6" name="Conector angulado 5"/>
          <p:cNvCxnSpPr/>
          <p:nvPr/>
        </p:nvCxnSpPr>
        <p:spPr>
          <a:xfrm>
            <a:off x="6193266" y="5092616"/>
            <a:ext cx="1856" cy="755650"/>
          </a:xfrm>
          <a:prstGeom prst="bentConnector3">
            <a:avLst>
              <a:gd name="adj1" fmla="val -18381933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angulado 6"/>
          <p:cNvCxnSpPr/>
          <p:nvPr/>
        </p:nvCxnSpPr>
        <p:spPr>
          <a:xfrm>
            <a:off x="10114179" y="5848266"/>
            <a:ext cx="1857" cy="755650"/>
          </a:xfrm>
          <a:prstGeom prst="bentConnector3">
            <a:avLst>
              <a:gd name="adj1" fmla="val 27683636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61696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654050"/>
            <a:ext cx="9089390" cy="653476"/>
          </a:xfrm>
        </p:spPr>
        <p:txBody>
          <a:bodyPr/>
          <a:lstStyle/>
          <a:p>
            <a:pPr eaLnBrk="1" hangingPunct="1"/>
            <a:r>
              <a:rPr lang="pt-BR" dirty="0" smtClean="0"/>
              <a:t>Ponteiro para ponteiro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>
            <a:normAutofit/>
          </a:bodyPr>
          <a:lstStyle/>
          <a:p>
            <a:pPr>
              <a:lnSpc>
                <a:spcPct val="90000"/>
              </a:lnSpc>
            </a:pPr>
            <a:r>
              <a:rPr lang="pt-BR" dirty="0"/>
              <a:t>É a quantidade de asteriscos (*) na declaração do ponteiro que indica o número de níveis de apontamento que ele possui.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6186" y="3227251"/>
            <a:ext cx="9301030" cy="23509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2171247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Título 1"/>
          <p:cNvSpPr>
            <a:spLocks noGrp="1"/>
          </p:cNvSpPr>
          <p:nvPr>
            <p:ph type="title"/>
          </p:nvPr>
        </p:nvSpPr>
        <p:spPr>
          <a:xfrm>
            <a:off x="228350" y="251884"/>
            <a:ext cx="9373433" cy="592470"/>
          </a:xfrm>
        </p:spPr>
        <p:txBody>
          <a:bodyPr/>
          <a:lstStyle/>
          <a:p>
            <a:r>
              <a:rPr lang="pt-BR" dirty="0"/>
              <a:t>Ponteiro para ponteiro</a:t>
            </a:r>
            <a:endParaRPr lang="pt-BR" dirty="0" smtClean="0"/>
          </a:p>
        </p:txBody>
      </p:sp>
      <p:sp>
        <p:nvSpPr>
          <p:cNvPr id="2662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12894" y="1763184"/>
            <a:ext cx="9267613" cy="415498"/>
          </a:xfrm>
        </p:spPr>
        <p:txBody>
          <a:bodyPr/>
          <a:lstStyle/>
          <a:p>
            <a:pPr eaLnBrk="1" hangingPunct="1"/>
            <a:r>
              <a:rPr lang="pt-BR" sz="2700" dirty="0"/>
              <a:t>Conceito de “ponteiro para ponteiro”: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534" y="3232503"/>
            <a:ext cx="2818156" cy="23928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5459279"/>
              </p:ext>
            </p:extLst>
          </p:nvPr>
        </p:nvGraphicFramePr>
        <p:xfrm>
          <a:off x="4722918" y="2474054"/>
          <a:ext cx="4366472" cy="449472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36675"/>
                <a:gridCol w="1574306"/>
                <a:gridCol w="1455491"/>
              </a:tblGrid>
              <a:tr h="408611">
                <a:tc gridSpan="3"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Memória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>
                          <a:solidFill>
                            <a:schemeClr val="bg1"/>
                          </a:solidFill>
                        </a:rPr>
                        <a:t>posição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>
                          <a:solidFill>
                            <a:schemeClr val="bg1"/>
                          </a:solidFill>
                        </a:rPr>
                        <a:t>variável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>
                          <a:solidFill>
                            <a:schemeClr val="bg1"/>
                          </a:solidFill>
                        </a:rPr>
                        <a:t>conteúdo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119</a:t>
                      </a:r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120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char ***p3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122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121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122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char **p2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124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123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124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char *p1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126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125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126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char letra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‘a’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127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</a:tr>
            </a:tbl>
          </a:graphicData>
        </a:graphic>
      </p:graphicFrame>
      <p:cxnSp>
        <p:nvCxnSpPr>
          <p:cNvPr id="6" name="Conector angulado 5"/>
          <p:cNvCxnSpPr/>
          <p:nvPr/>
        </p:nvCxnSpPr>
        <p:spPr>
          <a:xfrm>
            <a:off x="8822055" y="3985354"/>
            <a:ext cx="1857" cy="755650"/>
          </a:xfrm>
          <a:prstGeom prst="bentConnector3">
            <a:avLst>
              <a:gd name="adj1" fmla="val 27683636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angulado 10"/>
          <p:cNvCxnSpPr/>
          <p:nvPr/>
        </p:nvCxnSpPr>
        <p:spPr>
          <a:xfrm>
            <a:off x="4901142" y="4741004"/>
            <a:ext cx="1856" cy="755650"/>
          </a:xfrm>
          <a:prstGeom prst="bentConnector3">
            <a:avLst>
              <a:gd name="adj1" fmla="val -18381933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angulado 15"/>
          <p:cNvCxnSpPr/>
          <p:nvPr/>
        </p:nvCxnSpPr>
        <p:spPr>
          <a:xfrm>
            <a:off x="8822055" y="5496654"/>
            <a:ext cx="1857" cy="755650"/>
          </a:xfrm>
          <a:prstGeom prst="bentConnector3">
            <a:avLst>
              <a:gd name="adj1" fmla="val 27683636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914821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1806955" y="1845790"/>
            <a:ext cx="4481830" cy="10436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0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60886" y="2546241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06955" y="2894970"/>
            <a:ext cx="4161790" cy="43010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9565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0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640080">
              <a:lnSpc>
                <a:spcPts val="3240"/>
              </a:lnSpc>
              <a:spcBef>
                <a:spcPts val="105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ts val="325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06955" y="1051210"/>
            <a:ext cx="7646670" cy="7668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39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2391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05484" y="1950884"/>
            <a:ext cx="129730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37762" y="1950884"/>
            <a:ext cx="145732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91654" y="2269105"/>
            <a:ext cx="66294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87067" y="2269105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05432" y="2269132"/>
            <a:ext cx="2252345" cy="9783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59364" y="2904106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22434" y="3222329"/>
            <a:ext cx="12998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05436" y="3858826"/>
            <a:ext cx="18478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05484" y="4495323"/>
            <a:ext cx="16173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19072" y="5201638"/>
            <a:ext cx="3729354" cy="294953"/>
          </a:xfrm>
          <a:prstGeom prst="rect">
            <a:avLst/>
          </a:prstGeom>
          <a:ln w="31485">
            <a:solidFill>
              <a:srgbClr val="0000C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41300">
              <a:lnSpc>
                <a:spcPts val="234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05431" y="5612998"/>
            <a:ext cx="4161790" cy="1923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4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956292" y="1051184"/>
            <a:ext cx="1497330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784591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16152" y="1978293"/>
            <a:ext cx="129730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48428" y="1978293"/>
            <a:ext cx="145732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02322" y="2296514"/>
            <a:ext cx="66294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97747" y="2296514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16113" y="2296514"/>
            <a:ext cx="2252345" cy="9796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70029" y="2933012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33099" y="3251260"/>
            <a:ext cx="12998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16101" y="3886235"/>
            <a:ext cx="18478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16152" y="4522732"/>
            <a:ext cx="16173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74603" y="5229299"/>
            <a:ext cx="241236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20786" y="5229299"/>
            <a:ext cx="82169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96795" y="5597519"/>
            <a:ext cx="2313940" cy="344325"/>
          </a:xfrm>
          <a:prstGeom prst="rect">
            <a:avLst/>
          </a:prstGeom>
          <a:ln w="31485">
            <a:solidFill>
              <a:srgbClr val="0000CC"/>
            </a:solidFill>
          </a:ln>
        </p:spPr>
        <p:txBody>
          <a:bodyPr vert="horz" wrap="square" lIns="0" tIns="28575" rIns="0" bIns="0" rtlCol="0">
            <a:spAutoFit/>
          </a:bodyPr>
          <a:lstStyle/>
          <a:p>
            <a:pPr marL="174625">
              <a:spcBef>
                <a:spcPts val="225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16099" y="5954723"/>
            <a:ext cx="4161790" cy="16096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5080">
              <a:lnSpc>
                <a:spcPct val="1320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4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956292" y="1051184"/>
            <a:ext cx="1497330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559514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985514" y="1309031"/>
            <a:ext cx="8722370" cy="2178288"/>
          </a:xfrm>
          <a:prstGeom prst="rect">
            <a:avLst/>
          </a:prstGeom>
        </p:spPr>
        <p:txBody>
          <a:bodyPr vert="horz" wrap="square" lIns="0" tIns="595121" rIns="0" bIns="0" rtlCol="0">
            <a:spAutoFit/>
          </a:bodyPr>
          <a:lstStyle/>
          <a:p>
            <a:pPr marL="715010">
              <a:lnSpc>
                <a:spcPct val="100000"/>
              </a:lnSpc>
            </a:pPr>
            <a:r>
              <a:rPr spc="15" dirty="0"/>
              <a:t>vo</a:t>
            </a:r>
            <a:r>
              <a:rPr spc="25" dirty="0"/>
              <a:t>i</a:t>
            </a:r>
            <a:r>
              <a:rPr spc="20" dirty="0"/>
              <a:t>d</a:t>
            </a:r>
            <a:r>
              <a:rPr spc="25" dirty="0"/>
              <a:t> </a:t>
            </a:r>
            <a:r>
              <a:rPr spc="15" dirty="0"/>
              <a:t>Tr</a:t>
            </a:r>
            <a:r>
              <a:rPr spc="25" dirty="0"/>
              <a:t>oc</a:t>
            </a:r>
            <a:r>
              <a:rPr spc="15" dirty="0"/>
              <a:t>a(</a:t>
            </a: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*</a:t>
            </a:r>
            <a:r>
              <a:rPr spc="25" dirty="0"/>
              <a:t>a1</a:t>
            </a:r>
            <a:r>
              <a:rPr spc="20" dirty="0"/>
              <a:t>,</a:t>
            </a:r>
            <a:r>
              <a:rPr spc="10" dirty="0"/>
              <a:t> </a:t>
            </a: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*</a:t>
            </a:r>
            <a:r>
              <a:rPr spc="25" dirty="0"/>
              <a:t>b1</a:t>
            </a:r>
            <a:r>
              <a:rPr spc="20" dirty="0"/>
              <a:t>)</a:t>
            </a:r>
          </a:p>
          <a:p>
            <a:pPr marL="715010">
              <a:lnSpc>
                <a:spcPct val="100000"/>
              </a:lnSpc>
              <a:spcBef>
                <a:spcPts val="45"/>
              </a:spcBef>
            </a:pPr>
            <a:r>
              <a:rPr spc="20" dirty="0"/>
              <a:t>{</a:t>
            </a:r>
          </a:p>
          <a:p>
            <a:pPr marL="1031875">
              <a:lnSpc>
                <a:spcPct val="100000"/>
              </a:lnSpc>
              <a:spcBef>
                <a:spcPts val="35"/>
              </a:spcBef>
            </a:pP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a</a:t>
            </a:r>
            <a:r>
              <a:rPr spc="25" dirty="0"/>
              <a:t>ux</a:t>
            </a:r>
            <a:r>
              <a:rPr spc="15" dirty="0"/>
              <a:t>=*</a:t>
            </a:r>
            <a:r>
              <a:rPr spc="25" dirty="0"/>
              <a:t>a</a:t>
            </a:r>
            <a:r>
              <a:rPr spc="15" dirty="0"/>
              <a:t>1</a:t>
            </a:r>
            <a:r>
              <a:rPr spc="20" dirty="0"/>
              <a:t>;</a:t>
            </a:r>
          </a:p>
          <a:p>
            <a:pPr marL="1031875">
              <a:lnSpc>
                <a:spcPct val="100000"/>
              </a:lnSpc>
              <a:spcBef>
                <a:spcPts val="45"/>
              </a:spcBef>
            </a:pPr>
            <a:r>
              <a:rPr spc="25" dirty="0"/>
              <a:t>*</a:t>
            </a:r>
            <a:r>
              <a:rPr spc="15" dirty="0"/>
              <a:t>a</a:t>
            </a:r>
            <a:r>
              <a:rPr spc="25" dirty="0"/>
              <a:t>1</a:t>
            </a:r>
            <a:r>
              <a:rPr spc="15" dirty="0"/>
              <a:t>=*</a:t>
            </a:r>
            <a:r>
              <a:rPr spc="25" dirty="0"/>
              <a:t>b1</a:t>
            </a:r>
            <a:r>
              <a:rPr spc="20" dirty="0"/>
              <a:t>;</a:t>
            </a:r>
          </a:p>
          <a:p>
            <a:pPr marL="1031875">
              <a:lnSpc>
                <a:spcPct val="100000"/>
              </a:lnSpc>
              <a:spcBef>
                <a:spcPts val="45"/>
              </a:spcBef>
            </a:pPr>
            <a:r>
              <a:rPr spc="25" dirty="0"/>
              <a:t>*</a:t>
            </a:r>
            <a:r>
              <a:rPr spc="15" dirty="0"/>
              <a:t>b</a:t>
            </a:r>
            <a:r>
              <a:rPr spc="25" dirty="0"/>
              <a:t>1</a:t>
            </a:r>
            <a:r>
              <a:rPr spc="15" dirty="0"/>
              <a:t>=a</a:t>
            </a:r>
            <a:r>
              <a:rPr spc="25" dirty="0"/>
              <a:t>ux</a:t>
            </a:r>
            <a:r>
              <a:rPr spc="20" dirty="0"/>
              <a:t>;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88136" y="3493372"/>
            <a:ext cx="1617345" cy="11141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10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88083" y="4551674"/>
            <a:ext cx="4161790" cy="24369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4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88083" y="1051210"/>
            <a:ext cx="7766050" cy="856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109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522475" y="1871449"/>
            <a:ext cx="4919980" cy="397811"/>
          </a:xfrm>
          <a:custGeom>
            <a:avLst/>
            <a:gdLst/>
            <a:ahLst/>
            <a:cxnLst/>
            <a:rect l="l" t="t" r="r" b="b"/>
            <a:pathLst>
              <a:path w="4919980" h="398144">
                <a:moveTo>
                  <a:pt x="0" y="0"/>
                </a:moveTo>
                <a:lnTo>
                  <a:pt x="0" y="397763"/>
                </a:lnTo>
                <a:lnTo>
                  <a:pt x="4919471" y="397763"/>
                </a:lnTo>
                <a:lnTo>
                  <a:pt x="4919471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236505" y="6278961"/>
            <a:ext cx="3016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958328" y="2108993"/>
            <a:ext cx="0" cy="3806801"/>
          </a:xfrm>
          <a:custGeom>
            <a:avLst/>
            <a:gdLst/>
            <a:ahLst/>
            <a:cxnLst/>
            <a:rect l="l" t="t" r="r" b="b"/>
            <a:pathLst>
              <a:path h="3810000">
                <a:moveTo>
                  <a:pt x="0" y="380999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958328" y="2061789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402067" y="2587101"/>
            <a:ext cx="0" cy="3804263"/>
          </a:xfrm>
          <a:custGeom>
            <a:avLst/>
            <a:gdLst/>
            <a:ahLst/>
            <a:cxnLst/>
            <a:rect l="l" t="t" r="r" b="b"/>
            <a:pathLst>
              <a:path h="3807460">
                <a:moveTo>
                  <a:pt x="0" y="3806951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402067" y="2539923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0479"/>
                </a:lnTo>
                <a:lnTo>
                  <a:pt x="0" y="30479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0479"/>
                </a:lnTo>
                <a:lnTo>
                  <a:pt x="1031747" y="30479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681769" y="5736846"/>
            <a:ext cx="3270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&amp;a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681716" y="6207393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1298876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56292" y="1051210"/>
            <a:ext cx="1497330" cy="4003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    </a:t>
            </a:r>
            <a:r>
              <a:rPr sz="1950" spc="75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688591" y="2330450"/>
            <a:ext cx="2627630" cy="385756"/>
          </a:xfrm>
          <a:custGeom>
            <a:avLst/>
            <a:gdLst/>
            <a:ahLst/>
            <a:cxnLst/>
            <a:rect l="l" t="t" r="r" b="b"/>
            <a:pathLst>
              <a:path w="2627629" h="386080">
                <a:moveTo>
                  <a:pt x="0" y="0"/>
                </a:moveTo>
                <a:lnTo>
                  <a:pt x="0" y="385571"/>
                </a:lnTo>
                <a:lnTo>
                  <a:pt x="2627375" y="385571"/>
                </a:lnTo>
                <a:lnTo>
                  <a:pt x="2627375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958328" y="2108993"/>
            <a:ext cx="0" cy="3806801"/>
          </a:xfrm>
          <a:custGeom>
            <a:avLst/>
            <a:gdLst/>
            <a:ahLst/>
            <a:cxnLst/>
            <a:rect l="l" t="t" r="r" b="b"/>
            <a:pathLst>
              <a:path h="3810000">
                <a:moveTo>
                  <a:pt x="0" y="380999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958328" y="2061789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402067" y="2587101"/>
            <a:ext cx="0" cy="3804263"/>
          </a:xfrm>
          <a:custGeom>
            <a:avLst/>
            <a:gdLst/>
            <a:ahLst/>
            <a:cxnLst/>
            <a:rect l="l" t="t" r="r" b="b"/>
            <a:pathLst>
              <a:path h="3807460">
                <a:moveTo>
                  <a:pt x="0" y="3806951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402067" y="2539923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0479"/>
                </a:lnTo>
                <a:lnTo>
                  <a:pt x="0" y="30479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0479"/>
                </a:lnTo>
                <a:lnTo>
                  <a:pt x="1031747" y="30479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681769" y="5736846"/>
            <a:ext cx="3270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&amp;a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681716" y="6207393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689660" y="1393568"/>
            <a:ext cx="129730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121935" y="1393568"/>
            <a:ext cx="145732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075830" y="1710294"/>
            <a:ext cx="66294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871255" y="1710294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689621" y="1710268"/>
            <a:ext cx="22523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006599" y="2346764"/>
            <a:ext cx="1935480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006652" y="2983261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689609" y="3301536"/>
            <a:ext cx="18478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689660" y="3938007"/>
            <a:ext cx="16173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689607" y="4542537"/>
            <a:ext cx="4161790" cy="24369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4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title"/>
          </p:nvPr>
        </p:nvSpPr>
        <p:spPr>
          <a:xfrm>
            <a:off x="423163" y="279698"/>
            <a:ext cx="8679180" cy="661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3168803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50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958328" y="2108993"/>
            <a:ext cx="0" cy="3806801"/>
          </a:xfrm>
          <a:custGeom>
            <a:avLst/>
            <a:gdLst/>
            <a:ahLst/>
            <a:cxnLst/>
            <a:rect l="l" t="t" r="r" b="b"/>
            <a:pathLst>
              <a:path h="3810000">
                <a:moveTo>
                  <a:pt x="0" y="380999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958328" y="2061789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402067" y="2587101"/>
            <a:ext cx="0" cy="3804263"/>
          </a:xfrm>
          <a:custGeom>
            <a:avLst/>
            <a:gdLst/>
            <a:ahLst/>
            <a:cxnLst/>
            <a:rect l="l" t="t" r="r" b="b"/>
            <a:pathLst>
              <a:path h="3807460">
                <a:moveTo>
                  <a:pt x="0" y="3806951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402067" y="2539923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0479"/>
                </a:lnTo>
                <a:lnTo>
                  <a:pt x="0" y="30479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0479"/>
                </a:lnTo>
                <a:lnTo>
                  <a:pt x="1031747" y="30479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681769" y="5736846"/>
            <a:ext cx="3270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&amp;a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681716" y="6207393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806955" y="1051209"/>
            <a:ext cx="7646670" cy="728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55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806955" y="1772726"/>
            <a:ext cx="4481830" cy="9783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760886" y="2407700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123955" y="2725922"/>
            <a:ext cx="12998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807008" y="3362418"/>
            <a:ext cx="1617345" cy="11141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10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806955" y="4420721"/>
            <a:ext cx="4161790" cy="24357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2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955291" y="2711450"/>
            <a:ext cx="1967864" cy="393369"/>
          </a:xfrm>
          <a:custGeom>
            <a:avLst/>
            <a:gdLst/>
            <a:ahLst/>
            <a:cxnLst/>
            <a:rect l="l" t="t" r="r" b="b"/>
            <a:pathLst>
              <a:path w="1967864" h="393700">
                <a:moveTo>
                  <a:pt x="0" y="0"/>
                </a:moveTo>
                <a:lnTo>
                  <a:pt x="0" y="393191"/>
                </a:lnTo>
                <a:lnTo>
                  <a:pt x="1967483" y="393191"/>
                </a:lnTo>
                <a:lnTo>
                  <a:pt x="1967483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293486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4263" y="1829066"/>
            <a:ext cx="4481830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58184" y="2527994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21308" y="2878194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04316" y="3226923"/>
            <a:ext cx="1617345" cy="15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9565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0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04263" y="4716101"/>
            <a:ext cx="4161790" cy="2461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3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04263" y="1051210"/>
            <a:ext cx="7849870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2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767839" y="3219030"/>
            <a:ext cx="2155190" cy="393369"/>
          </a:xfrm>
          <a:custGeom>
            <a:avLst/>
            <a:gdLst/>
            <a:ahLst/>
            <a:cxnLst/>
            <a:rect l="l" t="t" r="r" b="b"/>
            <a:pathLst>
              <a:path w="2155190" h="393700">
                <a:moveTo>
                  <a:pt x="0" y="0"/>
                </a:moveTo>
                <a:lnTo>
                  <a:pt x="0" y="393191"/>
                </a:lnTo>
                <a:lnTo>
                  <a:pt x="2154935" y="393191"/>
                </a:lnTo>
                <a:lnTo>
                  <a:pt x="2154935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958328" y="2108993"/>
            <a:ext cx="0" cy="3806801"/>
          </a:xfrm>
          <a:custGeom>
            <a:avLst/>
            <a:gdLst/>
            <a:ahLst/>
            <a:cxnLst/>
            <a:rect l="l" t="t" r="r" b="b"/>
            <a:pathLst>
              <a:path h="3810000">
                <a:moveTo>
                  <a:pt x="0" y="380999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958328" y="2061789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402067" y="2587101"/>
            <a:ext cx="0" cy="3804263"/>
          </a:xfrm>
          <a:custGeom>
            <a:avLst/>
            <a:gdLst/>
            <a:ahLst/>
            <a:cxnLst/>
            <a:rect l="l" t="t" r="r" b="b"/>
            <a:pathLst>
              <a:path h="3807460">
                <a:moveTo>
                  <a:pt x="0" y="3806951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402067" y="2539923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0479"/>
                </a:lnTo>
                <a:lnTo>
                  <a:pt x="0" y="30479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0479"/>
                </a:lnTo>
                <a:lnTo>
                  <a:pt x="1031747" y="30479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681769" y="5736846"/>
            <a:ext cx="3270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&amp;a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681716" y="6207393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3910650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56292" y="1051210"/>
            <a:ext cx="1497330" cy="4003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761288" y="1399659"/>
            <a:ext cx="129730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193565" y="1399659"/>
            <a:ext cx="145732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147458" y="1748362"/>
            <a:ext cx="66294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942885" y="1748362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761235" y="1748362"/>
            <a:ext cx="2252345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0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28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715166" y="2447265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078236" y="2797516"/>
            <a:ext cx="1299845" cy="692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761288" y="3496445"/>
            <a:ext cx="1617345" cy="1188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919740" y="4735913"/>
            <a:ext cx="241236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465922" y="4735913"/>
            <a:ext cx="82169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919731" y="5148569"/>
            <a:ext cx="209423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688603" y="5519887"/>
            <a:ext cx="2784475" cy="341119"/>
          </a:xfrm>
          <a:prstGeom prst="rect">
            <a:avLst/>
          </a:prstGeom>
          <a:ln w="31485">
            <a:solidFill>
              <a:srgbClr val="0000CC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227965">
              <a:spcBef>
                <a:spcPts val="20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761235" y="5873368"/>
            <a:ext cx="4161790" cy="12232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3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title"/>
          </p:nvPr>
        </p:nvSpPr>
        <p:spPr>
          <a:xfrm>
            <a:off x="423163" y="279698"/>
            <a:ext cx="8679180" cy="661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3179972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985514" y="1309031"/>
            <a:ext cx="8722370" cy="2124428"/>
          </a:xfrm>
          <a:prstGeom prst="rect">
            <a:avLst/>
          </a:prstGeom>
        </p:spPr>
        <p:txBody>
          <a:bodyPr vert="horz" wrap="square" lIns="0" tIns="541782" rIns="0" bIns="0" rtlCol="0">
            <a:spAutoFit/>
          </a:bodyPr>
          <a:lstStyle/>
          <a:p>
            <a:pPr marL="634365">
              <a:lnSpc>
                <a:spcPct val="100000"/>
              </a:lnSpc>
            </a:pPr>
            <a:r>
              <a:rPr spc="15" dirty="0"/>
              <a:t>vo</a:t>
            </a:r>
            <a:r>
              <a:rPr spc="25" dirty="0"/>
              <a:t>i</a:t>
            </a:r>
            <a:r>
              <a:rPr spc="20" dirty="0"/>
              <a:t>d</a:t>
            </a:r>
            <a:r>
              <a:rPr spc="25" dirty="0"/>
              <a:t> </a:t>
            </a:r>
            <a:r>
              <a:rPr spc="15" dirty="0"/>
              <a:t>Tr</a:t>
            </a:r>
            <a:r>
              <a:rPr spc="25" dirty="0"/>
              <a:t>oc</a:t>
            </a:r>
            <a:r>
              <a:rPr spc="15" dirty="0"/>
              <a:t>a(</a:t>
            </a: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*</a:t>
            </a:r>
            <a:r>
              <a:rPr spc="25" dirty="0"/>
              <a:t>a1</a:t>
            </a:r>
            <a:r>
              <a:rPr spc="20" dirty="0"/>
              <a:t>,</a:t>
            </a:r>
            <a:r>
              <a:rPr spc="10" dirty="0"/>
              <a:t> </a:t>
            </a: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*</a:t>
            </a:r>
            <a:r>
              <a:rPr spc="25" dirty="0"/>
              <a:t>b1</a:t>
            </a:r>
            <a:r>
              <a:rPr spc="20" dirty="0"/>
              <a:t>)</a:t>
            </a:r>
          </a:p>
          <a:p>
            <a:pPr marL="634365">
              <a:lnSpc>
                <a:spcPct val="100000"/>
              </a:lnSpc>
              <a:spcBef>
                <a:spcPts val="45"/>
              </a:spcBef>
            </a:pPr>
            <a:r>
              <a:rPr spc="20" dirty="0"/>
              <a:t>{</a:t>
            </a:r>
          </a:p>
          <a:p>
            <a:pPr marL="951230">
              <a:lnSpc>
                <a:spcPct val="100000"/>
              </a:lnSpc>
              <a:spcBef>
                <a:spcPts val="45"/>
              </a:spcBef>
            </a:pP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a</a:t>
            </a:r>
            <a:r>
              <a:rPr spc="25" dirty="0"/>
              <a:t>ux</a:t>
            </a:r>
            <a:r>
              <a:rPr spc="15" dirty="0"/>
              <a:t>=*</a:t>
            </a:r>
            <a:r>
              <a:rPr spc="25" dirty="0"/>
              <a:t>a</a:t>
            </a:r>
            <a:r>
              <a:rPr spc="15" dirty="0"/>
              <a:t>1</a:t>
            </a:r>
            <a:r>
              <a:rPr spc="20" dirty="0"/>
              <a:t>;</a:t>
            </a:r>
          </a:p>
          <a:p>
            <a:pPr marL="951230">
              <a:lnSpc>
                <a:spcPct val="100000"/>
              </a:lnSpc>
              <a:spcBef>
                <a:spcPts val="45"/>
              </a:spcBef>
            </a:pPr>
            <a:r>
              <a:rPr spc="25" dirty="0"/>
              <a:t>*</a:t>
            </a:r>
            <a:r>
              <a:rPr spc="15" dirty="0"/>
              <a:t>a</a:t>
            </a:r>
            <a:r>
              <a:rPr spc="25" dirty="0"/>
              <a:t>1</a:t>
            </a:r>
            <a:r>
              <a:rPr spc="15" dirty="0"/>
              <a:t>=*</a:t>
            </a:r>
            <a:r>
              <a:rPr spc="25" dirty="0"/>
              <a:t>b1</a:t>
            </a:r>
            <a:r>
              <a:rPr spc="20" dirty="0"/>
              <a:t>;</a:t>
            </a:r>
          </a:p>
          <a:p>
            <a:pPr marL="951230">
              <a:lnSpc>
                <a:spcPct val="100000"/>
              </a:lnSpc>
              <a:spcBef>
                <a:spcPts val="45"/>
              </a:spcBef>
            </a:pPr>
            <a:r>
              <a:rPr spc="25" dirty="0"/>
              <a:t>*</a:t>
            </a:r>
            <a:r>
              <a:rPr spc="15" dirty="0"/>
              <a:t>b</a:t>
            </a:r>
            <a:r>
              <a:rPr spc="25" dirty="0"/>
              <a:t>1</a:t>
            </a:r>
            <a:r>
              <a:rPr spc="15" dirty="0"/>
              <a:t>=a</a:t>
            </a:r>
            <a:r>
              <a:rPr spc="25" dirty="0"/>
              <a:t>ux</a:t>
            </a:r>
            <a:r>
              <a:rPr spc="20" dirty="0"/>
              <a:t>;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07364" y="3441600"/>
            <a:ext cx="1617345" cy="11141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10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07311" y="4499875"/>
            <a:ext cx="4161790" cy="24357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000"/>
              </a:lnSpc>
              <a:spcBef>
                <a:spcPts val="5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4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07331" y="1051209"/>
            <a:ext cx="7846695" cy="8053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67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522479" y="1871449"/>
            <a:ext cx="4840605" cy="397811"/>
          </a:xfrm>
          <a:custGeom>
            <a:avLst/>
            <a:gdLst/>
            <a:ahLst/>
            <a:cxnLst/>
            <a:rect l="l" t="t" r="r" b="b"/>
            <a:pathLst>
              <a:path w="4840605" h="398144">
                <a:moveTo>
                  <a:pt x="0" y="0"/>
                </a:moveTo>
                <a:lnTo>
                  <a:pt x="0" y="397763"/>
                </a:lnTo>
                <a:lnTo>
                  <a:pt x="4840223" y="397763"/>
                </a:lnTo>
                <a:lnTo>
                  <a:pt x="4840223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236505" y="6278961"/>
            <a:ext cx="3016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958328" y="2664761"/>
            <a:ext cx="0" cy="3251008"/>
          </a:xfrm>
          <a:custGeom>
            <a:avLst/>
            <a:gdLst/>
            <a:ahLst/>
            <a:cxnLst/>
            <a:rect l="l" t="t" r="r" b="b"/>
            <a:pathLst>
              <a:path h="3253740">
                <a:moveTo>
                  <a:pt x="0" y="325373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958328" y="2617582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402067" y="3062216"/>
            <a:ext cx="0" cy="3329047"/>
          </a:xfrm>
          <a:custGeom>
            <a:avLst/>
            <a:gdLst/>
            <a:ahLst/>
            <a:cxnLst/>
            <a:rect l="l" t="t" r="r" b="b"/>
            <a:pathLst>
              <a:path h="3331845">
                <a:moveTo>
                  <a:pt x="0" y="3331463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402067" y="3015012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2003"/>
                </a:lnTo>
                <a:lnTo>
                  <a:pt x="0" y="32003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2003"/>
                </a:lnTo>
                <a:lnTo>
                  <a:pt x="1031747" y="32003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681716" y="5736846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681716" y="6207393"/>
            <a:ext cx="31115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432250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5015" y="1829066"/>
            <a:ext cx="4481830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42060" y="2878194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42060" y="3226897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25068" y="3577149"/>
            <a:ext cx="1617345" cy="1188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25015" y="4716101"/>
            <a:ext cx="4161790" cy="2461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3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25017" y="1051210"/>
            <a:ext cx="7928609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2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609343" y="2476825"/>
            <a:ext cx="2550160" cy="387025"/>
          </a:xfrm>
          <a:custGeom>
            <a:avLst/>
            <a:gdLst/>
            <a:ahLst/>
            <a:cxnLst/>
            <a:rect l="l" t="t" r="r" b="b"/>
            <a:pathLst>
              <a:path w="2550160" h="387350">
                <a:moveTo>
                  <a:pt x="0" y="0"/>
                </a:moveTo>
                <a:lnTo>
                  <a:pt x="0" y="387095"/>
                </a:lnTo>
                <a:lnTo>
                  <a:pt x="2549651" y="387095"/>
                </a:lnTo>
                <a:lnTo>
                  <a:pt x="2549651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681716" y="5736846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681716" y="6207393"/>
            <a:ext cx="31115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958328" y="2664761"/>
            <a:ext cx="0" cy="3251008"/>
          </a:xfrm>
          <a:custGeom>
            <a:avLst/>
            <a:gdLst/>
            <a:ahLst/>
            <a:cxnLst/>
            <a:rect l="l" t="t" r="r" b="b"/>
            <a:pathLst>
              <a:path h="3253740">
                <a:moveTo>
                  <a:pt x="0" y="325373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958328" y="2617582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7402067" y="3062216"/>
            <a:ext cx="0" cy="3329047"/>
          </a:xfrm>
          <a:custGeom>
            <a:avLst/>
            <a:gdLst/>
            <a:ahLst/>
            <a:cxnLst/>
            <a:rect l="l" t="t" r="r" b="b"/>
            <a:pathLst>
              <a:path h="3331845">
                <a:moveTo>
                  <a:pt x="0" y="3331463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7402067" y="3015012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2003"/>
                </a:lnTo>
                <a:lnTo>
                  <a:pt x="0" y="32003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2003"/>
                </a:lnTo>
                <a:lnTo>
                  <a:pt x="1031747" y="32003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002629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688591" y="2863850"/>
            <a:ext cx="2391410" cy="390197"/>
          </a:xfrm>
          <a:custGeom>
            <a:avLst/>
            <a:gdLst/>
            <a:ahLst/>
            <a:cxnLst/>
            <a:rect l="l" t="t" r="r" b="b"/>
            <a:pathLst>
              <a:path w="2391410" h="390525">
                <a:moveTo>
                  <a:pt x="0" y="0"/>
                </a:moveTo>
                <a:lnTo>
                  <a:pt x="0" y="390143"/>
                </a:lnTo>
                <a:lnTo>
                  <a:pt x="2391155" y="390143"/>
                </a:lnTo>
                <a:lnTo>
                  <a:pt x="2391155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681716" y="5736846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681716" y="6207393"/>
            <a:ext cx="31115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958328" y="2664761"/>
            <a:ext cx="0" cy="3251008"/>
          </a:xfrm>
          <a:custGeom>
            <a:avLst/>
            <a:gdLst/>
            <a:ahLst/>
            <a:cxnLst/>
            <a:rect l="l" t="t" r="r" b="b"/>
            <a:pathLst>
              <a:path h="3253740">
                <a:moveTo>
                  <a:pt x="0" y="325373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958328" y="2617582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402067" y="3062216"/>
            <a:ext cx="0" cy="3329047"/>
          </a:xfrm>
          <a:custGeom>
            <a:avLst/>
            <a:gdLst/>
            <a:ahLst/>
            <a:cxnLst/>
            <a:rect l="l" t="t" r="r" b="b"/>
            <a:pathLst>
              <a:path h="3331845">
                <a:moveTo>
                  <a:pt x="0" y="3331463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402067" y="3015012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2003"/>
                </a:lnTo>
                <a:lnTo>
                  <a:pt x="0" y="32003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2003"/>
                </a:lnTo>
                <a:lnTo>
                  <a:pt x="1031747" y="32003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610359" y="1051210"/>
            <a:ext cx="7843520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2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610359" y="1829066"/>
            <a:ext cx="4481830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564286" y="2527994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927404" y="2878220"/>
            <a:ext cx="1299845" cy="692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610412" y="3577149"/>
            <a:ext cx="1617345" cy="1188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610359" y="4716101"/>
            <a:ext cx="4161790" cy="2461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3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920595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767839" y="3232481"/>
            <a:ext cx="2155190" cy="393369"/>
          </a:xfrm>
          <a:custGeom>
            <a:avLst/>
            <a:gdLst/>
            <a:ahLst/>
            <a:cxnLst/>
            <a:rect l="l" t="t" r="r" b="b"/>
            <a:pathLst>
              <a:path w="2155190" h="393700">
                <a:moveTo>
                  <a:pt x="0" y="0"/>
                </a:moveTo>
                <a:lnTo>
                  <a:pt x="0" y="393191"/>
                </a:lnTo>
                <a:lnTo>
                  <a:pt x="2154935" y="393191"/>
                </a:lnTo>
                <a:lnTo>
                  <a:pt x="2154935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681716" y="5736846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681716" y="6207393"/>
            <a:ext cx="31115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958328" y="2664761"/>
            <a:ext cx="0" cy="3251008"/>
          </a:xfrm>
          <a:custGeom>
            <a:avLst/>
            <a:gdLst/>
            <a:ahLst/>
            <a:cxnLst/>
            <a:rect l="l" t="t" r="r" b="b"/>
            <a:pathLst>
              <a:path h="3253740">
                <a:moveTo>
                  <a:pt x="0" y="325373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958328" y="2617582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402067" y="3062216"/>
            <a:ext cx="0" cy="3329047"/>
          </a:xfrm>
          <a:custGeom>
            <a:avLst/>
            <a:gdLst/>
            <a:ahLst/>
            <a:cxnLst/>
            <a:rect l="l" t="t" r="r" b="b"/>
            <a:pathLst>
              <a:path h="3331845">
                <a:moveTo>
                  <a:pt x="0" y="3331463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402067" y="3015012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2003"/>
                </a:lnTo>
                <a:lnTo>
                  <a:pt x="0" y="32003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2003"/>
                </a:lnTo>
                <a:lnTo>
                  <a:pt x="1031747" y="32003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605796" y="1051210"/>
            <a:ext cx="7847965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2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605787" y="1829066"/>
            <a:ext cx="4481830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559721" y="2527994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922832" y="2878220"/>
            <a:ext cx="1299845" cy="692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605840" y="3577149"/>
            <a:ext cx="1617345" cy="1188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605787" y="4716101"/>
            <a:ext cx="4161790" cy="2461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3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1151637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83511" y="1829066"/>
            <a:ext cx="4481830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37436" y="2527994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00556" y="2878220"/>
            <a:ext cx="1299845" cy="692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83564" y="3577149"/>
            <a:ext cx="1617345" cy="1188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88198" y="4816616"/>
            <a:ext cx="82169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42010" y="4716101"/>
            <a:ext cx="2412365" cy="12689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79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03250" y="6072608"/>
            <a:ext cx="4680585" cy="700192"/>
          </a:xfrm>
          <a:prstGeom prst="rect">
            <a:avLst/>
          </a:prstGeom>
          <a:ln w="31485">
            <a:solidFill>
              <a:srgbClr val="0000C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35585">
              <a:lnSpc>
                <a:spcPts val="2195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35585">
              <a:spcBef>
                <a:spcPts val="79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83516" y="6834246"/>
            <a:ext cx="18478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83528" y="1051210"/>
            <a:ext cx="7770495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2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767666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764" y="207133"/>
            <a:ext cx="9359870" cy="657341"/>
          </a:xfrm>
          <a:prstGeom prst="rect">
            <a:avLst/>
          </a:prstGeom>
        </p:spPr>
        <p:txBody>
          <a:bodyPr vert="horz" wrap="square" lIns="0" tIns="64244" rIns="0" bIns="0" rtlCol="0">
            <a:spAutoFit/>
          </a:bodyPr>
          <a:lstStyle/>
          <a:p>
            <a:pPr marL="81280">
              <a:lnSpc>
                <a:spcPct val="100000"/>
              </a:lnSpc>
            </a:pPr>
            <a:r>
              <a:rPr spc="-5" dirty="0" err="1" smtClean="0"/>
              <a:t>E</a:t>
            </a:r>
            <a:r>
              <a:rPr spc="5" dirty="0" err="1" smtClean="0"/>
              <a:t>xe</a:t>
            </a:r>
            <a:r>
              <a:rPr dirty="0" err="1" smtClean="0"/>
              <a:t>r</a:t>
            </a:r>
            <a:r>
              <a:rPr spc="5" dirty="0" err="1" smtClean="0"/>
              <a:t>c</a:t>
            </a:r>
            <a:r>
              <a:rPr spc="0" dirty="0" err="1" smtClean="0"/>
              <a:t>í</a:t>
            </a:r>
            <a:r>
              <a:rPr spc="5" dirty="0" err="1" smtClean="0"/>
              <a:t>c</a:t>
            </a:r>
            <a:r>
              <a:rPr spc="-10" dirty="0" err="1" smtClean="0"/>
              <a:t>i</a:t>
            </a:r>
            <a:r>
              <a:rPr spc="-5" dirty="0" err="1" smtClean="0"/>
              <a:t>o</a:t>
            </a:r>
            <a:r>
              <a:rPr dirty="0" err="1" smtClean="0"/>
              <a:t>s</a:t>
            </a:r>
            <a:endParaRPr i="1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4079" y="1122751"/>
            <a:ext cx="5941695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pt-BR" sz="230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300" spc="5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á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og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ai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?</a:t>
            </a:r>
            <a:endParaRPr sz="23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14056" y="2566544"/>
            <a:ext cx="1078865" cy="300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t *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4397" y="1962051"/>
            <a:ext cx="3184525" cy="12327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lude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std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o.h&gt;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9"/>
              </a:spcBef>
            </a:pPr>
            <a:endParaRPr sz="21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void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ca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lo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4444" y="3171063"/>
            <a:ext cx="2132965" cy="9313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3195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*p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 *p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10;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63195">
              <a:spcBef>
                <a:spcPts val="3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*q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 *q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10;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04392" y="4380103"/>
            <a:ext cx="1530985" cy="9313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mai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64820">
              <a:spcBef>
                <a:spcPts val="35"/>
              </a:spcBef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nt x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59258" y="4984623"/>
            <a:ext cx="1380490" cy="300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2,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y 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5;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4391" y="5282299"/>
            <a:ext cx="3786504" cy="12384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4820" marR="5080">
              <a:lnSpc>
                <a:spcPct val="101800"/>
              </a:lnSpc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alc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(&amp;x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&amp;y);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rin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"%d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- %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x,y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etu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772020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764" y="207133"/>
            <a:ext cx="9359870" cy="657341"/>
          </a:xfrm>
          <a:prstGeom prst="rect">
            <a:avLst/>
          </a:prstGeom>
        </p:spPr>
        <p:txBody>
          <a:bodyPr vert="horz" wrap="square" lIns="0" tIns="64244" rIns="0" bIns="0" rtlCol="0">
            <a:spAutoFit/>
          </a:bodyPr>
          <a:lstStyle/>
          <a:p>
            <a:pPr marL="8128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499" y="1144069"/>
            <a:ext cx="4799330" cy="1021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pt-BR" sz="230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300" spc="5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ual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o:</a:t>
            </a:r>
          </a:p>
          <a:p>
            <a:pPr>
              <a:spcBef>
                <a:spcPts val="11"/>
              </a:spcBef>
            </a:pPr>
            <a:endParaRPr sz="23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lude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std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o.h&gt;</a:t>
            </a:r>
            <a:endParaRPr sz="1950" dirty="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83878" y="2140182"/>
            <a:ext cx="1378585" cy="300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q)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5499" y="2140182"/>
            <a:ext cx="2433320" cy="18393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cal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o (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63195" marR="606425">
              <a:lnSpc>
                <a:spcPts val="2390"/>
              </a:lnSpc>
              <a:spcBef>
                <a:spcPts val="70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p 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p *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0; q 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q +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63195">
              <a:lnSpc>
                <a:spcPts val="2290"/>
              </a:lnSpc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re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urn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+ q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5512" y="4256762"/>
            <a:ext cx="5892165" cy="18393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mai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64820">
              <a:spcBef>
                <a:spcPts val="35"/>
              </a:spcBef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nt x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2,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y 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5;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64820" marR="5080">
              <a:lnSpc>
                <a:spcPct val="101499"/>
              </a:lnSpc>
              <a:spcBef>
                <a:spcPts val="10"/>
              </a:spcBef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rin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“%d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%d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”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,x,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,ca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lo(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x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,y)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etu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71376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764" y="207133"/>
            <a:ext cx="9359870" cy="657341"/>
          </a:xfrm>
          <a:prstGeom prst="rect">
            <a:avLst/>
          </a:prstGeom>
        </p:spPr>
        <p:txBody>
          <a:bodyPr vert="horz" wrap="square" lIns="0" tIns="64244" rIns="0" bIns="0" rtlCol="0">
            <a:spAutoFit/>
          </a:bodyPr>
          <a:lstStyle/>
          <a:p>
            <a:pPr marL="8128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499" y="1144069"/>
            <a:ext cx="4799330" cy="1021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pt-BR" sz="2300" dirty="0" smtClean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300" spc="5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ual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o:</a:t>
            </a:r>
          </a:p>
          <a:p>
            <a:pPr>
              <a:spcBef>
                <a:spcPts val="11"/>
              </a:spcBef>
            </a:pPr>
            <a:endParaRPr sz="23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lude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std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o.h&gt;</a:t>
            </a:r>
            <a:endParaRPr sz="1950" dirty="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83885" y="2443204"/>
            <a:ext cx="1529715" cy="300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*q)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5499" y="2443203"/>
            <a:ext cx="2433320" cy="18393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cal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o (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14325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 p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10;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14325" marR="155575">
              <a:lnSpc>
                <a:spcPts val="2390"/>
              </a:lnSpc>
              <a:spcBef>
                <a:spcPts val="70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*q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+ 1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; r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tur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);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lnSpc>
                <a:spcPts val="2300"/>
              </a:lnSpc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5499" y="4559784"/>
            <a:ext cx="4538980" cy="21406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mai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64820" marR="1057910">
              <a:lnSpc>
                <a:spcPct val="101499"/>
              </a:lnSpc>
              <a:spcBef>
                <a:spcPts val="10"/>
              </a:spcBef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nt x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2,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y 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5,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z; z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cul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(x,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64820" marR="5080">
              <a:lnSpc>
                <a:spcPct val="101499"/>
              </a:lnSpc>
              <a:spcBef>
                <a:spcPts val="10"/>
              </a:spcBef>
              <a:tabLst>
                <a:tab pos="2268855" algn="l"/>
                <a:tab pos="2870835" algn="l"/>
              </a:tabLst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rin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“%d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	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	%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d”,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x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,y,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);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etu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294841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764" y="207133"/>
            <a:ext cx="9359870" cy="657341"/>
          </a:xfrm>
          <a:prstGeom prst="rect">
            <a:avLst/>
          </a:prstGeom>
        </p:spPr>
        <p:txBody>
          <a:bodyPr vert="horz" wrap="square" lIns="0" tIns="64244" rIns="0" bIns="0" rtlCol="0">
            <a:spAutoFit/>
          </a:bodyPr>
          <a:lstStyle/>
          <a:p>
            <a:pPr marL="8128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499" y="1144070"/>
            <a:ext cx="4799330" cy="10030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pt-BR" sz="2300" dirty="0" smtClean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300" spc="5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ual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o:</a:t>
            </a:r>
          </a:p>
          <a:p>
            <a:pPr>
              <a:spcBef>
                <a:spcPts val="49"/>
              </a:spcBef>
            </a:pPr>
            <a:endParaRPr sz="23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#includ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stdio.h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1850" dirty="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48497" y="2405643"/>
            <a:ext cx="1602105" cy="2846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*r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5499" y="2405670"/>
            <a:ext cx="2604770" cy="569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cal(i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"/>
              </a:spcBef>
            </a:pP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5499" y="2975166"/>
            <a:ext cx="4182110" cy="28747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/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10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99085">
              <a:spcBef>
                <a:spcPts val="35"/>
              </a:spcBef>
            </a:pP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10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99085" marR="2011680">
              <a:lnSpc>
                <a:spcPct val="101099"/>
              </a:lnSpc>
            </a:pP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-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10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return(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"/>
              </a:spcBef>
            </a:pP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25"/>
              </a:spcBef>
            </a:pPr>
            <a:endParaRPr sz="19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main(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"/>
              </a:spcBef>
            </a:pP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99085" marR="5080">
              <a:lnSpc>
                <a:spcPct val="101099"/>
              </a:lnSpc>
            </a:pP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x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2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3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 r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cal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x,&amp;y,&amp;z)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32327" y="5824175"/>
            <a:ext cx="2749550" cy="2846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%d”,x,y,z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r)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12015" y="5821051"/>
            <a:ext cx="1458595" cy="575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1099"/>
              </a:lnSpc>
            </a:pP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printf(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“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d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retur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5500" y="6393646"/>
            <a:ext cx="168275" cy="2846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223423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6256" y="1673469"/>
            <a:ext cx="9266555" cy="3736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indent="-377825">
              <a:buClr>
                <a:srgbClr val="852A33"/>
              </a:buClr>
              <a:buSzPct val="69696"/>
              <a:buFont typeface="Wingdings"/>
              <a:buChar char=""/>
              <a:tabLst>
                <a:tab pos="506730" algn="l"/>
              </a:tabLst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é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a:</a:t>
            </a:r>
            <a:endParaRPr sz="33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1004569">
              <a:spcBef>
                <a:spcPts val="725"/>
              </a:spcBef>
            </a:pPr>
            <a:r>
              <a:rPr sz="1950" spc="590" dirty="0">
                <a:solidFill>
                  <a:srgbClr val="7F7F7F"/>
                </a:solidFill>
                <a:latin typeface="Wingdings"/>
                <a:cs typeface="Wingdings"/>
              </a:rPr>
              <a:t>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og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ê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nea</a:t>
            </a:r>
            <a:endParaRPr sz="2850" dirty="0">
              <a:solidFill>
                <a:prstClr val="black"/>
              </a:solidFill>
              <a:latin typeface="Arial"/>
              <a:cs typeface="Arial"/>
            </a:endParaRPr>
          </a:p>
          <a:p>
            <a:pPr marL="1004569">
              <a:spcBef>
                <a:spcPts val="720"/>
              </a:spcBef>
            </a:pPr>
            <a:r>
              <a:rPr sz="1950" spc="590" dirty="0">
                <a:solidFill>
                  <a:srgbClr val="7F7F7F"/>
                </a:solidFill>
                <a:latin typeface="Wingdings"/>
                <a:cs typeface="Wingdings"/>
              </a:rPr>
              <a:t>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endParaRPr sz="2850" dirty="0">
              <a:solidFill>
                <a:prstClr val="black"/>
              </a:solidFill>
              <a:latin typeface="Arial"/>
              <a:cs typeface="Arial"/>
            </a:endParaRPr>
          </a:p>
          <a:p>
            <a:endParaRPr sz="28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90525" marR="5080" indent="-377825" algn="just">
              <a:lnSpc>
                <a:spcPct val="100200"/>
              </a:lnSpc>
              <a:spcBef>
                <a:spcPts val="1685"/>
              </a:spcBef>
              <a:buClr>
                <a:srgbClr val="852A33"/>
              </a:buClr>
              <a:buSzPct val="69696"/>
              <a:buFont typeface="Wingdings"/>
              <a:buChar char=""/>
              <a:tabLst>
                <a:tab pos="508000" algn="l"/>
              </a:tabLst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Todas</a:t>
            </a:r>
            <a:r>
              <a:rPr sz="33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r>
              <a:rPr sz="33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ompon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33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33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33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3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po e</a:t>
            </a:r>
            <a:r>
              <a:rPr sz="3300" spc="4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eu</a:t>
            </a:r>
            <a:r>
              <a:rPr sz="3300" spc="4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amanho</a:t>
            </a:r>
            <a:r>
              <a:rPr sz="3300" spc="4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mane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4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3300" spc="-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3300" spc="4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oda 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ex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do p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og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ama.</a:t>
            </a:r>
            <a:endParaRPr sz="33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583" y="910840"/>
            <a:ext cx="171450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i="1" spc="-5" dirty="0" err="1" smtClean="0">
                <a:latin typeface="Arial"/>
                <a:cs typeface="Arial"/>
              </a:rPr>
              <a:t>V</a:t>
            </a:r>
            <a:r>
              <a:rPr i="1" spc="5" dirty="0" err="1" smtClean="0">
                <a:latin typeface="Arial"/>
                <a:cs typeface="Arial"/>
              </a:rPr>
              <a:t>e</a:t>
            </a:r>
            <a:r>
              <a:rPr i="1" spc="-10" dirty="0" err="1" smtClean="0">
                <a:latin typeface="Arial"/>
                <a:cs typeface="Arial"/>
              </a:rPr>
              <a:t>t</a:t>
            </a:r>
            <a:r>
              <a:rPr i="1" spc="5" dirty="0" err="1" smtClean="0">
                <a:latin typeface="Arial"/>
                <a:cs typeface="Arial"/>
              </a:rPr>
              <a:t>o</a:t>
            </a:r>
            <a:r>
              <a:rPr i="1" dirty="0" err="1" smtClean="0">
                <a:latin typeface="Arial"/>
                <a:cs typeface="Arial"/>
              </a:rPr>
              <a:t>r</a:t>
            </a:r>
            <a:r>
              <a:rPr i="1" spc="15" dirty="0" err="1" smtClean="0">
                <a:latin typeface="Arial"/>
                <a:cs typeface="Arial"/>
              </a:rPr>
              <a:t>e</a:t>
            </a:r>
            <a:r>
              <a:rPr i="1" spc="-5" dirty="0" err="1" smtClean="0">
                <a:latin typeface="Arial"/>
                <a:cs typeface="Arial"/>
              </a:rPr>
              <a:t>s</a:t>
            </a:r>
            <a:endParaRPr i="1" spc="-5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65334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10840"/>
            <a:ext cx="446532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i="1" spc="-5" dirty="0">
                <a:latin typeface="Arial"/>
                <a:cs typeface="Arial"/>
              </a:rPr>
              <a:t>V</a:t>
            </a:r>
            <a:r>
              <a:rPr i="1" spc="5" dirty="0">
                <a:latin typeface="Arial"/>
                <a:cs typeface="Arial"/>
              </a:rPr>
              <a:t>e</a:t>
            </a:r>
            <a:r>
              <a:rPr i="1" spc="-10" dirty="0">
                <a:latin typeface="Arial"/>
                <a:cs typeface="Arial"/>
              </a:rPr>
              <a:t>t</a:t>
            </a:r>
            <a:r>
              <a:rPr i="1" spc="5" dirty="0">
                <a:latin typeface="Arial"/>
                <a:cs typeface="Arial"/>
              </a:rPr>
              <a:t>o</a:t>
            </a:r>
            <a:r>
              <a:rPr i="1" dirty="0">
                <a:latin typeface="Arial"/>
                <a:cs typeface="Arial"/>
              </a:rPr>
              <a:t>r</a:t>
            </a:r>
            <a:r>
              <a:rPr i="1" spc="15" dirty="0">
                <a:latin typeface="Arial"/>
                <a:cs typeface="Arial"/>
              </a:rPr>
              <a:t>e</a:t>
            </a:r>
            <a:r>
              <a:rPr i="1" dirty="0">
                <a:latin typeface="Arial"/>
                <a:cs typeface="Arial"/>
              </a:rPr>
              <a:t>s</a:t>
            </a:r>
            <a:r>
              <a:rPr i="1" spc="-5" dirty="0">
                <a:latin typeface="Arial"/>
                <a:cs typeface="Arial"/>
              </a:rPr>
              <a:t>: </a:t>
            </a:r>
            <a:r>
              <a:rPr i="1" dirty="0">
                <a:latin typeface="Arial"/>
                <a:cs typeface="Arial"/>
              </a:rPr>
              <a:t>D</a:t>
            </a:r>
            <a:r>
              <a:rPr i="1" spc="5" dirty="0">
                <a:latin typeface="Arial"/>
                <a:cs typeface="Arial"/>
              </a:rPr>
              <a:t>e</a:t>
            </a:r>
            <a:r>
              <a:rPr i="1" dirty="0">
                <a:latin typeface="Arial"/>
                <a:cs typeface="Arial"/>
              </a:rPr>
              <a:t>c</a:t>
            </a:r>
            <a:r>
              <a:rPr i="1" spc="-5" dirty="0">
                <a:latin typeface="Arial"/>
                <a:cs typeface="Arial"/>
              </a:rPr>
              <a:t>l</a:t>
            </a:r>
            <a:r>
              <a:rPr i="1" spc="5" dirty="0">
                <a:latin typeface="Arial"/>
                <a:cs typeface="Arial"/>
              </a:rPr>
              <a:t>a</a:t>
            </a:r>
            <a:r>
              <a:rPr i="1" dirty="0">
                <a:latin typeface="Arial"/>
                <a:cs typeface="Arial"/>
              </a:rPr>
              <a:t>r</a:t>
            </a:r>
            <a:r>
              <a:rPr i="1" spc="5" dirty="0">
                <a:latin typeface="Arial"/>
                <a:cs typeface="Arial"/>
              </a:rPr>
              <a:t>a</a:t>
            </a:r>
            <a:r>
              <a:rPr i="1" dirty="0">
                <a:latin typeface="Arial"/>
                <a:cs typeface="Arial"/>
              </a:rPr>
              <a:t>ç</a:t>
            </a:r>
            <a:r>
              <a:rPr i="1" spc="5" dirty="0">
                <a:latin typeface="Arial"/>
                <a:cs typeface="Arial"/>
              </a:rPr>
              <a:t>ã</a:t>
            </a:r>
            <a:r>
              <a:rPr i="1" dirty="0">
                <a:latin typeface="Arial"/>
                <a:cs typeface="Arial"/>
              </a:rPr>
              <a:t>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13486" y="5122176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prstClr val="black"/>
                </a:solidFill>
                <a:latin typeface="Tahoma"/>
                <a:cs typeface="Tahoma"/>
              </a:rPr>
              <a:t>0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84636" y="5105426"/>
            <a:ext cx="273367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873760" algn="l"/>
                <a:tab pos="1734185" algn="l"/>
                <a:tab pos="2595245" algn="l"/>
              </a:tabLst>
            </a:pPr>
            <a:r>
              <a:rPr sz="2325" b="1" spc="-7" baseline="3584" dirty="0">
                <a:solidFill>
                  <a:prstClr val="black"/>
                </a:solidFill>
                <a:latin typeface="Tahoma"/>
                <a:cs typeface="Tahoma"/>
              </a:rPr>
              <a:t>1	2	</a:t>
            </a:r>
            <a:r>
              <a:rPr sz="1550" b="1" spc="-5" dirty="0">
                <a:solidFill>
                  <a:prstClr val="black"/>
                </a:solidFill>
                <a:latin typeface="Tahoma"/>
                <a:cs typeface="Tahoma"/>
              </a:rPr>
              <a:t>3	</a:t>
            </a:r>
            <a:r>
              <a:rPr sz="2325" b="1" spc="-7" baseline="3584" dirty="0">
                <a:solidFill>
                  <a:prstClr val="black"/>
                </a:solidFill>
                <a:latin typeface="Tahoma"/>
                <a:cs typeface="Tahoma"/>
              </a:rPr>
              <a:t>4</a:t>
            </a:r>
            <a:endParaRPr sz="2325" baseline="3584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364991" y="5768102"/>
            <a:ext cx="4221480" cy="98977"/>
          </a:xfrm>
          <a:custGeom>
            <a:avLst/>
            <a:gdLst/>
            <a:ahLst/>
            <a:cxnLst/>
            <a:rect l="l" t="t" r="r" b="b"/>
            <a:pathLst>
              <a:path w="4221480" h="99060">
                <a:moveTo>
                  <a:pt x="4221479" y="0"/>
                </a:moveTo>
                <a:lnTo>
                  <a:pt x="4188557" y="20875"/>
                </a:lnTo>
                <a:lnTo>
                  <a:pt x="4147544" y="30171"/>
                </a:lnTo>
                <a:lnTo>
                  <a:pt x="4106224" y="36323"/>
                </a:lnTo>
                <a:lnTo>
                  <a:pt x="4065113" y="40737"/>
                </a:lnTo>
                <a:lnTo>
                  <a:pt x="4019437" y="44269"/>
                </a:lnTo>
                <a:lnTo>
                  <a:pt x="3978359" y="46480"/>
                </a:lnTo>
                <a:lnTo>
                  <a:pt x="3934944" y="47974"/>
                </a:lnTo>
                <a:lnTo>
                  <a:pt x="3889572" y="48701"/>
                </a:lnTo>
                <a:lnTo>
                  <a:pt x="2462783" y="48767"/>
                </a:lnTo>
                <a:lnTo>
                  <a:pt x="2453524" y="48785"/>
                </a:lnTo>
                <a:lnTo>
                  <a:pt x="2408188" y="49374"/>
                </a:lnTo>
                <a:lnTo>
                  <a:pt x="2364720" y="50761"/>
                </a:lnTo>
                <a:lnTo>
                  <a:pt x="2323477" y="52891"/>
                </a:lnTo>
                <a:lnTo>
                  <a:pt x="2284814" y="55710"/>
                </a:lnTo>
                <a:lnTo>
                  <a:pt x="2242328" y="59924"/>
                </a:lnTo>
                <a:lnTo>
                  <a:pt x="2198928" y="65867"/>
                </a:lnTo>
                <a:lnTo>
                  <a:pt x="2158661" y="73829"/>
                </a:lnTo>
                <a:lnTo>
                  <a:pt x="2122129" y="86415"/>
                </a:lnTo>
                <a:lnTo>
                  <a:pt x="2110739" y="99059"/>
                </a:lnTo>
                <a:lnTo>
                  <a:pt x="2110621" y="97757"/>
                </a:lnTo>
                <a:lnTo>
                  <a:pt x="2075070" y="77093"/>
                </a:lnTo>
                <a:lnTo>
                  <a:pt x="2033602" y="67749"/>
                </a:lnTo>
                <a:lnTo>
                  <a:pt x="1992267" y="61515"/>
                </a:lnTo>
                <a:lnTo>
                  <a:pt x="1951327" y="57018"/>
                </a:lnTo>
                <a:lnTo>
                  <a:pt x="1905953" y="53402"/>
                </a:lnTo>
                <a:lnTo>
                  <a:pt x="1865197" y="51129"/>
                </a:lnTo>
                <a:lnTo>
                  <a:pt x="1822145" y="49589"/>
                </a:lnTo>
                <a:lnTo>
                  <a:pt x="1777155" y="48836"/>
                </a:lnTo>
                <a:lnTo>
                  <a:pt x="1758695" y="48767"/>
                </a:lnTo>
                <a:lnTo>
                  <a:pt x="352043" y="48767"/>
                </a:lnTo>
                <a:lnTo>
                  <a:pt x="342635" y="48751"/>
                </a:lnTo>
                <a:lnTo>
                  <a:pt x="296588" y="48182"/>
                </a:lnTo>
                <a:lnTo>
                  <a:pt x="252477" y="46838"/>
                </a:lnTo>
                <a:lnTo>
                  <a:pt x="210675" y="44767"/>
                </a:lnTo>
                <a:lnTo>
                  <a:pt x="171557" y="42016"/>
                </a:lnTo>
                <a:lnTo>
                  <a:pt x="128685" y="37887"/>
                </a:lnTo>
                <a:lnTo>
                  <a:pt x="90863" y="32932"/>
                </a:lnTo>
                <a:lnTo>
                  <a:pt x="49406" y="25184"/>
                </a:lnTo>
                <a:lnTo>
                  <a:pt x="11751" y="12733"/>
                </a:lnTo>
                <a:lnTo>
                  <a:pt x="122" y="1322"/>
                </a:lnTo>
                <a:lnTo>
                  <a:pt x="0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38551" y="5355405"/>
            <a:ext cx="4460875" cy="8070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100" b="1" i="1" spc="-80" dirty="0">
                <a:solidFill>
                  <a:prstClr val="black"/>
                </a:solidFill>
                <a:latin typeface="Tahoma"/>
                <a:cs typeface="Tahoma"/>
              </a:rPr>
              <a:t>d</a:t>
            </a:r>
            <a:r>
              <a:rPr sz="2100" b="1" i="1" spc="-75" dirty="0">
                <a:solidFill>
                  <a:prstClr val="black"/>
                </a:solidFill>
                <a:latin typeface="Tahoma"/>
                <a:cs typeface="Tahoma"/>
              </a:rPr>
              <a:t>a</a:t>
            </a:r>
            <a:r>
              <a:rPr sz="2100" b="1" i="1" spc="-80" dirty="0">
                <a:solidFill>
                  <a:prstClr val="black"/>
                </a:solidFill>
                <a:latin typeface="Tahoma"/>
                <a:cs typeface="Tahoma"/>
              </a:rPr>
              <a:t>d</a:t>
            </a:r>
            <a:r>
              <a:rPr sz="2100" b="1" i="1" spc="-75" dirty="0">
                <a:solidFill>
                  <a:prstClr val="black"/>
                </a:solidFill>
                <a:latin typeface="Tahoma"/>
                <a:cs typeface="Tahoma"/>
              </a:rPr>
              <a:t>o</a:t>
            </a:r>
            <a:r>
              <a:rPr sz="2100" b="1" i="1" spc="-65" dirty="0">
                <a:solidFill>
                  <a:prstClr val="black"/>
                </a:solidFill>
                <a:latin typeface="Tahoma"/>
                <a:cs typeface="Tahoma"/>
              </a:rPr>
              <a:t>s</a:t>
            </a:r>
            <a:endParaRPr sz="2100">
              <a:solidFill>
                <a:prstClr val="black"/>
              </a:solidFill>
              <a:latin typeface="Tahoma"/>
              <a:cs typeface="Tahoma"/>
            </a:endParaRPr>
          </a:p>
          <a:p>
            <a:pPr marL="1077595">
              <a:spcBef>
                <a:spcPts val="1570"/>
              </a:spcBef>
            </a:pP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5</a:t>
            </a:r>
            <a:r>
              <a:rPr sz="1850" i="1" spc="-3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850" i="1" spc="-20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850" i="1" spc="-80" dirty="0">
                <a:solidFill>
                  <a:prstClr val="black"/>
                </a:solidFill>
                <a:latin typeface="Tahoma"/>
                <a:cs typeface="Tahoma"/>
              </a:rPr>
              <a:t>m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n</a:t>
            </a:r>
            <a:r>
              <a:rPr sz="1850" i="1" spc="-3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o</a:t>
            </a:r>
            <a:r>
              <a:rPr sz="1850" i="1" spc="-40" dirty="0">
                <a:solidFill>
                  <a:prstClr val="black"/>
                </a:solidFill>
                <a:latin typeface="Tahoma"/>
                <a:cs typeface="Tahoma"/>
              </a:rPr>
              <a:t>s</a:t>
            </a:r>
            <a:r>
              <a:rPr sz="1850" i="1" spc="-2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q</a:t>
            </a: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u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a</a:t>
            </a:r>
            <a:r>
              <a:rPr sz="1850" i="1" spc="-20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850" i="1" spc="-40" dirty="0">
                <a:solidFill>
                  <a:prstClr val="black"/>
                </a:solidFill>
                <a:latin typeface="Tahoma"/>
                <a:cs typeface="Tahoma"/>
              </a:rPr>
              <a:t>s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q</a:t>
            </a:r>
            <a:r>
              <a:rPr sz="1850" i="1" spc="-65" dirty="0">
                <a:solidFill>
                  <a:prstClr val="black"/>
                </a:solidFill>
                <a:latin typeface="Tahoma"/>
                <a:cs typeface="Tahoma"/>
              </a:rPr>
              <a:t>u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850" i="1" spc="-35" dirty="0">
                <a:solidFill>
                  <a:prstClr val="black"/>
                </a:solidFill>
                <a:latin typeface="Tahoma"/>
                <a:cs typeface="Tahoma"/>
              </a:rPr>
              <a:t>r</a:t>
            </a:r>
            <a:r>
              <a:rPr sz="1850" i="1" spc="-3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d</a:t>
            </a: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o</a:t>
            </a:r>
            <a:r>
              <a:rPr sz="1850" i="1" spc="-2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850" i="1" spc="-3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850" i="1" spc="-20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p</a:t>
            </a: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o</a:t>
            </a:r>
            <a:r>
              <a:rPr sz="1850" i="1" spc="-3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850" b="1" i="1" spc="-3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850" b="1" i="1" spc="-65" dirty="0">
                <a:solidFill>
                  <a:prstClr val="black"/>
                </a:solidFill>
                <a:latin typeface="Tahoma"/>
                <a:cs typeface="Tahoma"/>
              </a:rPr>
              <a:t>n</a:t>
            </a:r>
            <a:r>
              <a:rPr sz="1850" b="1" i="1" spc="-40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endParaRPr sz="18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6251" y="1595442"/>
            <a:ext cx="8313420" cy="33106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ct val="100400"/>
              </a:lnSpc>
              <a:buClr>
                <a:srgbClr val="852A33"/>
              </a:buClr>
              <a:buSzPct val="70909"/>
              <a:buFont typeface="Wingdings"/>
              <a:buChar char=""/>
              <a:tabLst>
                <a:tab pos="390525" algn="l"/>
              </a:tabLst>
            </a:pP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750" spc="-1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 em</a:t>
            </a:r>
            <a:r>
              <a:rPr sz="27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75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de </a:t>
            </a:r>
            <a:r>
              <a:rPr sz="275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75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l 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 v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é a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gu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endParaRPr sz="2750">
              <a:solidFill>
                <a:prstClr val="black"/>
              </a:solidFill>
              <a:latin typeface="Arial"/>
              <a:cs typeface="Arial"/>
            </a:endParaRPr>
          </a:p>
          <a:p>
            <a:pPr marL="391795">
              <a:spcBef>
                <a:spcPts val="735"/>
              </a:spcBef>
              <a:tabLst>
                <a:tab pos="2827020" algn="l"/>
              </a:tabLst>
            </a:pP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po_</a:t>
            </a:r>
            <a:r>
              <a:rPr sz="2950" spc="-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vo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	i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95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cad</a:t>
            </a:r>
            <a:r>
              <a:rPr sz="2950" spc="-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_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95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95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95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];</a:t>
            </a:r>
            <a:endParaRPr sz="295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665"/>
              </a:spcBef>
            </a:pP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Ex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750">
              <a:solidFill>
                <a:prstClr val="black"/>
              </a:solidFill>
              <a:latin typeface="Arial"/>
              <a:cs typeface="Arial"/>
            </a:endParaRPr>
          </a:p>
          <a:p>
            <a:pPr marL="12700" marR="1732280">
              <a:lnSpc>
                <a:spcPct val="120000"/>
              </a:lnSpc>
              <a:spcBef>
                <a:spcPts val="10"/>
              </a:spcBef>
            </a:pP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//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7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5 (0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 4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 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];</a:t>
            </a:r>
            <a:endParaRPr sz="2750">
              <a:solidFill>
                <a:prstClr val="black"/>
              </a:solidFill>
              <a:latin typeface="Arial"/>
              <a:cs typeface="Arial"/>
            </a:endParaRPr>
          </a:p>
          <a:p>
            <a:pPr marL="3709670">
              <a:spcBef>
                <a:spcPts val="940"/>
              </a:spcBef>
            </a:pP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Í</a:t>
            </a:r>
            <a:r>
              <a:rPr sz="1950" b="1" spc="20" dirty="0">
                <a:solidFill>
                  <a:prstClr val="black"/>
                </a:solidFill>
                <a:latin typeface="Tahoma"/>
                <a:cs typeface="Tahoma"/>
              </a:rPr>
              <a:t>n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d</a:t>
            </a:r>
            <a:r>
              <a:rPr sz="1950" b="1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c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s</a:t>
            </a:r>
            <a:r>
              <a:rPr sz="1950" b="1" spc="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do </a:t>
            </a:r>
            <a:r>
              <a:rPr sz="1950" b="1" spc="20" dirty="0">
                <a:solidFill>
                  <a:prstClr val="black"/>
                </a:solidFill>
                <a:latin typeface="Tahoma"/>
                <a:cs typeface="Tahoma"/>
              </a:rPr>
              <a:t>v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eto</a:t>
            </a: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r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639338" y="4959499"/>
            <a:ext cx="3649979" cy="158617"/>
          </a:xfrm>
          <a:custGeom>
            <a:avLst/>
            <a:gdLst/>
            <a:ahLst/>
            <a:cxnLst/>
            <a:rect l="l" t="t" r="r" b="b"/>
            <a:pathLst>
              <a:path w="3649979" h="158750">
                <a:moveTo>
                  <a:pt x="3649979" y="158495"/>
                </a:moveTo>
                <a:lnTo>
                  <a:pt x="3624556" y="126488"/>
                </a:lnTo>
                <a:lnTo>
                  <a:pt x="3587649" y="110164"/>
                </a:lnTo>
                <a:lnTo>
                  <a:pt x="3549560" y="99422"/>
                </a:lnTo>
                <a:lnTo>
                  <a:pt x="3511290" y="91803"/>
                </a:lnTo>
                <a:lnTo>
                  <a:pt x="3468555" y="85833"/>
                </a:lnTo>
                <a:lnTo>
                  <a:pt x="3430029" y="82241"/>
                </a:lnTo>
                <a:lnTo>
                  <a:pt x="3389279" y="80012"/>
                </a:lnTo>
                <a:lnTo>
                  <a:pt x="3346703" y="79247"/>
                </a:lnTo>
                <a:lnTo>
                  <a:pt x="2106167" y="79247"/>
                </a:lnTo>
                <a:lnTo>
                  <a:pt x="2097525" y="79216"/>
                </a:lnTo>
                <a:lnTo>
                  <a:pt x="2055283" y="78151"/>
                </a:lnTo>
                <a:lnTo>
                  <a:pt x="2014946" y="75642"/>
                </a:lnTo>
                <a:lnTo>
                  <a:pt x="1976913" y="71789"/>
                </a:lnTo>
                <a:lnTo>
                  <a:pt x="1934874" y="65532"/>
                </a:lnTo>
                <a:lnTo>
                  <a:pt x="1897414" y="57655"/>
                </a:lnTo>
                <a:lnTo>
                  <a:pt x="1860417" y="46648"/>
                </a:lnTo>
                <a:lnTo>
                  <a:pt x="1825142" y="30041"/>
                </a:lnTo>
                <a:lnTo>
                  <a:pt x="1802891" y="0"/>
                </a:lnTo>
                <a:lnTo>
                  <a:pt x="1802770" y="2277"/>
                </a:lnTo>
                <a:lnTo>
                  <a:pt x="1777215" y="32007"/>
                </a:lnTo>
                <a:lnTo>
                  <a:pt x="1739994" y="48331"/>
                </a:lnTo>
                <a:lnTo>
                  <a:pt x="1701632" y="59073"/>
                </a:lnTo>
                <a:lnTo>
                  <a:pt x="1663132" y="66692"/>
                </a:lnTo>
                <a:lnTo>
                  <a:pt x="1620196" y="72662"/>
                </a:lnTo>
                <a:lnTo>
                  <a:pt x="1581537" y="76254"/>
                </a:lnTo>
                <a:lnTo>
                  <a:pt x="1540699" y="78483"/>
                </a:lnTo>
                <a:lnTo>
                  <a:pt x="1498091" y="79247"/>
                </a:lnTo>
                <a:lnTo>
                  <a:pt x="304799" y="79247"/>
                </a:lnTo>
                <a:lnTo>
                  <a:pt x="296080" y="79279"/>
                </a:lnTo>
                <a:lnTo>
                  <a:pt x="253490" y="80344"/>
                </a:lnTo>
                <a:lnTo>
                  <a:pt x="212865" y="82853"/>
                </a:lnTo>
                <a:lnTo>
                  <a:pt x="174600" y="86706"/>
                </a:lnTo>
                <a:lnTo>
                  <a:pt x="132347" y="92963"/>
                </a:lnTo>
                <a:lnTo>
                  <a:pt x="94733" y="100840"/>
                </a:lnTo>
                <a:lnTo>
                  <a:pt x="57620" y="111847"/>
                </a:lnTo>
                <a:lnTo>
                  <a:pt x="22272" y="128454"/>
                </a:lnTo>
                <a:lnTo>
                  <a:pt x="120" y="156218"/>
                </a:lnTo>
                <a:lnTo>
                  <a:pt x="0" y="158495"/>
                </a:lnTo>
              </a:path>
            </a:pathLst>
          </a:custGeom>
          <a:ln w="41980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387199" y="5338021"/>
          <a:ext cx="4222999" cy="3136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6195"/>
                <a:gridCol w="819911"/>
                <a:gridCol w="833627"/>
                <a:gridCol w="888491"/>
                <a:gridCol w="874775"/>
              </a:tblGrid>
              <a:tr h="313679">
                <a:tc>
                  <a:txBody>
                    <a:bodyPr/>
                    <a:lstStyle/>
                    <a:p>
                      <a:endParaRPr sz="1800"/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/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/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/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/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2927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03" y="1592373"/>
            <a:ext cx="9230360" cy="6274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5595" marR="5080" indent="-302895">
              <a:lnSpc>
                <a:spcPct val="111400"/>
              </a:lnSpc>
              <a:buClr>
                <a:srgbClr val="852A33"/>
              </a:buClr>
              <a:buSzPct val="70270"/>
              <a:buFont typeface="Wingdings"/>
              <a:buChar char=""/>
              <a:tabLst>
                <a:tab pos="316230" algn="l"/>
              </a:tabLst>
            </a:pP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Cada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os e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os de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r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f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r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n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cia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d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 </a:t>
            </a:r>
            <a:r>
              <a:rPr sz="1850" b="1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nd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-15" dirty="0">
                <a:solidFill>
                  <a:srgbClr val="7D9CE8"/>
                </a:solidFill>
                <a:latin typeface="Arial"/>
                <a:cs typeface="Arial"/>
              </a:rPr>
              <a:t>v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du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a</a:t>
            </a:r>
            <a:r>
              <a:rPr sz="1850" b="1" dirty="0">
                <a:solidFill>
                  <a:srgbClr val="7D9CE8"/>
                </a:solidFill>
                <a:latin typeface="Arial"/>
                <a:cs typeface="Arial"/>
              </a:rPr>
              <a:t>l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me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nt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por 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m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 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d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 u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m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 nú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m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r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</a:t>
            </a:r>
            <a:r>
              <a:rPr sz="1850" b="1" spc="20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nt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r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 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ntr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c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o</a:t>
            </a:r>
            <a:r>
              <a:rPr sz="1850" b="1" dirty="0">
                <a:solidFill>
                  <a:srgbClr val="7D9CE8"/>
                </a:solidFill>
                <a:latin typeface="Arial"/>
                <a:cs typeface="Arial"/>
              </a:rPr>
              <a:t>l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c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h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t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es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a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p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ó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s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 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no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m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d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</a:t>
            </a:r>
            <a:r>
              <a:rPr sz="1850" b="1" spc="20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-15" dirty="0">
                <a:solidFill>
                  <a:srgbClr val="7D9CE8"/>
                </a:solidFill>
                <a:latin typeface="Arial"/>
                <a:cs typeface="Arial"/>
              </a:rPr>
              <a:t>v</a:t>
            </a:r>
            <a:r>
              <a:rPr sz="1850" b="1" spc="2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to</a:t>
            </a:r>
            <a:r>
              <a:rPr sz="1850" b="1" spc="20" dirty="0">
                <a:solidFill>
                  <a:srgbClr val="7D9CE8"/>
                </a:solidFill>
                <a:latin typeface="Arial"/>
                <a:cs typeface="Arial"/>
              </a:rPr>
              <a:t>r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18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7078" y="4213112"/>
            <a:ext cx="8951595" cy="16255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Exe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1850">
              <a:solidFill>
                <a:prstClr val="black"/>
              </a:solidFill>
              <a:latin typeface="Arial"/>
              <a:cs typeface="Arial"/>
            </a:endParaRPr>
          </a:p>
          <a:p>
            <a:pPr marL="315595" indent="-302895">
              <a:spcBef>
                <a:spcPts val="1045"/>
              </a:spcBef>
              <a:buClr>
                <a:srgbClr val="852A33"/>
              </a:buClr>
              <a:buSzPct val="68292"/>
              <a:buFont typeface="Wingdings"/>
              <a:buChar char=""/>
              <a:tabLst>
                <a:tab pos="316230" algn="l"/>
                <a:tab pos="2290445" algn="l"/>
              </a:tabLst>
            </a:pP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=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[1]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	/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tri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x 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et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315595" indent="-302895">
              <a:spcBef>
                <a:spcPts val="1040"/>
              </a:spcBef>
              <a:buClr>
                <a:srgbClr val="852A33"/>
              </a:buClr>
              <a:buSzPct val="68292"/>
              <a:buFont typeface="Wingdings"/>
              <a:buChar char=""/>
              <a:tabLst>
                <a:tab pos="316230" algn="l"/>
                <a:tab pos="6181725" algn="l"/>
              </a:tabLst>
            </a:pP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Y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=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[4]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tri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x 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et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 v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315595" indent="-302895">
              <a:spcBef>
                <a:spcPts val="1030"/>
              </a:spcBef>
              <a:buClr>
                <a:srgbClr val="852A33"/>
              </a:buClr>
              <a:buSzPct val="68292"/>
              <a:buFont typeface="Wingdings"/>
              <a:buChar char=""/>
              <a:tabLst>
                <a:tab pos="316230" algn="l"/>
              </a:tabLst>
            </a:pP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s[0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= 3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 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35583" y="186824"/>
            <a:ext cx="4856480" cy="13234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4300" i="1" spc="-5" dirty="0">
                <a:latin typeface="Arial"/>
                <a:cs typeface="Arial"/>
              </a:rPr>
              <a:t>V</a:t>
            </a:r>
            <a:r>
              <a:rPr sz="4300" i="1" spc="-10" dirty="0">
                <a:latin typeface="Arial"/>
                <a:cs typeface="Arial"/>
              </a:rPr>
              <a:t>e</a:t>
            </a:r>
            <a:r>
              <a:rPr sz="4300" i="1" dirty="0">
                <a:latin typeface="Arial"/>
                <a:cs typeface="Arial"/>
              </a:rPr>
              <a:t>t</a:t>
            </a:r>
            <a:r>
              <a:rPr sz="4300" i="1" spc="-10" dirty="0">
                <a:latin typeface="Arial"/>
                <a:cs typeface="Arial"/>
              </a:rPr>
              <a:t>o</a:t>
            </a:r>
            <a:r>
              <a:rPr sz="4300" i="1" spc="0" dirty="0">
                <a:latin typeface="Arial"/>
                <a:cs typeface="Arial"/>
              </a:rPr>
              <a:t>r</a:t>
            </a:r>
            <a:r>
              <a:rPr sz="4300" i="1" spc="-10" dirty="0">
                <a:latin typeface="Arial"/>
                <a:cs typeface="Arial"/>
              </a:rPr>
              <a:t>e</a:t>
            </a:r>
            <a:r>
              <a:rPr sz="4300" i="1" spc="0" dirty="0">
                <a:latin typeface="Arial"/>
                <a:cs typeface="Arial"/>
              </a:rPr>
              <a:t>s</a:t>
            </a:r>
            <a:r>
              <a:rPr sz="4300" i="1" spc="-5" dirty="0">
                <a:latin typeface="Arial"/>
                <a:cs typeface="Arial"/>
              </a:rPr>
              <a:t>:</a:t>
            </a:r>
            <a:r>
              <a:rPr sz="4300" i="1" spc="-15" dirty="0">
                <a:latin typeface="Arial"/>
                <a:cs typeface="Arial"/>
              </a:rPr>
              <a:t> </a:t>
            </a:r>
            <a:r>
              <a:rPr sz="4300" i="1" spc="5" dirty="0">
                <a:latin typeface="Arial"/>
                <a:cs typeface="Arial"/>
              </a:rPr>
              <a:t>R</a:t>
            </a:r>
            <a:r>
              <a:rPr sz="4300" i="1" spc="0" dirty="0">
                <a:latin typeface="Arial"/>
                <a:cs typeface="Arial"/>
              </a:rPr>
              <a:t>e</a:t>
            </a:r>
            <a:r>
              <a:rPr sz="4300" i="1" spc="-10" dirty="0">
                <a:latin typeface="Arial"/>
                <a:cs typeface="Arial"/>
              </a:rPr>
              <a:t>f</a:t>
            </a:r>
            <a:r>
              <a:rPr sz="4300" i="1" spc="0" dirty="0">
                <a:latin typeface="Arial"/>
                <a:cs typeface="Arial"/>
              </a:rPr>
              <a:t>e</a:t>
            </a:r>
            <a:r>
              <a:rPr sz="4300" i="1" spc="-10" dirty="0">
                <a:latin typeface="Arial"/>
                <a:cs typeface="Arial"/>
              </a:rPr>
              <a:t>r</a:t>
            </a:r>
            <a:r>
              <a:rPr sz="4300" i="1" spc="0" dirty="0">
                <a:latin typeface="Arial"/>
                <a:cs typeface="Arial"/>
              </a:rPr>
              <a:t>ên</a:t>
            </a:r>
            <a:r>
              <a:rPr sz="4300" i="1" spc="-5" dirty="0">
                <a:latin typeface="Arial"/>
                <a:cs typeface="Arial"/>
              </a:rPr>
              <a:t>c</a:t>
            </a:r>
            <a:r>
              <a:rPr sz="4300" i="1" dirty="0">
                <a:latin typeface="Arial"/>
                <a:cs typeface="Arial"/>
              </a:rPr>
              <a:t>i</a:t>
            </a:r>
            <a:r>
              <a:rPr sz="4300" i="1" spc="-5" dirty="0">
                <a:latin typeface="Arial"/>
                <a:cs typeface="Arial"/>
              </a:rPr>
              <a:t>a </a:t>
            </a:r>
            <a:r>
              <a:rPr sz="4300" i="1" spc="-10" dirty="0">
                <a:latin typeface="Arial"/>
                <a:cs typeface="Arial"/>
              </a:rPr>
              <a:t>(M</a:t>
            </a:r>
            <a:r>
              <a:rPr sz="4300" i="1" spc="0" dirty="0">
                <a:latin typeface="Arial"/>
                <a:cs typeface="Arial"/>
              </a:rPr>
              <a:t>a</a:t>
            </a:r>
            <a:r>
              <a:rPr sz="4300" i="1" spc="-10" dirty="0">
                <a:latin typeface="Arial"/>
                <a:cs typeface="Arial"/>
              </a:rPr>
              <a:t>n</a:t>
            </a:r>
            <a:r>
              <a:rPr sz="4300" i="1" spc="-5" dirty="0">
                <a:latin typeface="Arial"/>
                <a:cs typeface="Arial"/>
              </a:rPr>
              <a:t>ip</a:t>
            </a:r>
            <a:r>
              <a:rPr sz="4300" i="1" spc="-10" dirty="0">
                <a:latin typeface="Arial"/>
                <a:cs typeface="Arial"/>
              </a:rPr>
              <a:t>u</a:t>
            </a:r>
            <a:r>
              <a:rPr sz="4300" i="1" dirty="0">
                <a:latin typeface="Arial"/>
                <a:cs typeface="Arial"/>
              </a:rPr>
              <a:t>l</a:t>
            </a:r>
            <a:r>
              <a:rPr sz="4300" i="1" spc="-10" dirty="0">
                <a:latin typeface="Arial"/>
                <a:cs typeface="Arial"/>
              </a:rPr>
              <a:t>a</a:t>
            </a:r>
            <a:r>
              <a:rPr sz="4300" i="1" spc="0" dirty="0">
                <a:latin typeface="Arial"/>
                <a:cs typeface="Arial"/>
              </a:rPr>
              <a:t>ç</a:t>
            </a:r>
            <a:r>
              <a:rPr sz="4300" i="1" spc="-10" dirty="0">
                <a:latin typeface="Arial"/>
                <a:cs typeface="Arial"/>
              </a:rPr>
              <a:t>ã</a:t>
            </a:r>
            <a:r>
              <a:rPr sz="4300" i="1" dirty="0">
                <a:latin typeface="Arial"/>
                <a:cs typeface="Arial"/>
              </a:rPr>
              <a:t>o</a:t>
            </a:r>
            <a:r>
              <a:rPr sz="4300" i="1" spc="-5" dirty="0">
                <a:latin typeface="Arial"/>
                <a:cs typeface="Arial"/>
              </a:rPr>
              <a:t>)</a:t>
            </a:r>
            <a:endParaRPr sz="4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06391" y="2637604"/>
            <a:ext cx="12763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-17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endParaRPr sz="17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06413" y="2585831"/>
            <a:ext cx="101917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903605" algn="l"/>
              </a:tabLst>
            </a:pPr>
            <a:r>
              <a:rPr sz="1750" spc="-170" dirty="0">
                <a:solidFill>
                  <a:prstClr val="black"/>
                </a:solidFill>
                <a:latin typeface="Arial"/>
                <a:cs typeface="Arial"/>
              </a:rPr>
              <a:t>1	2</a:t>
            </a:r>
            <a:endParaRPr sz="17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91031" y="2605626"/>
            <a:ext cx="12763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-17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endParaRPr sz="17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82562" y="2587354"/>
            <a:ext cx="12763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-17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endParaRPr sz="17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90519" y="3097973"/>
            <a:ext cx="749935" cy="307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b="1" i="1" spc="-190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1950" b="1" i="1" spc="-9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1950" b="1" i="1" spc="-204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950" b="1" i="1" spc="-114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950" b="1" i="1" spc="-19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950" b="1" i="1" spc="-18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1950">
              <a:solidFill>
                <a:prstClr val="black"/>
              </a:solidFill>
              <a:latin typeface="Arial"/>
              <a:cs typeface="Arial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3970890" y="3082872"/>
          <a:ext cx="4376923" cy="5816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6675"/>
                <a:gridCol w="850391"/>
                <a:gridCol w="862583"/>
                <a:gridCol w="922019"/>
                <a:gridCol w="905255"/>
              </a:tblGrid>
              <a:tr h="581678">
                <a:tc>
                  <a:txBody>
                    <a:bodyPr/>
                    <a:lstStyle/>
                    <a:p>
                      <a:pPr marL="21082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3</a:t>
                      </a:r>
                      <a:r>
                        <a:rPr sz="17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43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sz="17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7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4</a:t>
                      </a:r>
                      <a:r>
                        <a:rPr sz="17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7</a:t>
                      </a:r>
                      <a:r>
                        <a:rPr sz="17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9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88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17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9981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80" y="1849635"/>
            <a:ext cx="8879205" cy="2041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>
              <a:lnSpc>
                <a:spcPts val="3560"/>
              </a:lnSpc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ssív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ada el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men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 um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no m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men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ua de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la</a:t>
            </a:r>
            <a:r>
              <a:rPr sz="3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ão.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 marL="128270">
              <a:spcBef>
                <a:spcPts val="355"/>
              </a:spcBef>
            </a:pP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emp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o: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 marL="245745">
              <a:spcBef>
                <a:spcPts val="405"/>
              </a:spcBef>
            </a:pP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fl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oat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 v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ores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5]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srgbClr val="7D9CE8"/>
                </a:solidFill>
                <a:latin typeface="Arial"/>
                <a:cs typeface="Arial"/>
              </a:rPr>
              <a:t>=</a:t>
            </a:r>
            <a:r>
              <a:rPr sz="3300" b="1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srgbClr val="0000CC"/>
                </a:solidFill>
                <a:latin typeface="Arial"/>
                <a:cs typeface="Arial"/>
              </a:rPr>
              <a:t>{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6</a:t>
            </a:r>
            <a:r>
              <a:rPr sz="3300" b="1" spc="-5" dirty="0">
                <a:solidFill>
                  <a:srgbClr val="006500"/>
                </a:solidFill>
                <a:latin typeface="Arial"/>
                <a:cs typeface="Arial"/>
              </a:rPr>
              <a:t>,</a:t>
            </a:r>
            <a:r>
              <a:rPr sz="3300" b="1" spc="-10" dirty="0">
                <a:solidFill>
                  <a:srgbClr val="0065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3300" b="1" spc="-5" dirty="0">
                <a:solidFill>
                  <a:srgbClr val="006500"/>
                </a:solidFill>
                <a:latin typeface="Arial"/>
                <a:cs typeface="Arial"/>
              </a:rPr>
              <a:t>,</a:t>
            </a:r>
            <a:r>
              <a:rPr sz="3300" b="1" dirty="0">
                <a:solidFill>
                  <a:srgbClr val="0065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3300" b="1" spc="-5" dirty="0">
                <a:solidFill>
                  <a:srgbClr val="006500"/>
                </a:solidFill>
                <a:latin typeface="Arial"/>
                <a:cs typeface="Arial"/>
              </a:rPr>
              <a:t>,</a:t>
            </a:r>
            <a:r>
              <a:rPr sz="3300" b="1" dirty="0">
                <a:solidFill>
                  <a:srgbClr val="0065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9</a:t>
            </a:r>
            <a:r>
              <a:rPr sz="3300" b="1" spc="-5" dirty="0">
                <a:solidFill>
                  <a:srgbClr val="006500"/>
                </a:solidFill>
                <a:latin typeface="Arial"/>
                <a:cs typeface="Arial"/>
              </a:rPr>
              <a:t>,</a:t>
            </a:r>
            <a:r>
              <a:rPr sz="3300" b="1" spc="10" dirty="0">
                <a:solidFill>
                  <a:srgbClr val="006500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3300" b="1" spc="-5" dirty="0">
                <a:solidFill>
                  <a:srgbClr val="0000CC"/>
                </a:solidFill>
                <a:latin typeface="Arial"/>
                <a:cs typeface="Arial"/>
              </a:rPr>
              <a:t>}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7079" y="6022395"/>
            <a:ext cx="8949055" cy="511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oat</a:t>
            </a:r>
            <a:r>
              <a:rPr sz="3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5]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srgbClr val="7D9CE8"/>
                </a:solidFill>
                <a:latin typeface="Arial"/>
                <a:cs typeface="Arial"/>
              </a:rPr>
              <a:t>=</a:t>
            </a:r>
            <a:r>
              <a:rPr sz="3300" b="1" spc="10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srgbClr val="0000CC"/>
                </a:solidFill>
                <a:latin typeface="Arial"/>
                <a:cs typeface="Arial"/>
              </a:rPr>
              <a:t>{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3300" b="1" spc="-5" dirty="0">
                <a:solidFill>
                  <a:srgbClr val="0000CC"/>
                </a:solidFill>
                <a:latin typeface="Arial"/>
                <a:cs typeface="Arial"/>
              </a:rPr>
              <a:t>}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;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330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co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b="1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ca o</a:t>
            </a:r>
            <a:r>
              <a:rPr sz="330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?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?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?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?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35583" y="508880"/>
            <a:ext cx="4655820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i="1" spc="-5" dirty="0">
                <a:latin typeface="Arial"/>
                <a:cs typeface="Arial"/>
              </a:rPr>
              <a:t>V</a:t>
            </a:r>
            <a:r>
              <a:rPr i="1" spc="5" dirty="0">
                <a:latin typeface="Arial"/>
                <a:cs typeface="Arial"/>
              </a:rPr>
              <a:t>e</a:t>
            </a:r>
            <a:r>
              <a:rPr i="1" spc="-10" dirty="0">
                <a:latin typeface="Arial"/>
                <a:cs typeface="Arial"/>
              </a:rPr>
              <a:t>t</a:t>
            </a:r>
            <a:r>
              <a:rPr i="1" spc="5" dirty="0">
                <a:latin typeface="Arial"/>
                <a:cs typeface="Arial"/>
              </a:rPr>
              <a:t>o</a:t>
            </a:r>
            <a:r>
              <a:rPr i="1" dirty="0">
                <a:latin typeface="Arial"/>
                <a:cs typeface="Arial"/>
              </a:rPr>
              <a:t>r</a:t>
            </a:r>
            <a:r>
              <a:rPr i="1" spc="15" dirty="0">
                <a:latin typeface="Arial"/>
                <a:cs typeface="Arial"/>
              </a:rPr>
              <a:t>e</a:t>
            </a:r>
            <a:r>
              <a:rPr i="1" dirty="0">
                <a:latin typeface="Arial"/>
                <a:cs typeface="Arial"/>
              </a:rPr>
              <a:t>s</a:t>
            </a:r>
            <a:r>
              <a:rPr i="1" spc="-5" dirty="0">
                <a:latin typeface="Arial"/>
                <a:cs typeface="Arial"/>
              </a:rPr>
              <a:t>: </a:t>
            </a:r>
            <a:r>
              <a:rPr i="1" spc="-10" dirty="0">
                <a:latin typeface="Arial"/>
                <a:cs typeface="Arial"/>
              </a:rPr>
              <a:t>I</a:t>
            </a:r>
            <a:r>
              <a:rPr i="1" spc="5" dirty="0">
                <a:latin typeface="Arial"/>
                <a:cs typeface="Arial"/>
              </a:rPr>
              <a:t>n</a:t>
            </a:r>
            <a:r>
              <a:rPr i="1" spc="-5" dirty="0">
                <a:latin typeface="Arial"/>
                <a:cs typeface="Arial"/>
              </a:rPr>
              <a:t>i</a:t>
            </a:r>
            <a:r>
              <a:rPr i="1" dirty="0">
                <a:latin typeface="Arial"/>
                <a:cs typeface="Arial"/>
              </a:rPr>
              <a:t>c</a:t>
            </a:r>
            <a:r>
              <a:rPr i="1" spc="5" dirty="0">
                <a:latin typeface="Arial"/>
                <a:cs typeface="Arial"/>
              </a:rPr>
              <a:t>ia</a:t>
            </a:r>
            <a:r>
              <a:rPr i="1" spc="-5" dirty="0">
                <a:latin typeface="Arial"/>
                <a:cs typeface="Arial"/>
              </a:rPr>
              <a:t>li</a:t>
            </a:r>
            <a:r>
              <a:rPr i="1" dirty="0">
                <a:latin typeface="Arial"/>
                <a:cs typeface="Arial"/>
              </a:rPr>
              <a:t>z</a:t>
            </a:r>
            <a:r>
              <a:rPr i="1" spc="5" dirty="0">
                <a:latin typeface="Arial"/>
                <a:cs typeface="Arial"/>
              </a:rPr>
              <a:t>a</a:t>
            </a:r>
            <a:r>
              <a:rPr i="1" dirty="0">
                <a:latin typeface="Arial"/>
                <a:cs typeface="Arial"/>
              </a:rPr>
              <a:t>ç</a:t>
            </a:r>
            <a:r>
              <a:rPr i="1" spc="5" dirty="0">
                <a:latin typeface="Arial"/>
                <a:cs typeface="Arial"/>
              </a:rPr>
              <a:t>ã</a:t>
            </a:r>
            <a:r>
              <a:rPr i="1" dirty="0">
                <a:latin typeface="Arial"/>
                <a:cs typeface="Arial"/>
              </a:rPr>
              <a:t>o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750058" y="4355271"/>
            <a:ext cx="147955" cy="273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5" dirty="0">
                <a:solidFill>
                  <a:prstClr val="black"/>
                </a:solidFill>
                <a:latin typeface="Tahoma"/>
                <a:cs typeface="Tahoma"/>
              </a:rPr>
              <a:t>0</a:t>
            </a:r>
            <a:endParaRPr sz="17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50231" y="4301975"/>
            <a:ext cx="147955" cy="273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5" dirty="0">
                <a:solidFill>
                  <a:prstClr val="black"/>
                </a:solidFill>
                <a:latin typeface="Tahoma"/>
                <a:cs typeface="Tahoma"/>
              </a:rPr>
              <a:t>1</a:t>
            </a:r>
            <a:endParaRPr sz="17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41736" y="4301975"/>
            <a:ext cx="147955" cy="273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5" dirty="0">
                <a:solidFill>
                  <a:prstClr val="black"/>
                </a:solidFill>
                <a:latin typeface="Tahoma"/>
                <a:cs typeface="Tahoma"/>
              </a:rPr>
              <a:t>2</a:t>
            </a:r>
            <a:endParaRPr sz="17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34757" y="4323294"/>
            <a:ext cx="147955" cy="273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5" dirty="0">
                <a:solidFill>
                  <a:prstClr val="black"/>
                </a:solidFill>
                <a:latin typeface="Tahoma"/>
                <a:cs typeface="Tahoma"/>
              </a:rPr>
              <a:t>3</a:t>
            </a:r>
            <a:endParaRPr sz="17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26318" y="4305021"/>
            <a:ext cx="147955" cy="273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5" dirty="0">
                <a:solidFill>
                  <a:prstClr val="black"/>
                </a:solidFill>
                <a:latin typeface="Tahoma"/>
                <a:cs typeface="Tahoma"/>
              </a:rPr>
              <a:t>4</a:t>
            </a:r>
            <a:endParaRPr sz="17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34259" y="4800882"/>
            <a:ext cx="840740" cy="2880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b="1" i="1" spc="-55" dirty="0">
                <a:solidFill>
                  <a:prstClr val="black"/>
                </a:solidFill>
                <a:latin typeface="Tahoma"/>
                <a:cs typeface="Tahoma"/>
              </a:rPr>
              <a:t>va</a:t>
            </a:r>
            <a:r>
              <a:rPr sz="1850" b="1" i="1" spc="-3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850" b="1" i="1" spc="-55" dirty="0">
                <a:solidFill>
                  <a:prstClr val="black"/>
                </a:solidFill>
                <a:latin typeface="Tahoma"/>
                <a:cs typeface="Tahoma"/>
              </a:rPr>
              <a:t>o</a:t>
            </a:r>
            <a:r>
              <a:rPr sz="1850" b="1" i="1" spc="-40" dirty="0">
                <a:solidFill>
                  <a:prstClr val="black"/>
                </a:solidFill>
                <a:latin typeface="Tahoma"/>
                <a:cs typeface="Tahoma"/>
              </a:rPr>
              <a:t>r</a:t>
            </a:r>
            <a:r>
              <a:rPr sz="1850" b="1" i="1" spc="-60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850" b="1" i="1" spc="-50" dirty="0">
                <a:solidFill>
                  <a:prstClr val="black"/>
                </a:solidFill>
                <a:latin typeface="Tahoma"/>
                <a:cs typeface="Tahoma"/>
              </a:rPr>
              <a:t>s</a:t>
            </a:r>
            <a:endParaRPr sz="1850">
              <a:solidFill>
                <a:prstClr val="black"/>
              </a:solidFill>
              <a:latin typeface="Tahoma"/>
              <a:cs typeface="Tahoma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3414623" y="4795894"/>
          <a:ext cx="4376923" cy="5816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6675"/>
                <a:gridCol w="850391"/>
                <a:gridCol w="862583"/>
                <a:gridCol w="922019"/>
                <a:gridCol w="905255"/>
              </a:tblGrid>
              <a:tr h="581678">
                <a:tc>
                  <a:txBody>
                    <a:bodyPr/>
                    <a:lstStyle/>
                    <a:p>
                      <a:pPr marL="21082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700" b="1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3.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6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43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700" b="1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2.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7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700" b="1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4.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700" b="1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7.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9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88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700" b="1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1.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7804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80" y="1802647"/>
            <a:ext cx="9201785" cy="5039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Ob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750" spc="-1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s:</a:t>
            </a:r>
            <a:endParaRPr sz="275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280"/>
              </a:spcBef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amen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te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!!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!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7"/>
              </a:spcBef>
              <a:buClr>
                <a:srgbClr val="852A33"/>
              </a:buClr>
              <a:buFont typeface="Wingdings"/>
              <a:buChar char=""/>
            </a:pPr>
            <a:endParaRPr sz="31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>
              <a:lnSpc>
                <a:spcPts val="2510"/>
              </a:lnSpc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núme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el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, 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lemen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au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men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alor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L="1000125">
              <a:spcBef>
                <a:spcPts val="254"/>
              </a:spcBef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{32, 64,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};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3"/>
              </a:spcBef>
            </a:pPr>
            <a:endParaRPr sz="29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51460" indent="-238760"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e: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L="1019810">
              <a:spcBef>
                <a:spcPts val="300"/>
              </a:spcBef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{32,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64, 27, 18,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95, 14};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5"/>
              </a:spcBef>
            </a:pPr>
            <a:endParaRPr sz="29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51460" indent="-238760"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pod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do: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L="1019810">
              <a:spcBef>
                <a:spcPts val="300"/>
              </a:spcBef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{1,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3,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4, 5};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0655">
              <a:lnSpc>
                <a:spcPct val="100000"/>
              </a:lnSpc>
            </a:pPr>
            <a:r>
              <a:rPr i="1" spc="-5" dirty="0">
                <a:latin typeface="Arial"/>
                <a:cs typeface="Arial"/>
              </a:rPr>
              <a:t>V</a:t>
            </a:r>
            <a:r>
              <a:rPr i="1" spc="5" dirty="0">
                <a:latin typeface="Arial"/>
                <a:cs typeface="Arial"/>
              </a:rPr>
              <a:t>e</a:t>
            </a:r>
            <a:r>
              <a:rPr i="1" spc="-10" dirty="0">
                <a:latin typeface="Arial"/>
                <a:cs typeface="Arial"/>
              </a:rPr>
              <a:t>t</a:t>
            </a:r>
            <a:r>
              <a:rPr i="1" spc="5" dirty="0">
                <a:latin typeface="Arial"/>
                <a:cs typeface="Arial"/>
              </a:rPr>
              <a:t>o</a:t>
            </a:r>
            <a:r>
              <a:rPr i="1" dirty="0">
                <a:latin typeface="Arial"/>
                <a:cs typeface="Arial"/>
              </a:rPr>
              <a:t>r</a:t>
            </a:r>
            <a:r>
              <a:rPr i="1" spc="15" dirty="0">
                <a:latin typeface="Arial"/>
                <a:cs typeface="Arial"/>
              </a:rPr>
              <a:t>e</a:t>
            </a:r>
            <a:r>
              <a:rPr i="1" dirty="0">
                <a:latin typeface="Arial"/>
                <a:cs typeface="Arial"/>
              </a:rPr>
              <a:t>s</a:t>
            </a:r>
            <a:r>
              <a:rPr i="1" spc="-5" dirty="0">
                <a:latin typeface="Arial"/>
                <a:cs typeface="Arial"/>
              </a:rPr>
              <a:t>: </a:t>
            </a:r>
            <a:r>
              <a:rPr i="1" spc="-10" dirty="0">
                <a:latin typeface="Arial"/>
                <a:cs typeface="Arial"/>
              </a:rPr>
              <a:t>I</a:t>
            </a:r>
            <a:r>
              <a:rPr i="1" spc="5" dirty="0">
                <a:latin typeface="Arial"/>
                <a:cs typeface="Arial"/>
              </a:rPr>
              <a:t>n</a:t>
            </a:r>
            <a:r>
              <a:rPr i="1" spc="-5" dirty="0">
                <a:latin typeface="Arial"/>
                <a:cs typeface="Arial"/>
              </a:rPr>
              <a:t>i</a:t>
            </a:r>
            <a:r>
              <a:rPr i="1" dirty="0">
                <a:latin typeface="Arial"/>
                <a:cs typeface="Arial"/>
              </a:rPr>
              <a:t>c</a:t>
            </a:r>
            <a:r>
              <a:rPr i="1" spc="5" dirty="0">
                <a:latin typeface="Arial"/>
                <a:cs typeface="Arial"/>
              </a:rPr>
              <a:t>ia</a:t>
            </a:r>
            <a:r>
              <a:rPr i="1" spc="-5" dirty="0">
                <a:latin typeface="Arial"/>
                <a:cs typeface="Arial"/>
              </a:rPr>
              <a:t>li</a:t>
            </a:r>
            <a:r>
              <a:rPr i="1" dirty="0">
                <a:latin typeface="Arial"/>
                <a:cs typeface="Arial"/>
              </a:rPr>
              <a:t>z</a:t>
            </a:r>
            <a:r>
              <a:rPr i="1" spc="5" dirty="0">
                <a:latin typeface="Arial"/>
                <a:cs typeface="Arial"/>
              </a:rPr>
              <a:t>a</a:t>
            </a:r>
            <a:r>
              <a:rPr i="1" dirty="0">
                <a:latin typeface="Arial"/>
                <a:cs typeface="Arial"/>
              </a:rPr>
              <a:t>ç</a:t>
            </a:r>
            <a:r>
              <a:rPr i="1" spc="5" dirty="0">
                <a:latin typeface="Arial"/>
                <a:cs typeface="Arial"/>
              </a:rPr>
              <a:t>ã</a:t>
            </a:r>
            <a:r>
              <a:rPr i="1" dirty="0">
                <a:latin typeface="Arial"/>
                <a:cs typeface="Arial"/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1358311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345" y="910878"/>
            <a:ext cx="4164965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1" spc="-5" dirty="0">
                <a:latin typeface="Arial"/>
                <a:cs typeface="Arial"/>
              </a:rPr>
              <a:t>V</a:t>
            </a:r>
            <a:r>
              <a:rPr b="1" spc="5" dirty="0">
                <a:latin typeface="Arial"/>
                <a:cs typeface="Arial"/>
              </a:rPr>
              <a:t>e</a:t>
            </a:r>
            <a:r>
              <a:rPr b="1" dirty="0">
                <a:latin typeface="Arial"/>
                <a:cs typeface="Arial"/>
              </a:rPr>
              <a:t>t</a:t>
            </a:r>
            <a:r>
              <a:rPr b="1" spc="-5" dirty="0">
                <a:latin typeface="Arial"/>
                <a:cs typeface="Arial"/>
              </a:rPr>
              <a:t>o</a:t>
            </a:r>
            <a:r>
              <a:rPr b="1" dirty="0">
                <a:latin typeface="Arial"/>
                <a:cs typeface="Arial"/>
              </a:rPr>
              <a:t>r</a:t>
            </a:r>
            <a:r>
              <a:rPr b="1" spc="15" dirty="0">
                <a:latin typeface="Arial"/>
                <a:cs typeface="Arial"/>
              </a:rPr>
              <a:t>e</a:t>
            </a:r>
            <a:r>
              <a:rPr b="1" spc="5" dirty="0">
                <a:latin typeface="Arial"/>
                <a:cs typeface="Arial"/>
              </a:rPr>
              <a:t>s</a:t>
            </a:r>
            <a:r>
              <a:rPr b="1" dirty="0">
                <a:latin typeface="Arial"/>
                <a:cs typeface="Arial"/>
              </a:rPr>
              <a:t>: E</a:t>
            </a:r>
            <a:r>
              <a:rPr b="1" spc="5" dirty="0">
                <a:latin typeface="Arial"/>
                <a:cs typeface="Arial"/>
              </a:rPr>
              <a:t>x</a:t>
            </a:r>
            <a:r>
              <a:rPr b="1" spc="15" dirty="0">
                <a:latin typeface="Arial"/>
                <a:cs typeface="Arial"/>
              </a:rPr>
              <a:t>e</a:t>
            </a:r>
            <a:r>
              <a:rPr b="1" spc="-5" dirty="0">
                <a:latin typeface="Arial"/>
                <a:cs typeface="Arial"/>
              </a:rPr>
              <a:t>mp</a:t>
            </a:r>
            <a:r>
              <a:rPr b="1" spc="0" dirty="0">
                <a:latin typeface="Arial"/>
                <a:cs typeface="Arial"/>
              </a:rPr>
              <a:t>l</a:t>
            </a:r>
            <a:r>
              <a:rPr b="1" spc="-5" dirty="0">
                <a:latin typeface="Arial"/>
                <a:cs typeface="Arial"/>
              </a:rPr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4079" y="2018403"/>
            <a:ext cx="182880" cy="262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spc="475" dirty="0">
                <a:solidFill>
                  <a:srgbClr val="852A33"/>
                </a:solidFill>
                <a:latin typeface="Wingdings"/>
                <a:cs typeface="Wingdings"/>
              </a:rPr>
              <a:t></a:t>
            </a:r>
            <a:endParaRPr sz="1650">
              <a:solidFill>
                <a:prstClr val="black"/>
              </a:solidFill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66176" y="1932732"/>
            <a:ext cx="8030845" cy="7169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899"/>
              </a:lnSpc>
            </a:pP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e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in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úl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31696" y="2846002"/>
            <a:ext cx="6487795" cy="4417793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26670" rIns="0" bIns="0" rtlCol="0">
            <a:spAutoFit/>
          </a:bodyPr>
          <a:lstStyle/>
          <a:p>
            <a:pPr marL="100965">
              <a:spcBef>
                <a:spcPts val="210"/>
              </a:spcBef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tdi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0965">
              <a:spcBef>
                <a:spcPts val="20"/>
              </a:spcBef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tdl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8"/>
              </a:spcBef>
            </a:pPr>
            <a:endParaRPr sz="18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00965"/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0965">
              <a:spcBef>
                <a:spcPts val="20"/>
              </a:spcBef>
            </a:pP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03555" marR="3271520">
              <a:lnSpc>
                <a:spcPct val="101099"/>
              </a:lnSpc>
            </a:pP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ros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],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i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;i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42669" marR="1387475" indent="-635">
              <a:lnSpc>
                <a:spcPts val="2120"/>
              </a:lnSpc>
              <a:spcBef>
                <a:spcPts val="65"/>
              </a:spcBef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tf(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gi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val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: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,i)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f("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&amp;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mer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i]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03555">
              <a:lnSpc>
                <a:spcPts val="2050"/>
              </a:lnSpc>
            </a:pP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03555" marR="848360" indent="-635">
              <a:lnSpc>
                <a:spcPct val="100600"/>
              </a:lnSpc>
              <a:spcBef>
                <a:spcPts val="10"/>
              </a:spcBef>
            </a:pP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Vet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de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ve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da: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9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-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-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03555" marR="2059939" indent="405130">
              <a:lnSpc>
                <a:spcPct val="101099"/>
              </a:lnSpc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f("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n"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mer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i]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ur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8"/>
              </a:spcBef>
            </a:pPr>
            <a:endParaRPr sz="18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00965"/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747544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95" y="505073"/>
            <a:ext cx="5127625" cy="661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spc="-5" dirty="0"/>
              <a:t>V</a:t>
            </a:r>
            <a:r>
              <a:rPr sz="4300" spc="-10" dirty="0"/>
              <a:t>e</a:t>
            </a:r>
            <a:r>
              <a:rPr sz="4300" dirty="0"/>
              <a:t>t</a:t>
            </a:r>
            <a:r>
              <a:rPr sz="4300" spc="-10" dirty="0"/>
              <a:t>o</a:t>
            </a:r>
            <a:r>
              <a:rPr sz="4300" spc="0" dirty="0"/>
              <a:t>r</a:t>
            </a:r>
            <a:r>
              <a:rPr sz="4300" spc="-10" dirty="0"/>
              <a:t>e</a:t>
            </a:r>
            <a:r>
              <a:rPr sz="4300" spc="-5" dirty="0"/>
              <a:t>s</a:t>
            </a:r>
            <a:r>
              <a:rPr sz="4300" spc="5" dirty="0"/>
              <a:t> </a:t>
            </a:r>
            <a:r>
              <a:rPr sz="4300" spc="-5" dirty="0"/>
              <a:t>e</a:t>
            </a:r>
            <a:r>
              <a:rPr sz="4300" dirty="0"/>
              <a:t> </a:t>
            </a:r>
            <a:r>
              <a:rPr sz="4300" spc="5" dirty="0"/>
              <a:t>S</a:t>
            </a:r>
            <a:r>
              <a:rPr sz="4300" spc="-10" dirty="0"/>
              <a:t>u</a:t>
            </a:r>
            <a:r>
              <a:rPr sz="4300" spc="0" dirty="0"/>
              <a:t>b</a:t>
            </a:r>
            <a:r>
              <a:rPr sz="4300" spc="-10" dirty="0"/>
              <a:t>r</a:t>
            </a:r>
            <a:r>
              <a:rPr sz="4300" spc="0" dirty="0"/>
              <a:t>o</a:t>
            </a:r>
            <a:r>
              <a:rPr sz="4300" spc="-10" dirty="0"/>
              <a:t>t</a:t>
            </a:r>
            <a:r>
              <a:rPr sz="4300" dirty="0"/>
              <a:t>i</a:t>
            </a:r>
            <a:r>
              <a:rPr sz="4300" spc="-10" dirty="0"/>
              <a:t>na</a:t>
            </a:r>
            <a:r>
              <a:rPr sz="4300" spc="-5" dirty="0"/>
              <a:t>s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894079" y="1932332"/>
            <a:ext cx="8629650" cy="31829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633095" indent="-377825"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ão pa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ados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mp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 por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ên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ia.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53"/>
              </a:spcBef>
              <a:buClr>
                <a:srgbClr val="852A33"/>
              </a:buClr>
              <a:buFont typeface="Wingdings"/>
              <a:buChar char=""/>
            </a:pPr>
            <a:endParaRPr sz="41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90525" marR="5080" indent="-377825">
              <a:lnSpc>
                <a:spcPct val="100200"/>
              </a:lnSpc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Ou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a,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modi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ub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ina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em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dados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omo pa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âme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pela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hamad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a.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8030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7777" y="117286"/>
            <a:ext cx="1960245" cy="507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i="1" spc="-1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x</a:t>
            </a:r>
            <a:r>
              <a:rPr sz="3300" i="1" spc="-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rc</a:t>
            </a:r>
            <a:r>
              <a:rPr sz="3300" i="1" spc="-10" dirty="0">
                <a:latin typeface="Arial"/>
                <a:cs typeface="Arial"/>
              </a:rPr>
              <a:t>í</a:t>
            </a:r>
            <a:r>
              <a:rPr sz="3300" i="1" dirty="0">
                <a:latin typeface="Arial"/>
                <a:cs typeface="Arial"/>
              </a:rPr>
              <a:t>c</a:t>
            </a:r>
            <a:r>
              <a:rPr sz="3300" i="1" spc="-5" dirty="0">
                <a:latin typeface="Arial"/>
                <a:cs typeface="Arial"/>
              </a:rPr>
              <a:t>ios</a:t>
            </a:r>
            <a:endParaRPr sz="3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7610" y="874007"/>
            <a:ext cx="9263380" cy="4748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985" algn="just">
              <a:lnSpc>
                <a:spcPct val="91300"/>
              </a:lnSpc>
              <a:buFontTx/>
              <a:buAutoNum type="arabicParenR"/>
              <a:tabLst>
                <a:tab pos="455295" algn="l"/>
              </a:tabLst>
            </a:pPr>
            <a:r>
              <a:rPr sz="2600" spc="3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gr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ú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ais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3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3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p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es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8"/>
              </a:spcBef>
              <a:buFont typeface="Arial"/>
              <a:buAutoNum type="arabicParenR"/>
            </a:pPr>
            <a:endParaRPr sz="36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 algn="just">
              <a:lnSpc>
                <a:spcPct val="90500"/>
              </a:lnSpc>
              <a:buFontTx/>
              <a:buAutoNum type="arabicParenR"/>
              <a:tabLst>
                <a:tab pos="440055" algn="l"/>
              </a:tabLst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9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to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9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9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nad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41"/>
              </a:spcBef>
              <a:buFont typeface="Arial"/>
              <a:buAutoNum type="arabicParenR"/>
            </a:pPr>
            <a:endParaRPr sz="35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 algn="just">
              <a:lnSpc>
                <a:spcPct val="91300"/>
              </a:lnSpc>
              <a:buFontTx/>
              <a:buAutoNum type="arabicParenR"/>
              <a:tabLst>
                <a:tab pos="407670" algn="l"/>
              </a:tabLst>
            </a:pP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gr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600" spc="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eg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2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eno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2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2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and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“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meno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eme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nto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es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X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XXX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YYYYY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”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7775" y="6058473"/>
            <a:ext cx="9264015" cy="1458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91400"/>
              </a:lnSpc>
            </a:pP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8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çõ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s)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3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3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id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tá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40087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590" y="112720"/>
            <a:ext cx="1960245" cy="511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i="1" spc="-1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x</a:t>
            </a:r>
            <a:r>
              <a:rPr sz="3300" i="1" spc="-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rc</a:t>
            </a:r>
            <a:r>
              <a:rPr sz="3300" i="1" spc="-10" dirty="0">
                <a:latin typeface="Arial"/>
                <a:cs typeface="Arial"/>
              </a:rPr>
              <a:t>í</a:t>
            </a:r>
            <a:r>
              <a:rPr sz="3300" i="1" dirty="0">
                <a:latin typeface="Arial"/>
                <a:cs typeface="Arial"/>
              </a:rPr>
              <a:t>c</a:t>
            </a:r>
            <a:r>
              <a:rPr sz="3300" i="1" spc="-5" dirty="0">
                <a:latin typeface="Arial"/>
                <a:cs typeface="Arial"/>
              </a:rPr>
              <a:t>ios</a:t>
            </a:r>
            <a:endParaRPr sz="3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7832" y="1247036"/>
            <a:ext cx="8841105" cy="5458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26670">
              <a:lnSpc>
                <a:spcPct val="81300"/>
              </a:lnSpc>
              <a:buFontTx/>
              <a:buAutoNum type="arabicParenR" startAt="5"/>
              <a:tabLst>
                <a:tab pos="403225" algn="l"/>
                <a:tab pos="1281430" algn="l"/>
                <a:tab pos="4137660" algn="l"/>
              </a:tabLst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núme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pro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eg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ve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-1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54"/>
              </a:spcBef>
              <a:buFont typeface="Arial"/>
              <a:buAutoNum type="arabicParenR" startAt="5"/>
            </a:pPr>
            <a:endParaRPr sz="32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677545">
              <a:lnSpc>
                <a:spcPts val="2530"/>
              </a:lnSpc>
              <a:buFontTx/>
              <a:buAutoNum type="arabicParenR" startAt="5"/>
              <a:tabLst>
                <a:tab pos="404495" algn="l"/>
              </a:tabLst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Dad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co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as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çõe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nem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495300" lvl="1" indent="-389890">
              <a:spcBef>
                <a:spcPts val="60"/>
              </a:spcBef>
              <a:buFontTx/>
              <a:buAutoNum type="alphaLcParenR"/>
              <a:tabLst>
                <a:tab pos="495934" algn="l"/>
              </a:tabLst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497205" lvl="1" indent="-391795">
              <a:spcBef>
                <a:spcPts val="45"/>
              </a:spcBef>
              <a:buFontTx/>
              <a:buAutoNum type="alphaLcParenR"/>
              <a:tabLst>
                <a:tab pos="497840" algn="l"/>
              </a:tabLst>
            </a:pP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quan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al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ap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vad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(&gt;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=6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477520" lvl="1" indent="-372110">
              <a:spcBef>
                <a:spcPts val="45"/>
              </a:spcBef>
              <a:buFontTx/>
              <a:buAutoNum type="alphaLcParenR"/>
              <a:tabLst>
                <a:tab pos="478155" algn="l"/>
              </a:tabLst>
            </a:pP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q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uan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al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vad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&lt;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6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 lvl="1">
              <a:spcBef>
                <a:spcPts val="54"/>
              </a:spcBef>
              <a:buFont typeface="Arial"/>
              <a:buAutoNum type="alphaLcParenR"/>
            </a:pPr>
            <a:endParaRPr sz="32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>
              <a:lnSpc>
                <a:spcPts val="2530"/>
              </a:lnSpc>
              <a:buFontTx/>
              <a:buAutoNum type="arabicParenR" startAt="5"/>
              <a:tabLst>
                <a:tab pos="403225" algn="l"/>
              </a:tabLst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og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con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rti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ros 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ores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I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lores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ore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ares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ares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mp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val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95470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590" y="111196"/>
            <a:ext cx="1960245" cy="507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i="1" spc="-1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x</a:t>
            </a:r>
            <a:r>
              <a:rPr sz="3300" i="1" spc="-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rc</a:t>
            </a:r>
            <a:r>
              <a:rPr sz="3300" i="1" spc="-10" dirty="0">
                <a:latin typeface="Arial"/>
                <a:cs typeface="Arial"/>
              </a:rPr>
              <a:t>í</a:t>
            </a:r>
            <a:r>
              <a:rPr sz="3300" i="1" dirty="0">
                <a:latin typeface="Arial"/>
                <a:cs typeface="Arial"/>
              </a:rPr>
              <a:t>c</a:t>
            </a:r>
            <a:r>
              <a:rPr sz="3300" i="1" spc="-5" dirty="0">
                <a:latin typeface="Arial"/>
                <a:cs typeface="Arial"/>
              </a:rPr>
              <a:t>ios</a:t>
            </a:r>
            <a:endParaRPr sz="3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7080" y="906710"/>
            <a:ext cx="9262745" cy="19261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860"/>
              </a:lnSpc>
              <a:tabLst>
                <a:tab pos="513715" algn="l"/>
                <a:tab pos="1463040" algn="l"/>
                <a:tab pos="2132330" algn="l"/>
                <a:tab pos="3775075" algn="l"/>
                <a:tab pos="4539615" algn="l"/>
                <a:tab pos="5266690" algn="l"/>
                <a:tab pos="5937250" algn="l"/>
                <a:tab pos="6885305" algn="l"/>
                <a:tab pos="7909559" algn="l"/>
                <a:tab pos="8674100" algn="l"/>
                <a:tab pos="9062720" algn="l"/>
              </a:tabLst>
            </a:pP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8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5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0" dirty="0" err="1" smtClean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5" dirty="0" err="1" smtClean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0" dirty="0" err="1" smtClean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dirty="0" err="1" smtClean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0" dirty="0" err="1" smtClean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5" dirty="0" smtClean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50" spc="30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end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5" dirty="0" err="1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-10" dirty="0" err="1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0" dirty="0" err="1" smtClean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50" spc="-5" dirty="0" err="1" smtClean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650" spc="-10" dirty="0" err="1" smtClean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50" spc="-5" dirty="0" err="1" smtClean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0" dirty="0" err="1" smtClean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pt-BR" sz="2650" spc="-10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pt-BR" sz="2650" dirty="0" smtClean="0">
                <a:solidFill>
                  <a:prstClr val="black"/>
                </a:solidFill>
                <a:latin typeface="Arial"/>
                <a:cs typeface="Arial"/>
              </a:rPr>
              <a:t>0,1 ou 2</a:t>
            </a:r>
            <a:r>
              <a:rPr sz="2600" spc="10" dirty="0" smtClean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12700" marR="5080">
              <a:lnSpc>
                <a:spcPts val="2860"/>
              </a:lnSpc>
              <a:tabLst>
                <a:tab pos="1297305" algn="l"/>
                <a:tab pos="1743710" algn="l"/>
                <a:tab pos="2991485" algn="l"/>
                <a:tab pos="3622675" algn="l"/>
                <a:tab pos="4797425" algn="l"/>
              </a:tabLst>
            </a:pPr>
            <a:r>
              <a:rPr sz="2600" spc="25" dirty="0" err="1" smtClean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15" dirty="0" err="1" smtClean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0" dirty="0" err="1" smtClean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lang="pt-BR"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 smtClean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lang="pt-BR" sz="2600" spc="20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 err="1" smtClean="0">
                <a:solidFill>
                  <a:prstClr val="black"/>
                </a:solidFill>
                <a:latin typeface="Arial"/>
                <a:cs typeface="Arial"/>
              </a:rPr>
              <a:t>seg</a:t>
            </a:r>
            <a:r>
              <a:rPr sz="2600" spc="15" dirty="0" err="1" smtClean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 err="1" smtClean="0">
                <a:solidFill>
                  <a:prstClr val="black"/>
                </a:solidFill>
                <a:latin typeface="Arial"/>
                <a:cs typeface="Arial"/>
              </a:rPr>
              <a:t>ir</a:t>
            </a:r>
            <a:r>
              <a:rPr sz="2600" spc="10" dirty="0" smtClean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lang="pt-BR" sz="2600" spc="10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 smtClean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lang="pt-BR" sz="2600" spc="20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 smtClean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 smtClean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 smtClean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 smtClean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lang="pt-BR" sz="2600" spc="20" dirty="0" err="1" smtClean="0">
                <a:solidFill>
                  <a:prstClr val="black"/>
                </a:solidFill>
                <a:latin typeface="Arial"/>
                <a:cs typeface="Arial"/>
              </a:rPr>
              <a:t>ões</a:t>
            </a:r>
            <a:r>
              <a:rPr lang="pt-BR" sz="2600" spc="20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 smtClean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 smtClean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lang="pt-BR" sz="2600" spc="20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pt-BR" sz="2600" dirty="0" smtClean="0">
                <a:solidFill>
                  <a:prstClr val="black"/>
                </a:solidFill>
                <a:latin typeface="Arial"/>
                <a:cs typeface="Arial"/>
              </a:rPr>
              <a:t>respostas </a:t>
            </a:r>
            <a:r>
              <a:rPr lang="pt-BR" sz="2600" spc="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lang="pt-BR" sz="2600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lang="pt-BR" sz="2600" spc="2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lang="pt-BR" sz="2600" spc="15" dirty="0">
                <a:solidFill>
                  <a:prstClr val="black"/>
                </a:solidFill>
                <a:latin typeface="Arial"/>
                <a:cs typeface="Arial"/>
              </a:rPr>
              <a:t>13</a:t>
            </a:r>
            <a:r>
              <a:rPr lang="pt-BR" sz="2600" spc="20" dirty="0" smtClean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lang="pt-BR" sz="2600" spc="10" dirty="0" smtClean="0">
                <a:solidFill>
                  <a:prstClr val="black"/>
                </a:solidFill>
                <a:latin typeface="Arial"/>
                <a:cs typeface="Arial"/>
              </a:rPr>
              <a:t>) </a:t>
            </a:r>
            <a:r>
              <a:rPr lang="pt-BR" sz="2600" spc="20" dirty="0" smtClean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lang="pt-BR" sz="2600" spc="15" dirty="0" smtClean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lang="pt-BR" sz="2600" spc="25" dirty="0" smtClean="0">
                <a:solidFill>
                  <a:prstClr val="black"/>
                </a:solidFill>
                <a:latin typeface="Arial"/>
                <a:cs typeface="Arial"/>
              </a:rPr>
              <a:t>ep</a:t>
            </a:r>
            <a:r>
              <a:rPr lang="pt-BR" sz="2600" spc="15" dirty="0" smtClean="0">
                <a:solidFill>
                  <a:prstClr val="black"/>
                </a:solidFill>
                <a:latin typeface="Arial"/>
                <a:cs typeface="Arial"/>
              </a:rPr>
              <a:t>ois </a:t>
            </a:r>
            <a:r>
              <a:rPr lang="pt-BR" sz="2600" spc="25" dirty="0" smtClean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lang="pt-BR" sz="2600" spc="20" dirty="0" smtClean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lang="pt-BR" sz="2600" spc="5" dirty="0" smtClean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lang="pt-BR" sz="2600" spc="25" dirty="0" smtClean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lang="pt-BR" sz="2600" spc="5" dirty="0" smtClean="0">
                <a:solidFill>
                  <a:prstClr val="black"/>
                </a:solidFill>
                <a:latin typeface="Arial"/>
                <a:cs typeface="Arial"/>
              </a:rPr>
              <a:t>it</a:t>
            </a:r>
            <a:r>
              <a:rPr lang="pt-BR" sz="2600" spc="25" dirty="0" smtClean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lang="pt-BR" sz="2600" spc="15" dirty="0" smtClean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lang="pt-BR" sz="2600" spc="20" dirty="0" smtClean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lang="pt-BR" sz="2600" spc="5" dirty="0" smtClean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lang="pt-BR" sz="2600" spc="25" dirty="0" smtClean="0">
                <a:solidFill>
                  <a:prstClr val="black"/>
                </a:solidFill>
                <a:latin typeface="Arial"/>
                <a:cs typeface="Arial"/>
              </a:rPr>
              <a:t>mp</a:t>
            </a:r>
            <a:r>
              <a:rPr lang="pt-BR" sz="2600" spc="5" dirty="0" smtClean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lang="pt-BR" sz="2600" spc="15" dirty="0" smtClean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lang="pt-BR" sz="2600" spc="25" dirty="0" smtClean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lang="pt-BR" sz="2600" spc="15" dirty="0" smtClean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lang="pt-BR" sz="2600" spc="10" dirty="0" smtClean="0">
                <a:solidFill>
                  <a:prstClr val="black"/>
                </a:solidFill>
                <a:latin typeface="Arial"/>
                <a:cs typeface="Arial"/>
              </a:rPr>
              <a:t>r </a:t>
            </a:r>
            <a:r>
              <a:rPr lang="pt-BR" sz="2600" spc="15" dirty="0" smtClean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lang="pt-BR" sz="2600" spc="25" dirty="0" smtClean="0">
                <a:solidFill>
                  <a:prstClr val="black"/>
                </a:solidFill>
                <a:latin typeface="Arial"/>
                <a:cs typeface="Arial"/>
              </a:rPr>
              <a:t>ua</a:t>
            </a:r>
            <a:r>
              <a:rPr lang="pt-BR" sz="2600" spc="15" dirty="0" smtClean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lang="pt-BR" sz="2600" spc="5" dirty="0" smtClean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lang="pt-BR" sz="2600" spc="25" dirty="0" smtClean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lang="pt-BR" sz="2600" spc="15" dirty="0" smtClean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pt-BR"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lang="pt-BR" sz="2600" spc="15" dirty="0">
                <a:solidFill>
                  <a:prstClr val="black"/>
                </a:solidFill>
                <a:latin typeface="Arial"/>
                <a:cs typeface="Arial"/>
              </a:rPr>
              <a:t>ac</a:t>
            </a:r>
            <a:r>
              <a:rPr lang="pt-BR"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lang="pt-BR" sz="2600" spc="5" dirty="0">
                <a:solidFill>
                  <a:prstClr val="black"/>
                </a:solidFill>
                <a:latin typeface="Arial"/>
                <a:cs typeface="Arial"/>
              </a:rPr>
              <a:t>rt</a:t>
            </a:r>
            <a:r>
              <a:rPr lang="pt-BR"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lang="pt-BR"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pt-BR"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lang="pt-BR" sz="2600" spc="20" dirty="0" smtClean="0">
                <a:solidFill>
                  <a:prstClr val="black"/>
                </a:solidFill>
                <a:latin typeface="Arial"/>
                <a:cs typeface="Arial"/>
              </a:rPr>
              <a:t>cada cartão </a:t>
            </a:r>
            <a:r>
              <a:rPr lang="pt-BR" sz="2600" spc="5" dirty="0" smtClean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lang="pt-BR" sz="2600" spc="15" dirty="0" smtClean="0">
                <a:solidFill>
                  <a:prstClr val="black"/>
                </a:solidFill>
                <a:latin typeface="Arial"/>
                <a:cs typeface="Arial"/>
              </a:rPr>
              <a:t>eve</a:t>
            </a:r>
            <a:r>
              <a:rPr lang="pt-BR"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lang="pt-BR"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305"/>
              </a:spcBef>
            </a:pPr>
            <a:r>
              <a:rPr lang="pt-BR" sz="2600" spc="15" dirty="0">
                <a:solidFill>
                  <a:prstClr val="black"/>
                </a:solidFill>
                <a:latin typeface="Arial"/>
                <a:cs typeface="Arial"/>
              </a:rPr>
              <a:t>Fa</a:t>
            </a:r>
            <a:r>
              <a:rPr lang="pt-BR"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lang="pt-BR"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lang="pt-BR"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pt-BR"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lang="pt-BR" sz="2600" spc="5" dirty="0">
                <a:solidFill>
                  <a:prstClr val="black"/>
                </a:solidFill>
                <a:latin typeface="Arial"/>
                <a:cs typeface="Arial"/>
              </a:rPr>
              <a:t> t</a:t>
            </a:r>
            <a:r>
              <a:rPr lang="pt-BR"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lang="pt-BR"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pt-BR"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lang="pt-BR"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lang="pt-BR"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pt-BR"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lang="pt-BR"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lang="pt-BR"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lang="pt-BR"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lang="pt-BR" sz="2600" spc="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lang="pt-BR" sz="2600" spc="2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lang="pt-BR"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pt-BR"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pt-BR"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lang="pt-BR"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lang="pt-BR" sz="2600" spc="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lang="pt-BR"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lang="pt-BR"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lang="pt-BR" sz="2600" spc="25" dirty="0">
                <a:solidFill>
                  <a:prstClr val="black"/>
                </a:solidFill>
                <a:latin typeface="Arial"/>
                <a:cs typeface="Arial"/>
              </a:rPr>
              <a:t>çõ</a:t>
            </a:r>
            <a:r>
              <a:rPr lang="pt-BR"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lang="pt-BR" sz="2600" spc="10" dirty="0" smtClean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7080" y="3397250"/>
            <a:ext cx="9261475" cy="1458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91400"/>
              </a:lnSpc>
            </a:pP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9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3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rela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erc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calc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st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1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apo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res</a:t>
            </a:r>
            <a:r>
              <a:rPr sz="2600" spc="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600" spc="1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6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o</a:t>
            </a:r>
            <a:r>
              <a:rPr sz="2600" spc="2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2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54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4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7003" y="5378450"/>
            <a:ext cx="9262110" cy="1095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91300"/>
              </a:lnSpc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alores</a:t>
            </a:r>
            <a:r>
              <a:rPr sz="26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eiros</a:t>
            </a:r>
            <a:r>
              <a:rPr sz="26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a-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cres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amanh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#de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60560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10875"/>
            <a:ext cx="5170805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dirty="0">
                <a:latin typeface="Arial"/>
                <a:cs typeface="Arial"/>
              </a:rPr>
              <a:t>D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c</a:t>
            </a:r>
            <a:r>
              <a:rPr b="0" i="1" spc="-5" dirty="0">
                <a:latin typeface="Arial"/>
                <a:cs typeface="Arial"/>
              </a:rPr>
              <a:t>l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ç</a:t>
            </a:r>
            <a:r>
              <a:rPr b="0" i="1" spc="5" dirty="0">
                <a:latin typeface="Arial"/>
                <a:cs typeface="Arial"/>
              </a:rPr>
              <a:t>ã</a:t>
            </a:r>
            <a:r>
              <a:rPr b="0" i="1" dirty="0">
                <a:latin typeface="Arial"/>
                <a:cs typeface="Arial"/>
              </a:rPr>
              <a:t>o </a:t>
            </a:r>
            <a:r>
              <a:rPr b="0" i="1" spc="5" dirty="0">
                <a:latin typeface="Arial"/>
                <a:cs typeface="Arial"/>
              </a:rPr>
              <a:t>d</a:t>
            </a:r>
            <a:r>
              <a:rPr b="0" i="1" dirty="0">
                <a:latin typeface="Arial"/>
                <a:cs typeface="Arial"/>
              </a:rPr>
              <a:t>e </a:t>
            </a:r>
            <a:r>
              <a:rPr b="0" i="1" spc="-5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7009" y="2290939"/>
            <a:ext cx="2030095" cy="443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at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3]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4]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90789" y="1953395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0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39534" y="1953395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1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17468" y="4650131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2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57759" y="1953395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3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17468" y="2825913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0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60145" y="3619251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1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08958" y="1953395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2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300229" y="3887540"/>
            <a:ext cx="581025" cy="2226344"/>
          </a:xfrm>
          <a:custGeom>
            <a:avLst/>
            <a:gdLst/>
            <a:ahLst/>
            <a:cxnLst/>
            <a:rect l="l" t="t" r="r" b="b"/>
            <a:pathLst>
              <a:path w="581025" h="2228215">
                <a:moveTo>
                  <a:pt x="545275" y="82097"/>
                </a:moveTo>
                <a:lnTo>
                  <a:pt x="535976" y="79640"/>
                </a:lnTo>
                <a:lnTo>
                  <a:pt x="1523" y="2221991"/>
                </a:lnTo>
                <a:lnTo>
                  <a:pt x="0" y="2223515"/>
                </a:lnTo>
                <a:lnTo>
                  <a:pt x="4571" y="2228087"/>
                </a:lnTo>
                <a:lnTo>
                  <a:pt x="7619" y="2228087"/>
                </a:lnTo>
                <a:lnTo>
                  <a:pt x="10667" y="2226563"/>
                </a:lnTo>
                <a:lnTo>
                  <a:pt x="12191" y="2223515"/>
                </a:lnTo>
                <a:lnTo>
                  <a:pt x="545275" y="82097"/>
                </a:lnTo>
                <a:close/>
              </a:path>
              <a:path w="581025" h="2228215">
                <a:moveTo>
                  <a:pt x="580643" y="91439"/>
                </a:moveTo>
                <a:lnTo>
                  <a:pt x="560831" y="0"/>
                </a:lnTo>
                <a:lnTo>
                  <a:pt x="499871" y="70103"/>
                </a:lnTo>
                <a:lnTo>
                  <a:pt x="535976" y="79640"/>
                </a:lnTo>
                <a:lnTo>
                  <a:pt x="539495" y="65531"/>
                </a:lnTo>
                <a:lnTo>
                  <a:pt x="539495" y="62483"/>
                </a:lnTo>
                <a:lnTo>
                  <a:pt x="542543" y="60959"/>
                </a:lnTo>
                <a:lnTo>
                  <a:pt x="545591" y="62483"/>
                </a:lnTo>
                <a:lnTo>
                  <a:pt x="548639" y="62483"/>
                </a:lnTo>
                <a:lnTo>
                  <a:pt x="550163" y="65531"/>
                </a:lnTo>
                <a:lnTo>
                  <a:pt x="550163" y="83388"/>
                </a:lnTo>
                <a:lnTo>
                  <a:pt x="580643" y="91439"/>
                </a:lnTo>
                <a:close/>
              </a:path>
              <a:path w="581025" h="2228215">
                <a:moveTo>
                  <a:pt x="550163" y="65531"/>
                </a:moveTo>
                <a:lnTo>
                  <a:pt x="548639" y="62483"/>
                </a:lnTo>
                <a:lnTo>
                  <a:pt x="545591" y="62483"/>
                </a:lnTo>
                <a:lnTo>
                  <a:pt x="542543" y="60959"/>
                </a:lnTo>
                <a:lnTo>
                  <a:pt x="539495" y="62483"/>
                </a:lnTo>
                <a:lnTo>
                  <a:pt x="539495" y="65531"/>
                </a:lnTo>
                <a:lnTo>
                  <a:pt x="535976" y="79640"/>
                </a:lnTo>
                <a:lnTo>
                  <a:pt x="545275" y="82097"/>
                </a:lnTo>
                <a:lnTo>
                  <a:pt x="548639" y="68579"/>
                </a:lnTo>
                <a:lnTo>
                  <a:pt x="550163" y="65531"/>
                </a:lnTo>
                <a:close/>
              </a:path>
              <a:path w="581025" h="2228215">
                <a:moveTo>
                  <a:pt x="550163" y="83388"/>
                </a:moveTo>
                <a:lnTo>
                  <a:pt x="550163" y="65531"/>
                </a:lnTo>
                <a:lnTo>
                  <a:pt x="548639" y="68579"/>
                </a:lnTo>
                <a:lnTo>
                  <a:pt x="545275" y="82097"/>
                </a:lnTo>
                <a:lnTo>
                  <a:pt x="550163" y="833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35135" y="6256129"/>
            <a:ext cx="12985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b="1" spc="20" dirty="0">
                <a:solidFill>
                  <a:prstClr val="black"/>
                </a:solidFill>
                <a:latin typeface="Tahoma"/>
                <a:cs typeface="Tahoma"/>
              </a:rPr>
              <a:t>m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at</a:t>
            </a: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[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1]</a:t>
            </a: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[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2]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990853" y="2286659"/>
          <a:ext cx="5024624" cy="28718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5775"/>
                <a:gridCol w="1257299"/>
                <a:gridCol w="1255775"/>
                <a:gridCol w="1255775"/>
              </a:tblGrid>
              <a:tr h="852722">
                <a:tc>
                  <a:txBody>
                    <a:bodyPr/>
                    <a:lstStyle/>
                    <a:p>
                      <a:pPr marL="4349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31485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31485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560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31485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386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31485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3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31485">
                      <a:solidFill>
                        <a:srgbClr val="000000"/>
                      </a:solidFill>
                      <a:prstDash val="solid"/>
                    </a:lnR>
                    <a:lnT w="31485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09563">
                <a:tc>
                  <a:txBody>
                    <a:bodyPr/>
                    <a:lstStyle/>
                    <a:p>
                      <a:pPr marL="4349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31485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5609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386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3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31485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09563">
                <a:tc>
                  <a:txBody>
                    <a:bodyPr/>
                    <a:lstStyle/>
                    <a:p>
                      <a:pPr marL="4349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31485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3148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5609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3148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3148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3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31485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3148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7268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10875"/>
            <a:ext cx="5170805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dirty="0">
                <a:latin typeface="Arial"/>
                <a:cs typeface="Arial"/>
              </a:rPr>
              <a:t>D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c</a:t>
            </a:r>
            <a:r>
              <a:rPr b="0" i="1" spc="-5" dirty="0">
                <a:latin typeface="Arial"/>
                <a:cs typeface="Arial"/>
              </a:rPr>
              <a:t>l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ç</a:t>
            </a:r>
            <a:r>
              <a:rPr b="0" i="1" spc="5" dirty="0">
                <a:latin typeface="Arial"/>
                <a:cs typeface="Arial"/>
              </a:rPr>
              <a:t>ã</a:t>
            </a:r>
            <a:r>
              <a:rPr b="0" i="1" dirty="0">
                <a:latin typeface="Arial"/>
                <a:cs typeface="Arial"/>
              </a:rPr>
              <a:t>o </a:t>
            </a:r>
            <a:r>
              <a:rPr b="0" i="1" spc="5" dirty="0">
                <a:latin typeface="Arial"/>
                <a:cs typeface="Arial"/>
              </a:rPr>
              <a:t>d</a:t>
            </a:r>
            <a:r>
              <a:rPr b="0" i="1" dirty="0">
                <a:latin typeface="Arial"/>
                <a:cs typeface="Arial"/>
              </a:rPr>
              <a:t>e </a:t>
            </a:r>
            <a:r>
              <a:rPr b="0" i="1" spc="-5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7003" y="2290931"/>
            <a:ext cx="9070340" cy="39542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ec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aração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co</a:t>
            </a: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ensõ</a:t>
            </a:r>
            <a:r>
              <a:rPr sz="2850" b="1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2850" dirty="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720"/>
              </a:spcBef>
            </a:pP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fl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at2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3]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</a:p>
          <a:p>
            <a:pPr marL="12700" marR="6029325">
              <a:lnSpc>
                <a:spcPct val="120700"/>
              </a:lnSpc>
            </a:pP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[3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[2]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7]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;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sz="2850" dirty="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4"/>
              </a:spcBef>
            </a:pPr>
            <a:endParaRPr sz="36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4579620">
              <a:lnSpc>
                <a:spcPct val="118600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Op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erações 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em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=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8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6; </a:t>
            </a:r>
            <a:endParaRPr lang="pt-BR" sz="2300" dirty="0" smtClean="0">
              <a:solidFill>
                <a:prstClr val="black"/>
              </a:solidFill>
              <a:latin typeface="Arial"/>
              <a:cs typeface="Arial"/>
            </a:endParaRPr>
          </a:p>
          <a:p>
            <a:pPr marL="12700" marR="4579620">
              <a:lnSpc>
                <a:spcPct val="118600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300" spc="10" dirty="0" smtClean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 smtClean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300" spc="5" dirty="0" smtClean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1]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=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5;</a:t>
            </a:r>
          </a:p>
        </p:txBody>
      </p:sp>
    </p:spTree>
    <p:extLst>
      <p:ext uri="{BB962C8B-B14F-4D97-AF65-F5344CB8AC3E}">
        <p14:creationId xmlns:p14="http://schemas.microsoft.com/office/powerpoint/2010/main" val="1533456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74" y="1771324"/>
            <a:ext cx="8063865" cy="42225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0900"/>
              </a:lnSpc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ode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elemen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de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ão, 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285"/>
              </a:spcBef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plo: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5"/>
              </a:spcBef>
            </a:pPr>
            <a:endParaRPr sz="29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77165"/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lo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at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nu</a:t>
            </a:r>
            <a:r>
              <a:rPr sz="2300" b="1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3]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{{3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6</a:t>
            </a:r>
            <a:r>
              <a:rPr sz="2300" b="1" dirty="0">
                <a:solidFill>
                  <a:srgbClr val="006500"/>
                </a:solidFill>
                <a:latin typeface="Arial"/>
                <a:cs typeface="Arial"/>
              </a:rPr>
              <a:t>,</a:t>
            </a:r>
            <a:r>
              <a:rPr sz="2300" b="1" spc="10" dirty="0">
                <a:solidFill>
                  <a:srgbClr val="006500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5}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,{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}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};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endParaRPr sz="23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>
              <a:spcBef>
                <a:spcPts val="48"/>
              </a:spcBef>
            </a:pPr>
            <a:endParaRPr sz="27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u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a,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5"/>
              </a:spcBef>
            </a:pPr>
            <a:endParaRPr sz="29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>
              <a:lnSpc>
                <a:spcPts val="2635"/>
              </a:lnSpc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{{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}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} /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/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ini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ou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a p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b="1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co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R="877569" algn="ctr">
              <a:lnSpc>
                <a:spcPts val="2635"/>
              </a:lnSpc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//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lo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s 3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7.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As d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b="1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ce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erã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spc="-10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5" dirty="0">
                <a:latin typeface="Arial"/>
                <a:cs typeface="Arial"/>
              </a:rPr>
              <a:t>: i</a:t>
            </a:r>
            <a:r>
              <a:rPr b="0" i="1" spc="5" dirty="0">
                <a:latin typeface="Arial"/>
                <a:cs typeface="Arial"/>
              </a:rPr>
              <a:t>n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c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5" dirty="0">
                <a:latin typeface="Arial"/>
                <a:cs typeface="Arial"/>
              </a:rPr>
              <a:t>li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ç</a:t>
            </a:r>
            <a:r>
              <a:rPr b="0" i="1" spc="5" dirty="0">
                <a:latin typeface="Arial"/>
                <a:cs typeface="Arial"/>
              </a:rPr>
              <a:t>ã</a:t>
            </a:r>
            <a:r>
              <a:rPr b="0" i="1" dirty="0">
                <a:latin typeface="Arial"/>
                <a:cs typeface="Arial"/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3686221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74" y="1764071"/>
            <a:ext cx="9201785" cy="46038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just">
              <a:lnSpc>
                <a:spcPts val="3420"/>
              </a:lnSpc>
            </a:pP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  <a:p>
            <a:pPr marL="12700" algn="just">
              <a:lnSpc>
                <a:spcPts val="2760"/>
              </a:lnSpc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au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oma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46"/>
              </a:spcBef>
              <a:buClr>
                <a:srgbClr val="852A33"/>
              </a:buClr>
              <a:buFont typeface="Wingdings"/>
              <a:buChar char=""/>
            </a:pPr>
            <a:endParaRPr sz="28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 algn="just">
              <a:lnSpc>
                <a:spcPts val="2230"/>
              </a:lnSpc>
              <a:buClr>
                <a:srgbClr val="852A33"/>
              </a:buClr>
              <a:buSzPct val="71739"/>
              <a:buFont typeface="Wingdings"/>
              <a:buChar char=""/>
              <a:tabLst>
                <a:tab pos="334645" algn="l"/>
              </a:tabLst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núme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, 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lemen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au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alor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L="1000125">
              <a:spcBef>
                <a:spcPts val="35"/>
              </a:spcBef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nu</a:t>
            </a:r>
            <a:r>
              <a:rPr sz="2300" b="1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3]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{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32,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6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4, 27}};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36"/>
              </a:spcBef>
            </a:pP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917575"/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4]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{{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}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};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//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odos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eme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os 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nulos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48"/>
              </a:spcBef>
            </a:pP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51460" indent="-238760" algn="just"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e: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0"/>
              </a:spcBef>
            </a:pPr>
            <a:endParaRPr sz="26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019810"/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= 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{{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32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6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18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9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14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}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{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12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67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31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}};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spc="-10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5" dirty="0">
                <a:latin typeface="Arial"/>
                <a:cs typeface="Arial"/>
              </a:rPr>
              <a:t>: i</a:t>
            </a:r>
            <a:r>
              <a:rPr b="0" i="1" spc="5" dirty="0">
                <a:latin typeface="Arial"/>
                <a:cs typeface="Arial"/>
              </a:rPr>
              <a:t>n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c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5" dirty="0">
                <a:latin typeface="Arial"/>
                <a:cs typeface="Arial"/>
              </a:rPr>
              <a:t>li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ç</a:t>
            </a:r>
            <a:r>
              <a:rPr b="0" i="1" spc="5" dirty="0">
                <a:latin typeface="Arial"/>
                <a:cs typeface="Arial"/>
              </a:rPr>
              <a:t>ã</a:t>
            </a:r>
            <a:r>
              <a:rPr b="0" i="1" dirty="0">
                <a:latin typeface="Arial"/>
                <a:cs typeface="Arial"/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946033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7770" y="1684635"/>
            <a:ext cx="8943340" cy="8616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ts val="2230"/>
              </a:lnSpc>
            </a:pP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og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ab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ig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spc="-10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5" dirty="0">
                <a:latin typeface="Arial"/>
                <a:cs typeface="Arial"/>
              </a:rPr>
              <a:t>: </a:t>
            </a:r>
            <a:r>
              <a:rPr b="0" i="1" dirty="0">
                <a:latin typeface="Arial"/>
                <a:cs typeface="Arial"/>
              </a:rPr>
              <a:t>ex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spc="-10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p</a:t>
            </a:r>
            <a:r>
              <a:rPr b="0" i="1" spc="-5" dirty="0">
                <a:latin typeface="Arial"/>
                <a:cs typeface="Arial"/>
              </a:rPr>
              <a:t>l</a:t>
            </a:r>
            <a:r>
              <a:rPr b="0" i="1" spc="15" dirty="0">
                <a:latin typeface="Arial"/>
                <a:cs typeface="Arial"/>
              </a:rPr>
              <a:t>o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8371" y="2672373"/>
            <a:ext cx="6426835" cy="3400742"/>
          </a:xfrm>
          <a:prstGeom prst="rect">
            <a:avLst/>
          </a:prstGeom>
          <a:ln w="20990">
            <a:solidFill>
              <a:srgbClr val="000000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102235">
              <a:spcBef>
                <a:spcPts val="200"/>
              </a:spcBef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#includ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&lt;st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io.h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53"/>
              </a:spcBef>
            </a:pPr>
            <a:endParaRPr sz="15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02235">
              <a:lnSpc>
                <a:spcPts val="185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main(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2235">
              <a:lnSpc>
                <a:spcPts val="1839"/>
              </a:lnSpc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36550">
              <a:lnSpc>
                <a:spcPts val="1855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m[3][2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i,j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8"/>
              </a:spcBef>
            </a:pPr>
            <a:endParaRPr sz="16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71500" marR="3480435" indent="-234950">
              <a:lnSpc>
                <a:spcPts val="185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fo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(i=0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 3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i++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)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for(j=0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j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 2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j++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R="5136515" algn="ctr">
              <a:lnSpc>
                <a:spcPts val="1770"/>
              </a:lnSpc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05815">
              <a:lnSpc>
                <a:spcPts val="185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m[i][j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i+j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05815">
              <a:lnSpc>
                <a:spcPts val="185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printf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“i=%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j=%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mento=%d\n"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i,j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m[i][j])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R="5136515" algn="ctr">
              <a:lnSpc>
                <a:spcPts val="1850"/>
              </a:lnSpc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36550">
              <a:lnSpc>
                <a:spcPts val="1839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retur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2235">
              <a:lnSpc>
                <a:spcPts val="1850"/>
              </a:lnSpc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43642" y="3062225"/>
            <a:ext cx="2776855" cy="1854995"/>
          </a:xfrm>
          <a:prstGeom prst="rect">
            <a:avLst/>
          </a:prstGeom>
          <a:solidFill>
            <a:srgbClr val="EBEBEB"/>
          </a:solidFill>
          <a:ln w="20990">
            <a:solidFill>
              <a:srgbClr val="000000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marL="102235">
              <a:spcBef>
                <a:spcPts val="42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0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0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  <a:p>
            <a:pPr marL="102235">
              <a:spcBef>
                <a:spcPts val="3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0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1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  <a:p>
            <a:pPr marL="102235">
              <a:spcBef>
                <a:spcPts val="4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1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0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  <a:p>
            <a:pPr marL="102235">
              <a:spcBef>
                <a:spcPts val="3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1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1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  <a:p>
            <a:pPr marL="102235">
              <a:spcBef>
                <a:spcPts val="4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2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0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  <a:p>
            <a:pPr marL="102235">
              <a:spcBef>
                <a:spcPts val="3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2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1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3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649479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sz="2300" kern="1200" dirty="0">
                <a:solidFill>
                  <a:prstClr val="black"/>
                </a:solidFill>
                <a:latin typeface="Arial"/>
                <a:cs typeface="Arial"/>
              </a:rPr>
              <a:t>Apesar de terem o comportamento de estruturas com mais de uma dimensão, na memória os dados são armazenados linearmente:</a:t>
            </a:r>
          </a:p>
          <a:p>
            <a:pPr marL="800100" lvl="1" indent="-342900" eaLnBrk="1" hangingPunct="1">
              <a:buFont typeface="Arial" pitchFamily="34" charset="0"/>
              <a:buChar char="•"/>
            </a:pPr>
            <a:r>
              <a:rPr lang="pt-BR" sz="2300" kern="1200" dirty="0" err="1">
                <a:solidFill>
                  <a:prstClr val="black"/>
                </a:solidFill>
                <a:latin typeface="Arial"/>
                <a:cs typeface="Arial"/>
              </a:rPr>
              <a:t>int</a:t>
            </a:r>
            <a:r>
              <a:rPr lang="pt-BR" sz="2300" kern="12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pt-BR" sz="2300" kern="1200" dirty="0" err="1">
                <a:solidFill>
                  <a:prstClr val="black"/>
                </a:solidFill>
                <a:latin typeface="Arial"/>
                <a:cs typeface="Arial"/>
              </a:rPr>
              <a:t>mat</a:t>
            </a:r>
            <a:r>
              <a:rPr lang="pt-BR" sz="2300" kern="1200" dirty="0">
                <a:solidFill>
                  <a:prstClr val="black"/>
                </a:solidFill>
                <a:latin typeface="Arial"/>
                <a:cs typeface="Arial"/>
              </a:rPr>
              <a:t>[5][5];</a:t>
            </a:r>
          </a:p>
        </p:txBody>
      </p:sp>
      <p:grpSp>
        <p:nvGrpSpPr>
          <p:cNvPr id="2" name="Grupo 1"/>
          <p:cNvGrpSpPr/>
          <p:nvPr/>
        </p:nvGrpSpPr>
        <p:grpSpPr>
          <a:xfrm>
            <a:off x="3831802" y="3358446"/>
            <a:ext cx="3118908" cy="2316181"/>
            <a:chOff x="3276600" y="3048000"/>
            <a:chExt cx="2667000" cy="2102080"/>
          </a:xfrm>
        </p:grpSpPr>
        <p:grpSp>
          <p:nvGrpSpPr>
            <p:cNvPr id="27686" name="Group 63"/>
            <p:cNvGrpSpPr>
              <a:grpSpLocks/>
            </p:cNvGrpSpPr>
            <p:nvPr/>
          </p:nvGrpSpPr>
          <p:grpSpPr bwMode="auto">
            <a:xfrm>
              <a:off x="3657600" y="3352800"/>
              <a:ext cx="1524000" cy="1524000"/>
              <a:chOff x="3792" y="2304"/>
              <a:chExt cx="960" cy="960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27689" name="Rectangle 38"/>
              <p:cNvSpPr>
                <a:spLocks noChangeArrowheads="1"/>
              </p:cNvSpPr>
              <p:nvPr/>
            </p:nvSpPr>
            <p:spPr bwMode="auto">
              <a:xfrm>
                <a:off x="3792" y="2304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0" name="Rectangle 39"/>
              <p:cNvSpPr>
                <a:spLocks noChangeArrowheads="1"/>
              </p:cNvSpPr>
              <p:nvPr/>
            </p:nvSpPr>
            <p:spPr bwMode="auto">
              <a:xfrm>
                <a:off x="3984" y="2304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1" name="Rectangle 40"/>
              <p:cNvSpPr>
                <a:spLocks noChangeArrowheads="1"/>
              </p:cNvSpPr>
              <p:nvPr/>
            </p:nvSpPr>
            <p:spPr bwMode="auto">
              <a:xfrm>
                <a:off x="4176" y="2304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2" name="Rectangle 41"/>
              <p:cNvSpPr>
                <a:spLocks noChangeArrowheads="1"/>
              </p:cNvSpPr>
              <p:nvPr/>
            </p:nvSpPr>
            <p:spPr bwMode="auto">
              <a:xfrm>
                <a:off x="4368" y="2304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3" name="Rectangle 42"/>
              <p:cNvSpPr>
                <a:spLocks noChangeArrowheads="1"/>
              </p:cNvSpPr>
              <p:nvPr/>
            </p:nvSpPr>
            <p:spPr bwMode="auto">
              <a:xfrm>
                <a:off x="4560" y="2304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4" name="Rectangle 43"/>
              <p:cNvSpPr>
                <a:spLocks noChangeArrowheads="1"/>
              </p:cNvSpPr>
              <p:nvPr/>
            </p:nvSpPr>
            <p:spPr bwMode="auto">
              <a:xfrm>
                <a:off x="3792" y="24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5" name="Rectangle 44"/>
              <p:cNvSpPr>
                <a:spLocks noChangeArrowheads="1"/>
              </p:cNvSpPr>
              <p:nvPr/>
            </p:nvSpPr>
            <p:spPr bwMode="auto">
              <a:xfrm>
                <a:off x="3984" y="24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6" name="Rectangle 45"/>
              <p:cNvSpPr>
                <a:spLocks noChangeArrowheads="1"/>
              </p:cNvSpPr>
              <p:nvPr/>
            </p:nvSpPr>
            <p:spPr bwMode="auto">
              <a:xfrm>
                <a:off x="4176" y="24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7" name="Rectangle 46"/>
              <p:cNvSpPr>
                <a:spLocks noChangeArrowheads="1"/>
              </p:cNvSpPr>
              <p:nvPr/>
            </p:nvSpPr>
            <p:spPr bwMode="auto">
              <a:xfrm>
                <a:off x="4368" y="24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8" name="Rectangle 47"/>
              <p:cNvSpPr>
                <a:spLocks noChangeArrowheads="1"/>
              </p:cNvSpPr>
              <p:nvPr/>
            </p:nvSpPr>
            <p:spPr bwMode="auto">
              <a:xfrm>
                <a:off x="4560" y="24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9" name="Rectangle 48"/>
              <p:cNvSpPr>
                <a:spLocks noChangeArrowheads="1"/>
              </p:cNvSpPr>
              <p:nvPr/>
            </p:nvSpPr>
            <p:spPr bwMode="auto">
              <a:xfrm>
                <a:off x="3792" y="2688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00" name="Rectangle 49"/>
              <p:cNvSpPr>
                <a:spLocks noChangeArrowheads="1"/>
              </p:cNvSpPr>
              <p:nvPr/>
            </p:nvSpPr>
            <p:spPr bwMode="auto">
              <a:xfrm>
                <a:off x="3984" y="2688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01" name="Rectangle 50"/>
              <p:cNvSpPr>
                <a:spLocks noChangeArrowheads="1"/>
              </p:cNvSpPr>
              <p:nvPr/>
            </p:nvSpPr>
            <p:spPr bwMode="auto">
              <a:xfrm>
                <a:off x="4176" y="2688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02" name="Rectangle 51"/>
              <p:cNvSpPr>
                <a:spLocks noChangeArrowheads="1"/>
              </p:cNvSpPr>
              <p:nvPr/>
            </p:nvSpPr>
            <p:spPr bwMode="auto">
              <a:xfrm>
                <a:off x="4368" y="2688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03" name="Rectangle 52"/>
              <p:cNvSpPr>
                <a:spLocks noChangeArrowheads="1"/>
              </p:cNvSpPr>
              <p:nvPr/>
            </p:nvSpPr>
            <p:spPr bwMode="auto">
              <a:xfrm>
                <a:off x="4560" y="2688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04" name="Rectangle 53"/>
              <p:cNvSpPr>
                <a:spLocks noChangeArrowheads="1"/>
              </p:cNvSpPr>
              <p:nvPr/>
            </p:nvSpPr>
            <p:spPr bwMode="auto">
              <a:xfrm>
                <a:off x="3792" y="2880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05" name="Rectangle 54"/>
              <p:cNvSpPr>
                <a:spLocks noChangeArrowheads="1"/>
              </p:cNvSpPr>
              <p:nvPr/>
            </p:nvSpPr>
            <p:spPr bwMode="auto">
              <a:xfrm>
                <a:off x="3984" y="2880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06" name="Rectangle 55"/>
              <p:cNvSpPr>
                <a:spLocks noChangeArrowheads="1"/>
              </p:cNvSpPr>
              <p:nvPr/>
            </p:nvSpPr>
            <p:spPr bwMode="auto">
              <a:xfrm>
                <a:off x="4176" y="2880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07" name="Rectangle 56"/>
              <p:cNvSpPr>
                <a:spLocks noChangeArrowheads="1"/>
              </p:cNvSpPr>
              <p:nvPr/>
            </p:nvSpPr>
            <p:spPr bwMode="auto">
              <a:xfrm>
                <a:off x="4368" y="2880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08" name="Rectangle 57"/>
              <p:cNvSpPr>
                <a:spLocks noChangeArrowheads="1"/>
              </p:cNvSpPr>
              <p:nvPr/>
            </p:nvSpPr>
            <p:spPr bwMode="auto">
              <a:xfrm>
                <a:off x="4560" y="2880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09" name="Rectangle 58"/>
              <p:cNvSpPr>
                <a:spLocks noChangeArrowheads="1"/>
              </p:cNvSpPr>
              <p:nvPr/>
            </p:nvSpPr>
            <p:spPr bwMode="auto">
              <a:xfrm>
                <a:off x="3792" y="3072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10" name="Rectangle 59"/>
              <p:cNvSpPr>
                <a:spLocks noChangeArrowheads="1"/>
              </p:cNvSpPr>
              <p:nvPr/>
            </p:nvSpPr>
            <p:spPr bwMode="auto">
              <a:xfrm>
                <a:off x="3984" y="3072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11" name="Rectangle 60"/>
              <p:cNvSpPr>
                <a:spLocks noChangeArrowheads="1"/>
              </p:cNvSpPr>
              <p:nvPr/>
            </p:nvSpPr>
            <p:spPr bwMode="auto">
              <a:xfrm>
                <a:off x="4176" y="3072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12" name="Rectangle 61"/>
              <p:cNvSpPr>
                <a:spLocks noChangeArrowheads="1"/>
              </p:cNvSpPr>
              <p:nvPr/>
            </p:nvSpPr>
            <p:spPr bwMode="auto">
              <a:xfrm>
                <a:off x="4368" y="3072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13" name="Rectangle 62"/>
              <p:cNvSpPr>
                <a:spLocks noChangeArrowheads="1"/>
              </p:cNvSpPr>
              <p:nvPr/>
            </p:nvSpPr>
            <p:spPr bwMode="auto">
              <a:xfrm>
                <a:off x="4560" y="3072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7687" name="Text Box 65"/>
            <p:cNvSpPr txBox="1">
              <a:spLocks noChangeArrowheads="1"/>
            </p:cNvSpPr>
            <p:nvPr/>
          </p:nvSpPr>
          <p:spPr bwMode="auto">
            <a:xfrm>
              <a:off x="3276600" y="3048000"/>
              <a:ext cx="838200" cy="335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0,0</a:t>
              </a:r>
            </a:p>
          </p:txBody>
        </p:sp>
        <p:sp>
          <p:nvSpPr>
            <p:cNvPr id="27688" name="Text Box 66"/>
            <p:cNvSpPr txBox="1">
              <a:spLocks noChangeArrowheads="1"/>
            </p:cNvSpPr>
            <p:nvPr/>
          </p:nvSpPr>
          <p:spPr bwMode="auto">
            <a:xfrm>
              <a:off x="5105400" y="4814888"/>
              <a:ext cx="838200" cy="335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4,4</a:t>
              </a:r>
            </a:p>
          </p:txBody>
        </p:sp>
      </p:grpSp>
      <p:grpSp>
        <p:nvGrpSpPr>
          <p:cNvPr id="3" name="Grupo 2"/>
          <p:cNvGrpSpPr/>
          <p:nvPr/>
        </p:nvGrpSpPr>
        <p:grpSpPr>
          <a:xfrm>
            <a:off x="356447" y="5877278"/>
            <a:ext cx="9178502" cy="659444"/>
            <a:chOff x="381000" y="5334000"/>
            <a:chExt cx="7848600" cy="598487"/>
          </a:xfrm>
        </p:grpSpPr>
        <p:grpSp>
          <p:nvGrpSpPr>
            <p:cNvPr id="27654" name="Group 64"/>
            <p:cNvGrpSpPr>
              <a:grpSpLocks/>
            </p:cNvGrpSpPr>
            <p:nvPr/>
          </p:nvGrpSpPr>
          <p:grpSpPr bwMode="auto">
            <a:xfrm>
              <a:off x="457200" y="5627687"/>
              <a:ext cx="7620000" cy="304800"/>
              <a:chOff x="576" y="3696"/>
              <a:chExt cx="4800" cy="192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27661" name="Rectangle 4"/>
              <p:cNvSpPr>
                <a:spLocks noChangeArrowheads="1"/>
              </p:cNvSpPr>
              <p:nvPr/>
            </p:nvSpPr>
            <p:spPr bwMode="auto">
              <a:xfrm>
                <a:off x="576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62" name="Rectangle 5"/>
              <p:cNvSpPr>
                <a:spLocks noChangeArrowheads="1"/>
              </p:cNvSpPr>
              <p:nvPr/>
            </p:nvSpPr>
            <p:spPr bwMode="auto">
              <a:xfrm>
                <a:off x="768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63" name="Rectangle 6"/>
              <p:cNvSpPr>
                <a:spLocks noChangeArrowheads="1"/>
              </p:cNvSpPr>
              <p:nvPr/>
            </p:nvSpPr>
            <p:spPr bwMode="auto">
              <a:xfrm>
                <a:off x="960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64" name="Rectangle 7"/>
              <p:cNvSpPr>
                <a:spLocks noChangeArrowheads="1"/>
              </p:cNvSpPr>
              <p:nvPr/>
            </p:nvSpPr>
            <p:spPr bwMode="auto">
              <a:xfrm>
                <a:off x="1152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65" name="Rectangle 8"/>
              <p:cNvSpPr>
                <a:spLocks noChangeArrowheads="1"/>
              </p:cNvSpPr>
              <p:nvPr/>
            </p:nvSpPr>
            <p:spPr bwMode="auto">
              <a:xfrm>
                <a:off x="1344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66" name="Rectangle 9"/>
              <p:cNvSpPr>
                <a:spLocks noChangeArrowheads="1"/>
              </p:cNvSpPr>
              <p:nvPr/>
            </p:nvSpPr>
            <p:spPr bwMode="auto">
              <a:xfrm>
                <a:off x="1536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67" name="Rectangle 10"/>
              <p:cNvSpPr>
                <a:spLocks noChangeArrowheads="1"/>
              </p:cNvSpPr>
              <p:nvPr/>
            </p:nvSpPr>
            <p:spPr bwMode="auto">
              <a:xfrm>
                <a:off x="1728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68" name="Rectangle 11"/>
              <p:cNvSpPr>
                <a:spLocks noChangeArrowheads="1"/>
              </p:cNvSpPr>
              <p:nvPr/>
            </p:nvSpPr>
            <p:spPr bwMode="auto">
              <a:xfrm>
                <a:off x="1920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69" name="Rectangle 12"/>
              <p:cNvSpPr>
                <a:spLocks noChangeArrowheads="1"/>
              </p:cNvSpPr>
              <p:nvPr/>
            </p:nvSpPr>
            <p:spPr bwMode="auto">
              <a:xfrm>
                <a:off x="2112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70" name="Rectangle 13"/>
              <p:cNvSpPr>
                <a:spLocks noChangeArrowheads="1"/>
              </p:cNvSpPr>
              <p:nvPr/>
            </p:nvSpPr>
            <p:spPr bwMode="auto">
              <a:xfrm>
                <a:off x="2304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71" name="Rectangle 14"/>
              <p:cNvSpPr>
                <a:spLocks noChangeArrowheads="1"/>
              </p:cNvSpPr>
              <p:nvPr/>
            </p:nvSpPr>
            <p:spPr bwMode="auto">
              <a:xfrm>
                <a:off x="2496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72" name="Rectangle 15"/>
              <p:cNvSpPr>
                <a:spLocks noChangeArrowheads="1"/>
              </p:cNvSpPr>
              <p:nvPr/>
            </p:nvSpPr>
            <p:spPr bwMode="auto">
              <a:xfrm>
                <a:off x="2688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73" name="Rectangle 16"/>
              <p:cNvSpPr>
                <a:spLocks noChangeArrowheads="1"/>
              </p:cNvSpPr>
              <p:nvPr/>
            </p:nvSpPr>
            <p:spPr bwMode="auto">
              <a:xfrm>
                <a:off x="2880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74" name="Rectangle 17"/>
              <p:cNvSpPr>
                <a:spLocks noChangeArrowheads="1"/>
              </p:cNvSpPr>
              <p:nvPr/>
            </p:nvSpPr>
            <p:spPr bwMode="auto">
              <a:xfrm>
                <a:off x="3072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75" name="Rectangle 18"/>
              <p:cNvSpPr>
                <a:spLocks noChangeArrowheads="1"/>
              </p:cNvSpPr>
              <p:nvPr/>
            </p:nvSpPr>
            <p:spPr bwMode="auto">
              <a:xfrm>
                <a:off x="3264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76" name="Rectangle 19"/>
              <p:cNvSpPr>
                <a:spLocks noChangeArrowheads="1"/>
              </p:cNvSpPr>
              <p:nvPr/>
            </p:nvSpPr>
            <p:spPr bwMode="auto">
              <a:xfrm>
                <a:off x="3456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77" name="Rectangle 20"/>
              <p:cNvSpPr>
                <a:spLocks noChangeArrowheads="1"/>
              </p:cNvSpPr>
              <p:nvPr/>
            </p:nvSpPr>
            <p:spPr bwMode="auto">
              <a:xfrm>
                <a:off x="3648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78" name="Rectangle 21"/>
              <p:cNvSpPr>
                <a:spLocks noChangeArrowheads="1"/>
              </p:cNvSpPr>
              <p:nvPr/>
            </p:nvSpPr>
            <p:spPr bwMode="auto">
              <a:xfrm>
                <a:off x="3840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79" name="Rectangle 22"/>
              <p:cNvSpPr>
                <a:spLocks noChangeArrowheads="1"/>
              </p:cNvSpPr>
              <p:nvPr/>
            </p:nvSpPr>
            <p:spPr bwMode="auto">
              <a:xfrm>
                <a:off x="4032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0" name="Rectangle 23"/>
              <p:cNvSpPr>
                <a:spLocks noChangeArrowheads="1"/>
              </p:cNvSpPr>
              <p:nvPr/>
            </p:nvSpPr>
            <p:spPr bwMode="auto">
              <a:xfrm>
                <a:off x="4224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1" name="Rectangle 24"/>
              <p:cNvSpPr>
                <a:spLocks noChangeArrowheads="1"/>
              </p:cNvSpPr>
              <p:nvPr/>
            </p:nvSpPr>
            <p:spPr bwMode="auto">
              <a:xfrm>
                <a:off x="4416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2" name="Rectangle 25"/>
              <p:cNvSpPr>
                <a:spLocks noChangeArrowheads="1"/>
              </p:cNvSpPr>
              <p:nvPr/>
            </p:nvSpPr>
            <p:spPr bwMode="auto">
              <a:xfrm>
                <a:off x="4608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3" name="Rectangle 26"/>
              <p:cNvSpPr>
                <a:spLocks noChangeArrowheads="1"/>
              </p:cNvSpPr>
              <p:nvPr/>
            </p:nvSpPr>
            <p:spPr bwMode="auto">
              <a:xfrm>
                <a:off x="4800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4" name="Rectangle 27"/>
              <p:cNvSpPr>
                <a:spLocks noChangeArrowheads="1"/>
              </p:cNvSpPr>
              <p:nvPr/>
            </p:nvSpPr>
            <p:spPr bwMode="auto">
              <a:xfrm>
                <a:off x="4992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5" name="Rectangle 28"/>
              <p:cNvSpPr>
                <a:spLocks noChangeArrowheads="1"/>
              </p:cNvSpPr>
              <p:nvPr/>
            </p:nvSpPr>
            <p:spPr bwMode="auto">
              <a:xfrm>
                <a:off x="5184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7655" name="Text Box 67"/>
            <p:cNvSpPr txBox="1">
              <a:spLocks noChangeArrowheads="1"/>
            </p:cNvSpPr>
            <p:nvPr/>
          </p:nvSpPr>
          <p:spPr bwMode="auto">
            <a:xfrm>
              <a:off x="381000" y="5337175"/>
              <a:ext cx="533400" cy="335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0,0</a:t>
              </a:r>
            </a:p>
          </p:txBody>
        </p:sp>
        <p:sp>
          <p:nvSpPr>
            <p:cNvPr id="27656" name="Text Box 68"/>
            <p:cNvSpPr txBox="1">
              <a:spLocks noChangeArrowheads="1"/>
            </p:cNvSpPr>
            <p:nvPr/>
          </p:nvSpPr>
          <p:spPr bwMode="auto">
            <a:xfrm>
              <a:off x="1905000" y="5334000"/>
              <a:ext cx="533400" cy="335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1,0</a:t>
              </a:r>
            </a:p>
          </p:txBody>
        </p:sp>
        <p:sp>
          <p:nvSpPr>
            <p:cNvPr id="27657" name="Text Box 69"/>
            <p:cNvSpPr txBox="1">
              <a:spLocks noChangeArrowheads="1"/>
            </p:cNvSpPr>
            <p:nvPr/>
          </p:nvSpPr>
          <p:spPr bwMode="auto">
            <a:xfrm>
              <a:off x="3429000" y="5334000"/>
              <a:ext cx="533400" cy="335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2,0</a:t>
              </a:r>
            </a:p>
          </p:txBody>
        </p:sp>
        <p:sp>
          <p:nvSpPr>
            <p:cNvPr id="27658" name="Text Box 70"/>
            <p:cNvSpPr txBox="1">
              <a:spLocks noChangeArrowheads="1"/>
            </p:cNvSpPr>
            <p:nvPr/>
          </p:nvSpPr>
          <p:spPr bwMode="auto">
            <a:xfrm>
              <a:off x="4953000" y="5334000"/>
              <a:ext cx="533400" cy="335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3,0</a:t>
              </a:r>
            </a:p>
          </p:txBody>
        </p:sp>
        <p:sp>
          <p:nvSpPr>
            <p:cNvPr id="27659" name="Text Box 71"/>
            <p:cNvSpPr txBox="1">
              <a:spLocks noChangeArrowheads="1"/>
            </p:cNvSpPr>
            <p:nvPr/>
          </p:nvSpPr>
          <p:spPr bwMode="auto">
            <a:xfrm>
              <a:off x="6477000" y="5334000"/>
              <a:ext cx="533400" cy="335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4,0</a:t>
              </a:r>
            </a:p>
          </p:txBody>
        </p:sp>
        <p:sp>
          <p:nvSpPr>
            <p:cNvPr id="27660" name="Text Box 72"/>
            <p:cNvSpPr txBox="1">
              <a:spLocks noChangeArrowheads="1"/>
            </p:cNvSpPr>
            <p:nvPr/>
          </p:nvSpPr>
          <p:spPr bwMode="auto">
            <a:xfrm>
              <a:off x="7696200" y="5334000"/>
              <a:ext cx="533400" cy="335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4,4</a:t>
              </a:r>
            </a:p>
          </p:txBody>
        </p:sp>
      </p:grpSp>
      <p:sp>
        <p:nvSpPr>
          <p:cNvPr id="67" name="object 3"/>
          <p:cNvSpPr txBox="1">
            <a:spLocks/>
          </p:cNvSpPr>
          <p:nvPr/>
        </p:nvSpPr>
        <p:spPr>
          <a:xfrm>
            <a:off x="735583" y="505035"/>
            <a:ext cx="922223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850" b="1" i="0">
                <a:solidFill>
                  <a:srgbClr val="4C4C4C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/>
            <a:r>
              <a:rPr lang="pt-BR" b="0" i="1" spc="-10" dirty="0" smtClean="0"/>
              <a:t>M</a:t>
            </a:r>
            <a:r>
              <a:rPr lang="pt-BR" b="0" i="1" spc="5" dirty="0" smtClean="0"/>
              <a:t>a</a:t>
            </a:r>
            <a:r>
              <a:rPr lang="pt-BR" b="0" i="1" spc="-10" dirty="0" smtClean="0"/>
              <a:t>t</a:t>
            </a:r>
            <a:r>
              <a:rPr lang="pt-BR" b="0" i="1" dirty="0" smtClean="0"/>
              <a:t>r</a:t>
            </a:r>
            <a:r>
              <a:rPr lang="pt-BR" b="0" i="1" spc="-5" dirty="0" smtClean="0"/>
              <a:t>i</a:t>
            </a:r>
            <a:r>
              <a:rPr lang="pt-BR" b="0" i="1" dirty="0" smtClean="0"/>
              <a:t>z</a:t>
            </a:r>
            <a:r>
              <a:rPr lang="pt-BR" b="0" i="1" spc="5" dirty="0" smtClean="0"/>
              <a:t>e</a:t>
            </a:r>
            <a:r>
              <a:rPr lang="pt-BR" b="0" i="1" dirty="0" smtClean="0"/>
              <a:t>s</a:t>
            </a:r>
            <a:r>
              <a:rPr lang="pt-BR" b="0" i="1" spc="-5" dirty="0" smtClean="0"/>
              <a:t>: </a:t>
            </a:r>
            <a:r>
              <a:rPr lang="pt-BR" b="0" i="1" dirty="0" smtClean="0"/>
              <a:t>representação</a:t>
            </a:r>
            <a:endParaRPr lang="pt-BR" b="0" i="1" spc="-5" dirty="0"/>
          </a:p>
        </p:txBody>
      </p:sp>
    </p:spTree>
    <p:extLst>
      <p:ext uri="{BB962C8B-B14F-4D97-AF65-F5344CB8AC3E}">
        <p14:creationId xmlns:p14="http://schemas.microsoft.com/office/powerpoint/2010/main" val="360117366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marL="342900" indent="-342900" eaLnBrk="1" hangingPunct="1">
              <a:buFont typeface="Arial" pitchFamily="34" charset="0"/>
              <a:buChar char="•"/>
            </a:pPr>
            <a:r>
              <a:rPr lang="pt-BR" sz="2300" kern="1200" dirty="0">
                <a:solidFill>
                  <a:prstClr val="black"/>
                </a:solidFill>
                <a:latin typeface="Arial"/>
                <a:cs typeface="Arial"/>
              </a:rPr>
              <a:t>Um </a:t>
            </a:r>
            <a:r>
              <a:rPr lang="pt-BR" sz="2300" kern="1200" dirty="0" err="1">
                <a:solidFill>
                  <a:prstClr val="black"/>
                </a:solidFill>
                <a:latin typeface="Arial"/>
                <a:cs typeface="Arial"/>
              </a:rPr>
              <a:t>array</a:t>
            </a:r>
            <a:r>
              <a:rPr lang="pt-BR" sz="2300" kern="1200" dirty="0">
                <a:solidFill>
                  <a:prstClr val="black"/>
                </a:solidFill>
                <a:latin typeface="Arial"/>
                <a:cs typeface="Arial"/>
              </a:rPr>
              <a:t> N-dimensional funciona basicamente como outros tipos de </a:t>
            </a:r>
            <a:r>
              <a:rPr lang="pt-BR" sz="2300" kern="1200" dirty="0" err="1">
                <a:solidFill>
                  <a:prstClr val="black"/>
                </a:solidFill>
                <a:latin typeface="Arial"/>
                <a:cs typeface="Arial"/>
              </a:rPr>
              <a:t>array</a:t>
            </a:r>
            <a:r>
              <a:rPr lang="pt-BR" sz="2300" kern="1200" dirty="0">
                <a:solidFill>
                  <a:prstClr val="black"/>
                </a:solidFill>
                <a:latin typeface="Arial"/>
                <a:cs typeface="Arial"/>
              </a:rPr>
              <a:t>. Basta lembrar que o índice que varia mais rapidamente é o índice mais à direita.</a:t>
            </a:r>
          </a:p>
          <a:p>
            <a:pPr marL="1257300" lvl="2" indent="-342900">
              <a:buFont typeface="Arial" pitchFamily="34" charset="0"/>
              <a:buChar char="•"/>
            </a:pPr>
            <a:r>
              <a:rPr lang="pt-BR" sz="2300" kern="1200" dirty="0" err="1">
                <a:solidFill>
                  <a:prstClr val="black"/>
                </a:solidFill>
                <a:latin typeface="Arial"/>
                <a:cs typeface="Arial"/>
              </a:rPr>
              <a:t>int</a:t>
            </a:r>
            <a:r>
              <a:rPr lang="pt-BR" sz="2300" kern="12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pt-BR" sz="2300" kern="1200" dirty="0" err="1">
                <a:solidFill>
                  <a:prstClr val="black"/>
                </a:solidFill>
                <a:latin typeface="Arial"/>
                <a:cs typeface="Arial"/>
              </a:rPr>
              <a:t>vet</a:t>
            </a:r>
            <a:r>
              <a:rPr lang="pt-BR" sz="2300" kern="120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lang="pt-BR" sz="2300" kern="1200" dirty="0">
                <a:solidFill>
                  <a:srgbClr val="FF0000"/>
                </a:solidFill>
                <a:latin typeface="Arial"/>
                <a:cs typeface="Arial"/>
              </a:rPr>
              <a:t>5</a:t>
            </a:r>
            <a:r>
              <a:rPr lang="pt-BR" sz="2300" kern="1200" dirty="0">
                <a:solidFill>
                  <a:prstClr val="black"/>
                </a:solidFill>
                <a:latin typeface="Arial"/>
                <a:cs typeface="Arial"/>
              </a:rPr>
              <a:t>]; // 1 dimensão</a:t>
            </a:r>
          </a:p>
          <a:p>
            <a:pPr marL="1257300" lvl="2" indent="-342900">
              <a:buFont typeface="Arial" pitchFamily="34" charset="0"/>
              <a:buChar char="•"/>
            </a:pPr>
            <a:r>
              <a:rPr lang="pt-BR" sz="2300" kern="1200" dirty="0" err="1">
                <a:solidFill>
                  <a:prstClr val="black"/>
                </a:solidFill>
                <a:latin typeface="Arial"/>
                <a:cs typeface="Arial"/>
              </a:rPr>
              <a:t>float</a:t>
            </a:r>
            <a:r>
              <a:rPr lang="pt-BR" sz="2300" kern="12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pt-BR" sz="2300" kern="1200" dirty="0" err="1">
                <a:solidFill>
                  <a:prstClr val="black"/>
                </a:solidFill>
                <a:latin typeface="Arial"/>
                <a:cs typeface="Arial"/>
              </a:rPr>
              <a:t>mat</a:t>
            </a:r>
            <a:r>
              <a:rPr lang="pt-BR" sz="2300" kern="1200" dirty="0">
                <a:solidFill>
                  <a:prstClr val="black"/>
                </a:solidFill>
                <a:latin typeface="Arial"/>
                <a:cs typeface="Arial"/>
              </a:rPr>
              <a:t>[5][</a:t>
            </a:r>
            <a:r>
              <a:rPr lang="pt-BR" sz="2300" kern="1200" dirty="0">
                <a:solidFill>
                  <a:srgbClr val="FF0000"/>
                </a:solidFill>
                <a:latin typeface="Arial"/>
                <a:cs typeface="Arial"/>
              </a:rPr>
              <a:t>5</a:t>
            </a:r>
            <a:r>
              <a:rPr lang="pt-BR" sz="2300" kern="1200" dirty="0">
                <a:solidFill>
                  <a:prstClr val="black"/>
                </a:solidFill>
                <a:latin typeface="Arial"/>
                <a:cs typeface="Arial"/>
              </a:rPr>
              <a:t>]; // 2 dimensões</a:t>
            </a:r>
          </a:p>
          <a:p>
            <a:pPr marL="1257300" lvl="2" indent="-342900">
              <a:buFont typeface="Arial" pitchFamily="34" charset="0"/>
              <a:buChar char="•"/>
            </a:pPr>
            <a:r>
              <a:rPr lang="pt-BR" sz="2300" kern="1200" dirty="0" err="1">
                <a:solidFill>
                  <a:prstClr val="black"/>
                </a:solidFill>
                <a:latin typeface="Arial"/>
                <a:cs typeface="Arial"/>
              </a:rPr>
              <a:t>double</a:t>
            </a:r>
            <a:r>
              <a:rPr lang="pt-BR" sz="2300" kern="12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pt-BR" sz="2300" kern="1200" dirty="0" err="1">
                <a:solidFill>
                  <a:prstClr val="black"/>
                </a:solidFill>
                <a:latin typeface="Arial"/>
                <a:cs typeface="Arial"/>
              </a:rPr>
              <a:t>cub</a:t>
            </a:r>
            <a:r>
              <a:rPr lang="pt-BR" sz="2300" kern="1200" dirty="0">
                <a:solidFill>
                  <a:prstClr val="black"/>
                </a:solidFill>
                <a:latin typeface="Arial"/>
                <a:cs typeface="Arial"/>
              </a:rPr>
              <a:t>[5][5][</a:t>
            </a:r>
            <a:r>
              <a:rPr lang="pt-BR" sz="2300" kern="1200" dirty="0">
                <a:solidFill>
                  <a:srgbClr val="FF0000"/>
                </a:solidFill>
                <a:latin typeface="Arial"/>
                <a:cs typeface="Arial"/>
              </a:rPr>
              <a:t>5</a:t>
            </a:r>
            <a:r>
              <a:rPr lang="pt-BR" sz="2300" kern="1200" dirty="0">
                <a:solidFill>
                  <a:prstClr val="black"/>
                </a:solidFill>
                <a:latin typeface="Arial"/>
                <a:cs typeface="Arial"/>
              </a:rPr>
              <a:t>]; // 3 dimensões</a:t>
            </a:r>
          </a:p>
          <a:p>
            <a:pPr marL="1257300" lvl="2" indent="-342900">
              <a:buFont typeface="Arial" pitchFamily="34" charset="0"/>
              <a:buChar char="•"/>
            </a:pPr>
            <a:r>
              <a:rPr lang="pt-BR" sz="2300" kern="1200" dirty="0" err="1">
                <a:solidFill>
                  <a:prstClr val="black"/>
                </a:solidFill>
                <a:latin typeface="Arial"/>
                <a:cs typeface="Arial"/>
              </a:rPr>
              <a:t>int</a:t>
            </a:r>
            <a:r>
              <a:rPr lang="pt-BR" sz="2300" kern="1200" dirty="0">
                <a:solidFill>
                  <a:prstClr val="black"/>
                </a:solidFill>
                <a:latin typeface="Arial"/>
                <a:cs typeface="Arial"/>
              </a:rPr>
              <a:t> X[5][5][5][</a:t>
            </a:r>
            <a:r>
              <a:rPr lang="pt-BR" sz="2300" kern="1200" dirty="0">
                <a:solidFill>
                  <a:srgbClr val="FF0000"/>
                </a:solidFill>
                <a:latin typeface="Arial"/>
                <a:cs typeface="Arial"/>
              </a:rPr>
              <a:t>5</a:t>
            </a:r>
            <a:r>
              <a:rPr lang="pt-BR" sz="2300" kern="1200" dirty="0">
                <a:solidFill>
                  <a:prstClr val="black"/>
                </a:solidFill>
                <a:latin typeface="Arial"/>
                <a:cs typeface="Arial"/>
              </a:rPr>
              <a:t>]; // 4 dimensões</a:t>
            </a:r>
          </a:p>
        </p:txBody>
      </p:sp>
      <p:sp>
        <p:nvSpPr>
          <p:cNvPr id="4" name="object 3"/>
          <p:cNvSpPr txBox="1">
            <a:spLocks/>
          </p:cNvSpPr>
          <p:nvPr/>
        </p:nvSpPr>
        <p:spPr>
          <a:xfrm>
            <a:off x="735583" y="505035"/>
            <a:ext cx="922223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850" b="1" i="0">
                <a:solidFill>
                  <a:srgbClr val="4C4C4C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/>
            <a:r>
              <a:rPr lang="pt-BR" b="0" i="1" spc="-10" dirty="0" smtClean="0"/>
              <a:t>M</a:t>
            </a:r>
            <a:r>
              <a:rPr lang="pt-BR" b="0" i="1" spc="5" dirty="0" smtClean="0"/>
              <a:t>a</a:t>
            </a:r>
            <a:r>
              <a:rPr lang="pt-BR" b="0" i="1" spc="-10" dirty="0" smtClean="0"/>
              <a:t>t</a:t>
            </a:r>
            <a:r>
              <a:rPr lang="pt-BR" b="0" i="1" dirty="0" smtClean="0"/>
              <a:t>r</a:t>
            </a:r>
            <a:r>
              <a:rPr lang="pt-BR" b="0" i="1" spc="-5" dirty="0" smtClean="0"/>
              <a:t>i</a:t>
            </a:r>
            <a:r>
              <a:rPr lang="pt-BR" b="0" i="1" dirty="0" smtClean="0"/>
              <a:t>z</a:t>
            </a:r>
            <a:r>
              <a:rPr lang="pt-BR" b="0" i="1" spc="5" dirty="0" smtClean="0"/>
              <a:t>e</a:t>
            </a:r>
            <a:r>
              <a:rPr lang="pt-BR" b="0" i="1" dirty="0" smtClean="0"/>
              <a:t>s</a:t>
            </a:r>
            <a:r>
              <a:rPr lang="pt-BR" b="0" i="1" spc="-5" dirty="0" smtClean="0"/>
              <a:t>: </a:t>
            </a:r>
            <a:r>
              <a:rPr lang="pt-BR" b="0" i="1" dirty="0" smtClean="0"/>
              <a:t>representação</a:t>
            </a:r>
            <a:endParaRPr lang="pt-BR" b="0" i="1" spc="-5" dirty="0"/>
          </a:p>
        </p:txBody>
      </p:sp>
    </p:spTree>
    <p:extLst>
      <p:ext uri="{BB962C8B-B14F-4D97-AF65-F5344CB8AC3E}">
        <p14:creationId xmlns:p14="http://schemas.microsoft.com/office/powerpoint/2010/main" val="312344901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/>
          <p:cNvSpPr txBox="1">
            <a:spLocks/>
          </p:cNvSpPr>
          <p:nvPr/>
        </p:nvSpPr>
        <p:spPr>
          <a:xfrm>
            <a:off x="735583" y="505035"/>
            <a:ext cx="922223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850" b="1" i="0">
                <a:solidFill>
                  <a:srgbClr val="4C4C4C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/>
            <a:r>
              <a:rPr lang="pt-BR" b="0" i="1" spc="-10" dirty="0" smtClean="0"/>
              <a:t>M</a:t>
            </a:r>
            <a:r>
              <a:rPr lang="pt-BR" b="0" i="1" spc="5" dirty="0" smtClean="0"/>
              <a:t>a</a:t>
            </a:r>
            <a:r>
              <a:rPr lang="pt-BR" b="0" i="1" spc="-10" dirty="0" smtClean="0"/>
              <a:t>t</a:t>
            </a:r>
            <a:r>
              <a:rPr lang="pt-BR" b="0" i="1" dirty="0" smtClean="0"/>
              <a:t>r</a:t>
            </a:r>
            <a:r>
              <a:rPr lang="pt-BR" b="0" i="1" spc="-5" dirty="0" smtClean="0"/>
              <a:t>i</a:t>
            </a:r>
            <a:r>
              <a:rPr lang="pt-BR" b="0" i="1" dirty="0" smtClean="0"/>
              <a:t>z</a:t>
            </a:r>
            <a:r>
              <a:rPr lang="pt-BR" b="0" i="1" spc="5" dirty="0" smtClean="0"/>
              <a:t>e</a:t>
            </a:r>
            <a:r>
              <a:rPr lang="pt-BR" b="0" i="1" dirty="0" smtClean="0"/>
              <a:t>s</a:t>
            </a:r>
            <a:r>
              <a:rPr lang="pt-BR" b="0" i="1" spc="-5" dirty="0" smtClean="0"/>
              <a:t> especiais</a:t>
            </a:r>
            <a:endParaRPr lang="pt-BR" b="0" i="1" spc="-5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2486" y="1949450"/>
            <a:ext cx="6448425" cy="430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9980705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/>
          <p:cNvSpPr txBox="1">
            <a:spLocks/>
          </p:cNvSpPr>
          <p:nvPr/>
        </p:nvSpPr>
        <p:spPr>
          <a:xfrm>
            <a:off x="735583" y="505035"/>
            <a:ext cx="922223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850" b="1" i="0">
                <a:solidFill>
                  <a:srgbClr val="4C4C4C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/>
            <a:r>
              <a:rPr lang="pt-BR" b="0" i="1" spc="-10" dirty="0" smtClean="0"/>
              <a:t>M</a:t>
            </a:r>
            <a:r>
              <a:rPr lang="pt-BR" b="0" i="1" spc="5" dirty="0" smtClean="0"/>
              <a:t>a</a:t>
            </a:r>
            <a:r>
              <a:rPr lang="pt-BR" b="0" i="1" spc="-10" dirty="0" smtClean="0"/>
              <a:t>t</a:t>
            </a:r>
            <a:r>
              <a:rPr lang="pt-BR" b="0" i="1" dirty="0" smtClean="0"/>
              <a:t>r</a:t>
            </a:r>
            <a:r>
              <a:rPr lang="pt-BR" b="0" i="1" spc="-5" dirty="0" smtClean="0"/>
              <a:t>i</a:t>
            </a:r>
            <a:r>
              <a:rPr lang="pt-BR" b="0" i="1" dirty="0" smtClean="0"/>
              <a:t>z</a:t>
            </a:r>
            <a:r>
              <a:rPr lang="pt-BR" b="0" i="1" spc="5" dirty="0" smtClean="0"/>
              <a:t>e</a:t>
            </a:r>
            <a:r>
              <a:rPr lang="pt-BR" b="0" i="1" dirty="0" smtClean="0"/>
              <a:t>s</a:t>
            </a:r>
            <a:r>
              <a:rPr lang="pt-BR" b="0" i="1" spc="-5" dirty="0" smtClean="0"/>
              <a:t> especiais</a:t>
            </a:r>
            <a:endParaRPr lang="pt-BR" b="0" i="1" spc="-5" dirty="0"/>
          </a:p>
        </p:txBody>
      </p:sp>
      <p:sp>
        <p:nvSpPr>
          <p:cNvPr id="2" name="CaixaDeTexto 1"/>
          <p:cNvSpPr txBox="1"/>
          <p:nvPr/>
        </p:nvSpPr>
        <p:spPr>
          <a:xfrm>
            <a:off x="1689100" y="1492250"/>
            <a:ext cx="7924800" cy="4916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50" spc="10" dirty="0" smtClean="0">
                <a:solidFill>
                  <a:prstClr val="black"/>
                </a:solidFill>
                <a:latin typeface="Arial"/>
                <a:cs typeface="Arial"/>
              </a:rPr>
              <a:t>Quadradas:</a:t>
            </a:r>
            <a:endParaRPr lang="pt-BR" sz="2850" spc="10" dirty="0">
              <a:solidFill>
                <a:prstClr val="black"/>
              </a:solidFill>
              <a:latin typeface="Arial"/>
              <a:cs typeface="Arial"/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pt-BR" sz="2850" spc="10" dirty="0" smtClean="0">
                <a:solidFill>
                  <a:prstClr val="black"/>
                </a:solidFill>
                <a:latin typeface="Arial"/>
                <a:cs typeface="Arial"/>
              </a:rPr>
              <a:t>Diagonal</a:t>
            </a:r>
            <a:endParaRPr lang="pt-BR" sz="2850" spc="10" dirty="0">
              <a:solidFill>
                <a:prstClr val="black"/>
              </a:solidFill>
              <a:latin typeface="Arial"/>
              <a:cs typeface="Arial"/>
            </a:endParaRPr>
          </a:p>
          <a:p>
            <a:pPr lvl="2"/>
            <a:r>
              <a:rPr lang="pt-BR" sz="2850" spc="10" dirty="0" smtClean="0">
                <a:solidFill>
                  <a:prstClr val="black"/>
                </a:solidFill>
                <a:latin typeface="Arial"/>
                <a:cs typeface="Arial"/>
              </a:rPr>
              <a:t>M(</a:t>
            </a:r>
            <a:r>
              <a:rPr lang="pt-BR" sz="2850" spc="10" dirty="0" err="1" smtClean="0">
                <a:solidFill>
                  <a:prstClr val="black"/>
                </a:solidFill>
                <a:latin typeface="Arial"/>
                <a:cs typeface="Arial"/>
              </a:rPr>
              <a:t>i,j</a:t>
            </a:r>
            <a:r>
              <a:rPr lang="pt-BR" sz="2850" spc="10" dirty="0">
                <a:solidFill>
                  <a:prstClr val="black"/>
                </a:solidFill>
                <a:latin typeface="Arial"/>
                <a:cs typeface="Arial"/>
              </a:rPr>
              <a:t>) = 0 para i diferente j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pt-BR" sz="28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pt-BR" sz="2850" spc="10" dirty="0" err="1">
                <a:solidFill>
                  <a:prstClr val="black"/>
                </a:solidFill>
                <a:latin typeface="Arial"/>
                <a:cs typeface="Arial"/>
              </a:rPr>
              <a:t>Tridiagonal</a:t>
            </a:r>
            <a:endParaRPr lang="pt-BR" sz="2850" spc="10" dirty="0">
              <a:solidFill>
                <a:prstClr val="black"/>
              </a:solidFill>
              <a:latin typeface="Arial"/>
              <a:cs typeface="Arial"/>
            </a:endParaRPr>
          </a:p>
          <a:p>
            <a:pPr lvl="2"/>
            <a:r>
              <a:rPr lang="pt-BR" sz="2850" spc="10" dirty="0" smtClean="0">
                <a:solidFill>
                  <a:prstClr val="black"/>
                </a:solidFill>
                <a:latin typeface="Arial"/>
                <a:cs typeface="Arial"/>
              </a:rPr>
              <a:t>M(</a:t>
            </a:r>
            <a:r>
              <a:rPr lang="pt-BR" sz="2850" spc="10" dirty="0" err="1" smtClean="0">
                <a:solidFill>
                  <a:prstClr val="black"/>
                </a:solidFill>
                <a:latin typeface="Arial"/>
                <a:cs typeface="Arial"/>
              </a:rPr>
              <a:t>i,j</a:t>
            </a:r>
            <a:r>
              <a:rPr lang="pt-BR" sz="2850" spc="10" dirty="0">
                <a:solidFill>
                  <a:prstClr val="black"/>
                </a:solidFill>
                <a:latin typeface="Arial"/>
                <a:cs typeface="Arial"/>
              </a:rPr>
              <a:t>) = 0 para | i-j | &gt; </a:t>
            </a:r>
            <a:r>
              <a:rPr lang="pt-BR" sz="2850" spc="10" dirty="0" smtClean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lang="pt-BR" dirty="0" smtClean="0"/>
              <a:t>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pt-BR" sz="2850" spc="10" dirty="0" smtClean="0">
                <a:solidFill>
                  <a:prstClr val="black"/>
                </a:solidFill>
                <a:latin typeface="Arial"/>
                <a:cs typeface="Arial"/>
              </a:rPr>
              <a:t>Triangular </a:t>
            </a:r>
            <a:r>
              <a:rPr lang="pt-BR" sz="2850" spc="10" dirty="0">
                <a:solidFill>
                  <a:prstClr val="black"/>
                </a:solidFill>
                <a:latin typeface="Arial"/>
                <a:cs typeface="Arial"/>
              </a:rPr>
              <a:t>Inferior</a:t>
            </a:r>
          </a:p>
          <a:p>
            <a:pPr lvl="2"/>
            <a:r>
              <a:rPr lang="pt-BR" sz="2850" spc="10" dirty="0" smtClean="0">
                <a:solidFill>
                  <a:prstClr val="black"/>
                </a:solidFill>
                <a:latin typeface="Arial"/>
                <a:cs typeface="Arial"/>
              </a:rPr>
              <a:t>M(</a:t>
            </a:r>
            <a:r>
              <a:rPr lang="pt-BR" sz="2850" spc="10" dirty="0" err="1" smtClean="0">
                <a:solidFill>
                  <a:prstClr val="black"/>
                </a:solidFill>
                <a:latin typeface="Arial"/>
                <a:cs typeface="Arial"/>
              </a:rPr>
              <a:t>i,j</a:t>
            </a:r>
            <a:r>
              <a:rPr lang="pt-BR" sz="2850" spc="10" dirty="0">
                <a:solidFill>
                  <a:prstClr val="black"/>
                </a:solidFill>
                <a:latin typeface="Arial"/>
                <a:cs typeface="Arial"/>
              </a:rPr>
              <a:t>) = 0 para i &lt; j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pt-BR" sz="2850" spc="10" dirty="0">
                <a:solidFill>
                  <a:prstClr val="black"/>
                </a:solidFill>
                <a:latin typeface="Arial"/>
                <a:cs typeface="Arial"/>
              </a:rPr>
              <a:t> Triangular Superior</a:t>
            </a:r>
          </a:p>
          <a:p>
            <a:pPr lvl="2"/>
            <a:r>
              <a:rPr lang="pt-BR" sz="2850" spc="10" dirty="0" smtClean="0">
                <a:solidFill>
                  <a:prstClr val="black"/>
                </a:solidFill>
                <a:latin typeface="Arial"/>
                <a:cs typeface="Arial"/>
              </a:rPr>
              <a:t>M(</a:t>
            </a:r>
            <a:r>
              <a:rPr lang="pt-BR" sz="2850" spc="10" dirty="0" err="1" smtClean="0">
                <a:solidFill>
                  <a:prstClr val="black"/>
                </a:solidFill>
                <a:latin typeface="Arial"/>
                <a:cs typeface="Arial"/>
              </a:rPr>
              <a:t>i,j</a:t>
            </a:r>
            <a:r>
              <a:rPr lang="pt-BR" sz="2850" spc="10" dirty="0">
                <a:solidFill>
                  <a:prstClr val="black"/>
                </a:solidFill>
                <a:latin typeface="Arial"/>
                <a:cs typeface="Arial"/>
              </a:rPr>
              <a:t>) = 0 para i &gt; j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pt-BR" sz="28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pt-BR" sz="2850" spc="10" dirty="0" err="1">
                <a:solidFill>
                  <a:prstClr val="black"/>
                </a:solidFill>
                <a:latin typeface="Arial"/>
                <a:cs typeface="Arial"/>
              </a:rPr>
              <a:t>Simetrica</a:t>
            </a:r>
            <a:endParaRPr lang="pt-BR" sz="2850" spc="10" dirty="0">
              <a:solidFill>
                <a:prstClr val="black"/>
              </a:solidFill>
              <a:latin typeface="Arial"/>
              <a:cs typeface="Arial"/>
            </a:endParaRPr>
          </a:p>
          <a:p>
            <a:pPr lvl="2"/>
            <a:r>
              <a:rPr lang="pt-BR" sz="2850" spc="10" dirty="0" smtClean="0">
                <a:solidFill>
                  <a:prstClr val="black"/>
                </a:solidFill>
                <a:latin typeface="Arial"/>
                <a:cs typeface="Arial"/>
              </a:rPr>
              <a:t>M(</a:t>
            </a:r>
            <a:r>
              <a:rPr lang="pt-BR" sz="2850" spc="10" dirty="0" err="1" smtClean="0">
                <a:solidFill>
                  <a:prstClr val="black"/>
                </a:solidFill>
                <a:latin typeface="Arial"/>
                <a:cs typeface="Arial"/>
              </a:rPr>
              <a:t>i,j</a:t>
            </a:r>
            <a:r>
              <a:rPr lang="pt-BR" sz="2850" spc="10" dirty="0">
                <a:solidFill>
                  <a:prstClr val="black"/>
                </a:solidFill>
                <a:latin typeface="Arial"/>
                <a:cs typeface="Arial"/>
              </a:rPr>
              <a:t>) = M(</a:t>
            </a:r>
            <a:r>
              <a:rPr lang="pt-BR" sz="2850" spc="10" dirty="0" err="1">
                <a:solidFill>
                  <a:prstClr val="black"/>
                </a:solidFill>
                <a:latin typeface="Arial"/>
                <a:cs typeface="Arial"/>
              </a:rPr>
              <a:t>j,i</a:t>
            </a:r>
            <a:r>
              <a:rPr lang="pt-BR" sz="2850" spc="10" dirty="0">
                <a:solidFill>
                  <a:prstClr val="black"/>
                </a:solidFill>
                <a:latin typeface="Arial"/>
                <a:cs typeface="Arial"/>
              </a:rPr>
              <a:t>) para todo i, j</a:t>
            </a:r>
          </a:p>
        </p:txBody>
      </p:sp>
    </p:spTree>
    <p:extLst>
      <p:ext uri="{BB962C8B-B14F-4D97-AF65-F5344CB8AC3E}">
        <p14:creationId xmlns:p14="http://schemas.microsoft.com/office/powerpoint/2010/main" val="170742557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spc="-10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spc="-5" dirty="0">
                <a:latin typeface="Arial"/>
                <a:cs typeface="Arial"/>
              </a:rPr>
              <a:t>s</a:t>
            </a:r>
            <a:r>
              <a:rPr b="0" i="1" spc="5" dirty="0">
                <a:latin typeface="Arial"/>
                <a:cs typeface="Arial"/>
              </a:rPr>
              <a:t> </a:t>
            </a:r>
            <a:r>
              <a:rPr b="0" i="1" dirty="0">
                <a:latin typeface="Arial"/>
                <a:cs typeface="Arial"/>
              </a:rPr>
              <a:t>e </a:t>
            </a:r>
            <a:r>
              <a:rPr b="0" i="1" spc="5" dirty="0">
                <a:latin typeface="Arial"/>
                <a:cs typeface="Arial"/>
              </a:rPr>
              <a:t>sub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o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na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4079" y="1517432"/>
            <a:ext cx="8868410" cy="23001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ct val="100699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s pa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ub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nas da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 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os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es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ado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os de u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he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ape</a:t>
            </a: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ensão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pode ser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850" dirty="0">
              <a:solidFill>
                <a:prstClr val="black"/>
              </a:solidFill>
              <a:latin typeface="Arial"/>
              <a:cs typeface="Arial"/>
            </a:endParaRPr>
          </a:p>
          <a:p>
            <a:pPr marL="390525">
              <a:spcBef>
                <a:spcPts val="705"/>
              </a:spcBef>
            </a:pP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Ex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85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72031" y="3847187"/>
            <a:ext cx="899160" cy="4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34600" y="3847187"/>
            <a:ext cx="1556385" cy="4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[3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97361" y="4902397"/>
            <a:ext cx="899160" cy="4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v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oi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91522" y="3847151"/>
            <a:ext cx="4250055" cy="15265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5725"/>
            <a:r>
              <a:rPr sz="28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oa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R="521970" algn="ctr">
              <a:spcBef>
                <a:spcPts val="969"/>
              </a:spcBef>
            </a:pP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ou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500"/>
              </a:spcBef>
            </a:pPr>
            <a:r>
              <a:rPr sz="28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Ma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fl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61435" y="4902397"/>
            <a:ext cx="1774189" cy="4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[3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3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4079" y="5974399"/>
            <a:ext cx="7653020" cy="8838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ct val="100699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avendo</a:t>
            </a:r>
            <a:r>
              <a:rPr sz="2850" b="1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ensõ</a:t>
            </a:r>
            <a:r>
              <a:rPr sz="2850" b="1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regra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deverá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seguida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9152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10840"/>
            <a:ext cx="247650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7785" y="1718643"/>
            <a:ext cx="9246235" cy="5474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76835">
              <a:lnSpc>
                <a:spcPts val="2330"/>
              </a:lnSpc>
              <a:buFontTx/>
              <a:buAutoNum type="arabicParenR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ul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ipli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Fa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ém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inal,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ol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 on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rá 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4.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edi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8"/>
              </a:spcBef>
              <a:buFont typeface="Arial"/>
              <a:buAutoNum type="arabicParenR"/>
            </a:pPr>
            <a:endParaRPr sz="3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1033144">
              <a:lnSpc>
                <a:spcPts val="2330"/>
              </a:lnSpc>
              <a:buFontTx/>
              <a:buAutoNum type="arabicParenR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7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 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40"/>
              </a:spcBef>
              <a:buFont typeface="Arial"/>
              <a:buAutoNum type="arabicParenR"/>
            </a:pPr>
            <a:endParaRPr sz="3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245745">
              <a:lnSpc>
                <a:spcPts val="2330"/>
              </a:lnSpc>
              <a:buFontTx/>
              <a:buAutoNum type="arabicParenR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10,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o 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en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8"/>
              </a:spcBef>
              <a:buFont typeface="Arial"/>
              <a:buAutoNum type="arabicParenR"/>
            </a:pPr>
            <a:endParaRPr sz="3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>
              <a:lnSpc>
                <a:spcPts val="2330"/>
              </a:lnSpc>
              <a:buFontTx/>
              <a:buAutoNum type="arabicParenR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6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qu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3,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li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nh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36732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10840"/>
            <a:ext cx="247650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7768" y="1896328"/>
            <a:ext cx="9241790" cy="4667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620"/>
              </a:lnSpc>
              <a:buFontTx/>
              <a:buAutoNum type="arabicParenR" startAt="5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5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1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 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“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”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cê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po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lin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i="1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ng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 dirty="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38"/>
              </a:spcBef>
              <a:buFont typeface="Arial"/>
              <a:buAutoNum type="arabicParenR" startAt="5"/>
            </a:pPr>
            <a:endParaRPr sz="32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19050">
              <a:lnSpc>
                <a:spcPts val="2620"/>
              </a:lnSpc>
              <a:buFontTx/>
              <a:buAutoNum type="arabicParenR" startAt="5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3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eai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 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3)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ol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é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da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 dirty="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38"/>
              </a:spcBef>
              <a:buFont typeface="Arial"/>
              <a:buAutoNum type="arabicParenR" startAt="5"/>
            </a:pPr>
            <a:endParaRPr sz="32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175895">
              <a:lnSpc>
                <a:spcPts val="2620"/>
              </a:lnSpc>
              <a:buFontTx/>
              <a:buAutoNum type="arabicParenR" startAt="5"/>
              <a:tabLst>
                <a:tab pos="370840" algn="l"/>
              </a:tabLst>
            </a:pP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idi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 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linha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a,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hi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ó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ê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eja, 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am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éd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ca &gt;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6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ipli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43761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685435" y="1292281"/>
            <a:ext cx="9322561" cy="23852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4930" marR="5080">
              <a:lnSpc>
                <a:spcPts val="2330"/>
              </a:lnSpc>
              <a:buAutoNum type="arabicParenR" startAt="8"/>
              <a:tabLst>
                <a:tab pos="434975" algn="l"/>
              </a:tabLst>
            </a:pPr>
            <a:r>
              <a:rPr spc="15" dirty="0"/>
              <a:t>F</a:t>
            </a:r>
            <a:r>
              <a:rPr spc="5" dirty="0"/>
              <a:t>a</a:t>
            </a:r>
            <a:r>
              <a:rPr spc="10" dirty="0"/>
              <a:t>ça </a:t>
            </a:r>
            <a:r>
              <a:rPr spc="15" dirty="0"/>
              <a:t>um</a:t>
            </a:r>
            <a:r>
              <a:rPr dirty="0"/>
              <a:t> </a:t>
            </a:r>
            <a:r>
              <a:rPr spc="15" dirty="0"/>
              <a:t>p</a:t>
            </a:r>
            <a:r>
              <a:rPr spc="10" dirty="0"/>
              <a:t>r</a:t>
            </a:r>
            <a:r>
              <a:rPr spc="5" dirty="0"/>
              <a:t>o</a:t>
            </a:r>
            <a:r>
              <a:rPr spc="15" dirty="0"/>
              <a:t>g</a:t>
            </a:r>
            <a:r>
              <a:rPr dirty="0"/>
              <a:t>r</a:t>
            </a:r>
            <a:r>
              <a:rPr spc="15" dirty="0"/>
              <a:t>a</a:t>
            </a:r>
            <a:r>
              <a:rPr spc="25" dirty="0"/>
              <a:t>m</a:t>
            </a:r>
            <a:r>
              <a:rPr spc="10" dirty="0"/>
              <a:t>a</a:t>
            </a:r>
            <a:r>
              <a:rPr dirty="0"/>
              <a:t> </a:t>
            </a:r>
            <a:r>
              <a:rPr spc="15" dirty="0"/>
              <a:t>p</a:t>
            </a:r>
            <a:r>
              <a:rPr spc="5" dirty="0"/>
              <a:t>a</a:t>
            </a:r>
            <a:r>
              <a:rPr spc="10" dirty="0"/>
              <a:t>ra</a:t>
            </a:r>
            <a:r>
              <a:rPr dirty="0"/>
              <a:t> </a:t>
            </a:r>
            <a:r>
              <a:rPr spc="5" dirty="0"/>
              <a:t>l</a:t>
            </a:r>
            <a:r>
              <a:rPr spc="15" dirty="0"/>
              <a:t>e</a:t>
            </a:r>
            <a:r>
              <a:rPr spc="5" dirty="0"/>
              <a:t>r</a:t>
            </a:r>
            <a:r>
              <a:rPr spc="10" dirty="0"/>
              <a:t> a</a:t>
            </a:r>
            <a:r>
              <a:rPr dirty="0"/>
              <a:t> </a:t>
            </a:r>
            <a:r>
              <a:rPr spc="15" dirty="0"/>
              <a:t>q</a:t>
            </a:r>
            <a:r>
              <a:rPr spc="5" dirty="0"/>
              <a:t>u</a:t>
            </a:r>
            <a:r>
              <a:rPr spc="15" dirty="0"/>
              <a:t>a</a:t>
            </a:r>
            <a:r>
              <a:rPr spc="5" dirty="0"/>
              <a:t>n</a:t>
            </a:r>
            <a:r>
              <a:rPr dirty="0"/>
              <a:t>t</a:t>
            </a:r>
            <a:r>
              <a:rPr spc="5" dirty="0"/>
              <a:t>id</a:t>
            </a:r>
            <a:r>
              <a:rPr spc="15" dirty="0"/>
              <a:t>a</a:t>
            </a:r>
            <a:r>
              <a:rPr spc="5" dirty="0"/>
              <a:t>d</a:t>
            </a:r>
            <a:r>
              <a:rPr spc="10" dirty="0"/>
              <a:t>e </a:t>
            </a:r>
            <a:r>
              <a:rPr spc="5" dirty="0"/>
              <a:t>d</a:t>
            </a:r>
            <a:r>
              <a:rPr spc="10" dirty="0"/>
              <a:t>e </a:t>
            </a:r>
            <a:r>
              <a:rPr spc="5" dirty="0"/>
              <a:t>u</a:t>
            </a:r>
            <a:r>
              <a:rPr spc="15" dirty="0"/>
              <a:t>m t</a:t>
            </a:r>
            <a:r>
              <a:rPr spc="5" dirty="0"/>
              <a:t>otal</a:t>
            </a:r>
            <a:r>
              <a:rPr spc="15" dirty="0"/>
              <a:t> </a:t>
            </a:r>
            <a:r>
              <a:rPr spc="5" dirty="0"/>
              <a:t>d</a:t>
            </a:r>
            <a:r>
              <a:rPr spc="10" dirty="0"/>
              <a:t>e 5</a:t>
            </a:r>
            <a:r>
              <a:rPr spc="5" dirty="0"/>
              <a:t> p</a:t>
            </a:r>
            <a:r>
              <a:rPr spc="10" dirty="0"/>
              <a:t>r</a:t>
            </a:r>
            <a:r>
              <a:rPr spc="5" dirty="0"/>
              <a:t>o</a:t>
            </a:r>
            <a:r>
              <a:rPr spc="15" dirty="0"/>
              <a:t>d</a:t>
            </a:r>
            <a:r>
              <a:rPr spc="5" dirty="0"/>
              <a:t>u</a:t>
            </a:r>
            <a:r>
              <a:rPr dirty="0"/>
              <a:t>t</a:t>
            </a:r>
            <a:r>
              <a:rPr spc="5" dirty="0"/>
              <a:t>o</a:t>
            </a:r>
            <a:r>
              <a:rPr spc="10" dirty="0"/>
              <a:t>s</a:t>
            </a:r>
            <a:r>
              <a:rPr spc="15" dirty="0"/>
              <a:t> q</a:t>
            </a:r>
            <a:r>
              <a:rPr spc="5" dirty="0"/>
              <a:t>u</a:t>
            </a:r>
            <a:r>
              <a:rPr spc="10" dirty="0"/>
              <a:t>e </a:t>
            </a:r>
            <a:r>
              <a:rPr spc="5" dirty="0"/>
              <a:t>u</a:t>
            </a:r>
            <a:r>
              <a:rPr spc="25" dirty="0"/>
              <a:t>m</a:t>
            </a:r>
            <a:r>
              <a:rPr spc="10" dirty="0"/>
              <a:t>a</a:t>
            </a:r>
            <a:r>
              <a:rPr dirty="0"/>
              <a:t> </a:t>
            </a:r>
            <a:r>
              <a:rPr spc="15" dirty="0"/>
              <a:t>e</a:t>
            </a:r>
            <a:r>
              <a:rPr spc="25" dirty="0"/>
              <a:t>m</a:t>
            </a:r>
            <a:r>
              <a:rPr spc="5" dirty="0"/>
              <a:t>p</a:t>
            </a:r>
            <a:r>
              <a:rPr spc="10" dirty="0"/>
              <a:t>r</a:t>
            </a:r>
            <a:r>
              <a:rPr spc="5" dirty="0"/>
              <a:t>e</a:t>
            </a:r>
            <a:r>
              <a:rPr spc="10" dirty="0"/>
              <a:t>sa </a:t>
            </a:r>
            <a:r>
              <a:rPr dirty="0"/>
              <a:t>t</a:t>
            </a:r>
            <a:r>
              <a:rPr spc="15" dirty="0"/>
              <a:t>em </a:t>
            </a:r>
            <a:r>
              <a:rPr spc="5" dirty="0"/>
              <a:t>e</a:t>
            </a:r>
            <a:r>
              <a:rPr spc="15" dirty="0"/>
              <a:t>m</a:t>
            </a:r>
            <a:r>
              <a:rPr dirty="0"/>
              <a:t> </a:t>
            </a:r>
            <a:r>
              <a:rPr spc="20" dirty="0"/>
              <a:t>s</a:t>
            </a:r>
            <a:r>
              <a:rPr spc="5" dirty="0"/>
              <a:t>ua</a:t>
            </a:r>
            <a:r>
              <a:rPr spc="10" dirty="0"/>
              <a:t>s</a:t>
            </a:r>
            <a:r>
              <a:rPr spc="15" dirty="0"/>
              <a:t> </a:t>
            </a:r>
            <a:r>
              <a:rPr spc="10" dirty="0"/>
              <a:t>7 </a:t>
            </a:r>
            <a:r>
              <a:rPr spc="5" dirty="0"/>
              <a:t>loja</a:t>
            </a:r>
            <a:r>
              <a:rPr spc="10" dirty="0"/>
              <a:t>s</a:t>
            </a:r>
            <a:r>
              <a:rPr spc="5" dirty="0"/>
              <a:t> </a:t>
            </a:r>
            <a:r>
              <a:rPr spc="10" dirty="0"/>
              <a:t>e</a:t>
            </a:r>
            <a:r>
              <a:rPr dirty="0"/>
              <a:t> </a:t>
            </a:r>
            <a:r>
              <a:rPr spc="15" dirty="0"/>
              <a:t>i</a:t>
            </a:r>
            <a:r>
              <a:rPr spc="10" dirty="0"/>
              <a:t>m</a:t>
            </a:r>
            <a:r>
              <a:rPr spc="15" dirty="0"/>
              <a:t>p</a:t>
            </a:r>
            <a:r>
              <a:rPr spc="5" dirty="0"/>
              <a:t>ri</a:t>
            </a:r>
            <a:r>
              <a:rPr spc="10" dirty="0"/>
              <a:t>m</a:t>
            </a:r>
            <a:r>
              <a:rPr spc="15" dirty="0"/>
              <a:t>i</a:t>
            </a:r>
            <a:r>
              <a:rPr spc="5" dirty="0"/>
              <a:t>r</a:t>
            </a:r>
            <a:r>
              <a:rPr dirty="0"/>
              <a:t> </a:t>
            </a:r>
            <a:r>
              <a:rPr spc="15" dirty="0"/>
              <a:t>em u</a:t>
            </a:r>
            <a:r>
              <a:rPr spc="10" dirty="0"/>
              <a:t>ma</a:t>
            </a:r>
            <a:r>
              <a:rPr spc="5" dirty="0"/>
              <a:t> </a:t>
            </a:r>
            <a:r>
              <a:rPr dirty="0"/>
              <a:t>t</a:t>
            </a:r>
            <a:r>
              <a:rPr spc="5" dirty="0"/>
              <a:t>a</a:t>
            </a:r>
            <a:r>
              <a:rPr spc="15" dirty="0"/>
              <a:t>b</a:t>
            </a:r>
            <a:r>
              <a:rPr spc="5" dirty="0"/>
              <a:t>ela:</a:t>
            </a:r>
          </a:p>
          <a:p>
            <a:pPr marL="692150" lvl="1" indent="-361315">
              <a:lnSpc>
                <a:spcPct val="100000"/>
              </a:lnSpc>
              <a:spcBef>
                <a:spcPts val="35"/>
              </a:spcBef>
              <a:buAutoNum type="alphaLcParenR"/>
              <a:tabLst>
                <a:tab pos="692150" algn="l"/>
              </a:tabLst>
            </a:pPr>
            <a:r>
              <a:rPr sz="2400" spc="10" dirty="0">
                <a:latin typeface="Arial"/>
                <a:cs typeface="Arial"/>
              </a:rPr>
              <a:t>o</a:t>
            </a:r>
            <a:r>
              <a:rPr sz="2400" dirty="0">
                <a:latin typeface="Arial"/>
                <a:cs typeface="Arial"/>
              </a:rPr>
              <a:t> t</a:t>
            </a:r>
            <a:r>
              <a:rPr sz="2400" spc="15" dirty="0">
                <a:latin typeface="Arial"/>
                <a:cs typeface="Arial"/>
              </a:rPr>
              <a:t>o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5" dirty="0">
                <a:latin typeface="Arial"/>
                <a:cs typeface="Arial"/>
              </a:rPr>
              <a:t>al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5" dirty="0">
                <a:latin typeface="Arial"/>
                <a:cs typeface="Arial"/>
              </a:rPr>
              <a:t>d</a:t>
            </a:r>
            <a:r>
              <a:rPr sz="2400" spc="10" dirty="0">
                <a:latin typeface="Arial"/>
                <a:cs typeface="Arial"/>
              </a:rPr>
              <a:t>e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c</a:t>
            </a:r>
            <a:r>
              <a:rPr sz="2400" spc="5" dirty="0">
                <a:latin typeface="Arial"/>
                <a:cs typeface="Arial"/>
              </a:rPr>
              <a:t>a</a:t>
            </a:r>
            <a:r>
              <a:rPr sz="2400" spc="15" dirty="0">
                <a:latin typeface="Arial"/>
                <a:cs typeface="Arial"/>
              </a:rPr>
              <a:t>d</a:t>
            </a:r>
            <a:r>
              <a:rPr sz="2400" spc="10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15" dirty="0">
                <a:latin typeface="Arial"/>
                <a:cs typeface="Arial"/>
              </a:rPr>
              <a:t>p</a:t>
            </a:r>
            <a:r>
              <a:rPr sz="2400" spc="10" dirty="0">
                <a:latin typeface="Arial"/>
                <a:cs typeface="Arial"/>
              </a:rPr>
              <a:t>r</a:t>
            </a:r>
            <a:r>
              <a:rPr sz="2400" spc="5" dirty="0">
                <a:latin typeface="Arial"/>
                <a:cs typeface="Arial"/>
              </a:rPr>
              <a:t>od</a:t>
            </a:r>
            <a:r>
              <a:rPr sz="2400" spc="15" dirty="0">
                <a:latin typeface="Arial"/>
                <a:cs typeface="Arial"/>
              </a:rPr>
              <a:t>u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10" dirty="0">
                <a:latin typeface="Arial"/>
                <a:cs typeface="Arial"/>
              </a:rPr>
              <a:t>o </a:t>
            </a:r>
            <a:r>
              <a:rPr sz="2400" spc="5" dirty="0">
                <a:latin typeface="Arial"/>
                <a:cs typeface="Arial"/>
              </a:rPr>
              <a:t>ne</a:t>
            </a:r>
            <a:r>
              <a:rPr sz="2400" spc="10" dirty="0">
                <a:latin typeface="Arial"/>
                <a:cs typeface="Arial"/>
              </a:rPr>
              <a:t>s</a:t>
            </a:r>
            <a:r>
              <a:rPr sz="2400" spc="15" dirty="0">
                <a:latin typeface="Arial"/>
                <a:cs typeface="Arial"/>
              </a:rPr>
              <a:t>t</a:t>
            </a:r>
            <a:r>
              <a:rPr sz="2400" spc="5" dirty="0">
                <a:latin typeface="Arial"/>
                <a:cs typeface="Arial"/>
              </a:rPr>
              <a:t>a</a:t>
            </a:r>
            <a:r>
              <a:rPr sz="2400" spc="10" dirty="0">
                <a:latin typeface="Arial"/>
                <a:cs typeface="Arial"/>
              </a:rPr>
              <a:t>s</a:t>
            </a:r>
            <a:r>
              <a:rPr sz="2400" spc="5" dirty="0">
                <a:latin typeface="Arial"/>
                <a:cs typeface="Arial"/>
              </a:rPr>
              <a:t> loja</a:t>
            </a:r>
            <a:r>
              <a:rPr sz="2400" spc="10" dirty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  <a:p>
            <a:pPr marL="692150" lvl="1" indent="-361315">
              <a:lnSpc>
                <a:spcPct val="100000"/>
              </a:lnSpc>
              <a:spcBef>
                <a:spcPts val="20"/>
              </a:spcBef>
              <a:buAutoNum type="alphaLcParenR"/>
              <a:tabLst>
                <a:tab pos="692150" algn="l"/>
              </a:tabLst>
            </a:pPr>
            <a:r>
              <a:rPr sz="2400" spc="10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5" dirty="0">
                <a:latin typeface="Arial"/>
                <a:cs typeface="Arial"/>
              </a:rPr>
              <a:t>loj</a:t>
            </a:r>
            <a:r>
              <a:rPr sz="2400" spc="10" dirty="0">
                <a:latin typeface="Arial"/>
                <a:cs typeface="Arial"/>
              </a:rPr>
              <a:t>a </a:t>
            </a:r>
            <a:r>
              <a:rPr sz="2400" spc="5" dirty="0">
                <a:latin typeface="Arial"/>
                <a:cs typeface="Arial"/>
              </a:rPr>
              <a:t>qu</a:t>
            </a:r>
            <a:r>
              <a:rPr sz="2400" spc="10" dirty="0">
                <a:latin typeface="Arial"/>
                <a:cs typeface="Arial"/>
              </a:rPr>
              <a:t>e 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15" dirty="0">
                <a:latin typeface="Arial"/>
                <a:cs typeface="Arial"/>
              </a:rPr>
              <a:t>em </a:t>
            </a:r>
            <a:r>
              <a:rPr sz="2400" spc="25" dirty="0">
                <a:latin typeface="Arial"/>
                <a:cs typeface="Arial"/>
              </a:rPr>
              <a:t>m</a:t>
            </a:r>
            <a:r>
              <a:rPr sz="2400" spc="5" dirty="0">
                <a:latin typeface="Arial"/>
                <a:cs typeface="Arial"/>
              </a:rPr>
              <a:t>eno</a:t>
            </a:r>
            <a:r>
              <a:rPr sz="2400" spc="10" dirty="0">
                <a:latin typeface="Arial"/>
                <a:cs typeface="Arial"/>
              </a:rPr>
              <a:t>s</a:t>
            </a:r>
            <a:r>
              <a:rPr sz="2400" spc="15" dirty="0">
                <a:latin typeface="Arial"/>
                <a:cs typeface="Arial"/>
              </a:rPr>
              <a:t> p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spc="15" dirty="0">
                <a:latin typeface="Arial"/>
                <a:cs typeface="Arial"/>
              </a:rPr>
              <a:t>o</a:t>
            </a:r>
            <a:r>
              <a:rPr sz="2400" spc="5" dirty="0">
                <a:latin typeface="Arial"/>
                <a:cs typeface="Arial"/>
              </a:rPr>
              <a:t>d</a:t>
            </a:r>
            <a:r>
              <a:rPr sz="2400" spc="15" dirty="0">
                <a:latin typeface="Arial"/>
                <a:cs typeface="Arial"/>
              </a:rPr>
              <a:t>u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5" dirty="0">
                <a:latin typeface="Arial"/>
                <a:cs typeface="Arial"/>
              </a:rPr>
              <a:t>o</a:t>
            </a:r>
            <a:r>
              <a:rPr sz="2400" spc="10" dirty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  <a:p>
            <a:pPr marL="62230" lvl="1">
              <a:lnSpc>
                <a:spcPct val="100000"/>
              </a:lnSpc>
              <a:spcBef>
                <a:spcPts val="7"/>
              </a:spcBef>
              <a:buFont typeface="Arial"/>
              <a:buAutoNum type="alphaLcParenR"/>
            </a:pPr>
            <a:endParaRPr sz="2550">
              <a:latin typeface="Times New Roman"/>
              <a:cs typeface="Times New Roman"/>
            </a:endParaRPr>
          </a:p>
          <a:p>
            <a:pPr marL="434340" indent="-359410">
              <a:lnSpc>
                <a:spcPct val="100000"/>
              </a:lnSpc>
              <a:buAutoNum type="arabicParenR" startAt="8"/>
              <a:tabLst>
                <a:tab pos="434975" algn="l"/>
              </a:tabLst>
            </a:pPr>
            <a:r>
              <a:rPr dirty="0"/>
              <a:t>I</a:t>
            </a:r>
            <a:r>
              <a:rPr spc="15" dirty="0"/>
              <a:t>d</a:t>
            </a:r>
            <a:r>
              <a:rPr spc="5" dirty="0"/>
              <a:t>e</a:t>
            </a:r>
            <a:r>
              <a:rPr spc="15" dirty="0"/>
              <a:t>m </a:t>
            </a:r>
            <a:r>
              <a:rPr spc="5" dirty="0"/>
              <a:t>a</a:t>
            </a:r>
            <a:r>
              <a:rPr spc="10" dirty="0"/>
              <a:t>o </a:t>
            </a:r>
            <a:r>
              <a:rPr spc="15" dirty="0"/>
              <a:t>e</a:t>
            </a:r>
            <a:r>
              <a:rPr spc="-5" dirty="0"/>
              <a:t>x</a:t>
            </a:r>
            <a:r>
              <a:rPr spc="15" dirty="0"/>
              <a:t>e</a:t>
            </a:r>
            <a:r>
              <a:rPr dirty="0"/>
              <a:t>r</a:t>
            </a:r>
            <a:r>
              <a:rPr spc="10" dirty="0"/>
              <a:t>c</a:t>
            </a:r>
            <a:r>
              <a:rPr dirty="0"/>
              <a:t>í</a:t>
            </a:r>
            <a:r>
              <a:rPr spc="10" dirty="0"/>
              <a:t>c</a:t>
            </a:r>
            <a:r>
              <a:rPr spc="5" dirty="0"/>
              <a:t>i</a:t>
            </a:r>
            <a:r>
              <a:rPr spc="10" dirty="0"/>
              <a:t>o </a:t>
            </a:r>
            <a:r>
              <a:rPr spc="5" dirty="0"/>
              <a:t>1,</a:t>
            </a:r>
            <a:r>
              <a:rPr dirty="0"/>
              <a:t> </a:t>
            </a:r>
            <a:r>
              <a:rPr spc="15" dirty="0"/>
              <a:t>a</a:t>
            </a:r>
            <a:r>
              <a:rPr spc="5" dirty="0"/>
              <a:t>g</a:t>
            </a:r>
            <a:r>
              <a:rPr spc="15" dirty="0"/>
              <a:t>o</a:t>
            </a:r>
            <a:r>
              <a:rPr dirty="0"/>
              <a:t>r</a:t>
            </a:r>
            <a:r>
              <a:rPr spc="10" dirty="0"/>
              <a:t>a c</a:t>
            </a:r>
            <a:r>
              <a:rPr spc="15" dirty="0"/>
              <a:t>om</a:t>
            </a:r>
            <a:r>
              <a:rPr dirty="0"/>
              <a:t> </a:t>
            </a:r>
            <a:r>
              <a:rPr spc="10" dirty="0"/>
              <a:t>o s</a:t>
            </a:r>
            <a:r>
              <a:rPr spc="15" dirty="0"/>
              <a:t>e</a:t>
            </a:r>
            <a:r>
              <a:rPr spc="5" dirty="0"/>
              <a:t>gui</a:t>
            </a:r>
            <a:r>
              <a:rPr spc="15" dirty="0"/>
              <a:t>n</a:t>
            </a:r>
            <a:r>
              <a:rPr dirty="0"/>
              <a:t>t</a:t>
            </a:r>
            <a:r>
              <a:rPr spc="10" dirty="0"/>
              <a:t>e </a:t>
            </a:r>
            <a:r>
              <a:rPr dirty="0"/>
              <a:t>“</a:t>
            </a:r>
            <a:r>
              <a:rPr spc="25" dirty="0"/>
              <a:t>M</a:t>
            </a:r>
            <a:r>
              <a:rPr spc="5" dirty="0"/>
              <a:t>e</a:t>
            </a:r>
            <a:r>
              <a:rPr spc="15" dirty="0"/>
              <a:t>n</a:t>
            </a:r>
            <a:r>
              <a:rPr spc="5" dirty="0"/>
              <a:t>u</a:t>
            </a:r>
            <a:r>
              <a:rPr spc="15" dirty="0"/>
              <a:t>”</a:t>
            </a:r>
            <a:r>
              <a:rPr spc="5" dirty="0"/>
              <a:t>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33855" y="3695641"/>
            <a:ext cx="7062470" cy="2695215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219710">
              <a:spcBef>
                <a:spcPts val="330"/>
              </a:spcBef>
            </a:pP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Esc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ol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ma 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op</a:t>
            </a:r>
            <a:r>
              <a:rPr sz="2400" i="1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i="1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ál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ul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i="1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i="1" spc="2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34620">
              <a:spcBef>
                <a:spcPts val="20"/>
              </a:spcBef>
              <a:buFontTx/>
              <a:buAutoNum type="arabicParenR"/>
              <a:tabLst>
                <a:tab pos="494665" algn="l"/>
              </a:tabLst>
            </a:pP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So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494030" indent="-359410">
              <a:spcBef>
                <a:spcPts val="20"/>
              </a:spcBef>
              <a:buFontTx/>
              <a:buAutoNum type="arabicParenR"/>
              <a:tabLst>
                <a:tab pos="494665" algn="l"/>
              </a:tabLst>
            </a:pP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ça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495934" indent="-361315">
              <a:spcBef>
                <a:spcPts val="20"/>
              </a:spcBef>
              <a:buFontTx/>
              <a:buAutoNum type="arabicParenR"/>
              <a:tabLst>
                <a:tab pos="496570" algn="l"/>
              </a:tabLst>
            </a:pP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spo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494030" indent="-359410">
              <a:spcBef>
                <a:spcPts val="35"/>
              </a:spcBef>
              <a:buFontTx/>
              <a:buAutoNum type="arabicParenR"/>
              <a:tabLst>
                <a:tab pos="494665" algn="l"/>
              </a:tabLst>
            </a:pP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od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34620" marR="5499735">
              <a:lnSpc>
                <a:spcPct val="100800"/>
              </a:lnSpc>
              <a:buFontTx/>
              <a:buAutoNum type="arabicParenR"/>
              <a:tabLst>
                <a:tab pos="494665" algn="l"/>
                <a:tab pos="1532890" algn="l"/>
              </a:tabLst>
            </a:pP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air 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i="1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r>
              <a:rPr sz="2400" u="heavy" spc="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u="heavy" dirty="0">
                <a:solidFill>
                  <a:prstClr val="black"/>
                </a:solidFill>
                <a:latin typeface="Times New Roman"/>
                <a:cs typeface="Times New Roman"/>
              </a:rPr>
              <a:t>	</a:t>
            </a:r>
            <a:r>
              <a:rPr sz="2400" u="heavy" spc="-52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7792" y="6422989"/>
            <a:ext cx="9225915" cy="1116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800"/>
              </a:lnSpc>
            </a:pP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Na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op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(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3)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só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2)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e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ve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20"/>
              </a:spcBef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o,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ve 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1203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10031" y="1528338"/>
            <a:ext cx="8046084" cy="589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8460">
              <a:lnSpc>
                <a:spcPts val="2270"/>
              </a:lnSpc>
            </a:pP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pl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eme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e a</a:t>
            </a:r>
            <a:r>
              <a:rPr sz="2050" spc="15" dirty="0">
                <a:solidFill>
                  <a:prstClr val="black"/>
                </a:solidFill>
                <a:latin typeface="Arial"/>
                <a:cs typeface="Arial"/>
              </a:rPr>
              <a:t>s s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bro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na</a:t>
            </a:r>
            <a:r>
              <a:rPr sz="2050" spc="1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o p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a q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e 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050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ame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35017" y="3915709"/>
            <a:ext cx="1663700" cy="253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ze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: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83995" y="2406693"/>
            <a:ext cx="6451600" cy="20398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de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dio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h&gt;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 marR="4666615">
              <a:tabLst>
                <a:tab pos="643255" algn="l"/>
              </a:tabLst>
            </a:pP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#de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AX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10 int	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()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0"/>
              </a:spcBef>
            </a:pP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91795"/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at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a[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AX]</a:t>
            </a:r>
            <a:r>
              <a:rPr sz="1650" b="1" spc="-15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X],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1650" b="1" spc="-15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MAX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AX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91795"/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m,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91795" marR="5080" indent="-635">
              <a:lnSpc>
                <a:spcPts val="1989"/>
              </a:lnSpc>
              <a:spcBef>
                <a:spcPts val="55"/>
              </a:spcBef>
            </a:pP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("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nDi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g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u="heavy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de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nh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de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lu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as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das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nf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“%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,%d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”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650" b="1" spc="-15" dirty="0">
                <a:solidFill>
                  <a:prstClr val="black"/>
                </a:solidFill>
                <a:latin typeface="Courier New"/>
                <a:cs typeface="Courier New"/>
              </a:rPr>
              <a:t>&amp;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m,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&amp;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n);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63369" y="4419192"/>
            <a:ext cx="2166620" cy="10335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/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("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nFo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ça 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l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at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iz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(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a,m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,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n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)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 marR="5080" indent="-635">
              <a:spcBef>
                <a:spcPts val="10"/>
              </a:spcBef>
            </a:pP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("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nFo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ça 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l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at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iz</a:t>
            </a:r>
            <a:r>
              <a:rPr sz="1650" b="1" spc="-15" dirty="0">
                <a:solidFill>
                  <a:srgbClr val="7D9CE8"/>
                </a:solidFill>
                <a:latin typeface="Courier New"/>
                <a:cs typeface="Courier New"/>
              </a:rPr>
              <a:t>(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b,m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,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n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)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29290" y="4419730"/>
            <a:ext cx="3805554" cy="10335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os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ele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tos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da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ma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:\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“);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39065"/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//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le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t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u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ra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da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mat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iz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0"/>
              </a:spcBef>
            </a:pP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os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ele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tos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da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ma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:\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“);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/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//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lei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u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d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atr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b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34691" y="5426211"/>
            <a:ext cx="1160145" cy="253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é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spc="10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ad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.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63369" y="5426247"/>
            <a:ext cx="6071870" cy="15373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/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c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o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ia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er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(a,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b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,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,n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)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;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/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/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tr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“r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c</a:t>
            </a:r>
            <a:r>
              <a:rPr sz="1650" b="1" spc="-15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be”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b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b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("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nMa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:\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“);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 marR="3027680">
              <a:lnSpc>
                <a:spcPct val="100200"/>
              </a:lnSpc>
              <a:spcBef>
                <a:spcPts val="5"/>
              </a:spcBef>
            </a:pPr>
            <a:r>
              <a:rPr sz="1650" b="1" spc="-15" dirty="0">
                <a:solidFill>
                  <a:srgbClr val="7D9CE8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ri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tri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(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,m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,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n);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("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nMa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:\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“); </a:t>
            </a:r>
            <a:r>
              <a:rPr sz="1650" b="1" spc="-15" dirty="0">
                <a:solidFill>
                  <a:srgbClr val="7D9CE8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ri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tri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(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b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,m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,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n);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urn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0;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84066" y="6936750"/>
            <a:ext cx="151765" cy="253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642541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266" y="1935722"/>
            <a:ext cx="9124292" cy="33958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Até </a:t>
            </a:r>
            <a:r>
              <a:rPr sz="3400" spc="-6" dirty="0">
                <a:latin typeface="Arial"/>
                <a:cs typeface="Arial"/>
              </a:rPr>
              <a:t>agora vimos as </a:t>
            </a:r>
            <a:r>
              <a:rPr sz="3400" dirty="0">
                <a:latin typeface="Arial"/>
                <a:cs typeface="Arial"/>
              </a:rPr>
              <a:t>estruturas </a:t>
            </a:r>
            <a:r>
              <a:rPr sz="3400" spc="-6" dirty="0">
                <a:latin typeface="Arial"/>
                <a:cs typeface="Arial"/>
              </a:rPr>
              <a:t>de dados  homogêneas: </a:t>
            </a:r>
            <a:r>
              <a:rPr sz="3400" b="1" spc="-17" dirty="0">
                <a:latin typeface="Arial"/>
                <a:cs typeface="Arial"/>
              </a:rPr>
              <a:t>vetores</a:t>
            </a:r>
            <a:r>
              <a:rPr sz="3400" spc="-17" dirty="0">
                <a:latin typeface="Arial"/>
                <a:cs typeface="Arial"/>
              </a:rPr>
              <a:t>, </a:t>
            </a:r>
            <a:r>
              <a:rPr sz="3400" b="1" spc="-6" dirty="0">
                <a:latin typeface="Arial"/>
                <a:cs typeface="Arial"/>
              </a:rPr>
              <a:t>matrizes </a:t>
            </a:r>
            <a:r>
              <a:rPr sz="3400" spc="-6" dirty="0">
                <a:latin typeface="Arial"/>
                <a:cs typeface="Arial"/>
              </a:rPr>
              <a:t>e</a:t>
            </a:r>
            <a:r>
              <a:rPr sz="3400" spc="103" dirty="0">
                <a:latin typeface="Arial"/>
                <a:cs typeface="Arial"/>
              </a:rPr>
              <a:t> </a:t>
            </a:r>
            <a:r>
              <a:rPr sz="3400" b="1" i="1" spc="-6" dirty="0">
                <a:latin typeface="Arial"/>
                <a:cs typeface="Arial"/>
              </a:rPr>
              <a:t>strings</a:t>
            </a:r>
            <a:r>
              <a:rPr sz="3400" spc="-6" dirty="0">
                <a:latin typeface="Arial"/>
                <a:cs typeface="Arial"/>
              </a:rPr>
              <a:t>.</a:t>
            </a:r>
            <a:endParaRPr sz="34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852B34"/>
              </a:buClr>
              <a:buFont typeface="Arial"/>
              <a:buChar char="•"/>
            </a:pPr>
            <a:endParaRPr sz="3400">
              <a:latin typeface="Times New Roman"/>
              <a:cs typeface="Times New Roman"/>
            </a:endParaRPr>
          </a:p>
          <a:p>
            <a:pPr marL="535874" marR="193349" indent="-521391">
              <a:spcBef>
                <a:spcPts val="1996"/>
              </a:spcBef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Nestas estruturas </a:t>
            </a:r>
            <a:r>
              <a:rPr sz="3400" spc="-6" dirty="0">
                <a:latin typeface="Arial"/>
                <a:cs typeface="Arial"/>
              </a:rPr>
              <a:t>todos os elementos da  </a:t>
            </a:r>
            <a:r>
              <a:rPr sz="3400" dirty="0">
                <a:latin typeface="Arial"/>
                <a:cs typeface="Arial"/>
              </a:rPr>
              <a:t>estrutura são de </a:t>
            </a:r>
            <a:r>
              <a:rPr sz="3400" spc="-6" dirty="0">
                <a:latin typeface="Arial"/>
                <a:cs typeface="Arial"/>
              </a:rPr>
              <a:t>tipos </a:t>
            </a:r>
            <a:r>
              <a:rPr sz="3400" dirty="0">
                <a:latin typeface="Arial"/>
                <a:cs typeface="Arial"/>
              </a:rPr>
              <a:t>de </a:t>
            </a:r>
            <a:r>
              <a:rPr sz="3400" spc="-6" dirty="0">
                <a:latin typeface="Arial"/>
                <a:cs typeface="Arial"/>
              </a:rPr>
              <a:t>dados</a:t>
            </a:r>
            <a:r>
              <a:rPr sz="3400" spc="-46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primitivos:  </a:t>
            </a:r>
            <a:r>
              <a:rPr sz="3400" b="1" dirty="0">
                <a:latin typeface="Arial"/>
                <a:cs typeface="Arial"/>
              </a:rPr>
              <a:t>inteiro, </a:t>
            </a:r>
            <a:r>
              <a:rPr sz="3400" b="1" spc="-6" dirty="0">
                <a:latin typeface="Arial"/>
                <a:cs typeface="Arial"/>
              </a:rPr>
              <a:t>real,</a:t>
            </a:r>
            <a:r>
              <a:rPr sz="3400" b="1" spc="-34" dirty="0">
                <a:latin typeface="Arial"/>
                <a:cs typeface="Arial"/>
              </a:rPr>
              <a:t> </a:t>
            </a:r>
            <a:r>
              <a:rPr sz="3400" b="1" spc="-11" dirty="0">
                <a:latin typeface="Arial"/>
                <a:cs typeface="Arial"/>
              </a:rPr>
              <a:t>caractere</a:t>
            </a:r>
            <a:r>
              <a:rPr sz="3400" spc="-11" dirty="0">
                <a:latin typeface="Arial"/>
                <a:cs typeface="Arial"/>
              </a:rPr>
              <a:t>.</a:t>
            </a:r>
            <a:endParaRPr sz="3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</a:t>
            </a:r>
            <a:r>
              <a:rPr spc="-68" dirty="0"/>
              <a:t> </a:t>
            </a:r>
            <a:r>
              <a:rPr spc="-6" dirty="0"/>
              <a:t>heterogêneas</a:t>
            </a:r>
          </a:p>
        </p:txBody>
      </p:sp>
    </p:spTree>
    <p:extLst>
      <p:ext uri="{BB962C8B-B14F-4D97-AF65-F5344CB8AC3E}">
        <p14:creationId xmlns:p14="http://schemas.microsoft.com/office/powerpoint/2010/main" val="117805523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266" y="1386058"/>
            <a:ext cx="9426529" cy="53117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No </a:t>
            </a:r>
            <a:r>
              <a:rPr sz="3400" spc="-6" dirty="0">
                <a:latin typeface="Arial"/>
                <a:cs typeface="Arial"/>
              </a:rPr>
              <a:t>entanto, </a:t>
            </a:r>
            <a:r>
              <a:rPr sz="3400" dirty="0">
                <a:latin typeface="Arial"/>
                <a:cs typeface="Arial"/>
              </a:rPr>
              <a:t>em </a:t>
            </a:r>
            <a:r>
              <a:rPr sz="3400" spc="-6" dirty="0">
                <a:latin typeface="Arial"/>
                <a:cs typeface="Arial"/>
              </a:rPr>
              <a:t>muitos </a:t>
            </a:r>
            <a:r>
              <a:rPr sz="3400" dirty="0">
                <a:latin typeface="Arial"/>
                <a:cs typeface="Arial"/>
              </a:rPr>
              <a:t>casos, </a:t>
            </a:r>
            <a:r>
              <a:rPr sz="3400" spc="-6" dirty="0">
                <a:latin typeface="Arial"/>
                <a:cs typeface="Arial"/>
              </a:rPr>
              <a:t>necessitamos  armazenar conjuntos de informações  relacionadas, formados por diversos tipos de  </a:t>
            </a:r>
            <a:r>
              <a:rPr sz="3400" spc="-11" dirty="0">
                <a:latin typeface="Arial"/>
                <a:cs typeface="Arial"/>
              </a:rPr>
              <a:t>dados</a:t>
            </a:r>
            <a:r>
              <a:rPr sz="3400" spc="-34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primitivos.</a:t>
            </a:r>
            <a:endParaRPr sz="34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852B34"/>
              </a:buClr>
              <a:buFont typeface="Arial"/>
              <a:buChar char="•"/>
            </a:pPr>
            <a:endParaRPr sz="3400">
              <a:latin typeface="Times New Roman"/>
              <a:cs typeface="Times New Roman"/>
            </a:endParaRPr>
          </a:p>
          <a:p>
            <a:pPr marL="535874" indent="-521391">
              <a:spcBef>
                <a:spcPts val="1996"/>
              </a:spcBef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Exemplos:</a:t>
            </a:r>
            <a:endParaRPr sz="3400">
              <a:latin typeface="Arial"/>
              <a:cs typeface="Arial"/>
            </a:endParaRPr>
          </a:p>
          <a:p>
            <a:pPr marL="924021" lvl="1" indent="-521391">
              <a:spcBef>
                <a:spcPts val="912"/>
              </a:spcBef>
              <a:buClr>
                <a:srgbClr val="808080"/>
              </a:buClr>
              <a:buSzPct val="70000"/>
              <a:buChar char="•"/>
              <a:tabLst>
                <a:tab pos="924021" algn="l"/>
                <a:tab pos="924745" algn="l"/>
              </a:tabLst>
            </a:pPr>
            <a:r>
              <a:rPr sz="3400" spc="-11" dirty="0">
                <a:latin typeface="Arial"/>
                <a:cs typeface="Arial"/>
              </a:rPr>
              <a:t>Endereço;</a:t>
            </a:r>
            <a:endParaRPr sz="3400">
              <a:latin typeface="Arial"/>
              <a:cs typeface="Arial"/>
            </a:endParaRPr>
          </a:p>
          <a:p>
            <a:pPr marL="924021" lvl="1" indent="-521391">
              <a:spcBef>
                <a:spcPts val="912"/>
              </a:spcBef>
              <a:buClr>
                <a:srgbClr val="808080"/>
              </a:buClr>
              <a:buSzPct val="70000"/>
              <a:buChar char="•"/>
              <a:tabLst>
                <a:tab pos="924021" algn="l"/>
                <a:tab pos="924745" algn="l"/>
              </a:tabLst>
            </a:pPr>
            <a:r>
              <a:rPr sz="3400" spc="-6" dirty="0">
                <a:latin typeface="Arial"/>
                <a:cs typeface="Arial"/>
              </a:rPr>
              <a:t>Fichas </a:t>
            </a:r>
            <a:r>
              <a:rPr sz="3400" dirty="0">
                <a:latin typeface="Arial"/>
                <a:cs typeface="Arial"/>
              </a:rPr>
              <a:t>com </a:t>
            </a:r>
            <a:r>
              <a:rPr sz="3400" spc="-11" dirty="0">
                <a:latin typeface="Arial"/>
                <a:cs typeface="Arial"/>
              </a:rPr>
              <a:t>dados </a:t>
            </a:r>
            <a:r>
              <a:rPr sz="3400" spc="-6" dirty="0">
                <a:latin typeface="Arial"/>
                <a:cs typeface="Arial"/>
              </a:rPr>
              <a:t>pessoais de um</a:t>
            </a:r>
            <a:r>
              <a:rPr sz="3400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cliente;</a:t>
            </a:r>
            <a:endParaRPr sz="3400">
              <a:latin typeface="Arial"/>
              <a:cs typeface="Arial"/>
            </a:endParaRPr>
          </a:p>
          <a:p>
            <a:pPr marL="924021" lvl="1" indent="-521391">
              <a:spcBef>
                <a:spcPts val="912"/>
              </a:spcBef>
              <a:buClr>
                <a:srgbClr val="808080"/>
              </a:buClr>
              <a:buSzPct val="70000"/>
              <a:buChar char="•"/>
              <a:tabLst>
                <a:tab pos="924021" algn="l"/>
                <a:tab pos="924745" algn="l"/>
              </a:tabLst>
            </a:pPr>
            <a:r>
              <a:rPr sz="3400" spc="-6" dirty="0">
                <a:latin typeface="Arial"/>
                <a:cs typeface="Arial"/>
              </a:rPr>
              <a:t>Fichas </a:t>
            </a:r>
            <a:r>
              <a:rPr sz="3400" dirty="0">
                <a:latin typeface="Arial"/>
                <a:cs typeface="Arial"/>
              </a:rPr>
              <a:t>com </a:t>
            </a:r>
            <a:r>
              <a:rPr sz="3400" spc="-11" dirty="0">
                <a:latin typeface="Arial"/>
                <a:cs typeface="Arial"/>
              </a:rPr>
              <a:t>dados </a:t>
            </a:r>
            <a:r>
              <a:rPr sz="3400" spc="-6" dirty="0">
                <a:latin typeface="Arial"/>
                <a:cs typeface="Arial"/>
              </a:rPr>
              <a:t>de </a:t>
            </a:r>
            <a:r>
              <a:rPr sz="3400" dirty="0">
                <a:latin typeface="Arial"/>
                <a:cs typeface="Arial"/>
              </a:rPr>
              <a:t>um</a:t>
            </a:r>
            <a:r>
              <a:rPr sz="3400" spc="-40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produto.</a:t>
            </a:r>
            <a:endParaRPr sz="3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</a:t>
            </a:r>
            <a:r>
              <a:rPr spc="-68" dirty="0"/>
              <a:t> </a:t>
            </a:r>
            <a:r>
              <a:rPr spc="-6" dirty="0"/>
              <a:t>heterogêneas</a:t>
            </a:r>
          </a:p>
        </p:txBody>
      </p:sp>
    </p:spTree>
    <p:extLst>
      <p:ext uri="{BB962C8B-B14F-4D97-AF65-F5344CB8AC3E}">
        <p14:creationId xmlns:p14="http://schemas.microsoft.com/office/powerpoint/2010/main" val="13265951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266" y="1359890"/>
            <a:ext cx="9306971" cy="52486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784259" indent="-521391">
              <a:lnSpc>
                <a:spcPct val="90000"/>
              </a:lnSpc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Quando </a:t>
            </a:r>
            <a:r>
              <a:rPr sz="3400" dirty="0">
                <a:latin typeface="Arial"/>
                <a:cs typeface="Arial"/>
              </a:rPr>
              <a:t>uma </a:t>
            </a:r>
            <a:r>
              <a:rPr sz="3400" spc="-6" dirty="0">
                <a:latin typeface="Arial"/>
                <a:cs typeface="Arial"/>
              </a:rPr>
              <a:t>determinada estrutura </a:t>
            </a:r>
            <a:r>
              <a:rPr sz="3400" dirty="0">
                <a:latin typeface="Arial"/>
                <a:cs typeface="Arial"/>
              </a:rPr>
              <a:t>de  </a:t>
            </a:r>
            <a:r>
              <a:rPr sz="3400" spc="-11" dirty="0">
                <a:latin typeface="Arial"/>
                <a:cs typeface="Arial"/>
              </a:rPr>
              <a:t>dados </a:t>
            </a:r>
            <a:r>
              <a:rPr sz="3400" dirty="0">
                <a:latin typeface="Arial"/>
                <a:cs typeface="Arial"/>
              </a:rPr>
              <a:t>for </a:t>
            </a:r>
            <a:r>
              <a:rPr sz="3400" spc="-6" dirty="0">
                <a:latin typeface="Arial"/>
                <a:cs typeface="Arial"/>
              </a:rPr>
              <a:t>composta </a:t>
            </a:r>
            <a:r>
              <a:rPr sz="3400" spc="-11" dirty="0">
                <a:latin typeface="Arial"/>
                <a:cs typeface="Arial"/>
              </a:rPr>
              <a:t>por </a:t>
            </a:r>
            <a:r>
              <a:rPr sz="3400" b="1" spc="-11" dirty="0">
                <a:latin typeface="Arial"/>
                <a:cs typeface="Arial"/>
              </a:rPr>
              <a:t>diversos </a:t>
            </a:r>
            <a:r>
              <a:rPr sz="3400" b="1" dirty="0">
                <a:latin typeface="Arial"/>
                <a:cs typeface="Arial"/>
              </a:rPr>
              <a:t>tipos  </a:t>
            </a:r>
            <a:r>
              <a:rPr sz="3400" b="1" spc="-6" dirty="0">
                <a:latin typeface="Arial"/>
                <a:cs typeface="Arial"/>
              </a:rPr>
              <a:t>diferentes, </a:t>
            </a:r>
            <a:r>
              <a:rPr sz="3400" spc="-6" dirty="0">
                <a:latin typeface="Arial"/>
                <a:cs typeface="Arial"/>
              </a:rPr>
              <a:t>primitivos </a:t>
            </a:r>
            <a:r>
              <a:rPr sz="3400" dirty="0">
                <a:latin typeface="Arial"/>
                <a:cs typeface="Arial"/>
              </a:rPr>
              <a:t>ou </a:t>
            </a:r>
            <a:r>
              <a:rPr sz="3400" spc="-11" dirty="0">
                <a:latin typeface="Arial"/>
                <a:cs typeface="Arial"/>
              </a:rPr>
              <a:t>não, </a:t>
            </a:r>
            <a:r>
              <a:rPr sz="3400" spc="-6" dirty="0">
                <a:latin typeface="Arial"/>
                <a:cs typeface="Arial"/>
              </a:rPr>
              <a:t>temos </a:t>
            </a:r>
            <a:r>
              <a:rPr sz="3400" dirty="0">
                <a:latin typeface="Arial"/>
                <a:cs typeface="Arial"/>
              </a:rPr>
              <a:t>um  </a:t>
            </a:r>
            <a:r>
              <a:rPr sz="3400" spc="-6" dirty="0">
                <a:latin typeface="Arial"/>
                <a:cs typeface="Arial"/>
              </a:rPr>
              <a:t>conjunto heterogêneo de</a:t>
            </a:r>
            <a:r>
              <a:rPr sz="3400" spc="-17" dirty="0">
                <a:latin typeface="Arial"/>
                <a:cs typeface="Arial"/>
              </a:rPr>
              <a:t> </a:t>
            </a:r>
            <a:r>
              <a:rPr sz="3400" spc="-11" dirty="0">
                <a:latin typeface="Arial"/>
                <a:cs typeface="Arial"/>
              </a:rPr>
              <a:t>dados.</a:t>
            </a:r>
            <a:endParaRPr sz="34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852B34"/>
              </a:buClr>
              <a:buFont typeface="Arial"/>
              <a:buChar char="•"/>
            </a:pPr>
            <a:endParaRPr sz="4800">
              <a:latin typeface="Times New Roman"/>
              <a:cs typeface="Times New Roman"/>
            </a:endParaRPr>
          </a:p>
          <a:p>
            <a:pPr marL="535874" marR="5793" indent="-521391">
              <a:lnSpc>
                <a:spcPts val="3695"/>
              </a:lnSpc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Essas </a:t>
            </a:r>
            <a:r>
              <a:rPr sz="3400" spc="-6" dirty="0">
                <a:latin typeface="Arial"/>
                <a:cs typeface="Arial"/>
              </a:rPr>
              <a:t>variáveis são chamadas de</a:t>
            </a:r>
            <a:r>
              <a:rPr sz="3400" spc="-40" dirty="0">
                <a:latin typeface="Arial"/>
                <a:cs typeface="Arial"/>
              </a:rPr>
              <a:t> </a:t>
            </a:r>
            <a:r>
              <a:rPr sz="3400" b="1" u="heavy" spc="-17" dirty="0">
                <a:latin typeface="Arial"/>
                <a:cs typeface="Arial"/>
              </a:rPr>
              <a:t>variáveis  </a:t>
            </a:r>
            <a:r>
              <a:rPr sz="3400" b="1" u="heavy" dirty="0">
                <a:latin typeface="Arial"/>
                <a:cs typeface="Arial"/>
              </a:rPr>
              <a:t>compostas</a:t>
            </a:r>
            <a:r>
              <a:rPr sz="3400" b="1" u="heavy" spc="-86" dirty="0">
                <a:latin typeface="Arial"/>
                <a:cs typeface="Arial"/>
              </a:rPr>
              <a:t> </a:t>
            </a:r>
            <a:r>
              <a:rPr sz="3400" b="1" u="heavy" spc="-6" dirty="0">
                <a:latin typeface="Arial"/>
                <a:cs typeface="Arial"/>
              </a:rPr>
              <a:t>heterogêneas</a:t>
            </a:r>
            <a:r>
              <a:rPr sz="3400" spc="-6" dirty="0">
                <a:latin typeface="Arial"/>
                <a:cs typeface="Arial"/>
              </a:rPr>
              <a:t>.</a:t>
            </a:r>
            <a:endParaRPr sz="3400">
              <a:latin typeface="Arial"/>
              <a:cs typeface="Arial"/>
            </a:endParaRPr>
          </a:p>
          <a:p>
            <a:pPr>
              <a:spcBef>
                <a:spcPts val="6"/>
              </a:spcBef>
              <a:buClr>
                <a:srgbClr val="852B34"/>
              </a:buClr>
              <a:buFont typeface="Arial"/>
              <a:buChar char="•"/>
            </a:pPr>
            <a:endParaRPr sz="4400">
              <a:latin typeface="Times New Roman"/>
              <a:cs typeface="Times New Roman"/>
            </a:endParaRPr>
          </a:p>
          <a:p>
            <a:pPr marL="535874" indent="-521391">
              <a:lnSpc>
                <a:spcPts val="3900"/>
              </a:lnSpc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Estas </a:t>
            </a:r>
            <a:r>
              <a:rPr sz="3400" spc="-6" dirty="0">
                <a:latin typeface="Arial"/>
                <a:cs typeface="Arial"/>
              </a:rPr>
              <a:t>variáveis compostas são</a:t>
            </a:r>
            <a:r>
              <a:rPr sz="3400" spc="23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chamadas</a:t>
            </a:r>
            <a:endParaRPr sz="3400">
              <a:latin typeface="Arial"/>
              <a:cs typeface="Arial"/>
            </a:endParaRPr>
          </a:p>
          <a:p>
            <a:pPr marL="535150">
              <a:lnSpc>
                <a:spcPts val="3900"/>
              </a:lnSpc>
            </a:pPr>
            <a:r>
              <a:rPr sz="3400" spc="-6" dirty="0">
                <a:latin typeface="Arial"/>
                <a:cs typeface="Arial"/>
              </a:rPr>
              <a:t>de </a:t>
            </a:r>
            <a:r>
              <a:rPr sz="3400" b="1" spc="-6" dirty="0">
                <a:solidFill>
                  <a:srgbClr val="FF0000"/>
                </a:solidFill>
                <a:latin typeface="Arial"/>
                <a:cs typeface="Arial"/>
              </a:rPr>
              <a:t>estruturas </a:t>
            </a:r>
            <a:r>
              <a:rPr sz="3400" spc="-6" dirty="0">
                <a:latin typeface="Arial"/>
                <a:cs typeface="Arial"/>
              </a:rPr>
              <a:t>(ou </a:t>
            </a:r>
            <a:r>
              <a:rPr sz="3400" b="1" i="1" spc="-6" dirty="0">
                <a:solidFill>
                  <a:srgbClr val="FF0000"/>
                </a:solidFill>
                <a:latin typeface="Arial"/>
                <a:cs typeface="Arial"/>
              </a:rPr>
              <a:t>structs </a:t>
            </a:r>
            <a:r>
              <a:rPr sz="3400" dirty="0">
                <a:latin typeface="Arial"/>
                <a:cs typeface="Arial"/>
              </a:rPr>
              <a:t>na </a:t>
            </a:r>
            <a:r>
              <a:rPr sz="3400" spc="-6" dirty="0">
                <a:latin typeface="Arial"/>
                <a:cs typeface="Arial"/>
              </a:rPr>
              <a:t>linguagem</a:t>
            </a:r>
            <a:r>
              <a:rPr sz="3400" spc="-11" dirty="0">
                <a:latin typeface="Arial"/>
                <a:cs typeface="Arial"/>
              </a:rPr>
              <a:t> </a:t>
            </a:r>
            <a:r>
              <a:rPr sz="3400" dirty="0">
                <a:latin typeface="Arial"/>
                <a:cs typeface="Arial"/>
              </a:rPr>
              <a:t>C).</a:t>
            </a:r>
            <a:endParaRPr sz="3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Variáveis</a:t>
            </a:r>
            <a:r>
              <a:rPr spc="-103" dirty="0"/>
              <a:t> </a:t>
            </a:r>
            <a:r>
              <a:rPr dirty="0"/>
              <a:t>compostas</a:t>
            </a:r>
          </a:p>
        </p:txBody>
      </p:sp>
    </p:spTree>
    <p:extLst>
      <p:ext uri="{BB962C8B-B14F-4D97-AF65-F5344CB8AC3E}">
        <p14:creationId xmlns:p14="http://schemas.microsoft.com/office/powerpoint/2010/main" val="268553203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510072" y="4329594"/>
          <a:ext cx="3356539" cy="27623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56539"/>
              </a:tblGrid>
              <a:tr h="7136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56515" algn="ctr">
                        <a:lnSpc>
                          <a:spcPct val="10000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nome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</a:tr>
              <a:tr h="713669">
                <a:tc>
                  <a:txBody>
                    <a:bodyPr/>
                    <a:lstStyle/>
                    <a:p>
                      <a:pPr marL="102235" algn="ctr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sobrenome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T w="10160">
                      <a:solidFill>
                        <a:srgbClr val="000000"/>
                      </a:solidFill>
                      <a:prstDash val="soli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</a:tr>
              <a:tr h="671688">
                <a:tc>
                  <a:txBody>
                    <a:bodyPr/>
                    <a:lstStyle/>
                    <a:p>
                      <a:pPr marL="116205" algn="ctr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salário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T w="10160">
                      <a:solidFill>
                        <a:srgbClr val="000000"/>
                      </a:solidFill>
                      <a:prstDash val="soli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</a:tr>
              <a:tr h="663293"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cargo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T w="10160">
                      <a:solidFill>
                        <a:srgbClr val="000000"/>
                      </a:solidFill>
                      <a:prstDash val="solid"/>
                    </a:lnT>
                    <a:solidFill>
                      <a:srgbClr val="99CCFF"/>
                    </a:solidFill>
                  </a:tcPr>
                </a:tc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4755593" y="4335191"/>
            <a:ext cx="549522" cy="2854678"/>
          </a:xfrm>
          <a:custGeom>
            <a:avLst/>
            <a:gdLst/>
            <a:ahLst/>
            <a:cxnLst/>
            <a:rect l="l" t="t" r="r" b="b"/>
            <a:pathLst>
              <a:path w="469900" h="2590800">
                <a:moveTo>
                  <a:pt x="469900" y="2590800"/>
                </a:moveTo>
                <a:lnTo>
                  <a:pt x="416017" y="2586699"/>
                </a:lnTo>
                <a:lnTo>
                  <a:pt x="366559" y="2575020"/>
                </a:lnTo>
                <a:lnTo>
                  <a:pt x="322936" y="2556692"/>
                </a:lnTo>
                <a:lnTo>
                  <a:pt x="286554" y="2532649"/>
                </a:lnTo>
                <a:lnTo>
                  <a:pt x="258824" y="2503822"/>
                </a:lnTo>
                <a:lnTo>
                  <a:pt x="234950" y="2435542"/>
                </a:lnTo>
                <a:lnTo>
                  <a:pt x="234950" y="1450593"/>
                </a:lnTo>
                <a:lnTo>
                  <a:pt x="228746" y="1415005"/>
                </a:lnTo>
                <a:lnTo>
                  <a:pt x="183345" y="1353522"/>
                </a:lnTo>
                <a:lnTo>
                  <a:pt x="146963" y="1329490"/>
                </a:lnTo>
                <a:lnTo>
                  <a:pt x="103340" y="1311171"/>
                </a:lnTo>
                <a:lnTo>
                  <a:pt x="53882" y="1299498"/>
                </a:lnTo>
                <a:lnTo>
                  <a:pt x="0" y="1295400"/>
                </a:lnTo>
                <a:lnTo>
                  <a:pt x="53882" y="1291301"/>
                </a:lnTo>
                <a:lnTo>
                  <a:pt x="103340" y="1279628"/>
                </a:lnTo>
                <a:lnTo>
                  <a:pt x="146963" y="1261309"/>
                </a:lnTo>
                <a:lnTo>
                  <a:pt x="183345" y="1237277"/>
                </a:lnTo>
                <a:lnTo>
                  <a:pt x="211075" y="1208462"/>
                </a:lnTo>
                <a:lnTo>
                  <a:pt x="234950" y="1140206"/>
                </a:lnTo>
                <a:lnTo>
                  <a:pt x="234950" y="155194"/>
                </a:lnTo>
                <a:lnTo>
                  <a:pt x="241153" y="119605"/>
                </a:lnTo>
                <a:lnTo>
                  <a:pt x="286554" y="58122"/>
                </a:lnTo>
                <a:lnTo>
                  <a:pt x="322936" y="34090"/>
                </a:lnTo>
                <a:lnTo>
                  <a:pt x="366559" y="15771"/>
                </a:lnTo>
                <a:lnTo>
                  <a:pt x="416017" y="4098"/>
                </a:lnTo>
                <a:lnTo>
                  <a:pt x="469900" y="0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25266" y="1281105"/>
            <a:ext cx="9283207" cy="48756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Uma estrutura </a:t>
            </a:r>
            <a:r>
              <a:rPr sz="3400" spc="-6" dirty="0">
                <a:latin typeface="Arial"/>
                <a:cs typeface="Arial"/>
              </a:rPr>
              <a:t>pode </a:t>
            </a:r>
            <a:r>
              <a:rPr sz="3400" dirty="0">
                <a:latin typeface="Arial"/>
                <a:cs typeface="Arial"/>
              </a:rPr>
              <a:t>ser </a:t>
            </a:r>
            <a:r>
              <a:rPr sz="3400" spc="-6" dirty="0">
                <a:latin typeface="Arial"/>
                <a:cs typeface="Arial"/>
              </a:rPr>
              <a:t>definida </a:t>
            </a:r>
            <a:r>
              <a:rPr sz="3400" dirty="0">
                <a:latin typeface="Arial"/>
                <a:cs typeface="Arial"/>
              </a:rPr>
              <a:t>como uma  </a:t>
            </a:r>
            <a:r>
              <a:rPr sz="3400" spc="-6" dirty="0">
                <a:latin typeface="Arial"/>
                <a:cs typeface="Arial"/>
              </a:rPr>
              <a:t>coleção de uma ou mais variáveis  relacionadas (campos), </a:t>
            </a:r>
            <a:r>
              <a:rPr sz="3400" b="1" dirty="0">
                <a:latin typeface="Arial"/>
                <a:cs typeface="Arial"/>
              </a:rPr>
              <a:t>onde </a:t>
            </a:r>
            <a:r>
              <a:rPr sz="3400" b="1" spc="-6" dirty="0">
                <a:latin typeface="Arial"/>
                <a:cs typeface="Arial"/>
              </a:rPr>
              <a:t>cada </a:t>
            </a:r>
            <a:r>
              <a:rPr sz="3400" b="1" spc="-23" dirty="0">
                <a:latin typeface="Arial"/>
                <a:cs typeface="Arial"/>
              </a:rPr>
              <a:t>variável  </a:t>
            </a:r>
            <a:r>
              <a:rPr sz="3400" b="1" dirty="0">
                <a:latin typeface="Arial"/>
                <a:cs typeface="Arial"/>
              </a:rPr>
              <a:t>pode </a:t>
            </a:r>
            <a:r>
              <a:rPr sz="3400" b="1" spc="-6" dirty="0">
                <a:latin typeface="Arial"/>
                <a:cs typeface="Arial"/>
              </a:rPr>
              <a:t>ser </a:t>
            </a:r>
            <a:r>
              <a:rPr sz="3400" b="1" dirty="0">
                <a:latin typeface="Arial"/>
                <a:cs typeface="Arial"/>
              </a:rPr>
              <a:t>de um tipo</a:t>
            </a:r>
            <a:r>
              <a:rPr sz="3400" b="1" spc="-40" dirty="0">
                <a:latin typeface="Arial"/>
                <a:cs typeface="Arial"/>
              </a:rPr>
              <a:t> </a:t>
            </a:r>
            <a:r>
              <a:rPr sz="3400" b="1" dirty="0">
                <a:latin typeface="Arial"/>
                <a:cs typeface="Arial"/>
              </a:rPr>
              <a:t>distinto</a:t>
            </a:r>
            <a:r>
              <a:rPr sz="3400" dirty="0">
                <a:latin typeface="Arial"/>
                <a:cs typeface="Arial"/>
              </a:rPr>
              <a:t>.</a:t>
            </a:r>
            <a:endParaRPr sz="34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852B34"/>
              </a:buClr>
              <a:buFont typeface="Arial"/>
              <a:buChar char="•"/>
            </a:pPr>
            <a:endParaRPr sz="3400">
              <a:latin typeface="Times New Roman"/>
              <a:cs typeface="Times New Roman"/>
            </a:endParaRPr>
          </a:p>
          <a:p>
            <a:pPr marL="535874" indent="-521391">
              <a:spcBef>
                <a:spcPts val="1996"/>
              </a:spcBef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11" dirty="0">
                <a:latin typeface="Arial"/>
                <a:cs typeface="Arial"/>
              </a:rPr>
              <a:t>Exemplo:</a:t>
            </a:r>
            <a:endParaRPr sz="3400">
              <a:latin typeface="Arial"/>
              <a:cs typeface="Arial"/>
            </a:endParaRPr>
          </a:p>
          <a:p>
            <a:pPr marL="963849">
              <a:spcBef>
                <a:spcPts val="1983"/>
              </a:spcBef>
            </a:pPr>
            <a:r>
              <a:rPr sz="3600" spc="-6" dirty="0">
                <a:solidFill>
                  <a:srgbClr val="000080"/>
                </a:solidFill>
                <a:latin typeface="Arial"/>
                <a:cs typeface="Arial"/>
              </a:rPr>
              <a:t>empregado</a:t>
            </a:r>
            <a:endParaRPr sz="3600">
              <a:latin typeface="Arial"/>
              <a:cs typeface="Arial"/>
            </a:endParaRPr>
          </a:p>
          <a:p>
            <a:pPr marL="963849">
              <a:spcBef>
                <a:spcPts val="912"/>
              </a:spcBef>
            </a:pPr>
            <a:r>
              <a:rPr sz="3600" spc="-6" dirty="0">
                <a:solidFill>
                  <a:srgbClr val="000080"/>
                </a:solidFill>
                <a:latin typeface="Arial"/>
                <a:cs typeface="Arial"/>
              </a:rPr>
              <a:t>(4</a:t>
            </a:r>
            <a:r>
              <a:rPr sz="3600" spc="-91" dirty="0">
                <a:solidFill>
                  <a:srgbClr val="000080"/>
                </a:solidFill>
                <a:latin typeface="Arial"/>
                <a:cs typeface="Arial"/>
              </a:rPr>
              <a:t> </a:t>
            </a:r>
            <a:r>
              <a:rPr sz="3600" spc="-6" dirty="0">
                <a:solidFill>
                  <a:srgbClr val="000080"/>
                </a:solidFill>
                <a:latin typeface="Arial"/>
                <a:cs typeface="Arial"/>
              </a:rPr>
              <a:t>campos)</a:t>
            </a:r>
            <a:endParaRPr sz="36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Definição de</a:t>
            </a:r>
            <a:r>
              <a:rPr spc="-108" dirty="0"/>
              <a:t> </a:t>
            </a:r>
            <a:r>
              <a:rPr dirty="0"/>
              <a:t>estrutura</a:t>
            </a:r>
          </a:p>
        </p:txBody>
      </p:sp>
    </p:spTree>
    <p:extLst>
      <p:ext uri="{BB962C8B-B14F-4D97-AF65-F5344CB8AC3E}">
        <p14:creationId xmlns:p14="http://schemas.microsoft.com/office/powerpoint/2010/main" val="215996724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36692" y="2947035"/>
            <a:ext cx="6695257" cy="27238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spcBef>
                <a:spcPts val="29"/>
              </a:spcBef>
            </a:pPr>
            <a:endParaRPr sz="1200">
              <a:latin typeface="Times New Roman"/>
              <a:cs typeface="Times New Roman"/>
            </a:endParaRPr>
          </a:p>
          <a:p>
            <a:pPr marR="918951" algn="r"/>
            <a:r>
              <a:rPr sz="1100" dirty="0">
                <a:latin typeface="Times New Roman"/>
                <a:cs typeface="Times New Roman"/>
              </a:rPr>
              <a:t>6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5266" y="1338760"/>
            <a:ext cx="8630465" cy="10215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lnSpc>
                <a:spcPts val="3991"/>
              </a:lnSpc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Sintaxe para definir </a:t>
            </a:r>
            <a:r>
              <a:rPr sz="3400" dirty="0">
                <a:latin typeface="Arial"/>
                <a:cs typeface="Arial"/>
              </a:rPr>
              <a:t>uma </a:t>
            </a:r>
            <a:r>
              <a:rPr sz="3400" spc="-6" dirty="0">
                <a:latin typeface="Arial"/>
                <a:cs typeface="Arial"/>
              </a:rPr>
              <a:t>estrutura </a:t>
            </a:r>
            <a:r>
              <a:rPr sz="3400" dirty="0">
                <a:latin typeface="Arial"/>
                <a:cs typeface="Arial"/>
              </a:rPr>
              <a:t>com</a:t>
            </a:r>
            <a:r>
              <a:rPr sz="3400" spc="-11" dirty="0">
                <a:latin typeface="Arial"/>
                <a:cs typeface="Arial"/>
              </a:rPr>
              <a:t> </a:t>
            </a:r>
            <a:r>
              <a:rPr sz="3400" b="1" dirty="0">
                <a:latin typeface="Arial"/>
                <a:cs typeface="Arial"/>
              </a:rPr>
              <a:t>n</a:t>
            </a:r>
            <a:endParaRPr sz="3400">
              <a:latin typeface="Arial"/>
              <a:cs typeface="Arial"/>
            </a:endParaRPr>
          </a:p>
          <a:p>
            <a:pPr marL="535150">
              <a:lnSpc>
                <a:spcPts val="3991"/>
              </a:lnSpc>
            </a:pPr>
            <a:r>
              <a:rPr sz="3400" spc="-6" dirty="0">
                <a:latin typeface="Arial"/>
                <a:cs typeface="Arial"/>
              </a:rPr>
              <a:t>campos em</a:t>
            </a:r>
            <a:r>
              <a:rPr sz="3400" spc="-63" dirty="0">
                <a:latin typeface="Arial"/>
                <a:cs typeface="Arial"/>
              </a:rPr>
              <a:t> </a:t>
            </a:r>
            <a:r>
              <a:rPr sz="3400" spc="-17" dirty="0">
                <a:latin typeface="Arial"/>
                <a:cs typeface="Arial"/>
              </a:rPr>
              <a:t>C</a:t>
            </a:r>
            <a:r>
              <a:rPr sz="3400" spc="-17" dirty="0">
                <a:latin typeface="Courier New"/>
                <a:cs typeface="Courier New"/>
              </a:rPr>
              <a:t>:</a:t>
            </a:r>
            <a:endParaRPr sz="3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-</a:t>
            </a:r>
            <a:r>
              <a:rPr spc="-40" dirty="0"/>
              <a:t> </a:t>
            </a:r>
            <a:r>
              <a:rPr spc="-6" dirty="0"/>
              <a:t>Definição</a:t>
            </a:r>
          </a:p>
        </p:txBody>
      </p:sp>
      <p:sp>
        <p:nvSpPr>
          <p:cNvPr id="5" name="object 5"/>
          <p:cNvSpPr/>
          <p:nvPr/>
        </p:nvSpPr>
        <p:spPr>
          <a:xfrm>
            <a:off x="1936692" y="2947035"/>
            <a:ext cx="6695257" cy="3660704"/>
          </a:xfrm>
          <a:custGeom>
            <a:avLst/>
            <a:gdLst/>
            <a:ahLst/>
            <a:cxnLst/>
            <a:rect l="l" t="t" r="r" b="b"/>
            <a:pathLst>
              <a:path w="5725159" h="3322320">
                <a:moveTo>
                  <a:pt x="0" y="3322320"/>
                </a:moveTo>
                <a:lnTo>
                  <a:pt x="5725160" y="3322320"/>
                </a:lnTo>
                <a:lnTo>
                  <a:pt x="5725160" y="0"/>
                </a:lnTo>
                <a:lnTo>
                  <a:pt x="0" y="0"/>
                </a:lnTo>
                <a:lnTo>
                  <a:pt x="0" y="332232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36692" y="2947035"/>
            <a:ext cx="6695257" cy="3660704"/>
          </a:xfrm>
          <a:custGeom>
            <a:avLst/>
            <a:gdLst/>
            <a:ahLst/>
            <a:cxnLst/>
            <a:rect l="l" t="t" r="r" b="b"/>
            <a:pathLst>
              <a:path w="5725159" h="3322320">
                <a:moveTo>
                  <a:pt x="0" y="3322320"/>
                </a:moveTo>
                <a:lnTo>
                  <a:pt x="5725160" y="3322320"/>
                </a:lnTo>
                <a:lnTo>
                  <a:pt x="5725160" y="0"/>
                </a:lnTo>
                <a:lnTo>
                  <a:pt x="0" y="0"/>
                </a:lnTo>
                <a:lnTo>
                  <a:pt x="0" y="33223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00862" y="2963826"/>
            <a:ext cx="4039729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3400" spc="-6" dirty="0">
                <a:latin typeface="Courier New"/>
                <a:cs typeface="Courier New"/>
              </a:rPr>
              <a:t>NomeDaEstrutura</a:t>
            </a:r>
            <a:endParaRPr sz="3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29221" y="2963827"/>
            <a:ext cx="1901049" cy="2092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3400"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3400">
              <a:latin typeface="Courier New"/>
              <a:cs typeface="Courier New"/>
            </a:endParaRPr>
          </a:p>
          <a:p>
            <a:pPr marL="14483"/>
            <a:r>
              <a:rPr sz="34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3400">
              <a:latin typeface="Courier New"/>
              <a:cs typeface="Courier New"/>
            </a:endParaRPr>
          </a:p>
          <a:p>
            <a:pPr marL="535874"/>
            <a:r>
              <a:rPr sz="3400" spc="-6" dirty="0">
                <a:latin typeface="Courier New"/>
                <a:cs typeface="Courier New"/>
              </a:rPr>
              <a:t>tipo1</a:t>
            </a:r>
            <a:endParaRPr sz="3400">
              <a:latin typeface="Courier New"/>
              <a:cs typeface="Courier New"/>
            </a:endParaRPr>
          </a:p>
          <a:p>
            <a:pPr marL="535874"/>
            <a:r>
              <a:rPr sz="3400" spc="-6" dirty="0">
                <a:latin typeface="Courier New"/>
                <a:cs typeface="Courier New"/>
              </a:rPr>
              <a:t>tipo2</a:t>
            </a:r>
            <a:endParaRPr sz="3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67901" y="3971780"/>
            <a:ext cx="4041956" cy="10495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3400" spc="-6" dirty="0">
                <a:latin typeface="Courier New"/>
                <a:cs typeface="Courier New"/>
              </a:rPr>
              <a:t>identificador1</a:t>
            </a:r>
            <a:r>
              <a:rPr sz="34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3400">
              <a:latin typeface="Courier New"/>
              <a:cs typeface="Courier New"/>
            </a:endParaRPr>
          </a:p>
          <a:p>
            <a:pPr marL="14483"/>
            <a:r>
              <a:rPr sz="3400" spc="-6" dirty="0">
                <a:latin typeface="Courier New"/>
                <a:cs typeface="Courier New"/>
              </a:rPr>
              <a:t>identificador2</a:t>
            </a:r>
            <a:r>
              <a:rPr sz="34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3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29221" y="4979594"/>
            <a:ext cx="6179894" cy="15824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57265"/>
            <a:r>
              <a:rPr sz="3400" dirty="0">
                <a:solidFill>
                  <a:srgbClr val="FF0000"/>
                </a:solidFill>
                <a:latin typeface="Courier New"/>
                <a:cs typeface="Courier New"/>
              </a:rPr>
              <a:t>...</a:t>
            </a:r>
            <a:endParaRPr sz="3400">
              <a:latin typeface="Courier New"/>
              <a:cs typeface="Courier New"/>
            </a:endParaRPr>
          </a:p>
          <a:p>
            <a:pPr marL="535874"/>
            <a:r>
              <a:rPr sz="3400" spc="-6" dirty="0">
                <a:latin typeface="Courier New"/>
                <a:cs typeface="Courier New"/>
              </a:rPr>
              <a:t>tipoN</a:t>
            </a:r>
            <a:r>
              <a:rPr sz="3400" spc="-91" dirty="0">
                <a:latin typeface="Courier New"/>
                <a:cs typeface="Courier New"/>
              </a:rPr>
              <a:t> </a:t>
            </a:r>
            <a:r>
              <a:rPr sz="3400" spc="-6" dirty="0">
                <a:latin typeface="Courier New"/>
                <a:cs typeface="Courier New"/>
              </a:rPr>
              <a:t>identificadorN</a:t>
            </a:r>
            <a:r>
              <a:rPr sz="34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3400">
              <a:latin typeface="Courier New"/>
              <a:cs typeface="Courier New"/>
            </a:endParaRPr>
          </a:p>
          <a:p>
            <a:pPr marL="14483">
              <a:spcBef>
                <a:spcPts val="91"/>
              </a:spcBef>
            </a:pPr>
            <a:r>
              <a:rPr sz="3400" spc="-6" dirty="0">
                <a:solidFill>
                  <a:srgbClr val="FF0000"/>
                </a:solidFill>
                <a:latin typeface="Courier New"/>
                <a:cs typeface="Courier New"/>
              </a:rPr>
              <a:t>};</a:t>
            </a:r>
            <a:endParaRPr sz="34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74965677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1433" y="1200643"/>
            <a:ext cx="9196324" cy="2854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 algn="just">
              <a:buClr>
                <a:srgbClr val="852B34"/>
              </a:buClr>
              <a:buSzPct val="70000"/>
              <a:buChar char="•"/>
              <a:tabLst>
                <a:tab pos="536597" algn="l"/>
              </a:tabLst>
            </a:pPr>
            <a:r>
              <a:rPr sz="3400" dirty="0">
                <a:latin typeface="Arial"/>
                <a:cs typeface="Arial"/>
              </a:rPr>
              <a:t>No </a:t>
            </a:r>
            <a:r>
              <a:rPr sz="3400" spc="-6" dirty="0">
                <a:latin typeface="Arial"/>
                <a:cs typeface="Arial"/>
              </a:rPr>
              <a:t>entanto, dessa forma, </a:t>
            </a:r>
            <a:r>
              <a:rPr sz="3400" dirty="0">
                <a:latin typeface="Arial"/>
                <a:cs typeface="Arial"/>
              </a:rPr>
              <a:t>é </a:t>
            </a:r>
            <a:r>
              <a:rPr sz="3400" spc="-6" dirty="0">
                <a:latin typeface="Arial"/>
                <a:cs typeface="Arial"/>
              </a:rPr>
              <a:t>necessário </a:t>
            </a:r>
            <a:r>
              <a:rPr sz="3400" spc="-11" dirty="0">
                <a:latin typeface="Arial"/>
                <a:cs typeface="Arial"/>
              </a:rPr>
              <a:t>usar  </a:t>
            </a:r>
            <a:r>
              <a:rPr sz="3400" spc="-6" dirty="0">
                <a:latin typeface="Arial"/>
                <a:cs typeface="Arial"/>
              </a:rPr>
              <a:t>a palavra-chave </a:t>
            </a:r>
            <a:r>
              <a:rPr sz="34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3400" b="1" spc="-113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3400" spc="-6" dirty="0">
                <a:latin typeface="Arial"/>
                <a:cs typeface="Arial"/>
              </a:rPr>
              <a:t>toda vez que uma  variável </a:t>
            </a:r>
            <a:r>
              <a:rPr sz="3400" dirty="0">
                <a:latin typeface="Arial"/>
                <a:cs typeface="Arial"/>
              </a:rPr>
              <a:t>é</a:t>
            </a:r>
            <a:r>
              <a:rPr sz="3400" spc="-51" dirty="0">
                <a:latin typeface="Arial"/>
                <a:cs typeface="Arial"/>
              </a:rPr>
              <a:t> </a:t>
            </a:r>
            <a:r>
              <a:rPr sz="3400" spc="-11" dirty="0">
                <a:latin typeface="Arial"/>
                <a:cs typeface="Arial"/>
              </a:rPr>
              <a:t>declarada:</a:t>
            </a:r>
            <a:endParaRPr sz="3400">
              <a:latin typeface="Arial"/>
              <a:cs typeface="Arial"/>
            </a:endParaRPr>
          </a:p>
          <a:p>
            <a:pPr marL="569184">
              <a:spcBef>
                <a:spcPts val="1175"/>
              </a:spcBef>
            </a:pPr>
            <a:r>
              <a:rPr sz="2700" b="1" spc="-6" dirty="0">
                <a:solidFill>
                  <a:srgbClr val="252599"/>
                </a:solidFill>
                <a:latin typeface="Courier New"/>
                <a:cs typeface="Courier New"/>
              </a:rPr>
              <a:t>struct </a:t>
            </a:r>
            <a:r>
              <a:rPr sz="2700" b="1" spc="-11" dirty="0">
                <a:latin typeface="Courier New"/>
                <a:cs typeface="Courier New"/>
              </a:rPr>
              <a:t>&lt;nomeEstrutura&gt; var1, </a:t>
            </a:r>
            <a:r>
              <a:rPr sz="2700" b="1" spc="-6" dirty="0">
                <a:latin typeface="Courier New"/>
                <a:cs typeface="Courier New"/>
              </a:rPr>
              <a:t>...,</a:t>
            </a:r>
            <a:r>
              <a:rPr sz="2700" b="1" spc="-23" dirty="0">
                <a:latin typeface="Courier New"/>
                <a:cs typeface="Courier New"/>
              </a:rPr>
              <a:t> </a:t>
            </a:r>
            <a:r>
              <a:rPr sz="2700" b="1" spc="-6" dirty="0">
                <a:latin typeface="Courier New"/>
                <a:cs typeface="Courier New"/>
              </a:rPr>
              <a:t>varN;</a:t>
            </a:r>
            <a:endParaRPr sz="2700">
              <a:latin typeface="Courier New"/>
              <a:cs typeface="Courier New"/>
            </a:endParaRPr>
          </a:p>
          <a:p>
            <a:pPr marL="535874" indent="-521391">
              <a:spcBef>
                <a:spcPts val="1471"/>
              </a:spcBef>
              <a:buClr>
                <a:srgbClr val="852B34"/>
              </a:buClr>
              <a:buSzPct val="70000"/>
              <a:buChar char="•"/>
              <a:tabLst>
                <a:tab pos="535874" algn="l"/>
                <a:tab pos="536597" algn="l"/>
              </a:tabLst>
            </a:pPr>
            <a:r>
              <a:rPr sz="3400" spc="-11" dirty="0">
                <a:latin typeface="Arial"/>
                <a:cs typeface="Arial"/>
              </a:rPr>
              <a:t>Exemplo:</a:t>
            </a:r>
            <a:endParaRPr sz="3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-</a:t>
            </a:r>
            <a:r>
              <a:rPr spc="-63" dirty="0"/>
              <a:t> </a:t>
            </a:r>
            <a:r>
              <a:rPr spc="-6" dirty="0"/>
              <a:t>Declaração</a:t>
            </a:r>
          </a:p>
        </p:txBody>
      </p:sp>
      <p:sp>
        <p:nvSpPr>
          <p:cNvPr id="4" name="object 4"/>
          <p:cNvSpPr/>
          <p:nvPr/>
        </p:nvSpPr>
        <p:spPr>
          <a:xfrm>
            <a:off x="5429871" y="4217646"/>
            <a:ext cx="4969461" cy="1119481"/>
          </a:xfrm>
          <a:custGeom>
            <a:avLst/>
            <a:gdLst/>
            <a:ahLst/>
            <a:cxnLst/>
            <a:rect l="l" t="t" r="r" b="b"/>
            <a:pathLst>
              <a:path w="4249420" h="1016000">
                <a:moveTo>
                  <a:pt x="0" y="1016000"/>
                </a:moveTo>
                <a:lnTo>
                  <a:pt x="4249420" y="1016000"/>
                </a:lnTo>
                <a:lnTo>
                  <a:pt x="4249420" y="0"/>
                </a:lnTo>
                <a:lnTo>
                  <a:pt x="0" y="0"/>
                </a:lnTo>
                <a:lnTo>
                  <a:pt x="0" y="10160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429871" y="4217646"/>
            <a:ext cx="4969461" cy="1119481"/>
          </a:xfrm>
          <a:custGeom>
            <a:avLst/>
            <a:gdLst/>
            <a:ahLst/>
            <a:cxnLst/>
            <a:rect l="l" t="t" r="r" b="b"/>
            <a:pathLst>
              <a:path w="4249420" h="1016000">
                <a:moveTo>
                  <a:pt x="0" y="1016000"/>
                </a:moveTo>
                <a:lnTo>
                  <a:pt x="4249420" y="1016000"/>
                </a:lnTo>
                <a:lnTo>
                  <a:pt x="4249420" y="0"/>
                </a:lnTo>
                <a:lnTo>
                  <a:pt x="0" y="0"/>
                </a:lnTo>
                <a:lnTo>
                  <a:pt x="0" y="101600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538587" y="4241436"/>
            <a:ext cx="4635292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solidFill>
                  <a:srgbClr val="7E7E7E"/>
                </a:solidFill>
                <a:latin typeface="Courier New"/>
                <a:cs typeface="Courier New"/>
              </a:rPr>
              <a:t>// Declaracao de</a:t>
            </a:r>
            <a:r>
              <a:rPr sz="2300" spc="-86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7E7E7E"/>
                </a:solidFill>
                <a:latin typeface="Courier New"/>
                <a:cs typeface="Courier New"/>
              </a:rPr>
              <a:t>variaveis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38587" y="4577281"/>
            <a:ext cx="1069340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86596" y="4577281"/>
            <a:ext cx="3031282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80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fulano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Aluno a1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300" spc="-6" dirty="0">
                <a:latin typeface="Courier New"/>
                <a:cs typeface="Courier New"/>
              </a:rPr>
              <a:t>a2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86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a3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51518" y="4203652"/>
            <a:ext cx="4247656" cy="2924575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15931" rIns="0" bIns="0" rtlCol="0">
            <a:spAutoFit/>
          </a:bodyPr>
          <a:lstStyle/>
          <a:p>
            <a:pPr marL="99209">
              <a:spcBef>
                <a:spcPts val="125"/>
              </a:spcBef>
            </a:pPr>
            <a:r>
              <a:rPr sz="2100" spc="-6" dirty="0">
                <a:solidFill>
                  <a:srgbClr val="7E7E7E"/>
                </a:solidFill>
                <a:latin typeface="Courier New"/>
                <a:cs typeface="Courier New"/>
              </a:rPr>
              <a:t>// </a:t>
            </a:r>
            <a:r>
              <a:rPr sz="2100" spc="-11" dirty="0">
                <a:solidFill>
                  <a:srgbClr val="7E7E7E"/>
                </a:solidFill>
                <a:latin typeface="Courier New"/>
                <a:cs typeface="Courier New"/>
              </a:rPr>
              <a:t>Definicao da</a:t>
            </a:r>
            <a:r>
              <a:rPr sz="2100" spc="-63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solidFill>
                  <a:srgbClr val="7E7E7E"/>
                </a:solidFill>
                <a:latin typeface="Courier New"/>
                <a:cs typeface="Courier New"/>
              </a:rPr>
              <a:t>estrutura</a:t>
            </a:r>
            <a:endParaRPr sz="2100">
              <a:latin typeface="Courier New"/>
              <a:cs typeface="Courier New"/>
            </a:endParaRPr>
          </a:p>
          <a:p>
            <a:pPr marL="99209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100" b="1" spc="-12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Aluno</a:t>
            </a:r>
            <a:endParaRPr sz="2100">
              <a:latin typeface="Courier New"/>
              <a:cs typeface="Courier New"/>
            </a:endParaRPr>
          </a:p>
          <a:p>
            <a:pPr marL="99209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100">
              <a:latin typeface="Courier New"/>
              <a:cs typeface="Courier New"/>
            </a:endParaRPr>
          </a:p>
          <a:p>
            <a:pPr marL="412768" marR="1370824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2100" spc="-11" dirty="0">
                <a:latin typeface="Courier New"/>
                <a:cs typeface="Courier New"/>
              </a:rPr>
              <a:t>nome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solidFill>
                  <a:srgbClr val="EF00EF"/>
                </a:solidFill>
                <a:latin typeface="Courier New"/>
                <a:cs typeface="Courier New"/>
              </a:rPr>
              <a:t>100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100" spc="-11" dirty="0">
                <a:latin typeface="Courier New"/>
                <a:cs typeface="Courier New"/>
              </a:rPr>
              <a:t>matricula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1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idade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 marL="412768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1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cidade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solidFill>
                  <a:srgbClr val="EF00EF"/>
                </a:solidFill>
                <a:latin typeface="Courier New"/>
                <a:cs typeface="Courier New"/>
              </a:rPr>
              <a:t>50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100">
              <a:latin typeface="Courier New"/>
              <a:cs typeface="Courier New"/>
            </a:endParaRPr>
          </a:p>
          <a:p>
            <a:pPr marL="412768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1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sexo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 marL="99209"/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};</a:t>
            </a:r>
            <a:endParaRPr sz="21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77405958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266" y="1200643"/>
            <a:ext cx="8983199" cy="1569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Note que para variáveis </a:t>
            </a:r>
            <a:r>
              <a:rPr sz="3400" dirty="0">
                <a:latin typeface="Arial"/>
                <a:cs typeface="Arial"/>
              </a:rPr>
              <a:t>do </a:t>
            </a:r>
            <a:r>
              <a:rPr sz="3400" spc="-6" dirty="0">
                <a:latin typeface="Arial"/>
                <a:cs typeface="Arial"/>
              </a:rPr>
              <a:t>tipo estrutura </a:t>
            </a:r>
            <a:r>
              <a:rPr sz="3400" dirty="0">
                <a:latin typeface="Arial"/>
                <a:cs typeface="Arial"/>
              </a:rPr>
              <a:t>a  </a:t>
            </a:r>
            <a:r>
              <a:rPr sz="3400" spc="-6" dirty="0">
                <a:latin typeface="Arial"/>
                <a:cs typeface="Arial"/>
              </a:rPr>
              <a:t>palavra chave </a:t>
            </a:r>
            <a:r>
              <a:rPr sz="3400" b="1" spc="-6" dirty="0">
                <a:solidFill>
                  <a:srgbClr val="252599"/>
                </a:solidFill>
                <a:latin typeface="Courier New"/>
                <a:cs typeface="Courier New"/>
              </a:rPr>
              <a:t>struct </a:t>
            </a:r>
            <a:r>
              <a:rPr sz="3400" spc="-6" dirty="0">
                <a:latin typeface="Arial"/>
                <a:cs typeface="Arial"/>
              </a:rPr>
              <a:t>deve vir antes do  nome </a:t>
            </a:r>
            <a:r>
              <a:rPr sz="3400" dirty="0">
                <a:latin typeface="Arial"/>
                <a:cs typeface="Arial"/>
              </a:rPr>
              <a:t>da</a:t>
            </a:r>
            <a:r>
              <a:rPr sz="3400" spc="-114" dirty="0">
                <a:latin typeface="Arial"/>
                <a:cs typeface="Arial"/>
              </a:rPr>
              <a:t> </a:t>
            </a:r>
            <a:r>
              <a:rPr sz="3400" dirty="0">
                <a:latin typeface="Arial"/>
                <a:cs typeface="Arial"/>
              </a:rPr>
              <a:t>estrutura.</a:t>
            </a:r>
            <a:endParaRPr sz="3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5266" y="5288570"/>
            <a:ext cx="7783904" cy="1569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Existe uma outra </a:t>
            </a:r>
            <a:r>
              <a:rPr sz="3400" spc="-11" dirty="0">
                <a:latin typeface="Arial"/>
                <a:cs typeface="Arial"/>
              </a:rPr>
              <a:t>possibilidade, </a:t>
            </a:r>
            <a:r>
              <a:rPr sz="3400" spc="-6" dirty="0">
                <a:latin typeface="Arial"/>
                <a:cs typeface="Arial"/>
              </a:rPr>
              <a:t>mais  simples, para </a:t>
            </a:r>
            <a:r>
              <a:rPr sz="3400" spc="-11" dirty="0">
                <a:latin typeface="Arial"/>
                <a:cs typeface="Arial"/>
              </a:rPr>
              <a:t>declarar </a:t>
            </a:r>
            <a:r>
              <a:rPr sz="3400" spc="-6" dirty="0">
                <a:latin typeface="Arial"/>
                <a:cs typeface="Arial"/>
              </a:rPr>
              <a:t>variáveis de  estruturas.</a:t>
            </a:r>
            <a:endParaRPr sz="3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-</a:t>
            </a:r>
            <a:r>
              <a:rPr spc="-63" dirty="0"/>
              <a:t> </a:t>
            </a:r>
            <a:r>
              <a:rPr spc="-6" dirty="0"/>
              <a:t>Declaração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68345" y="3302470"/>
            <a:ext cx="4167456" cy="1458125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20276" rIns="0" bIns="0" rtlCol="0">
            <a:spAutoFit/>
          </a:bodyPr>
          <a:lstStyle/>
          <a:p>
            <a:pPr marL="97037">
              <a:spcBef>
                <a:spcPts val="160"/>
              </a:spcBef>
            </a:pPr>
            <a:r>
              <a:rPr sz="2300" spc="-6" dirty="0">
                <a:solidFill>
                  <a:srgbClr val="7E7E7E"/>
                </a:solidFill>
                <a:latin typeface="Courier New"/>
                <a:cs typeface="Courier New"/>
              </a:rPr>
              <a:t>// Tipos</a:t>
            </a:r>
            <a:r>
              <a:rPr sz="2300" spc="-103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7E7E7E"/>
                </a:solidFill>
                <a:latin typeface="Courier New"/>
                <a:cs typeface="Courier New"/>
              </a:rPr>
              <a:t>primitivos</a:t>
            </a:r>
            <a:endParaRPr sz="2300">
              <a:latin typeface="Courier New"/>
              <a:cs typeface="Courier New"/>
            </a:endParaRPr>
          </a:p>
          <a:p>
            <a:pPr marL="97037" marR="1511309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valor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float </a:t>
            </a:r>
            <a:r>
              <a:rPr sz="2300" spc="-6" dirty="0">
                <a:latin typeface="Courier New"/>
                <a:cs typeface="Courier New"/>
              </a:rPr>
              <a:t>x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300" spc="-6" dirty="0">
                <a:latin typeface="Courier New"/>
                <a:cs typeface="Courier New"/>
              </a:rPr>
              <a:t>y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300" dirty="0">
                <a:latin typeface="Courier New"/>
                <a:cs typeface="Courier New"/>
              </a:rPr>
              <a:t>z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letra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413534" y="3296873"/>
          <a:ext cx="4547663" cy="14581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59973"/>
                <a:gridCol w="2187690"/>
              </a:tblGrid>
              <a:tr h="731861">
                <a:tc gridSpan="2"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spc="-5" dirty="0">
                          <a:solidFill>
                            <a:srgbClr val="7E7E7E"/>
                          </a:solidFill>
                          <a:latin typeface="Courier New"/>
                          <a:cs typeface="Courier New"/>
                        </a:rPr>
                        <a:t>// Variaveis</a:t>
                      </a:r>
                      <a:r>
                        <a:rPr sz="2200" spc="-85" dirty="0">
                          <a:solidFill>
                            <a:srgbClr val="7E7E7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200" spc="-5" dirty="0">
                          <a:solidFill>
                            <a:srgbClr val="7E7E7E"/>
                          </a:solidFill>
                          <a:latin typeface="Courier New"/>
                          <a:cs typeface="Courier New"/>
                        </a:rPr>
                        <a:t>estruturas</a:t>
                      </a:r>
                      <a:endParaRPr sz="2200">
                        <a:latin typeface="Courier New"/>
                        <a:cs typeface="Courier New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22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struct </a:t>
                      </a:r>
                      <a:r>
                        <a:rPr sz="2200" spc="-5" dirty="0">
                          <a:latin typeface="Courier New"/>
                          <a:cs typeface="Courier New"/>
                        </a:rPr>
                        <a:t>Aluno</a:t>
                      </a:r>
                      <a:r>
                        <a:rPr sz="2200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200" spc="-5" dirty="0">
                          <a:latin typeface="Courier New"/>
                          <a:cs typeface="Courier New"/>
                        </a:rPr>
                        <a:t>fulano</a:t>
                      </a:r>
                      <a:r>
                        <a:rPr sz="22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0246">
                <a:tc>
                  <a:txBody>
                    <a:bodyPr/>
                    <a:lstStyle/>
                    <a:p>
                      <a:pPr marL="78740">
                        <a:lnSpc>
                          <a:spcPts val="2045"/>
                        </a:lnSpc>
                      </a:pPr>
                      <a:r>
                        <a:rPr sz="22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struct</a:t>
                      </a:r>
                      <a:r>
                        <a:rPr sz="2200" b="1" spc="-9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200" spc="-5" dirty="0">
                          <a:latin typeface="Courier New"/>
                          <a:cs typeface="Courier New"/>
                        </a:rPr>
                        <a:t>Aluno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7940">
                      <a:solidFill>
                        <a:srgbClr val="FF0000"/>
                      </a:solidFill>
                      <a:prstDash val="solid"/>
                    </a:lnL>
                    <a:lnR w="27940">
                      <a:solidFill>
                        <a:srgbClr val="FF0000"/>
                      </a:solidFill>
                      <a:prstDash val="solid"/>
                    </a:lnR>
                    <a:lnB w="27940">
                      <a:solidFill>
                        <a:srgbClr val="FF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ts val="2155"/>
                        </a:lnSpc>
                      </a:pPr>
                      <a:r>
                        <a:rPr sz="2200" spc="-5" dirty="0">
                          <a:latin typeface="Courier New"/>
                          <a:cs typeface="Courier New"/>
                        </a:rPr>
                        <a:t>a1</a:t>
                      </a:r>
                      <a:r>
                        <a:rPr sz="22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, </a:t>
                      </a:r>
                      <a:r>
                        <a:rPr sz="2200" spc="-5" dirty="0">
                          <a:latin typeface="Courier New"/>
                          <a:cs typeface="Courier New"/>
                        </a:rPr>
                        <a:t>a2</a:t>
                      </a:r>
                      <a:r>
                        <a:rPr sz="22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,</a:t>
                      </a:r>
                      <a:r>
                        <a:rPr sz="2200" spc="-8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200" spc="-5" dirty="0">
                          <a:latin typeface="Courier New"/>
                          <a:cs typeface="Courier New"/>
                        </a:rPr>
                        <a:t>a3</a:t>
                      </a:r>
                      <a:r>
                        <a:rPr sz="22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7940">
                      <a:solidFill>
                        <a:srgbClr val="FF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</a:tr>
              <a:tr h="396015">
                <a:tc gridSpan="2">
                  <a:txBody>
                    <a:bodyPr/>
                    <a:lstStyle/>
                    <a:p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2794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5163277" y="2188306"/>
            <a:ext cx="557689" cy="1591063"/>
          </a:xfrm>
          <a:custGeom>
            <a:avLst/>
            <a:gdLst/>
            <a:ahLst/>
            <a:cxnLst/>
            <a:rect l="l" t="t" r="r" b="b"/>
            <a:pathLst>
              <a:path w="476885" h="1443989">
                <a:moveTo>
                  <a:pt x="371602" y="1335786"/>
                </a:moveTo>
                <a:lnTo>
                  <a:pt x="362839" y="1336039"/>
                </a:lnTo>
                <a:lnTo>
                  <a:pt x="352298" y="1347343"/>
                </a:lnTo>
                <a:lnTo>
                  <a:pt x="352552" y="1356233"/>
                </a:lnTo>
                <a:lnTo>
                  <a:pt x="358267" y="1361439"/>
                </a:lnTo>
                <a:lnTo>
                  <a:pt x="446786" y="1443989"/>
                </a:lnTo>
                <a:lnTo>
                  <a:pt x="452175" y="1421511"/>
                </a:lnTo>
                <a:lnTo>
                  <a:pt x="425323" y="1421511"/>
                </a:lnTo>
                <a:lnTo>
                  <a:pt x="410360" y="1371790"/>
                </a:lnTo>
                <a:lnTo>
                  <a:pt x="377317" y="1340993"/>
                </a:lnTo>
                <a:lnTo>
                  <a:pt x="371602" y="1335786"/>
                </a:lnTo>
                <a:close/>
              </a:path>
              <a:path w="476885" h="1443989">
                <a:moveTo>
                  <a:pt x="410360" y="1371790"/>
                </a:moveTo>
                <a:lnTo>
                  <a:pt x="425323" y="1421511"/>
                </a:lnTo>
                <a:lnTo>
                  <a:pt x="449607" y="1414145"/>
                </a:lnTo>
                <a:lnTo>
                  <a:pt x="425196" y="1414145"/>
                </a:lnTo>
                <a:lnTo>
                  <a:pt x="430782" y="1390824"/>
                </a:lnTo>
                <a:lnTo>
                  <a:pt x="410360" y="1371790"/>
                </a:lnTo>
                <a:close/>
              </a:path>
              <a:path w="476885" h="1443989">
                <a:moveTo>
                  <a:pt x="457200" y="1307719"/>
                </a:moveTo>
                <a:lnTo>
                  <a:pt x="449580" y="1312290"/>
                </a:lnTo>
                <a:lnTo>
                  <a:pt x="437229" y="1363915"/>
                </a:lnTo>
                <a:lnTo>
                  <a:pt x="452120" y="1413383"/>
                </a:lnTo>
                <a:lnTo>
                  <a:pt x="425323" y="1421511"/>
                </a:lnTo>
                <a:lnTo>
                  <a:pt x="452175" y="1421511"/>
                </a:lnTo>
                <a:lnTo>
                  <a:pt x="474980" y="1326388"/>
                </a:lnTo>
                <a:lnTo>
                  <a:pt x="476758" y="1318895"/>
                </a:lnTo>
                <a:lnTo>
                  <a:pt x="472186" y="1311275"/>
                </a:lnTo>
                <a:lnTo>
                  <a:pt x="457200" y="1307719"/>
                </a:lnTo>
                <a:close/>
              </a:path>
              <a:path w="476885" h="1443989">
                <a:moveTo>
                  <a:pt x="430782" y="1390824"/>
                </a:moveTo>
                <a:lnTo>
                  <a:pt x="425196" y="1414145"/>
                </a:lnTo>
                <a:lnTo>
                  <a:pt x="448310" y="1407160"/>
                </a:lnTo>
                <a:lnTo>
                  <a:pt x="430782" y="1390824"/>
                </a:lnTo>
                <a:close/>
              </a:path>
              <a:path w="476885" h="1443989">
                <a:moveTo>
                  <a:pt x="437229" y="1363915"/>
                </a:moveTo>
                <a:lnTo>
                  <a:pt x="430782" y="1390824"/>
                </a:lnTo>
                <a:lnTo>
                  <a:pt x="448310" y="1407160"/>
                </a:lnTo>
                <a:lnTo>
                  <a:pt x="425196" y="1414145"/>
                </a:lnTo>
                <a:lnTo>
                  <a:pt x="449607" y="1414145"/>
                </a:lnTo>
                <a:lnTo>
                  <a:pt x="452120" y="1413383"/>
                </a:lnTo>
                <a:lnTo>
                  <a:pt x="437229" y="1363915"/>
                </a:lnTo>
                <a:close/>
              </a:path>
              <a:path w="476885" h="1443989">
                <a:moveTo>
                  <a:pt x="26670" y="0"/>
                </a:moveTo>
                <a:lnTo>
                  <a:pt x="0" y="8127"/>
                </a:lnTo>
                <a:lnTo>
                  <a:pt x="410360" y="1371790"/>
                </a:lnTo>
                <a:lnTo>
                  <a:pt x="430782" y="1390824"/>
                </a:lnTo>
                <a:lnTo>
                  <a:pt x="437229" y="1363915"/>
                </a:lnTo>
                <a:lnTo>
                  <a:pt x="2667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1459972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69878" y="3105442"/>
            <a:ext cx="6863084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spc="-6" dirty="0">
                <a:solidFill>
                  <a:srgbClr val="252599"/>
                </a:solidFill>
                <a:latin typeface="Courier New"/>
                <a:cs typeface="Courier New"/>
              </a:rPr>
              <a:t>typedef </a:t>
            </a:r>
            <a:r>
              <a:rPr sz="2700" b="1" spc="-11" dirty="0">
                <a:solidFill>
                  <a:srgbClr val="993300"/>
                </a:solidFill>
                <a:latin typeface="Courier New"/>
                <a:cs typeface="Courier New"/>
              </a:rPr>
              <a:t>&lt;nomeAntigo&gt;</a:t>
            </a:r>
            <a:r>
              <a:rPr sz="2700" b="1" spc="-34" dirty="0">
                <a:solidFill>
                  <a:srgbClr val="993300"/>
                </a:solidFill>
                <a:latin typeface="Courier New"/>
                <a:cs typeface="Courier New"/>
              </a:rPr>
              <a:t> </a:t>
            </a:r>
            <a:r>
              <a:rPr sz="2700" b="1" spc="-11" dirty="0">
                <a:solidFill>
                  <a:srgbClr val="FF0000"/>
                </a:solidFill>
                <a:latin typeface="Courier New"/>
                <a:cs typeface="Courier New"/>
              </a:rPr>
              <a:t>&lt;nomeNovo&gt;;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5266" y="1396441"/>
            <a:ext cx="9191126" cy="16167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lnSpc>
                <a:spcPct val="102800"/>
              </a:lnSpc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O </a:t>
            </a:r>
            <a:r>
              <a:rPr sz="3400" spc="-11" dirty="0">
                <a:latin typeface="Arial"/>
                <a:cs typeface="Arial"/>
              </a:rPr>
              <a:t>comando </a:t>
            </a:r>
            <a:r>
              <a:rPr sz="3400" b="1" spc="-6" dirty="0">
                <a:latin typeface="Courier New"/>
                <a:cs typeface="Courier New"/>
              </a:rPr>
              <a:t>typedef</a:t>
            </a:r>
            <a:r>
              <a:rPr sz="3400" spc="-6" dirty="0">
                <a:latin typeface="Arial"/>
                <a:cs typeface="Arial"/>
              </a:rPr>
              <a:t>, </a:t>
            </a:r>
            <a:r>
              <a:rPr sz="3400" spc="-11" dirty="0">
                <a:latin typeface="Arial"/>
                <a:cs typeface="Arial"/>
              </a:rPr>
              <a:t>pode </a:t>
            </a:r>
            <a:r>
              <a:rPr sz="3400" spc="-6" dirty="0">
                <a:latin typeface="Arial"/>
                <a:cs typeface="Arial"/>
              </a:rPr>
              <a:t>ser </a:t>
            </a:r>
            <a:r>
              <a:rPr sz="3400" spc="-11" dirty="0">
                <a:latin typeface="Arial"/>
                <a:cs typeface="Arial"/>
              </a:rPr>
              <a:t>usado </a:t>
            </a:r>
            <a:r>
              <a:rPr sz="3400" spc="-6" dirty="0">
                <a:latin typeface="Arial"/>
                <a:cs typeface="Arial"/>
              </a:rPr>
              <a:t>para  </a:t>
            </a:r>
            <a:r>
              <a:rPr sz="3400" spc="-11" dirty="0">
                <a:latin typeface="Arial"/>
                <a:cs typeface="Arial"/>
              </a:rPr>
              <a:t>dar </a:t>
            </a:r>
            <a:r>
              <a:rPr sz="3400" spc="-6" dirty="0">
                <a:latin typeface="Arial"/>
                <a:cs typeface="Arial"/>
              </a:rPr>
              <a:t>um novo nome para </a:t>
            </a:r>
            <a:r>
              <a:rPr sz="3400" spc="-11" dirty="0">
                <a:latin typeface="Arial"/>
                <a:cs typeface="Arial"/>
              </a:rPr>
              <a:t>algum </a:t>
            </a:r>
            <a:r>
              <a:rPr sz="3400" spc="-6" dirty="0">
                <a:latin typeface="Arial"/>
                <a:cs typeface="Arial"/>
              </a:rPr>
              <a:t>tipo </a:t>
            </a:r>
            <a:r>
              <a:rPr sz="3400" spc="-17" dirty="0">
                <a:latin typeface="Arial"/>
                <a:cs typeface="Arial"/>
              </a:rPr>
              <a:t>de  </a:t>
            </a:r>
            <a:r>
              <a:rPr sz="3400" spc="-11" dirty="0">
                <a:latin typeface="Arial"/>
                <a:cs typeface="Arial"/>
              </a:rPr>
              <a:t>dados.</a:t>
            </a:r>
            <a:endParaRPr sz="3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5266" y="3062482"/>
            <a:ext cx="1479254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Us</a:t>
            </a:r>
            <a:r>
              <a:rPr sz="3400" spc="-23" dirty="0">
                <a:latin typeface="Arial"/>
                <a:cs typeface="Arial"/>
              </a:rPr>
              <a:t>o</a:t>
            </a:r>
            <a:r>
              <a:rPr sz="3400" dirty="0">
                <a:latin typeface="Arial"/>
                <a:cs typeface="Arial"/>
              </a:rPr>
              <a:t>:</a:t>
            </a:r>
            <a:endParaRPr sz="3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5266" y="3678475"/>
            <a:ext cx="2637705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11" dirty="0">
                <a:latin typeface="Arial"/>
                <a:cs typeface="Arial"/>
              </a:rPr>
              <a:t>Exemplos:</a:t>
            </a:r>
            <a:endParaRPr sz="3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5266" y="5526459"/>
            <a:ext cx="4716235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Declarando</a:t>
            </a:r>
            <a:r>
              <a:rPr sz="3400" spc="-91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variáveis</a:t>
            </a:r>
            <a:endParaRPr sz="34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Comando</a:t>
            </a:r>
            <a:r>
              <a:rPr spc="-125" dirty="0"/>
              <a:t> </a:t>
            </a:r>
            <a:r>
              <a:rPr spc="-6" dirty="0">
                <a:latin typeface="Courier New"/>
                <a:cs typeface="Courier New"/>
              </a:rPr>
              <a:t>typedef</a:t>
            </a:r>
          </a:p>
        </p:txBody>
      </p:sp>
      <p:sp>
        <p:nvSpPr>
          <p:cNvPr id="8" name="object 8"/>
          <p:cNvSpPr/>
          <p:nvPr/>
        </p:nvSpPr>
        <p:spPr>
          <a:xfrm>
            <a:off x="3350599" y="4550692"/>
            <a:ext cx="3995173" cy="778040"/>
          </a:xfrm>
          <a:custGeom>
            <a:avLst/>
            <a:gdLst/>
            <a:ahLst/>
            <a:cxnLst/>
            <a:rect l="l" t="t" r="r" b="b"/>
            <a:pathLst>
              <a:path w="3416300" h="706120">
                <a:moveTo>
                  <a:pt x="0" y="706119"/>
                </a:moveTo>
                <a:lnTo>
                  <a:pt x="3416300" y="706119"/>
                </a:lnTo>
                <a:lnTo>
                  <a:pt x="3416300" y="0"/>
                </a:lnTo>
                <a:lnTo>
                  <a:pt x="0" y="0"/>
                </a:lnTo>
                <a:lnTo>
                  <a:pt x="0" y="70611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350599" y="4550692"/>
            <a:ext cx="3995173" cy="778040"/>
          </a:xfrm>
          <a:custGeom>
            <a:avLst/>
            <a:gdLst/>
            <a:ahLst/>
            <a:cxnLst/>
            <a:rect l="l" t="t" r="r" b="b"/>
            <a:pathLst>
              <a:path w="3416300" h="706120">
                <a:moveTo>
                  <a:pt x="0" y="706119"/>
                </a:moveTo>
                <a:lnTo>
                  <a:pt x="3416300" y="706119"/>
                </a:lnTo>
                <a:lnTo>
                  <a:pt x="3416300" y="0"/>
                </a:lnTo>
                <a:lnTo>
                  <a:pt x="0" y="0"/>
                </a:lnTo>
                <a:lnTo>
                  <a:pt x="0" y="70611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883319" y="4572102"/>
            <a:ext cx="2139423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86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Inteiro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57235" y="4572102"/>
            <a:ext cx="2317646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23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float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52957" y="4908227"/>
            <a:ext cx="891859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Rea</a:t>
            </a:r>
            <a:r>
              <a:rPr sz="2300" dirty="0">
                <a:latin typeface="Courier New"/>
                <a:cs typeface="Courier New"/>
              </a:rPr>
              <a:t>l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50599" y="6397837"/>
            <a:ext cx="3995173" cy="662417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15931" rIns="0" bIns="0" rtlCol="0">
            <a:spAutoFit/>
          </a:bodyPr>
          <a:lstStyle/>
          <a:p>
            <a:pPr marL="97761">
              <a:spcBef>
                <a:spcPts val="125"/>
              </a:spcBef>
              <a:tabLst>
                <a:tab pos="1346202" algn="l"/>
              </a:tabLst>
            </a:pPr>
            <a:r>
              <a:rPr sz="2100" spc="-11" dirty="0">
                <a:latin typeface="Courier New"/>
                <a:cs typeface="Courier New"/>
              </a:rPr>
              <a:t>Inteiro	</a:t>
            </a:r>
            <a:r>
              <a:rPr sz="2100" spc="-6" dirty="0">
                <a:latin typeface="Courier New"/>
                <a:cs typeface="Courier New"/>
              </a:rPr>
              <a:t>n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 marL="97761">
              <a:spcBef>
                <a:spcPts val="46"/>
              </a:spcBef>
            </a:pPr>
            <a:r>
              <a:rPr sz="2100" spc="-6" dirty="0">
                <a:latin typeface="Courier New"/>
                <a:cs typeface="Courier New"/>
              </a:rPr>
              <a:t>Real</a:t>
            </a:r>
            <a:r>
              <a:rPr sz="2100" spc="-114" dirty="0"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x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42468302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266" y="1158551"/>
            <a:ext cx="9043349" cy="16167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lnSpc>
                <a:spcPct val="102800"/>
              </a:lnSpc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Assim, com o </a:t>
            </a:r>
            <a:r>
              <a:rPr sz="3400" spc="-6" dirty="0">
                <a:latin typeface="Arial"/>
                <a:cs typeface="Arial"/>
              </a:rPr>
              <a:t>comando </a:t>
            </a:r>
            <a:r>
              <a:rPr sz="3400" b="1" spc="-6" dirty="0">
                <a:solidFill>
                  <a:srgbClr val="252599"/>
                </a:solidFill>
                <a:latin typeface="Courier New"/>
                <a:cs typeface="Courier New"/>
              </a:rPr>
              <a:t>typedef</a:t>
            </a:r>
            <a:r>
              <a:rPr sz="3400" spc="-6" dirty="0">
                <a:latin typeface="Arial"/>
                <a:cs typeface="Arial"/>
              </a:rPr>
              <a:t>,</a:t>
            </a:r>
            <a:r>
              <a:rPr sz="3400" spc="-68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pode-se  definir </a:t>
            </a:r>
            <a:r>
              <a:rPr sz="3400" dirty="0">
                <a:latin typeface="Arial"/>
                <a:cs typeface="Arial"/>
              </a:rPr>
              <a:t>estruturas </a:t>
            </a:r>
            <a:r>
              <a:rPr sz="3400" spc="-6" dirty="0">
                <a:latin typeface="Arial"/>
                <a:cs typeface="Arial"/>
              </a:rPr>
              <a:t>e declarar variáveis da  seguinte</a:t>
            </a:r>
            <a:r>
              <a:rPr sz="3400" spc="-74" dirty="0">
                <a:latin typeface="Arial"/>
                <a:cs typeface="Arial"/>
              </a:rPr>
              <a:t> </a:t>
            </a:r>
            <a:r>
              <a:rPr sz="3400" dirty="0">
                <a:latin typeface="Arial"/>
                <a:cs typeface="Arial"/>
              </a:rPr>
              <a:t>forma:</a:t>
            </a:r>
            <a:endParaRPr sz="3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-</a:t>
            </a:r>
            <a:r>
              <a:rPr spc="-63" dirty="0"/>
              <a:t> </a:t>
            </a:r>
            <a:r>
              <a:rPr spc="-6" dirty="0"/>
              <a:t>Declaração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91107" y="4256828"/>
          <a:ext cx="9719111" cy="32297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42671"/>
                <a:gridCol w="1102013"/>
                <a:gridCol w="5474427"/>
              </a:tblGrid>
              <a:tr h="1502904">
                <a:tc gridSpan="2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2000" spc="-5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// </a:t>
                      </a:r>
                      <a:r>
                        <a:rPr sz="2000" spc="-10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Definicao da</a:t>
                      </a:r>
                      <a:r>
                        <a:rPr sz="2000" spc="-50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estrutura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20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struct</a:t>
                      </a:r>
                      <a:r>
                        <a:rPr sz="2000" b="1" spc="-10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est_Aluno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20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{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  <a:p>
                      <a:pPr marL="360045">
                        <a:lnSpc>
                          <a:spcPct val="100000"/>
                        </a:lnSpc>
                      </a:pPr>
                      <a:r>
                        <a:rPr sz="20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char</a:t>
                      </a:r>
                      <a:r>
                        <a:rPr sz="2000" b="1" spc="-9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nome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[</a:t>
                      </a:r>
                      <a:r>
                        <a:rPr sz="2000" spc="-10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100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];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  <a:p>
                      <a:pPr marL="360045">
                        <a:lnSpc>
                          <a:spcPts val="2060"/>
                        </a:lnSpc>
                      </a:pPr>
                      <a:r>
                        <a:rPr sz="20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int</a:t>
                      </a:r>
                      <a:r>
                        <a:rPr sz="2000" b="1" spc="-100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matricula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B w="1016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57371">
                <a:tc>
                  <a:txBody>
                    <a:bodyPr/>
                    <a:lstStyle/>
                    <a:p>
                      <a:pPr marL="36004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int</a:t>
                      </a:r>
                      <a:r>
                        <a:rPr sz="2000" b="1" spc="-9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idade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360045">
                        <a:lnSpc>
                          <a:spcPct val="100000"/>
                        </a:lnSpc>
                      </a:pPr>
                      <a:r>
                        <a:rPr sz="20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char</a:t>
                      </a:r>
                      <a:r>
                        <a:rPr sz="2000" b="1" spc="-90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cidade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[</a:t>
                      </a:r>
                      <a:r>
                        <a:rPr sz="2000" spc="-10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50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];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360045">
                        <a:lnSpc>
                          <a:spcPct val="100000"/>
                        </a:lnSpc>
                      </a:pPr>
                      <a:r>
                        <a:rPr sz="20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char</a:t>
                      </a:r>
                      <a:r>
                        <a:rPr sz="2000" b="1" spc="-10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sexo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20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};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4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typed</a:t>
                      </a:r>
                      <a:endParaRPr sz="240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2400" spc="-5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//</a:t>
                      </a:r>
                      <a:r>
                        <a:rPr sz="2400" spc="-100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De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4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ef </a:t>
                      </a:r>
                      <a:r>
                        <a:rPr sz="2400" b="1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struct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est_Aluno</a:t>
                      </a:r>
                      <a:r>
                        <a:rPr sz="2400" spc="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dirty="0">
                          <a:latin typeface="Courier New"/>
                          <a:cs typeface="Courier New"/>
                        </a:rPr>
                        <a:t>Aluno</a:t>
                      </a:r>
                      <a:r>
                        <a:rPr sz="24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2400" spc="-5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claracao </a:t>
                      </a:r>
                      <a:r>
                        <a:rPr sz="2400" spc="5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de</a:t>
                      </a:r>
                      <a:r>
                        <a:rPr sz="2400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variaveis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</a:tr>
              <a:tr h="369429">
                <a:tc>
                  <a:txBody>
                    <a:bodyPr/>
                    <a:lstStyle/>
                    <a:p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marL="87630">
                        <a:lnSpc>
                          <a:spcPts val="108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Aluno a1</a:t>
                      </a:r>
                      <a:r>
                        <a:rPr sz="24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,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r>
                        <a:rPr sz="24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,</a:t>
                      </a:r>
                      <a:r>
                        <a:rPr sz="2400" spc="2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a3</a:t>
                      </a:r>
                      <a:r>
                        <a:rPr sz="24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7985592" y="2996711"/>
            <a:ext cx="1308456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23" dirty="0">
                <a:latin typeface="Courier New"/>
                <a:cs typeface="Courier New"/>
              </a:rPr>
              <a:t>A</a:t>
            </a:r>
            <a:r>
              <a:rPr sz="2700" spc="-6" dirty="0">
                <a:latin typeface="Courier New"/>
                <a:cs typeface="Courier New"/>
              </a:rPr>
              <a:t>l</a:t>
            </a:r>
            <a:r>
              <a:rPr sz="2700" spc="-23" dirty="0">
                <a:latin typeface="Courier New"/>
                <a:cs typeface="Courier New"/>
              </a:rPr>
              <a:t>u</a:t>
            </a:r>
            <a:r>
              <a:rPr sz="2700" spc="-6" dirty="0">
                <a:latin typeface="Courier New"/>
                <a:cs typeface="Courier New"/>
              </a:rPr>
              <a:t>n</a:t>
            </a:r>
            <a:r>
              <a:rPr sz="2700" dirty="0">
                <a:latin typeface="Courier New"/>
                <a:cs typeface="Courier New"/>
              </a:rPr>
              <a:t>o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027476" y="3007206"/>
            <a:ext cx="1027755" cy="439396"/>
          </a:xfrm>
          <a:custGeom>
            <a:avLst/>
            <a:gdLst/>
            <a:ahLst/>
            <a:cxnLst/>
            <a:rect l="l" t="t" r="r" b="b"/>
            <a:pathLst>
              <a:path w="878840" h="398780">
                <a:moveTo>
                  <a:pt x="0" y="398779"/>
                </a:moveTo>
                <a:lnTo>
                  <a:pt x="878840" y="398779"/>
                </a:lnTo>
                <a:lnTo>
                  <a:pt x="878840" y="0"/>
                </a:lnTo>
                <a:lnTo>
                  <a:pt x="0" y="0"/>
                </a:lnTo>
                <a:lnTo>
                  <a:pt x="0" y="398779"/>
                </a:lnTo>
                <a:close/>
              </a:path>
            </a:pathLst>
          </a:custGeom>
          <a:ln w="2794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25266" y="2996711"/>
            <a:ext cx="7250719" cy="1338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82734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700" b="1" spc="-1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7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est_Aluno</a:t>
            </a:r>
            <a:endParaRPr sz="2700" dirty="0">
              <a:latin typeface="Courier New"/>
              <a:cs typeface="Courier New"/>
            </a:endParaRPr>
          </a:p>
          <a:p>
            <a:pPr marL="535874" indent="-521391">
              <a:spcBef>
                <a:spcPts val="331"/>
              </a:spcBef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Exemplo</a:t>
            </a:r>
            <a:endParaRPr sz="3400" dirty="0">
              <a:latin typeface="Arial"/>
              <a:cs typeface="Arial"/>
            </a:endParaRPr>
          </a:p>
          <a:p>
            <a:pPr marR="469976" algn="r">
              <a:spcBef>
                <a:spcPts val="336"/>
              </a:spcBef>
            </a:pPr>
            <a:r>
              <a:rPr sz="2100" dirty="0">
                <a:latin typeface="Arial"/>
                <a:cs typeface="Arial"/>
              </a:rPr>
              <a:t>Nome</a:t>
            </a:r>
            <a:r>
              <a:rPr sz="2100" spc="-97" dirty="0">
                <a:latin typeface="Arial"/>
                <a:cs typeface="Arial"/>
              </a:rPr>
              <a:t> </a:t>
            </a:r>
            <a:r>
              <a:rPr sz="2100" spc="-6" dirty="0">
                <a:latin typeface="Arial"/>
                <a:cs typeface="Arial"/>
              </a:rPr>
              <a:t>antigo</a:t>
            </a:r>
            <a:endParaRPr sz="21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62878" y="3985635"/>
            <a:ext cx="1396083" cy="323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dirty="0">
                <a:latin typeface="Arial"/>
                <a:cs typeface="Arial"/>
              </a:rPr>
              <a:t>Nome</a:t>
            </a:r>
            <a:r>
              <a:rPr sz="2100" spc="-108" dirty="0">
                <a:latin typeface="Arial"/>
                <a:cs typeface="Arial"/>
              </a:rPr>
              <a:t> </a:t>
            </a:r>
            <a:r>
              <a:rPr sz="2100" spc="-6" dirty="0">
                <a:latin typeface="Arial"/>
                <a:cs typeface="Arial"/>
              </a:rPr>
              <a:t>novo</a:t>
            </a:r>
            <a:endParaRPr sz="21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358617" y="3530147"/>
            <a:ext cx="677249" cy="455488"/>
          </a:xfrm>
          <a:custGeom>
            <a:avLst/>
            <a:gdLst/>
            <a:ahLst/>
            <a:cxnLst/>
            <a:rect l="l" t="t" r="r" b="b"/>
            <a:pathLst>
              <a:path w="579120" h="413385">
                <a:moveTo>
                  <a:pt x="545985" y="23224"/>
                </a:moveTo>
                <a:lnTo>
                  <a:pt x="525981" y="24958"/>
                </a:lnTo>
                <a:lnTo>
                  <a:pt x="0" y="396493"/>
                </a:lnTo>
                <a:lnTo>
                  <a:pt x="11683" y="413130"/>
                </a:lnTo>
                <a:lnTo>
                  <a:pt x="537588" y="41649"/>
                </a:lnTo>
                <a:lnTo>
                  <a:pt x="545985" y="23224"/>
                </a:lnTo>
                <a:close/>
              </a:path>
              <a:path w="579120" h="413385">
                <a:moveTo>
                  <a:pt x="577488" y="3301"/>
                </a:moveTo>
                <a:lnTo>
                  <a:pt x="556640" y="3301"/>
                </a:lnTo>
                <a:lnTo>
                  <a:pt x="568325" y="19938"/>
                </a:lnTo>
                <a:lnTo>
                  <a:pt x="537588" y="41649"/>
                </a:lnTo>
                <a:lnTo>
                  <a:pt x="516636" y="87629"/>
                </a:lnTo>
                <a:lnTo>
                  <a:pt x="514350" y="92709"/>
                </a:lnTo>
                <a:lnTo>
                  <a:pt x="516636" y="98805"/>
                </a:lnTo>
                <a:lnTo>
                  <a:pt x="521715" y="101091"/>
                </a:lnTo>
                <a:lnTo>
                  <a:pt x="526795" y="103504"/>
                </a:lnTo>
                <a:lnTo>
                  <a:pt x="532764" y="101218"/>
                </a:lnTo>
                <a:lnTo>
                  <a:pt x="535177" y="96138"/>
                </a:lnTo>
                <a:lnTo>
                  <a:pt x="577488" y="3301"/>
                </a:lnTo>
                <a:close/>
              </a:path>
              <a:path w="579120" h="413385">
                <a:moveTo>
                  <a:pt x="559495" y="7365"/>
                </a:moveTo>
                <a:lnTo>
                  <a:pt x="553212" y="7365"/>
                </a:lnTo>
                <a:lnTo>
                  <a:pt x="563371" y="21716"/>
                </a:lnTo>
                <a:lnTo>
                  <a:pt x="545985" y="23224"/>
                </a:lnTo>
                <a:lnTo>
                  <a:pt x="537588" y="41649"/>
                </a:lnTo>
                <a:lnTo>
                  <a:pt x="568325" y="19938"/>
                </a:lnTo>
                <a:lnTo>
                  <a:pt x="559495" y="7365"/>
                </a:lnTo>
                <a:close/>
              </a:path>
              <a:path w="579120" h="413385">
                <a:moveTo>
                  <a:pt x="578992" y="0"/>
                </a:moveTo>
                <a:lnTo>
                  <a:pt x="468121" y="9651"/>
                </a:lnTo>
                <a:lnTo>
                  <a:pt x="464057" y="14604"/>
                </a:lnTo>
                <a:lnTo>
                  <a:pt x="464438" y="20192"/>
                </a:lnTo>
                <a:lnTo>
                  <a:pt x="464946" y="25780"/>
                </a:lnTo>
                <a:lnTo>
                  <a:pt x="469900" y="29844"/>
                </a:lnTo>
                <a:lnTo>
                  <a:pt x="525981" y="24958"/>
                </a:lnTo>
                <a:lnTo>
                  <a:pt x="556640" y="3301"/>
                </a:lnTo>
                <a:lnTo>
                  <a:pt x="577488" y="3301"/>
                </a:lnTo>
                <a:lnTo>
                  <a:pt x="578992" y="0"/>
                </a:lnTo>
                <a:close/>
              </a:path>
              <a:path w="579120" h="413385">
                <a:moveTo>
                  <a:pt x="556640" y="3301"/>
                </a:moveTo>
                <a:lnTo>
                  <a:pt x="525981" y="24958"/>
                </a:lnTo>
                <a:lnTo>
                  <a:pt x="545985" y="23224"/>
                </a:lnTo>
                <a:lnTo>
                  <a:pt x="553212" y="7365"/>
                </a:lnTo>
                <a:lnTo>
                  <a:pt x="559495" y="7365"/>
                </a:lnTo>
                <a:lnTo>
                  <a:pt x="556640" y="3301"/>
                </a:lnTo>
                <a:close/>
              </a:path>
              <a:path w="579120" h="413385">
                <a:moveTo>
                  <a:pt x="553212" y="7365"/>
                </a:moveTo>
                <a:lnTo>
                  <a:pt x="545985" y="23224"/>
                </a:lnTo>
                <a:lnTo>
                  <a:pt x="563371" y="21716"/>
                </a:lnTo>
                <a:lnTo>
                  <a:pt x="553212" y="73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379467" y="3518476"/>
            <a:ext cx="681704" cy="488374"/>
          </a:xfrm>
          <a:custGeom>
            <a:avLst/>
            <a:gdLst/>
            <a:ahLst/>
            <a:cxnLst/>
            <a:rect l="l" t="t" r="r" b="b"/>
            <a:pathLst>
              <a:path w="582929" h="443229">
                <a:moveTo>
                  <a:pt x="32108" y="24274"/>
                </a:moveTo>
                <a:lnTo>
                  <a:pt x="39872" y="42815"/>
                </a:lnTo>
                <a:lnTo>
                  <a:pt x="570102" y="443102"/>
                </a:lnTo>
                <a:lnTo>
                  <a:pt x="582421" y="426847"/>
                </a:lnTo>
                <a:lnTo>
                  <a:pt x="52162" y="26658"/>
                </a:lnTo>
                <a:lnTo>
                  <a:pt x="32108" y="24274"/>
                </a:lnTo>
                <a:close/>
              </a:path>
              <a:path w="582929" h="443229">
                <a:moveTo>
                  <a:pt x="0" y="0"/>
                </a:moveTo>
                <a:lnTo>
                  <a:pt x="40766" y="97409"/>
                </a:lnTo>
                <a:lnTo>
                  <a:pt x="42925" y="102615"/>
                </a:lnTo>
                <a:lnTo>
                  <a:pt x="48894" y="105029"/>
                </a:lnTo>
                <a:lnTo>
                  <a:pt x="53975" y="102870"/>
                </a:lnTo>
                <a:lnTo>
                  <a:pt x="59181" y="100711"/>
                </a:lnTo>
                <a:lnTo>
                  <a:pt x="61594" y="94742"/>
                </a:lnTo>
                <a:lnTo>
                  <a:pt x="59435" y="89535"/>
                </a:lnTo>
                <a:lnTo>
                  <a:pt x="39872" y="42815"/>
                </a:lnTo>
                <a:lnTo>
                  <a:pt x="9905" y="20193"/>
                </a:lnTo>
                <a:lnTo>
                  <a:pt x="22225" y="4063"/>
                </a:lnTo>
                <a:lnTo>
                  <a:pt x="34253" y="4063"/>
                </a:lnTo>
                <a:lnTo>
                  <a:pt x="0" y="0"/>
                </a:lnTo>
                <a:close/>
              </a:path>
              <a:path w="582929" h="443229">
                <a:moveTo>
                  <a:pt x="22225" y="4063"/>
                </a:moveTo>
                <a:lnTo>
                  <a:pt x="9905" y="20193"/>
                </a:lnTo>
                <a:lnTo>
                  <a:pt x="39872" y="42815"/>
                </a:lnTo>
                <a:lnTo>
                  <a:pt x="32108" y="24274"/>
                </a:lnTo>
                <a:lnTo>
                  <a:pt x="14858" y="22225"/>
                </a:lnTo>
                <a:lnTo>
                  <a:pt x="25400" y="8255"/>
                </a:lnTo>
                <a:lnTo>
                  <a:pt x="27778" y="8255"/>
                </a:lnTo>
                <a:lnTo>
                  <a:pt x="22225" y="4063"/>
                </a:lnTo>
                <a:close/>
              </a:path>
              <a:path w="582929" h="443229">
                <a:moveTo>
                  <a:pt x="34253" y="4063"/>
                </a:moveTo>
                <a:lnTo>
                  <a:pt x="22225" y="4063"/>
                </a:lnTo>
                <a:lnTo>
                  <a:pt x="52162" y="26658"/>
                </a:lnTo>
                <a:lnTo>
                  <a:pt x="108076" y="33274"/>
                </a:lnTo>
                <a:lnTo>
                  <a:pt x="113029" y="29337"/>
                </a:lnTo>
                <a:lnTo>
                  <a:pt x="113791" y="23749"/>
                </a:lnTo>
                <a:lnTo>
                  <a:pt x="114426" y="18161"/>
                </a:lnTo>
                <a:lnTo>
                  <a:pt x="110489" y="13081"/>
                </a:lnTo>
                <a:lnTo>
                  <a:pt x="34253" y="4063"/>
                </a:lnTo>
                <a:close/>
              </a:path>
              <a:path w="582929" h="443229">
                <a:moveTo>
                  <a:pt x="27778" y="8255"/>
                </a:moveTo>
                <a:lnTo>
                  <a:pt x="25400" y="8255"/>
                </a:lnTo>
                <a:lnTo>
                  <a:pt x="32108" y="24274"/>
                </a:lnTo>
                <a:lnTo>
                  <a:pt x="52162" y="26658"/>
                </a:lnTo>
                <a:lnTo>
                  <a:pt x="27778" y="8255"/>
                </a:lnTo>
                <a:close/>
              </a:path>
              <a:path w="582929" h="443229">
                <a:moveTo>
                  <a:pt x="25400" y="8255"/>
                </a:moveTo>
                <a:lnTo>
                  <a:pt x="14858" y="22225"/>
                </a:lnTo>
                <a:lnTo>
                  <a:pt x="32108" y="24274"/>
                </a:lnTo>
                <a:lnTo>
                  <a:pt x="25400" y="82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/>
          <p:cNvSpPr/>
          <p:nvPr/>
        </p:nvSpPr>
        <p:spPr>
          <a:xfrm>
            <a:off x="5660669" y="3053386"/>
            <a:ext cx="1972031" cy="439396"/>
          </a:xfrm>
          <a:custGeom>
            <a:avLst/>
            <a:gdLst/>
            <a:ahLst/>
            <a:cxnLst/>
            <a:rect l="l" t="t" r="r" b="b"/>
            <a:pathLst>
              <a:path w="878840" h="398780">
                <a:moveTo>
                  <a:pt x="0" y="398779"/>
                </a:moveTo>
                <a:lnTo>
                  <a:pt x="878840" y="398779"/>
                </a:lnTo>
                <a:lnTo>
                  <a:pt x="878840" y="0"/>
                </a:lnTo>
                <a:lnTo>
                  <a:pt x="0" y="0"/>
                </a:lnTo>
                <a:lnTo>
                  <a:pt x="0" y="398779"/>
                </a:lnTo>
                <a:close/>
              </a:path>
            </a:pathLst>
          </a:custGeom>
          <a:ln w="2794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3585062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-</a:t>
            </a:r>
            <a:r>
              <a:rPr spc="-63" dirty="0"/>
              <a:t> </a:t>
            </a:r>
            <a:r>
              <a:rPr spc="-6" dirty="0"/>
              <a:t>Declaração</a:t>
            </a:r>
          </a:p>
        </p:txBody>
      </p:sp>
      <p:sp>
        <p:nvSpPr>
          <p:cNvPr id="3" name="object 3"/>
          <p:cNvSpPr/>
          <p:nvPr/>
        </p:nvSpPr>
        <p:spPr>
          <a:xfrm>
            <a:off x="2147591" y="1793968"/>
            <a:ext cx="6567530" cy="4987290"/>
          </a:xfrm>
          <a:custGeom>
            <a:avLst/>
            <a:gdLst/>
            <a:ahLst/>
            <a:cxnLst/>
            <a:rect l="l" t="t" r="r" b="b"/>
            <a:pathLst>
              <a:path w="5615940" h="4526280">
                <a:moveTo>
                  <a:pt x="0" y="4526280"/>
                </a:moveTo>
                <a:lnTo>
                  <a:pt x="5615939" y="4526280"/>
                </a:lnTo>
                <a:lnTo>
                  <a:pt x="5615939" y="0"/>
                </a:lnTo>
                <a:lnTo>
                  <a:pt x="0" y="0"/>
                </a:lnTo>
                <a:lnTo>
                  <a:pt x="0" y="452628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147591" y="1793968"/>
            <a:ext cx="6567530" cy="4987290"/>
          </a:xfrm>
          <a:custGeom>
            <a:avLst/>
            <a:gdLst/>
            <a:ahLst/>
            <a:cxnLst/>
            <a:rect l="l" t="t" r="r" b="b"/>
            <a:pathLst>
              <a:path w="5615940" h="4526280">
                <a:moveTo>
                  <a:pt x="0" y="4526280"/>
                </a:moveTo>
                <a:lnTo>
                  <a:pt x="5615939" y="4526280"/>
                </a:lnTo>
                <a:lnTo>
                  <a:pt x="5615939" y="0"/>
                </a:lnTo>
                <a:lnTo>
                  <a:pt x="0" y="0"/>
                </a:lnTo>
                <a:lnTo>
                  <a:pt x="0" y="45262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25266" y="1042237"/>
            <a:ext cx="9400538" cy="1203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A </a:t>
            </a:r>
            <a:r>
              <a:rPr sz="3400" spc="-6" dirty="0">
                <a:latin typeface="Arial"/>
                <a:cs typeface="Arial"/>
              </a:rPr>
              <a:t>seguinte </a:t>
            </a:r>
            <a:r>
              <a:rPr sz="3400" dirty="0">
                <a:latin typeface="Arial"/>
                <a:cs typeface="Arial"/>
              </a:rPr>
              <a:t>forma </a:t>
            </a:r>
            <a:r>
              <a:rPr sz="3400" spc="-6" dirty="0">
                <a:latin typeface="Arial"/>
                <a:cs typeface="Arial"/>
              </a:rPr>
              <a:t>também pode </a:t>
            </a:r>
            <a:r>
              <a:rPr sz="3400" dirty="0">
                <a:latin typeface="Arial"/>
                <a:cs typeface="Arial"/>
              </a:rPr>
              <a:t>ser</a:t>
            </a:r>
            <a:r>
              <a:rPr sz="3400" spc="-17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utilizada:</a:t>
            </a:r>
            <a:endParaRPr sz="3400">
              <a:latin typeface="Arial"/>
              <a:cs typeface="Arial"/>
            </a:endParaRPr>
          </a:p>
          <a:p>
            <a:pPr marL="1588070">
              <a:spcBef>
                <a:spcPts val="2121"/>
              </a:spcBef>
            </a:pPr>
            <a:r>
              <a:rPr sz="2700" spc="-6" dirty="0">
                <a:solidFill>
                  <a:srgbClr val="7E7E7E"/>
                </a:solidFill>
                <a:latin typeface="Courier New"/>
                <a:cs typeface="Courier New"/>
              </a:rPr>
              <a:t>// Definicao </a:t>
            </a:r>
            <a:r>
              <a:rPr sz="2700" spc="-17" dirty="0">
                <a:solidFill>
                  <a:srgbClr val="7E7E7E"/>
                </a:solidFill>
                <a:latin typeface="Courier New"/>
                <a:cs typeface="Courier New"/>
              </a:rPr>
              <a:t>da</a:t>
            </a:r>
            <a:r>
              <a:rPr sz="2700" spc="-86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solidFill>
                  <a:srgbClr val="7E7E7E"/>
                </a:solidFill>
                <a:latin typeface="Courier New"/>
                <a:cs typeface="Courier New"/>
              </a:rPr>
              <a:t>estrutura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50321" y="2209857"/>
            <a:ext cx="1310684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spc="-1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38931" y="2209857"/>
            <a:ext cx="1526780" cy="12454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endParaRPr sz="2700">
              <a:latin typeface="Courier New"/>
              <a:cs typeface="Courier New"/>
            </a:endParaRPr>
          </a:p>
          <a:p>
            <a:pPr marL="14483"/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700">
              <a:latin typeface="Courier New"/>
              <a:cs typeface="Courier New"/>
            </a:endParaRPr>
          </a:p>
          <a:p>
            <a:pPr marL="431596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36453" y="3016302"/>
            <a:ext cx="2163186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11" dirty="0">
                <a:latin typeface="Courier New"/>
                <a:cs typeface="Courier New"/>
              </a:rPr>
              <a:t>nome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100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38931" y="3419317"/>
            <a:ext cx="3874130" cy="2077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1596">
              <a:tabLst>
                <a:tab pos="1265821" algn="l"/>
              </a:tabLst>
            </a:pPr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int	</a:t>
            </a:r>
            <a:r>
              <a:rPr sz="2700" spc="-11" dirty="0">
                <a:latin typeface="Courier New"/>
                <a:cs typeface="Courier New"/>
              </a:rPr>
              <a:t>matricula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  <a:p>
            <a:pPr marL="431596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7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idade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  <a:p>
            <a:pPr marL="431596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700" b="1" spc="-8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spc="-11" dirty="0">
                <a:latin typeface="Courier New"/>
                <a:cs typeface="Courier New"/>
              </a:rPr>
              <a:t>cidade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50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  <a:p>
            <a:pPr marL="431596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7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sexo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  <a:p>
            <a:pPr marL="14483"/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7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Aluno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38931" y="5838445"/>
            <a:ext cx="2807760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solidFill>
                  <a:srgbClr val="7E7E7E"/>
                </a:solidFill>
                <a:latin typeface="Courier New"/>
                <a:cs typeface="Courier New"/>
              </a:rPr>
              <a:t>//</a:t>
            </a:r>
            <a:r>
              <a:rPr sz="2700" spc="-68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700" spc="-11" dirty="0">
                <a:solidFill>
                  <a:srgbClr val="7E7E7E"/>
                </a:solidFill>
                <a:latin typeface="Courier New"/>
                <a:cs typeface="Courier New"/>
              </a:rPr>
              <a:t>Declaracao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38930" y="6249855"/>
            <a:ext cx="2808503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latin typeface="Courier New"/>
                <a:cs typeface="Courier New"/>
              </a:rPr>
              <a:t>Aluno a1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700" spc="-97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a2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27885" y="5838445"/>
            <a:ext cx="2596862" cy="8508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solidFill>
                  <a:srgbClr val="7E7E7E"/>
                </a:solidFill>
                <a:latin typeface="Courier New"/>
                <a:cs typeface="Courier New"/>
              </a:rPr>
              <a:t>de</a:t>
            </a:r>
            <a:r>
              <a:rPr sz="2700" spc="-108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solidFill>
                  <a:srgbClr val="7E7E7E"/>
                </a:solidFill>
                <a:latin typeface="Courier New"/>
                <a:cs typeface="Courier New"/>
              </a:rPr>
              <a:t>variaveis</a:t>
            </a:r>
            <a:endParaRPr sz="2700">
              <a:latin typeface="Courier New"/>
              <a:cs typeface="Courier New"/>
            </a:endParaRPr>
          </a:p>
          <a:p>
            <a:pPr marL="14483">
              <a:spcBef>
                <a:spcPts val="68"/>
              </a:spcBef>
            </a:pPr>
            <a:r>
              <a:rPr sz="2700" spc="-6" dirty="0">
                <a:latin typeface="Courier New"/>
                <a:cs typeface="Courier New"/>
              </a:rPr>
              <a:t>a3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74918" y="6846678"/>
            <a:ext cx="7966583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3400" dirty="0">
                <a:latin typeface="Arial"/>
                <a:cs typeface="Arial"/>
              </a:rPr>
              <a:t>Esta </a:t>
            </a:r>
            <a:r>
              <a:rPr sz="3400" spc="-6" dirty="0">
                <a:latin typeface="Arial"/>
                <a:cs typeface="Arial"/>
              </a:rPr>
              <a:t>será a </a:t>
            </a:r>
            <a:r>
              <a:rPr sz="3400" dirty="0">
                <a:latin typeface="Arial"/>
                <a:cs typeface="Arial"/>
              </a:rPr>
              <a:t>forma </a:t>
            </a:r>
            <a:r>
              <a:rPr sz="3400" spc="-6" dirty="0">
                <a:latin typeface="Arial"/>
                <a:cs typeface="Arial"/>
              </a:rPr>
              <a:t>adotada na</a:t>
            </a:r>
            <a:r>
              <a:rPr sz="3400" spc="-80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disciplina.</a:t>
            </a:r>
            <a:endParaRPr sz="3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8702391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9971"/>
            <a:r>
              <a:rPr dirty="0"/>
              <a:t>Definição e</a:t>
            </a:r>
            <a:r>
              <a:rPr spc="-80" dirty="0"/>
              <a:t> </a:t>
            </a:r>
            <a:r>
              <a:rPr spc="-6" dirty="0"/>
              <a:t>Declaração</a:t>
            </a:r>
          </a:p>
        </p:txBody>
      </p:sp>
      <p:sp>
        <p:nvSpPr>
          <p:cNvPr id="3" name="object 3"/>
          <p:cNvSpPr/>
          <p:nvPr/>
        </p:nvSpPr>
        <p:spPr>
          <a:xfrm>
            <a:off x="5682354" y="1488910"/>
            <a:ext cx="4835793" cy="5798914"/>
          </a:xfrm>
          <a:custGeom>
            <a:avLst/>
            <a:gdLst/>
            <a:ahLst/>
            <a:cxnLst/>
            <a:rect l="l" t="t" r="r" b="b"/>
            <a:pathLst>
              <a:path w="4135120" h="5262880">
                <a:moveTo>
                  <a:pt x="0" y="5262880"/>
                </a:moveTo>
                <a:lnTo>
                  <a:pt x="4135120" y="5262880"/>
                </a:lnTo>
                <a:lnTo>
                  <a:pt x="4135120" y="0"/>
                </a:lnTo>
                <a:lnTo>
                  <a:pt x="0" y="0"/>
                </a:lnTo>
                <a:lnTo>
                  <a:pt x="0" y="526288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682354" y="1488910"/>
            <a:ext cx="4835793" cy="5798914"/>
          </a:xfrm>
          <a:custGeom>
            <a:avLst/>
            <a:gdLst/>
            <a:ahLst/>
            <a:cxnLst/>
            <a:rect l="l" t="t" r="r" b="b"/>
            <a:pathLst>
              <a:path w="4135120" h="5262880">
                <a:moveTo>
                  <a:pt x="0" y="5262880"/>
                </a:moveTo>
                <a:lnTo>
                  <a:pt x="4135120" y="5262880"/>
                </a:lnTo>
                <a:lnTo>
                  <a:pt x="4135120" y="0"/>
                </a:lnTo>
                <a:lnTo>
                  <a:pt x="0" y="0"/>
                </a:lnTo>
                <a:lnTo>
                  <a:pt x="0" y="52628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776366" y="1542086"/>
            <a:ext cx="2600575" cy="27853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solidFill>
                  <a:srgbClr val="009F00"/>
                </a:solidFill>
                <a:latin typeface="Courier New"/>
                <a:cs typeface="Courier New"/>
              </a:rPr>
              <a:t>#include</a:t>
            </a:r>
            <a:r>
              <a:rPr spc="-80" dirty="0">
                <a:solidFill>
                  <a:srgbClr val="009F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009F00"/>
                </a:solidFill>
                <a:latin typeface="Courier New"/>
                <a:cs typeface="Courier New"/>
              </a:rPr>
              <a:t>&lt;stdio.h&gt;</a:t>
            </a:r>
            <a:endParaRPr>
              <a:latin typeface="Courier New"/>
              <a:cs typeface="Courier New"/>
            </a:endParaRPr>
          </a:p>
          <a:p>
            <a:pPr>
              <a:spcBef>
                <a:spcPts val="23"/>
              </a:spcBef>
            </a:pPr>
            <a:endParaRPr sz="1900">
              <a:latin typeface="Times New Roman"/>
              <a:cs typeface="Times New Roman"/>
            </a:endParaRPr>
          </a:p>
          <a:p>
            <a:pPr marL="14483">
              <a:spcBef>
                <a:spcPts val="6"/>
              </a:spcBef>
            </a:pPr>
            <a:r>
              <a:rPr b="1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292558" marR="144831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100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pc="-6" dirty="0">
                <a:latin typeface="Courier New"/>
                <a:cs typeface="Courier New"/>
              </a:rPr>
              <a:t>matricula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idade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29255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cidade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50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>
              <a:latin typeface="Courier New"/>
              <a:cs typeface="Courier New"/>
            </a:endParaRPr>
          </a:p>
          <a:p>
            <a:pPr marL="29255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sexo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Aluno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76366" y="5036266"/>
            <a:ext cx="2742412" cy="19389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1245545" algn="ctr"/>
            <a:r>
              <a:rPr b="1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12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main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292558"/>
            <a:r>
              <a:rPr spc="-6" dirty="0">
                <a:latin typeface="Courier New"/>
                <a:cs typeface="Courier New"/>
              </a:rPr>
              <a:t>Aluno a1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pc="-6" dirty="0">
                <a:latin typeface="Courier New"/>
                <a:cs typeface="Courier New"/>
              </a:rPr>
              <a:t>a2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pc="-6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a3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292558"/>
            <a:r>
              <a:rPr spc="-6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pc="-114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A6A6A6"/>
                </a:solidFill>
                <a:latin typeface="Courier New"/>
                <a:cs typeface="Courier New"/>
              </a:rPr>
              <a:t>...</a:t>
            </a:r>
            <a:endParaRPr>
              <a:latin typeface="Courier New"/>
              <a:cs typeface="Courier New"/>
            </a:endParaRPr>
          </a:p>
          <a:p>
            <a:pPr marL="292558"/>
            <a:r>
              <a:rPr spc="-6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pc="-8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A6A6A6"/>
                </a:solidFill>
                <a:latin typeface="Courier New"/>
                <a:cs typeface="Courier New"/>
              </a:rPr>
              <a:t>processamento</a:t>
            </a:r>
            <a:endParaRPr>
              <a:latin typeface="Courier New"/>
              <a:cs typeface="Courier New"/>
            </a:endParaRPr>
          </a:p>
          <a:p>
            <a:pPr marL="292558"/>
            <a:r>
              <a:rPr spc="-6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pc="-114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A6A6A6"/>
                </a:solidFill>
                <a:latin typeface="Courier New"/>
                <a:cs typeface="Courier New"/>
              </a:rPr>
              <a:t>...</a:t>
            </a:r>
            <a:endParaRPr>
              <a:latin typeface="Courier New"/>
              <a:cs typeface="Courier New"/>
            </a:endParaRPr>
          </a:p>
          <a:p>
            <a:pPr marL="29255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return</a:t>
            </a:r>
            <a:r>
              <a:rPr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76366" y="6920494"/>
            <a:ext cx="17302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6838" y="1529911"/>
            <a:ext cx="5216003" cy="6165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08080"/>
              </a:buClr>
              <a:buSzPct val="69642"/>
              <a:buChar char="•"/>
              <a:tabLst>
                <a:tab pos="535150" algn="l"/>
                <a:tab pos="535874" algn="l"/>
              </a:tabLst>
            </a:pPr>
            <a:r>
              <a:rPr sz="3200" dirty="0">
                <a:latin typeface="Arial"/>
                <a:cs typeface="Arial"/>
              </a:rPr>
              <a:t>A</a:t>
            </a:r>
            <a:r>
              <a:rPr sz="3200" spc="-120" dirty="0"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C00000"/>
                </a:solidFill>
                <a:latin typeface="Arial"/>
                <a:cs typeface="Arial"/>
              </a:rPr>
              <a:t>definição</a:t>
            </a:r>
            <a:endParaRPr sz="3200">
              <a:latin typeface="Arial"/>
              <a:cs typeface="Arial"/>
            </a:endParaRPr>
          </a:p>
          <a:p>
            <a:pPr marL="465631" marR="5793"/>
            <a:r>
              <a:rPr sz="3200" spc="-6" dirty="0">
                <a:latin typeface="Arial"/>
                <a:cs typeface="Arial"/>
              </a:rPr>
              <a:t>de </a:t>
            </a:r>
            <a:r>
              <a:rPr sz="3200" dirty="0">
                <a:latin typeface="Arial"/>
                <a:cs typeface="Arial"/>
              </a:rPr>
              <a:t>um </a:t>
            </a:r>
            <a:r>
              <a:rPr sz="3200" spc="-6" dirty="0">
                <a:latin typeface="Arial"/>
                <a:cs typeface="Arial"/>
              </a:rPr>
              <a:t>tipo </a:t>
            </a:r>
            <a:r>
              <a:rPr sz="3200" dirty="0">
                <a:latin typeface="Arial"/>
                <a:cs typeface="Arial"/>
              </a:rPr>
              <a:t>estrutura</a:t>
            </a:r>
            <a:r>
              <a:rPr sz="3200" spc="-3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deve  ficar </a:t>
            </a:r>
            <a:r>
              <a:rPr sz="3200" b="1" spc="-6" dirty="0">
                <a:latin typeface="Arial"/>
                <a:cs typeface="Arial"/>
              </a:rPr>
              <a:t>fora </a:t>
            </a:r>
            <a:r>
              <a:rPr sz="3200" spc="-6" dirty="0">
                <a:latin typeface="Arial"/>
                <a:cs typeface="Arial"/>
              </a:rPr>
              <a:t>do </a:t>
            </a:r>
            <a:r>
              <a:rPr sz="3200" dirty="0">
                <a:latin typeface="Arial"/>
                <a:cs typeface="Arial"/>
              </a:rPr>
              <a:t>programa  principal (</a:t>
            </a:r>
            <a:r>
              <a:rPr sz="3200" b="1" dirty="0">
                <a:latin typeface="Courier New"/>
                <a:cs typeface="Courier New"/>
              </a:rPr>
              <a:t>main</a:t>
            </a:r>
            <a:r>
              <a:rPr sz="3200" dirty="0">
                <a:latin typeface="Arial"/>
                <a:cs typeface="Arial"/>
              </a:rPr>
              <a:t>) </a:t>
            </a:r>
            <a:r>
              <a:rPr sz="3200" spc="-6" dirty="0">
                <a:latin typeface="Arial"/>
                <a:cs typeface="Arial"/>
              </a:rPr>
              <a:t>e de  </a:t>
            </a:r>
            <a:r>
              <a:rPr sz="3200" dirty="0">
                <a:latin typeface="Arial"/>
                <a:cs typeface="Arial"/>
              </a:rPr>
              <a:t>qualquer</a:t>
            </a:r>
            <a:r>
              <a:rPr sz="3200" spc="-7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função.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200">
              <a:latin typeface="Times New Roman"/>
              <a:cs typeface="Times New Roman"/>
            </a:endParaRPr>
          </a:p>
          <a:p>
            <a:pPr marL="535874" indent="-521391">
              <a:spcBef>
                <a:spcPts val="1983"/>
              </a:spcBef>
              <a:buClr>
                <a:srgbClr val="808080"/>
              </a:buClr>
              <a:buSzPct val="69642"/>
              <a:buChar char="•"/>
              <a:tabLst>
                <a:tab pos="535150" algn="l"/>
                <a:tab pos="535874" algn="l"/>
              </a:tabLst>
            </a:pPr>
            <a:r>
              <a:rPr sz="3200" dirty="0">
                <a:latin typeface="Arial"/>
                <a:cs typeface="Arial"/>
              </a:rPr>
              <a:t>A</a:t>
            </a:r>
            <a:r>
              <a:rPr sz="3200" spc="-103" dirty="0"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C00000"/>
                </a:solidFill>
                <a:latin typeface="Arial"/>
                <a:cs typeface="Arial"/>
              </a:rPr>
              <a:t>declaração</a:t>
            </a:r>
            <a:endParaRPr sz="3200">
              <a:latin typeface="Arial"/>
              <a:cs typeface="Arial"/>
            </a:endParaRPr>
          </a:p>
          <a:p>
            <a:pPr marL="465631" marR="6517"/>
            <a:r>
              <a:rPr sz="3200" dirty="0">
                <a:latin typeface="Arial"/>
                <a:cs typeface="Arial"/>
              </a:rPr>
              <a:t>de uma </a:t>
            </a:r>
            <a:r>
              <a:rPr sz="3200" spc="6" dirty="0">
                <a:latin typeface="Arial"/>
                <a:cs typeface="Arial"/>
              </a:rPr>
              <a:t>variável </a:t>
            </a:r>
            <a:r>
              <a:rPr sz="3200" dirty="0">
                <a:latin typeface="Arial"/>
                <a:cs typeface="Arial"/>
              </a:rPr>
              <a:t>do tipo  estrutura deve ficar  </a:t>
            </a:r>
            <a:r>
              <a:rPr sz="3200" b="1" dirty="0">
                <a:latin typeface="Arial"/>
                <a:cs typeface="Arial"/>
              </a:rPr>
              <a:t>dentro </a:t>
            </a:r>
            <a:r>
              <a:rPr sz="3200" dirty="0">
                <a:latin typeface="Arial"/>
                <a:cs typeface="Arial"/>
              </a:rPr>
              <a:t>de alguma</a:t>
            </a:r>
            <a:r>
              <a:rPr sz="3200" spc="-8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função  </a:t>
            </a:r>
            <a:r>
              <a:rPr sz="3200" spc="-6" dirty="0">
                <a:latin typeface="Arial"/>
                <a:cs typeface="Arial"/>
              </a:rPr>
              <a:t>(seja ela a </a:t>
            </a:r>
            <a:r>
              <a:rPr sz="3200" dirty="0">
                <a:latin typeface="Arial"/>
                <a:cs typeface="Arial"/>
              </a:rPr>
              <a:t>main </a:t>
            </a:r>
            <a:r>
              <a:rPr sz="3200" spc="-6" dirty="0">
                <a:latin typeface="Arial"/>
                <a:cs typeface="Arial"/>
              </a:rPr>
              <a:t>ou </a:t>
            </a:r>
            <a:r>
              <a:rPr sz="3200" dirty="0">
                <a:latin typeface="Arial"/>
                <a:cs typeface="Arial"/>
              </a:rPr>
              <a:t>outra  qualquer).</a:t>
            </a:r>
            <a:endParaRPr sz="32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405699" y="4809153"/>
            <a:ext cx="2510721" cy="943863"/>
          </a:xfrm>
          <a:custGeom>
            <a:avLst/>
            <a:gdLst/>
            <a:ahLst/>
            <a:cxnLst/>
            <a:rect l="l" t="t" r="r" b="b"/>
            <a:pathLst>
              <a:path w="2146935" h="856614">
                <a:moveTo>
                  <a:pt x="2067278" y="819989"/>
                </a:moveTo>
                <a:lnTo>
                  <a:pt x="2014982" y="828548"/>
                </a:lnTo>
                <a:lnTo>
                  <a:pt x="2009902" y="835660"/>
                </a:lnTo>
                <a:lnTo>
                  <a:pt x="2011045" y="843280"/>
                </a:lnTo>
                <a:lnTo>
                  <a:pt x="2012314" y="850900"/>
                </a:lnTo>
                <a:lnTo>
                  <a:pt x="2019553" y="856107"/>
                </a:lnTo>
                <a:lnTo>
                  <a:pt x="2127047" y="838581"/>
                </a:lnTo>
                <a:lnTo>
                  <a:pt x="2115692" y="838581"/>
                </a:lnTo>
                <a:lnTo>
                  <a:pt x="2067278" y="819989"/>
                </a:lnTo>
                <a:close/>
              </a:path>
              <a:path w="2146935" h="856614">
                <a:moveTo>
                  <a:pt x="2094690" y="815518"/>
                </a:moveTo>
                <a:lnTo>
                  <a:pt x="2067278" y="819989"/>
                </a:lnTo>
                <a:lnTo>
                  <a:pt x="2115692" y="838581"/>
                </a:lnTo>
                <a:lnTo>
                  <a:pt x="2117348" y="834263"/>
                </a:lnTo>
                <a:lnTo>
                  <a:pt x="2109724" y="834263"/>
                </a:lnTo>
                <a:lnTo>
                  <a:pt x="2094690" y="815518"/>
                </a:lnTo>
                <a:close/>
              </a:path>
              <a:path w="2146935" h="856614">
                <a:moveTo>
                  <a:pt x="2057273" y="734060"/>
                </a:moveTo>
                <a:lnTo>
                  <a:pt x="2051177" y="738886"/>
                </a:lnTo>
                <a:lnTo>
                  <a:pt x="2045208" y="743712"/>
                </a:lnTo>
                <a:lnTo>
                  <a:pt x="2044191" y="752475"/>
                </a:lnTo>
                <a:lnTo>
                  <a:pt x="2049017" y="758571"/>
                </a:lnTo>
                <a:lnTo>
                  <a:pt x="2077288" y="793820"/>
                </a:lnTo>
                <a:lnTo>
                  <a:pt x="2125726" y="812419"/>
                </a:lnTo>
                <a:lnTo>
                  <a:pt x="2115692" y="838581"/>
                </a:lnTo>
                <a:lnTo>
                  <a:pt x="2127047" y="838581"/>
                </a:lnTo>
                <a:lnTo>
                  <a:pt x="2146554" y="835406"/>
                </a:lnTo>
                <a:lnTo>
                  <a:pt x="2066036" y="735076"/>
                </a:lnTo>
                <a:lnTo>
                  <a:pt x="2057273" y="734060"/>
                </a:lnTo>
                <a:close/>
              </a:path>
              <a:path w="2146935" h="856614">
                <a:moveTo>
                  <a:pt x="2118360" y="811657"/>
                </a:moveTo>
                <a:lnTo>
                  <a:pt x="2094690" y="815518"/>
                </a:lnTo>
                <a:lnTo>
                  <a:pt x="2109724" y="834263"/>
                </a:lnTo>
                <a:lnTo>
                  <a:pt x="2118360" y="811657"/>
                </a:lnTo>
                <a:close/>
              </a:path>
              <a:path w="2146935" h="856614">
                <a:moveTo>
                  <a:pt x="2123741" y="811657"/>
                </a:moveTo>
                <a:lnTo>
                  <a:pt x="2118360" y="811657"/>
                </a:lnTo>
                <a:lnTo>
                  <a:pt x="2109724" y="834263"/>
                </a:lnTo>
                <a:lnTo>
                  <a:pt x="2117348" y="834263"/>
                </a:lnTo>
                <a:lnTo>
                  <a:pt x="2125726" y="812419"/>
                </a:lnTo>
                <a:lnTo>
                  <a:pt x="2123741" y="811657"/>
                </a:lnTo>
                <a:close/>
              </a:path>
              <a:path w="2146935" h="856614">
                <a:moveTo>
                  <a:pt x="9906" y="0"/>
                </a:moveTo>
                <a:lnTo>
                  <a:pt x="0" y="26162"/>
                </a:lnTo>
                <a:lnTo>
                  <a:pt x="2067278" y="819989"/>
                </a:lnTo>
                <a:lnTo>
                  <a:pt x="2094690" y="815518"/>
                </a:lnTo>
                <a:lnTo>
                  <a:pt x="2077288" y="793820"/>
                </a:lnTo>
                <a:lnTo>
                  <a:pt x="9906" y="0"/>
                </a:lnTo>
                <a:close/>
              </a:path>
              <a:path w="2146935" h="856614">
                <a:moveTo>
                  <a:pt x="2077288" y="793820"/>
                </a:moveTo>
                <a:lnTo>
                  <a:pt x="2094690" y="815518"/>
                </a:lnTo>
                <a:lnTo>
                  <a:pt x="2118360" y="811657"/>
                </a:lnTo>
                <a:lnTo>
                  <a:pt x="2123741" y="811657"/>
                </a:lnTo>
                <a:lnTo>
                  <a:pt x="2077288" y="79382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155890" y="1791451"/>
            <a:ext cx="2613942" cy="538051"/>
          </a:xfrm>
          <a:custGeom>
            <a:avLst/>
            <a:gdLst/>
            <a:ahLst/>
            <a:cxnLst/>
            <a:rect l="l" t="t" r="r" b="b"/>
            <a:pathLst>
              <a:path w="2235200" h="488314">
                <a:moveTo>
                  <a:pt x="2154036" y="444194"/>
                </a:moveTo>
                <a:lnTo>
                  <a:pt x="2111375" y="459105"/>
                </a:lnTo>
                <a:lnTo>
                  <a:pt x="2104009" y="461772"/>
                </a:lnTo>
                <a:lnTo>
                  <a:pt x="2100199" y="469646"/>
                </a:lnTo>
                <a:lnTo>
                  <a:pt x="2102739" y="477012"/>
                </a:lnTo>
                <a:lnTo>
                  <a:pt x="2105279" y="484250"/>
                </a:lnTo>
                <a:lnTo>
                  <a:pt x="2113279" y="488061"/>
                </a:lnTo>
                <a:lnTo>
                  <a:pt x="2210409" y="454025"/>
                </a:lnTo>
                <a:lnTo>
                  <a:pt x="2204847" y="454025"/>
                </a:lnTo>
                <a:lnTo>
                  <a:pt x="2154036" y="444194"/>
                </a:lnTo>
                <a:close/>
              </a:path>
              <a:path w="2235200" h="488314">
                <a:moveTo>
                  <a:pt x="2180380" y="434986"/>
                </a:moveTo>
                <a:lnTo>
                  <a:pt x="2154036" y="444194"/>
                </a:lnTo>
                <a:lnTo>
                  <a:pt x="2204847" y="454025"/>
                </a:lnTo>
                <a:lnTo>
                  <a:pt x="2205489" y="450723"/>
                </a:lnTo>
                <a:lnTo>
                  <a:pt x="2198369" y="450723"/>
                </a:lnTo>
                <a:lnTo>
                  <a:pt x="2180380" y="434986"/>
                </a:lnTo>
                <a:close/>
              </a:path>
              <a:path w="2235200" h="488314">
                <a:moveTo>
                  <a:pt x="2137917" y="360680"/>
                </a:moveTo>
                <a:lnTo>
                  <a:pt x="2129154" y="361315"/>
                </a:lnTo>
                <a:lnTo>
                  <a:pt x="2118994" y="372999"/>
                </a:lnTo>
                <a:lnTo>
                  <a:pt x="2119503" y="381762"/>
                </a:lnTo>
                <a:lnTo>
                  <a:pt x="2159598" y="416806"/>
                </a:lnTo>
                <a:lnTo>
                  <a:pt x="2210180" y="426593"/>
                </a:lnTo>
                <a:lnTo>
                  <a:pt x="2204847" y="454025"/>
                </a:lnTo>
                <a:lnTo>
                  <a:pt x="2210409" y="454025"/>
                </a:lnTo>
                <a:lnTo>
                  <a:pt x="2234691" y="445516"/>
                </a:lnTo>
                <a:lnTo>
                  <a:pt x="2143760" y="365887"/>
                </a:lnTo>
                <a:lnTo>
                  <a:pt x="2137917" y="360680"/>
                </a:lnTo>
                <a:close/>
              </a:path>
              <a:path w="2235200" h="488314">
                <a:moveTo>
                  <a:pt x="2202941" y="427100"/>
                </a:moveTo>
                <a:lnTo>
                  <a:pt x="2180380" y="434986"/>
                </a:lnTo>
                <a:lnTo>
                  <a:pt x="2198369" y="450723"/>
                </a:lnTo>
                <a:lnTo>
                  <a:pt x="2202941" y="427100"/>
                </a:lnTo>
                <a:close/>
              </a:path>
              <a:path w="2235200" h="488314">
                <a:moveTo>
                  <a:pt x="2210082" y="427100"/>
                </a:moveTo>
                <a:lnTo>
                  <a:pt x="2202941" y="427100"/>
                </a:lnTo>
                <a:lnTo>
                  <a:pt x="2198369" y="450723"/>
                </a:lnTo>
                <a:lnTo>
                  <a:pt x="2205489" y="450723"/>
                </a:lnTo>
                <a:lnTo>
                  <a:pt x="2210082" y="427100"/>
                </a:lnTo>
                <a:close/>
              </a:path>
              <a:path w="2235200" h="488314">
                <a:moveTo>
                  <a:pt x="5333" y="0"/>
                </a:moveTo>
                <a:lnTo>
                  <a:pt x="0" y="27432"/>
                </a:lnTo>
                <a:lnTo>
                  <a:pt x="2154036" y="444194"/>
                </a:lnTo>
                <a:lnTo>
                  <a:pt x="2180380" y="434986"/>
                </a:lnTo>
                <a:lnTo>
                  <a:pt x="2159598" y="416806"/>
                </a:lnTo>
                <a:lnTo>
                  <a:pt x="5333" y="0"/>
                </a:lnTo>
                <a:close/>
              </a:path>
              <a:path w="2235200" h="488314">
                <a:moveTo>
                  <a:pt x="2159598" y="416806"/>
                </a:moveTo>
                <a:lnTo>
                  <a:pt x="2180380" y="434986"/>
                </a:lnTo>
                <a:lnTo>
                  <a:pt x="2202941" y="427100"/>
                </a:lnTo>
                <a:lnTo>
                  <a:pt x="2210082" y="427100"/>
                </a:lnTo>
                <a:lnTo>
                  <a:pt x="2210180" y="426593"/>
                </a:lnTo>
                <a:lnTo>
                  <a:pt x="2159598" y="41680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402587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9321" y="1200643"/>
            <a:ext cx="6298710" cy="37779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2496" marR="5793" indent="-588013">
              <a:buClr>
                <a:srgbClr val="852B34"/>
              </a:buClr>
              <a:buSzPct val="70000"/>
              <a:buChar char="•"/>
              <a:tabLst>
                <a:tab pos="601772" algn="l"/>
                <a:tab pos="602496" algn="l"/>
              </a:tabLst>
            </a:pPr>
            <a:r>
              <a:rPr sz="3400" spc="-6" dirty="0">
                <a:latin typeface="Arial"/>
                <a:cs typeface="Arial"/>
              </a:rPr>
              <a:t>Cada </a:t>
            </a:r>
            <a:r>
              <a:rPr sz="3400" dirty="0">
                <a:latin typeface="Arial"/>
                <a:cs typeface="Arial"/>
              </a:rPr>
              <a:t>campo de uma  </a:t>
            </a:r>
            <a:r>
              <a:rPr sz="3400" spc="-6" dirty="0">
                <a:latin typeface="Arial"/>
                <a:cs typeface="Arial"/>
              </a:rPr>
              <a:t>estrutura pode armazenar  </a:t>
            </a:r>
            <a:r>
              <a:rPr sz="3400" dirty="0">
                <a:latin typeface="Arial"/>
                <a:cs typeface="Arial"/>
              </a:rPr>
              <a:t>um </a:t>
            </a:r>
            <a:r>
              <a:rPr sz="3400" spc="-6" dirty="0">
                <a:latin typeface="Arial"/>
                <a:cs typeface="Arial"/>
              </a:rPr>
              <a:t>valor (como </a:t>
            </a:r>
            <a:r>
              <a:rPr sz="3400" dirty="0">
                <a:latin typeface="Arial"/>
                <a:cs typeface="Arial"/>
              </a:rPr>
              <a:t>uma  </a:t>
            </a:r>
            <a:r>
              <a:rPr sz="3400" spc="-6" dirty="0">
                <a:latin typeface="Arial"/>
                <a:cs typeface="Arial"/>
              </a:rPr>
              <a:t>variável). Seu valor pode ser  acessado, modificado,  impresso,</a:t>
            </a:r>
            <a:r>
              <a:rPr sz="3400" spc="-86" dirty="0">
                <a:latin typeface="Arial"/>
                <a:cs typeface="Arial"/>
              </a:rPr>
              <a:t> </a:t>
            </a:r>
            <a:r>
              <a:rPr sz="3400" dirty="0">
                <a:latin typeface="Arial"/>
                <a:cs typeface="Arial"/>
              </a:rPr>
              <a:t>etc.</a:t>
            </a:r>
            <a:endParaRPr sz="3400">
              <a:latin typeface="Arial"/>
              <a:cs typeface="Arial"/>
            </a:endParaRPr>
          </a:p>
          <a:p>
            <a:pPr marL="602496" indent="-588013">
              <a:spcBef>
                <a:spcPts val="912"/>
              </a:spcBef>
              <a:buClr>
                <a:srgbClr val="852B34"/>
              </a:buClr>
              <a:buSzPct val="70000"/>
              <a:buChar char="•"/>
              <a:tabLst>
                <a:tab pos="601772" algn="l"/>
                <a:tab pos="602496" algn="l"/>
              </a:tabLst>
            </a:pPr>
            <a:r>
              <a:rPr sz="3400" spc="-6" dirty="0">
                <a:latin typeface="Arial"/>
                <a:cs typeface="Arial"/>
              </a:rPr>
              <a:t>Campos são</a:t>
            </a:r>
            <a:r>
              <a:rPr sz="3400" spc="-51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acessados</a:t>
            </a:r>
            <a:endParaRPr sz="3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Estruturas:</a:t>
            </a:r>
            <a:r>
              <a:rPr spc="-68" dirty="0"/>
              <a:t> </a:t>
            </a:r>
            <a:r>
              <a:rPr spc="-6" dirty="0"/>
              <a:t>Manipulação</a:t>
            </a:r>
          </a:p>
        </p:txBody>
      </p:sp>
      <p:sp>
        <p:nvSpPr>
          <p:cNvPr id="4" name="object 4"/>
          <p:cNvSpPr/>
          <p:nvPr/>
        </p:nvSpPr>
        <p:spPr>
          <a:xfrm>
            <a:off x="7117052" y="2350911"/>
            <a:ext cx="3282280" cy="2544022"/>
          </a:xfrm>
          <a:custGeom>
            <a:avLst/>
            <a:gdLst/>
            <a:ahLst/>
            <a:cxnLst/>
            <a:rect l="l" t="t" r="r" b="b"/>
            <a:pathLst>
              <a:path w="2806700" h="2308860">
                <a:moveTo>
                  <a:pt x="0" y="2308860"/>
                </a:moveTo>
                <a:lnTo>
                  <a:pt x="2806700" y="2308860"/>
                </a:lnTo>
                <a:lnTo>
                  <a:pt x="2806700" y="0"/>
                </a:lnTo>
                <a:lnTo>
                  <a:pt x="0" y="0"/>
                </a:lnTo>
                <a:lnTo>
                  <a:pt x="0" y="23088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58182" y="4894932"/>
          <a:ext cx="9941148" cy="25192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58869"/>
                <a:gridCol w="348662"/>
                <a:gridCol w="2933617"/>
              </a:tblGrid>
              <a:tr h="503767">
                <a:tc>
                  <a:txBody>
                    <a:bodyPr/>
                    <a:lstStyle/>
                    <a:p>
                      <a:pPr marL="537845">
                        <a:lnSpc>
                          <a:spcPts val="3210"/>
                        </a:lnSpc>
                      </a:pPr>
                      <a:r>
                        <a:rPr sz="3300" spc="-5" dirty="0">
                          <a:latin typeface="Arial"/>
                          <a:cs typeface="Arial"/>
                        </a:rPr>
                        <a:t>usando </a:t>
                      </a:r>
                      <a:r>
                        <a:rPr sz="3300" dirty="0">
                          <a:latin typeface="Arial"/>
                          <a:cs typeface="Arial"/>
                        </a:rPr>
                        <a:t>o </a:t>
                      </a:r>
                      <a:r>
                        <a:rPr sz="3300" spc="-5" dirty="0">
                          <a:latin typeface="Arial"/>
                          <a:cs typeface="Arial"/>
                        </a:rPr>
                        <a:t>operador</a:t>
                      </a:r>
                      <a:r>
                        <a:rPr sz="33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300" dirty="0">
                          <a:latin typeface="Arial"/>
                          <a:cs typeface="Arial"/>
                        </a:rPr>
                        <a:t>de</a:t>
                      </a: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1016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503767">
                <a:tc>
                  <a:txBody>
                    <a:bodyPr/>
                    <a:lstStyle/>
                    <a:p>
                      <a:pPr marL="537845">
                        <a:lnSpc>
                          <a:spcPts val="3329"/>
                        </a:lnSpc>
                      </a:pPr>
                      <a:r>
                        <a:rPr sz="3300" spc="-5" dirty="0">
                          <a:latin typeface="Arial"/>
                          <a:cs typeface="Arial"/>
                        </a:rPr>
                        <a:t>acesso </a:t>
                      </a:r>
                      <a:r>
                        <a:rPr sz="3300" b="1" dirty="0">
                          <a:latin typeface="Arial"/>
                          <a:cs typeface="Arial"/>
                        </a:rPr>
                        <a:t>ponto </a:t>
                      </a:r>
                      <a:r>
                        <a:rPr sz="33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(.) </a:t>
                      </a:r>
                      <a:r>
                        <a:rPr sz="3300" spc="-5" dirty="0">
                          <a:latin typeface="Arial"/>
                          <a:cs typeface="Arial"/>
                        </a:rPr>
                        <a:t>entre</a:t>
                      </a:r>
                      <a:r>
                        <a:rPr sz="33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300" spc="-5" dirty="0">
                          <a:latin typeface="Arial"/>
                          <a:cs typeface="Arial"/>
                        </a:rPr>
                        <a:t>o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504151">
                <a:tc>
                  <a:txBody>
                    <a:bodyPr/>
                    <a:lstStyle/>
                    <a:p>
                      <a:pPr marL="537845">
                        <a:lnSpc>
                          <a:spcPts val="3329"/>
                        </a:lnSpc>
                      </a:pPr>
                      <a:r>
                        <a:rPr sz="3300" b="1" dirty="0">
                          <a:latin typeface="Arial"/>
                          <a:cs typeface="Arial"/>
                        </a:rPr>
                        <a:t>nome da </a:t>
                      </a:r>
                      <a:r>
                        <a:rPr sz="3300" b="1" spc="-20" dirty="0">
                          <a:latin typeface="Arial"/>
                          <a:cs typeface="Arial"/>
                        </a:rPr>
                        <a:t>variável</a:t>
                      </a:r>
                      <a:r>
                        <a:rPr sz="3300" b="1" spc="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300" spc="-10" dirty="0">
                          <a:latin typeface="Arial"/>
                          <a:cs typeface="Arial"/>
                        </a:rPr>
                        <a:t>declarada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503767">
                <a:tc>
                  <a:txBody>
                    <a:bodyPr/>
                    <a:lstStyle/>
                    <a:p>
                      <a:pPr marL="537845">
                        <a:lnSpc>
                          <a:spcPts val="3329"/>
                        </a:lnSpc>
                      </a:pPr>
                      <a:r>
                        <a:rPr sz="3300" spc="-5" dirty="0">
                          <a:latin typeface="Arial"/>
                          <a:cs typeface="Arial"/>
                        </a:rPr>
                        <a:t>como </a:t>
                      </a:r>
                      <a:r>
                        <a:rPr sz="3300" dirty="0">
                          <a:latin typeface="Arial"/>
                          <a:cs typeface="Arial"/>
                        </a:rPr>
                        <a:t>estrutura </a:t>
                      </a:r>
                      <a:r>
                        <a:rPr sz="3300" spc="-5" dirty="0">
                          <a:latin typeface="Arial"/>
                          <a:cs typeface="Arial"/>
                        </a:rPr>
                        <a:t>e o </a:t>
                      </a:r>
                      <a:r>
                        <a:rPr sz="3300" b="1" dirty="0">
                          <a:latin typeface="Arial"/>
                          <a:cs typeface="Arial"/>
                        </a:rPr>
                        <a:t>nome</a:t>
                      </a:r>
                      <a:r>
                        <a:rPr sz="3300" b="1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300" b="1" dirty="0">
                          <a:latin typeface="Arial"/>
                          <a:cs typeface="Arial"/>
                        </a:rPr>
                        <a:t>do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503767">
                <a:tc>
                  <a:txBody>
                    <a:bodyPr/>
                    <a:lstStyle/>
                    <a:p>
                      <a:pPr marL="537845">
                        <a:lnSpc>
                          <a:spcPts val="3329"/>
                        </a:lnSpc>
                      </a:pPr>
                      <a:r>
                        <a:rPr sz="3300" b="1" spc="-5" dirty="0">
                          <a:latin typeface="Arial"/>
                          <a:cs typeface="Arial"/>
                        </a:rPr>
                        <a:t>campo</a:t>
                      </a:r>
                      <a:r>
                        <a:rPr sz="3300" spc="-5" dirty="0">
                          <a:latin typeface="Arial"/>
                          <a:cs typeface="Arial"/>
                        </a:rPr>
                        <a:t>.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7117052" y="2350910"/>
            <a:ext cx="3411248" cy="2598114"/>
          </a:xfrm>
          <a:prstGeom prst="rect">
            <a:avLst/>
          </a:prstGeom>
          <a:ln w="10160">
            <a:solidFill>
              <a:srgbClr val="000000"/>
            </a:solidFill>
          </a:ln>
        </p:spPr>
        <p:txBody>
          <a:bodyPr vert="horz" wrap="square" lIns="0" tIns="15207" rIns="0" bIns="0" rtlCol="0">
            <a:spAutoFit/>
          </a:bodyPr>
          <a:lstStyle/>
          <a:p>
            <a:pPr marL="99209">
              <a:spcBef>
                <a:spcPts val="120"/>
              </a:spcBef>
            </a:pPr>
            <a:r>
              <a:rPr sz="2100" b="1" spc="-11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2100" b="1" spc="-6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b="1" spc="-1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100" dirty="0">
              <a:latin typeface="Courier New"/>
              <a:cs typeface="Courier New"/>
            </a:endParaRPr>
          </a:p>
          <a:p>
            <a:pPr marL="99209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100" dirty="0">
              <a:latin typeface="Courier New"/>
              <a:cs typeface="Courier New"/>
            </a:endParaRPr>
          </a:p>
          <a:p>
            <a:pPr marL="412044" marR="430147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2100" spc="-11" dirty="0">
                <a:latin typeface="Courier New"/>
                <a:cs typeface="Courier New"/>
              </a:rPr>
              <a:t>nome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solidFill>
                  <a:srgbClr val="EF00EF"/>
                </a:solidFill>
                <a:latin typeface="Courier New"/>
                <a:cs typeface="Courier New"/>
              </a:rPr>
              <a:t>100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100" spc="-11" dirty="0">
                <a:latin typeface="Courier New"/>
                <a:cs typeface="Courier New"/>
              </a:rPr>
              <a:t>matricula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1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idade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 dirty="0">
              <a:latin typeface="Courier New"/>
              <a:cs typeface="Courier New"/>
            </a:endParaRPr>
          </a:p>
          <a:p>
            <a:pPr marL="412044">
              <a:lnSpc>
                <a:spcPts val="2463"/>
              </a:lnSpc>
            </a:pPr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1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cidade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solidFill>
                  <a:srgbClr val="EF00EF"/>
                </a:solidFill>
                <a:latin typeface="Courier New"/>
                <a:cs typeface="Courier New"/>
              </a:rPr>
              <a:t>50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100" dirty="0">
              <a:latin typeface="Courier New"/>
              <a:cs typeface="Courier New"/>
            </a:endParaRPr>
          </a:p>
          <a:p>
            <a:pPr marL="412044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1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sexo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 dirty="0">
              <a:latin typeface="Courier New"/>
              <a:cs typeface="Courier New"/>
            </a:endParaRPr>
          </a:p>
          <a:p>
            <a:pPr marL="99209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1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Aluno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81742770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5749" y="1063227"/>
            <a:ext cx="9632227" cy="14106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spc="-6" dirty="0">
                <a:latin typeface="Arial"/>
                <a:cs typeface="Arial"/>
              </a:rPr>
              <a:t>No </a:t>
            </a:r>
            <a:r>
              <a:rPr sz="3000" spc="-11" dirty="0">
                <a:latin typeface="Arial"/>
                <a:cs typeface="Arial"/>
              </a:rPr>
              <a:t>programa </a:t>
            </a:r>
            <a:r>
              <a:rPr sz="3000" spc="-6" dirty="0">
                <a:latin typeface="Arial"/>
                <a:cs typeface="Arial"/>
              </a:rPr>
              <a:t>são criadas duas variáveis</a:t>
            </a:r>
            <a:r>
              <a:rPr sz="3000" spc="205" dirty="0">
                <a:latin typeface="Arial"/>
                <a:cs typeface="Arial"/>
              </a:rPr>
              <a:t> </a:t>
            </a:r>
            <a:r>
              <a:rPr sz="3000" b="1" spc="-6" dirty="0">
                <a:latin typeface="Courier New"/>
                <a:cs typeface="Courier New"/>
              </a:rPr>
              <a:t>Aluno</a:t>
            </a:r>
            <a:r>
              <a:rPr sz="3000" spc="-6" dirty="0">
                <a:latin typeface="Arial"/>
                <a:cs typeface="Arial"/>
              </a:rPr>
              <a:t>.</a:t>
            </a:r>
            <a:endParaRPr sz="3000">
              <a:latin typeface="Arial"/>
              <a:cs typeface="Arial"/>
            </a:endParaRPr>
          </a:p>
          <a:p>
            <a:pPr marL="535874" marR="5793" indent="-521391">
              <a:lnSpc>
                <a:spcPts val="3330"/>
              </a:lnSpc>
              <a:spcBef>
                <a:spcPts val="758"/>
              </a:spcBef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spc="-6" dirty="0">
                <a:latin typeface="Arial"/>
                <a:cs typeface="Arial"/>
              </a:rPr>
              <a:t>Cada</a:t>
            </a:r>
            <a:r>
              <a:rPr sz="3000" spc="23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variável</a:t>
            </a:r>
            <a:r>
              <a:rPr sz="3000" spc="23" dirty="0">
                <a:latin typeface="Arial"/>
                <a:cs typeface="Arial"/>
              </a:rPr>
              <a:t> </a:t>
            </a:r>
            <a:r>
              <a:rPr sz="3000" b="1" spc="-6" dirty="0">
                <a:latin typeface="Courier New"/>
                <a:cs typeface="Courier New"/>
              </a:rPr>
              <a:t>Aluno</a:t>
            </a:r>
            <a:r>
              <a:rPr sz="3000" b="1" spc="-941" dirty="0">
                <a:latin typeface="Courier New"/>
                <a:cs typeface="Courier New"/>
              </a:rPr>
              <a:t> </a:t>
            </a:r>
            <a:r>
              <a:rPr sz="3000" spc="-6" dirty="0">
                <a:latin typeface="Arial"/>
                <a:cs typeface="Arial"/>
              </a:rPr>
              <a:t>(</a:t>
            </a:r>
            <a:r>
              <a:rPr sz="3000" b="1" spc="-6" dirty="0">
                <a:solidFill>
                  <a:srgbClr val="00664D"/>
                </a:solidFill>
                <a:latin typeface="Courier New"/>
                <a:cs typeface="Courier New"/>
              </a:rPr>
              <a:t>a1</a:t>
            </a:r>
            <a:r>
              <a:rPr sz="3000" b="1" spc="-962" dirty="0">
                <a:solidFill>
                  <a:srgbClr val="00664D"/>
                </a:solidFill>
                <a:latin typeface="Courier New"/>
                <a:cs typeface="Courier New"/>
              </a:rPr>
              <a:t> </a:t>
            </a:r>
            <a:r>
              <a:rPr sz="3000" spc="-6" dirty="0">
                <a:latin typeface="Arial"/>
                <a:cs typeface="Arial"/>
              </a:rPr>
              <a:t>e</a:t>
            </a:r>
            <a:r>
              <a:rPr sz="3000" spc="6" dirty="0">
                <a:latin typeface="Arial"/>
                <a:cs typeface="Arial"/>
              </a:rPr>
              <a:t> </a:t>
            </a:r>
            <a:r>
              <a:rPr sz="3000" b="1" spc="-6" dirty="0">
                <a:solidFill>
                  <a:srgbClr val="00664D"/>
                </a:solidFill>
                <a:latin typeface="Courier New"/>
                <a:cs typeface="Courier New"/>
              </a:rPr>
              <a:t>a2</a:t>
            </a:r>
            <a:r>
              <a:rPr sz="3000" spc="-6" dirty="0">
                <a:latin typeface="Arial"/>
                <a:cs typeface="Arial"/>
              </a:rPr>
              <a:t>)</a:t>
            </a:r>
            <a:r>
              <a:rPr sz="3000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tem</a:t>
            </a:r>
            <a:r>
              <a:rPr sz="3000" dirty="0">
                <a:latin typeface="Arial"/>
                <a:cs typeface="Arial"/>
              </a:rPr>
              <a:t> </a:t>
            </a:r>
            <a:r>
              <a:rPr sz="3000" spc="-11" dirty="0">
                <a:latin typeface="Arial"/>
                <a:cs typeface="Arial"/>
              </a:rPr>
              <a:t>nome,</a:t>
            </a:r>
            <a:r>
              <a:rPr sz="3000" spc="29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matricula,  idade, cidade e</a:t>
            </a:r>
            <a:r>
              <a:rPr sz="3000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sexo.</a:t>
            </a:r>
            <a:endParaRPr sz="3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5749" y="2440469"/>
            <a:ext cx="4096909" cy="474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dirty="0">
                <a:latin typeface="Arial"/>
                <a:cs typeface="Arial"/>
              </a:rPr>
              <a:t>O </a:t>
            </a:r>
            <a:r>
              <a:rPr sz="3000" spc="-6" dirty="0">
                <a:latin typeface="Arial"/>
                <a:cs typeface="Arial"/>
              </a:rPr>
              <a:t>uso </a:t>
            </a:r>
            <a:r>
              <a:rPr sz="3000" dirty="0">
                <a:latin typeface="Arial"/>
                <a:cs typeface="Arial"/>
              </a:rPr>
              <a:t>de</a:t>
            </a:r>
            <a:r>
              <a:rPr sz="3000" spc="-63" dirty="0">
                <a:latin typeface="Arial"/>
                <a:cs typeface="Arial"/>
              </a:rPr>
              <a:t> </a:t>
            </a:r>
            <a:r>
              <a:rPr sz="3000" b="1" spc="-6" dirty="0">
                <a:solidFill>
                  <a:srgbClr val="C00000"/>
                </a:solidFill>
                <a:latin typeface="Courier New"/>
                <a:cs typeface="Courier New"/>
              </a:rPr>
              <a:t>a1.idade</a:t>
            </a:r>
            <a:endParaRPr sz="3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28061" y="2440469"/>
            <a:ext cx="5314026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3000" spc="-6" dirty="0">
                <a:latin typeface="Arial"/>
                <a:cs typeface="Arial"/>
              </a:rPr>
              <a:t>permite acessar </a:t>
            </a:r>
            <a:r>
              <a:rPr sz="3000" dirty="0">
                <a:latin typeface="Arial"/>
                <a:cs typeface="Arial"/>
              </a:rPr>
              <a:t>ou </a:t>
            </a:r>
            <a:r>
              <a:rPr sz="3000" spc="-6" dirty="0">
                <a:latin typeface="Arial"/>
                <a:cs typeface="Arial"/>
              </a:rPr>
              <a:t>modificar</a:t>
            </a:r>
            <a:r>
              <a:rPr sz="3000" spc="34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o</a:t>
            </a:r>
            <a:endParaRPr sz="3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0420" y="2832568"/>
            <a:ext cx="5114267" cy="474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3000" spc="-6" dirty="0">
                <a:latin typeface="Arial"/>
                <a:cs typeface="Arial"/>
              </a:rPr>
              <a:t>campo </a:t>
            </a:r>
            <a:r>
              <a:rPr sz="3000" b="1" spc="-6" dirty="0">
                <a:solidFill>
                  <a:srgbClr val="00664D"/>
                </a:solidFill>
                <a:latin typeface="Courier New"/>
                <a:cs typeface="Courier New"/>
              </a:rPr>
              <a:t>idade</a:t>
            </a:r>
            <a:r>
              <a:rPr sz="3000" b="1" spc="-929" dirty="0">
                <a:solidFill>
                  <a:srgbClr val="00664D"/>
                </a:solidFill>
                <a:latin typeface="Courier New"/>
                <a:cs typeface="Courier New"/>
              </a:rPr>
              <a:t> </a:t>
            </a:r>
            <a:r>
              <a:rPr sz="3000" spc="-6" dirty="0">
                <a:latin typeface="Arial"/>
                <a:cs typeface="Arial"/>
              </a:rPr>
              <a:t>da variável </a:t>
            </a:r>
            <a:r>
              <a:rPr sz="3000" b="1" spc="-6" dirty="0">
                <a:solidFill>
                  <a:srgbClr val="00664D"/>
                </a:solidFill>
                <a:latin typeface="Courier New"/>
                <a:cs typeface="Courier New"/>
              </a:rPr>
              <a:t>a1</a:t>
            </a:r>
            <a:r>
              <a:rPr sz="3000" spc="-6" dirty="0">
                <a:latin typeface="Arial"/>
                <a:cs typeface="Arial"/>
              </a:rPr>
              <a:t>.</a:t>
            </a:r>
            <a:endParaRPr sz="30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Estruturas:</a:t>
            </a:r>
            <a:r>
              <a:rPr spc="-68" dirty="0"/>
              <a:t> </a:t>
            </a:r>
            <a:r>
              <a:rPr spc="-6" dirty="0"/>
              <a:t>Manipulação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574399" y="3845418"/>
            <a:ext cx="5994245" cy="2996346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6208" rIns="0" bIns="0" rtlCol="0">
            <a:spAutoFit/>
          </a:bodyPr>
          <a:lstStyle/>
          <a:p>
            <a:pPr marL="99933">
              <a:spcBef>
                <a:spcPts val="285"/>
              </a:spcBef>
            </a:pP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main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>
              <a:latin typeface="Courier New"/>
              <a:cs typeface="Courier New"/>
            </a:endParaRPr>
          </a:p>
          <a:p>
            <a:pPr marL="99933">
              <a:lnSpc>
                <a:spcPts val="2167"/>
              </a:lnSpc>
            </a:pP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378008">
              <a:lnSpc>
                <a:spcPts val="2440"/>
              </a:lnSpc>
            </a:pPr>
            <a:r>
              <a:rPr spc="-6" dirty="0">
                <a:latin typeface="Courier New"/>
                <a:cs typeface="Courier New"/>
              </a:rPr>
              <a:t>Aluno </a:t>
            </a:r>
            <a:r>
              <a:rPr sz="2100" b="1" dirty="0">
                <a:latin typeface="Courier New"/>
                <a:cs typeface="Courier New"/>
              </a:rPr>
              <a:t>a1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100" b="1" spc="-6" dirty="0">
                <a:latin typeface="Courier New"/>
                <a:cs typeface="Courier New"/>
              </a:rPr>
              <a:t>a2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>
              <a:spcBef>
                <a:spcPts val="23"/>
              </a:spcBef>
            </a:pPr>
            <a:endParaRPr sz="1900">
              <a:latin typeface="Times New Roman"/>
              <a:cs typeface="Times New Roman"/>
            </a:endParaRPr>
          </a:p>
          <a:p>
            <a:pPr marL="378008"/>
            <a:r>
              <a:rPr spc="-6" dirty="0">
                <a:latin typeface="Courier New"/>
                <a:cs typeface="Courier New"/>
              </a:rPr>
              <a:t>gets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b="1" spc="-6" dirty="0">
                <a:latin typeface="Courier New"/>
                <a:cs typeface="Courier New"/>
              </a:rPr>
              <a:t>a1</a:t>
            </a:r>
            <a:r>
              <a:rPr sz="21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100" b="1"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>
              <a:latin typeface="Courier New"/>
              <a:cs typeface="Courier New"/>
            </a:endParaRPr>
          </a:p>
          <a:p>
            <a:pPr marL="378008"/>
            <a:r>
              <a:rPr sz="2100" b="1" spc="-11" dirty="0">
                <a:latin typeface="Courier New"/>
                <a:cs typeface="Courier New"/>
              </a:rPr>
              <a:t>a1</a:t>
            </a:r>
            <a:r>
              <a:rPr sz="2100" b="1" spc="-11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100" b="1" spc="-11" dirty="0">
                <a:latin typeface="Courier New"/>
                <a:cs typeface="Courier New"/>
              </a:rPr>
              <a:t>idade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pc="-20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20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378008"/>
            <a:r>
              <a:rPr spc="-6" dirty="0">
                <a:latin typeface="Courier New"/>
                <a:cs typeface="Courier New"/>
              </a:rPr>
              <a:t>printf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pc="-6" dirty="0">
                <a:solidFill>
                  <a:srgbClr val="0000FF"/>
                </a:solidFill>
                <a:latin typeface="Courier New"/>
                <a:cs typeface="Courier New"/>
              </a:rPr>
              <a:t>"Matricula %d"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100" b="1" spc="-11" dirty="0">
                <a:latin typeface="Courier New"/>
                <a:cs typeface="Courier New"/>
              </a:rPr>
              <a:t>a2</a:t>
            </a:r>
            <a:r>
              <a:rPr sz="2100" b="1" spc="-11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100" b="1" spc="-11" dirty="0">
                <a:latin typeface="Courier New"/>
                <a:cs typeface="Courier New"/>
              </a:rPr>
              <a:t>matricula</a:t>
            </a:r>
            <a:r>
              <a:rPr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>
              <a:latin typeface="Courier New"/>
              <a:cs typeface="Courier New"/>
            </a:endParaRPr>
          </a:p>
          <a:p>
            <a:pPr marL="378008">
              <a:spcBef>
                <a:spcPts val="46"/>
              </a:spcBef>
            </a:pPr>
            <a:r>
              <a:rPr spc="-6" dirty="0">
                <a:solidFill>
                  <a:srgbClr val="BDBDE6"/>
                </a:solidFill>
                <a:latin typeface="Courier New"/>
                <a:cs typeface="Courier New"/>
              </a:rPr>
              <a:t>//</a:t>
            </a:r>
            <a:r>
              <a:rPr spc="-114" dirty="0">
                <a:solidFill>
                  <a:srgbClr val="BDBDE6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BDBDE6"/>
                </a:solidFill>
                <a:latin typeface="Courier New"/>
                <a:cs typeface="Courier New"/>
              </a:rPr>
              <a:t>...</a:t>
            </a:r>
            <a:endParaRPr>
              <a:latin typeface="Courier New"/>
              <a:cs typeface="Courier New"/>
            </a:endParaRPr>
          </a:p>
          <a:p>
            <a:pPr marL="37800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return</a:t>
            </a:r>
            <a:r>
              <a:rPr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99933">
              <a:spcBef>
                <a:spcPts val="23"/>
              </a:spcBef>
            </a:pP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4067" y="4175665"/>
            <a:ext cx="4099137" cy="2001073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4759" rIns="0" bIns="0" rtlCol="0">
            <a:spAutoFit/>
          </a:bodyPr>
          <a:lstStyle/>
          <a:p>
            <a:pPr marL="97761">
              <a:spcBef>
                <a:spcPts val="274"/>
              </a:spcBef>
            </a:pPr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1600" b="1" spc="-9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b="1" spc="-1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1600">
              <a:latin typeface="Courier New"/>
              <a:cs typeface="Courier New"/>
            </a:endParaRPr>
          </a:p>
          <a:p>
            <a:pPr marL="97761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341077" marR="1813282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1600" spc="-6" dirty="0">
                <a:latin typeface="Courier New"/>
                <a:cs typeface="Courier New"/>
              </a:rPr>
              <a:t>nome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6" dirty="0">
                <a:solidFill>
                  <a:srgbClr val="EF00EF"/>
                </a:solidFill>
                <a:latin typeface="Courier New"/>
                <a:cs typeface="Courier New"/>
              </a:rPr>
              <a:t>100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1600" spc="-11" dirty="0">
                <a:latin typeface="Courier New"/>
                <a:cs typeface="Courier New"/>
              </a:rPr>
              <a:t>matricula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16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latin typeface="Courier New"/>
                <a:cs typeface="Courier New"/>
              </a:rPr>
              <a:t>idade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1600" b="1" spc="-5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cidade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solidFill>
                  <a:srgbClr val="EF00EF"/>
                </a:solidFill>
                <a:latin typeface="Courier New"/>
                <a:cs typeface="Courier New"/>
              </a:rPr>
              <a:t>50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16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latin typeface="Courier New"/>
                <a:cs typeface="Courier New"/>
              </a:rPr>
              <a:t>sexo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  <a:p>
            <a:pPr marL="97761">
              <a:spcBef>
                <a:spcPts val="23"/>
              </a:spcBef>
            </a:pP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16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latin typeface="Courier New"/>
                <a:cs typeface="Courier New"/>
              </a:rPr>
              <a:t>Aluno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07817830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266" y="1041398"/>
            <a:ext cx="3860019" cy="1969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>
              <a:buClr>
                <a:srgbClr val="852B34"/>
              </a:buClr>
              <a:buSzPct val="69642"/>
              <a:buChar char="•"/>
              <a:tabLst>
                <a:tab pos="404802" algn="l"/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Neste </a:t>
            </a:r>
            <a:r>
              <a:rPr sz="3200" dirty="0">
                <a:latin typeface="Arial"/>
                <a:cs typeface="Arial"/>
              </a:rPr>
              <a:t>exemplo,  serão </a:t>
            </a:r>
            <a:r>
              <a:rPr sz="3200" spc="-6" dirty="0">
                <a:latin typeface="Arial"/>
                <a:cs typeface="Arial"/>
              </a:rPr>
              <a:t>lidos  </a:t>
            </a:r>
            <a:r>
              <a:rPr sz="3200" dirty="0">
                <a:latin typeface="Arial"/>
                <a:cs typeface="Arial"/>
              </a:rPr>
              <a:t>matrícula </a:t>
            </a:r>
            <a:r>
              <a:rPr sz="3200" spc="-6" dirty="0">
                <a:latin typeface="Arial"/>
                <a:cs typeface="Arial"/>
              </a:rPr>
              <a:t>e </a:t>
            </a:r>
            <a:r>
              <a:rPr sz="3200" dirty="0">
                <a:latin typeface="Arial"/>
                <a:cs typeface="Arial"/>
              </a:rPr>
              <a:t>nome  </a:t>
            </a:r>
            <a:r>
              <a:rPr sz="3200" spc="-6" dirty="0">
                <a:latin typeface="Arial"/>
                <a:cs typeface="Arial"/>
              </a:rPr>
              <a:t>de um</a:t>
            </a:r>
            <a:r>
              <a:rPr sz="3200" spc="-46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funcionário.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583" y="349250"/>
            <a:ext cx="922223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Estruturas:</a:t>
            </a:r>
            <a:r>
              <a:rPr spc="-68" dirty="0"/>
              <a:t> </a:t>
            </a:r>
            <a:r>
              <a:rPr spc="-6" dirty="0"/>
              <a:t>Manipulação</a:t>
            </a:r>
          </a:p>
        </p:txBody>
      </p:sp>
      <p:sp>
        <p:nvSpPr>
          <p:cNvPr id="4" name="object 4"/>
          <p:cNvSpPr/>
          <p:nvPr/>
        </p:nvSpPr>
        <p:spPr>
          <a:xfrm>
            <a:off x="4672422" y="920773"/>
            <a:ext cx="5614035" cy="6512584"/>
          </a:xfrm>
          <a:custGeom>
            <a:avLst/>
            <a:gdLst/>
            <a:ahLst/>
            <a:cxnLst/>
            <a:rect l="l" t="t" r="r" b="b"/>
            <a:pathLst>
              <a:path w="4800600" h="5910580">
                <a:moveTo>
                  <a:pt x="0" y="5910580"/>
                </a:moveTo>
                <a:lnTo>
                  <a:pt x="4800600" y="5910580"/>
                </a:lnTo>
                <a:lnTo>
                  <a:pt x="4800600" y="0"/>
                </a:lnTo>
                <a:lnTo>
                  <a:pt x="0" y="0"/>
                </a:lnTo>
                <a:lnTo>
                  <a:pt x="0" y="591058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72422" y="920773"/>
            <a:ext cx="5614035" cy="6512584"/>
          </a:xfrm>
          <a:custGeom>
            <a:avLst/>
            <a:gdLst/>
            <a:ahLst/>
            <a:cxnLst/>
            <a:rect l="l" t="t" r="r" b="b"/>
            <a:pathLst>
              <a:path w="4800600" h="5910580">
                <a:moveTo>
                  <a:pt x="0" y="5910580"/>
                </a:moveTo>
                <a:lnTo>
                  <a:pt x="4800600" y="5910580"/>
                </a:lnTo>
                <a:lnTo>
                  <a:pt x="4800600" y="0"/>
                </a:lnTo>
                <a:lnTo>
                  <a:pt x="0" y="0"/>
                </a:lnTo>
                <a:lnTo>
                  <a:pt x="0" y="59105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766287" y="953938"/>
            <a:ext cx="5200408" cy="637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solidFill>
                  <a:srgbClr val="009F00"/>
                </a:solidFill>
                <a:latin typeface="Courier New"/>
                <a:cs typeface="Courier New"/>
              </a:rPr>
              <a:t>#include</a:t>
            </a:r>
            <a:r>
              <a:rPr sz="2300" spc="-86" dirty="0">
                <a:solidFill>
                  <a:srgbClr val="009F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009F00"/>
                </a:solidFill>
                <a:latin typeface="Courier New"/>
                <a:cs typeface="Courier New"/>
              </a:rPr>
              <a:t>&lt;stdio.h&gt;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300"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matricula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100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setor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Funcionario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46"/>
              </a:spcBef>
            </a:pPr>
            <a:endParaRPr sz="2300">
              <a:latin typeface="Times New Roman"/>
              <a:cs typeface="Times New Roman"/>
            </a:endParaRPr>
          </a:p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86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62077" marR="700257"/>
            <a:r>
              <a:rPr sz="2300" spc="-6" dirty="0">
                <a:latin typeface="Courier New"/>
                <a:cs typeface="Courier New"/>
              </a:rPr>
              <a:t>Funcionario </a:t>
            </a:r>
            <a:r>
              <a:rPr sz="2300" b="1" spc="-6" dirty="0">
                <a:latin typeface="Courier New"/>
                <a:cs typeface="Courier New"/>
              </a:rPr>
              <a:t>f1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b="1" spc="-6" dirty="0">
                <a:latin typeface="Courier New"/>
                <a:cs typeface="Courier New"/>
              </a:rPr>
              <a:t>f1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matricula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b="1" spc="-6" dirty="0">
                <a:latin typeface="Courier New"/>
                <a:cs typeface="Courier New"/>
              </a:rPr>
              <a:t>f1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spc="-6" dirty="0">
                <a:latin typeface="Courier New"/>
                <a:cs typeface="Courier New"/>
              </a:rPr>
              <a:t>scanf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"%d"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8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&amp;</a:t>
            </a:r>
            <a:r>
              <a:rPr sz="2300" b="1" spc="-6" dirty="0">
                <a:latin typeface="Courier New"/>
                <a:cs typeface="Courier New"/>
              </a:rPr>
              <a:t>f1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setor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362077" marR="5793"/>
            <a:r>
              <a:rPr sz="2300" spc="-6" dirty="0">
                <a:latin typeface="Courier New"/>
                <a:cs typeface="Courier New"/>
              </a:rPr>
              <a:t>puts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"Informacoes lidas:"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spc="-6" dirty="0">
                <a:latin typeface="Courier New"/>
                <a:cs typeface="Courier New"/>
              </a:rPr>
              <a:t>puts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b="1" spc="-6" dirty="0">
                <a:latin typeface="Courier New"/>
                <a:cs typeface="Courier New"/>
              </a:rPr>
              <a:t>f1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matricula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spc="-6" dirty="0">
                <a:latin typeface="Courier New"/>
                <a:cs typeface="Courier New"/>
              </a:rPr>
              <a:t>puts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b="1" spc="-6" dirty="0">
                <a:latin typeface="Courier New"/>
                <a:cs typeface="Courier New"/>
              </a:rPr>
              <a:t>f1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spc="-6" dirty="0">
                <a:latin typeface="Courier New"/>
                <a:cs typeface="Courier New"/>
              </a:rPr>
              <a:t>printf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"%d\n"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300" b="1" spc="-6" dirty="0">
                <a:latin typeface="Courier New"/>
                <a:cs typeface="Courier New"/>
              </a:rPr>
              <a:t>f1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setor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return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66287" y="7006905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11236935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9773" y="1204405"/>
            <a:ext cx="9835700" cy="63113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98084" marR="310662" indent="-683601">
              <a:lnSpc>
                <a:spcPct val="94900"/>
              </a:lnSpc>
              <a:buClr>
                <a:srgbClr val="C5000A"/>
              </a:buClr>
              <a:buAutoNum type="arabicParenR"/>
              <a:tabLst>
                <a:tab pos="420009" algn="l"/>
              </a:tabLst>
            </a:pPr>
            <a:r>
              <a:rPr sz="2700" dirty="0">
                <a:latin typeface="Arial"/>
                <a:cs typeface="Arial"/>
              </a:rPr>
              <a:t>Defina </a:t>
            </a:r>
            <a:r>
              <a:rPr sz="2700" spc="-6" dirty="0">
                <a:latin typeface="Arial"/>
                <a:cs typeface="Arial"/>
              </a:rPr>
              <a:t>uma </a:t>
            </a:r>
            <a:r>
              <a:rPr sz="2700" dirty="0">
                <a:latin typeface="Arial"/>
                <a:cs typeface="Arial"/>
              </a:rPr>
              <a:t>estrutura para representar </a:t>
            </a:r>
            <a:r>
              <a:rPr sz="2700" spc="-6" dirty="0">
                <a:latin typeface="Arial"/>
                <a:cs typeface="Arial"/>
              </a:rPr>
              <a:t>as </a:t>
            </a:r>
            <a:r>
              <a:rPr sz="2700" dirty="0">
                <a:latin typeface="Arial"/>
                <a:cs typeface="Arial"/>
              </a:rPr>
              <a:t>informações</a:t>
            </a:r>
            <a:r>
              <a:rPr sz="2700" spc="-97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de  um cartão de </a:t>
            </a:r>
            <a:r>
              <a:rPr sz="2700" dirty="0">
                <a:latin typeface="Arial"/>
                <a:cs typeface="Arial"/>
              </a:rPr>
              <a:t>crédito. </a:t>
            </a:r>
            <a:r>
              <a:rPr sz="2700" spc="-6" dirty="0">
                <a:latin typeface="Arial"/>
                <a:cs typeface="Arial"/>
              </a:rPr>
              <a:t>Você </a:t>
            </a:r>
            <a:r>
              <a:rPr sz="2700" dirty="0">
                <a:latin typeface="Arial"/>
                <a:cs typeface="Arial"/>
              </a:rPr>
              <a:t>precisa apenas criar </a:t>
            </a:r>
            <a:r>
              <a:rPr sz="2700" spc="-6" dirty="0">
                <a:latin typeface="Arial"/>
                <a:cs typeface="Arial"/>
              </a:rPr>
              <a:t>a  </a:t>
            </a:r>
            <a:r>
              <a:rPr sz="2700" dirty="0">
                <a:latin typeface="Arial"/>
                <a:cs typeface="Arial"/>
              </a:rPr>
              <a:t>estrutura </a:t>
            </a:r>
            <a:r>
              <a:rPr sz="2700" spc="-6" dirty="0">
                <a:latin typeface="Arial"/>
                <a:cs typeface="Arial"/>
              </a:rPr>
              <a:t>com </a:t>
            </a:r>
            <a:r>
              <a:rPr sz="2700" dirty="0">
                <a:latin typeface="Arial"/>
                <a:cs typeface="Arial"/>
              </a:rPr>
              <a:t>os dados </a:t>
            </a:r>
            <a:r>
              <a:rPr sz="2700" spc="-6" dirty="0">
                <a:latin typeface="Arial"/>
                <a:cs typeface="Arial"/>
              </a:rPr>
              <a:t>e tipos </a:t>
            </a:r>
            <a:r>
              <a:rPr sz="2700" dirty="0">
                <a:latin typeface="Arial"/>
                <a:cs typeface="Arial"/>
              </a:rPr>
              <a:t>apropriados. Não </a:t>
            </a:r>
            <a:r>
              <a:rPr sz="2700" spc="-6" dirty="0">
                <a:latin typeface="Arial"/>
                <a:cs typeface="Arial"/>
              </a:rPr>
              <a:t>é  </a:t>
            </a:r>
            <a:r>
              <a:rPr sz="2700" dirty="0">
                <a:latin typeface="Arial"/>
                <a:cs typeface="Arial"/>
              </a:rPr>
              <a:t>necessário criar um programa para</a:t>
            </a:r>
            <a:r>
              <a:rPr sz="2700" spc="-57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utilizá-la.</a:t>
            </a:r>
            <a:endParaRPr sz="2700">
              <a:latin typeface="Arial"/>
              <a:cs typeface="Arial"/>
            </a:endParaRPr>
          </a:p>
          <a:p>
            <a:pPr marL="420009" indent="-405526">
              <a:spcBef>
                <a:spcPts val="1733"/>
              </a:spcBef>
              <a:buClr>
                <a:srgbClr val="C5000A"/>
              </a:buClr>
              <a:buAutoNum type="arabicParenR"/>
              <a:tabLst>
                <a:tab pos="420009" algn="l"/>
              </a:tabLst>
            </a:pPr>
            <a:r>
              <a:rPr sz="2700" dirty="0">
                <a:latin typeface="Arial"/>
                <a:cs typeface="Arial"/>
              </a:rPr>
              <a:t>Defina </a:t>
            </a:r>
            <a:r>
              <a:rPr sz="2700" spc="-6" dirty="0">
                <a:latin typeface="Arial"/>
                <a:cs typeface="Arial"/>
              </a:rPr>
              <a:t>uma </a:t>
            </a:r>
            <a:r>
              <a:rPr sz="2700" dirty="0">
                <a:latin typeface="Arial"/>
                <a:cs typeface="Arial"/>
              </a:rPr>
              <a:t>estrutura chamada </a:t>
            </a:r>
            <a:r>
              <a:rPr sz="2700" spc="-6" dirty="0">
                <a:latin typeface="Courier New"/>
                <a:cs typeface="Courier New"/>
              </a:rPr>
              <a:t>medidas</a:t>
            </a:r>
            <a:r>
              <a:rPr sz="2700" spc="-981" dirty="0">
                <a:latin typeface="Courier New"/>
                <a:cs typeface="Courier New"/>
              </a:rPr>
              <a:t> </a:t>
            </a:r>
            <a:r>
              <a:rPr sz="2700" dirty="0">
                <a:latin typeface="Arial"/>
                <a:cs typeface="Arial"/>
              </a:rPr>
              <a:t>para representar</a:t>
            </a:r>
            <a:endParaRPr sz="2700">
              <a:latin typeface="Arial"/>
              <a:cs typeface="Arial"/>
            </a:endParaRPr>
          </a:p>
          <a:p>
            <a:pPr marL="698084"/>
            <a:r>
              <a:rPr sz="2700" dirty="0">
                <a:latin typeface="Arial"/>
                <a:cs typeface="Arial"/>
              </a:rPr>
              <a:t>o peso a altura de uma</a:t>
            </a:r>
            <a:r>
              <a:rPr sz="2700" spc="-12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pessoa.</a:t>
            </a:r>
            <a:endParaRPr sz="2700">
              <a:latin typeface="Arial"/>
              <a:cs typeface="Arial"/>
            </a:endParaRPr>
          </a:p>
          <a:p>
            <a:pPr marL="420009" indent="-405526">
              <a:spcBef>
                <a:spcPts val="1869"/>
              </a:spcBef>
              <a:buClr>
                <a:srgbClr val="C5000A"/>
              </a:buClr>
              <a:buAutoNum type="arabicParenR" startAt="3"/>
              <a:tabLst>
                <a:tab pos="420009" algn="l"/>
              </a:tabLst>
            </a:pPr>
            <a:r>
              <a:rPr sz="2700" dirty="0">
                <a:latin typeface="Arial"/>
                <a:cs typeface="Arial"/>
              </a:rPr>
              <a:t>Considerando </a:t>
            </a:r>
            <a:r>
              <a:rPr sz="2700" spc="-6" dirty="0">
                <a:latin typeface="Arial"/>
                <a:cs typeface="Arial"/>
              </a:rPr>
              <a:t>a </a:t>
            </a:r>
            <a:r>
              <a:rPr sz="2700" dirty="0">
                <a:latin typeface="Arial"/>
                <a:cs typeface="Arial"/>
              </a:rPr>
              <a:t>estrutura </a:t>
            </a:r>
            <a:r>
              <a:rPr sz="2700" spc="-6" dirty="0">
                <a:latin typeface="Arial"/>
                <a:cs typeface="Arial"/>
              </a:rPr>
              <a:t>do exercício (2) e a </a:t>
            </a:r>
            <a:r>
              <a:rPr sz="2700" dirty="0">
                <a:latin typeface="Arial"/>
                <a:cs typeface="Arial"/>
              </a:rPr>
              <a:t>declaração:</a:t>
            </a:r>
            <a:endParaRPr sz="2700">
              <a:latin typeface="Arial"/>
              <a:cs typeface="Arial"/>
            </a:endParaRPr>
          </a:p>
          <a:p>
            <a:pPr marL="2309326">
              <a:spcBef>
                <a:spcPts val="319"/>
              </a:spcBef>
            </a:pPr>
            <a:r>
              <a:rPr sz="2700" spc="-11" dirty="0">
                <a:latin typeface="Courier New"/>
                <a:cs typeface="Courier New"/>
              </a:rPr>
              <a:t>medidas </a:t>
            </a:r>
            <a:r>
              <a:rPr sz="2700" spc="-6" dirty="0">
                <a:latin typeface="Courier New"/>
                <a:cs typeface="Courier New"/>
              </a:rPr>
              <a:t>joao,</a:t>
            </a:r>
            <a:r>
              <a:rPr sz="2700" spc="-86" dirty="0">
                <a:latin typeface="Courier New"/>
                <a:cs typeface="Courier New"/>
              </a:rPr>
              <a:t> </a:t>
            </a:r>
            <a:r>
              <a:rPr sz="2700" spc="-11" dirty="0">
                <a:latin typeface="Courier New"/>
                <a:cs typeface="Courier New"/>
              </a:rPr>
              <a:t>maria;</a:t>
            </a:r>
            <a:endParaRPr sz="2700">
              <a:latin typeface="Courier New"/>
              <a:cs typeface="Courier New"/>
            </a:endParaRPr>
          </a:p>
          <a:p>
            <a:pPr marL="399009">
              <a:lnSpc>
                <a:spcPts val="3205"/>
              </a:lnSpc>
              <a:spcBef>
                <a:spcPts val="570"/>
              </a:spcBef>
            </a:pPr>
            <a:r>
              <a:rPr sz="2700" dirty="0">
                <a:latin typeface="Symbol"/>
                <a:cs typeface="Symbol"/>
              </a:rPr>
              <a:t></a:t>
            </a:r>
            <a:r>
              <a:rPr sz="2700" dirty="0">
                <a:latin typeface="Times New Roman"/>
                <a:cs typeface="Times New Roman"/>
              </a:rPr>
              <a:t> </a:t>
            </a:r>
            <a:r>
              <a:rPr sz="2700" spc="-6" dirty="0">
                <a:latin typeface="Arial"/>
                <a:cs typeface="Arial"/>
              </a:rPr>
              <a:t>Escreva </a:t>
            </a:r>
            <a:r>
              <a:rPr sz="2700" dirty="0">
                <a:latin typeface="Arial"/>
                <a:cs typeface="Arial"/>
              </a:rPr>
              <a:t>instruções para atribuir: </a:t>
            </a:r>
            <a:r>
              <a:rPr sz="2700" spc="-6" dirty="0">
                <a:latin typeface="Arial"/>
                <a:cs typeface="Arial"/>
              </a:rPr>
              <a:t>1.78 à </a:t>
            </a:r>
            <a:r>
              <a:rPr sz="2700" dirty="0">
                <a:latin typeface="Arial"/>
                <a:cs typeface="Arial"/>
              </a:rPr>
              <a:t>altura </a:t>
            </a:r>
            <a:r>
              <a:rPr sz="2700" spc="-6" dirty="0">
                <a:latin typeface="Arial"/>
                <a:cs typeface="Arial"/>
              </a:rPr>
              <a:t>de</a:t>
            </a:r>
            <a:r>
              <a:rPr sz="2700" spc="29" dirty="0">
                <a:latin typeface="Arial"/>
                <a:cs typeface="Arial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joao</a:t>
            </a:r>
            <a:r>
              <a:rPr sz="2700" spc="-6" dirty="0">
                <a:latin typeface="Arial"/>
                <a:cs typeface="Arial"/>
              </a:rPr>
              <a:t>;</a:t>
            </a:r>
            <a:endParaRPr sz="2700">
              <a:latin typeface="Arial"/>
              <a:cs typeface="Arial"/>
            </a:endParaRPr>
          </a:p>
          <a:p>
            <a:pPr marL="782086" marR="5793">
              <a:lnSpc>
                <a:spcPts val="3125"/>
              </a:lnSpc>
              <a:spcBef>
                <a:spcPts val="154"/>
              </a:spcBef>
            </a:pPr>
            <a:r>
              <a:rPr sz="2700" spc="-6" dirty="0">
                <a:latin typeface="Arial"/>
                <a:cs typeface="Arial"/>
              </a:rPr>
              <a:t>1.64 à </a:t>
            </a:r>
            <a:r>
              <a:rPr sz="2700" dirty="0">
                <a:latin typeface="Arial"/>
                <a:cs typeface="Arial"/>
              </a:rPr>
              <a:t>altura </a:t>
            </a:r>
            <a:r>
              <a:rPr sz="2700" spc="-6" dirty="0">
                <a:latin typeface="Arial"/>
                <a:cs typeface="Arial"/>
              </a:rPr>
              <a:t>de </a:t>
            </a:r>
            <a:r>
              <a:rPr sz="2700" spc="-6" dirty="0">
                <a:latin typeface="Courier New"/>
                <a:cs typeface="Courier New"/>
              </a:rPr>
              <a:t>maria</a:t>
            </a:r>
            <a:r>
              <a:rPr sz="2700" spc="-6" dirty="0">
                <a:latin typeface="Arial"/>
                <a:cs typeface="Arial"/>
              </a:rPr>
              <a:t>; 75 ao peso de </a:t>
            </a:r>
            <a:r>
              <a:rPr sz="2700" spc="-6" dirty="0">
                <a:latin typeface="Courier New"/>
                <a:cs typeface="Courier New"/>
              </a:rPr>
              <a:t>joao</a:t>
            </a:r>
            <a:r>
              <a:rPr sz="2700" spc="-6" dirty="0">
                <a:latin typeface="Arial"/>
                <a:cs typeface="Arial"/>
              </a:rPr>
              <a:t>; 59 ao peso  </a:t>
            </a:r>
            <a:r>
              <a:rPr sz="2700" dirty="0">
                <a:latin typeface="Arial"/>
                <a:cs typeface="Arial"/>
              </a:rPr>
              <a:t>de</a:t>
            </a:r>
            <a:r>
              <a:rPr sz="2700" spc="-108" dirty="0">
                <a:latin typeface="Arial"/>
                <a:cs typeface="Arial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maria</a:t>
            </a:r>
            <a:r>
              <a:rPr sz="2700" spc="-6" dirty="0">
                <a:latin typeface="Arial"/>
                <a:cs typeface="Arial"/>
              </a:rPr>
              <a:t>.</a:t>
            </a:r>
            <a:endParaRPr sz="2700">
              <a:latin typeface="Arial"/>
              <a:cs typeface="Arial"/>
            </a:endParaRPr>
          </a:p>
          <a:p>
            <a:pPr marL="793673" marR="918951" indent="-394664">
              <a:lnSpc>
                <a:spcPct val="92400"/>
              </a:lnSpc>
              <a:spcBef>
                <a:spcPts val="855"/>
              </a:spcBef>
            </a:pPr>
            <a:r>
              <a:rPr sz="2700" dirty="0">
                <a:latin typeface="Symbol"/>
                <a:cs typeface="Symbol"/>
              </a:rPr>
              <a:t></a:t>
            </a:r>
            <a:r>
              <a:rPr sz="2700" dirty="0">
                <a:latin typeface="Times New Roman"/>
                <a:cs typeface="Times New Roman"/>
              </a:rPr>
              <a:t> </a:t>
            </a:r>
            <a:r>
              <a:rPr sz="2700" spc="-6" dirty="0">
                <a:latin typeface="Arial"/>
                <a:cs typeface="Arial"/>
              </a:rPr>
              <a:t>Escreva um </a:t>
            </a:r>
            <a:r>
              <a:rPr sz="2700" dirty="0">
                <a:latin typeface="Arial"/>
                <a:cs typeface="Arial"/>
              </a:rPr>
              <a:t>conjunto </a:t>
            </a:r>
            <a:r>
              <a:rPr sz="2700" spc="-6" dirty="0">
                <a:latin typeface="Arial"/>
                <a:cs typeface="Arial"/>
              </a:rPr>
              <a:t>de </a:t>
            </a:r>
            <a:r>
              <a:rPr sz="2700" dirty="0">
                <a:latin typeface="Arial"/>
                <a:cs typeface="Arial"/>
              </a:rPr>
              <a:t>instruções para </a:t>
            </a:r>
            <a:r>
              <a:rPr sz="2700" spc="-6" dirty="0">
                <a:latin typeface="Arial"/>
                <a:cs typeface="Arial"/>
              </a:rPr>
              <a:t>imprimir a  </a:t>
            </a:r>
            <a:r>
              <a:rPr sz="2700" dirty="0">
                <a:latin typeface="Arial"/>
                <a:cs typeface="Arial"/>
              </a:rPr>
              <a:t>média das alturas </a:t>
            </a:r>
            <a:r>
              <a:rPr sz="2700" spc="-6" dirty="0">
                <a:latin typeface="Arial"/>
                <a:cs typeface="Arial"/>
              </a:rPr>
              <a:t>e a </a:t>
            </a:r>
            <a:r>
              <a:rPr sz="2700" dirty="0">
                <a:latin typeface="Arial"/>
                <a:cs typeface="Arial"/>
              </a:rPr>
              <a:t>média dos pesos </a:t>
            </a:r>
            <a:r>
              <a:rPr sz="2700" spc="-6" dirty="0">
                <a:latin typeface="Arial"/>
                <a:cs typeface="Arial"/>
              </a:rPr>
              <a:t>de </a:t>
            </a:r>
            <a:r>
              <a:rPr sz="2700" spc="-6" dirty="0">
                <a:latin typeface="Courier New"/>
                <a:cs typeface="Courier New"/>
              </a:rPr>
              <a:t>joao </a:t>
            </a:r>
            <a:r>
              <a:rPr sz="2700" spc="-6" dirty="0">
                <a:latin typeface="Arial"/>
                <a:cs typeface="Arial"/>
              </a:rPr>
              <a:t>e  </a:t>
            </a:r>
            <a:r>
              <a:rPr sz="2700" spc="-6" dirty="0">
                <a:latin typeface="Courier New"/>
                <a:cs typeface="Courier New"/>
              </a:rPr>
              <a:t>maria</a:t>
            </a:r>
            <a:r>
              <a:rPr sz="2700" spc="-6" dirty="0">
                <a:latin typeface="Arial"/>
                <a:cs typeface="Arial"/>
              </a:rPr>
              <a:t>.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6" dirty="0"/>
              <a:t>Exercíc</a:t>
            </a:r>
            <a:r>
              <a:rPr dirty="0"/>
              <a:t>ios</a:t>
            </a:r>
          </a:p>
        </p:txBody>
      </p:sp>
    </p:spTree>
    <p:extLst>
      <p:ext uri="{BB962C8B-B14F-4D97-AF65-F5344CB8AC3E}">
        <p14:creationId xmlns:p14="http://schemas.microsoft.com/office/powerpoint/2010/main" val="1485205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8091" y="1093874"/>
            <a:ext cx="8712893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6560" marR="5793" indent="-362077">
              <a:buClr>
                <a:srgbClr val="993300"/>
              </a:buClr>
              <a:buSzPct val="69642"/>
              <a:buChar char="•"/>
              <a:tabLst>
                <a:tab pos="375836" algn="l"/>
                <a:tab pos="376560" algn="l"/>
              </a:tabLst>
            </a:pPr>
            <a:r>
              <a:rPr sz="3200" dirty="0">
                <a:solidFill>
                  <a:srgbClr val="C00000"/>
                </a:solidFill>
                <a:latin typeface="Arial"/>
                <a:cs typeface="Arial"/>
              </a:rPr>
              <a:t>Definição </a:t>
            </a:r>
            <a:r>
              <a:rPr sz="3200" spc="-6" dirty="0">
                <a:latin typeface="Arial"/>
                <a:cs typeface="Arial"/>
              </a:rPr>
              <a:t>de </a:t>
            </a:r>
            <a:r>
              <a:rPr sz="3200" dirty="0">
                <a:latin typeface="Arial"/>
                <a:cs typeface="Arial"/>
              </a:rPr>
              <a:t>uma estrutura onde </a:t>
            </a:r>
            <a:r>
              <a:rPr sz="3200" spc="-6" dirty="0">
                <a:latin typeface="Arial"/>
                <a:cs typeface="Arial"/>
              </a:rPr>
              <a:t>um de seus  </a:t>
            </a:r>
            <a:r>
              <a:rPr sz="3200" dirty="0">
                <a:latin typeface="Arial"/>
                <a:cs typeface="Arial"/>
              </a:rPr>
              <a:t>campos </a:t>
            </a:r>
            <a:r>
              <a:rPr sz="3200" spc="-6" dirty="0">
                <a:latin typeface="Arial"/>
                <a:cs typeface="Arial"/>
              </a:rPr>
              <a:t>é </a:t>
            </a:r>
            <a:r>
              <a:rPr sz="3200" dirty="0">
                <a:latin typeface="Arial"/>
                <a:cs typeface="Arial"/>
              </a:rPr>
              <a:t>outra</a:t>
            </a:r>
            <a:r>
              <a:rPr sz="3200" spc="-5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estrutura: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30761" y="6686103"/>
            <a:ext cx="5726910" cy="386151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16656" rIns="0" bIns="0" rtlCol="0">
            <a:spAutoFit/>
          </a:bodyPr>
          <a:lstStyle/>
          <a:p>
            <a:pPr marL="109347">
              <a:spcBef>
                <a:spcPts val="131"/>
              </a:spcBef>
            </a:pPr>
            <a:r>
              <a:rPr sz="2400" b="1" spc="-6" dirty="0">
                <a:latin typeface="Courier New"/>
                <a:cs typeface="Courier New"/>
              </a:rPr>
              <a:t>ficha_pessoal </a:t>
            </a:r>
            <a:r>
              <a:rPr sz="2400" spc="-6" dirty="0">
                <a:latin typeface="Courier New"/>
                <a:cs typeface="Courier New"/>
              </a:rPr>
              <a:t>ficha1</a:t>
            </a:r>
            <a:r>
              <a:rPr sz="24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400" spc="-46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ficha2</a:t>
            </a:r>
            <a:r>
              <a:rPr sz="2400" b="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</a:t>
            </a:r>
            <a:r>
              <a:rPr spc="-46" dirty="0"/>
              <a:t> </a:t>
            </a:r>
            <a:r>
              <a:rPr spc="-6" dirty="0"/>
              <a:t>aninhadas</a:t>
            </a:r>
          </a:p>
        </p:txBody>
      </p:sp>
      <p:sp>
        <p:nvSpPr>
          <p:cNvPr id="5" name="object 5"/>
          <p:cNvSpPr/>
          <p:nvPr/>
        </p:nvSpPr>
        <p:spPr>
          <a:xfrm>
            <a:off x="840620" y="2210976"/>
            <a:ext cx="8611156" cy="2138210"/>
          </a:xfrm>
          <a:custGeom>
            <a:avLst/>
            <a:gdLst/>
            <a:ahLst/>
            <a:cxnLst/>
            <a:rect l="l" t="t" r="r" b="b"/>
            <a:pathLst>
              <a:path w="7363459" h="1940560">
                <a:moveTo>
                  <a:pt x="0" y="1940560"/>
                </a:moveTo>
                <a:lnTo>
                  <a:pt x="7363459" y="1940560"/>
                </a:lnTo>
                <a:lnTo>
                  <a:pt x="7363459" y="0"/>
                </a:lnTo>
                <a:lnTo>
                  <a:pt x="0" y="0"/>
                </a:lnTo>
                <a:lnTo>
                  <a:pt x="0" y="19405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40620" y="2210976"/>
            <a:ext cx="8611156" cy="2138210"/>
          </a:xfrm>
          <a:custGeom>
            <a:avLst/>
            <a:gdLst/>
            <a:ahLst/>
            <a:cxnLst/>
            <a:rect l="l" t="t" r="r" b="b"/>
            <a:pathLst>
              <a:path w="7363459" h="1940560">
                <a:moveTo>
                  <a:pt x="0" y="1940560"/>
                </a:moveTo>
                <a:lnTo>
                  <a:pt x="7363459" y="1940560"/>
                </a:lnTo>
                <a:lnTo>
                  <a:pt x="7363459" y="0"/>
                </a:lnTo>
                <a:lnTo>
                  <a:pt x="0" y="0"/>
                </a:lnTo>
                <a:lnTo>
                  <a:pt x="0" y="19405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372598" y="2240363"/>
            <a:ext cx="1069340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46440" y="2240363"/>
            <a:ext cx="1247563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46870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02887" y="2912331"/>
            <a:ext cx="2495869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68985"/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5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idade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9948" y="3584439"/>
            <a:ext cx="9131718" cy="30777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67737"/>
            <a:r>
              <a:rPr sz="2300" spc="-6" dirty="0">
                <a:latin typeface="Courier New"/>
                <a:cs typeface="Courier New"/>
              </a:rPr>
              <a:t>endereco</a:t>
            </a:r>
            <a:r>
              <a:rPr sz="2300" spc="-97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end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220867">
              <a:spcBef>
                <a:spcPts val="46"/>
              </a:spcBef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ficha_pessoal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34"/>
              </a:spcBef>
            </a:pPr>
            <a:endParaRPr sz="2900">
              <a:latin typeface="Times New Roman"/>
              <a:cs typeface="Times New Roman"/>
            </a:endParaRPr>
          </a:p>
          <a:p>
            <a:pPr marL="343249"/>
            <a:r>
              <a:rPr sz="3200" dirty="0">
                <a:latin typeface="Arial"/>
                <a:cs typeface="Arial"/>
              </a:rPr>
              <a:t>Repare </a:t>
            </a:r>
            <a:r>
              <a:rPr sz="3200" spc="-6" dirty="0">
                <a:latin typeface="Arial"/>
                <a:cs typeface="Arial"/>
              </a:rPr>
              <a:t>que um </a:t>
            </a:r>
            <a:r>
              <a:rPr sz="3200" dirty="0">
                <a:latin typeface="Arial"/>
                <a:cs typeface="Arial"/>
              </a:rPr>
              <a:t>campo do </a:t>
            </a:r>
            <a:r>
              <a:rPr sz="3200" spc="-6" dirty="0">
                <a:latin typeface="Arial"/>
                <a:cs typeface="Arial"/>
              </a:rPr>
              <a:t>tipo </a:t>
            </a:r>
            <a:r>
              <a:rPr sz="3200" b="1" spc="-6" dirty="0">
                <a:solidFill>
                  <a:srgbClr val="00664D"/>
                </a:solidFill>
                <a:latin typeface="Courier New"/>
                <a:cs typeface="Courier New"/>
              </a:rPr>
              <a:t>endereco</a:t>
            </a:r>
            <a:r>
              <a:rPr sz="3200" b="1" spc="-1032" dirty="0">
                <a:solidFill>
                  <a:srgbClr val="00664D"/>
                </a:solidFill>
                <a:latin typeface="Courier New"/>
                <a:cs typeface="Courier New"/>
              </a:rPr>
              <a:t> </a:t>
            </a:r>
            <a:r>
              <a:rPr sz="3200" spc="-6" dirty="0">
                <a:latin typeface="Arial"/>
                <a:cs typeface="Arial"/>
              </a:rPr>
              <a:t>é</a:t>
            </a:r>
            <a:endParaRPr sz="3200">
              <a:latin typeface="Arial"/>
              <a:cs typeface="Arial"/>
            </a:endParaRPr>
          </a:p>
          <a:p>
            <a:pPr marL="343249"/>
            <a:r>
              <a:rPr sz="3200" dirty="0">
                <a:latin typeface="Arial"/>
                <a:cs typeface="Arial"/>
              </a:rPr>
              <a:t>declarado dentro de</a:t>
            </a:r>
            <a:r>
              <a:rPr sz="3200" spc="-17" dirty="0">
                <a:latin typeface="Arial"/>
                <a:cs typeface="Arial"/>
              </a:rPr>
              <a:t> </a:t>
            </a:r>
            <a:r>
              <a:rPr sz="3200" b="1" spc="-6" dirty="0">
                <a:solidFill>
                  <a:srgbClr val="00664D"/>
                </a:solidFill>
                <a:latin typeface="Courier New"/>
                <a:cs typeface="Courier New"/>
              </a:rPr>
              <a:t>ficha_pessoal</a:t>
            </a:r>
            <a:r>
              <a:rPr sz="3200" spc="-6" dirty="0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  <a:p>
            <a:pPr>
              <a:spcBef>
                <a:spcPts val="6"/>
              </a:spcBef>
            </a:pPr>
            <a:endParaRPr sz="2900">
              <a:latin typeface="Times New Roman"/>
              <a:cs typeface="Times New Roman"/>
            </a:endParaRPr>
          </a:p>
          <a:p>
            <a:pPr marL="376560" indent="-362077">
              <a:buClr>
                <a:srgbClr val="993300"/>
              </a:buClr>
              <a:buSzPct val="69642"/>
              <a:buChar char="•"/>
              <a:tabLst>
                <a:tab pos="375836" algn="l"/>
                <a:tab pos="376560" algn="l"/>
              </a:tabLst>
            </a:pPr>
            <a:r>
              <a:rPr sz="3200" dirty="0">
                <a:solidFill>
                  <a:srgbClr val="C00000"/>
                </a:solidFill>
                <a:latin typeface="Arial"/>
                <a:cs typeface="Arial"/>
              </a:rPr>
              <a:t>Declaração </a:t>
            </a:r>
            <a:r>
              <a:rPr sz="3200" dirty="0">
                <a:latin typeface="Arial"/>
                <a:cs typeface="Arial"/>
              </a:rPr>
              <a:t>de variáveis do tipo definido</a:t>
            </a:r>
            <a:r>
              <a:rPr sz="3200" spc="-2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acima:</a:t>
            </a:r>
            <a:endParaRPr sz="32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746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811" y="1399"/>
            <a:ext cx="610786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/>
              <a:t>Estruturas</a:t>
            </a:r>
            <a:r>
              <a:rPr spc="-46" dirty="0"/>
              <a:t> </a:t>
            </a:r>
            <a:r>
              <a:rPr spc="-6" dirty="0"/>
              <a:t>aninhadas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4067" y="1687617"/>
            <a:ext cx="6484359" cy="3936527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7656" rIns="0" bIns="0" rtlCol="0">
            <a:spAutoFit/>
          </a:bodyPr>
          <a:lstStyle/>
          <a:p>
            <a:pPr marL="97761">
              <a:spcBef>
                <a:spcPts val="297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dia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mes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ano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7761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 marR="3075482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97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7761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 marR="3596873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86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dirty="0">
                <a:latin typeface="Courier New"/>
                <a:cs typeface="Courier New"/>
              </a:rPr>
              <a:t>…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32886" y="2913450"/>
            <a:ext cx="3635756" cy="1975884"/>
          </a:xfrm>
          <a:custGeom>
            <a:avLst/>
            <a:gdLst/>
            <a:ahLst/>
            <a:cxnLst/>
            <a:rect l="l" t="t" r="r" b="b"/>
            <a:pathLst>
              <a:path w="3108959" h="1793239">
                <a:moveTo>
                  <a:pt x="0" y="1793239"/>
                </a:moveTo>
                <a:lnTo>
                  <a:pt x="3108960" y="1793239"/>
                </a:lnTo>
                <a:lnTo>
                  <a:pt x="3108960" y="0"/>
                </a:lnTo>
                <a:lnTo>
                  <a:pt x="0" y="0"/>
                </a:lnTo>
                <a:lnTo>
                  <a:pt x="0" y="1793239"/>
                </a:lnTo>
                <a:close/>
              </a:path>
            </a:pathLst>
          </a:custGeom>
          <a:solidFill>
            <a:srgbClr val="ACAC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932886" y="2913450"/>
            <a:ext cx="3635756" cy="1975884"/>
          </a:xfrm>
          <a:custGeom>
            <a:avLst/>
            <a:gdLst/>
            <a:ahLst/>
            <a:cxnLst/>
            <a:rect l="l" t="t" r="r" b="b"/>
            <a:pathLst>
              <a:path w="3108959" h="1793239">
                <a:moveTo>
                  <a:pt x="0" y="1793239"/>
                </a:moveTo>
                <a:lnTo>
                  <a:pt x="3108960" y="1793239"/>
                </a:lnTo>
                <a:lnTo>
                  <a:pt x="3108960" y="0"/>
                </a:lnTo>
                <a:lnTo>
                  <a:pt x="0" y="0"/>
                </a:lnTo>
                <a:lnTo>
                  <a:pt x="0" y="17932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030909" y="3655108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20">
                <a:moveTo>
                  <a:pt x="0" y="934719"/>
                </a:moveTo>
                <a:lnTo>
                  <a:pt x="2087879" y="934719"/>
                </a:lnTo>
                <a:lnTo>
                  <a:pt x="2087879" y="0"/>
                </a:lnTo>
                <a:lnTo>
                  <a:pt x="0" y="0"/>
                </a:lnTo>
                <a:lnTo>
                  <a:pt x="0" y="934719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030909" y="3655108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20">
                <a:moveTo>
                  <a:pt x="0" y="934719"/>
                </a:moveTo>
                <a:lnTo>
                  <a:pt x="2087879" y="934719"/>
                </a:lnTo>
                <a:lnTo>
                  <a:pt x="2087879" y="0"/>
                </a:lnTo>
                <a:lnTo>
                  <a:pt x="0" y="0"/>
                </a:lnTo>
                <a:lnTo>
                  <a:pt x="0" y="93471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057644" y="2487348"/>
            <a:ext cx="2185464" cy="22465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aluno1</a:t>
            </a:r>
            <a:endParaRPr sz="2700">
              <a:latin typeface="Courier New"/>
              <a:cs typeface="Courier New"/>
            </a:endParaRPr>
          </a:p>
          <a:p>
            <a:pPr marL="26794" marR="5793">
              <a:lnSpc>
                <a:spcPct val="79200"/>
              </a:lnSpc>
              <a:spcBef>
                <a:spcPts val="1306"/>
              </a:spcBef>
            </a:pPr>
            <a:r>
              <a:rPr sz="2700" b="1" dirty="0">
                <a:latin typeface="Courier New"/>
                <a:cs typeface="Courier New"/>
              </a:rPr>
              <a:t>nome  nascimento  </a:t>
            </a:r>
            <a:r>
              <a:rPr sz="2700" b="1" spc="-6" dirty="0">
                <a:latin typeface="Courier New"/>
                <a:cs typeface="Courier New"/>
              </a:rPr>
              <a:t>dia</a:t>
            </a:r>
            <a:endParaRPr sz="2700">
              <a:latin typeface="Courier New"/>
              <a:cs typeface="Courier New"/>
            </a:endParaRPr>
          </a:p>
          <a:p>
            <a:pPr marL="162210">
              <a:lnSpc>
                <a:spcPts val="2304"/>
              </a:lnSpc>
            </a:pPr>
            <a:r>
              <a:rPr sz="2700" b="1" spc="-6" dirty="0">
                <a:latin typeface="Courier New"/>
                <a:cs typeface="Courier New"/>
              </a:rPr>
              <a:t>mes</a:t>
            </a:r>
            <a:endParaRPr sz="2700">
              <a:latin typeface="Courier New"/>
              <a:cs typeface="Courier New"/>
            </a:endParaRPr>
          </a:p>
          <a:p>
            <a:pPr marL="162210">
              <a:lnSpc>
                <a:spcPts val="2965"/>
              </a:lnSpc>
            </a:pPr>
            <a:r>
              <a:rPr sz="2700" b="1" spc="-6" dirty="0">
                <a:latin typeface="Courier New"/>
                <a:cs typeface="Courier New"/>
              </a:rPr>
              <a:t>ano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411659" y="7224617"/>
            <a:ext cx="207927" cy="1686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z="1100" dirty="0">
                <a:latin typeface="Times New Roman"/>
                <a:cs typeface="Times New Roman"/>
              </a:rPr>
              <a:pPr marL="28966">
                <a:lnSpc>
                  <a:spcPts val="1260"/>
                </a:lnSpc>
              </a:pPr>
              <a:t>104</a:t>
            </a:fld>
            <a:endParaRPr sz="11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88725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811" y="1399"/>
            <a:ext cx="610786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/>
              <a:t>Estruturas</a:t>
            </a:r>
            <a:r>
              <a:rPr spc="-46" dirty="0"/>
              <a:t> </a:t>
            </a:r>
            <a:r>
              <a:rPr spc="-6" dirty="0"/>
              <a:t>aninhadas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4067" y="1687617"/>
            <a:ext cx="6484359" cy="4290470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7656" rIns="0" bIns="0" rtlCol="0">
            <a:spAutoFit/>
          </a:bodyPr>
          <a:lstStyle/>
          <a:p>
            <a:pPr marL="97761">
              <a:spcBef>
                <a:spcPts val="297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dia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mes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ano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7761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 marR="3075482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97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7761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 marR="3596873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86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b="1" spc="-6" dirty="0">
                <a:latin typeface="Courier New"/>
                <a:cs typeface="Courier New"/>
              </a:rPr>
              <a:t>aluno1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spc="-6" dirty="0">
                <a:latin typeface="Courier New"/>
                <a:cs typeface="Courier New"/>
              </a:rPr>
              <a:t>…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32886" y="2913450"/>
            <a:ext cx="3635756" cy="1975884"/>
          </a:xfrm>
          <a:custGeom>
            <a:avLst/>
            <a:gdLst/>
            <a:ahLst/>
            <a:cxnLst/>
            <a:rect l="l" t="t" r="r" b="b"/>
            <a:pathLst>
              <a:path w="3108959" h="1793239">
                <a:moveTo>
                  <a:pt x="0" y="1793239"/>
                </a:moveTo>
                <a:lnTo>
                  <a:pt x="3108960" y="1793239"/>
                </a:lnTo>
                <a:lnTo>
                  <a:pt x="3108960" y="0"/>
                </a:lnTo>
                <a:lnTo>
                  <a:pt x="0" y="0"/>
                </a:lnTo>
                <a:lnTo>
                  <a:pt x="0" y="1793239"/>
                </a:lnTo>
                <a:close/>
              </a:path>
            </a:pathLst>
          </a:custGeom>
          <a:solidFill>
            <a:srgbClr val="ACAC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932886" y="2913450"/>
            <a:ext cx="3635756" cy="1975884"/>
          </a:xfrm>
          <a:custGeom>
            <a:avLst/>
            <a:gdLst/>
            <a:ahLst/>
            <a:cxnLst/>
            <a:rect l="l" t="t" r="r" b="b"/>
            <a:pathLst>
              <a:path w="3108959" h="1793239">
                <a:moveTo>
                  <a:pt x="0" y="1793239"/>
                </a:moveTo>
                <a:lnTo>
                  <a:pt x="3108960" y="1793239"/>
                </a:lnTo>
                <a:lnTo>
                  <a:pt x="3108960" y="0"/>
                </a:lnTo>
                <a:lnTo>
                  <a:pt x="0" y="0"/>
                </a:lnTo>
                <a:lnTo>
                  <a:pt x="0" y="17932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030909" y="3655108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20">
                <a:moveTo>
                  <a:pt x="0" y="934719"/>
                </a:moveTo>
                <a:lnTo>
                  <a:pt x="2087879" y="934719"/>
                </a:lnTo>
                <a:lnTo>
                  <a:pt x="2087879" y="0"/>
                </a:lnTo>
                <a:lnTo>
                  <a:pt x="0" y="0"/>
                </a:lnTo>
                <a:lnTo>
                  <a:pt x="0" y="934719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030909" y="3655108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20">
                <a:moveTo>
                  <a:pt x="0" y="934719"/>
                </a:moveTo>
                <a:lnTo>
                  <a:pt x="2087879" y="934719"/>
                </a:lnTo>
                <a:lnTo>
                  <a:pt x="2087879" y="0"/>
                </a:lnTo>
                <a:lnTo>
                  <a:pt x="0" y="0"/>
                </a:lnTo>
                <a:lnTo>
                  <a:pt x="0" y="93471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057644" y="2487348"/>
            <a:ext cx="2185464" cy="22465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aluno1</a:t>
            </a:r>
            <a:endParaRPr sz="2700">
              <a:latin typeface="Courier New"/>
              <a:cs typeface="Courier New"/>
            </a:endParaRPr>
          </a:p>
          <a:p>
            <a:pPr marL="26794" marR="5793">
              <a:lnSpc>
                <a:spcPct val="79200"/>
              </a:lnSpc>
              <a:spcBef>
                <a:spcPts val="1306"/>
              </a:spcBef>
            </a:pPr>
            <a:r>
              <a:rPr sz="2700" b="1" dirty="0">
                <a:latin typeface="Courier New"/>
                <a:cs typeface="Courier New"/>
              </a:rPr>
              <a:t>nome  nascimento  </a:t>
            </a:r>
            <a:r>
              <a:rPr sz="2700" b="1" spc="-6" dirty="0">
                <a:latin typeface="Courier New"/>
                <a:cs typeface="Courier New"/>
              </a:rPr>
              <a:t>dia</a:t>
            </a:r>
            <a:endParaRPr sz="2700">
              <a:latin typeface="Courier New"/>
              <a:cs typeface="Courier New"/>
            </a:endParaRPr>
          </a:p>
          <a:p>
            <a:pPr marL="162210">
              <a:lnSpc>
                <a:spcPts val="2304"/>
              </a:lnSpc>
            </a:pPr>
            <a:r>
              <a:rPr sz="2700" b="1" spc="-6" dirty="0">
                <a:latin typeface="Courier New"/>
                <a:cs typeface="Courier New"/>
              </a:rPr>
              <a:t>mes</a:t>
            </a:r>
            <a:endParaRPr sz="2700">
              <a:latin typeface="Courier New"/>
              <a:cs typeface="Courier New"/>
            </a:endParaRPr>
          </a:p>
          <a:p>
            <a:pPr marL="162210">
              <a:lnSpc>
                <a:spcPts val="2965"/>
              </a:lnSpc>
            </a:pPr>
            <a:r>
              <a:rPr sz="2700" b="1" spc="-6" dirty="0">
                <a:latin typeface="Courier New"/>
                <a:cs typeface="Courier New"/>
              </a:rPr>
              <a:t>ano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411659" y="7224617"/>
            <a:ext cx="207927" cy="1686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z="1100" dirty="0">
                <a:latin typeface="Times New Roman"/>
                <a:cs typeface="Times New Roman"/>
              </a:rPr>
              <a:pPr marL="28966">
                <a:lnSpc>
                  <a:spcPts val="1260"/>
                </a:lnSpc>
              </a:pPr>
              <a:t>105</a:t>
            </a:fld>
            <a:endParaRPr sz="11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00221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811" y="1399"/>
            <a:ext cx="610786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/>
              <a:t>Estruturas</a:t>
            </a:r>
            <a:r>
              <a:rPr spc="-46" dirty="0"/>
              <a:t> </a:t>
            </a:r>
            <a:r>
              <a:rPr spc="-6" dirty="0"/>
              <a:t>aninhadas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4067" y="1687617"/>
            <a:ext cx="6484359" cy="4644413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7656" rIns="0" bIns="0" rtlCol="0">
            <a:spAutoFit/>
          </a:bodyPr>
          <a:lstStyle/>
          <a:p>
            <a:pPr marL="97761">
              <a:spcBef>
                <a:spcPts val="297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dia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mes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ano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7761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 marR="3075482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97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7761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 marR="3596873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86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b="1" spc="-6" dirty="0">
                <a:latin typeface="Courier New"/>
                <a:cs typeface="Courier New"/>
              </a:rPr>
              <a:t>aluno1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nascimento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dia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spc="-6" dirty="0">
                <a:latin typeface="Courier New"/>
                <a:cs typeface="Courier New"/>
              </a:rPr>
              <a:t>…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32886" y="2913450"/>
            <a:ext cx="3635756" cy="1975884"/>
          </a:xfrm>
          <a:custGeom>
            <a:avLst/>
            <a:gdLst/>
            <a:ahLst/>
            <a:cxnLst/>
            <a:rect l="l" t="t" r="r" b="b"/>
            <a:pathLst>
              <a:path w="3108959" h="1793239">
                <a:moveTo>
                  <a:pt x="0" y="1793239"/>
                </a:moveTo>
                <a:lnTo>
                  <a:pt x="3108960" y="1793239"/>
                </a:lnTo>
                <a:lnTo>
                  <a:pt x="3108960" y="0"/>
                </a:lnTo>
                <a:lnTo>
                  <a:pt x="0" y="0"/>
                </a:lnTo>
                <a:lnTo>
                  <a:pt x="0" y="1793239"/>
                </a:lnTo>
                <a:close/>
              </a:path>
            </a:pathLst>
          </a:custGeom>
          <a:solidFill>
            <a:srgbClr val="ACAC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932886" y="2913450"/>
            <a:ext cx="3635756" cy="1975884"/>
          </a:xfrm>
          <a:custGeom>
            <a:avLst/>
            <a:gdLst/>
            <a:ahLst/>
            <a:cxnLst/>
            <a:rect l="l" t="t" r="r" b="b"/>
            <a:pathLst>
              <a:path w="3108959" h="1793239">
                <a:moveTo>
                  <a:pt x="0" y="1793239"/>
                </a:moveTo>
                <a:lnTo>
                  <a:pt x="3108960" y="1793239"/>
                </a:lnTo>
                <a:lnTo>
                  <a:pt x="3108960" y="0"/>
                </a:lnTo>
                <a:lnTo>
                  <a:pt x="0" y="0"/>
                </a:lnTo>
                <a:lnTo>
                  <a:pt x="0" y="17932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030909" y="3655108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20">
                <a:moveTo>
                  <a:pt x="0" y="934719"/>
                </a:moveTo>
                <a:lnTo>
                  <a:pt x="2087879" y="934719"/>
                </a:lnTo>
                <a:lnTo>
                  <a:pt x="2087879" y="0"/>
                </a:lnTo>
                <a:lnTo>
                  <a:pt x="0" y="0"/>
                </a:lnTo>
                <a:lnTo>
                  <a:pt x="0" y="934719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030909" y="3655108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20">
                <a:moveTo>
                  <a:pt x="0" y="934719"/>
                </a:moveTo>
                <a:lnTo>
                  <a:pt x="2087879" y="934719"/>
                </a:lnTo>
                <a:lnTo>
                  <a:pt x="2087879" y="0"/>
                </a:lnTo>
                <a:lnTo>
                  <a:pt x="0" y="0"/>
                </a:lnTo>
                <a:lnTo>
                  <a:pt x="0" y="93471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057644" y="2487348"/>
            <a:ext cx="2185464" cy="22465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aluno1</a:t>
            </a:r>
            <a:endParaRPr sz="2700">
              <a:latin typeface="Courier New"/>
              <a:cs typeface="Courier New"/>
            </a:endParaRPr>
          </a:p>
          <a:p>
            <a:pPr marL="26794" marR="5793">
              <a:lnSpc>
                <a:spcPct val="79200"/>
              </a:lnSpc>
              <a:spcBef>
                <a:spcPts val="1306"/>
              </a:spcBef>
            </a:pPr>
            <a:r>
              <a:rPr sz="2700" b="1" dirty="0">
                <a:latin typeface="Courier New"/>
                <a:cs typeface="Courier New"/>
              </a:rPr>
              <a:t>nome  nascimento  </a:t>
            </a:r>
            <a:r>
              <a:rPr sz="2700" b="1" spc="-6" dirty="0">
                <a:latin typeface="Courier New"/>
                <a:cs typeface="Courier New"/>
              </a:rPr>
              <a:t>dia</a:t>
            </a:r>
            <a:endParaRPr sz="2700">
              <a:latin typeface="Courier New"/>
              <a:cs typeface="Courier New"/>
            </a:endParaRPr>
          </a:p>
          <a:p>
            <a:pPr marL="162210">
              <a:lnSpc>
                <a:spcPts val="2304"/>
              </a:lnSpc>
            </a:pPr>
            <a:r>
              <a:rPr sz="2700" b="1" spc="-6" dirty="0">
                <a:latin typeface="Courier New"/>
                <a:cs typeface="Courier New"/>
              </a:rPr>
              <a:t>mes</a:t>
            </a:r>
            <a:endParaRPr sz="2700">
              <a:latin typeface="Courier New"/>
              <a:cs typeface="Courier New"/>
            </a:endParaRPr>
          </a:p>
          <a:p>
            <a:pPr marL="162210">
              <a:lnSpc>
                <a:spcPts val="2965"/>
              </a:lnSpc>
            </a:pPr>
            <a:r>
              <a:rPr sz="2700" b="1" spc="-6" dirty="0">
                <a:latin typeface="Courier New"/>
                <a:cs typeface="Courier New"/>
              </a:rPr>
              <a:t>ano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411659" y="7224617"/>
            <a:ext cx="207927" cy="1686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z="1100" dirty="0">
                <a:latin typeface="Times New Roman"/>
                <a:cs typeface="Times New Roman"/>
              </a:rPr>
              <a:pPr marL="28966">
                <a:lnSpc>
                  <a:spcPts val="1260"/>
                </a:lnSpc>
              </a:pPr>
              <a:t>106</a:t>
            </a:fld>
            <a:endParaRPr sz="11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14225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32887" y="769643"/>
            <a:ext cx="3657291" cy="69403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spcBef>
                <a:spcPts val="40"/>
              </a:spcBef>
            </a:pPr>
            <a:endParaRPr sz="1100">
              <a:latin typeface="Times New Roman"/>
              <a:cs typeface="Times New Roman"/>
            </a:endParaRPr>
          </a:p>
          <a:p>
            <a:pPr algn="r">
              <a:lnSpc>
                <a:spcPct val="100000"/>
              </a:lnSpc>
            </a:pPr>
            <a:r>
              <a:rPr sz="1100" spc="-6" dirty="0">
                <a:latin typeface="Times New Roman"/>
                <a:cs typeface="Times New Roman"/>
              </a:rPr>
              <a:t>21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811" y="1399"/>
            <a:ext cx="610786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/>
              <a:t>Estruturas</a:t>
            </a:r>
            <a:r>
              <a:rPr spc="-46" dirty="0"/>
              <a:t> </a:t>
            </a:r>
            <a:r>
              <a:rPr spc="-6" dirty="0"/>
              <a:t>aninhadas</a:t>
            </a:r>
          </a:p>
        </p:txBody>
      </p:sp>
      <p:sp>
        <p:nvSpPr>
          <p:cNvPr id="4" name="object 4"/>
          <p:cNvSpPr/>
          <p:nvPr/>
        </p:nvSpPr>
        <p:spPr>
          <a:xfrm>
            <a:off x="294067" y="755650"/>
            <a:ext cx="6484359" cy="6714090"/>
          </a:xfrm>
          <a:custGeom>
            <a:avLst/>
            <a:gdLst/>
            <a:ahLst/>
            <a:cxnLst/>
            <a:rect l="l" t="t" r="r" b="b"/>
            <a:pathLst>
              <a:path w="5544820" h="6093459">
                <a:moveTo>
                  <a:pt x="0" y="6093460"/>
                </a:moveTo>
                <a:lnTo>
                  <a:pt x="5544820" y="6093460"/>
                </a:lnTo>
                <a:lnTo>
                  <a:pt x="5544820" y="0"/>
                </a:lnTo>
                <a:lnTo>
                  <a:pt x="0" y="0"/>
                </a:lnTo>
                <a:lnTo>
                  <a:pt x="0" y="60934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4067" y="755650"/>
            <a:ext cx="6484359" cy="6714090"/>
          </a:xfrm>
          <a:custGeom>
            <a:avLst/>
            <a:gdLst/>
            <a:ahLst/>
            <a:cxnLst/>
            <a:rect l="l" t="t" r="r" b="b"/>
            <a:pathLst>
              <a:path w="5544820" h="6093459">
                <a:moveTo>
                  <a:pt x="0" y="6093460"/>
                </a:moveTo>
                <a:lnTo>
                  <a:pt x="5544820" y="6093460"/>
                </a:lnTo>
                <a:lnTo>
                  <a:pt x="5544820" y="0"/>
                </a:lnTo>
                <a:lnTo>
                  <a:pt x="0" y="0"/>
                </a:lnTo>
                <a:lnTo>
                  <a:pt x="0" y="60934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0260" y="805746"/>
            <a:ext cx="4457810" cy="38985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dia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mes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ano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300" b="1" spc="-5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],</a:t>
            </a:r>
            <a:r>
              <a:rPr sz="2300" spc="-6" dirty="0">
                <a:latin typeface="Courier New"/>
                <a:cs typeface="Courier New"/>
              </a:rPr>
              <a:t>cpf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97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Responsavel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347594" marR="1207889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80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7078" y="4501434"/>
            <a:ext cx="3565209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Responsavel</a:t>
            </a:r>
            <a:r>
              <a:rPr sz="2300" spc="-91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mae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pai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0260" y="4837139"/>
            <a:ext cx="2140165" cy="8874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7078" y="5677171"/>
            <a:ext cx="2317646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86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latin typeface="Courier New"/>
                <a:cs typeface="Courier New"/>
              </a:rPr>
              <a:t>…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932886" y="769643"/>
            <a:ext cx="3635756" cy="6708493"/>
          </a:xfrm>
          <a:custGeom>
            <a:avLst/>
            <a:gdLst/>
            <a:ahLst/>
            <a:cxnLst/>
            <a:rect l="l" t="t" r="r" b="b"/>
            <a:pathLst>
              <a:path w="3108959" h="6088380">
                <a:moveTo>
                  <a:pt x="0" y="6088380"/>
                </a:moveTo>
                <a:lnTo>
                  <a:pt x="3108960" y="6088380"/>
                </a:lnTo>
                <a:lnTo>
                  <a:pt x="3108960" y="0"/>
                </a:lnTo>
                <a:lnTo>
                  <a:pt x="0" y="0"/>
                </a:lnTo>
                <a:lnTo>
                  <a:pt x="0" y="6088380"/>
                </a:lnTo>
                <a:close/>
              </a:path>
            </a:pathLst>
          </a:custGeom>
          <a:solidFill>
            <a:srgbClr val="ACAC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932886" y="769643"/>
            <a:ext cx="3635756" cy="6708493"/>
          </a:xfrm>
          <a:custGeom>
            <a:avLst/>
            <a:gdLst/>
            <a:ahLst/>
            <a:cxnLst/>
            <a:rect l="l" t="t" r="r" b="b"/>
            <a:pathLst>
              <a:path w="3108959" h="6088380">
                <a:moveTo>
                  <a:pt x="0" y="6088380"/>
                </a:moveTo>
                <a:lnTo>
                  <a:pt x="3108960" y="6088380"/>
                </a:lnTo>
                <a:lnTo>
                  <a:pt x="3108960" y="0"/>
                </a:lnTo>
                <a:lnTo>
                  <a:pt x="0" y="0"/>
                </a:lnTo>
                <a:lnTo>
                  <a:pt x="0" y="60883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030909" y="1511300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19">
                <a:moveTo>
                  <a:pt x="0" y="934720"/>
                </a:moveTo>
                <a:lnTo>
                  <a:pt x="2087879" y="934720"/>
                </a:lnTo>
                <a:lnTo>
                  <a:pt x="2087879" y="0"/>
                </a:lnTo>
                <a:lnTo>
                  <a:pt x="0" y="0"/>
                </a:lnTo>
                <a:lnTo>
                  <a:pt x="0" y="93472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030909" y="1511300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19">
                <a:moveTo>
                  <a:pt x="0" y="934720"/>
                </a:moveTo>
                <a:lnTo>
                  <a:pt x="2087879" y="934720"/>
                </a:lnTo>
                <a:lnTo>
                  <a:pt x="2087879" y="0"/>
                </a:lnTo>
                <a:lnTo>
                  <a:pt x="0" y="0"/>
                </a:lnTo>
                <a:lnTo>
                  <a:pt x="0" y="9347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030909" y="2999812"/>
            <a:ext cx="3199109" cy="2073838"/>
          </a:xfrm>
          <a:custGeom>
            <a:avLst/>
            <a:gdLst/>
            <a:ahLst/>
            <a:cxnLst/>
            <a:rect l="l" t="t" r="r" b="b"/>
            <a:pathLst>
              <a:path w="2735579" h="1882139">
                <a:moveTo>
                  <a:pt x="0" y="1882140"/>
                </a:moveTo>
                <a:lnTo>
                  <a:pt x="2735579" y="1882140"/>
                </a:lnTo>
                <a:lnTo>
                  <a:pt x="2735579" y="0"/>
                </a:lnTo>
                <a:lnTo>
                  <a:pt x="0" y="0"/>
                </a:lnTo>
                <a:lnTo>
                  <a:pt x="0" y="188214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030909" y="2999812"/>
            <a:ext cx="3199109" cy="2073838"/>
          </a:xfrm>
          <a:custGeom>
            <a:avLst/>
            <a:gdLst/>
            <a:ahLst/>
            <a:cxnLst/>
            <a:rect l="l" t="t" r="r" b="b"/>
            <a:pathLst>
              <a:path w="2735579" h="1882139">
                <a:moveTo>
                  <a:pt x="0" y="1882140"/>
                </a:moveTo>
                <a:lnTo>
                  <a:pt x="2735579" y="1882140"/>
                </a:lnTo>
                <a:lnTo>
                  <a:pt x="2735579" y="0"/>
                </a:lnTo>
                <a:lnTo>
                  <a:pt x="0" y="0"/>
                </a:lnTo>
                <a:lnTo>
                  <a:pt x="0" y="1882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209132" y="3964728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60">
                <a:moveTo>
                  <a:pt x="0" y="937260"/>
                </a:moveTo>
                <a:lnTo>
                  <a:pt x="2087879" y="937260"/>
                </a:lnTo>
                <a:lnTo>
                  <a:pt x="2087879" y="0"/>
                </a:lnTo>
                <a:lnTo>
                  <a:pt x="0" y="0"/>
                </a:lnTo>
                <a:lnTo>
                  <a:pt x="0" y="93726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209132" y="3964728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60">
                <a:moveTo>
                  <a:pt x="0" y="937260"/>
                </a:moveTo>
                <a:lnTo>
                  <a:pt x="2087879" y="937260"/>
                </a:lnTo>
                <a:lnTo>
                  <a:pt x="2087879" y="0"/>
                </a:lnTo>
                <a:lnTo>
                  <a:pt x="0" y="0"/>
                </a:lnTo>
                <a:lnTo>
                  <a:pt x="0" y="9372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070713" y="823238"/>
            <a:ext cx="2307250" cy="4634056"/>
          </a:xfrm>
          <a:prstGeom prst="rect">
            <a:avLst/>
          </a:prstGeom>
        </p:spPr>
        <p:txBody>
          <a:bodyPr vert="horz" wrap="square" lIns="0" tIns="86898" rIns="0" bIns="0" rtlCol="0">
            <a:spAutoFit/>
          </a:bodyPr>
          <a:lstStyle/>
          <a:p>
            <a:pPr marL="14483" marR="136864">
              <a:lnSpc>
                <a:spcPct val="79200"/>
              </a:lnSpc>
              <a:spcBef>
                <a:spcPts val="684"/>
              </a:spcBef>
            </a:pPr>
            <a:r>
              <a:rPr sz="2700" b="1" dirty="0">
                <a:latin typeface="Courier New"/>
                <a:cs typeface="Courier New"/>
              </a:rPr>
              <a:t>nome  nascimento  </a:t>
            </a:r>
            <a:r>
              <a:rPr sz="2700" b="1" spc="-6" dirty="0">
                <a:latin typeface="Courier New"/>
                <a:cs typeface="Courier New"/>
              </a:rPr>
              <a:t>dia</a:t>
            </a:r>
            <a:endParaRPr sz="2700" dirty="0">
              <a:latin typeface="Courier New"/>
              <a:cs typeface="Courier New"/>
            </a:endParaRPr>
          </a:p>
          <a:p>
            <a:pPr marL="149176">
              <a:lnSpc>
                <a:spcPts val="2304"/>
              </a:lnSpc>
            </a:pPr>
            <a:r>
              <a:rPr sz="2700" b="1" spc="-6" dirty="0">
                <a:latin typeface="Courier New"/>
                <a:cs typeface="Courier New"/>
              </a:rPr>
              <a:t>mes</a:t>
            </a:r>
            <a:endParaRPr sz="2700" dirty="0">
              <a:latin typeface="Courier New"/>
              <a:cs typeface="Courier New"/>
            </a:endParaRPr>
          </a:p>
          <a:p>
            <a:pPr marL="149176">
              <a:lnSpc>
                <a:spcPts val="2908"/>
              </a:lnSpc>
            </a:pPr>
            <a:r>
              <a:rPr sz="2700" b="1" spc="-6" dirty="0">
                <a:latin typeface="Courier New"/>
                <a:cs typeface="Courier New"/>
              </a:rPr>
              <a:t>ano</a:t>
            </a:r>
            <a:endParaRPr sz="2700" dirty="0">
              <a:latin typeface="Courier New"/>
              <a:cs typeface="Courier New"/>
            </a:endParaRPr>
          </a:p>
          <a:p>
            <a:pPr marL="149176" marR="1257131" indent="-106451">
              <a:lnSpc>
                <a:spcPct val="87100"/>
              </a:lnSpc>
              <a:spcBef>
                <a:spcPts val="365"/>
              </a:spcBef>
            </a:pPr>
            <a:r>
              <a:rPr sz="2700" b="1" dirty="0">
                <a:latin typeface="Courier New"/>
                <a:cs typeface="Courier New"/>
              </a:rPr>
              <a:t>mae  </a:t>
            </a:r>
            <a:r>
              <a:rPr sz="2700" b="1" spc="-6" dirty="0">
                <a:latin typeface="Courier New"/>
                <a:cs typeface="Courier New"/>
              </a:rPr>
              <a:t>nome  cpf</a:t>
            </a:r>
            <a:endParaRPr sz="2700" dirty="0">
              <a:latin typeface="Courier New"/>
              <a:cs typeface="Courier New"/>
            </a:endParaRPr>
          </a:p>
          <a:p>
            <a:pPr marL="149176">
              <a:lnSpc>
                <a:spcPts val="2297"/>
              </a:lnSpc>
            </a:pPr>
            <a:r>
              <a:rPr sz="2700" b="1" spc="-6" dirty="0">
                <a:latin typeface="Courier New"/>
                <a:cs typeface="Courier New"/>
              </a:rPr>
              <a:t>nascimento</a:t>
            </a:r>
            <a:endParaRPr sz="2700" dirty="0">
              <a:latin typeface="Courier New"/>
              <a:cs typeface="Courier New"/>
            </a:endParaRPr>
          </a:p>
          <a:p>
            <a:pPr marL="322973" marR="1291891" algn="just">
              <a:lnSpc>
                <a:spcPct val="80300"/>
              </a:lnSpc>
              <a:spcBef>
                <a:spcPts val="297"/>
              </a:spcBef>
            </a:pPr>
            <a:r>
              <a:rPr sz="2700" b="1" spc="-6" dirty="0">
                <a:latin typeface="Courier New"/>
                <a:cs typeface="Courier New"/>
              </a:rPr>
              <a:t>dia  mes  ano</a:t>
            </a:r>
            <a:endParaRPr sz="2700" dirty="0">
              <a:latin typeface="Courier New"/>
              <a:cs typeface="Courier New"/>
            </a:endParaRPr>
          </a:p>
          <a:p>
            <a:pPr marL="43449">
              <a:spcBef>
                <a:spcPts val="80"/>
              </a:spcBef>
            </a:pPr>
            <a:r>
              <a:rPr sz="2700" b="1" dirty="0">
                <a:latin typeface="Courier New"/>
                <a:cs typeface="Courier New"/>
              </a:rPr>
              <a:t>pai</a:t>
            </a:r>
            <a:endParaRPr sz="2700" dirty="0">
              <a:latin typeface="Courier New"/>
              <a:cs typeface="Courier New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030909" y="5435412"/>
            <a:ext cx="3199109" cy="2076638"/>
          </a:xfrm>
          <a:custGeom>
            <a:avLst/>
            <a:gdLst/>
            <a:ahLst/>
            <a:cxnLst/>
            <a:rect l="l" t="t" r="r" b="b"/>
            <a:pathLst>
              <a:path w="2735579" h="1884679">
                <a:moveTo>
                  <a:pt x="0" y="1884680"/>
                </a:moveTo>
                <a:lnTo>
                  <a:pt x="2735579" y="1884680"/>
                </a:lnTo>
                <a:lnTo>
                  <a:pt x="2735579" y="0"/>
                </a:lnTo>
                <a:lnTo>
                  <a:pt x="0" y="0"/>
                </a:lnTo>
                <a:lnTo>
                  <a:pt x="0" y="188468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030909" y="5435412"/>
            <a:ext cx="3199109" cy="2076638"/>
          </a:xfrm>
          <a:custGeom>
            <a:avLst/>
            <a:gdLst/>
            <a:ahLst/>
            <a:cxnLst/>
            <a:rect l="l" t="t" r="r" b="b"/>
            <a:pathLst>
              <a:path w="2735579" h="1884679">
                <a:moveTo>
                  <a:pt x="0" y="1884680"/>
                </a:moveTo>
                <a:lnTo>
                  <a:pt x="2735579" y="1884680"/>
                </a:lnTo>
                <a:lnTo>
                  <a:pt x="2735579" y="0"/>
                </a:lnTo>
                <a:lnTo>
                  <a:pt x="0" y="0"/>
                </a:lnTo>
                <a:lnTo>
                  <a:pt x="0" y="18846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209133" y="5418584"/>
            <a:ext cx="2168384" cy="11028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954"/>
              </a:lnSpc>
            </a:pPr>
            <a:r>
              <a:rPr sz="2700" b="1" spc="-6" dirty="0">
                <a:latin typeface="Courier New"/>
                <a:cs typeface="Courier New"/>
              </a:rPr>
              <a:t>nome</a:t>
            </a:r>
            <a:endParaRPr sz="2700" dirty="0">
              <a:latin typeface="Courier New"/>
              <a:cs typeface="Courier New"/>
            </a:endParaRPr>
          </a:p>
          <a:p>
            <a:pPr marL="14483">
              <a:lnSpc>
                <a:spcPts val="2634"/>
              </a:lnSpc>
            </a:pPr>
            <a:r>
              <a:rPr sz="2700" b="1" spc="-6" dirty="0">
                <a:latin typeface="Courier New"/>
                <a:cs typeface="Courier New"/>
              </a:rPr>
              <a:t>cpf</a:t>
            </a:r>
            <a:endParaRPr sz="2700" dirty="0">
              <a:latin typeface="Courier New"/>
              <a:cs typeface="Courier New"/>
            </a:endParaRPr>
          </a:p>
          <a:p>
            <a:pPr marL="14483">
              <a:lnSpc>
                <a:spcPts val="2965"/>
              </a:lnSpc>
            </a:pPr>
            <a:r>
              <a:rPr sz="2700" b="1" spc="-6" dirty="0">
                <a:latin typeface="Courier New"/>
                <a:cs typeface="Courier New"/>
              </a:rPr>
              <a:t>nascimento</a:t>
            </a:r>
            <a:endParaRPr sz="2700" dirty="0">
              <a:latin typeface="Courier New"/>
              <a:cs typeface="Courier New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209132" y="6479328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59">
                <a:moveTo>
                  <a:pt x="0" y="937259"/>
                </a:moveTo>
                <a:lnTo>
                  <a:pt x="2087879" y="937259"/>
                </a:lnTo>
                <a:lnTo>
                  <a:pt x="2087879" y="0"/>
                </a:lnTo>
                <a:lnTo>
                  <a:pt x="0" y="0"/>
                </a:lnTo>
                <a:lnTo>
                  <a:pt x="0" y="937259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209132" y="6479328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59">
                <a:moveTo>
                  <a:pt x="0" y="937259"/>
                </a:moveTo>
                <a:lnTo>
                  <a:pt x="2087879" y="937259"/>
                </a:lnTo>
                <a:lnTo>
                  <a:pt x="2087879" y="0"/>
                </a:lnTo>
                <a:lnTo>
                  <a:pt x="0" y="0"/>
                </a:lnTo>
                <a:lnTo>
                  <a:pt x="0" y="93725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7387356" y="6437809"/>
            <a:ext cx="671308" cy="7694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954"/>
              </a:lnSpc>
            </a:pPr>
            <a:r>
              <a:rPr sz="2700" b="1" spc="-6" dirty="0" err="1" smtClean="0">
                <a:latin typeface="Courier New"/>
                <a:cs typeface="Courier New"/>
              </a:rPr>
              <a:t>dia</a:t>
            </a:r>
            <a:endParaRPr sz="2700" dirty="0">
              <a:latin typeface="Courier New"/>
              <a:cs typeface="Courier New"/>
            </a:endParaRPr>
          </a:p>
          <a:p>
            <a:pPr marL="14483">
              <a:lnSpc>
                <a:spcPts val="2954"/>
              </a:lnSpc>
            </a:pPr>
            <a:r>
              <a:rPr sz="2700" b="1" spc="-6" dirty="0">
                <a:latin typeface="Courier New"/>
                <a:cs typeface="Courier New"/>
              </a:rPr>
              <a:t>mes</a:t>
            </a:r>
            <a:endParaRPr sz="2700" dirty="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387356" y="7165801"/>
            <a:ext cx="671308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674"/>
              </a:lnSpc>
            </a:pPr>
            <a:r>
              <a:rPr sz="2700" b="1" spc="-6" dirty="0">
                <a:latin typeface="Courier New"/>
                <a:cs typeface="Courier New"/>
              </a:rPr>
              <a:t>ano</a:t>
            </a:r>
            <a:endParaRPr sz="2700" dirty="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057644" y="391119"/>
            <a:ext cx="1315140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aluno1</a:t>
            </a:r>
            <a:endParaRPr sz="27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867570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32887" y="769643"/>
            <a:ext cx="3657291" cy="69403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spcBef>
                <a:spcPts val="40"/>
              </a:spcBef>
            </a:pPr>
            <a:endParaRPr sz="1100">
              <a:latin typeface="Times New Roman"/>
              <a:cs typeface="Times New Roman"/>
            </a:endParaRPr>
          </a:p>
          <a:p>
            <a:pPr algn="r">
              <a:lnSpc>
                <a:spcPct val="100000"/>
              </a:lnSpc>
            </a:pPr>
            <a:r>
              <a:rPr sz="1100" spc="-6" dirty="0">
                <a:latin typeface="Times New Roman"/>
                <a:cs typeface="Times New Roman"/>
              </a:rPr>
              <a:t>22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811" y="1399"/>
            <a:ext cx="610786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/>
              <a:t>Estruturas</a:t>
            </a:r>
            <a:r>
              <a:rPr spc="-46" dirty="0"/>
              <a:t> </a:t>
            </a:r>
            <a:r>
              <a:rPr spc="-6" dirty="0"/>
              <a:t>aninhadas</a:t>
            </a:r>
          </a:p>
        </p:txBody>
      </p:sp>
      <p:sp>
        <p:nvSpPr>
          <p:cNvPr id="4" name="object 4"/>
          <p:cNvSpPr/>
          <p:nvPr/>
        </p:nvSpPr>
        <p:spPr>
          <a:xfrm>
            <a:off x="294067" y="755650"/>
            <a:ext cx="6484359" cy="6714090"/>
          </a:xfrm>
          <a:custGeom>
            <a:avLst/>
            <a:gdLst/>
            <a:ahLst/>
            <a:cxnLst/>
            <a:rect l="l" t="t" r="r" b="b"/>
            <a:pathLst>
              <a:path w="5544820" h="6093459">
                <a:moveTo>
                  <a:pt x="0" y="6093460"/>
                </a:moveTo>
                <a:lnTo>
                  <a:pt x="5544820" y="6093460"/>
                </a:lnTo>
                <a:lnTo>
                  <a:pt x="5544820" y="0"/>
                </a:lnTo>
                <a:lnTo>
                  <a:pt x="0" y="0"/>
                </a:lnTo>
                <a:lnTo>
                  <a:pt x="0" y="60934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4067" y="755650"/>
            <a:ext cx="6484359" cy="6714090"/>
          </a:xfrm>
          <a:custGeom>
            <a:avLst/>
            <a:gdLst/>
            <a:ahLst/>
            <a:cxnLst/>
            <a:rect l="l" t="t" r="r" b="b"/>
            <a:pathLst>
              <a:path w="5544820" h="6093459">
                <a:moveTo>
                  <a:pt x="0" y="6093460"/>
                </a:moveTo>
                <a:lnTo>
                  <a:pt x="5544820" y="6093460"/>
                </a:lnTo>
                <a:lnTo>
                  <a:pt x="5544820" y="0"/>
                </a:lnTo>
                <a:lnTo>
                  <a:pt x="0" y="0"/>
                </a:lnTo>
                <a:lnTo>
                  <a:pt x="0" y="60934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0260" y="805746"/>
            <a:ext cx="4457810" cy="38985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dia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mes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ano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300" b="1" spc="-5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],</a:t>
            </a:r>
            <a:r>
              <a:rPr sz="2300" spc="-6" dirty="0">
                <a:latin typeface="Courier New"/>
                <a:cs typeface="Courier New"/>
              </a:rPr>
              <a:t>cpf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97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Responsavel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347594" marR="1207889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80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7078" y="4501434"/>
            <a:ext cx="3565209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Responsavel</a:t>
            </a:r>
            <a:r>
              <a:rPr sz="2300" spc="-91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mae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pai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0260" y="4837139"/>
            <a:ext cx="2140165" cy="8874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7077" y="5677171"/>
            <a:ext cx="4635292" cy="14157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Aluno 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b="1" spc="-6" dirty="0">
                <a:latin typeface="Courier New"/>
                <a:cs typeface="Courier New"/>
              </a:rPr>
              <a:t>aluno1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b="1" spc="-6" dirty="0">
                <a:latin typeface="Courier New"/>
                <a:cs typeface="Courier New"/>
              </a:rPr>
              <a:t>aluno1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nascimento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dia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…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932886" y="769643"/>
            <a:ext cx="3635756" cy="6708493"/>
          </a:xfrm>
          <a:custGeom>
            <a:avLst/>
            <a:gdLst/>
            <a:ahLst/>
            <a:cxnLst/>
            <a:rect l="l" t="t" r="r" b="b"/>
            <a:pathLst>
              <a:path w="3108959" h="6088380">
                <a:moveTo>
                  <a:pt x="0" y="6088380"/>
                </a:moveTo>
                <a:lnTo>
                  <a:pt x="3108960" y="6088380"/>
                </a:lnTo>
                <a:lnTo>
                  <a:pt x="3108960" y="0"/>
                </a:lnTo>
                <a:lnTo>
                  <a:pt x="0" y="0"/>
                </a:lnTo>
                <a:lnTo>
                  <a:pt x="0" y="6088380"/>
                </a:lnTo>
                <a:close/>
              </a:path>
            </a:pathLst>
          </a:custGeom>
          <a:solidFill>
            <a:srgbClr val="ACAC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932886" y="769643"/>
            <a:ext cx="3635756" cy="6708493"/>
          </a:xfrm>
          <a:custGeom>
            <a:avLst/>
            <a:gdLst/>
            <a:ahLst/>
            <a:cxnLst/>
            <a:rect l="l" t="t" r="r" b="b"/>
            <a:pathLst>
              <a:path w="3108959" h="6088380">
                <a:moveTo>
                  <a:pt x="0" y="6088380"/>
                </a:moveTo>
                <a:lnTo>
                  <a:pt x="3108960" y="6088380"/>
                </a:lnTo>
                <a:lnTo>
                  <a:pt x="3108960" y="0"/>
                </a:lnTo>
                <a:lnTo>
                  <a:pt x="0" y="0"/>
                </a:lnTo>
                <a:lnTo>
                  <a:pt x="0" y="60883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057644" y="391119"/>
            <a:ext cx="1315140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aluno1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030909" y="1511300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19">
                <a:moveTo>
                  <a:pt x="0" y="934720"/>
                </a:moveTo>
                <a:lnTo>
                  <a:pt x="2087879" y="934720"/>
                </a:lnTo>
                <a:lnTo>
                  <a:pt x="2087879" y="0"/>
                </a:lnTo>
                <a:lnTo>
                  <a:pt x="0" y="0"/>
                </a:lnTo>
                <a:lnTo>
                  <a:pt x="0" y="93472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030909" y="1511300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19">
                <a:moveTo>
                  <a:pt x="0" y="934720"/>
                </a:moveTo>
                <a:lnTo>
                  <a:pt x="2087879" y="934720"/>
                </a:lnTo>
                <a:lnTo>
                  <a:pt x="2087879" y="0"/>
                </a:lnTo>
                <a:lnTo>
                  <a:pt x="0" y="0"/>
                </a:lnTo>
                <a:lnTo>
                  <a:pt x="0" y="9347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030909" y="2916249"/>
            <a:ext cx="3199109" cy="2073838"/>
          </a:xfrm>
          <a:custGeom>
            <a:avLst/>
            <a:gdLst/>
            <a:ahLst/>
            <a:cxnLst/>
            <a:rect l="l" t="t" r="r" b="b"/>
            <a:pathLst>
              <a:path w="2735579" h="1882139">
                <a:moveTo>
                  <a:pt x="0" y="1882140"/>
                </a:moveTo>
                <a:lnTo>
                  <a:pt x="2735579" y="1882140"/>
                </a:lnTo>
                <a:lnTo>
                  <a:pt x="2735579" y="0"/>
                </a:lnTo>
                <a:lnTo>
                  <a:pt x="0" y="0"/>
                </a:lnTo>
                <a:lnTo>
                  <a:pt x="0" y="188214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030909" y="2916249"/>
            <a:ext cx="3199109" cy="2073838"/>
          </a:xfrm>
          <a:custGeom>
            <a:avLst/>
            <a:gdLst/>
            <a:ahLst/>
            <a:cxnLst/>
            <a:rect l="l" t="t" r="r" b="b"/>
            <a:pathLst>
              <a:path w="2735579" h="1882139">
                <a:moveTo>
                  <a:pt x="0" y="1882140"/>
                </a:moveTo>
                <a:lnTo>
                  <a:pt x="2735579" y="1882140"/>
                </a:lnTo>
                <a:lnTo>
                  <a:pt x="2735579" y="0"/>
                </a:lnTo>
                <a:lnTo>
                  <a:pt x="0" y="0"/>
                </a:lnTo>
                <a:lnTo>
                  <a:pt x="0" y="1882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209132" y="3890198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60">
                <a:moveTo>
                  <a:pt x="0" y="937260"/>
                </a:moveTo>
                <a:lnTo>
                  <a:pt x="2087879" y="937260"/>
                </a:lnTo>
                <a:lnTo>
                  <a:pt x="2087879" y="0"/>
                </a:lnTo>
                <a:lnTo>
                  <a:pt x="0" y="0"/>
                </a:lnTo>
                <a:lnTo>
                  <a:pt x="0" y="93726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209132" y="3890198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60">
                <a:moveTo>
                  <a:pt x="0" y="937260"/>
                </a:moveTo>
                <a:lnTo>
                  <a:pt x="2087879" y="937260"/>
                </a:lnTo>
                <a:lnTo>
                  <a:pt x="2087879" y="0"/>
                </a:lnTo>
                <a:lnTo>
                  <a:pt x="0" y="0"/>
                </a:lnTo>
                <a:lnTo>
                  <a:pt x="0" y="9372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070713" y="823238"/>
            <a:ext cx="2307250" cy="4634056"/>
          </a:xfrm>
          <a:prstGeom prst="rect">
            <a:avLst/>
          </a:prstGeom>
        </p:spPr>
        <p:txBody>
          <a:bodyPr vert="horz" wrap="square" lIns="0" tIns="86898" rIns="0" bIns="0" rtlCol="0">
            <a:spAutoFit/>
          </a:bodyPr>
          <a:lstStyle/>
          <a:p>
            <a:pPr marL="14483" marR="136864">
              <a:lnSpc>
                <a:spcPct val="79200"/>
              </a:lnSpc>
              <a:spcBef>
                <a:spcPts val="684"/>
              </a:spcBef>
            </a:pPr>
            <a:r>
              <a:rPr sz="2700" b="1" dirty="0">
                <a:latin typeface="Courier New"/>
                <a:cs typeface="Courier New"/>
              </a:rPr>
              <a:t>nome  nascimento  </a:t>
            </a:r>
            <a:r>
              <a:rPr sz="2700" b="1" spc="-6" dirty="0">
                <a:latin typeface="Courier New"/>
                <a:cs typeface="Courier New"/>
              </a:rPr>
              <a:t>dia</a:t>
            </a:r>
            <a:endParaRPr sz="2700">
              <a:latin typeface="Courier New"/>
              <a:cs typeface="Courier New"/>
            </a:endParaRPr>
          </a:p>
          <a:p>
            <a:pPr marL="149176">
              <a:lnSpc>
                <a:spcPts val="2304"/>
              </a:lnSpc>
            </a:pPr>
            <a:r>
              <a:rPr sz="2700" b="1" spc="-6" dirty="0">
                <a:latin typeface="Courier New"/>
                <a:cs typeface="Courier New"/>
              </a:rPr>
              <a:t>mes</a:t>
            </a:r>
            <a:endParaRPr sz="2700">
              <a:latin typeface="Courier New"/>
              <a:cs typeface="Courier New"/>
            </a:endParaRPr>
          </a:p>
          <a:p>
            <a:pPr marL="149176">
              <a:lnSpc>
                <a:spcPts val="2908"/>
              </a:lnSpc>
            </a:pPr>
            <a:r>
              <a:rPr sz="2700" b="1" spc="-6" dirty="0">
                <a:latin typeface="Courier New"/>
                <a:cs typeface="Courier New"/>
              </a:rPr>
              <a:t>ano</a:t>
            </a:r>
            <a:endParaRPr sz="2700">
              <a:latin typeface="Courier New"/>
              <a:cs typeface="Courier New"/>
            </a:endParaRPr>
          </a:p>
          <a:p>
            <a:pPr marL="149176" marR="1257131" indent="-106451">
              <a:lnSpc>
                <a:spcPct val="87100"/>
              </a:lnSpc>
              <a:spcBef>
                <a:spcPts val="365"/>
              </a:spcBef>
            </a:pPr>
            <a:r>
              <a:rPr sz="2700" b="1" dirty="0">
                <a:latin typeface="Courier New"/>
                <a:cs typeface="Courier New"/>
              </a:rPr>
              <a:t>mae  </a:t>
            </a:r>
            <a:r>
              <a:rPr sz="2700" b="1" spc="-6" dirty="0">
                <a:latin typeface="Courier New"/>
                <a:cs typeface="Courier New"/>
              </a:rPr>
              <a:t>nome  cpf</a:t>
            </a:r>
            <a:endParaRPr sz="2700">
              <a:latin typeface="Courier New"/>
              <a:cs typeface="Courier New"/>
            </a:endParaRPr>
          </a:p>
          <a:p>
            <a:pPr marL="149176">
              <a:lnSpc>
                <a:spcPts val="2297"/>
              </a:lnSpc>
            </a:pPr>
            <a:r>
              <a:rPr sz="2700" b="1" spc="-6" dirty="0">
                <a:latin typeface="Courier New"/>
                <a:cs typeface="Courier New"/>
              </a:rPr>
              <a:t>nascimento</a:t>
            </a:r>
            <a:endParaRPr sz="2700">
              <a:latin typeface="Courier New"/>
              <a:cs typeface="Courier New"/>
            </a:endParaRPr>
          </a:p>
          <a:p>
            <a:pPr marL="322973" marR="1291891" algn="just">
              <a:lnSpc>
                <a:spcPct val="80300"/>
              </a:lnSpc>
              <a:spcBef>
                <a:spcPts val="297"/>
              </a:spcBef>
            </a:pPr>
            <a:r>
              <a:rPr sz="2700" b="1" spc="-6" dirty="0">
                <a:latin typeface="Courier New"/>
                <a:cs typeface="Courier New"/>
              </a:rPr>
              <a:t>dia  mes  ano</a:t>
            </a:r>
            <a:endParaRPr sz="2700">
              <a:latin typeface="Courier New"/>
              <a:cs typeface="Courier New"/>
            </a:endParaRPr>
          </a:p>
          <a:p>
            <a:pPr marL="43449">
              <a:spcBef>
                <a:spcPts val="80"/>
              </a:spcBef>
            </a:pPr>
            <a:r>
              <a:rPr sz="2700" b="1" dirty="0">
                <a:latin typeface="Courier New"/>
                <a:cs typeface="Courier New"/>
              </a:rPr>
              <a:t>pai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030909" y="5317537"/>
            <a:ext cx="3199109" cy="2076638"/>
          </a:xfrm>
          <a:custGeom>
            <a:avLst/>
            <a:gdLst/>
            <a:ahLst/>
            <a:cxnLst/>
            <a:rect l="l" t="t" r="r" b="b"/>
            <a:pathLst>
              <a:path w="2735579" h="1884679">
                <a:moveTo>
                  <a:pt x="0" y="1884680"/>
                </a:moveTo>
                <a:lnTo>
                  <a:pt x="2735579" y="1884680"/>
                </a:lnTo>
                <a:lnTo>
                  <a:pt x="2735579" y="0"/>
                </a:lnTo>
                <a:lnTo>
                  <a:pt x="0" y="0"/>
                </a:lnTo>
                <a:lnTo>
                  <a:pt x="0" y="188468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030909" y="5317537"/>
            <a:ext cx="3199109" cy="2076638"/>
          </a:xfrm>
          <a:custGeom>
            <a:avLst/>
            <a:gdLst/>
            <a:ahLst/>
            <a:cxnLst/>
            <a:rect l="l" t="t" r="r" b="b"/>
            <a:pathLst>
              <a:path w="2735579" h="1884679">
                <a:moveTo>
                  <a:pt x="0" y="1884680"/>
                </a:moveTo>
                <a:lnTo>
                  <a:pt x="2735579" y="1884680"/>
                </a:lnTo>
                <a:lnTo>
                  <a:pt x="2735579" y="0"/>
                </a:lnTo>
                <a:lnTo>
                  <a:pt x="0" y="0"/>
                </a:lnTo>
                <a:lnTo>
                  <a:pt x="0" y="18846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209133" y="5282273"/>
            <a:ext cx="2168384" cy="11028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954"/>
              </a:lnSpc>
            </a:pPr>
            <a:r>
              <a:rPr sz="2700" b="1" spc="-6" dirty="0">
                <a:latin typeface="Courier New"/>
                <a:cs typeface="Courier New"/>
              </a:rPr>
              <a:t>nome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634"/>
              </a:lnSpc>
            </a:pPr>
            <a:r>
              <a:rPr sz="2700" b="1" spc="-6" dirty="0">
                <a:latin typeface="Courier New"/>
                <a:cs typeface="Courier New"/>
              </a:rPr>
              <a:t>cpf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965"/>
              </a:lnSpc>
            </a:pPr>
            <a:r>
              <a:rPr sz="2700" b="1" spc="-6" dirty="0">
                <a:latin typeface="Courier New"/>
                <a:cs typeface="Courier New"/>
              </a:rPr>
              <a:t>nascimento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209132" y="6294283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59">
                <a:moveTo>
                  <a:pt x="0" y="937259"/>
                </a:moveTo>
                <a:lnTo>
                  <a:pt x="2087879" y="937259"/>
                </a:lnTo>
                <a:lnTo>
                  <a:pt x="2087879" y="0"/>
                </a:lnTo>
                <a:lnTo>
                  <a:pt x="0" y="0"/>
                </a:lnTo>
                <a:lnTo>
                  <a:pt x="0" y="937259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209132" y="6294283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59">
                <a:moveTo>
                  <a:pt x="0" y="937259"/>
                </a:moveTo>
                <a:lnTo>
                  <a:pt x="2087879" y="937259"/>
                </a:lnTo>
                <a:lnTo>
                  <a:pt x="2087879" y="0"/>
                </a:lnTo>
                <a:lnTo>
                  <a:pt x="0" y="0"/>
                </a:lnTo>
                <a:lnTo>
                  <a:pt x="0" y="93725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7387356" y="6247056"/>
            <a:ext cx="671308" cy="7694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954"/>
              </a:lnSpc>
            </a:pPr>
            <a:r>
              <a:rPr sz="2700" b="1" spc="-6" dirty="0">
                <a:latin typeface="Courier New"/>
                <a:cs typeface="Courier New"/>
              </a:rPr>
              <a:t>dia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954"/>
              </a:lnSpc>
            </a:pPr>
            <a:r>
              <a:rPr sz="2700" b="1" spc="-6" dirty="0">
                <a:latin typeface="Courier New"/>
                <a:cs typeface="Courier New"/>
              </a:rPr>
              <a:t>mes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387356" y="6968941"/>
            <a:ext cx="671308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674"/>
              </a:lnSpc>
            </a:pPr>
            <a:r>
              <a:rPr sz="2700" b="1" spc="-6" dirty="0">
                <a:latin typeface="Courier New"/>
                <a:cs typeface="Courier New"/>
              </a:rPr>
              <a:t>ano</a:t>
            </a:r>
            <a:endParaRPr sz="27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756737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32887" y="769643"/>
            <a:ext cx="3657291" cy="69403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spcBef>
                <a:spcPts val="40"/>
              </a:spcBef>
            </a:pPr>
            <a:endParaRPr sz="1100">
              <a:latin typeface="Times New Roman"/>
              <a:cs typeface="Times New Roman"/>
            </a:endParaRPr>
          </a:p>
          <a:p>
            <a:pPr algn="r">
              <a:lnSpc>
                <a:spcPct val="100000"/>
              </a:lnSpc>
            </a:pPr>
            <a:r>
              <a:rPr sz="1100" spc="-6" dirty="0">
                <a:latin typeface="Times New Roman"/>
                <a:cs typeface="Times New Roman"/>
              </a:rPr>
              <a:t>23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811" y="1399"/>
            <a:ext cx="610786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/>
              <a:t>Estruturas</a:t>
            </a:r>
            <a:r>
              <a:rPr spc="-46" dirty="0"/>
              <a:t> </a:t>
            </a:r>
            <a:r>
              <a:rPr spc="-6" dirty="0"/>
              <a:t>aninhadas</a:t>
            </a:r>
          </a:p>
        </p:txBody>
      </p:sp>
      <p:sp>
        <p:nvSpPr>
          <p:cNvPr id="4" name="object 4"/>
          <p:cNvSpPr/>
          <p:nvPr/>
        </p:nvSpPr>
        <p:spPr>
          <a:xfrm>
            <a:off x="294067" y="755650"/>
            <a:ext cx="6484359" cy="6714090"/>
          </a:xfrm>
          <a:custGeom>
            <a:avLst/>
            <a:gdLst/>
            <a:ahLst/>
            <a:cxnLst/>
            <a:rect l="l" t="t" r="r" b="b"/>
            <a:pathLst>
              <a:path w="5544820" h="6093459">
                <a:moveTo>
                  <a:pt x="0" y="6093460"/>
                </a:moveTo>
                <a:lnTo>
                  <a:pt x="5544820" y="6093460"/>
                </a:lnTo>
                <a:lnTo>
                  <a:pt x="5544820" y="0"/>
                </a:lnTo>
                <a:lnTo>
                  <a:pt x="0" y="0"/>
                </a:lnTo>
                <a:lnTo>
                  <a:pt x="0" y="60934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4067" y="755650"/>
            <a:ext cx="6484359" cy="6714090"/>
          </a:xfrm>
          <a:custGeom>
            <a:avLst/>
            <a:gdLst/>
            <a:ahLst/>
            <a:cxnLst/>
            <a:rect l="l" t="t" r="r" b="b"/>
            <a:pathLst>
              <a:path w="5544820" h="6093459">
                <a:moveTo>
                  <a:pt x="0" y="6093460"/>
                </a:moveTo>
                <a:lnTo>
                  <a:pt x="5544820" y="6093460"/>
                </a:lnTo>
                <a:lnTo>
                  <a:pt x="5544820" y="0"/>
                </a:lnTo>
                <a:lnTo>
                  <a:pt x="0" y="0"/>
                </a:lnTo>
                <a:lnTo>
                  <a:pt x="0" y="60934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85408" y="805746"/>
            <a:ext cx="3239209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dia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mes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ano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11492" y="1981483"/>
            <a:ext cx="145623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25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5408" y="1981482"/>
            <a:ext cx="1277267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2077" marR="5793" indent="-348318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 char 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33417" y="2317327"/>
            <a:ext cx="3239209" cy="7045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],</a:t>
            </a:r>
            <a:r>
              <a:rPr sz="2300" spc="-6" dirty="0">
                <a:latin typeface="Courier New"/>
                <a:cs typeface="Courier New"/>
              </a:rPr>
              <a:t>cpf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5408" y="2989295"/>
            <a:ext cx="2526316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Responsavel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11492" y="3493481"/>
            <a:ext cx="145623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25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5408" y="3493481"/>
            <a:ext cx="1277267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2077" marR="5793" indent="-348318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 char 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33417" y="3829326"/>
            <a:ext cx="1991646" cy="7045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81278" y="4501435"/>
            <a:ext cx="145623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ma</a:t>
            </a:r>
            <a:r>
              <a:rPr sz="2300" dirty="0">
                <a:latin typeface="Courier New"/>
                <a:cs typeface="Courier New"/>
              </a:rPr>
              <a:t>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pai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5408" y="4501434"/>
            <a:ext cx="2347350" cy="7038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2077"/>
            <a:r>
              <a:rPr sz="2300" spc="-6" dirty="0">
                <a:latin typeface="Courier New"/>
                <a:cs typeface="Courier New"/>
              </a:rPr>
              <a:t>Responsavel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85408" y="5341327"/>
            <a:ext cx="2169869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2225" y="5677170"/>
            <a:ext cx="4664996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/>
            <a:r>
              <a:rPr sz="2300" spc="-6" dirty="0">
                <a:latin typeface="Courier New"/>
                <a:cs typeface="Courier New"/>
              </a:rPr>
              <a:t>Aluno 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spc="-6" dirty="0">
                <a:latin typeface="Courier New"/>
                <a:cs typeface="Courier New"/>
              </a:rPr>
              <a:t>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dia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2226" y="6685053"/>
            <a:ext cx="5913302" cy="7045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/>
            <a:r>
              <a:rPr sz="2300" b="1" spc="-6" dirty="0">
                <a:latin typeface="Courier New"/>
                <a:cs typeface="Courier New"/>
              </a:rPr>
              <a:t>aluno1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mae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nascimento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ano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1975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printf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"%s"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300" b="1" spc="-6" dirty="0">
                <a:latin typeface="Courier New"/>
                <a:cs typeface="Courier New"/>
              </a:rPr>
              <a:t>aluno1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pai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cpf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r>
              <a:rPr sz="2300" spc="-6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…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932886" y="769643"/>
            <a:ext cx="3635756" cy="6708493"/>
          </a:xfrm>
          <a:custGeom>
            <a:avLst/>
            <a:gdLst/>
            <a:ahLst/>
            <a:cxnLst/>
            <a:rect l="l" t="t" r="r" b="b"/>
            <a:pathLst>
              <a:path w="3108959" h="6088380">
                <a:moveTo>
                  <a:pt x="0" y="6088380"/>
                </a:moveTo>
                <a:lnTo>
                  <a:pt x="3108960" y="6088380"/>
                </a:lnTo>
                <a:lnTo>
                  <a:pt x="3108960" y="0"/>
                </a:lnTo>
                <a:lnTo>
                  <a:pt x="0" y="0"/>
                </a:lnTo>
                <a:lnTo>
                  <a:pt x="0" y="6088380"/>
                </a:lnTo>
                <a:close/>
              </a:path>
            </a:pathLst>
          </a:custGeom>
          <a:solidFill>
            <a:srgbClr val="ACAC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932886" y="769643"/>
            <a:ext cx="3635756" cy="6708493"/>
          </a:xfrm>
          <a:custGeom>
            <a:avLst/>
            <a:gdLst/>
            <a:ahLst/>
            <a:cxnLst/>
            <a:rect l="l" t="t" r="r" b="b"/>
            <a:pathLst>
              <a:path w="3108959" h="6088380">
                <a:moveTo>
                  <a:pt x="0" y="6088380"/>
                </a:moveTo>
                <a:lnTo>
                  <a:pt x="3108960" y="6088380"/>
                </a:lnTo>
                <a:lnTo>
                  <a:pt x="3108960" y="0"/>
                </a:lnTo>
                <a:lnTo>
                  <a:pt x="0" y="0"/>
                </a:lnTo>
                <a:lnTo>
                  <a:pt x="0" y="60883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057644" y="391119"/>
            <a:ext cx="1315140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aluno1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070713" y="823238"/>
            <a:ext cx="2172097" cy="7598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948"/>
              </a:lnSpc>
            </a:pPr>
            <a:r>
              <a:rPr sz="2700" b="1" dirty="0">
                <a:latin typeface="Courier New"/>
                <a:cs typeface="Courier New"/>
              </a:rPr>
              <a:t>nome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948"/>
              </a:lnSpc>
            </a:pPr>
            <a:r>
              <a:rPr sz="2700" b="1" dirty="0">
                <a:latin typeface="Courier New"/>
                <a:cs typeface="Courier New"/>
              </a:rPr>
              <a:t>nascimento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030909" y="1511300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19">
                <a:moveTo>
                  <a:pt x="0" y="934720"/>
                </a:moveTo>
                <a:lnTo>
                  <a:pt x="2087879" y="934720"/>
                </a:lnTo>
                <a:lnTo>
                  <a:pt x="2087879" y="0"/>
                </a:lnTo>
                <a:lnTo>
                  <a:pt x="0" y="0"/>
                </a:lnTo>
                <a:lnTo>
                  <a:pt x="0" y="93472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030909" y="1511300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19">
                <a:moveTo>
                  <a:pt x="0" y="934720"/>
                </a:moveTo>
                <a:lnTo>
                  <a:pt x="2087879" y="934720"/>
                </a:lnTo>
                <a:lnTo>
                  <a:pt x="2087879" y="0"/>
                </a:lnTo>
                <a:lnTo>
                  <a:pt x="0" y="0"/>
                </a:lnTo>
                <a:lnTo>
                  <a:pt x="0" y="9347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7209431" y="1541296"/>
            <a:ext cx="671308" cy="1006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 algn="just">
              <a:lnSpc>
                <a:spcPct val="80300"/>
              </a:lnSpc>
            </a:pPr>
            <a:r>
              <a:rPr sz="2700" b="1" spc="-6" dirty="0">
                <a:latin typeface="Courier New"/>
                <a:cs typeface="Courier New"/>
              </a:rPr>
              <a:t>dia  mes  ano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100416" y="2497843"/>
            <a:ext cx="672793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mae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030909" y="2916249"/>
            <a:ext cx="3199109" cy="2073838"/>
          </a:xfrm>
          <a:custGeom>
            <a:avLst/>
            <a:gdLst/>
            <a:ahLst/>
            <a:cxnLst/>
            <a:rect l="l" t="t" r="r" b="b"/>
            <a:pathLst>
              <a:path w="2735579" h="1882139">
                <a:moveTo>
                  <a:pt x="0" y="1882140"/>
                </a:moveTo>
                <a:lnTo>
                  <a:pt x="2735579" y="1882140"/>
                </a:lnTo>
                <a:lnTo>
                  <a:pt x="2735579" y="0"/>
                </a:lnTo>
                <a:lnTo>
                  <a:pt x="0" y="0"/>
                </a:lnTo>
                <a:lnTo>
                  <a:pt x="0" y="188214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030909" y="2916249"/>
            <a:ext cx="3199109" cy="2073838"/>
          </a:xfrm>
          <a:custGeom>
            <a:avLst/>
            <a:gdLst/>
            <a:ahLst/>
            <a:cxnLst/>
            <a:rect l="l" t="t" r="r" b="b"/>
            <a:pathLst>
              <a:path w="2735579" h="1882139">
                <a:moveTo>
                  <a:pt x="0" y="1882140"/>
                </a:moveTo>
                <a:lnTo>
                  <a:pt x="2735579" y="1882140"/>
                </a:lnTo>
                <a:lnTo>
                  <a:pt x="2735579" y="0"/>
                </a:lnTo>
                <a:lnTo>
                  <a:pt x="0" y="0"/>
                </a:lnTo>
                <a:lnTo>
                  <a:pt x="0" y="1882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7209133" y="2877767"/>
            <a:ext cx="2168384" cy="10858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954"/>
              </a:lnSpc>
            </a:pPr>
            <a:r>
              <a:rPr sz="2700" b="1" spc="-6" dirty="0">
                <a:latin typeface="Courier New"/>
                <a:cs typeface="Courier New"/>
              </a:rPr>
              <a:t>nome</a:t>
            </a:r>
            <a:endParaRPr sz="2700">
              <a:latin typeface="Courier New"/>
              <a:cs typeface="Courier New"/>
            </a:endParaRPr>
          </a:p>
          <a:p>
            <a:pPr marL="14483" marR="5793">
              <a:lnSpc>
                <a:spcPts val="2646"/>
              </a:lnSpc>
              <a:spcBef>
                <a:spcPts val="290"/>
              </a:spcBef>
            </a:pPr>
            <a:r>
              <a:rPr sz="2700" b="1" spc="-6" dirty="0">
                <a:latin typeface="Courier New"/>
                <a:cs typeface="Courier New"/>
              </a:rPr>
              <a:t>cpf  nascimento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209132" y="3890198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60">
                <a:moveTo>
                  <a:pt x="0" y="937260"/>
                </a:moveTo>
                <a:lnTo>
                  <a:pt x="2087879" y="937260"/>
                </a:lnTo>
                <a:lnTo>
                  <a:pt x="2087879" y="0"/>
                </a:lnTo>
                <a:lnTo>
                  <a:pt x="0" y="0"/>
                </a:lnTo>
                <a:lnTo>
                  <a:pt x="0" y="93726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209132" y="3890198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60">
                <a:moveTo>
                  <a:pt x="0" y="937260"/>
                </a:moveTo>
                <a:lnTo>
                  <a:pt x="2087879" y="937260"/>
                </a:lnTo>
                <a:lnTo>
                  <a:pt x="2087879" y="0"/>
                </a:lnTo>
                <a:lnTo>
                  <a:pt x="0" y="0"/>
                </a:lnTo>
                <a:lnTo>
                  <a:pt x="0" y="9372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7387356" y="3922013"/>
            <a:ext cx="671308" cy="1006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 algn="just">
              <a:lnSpc>
                <a:spcPct val="80300"/>
              </a:lnSpc>
            </a:pPr>
            <a:r>
              <a:rPr sz="2700" b="1" spc="-6" dirty="0">
                <a:latin typeface="Courier New"/>
                <a:cs typeface="Courier New"/>
              </a:rPr>
              <a:t>dia  mes  ano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100416" y="4902350"/>
            <a:ext cx="672793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pai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030909" y="5317537"/>
            <a:ext cx="3199109" cy="2076638"/>
          </a:xfrm>
          <a:custGeom>
            <a:avLst/>
            <a:gdLst/>
            <a:ahLst/>
            <a:cxnLst/>
            <a:rect l="l" t="t" r="r" b="b"/>
            <a:pathLst>
              <a:path w="2735579" h="1884679">
                <a:moveTo>
                  <a:pt x="0" y="1884680"/>
                </a:moveTo>
                <a:lnTo>
                  <a:pt x="2735579" y="1884680"/>
                </a:lnTo>
                <a:lnTo>
                  <a:pt x="2735579" y="0"/>
                </a:lnTo>
                <a:lnTo>
                  <a:pt x="0" y="0"/>
                </a:lnTo>
                <a:lnTo>
                  <a:pt x="0" y="188468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030909" y="5317537"/>
            <a:ext cx="3199109" cy="2076638"/>
          </a:xfrm>
          <a:custGeom>
            <a:avLst/>
            <a:gdLst/>
            <a:ahLst/>
            <a:cxnLst/>
            <a:rect l="l" t="t" r="r" b="b"/>
            <a:pathLst>
              <a:path w="2735579" h="1884679">
                <a:moveTo>
                  <a:pt x="0" y="1884680"/>
                </a:moveTo>
                <a:lnTo>
                  <a:pt x="2735579" y="1884680"/>
                </a:lnTo>
                <a:lnTo>
                  <a:pt x="2735579" y="0"/>
                </a:lnTo>
                <a:lnTo>
                  <a:pt x="0" y="0"/>
                </a:lnTo>
                <a:lnTo>
                  <a:pt x="0" y="18846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7209133" y="5282273"/>
            <a:ext cx="2168384" cy="11028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954"/>
              </a:lnSpc>
            </a:pPr>
            <a:r>
              <a:rPr sz="2700" b="1" spc="-6" dirty="0">
                <a:latin typeface="Courier New"/>
                <a:cs typeface="Courier New"/>
              </a:rPr>
              <a:t>nome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634"/>
              </a:lnSpc>
            </a:pPr>
            <a:r>
              <a:rPr sz="2700" b="1" spc="-6" dirty="0">
                <a:latin typeface="Courier New"/>
                <a:cs typeface="Courier New"/>
              </a:rPr>
              <a:t>cpf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965"/>
              </a:lnSpc>
            </a:pPr>
            <a:r>
              <a:rPr sz="2700" b="1" spc="-6" dirty="0">
                <a:latin typeface="Courier New"/>
                <a:cs typeface="Courier New"/>
              </a:rPr>
              <a:t>nascimento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209132" y="6294283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59">
                <a:moveTo>
                  <a:pt x="0" y="937259"/>
                </a:moveTo>
                <a:lnTo>
                  <a:pt x="2087879" y="937259"/>
                </a:lnTo>
                <a:lnTo>
                  <a:pt x="2087879" y="0"/>
                </a:lnTo>
                <a:lnTo>
                  <a:pt x="0" y="0"/>
                </a:lnTo>
                <a:lnTo>
                  <a:pt x="0" y="937259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209132" y="6294283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59">
                <a:moveTo>
                  <a:pt x="0" y="937259"/>
                </a:moveTo>
                <a:lnTo>
                  <a:pt x="2087879" y="937259"/>
                </a:lnTo>
                <a:lnTo>
                  <a:pt x="2087879" y="0"/>
                </a:lnTo>
                <a:lnTo>
                  <a:pt x="0" y="0"/>
                </a:lnTo>
                <a:lnTo>
                  <a:pt x="0" y="93725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7387356" y="6326450"/>
            <a:ext cx="671308" cy="1006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 algn="just">
              <a:lnSpc>
                <a:spcPct val="80300"/>
              </a:lnSpc>
            </a:pPr>
            <a:r>
              <a:rPr sz="2700" b="1" spc="-6" dirty="0">
                <a:latin typeface="Courier New"/>
                <a:cs typeface="Courier New"/>
              </a:rPr>
              <a:t>dia  mes  ano</a:t>
            </a:r>
            <a:endParaRPr sz="27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062341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924" y="1203443"/>
            <a:ext cx="8989139" cy="83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sz="2700" dirty="0">
                <a:latin typeface="Arial"/>
                <a:cs typeface="Arial"/>
              </a:rPr>
              <a:t>Em alguns casos </a:t>
            </a:r>
            <a:r>
              <a:rPr sz="2700" spc="-6" dirty="0">
                <a:latin typeface="Arial"/>
                <a:cs typeface="Arial"/>
              </a:rPr>
              <a:t>o tipo </a:t>
            </a:r>
            <a:r>
              <a:rPr sz="2700" dirty="0">
                <a:latin typeface="Arial"/>
                <a:cs typeface="Arial"/>
              </a:rPr>
              <a:t>estrutura possui </a:t>
            </a:r>
            <a:r>
              <a:rPr sz="2700" spc="-6" dirty="0">
                <a:latin typeface="Arial"/>
                <a:cs typeface="Arial"/>
              </a:rPr>
              <a:t>vetores</a:t>
            </a:r>
            <a:r>
              <a:rPr sz="2700" spc="-63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como  um </a:t>
            </a:r>
            <a:r>
              <a:rPr sz="2700" dirty="0">
                <a:latin typeface="Arial"/>
                <a:cs typeface="Arial"/>
              </a:rPr>
              <a:t>dos seus</a:t>
            </a:r>
            <a:r>
              <a:rPr sz="2700" spc="-108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campos.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8262" y="5011079"/>
            <a:ext cx="7364337" cy="83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>
              <a:buChar char="•"/>
              <a:tabLst>
                <a:tab pos="404802" algn="l"/>
                <a:tab pos="405526" algn="l"/>
              </a:tabLst>
            </a:pPr>
            <a:r>
              <a:rPr sz="2700" dirty="0">
                <a:latin typeface="Arial"/>
                <a:cs typeface="Arial"/>
              </a:rPr>
              <a:t>O </a:t>
            </a:r>
            <a:r>
              <a:rPr sz="2700" spc="-6" dirty="0">
                <a:latin typeface="Arial"/>
                <a:cs typeface="Arial"/>
              </a:rPr>
              <a:t>acesso a </a:t>
            </a:r>
            <a:r>
              <a:rPr sz="2700" dirty="0">
                <a:latin typeface="Arial"/>
                <a:cs typeface="Arial"/>
              </a:rPr>
              <a:t>estes campos </a:t>
            </a:r>
            <a:r>
              <a:rPr sz="2700" spc="-6" dirty="0">
                <a:latin typeface="Arial"/>
                <a:cs typeface="Arial"/>
              </a:rPr>
              <a:t>é feito da</a:t>
            </a:r>
            <a:r>
              <a:rPr sz="2700" spc="-29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mesma  maneira </a:t>
            </a:r>
            <a:r>
              <a:rPr sz="2700" spc="-6" dirty="0">
                <a:latin typeface="Arial"/>
                <a:cs typeface="Arial"/>
              </a:rPr>
              <a:t>como </a:t>
            </a:r>
            <a:r>
              <a:rPr sz="2700" dirty="0">
                <a:latin typeface="Arial"/>
                <a:cs typeface="Arial"/>
              </a:rPr>
              <a:t>acesso direto </a:t>
            </a:r>
            <a:r>
              <a:rPr sz="2700" spc="-6" dirty="0">
                <a:latin typeface="Arial"/>
                <a:cs typeface="Arial"/>
              </a:rPr>
              <a:t>a um</a:t>
            </a:r>
            <a:r>
              <a:rPr sz="2700" spc="-51" dirty="0">
                <a:latin typeface="Arial"/>
                <a:cs typeface="Arial"/>
              </a:rPr>
              <a:t> </a:t>
            </a:r>
            <a:r>
              <a:rPr sz="2700" spc="-34" dirty="0">
                <a:latin typeface="Arial"/>
                <a:cs typeface="Arial"/>
              </a:rPr>
              <a:t>vetor.</a:t>
            </a:r>
            <a:endParaRPr sz="27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</a:t>
            </a:r>
            <a:r>
              <a:rPr spc="-6" dirty="0"/>
              <a:t>com</a:t>
            </a:r>
            <a:r>
              <a:rPr spc="-46" dirty="0"/>
              <a:t> </a:t>
            </a:r>
            <a:r>
              <a:rPr spc="-6" dirty="0"/>
              <a:t>vetor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142671" y="2269748"/>
            <a:ext cx="3635756" cy="1799566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22449" rIns="0" bIns="0" rtlCol="0">
            <a:spAutoFit/>
          </a:bodyPr>
          <a:lstStyle/>
          <a:p>
            <a:pPr marL="99209">
              <a:spcBef>
                <a:spcPts val="177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23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300">
              <a:latin typeface="Courier New"/>
              <a:cs typeface="Courier New"/>
            </a:endParaRPr>
          </a:p>
          <a:p>
            <a:pPr marL="99209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44752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vetorA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44752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vetorB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99209">
              <a:spcBef>
                <a:spcPts val="46"/>
              </a:spcBef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Dados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45613" y="6000420"/>
            <a:ext cx="5795229" cy="1119481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15931" rIns="0" bIns="0" rtlCol="0">
            <a:spAutoFit/>
          </a:bodyPr>
          <a:lstStyle/>
          <a:p>
            <a:pPr marL="99933" marR="1184716">
              <a:lnSpc>
                <a:spcPct val="100899"/>
              </a:lnSpc>
              <a:spcBef>
                <a:spcPts val="125"/>
              </a:spcBef>
            </a:pPr>
            <a:r>
              <a:rPr sz="2300" spc="-6" dirty="0">
                <a:latin typeface="Courier New"/>
                <a:cs typeface="Courier New"/>
              </a:rPr>
              <a:t>Dados registro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registro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vetorA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100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registro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vetorB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338670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9773" y="1521796"/>
            <a:ext cx="9113153" cy="2492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698084" algn="l"/>
              </a:tabLst>
            </a:pPr>
            <a:r>
              <a:rPr sz="2700" dirty="0">
                <a:solidFill>
                  <a:srgbClr val="C5000A"/>
                </a:solidFill>
                <a:latin typeface="Arial"/>
                <a:cs typeface="Arial"/>
              </a:rPr>
              <a:t>4)	</a:t>
            </a:r>
            <a:r>
              <a:rPr sz="2700" spc="-6" dirty="0">
                <a:latin typeface="Arial"/>
                <a:cs typeface="Arial"/>
              </a:rPr>
              <a:t>Faça </a:t>
            </a:r>
            <a:r>
              <a:rPr sz="2700" dirty="0">
                <a:latin typeface="Arial"/>
                <a:cs typeface="Arial"/>
              </a:rPr>
              <a:t>um programa </a:t>
            </a:r>
            <a:r>
              <a:rPr sz="2700" spc="-6" dirty="0">
                <a:latin typeface="Arial"/>
                <a:cs typeface="Arial"/>
              </a:rPr>
              <a:t>(função </a:t>
            </a:r>
            <a:r>
              <a:rPr sz="2700" dirty="0">
                <a:latin typeface="Arial"/>
                <a:cs typeface="Arial"/>
              </a:rPr>
              <a:t>principal) para leitura,</a:t>
            </a:r>
            <a:r>
              <a:rPr sz="2700" spc="-46" dirty="0">
                <a:latin typeface="Arial"/>
                <a:cs typeface="Arial"/>
              </a:rPr>
              <a:t> </a:t>
            </a:r>
            <a:r>
              <a:rPr sz="2700" spc="-11" dirty="0">
                <a:latin typeface="Arial"/>
                <a:cs typeface="Arial"/>
              </a:rPr>
              <a:t>via</a:t>
            </a:r>
            <a:endParaRPr sz="2700">
              <a:latin typeface="Arial"/>
              <a:cs typeface="Arial"/>
            </a:endParaRPr>
          </a:p>
          <a:p>
            <a:pPr marL="698084"/>
            <a:r>
              <a:rPr sz="2700" dirty="0">
                <a:latin typeface="Arial"/>
                <a:cs typeface="Arial"/>
              </a:rPr>
              <a:t>teclado, dos dados </a:t>
            </a:r>
            <a:r>
              <a:rPr sz="2700" spc="-6" dirty="0">
                <a:latin typeface="Arial"/>
                <a:cs typeface="Arial"/>
              </a:rPr>
              <a:t>de um</a:t>
            </a:r>
            <a:r>
              <a:rPr sz="2700" spc="-12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atleta.</a:t>
            </a:r>
            <a:endParaRPr sz="2700">
              <a:latin typeface="Arial"/>
              <a:cs typeface="Arial"/>
            </a:endParaRPr>
          </a:p>
          <a:p>
            <a:pPr marL="698084" marR="41277"/>
            <a:r>
              <a:rPr sz="2700" spc="-6" dirty="0">
                <a:latin typeface="Arial"/>
                <a:cs typeface="Arial"/>
              </a:rPr>
              <a:t>Os </a:t>
            </a:r>
            <a:r>
              <a:rPr sz="2700" dirty="0">
                <a:latin typeface="Arial"/>
                <a:cs typeface="Arial"/>
              </a:rPr>
              <a:t>dados a serem guardados na estrutura atleta</a:t>
            </a:r>
            <a:r>
              <a:rPr sz="2700" spc="-103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são  </a:t>
            </a:r>
            <a:r>
              <a:rPr sz="2700" spc="-6" dirty="0">
                <a:latin typeface="Arial"/>
                <a:cs typeface="Arial"/>
              </a:rPr>
              <a:t>os </a:t>
            </a:r>
            <a:r>
              <a:rPr sz="2700" dirty="0">
                <a:latin typeface="Arial"/>
                <a:cs typeface="Arial"/>
              </a:rPr>
              <a:t>seguintes: nome, medidas (estrutura definida </a:t>
            </a:r>
            <a:r>
              <a:rPr sz="2700" spc="-6" dirty="0">
                <a:latin typeface="Arial"/>
                <a:cs typeface="Arial"/>
              </a:rPr>
              <a:t>no  exercício </a:t>
            </a:r>
            <a:r>
              <a:rPr sz="2700" dirty="0">
                <a:latin typeface="Arial"/>
                <a:cs typeface="Arial"/>
              </a:rPr>
              <a:t>2), esporte praticado e</a:t>
            </a:r>
            <a:r>
              <a:rPr sz="2700" spc="-63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idade.</a:t>
            </a:r>
            <a:endParaRPr sz="2700">
              <a:latin typeface="Arial"/>
              <a:cs typeface="Arial"/>
            </a:endParaRPr>
          </a:p>
          <a:p>
            <a:pPr marL="698084"/>
            <a:r>
              <a:rPr sz="2700" spc="-6" dirty="0">
                <a:latin typeface="Arial"/>
                <a:cs typeface="Arial"/>
              </a:rPr>
              <a:t>Ao final, imprima </a:t>
            </a:r>
            <a:r>
              <a:rPr sz="2700" dirty="0">
                <a:latin typeface="Arial"/>
                <a:cs typeface="Arial"/>
              </a:rPr>
              <a:t>estas informações </a:t>
            </a:r>
            <a:r>
              <a:rPr sz="2700" spc="-6" dirty="0">
                <a:latin typeface="Arial"/>
                <a:cs typeface="Arial"/>
              </a:rPr>
              <a:t>na</a:t>
            </a:r>
            <a:r>
              <a:rPr sz="2700" spc="-23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tela.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6" dirty="0"/>
              <a:t>Exercíc</a:t>
            </a:r>
            <a:r>
              <a:rPr dirty="0"/>
              <a:t>io</a:t>
            </a:r>
          </a:p>
        </p:txBody>
      </p:sp>
    </p:spTree>
    <p:extLst>
      <p:ext uri="{BB962C8B-B14F-4D97-AF65-F5344CB8AC3E}">
        <p14:creationId xmlns:p14="http://schemas.microsoft.com/office/powerpoint/2010/main" val="1033203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0380" y="1203443"/>
            <a:ext cx="9208947" cy="1246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sz="2700" spc="-6" dirty="0">
                <a:latin typeface="Arial"/>
                <a:cs typeface="Arial"/>
              </a:rPr>
              <a:t>Uma </a:t>
            </a:r>
            <a:r>
              <a:rPr sz="2700" dirty="0">
                <a:latin typeface="Arial"/>
                <a:cs typeface="Arial"/>
              </a:rPr>
              <a:t>das </a:t>
            </a:r>
            <a:r>
              <a:rPr sz="2700" spc="-6" dirty="0">
                <a:latin typeface="Arial"/>
                <a:cs typeface="Arial"/>
              </a:rPr>
              <a:t>vantagens ao utilizarmos </a:t>
            </a:r>
            <a:r>
              <a:rPr sz="2700" dirty="0">
                <a:latin typeface="Arial"/>
                <a:cs typeface="Arial"/>
              </a:rPr>
              <a:t>estruturas </a:t>
            </a:r>
            <a:r>
              <a:rPr sz="2700" spc="-6" dirty="0">
                <a:latin typeface="Arial"/>
                <a:cs typeface="Arial"/>
              </a:rPr>
              <a:t>é a  </a:t>
            </a:r>
            <a:r>
              <a:rPr sz="2700" dirty="0">
                <a:latin typeface="Arial"/>
                <a:cs typeface="Arial"/>
              </a:rPr>
              <a:t>possibilidade </a:t>
            </a:r>
            <a:r>
              <a:rPr sz="2700" spc="-6" dirty="0">
                <a:latin typeface="Arial"/>
                <a:cs typeface="Arial"/>
              </a:rPr>
              <a:t>de copiarmos toda a </a:t>
            </a:r>
            <a:r>
              <a:rPr sz="2700" dirty="0">
                <a:latin typeface="Arial"/>
                <a:cs typeface="Arial"/>
              </a:rPr>
              <a:t>informação </a:t>
            </a:r>
            <a:r>
              <a:rPr sz="2700" spc="-6" dirty="0">
                <a:latin typeface="Arial"/>
                <a:cs typeface="Arial"/>
              </a:rPr>
              <a:t>de uma  estrutura para outra do </a:t>
            </a:r>
            <a:r>
              <a:rPr sz="2700" dirty="0">
                <a:latin typeface="Arial"/>
                <a:cs typeface="Arial"/>
              </a:rPr>
              <a:t>mesmo </a:t>
            </a:r>
            <a:r>
              <a:rPr sz="2700" spc="-6" dirty="0">
                <a:latin typeface="Arial"/>
                <a:cs typeface="Arial"/>
              </a:rPr>
              <a:t>tipo com uma</a:t>
            </a:r>
            <a:r>
              <a:rPr sz="2700" spc="114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atribuição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1383" y="2412763"/>
            <a:ext cx="1340388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dirty="0">
                <a:latin typeface="Arial"/>
                <a:cs typeface="Arial"/>
              </a:rPr>
              <a:t>simpl</a:t>
            </a:r>
            <a:r>
              <a:rPr sz="2700" spc="6" dirty="0">
                <a:latin typeface="Arial"/>
                <a:cs typeface="Arial"/>
              </a:rPr>
              <a:t>e</a:t>
            </a:r>
            <a:r>
              <a:rPr sz="2700" dirty="0">
                <a:latin typeface="Arial"/>
                <a:cs typeface="Arial"/>
              </a:rPr>
              <a:t>s:</a:t>
            </a:r>
            <a:endParaRPr sz="27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83244" y="2599996"/>
            <a:ext cx="7595284" cy="5005318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6931" rIns="0" bIns="0" rtlCol="0">
            <a:spAutoFit/>
          </a:bodyPr>
          <a:lstStyle/>
          <a:p>
            <a:pPr marL="99933">
              <a:spcBef>
                <a:spcPts val="290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struct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44752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X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7527">
              <a:tabLst>
                <a:tab pos="1142715" algn="l"/>
              </a:tabLst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	</a:t>
            </a:r>
            <a:r>
              <a:rPr sz="2300" spc="-6" dirty="0">
                <a:latin typeface="Courier New"/>
                <a:cs typeface="Courier New"/>
              </a:rPr>
              <a:t>Y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993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Coordenadas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51"/>
              </a:spcBef>
            </a:pPr>
            <a:endParaRPr sz="2300">
              <a:latin typeface="Times New Roman"/>
              <a:cs typeface="Times New Roman"/>
            </a:endParaRPr>
          </a:p>
          <a:p>
            <a:pPr marL="9993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main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 sz="2300">
              <a:latin typeface="Courier New"/>
              <a:cs typeface="Courier New"/>
            </a:endParaRPr>
          </a:p>
          <a:p>
            <a:pPr marL="9993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621324"/>
            <a:r>
              <a:rPr sz="2300" dirty="0">
                <a:latin typeface="Courier New"/>
                <a:cs typeface="Courier New"/>
              </a:rPr>
              <a:t>Coordenadas </a:t>
            </a:r>
            <a:r>
              <a:rPr sz="2300" spc="-6" dirty="0">
                <a:latin typeface="Courier New"/>
                <a:cs typeface="Courier New"/>
              </a:rPr>
              <a:t>primeira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segunda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621324"/>
            <a:r>
              <a:rPr sz="2300" spc="-6" dirty="0">
                <a:latin typeface="Courier New"/>
                <a:cs typeface="Courier New"/>
              </a:rPr>
              <a:t>primeira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X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300" spc="-8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20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621324"/>
            <a:r>
              <a:rPr sz="2300" spc="-6" dirty="0">
                <a:latin typeface="Courier New"/>
                <a:cs typeface="Courier New"/>
              </a:rPr>
              <a:t>primeira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Y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300" spc="-8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30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621324"/>
            <a:r>
              <a:rPr sz="2300" dirty="0">
                <a:latin typeface="Courier New"/>
                <a:cs typeface="Courier New"/>
              </a:rPr>
              <a:t>segunda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300" spc="-97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primeira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621324">
              <a:tabLst>
                <a:tab pos="2533091" algn="l"/>
              </a:tabLst>
            </a:pPr>
            <a:r>
              <a:rPr sz="2300" spc="-6" dirty="0">
                <a:latin typeface="Courier New"/>
                <a:cs typeface="Courier New"/>
              </a:rPr>
              <a:t>printf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"%d	%d"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300" spc="-6" dirty="0">
                <a:latin typeface="Courier New"/>
                <a:cs typeface="Courier New"/>
              </a:rPr>
              <a:t>segunda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X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86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segunda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Y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621324"/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return</a:t>
            </a:r>
            <a:r>
              <a:rPr sz="2300" b="1" spc="-125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9933">
              <a:spcBef>
                <a:spcPts val="46"/>
              </a:spcBef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Atribuição de</a:t>
            </a:r>
            <a:r>
              <a:rPr spc="-91" dirty="0"/>
              <a:t> </a:t>
            </a:r>
            <a:r>
              <a:rPr dirty="0"/>
              <a:t>estruturas</a:t>
            </a:r>
          </a:p>
        </p:txBody>
      </p:sp>
    </p:spTree>
    <p:extLst>
      <p:ext uri="{BB962C8B-B14F-4D97-AF65-F5344CB8AC3E}">
        <p14:creationId xmlns:p14="http://schemas.microsoft.com/office/powerpoint/2010/main" val="387179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2864" y="6312477"/>
            <a:ext cx="9667873" cy="7437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lnSpc>
                <a:spcPts val="2851"/>
              </a:lnSpc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spc="-6" dirty="0">
                <a:latin typeface="Arial"/>
                <a:cs typeface="Arial"/>
              </a:rPr>
              <a:t>Desenvolver </a:t>
            </a:r>
            <a:r>
              <a:rPr sz="3000" dirty="0">
                <a:latin typeface="Arial"/>
                <a:cs typeface="Arial"/>
              </a:rPr>
              <a:t>um </a:t>
            </a:r>
            <a:r>
              <a:rPr sz="3000" spc="-6" dirty="0">
                <a:latin typeface="Arial"/>
                <a:cs typeface="Arial"/>
              </a:rPr>
              <a:t>algoritmo para ler e imprimir o nome  e as </a:t>
            </a:r>
            <a:r>
              <a:rPr sz="3000" spc="-11" dirty="0">
                <a:latin typeface="Arial"/>
                <a:cs typeface="Arial"/>
              </a:rPr>
              <a:t>notas </a:t>
            </a:r>
            <a:r>
              <a:rPr sz="3000" spc="-6" dirty="0">
                <a:latin typeface="Arial"/>
                <a:cs typeface="Arial"/>
              </a:rPr>
              <a:t>de um</a:t>
            </a:r>
            <a:r>
              <a:rPr sz="3000" spc="40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aluno.</a:t>
            </a:r>
            <a:endParaRPr sz="3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2863" y="1278308"/>
            <a:ext cx="9070082" cy="2523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lnSpc>
                <a:spcPts val="2851"/>
              </a:lnSpc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spc="-6" dirty="0">
                <a:latin typeface="Arial"/>
                <a:cs typeface="Arial"/>
              </a:rPr>
              <a:t>Considere </a:t>
            </a:r>
            <a:r>
              <a:rPr sz="3000" dirty="0">
                <a:latin typeface="Arial"/>
                <a:cs typeface="Arial"/>
              </a:rPr>
              <a:t>as </a:t>
            </a:r>
            <a:r>
              <a:rPr sz="3000" spc="-6" dirty="0">
                <a:latin typeface="Arial"/>
                <a:cs typeface="Arial"/>
              </a:rPr>
              <a:t>informações </a:t>
            </a:r>
            <a:r>
              <a:rPr sz="3000" dirty="0">
                <a:latin typeface="Arial"/>
                <a:cs typeface="Arial"/>
              </a:rPr>
              <a:t>de um </a:t>
            </a:r>
            <a:r>
              <a:rPr sz="3000" spc="-6" dirty="0">
                <a:latin typeface="Arial"/>
                <a:cs typeface="Arial"/>
              </a:rPr>
              <a:t>aluno que tem  </a:t>
            </a:r>
            <a:r>
              <a:rPr sz="3000" dirty="0">
                <a:latin typeface="Arial"/>
                <a:cs typeface="Arial"/>
              </a:rPr>
              <a:t>NOME </a:t>
            </a:r>
            <a:r>
              <a:rPr sz="3000" spc="-6" dirty="0">
                <a:latin typeface="Arial"/>
                <a:cs typeface="Arial"/>
              </a:rPr>
              <a:t>e 4 </a:t>
            </a:r>
            <a:r>
              <a:rPr sz="3000" spc="-11" dirty="0">
                <a:latin typeface="Arial"/>
                <a:cs typeface="Arial"/>
              </a:rPr>
              <a:t>notas </a:t>
            </a:r>
            <a:r>
              <a:rPr sz="3000" spc="-6" dirty="0">
                <a:latin typeface="Arial"/>
                <a:cs typeface="Arial"/>
              </a:rPr>
              <a:t>como campos de uma estrutura;  </a:t>
            </a:r>
            <a:r>
              <a:rPr sz="3000" dirty="0">
                <a:latin typeface="Arial"/>
                <a:cs typeface="Arial"/>
              </a:rPr>
              <a:t>veja </a:t>
            </a:r>
            <a:r>
              <a:rPr sz="3000" i="1" spc="-6" dirty="0">
                <a:latin typeface="Arial"/>
                <a:cs typeface="Arial"/>
              </a:rPr>
              <a:t>layout</a:t>
            </a:r>
            <a:r>
              <a:rPr sz="3000" i="1" spc="-40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abaixo.</a:t>
            </a:r>
            <a:endParaRPr sz="3000">
              <a:latin typeface="Arial"/>
              <a:cs typeface="Arial"/>
            </a:endParaRPr>
          </a:p>
          <a:p>
            <a:pPr>
              <a:spcBef>
                <a:spcPts val="29"/>
              </a:spcBef>
            </a:pPr>
            <a:endParaRPr sz="3300">
              <a:latin typeface="Times New Roman"/>
              <a:cs typeface="Times New Roman"/>
            </a:endParaRPr>
          </a:p>
          <a:p>
            <a:pPr marL="1668451"/>
            <a:r>
              <a:rPr sz="2300" dirty="0">
                <a:latin typeface="Arial"/>
                <a:cs typeface="Arial"/>
              </a:rPr>
              <a:t>Cadastro de notas</a:t>
            </a:r>
            <a:r>
              <a:rPr sz="2300" spc="-16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escolares</a:t>
            </a:r>
            <a:endParaRPr sz="2300">
              <a:latin typeface="Arial"/>
              <a:cs typeface="Arial"/>
            </a:endParaRPr>
          </a:p>
          <a:p>
            <a:pPr marL="1668451">
              <a:spcBef>
                <a:spcPts val="1483"/>
              </a:spcBef>
              <a:tabLst>
                <a:tab pos="6626009" algn="l"/>
              </a:tabLst>
            </a:pPr>
            <a:r>
              <a:rPr sz="2300" dirty="0">
                <a:latin typeface="Arial"/>
                <a:cs typeface="Arial"/>
              </a:rPr>
              <a:t>Nome:</a:t>
            </a:r>
            <a:r>
              <a:rPr sz="2300" u="heavy" dirty="0">
                <a:latin typeface="Arial"/>
                <a:cs typeface="Arial"/>
              </a:rPr>
              <a:t> 	</a:t>
            </a:r>
            <a:endParaRPr sz="23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175810" y="3876205"/>
          <a:ext cx="6570204" cy="19434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41140"/>
                <a:gridCol w="1641140"/>
                <a:gridCol w="1646784"/>
                <a:gridCol w="1641140"/>
              </a:tblGrid>
              <a:tr h="710031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 marL="838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200" dirty="0">
                          <a:latin typeface="Arial"/>
                          <a:cs typeface="Arial"/>
                        </a:rPr>
                        <a:t>Notas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5895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900" dirty="0">
                          <a:latin typeface="Arial"/>
                          <a:cs typeface="Arial"/>
                        </a:rPr>
                        <a:t>1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900" dirty="0">
                          <a:latin typeface="Arial"/>
                          <a:cs typeface="Arial"/>
                        </a:rPr>
                        <a:t>2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1900" dirty="0">
                          <a:latin typeface="Arial"/>
                          <a:cs typeface="Arial"/>
                        </a:rPr>
                        <a:t>3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1900" dirty="0">
                          <a:latin typeface="Arial"/>
                          <a:cs typeface="Arial"/>
                        </a:rPr>
                        <a:t>4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43841">
                <a:tc>
                  <a:txBody>
                    <a:bodyPr/>
                    <a:lstStyle/>
                    <a:p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97" dirty="0"/>
              <a:t> </a:t>
            </a:r>
            <a:r>
              <a:rPr dirty="0"/>
              <a:t>completo</a:t>
            </a:r>
          </a:p>
        </p:txBody>
      </p:sp>
    </p:spTree>
    <p:extLst>
      <p:ext uri="{BB962C8B-B14F-4D97-AF65-F5344CB8AC3E}">
        <p14:creationId xmlns:p14="http://schemas.microsoft.com/office/powerpoint/2010/main" val="1307338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3786" y="1468620"/>
            <a:ext cx="6133110" cy="2934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8750"/>
              <a:buChar char="•"/>
              <a:tabLst>
                <a:tab pos="535874" algn="l"/>
                <a:tab pos="536597" algn="l"/>
              </a:tabLst>
            </a:pPr>
            <a:r>
              <a:rPr sz="3600" spc="-6" dirty="0">
                <a:latin typeface="Arial"/>
                <a:cs typeface="Arial"/>
              </a:rPr>
              <a:t>Ideia básica do algoritmo</a:t>
            </a:r>
            <a:r>
              <a:rPr sz="3600" spc="-51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:</a:t>
            </a:r>
            <a:endParaRPr sz="3600">
              <a:latin typeface="Arial"/>
              <a:cs typeface="Arial"/>
            </a:endParaRPr>
          </a:p>
          <a:p>
            <a:pPr marL="1068851" lvl="1" indent="-588013">
              <a:spcBef>
                <a:spcPts val="798"/>
              </a:spcBef>
              <a:buClr>
                <a:srgbClr val="852B34"/>
              </a:buClr>
              <a:buSzPct val="69642"/>
              <a:buAutoNum type="arabicPeriod"/>
              <a:tabLst>
                <a:tab pos="1068851" algn="l"/>
                <a:tab pos="1069574" algn="l"/>
              </a:tabLst>
            </a:pPr>
            <a:r>
              <a:rPr sz="3200" dirty="0">
                <a:latin typeface="Arial"/>
                <a:cs typeface="Arial"/>
              </a:rPr>
              <a:t>Definir</a:t>
            </a:r>
            <a:r>
              <a:rPr sz="3200" spc="-86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</a:t>
            </a:r>
            <a:endParaRPr sz="3200">
              <a:latin typeface="Arial"/>
              <a:cs typeface="Arial"/>
            </a:endParaRPr>
          </a:p>
          <a:p>
            <a:pPr marL="1068851" lvl="1" indent="-588013">
              <a:spcBef>
                <a:spcPts val="798"/>
              </a:spcBef>
              <a:buClr>
                <a:srgbClr val="852B34"/>
              </a:buClr>
              <a:buSzPct val="69642"/>
              <a:buAutoNum type="arabicPeriod"/>
              <a:tabLst>
                <a:tab pos="1068851" algn="l"/>
                <a:tab pos="1069574" algn="l"/>
              </a:tabLst>
            </a:pPr>
            <a:r>
              <a:rPr sz="3200" dirty="0">
                <a:latin typeface="Arial"/>
                <a:cs typeface="Arial"/>
              </a:rPr>
              <a:t>Declarar</a:t>
            </a:r>
            <a:r>
              <a:rPr sz="3200" spc="-68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variáveis</a:t>
            </a:r>
            <a:endParaRPr sz="3200">
              <a:latin typeface="Arial"/>
              <a:cs typeface="Arial"/>
            </a:endParaRPr>
          </a:p>
          <a:p>
            <a:pPr marL="1068851" lvl="1" indent="-588013">
              <a:spcBef>
                <a:spcPts val="798"/>
              </a:spcBef>
              <a:buClr>
                <a:srgbClr val="852B34"/>
              </a:buClr>
              <a:buSzPct val="69642"/>
              <a:buAutoNum type="arabicPeriod"/>
              <a:tabLst>
                <a:tab pos="1068851" algn="l"/>
                <a:tab pos="1069574" algn="l"/>
              </a:tabLst>
            </a:pPr>
            <a:r>
              <a:rPr sz="3200" dirty="0">
                <a:latin typeface="Arial"/>
                <a:cs typeface="Arial"/>
              </a:rPr>
              <a:t>Ler os dados de um</a:t>
            </a:r>
            <a:r>
              <a:rPr sz="3200" spc="-8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aluno</a:t>
            </a:r>
            <a:endParaRPr sz="3200">
              <a:latin typeface="Arial"/>
              <a:cs typeface="Arial"/>
            </a:endParaRPr>
          </a:p>
          <a:p>
            <a:pPr marL="1068851" lvl="1" indent="-588013">
              <a:spcBef>
                <a:spcPts val="798"/>
              </a:spcBef>
              <a:buClr>
                <a:srgbClr val="852B34"/>
              </a:buClr>
              <a:buSzPct val="69642"/>
              <a:buAutoNum type="arabicPeriod"/>
              <a:tabLst>
                <a:tab pos="1068851" algn="l"/>
                <a:tab pos="1069574" algn="l"/>
              </a:tabLst>
            </a:pPr>
            <a:r>
              <a:rPr sz="3200" dirty="0">
                <a:latin typeface="Arial"/>
                <a:cs typeface="Arial"/>
              </a:rPr>
              <a:t>Imprimir </a:t>
            </a:r>
            <a:r>
              <a:rPr sz="3200" spc="-6" dirty="0">
                <a:latin typeface="Arial"/>
                <a:cs typeface="Arial"/>
              </a:rPr>
              <a:t>os </a:t>
            </a:r>
            <a:r>
              <a:rPr sz="3200" dirty="0">
                <a:latin typeface="Arial"/>
                <a:cs typeface="Arial"/>
              </a:rPr>
              <a:t>dados </a:t>
            </a:r>
            <a:r>
              <a:rPr sz="3200" spc="-6" dirty="0">
                <a:latin typeface="Arial"/>
                <a:cs typeface="Arial"/>
              </a:rPr>
              <a:t>do</a:t>
            </a:r>
            <a:r>
              <a:rPr sz="3200" spc="-34" dirty="0">
                <a:latin typeface="Arial"/>
                <a:cs typeface="Arial"/>
              </a:rPr>
              <a:t> </a:t>
            </a:r>
            <a:r>
              <a:rPr sz="3200" spc="-6" dirty="0">
                <a:latin typeface="Arial"/>
                <a:cs typeface="Arial"/>
              </a:rPr>
              <a:t>aluno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97" dirty="0"/>
              <a:t> </a:t>
            </a:r>
            <a:r>
              <a:rPr dirty="0"/>
              <a:t>completo</a:t>
            </a:r>
          </a:p>
        </p:txBody>
      </p:sp>
    </p:spTree>
    <p:extLst>
      <p:ext uri="{BB962C8B-B14F-4D97-AF65-F5344CB8AC3E}">
        <p14:creationId xmlns:p14="http://schemas.microsoft.com/office/powerpoint/2010/main" val="266842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97" dirty="0"/>
              <a:t> </a:t>
            </a:r>
            <a:r>
              <a:rPr dirty="0"/>
              <a:t>completo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9105" y="1438533"/>
            <a:ext cx="3600111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601772" algn="l"/>
              </a:tabLst>
            </a:pPr>
            <a:r>
              <a:rPr sz="2200" spc="6" dirty="0">
                <a:solidFill>
                  <a:srgbClr val="852B34"/>
                </a:solidFill>
                <a:latin typeface="Arial"/>
                <a:cs typeface="Arial"/>
              </a:rPr>
              <a:t>1.	</a:t>
            </a:r>
            <a:r>
              <a:rPr sz="3200" dirty="0">
                <a:latin typeface="Arial"/>
                <a:cs typeface="Arial"/>
              </a:rPr>
              <a:t>Definir</a:t>
            </a:r>
            <a:r>
              <a:rPr sz="3200" spc="-6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14906" y="2835087"/>
            <a:ext cx="7069526" cy="2119215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21000" rIns="0" bIns="0" rtlCol="0">
            <a:spAutoFit/>
          </a:bodyPr>
          <a:lstStyle/>
          <a:p>
            <a:pPr marL="99209">
              <a:spcBef>
                <a:spcPts val="165"/>
              </a:spcBef>
            </a:pPr>
            <a:r>
              <a:rPr sz="2700" b="1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27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b="1" spc="-1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700">
              <a:latin typeface="Courier New"/>
              <a:cs typeface="Courier New"/>
            </a:endParaRPr>
          </a:p>
          <a:p>
            <a:pPr marL="99209"/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700">
              <a:latin typeface="Courier New"/>
              <a:cs typeface="Courier New"/>
            </a:endParaRPr>
          </a:p>
          <a:p>
            <a:pPr marL="517046">
              <a:lnSpc>
                <a:spcPts val="3284"/>
              </a:lnSpc>
            </a:pPr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700" b="1" spc="-9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spc="-11" dirty="0">
                <a:latin typeface="Courier New"/>
                <a:cs typeface="Courier New"/>
              </a:rPr>
              <a:t>nome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40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  <a:p>
            <a:pPr marL="517046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float</a:t>
            </a:r>
            <a:r>
              <a:rPr sz="2700" b="1" spc="-8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spc="-11" dirty="0">
                <a:latin typeface="Courier New"/>
                <a:cs typeface="Courier New"/>
              </a:rPr>
              <a:t>notas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  <a:p>
            <a:pPr marL="99209">
              <a:spcBef>
                <a:spcPts val="68"/>
              </a:spcBef>
            </a:pP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7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Aluno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277169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97" dirty="0"/>
              <a:t> </a:t>
            </a:r>
            <a:r>
              <a:rPr dirty="0"/>
              <a:t>completo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9104" y="1438533"/>
            <a:ext cx="3975122" cy="10874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2496" indent="-588013">
              <a:buClr>
                <a:srgbClr val="852B34"/>
              </a:buClr>
              <a:buSzPct val="69642"/>
              <a:buAutoNum type="arabicPeriod"/>
              <a:tabLst>
                <a:tab pos="601772" algn="l"/>
                <a:tab pos="602496" algn="l"/>
              </a:tabLst>
            </a:pPr>
            <a:r>
              <a:rPr sz="3200" dirty="0">
                <a:latin typeface="Arial"/>
                <a:cs typeface="Arial"/>
              </a:rPr>
              <a:t>Definir</a:t>
            </a:r>
            <a:r>
              <a:rPr sz="3200" spc="-6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</a:t>
            </a:r>
            <a:endParaRPr sz="3200">
              <a:latin typeface="Arial"/>
              <a:cs typeface="Arial"/>
            </a:endParaRPr>
          </a:p>
          <a:p>
            <a:pPr marL="602496" indent="-588013">
              <a:spcBef>
                <a:spcPts val="798"/>
              </a:spcBef>
              <a:buClr>
                <a:srgbClr val="852B34"/>
              </a:buClr>
              <a:buSzPct val="69642"/>
              <a:buAutoNum type="arabicPeriod"/>
              <a:tabLst>
                <a:tab pos="601772" algn="l"/>
                <a:tab pos="602496" algn="l"/>
              </a:tabLst>
            </a:pPr>
            <a:r>
              <a:rPr sz="3200" dirty="0">
                <a:latin typeface="Arial"/>
                <a:cs typeface="Arial"/>
              </a:rPr>
              <a:t>Declarar</a:t>
            </a:r>
            <a:r>
              <a:rPr sz="3200" spc="-74" dirty="0">
                <a:latin typeface="Arial"/>
                <a:cs typeface="Arial"/>
              </a:rPr>
              <a:t> </a:t>
            </a:r>
            <a:r>
              <a:rPr sz="3200" spc="6" dirty="0">
                <a:latin typeface="Arial"/>
                <a:cs typeface="Arial"/>
              </a:rPr>
              <a:t>variáveis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88136" y="3904192"/>
            <a:ext cx="9656734" cy="1799566"/>
          </a:xfrm>
          <a:custGeom>
            <a:avLst/>
            <a:gdLst/>
            <a:ahLst/>
            <a:cxnLst/>
            <a:rect l="l" t="t" r="r" b="b"/>
            <a:pathLst>
              <a:path w="8257540" h="1633220">
                <a:moveTo>
                  <a:pt x="0" y="1633220"/>
                </a:moveTo>
                <a:lnTo>
                  <a:pt x="8257540" y="1633220"/>
                </a:lnTo>
                <a:lnTo>
                  <a:pt x="8257540" y="0"/>
                </a:lnTo>
                <a:lnTo>
                  <a:pt x="0" y="0"/>
                </a:lnTo>
                <a:lnTo>
                  <a:pt x="0" y="163322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88136" y="3904192"/>
            <a:ext cx="9656734" cy="1799566"/>
          </a:xfrm>
          <a:custGeom>
            <a:avLst/>
            <a:gdLst/>
            <a:ahLst/>
            <a:cxnLst/>
            <a:rect l="l" t="t" r="r" b="b"/>
            <a:pathLst>
              <a:path w="8257540" h="1633220">
                <a:moveTo>
                  <a:pt x="0" y="1633220"/>
                </a:moveTo>
                <a:lnTo>
                  <a:pt x="8257540" y="1633220"/>
                </a:lnTo>
                <a:lnTo>
                  <a:pt x="8257540" y="0"/>
                </a:lnTo>
                <a:lnTo>
                  <a:pt x="0" y="0"/>
                </a:lnTo>
                <a:lnTo>
                  <a:pt x="0" y="16332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95812" y="3931759"/>
            <a:ext cx="5169962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520667"/>
            <a:r>
              <a:rPr sz="2300" spc="-6" dirty="0">
                <a:latin typeface="Courier New"/>
                <a:cs typeface="Courier New"/>
              </a:rPr>
              <a:t>Aluno 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spc="-6" dirty="0">
                <a:solidFill>
                  <a:srgbClr val="A6A6A6"/>
                </a:solidFill>
                <a:latin typeface="Courier New"/>
                <a:cs typeface="Courier New"/>
              </a:rPr>
              <a:t>// dados do</a:t>
            </a:r>
            <a:r>
              <a:rPr sz="2300" spc="-46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A6A6A6"/>
                </a:solidFill>
                <a:latin typeface="Courier New"/>
                <a:cs typeface="Courier New"/>
              </a:rPr>
              <a:t>aluno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39245" y="4945309"/>
            <a:ext cx="5526409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solidFill>
                  <a:srgbClr val="A6A6A6"/>
                </a:solidFill>
                <a:latin typeface="Courier New"/>
                <a:cs typeface="Courier New"/>
              </a:rPr>
              <a:t>para </a:t>
            </a:r>
            <a:r>
              <a:rPr sz="2300" spc="-6" dirty="0">
                <a:solidFill>
                  <a:srgbClr val="A6A6A6"/>
                </a:solidFill>
                <a:latin typeface="Courier New"/>
                <a:cs typeface="Courier New"/>
              </a:rPr>
              <a:t>percorrer </a:t>
            </a:r>
            <a:r>
              <a:rPr sz="2300" dirty="0">
                <a:solidFill>
                  <a:srgbClr val="A6A6A6"/>
                </a:solidFill>
                <a:latin typeface="Courier New"/>
                <a:cs typeface="Courier New"/>
              </a:rPr>
              <a:t>o </a:t>
            </a:r>
            <a:r>
              <a:rPr sz="2300" spc="-6" dirty="0">
                <a:solidFill>
                  <a:srgbClr val="A6A6A6"/>
                </a:solidFill>
                <a:latin typeface="Courier New"/>
                <a:cs typeface="Courier New"/>
              </a:rPr>
              <a:t>vetor de</a:t>
            </a:r>
            <a:r>
              <a:rPr sz="2300" spc="-103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A6A6A6"/>
                </a:solidFill>
                <a:latin typeface="Courier New"/>
                <a:cs typeface="Courier New"/>
              </a:rPr>
              <a:t>notas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30483" y="4945309"/>
            <a:ext cx="3030539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300" spc="-6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z="2300" spc="-103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A6A6A6"/>
                </a:solidFill>
                <a:latin typeface="Courier New"/>
                <a:cs typeface="Courier New"/>
              </a:rPr>
              <a:t>contador</a:t>
            </a:r>
            <a:endParaRPr sz="2300">
              <a:latin typeface="Courier New"/>
              <a:cs typeface="Courier New"/>
            </a:endParaRPr>
          </a:p>
          <a:p>
            <a:pPr marL="37656"/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…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68495" y="1623248"/>
            <a:ext cx="4714006" cy="1415706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0414" rIns="0" bIns="0" rtlCol="0">
            <a:spAutoFit/>
          </a:bodyPr>
          <a:lstStyle/>
          <a:p>
            <a:pPr marL="99933">
              <a:spcBef>
                <a:spcPts val="239"/>
              </a:spcBef>
            </a:pP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b="1" spc="-9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>
              <a:latin typeface="Courier New"/>
              <a:cs typeface="Courier New"/>
            </a:endParaRPr>
          </a:p>
          <a:p>
            <a:pPr marL="99933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37800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40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>
              <a:latin typeface="Courier New"/>
              <a:cs typeface="Courier New"/>
            </a:endParaRPr>
          </a:p>
          <a:p>
            <a:pPr marL="37800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float</a:t>
            </a:r>
            <a:r>
              <a:rPr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notas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>
              <a:latin typeface="Courier New"/>
              <a:cs typeface="Courier New"/>
            </a:endParaRPr>
          </a:p>
          <a:p>
            <a:pPr marL="99933">
              <a:spcBef>
                <a:spcPts val="23"/>
              </a:spcBef>
            </a:pP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Aluno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21772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97" dirty="0"/>
              <a:t> </a:t>
            </a:r>
            <a:r>
              <a:rPr dirty="0"/>
              <a:t>completo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1804" y="1438532"/>
            <a:ext cx="4892973" cy="1682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2496" indent="-588013">
              <a:buClr>
                <a:srgbClr val="852B34"/>
              </a:buClr>
              <a:buSzPct val="69642"/>
              <a:buAutoNum type="arabicPeriod"/>
              <a:tabLst>
                <a:tab pos="602496" algn="l"/>
                <a:tab pos="603220" algn="l"/>
              </a:tabLst>
            </a:pPr>
            <a:r>
              <a:rPr sz="3200" dirty="0">
                <a:latin typeface="Arial"/>
                <a:cs typeface="Arial"/>
              </a:rPr>
              <a:t>Definir</a:t>
            </a:r>
            <a:r>
              <a:rPr sz="3200" spc="-86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</a:t>
            </a:r>
            <a:endParaRPr sz="3200">
              <a:latin typeface="Arial"/>
              <a:cs typeface="Arial"/>
            </a:endParaRPr>
          </a:p>
          <a:p>
            <a:pPr marL="602496" indent="-588013">
              <a:spcBef>
                <a:spcPts val="798"/>
              </a:spcBef>
              <a:buClr>
                <a:srgbClr val="852B34"/>
              </a:buClr>
              <a:buSzPct val="69642"/>
              <a:buAutoNum type="arabicPeriod"/>
              <a:tabLst>
                <a:tab pos="602496" algn="l"/>
                <a:tab pos="603220" algn="l"/>
              </a:tabLst>
            </a:pPr>
            <a:r>
              <a:rPr sz="3200" dirty="0">
                <a:latin typeface="Arial"/>
                <a:cs typeface="Arial"/>
              </a:rPr>
              <a:t>Declarar</a:t>
            </a:r>
            <a:r>
              <a:rPr sz="3200" spc="-68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variáveis</a:t>
            </a:r>
            <a:endParaRPr sz="3200">
              <a:latin typeface="Arial"/>
              <a:cs typeface="Arial"/>
            </a:endParaRPr>
          </a:p>
          <a:p>
            <a:pPr marL="602496" indent="-588013">
              <a:spcBef>
                <a:spcPts val="798"/>
              </a:spcBef>
              <a:buClr>
                <a:srgbClr val="852B34"/>
              </a:buClr>
              <a:buSzPct val="69642"/>
              <a:buAutoNum type="arabicPeriod"/>
              <a:tabLst>
                <a:tab pos="602496" algn="l"/>
                <a:tab pos="603220" algn="l"/>
              </a:tabLst>
            </a:pPr>
            <a:r>
              <a:rPr sz="3200" spc="-6" dirty="0">
                <a:latin typeface="Arial"/>
                <a:cs typeface="Arial"/>
              </a:rPr>
              <a:t>Ler </a:t>
            </a:r>
            <a:r>
              <a:rPr sz="3200" dirty="0">
                <a:latin typeface="Arial"/>
                <a:cs typeface="Arial"/>
              </a:rPr>
              <a:t>dados </a:t>
            </a:r>
            <a:r>
              <a:rPr sz="3200" spc="-6" dirty="0">
                <a:latin typeface="Arial"/>
                <a:cs typeface="Arial"/>
              </a:rPr>
              <a:t>de um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aluno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68495" y="1270612"/>
            <a:ext cx="4714006" cy="3086970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6208" rIns="0" bIns="0" rtlCol="0">
            <a:spAutoFit/>
          </a:bodyPr>
          <a:lstStyle/>
          <a:p>
            <a:pPr marL="99933">
              <a:spcBef>
                <a:spcPts val="285"/>
              </a:spcBef>
            </a:pP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b="1" spc="-9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>
              <a:latin typeface="Courier New"/>
              <a:cs typeface="Courier New"/>
            </a:endParaRPr>
          </a:p>
          <a:p>
            <a:pPr marL="99933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37800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40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>
              <a:latin typeface="Courier New"/>
              <a:cs typeface="Courier New"/>
            </a:endParaRPr>
          </a:p>
          <a:p>
            <a:pPr marL="37800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float</a:t>
            </a:r>
            <a:r>
              <a:rPr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notas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>
              <a:latin typeface="Courier New"/>
              <a:cs typeface="Courier New"/>
            </a:endParaRPr>
          </a:p>
          <a:p>
            <a:pPr marL="99933">
              <a:spcBef>
                <a:spcPts val="23"/>
              </a:spcBef>
            </a:pP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Aluno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900">
              <a:latin typeface="Times New Roman"/>
              <a:cs typeface="Times New Roman"/>
            </a:endParaRPr>
          </a:p>
          <a:p>
            <a:pPr marL="99933">
              <a:spcBef>
                <a:spcPts val="6"/>
              </a:spcBef>
            </a:pP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main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>
              <a:latin typeface="Courier New"/>
              <a:cs typeface="Courier New"/>
            </a:endParaRPr>
          </a:p>
          <a:p>
            <a:pPr marL="99933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517046"/>
            <a:r>
              <a:rPr spc="-6" dirty="0">
                <a:latin typeface="Courier New"/>
                <a:cs typeface="Courier New"/>
              </a:rPr>
              <a:t>Aluno</a:t>
            </a:r>
            <a:r>
              <a:rPr spc="-114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a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517046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i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517046">
              <a:spcBef>
                <a:spcPts val="23"/>
              </a:spcBef>
            </a:pP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…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6550" y="4810971"/>
            <a:ext cx="6252669" cy="2135411"/>
          </a:xfrm>
          <a:custGeom>
            <a:avLst/>
            <a:gdLst/>
            <a:ahLst/>
            <a:cxnLst/>
            <a:rect l="l" t="t" r="r" b="b"/>
            <a:pathLst>
              <a:path w="5346700" h="1938020">
                <a:moveTo>
                  <a:pt x="0" y="1938020"/>
                </a:moveTo>
                <a:lnTo>
                  <a:pt x="5346700" y="1938020"/>
                </a:lnTo>
                <a:lnTo>
                  <a:pt x="5346700" y="0"/>
                </a:lnTo>
                <a:lnTo>
                  <a:pt x="0" y="0"/>
                </a:lnTo>
                <a:lnTo>
                  <a:pt x="0" y="193802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46550" y="4810971"/>
            <a:ext cx="6252669" cy="2135411"/>
          </a:xfrm>
          <a:custGeom>
            <a:avLst/>
            <a:gdLst/>
            <a:ahLst/>
            <a:cxnLst/>
            <a:rect l="l" t="t" r="r" b="b"/>
            <a:pathLst>
              <a:path w="5346700" h="1938020">
                <a:moveTo>
                  <a:pt x="0" y="1938020"/>
                </a:moveTo>
                <a:lnTo>
                  <a:pt x="5346700" y="1938020"/>
                </a:lnTo>
                <a:lnTo>
                  <a:pt x="5346700" y="0"/>
                </a:lnTo>
                <a:lnTo>
                  <a:pt x="0" y="0"/>
                </a:lnTo>
                <a:lnTo>
                  <a:pt x="0" y="19380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54970" y="4833361"/>
            <a:ext cx="5768495" cy="20903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700" spc="-11" dirty="0">
                <a:latin typeface="Courier New"/>
                <a:cs typeface="Courier New"/>
              </a:rPr>
              <a:t>gets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a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700" spc="-11" dirty="0">
                <a:latin typeface="Courier New"/>
                <a:cs typeface="Courier New"/>
              </a:rPr>
              <a:t>nome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700">
              <a:latin typeface="Courier New"/>
              <a:cs typeface="Courier New"/>
            </a:endParaRPr>
          </a:p>
          <a:p>
            <a:pPr>
              <a:tabLst>
                <a:tab pos="833501" algn="l"/>
              </a:tabLst>
            </a:pPr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for	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6" dirty="0">
                <a:latin typeface="Courier New"/>
                <a:cs typeface="Courier New"/>
              </a:rPr>
              <a:t>i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700" dirty="0">
                <a:solidFill>
                  <a:srgbClr val="EF00EF"/>
                </a:solidFill>
                <a:latin typeface="Courier New"/>
                <a:cs typeface="Courier New"/>
              </a:rPr>
              <a:t>0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700" dirty="0">
                <a:latin typeface="Courier New"/>
                <a:cs typeface="Courier New"/>
              </a:rPr>
              <a:t>i 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&lt;= </a:t>
            </a:r>
            <a:r>
              <a:rPr sz="2700" dirty="0">
                <a:solidFill>
                  <a:srgbClr val="EF00EF"/>
                </a:solidFill>
                <a:latin typeface="Courier New"/>
                <a:cs typeface="Courier New"/>
              </a:rPr>
              <a:t>3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700" spc="-6" dirty="0">
                <a:latin typeface="Courier New"/>
                <a:cs typeface="Courier New"/>
              </a:rPr>
              <a:t>i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++</a:t>
            </a:r>
            <a:r>
              <a:rPr sz="2700" spc="-16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700">
              <a:latin typeface="Courier New"/>
              <a:cs typeface="Courier New"/>
            </a:endParaRPr>
          </a:p>
          <a:p>
            <a:pPr marL="417113"/>
            <a:r>
              <a:rPr sz="2700" spc="-6" dirty="0">
                <a:latin typeface="Courier New"/>
                <a:cs typeface="Courier New"/>
              </a:rPr>
              <a:t>scanf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7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&amp;</a:t>
            </a:r>
            <a:r>
              <a:rPr sz="2700" spc="-6" dirty="0">
                <a:latin typeface="Courier New"/>
                <a:cs typeface="Courier New"/>
              </a:rPr>
              <a:t>a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700" spc="-6" dirty="0">
                <a:latin typeface="Courier New"/>
                <a:cs typeface="Courier New"/>
              </a:rPr>
              <a:t>notas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6" dirty="0">
                <a:latin typeface="Courier New"/>
                <a:cs typeface="Courier New"/>
              </a:rPr>
              <a:t>i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700">
              <a:latin typeface="Courier New"/>
              <a:cs typeface="Courier New"/>
            </a:endParaRPr>
          </a:p>
          <a:p>
            <a:pPr>
              <a:spcBef>
                <a:spcPts val="68"/>
              </a:spcBef>
            </a:pP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7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427316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97" dirty="0"/>
              <a:t> </a:t>
            </a:r>
            <a:r>
              <a:rPr dirty="0"/>
              <a:t>completo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2691" y="5286750"/>
            <a:ext cx="6252669" cy="558385"/>
          </a:xfrm>
          <a:prstGeom prst="rect">
            <a:avLst/>
          </a:prstGeom>
        </p:spPr>
        <p:txBody>
          <a:bodyPr vert="horz" wrap="square" lIns="0" tIns="4345" rIns="0" bIns="0" rtlCol="0">
            <a:spAutoFit/>
          </a:bodyPr>
          <a:lstStyle/>
          <a:p>
            <a:pPr>
              <a:spcBef>
                <a:spcPts val="34"/>
              </a:spcBef>
            </a:pPr>
            <a:endParaRPr>
              <a:latin typeface="Times New Roman"/>
              <a:cs typeface="Times New Roman"/>
            </a:endParaRPr>
          </a:p>
          <a:p>
            <a:pPr marR="419285" algn="r"/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…</a:t>
            </a:r>
            <a:endParaRPr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26752" y="1192247"/>
          <a:ext cx="9849807" cy="62502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35801"/>
                <a:gridCol w="1116866"/>
                <a:gridCol w="3597140"/>
              </a:tblGrid>
              <a:tr h="4088906">
                <a:tc>
                  <a:txBody>
                    <a:bodyPr/>
                    <a:lstStyle/>
                    <a:p>
                      <a:pPr marL="604520" indent="-515620">
                        <a:lnSpc>
                          <a:spcPct val="100000"/>
                        </a:lnSpc>
                        <a:spcBef>
                          <a:spcPts val="1720"/>
                        </a:spcBef>
                        <a:buClr>
                          <a:srgbClr val="852B34"/>
                        </a:buClr>
                        <a:buSzPct val="69642"/>
                        <a:buAutoNum type="arabicPeriod"/>
                        <a:tabLst>
                          <a:tab pos="604520" algn="l"/>
                          <a:tab pos="605155" algn="l"/>
                        </a:tabLst>
                      </a:pPr>
                      <a:r>
                        <a:rPr sz="3100" dirty="0">
                          <a:latin typeface="Arial"/>
                          <a:cs typeface="Arial"/>
                        </a:rPr>
                        <a:t>Definir</a:t>
                      </a:r>
                      <a:r>
                        <a:rPr sz="31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100" dirty="0">
                          <a:latin typeface="Arial"/>
                          <a:cs typeface="Arial"/>
                        </a:rPr>
                        <a:t>estrutura</a:t>
                      </a:r>
                      <a:endParaRPr sz="3100">
                        <a:latin typeface="Arial"/>
                        <a:cs typeface="Arial"/>
                      </a:endParaRPr>
                    </a:p>
                    <a:p>
                      <a:pPr marL="604520" indent="-515620">
                        <a:lnSpc>
                          <a:spcPct val="100000"/>
                        </a:lnSpc>
                        <a:spcBef>
                          <a:spcPts val="700"/>
                        </a:spcBef>
                        <a:buClr>
                          <a:srgbClr val="852B34"/>
                        </a:buClr>
                        <a:buSzPct val="69642"/>
                        <a:buAutoNum type="arabicPeriod"/>
                        <a:tabLst>
                          <a:tab pos="604520" algn="l"/>
                          <a:tab pos="605155" algn="l"/>
                        </a:tabLst>
                      </a:pPr>
                      <a:r>
                        <a:rPr sz="3100" dirty="0">
                          <a:latin typeface="Arial"/>
                          <a:cs typeface="Arial"/>
                        </a:rPr>
                        <a:t>Declarar</a:t>
                      </a:r>
                      <a:r>
                        <a:rPr sz="31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100" dirty="0">
                          <a:latin typeface="Arial"/>
                          <a:cs typeface="Arial"/>
                        </a:rPr>
                        <a:t>variáveis</a:t>
                      </a:r>
                      <a:endParaRPr sz="3100">
                        <a:latin typeface="Arial"/>
                        <a:cs typeface="Arial"/>
                      </a:endParaRPr>
                    </a:p>
                    <a:p>
                      <a:pPr marL="604520" indent="-515620">
                        <a:lnSpc>
                          <a:spcPct val="100000"/>
                        </a:lnSpc>
                        <a:spcBef>
                          <a:spcPts val="700"/>
                        </a:spcBef>
                        <a:buClr>
                          <a:srgbClr val="852B34"/>
                        </a:buClr>
                        <a:buSzPct val="69642"/>
                        <a:buAutoNum type="arabicPeriod"/>
                        <a:tabLst>
                          <a:tab pos="604520" algn="l"/>
                          <a:tab pos="605155" algn="l"/>
                        </a:tabLst>
                      </a:pPr>
                      <a:r>
                        <a:rPr sz="3100" spc="-5" dirty="0">
                          <a:latin typeface="Arial"/>
                          <a:cs typeface="Arial"/>
                        </a:rPr>
                        <a:t>Ler </a:t>
                      </a:r>
                      <a:r>
                        <a:rPr sz="3100" dirty="0">
                          <a:latin typeface="Arial"/>
                          <a:cs typeface="Arial"/>
                        </a:rPr>
                        <a:t>dados </a:t>
                      </a:r>
                      <a:r>
                        <a:rPr sz="3100" spc="-5" dirty="0">
                          <a:latin typeface="Arial"/>
                          <a:cs typeface="Arial"/>
                        </a:rPr>
                        <a:t>de um</a:t>
                      </a:r>
                      <a:r>
                        <a:rPr sz="31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100" dirty="0">
                          <a:latin typeface="Arial"/>
                          <a:cs typeface="Arial"/>
                        </a:rPr>
                        <a:t>aluno</a:t>
                      </a:r>
                      <a:endParaRPr sz="3100">
                        <a:latin typeface="Arial"/>
                        <a:cs typeface="Arial"/>
                      </a:endParaRPr>
                    </a:p>
                    <a:p>
                      <a:pPr marL="604520" indent="-515620">
                        <a:lnSpc>
                          <a:spcPct val="100000"/>
                        </a:lnSpc>
                        <a:spcBef>
                          <a:spcPts val="700"/>
                        </a:spcBef>
                        <a:buClr>
                          <a:srgbClr val="852B34"/>
                        </a:buClr>
                        <a:buSzPct val="69642"/>
                        <a:buAutoNum type="arabicPeriod"/>
                        <a:tabLst>
                          <a:tab pos="604520" algn="l"/>
                          <a:tab pos="605155" algn="l"/>
                        </a:tabLst>
                      </a:pPr>
                      <a:r>
                        <a:rPr sz="3100" dirty="0">
                          <a:latin typeface="Arial"/>
                          <a:cs typeface="Arial"/>
                        </a:rPr>
                        <a:t>Imprimir os</a:t>
                      </a:r>
                      <a:r>
                        <a:rPr sz="31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100" dirty="0">
                          <a:latin typeface="Arial"/>
                          <a:cs typeface="Arial"/>
                        </a:rPr>
                        <a:t>dados</a:t>
                      </a:r>
                      <a:endParaRPr sz="3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0160">
                      <a:solidFill>
                        <a:srgbClr val="000000"/>
                      </a:solidFill>
                      <a:prstDash val="solid"/>
                    </a:lnR>
                    <a:lnB w="1016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typedef</a:t>
                      </a:r>
                      <a:r>
                        <a:rPr sz="1800" b="1" spc="-80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struct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{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331470">
                        <a:lnSpc>
                          <a:spcPct val="100000"/>
                        </a:lnSpc>
                      </a:pPr>
                      <a:r>
                        <a:rPr sz="18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char</a:t>
                      </a:r>
                      <a:r>
                        <a:rPr sz="1800" b="1" spc="-6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nome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[</a:t>
                      </a:r>
                      <a:r>
                        <a:rPr sz="1800" spc="-5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40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];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331470">
                        <a:lnSpc>
                          <a:spcPct val="100000"/>
                        </a:lnSpc>
                      </a:pPr>
                      <a:r>
                        <a:rPr sz="18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float</a:t>
                      </a:r>
                      <a:r>
                        <a:rPr sz="1800" b="1" spc="-6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notas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[</a:t>
                      </a:r>
                      <a:r>
                        <a:rPr sz="1800" spc="-5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];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}</a:t>
                      </a:r>
                      <a:r>
                        <a:rPr sz="1800" spc="-1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Aluno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18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int</a:t>
                      </a:r>
                      <a:r>
                        <a:rPr sz="1800" b="1" spc="-100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main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()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{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453390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ourier New"/>
                          <a:cs typeface="Courier New"/>
                        </a:rPr>
                        <a:t>Aluno</a:t>
                      </a:r>
                      <a:r>
                        <a:rPr sz="1800" spc="-9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453390" marR="1971675">
                        <a:lnSpc>
                          <a:spcPct val="100000"/>
                        </a:lnSpc>
                      </a:pPr>
                      <a:r>
                        <a:rPr sz="18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int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 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gets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.</a:t>
                      </a:r>
                      <a:r>
                        <a:rPr sz="1800" spc="15" dirty="0">
                          <a:latin typeface="Courier New"/>
                          <a:cs typeface="Courier New"/>
                        </a:rPr>
                        <a:t>n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om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);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453390">
                        <a:lnSpc>
                          <a:spcPct val="100000"/>
                        </a:lnSpc>
                      </a:pPr>
                      <a:r>
                        <a:rPr sz="18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for 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i 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= </a:t>
                      </a:r>
                      <a:r>
                        <a:rPr sz="1800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0 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i </a:t>
                      </a:r>
                      <a:r>
                        <a:rPr sz="1800" spc="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&lt;= </a:t>
                      </a:r>
                      <a:r>
                        <a:rPr sz="1800" spc="-5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++</a:t>
                      </a:r>
                      <a:r>
                        <a:rPr sz="1800" spc="-3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453390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{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697230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ourier New"/>
                          <a:cs typeface="Courier New"/>
                        </a:rPr>
                        <a:t>scanf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1800" spc="-5" dirty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"%f"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,</a:t>
                      </a:r>
                      <a:r>
                        <a:rPr sz="1800" spc="-7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&amp;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.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notas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[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]);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453390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}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624110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600" spc="-5" dirty="0">
                          <a:latin typeface="Courier New"/>
                          <a:cs typeface="Courier New"/>
                        </a:rPr>
                        <a:t>puts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2600" spc="-5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.</a:t>
                      </a:r>
                      <a:r>
                        <a:rPr sz="2600" spc="-5" dirty="0">
                          <a:latin typeface="Courier New"/>
                          <a:cs typeface="Courier New"/>
                        </a:rPr>
                        <a:t>nome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);</a:t>
                      </a:r>
                      <a:endParaRPr sz="2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endParaRPr sz="2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endParaRPr sz="2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1511300">
                <a:tc gridSpan="2">
                  <a:txBody>
                    <a:bodyPr/>
                    <a:lstStyle/>
                    <a:p>
                      <a:pPr marL="85090">
                        <a:lnSpc>
                          <a:spcPts val="1465"/>
                        </a:lnSpc>
                      </a:pPr>
                      <a:r>
                        <a:rPr sz="26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for 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2600" spc="-5" dirty="0">
                          <a:latin typeface="Courier New"/>
                          <a:cs typeface="Courier New"/>
                        </a:rPr>
                        <a:t>i </a:t>
                      </a:r>
                      <a:r>
                        <a:rPr sz="26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= </a:t>
                      </a:r>
                      <a:r>
                        <a:rPr sz="2600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0 </a:t>
                      </a:r>
                      <a:r>
                        <a:rPr sz="26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 </a:t>
                      </a:r>
                      <a:r>
                        <a:rPr sz="2600" dirty="0">
                          <a:latin typeface="Courier New"/>
                          <a:cs typeface="Courier New"/>
                        </a:rPr>
                        <a:t>i 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&lt;= </a:t>
                      </a:r>
                      <a:r>
                        <a:rPr sz="2600" spc="-5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 </a:t>
                      </a:r>
                      <a:r>
                        <a:rPr sz="2600" spc="-5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++</a:t>
                      </a:r>
                      <a:r>
                        <a:rPr sz="2600" spc="-1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6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)</a:t>
                      </a:r>
                      <a:endParaRPr sz="2600">
                        <a:latin typeface="Courier New"/>
                        <a:cs typeface="Courier New"/>
                      </a:endParaRPr>
                    </a:p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26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{</a:t>
                      </a:r>
                      <a:endParaRPr sz="2600">
                        <a:latin typeface="Courier New"/>
                        <a:cs typeface="Courier New"/>
                      </a:endParaRPr>
                    </a:p>
                    <a:p>
                      <a:pPr marL="450850">
                        <a:lnSpc>
                          <a:spcPct val="100000"/>
                        </a:lnSpc>
                      </a:pPr>
                      <a:r>
                        <a:rPr sz="2600" spc="-5" dirty="0">
                          <a:latin typeface="Courier New"/>
                          <a:cs typeface="Courier New"/>
                        </a:rPr>
                        <a:t>printf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2600" spc="-5" dirty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"%f"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,</a:t>
                      </a:r>
                      <a:r>
                        <a:rPr sz="2600" spc="-12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600" spc="-5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.</a:t>
                      </a:r>
                      <a:r>
                        <a:rPr sz="2600" spc="-5" dirty="0">
                          <a:latin typeface="Courier New"/>
                          <a:cs typeface="Courier New"/>
                        </a:rPr>
                        <a:t>notas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[</a:t>
                      </a:r>
                      <a:r>
                        <a:rPr sz="2600" spc="-5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]);</a:t>
                      </a:r>
                      <a:endParaRPr sz="2600">
                        <a:latin typeface="Courier New"/>
                        <a:cs typeface="Courier New"/>
                      </a:endParaRPr>
                    </a:p>
                    <a:p>
                      <a:pPr marL="8509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6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}</a:t>
                      </a:r>
                      <a:endParaRPr sz="2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T w="1016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5355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97" dirty="0"/>
              <a:t> </a:t>
            </a:r>
            <a:r>
              <a:rPr dirty="0"/>
              <a:t>completo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52557" y="1136273"/>
            <a:ext cx="4547665" cy="6175940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50691" rIns="0" bIns="0" rtlCol="0">
            <a:spAutoFit/>
          </a:bodyPr>
          <a:lstStyle/>
          <a:p>
            <a:pPr marL="377284" marR="1947249" indent="-278075">
              <a:spcBef>
                <a:spcPts val="399"/>
              </a:spcBef>
            </a:pP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typedef struct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40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float</a:t>
            </a:r>
            <a:r>
              <a:rPr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notas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>
              <a:latin typeface="Courier New"/>
              <a:cs typeface="Courier New"/>
            </a:endParaRPr>
          </a:p>
          <a:p>
            <a:pPr marL="99209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Aluno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>
              <a:spcBef>
                <a:spcPts val="29"/>
              </a:spcBef>
            </a:pPr>
            <a:endParaRPr sz="1900">
              <a:latin typeface="Times New Roman"/>
              <a:cs typeface="Times New Roman"/>
            </a:endParaRPr>
          </a:p>
          <a:p>
            <a:pPr marL="99209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main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>
              <a:latin typeface="Courier New"/>
              <a:cs typeface="Courier New"/>
            </a:endParaRPr>
          </a:p>
          <a:p>
            <a:pPr marL="99209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spc="-6" dirty="0">
                <a:latin typeface="Courier New"/>
                <a:cs typeface="Courier New"/>
              </a:rPr>
              <a:t>Aluno</a:t>
            </a:r>
            <a:r>
              <a:rPr spc="-103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i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spc="-6" dirty="0">
                <a:latin typeface="Courier New"/>
                <a:cs typeface="Courier New"/>
              </a:rPr>
              <a:t>gets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pc="-6" dirty="0">
                <a:latin typeface="Courier New"/>
                <a:cs typeface="Courier New"/>
              </a:rPr>
              <a:t>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pc="-6" dirty="0">
                <a:latin typeface="Courier New"/>
                <a:cs typeface="Courier New"/>
              </a:rPr>
              <a:t>i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dirty="0">
                <a:solidFill>
                  <a:srgbClr val="EF00EF"/>
                </a:solidFill>
                <a:latin typeface="Courier New"/>
                <a:cs typeface="Courier New"/>
              </a:rPr>
              <a:t>0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dirty="0">
                <a:latin typeface="Courier New"/>
                <a:cs typeface="Courier New"/>
              </a:rPr>
              <a:t>i 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&lt;= </a:t>
            </a:r>
            <a:r>
              <a:rPr spc="11" dirty="0">
                <a:solidFill>
                  <a:srgbClr val="EF00EF"/>
                </a:solidFill>
                <a:latin typeface="Courier New"/>
                <a:cs typeface="Courier New"/>
              </a:rPr>
              <a:t>3</a:t>
            </a:r>
            <a:r>
              <a:rPr spc="11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pc="-6" dirty="0">
                <a:latin typeface="Courier New"/>
                <a:cs typeface="Courier New"/>
              </a:rPr>
              <a:t>i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++</a:t>
            </a:r>
            <a:r>
              <a:rPr spc="-6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656084"/>
            <a:r>
              <a:rPr spc="-6" dirty="0">
                <a:latin typeface="Courier New"/>
                <a:cs typeface="Courier New"/>
              </a:rPr>
              <a:t>scanf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pc="-2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&amp;</a:t>
            </a:r>
            <a:r>
              <a:rPr spc="-6" dirty="0">
                <a:latin typeface="Courier New"/>
                <a:cs typeface="Courier New"/>
              </a:rPr>
              <a:t>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pc="-6" dirty="0">
                <a:latin typeface="Courier New"/>
                <a:cs typeface="Courier New"/>
              </a:rPr>
              <a:t>notas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latin typeface="Courier New"/>
                <a:cs typeface="Courier New"/>
              </a:rPr>
              <a:t>i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>
              <a:spcBef>
                <a:spcPts val="23"/>
              </a:spcBef>
            </a:pPr>
            <a:endParaRPr sz="1900">
              <a:latin typeface="Times New Roman"/>
              <a:cs typeface="Times New Roman"/>
            </a:endParaRPr>
          </a:p>
          <a:p>
            <a:pPr marL="377284"/>
            <a:r>
              <a:rPr spc="-6" dirty="0">
                <a:latin typeface="Courier New"/>
                <a:cs typeface="Courier New"/>
              </a:rPr>
              <a:t>puts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pc="-6" dirty="0">
                <a:latin typeface="Courier New"/>
                <a:cs typeface="Courier New"/>
              </a:rPr>
              <a:t>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pc="-6" dirty="0">
                <a:latin typeface="Courier New"/>
                <a:cs typeface="Courier New"/>
              </a:rPr>
              <a:t>i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dirty="0">
                <a:solidFill>
                  <a:srgbClr val="EF00EF"/>
                </a:solidFill>
                <a:latin typeface="Courier New"/>
                <a:cs typeface="Courier New"/>
              </a:rPr>
              <a:t>0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dirty="0">
                <a:latin typeface="Courier New"/>
                <a:cs typeface="Courier New"/>
              </a:rPr>
              <a:t>i 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&lt;= </a:t>
            </a:r>
            <a:r>
              <a:rPr spc="11" dirty="0">
                <a:solidFill>
                  <a:srgbClr val="EF00EF"/>
                </a:solidFill>
                <a:latin typeface="Courier New"/>
                <a:cs typeface="Courier New"/>
              </a:rPr>
              <a:t>3</a:t>
            </a:r>
            <a:r>
              <a:rPr spc="11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pc="-6" dirty="0">
                <a:latin typeface="Courier New"/>
                <a:cs typeface="Courier New"/>
              </a:rPr>
              <a:t>i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++</a:t>
            </a:r>
            <a:r>
              <a:rPr spc="-6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656084"/>
            <a:r>
              <a:rPr spc="-6" dirty="0">
                <a:latin typeface="Courier New"/>
                <a:cs typeface="Courier New"/>
              </a:rPr>
              <a:t>printf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pc="-6" dirty="0">
                <a:latin typeface="Courier New"/>
                <a:cs typeface="Courier New"/>
              </a:rPr>
              <a:t>notas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latin typeface="Courier New"/>
                <a:cs typeface="Courier New"/>
              </a:rPr>
              <a:t>i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return</a:t>
            </a:r>
            <a:r>
              <a:rPr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99209">
              <a:spcBef>
                <a:spcPts val="23"/>
              </a:spcBef>
            </a:pP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67715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40" y="1105488"/>
            <a:ext cx="10420867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9047"/>
              <a:buChar char="•"/>
              <a:tabLst>
                <a:tab pos="404802" algn="l"/>
                <a:tab pos="405526" algn="l"/>
              </a:tabLst>
            </a:pPr>
            <a:r>
              <a:rPr sz="2400" spc="-6" dirty="0">
                <a:latin typeface="Arial"/>
                <a:cs typeface="Arial"/>
              </a:rPr>
              <a:t>Como </a:t>
            </a:r>
            <a:r>
              <a:rPr sz="2400" spc="-11" dirty="0">
                <a:latin typeface="Arial"/>
                <a:cs typeface="Arial"/>
              </a:rPr>
              <a:t>qualquer </a:t>
            </a:r>
            <a:r>
              <a:rPr sz="2400" spc="-6" dirty="0">
                <a:latin typeface="Arial"/>
                <a:cs typeface="Arial"/>
              </a:rPr>
              <a:t>outra variável, </a:t>
            </a:r>
            <a:r>
              <a:rPr sz="2400" spc="-11" dirty="0">
                <a:latin typeface="Arial"/>
                <a:cs typeface="Arial"/>
              </a:rPr>
              <a:t>uma </a:t>
            </a:r>
            <a:r>
              <a:rPr sz="2400" spc="-6" dirty="0">
                <a:latin typeface="Arial"/>
                <a:cs typeface="Arial"/>
              </a:rPr>
              <a:t>variável </a:t>
            </a:r>
            <a:r>
              <a:rPr sz="2400" spc="-11" dirty="0">
                <a:latin typeface="Arial"/>
                <a:cs typeface="Arial"/>
              </a:rPr>
              <a:t>do tipo </a:t>
            </a:r>
            <a:r>
              <a:rPr sz="2400" spc="-6" dirty="0">
                <a:latin typeface="Arial"/>
                <a:cs typeface="Arial"/>
              </a:rPr>
              <a:t>estrutura </a:t>
            </a:r>
            <a:r>
              <a:rPr sz="2400" spc="-11" dirty="0">
                <a:latin typeface="Arial"/>
                <a:cs typeface="Arial"/>
              </a:rPr>
              <a:t>pode</a:t>
            </a:r>
            <a:r>
              <a:rPr sz="2400" spc="114" dirty="0">
                <a:latin typeface="Arial"/>
                <a:cs typeface="Arial"/>
              </a:rPr>
              <a:t> </a:t>
            </a:r>
            <a:r>
              <a:rPr sz="2400" spc="-6" dirty="0">
                <a:latin typeface="Arial"/>
                <a:cs typeface="Arial"/>
              </a:rPr>
              <a:t>ser</a:t>
            </a:r>
            <a:endParaRPr sz="2400">
              <a:latin typeface="Arial"/>
              <a:cs typeface="Arial"/>
            </a:endParaRPr>
          </a:p>
          <a:p>
            <a:pPr marL="405526"/>
            <a:r>
              <a:rPr sz="2400" spc="-6" dirty="0">
                <a:latin typeface="Arial"/>
                <a:cs typeface="Arial"/>
              </a:rPr>
              <a:t>usada como </a:t>
            </a:r>
            <a:r>
              <a:rPr sz="2400" b="1" spc="-6" dirty="0">
                <a:latin typeface="Arial"/>
                <a:cs typeface="Arial"/>
              </a:rPr>
              <a:t>parâmetro </a:t>
            </a:r>
            <a:r>
              <a:rPr sz="2400" spc="-6" dirty="0">
                <a:latin typeface="Arial"/>
                <a:cs typeface="Arial"/>
              </a:rPr>
              <a:t>ou </a:t>
            </a:r>
            <a:r>
              <a:rPr sz="2400" spc="-11" dirty="0">
                <a:latin typeface="Arial"/>
                <a:cs typeface="Arial"/>
              </a:rPr>
              <a:t>pode </a:t>
            </a:r>
            <a:r>
              <a:rPr sz="2400" dirty="0">
                <a:latin typeface="Arial"/>
                <a:cs typeface="Arial"/>
              </a:rPr>
              <a:t>ser o </a:t>
            </a:r>
            <a:r>
              <a:rPr sz="2400" b="1" spc="-6" dirty="0">
                <a:latin typeface="Arial"/>
                <a:cs typeface="Arial"/>
              </a:rPr>
              <a:t>valor </a:t>
            </a:r>
            <a:r>
              <a:rPr sz="2400" b="1" dirty="0">
                <a:latin typeface="Arial"/>
                <a:cs typeface="Arial"/>
              </a:rPr>
              <a:t>de </a:t>
            </a:r>
            <a:r>
              <a:rPr sz="2400" b="1" spc="-6" dirty="0">
                <a:latin typeface="Arial"/>
                <a:cs typeface="Arial"/>
              </a:rPr>
              <a:t>retorno </a:t>
            </a:r>
            <a:r>
              <a:rPr sz="2400" spc="-6" dirty="0">
                <a:latin typeface="Arial"/>
                <a:cs typeface="Arial"/>
              </a:rPr>
              <a:t>de </a:t>
            </a:r>
            <a:r>
              <a:rPr sz="2400" spc="-11" dirty="0">
                <a:latin typeface="Arial"/>
                <a:cs typeface="Arial"/>
              </a:rPr>
              <a:t>uma</a:t>
            </a:r>
            <a:r>
              <a:rPr sz="2400" spc="57" dirty="0">
                <a:latin typeface="Arial"/>
                <a:cs typeface="Arial"/>
              </a:rPr>
              <a:t> </a:t>
            </a:r>
            <a:r>
              <a:rPr sz="2400" spc="-6" dirty="0">
                <a:latin typeface="Arial"/>
                <a:cs typeface="Arial"/>
              </a:rPr>
              <a:t>função.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811" y="2686476"/>
            <a:ext cx="2028776" cy="1103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typedef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struct</a:t>
            </a:r>
            <a:endParaRPr dirty="0"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</a:p>
          <a:p>
            <a:pPr marL="570633"/>
            <a:r>
              <a:rPr spc="-6" dirty="0">
                <a:latin typeface="Courier New"/>
                <a:cs typeface="Courier New"/>
              </a:rPr>
              <a:t>int</a:t>
            </a:r>
            <a:endParaRPr dirty="0">
              <a:latin typeface="Courier New"/>
              <a:cs typeface="Courier New"/>
            </a:endParaRPr>
          </a:p>
          <a:p>
            <a:pPr marL="570633"/>
            <a:r>
              <a:rPr spc="-6" dirty="0">
                <a:latin typeface="Courier New"/>
                <a:cs typeface="Courier New"/>
              </a:rPr>
              <a:t>int</a:t>
            </a:r>
            <a:endParaRPr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35812" y="3223686"/>
            <a:ext cx="1031468" cy="5667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valorA;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spc="-6" dirty="0">
                <a:latin typeface="Courier New"/>
                <a:cs typeface="Courier New"/>
              </a:rPr>
              <a:t>valorB;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4812" y="3761457"/>
            <a:ext cx="2457254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latin typeface="Courier New"/>
                <a:cs typeface="Courier New"/>
              </a:rPr>
              <a:t>}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MinhaEstrutura;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78101" y="2184107"/>
            <a:ext cx="4460039" cy="13727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void </a:t>
            </a:r>
            <a:r>
              <a:rPr b="1" spc="-6" dirty="0">
                <a:latin typeface="Courier New"/>
                <a:cs typeface="Courier New"/>
              </a:rPr>
              <a:t>imprime</a:t>
            </a:r>
            <a:r>
              <a:rPr spc="-6" dirty="0">
                <a:latin typeface="Courier New"/>
                <a:cs typeface="Courier New"/>
              </a:rPr>
              <a:t>(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</a:t>
            </a:r>
            <a:r>
              <a:rPr b="1" spc="-1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spc="-6" dirty="0">
                <a:latin typeface="Courier New"/>
                <a:cs typeface="Courier New"/>
              </a:rPr>
              <a:t>)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431596" marR="422182" algn="just"/>
            <a:r>
              <a:rPr spc="-6" dirty="0">
                <a:latin typeface="Courier New"/>
                <a:cs typeface="Courier New"/>
              </a:rPr>
              <a:t>printf("\n%d",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e1.valorA</a:t>
            </a:r>
            <a:r>
              <a:rPr spc="-6" dirty="0">
                <a:latin typeface="Courier New"/>
                <a:cs typeface="Courier New"/>
              </a:rPr>
              <a:t>);  printf("\n%d",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e1.valorB</a:t>
            </a:r>
            <a:r>
              <a:rPr spc="-6" dirty="0">
                <a:latin typeface="Courier New"/>
                <a:cs typeface="Courier New"/>
              </a:rPr>
              <a:t>); 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e1.valorB </a:t>
            </a:r>
            <a:r>
              <a:rPr dirty="0">
                <a:latin typeface="Courier New"/>
                <a:cs typeface="Courier New"/>
              </a:rPr>
              <a:t>=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/>
                <a:cs typeface="Courier New"/>
              </a:rPr>
              <a:t>e1.valorA</a:t>
            </a:r>
            <a:r>
              <a:rPr dirty="0"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20049" y="3796722"/>
            <a:ext cx="2318389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b="1" spc="-6" dirty="0">
                <a:latin typeface="Courier New"/>
                <a:cs typeface="Courier New"/>
              </a:rPr>
              <a:t>novaEstrutura</a:t>
            </a:r>
            <a:r>
              <a:rPr spc="-6" dirty="0">
                <a:latin typeface="Courier New"/>
                <a:cs typeface="Courier New"/>
              </a:rPr>
              <a:t>(</a:t>
            </a:r>
            <a:r>
              <a:rPr spc="-57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)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78101" y="3528045"/>
            <a:ext cx="2028776" cy="835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05839" y="4334072"/>
            <a:ext cx="4032303" cy="1104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 </a:t>
            </a:r>
            <a:r>
              <a:rPr b="1" dirty="0">
                <a:solidFill>
                  <a:srgbClr val="FF0000"/>
                </a:solidFill>
                <a:latin typeface="Courier New"/>
                <a:cs typeface="Courier New"/>
              </a:rPr>
              <a:t>novaVar</a:t>
            </a:r>
            <a:r>
              <a:rPr dirty="0">
                <a:latin typeface="Courier New"/>
                <a:cs typeface="Courier New"/>
              </a:rPr>
              <a:t>;  </a:t>
            </a:r>
            <a:r>
              <a:rPr spc="-6" dirty="0">
                <a:latin typeface="Courier New"/>
                <a:cs typeface="Courier New"/>
              </a:rPr>
              <a:t>scanf("%d",&amp;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novaVar.valorA</a:t>
            </a:r>
            <a:r>
              <a:rPr spc="-6" dirty="0">
                <a:latin typeface="Courier New"/>
                <a:cs typeface="Courier New"/>
              </a:rPr>
              <a:t>);  scanf("%d",&amp;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novaVar.valorB</a:t>
            </a:r>
            <a:r>
              <a:rPr spc="-6" dirty="0">
                <a:latin typeface="Courier New"/>
                <a:cs typeface="Courier New"/>
              </a:rPr>
              <a:t>);  return</a:t>
            </a:r>
            <a:r>
              <a:rPr spc="-68" dirty="0"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</a:t>
            </a:r>
            <a:r>
              <a:rPr spc="-6" dirty="0"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78102" y="5409614"/>
            <a:ext cx="3603824" cy="16671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190"/>
              </a:lnSpc>
            </a:pPr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spc="-6" dirty="0">
                <a:latin typeface="Courier New"/>
                <a:cs typeface="Courier New"/>
              </a:rPr>
              <a:t>int</a:t>
            </a:r>
            <a:r>
              <a:rPr spc="-108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main()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431596" marR="5793"/>
            <a:r>
              <a:rPr spc="-6" dirty="0">
                <a:latin typeface="Courier New"/>
                <a:cs typeface="Courier New"/>
              </a:rPr>
              <a:t>MinhaEstrutura </a:t>
            </a:r>
            <a:r>
              <a:rPr spc="6" dirty="0">
                <a:latin typeface="Courier New"/>
                <a:cs typeface="Courier New"/>
              </a:rPr>
              <a:t>var;  </a:t>
            </a:r>
            <a:r>
              <a:rPr spc="-6" dirty="0">
                <a:solidFill>
                  <a:srgbClr val="21218A"/>
                </a:solidFill>
                <a:latin typeface="Courier New"/>
                <a:cs typeface="Courier New"/>
              </a:rPr>
              <a:t>var </a:t>
            </a:r>
            <a:r>
              <a:rPr dirty="0">
                <a:solidFill>
                  <a:srgbClr val="21218A"/>
                </a:solidFill>
                <a:latin typeface="Courier New"/>
                <a:cs typeface="Courier New"/>
              </a:rPr>
              <a:t>= </a:t>
            </a:r>
            <a:r>
              <a:rPr b="1" spc="-6" dirty="0">
                <a:solidFill>
                  <a:srgbClr val="21218A"/>
                </a:solidFill>
                <a:latin typeface="Courier New"/>
                <a:cs typeface="Courier New"/>
              </a:rPr>
              <a:t>novaEstrutura</a:t>
            </a:r>
            <a:r>
              <a:rPr spc="-6" dirty="0">
                <a:solidFill>
                  <a:srgbClr val="21218A"/>
                </a:solidFill>
                <a:latin typeface="Courier New"/>
                <a:cs typeface="Courier New"/>
              </a:rPr>
              <a:t>();  </a:t>
            </a:r>
            <a:r>
              <a:rPr b="1" spc="-6" dirty="0">
                <a:solidFill>
                  <a:srgbClr val="00664D"/>
                </a:solidFill>
                <a:latin typeface="Courier New"/>
                <a:cs typeface="Courier New"/>
              </a:rPr>
              <a:t>imprime</a:t>
            </a:r>
            <a:r>
              <a:rPr spc="-6" dirty="0">
                <a:solidFill>
                  <a:srgbClr val="00664D"/>
                </a:solidFill>
                <a:latin typeface="Courier New"/>
                <a:cs typeface="Courier New"/>
              </a:rPr>
              <a:t>(var);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251480" y="4053642"/>
            <a:ext cx="4252112" cy="1074003"/>
          </a:xfrm>
          <a:custGeom>
            <a:avLst/>
            <a:gdLst/>
            <a:ahLst/>
            <a:cxnLst/>
            <a:rect l="l" t="t" r="r" b="b"/>
            <a:pathLst>
              <a:path w="3636009" h="974725">
                <a:moveTo>
                  <a:pt x="0" y="0"/>
                </a:moveTo>
                <a:lnTo>
                  <a:pt x="2485136" y="406907"/>
                </a:lnTo>
                <a:lnTo>
                  <a:pt x="2485136" y="812164"/>
                </a:lnTo>
                <a:lnTo>
                  <a:pt x="2490931" y="855266"/>
                </a:lnTo>
                <a:lnTo>
                  <a:pt x="2507285" y="894004"/>
                </a:lnTo>
                <a:lnTo>
                  <a:pt x="2532649" y="926830"/>
                </a:lnTo>
                <a:lnTo>
                  <a:pt x="2565475" y="952194"/>
                </a:lnTo>
                <a:lnTo>
                  <a:pt x="2604213" y="968548"/>
                </a:lnTo>
                <a:lnTo>
                  <a:pt x="2647315" y="974344"/>
                </a:lnTo>
                <a:lnTo>
                  <a:pt x="3473576" y="974344"/>
                </a:lnTo>
                <a:lnTo>
                  <a:pt x="3516678" y="968548"/>
                </a:lnTo>
                <a:lnTo>
                  <a:pt x="3555416" y="952194"/>
                </a:lnTo>
                <a:lnTo>
                  <a:pt x="3588242" y="926830"/>
                </a:lnTo>
                <a:lnTo>
                  <a:pt x="3613606" y="894004"/>
                </a:lnTo>
                <a:lnTo>
                  <a:pt x="3629960" y="855266"/>
                </a:lnTo>
                <a:lnTo>
                  <a:pt x="3635756" y="812164"/>
                </a:lnTo>
                <a:lnTo>
                  <a:pt x="3635756" y="163702"/>
                </a:lnTo>
                <a:lnTo>
                  <a:pt x="2485136" y="163702"/>
                </a:lnTo>
                <a:lnTo>
                  <a:pt x="0" y="0"/>
                </a:lnTo>
                <a:close/>
              </a:path>
              <a:path w="3636009" h="974725">
                <a:moveTo>
                  <a:pt x="3473576" y="1524"/>
                </a:moveTo>
                <a:lnTo>
                  <a:pt x="2647315" y="1524"/>
                </a:lnTo>
                <a:lnTo>
                  <a:pt x="2604213" y="7319"/>
                </a:lnTo>
                <a:lnTo>
                  <a:pt x="2565475" y="23673"/>
                </a:lnTo>
                <a:lnTo>
                  <a:pt x="2532649" y="49037"/>
                </a:lnTo>
                <a:lnTo>
                  <a:pt x="2507285" y="81863"/>
                </a:lnTo>
                <a:lnTo>
                  <a:pt x="2490931" y="120601"/>
                </a:lnTo>
                <a:lnTo>
                  <a:pt x="2485136" y="163702"/>
                </a:lnTo>
                <a:lnTo>
                  <a:pt x="3635756" y="163702"/>
                </a:lnTo>
                <a:lnTo>
                  <a:pt x="3629960" y="120601"/>
                </a:lnTo>
                <a:lnTo>
                  <a:pt x="3613606" y="81863"/>
                </a:lnTo>
                <a:lnTo>
                  <a:pt x="3588242" y="49037"/>
                </a:lnTo>
                <a:lnTo>
                  <a:pt x="3555416" y="23673"/>
                </a:lnTo>
                <a:lnTo>
                  <a:pt x="3516678" y="7319"/>
                </a:lnTo>
                <a:lnTo>
                  <a:pt x="3473576" y="1524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251480" y="4053642"/>
            <a:ext cx="4252112" cy="1074003"/>
          </a:xfrm>
          <a:custGeom>
            <a:avLst/>
            <a:gdLst/>
            <a:ahLst/>
            <a:cxnLst/>
            <a:rect l="l" t="t" r="r" b="b"/>
            <a:pathLst>
              <a:path w="3636009" h="974725">
                <a:moveTo>
                  <a:pt x="2485136" y="163702"/>
                </a:moveTo>
                <a:lnTo>
                  <a:pt x="2490931" y="120601"/>
                </a:lnTo>
                <a:lnTo>
                  <a:pt x="2507285" y="81863"/>
                </a:lnTo>
                <a:lnTo>
                  <a:pt x="2532649" y="49037"/>
                </a:lnTo>
                <a:lnTo>
                  <a:pt x="2565475" y="23673"/>
                </a:lnTo>
                <a:lnTo>
                  <a:pt x="2604213" y="7319"/>
                </a:lnTo>
                <a:lnTo>
                  <a:pt x="2647315" y="1524"/>
                </a:lnTo>
                <a:lnTo>
                  <a:pt x="2676906" y="1524"/>
                </a:lnTo>
                <a:lnTo>
                  <a:pt x="2964561" y="1524"/>
                </a:lnTo>
                <a:lnTo>
                  <a:pt x="3473576" y="1524"/>
                </a:lnTo>
                <a:lnTo>
                  <a:pt x="3516678" y="7319"/>
                </a:lnTo>
                <a:lnTo>
                  <a:pt x="3555416" y="23673"/>
                </a:lnTo>
                <a:lnTo>
                  <a:pt x="3588242" y="49037"/>
                </a:lnTo>
                <a:lnTo>
                  <a:pt x="3613606" y="81863"/>
                </a:lnTo>
                <a:lnTo>
                  <a:pt x="3629960" y="120601"/>
                </a:lnTo>
                <a:lnTo>
                  <a:pt x="3635756" y="163702"/>
                </a:lnTo>
                <a:lnTo>
                  <a:pt x="3635756" y="406907"/>
                </a:lnTo>
                <a:lnTo>
                  <a:pt x="3635756" y="812164"/>
                </a:lnTo>
                <a:lnTo>
                  <a:pt x="3629960" y="855266"/>
                </a:lnTo>
                <a:lnTo>
                  <a:pt x="3613606" y="894004"/>
                </a:lnTo>
                <a:lnTo>
                  <a:pt x="3588242" y="926830"/>
                </a:lnTo>
                <a:lnTo>
                  <a:pt x="3555416" y="952194"/>
                </a:lnTo>
                <a:lnTo>
                  <a:pt x="3516678" y="968548"/>
                </a:lnTo>
                <a:lnTo>
                  <a:pt x="3473576" y="974344"/>
                </a:lnTo>
                <a:lnTo>
                  <a:pt x="2964561" y="974344"/>
                </a:lnTo>
                <a:lnTo>
                  <a:pt x="2676906" y="974344"/>
                </a:lnTo>
                <a:lnTo>
                  <a:pt x="2647315" y="974344"/>
                </a:lnTo>
                <a:lnTo>
                  <a:pt x="2604213" y="968548"/>
                </a:lnTo>
                <a:lnTo>
                  <a:pt x="2565475" y="952194"/>
                </a:lnTo>
                <a:lnTo>
                  <a:pt x="2532649" y="926830"/>
                </a:lnTo>
                <a:lnTo>
                  <a:pt x="2507285" y="894004"/>
                </a:lnTo>
                <a:lnTo>
                  <a:pt x="2490931" y="855266"/>
                </a:lnTo>
                <a:lnTo>
                  <a:pt x="2485136" y="812164"/>
                </a:lnTo>
                <a:lnTo>
                  <a:pt x="2485136" y="406907"/>
                </a:lnTo>
                <a:lnTo>
                  <a:pt x="0" y="0"/>
                </a:lnTo>
                <a:lnTo>
                  <a:pt x="2485136" y="163702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199591" y="4183781"/>
            <a:ext cx="1070824" cy="83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/>
            <a:r>
              <a:rPr spc="-17" dirty="0">
                <a:latin typeface="Arial"/>
                <a:cs typeface="Arial"/>
              </a:rPr>
              <a:t>Tipo </a:t>
            </a:r>
            <a:r>
              <a:rPr spc="-11" dirty="0">
                <a:latin typeface="Arial"/>
                <a:cs typeface="Arial"/>
              </a:rPr>
              <a:t>de  </a:t>
            </a:r>
            <a:r>
              <a:rPr spc="-6" dirty="0">
                <a:latin typeface="Arial"/>
                <a:cs typeface="Arial"/>
              </a:rPr>
              <a:t>retorno  </a:t>
            </a:r>
            <a:r>
              <a:rPr spc="-11" dirty="0">
                <a:latin typeface="Arial"/>
                <a:cs typeface="Arial"/>
              </a:rPr>
              <a:t>da</a:t>
            </a:r>
            <a:r>
              <a:rPr spc="-91" dirty="0">
                <a:latin typeface="Arial"/>
                <a:cs typeface="Arial"/>
              </a:rPr>
              <a:t> </a:t>
            </a:r>
            <a:r>
              <a:rPr spc="-6" dirty="0">
                <a:latin typeface="Arial"/>
                <a:cs typeface="Arial"/>
              </a:rPr>
              <a:t>função</a:t>
            </a:r>
            <a:endParaRPr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05839" y="7067049"/>
            <a:ext cx="131959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1825"/>
              </a:lnSpc>
            </a:pPr>
            <a:r>
              <a:rPr spc="-6" dirty="0">
                <a:latin typeface="Courier New"/>
                <a:cs typeface="Courier New"/>
              </a:rPr>
              <a:t>return</a:t>
            </a:r>
            <a:r>
              <a:rPr spc="-97" dirty="0">
                <a:latin typeface="Courier New"/>
                <a:cs typeface="Courier New"/>
              </a:rPr>
              <a:t> </a:t>
            </a:r>
            <a:r>
              <a:rPr spc="17" dirty="0">
                <a:latin typeface="Courier New"/>
                <a:cs typeface="Courier New"/>
              </a:rPr>
              <a:t>0;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78102" y="7336330"/>
            <a:ext cx="17302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1819"/>
              </a:lnSpc>
            </a:pPr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</a:t>
            </a:r>
            <a:r>
              <a:rPr spc="-6" dirty="0"/>
              <a:t>e</a:t>
            </a:r>
            <a:r>
              <a:rPr spc="-74" dirty="0"/>
              <a:t> </a:t>
            </a:r>
            <a:r>
              <a:rPr dirty="0"/>
              <a:t>funções</a:t>
            </a:r>
          </a:p>
        </p:txBody>
      </p:sp>
    </p:spTree>
    <p:extLst>
      <p:ext uri="{BB962C8B-B14F-4D97-AF65-F5344CB8AC3E}">
        <p14:creationId xmlns:p14="http://schemas.microsoft.com/office/powerpoint/2010/main" val="1330184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40" y="1105488"/>
            <a:ext cx="10420867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9047"/>
              <a:buChar char="•"/>
              <a:tabLst>
                <a:tab pos="404802" algn="l"/>
                <a:tab pos="405526" algn="l"/>
              </a:tabLst>
            </a:pPr>
            <a:r>
              <a:rPr sz="2400" spc="-6" dirty="0">
                <a:latin typeface="Arial"/>
                <a:cs typeface="Arial"/>
              </a:rPr>
              <a:t>Como </a:t>
            </a:r>
            <a:r>
              <a:rPr sz="2400" spc="-11" dirty="0">
                <a:latin typeface="Arial"/>
                <a:cs typeface="Arial"/>
              </a:rPr>
              <a:t>qualquer </a:t>
            </a:r>
            <a:r>
              <a:rPr sz="2400" spc="-6" dirty="0">
                <a:latin typeface="Arial"/>
                <a:cs typeface="Arial"/>
              </a:rPr>
              <a:t>outra variável, </a:t>
            </a:r>
            <a:r>
              <a:rPr sz="2400" spc="-11" dirty="0">
                <a:latin typeface="Arial"/>
                <a:cs typeface="Arial"/>
              </a:rPr>
              <a:t>uma </a:t>
            </a:r>
            <a:r>
              <a:rPr sz="2400" spc="-6" dirty="0">
                <a:latin typeface="Arial"/>
                <a:cs typeface="Arial"/>
              </a:rPr>
              <a:t>variável </a:t>
            </a:r>
            <a:r>
              <a:rPr sz="2400" spc="-11" dirty="0">
                <a:latin typeface="Arial"/>
                <a:cs typeface="Arial"/>
              </a:rPr>
              <a:t>do tipo </a:t>
            </a:r>
            <a:r>
              <a:rPr sz="2400" spc="-6" dirty="0">
                <a:latin typeface="Arial"/>
                <a:cs typeface="Arial"/>
              </a:rPr>
              <a:t>estrutura </a:t>
            </a:r>
            <a:r>
              <a:rPr sz="2400" spc="-11" dirty="0">
                <a:latin typeface="Arial"/>
                <a:cs typeface="Arial"/>
              </a:rPr>
              <a:t>pode</a:t>
            </a:r>
            <a:r>
              <a:rPr sz="2400" spc="114" dirty="0">
                <a:latin typeface="Arial"/>
                <a:cs typeface="Arial"/>
              </a:rPr>
              <a:t> </a:t>
            </a:r>
            <a:r>
              <a:rPr sz="2400" spc="-6" dirty="0">
                <a:latin typeface="Arial"/>
                <a:cs typeface="Arial"/>
              </a:rPr>
              <a:t>ser</a:t>
            </a:r>
            <a:endParaRPr sz="2400">
              <a:latin typeface="Arial"/>
              <a:cs typeface="Arial"/>
            </a:endParaRPr>
          </a:p>
          <a:p>
            <a:pPr marL="405526"/>
            <a:r>
              <a:rPr sz="2400" spc="-6" dirty="0">
                <a:latin typeface="Arial"/>
                <a:cs typeface="Arial"/>
              </a:rPr>
              <a:t>usada como </a:t>
            </a:r>
            <a:r>
              <a:rPr sz="2400" b="1" spc="-6" dirty="0">
                <a:latin typeface="Arial"/>
                <a:cs typeface="Arial"/>
              </a:rPr>
              <a:t>parâmetro </a:t>
            </a:r>
            <a:r>
              <a:rPr sz="2400" spc="-6" dirty="0">
                <a:latin typeface="Arial"/>
                <a:cs typeface="Arial"/>
              </a:rPr>
              <a:t>ou </a:t>
            </a:r>
            <a:r>
              <a:rPr sz="2400" spc="-11" dirty="0">
                <a:latin typeface="Arial"/>
                <a:cs typeface="Arial"/>
              </a:rPr>
              <a:t>pode </a:t>
            </a:r>
            <a:r>
              <a:rPr sz="2400" dirty="0">
                <a:latin typeface="Arial"/>
                <a:cs typeface="Arial"/>
              </a:rPr>
              <a:t>ser o </a:t>
            </a:r>
            <a:r>
              <a:rPr sz="2400" b="1" spc="-6" dirty="0">
                <a:latin typeface="Arial"/>
                <a:cs typeface="Arial"/>
              </a:rPr>
              <a:t>valor </a:t>
            </a:r>
            <a:r>
              <a:rPr sz="2400" b="1" dirty="0">
                <a:latin typeface="Arial"/>
                <a:cs typeface="Arial"/>
              </a:rPr>
              <a:t>de </a:t>
            </a:r>
            <a:r>
              <a:rPr sz="2400" b="1" spc="-6" dirty="0">
                <a:latin typeface="Arial"/>
                <a:cs typeface="Arial"/>
              </a:rPr>
              <a:t>retorno </a:t>
            </a:r>
            <a:r>
              <a:rPr sz="2400" spc="-6" dirty="0">
                <a:latin typeface="Arial"/>
                <a:cs typeface="Arial"/>
              </a:rPr>
              <a:t>de </a:t>
            </a:r>
            <a:r>
              <a:rPr sz="2400" spc="-11" dirty="0">
                <a:latin typeface="Arial"/>
                <a:cs typeface="Arial"/>
              </a:rPr>
              <a:t>uma</a:t>
            </a:r>
            <a:r>
              <a:rPr sz="2400" spc="57" dirty="0">
                <a:latin typeface="Arial"/>
                <a:cs typeface="Arial"/>
              </a:rPr>
              <a:t> </a:t>
            </a:r>
            <a:r>
              <a:rPr sz="2400" spc="-6" dirty="0">
                <a:latin typeface="Arial"/>
                <a:cs typeface="Arial"/>
              </a:rPr>
              <a:t>função.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812" y="2686476"/>
            <a:ext cx="2029518" cy="1103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typedef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struct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570633"/>
            <a:r>
              <a:rPr spc="-6" dirty="0">
                <a:latin typeface="Courier New"/>
                <a:cs typeface="Courier New"/>
              </a:rPr>
              <a:t>int</a:t>
            </a:r>
            <a:endParaRPr>
              <a:latin typeface="Courier New"/>
              <a:cs typeface="Courier New"/>
            </a:endParaRPr>
          </a:p>
          <a:p>
            <a:pPr marL="570633"/>
            <a:r>
              <a:rPr spc="-6" dirty="0">
                <a:latin typeface="Courier New"/>
                <a:cs typeface="Courier New"/>
              </a:rPr>
              <a:t>int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35812" y="3223686"/>
            <a:ext cx="1031468" cy="5667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valorA;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spc="-6" dirty="0">
                <a:latin typeface="Courier New"/>
                <a:cs typeface="Courier New"/>
              </a:rPr>
              <a:t>valorB;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4812" y="3761457"/>
            <a:ext cx="2457254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latin typeface="Courier New"/>
                <a:cs typeface="Courier New"/>
              </a:rPr>
              <a:t>}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MinhaEstrutura;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78102" y="2184108"/>
            <a:ext cx="3888982" cy="566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void</a:t>
            </a:r>
            <a:r>
              <a:rPr spc="-34" dirty="0">
                <a:latin typeface="Courier New"/>
                <a:cs typeface="Courier New"/>
              </a:rPr>
              <a:t> </a:t>
            </a:r>
            <a:r>
              <a:rPr b="1" spc="-6" dirty="0">
                <a:latin typeface="Courier New"/>
                <a:cs typeface="Courier New"/>
              </a:rPr>
              <a:t>imprime</a:t>
            </a:r>
            <a:r>
              <a:rPr spc="-6" dirty="0">
                <a:latin typeface="Courier New"/>
                <a:cs typeface="Courier New"/>
              </a:rPr>
              <a:t>(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05839" y="2721740"/>
            <a:ext cx="3604567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printf("\n%d",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e1.valorA</a:t>
            </a:r>
            <a:r>
              <a:rPr spc="-6" dirty="0">
                <a:latin typeface="Courier New"/>
                <a:cs typeface="Courier New"/>
              </a:rPr>
              <a:t>);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05839" y="2990415"/>
            <a:ext cx="3604567" cy="566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printf("\n%d",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e1.valorB</a:t>
            </a:r>
            <a:r>
              <a:rPr spc="-6" dirty="0">
                <a:latin typeface="Courier New"/>
                <a:cs typeface="Courier New"/>
              </a:rPr>
              <a:t>);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e1.valorB </a:t>
            </a:r>
            <a:r>
              <a:rPr dirty="0">
                <a:latin typeface="Courier New"/>
                <a:cs typeface="Courier New"/>
              </a:rPr>
              <a:t>=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/>
                <a:cs typeface="Courier New"/>
              </a:rPr>
              <a:t>e1.valorA</a:t>
            </a:r>
            <a:r>
              <a:rPr dirty="0"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78101" y="3528045"/>
            <a:ext cx="4460039" cy="3052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 </a:t>
            </a:r>
            <a:r>
              <a:rPr b="1" spc="-6" dirty="0">
                <a:latin typeface="Courier New"/>
                <a:cs typeface="Courier New"/>
              </a:rPr>
              <a:t>novaEstrutura</a:t>
            </a:r>
            <a:r>
              <a:rPr spc="-6" dirty="0">
                <a:latin typeface="Courier New"/>
                <a:cs typeface="Courier New"/>
              </a:rPr>
              <a:t>(</a:t>
            </a:r>
            <a:r>
              <a:rPr spc="-23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)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431596" marR="579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 </a:t>
            </a:r>
            <a:r>
              <a:rPr b="1" dirty="0">
                <a:solidFill>
                  <a:srgbClr val="FF0000"/>
                </a:solidFill>
                <a:latin typeface="Courier New"/>
                <a:cs typeface="Courier New"/>
              </a:rPr>
              <a:t>novaVar</a:t>
            </a:r>
            <a:r>
              <a:rPr dirty="0">
                <a:latin typeface="Courier New"/>
                <a:cs typeface="Courier New"/>
              </a:rPr>
              <a:t>;  </a:t>
            </a:r>
            <a:r>
              <a:rPr spc="-6" dirty="0">
                <a:latin typeface="Courier New"/>
                <a:cs typeface="Courier New"/>
              </a:rPr>
              <a:t>scanf("%d",&amp;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novaVar.valorA</a:t>
            </a:r>
            <a:r>
              <a:rPr spc="-6" dirty="0">
                <a:latin typeface="Courier New"/>
                <a:cs typeface="Courier New"/>
              </a:rPr>
              <a:t>);  scanf("%d",&amp;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novaVar.valorB</a:t>
            </a:r>
            <a:r>
              <a:rPr spc="-6" dirty="0">
                <a:latin typeface="Courier New"/>
                <a:cs typeface="Courier New"/>
              </a:rPr>
              <a:t>);  return</a:t>
            </a:r>
            <a:r>
              <a:rPr spc="-68" dirty="0"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</a:t>
            </a:r>
            <a:r>
              <a:rPr spc="-6" dirty="0"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14483">
              <a:lnSpc>
                <a:spcPts val="2190"/>
              </a:lnSpc>
            </a:pPr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spc="-6" dirty="0">
                <a:latin typeface="Courier New"/>
                <a:cs typeface="Courier New"/>
              </a:rPr>
              <a:t>int</a:t>
            </a:r>
            <a:r>
              <a:rPr spc="-108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main()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431596"/>
            <a:r>
              <a:rPr spc="-6" dirty="0">
                <a:latin typeface="Courier New"/>
                <a:cs typeface="Courier New"/>
              </a:rPr>
              <a:t>MinhaEstrutura</a:t>
            </a:r>
            <a:r>
              <a:rPr spc="-46" dirty="0">
                <a:latin typeface="Courier New"/>
                <a:cs typeface="Courier New"/>
              </a:rPr>
              <a:t> </a:t>
            </a:r>
            <a:r>
              <a:rPr spc="6" dirty="0">
                <a:latin typeface="Courier New"/>
                <a:cs typeface="Courier New"/>
              </a:rPr>
              <a:t>var;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05839" y="6484596"/>
            <a:ext cx="3176088" cy="566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/>
            <a:r>
              <a:rPr spc="-6" dirty="0">
                <a:solidFill>
                  <a:srgbClr val="21218A"/>
                </a:solidFill>
                <a:latin typeface="Courier New"/>
                <a:cs typeface="Courier New"/>
              </a:rPr>
              <a:t>var </a:t>
            </a:r>
            <a:r>
              <a:rPr dirty="0">
                <a:solidFill>
                  <a:srgbClr val="21218A"/>
                </a:solidFill>
                <a:latin typeface="Courier New"/>
                <a:cs typeface="Courier New"/>
              </a:rPr>
              <a:t>= </a:t>
            </a:r>
            <a:r>
              <a:rPr b="1" spc="-6" dirty="0">
                <a:solidFill>
                  <a:srgbClr val="21218A"/>
                </a:solidFill>
                <a:latin typeface="Courier New"/>
                <a:cs typeface="Courier New"/>
              </a:rPr>
              <a:t>novaEstrutura</a:t>
            </a:r>
            <a:r>
              <a:rPr spc="-6" dirty="0">
                <a:solidFill>
                  <a:srgbClr val="21218A"/>
                </a:solidFill>
                <a:latin typeface="Courier New"/>
                <a:cs typeface="Courier New"/>
              </a:rPr>
              <a:t>();  </a:t>
            </a:r>
            <a:r>
              <a:rPr b="1" spc="-6" dirty="0">
                <a:solidFill>
                  <a:srgbClr val="00664D"/>
                </a:solidFill>
                <a:latin typeface="Courier New"/>
                <a:cs typeface="Courier New"/>
              </a:rPr>
              <a:t>imprime</a:t>
            </a:r>
            <a:r>
              <a:rPr spc="-6" dirty="0">
                <a:solidFill>
                  <a:srgbClr val="00664D"/>
                </a:solidFill>
                <a:latin typeface="Courier New"/>
                <a:cs typeface="Courier New"/>
              </a:rPr>
              <a:t>(var);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5359" y="3429251"/>
            <a:ext cx="4238002" cy="2492945"/>
          </a:xfrm>
          <a:custGeom>
            <a:avLst/>
            <a:gdLst/>
            <a:ahLst/>
            <a:cxnLst/>
            <a:rect l="l" t="t" r="r" b="b"/>
            <a:pathLst>
              <a:path w="3623945" h="2262504">
                <a:moveTo>
                  <a:pt x="2439670" y="852677"/>
                </a:moveTo>
                <a:lnTo>
                  <a:pt x="234950" y="852677"/>
                </a:lnTo>
                <a:lnTo>
                  <a:pt x="187600" y="857449"/>
                </a:lnTo>
                <a:lnTo>
                  <a:pt x="143498" y="871136"/>
                </a:lnTo>
                <a:lnTo>
                  <a:pt x="103588" y="892794"/>
                </a:lnTo>
                <a:lnTo>
                  <a:pt x="68816" y="921480"/>
                </a:lnTo>
                <a:lnTo>
                  <a:pt x="40126" y="956249"/>
                </a:lnTo>
                <a:lnTo>
                  <a:pt x="18464" y="996160"/>
                </a:lnTo>
                <a:lnTo>
                  <a:pt x="4773" y="1040267"/>
                </a:lnTo>
                <a:lnTo>
                  <a:pt x="0" y="1087627"/>
                </a:lnTo>
                <a:lnTo>
                  <a:pt x="0" y="2027427"/>
                </a:lnTo>
                <a:lnTo>
                  <a:pt x="4773" y="2074788"/>
                </a:lnTo>
                <a:lnTo>
                  <a:pt x="18464" y="2118895"/>
                </a:lnTo>
                <a:lnTo>
                  <a:pt x="40126" y="2158806"/>
                </a:lnTo>
                <a:lnTo>
                  <a:pt x="68816" y="2193575"/>
                </a:lnTo>
                <a:lnTo>
                  <a:pt x="103588" y="2222261"/>
                </a:lnTo>
                <a:lnTo>
                  <a:pt x="143498" y="2243919"/>
                </a:lnTo>
                <a:lnTo>
                  <a:pt x="187600" y="2257606"/>
                </a:lnTo>
                <a:lnTo>
                  <a:pt x="234950" y="2262378"/>
                </a:lnTo>
                <a:lnTo>
                  <a:pt x="2439670" y="2262378"/>
                </a:lnTo>
                <a:lnTo>
                  <a:pt x="2487030" y="2257606"/>
                </a:lnTo>
                <a:lnTo>
                  <a:pt x="2531137" y="2243919"/>
                </a:lnTo>
                <a:lnTo>
                  <a:pt x="2571048" y="2222261"/>
                </a:lnTo>
                <a:lnTo>
                  <a:pt x="2605817" y="2193575"/>
                </a:lnTo>
                <a:lnTo>
                  <a:pt x="2634503" y="2158806"/>
                </a:lnTo>
                <a:lnTo>
                  <a:pt x="2656161" y="2118895"/>
                </a:lnTo>
                <a:lnTo>
                  <a:pt x="2669848" y="2074788"/>
                </a:lnTo>
                <a:lnTo>
                  <a:pt x="2674620" y="2027427"/>
                </a:lnTo>
                <a:lnTo>
                  <a:pt x="2674620" y="1087627"/>
                </a:lnTo>
                <a:lnTo>
                  <a:pt x="2669848" y="1040267"/>
                </a:lnTo>
                <a:lnTo>
                  <a:pt x="2656161" y="996160"/>
                </a:lnTo>
                <a:lnTo>
                  <a:pt x="2634503" y="956249"/>
                </a:lnTo>
                <a:lnTo>
                  <a:pt x="2605817" y="921480"/>
                </a:lnTo>
                <a:lnTo>
                  <a:pt x="2571048" y="892794"/>
                </a:lnTo>
                <a:lnTo>
                  <a:pt x="2531137" y="871136"/>
                </a:lnTo>
                <a:lnTo>
                  <a:pt x="2487030" y="857449"/>
                </a:lnTo>
                <a:lnTo>
                  <a:pt x="2439670" y="852677"/>
                </a:lnTo>
                <a:close/>
              </a:path>
              <a:path w="3623945" h="2262504">
                <a:moveTo>
                  <a:pt x="3623817" y="0"/>
                </a:moveTo>
                <a:lnTo>
                  <a:pt x="1560195" y="852677"/>
                </a:lnTo>
                <a:lnTo>
                  <a:pt x="2228850" y="852677"/>
                </a:lnTo>
                <a:lnTo>
                  <a:pt x="3623817" y="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65359" y="3429251"/>
            <a:ext cx="4238002" cy="2492945"/>
          </a:xfrm>
          <a:custGeom>
            <a:avLst/>
            <a:gdLst/>
            <a:ahLst/>
            <a:cxnLst/>
            <a:rect l="l" t="t" r="r" b="b"/>
            <a:pathLst>
              <a:path w="3623945" h="2262504">
                <a:moveTo>
                  <a:pt x="0" y="1087627"/>
                </a:moveTo>
                <a:lnTo>
                  <a:pt x="4773" y="1040267"/>
                </a:lnTo>
                <a:lnTo>
                  <a:pt x="18464" y="996160"/>
                </a:lnTo>
                <a:lnTo>
                  <a:pt x="40126" y="956249"/>
                </a:lnTo>
                <a:lnTo>
                  <a:pt x="68816" y="921480"/>
                </a:lnTo>
                <a:lnTo>
                  <a:pt x="103588" y="892794"/>
                </a:lnTo>
                <a:lnTo>
                  <a:pt x="143498" y="871136"/>
                </a:lnTo>
                <a:lnTo>
                  <a:pt x="187600" y="857449"/>
                </a:lnTo>
                <a:lnTo>
                  <a:pt x="234950" y="852677"/>
                </a:lnTo>
                <a:lnTo>
                  <a:pt x="1560195" y="852677"/>
                </a:lnTo>
                <a:lnTo>
                  <a:pt x="3623817" y="0"/>
                </a:lnTo>
                <a:lnTo>
                  <a:pt x="2228850" y="852677"/>
                </a:lnTo>
                <a:lnTo>
                  <a:pt x="2439670" y="852677"/>
                </a:lnTo>
                <a:lnTo>
                  <a:pt x="2487030" y="857449"/>
                </a:lnTo>
                <a:lnTo>
                  <a:pt x="2531137" y="871136"/>
                </a:lnTo>
                <a:lnTo>
                  <a:pt x="2571048" y="892794"/>
                </a:lnTo>
                <a:lnTo>
                  <a:pt x="2605817" y="921480"/>
                </a:lnTo>
                <a:lnTo>
                  <a:pt x="2634503" y="956249"/>
                </a:lnTo>
                <a:lnTo>
                  <a:pt x="2656161" y="996160"/>
                </a:lnTo>
                <a:lnTo>
                  <a:pt x="2669848" y="1040267"/>
                </a:lnTo>
                <a:lnTo>
                  <a:pt x="2674620" y="1087627"/>
                </a:lnTo>
                <a:lnTo>
                  <a:pt x="2674620" y="1440052"/>
                </a:lnTo>
                <a:lnTo>
                  <a:pt x="2674620" y="2027427"/>
                </a:lnTo>
                <a:lnTo>
                  <a:pt x="2669848" y="2074788"/>
                </a:lnTo>
                <a:lnTo>
                  <a:pt x="2656161" y="2118895"/>
                </a:lnTo>
                <a:lnTo>
                  <a:pt x="2634503" y="2158806"/>
                </a:lnTo>
                <a:lnTo>
                  <a:pt x="2605817" y="2193575"/>
                </a:lnTo>
                <a:lnTo>
                  <a:pt x="2571048" y="2222261"/>
                </a:lnTo>
                <a:lnTo>
                  <a:pt x="2531137" y="2243919"/>
                </a:lnTo>
                <a:lnTo>
                  <a:pt x="2487030" y="2257606"/>
                </a:lnTo>
                <a:lnTo>
                  <a:pt x="2439670" y="2262378"/>
                </a:lnTo>
                <a:lnTo>
                  <a:pt x="2228850" y="2262378"/>
                </a:lnTo>
                <a:lnTo>
                  <a:pt x="1560195" y="2262378"/>
                </a:lnTo>
                <a:lnTo>
                  <a:pt x="234950" y="2262378"/>
                </a:lnTo>
                <a:lnTo>
                  <a:pt x="187600" y="2257606"/>
                </a:lnTo>
                <a:lnTo>
                  <a:pt x="143498" y="2243919"/>
                </a:lnTo>
                <a:lnTo>
                  <a:pt x="103588" y="2222261"/>
                </a:lnTo>
                <a:lnTo>
                  <a:pt x="68816" y="2193575"/>
                </a:lnTo>
                <a:lnTo>
                  <a:pt x="40126" y="2158806"/>
                </a:lnTo>
                <a:lnTo>
                  <a:pt x="18464" y="2118895"/>
                </a:lnTo>
                <a:lnTo>
                  <a:pt x="4773" y="2074788"/>
                </a:lnTo>
                <a:lnTo>
                  <a:pt x="0" y="2027427"/>
                </a:lnTo>
                <a:lnTo>
                  <a:pt x="0" y="1440052"/>
                </a:lnTo>
                <a:lnTo>
                  <a:pt x="0" y="1087627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88258" y="4586376"/>
            <a:ext cx="2884990" cy="1104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5693" marR="147003" algn="ctr"/>
            <a:r>
              <a:rPr dirty="0">
                <a:latin typeface="Arial"/>
                <a:cs typeface="Arial"/>
              </a:rPr>
              <a:t>A </a:t>
            </a:r>
            <a:r>
              <a:rPr spc="-6" dirty="0">
                <a:latin typeface="Arial"/>
                <a:cs typeface="Arial"/>
              </a:rPr>
              <a:t>variável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b="1" spc="-71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Arial"/>
                <a:cs typeface="Arial"/>
              </a:rPr>
              <a:t>é </a:t>
            </a:r>
            <a:r>
              <a:rPr spc="-11" dirty="0">
                <a:latin typeface="Arial"/>
                <a:cs typeface="Arial"/>
              </a:rPr>
              <a:t>alterada.  </a:t>
            </a:r>
            <a:r>
              <a:rPr spc="-6" dirty="0">
                <a:latin typeface="Arial"/>
                <a:cs typeface="Arial"/>
              </a:rPr>
              <a:t>Observe </a:t>
            </a:r>
            <a:r>
              <a:rPr spc="-11" dirty="0">
                <a:latin typeface="Arial"/>
                <a:cs typeface="Arial"/>
              </a:rPr>
              <a:t>que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b="1" spc="-57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Arial"/>
                <a:cs typeface="Arial"/>
              </a:rPr>
              <a:t>é uma  cópia </a:t>
            </a:r>
            <a:r>
              <a:rPr spc="-11" dirty="0">
                <a:latin typeface="Arial"/>
                <a:cs typeface="Arial"/>
              </a:rPr>
              <a:t>de</a:t>
            </a:r>
            <a:r>
              <a:rPr spc="-74" dirty="0">
                <a:latin typeface="Arial"/>
                <a:cs typeface="Arial"/>
              </a:rPr>
              <a:t>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var</a:t>
            </a:r>
            <a:r>
              <a:rPr spc="-6" dirty="0">
                <a:latin typeface="Arial"/>
                <a:cs typeface="Arial"/>
              </a:rPr>
              <a:t>.</a:t>
            </a:r>
            <a:endParaRPr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pc="-6" dirty="0">
                <a:latin typeface="Arial"/>
                <a:cs typeface="Arial"/>
              </a:rPr>
              <a:t>Assim,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var</a:t>
            </a:r>
            <a:r>
              <a:rPr b="1" spc="-559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11" dirty="0">
                <a:latin typeface="Arial"/>
                <a:cs typeface="Arial"/>
              </a:rPr>
              <a:t>não </a:t>
            </a:r>
            <a:r>
              <a:rPr spc="-6" dirty="0">
                <a:latin typeface="Arial"/>
                <a:cs typeface="Arial"/>
              </a:rPr>
              <a:t>é </a:t>
            </a:r>
            <a:r>
              <a:rPr spc="-11" dirty="0">
                <a:latin typeface="Arial"/>
                <a:cs typeface="Arial"/>
              </a:rPr>
              <a:t>alterada.</a:t>
            </a:r>
            <a:endParaRPr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</a:t>
            </a:r>
            <a:r>
              <a:rPr spc="-6" dirty="0"/>
              <a:t>e</a:t>
            </a:r>
            <a:r>
              <a:rPr spc="-74" dirty="0"/>
              <a:t> </a:t>
            </a:r>
            <a:r>
              <a:rPr dirty="0"/>
              <a:t>funções</a:t>
            </a:r>
          </a:p>
        </p:txBody>
      </p:sp>
      <p:sp>
        <p:nvSpPr>
          <p:cNvPr id="15" name="object 15"/>
          <p:cNvSpPr/>
          <p:nvPr/>
        </p:nvSpPr>
        <p:spPr>
          <a:xfrm>
            <a:off x="6588025" y="6266297"/>
            <a:ext cx="3981064" cy="1161462"/>
          </a:xfrm>
          <a:custGeom>
            <a:avLst/>
            <a:gdLst/>
            <a:ahLst/>
            <a:cxnLst/>
            <a:rect l="l" t="t" r="r" b="b"/>
            <a:pathLst>
              <a:path w="3404234" h="1054100">
                <a:moveTo>
                  <a:pt x="3403854" y="878408"/>
                </a:moveTo>
                <a:lnTo>
                  <a:pt x="1067054" y="878408"/>
                </a:lnTo>
                <a:lnTo>
                  <a:pt x="1073326" y="925112"/>
                </a:lnTo>
                <a:lnTo>
                  <a:pt x="1091028" y="967081"/>
                </a:lnTo>
                <a:lnTo>
                  <a:pt x="1118489" y="1002639"/>
                </a:lnTo>
                <a:lnTo>
                  <a:pt x="1154034" y="1030112"/>
                </a:lnTo>
                <a:lnTo>
                  <a:pt x="1195994" y="1047823"/>
                </a:lnTo>
                <a:lnTo>
                  <a:pt x="1242694" y="1054099"/>
                </a:lnTo>
                <a:lnTo>
                  <a:pt x="3228213" y="1054099"/>
                </a:lnTo>
                <a:lnTo>
                  <a:pt x="3274913" y="1047823"/>
                </a:lnTo>
                <a:lnTo>
                  <a:pt x="3316873" y="1030112"/>
                </a:lnTo>
                <a:lnTo>
                  <a:pt x="3352418" y="1002639"/>
                </a:lnTo>
                <a:lnTo>
                  <a:pt x="3379879" y="967081"/>
                </a:lnTo>
                <a:lnTo>
                  <a:pt x="3397581" y="925112"/>
                </a:lnTo>
                <a:lnTo>
                  <a:pt x="3403854" y="878408"/>
                </a:lnTo>
                <a:close/>
              </a:path>
              <a:path w="3404234" h="1054100">
                <a:moveTo>
                  <a:pt x="0" y="598804"/>
                </a:moveTo>
                <a:lnTo>
                  <a:pt x="1067054" y="878420"/>
                </a:lnTo>
                <a:lnTo>
                  <a:pt x="3403854" y="878408"/>
                </a:lnTo>
                <a:lnTo>
                  <a:pt x="3403854" y="614895"/>
                </a:lnTo>
                <a:lnTo>
                  <a:pt x="1067054" y="614895"/>
                </a:lnTo>
                <a:lnTo>
                  <a:pt x="0" y="598804"/>
                </a:lnTo>
                <a:close/>
              </a:path>
              <a:path w="3404234" h="1054100">
                <a:moveTo>
                  <a:pt x="3228213" y="0"/>
                </a:moveTo>
                <a:lnTo>
                  <a:pt x="1242694" y="0"/>
                </a:lnTo>
                <a:lnTo>
                  <a:pt x="1195994" y="6276"/>
                </a:lnTo>
                <a:lnTo>
                  <a:pt x="1154034" y="23987"/>
                </a:lnTo>
                <a:lnTo>
                  <a:pt x="1118489" y="51460"/>
                </a:lnTo>
                <a:lnTo>
                  <a:pt x="1091028" y="87018"/>
                </a:lnTo>
                <a:lnTo>
                  <a:pt x="1073326" y="128987"/>
                </a:lnTo>
                <a:lnTo>
                  <a:pt x="1067054" y="175691"/>
                </a:lnTo>
                <a:lnTo>
                  <a:pt x="1067054" y="614895"/>
                </a:lnTo>
                <a:lnTo>
                  <a:pt x="3403854" y="614895"/>
                </a:lnTo>
                <a:lnTo>
                  <a:pt x="3403854" y="175691"/>
                </a:lnTo>
                <a:lnTo>
                  <a:pt x="3397581" y="128987"/>
                </a:lnTo>
                <a:lnTo>
                  <a:pt x="3379879" y="87018"/>
                </a:lnTo>
                <a:lnTo>
                  <a:pt x="3352418" y="51460"/>
                </a:lnTo>
                <a:lnTo>
                  <a:pt x="3316873" y="23987"/>
                </a:lnTo>
                <a:lnTo>
                  <a:pt x="3274913" y="6276"/>
                </a:lnTo>
                <a:lnTo>
                  <a:pt x="3228213" y="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588025" y="6266297"/>
            <a:ext cx="3981064" cy="1161462"/>
          </a:xfrm>
          <a:custGeom>
            <a:avLst/>
            <a:gdLst/>
            <a:ahLst/>
            <a:cxnLst/>
            <a:rect l="l" t="t" r="r" b="b"/>
            <a:pathLst>
              <a:path w="3404234" h="1054100">
                <a:moveTo>
                  <a:pt x="1067054" y="175691"/>
                </a:moveTo>
                <a:lnTo>
                  <a:pt x="1073326" y="128987"/>
                </a:lnTo>
                <a:lnTo>
                  <a:pt x="1091028" y="87018"/>
                </a:lnTo>
                <a:lnTo>
                  <a:pt x="1118489" y="51460"/>
                </a:lnTo>
                <a:lnTo>
                  <a:pt x="1154034" y="23987"/>
                </a:lnTo>
                <a:lnTo>
                  <a:pt x="1195994" y="6276"/>
                </a:lnTo>
                <a:lnTo>
                  <a:pt x="1242694" y="0"/>
                </a:lnTo>
                <a:lnTo>
                  <a:pt x="1456563" y="0"/>
                </a:lnTo>
                <a:lnTo>
                  <a:pt x="2040763" y="0"/>
                </a:lnTo>
                <a:lnTo>
                  <a:pt x="3228213" y="0"/>
                </a:lnTo>
                <a:lnTo>
                  <a:pt x="3274913" y="6276"/>
                </a:lnTo>
                <a:lnTo>
                  <a:pt x="3316873" y="23987"/>
                </a:lnTo>
                <a:lnTo>
                  <a:pt x="3352418" y="51460"/>
                </a:lnTo>
                <a:lnTo>
                  <a:pt x="3379879" y="87018"/>
                </a:lnTo>
                <a:lnTo>
                  <a:pt x="3397581" y="128987"/>
                </a:lnTo>
                <a:lnTo>
                  <a:pt x="3403854" y="175691"/>
                </a:lnTo>
                <a:lnTo>
                  <a:pt x="3403854" y="614895"/>
                </a:lnTo>
                <a:lnTo>
                  <a:pt x="3403854" y="878420"/>
                </a:lnTo>
                <a:lnTo>
                  <a:pt x="3397581" y="925112"/>
                </a:lnTo>
                <a:lnTo>
                  <a:pt x="3379879" y="967081"/>
                </a:lnTo>
                <a:lnTo>
                  <a:pt x="3352418" y="1002639"/>
                </a:lnTo>
                <a:lnTo>
                  <a:pt x="3316873" y="1030112"/>
                </a:lnTo>
                <a:lnTo>
                  <a:pt x="3274913" y="1047823"/>
                </a:lnTo>
                <a:lnTo>
                  <a:pt x="3228213" y="1054099"/>
                </a:lnTo>
                <a:lnTo>
                  <a:pt x="2040763" y="1054099"/>
                </a:lnTo>
                <a:lnTo>
                  <a:pt x="1456563" y="1054099"/>
                </a:lnTo>
                <a:lnTo>
                  <a:pt x="1242694" y="1054099"/>
                </a:lnTo>
                <a:lnTo>
                  <a:pt x="1195994" y="1047823"/>
                </a:lnTo>
                <a:lnTo>
                  <a:pt x="1154034" y="1030112"/>
                </a:lnTo>
                <a:lnTo>
                  <a:pt x="1118489" y="1002639"/>
                </a:lnTo>
                <a:lnTo>
                  <a:pt x="1091028" y="967081"/>
                </a:lnTo>
                <a:lnTo>
                  <a:pt x="1073326" y="925112"/>
                </a:lnTo>
                <a:lnTo>
                  <a:pt x="1067054" y="878408"/>
                </a:lnTo>
                <a:lnTo>
                  <a:pt x="0" y="598804"/>
                </a:lnTo>
                <a:lnTo>
                  <a:pt x="1067054" y="614895"/>
                </a:lnTo>
                <a:lnTo>
                  <a:pt x="1067054" y="175691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425954" y="6425124"/>
            <a:ext cx="1554256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latin typeface="Arial"/>
                <a:cs typeface="Arial"/>
              </a:rPr>
              <a:t>A </a:t>
            </a:r>
            <a:r>
              <a:rPr spc="-6" dirty="0">
                <a:latin typeface="Arial"/>
                <a:cs typeface="Arial"/>
              </a:rPr>
              <a:t>variável</a:t>
            </a:r>
            <a:r>
              <a:rPr spc="-194" dirty="0">
                <a:latin typeface="Arial"/>
                <a:cs typeface="Arial"/>
              </a:rPr>
              <a:t>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var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262583" y="6710942"/>
            <a:ext cx="1878028" cy="280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11" dirty="0">
                <a:latin typeface="Arial"/>
                <a:cs typeface="Arial"/>
              </a:rPr>
              <a:t>não </a:t>
            </a:r>
            <a:r>
              <a:rPr spc="-6" dirty="0">
                <a:latin typeface="Arial"/>
                <a:cs typeface="Arial"/>
              </a:rPr>
              <a:t>é </a:t>
            </a:r>
            <a:r>
              <a:rPr spc="-11" dirty="0">
                <a:latin typeface="Arial"/>
                <a:cs typeface="Arial"/>
              </a:rPr>
              <a:t>alterada</a:t>
            </a:r>
            <a:r>
              <a:rPr spc="23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na</a:t>
            </a:r>
            <a:endParaRPr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931531" y="2350911"/>
            <a:ext cx="2572357" cy="794832"/>
          </a:xfrm>
          <a:custGeom>
            <a:avLst/>
            <a:gdLst/>
            <a:ahLst/>
            <a:cxnLst/>
            <a:rect l="l" t="t" r="r" b="b"/>
            <a:pathLst>
              <a:path w="2199640" h="721360">
                <a:moveTo>
                  <a:pt x="2078863" y="0"/>
                </a:moveTo>
                <a:lnTo>
                  <a:pt x="648081" y="0"/>
                </a:lnTo>
                <a:lnTo>
                  <a:pt x="601267" y="9451"/>
                </a:lnTo>
                <a:lnTo>
                  <a:pt x="563038" y="35226"/>
                </a:lnTo>
                <a:lnTo>
                  <a:pt x="537263" y="73455"/>
                </a:lnTo>
                <a:lnTo>
                  <a:pt x="527812" y="120269"/>
                </a:lnTo>
                <a:lnTo>
                  <a:pt x="0" y="121158"/>
                </a:lnTo>
                <a:lnTo>
                  <a:pt x="527812" y="300609"/>
                </a:lnTo>
                <a:lnTo>
                  <a:pt x="527812" y="601090"/>
                </a:lnTo>
                <a:lnTo>
                  <a:pt x="537263" y="647904"/>
                </a:lnTo>
                <a:lnTo>
                  <a:pt x="563038" y="686133"/>
                </a:lnTo>
                <a:lnTo>
                  <a:pt x="601267" y="711908"/>
                </a:lnTo>
                <a:lnTo>
                  <a:pt x="648081" y="721360"/>
                </a:lnTo>
                <a:lnTo>
                  <a:pt x="2078863" y="721360"/>
                </a:lnTo>
                <a:lnTo>
                  <a:pt x="2125676" y="711908"/>
                </a:lnTo>
                <a:lnTo>
                  <a:pt x="2163905" y="686133"/>
                </a:lnTo>
                <a:lnTo>
                  <a:pt x="2189680" y="647904"/>
                </a:lnTo>
                <a:lnTo>
                  <a:pt x="2199132" y="601090"/>
                </a:lnTo>
                <a:lnTo>
                  <a:pt x="2199132" y="120269"/>
                </a:lnTo>
                <a:lnTo>
                  <a:pt x="2189680" y="73455"/>
                </a:lnTo>
                <a:lnTo>
                  <a:pt x="2163905" y="35226"/>
                </a:lnTo>
                <a:lnTo>
                  <a:pt x="2125676" y="9451"/>
                </a:lnTo>
                <a:lnTo>
                  <a:pt x="2078863" y="0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931531" y="2350911"/>
            <a:ext cx="2572357" cy="794832"/>
          </a:xfrm>
          <a:custGeom>
            <a:avLst/>
            <a:gdLst/>
            <a:ahLst/>
            <a:cxnLst/>
            <a:rect l="l" t="t" r="r" b="b"/>
            <a:pathLst>
              <a:path w="2199640" h="721360">
                <a:moveTo>
                  <a:pt x="527812" y="120269"/>
                </a:moveTo>
                <a:lnTo>
                  <a:pt x="537263" y="73455"/>
                </a:lnTo>
                <a:lnTo>
                  <a:pt x="563038" y="35226"/>
                </a:lnTo>
                <a:lnTo>
                  <a:pt x="601267" y="9451"/>
                </a:lnTo>
                <a:lnTo>
                  <a:pt x="648081" y="0"/>
                </a:lnTo>
                <a:lnTo>
                  <a:pt x="806323" y="0"/>
                </a:lnTo>
                <a:lnTo>
                  <a:pt x="1224152" y="0"/>
                </a:lnTo>
                <a:lnTo>
                  <a:pt x="2078863" y="0"/>
                </a:lnTo>
                <a:lnTo>
                  <a:pt x="2125676" y="9451"/>
                </a:lnTo>
                <a:lnTo>
                  <a:pt x="2163905" y="35226"/>
                </a:lnTo>
                <a:lnTo>
                  <a:pt x="2189680" y="73455"/>
                </a:lnTo>
                <a:lnTo>
                  <a:pt x="2199132" y="120269"/>
                </a:lnTo>
                <a:lnTo>
                  <a:pt x="2199132" y="300609"/>
                </a:lnTo>
                <a:lnTo>
                  <a:pt x="2199132" y="601090"/>
                </a:lnTo>
                <a:lnTo>
                  <a:pt x="2189680" y="647904"/>
                </a:lnTo>
                <a:lnTo>
                  <a:pt x="2163905" y="686133"/>
                </a:lnTo>
                <a:lnTo>
                  <a:pt x="2125676" y="711908"/>
                </a:lnTo>
                <a:lnTo>
                  <a:pt x="2078863" y="721360"/>
                </a:lnTo>
                <a:lnTo>
                  <a:pt x="1224152" y="721360"/>
                </a:lnTo>
                <a:lnTo>
                  <a:pt x="806323" y="721360"/>
                </a:lnTo>
                <a:lnTo>
                  <a:pt x="648081" y="721360"/>
                </a:lnTo>
                <a:lnTo>
                  <a:pt x="601267" y="711908"/>
                </a:lnTo>
                <a:lnTo>
                  <a:pt x="563038" y="686133"/>
                </a:lnTo>
                <a:lnTo>
                  <a:pt x="537263" y="647904"/>
                </a:lnTo>
                <a:lnTo>
                  <a:pt x="527812" y="601090"/>
                </a:lnTo>
                <a:lnTo>
                  <a:pt x="527812" y="300609"/>
                </a:lnTo>
                <a:lnTo>
                  <a:pt x="0" y="121158"/>
                </a:lnTo>
                <a:lnTo>
                  <a:pt x="527812" y="12026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80404" y="2184108"/>
            <a:ext cx="2157988" cy="8403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spc="-6" dirty="0">
                <a:latin typeface="Courier New"/>
                <a:cs typeface="Courier New"/>
              </a:rPr>
              <a:t>)</a:t>
            </a:r>
            <a:endParaRPr>
              <a:latin typeface="Courier New"/>
              <a:cs typeface="Courier New"/>
            </a:endParaRPr>
          </a:p>
          <a:p>
            <a:pPr marL="375836" marR="5793" indent="-34759">
              <a:spcBef>
                <a:spcPts val="40"/>
              </a:spcBef>
            </a:pPr>
            <a:r>
              <a:rPr dirty="0">
                <a:latin typeface="Arial"/>
                <a:cs typeface="Arial"/>
              </a:rPr>
              <a:t>O </a:t>
            </a:r>
            <a:r>
              <a:rPr spc="-6" dirty="0">
                <a:latin typeface="Arial"/>
                <a:cs typeface="Arial"/>
              </a:rPr>
              <a:t>valor </a:t>
            </a:r>
            <a:r>
              <a:rPr spc="-11" dirty="0">
                <a:latin typeface="Arial"/>
                <a:cs typeface="Arial"/>
              </a:rPr>
              <a:t>de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var</a:t>
            </a:r>
            <a:r>
              <a:rPr b="1" spc="-61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Arial"/>
                <a:cs typeface="Arial"/>
              </a:rPr>
              <a:t>é  </a:t>
            </a:r>
            <a:r>
              <a:rPr u="sng" spc="-11" dirty="0">
                <a:latin typeface="Arial"/>
                <a:cs typeface="Arial"/>
              </a:rPr>
              <a:t>copiado </a:t>
            </a:r>
            <a:r>
              <a:rPr spc="-6" dirty="0">
                <a:latin typeface="Arial"/>
                <a:cs typeface="Arial"/>
              </a:rPr>
              <a:t>para</a:t>
            </a:r>
            <a:r>
              <a:rPr spc="-34" dirty="0">
                <a:latin typeface="Arial"/>
                <a:cs typeface="Arial"/>
              </a:rPr>
              <a:t>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298078" y="6991301"/>
            <a:ext cx="1809709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1955"/>
              </a:lnSpc>
            </a:pPr>
            <a:r>
              <a:rPr spc="-6" dirty="0">
                <a:latin typeface="Arial"/>
                <a:cs typeface="Arial"/>
              </a:rPr>
              <a:t>função</a:t>
            </a:r>
            <a:r>
              <a:rPr spc="-80" dirty="0">
                <a:latin typeface="Arial"/>
                <a:cs typeface="Arial"/>
              </a:rPr>
              <a:t> </a:t>
            </a:r>
            <a:r>
              <a:rPr b="1" spc="-6" dirty="0">
                <a:solidFill>
                  <a:srgbClr val="00664D"/>
                </a:solidFill>
                <a:latin typeface="Courier New"/>
                <a:cs typeface="Courier New"/>
              </a:rPr>
              <a:t>imprime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705839" y="7067049"/>
            <a:ext cx="131959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1825"/>
              </a:lnSpc>
            </a:pPr>
            <a:r>
              <a:rPr spc="-6" dirty="0">
                <a:latin typeface="Courier New"/>
                <a:cs typeface="Courier New"/>
              </a:rPr>
              <a:t>return</a:t>
            </a:r>
            <a:r>
              <a:rPr spc="-97" dirty="0">
                <a:latin typeface="Courier New"/>
                <a:cs typeface="Courier New"/>
              </a:rPr>
              <a:t> </a:t>
            </a:r>
            <a:r>
              <a:rPr spc="17" dirty="0">
                <a:latin typeface="Courier New"/>
                <a:cs typeface="Courier New"/>
              </a:rPr>
              <a:t>0;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278102" y="7336330"/>
            <a:ext cx="17302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1819"/>
              </a:lnSpc>
            </a:pPr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231045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40" y="1105488"/>
            <a:ext cx="10420867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9047"/>
              <a:buChar char="•"/>
              <a:tabLst>
                <a:tab pos="404802" algn="l"/>
                <a:tab pos="405526" algn="l"/>
              </a:tabLst>
            </a:pPr>
            <a:r>
              <a:rPr lang="pt-BR" sz="2400" spc="-11" dirty="0" smtClean="0">
                <a:latin typeface="Arial"/>
                <a:cs typeface="Arial"/>
              </a:rPr>
              <a:t>Quando o ponteiro para uma estrutura é passado como parâmetro a forma de acesso muda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812" y="2686476"/>
            <a:ext cx="2029518" cy="1103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typedef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struct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570633"/>
            <a:r>
              <a:rPr spc="-6" dirty="0">
                <a:latin typeface="Courier New"/>
                <a:cs typeface="Courier New"/>
              </a:rPr>
              <a:t>int</a:t>
            </a:r>
            <a:endParaRPr>
              <a:latin typeface="Courier New"/>
              <a:cs typeface="Courier New"/>
            </a:endParaRPr>
          </a:p>
          <a:p>
            <a:pPr marL="570633"/>
            <a:r>
              <a:rPr spc="-6" dirty="0">
                <a:latin typeface="Courier New"/>
                <a:cs typeface="Courier New"/>
              </a:rPr>
              <a:t>int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35812" y="3223686"/>
            <a:ext cx="1031468" cy="5667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valorA;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spc="-6" dirty="0">
                <a:latin typeface="Courier New"/>
                <a:cs typeface="Courier New"/>
              </a:rPr>
              <a:t>valorB;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4812" y="3761457"/>
            <a:ext cx="2457254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latin typeface="Courier New"/>
                <a:cs typeface="Courier New"/>
              </a:rPr>
              <a:t>}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MinhaEstrutura;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78102" y="2184108"/>
            <a:ext cx="5107198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void</a:t>
            </a:r>
            <a:r>
              <a:rPr spc="-34" dirty="0">
                <a:latin typeface="Courier New"/>
                <a:cs typeface="Courier New"/>
              </a:rPr>
              <a:t> </a:t>
            </a:r>
            <a:r>
              <a:rPr b="1" spc="-6" dirty="0" err="1" smtClean="0">
                <a:latin typeface="Courier New"/>
                <a:cs typeface="Courier New"/>
              </a:rPr>
              <a:t>imprime</a:t>
            </a:r>
            <a:r>
              <a:rPr spc="-6" dirty="0" smtClean="0">
                <a:latin typeface="Courier New"/>
                <a:cs typeface="Courier New"/>
              </a:rPr>
              <a:t>(</a:t>
            </a:r>
            <a:r>
              <a:rPr b="1" spc="-6" dirty="0" err="1" smtClean="0">
                <a:solidFill>
                  <a:srgbClr val="FF0000"/>
                </a:solidFill>
                <a:latin typeface="Courier New"/>
                <a:cs typeface="Courier New"/>
              </a:rPr>
              <a:t>MinhaEstrutura</a:t>
            </a:r>
            <a:r>
              <a:rPr lang="pt-BR" b="1" spc="-6" dirty="0" smtClean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lang="pt-BR" b="1" spc="-6" dirty="0" smtClean="0">
                <a:latin typeface="Courier New"/>
                <a:cs typeface="Courier New"/>
              </a:rPr>
              <a:t>*</a:t>
            </a:r>
            <a:r>
              <a:rPr lang="pt-BR" b="1" spc="-6" dirty="0" smtClean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lang="pt-BR" b="1" spc="-6" dirty="0" smtClean="0">
                <a:latin typeface="Courier New"/>
                <a:cs typeface="Courier New"/>
              </a:rPr>
              <a:t>)</a:t>
            </a:r>
            <a:endParaRPr dirty="0"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705839" y="2721740"/>
            <a:ext cx="3604567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printf("\n%d",</a:t>
            </a:r>
            <a:r>
              <a:rPr b="1" spc="-6" dirty="0" smtClean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lang="pt-BR" b="1" spc="-6" dirty="0" smtClean="0">
                <a:latin typeface="Courier New"/>
                <a:cs typeface="Courier New"/>
              </a:rPr>
              <a:t>-&gt;</a:t>
            </a:r>
            <a:r>
              <a:rPr b="1" spc="-6" dirty="0" err="1" smtClean="0">
                <a:solidFill>
                  <a:srgbClr val="FF0000"/>
                </a:solidFill>
                <a:latin typeface="Courier New"/>
                <a:cs typeface="Courier New"/>
              </a:rPr>
              <a:t>valorA</a:t>
            </a:r>
            <a:r>
              <a:rPr spc="-6" dirty="0">
                <a:latin typeface="Courier New"/>
                <a:cs typeface="Courier New"/>
              </a:rPr>
              <a:t>);</a:t>
            </a:r>
            <a:endParaRPr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05839" y="2990415"/>
            <a:ext cx="3604567" cy="566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printf("\n%d",</a:t>
            </a:r>
            <a:r>
              <a:rPr b="1" spc="-6" dirty="0" smtClean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lang="pt-BR" b="1" spc="-6" dirty="0" smtClean="0">
                <a:latin typeface="Courier New"/>
                <a:cs typeface="Courier New"/>
              </a:rPr>
              <a:t>-&gt;</a:t>
            </a:r>
            <a:r>
              <a:rPr b="1" spc="-6" dirty="0" err="1" smtClean="0">
                <a:solidFill>
                  <a:srgbClr val="FF0000"/>
                </a:solidFill>
                <a:latin typeface="Courier New"/>
                <a:cs typeface="Courier New"/>
              </a:rPr>
              <a:t>valorB</a:t>
            </a:r>
            <a:r>
              <a:rPr spc="-6" dirty="0">
                <a:latin typeface="Courier New"/>
                <a:cs typeface="Courier New"/>
              </a:rPr>
              <a:t>);</a:t>
            </a:r>
            <a:endParaRPr dirty="0">
              <a:latin typeface="Courier New"/>
              <a:cs typeface="Courier New"/>
            </a:endParaRPr>
          </a:p>
          <a:p>
            <a:pPr marL="14483"/>
            <a:r>
              <a:rPr lang="pt-BR" b="1" spc="-6" dirty="0" smtClean="0">
                <a:solidFill>
                  <a:srgbClr val="FF0000"/>
                </a:solidFill>
                <a:latin typeface="Courier New"/>
                <a:cs typeface="Courier New"/>
              </a:rPr>
              <a:t>e</a:t>
            </a:r>
            <a:r>
              <a:rPr b="1" spc="-6" dirty="0" smtClean="0">
                <a:solidFill>
                  <a:srgbClr val="FF0000"/>
                </a:solidFill>
                <a:latin typeface="Courier New"/>
                <a:cs typeface="Courier New"/>
              </a:rPr>
              <a:t>1</a:t>
            </a:r>
            <a:r>
              <a:rPr lang="pt-BR" b="1" spc="-6" dirty="0" smtClean="0">
                <a:latin typeface="Courier New"/>
                <a:cs typeface="Courier New"/>
              </a:rPr>
              <a:t>-&gt;</a:t>
            </a:r>
            <a:r>
              <a:rPr b="1" spc="-6" dirty="0" err="1" smtClean="0">
                <a:solidFill>
                  <a:srgbClr val="FF0000"/>
                </a:solidFill>
                <a:latin typeface="Courier New"/>
                <a:cs typeface="Courier New"/>
              </a:rPr>
              <a:t>valorB</a:t>
            </a:r>
            <a:r>
              <a:rPr b="1" spc="-6" dirty="0" smtClean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=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b="1" dirty="0" smtClean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lang="pt-BR" b="1" dirty="0" smtClean="0">
                <a:latin typeface="Courier New"/>
                <a:cs typeface="Courier New"/>
              </a:rPr>
              <a:t>-&gt;</a:t>
            </a:r>
            <a:r>
              <a:rPr b="1" dirty="0" err="1" smtClean="0">
                <a:solidFill>
                  <a:srgbClr val="FF0000"/>
                </a:solidFill>
                <a:latin typeface="Courier New"/>
                <a:cs typeface="Courier New"/>
              </a:rPr>
              <a:t>valorA</a:t>
            </a:r>
            <a:r>
              <a:rPr dirty="0">
                <a:latin typeface="Courier New"/>
                <a:cs typeface="Courier New"/>
              </a:rPr>
              <a:t>;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278101" y="3528045"/>
            <a:ext cx="4460039" cy="3052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 </a:t>
            </a:r>
            <a:r>
              <a:rPr b="1" spc="-6" dirty="0">
                <a:latin typeface="Courier New"/>
                <a:cs typeface="Courier New"/>
              </a:rPr>
              <a:t>novaEstrutura</a:t>
            </a:r>
            <a:r>
              <a:rPr spc="-6" dirty="0">
                <a:latin typeface="Courier New"/>
                <a:cs typeface="Courier New"/>
              </a:rPr>
              <a:t>(</a:t>
            </a:r>
            <a:r>
              <a:rPr spc="-23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)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431596" marR="579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 </a:t>
            </a:r>
            <a:r>
              <a:rPr b="1" dirty="0">
                <a:solidFill>
                  <a:srgbClr val="FF0000"/>
                </a:solidFill>
                <a:latin typeface="Courier New"/>
                <a:cs typeface="Courier New"/>
              </a:rPr>
              <a:t>novaVar</a:t>
            </a:r>
            <a:r>
              <a:rPr dirty="0">
                <a:latin typeface="Courier New"/>
                <a:cs typeface="Courier New"/>
              </a:rPr>
              <a:t>;  </a:t>
            </a:r>
            <a:r>
              <a:rPr spc="-6" dirty="0">
                <a:latin typeface="Courier New"/>
                <a:cs typeface="Courier New"/>
              </a:rPr>
              <a:t>scanf("%d",&amp;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novaVar.valorA</a:t>
            </a:r>
            <a:r>
              <a:rPr spc="-6" dirty="0">
                <a:latin typeface="Courier New"/>
                <a:cs typeface="Courier New"/>
              </a:rPr>
              <a:t>);  scanf("%d",&amp;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novaVar.valorB</a:t>
            </a:r>
            <a:r>
              <a:rPr spc="-6" dirty="0">
                <a:latin typeface="Courier New"/>
                <a:cs typeface="Courier New"/>
              </a:rPr>
              <a:t>);  return</a:t>
            </a:r>
            <a:r>
              <a:rPr spc="-68" dirty="0"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</a:t>
            </a:r>
            <a:r>
              <a:rPr spc="-6" dirty="0"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14483">
              <a:lnSpc>
                <a:spcPts val="2190"/>
              </a:lnSpc>
            </a:pPr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spc="-6" dirty="0">
                <a:latin typeface="Courier New"/>
                <a:cs typeface="Courier New"/>
              </a:rPr>
              <a:t>int</a:t>
            </a:r>
            <a:r>
              <a:rPr spc="-108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main()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431596"/>
            <a:r>
              <a:rPr spc="-6" dirty="0">
                <a:latin typeface="Courier New"/>
                <a:cs typeface="Courier New"/>
              </a:rPr>
              <a:t>MinhaEstrutura</a:t>
            </a:r>
            <a:r>
              <a:rPr spc="-46" dirty="0">
                <a:latin typeface="Courier New"/>
                <a:cs typeface="Courier New"/>
              </a:rPr>
              <a:t> </a:t>
            </a:r>
            <a:r>
              <a:rPr spc="6" dirty="0">
                <a:latin typeface="Courier New"/>
                <a:cs typeface="Courier New"/>
              </a:rPr>
              <a:t>var;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05839" y="6484596"/>
            <a:ext cx="3176088" cy="566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/>
            <a:r>
              <a:rPr spc="-6" dirty="0">
                <a:solidFill>
                  <a:srgbClr val="21218A"/>
                </a:solidFill>
                <a:latin typeface="Courier New"/>
                <a:cs typeface="Courier New"/>
              </a:rPr>
              <a:t>var </a:t>
            </a:r>
            <a:r>
              <a:rPr dirty="0">
                <a:solidFill>
                  <a:srgbClr val="21218A"/>
                </a:solidFill>
                <a:latin typeface="Courier New"/>
                <a:cs typeface="Courier New"/>
              </a:rPr>
              <a:t>= </a:t>
            </a:r>
            <a:r>
              <a:rPr b="1" spc="-6" dirty="0">
                <a:solidFill>
                  <a:srgbClr val="21218A"/>
                </a:solidFill>
                <a:latin typeface="Courier New"/>
                <a:cs typeface="Courier New"/>
              </a:rPr>
              <a:t>novaEstrutura</a:t>
            </a:r>
            <a:r>
              <a:rPr spc="-6" dirty="0">
                <a:solidFill>
                  <a:srgbClr val="21218A"/>
                </a:solidFill>
                <a:latin typeface="Courier New"/>
                <a:cs typeface="Courier New"/>
              </a:rPr>
              <a:t>();  </a:t>
            </a:r>
            <a:r>
              <a:rPr b="1" spc="-6" dirty="0" err="1">
                <a:solidFill>
                  <a:srgbClr val="00664D"/>
                </a:solidFill>
                <a:latin typeface="Courier New"/>
                <a:cs typeface="Courier New"/>
              </a:rPr>
              <a:t>imprime</a:t>
            </a:r>
            <a:r>
              <a:rPr spc="-6" dirty="0" smtClean="0">
                <a:solidFill>
                  <a:srgbClr val="00664D"/>
                </a:solidFill>
                <a:latin typeface="Courier New"/>
                <a:cs typeface="Courier New"/>
              </a:rPr>
              <a:t>(</a:t>
            </a:r>
            <a:r>
              <a:rPr lang="pt-BR" spc="-6" dirty="0" smtClean="0">
                <a:solidFill>
                  <a:srgbClr val="FF0000"/>
                </a:solidFill>
                <a:latin typeface="Courier New"/>
                <a:cs typeface="Courier New"/>
              </a:rPr>
              <a:t>&amp;</a:t>
            </a:r>
            <a:r>
              <a:rPr spc="-6" dirty="0" err="1" smtClean="0">
                <a:solidFill>
                  <a:srgbClr val="00664D"/>
                </a:solidFill>
                <a:latin typeface="Courier New"/>
                <a:cs typeface="Courier New"/>
              </a:rPr>
              <a:t>var</a:t>
            </a:r>
            <a:r>
              <a:rPr spc="-6" dirty="0">
                <a:solidFill>
                  <a:srgbClr val="00664D"/>
                </a:solidFill>
                <a:latin typeface="Courier New"/>
                <a:cs typeface="Courier New"/>
              </a:rPr>
              <a:t>);</a:t>
            </a:r>
            <a:endParaRPr dirty="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</a:t>
            </a:r>
            <a:r>
              <a:rPr spc="-6" dirty="0"/>
              <a:t>e</a:t>
            </a:r>
            <a:r>
              <a:rPr spc="-74" dirty="0"/>
              <a:t> </a:t>
            </a:r>
            <a:r>
              <a:rPr dirty="0"/>
              <a:t>funções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4705839" y="7067049"/>
            <a:ext cx="131959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1825"/>
              </a:lnSpc>
            </a:pPr>
            <a:r>
              <a:rPr spc="-6" dirty="0">
                <a:latin typeface="Courier New"/>
                <a:cs typeface="Courier New"/>
              </a:rPr>
              <a:t>return</a:t>
            </a:r>
            <a:r>
              <a:rPr spc="-97" dirty="0">
                <a:latin typeface="Courier New"/>
                <a:cs typeface="Courier New"/>
              </a:rPr>
              <a:t> </a:t>
            </a:r>
            <a:r>
              <a:rPr spc="17" dirty="0">
                <a:latin typeface="Courier New"/>
                <a:cs typeface="Courier New"/>
              </a:rPr>
              <a:t>0;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278102" y="7336330"/>
            <a:ext cx="17302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1819"/>
              </a:lnSpc>
            </a:pPr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177979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923" y="1835950"/>
            <a:ext cx="9433213" cy="41293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spc="-6" dirty="0">
                <a:latin typeface="Arial"/>
                <a:cs typeface="Arial"/>
              </a:rPr>
              <a:t>Pode-se criar vetores de estruturas como se</a:t>
            </a:r>
            <a:r>
              <a:rPr sz="3000" spc="171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criam</a:t>
            </a:r>
            <a:endParaRPr sz="3000">
              <a:latin typeface="Arial"/>
              <a:cs typeface="Arial"/>
            </a:endParaRPr>
          </a:p>
          <a:p>
            <a:pPr marL="535874"/>
            <a:r>
              <a:rPr sz="3000" spc="-6" dirty="0">
                <a:latin typeface="Arial"/>
                <a:cs typeface="Arial"/>
              </a:rPr>
              <a:t>vetores </a:t>
            </a:r>
            <a:r>
              <a:rPr sz="3000" dirty="0">
                <a:latin typeface="Arial"/>
                <a:cs typeface="Arial"/>
              </a:rPr>
              <a:t>de </a:t>
            </a:r>
            <a:r>
              <a:rPr sz="3000" spc="-6" dirty="0">
                <a:latin typeface="Arial"/>
                <a:cs typeface="Arial"/>
              </a:rPr>
              <a:t>tipos</a:t>
            </a:r>
            <a:r>
              <a:rPr sz="3000" spc="23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primitivos.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000">
              <a:latin typeface="Times New Roman"/>
              <a:cs typeface="Times New Roman"/>
            </a:endParaRPr>
          </a:p>
          <a:p>
            <a:pPr marL="535874" indent="-521391">
              <a:spcBef>
                <a:spcPts val="1745"/>
              </a:spcBef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dirty="0">
                <a:latin typeface="Arial"/>
                <a:cs typeface="Arial"/>
              </a:rPr>
              <a:t>Os </a:t>
            </a:r>
            <a:r>
              <a:rPr sz="3000" spc="-6" dirty="0">
                <a:latin typeface="Arial"/>
                <a:cs typeface="Arial"/>
              </a:rPr>
              <a:t>programas apresentados até </a:t>
            </a:r>
            <a:r>
              <a:rPr sz="3000" dirty="0">
                <a:latin typeface="Arial"/>
                <a:cs typeface="Arial"/>
              </a:rPr>
              <a:t>o </a:t>
            </a:r>
            <a:r>
              <a:rPr sz="3000" spc="-11" dirty="0">
                <a:latin typeface="Arial"/>
                <a:cs typeface="Arial"/>
              </a:rPr>
              <a:t>momento</a:t>
            </a:r>
            <a:r>
              <a:rPr sz="3000" spc="143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só</a:t>
            </a:r>
            <a:endParaRPr sz="3000">
              <a:latin typeface="Arial"/>
              <a:cs typeface="Arial"/>
            </a:endParaRPr>
          </a:p>
          <a:p>
            <a:pPr marL="535874"/>
            <a:r>
              <a:rPr sz="3000" spc="-6" dirty="0">
                <a:latin typeface="Arial"/>
                <a:cs typeface="Arial"/>
              </a:rPr>
              <a:t>fizeram </a:t>
            </a:r>
            <a:r>
              <a:rPr sz="3000" spc="-11" dirty="0">
                <a:latin typeface="Arial"/>
                <a:cs typeface="Arial"/>
              </a:rPr>
              <a:t>menção </a:t>
            </a:r>
            <a:r>
              <a:rPr sz="3000" spc="-6" dirty="0">
                <a:latin typeface="Arial"/>
                <a:cs typeface="Arial"/>
              </a:rPr>
              <a:t>a </a:t>
            </a:r>
            <a:r>
              <a:rPr sz="3000" spc="-11" dirty="0">
                <a:latin typeface="Arial"/>
                <a:cs typeface="Arial"/>
              </a:rPr>
              <a:t>uma </a:t>
            </a:r>
            <a:r>
              <a:rPr sz="3000" spc="-6" dirty="0">
                <a:latin typeface="Arial"/>
                <a:cs typeface="Arial"/>
              </a:rPr>
              <a:t>única instância da</a:t>
            </a:r>
            <a:r>
              <a:rPr sz="3000" spc="188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estrutura.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000">
              <a:latin typeface="Times New Roman"/>
              <a:cs typeface="Times New Roman"/>
            </a:endParaRPr>
          </a:p>
          <a:p>
            <a:pPr marL="535874" marR="588013" indent="-521391">
              <a:spcBef>
                <a:spcPts val="1745"/>
              </a:spcBef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dirty="0">
                <a:latin typeface="Arial"/>
                <a:cs typeface="Arial"/>
              </a:rPr>
              <a:t>É </a:t>
            </a:r>
            <a:r>
              <a:rPr sz="3000" spc="-6" dirty="0">
                <a:latin typeface="Arial"/>
                <a:cs typeface="Arial"/>
              </a:rPr>
              <a:t>necessário possuir </a:t>
            </a:r>
            <a:r>
              <a:rPr sz="3000" spc="-11" dirty="0">
                <a:latin typeface="Arial"/>
                <a:cs typeface="Arial"/>
              </a:rPr>
              <a:t>uma </a:t>
            </a:r>
            <a:r>
              <a:rPr sz="3000" spc="-6" dirty="0">
                <a:latin typeface="Arial"/>
                <a:cs typeface="Arial"/>
              </a:rPr>
              <a:t>definição da estrutura  </a:t>
            </a:r>
            <a:r>
              <a:rPr sz="3000" spc="-11" dirty="0">
                <a:latin typeface="Arial"/>
                <a:cs typeface="Arial"/>
              </a:rPr>
              <a:t>antes </a:t>
            </a:r>
            <a:r>
              <a:rPr sz="3000" spc="-6" dirty="0">
                <a:latin typeface="Arial"/>
                <a:cs typeface="Arial"/>
              </a:rPr>
              <a:t>de declarar um vetor de</a:t>
            </a:r>
            <a:r>
              <a:rPr sz="3000" spc="103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estrutura.</a:t>
            </a:r>
            <a:endParaRPr sz="3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</p:spTree>
    <p:extLst>
      <p:ext uri="{BB962C8B-B14F-4D97-AF65-F5344CB8AC3E}">
        <p14:creationId xmlns:p14="http://schemas.microsoft.com/office/powerpoint/2010/main" val="115203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8262" y="1914732"/>
            <a:ext cx="9162907" cy="36907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 algn="just">
              <a:buClr>
                <a:srgbClr val="852B34"/>
              </a:buClr>
              <a:buSzPct val="69642"/>
              <a:buChar char="•"/>
              <a:tabLst>
                <a:tab pos="535874" algn="l"/>
              </a:tabLst>
            </a:pPr>
            <a:r>
              <a:rPr sz="3200" dirty="0">
                <a:latin typeface="Arial"/>
                <a:cs typeface="Arial"/>
              </a:rPr>
              <a:t>Suponha que </a:t>
            </a:r>
            <a:r>
              <a:rPr sz="3200" spc="-6" dirty="0">
                <a:latin typeface="Arial"/>
                <a:cs typeface="Arial"/>
              </a:rPr>
              <a:t>deseja-se </a:t>
            </a:r>
            <a:r>
              <a:rPr sz="3200" dirty="0">
                <a:latin typeface="Arial"/>
                <a:cs typeface="Arial"/>
              </a:rPr>
              <a:t>manter </a:t>
            </a:r>
            <a:r>
              <a:rPr sz="3200" spc="-6" dirty="0">
                <a:latin typeface="Arial"/>
                <a:cs typeface="Arial"/>
              </a:rPr>
              <a:t>um </a:t>
            </a:r>
            <a:r>
              <a:rPr sz="3200" dirty="0">
                <a:latin typeface="Arial"/>
                <a:cs typeface="Arial"/>
              </a:rPr>
              <a:t>registro de  informações relativas a passagens rodoviárias  </a:t>
            </a:r>
            <a:r>
              <a:rPr sz="3200" spc="-6" dirty="0">
                <a:latin typeface="Arial"/>
                <a:cs typeface="Arial"/>
              </a:rPr>
              <a:t>de </a:t>
            </a:r>
            <a:r>
              <a:rPr sz="3200" dirty="0">
                <a:latin typeface="Arial"/>
                <a:cs typeface="Arial"/>
              </a:rPr>
              <a:t>todos lugares (poltronas) </a:t>
            </a:r>
            <a:r>
              <a:rPr sz="3200" spc="-6" dirty="0">
                <a:latin typeface="Arial"/>
                <a:cs typeface="Arial"/>
              </a:rPr>
              <a:t>de um</a:t>
            </a:r>
            <a:r>
              <a:rPr sz="3200" spc="46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ônibus.</a:t>
            </a:r>
            <a:endParaRPr sz="3200">
              <a:latin typeface="Arial"/>
              <a:cs typeface="Arial"/>
            </a:endParaRPr>
          </a:p>
          <a:p>
            <a:pPr>
              <a:spcBef>
                <a:spcPts val="51"/>
              </a:spcBef>
              <a:buClr>
                <a:srgbClr val="852B34"/>
              </a:buClr>
              <a:buFont typeface="Arial"/>
              <a:buChar char="•"/>
            </a:pPr>
            <a:endParaRPr sz="4700">
              <a:latin typeface="Times New Roman"/>
              <a:cs typeface="Times New Roman"/>
            </a:endParaRPr>
          </a:p>
          <a:p>
            <a:pPr marL="535874" marR="532253" indent="-521391">
              <a:buClr>
                <a:srgbClr val="852B34"/>
              </a:buClr>
              <a:buSzPct val="69642"/>
              <a:buChar char="•"/>
              <a:tabLst>
                <a:tab pos="535150" algn="l"/>
                <a:tab pos="535874" algn="l"/>
              </a:tabLst>
            </a:pPr>
            <a:r>
              <a:rPr sz="3200" dirty="0">
                <a:latin typeface="Arial"/>
                <a:cs typeface="Arial"/>
              </a:rPr>
              <a:t>Pode-se utilizar uma estrutura referente a  cada poltrona </a:t>
            </a:r>
            <a:r>
              <a:rPr sz="3200" spc="-6" dirty="0">
                <a:latin typeface="Arial"/>
                <a:cs typeface="Arial"/>
              </a:rPr>
              <a:t>(</a:t>
            </a:r>
            <a:r>
              <a:rPr sz="3200" spc="-6" dirty="0">
                <a:latin typeface="Courier New"/>
                <a:cs typeface="Courier New"/>
              </a:rPr>
              <a:t>passagem</a:t>
            </a:r>
            <a:r>
              <a:rPr sz="3200" spc="-6" dirty="0">
                <a:latin typeface="Arial"/>
                <a:cs typeface="Arial"/>
              </a:rPr>
              <a:t>) e </a:t>
            </a:r>
            <a:r>
              <a:rPr sz="3200" dirty="0">
                <a:latin typeface="Arial"/>
                <a:cs typeface="Arial"/>
              </a:rPr>
              <a:t>para agrupar  todas elas utiliza-se um vetor de</a:t>
            </a:r>
            <a:r>
              <a:rPr sz="3200" spc="-29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estruturas.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</p:spTree>
    <p:extLst>
      <p:ext uri="{BB962C8B-B14F-4D97-AF65-F5344CB8AC3E}">
        <p14:creationId xmlns:p14="http://schemas.microsoft.com/office/powerpoint/2010/main" val="2286834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05040" y="3837023"/>
            <a:ext cx="6987840" cy="1845745"/>
          </a:xfrm>
          <a:custGeom>
            <a:avLst/>
            <a:gdLst/>
            <a:ahLst/>
            <a:cxnLst/>
            <a:rect l="l" t="t" r="r" b="b"/>
            <a:pathLst>
              <a:path w="5975350" h="1675129">
                <a:moveTo>
                  <a:pt x="0" y="0"/>
                </a:moveTo>
                <a:lnTo>
                  <a:pt x="5975350" y="1674876"/>
                </a:lnTo>
              </a:path>
            </a:pathLst>
          </a:custGeom>
          <a:ln w="1016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3923" y="1470997"/>
            <a:ext cx="9639653" cy="1246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940" marR="5793" indent="-379457">
              <a:buClr>
                <a:srgbClr val="852B34"/>
              </a:buClr>
              <a:buSzPct val="68750"/>
              <a:buFont typeface="Wingdings"/>
              <a:buChar char=""/>
              <a:tabLst>
                <a:tab pos="393216" algn="l"/>
                <a:tab pos="393940" algn="l"/>
              </a:tabLst>
            </a:pPr>
            <a:r>
              <a:rPr sz="2700" dirty="0">
                <a:latin typeface="Arial"/>
                <a:cs typeface="Arial"/>
              </a:rPr>
              <a:t>Um ônibus possui 44 lugares numerados de 0 a 43,</a:t>
            </a:r>
            <a:r>
              <a:rPr sz="2700" spc="-114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passa  por </a:t>
            </a:r>
            <a:r>
              <a:rPr sz="2700" spc="-6" dirty="0">
                <a:latin typeface="Arial"/>
                <a:cs typeface="Arial"/>
              </a:rPr>
              <a:t>várias </a:t>
            </a:r>
            <a:r>
              <a:rPr sz="2700" dirty="0">
                <a:latin typeface="Arial"/>
                <a:cs typeface="Arial"/>
              </a:rPr>
              <a:t>cidades </a:t>
            </a:r>
            <a:r>
              <a:rPr sz="2700" spc="-6" dirty="0">
                <a:latin typeface="Arial"/>
                <a:cs typeface="Arial"/>
              </a:rPr>
              <a:t>e </a:t>
            </a:r>
            <a:r>
              <a:rPr sz="2700" dirty="0">
                <a:latin typeface="Arial"/>
                <a:cs typeface="Arial"/>
              </a:rPr>
              <a:t>precisa armazenar </a:t>
            </a:r>
            <a:r>
              <a:rPr sz="2700" spc="-6" dirty="0">
                <a:latin typeface="Arial"/>
                <a:cs typeface="Arial"/>
              </a:rPr>
              <a:t>as </a:t>
            </a:r>
            <a:r>
              <a:rPr sz="2700" dirty="0">
                <a:latin typeface="Arial"/>
                <a:cs typeface="Arial"/>
              </a:rPr>
              <a:t>informações  </a:t>
            </a:r>
            <a:r>
              <a:rPr sz="2700" spc="-6" dirty="0">
                <a:latin typeface="Arial"/>
                <a:cs typeface="Arial"/>
              </a:rPr>
              <a:t>abaixo:</a:t>
            </a:r>
            <a:endParaRPr sz="27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76348" y="3671898"/>
            <a:ext cx="6318017" cy="2012268"/>
          </a:xfrm>
          <a:custGeom>
            <a:avLst/>
            <a:gdLst/>
            <a:ahLst/>
            <a:cxnLst/>
            <a:rect l="l" t="t" r="r" b="b"/>
            <a:pathLst>
              <a:path w="5402580" h="1826260">
                <a:moveTo>
                  <a:pt x="0" y="1826260"/>
                </a:moveTo>
                <a:lnTo>
                  <a:pt x="5402580" y="1826260"/>
                </a:lnTo>
                <a:lnTo>
                  <a:pt x="5402580" y="0"/>
                </a:lnTo>
                <a:lnTo>
                  <a:pt x="0" y="0"/>
                </a:lnTo>
                <a:lnTo>
                  <a:pt x="0" y="182626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576348" y="3671898"/>
            <a:ext cx="6318017" cy="2012268"/>
          </a:xfrm>
          <a:custGeom>
            <a:avLst/>
            <a:gdLst/>
            <a:ahLst/>
            <a:cxnLst/>
            <a:rect l="l" t="t" r="r" b="b"/>
            <a:pathLst>
              <a:path w="5402580" h="1826260">
                <a:moveTo>
                  <a:pt x="0" y="1826260"/>
                </a:moveTo>
                <a:lnTo>
                  <a:pt x="5402580" y="1826260"/>
                </a:lnTo>
                <a:lnTo>
                  <a:pt x="5402580" y="0"/>
                </a:lnTo>
                <a:lnTo>
                  <a:pt x="0" y="0"/>
                </a:lnTo>
                <a:lnTo>
                  <a:pt x="0" y="182626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680758" y="3534371"/>
            <a:ext cx="2971131" cy="2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>
              <a:lnSpc>
                <a:spcPct val="154200"/>
              </a:lnSpc>
              <a:tabLst>
                <a:tab pos="1356340" algn="l"/>
                <a:tab pos="2079770" algn="l"/>
                <a:tab pos="2560609" algn="l"/>
                <a:tab pos="2802476" algn="l"/>
                <a:tab pos="2866202" algn="l"/>
              </a:tabLst>
            </a:pPr>
            <a:r>
              <a:rPr sz="2300" dirty="0">
                <a:latin typeface="Arial"/>
                <a:cs typeface="Arial"/>
              </a:rPr>
              <a:t>Nome:_ </a:t>
            </a:r>
            <a:r>
              <a:rPr sz="2300" u="heavy" dirty="0">
                <a:latin typeface="Arial"/>
                <a:cs typeface="Arial"/>
              </a:rPr>
              <a:t>			</a:t>
            </a:r>
            <a:r>
              <a:rPr sz="2300" dirty="0">
                <a:latin typeface="Arial"/>
                <a:cs typeface="Arial"/>
              </a:rPr>
              <a:t> De: </a:t>
            </a:r>
            <a:r>
              <a:rPr sz="2300" u="heavy" dirty="0">
                <a:latin typeface="Arial"/>
                <a:cs typeface="Arial"/>
              </a:rPr>
              <a:t>				</a:t>
            </a:r>
            <a:r>
              <a:rPr sz="2300" dirty="0">
                <a:latin typeface="Arial"/>
                <a:cs typeface="Arial"/>
              </a:rPr>
              <a:t> Data:_</a:t>
            </a:r>
            <a:r>
              <a:rPr sz="2300" u="heavy" dirty="0">
                <a:latin typeface="Arial"/>
                <a:cs typeface="Arial"/>
              </a:rPr>
              <a:t> 	</a:t>
            </a:r>
            <a:r>
              <a:rPr sz="2300" dirty="0">
                <a:latin typeface="Arial"/>
                <a:cs typeface="Arial"/>
              </a:rPr>
              <a:t>/</a:t>
            </a:r>
            <a:r>
              <a:rPr sz="2300" u="heavy" dirty="0">
                <a:latin typeface="Arial"/>
                <a:cs typeface="Arial"/>
              </a:rPr>
              <a:t> 	</a:t>
            </a:r>
            <a:r>
              <a:rPr sz="2300" dirty="0">
                <a:latin typeface="Arial"/>
                <a:cs typeface="Arial"/>
              </a:rPr>
              <a:t>/ </a:t>
            </a:r>
            <a:r>
              <a:rPr sz="2300" u="heavy" dirty="0">
                <a:latin typeface="Arial"/>
                <a:cs typeface="Arial"/>
              </a:rPr>
              <a:t>			</a:t>
            </a:r>
            <a:r>
              <a:rPr sz="2300" dirty="0">
                <a:latin typeface="Arial"/>
                <a:cs typeface="Arial"/>
              </a:rPr>
              <a:t> Poltrona:</a:t>
            </a:r>
            <a:r>
              <a:rPr sz="2300" u="heavy" dirty="0">
                <a:latin typeface="Arial"/>
                <a:cs typeface="Arial"/>
              </a:rPr>
              <a:t> 					</a:t>
            </a:r>
            <a:endParaRPr sz="2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93772" y="3534371"/>
            <a:ext cx="3187227" cy="2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451" marR="5793" indent="-112968">
              <a:lnSpc>
                <a:spcPct val="154200"/>
              </a:lnSpc>
              <a:tabLst>
                <a:tab pos="2815511" algn="l"/>
                <a:tab pos="2993653" algn="l"/>
                <a:tab pos="3092862" algn="l"/>
              </a:tabLst>
            </a:pPr>
            <a:r>
              <a:rPr sz="2300" dirty="0">
                <a:latin typeface="Arial"/>
                <a:cs typeface="Arial"/>
              </a:rPr>
              <a:t>Número: </a:t>
            </a:r>
            <a:r>
              <a:rPr sz="2300" u="heavy" dirty="0">
                <a:latin typeface="Arial"/>
                <a:cs typeface="Arial"/>
              </a:rPr>
              <a:t>	</a:t>
            </a:r>
            <a:r>
              <a:rPr sz="2300" dirty="0">
                <a:latin typeface="Arial"/>
                <a:cs typeface="Arial"/>
              </a:rPr>
              <a:t> Para: </a:t>
            </a:r>
            <a:r>
              <a:rPr sz="2300" u="heavy" dirty="0">
                <a:latin typeface="Arial"/>
                <a:cs typeface="Arial"/>
              </a:rPr>
              <a:t>		</a:t>
            </a:r>
            <a:r>
              <a:rPr sz="2300" dirty="0">
                <a:latin typeface="Arial"/>
                <a:cs typeface="Arial"/>
              </a:rPr>
              <a:t> Horário:_ </a:t>
            </a:r>
            <a:r>
              <a:rPr sz="2300" u="heavy" dirty="0">
                <a:latin typeface="Arial"/>
                <a:cs typeface="Arial"/>
              </a:rPr>
              <a:t>		</a:t>
            </a:r>
            <a:r>
              <a:rPr sz="2300" dirty="0">
                <a:latin typeface="Arial"/>
                <a:cs typeface="Arial"/>
              </a:rPr>
              <a:t> Distância:</a:t>
            </a:r>
            <a:r>
              <a:rPr sz="2300" u="heavy" dirty="0">
                <a:latin typeface="Arial"/>
                <a:cs typeface="Arial"/>
              </a:rPr>
              <a:t> 			</a:t>
            </a:r>
            <a:endParaRPr sz="23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699062" y="3064581"/>
            <a:ext cx="1205978" cy="764046"/>
          </a:xfrm>
          <a:custGeom>
            <a:avLst/>
            <a:gdLst/>
            <a:ahLst/>
            <a:cxnLst/>
            <a:rect l="l" t="t" r="r" b="b"/>
            <a:pathLst>
              <a:path w="1031239" h="693420">
                <a:moveTo>
                  <a:pt x="0" y="693420"/>
                </a:moveTo>
                <a:lnTo>
                  <a:pt x="1031240" y="693420"/>
                </a:lnTo>
                <a:lnTo>
                  <a:pt x="1031240" y="0"/>
                </a:lnTo>
                <a:lnTo>
                  <a:pt x="0" y="0"/>
                </a:lnTo>
                <a:lnTo>
                  <a:pt x="0" y="693420"/>
                </a:lnTo>
                <a:close/>
              </a:path>
            </a:pathLst>
          </a:custGeom>
          <a:solidFill>
            <a:srgbClr val="A4A4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99062" y="3064581"/>
            <a:ext cx="1205978" cy="764046"/>
          </a:xfrm>
          <a:custGeom>
            <a:avLst/>
            <a:gdLst/>
            <a:ahLst/>
            <a:cxnLst/>
            <a:rect l="l" t="t" r="r" b="b"/>
            <a:pathLst>
              <a:path w="1031239" h="693420">
                <a:moveTo>
                  <a:pt x="0" y="693420"/>
                </a:moveTo>
                <a:lnTo>
                  <a:pt x="1031240" y="693420"/>
                </a:lnTo>
                <a:lnTo>
                  <a:pt x="1031240" y="0"/>
                </a:lnTo>
                <a:lnTo>
                  <a:pt x="0" y="0"/>
                </a:lnTo>
                <a:lnTo>
                  <a:pt x="0" y="6934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99062" y="3837023"/>
            <a:ext cx="1205978" cy="764046"/>
          </a:xfrm>
          <a:custGeom>
            <a:avLst/>
            <a:gdLst/>
            <a:ahLst/>
            <a:cxnLst/>
            <a:rect l="l" t="t" r="r" b="b"/>
            <a:pathLst>
              <a:path w="1031239" h="693420">
                <a:moveTo>
                  <a:pt x="0" y="693420"/>
                </a:moveTo>
                <a:lnTo>
                  <a:pt x="1031240" y="693420"/>
                </a:lnTo>
                <a:lnTo>
                  <a:pt x="1031240" y="0"/>
                </a:lnTo>
                <a:lnTo>
                  <a:pt x="0" y="0"/>
                </a:lnTo>
                <a:lnTo>
                  <a:pt x="0" y="69342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99062" y="3837023"/>
            <a:ext cx="1205978" cy="764046"/>
          </a:xfrm>
          <a:custGeom>
            <a:avLst/>
            <a:gdLst/>
            <a:ahLst/>
            <a:cxnLst/>
            <a:rect l="l" t="t" r="r" b="b"/>
            <a:pathLst>
              <a:path w="1031239" h="693420">
                <a:moveTo>
                  <a:pt x="0" y="693420"/>
                </a:moveTo>
                <a:lnTo>
                  <a:pt x="1031240" y="693420"/>
                </a:lnTo>
                <a:lnTo>
                  <a:pt x="1031240" y="0"/>
                </a:lnTo>
                <a:lnTo>
                  <a:pt x="0" y="0"/>
                </a:lnTo>
                <a:lnTo>
                  <a:pt x="0" y="6934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99062" y="4612264"/>
            <a:ext cx="1205978" cy="1542086"/>
          </a:xfrm>
          <a:custGeom>
            <a:avLst/>
            <a:gdLst/>
            <a:ahLst/>
            <a:cxnLst/>
            <a:rect l="l" t="t" r="r" b="b"/>
            <a:pathLst>
              <a:path w="1031239" h="1399539">
                <a:moveTo>
                  <a:pt x="0" y="1399539"/>
                </a:moveTo>
                <a:lnTo>
                  <a:pt x="1031240" y="1399539"/>
                </a:lnTo>
                <a:lnTo>
                  <a:pt x="1031240" y="0"/>
                </a:lnTo>
                <a:lnTo>
                  <a:pt x="0" y="0"/>
                </a:lnTo>
                <a:lnTo>
                  <a:pt x="0" y="1399539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699062" y="4612264"/>
            <a:ext cx="1205978" cy="1542086"/>
          </a:xfrm>
          <a:custGeom>
            <a:avLst/>
            <a:gdLst/>
            <a:ahLst/>
            <a:cxnLst/>
            <a:rect l="l" t="t" r="r" b="b"/>
            <a:pathLst>
              <a:path w="1031239" h="1399539">
                <a:moveTo>
                  <a:pt x="0" y="1399539"/>
                </a:moveTo>
                <a:lnTo>
                  <a:pt x="1031240" y="1399539"/>
                </a:lnTo>
                <a:lnTo>
                  <a:pt x="1031240" y="0"/>
                </a:lnTo>
                <a:lnTo>
                  <a:pt x="0" y="0"/>
                </a:lnTo>
                <a:lnTo>
                  <a:pt x="0" y="13995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699062" y="6165544"/>
            <a:ext cx="1205978" cy="764046"/>
          </a:xfrm>
          <a:custGeom>
            <a:avLst/>
            <a:gdLst/>
            <a:ahLst/>
            <a:cxnLst/>
            <a:rect l="l" t="t" r="r" b="b"/>
            <a:pathLst>
              <a:path w="1031239" h="693420">
                <a:moveTo>
                  <a:pt x="0" y="693419"/>
                </a:moveTo>
                <a:lnTo>
                  <a:pt x="1031240" y="693419"/>
                </a:lnTo>
                <a:lnTo>
                  <a:pt x="1031240" y="0"/>
                </a:lnTo>
                <a:lnTo>
                  <a:pt x="0" y="0"/>
                </a:lnTo>
                <a:lnTo>
                  <a:pt x="0" y="693419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699062" y="6165544"/>
            <a:ext cx="1205978" cy="764046"/>
          </a:xfrm>
          <a:custGeom>
            <a:avLst/>
            <a:gdLst/>
            <a:ahLst/>
            <a:cxnLst/>
            <a:rect l="l" t="t" r="r" b="b"/>
            <a:pathLst>
              <a:path w="1031239" h="693420">
                <a:moveTo>
                  <a:pt x="0" y="693419"/>
                </a:moveTo>
                <a:lnTo>
                  <a:pt x="1031240" y="693419"/>
                </a:lnTo>
                <a:lnTo>
                  <a:pt x="1031240" y="0"/>
                </a:lnTo>
                <a:lnTo>
                  <a:pt x="0" y="0"/>
                </a:lnTo>
                <a:lnTo>
                  <a:pt x="0" y="69341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395340" y="3299671"/>
            <a:ext cx="19530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Arial"/>
                <a:cs typeface="Arial"/>
              </a:rPr>
              <a:t>0</a:t>
            </a:r>
            <a:endParaRPr sz="23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95340" y="3966463"/>
            <a:ext cx="19530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1</a:t>
            </a:r>
            <a:endParaRPr sz="23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94467" y="6295683"/>
            <a:ext cx="362387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Arial"/>
                <a:cs typeface="Arial"/>
              </a:rPr>
              <a:t>43</a:t>
            </a:r>
            <a:endParaRPr sz="23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245613" y="5188795"/>
            <a:ext cx="68318" cy="97955"/>
          </a:xfrm>
          <a:custGeom>
            <a:avLst/>
            <a:gdLst/>
            <a:ahLst/>
            <a:cxnLst/>
            <a:rect l="l" t="t" r="r" b="b"/>
            <a:pathLst>
              <a:path w="58419" h="88900">
                <a:moveTo>
                  <a:pt x="29210" y="0"/>
                </a:moveTo>
                <a:lnTo>
                  <a:pt x="17841" y="3498"/>
                </a:lnTo>
                <a:lnTo>
                  <a:pt x="8556" y="13033"/>
                </a:lnTo>
                <a:lnTo>
                  <a:pt x="2295" y="27164"/>
                </a:lnTo>
                <a:lnTo>
                  <a:pt x="0" y="44450"/>
                </a:lnTo>
                <a:lnTo>
                  <a:pt x="2295" y="61735"/>
                </a:lnTo>
                <a:lnTo>
                  <a:pt x="8556" y="75866"/>
                </a:lnTo>
                <a:lnTo>
                  <a:pt x="17841" y="85401"/>
                </a:lnTo>
                <a:lnTo>
                  <a:pt x="29210" y="88900"/>
                </a:lnTo>
                <a:lnTo>
                  <a:pt x="40578" y="85401"/>
                </a:lnTo>
                <a:lnTo>
                  <a:pt x="49863" y="75866"/>
                </a:lnTo>
                <a:lnTo>
                  <a:pt x="56124" y="61735"/>
                </a:lnTo>
                <a:lnTo>
                  <a:pt x="58420" y="44450"/>
                </a:lnTo>
                <a:lnTo>
                  <a:pt x="56124" y="27164"/>
                </a:lnTo>
                <a:lnTo>
                  <a:pt x="49863" y="13033"/>
                </a:lnTo>
                <a:lnTo>
                  <a:pt x="40578" y="3498"/>
                </a:lnTo>
                <a:lnTo>
                  <a:pt x="292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245613" y="5188795"/>
            <a:ext cx="68318" cy="97955"/>
          </a:xfrm>
          <a:custGeom>
            <a:avLst/>
            <a:gdLst/>
            <a:ahLst/>
            <a:cxnLst/>
            <a:rect l="l" t="t" r="r" b="b"/>
            <a:pathLst>
              <a:path w="58419" h="88900">
                <a:moveTo>
                  <a:pt x="0" y="44450"/>
                </a:moveTo>
                <a:lnTo>
                  <a:pt x="2295" y="27164"/>
                </a:lnTo>
                <a:lnTo>
                  <a:pt x="8556" y="13033"/>
                </a:lnTo>
                <a:lnTo>
                  <a:pt x="17841" y="3498"/>
                </a:lnTo>
                <a:lnTo>
                  <a:pt x="29210" y="0"/>
                </a:lnTo>
                <a:lnTo>
                  <a:pt x="40578" y="3498"/>
                </a:lnTo>
                <a:lnTo>
                  <a:pt x="49863" y="13033"/>
                </a:lnTo>
                <a:lnTo>
                  <a:pt x="56124" y="27164"/>
                </a:lnTo>
                <a:lnTo>
                  <a:pt x="58420" y="44450"/>
                </a:lnTo>
                <a:lnTo>
                  <a:pt x="56124" y="61735"/>
                </a:lnTo>
                <a:lnTo>
                  <a:pt x="49863" y="75866"/>
                </a:lnTo>
                <a:lnTo>
                  <a:pt x="40578" y="85401"/>
                </a:lnTo>
                <a:lnTo>
                  <a:pt x="29210" y="88900"/>
                </a:lnTo>
                <a:lnTo>
                  <a:pt x="17841" y="85401"/>
                </a:lnTo>
                <a:lnTo>
                  <a:pt x="8556" y="75866"/>
                </a:lnTo>
                <a:lnTo>
                  <a:pt x="2295" y="61735"/>
                </a:lnTo>
                <a:lnTo>
                  <a:pt x="0" y="4445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245613" y="5390303"/>
            <a:ext cx="68318" cy="97955"/>
          </a:xfrm>
          <a:custGeom>
            <a:avLst/>
            <a:gdLst/>
            <a:ahLst/>
            <a:cxnLst/>
            <a:rect l="l" t="t" r="r" b="b"/>
            <a:pathLst>
              <a:path w="58419" h="88900">
                <a:moveTo>
                  <a:pt x="29210" y="0"/>
                </a:moveTo>
                <a:lnTo>
                  <a:pt x="17841" y="3498"/>
                </a:lnTo>
                <a:lnTo>
                  <a:pt x="8556" y="13033"/>
                </a:lnTo>
                <a:lnTo>
                  <a:pt x="2295" y="27164"/>
                </a:lnTo>
                <a:lnTo>
                  <a:pt x="0" y="44450"/>
                </a:lnTo>
                <a:lnTo>
                  <a:pt x="2295" y="61735"/>
                </a:lnTo>
                <a:lnTo>
                  <a:pt x="8556" y="75866"/>
                </a:lnTo>
                <a:lnTo>
                  <a:pt x="17841" y="85401"/>
                </a:lnTo>
                <a:lnTo>
                  <a:pt x="29210" y="88900"/>
                </a:lnTo>
                <a:lnTo>
                  <a:pt x="40578" y="85401"/>
                </a:lnTo>
                <a:lnTo>
                  <a:pt x="49863" y="75866"/>
                </a:lnTo>
                <a:lnTo>
                  <a:pt x="56124" y="61735"/>
                </a:lnTo>
                <a:lnTo>
                  <a:pt x="58420" y="44450"/>
                </a:lnTo>
                <a:lnTo>
                  <a:pt x="56124" y="27164"/>
                </a:lnTo>
                <a:lnTo>
                  <a:pt x="49863" y="13033"/>
                </a:lnTo>
                <a:lnTo>
                  <a:pt x="40578" y="3498"/>
                </a:lnTo>
                <a:lnTo>
                  <a:pt x="292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245613" y="5390303"/>
            <a:ext cx="68318" cy="97955"/>
          </a:xfrm>
          <a:custGeom>
            <a:avLst/>
            <a:gdLst/>
            <a:ahLst/>
            <a:cxnLst/>
            <a:rect l="l" t="t" r="r" b="b"/>
            <a:pathLst>
              <a:path w="58419" h="88900">
                <a:moveTo>
                  <a:pt x="0" y="44450"/>
                </a:moveTo>
                <a:lnTo>
                  <a:pt x="2295" y="27164"/>
                </a:lnTo>
                <a:lnTo>
                  <a:pt x="8556" y="13033"/>
                </a:lnTo>
                <a:lnTo>
                  <a:pt x="17841" y="3498"/>
                </a:lnTo>
                <a:lnTo>
                  <a:pt x="29210" y="0"/>
                </a:lnTo>
                <a:lnTo>
                  <a:pt x="40578" y="3498"/>
                </a:lnTo>
                <a:lnTo>
                  <a:pt x="49863" y="13033"/>
                </a:lnTo>
                <a:lnTo>
                  <a:pt x="56124" y="27164"/>
                </a:lnTo>
                <a:lnTo>
                  <a:pt x="58420" y="44450"/>
                </a:lnTo>
                <a:lnTo>
                  <a:pt x="56124" y="61735"/>
                </a:lnTo>
                <a:lnTo>
                  <a:pt x="49863" y="75866"/>
                </a:lnTo>
                <a:lnTo>
                  <a:pt x="40578" y="85401"/>
                </a:lnTo>
                <a:lnTo>
                  <a:pt x="29210" y="88900"/>
                </a:lnTo>
                <a:lnTo>
                  <a:pt x="17841" y="85401"/>
                </a:lnTo>
                <a:lnTo>
                  <a:pt x="8556" y="75866"/>
                </a:lnTo>
                <a:lnTo>
                  <a:pt x="2295" y="61735"/>
                </a:lnTo>
                <a:lnTo>
                  <a:pt x="0" y="4445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245613" y="5605803"/>
            <a:ext cx="68318" cy="97955"/>
          </a:xfrm>
          <a:custGeom>
            <a:avLst/>
            <a:gdLst/>
            <a:ahLst/>
            <a:cxnLst/>
            <a:rect l="l" t="t" r="r" b="b"/>
            <a:pathLst>
              <a:path w="58419" h="88900">
                <a:moveTo>
                  <a:pt x="29210" y="0"/>
                </a:moveTo>
                <a:lnTo>
                  <a:pt x="17841" y="3498"/>
                </a:lnTo>
                <a:lnTo>
                  <a:pt x="8556" y="13033"/>
                </a:lnTo>
                <a:lnTo>
                  <a:pt x="2295" y="27164"/>
                </a:lnTo>
                <a:lnTo>
                  <a:pt x="0" y="44449"/>
                </a:lnTo>
                <a:lnTo>
                  <a:pt x="2295" y="61735"/>
                </a:lnTo>
                <a:lnTo>
                  <a:pt x="8556" y="75866"/>
                </a:lnTo>
                <a:lnTo>
                  <a:pt x="17841" y="85401"/>
                </a:lnTo>
                <a:lnTo>
                  <a:pt x="29210" y="88899"/>
                </a:lnTo>
                <a:lnTo>
                  <a:pt x="40578" y="85401"/>
                </a:lnTo>
                <a:lnTo>
                  <a:pt x="49863" y="75866"/>
                </a:lnTo>
                <a:lnTo>
                  <a:pt x="56124" y="61735"/>
                </a:lnTo>
                <a:lnTo>
                  <a:pt x="58420" y="44449"/>
                </a:lnTo>
                <a:lnTo>
                  <a:pt x="56124" y="27164"/>
                </a:lnTo>
                <a:lnTo>
                  <a:pt x="49863" y="13033"/>
                </a:lnTo>
                <a:lnTo>
                  <a:pt x="40578" y="3498"/>
                </a:lnTo>
                <a:lnTo>
                  <a:pt x="292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245613" y="5605803"/>
            <a:ext cx="68318" cy="97955"/>
          </a:xfrm>
          <a:custGeom>
            <a:avLst/>
            <a:gdLst/>
            <a:ahLst/>
            <a:cxnLst/>
            <a:rect l="l" t="t" r="r" b="b"/>
            <a:pathLst>
              <a:path w="58419" h="88900">
                <a:moveTo>
                  <a:pt x="0" y="44449"/>
                </a:moveTo>
                <a:lnTo>
                  <a:pt x="2295" y="27164"/>
                </a:lnTo>
                <a:lnTo>
                  <a:pt x="8556" y="13033"/>
                </a:lnTo>
                <a:lnTo>
                  <a:pt x="17841" y="3498"/>
                </a:lnTo>
                <a:lnTo>
                  <a:pt x="29210" y="0"/>
                </a:lnTo>
                <a:lnTo>
                  <a:pt x="40578" y="3498"/>
                </a:lnTo>
                <a:lnTo>
                  <a:pt x="49863" y="13033"/>
                </a:lnTo>
                <a:lnTo>
                  <a:pt x="56124" y="27164"/>
                </a:lnTo>
                <a:lnTo>
                  <a:pt x="58420" y="44449"/>
                </a:lnTo>
                <a:lnTo>
                  <a:pt x="56124" y="61735"/>
                </a:lnTo>
                <a:lnTo>
                  <a:pt x="49863" y="75866"/>
                </a:lnTo>
                <a:lnTo>
                  <a:pt x="40578" y="85401"/>
                </a:lnTo>
                <a:lnTo>
                  <a:pt x="29210" y="88899"/>
                </a:lnTo>
                <a:lnTo>
                  <a:pt x="17841" y="85401"/>
                </a:lnTo>
                <a:lnTo>
                  <a:pt x="8556" y="75866"/>
                </a:lnTo>
                <a:lnTo>
                  <a:pt x="2295" y="61735"/>
                </a:lnTo>
                <a:lnTo>
                  <a:pt x="0" y="4444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26" name="object 26"/>
          <p:cNvSpPr/>
          <p:nvPr/>
        </p:nvSpPr>
        <p:spPr>
          <a:xfrm>
            <a:off x="1699062" y="3086971"/>
            <a:ext cx="1878771" cy="575833"/>
          </a:xfrm>
          <a:custGeom>
            <a:avLst/>
            <a:gdLst/>
            <a:ahLst/>
            <a:cxnLst/>
            <a:rect l="l" t="t" r="r" b="b"/>
            <a:pathLst>
              <a:path w="1606550" h="522604">
                <a:moveTo>
                  <a:pt x="0" y="0"/>
                </a:moveTo>
                <a:lnTo>
                  <a:pt x="1606550" y="522350"/>
                </a:lnTo>
              </a:path>
            </a:pathLst>
          </a:custGeom>
          <a:ln w="1016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905040" y="3064580"/>
            <a:ext cx="6987840" cy="607319"/>
          </a:xfrm>
          <a:custGeom>
            <a:avLst/>
            <a:gdLst/>
            <a:ahLst/>
            <a:cxnLst/>
            <a:rect l="l" t="t" r="r" b="b"/>
            <a:pathLst>
              <a:path w="5975350" h="551179">
                <a:moveTo>
                  <a:pt x="0" y="0"/>
                </a:moveTo>
                <a:lnTo>
                  <a:pt x="5975350" y="550926"/>
                </a:lnTo>
              </a:path>
            </a:pathLst>
          </a:custGeom>
          <a:ln w="1016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699062" y="3837023"/>
            <a:ext cx="1893623" cy="1845745"/>
          </a:xfrm>
          <a:custGeom>
            <a:avLst/>
            <a:gdLst/>
            <a:ahLst/>
            <a:cxnLst/>
            <a:rect l="l" t="t" r="r" b="b"/>
            <a:pathLst>
              <a:path w="1619250" h="1675129">
                <a:moveTo>
                  <a:pt x="0" y="0"/>
                </a:moveTo>
                <a:lnTo>
                  <a:pt x="1619250" y="1674876"/>
                </a:lnTo>
              </a:path>
            </a:pathLst>
          </a:custGeom>
          <a:ln w="1016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88625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1462" y="5860485"/>
            <a:ext cx="6929917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642"/>
              <a:buChar char="•"/>
              <a:tabLst>
                <a:tab pos="535874" algn="l"/>
                <a:tab pos="536597" algn="l"/>
              </a:tabLst>
            </a:pPr>
            <a:r>
              <a:rPr sz="3200" dirty="0">
                <a:latin typeface="Arial"/>
                <a:cs typeface="Arial"/>
              </a:rPr>
              <a:t>Declaração do vetor de</a:t>
            </a:r>
            <a:r>
              <a:rPr sz="3200" spc="-2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estruturas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93150" y="2166197"/>
            <a:ext cx="3104056" cy="3086970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6208" rIns="0" bIns="0" rtlCol="0">
            <a:spAutoFit/>
          </a:bodyPr>
          <a:lstStyle/>
          <a:p>
            <a:pPr marL="99209">
              <a:spcBef>
                <a:spcPts val="285"/>
              </a:spcBef>
            </a:pP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b="1" spc="-86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>
              <a:latin typeface="Courier New"/>
              <a:cs typeface="Courier New"/>
            </a:endParaRPr>
          </a:p>
          <a:p>
            <a:pPr marL="99209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b="1" spc="-8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50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numero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377284" marR="261420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pc="-6" dirty="0">
                <a:latin typeface="Courier New"/>
                <a:cs typeface="Courier New"/>
              </a:rPr>
              <a:t>origem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20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pc="-6" dirty="0">
                <a:latin typeface="Courier New"/>
                <a:cs typeface="Courier New"/>
              </a:rPr>
              <a:t>destino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20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pc="-6" dirty="0">
                <a:latin typeface="Courier New"/>
                <a:cs typeface="Courier New"/>
              </a:rPr>
              <a:t>data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pc="-6" dirty="0">
                <a:latin typeface="Courier New"/>
                <a:cs typeface="Courier New"/>
              </a:rPr>
              <a:t>horario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5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pc="-6" dirty="0">
                <a:latin typeface="Courier New"/>
                <a:cs typeface="Courier New"/>
              </a:rPr>
              <a:t>poltrona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float</a:t>
            </a:r>
            <a:r>
              <a:rPr b="1" spc="-6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distancia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99209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Passagem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56484" y="6596544"/>
            <a:ext cx="7547758" cy="503411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10862" rIns="0" bIns="0" rtlCol="0">
            <a:spAutoFit/>
          </a:bodyPr>
          <a:lstStyle/>
          <a:p>
            <a:pPr marL="396112">
              <a:spcBef>
                <a:spcPts val="86"/>
              </a:spcBef>
            </a:pPr>
            <a:r>
              <a:rPr sz="3200" spc="-6" dirty="0">
                <a:latin typeface="Courier New"/>
                <a:cs typeface="Courier New"/>
              </a:rPr>
              <a:t>Passagem</a:t>
            </a:r>
            <a:r>
              <a:rPr sz="3200" spc="-114" dirty="0">
                <a:latin typeface="Courier New"/>
                <a:cs typeface="Courier New"/>
              </a:rPr>
              <a:t> </a:t>
            </a:r>
            <a:r>
              <a:rPr sz="3200" spc="-6" dirty="0">
                <a:latin typeface="Courier New"/>
                <a:cs typeface="Courier New"/>
              </a:rPr>
              <a:t>dadosPassagem</a:t>
            </a:r>
            <a:r>
              <a:rPr sz="32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3200" spc="-6" dirty="0">
                <a:solidFill>
                  <a:srgbClr val="EF00EF"/>
                </a:solidFill>
                <a:latin typeface="Courier New"/>
                <a:cs typeface="Courier New"/>
              </a:rPr>
              <a:t>44</a:t>
            </a:r>
            <a:r>
              <a:rPr sz="32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0745" y="1041398"/>
            <a:ext cx="4731087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642"/>
              <a:buChar char="•"/>
              <a:tabLst>
                <a:tab pos="535874" algn="l"/>
                <a:tab pos="536597" algn="l"/>
              </a:tabLst>
            </a:pPr>
            <a:r>
              <a:rPr sz="3200" spc="-6" dirty="0">
                <a:latin typeface="Arial"/>
                <a:cs typeface="Arial"/>
              </a:rPr>
              <a:t>Definição da</a:t>
            </a:r>
            <a:r>
              <a:rPr sz="3200" spc="2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0968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1462" y="1438533"/>
            <a:ext cx="6929917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642"/>
              <a:buChar char="•"/>
              <a:tabLst>
                <a:tab pos="535874" algn="l"/>
                <a:tab pos="536597" algn="l"/>
              </a:tabLst>
            </a:pPr>
            <a:r>
              <a:rPr sz="3200" dirty="0">
                <a:latin typeface="Arial"/>
                <a:cs typeface="Arial"/>
              </a:rPr>
              <a:t>Declaração do vetor de</a:t>
            </a:r>
            <a:r>
              <a:rPr sz="3200" spc="-2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estruturas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56484" y="2177391"/>
            <a:ext cx="7547758" cy="500486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7966" rIns="0" bIns="0" rtlCol="0">
            <a:spAutoFit/>
          </a:bodyPr>
          <a:lstStyle/>
          <a:p>
            <a:pPr marL="396112">
              <a:spcBef>
                <a:spcPts val="63"/>
              </a:spcBef>
            </a:pPr>
            <a:r>
              <a:rPr sz="3200" b="1" spc="-6" dirty="0">
                <a:latin typeface="Courier New"/>
                <a:cs typeface="Courier New"/>
              </a:rPr>
              <a:t>Passagem</a:t>
            </a:r>
            <a:r>
              <a:rPr sz="3200" b="1" spc="-114" dirty="0">
                <a:latin typeface="Courier New"/>
                <a:cs typeface="Courier New"/>
              </a:rPr>
              <a:t> </a:t>
            </a:r>
            <a:r>
              <a:rPr sz="3200" b="1" spc="-6" dirty="0">
                <a:latin typeface="Courier New"/>
                <a:cs typeface="Courier New"/>
              </a:rPr>
              <a:t>dadosPassagem</a:t>
            </a:r>
            <a:r>
              <a:rPr sz="3200" b="1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3200" b="1" spc="-6" dirty="0">
                <a:solidFill>
                  <a:srgbClr val="EF00EF"/>
                </a:solidFill>
                <a:latin typeface="Courier New"/>
                <a:cs typeface="Courier New"/>
              </a:rPr>
              <a:t>44</a:t>
            </a:r>
            <a:r>
              <a:rPr sz="3200" b="1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0745" y="3417917"/>
            <a:ext cx="7716327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buClr>
                <a:srgbClr val="852B34"/>
              </a:buClr>
              <a:buSzPct val="69642"/>
              <a:buChar char="•"/>
              <a:tabLst>
                <a:tab pos="535874" algn="l"/>
                <a:tab pos="536597" algn="l"/>
              </a:tabLst>
            </a:pPr>
            <a:r>
              <a:rPr sz="3200" dirty="0">
                <a:latin typeface="Arial"/>
                <a:cs typeface="Arial"/>
              </a:rPr>
              <a:t>Observe </a:t>
            </a:r>
            <a:r>
              <a:rPr sz="3200" spc="-6" dirty="0">
                <a:latin typeface="Arial"/>
                <a:cs typeface="Arial"/>
              </a:rPr>
              <a:t>que cada </a:t>
            </a:r>
            <a:r>
              <a:rPr sz="3200" dirty="0">
                <a:latin typeface="Arial"/>
                <a:cs typeface="Arial"/>
              </a:rPr>
              <a:t>posição </a:t>
            </a:r>
            <a:r>
              <a:rPr sz="3200" spc="-6" dirty="0">
                <a:latin typeface="Arial"/>
                <a:cs typeface="Arial"/>
              </a:rPr>
              <a:t>do </a:t>
            </a:r>
            <a:r>
              <a:rPr sz="3200" spc="6" dirty="0">
                <a:latin typeface="Arial"/>
                <a:cs typeface="Arial"/>
              </a:rPr>
              <a:t>vetor</a:t>
            </a:r>
            <a:r>
              <a:rPr sz="3200" spc="-23" dirty="0">
                <a:latin typeface="Arial"/>
                <a:cs typeface="Arial"/>
              </a:rPr>
              <a:t> </a:t>
            </a:r>
            <a:r>
              <a:rPr sz="3200" spc="-6" dirty="0">
                <a:latin typeface="Arial"/>
                <a:cs typeface="Arial"/>
              </a:rPr>
              <a:t>de  </a:t>
            </a:r>
            <a:r>
              <a:rPr sz="3200" dirty="0">
                <a:latin typeface="Arial"/>
                <a:cs typeface="Arial"/>
              </a:rPr>
              <a:t>estruturas pode ser vista como uma  variável </a:t>
            </a:r>
            <a:r>
              <a:rPr sz="3200" spc="-6" dirty="0">
                <a:latin typeface="Arial"/>
                <a:cs typeface="Arial"/>
              </a:rPr>
              <a:t>do </a:t>
            </a:r>
            <a:r>
              <a:rPr sz="3200" dirty="0">
                <a:latin typeface="Arial"/>
                <a:cs typeface="Arial"/>
              </a:rPr>
              <a:t>tipo</a:t>
            </a:r>
            <a:r>
              <a:rPr sz="3200" spc="-7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Passagem.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65395" y="5127224"/>
            <a:ext cx="7907175" cy="995122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10138" rIns="0" bIns="0" rtlCol="0">
            <a:spAutoFit/>
          </a:bodyPr>
          <a:lstStyle/>
          <a:p>
            <a:pPr marL="97761" marR="302696">
              <a:spcBef>
                <a:spcPts val="80"/>
              </a:spcBef>
            </a:pPr>
            <a:r>
              <a:rPr sz="3200" spc="-6" dirty="0">
                <a:latin typeface="Courier New"/>
                <a:cs typeface="Courier New"/>
              </a:rPr>
              <a:t>Passagem p</a:t>
            </a:r>
            <a:r>
              <a:rPr sz="32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3200" spc="-11" dirty="0">
                <a:latin typeface="Courier New"/>
                <a:cs typeface="Courier New"/>
              </a:rPr>
              <a:t>dadosPassagem</a:t>
            </a:r>
            <a:r>
              <a:rPr sz="32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3200" spc="-11" dirty="0">
                <a:solidFill>
                  <a:srgbClr val="EF00EF"/>
                </a:solidFill>
                <a:latin typeface="Courier New"/>
                <a:cs typeface="Courier New"/>
              </a:rPr>
              <a:t>44</a:t>
            </a:r>
            <a:r>
              <a:rPr sz="3200" spc="-11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3200" dirty="0">
                <a:latin typeface="Courier New"/>
                <a:cs typeface="Courier New"/>
              </a:rPr>
              <a:t>p </a:t>
            </a:r>
            <a:r>
              <a:rPr sz="32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3200" spc="-86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3200" spc="-11" dirty="0">
                <a:latin typeface="Courier New"/>
                <a:cs typeface="Courier New"/>
              </a:rPr>
              <a:t>dadosPassagem</a:t>
            </a:r>
            <a:r>
              <a:rPr sz="32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3200" spc="-11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32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32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782113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3" name="object 3"/>
          <p:cNvSpPr/>
          <p:nvPr/>
        </p:nvSpPr>
        <p:spPr>
          <a:xfrm>
            <a:off x="546550" y="2622384"/>
            <a:ext cx="9683468" cy="4172867"/>
          </a:xfrm>
          <a:custGeom>
            <a:avLst/>
            <a:gdLst/>
            <a:ahLst/>
            <a:cxnLst/>
            <a:rect l="l" t="t" r="r" b="b"/>
            <a:pathLst>
              <a:path w="8280400" h="3787140">
                <a:moveTo>
                  <a:pt x="0" y="3787140"/>
                </a:moveTo>
                <a:lnTo>
                  <a:pt x="8280400" y="3787140"/>
                </a:lnTo>
                <a:lnTo>
                  <a:pt x="8280400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46550" y="2622384"/>
            <a:ext cx="9683468" cy="4172867"/>
          </a:xfrm>
          <a:custGeom>
            <a:avLst/>
            <a:gdLst/>
            <a:ahLst/>
            <a:cxnLst/>
            <a:rect l="l" t="t" r="r" b="b"/>
            <a:pathLst>
              <a:path w="8280400" h="3787140">
                <a:moveTo>
                  <a:pt x="0" y="3787140"/>
                </a:moveTo>
                <a:lnTo>
                  <a:pt x="8280400" y="3787140"/>
                </a:lnTo>
                <a:lnTo>
                  <a:pt x="8280400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05347" y="1354572"/>
            <a:ext cx="9259445" cy="51526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1044229" indent="-521391">
              <a:buClr>
                <a:srgbClr val="852B34"/>
              </a:buClr>
              <a:buSzPct val="69642"/>
              <a:buChar char="•"/>
              <a:tabLst>
                <a:tab pos="521391" algn="l"/>
                <a:tab pos="536597" algn="l"/>
              </a:tabLst>
            </a:pPr>
            <a:r>
              <a:rPr sz="3200" spc="-6" dirty="0">
                <a:latin typeface="Arial"/>
                <a:cs typeface="Arial"/>
              </a:rPr>
              <a:t>Em </a:t>
            </a:r>
            <a:r>
              <a:rPr sz="3200" dirty="0">
                <a:latin typeface="Arial"/>
                <a:cs typeface="Arial"/>
              </a:rPr>
              <a:t>cada posição do </a:t>
            </a:r>
            <a:r>
              <a:rPr sz="3200" spc="-29" dirty="0">
                <a:latin typeface="Arial"/>
                <a:cs typeface="Arial"/>
              </a:rPr>
              <a:t>vetor, </a:t>
            </a:r>
            <a:r>
              <a:rPr sz="3200" dirty="0">
                <a:latin typeface="Arial"/>
                <a:cs typeface="Arial"/>
              </a:rPr>
              <a:t>os campos</a:t>
            </a:r>
            <a:r>
              <a:rPr sz="3200" spc="-3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de</a:t>
            </a:r>
            <a:endParaRPr sz="3200">
              <a:latin typeface="Arial"/>
              <a:cs typeface="Arial"/>
            </a:endParaRPr>
          </a:p>
          <a:p>
            <a:pPr marL="535874"/>
            <a:r>
              <a:rPr sz="3200" spc="-6" dirty="0">
                <a:latin typeface="Arial"/>
                <a:cs typeface="Arial"/>
              </a:rPr>
              <a:t>Passagem </a:t>
            </a:r>
            <a:r>
              <a:rPr sz="3200" dirty="0">
                <a:latin typeface="Arial"/>
                <a:cs typeface="Arial"/>
              </a:rPr>
              <a:t>podem </a:t>
            </a:r>
            <a:r>
              <a:rPr sz="3200" spc="-6" dirty="0">
                <a:latin typeface="Arial"/>
                <a:cs typeface="Arial"/>
              </a:rPr>
              <a:t>ser</a:t>
            </a:r>
            <a:r>
              <a:rPr sz="3200" spc="11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acessados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200">
              <a:latin typeface="Times New Roman"/>
              <a:cs typeface="Times New Roman"/>
            </a:endParaRPr>
          </a:p>
          <a:p>
            <a:pPr marL="478665">
              <a:spcBef>
                <a:spcPts val="2543"/>
              </a:spcBef>
            </a:pPr>
            <a:r>
              <a:rPr sz="2700" spc="-6" dirty="0">
                <a:latin typeface="Courier New"/>
                <a:cs typeface="Courier New"/>
              </a:rPr>
              <a:t>Passagem</a:t>
            </a:r>
            <a:r>
              <a:rPr sz="2700" spc="-63" dirty="0">
                <a:latin typeface="Courier New"/>
                <a:cs typeface="Courier New"/>
              </a:rPr>
              <a:t> 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44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  <a:p>
            <a:pPr>
              <a:spcBef>
                <a:spcPts val="6"/>
              </a:spcBef>
            </a:pPr>
            <a:endParaRPr sz="2900">
              <a:latin typeface="Times New Roman"/>
              <a:cs typeface="Times New Roman"/>
            </a:endParaRPr>
          </a:p>
          <a:p>
            <a:pPr marL="478665"/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numero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700" spc="-3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  <a:p>
            <a:pPr marL="478665" marR="5793"/>
            <a:r>
              <a:rPr sz="2700" spc="-6" dirty="0">
                <a:latin typeface="Courier New"/>
                <a:cs typeface="Courier New"/>
              </a:rPr>
              <a:t>scanf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&amp;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distancia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700" spc="-11" dirty="0">
                <a:latin typeface="Courier New"/>
                <a:cs typeface="Courier New"/>
              </a:rPr>
              <a:t>gets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origem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700" spc="-11" dirty="0">
                <a:latin typeface="Courier New"/>
                <a:cs typeface="Courier New"/>
              </a:rPr>
              <a:t>gets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destino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700" b="1" spc="-11" dirty="0">
                <a:solidFill>
                  <a:srgbClr val="00009F"/>
                </a:solidFill>
                <a:latin typeface="Courier New"/>
                <a:cs typeface="Courier New"/>
              </a:rPr>
              <a:t>if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distancia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&gt;</a:t>
            </a:r>
            <a:r>
              <a:rPr sz="2700" spc="2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solidFill>
                  <a:srgbClr val="EF00EF"/>
                </a:solidFill>
                <a:latin typeface="Courier New"/>
                <a:cs typeface="Courier New"/>
              </a:rPr>
              <a:t>50.0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700">
              <a:latin typeface="Courier New"/>
              <a:cs typeface="Courier New"/>
            </a:endParaRPr>
          </a:p>
          <a:p>
            <a:pPr marR="980505" algn="ctr"/>
            <a:r>
              <a:rPr sz="2700" spc="-11" dirty="0">
                <a:latin typeface="Courier New"/>
                <a:cs typeface="Courier New"/>
              </a:rPr>
              <a:t>puts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nome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7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002625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5346" y="1354572"/>
            <a:ext cx="8178966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642"/>
              <a:buChar char="•"/>
              <a:tabLst>
                <a:tab pos="535874" algn="l"/>
                <a:tab pos="536597" algn="l"/>
              </a:tabLst>
            </a:pPr>
            <a:r>
              <a:rPr sz="3200" spc="-6" dirty="0">
                <a:latin typeface="Arial"/>
                <a:cs typeface="Arial"/>
              </a:rPr>
              <a:t>Em </a:t>
            </a:r>
            <a:r>
              <a:rPr sz="3200" dirty="0">
                <a:latin typeface="Arial"/>
                <a:cs typeface="Arial"/>
              </a:rPr>
              <a:t>cada posição do </a:t>
            </a:r>
            <a:r>
              <a:rPr sz="3200" spc="-29" dirty="0">
                <a:latin typeface="Arial"/>
                <a:cs typeface="Arial"/>
              </a:rPr>
              <a:t>vetor, </a:t>
            </a:r>
            <a:r>
              <a:rPr sz="3200" dirty="0">
                <a:latin typeface="Arial"/>
                <a:cs typeface="Arial"/>
              </a:rPr>
              <a:t>os campos</a:t>
            </a:r>
            <a:r>
              <a:rPr sz="3200" spc="-3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de</a:t>
            </a:r>
            <a:endParaRPr sz="3200">
              <a:latin typeface="Arial"/>
              <a:cs typeface="Arial"/>
            </a:endParaRPr>
          </a:p>
          <a:p>
            <a:pPr marL="535874"/>
            <a:r>
              <a:rPr sz="3200" spc="-6" dirty="0">
                <a:latin typeface="Arial"/>
                <a:cs typeface="Arial"/>
              </a:rPr>
              <a:t>Passagem </a:t>
            </a:r>
            <a:r>
              <a:rPr sz="3200" dirty="0">
                <a:latin typeface="Arial"/>
                <a:cs typeface="Arial"/>
              </a:rPr>
              <a:t>podem </a:t>
            </a:r>
            <a:r>
              <a:rPr sz="3200" spc="-6" dirty="0">
                <a:latin typeface="Arial"/>
                <a:cs typeface="Arial"/>
              </a:rPr>
              <a:t>ser</a:t>
            </a:r>
            <a:r>
              <a:rPr sz="3200" spc="11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acessados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/>
          <p:nvPr/>
        </p:nvSpPr>
        <p:spPr>
          <a:xfrm>
            <a:off x="546550" y="2622384"/>
            <a:ext cx="9683468" cy="4172867"/>
          </a:xfrm>
          <a:custGeom>
            <a:avLst/>
            <a:gdLst/>
            <a:ahLst/>
            <a:cxnLst/>
            <a:rect l="l" t="t" r="r" b="b"/>
            <a:pathLst>
              <a:path w="8280400" h="3787140">
                <a:moveTo>
                  <a:pt x="0" y="3787140"/>
                </a:moveTo>
                <a:lnTo>
                  <a:pt x="8280400" y="3787140"/>
                </a:lnTo>
                <a:lnTo>
                  <a:pt x="8280400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46550" y="2622384"/>
            <a:ext cx="9683468" cy="4172867"/>
          </a:xfrm>
          <a:custGeom>
            <a:avLst/>
            <a:gdLst/>
            <a:ahLst/>
            <a:cxnLst/>
            <a:rect l="l" t="t" r="r" b="b"/>
            <a:pathLst>
              <a:path w="8280400" h="3787140">
                <a:moveTo>
                  <a:pt x="0" y="3787140"/>
                </a:moveTo>
                <a:lnTo>
                  <a:pt x="8280400" y="3787140"/>
                </a:lnTo>
                <a:lnTo>
                  <a:pt x="8280400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40118" y="2654990"/>
            <a:ext cx="1740648" cy="842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3284"/>
              </a:lnSpc>
            </a:pPr>
            <a:r>
              <a:rPr sz="2700" spc="-6" dirty="0">
                <a:latin typeface="Courier New"/>
                <a:cs typeface="Courier New"/>
              </a:rPr>
              <a:t>int</a:t>
            </a:r>
            <a:r>
              <a:rPr sz="2700" spc="-108" dirty="0"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i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  <a:p>
            <a:pPr marL="14483"/>
            <a:r>
              <a:rPr sz="2700" spc="-6" dirty="0">
                <a:latin typeface="Courier New"/>
                <a:cs typeface="Courier New"/>
              </a:rPr>
              <a:t>Passagem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65375" y="3057863"/>
            <a:ext cx="3868932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44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0118" y="3461297"/>
            <a:ext cx="3233268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for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( </a:t>
            </a:r>
            <a:r>
              <a:rPr sz="2700" spc="-6" dirty="0">
                <a:latin typeface="Courier New"/>
                <a:cs typeface="Courier New"/>
              </a:rPr>
              <a:t>i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7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7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11" dirty="0">
                <a:latin typeface="Courier New"/>
                <a:cs typeface="Courier New"/>
              </a:rPr>
              <a:t>i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&lt;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44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56808" y="3461297"/>
            <a:ext cx="1527522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latin typeface="Courier New"/>
                <a:cs typeface="Courier New"/>
              </a:rPr>
              <a:t>i++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r>
              <a:rPr sz="27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0118" y="3864310"/>
            <a:ext cx="9424300" cy="2908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9428"/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latin typeface="Courier New"/>
                <a:cs typeface="Courier New"/>
              </a:rPr>
              <a:t>i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numero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700" spc="-3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i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  <a:p>
            <a:pPr marL="639428" marR="5793"/>
            <a:r>
              <a:rPr sz="2700" spc="-6" dirty="0">
                <a:latin typeface="Courier New"/>
                <a:cs typeface="Courier New"/>
              </a:rPr>
              <a:t>scanf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&amp;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latin typeface="Courier New"/>
                <a:cs typeface="Courier New"/>
              </a:rPr>
              <a:t>i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distancia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700" spc="-11" dirty="0">
                <a:latin typeface="Courier New"/>
                <a:cs typeface="Courier New"/>
              </a:rPr>
              <a:t>gets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latin typeface="Courier New"/>
                <a:cs typeface="Courier New"/>
              </a:rPr>
              <a:t>i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origem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700" spc="-11" dirty="0">
                <a:latin typeface="Courier New"/>
                <a:cs typeface="Courier New"/>
              </a:rPr>
              <a:t>gets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latin typeface="Courier New"/>
                <a:cs typeface="Courier New"/>
              </a:rPr>
              <a:t>i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destino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700" b="1" spc="-11" dirty="0">
                <a:solidFill>
                  <a:srgbClr val="00009F"/>
                </a:solidFill>
                <a:latin typeface="Courier New"/>
                <a:cs typeface="Courier New"/>
              </a:rPr>
              <a:t>if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latin typeface="Courier New"/>
                <a:cs typeface="Courier New"/>
              </a:rPr>
              <a:t>i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distancia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&gt;</a:t>
            </a:r>
            <a:r>
              <a:rPr sz="2700" spc="2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solidFill>
                  <a:srgbClr val="EF00EF"/>
                </a:solidFill>
                <a:latin typeface="Courier New"/>
                <a:cs typeface="Courier New"/>
              </a:rPr>
              <a:t>50.0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700">
              <a:latin typeface="Courier New"/>
              <a:cs typeface="Courier New"/>
            </a:endParaRPr>
          </a:p>
          <a:p>
            <a:pPr marL="1265821"/>
            <a:r>
              <a:rPr sz="2700" spc="-11" dirty="0">
                <a:latin typeface="Courier New"/>
                <a:cs typeface="Courier New"/>
              </a:rPr>
              <a:t>puts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latin typeface="Courier New"/>
                <a:cs typeface="Courier New"/>
              </a:rPr>
              <a:t>i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nome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700">
              <a:latin typeface="Courier New"/>
              <a:cs typeface="Courier New"/>
            </a:endParaRPr>
          </a:p>
          <a:p>
            <a:pPr marL="14483"/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7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771026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7202" y="3788746"/>
            <a:ext cx="8770815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230"/>
              <a:buChar char="•"/>
              <a:tabLst>
                <a:tab pos="535874" algn="l"/>
                <a:tab pos="536597" algn="l"/>
              </a:tabLst>
            </a:pPr>
            <a:r>
              <a:rPr sz="3000" spc="-6" dirty="0">
                <a:latin typeface="Arial"/>
                <a:cs typeface="Arial"/>
              </a:rPr>
              <a:t>Pode-se inicializar um vetor de estruturas</a:t>
            </a:r>
            <a:r>
              <a:rPr sz="3000" spc="165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no</a:t>
            </a:r>
            <a:endParaRPr sz="3000">
              <a:latin typeface="Arial"/>
              <a:cs typeface="Arial"/>
            </a:endParaRPr>
          </a:p>
          <a:p>
            <a:pPr marL="535874"/>
            <a:r>
              <a:rPr sz="3000" spc="-11" dirty="0">
                <a:latin typeface="Arial"/>
                <a:cs typeface="Arial"/>
              </a:rPr>
              <a:t>momento </a:t>
            </a:r>
            <a:r>
              <a:rPr sz="3000" dirty="0">
                <a:latin typeface="Arial"/>
                <a:cs typeface="Arial"/>
              </a:rPr>
              <a:t>de </a:t>
            </a:r>
            <a:r>
              <a:rPr sz="3000" spc="-6" dirty="0">
                <a:latin typeface="Arial"/>
                <a:cs typeface="Arial"/>
              </a:rPr>
              <a:t>sua criação como </a:t>
            </a:r>
            <a:r>
              <a:rPr sz="3000" dirty="0">
                <a:latin typeface="Arial"/>
                <a:cs typeface="Arial"/>
              </a:rPr>
              <a:t>o </a:t>
            </a:r>
            <a:r>
              <a:rPr sz="3000" spc="-6" dirty="0">
                <a:latin typeface="Arial"/>
                <a:cs typeface="Arial"/>
              </a:rPr>
              <a:t>código</a:t>
            </a:r>
            <a:r>
              <a:rPr sz="3000" spc="137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abaixo:</a:t>
            </a:r>
            <a:endParaRPr sz="3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Inicialização de</a:t>
            </a:r>
            <a:r>
              <a:rPr spc="-80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51564" y="1444130"/>
            <a:ext cx="4785297" cy="1967489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20276" rIns="0" bIns="0" rtlCol="0">
            <a:spAutoFit/>
          </a:bodyPr>
          <a:lstStyle/>
          <a:p>
            <a:pPr marL="97761">
              <a:spcBef>
                <a:spcPts val="160"/>
              </a:spcBef>
            </a:pPr>
            <a:r>
              <a:rPr sz="25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2500" b="1" spc="-6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5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500">
              <a:latin typeface="Courier New"/>
              <a:cs typeface="Courier New"/>
            </a:endParaRPr>
          </a:p>
          <a:p>
            <a:pPr marL="97761"/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500">
              <a:latin typeface="Courier New"/>
              <a:cs typeface="Courier New"/>
            </a:endParaRPr>
          </a:p>
          <a:p>
            <a:pPr marL="480114"/>
            <a:r>
              <a:rPr sz="25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500" b="1" spc="-8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latin typeface="Courier New"/>
                <a:cs typeface="Courier New"/>
              </a:rPr>
              <a:t>codigo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500">
              <a:latin typeface="Courier New"/>
              <a:cs typeface="Courier New"/>
            </a:endParaRPr>
          </a:p>
          <a:p>
            <a:pPr marL="480114"/>
            <a:r>
              <a:rPr sz="2500" b="1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500" b="1" spc="-8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latin typeface="Courier New"/>
                <a:cs typeface="Courier New"/>
              </a:rPr>
              <a:t>descricao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120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500">
              <a:latin typeface="Courier New"/>
              <a:cs typeface="Courier New"/>
            </a:endParaRPr>
          </a:p>
          <a:p>
            <a:pPr marL="97761">
              <a:spcBef>
                <a:spcPts val="46"/>
              </a:spcBef>
            </a:pP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500" spc="-86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500" spc="-6" dirty="0">
                <a:latin typeface="Courier New"/>
                <a:cs typeface="Courier New"/>
              </a:rPr>
              <a:t>produto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51518" y="5096439"/>
            <a:ext cx="9249790" cy="1220235"/>
          </a:xfrm>
          <a:custGeom>
            <a:avLst/>
            <a:gdLst/>
            <a:ahLst/>
            <a:cxnLst/>
            <a:rect l="l" t="t" r="r" b="b"/>
            <a:pathLst>
              <a:path w="7909559" h="1107439">
                <a:moveTo>
                  <a:pt x="0" y="1107440"/>
                </a:moveTo>
                <a:lnTo>
                  <a:pt x="7909559" y="1107440"/>
                </a:lnTo>
                <a:lnTo>
                  <a:pt x="7909559" y="0"/>
                </a:lnTo>
                <a:lnTo>
                  <a:pt x="0" y="0"/>
                </a:lnTo>
                <a:lnTo>
                  <a:pt x="0" y="110744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51518" y="5096439"/>
            <a:ext cx="9249790" cy="1220235"/>
          </a:xfrm>
          <a:custGeom>
            <a:avLst/>
            <a:gdLst/>
            <a:ahLst/>
            <a:cxnLst/>
            <a:rect l="l" t="t" r="r" b="b"/>
            <a:pathLst>
              <a:path w="7909559" h="1107439">
                <a:moveTo>
                  <a:pt x="0" y="1107440"/>
                </a:moveTo>
                <a:lnTo>
                  <a:pt x="7909559" y="1107440"/>
                </a:lnTo>
                <a:lnTo>
                  <a:pt x="7909559" y="0"/>
                </a:lnTo>
                <a:lnTo>
                  <a:pt x="0" y="0"/>
                </a:lnTo>
                <a:lnTo>
                  <a:pt x="0" y="11074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9936" y="5117431"/>
            <a:ext cx="3934279" cy="3897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500" spc="-6" dirty="0">
                <a:latin typeface="Courier New"/>
                <a:cs typeface="Courier New"/>
              </a:rPr>
              <a:t>produto </a:t>
            </a:r>
            <a:r>
              <a:rPr sz="2500" dirty="0">
                <a:latin typeface="Courier New"/>
                <a:cs typeface="Courier New"/>
              </a:rPr>
              <a:t>estoque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6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]</a:t>
            </a:r>
            <a:r>
              <a:rPr sz="2500" spc="-5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93114" y="5117430"/>
            <a:ext cx="1376033" cy="11541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{{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235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endParaRPr sz="2500">
              <a:latin typeface="Courier New"/>
              <a:cs typeface="Courier New"/>
            </a:endParaRPr>
          </a:p>
          <a:p>
            <a:pPr marL="190453"/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r>
              <a:rPr sz="2500" spc="17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5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5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},</a:t>
            </a:r>
            <a:endParaRPr sz="2500">
              <a:latin typeface="Courier New"/>
              <a:cs typeface="Courier New"/>
            </a:endParaRPr>
          </a:p>
          <a:p>
            <a:pPr marL="193349">
              <a:spcBef>
                <a:spcPts val="46"/>
              </a:spcBef>
            </a:pP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r>
              <a:rPr sz="2500" spc="-6" dirty="0">
                <a:solidFill>
                  <a:srgbClr val="EF00EF"/>
                </a:solidFill>
                <a:latin typeface="Courier New"/>
                <a:cs typeface="Courier New"/>
              </a:rPr>
              <a:t>515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71494" y="5117430"/>
            <a:ext cx="3345400" cy="11695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500" dirty="0">
                <a:solidFill>
                  <a:srgbClr val="0000FF"/>
                </a:solidFill>
                <a:latin typeface="Courier New"/>
                <a:cs typeface="Courier New"/>
              </a:rPr>
              <a:t>"Teclado</a:t>
            </a:r>
            <a:r>
              <a:rPr sz="2500" spc="-103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solidFill>
                  <a:srgbClr val="0000FF"/>
                </a:solidFill>
                <a:latin typeface="Courier New"/>
                <a:cs typeface="Courier New"/>
              </a:rPr>
              <a:t>USB"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},</a:t>
            </a:r>
            <a:endParaRPr sz="2500">
              <a:latin typeface="Courier New"/>
              <a:cs typeface="Courier New"/>
            </a:endParaRPr>
          </a:p>
          <a:p>
            <a:pPr>
              <a:spcBef>
                <a:spcPts val="40"/>
              </a:spcBef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sz="2500" spc="-6" dirty="0">
                <a:solidFill>
                  <a:srgbClr val="0000FF"/>
                </a:solidFill>
                <a:latin typeface="Courier New"/>
                <a:cs typeface="Courier New"/>
              </a:rPr>
              <a:t>"Memoria DDR"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} };</a:t>
            </a:r>
            <a:endParaRPr sz="25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981163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8809" y="3550855"/>
            <a:ext cx="919558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 algn="just">
              <a:buClr>
                <a:srgbClr val="852B34"/>
              </a:buClr>
              <a:buSzPct val="69230"/>
              <a:buChar char="•"/>
              <a:tabLst>
                <a:tab pos="535874" algn="l"/>
              </a:tabLst>
            </a:pPr>
            <a:r>
              <a:rPr sz="3000" dirty="0">
                <a:latin typeface="Arial"/>
                <a:cs typeface="Arial"/>
              </a:rPr>
              <a:t>Se </a:t>
            </a:r>
            <a:r>
              <a:rPr sz="3000" spc="-6" dirty="0">
                <a:latin typeface="Arial"/>
                <a:cs typeface="Arial"/>
              </a:rPr>
              <a:t>o </a:t>
            </a:r>
            <a:r>
              <a:rPr sz="3000" spc="-11" dirty="0">
                <a:latin typeface="Arial"/>
                <a:cs typeface="Arial"/>
              </a:rPr>
              <a:t>número </a:t>
            </a:r>
            <a:r>
              <a:rPr sz="3000" spc="-6" dirty="0">
                <a:latin typeface="Arial"/>
                <a:cs typeface="Arial"/>
              </a:rPr>
              <a:t>de elementos </a:t>
            </a:r>
            <a:r>
              <a:rPr sz="3000" dirty="0">
                <a:latin typeface="Arial"/>
                <a:cs typeface="Arial"/>
              </a:rPr>
              <a:t>inicializados for </a:t>
            </a:r>
            <a:r>
              <a:rPr sz="3000" spc="-6" dirty="0">
                <a:latin typeface="Arial"/>
                <a:cs typeface="Arial"/>
              </a:rPr>
              <a:t>menor  que </a:t>
            </a:r>
            <a:r>
              <a:rPr sz="3000" dirty="0">
                <a:latin typeface="Arial"/>
                <a:cs typeface="Arial"/>
              </a:rPr>
              <a:t>os </a:t>
            </a:r>
            <a:r>
              <a:rPr sz="3000" spc="-6" dirty="0">
                <a:latin typeface="Arial"/>
                <a:cs typeface="Arial"/>
              </a:rPr>
              <a:t>alocados </a:t>
            </a:r>
            <a:r>
              <a:rPr sz="3000" dirty="0">
                <a:latin typeface="Arial"/>
                <a:cs typeface="Arial"/>
              </a:rPr>
              <a:t>em </a:t>
            </a:r>
            <a:r>
              <a:rPr sz="3000" spc="-6" dirty="0">
                <a:latin typeface="Arial"/>
                <a:cs typeface="Arial"/>
              </a:rPr>
              <a:t>memória, </a:t>
            </a:r>
            <a:r>
              <a:rPr sz="3000" dirty="0">
                <a:latin typeface="Arial"/>
                <a:cs typeface="Arial"/>
              </a:rPr>
              <a:t>o </a:t>
            </a:r>
            <a:r>
              <a:rPr sz="3000" spc="-6" dirty="0">
                <a:latin typeface="Arial"/>
                <a:cs typeface="Arial"/>
              </a:rPr>
              <a:t>restante </a:t>
            </a:r>
            <a:r>
              <a:rPr sz="3000" dirty="0">
                <a:latin typeface="Arial"/>
                <a:cs typeface="Arial"/>
              </a:rPr>
              <a:t>do </a:t>
            </a:r>
            <a:r>
              <a:rPr sz="3000" spc="-6" dirty="0">
                <a:latin typeface="Arial"/>
                <a:cs typeface="Arial"/>
              </a:rPr>
              <a:t>vetor  ficará “zerado” (se numérico) ou vazio (se</a:t>
            </a:r>
            <a:r>
              <a:rPr sz="3000" spc="165" dirty="0">
                <a:latin typeface="Arial"/>
                <a:cs typeface="Arial"/>
              </a:rPr>
              <a:t> </a:t>
            </a:r>
            <a:r>
              <a:rPr sz="3000" i="1" spc="-6" dirty="0">
                <a:latin typeface="Arial"/>
                <a:cs typeface="Arial"/>
              </a:rPr>
              <a:t>strings</a:t>
            </a:r>
            <a:r>
              <a:rPr sz="3000" spc="-6" dirty="0">
                <a:latin typeface="Arial"/>
                <a:cs typeface="Arial"/>
              </a:rPr>
              <a:t>).</a:t>
            </a:r>
            <a:endParaRPr sz="3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Inicialização de</a:t>
            </a:r>
            <a:r>
              <a:rPr spc="-80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51564" y="1444130"/>
            <a:ext cx="4785297" cy="1967489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20276" rIns="0" bIns="0" rtlCol="0">
            <a:spAutoFit/>
          </a:bodyPr>
          <a:lstStyle/>
          <a:p>
            <a:pPr marL="97761">
              <a:spcBef>
                <a:spcPts val="160"/>
              </a:spcBef>
            </a:pPr>
            <a:r>
              <a:rPr sz="25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2500" b="1" spc="-6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5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500">
              <a:latin typeface="Courier New"/>
              <a:cs typeface="Courier New"/>
            </a:endParaRPr>
          </a:p>
          <a:p>
            <a:pPr marL="97761"/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500">
              <a:latin typeface="Courier New"/>
              <a:cs typeface="Courier New"/>
            </a:endParaRPr>
          </a:p>
          <a:p>
            <a:pPr marL="480114"/>
            <a:r>
              <a:rPr sz="25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500" b="1" spc="-8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latin typeface="Courier New"/>
                <a:cs typeface="Courier New"/>
              </a:rPr>
              <a:t>codigo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500">
              <a:latin typeface="Courier New"/>
              <a:cs typeface="Courier New"/>
            </a:endParaRPr>
          </a:p>
          <a:p>
            <a:pPr marL="480114"/>
            <a:r>
              <a:rPr sz="2500" b="1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500" b="1" spc="-8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latin typeface="Courier New"/>
                <a:cs typeface="Courier New"/>
              </a:rPr>
              <a:t>descricao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120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500">
              <a:latin typeface="Courier New"/>
              <a:cs typeface="Courier New"/>
            </a:endParaRPr>
          </a:p>
          <a:p>
            <a:pPr marL="97761">
              <a:spcBef>
                <a:spcPts val="46"/>
              </a:spcBef>
            </a:pP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500" spc="-86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500" spc="-6" dirty="0">
                <a:latin typeface="Courier New"/>
                <a:cs typeface="Courier New"/>
              </a:rPr>
              <a:t>produto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51518" y="5096439"/>
            <a:ext cx="9249790" cy="1220235"/>
          </a:xfrm>
          <a:custGeom>
            <a:avLst/>
            <a:gdLst/>
            <a:ahLst/>
            <a:cxnLst/>
            <a:rect l="l" t="t" r="r" b="b"/>
            <a:pathLst>
              <a:path w="7909559" h="1107439">
                <a:moveTo>
                  <a:pt x="0" y="1107440"/>
                </a:moveTo>
                <a:lnTo>
                  <a:pt x="7909559" y="1107440"/>
                </a:lnTo>
                <a:lnTo>
                  <a:pt x="7909559" y="0"/>
                </a:lnTo>
                <a:lnTo>
                  <a:pt x="0" y="0"/>
                </a:lnTo>
                <a:lnTo>
                  <a:pt x="0" y="110744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51518" y="5096439"/>
            <a:ext cx="9249790" cy="1220235"/>
          </a:xfrm>
          <a:custGeom>
            <a:avLst/>
            <a:gdLst/>
            <a:ahLst/>
            <a:cxnLst/>
            <a:rect l="l" t="t" r="r" b="b"/>
            <a:pathLst>
              <a:path w="7909559" h="1107439">
                <a:moveTo>
                  <a:pt x="0" y="1107440"/>
                </a:moveTo>
                <a:lnTo>
                  <a:pt x="7909559" y="1107440"/>
                </a:lnTo>
                <a:lnTo>
                  <a:pt x="7909559" y="0"/>
                </a:lnTo>
                <a:lnTo>
                  <a:pt x="0" y="0"/>
                </a:lnTo>
                <a:lnTo>
                  <a:pt x="0" y="11074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9936" y="5117431"/>
            <a:ext cx="3934279" cy="3897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500" spc="-6" dirty="0">
                <a:latin typeface="Courier New"/>
                <a:cs typeface="Courier New"/>
              </a:rPr>
              <a:t>produto </a:t>
            </a:r>
            <a:r>
              <a:rPr sz="2500" dirty="0">
                <a:latin typeface="Courier New"/>
                <a:cs typeface="Courier New"/>
              </a:rPr>
              <a:t>estoque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6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]</a:t>
            </a:r>
            <a:r>
              <a:rPr sz="2500" spc="-5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93114" y="5117430"/>
            <a:ext cx="1376033" cy="11541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{{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235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endParaRPr sz="2500">
              <a:latin typeface="Courier New"/>
              <a:cs typeface="Courier New"/>
            </a:endParaRPr>
          </a:p>
          <a:p>
            <a:pPr marL="190453"/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r>
              <a:rPr sz="2500" spc="17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5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5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},</a:t>
            </a:r>
            <a:endParaRPr sz="2500">
              <a:latin typeface="Courier New"/>
              <a:cs typeface="Courier New"/>
            </a:endParaRPr>
          </a:p>
          <a:p>
            <a:pPr marL="193349">
              <a:spcBef>
                <a:spcPts val="46"/>
              </a:spcBef>
            </a:pP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r>
              <a:rPr sz="2500" spc="-6" dirty="0">
                <a:solidFill>
                  <a:srgbClr val="EF00EF"/>
                </a:solidFill>
                <a:latin typeface="Courier New"/>
                <a:cs typeface="Courier New"/>
              </a:rPr>
              <a:t>515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71494" y="5117430"/>
            <a:ext cx="3345400" cy="11695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500" dirty="0">
                <a:solidFill>
                  <a:srgbClr val="0000FF"/>
                </a:solidFill>
                <a:latin typeface="Courier New"/>
                <a:cs typeface="Courier New"/>
              </a:rPr>
              <a:t>"Teclado</a:t>
            </a:r>
            <a:r>
              <a:rPr sz="2500" spc="-103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solidFill>
                  <a:srgbClr val="0000FF"/>
                </a:solidFill>
                <a:latin typeface="Courier New"/>
                <a:cs typeface="Courier New"/>
              </a:rPr>
              <a:t>USB"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},</a:t>
            </a:r>
            <a:endParaRPr sz="2500">
              <a:latin typeface="Courier New"/>
              <a:cs typeface="Courier New"/>
            </a:endParaRPr>
          </a:p>
          <a:p>
            <a:pPr>
              <a:spcBef>
                <a:spcPts val="40"/>
              </a:spcBef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sz="2500" spc="-6" dirty="0">
                <a:solidFill>
                  <a:srgbClr val="0000FF"/>
                </a:solidFill>
                <a:latin typeface="Courier New"/>
                <a:cs typeface="Courier New"/>
              </a:rPr>
              <a:t>"Memoria DDR"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} };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8950" y="6439818"/>
            <a:ext cx="9785204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spc="-6" dirty="0">
                <a:latin typeface="Arial"/>
                <a:cs typeface="Arial"/>
              </a:rPr>
              <a:t>No exemplo, o índice 1 do vetor terá descrição</a:t>
            </a:r>
            <a:r>
              <a:rPr sz="3000" spc="205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vazia</a:t>
            </a:r>
            <a:endParaRPr sz="3000">
              <a:latin typeface="Arial"/>
              <a:cs typeface="Arial"/>
            </a:endParaRPr>
          </a:p>
          <a:p>
            <a:pPr marL="535874"/>
            <a:r>
              <a:rPr sz="3000" dirty="0">
                <a:latin typeface="Arial"/>
                <a:cs typeface="Arial"/>
              </a:rPr>
              <a:t>e os </a:t>
            </a:r>
            <a:r>
              <a:rPr sz="3000" spc="-6" dirty="0">
                <a:latin typeface="Arial"/>
                <a:cs typeface="Arial"/>
              </a:rPr>
              <a:t>índices </a:t>
            </a:r>
            <a:r>
              <a:rPr sz="3000" dirty="0">
                <a:latin typeface="Arial"/>
                <a:cs typeface="Arial"/>
              </a:rPr>
              <a:t>3, 4 e 5 </a:t>
            </a:r>
            <a:r>
              <a:rPr sz="3000" spc="-6" dirty="0">
                <a:latin typeface="Arial"/>
                <a:cs typeface="Arial"/>
              </a:rPr>
              <a:t>terão código </a:t>
            </a:r>
            <a:r>
              <a:rPr sz="3000" dirty="0">
                <a:latin typeface="Arial"/>
                <a:cs typeface="Arial"/>
              </a:rPr>
              <a:t>0 e </a:t>
            </a:r>
            <a:r>
              <a:rPr sz="3000" spc="-6" dirty="0">
                <a:latin typeface="Arial"/>
                <a:cs typeface="Arial"/>
              </a:rPr>
              <a:t>descrição</a:t>
            </a:r>
            <a:r>
              <a:rPr sz="3000" spc="108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vazia.</a:t>
            </a:r>
            <a:endParaRPr sz="30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31993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3023" y="1519416"/>
            <a:ext cx="8303722" cy="28725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70000"/>
              <a:buChar char="•"/>
              <a:tabLst>
                <a:tab pos="535874" algn="l"/>
                <a:tab pos="536597" algn="l"/>
              </a:tabLst>
            </a:pPr>
            <a:r>
              <a:rPr sz="3400" dirty="0">
                <a:latin typeface="Arial"/>
                <a:cs typeface="Arial"/>
              </a:rPr>
              <a:t>Outro </a:t>
            </a:r>
            <a:r>
              <a:rPr sz="3400" spc="-11" dirty="0">
                <a:latin typeface="Arial"/>
                <a:cs typeface="Arial"/>
              </a:rPr>
              <a:t>exemplo </a:t>
            </a:r>
            <a:r>
              <a:rPr sz="3400" spc="-6" dirty="0">
                <a:latin typeface="Arial"/>
                <a:cs typeface="Arial"/>
              </a:rPr>
              <a:t>mais</a:t>
            </a:r>
            <a:r>
              <a:rPr sz="3400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completo....</a:t>
            </a:r>
            <a:endParaRPr sz="34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852B34"/>
              </a:buClr>
              <a:buFont typeface="Arial"/>
              <a:buChar char="•"/>
            </a:pPr>
            <a:endParaRPr sz="3400">
              <a:latin typeface="Times New Roman"/>
              <a:cs typeface="Times New Roman"/>
            </a:endParaRPr>
          </a:p>
          <a:p>
            <a:pPr marL="535874" marR="5793" indent="-521391">
              <a:spcBef>
                <a:spcPts val="1996"/>
              </a:spcBef>
              <a:buClr>
                <a:srgbClr val="852B34"/>
              </a:buClr>
              <a:buSzPct val="70000"/>
              <a:buChar char="•"/>
              <a:tabLst>
                <a:tab pos="535874" algn="l"/>
                <a:tab pos="536597" algn="l"/>
              </a:tabLst>
            </a:pPr>
            <a:r>
              <a:rPr sz="3400" spc="-11" dirty="0">
                <a:latin typeface="Arial"/>
                <a:cs typeface="Arial"/>
              </a:rPr>
              <a:t>Considere que </a:t>
            </a:r>
            <a:r>
              <a:rPr sz="3400" spc="-6" dirty="0">
                <a:latin typeface="Arial"/>
                <a:cs typeface="Arial"/>
              </a:rPr>
              <a:t>você está fazendo um  programa </a:t>
            </a:r>
            <a:r>
              <a:rPr sz="3400" spc="-11" dirty="0">
                <a:latin typeface="Arial"/>
                <a:cs typeface="Arial"/>
              </a:rPr>
              <a:t>que </a:t>
            </a:r>
            <a:r>
              <a:rPr sz="3400" spc="-6" dirty="0">
                <a:latin typeface="Arial"/>
                <a:cs typeface="Arial"/>
              </a:rPr>
              <a:t>leia </a:t>
            </a:r>
            <a:r>
              <a:rPr sz="3400" dirty="0">
                <a:latin typeface="Arial"/>
                <a:cs typeface="Arial"/>
              </a:rPr>
              <a:t>o </a:t>
            </a:r>
            <a:r>
              <a:rPr sz="3400" spc="-6" dirty="0">
                <a:latin typeface="Arial"/>
                <a:cs typeface="Arial"/>
              </a:rPr>
              <a:t>nome </a:t>
            </a:r>
            <a:r>
              <a:rPr sz="3400" dirty="0">
                <a:latin typeface="Arial"/>
                <a:cs typeface="Arial"/>
              </a:rPr>
              <a:t>e as 4</a:t>
            </a:r>
            <a:r>
              <a:rPr sz="3400" spc="-74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notas  escolares de 8</a:t>
            </a:r>
            <a:r>
              <a:rPr sz="3400" spc="-68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alunos.</a:t>
            </a:r>
            <a:endParaRPr sz="3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</p:spTree>
    <p:extLst>
      <p:ext uri="{BB962C8B-B14F-4D97-AF65-F5344CB8AC3E}">
        <p14:creationId xmlns:p14="http://schemas.microsoft.com/office/powerpoint/2010/main" val="3663408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426511" y="7290623"/>
            <a:ext cx="178223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100" dirty="0">
                <a:latin typeface="Times New Roman"/>
                <a:cs typeface="Times New Roman"/>
              </a:rPr>
              <a:t>46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028960" y="1318188"/>
            <a:ext cx="2106006" cy="1810761"/>
          </a:xfrm>
          <a:custGeom>
            <a:avLst/>
            <a:gdLst/>
            <a:ahLst/>
            <a:cxnLst/>
            <a:rect l="l" t="t" r="r" b="b"/>
            <a:pathLst>
              <a:path w="1800859" h="1643380">
                <a:moveTo>
                  <a:pt x="0" y="1643379"/>
                </a:moveTo>
                <a:lnTo>
                  <a:pt x="1800860" y="1643379"/>
                </a:lnTo>
                <a:lnTo>
                  <a:pt x="1800860" y="0"/>
                </a:lnTo>
                <a:lnTo>
                  <a:pt x="0" y="0"/>
                </a:lnTo>
                <a:lnTo>
                  <a:pt x="0" y="16433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133963" y="1362548"/>
            <a:ext cx="1982735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1918283" algn="l"/>
              </a:tabLst>
            </a:pPr>
            <a:r>
              <a:rPr sz="2300" dirty="0">
                <a:latin typeface="Arial"/>
                <a:cs typeface="Arial"/>
              </a:rPr>
              <a:t>Nome:_</a:t>
            </a:r>
            <a:r>
              <a:rPr sz="2300" u="heavy" dirty="0">
                <a:latin typeface="Arial"/>
                <a:cs typeface="Arial"/>
              </a:rPr>
              <a:t> 	</a:t>
            </a:r>
            <a:endParaRPr sz="2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99313" y="2298435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spc="-6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02200" y="1869535"/>
            <a:ext cx="2358489" cy="6796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08747">
              <a:lnSpc>
                <a:spcPts val="2252"/>
              </a:lnSpc>
            </a:pPr>
            <a:r>
              <a:rPr sz="1900" spc="-6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1105059">
              <a:spcBef>
                <a:spcPts val="1243"/>
              </a:spcBef>
              <a:tabLst>
                <a:tab pos="1619208" algn="l"/>
                <a:tab pos="2131185" algn="l"/>
              </a:tabLst>
            </a:pPr>
            <a:r>
              <a:rPr sz="1500" spc="-6" dirty="0">
                <a:latin typeface="Arial"/>
                <a:cs typeface="Arial"/>
              </a:rPr>
              <a:t>1	2	3</a:t>
            </a:r>
            <a:endParaRPr sz="15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030446" y="1795368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460689" y="2234764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9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460689" y="2604194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9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460689" y="3107960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9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030446" y="1795368"/>
            <a:ext cx="0" cy="74166"/>
          </a:xfrm>
          <a:custGeom>
            <a:avLst/>
            <a:gdLst/>
            <a:ahLst/>
            <a:cxnLst/>
            <a:rect l="l" t="t" r="r" b="b"/>
            <a:pathLst>
              <a:path h="67310">
                <a:moveTo>
                  <a:pt x="0" y="0"/>
                </a:moveTo>
                <a:lnTo>
                  <a:pt x="0" y="6731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136452" y="1795369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607723" y="2234764"/>
            <a:ext cx="0" cy="862001"/>
          </a:xfrm>
          <a:custGeom>
            <a:avLst/>
            <a:gdLst/>
            <a:ahLst/>
            <a:cxnLst/>
            <a:rect l="l" t="t" r="r" b="b"/>
            <a:pathLst>
              <a:path h="782319">
                <a:moveTo>
                  <a:pt x="0" y="0"/>
                </a:moveTo>
                <a:lnTo>
                  <a:pt x="0" y="78232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102200" y="1869535"/>
            <a:ext cx="2358489" cy="1905916"/>
          </a:xfrm>
          <a:custGeom>
            <a:avLst/>
            <a:gdLst/>
            <a:ahLst/>
            <a:cxnLst/>
            <a:rect l="l" t="t" r="r" b="b"/>
            <a:pathLst>
              <a:path w="2016759" h="1729739">
                <a:moveTo>
                  <a:pt x="0" y="1729739"/>
                </a:moveTo>
                <a:lnTo>
                  <a:pt x="2016760" y="1729739"/>
                </a:lnTo>
                <a:lnTo>
                  <a:pt x="2016760" y="0"/>
                </a:lnTo>
                <a:lnTo>
                  <a:pt x="0" y="0"/>
                </a:lnTo>
                <a:lnTo>
                  <a:pt x="0" y="17297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271512" y="1875132"/>
            <a:ext cx="2106006" cy="1810761"/>
          </a:xfrm>
          <a:custGeom>
            <a:avLst/>
            <a:gdLst/>
            <a:ahLst/>
            <a:cxnLst/>
            <a:rect l="l" t="t" r="r" b="b"/>
            <a:pathLst>
              <a:path w="1800859" h="1643379">
                <a:moveTo>
                  <a:pt x="0" y="1643379"/>
                </a:moveTo>
                <a:lnTo>
                  <a:pt x="1800860" y="1643379"/>
                </a:lnTo>
                <a:lnTo>
                  <a:pt x="1800860" y="0"/>
                </a:lnTo>
                <a:lnTo>
                  <a:pt x="0" y="0"/>
                </a:lnTo>
                <a:lnTo>
                  <a:pt x="0" y="16433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376217" y="1919210"/>
            <a:ext cx="1982735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1918283" algn="l"/>
              </a:tabLst>
            </a:pPr>
            <a:r>
              <a:rPr sz="2300" dirty="0">
                <a:latin typeface="Arial"/>
                <a:cs typeface="Arial"/>
              </a:rPr>
              <a:t>Nome:_</a:t>
            </a:r>
            <a:r>
              <a:rPr sz="2300" u="heavy" dirty="0">
                <a:latin typeface="Arial"/>
                <a:cs typeface="Arial"/>
              </a:rPr>
              <a:t> 	</a:t>
            </a:r>
            <a:endParaRPr sz="23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041568" y="2854678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44751" y="2426476"/>
            <a:ext cx="2358489" cy="6668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08747">
              <a:lnSpc>
                <a:spcPts val="2247"/>
              </a:lnSpc>
            </a:pPr>
            <a:r>
              <a:rPr sz="1900" spc="-11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1105059">
              <a:spcBef>
                <a:spcPts val="1237"/>
              </a:spcBef>
              <a:tabLst>
                <a:tab pos="1618484" algn="l"/>
                <a:tab pos="2131185" algn="l"/>
              </a:tabLst>
            </a:pPr>
            <a:r>
              <a:rPr sz="1500" dirty="0">
                <a:latin typeface="Arial"/>
                <a:cs typeface="Arial"/>
              </a:rPr>
              <a:t>1	2	3</a:t>
            </a:r>
            <a:endParaRPr sz="15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272997" y="2352310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703239" y="2788908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9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703239" y="3161135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9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703239" y="3664901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9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272997" y="2352310"/>
            <a:ext cx="0" cy="74166"/>
          </a:xfrm>
          <a:custGeom>
            <a:avLst/>
            <a:gdLst/>
            <a:ahLst/>
            <a:cxnLst/>
            <a:rect l="l" t="t" r="r" b="b"/>
            <a:pathLst>
              <a:path h="67310">
                <a:moveTo>
                  <a:pt x="0" y="0"/>
                </a:moveTo>
                <a:lnTo>
                  <a:pt x="0" y="67309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9379003" y="2352311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850274" y="2788908"/>
            <a:ext cx="0" cy="864799"/>
          </a:xfrm>
          <a:custGeom>
            <a:avLst/>
            <a:gdLst/>
            <a:ahLst/>
            <a:cxnLst/>
            <a:rect l="l" t="t" r="r" b="b"/>
            <a:pathLst>
              <a:path h="784860">
                <a:moveTo>
                  <a:pt x="0" y="0"/>
                </a:moveTo>
                <a:lnTo>
                  <a:pt x="0" y="78486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344751" y="2426476"/>
            <a:ext cx="2358489" cy="1905916"/>
          </a:xfrm>
          <a:custGeom>
            <a:avLst/>
            <a:gdLst/>
            <a:ahLst/>
            <a:cxnLst/>
            <a:rect l="l" t="t" r="r" b="b"/>
            <a:pathLst>
              <a:path w="2016759" h="1729739">
                <a:moveTo>
                  <a:pt x="0" y="1729740"/>
                </a:moveTo>
                <a:lnTo>
                  <a:pt x="2016760" y="1729740"/>
                </a:lnTo>
                <a:lnTo>
                  <a:pt x="2016760" y="0"/>
                </a:lnTo>
                <a:lnTo>
                  <a:pt x="0" y="0"/>
                </a:lnTo>
                <a:lnTo>
                  <a:pt x="0" y="172974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427920" y="2426475"/>
            <a:ext cx="2106006" cy="1810761"/>
          </a:xfrm>
          <a:custGeom>
            <a:avLst/>
            <a:gdLst/>
            <a:ahLst/>
            <a:cxnLst/>
            <a:rect l="l" t="t" r="r" b="b"/>
            <a:pathLst>
              <a:path w="1800859" h="1643379">
                <a:moveTo>
                  <a:pt x="0" y="1643380"/>
                </a:moveTo>
                <a:lnTo>
                  <a:pt x="1800860" y="1643380"/>
                </a:lnTo>
                <a:lnTo>
                  <a:pt x="1800860" y="0"/>
                </a:lnTo>
                <a:lnTo>
                  <a:pt x="0" y="0"/>
                </a:lnTo>
                <a:lnTo>
                  <a:pt x="0" y="16433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533073" y="2470135"/>
            <a:ext cx="1075281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Arial"/>
                <a:cs typeface="Arial"/>
              </a:rPr>
              <a:t>Nome:_</a:t>
            </a:r>
            <a:endParaRPr sz="23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198274" y="3406021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spc="-6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504131" y="2980620"/>
            <a:ext cx="2355518" cy="6668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05850">
              <a:lnSpc>
                <a:spcPts val="2224"/>
              </a:lnSpc>
            </a:pPr>
            <a:r>
              <a:rPr sz="1900" spc="-6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1102161">
              <a:spcBef>
                <a:spcPts val="1237"/>
              </a:spcBef>
              <a:tabLst>
                <a:tab pos="1616312" algn="l"/>
                <a:tab pos="2129013" algn="l"/>
              </a:tabLst>
            </a:pPr>
            <a:r>
              <a:rPr sz="1500" spc="-6" dirty="0">
                <a:latin typeface="Arial"/>
                <a:cs typeface="Arial"/>
              </a:rPr>
              <a:t>1	2	3</a:t>
            </a:r>
            <a:endParaRPr sz="15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429406" y="2903655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859649" y="3340252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8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859649" y="3712479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8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859649" y="4216246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89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429406" y="2903655"/>
            <a:ext cx="0" cy="76964"/>
          </a:xfrm>
          <a:custGeom>
            <a:avLst/>
            <a:gdLst/>
            <a:ahLst/>
            <a:cxnLst/>
            <a:rect l="l" t="t" r="r" b="b"/>
            <a:pathLst>
              <a:path h="69850">
                <a:moveTo>
                  <a:pt x="0" y="0"/>
                </a:moveTo>
                <a:lnTo>
                  <a:pt x="0" y="6985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535412" y="2903655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009652" y="3340252"/>
            <a:ext cx="0" cy="864799"/>
          </a:xfrm>
          <a:custGeom>
            <a:avLst/>
            <a:gdLst/>
            <a:ahLst/>
            <a:cxnLst/>
            <a:rect l="l" t="t" r="r" b="b"/>
            <a:pathLst>
              <a:path h="784860">
                <a:moveTo>
                  <a:pt x="0" y="0"/>
                </a:moveTo>
                <a:lnTo>
                  <a:pt x="0" y="78486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504131" y="2980620"/>
            <a:ext cx="2355518" cy="1905916"/>
          </a:xfrm>
          <a:custGeom>
            <a:avLst/>
            <a:gdLst/>
            <a:ahLst/>
            <a:cxnLst/>
            <a:rect l="l" t="t" r="r" b="b"/>
            <a:pathLst>
              <a:path w="2014220" h="1729739">
                <a:moveTo>
                  <a:pt x="0" y="1729739"/>
                </a:moveTo>
                <a:lnTo>
                  <a:pt x="2014220" y="1729739"/>
                </a:lnTo>
                <a:lnTo>
                  <a:pt x="2014220" y="0"/>
                </a:lnTo>
                <a:lnTo>
                  <a:pt x="0" y="0"/>
                </a:lnTo>
                <a:lnTo>
                  <a:pt x="0" y="17297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661561" y="2980620"/>
            <a:ext cx="2103035" cy="1810761"/>
          </a:xfrm>
          <a:custGeom>
            <a:avLst/>
            <a:gdLst/>
            <a:ahLst/>
            <a:cxnLst/>
            <a:rect l="l" t="t" r="r" b="b"/>
            <a:pathLst>
              <a:path w="1798320" h="1643379">
                <a:moveTo>
                  <a:pt x="0" y="1643380"/>
                </a:moveTo>
                <a:lnTo>
                  <a:pt x="1798319" y="1643380"/>
                </a:lnTo>
                <a:lnTo>
                  <a:pt x="1798319" y="0"/>
                </a:lnTo>
                <a:lnTo>
                  <a:pt x="0" y="0"/>
                </a:lnTo>
                <a:lnTo>
                  <a:pt x="0" y="16433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5764486" y="3024979"/>
            <a:ext cx="107305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No</a:t>
            </a:r>
            <a:r>
              <a:rPr sz="2300" spc="6" dirty="0">
                <a:latin typeface="Arial"/>
                <a:cs typeface="Arial"/>
              </a:rPr>
              <a:t>m</a:t>
            </a:r>
            <a:r>
              <a:rPr sz="2300" dirty="0">
                <a:latin typeface="Arial"/>
                <a:cs typeface="Arial"/>
              </a:rPr>
              <a:t>e:</a:t>
            </a:r>
            <a:r>
              <a:rPr sz="2300" spc="-6" dirty="0">
                <a:latin typeface="Arial"/>
                <a:cs typeface="Arial"/>
              </a:rPr>
              <a:t>_</a:t>
            </a:r>
            <a:endParaRPr sz="23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429686" y="3960864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spc="-6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999165" y="3537561"/>
            <a:ext cx="2355518" cy="6668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48775">
              <a:lnSpc>
                <a:spcPts val="2207"/>
              </a:lnSpc>
            </a:pPr>
            <a:r>
              <a:rPr sz="1900" spc="-11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845088">
              <a:spcBef>
                <a:spcPts val="1243"/>
              </a:spcBef>
              <a:tabLst>
                <a:tab pos="1359237" algn="l"/>
                <a:tab pos="1871213" algn="l"/>
              </a:tabLst>
            </a:pPr>
            <a:r>
              <a:rPr sz="1500" spc="-6" dirty="0">
                <a:latin typeface="Arial"/>
                <a:cs typeface="Arial"/>
              </a:rPr>
              <a:t>1	2	3</a:t>
            </a:r>
            <a:endParaRPr sz="150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5663045" y="3457798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699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354683" y="3894395"/>
            <a:ext cx="402488" cy="0"/>
          </a:xfrm>
          <a:custGeom>
            <a:avLst/>
            <a:gdLst/>
            <a:ahLst/>
            <a:cxnLst/>
            <a:rect l="l" t="t" r="r" b="b"/>
            <a:pathLst>
              <a:path w="344170">
                <a:moveTo>
                  <a:pt x="0" y="0"/>
                </a:moveTo>
                <a:lnTo>
                  <a:pt x="34416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354683" y="4266623"/>
            <a:ext cx="402488" cy="0"/>
          </a:xfrm>
          <a:custGeom>
            <a:avLst/>
            <a:gdLst/>
            <a:ahLst/>
            <a:cxnLst/>
            <a:rect l="l" t="t" r="r" b="b"/>
            <a:pathLst>
              <a:path w="344170">
                <a:moveTo>
                  <a:pt x="0" y="0"/>
                </a:moveTo>
                <a:lnTo>
                  <a:pt x="34416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354683" y="4770389"/>
            <a:ext cx="402488" cy="0"/>
          </a:xfrm>
          <a:custGeom>
            <a:avLst/>
            <a:gdLst/>
            <a:ahLst/>
            <a:cxnLst/>
            <a:rect l="l" t="t" r="r" b="b"/>
            <a:pathLst>
              <a:path w="344170">
                <a:moveTo>
                  <a:pt x="0" y="0"/>
                </a:moveTo>
                <a:lnTo>
                  <a:pt x="344169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663045" y="3457798"/>
            <a:ext cx="0" cy="79763"/>
          </a:xfrm>
          <a:custGeom>
            <a:avLst/>
            <a:gdLst/>
            <a:ahLst/>
            <a:cxnLst/>
            <a:rect l="l" t="t" r="r" b="b"/>
            <a:pathLst>
              <a:path h="72389">
                <a:moveTo>
                  <a:pt x="0" y="0"/>
                </a:moveTo>
                <a:lnTo>
                  <a:pt x="0" y="72389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766082" y="3457799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099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999165" y="3537561"/>
            <a:ext cx="2355518" cy="1903119"/>
          </a:xfrm>
          <a:custGeom>
            <a:avLst/>
            <a:gdLst/>
            <a:ahLst/>
            <a:cxnLst/>
            <a:rect l="l" t="t" r="r" b="b"/>
            <a:pathLst>
              <a:path w="2014220" h="1727200">
                <a:moveTo>
                  <a:pt x="0" y="1727200"/>
                </a:moveTo>
                <a:lnTo>
                  <a:pt x="2014220" y="1727200"/>
                </a:lnTo>
                <a:lnTo>
                  <a:pt x="2014220" y="0"/>
                </a:lnTo>
                <a:lnTo>
                  <a:pt x="0" y="0"/>
                </a:lnTo>
                <a:lnTo>
                  <a:pt x="0" y="17272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999165" y="3534764"/>
            <a:ext cx="2103035" cy="1807961"/>
          </a:xfrm>
          <a:custGeom>
            <a:avLst/>
            <a:gdLst/>
            <a:ahLst/>
            <a:cxnLst/>
            <a:rect l="l" t="t" r="r" b="b"/>
            <a:pathLst>
              <a:path w="1798320" h="1640839">
                <a:moveTo>
                  <a:pt x="0" y="1640839"/>
                </a:moveTo>
                <a:lnTo>
                  <a:pt x="1798320" y="1640839"/>
                </a:lnTo>
                <a:lnTo>
                  <a:pt x="1798320" y="0"/>
                </a:lnTo>
                <a:lnTo>
                  <a:pt x="0" y="0"/>
                </a:lnTo>
                <a:lnTo>
                  <a:pt x="0" y="16408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5101346" y="3578143"/>
            <a:ext cx="1073796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N</a:t>
            </a:r>
            <a:r>
              <a:rPr sz="2300" dirty="0">
                <a:latin typeface="Arial"/>
                <a:cs typeface="Arial"/>
              </a:rPr>
              <a:t>o</a:t>
            </a:r>
            <a:r>
              <a:rPr sz="2300" spc="11" dirty="0">
                <a:latin typeface="Arial"/>
                <a:cs typeface="Arial"/>
              </a:rPr>
              <a:t>m</a:t>
            </a:r>
            <a:r>
              <a:rPr sz="2300" dirty="0">
                <a:latin typeface="Arial"/>
                <a:cs typeface="Arial"/>
              </a:rPr>
              <a:t>e:</a:t>
            </a:r>
            <a:r>
              <a:rPr sz="2300" spc="-6" dirty="0">
                <a:latin typeface="Arial"/>
                <a:cs typeface="Arial"/>
              </a:rPr>
              <a:t>_</a:t>
            </a:r>
            <a:endParaRPr sz="23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766547" y="4513608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spc="-6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072403" y="4094503"/>
            <a:ext cx="2355518" cy="6668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05850">
              <a:lnSpc>
                <a:spcPts val="2172"/>
              </a:lnSpc>
            </a:pPr>
            <a:r>
              <a:rPr sz="1900" spc="-11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1102161">
              <a:spcBef>
                <a:spcPts val="1237"/>
              </a:spcBef>
              <a:tabLst>
                <a:tab pos="1616312" algn="l"/>
                <a:tab pos="2129013" algn="l"/>
              </a:tabLst>
            </a:pPr>
            <a:r>
              <a:rPr sz="1500" spc="-6" dirty="0">
                <a:latin typeface="Arial"/>
                <a:cs typeface="Arial"/>
              </a:rPr>
              <a:t>1	2	3</a:t>
            </a:r>
            <a:endParaRPr sz="1500">
              <a:latin typeface="Arial"/>
              <a:cs typeface="Arial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5000650" y="4011942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6427921" y="4448538"/>
            <a:ext cx="666852" cy="0"/>
          </a:xfrm>
          <a:custGeom>
            <a:avLst/>
            <a:gdLst/>
            <a:ahLst/>
            <a:cxnLst/>
            <a:rect l="l" t="t" r="r" b="b"/>
            <a:pathLst>
              <a:path w="570229">
                <a:moveTo>
                  <a:pt x="0" y="0"/>
                </a:moveTo>
                <a:lnTo>
                  <a:pt x="57023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6427921" y="4817967"/>
            <a:ext cx="666852" cy="0"/>
          </a:xfrm>
          <a:custGeom>
            <a:avLst/>
            <a:gdLst/>
            <a:ahLst/>
            <a:cxnLst/>
            <a:rect l="l" t="t" r="r" b="b"/>
            <a:pathLst>
              <a:path w="570229">
                <a:moveTo>
                  <a:pt x="0" y="0"/>
                </a:moveTo>
                <a:lnTo>
                  <a:pt x="57023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6427921" y="5321734"/>
            <a:ext cx="666852" cy="0"/>
          </a:xfrm>
          <a:custGeom>
            <a:avLst/>
            <a:gdLst/>
            <a:ahLst/>
            <a:cxnLst/>
            <a:rect l="l" t="t" r="r" b="b"/>
            <a:pathLst>
              <a:path w="570229">
                <a:moveTo>
                  <a:pt x="0" y="0"/>
                </a:moveTo>
                <a:lnTo>
                  <a:pt x="57023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000650" y="4011942"/>
            <a:ext cx="0" cy="82562"/>
          </a:xfrm>
          <a:custGeom>
            <a:avLst/>
            <a:gdLst/>
            <a:ahLst/>
            <a:cxnLst/>
            <a:rect l="l" t="t" r="r" b="b"/>
            <a:pathLst>
              <a:path h="74929">
                <a:moveTo>
                  <a:pt x="0" y="0"/>
                </a:moveTo>
                <a:lnTo>
                  <a:pt x="0" y="7493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103684" y="4011942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6577925" y="4448539"/>
            <a:ext cx="0" cy="864799"/>
          </a:xfrm>
          <a:custGeom>
            <a:avLst/>
            <a:gdLst/>
            <a:ahLst/>
            <a:cxnLst/>
            <a:rect l="l" t="t" r="r" b="b"/>
            <a:pathLst>
              <a:path h="784860">
                <a:moveTo>
                  <a:pt x="0" y="0"/>
                </a:moveTo>
                <a:lnTo>
                  <a:pt x="0" y="78486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4072403" y="4094503"/>
            <a:ext cx="2355518" cy="1903119"/>
          </a:xfrm>
          <a:custGeom>
            <a:avLst/>
            <a:gdLst/>
            <a:ahLst/>
            <a:cxnLst/>
            <a:rect l="l" t="t" r="r" b="b"/>
            <a:pathLst>
              <a:path w="2014220" h="1727200">
                <a:moveTo>
                  <a:pt x="0" y="1727199"/>
                </a:moveTo>
                <a:lnTo>
                  <a:pt x="2014219" y="1727199"/>
                </a:lnTo>
                <a:lnTo>
                  <a:pt x="2014219" y="0"/>
                </a:lnTo>
                <a:lnTo>
                  <a:pt x="0" y="0"/>
                </a:lnTo>
                <a:lnTo>
                  <a:pt x="0" y="17271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229832" y="4091704"/>
            <a:ext cx="2106006" cy="1810761"/>
          </a:xfrm>
          <a:custGeom>
            <a:avLst/>
            <a:gdLst/>
            <a:ahLst/>
            <a:cxnLst/>
            <a:rect l="l" t="t" r="r" b="b"/>
            <a:pathLst>
              <a:path w="1800860" h="1643379">
                <a:moveTo>
                  <a:pt x="0" y="1643380"/>
                </a:moveTo>
                <a:lnTo>
                  <a:pt x="1800860" y="1643380"/>
                </a:lnTo>
                <a:lnTo>
                  <a:pt x="1800860" y="0"/>
                </a:lnTo>
                <a:lnTo>
                  <a:pt x="0" y="0"/>
                </a:lnTo>
                <a:lnTo>
                  <a:pt x="0" y="16433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4332759" y="4136204"/>
            <a:ext cx="908196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Arial"/>
                <a:cs typeface="Arial"/>
              </a:rPr>
              <a:t>No</a:t>
            </a:r>
            <a:r>
              <a:rPr sz="2300" spc="11" dirty="0">
                <a:latin typeface="Arial"/>
                <a:cs typeface="Arial"/>
              </a:rPr>
              <a:t>m</a:t>
            </a:r>
            <a:r>
              <a:rPr sz="2300" dirty="0">
                <a:latin typeface="Arial"/>
                <a:cs typeface="Arial"/>
              </a:rPr>
              <a:t>e:</a:t>
            </a:r>
            <a:endParaRPr sz="23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997959" y="5071951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spc="-6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3484266" y="4643049"/>
            <a:ext cx="2355518" cy="6796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26794" algn="ctr">
              <a:lnSpc>
                <a:spcPts val="2252"/>
              </a:lnSpc>
            </a:pPr>
            <a:r>
              <a:rPr sz="1900" spc="-6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926193">
              <a:spcBef>
                <a:spcPts val="1243"/>
              </a:spcBef>
              <a:tabLst>
                <a:tab pos="1440342" algn="l"/>
                <a:tab pos="1952319" algn="l"/>
              </a:tabLst>
            </a:pPr>
            <a:r>
              <a:rPr sz="1500" spc="-6" dirty="0">
                <a:latin typeface="Arial"/>
                <a:cs typeface="Arial"/>
              </a:rPr>
              <a:t>1	2	3</a:t>
            </a:r>
            <a:endParaRPr sz="1500">
              <a:latin typeface="Arial"/>
              <a:cs typeface="Arial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4231318" y="4568884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5839784" y="5005482"/>
            <a:ext cx="485659" cy="0"/>
          </a:xfrm>
          <a:custGeom>
            <a:avLst/>
            <a:gdLst/>
            <a:ahLst/>
            <a:cxnLst/>
            <a:rect l="l" t="t" r="r" b="b"/>
            <a:pathLst>
              <a:path w="415289">
                <a:moveTo>
                  <a:pt x="0" y="0"/>
                </a:moveTo>
                <a:lnTo>
                  <a:pt x="41528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5839784" y="5377708"/>
            <a:ext cx="485659" cy="0"/>
          </a:xfrm>
          <a:custGeom>
            <a:avLst/>
            <a:gdLst/>
            <a:ahLst/>
            <a:cxnLst/>
            <a:rect l="l" t="t" r="r" b="b"/>
            <a:pathLst>
              <a:path w="415289">
                <a:moveTo>
                  <a:pt x="0" y="0"/>
                </a:moveTo>
                <a:lnTo>
                  <a:pt x="41528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839784" y="5881475"/>
            <a:ext cx="485659" cy="0"/>
          </a:xfrm>
          <a:custGeom>
            <a:avLst/>
            <a:gdLst/>
            <a:ahLst/>
            <a:cxnLst/>
            <a:rect l="l" t="t" r="r" b="b"/>
            <a:pathLst>
              <a:path w="415289">
                <a:moveTo>
                  <a:pt x="0" y="0"/>
                </a:moveTo>
                <a:lnTo>
                  <a:pt x="415289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4231318" y="4568884"/>
            <a:ext cx="0" cy="74166"/>
          </a:xfrm>
          <a:custGeom>
            <a:avLst/>
            <a:gdLst/>
            <a:ahLst/>
            <a:cxnLst/>
            <a:rect l="l" t="t" r="r" b="b"/>
            <a:pathLst>
              <a:path h="67310">
                <a:moveTo>
                  <a:pt x="0" y="0"/>
                </a:moveTo>
                <a:lnTo>
                  <a:pt x="0" y="6731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6337325" y="4568884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3484266" y="4643049"/>
            <a:ext cx="2355518" cy="1905916"/>
          </a:xfrm>
          <a:custGeom>
            <a:avLst/>
            <a:gdLst/>
            <a:ahLst/>
            <a:cxnLst/>
            <a:rect l="l" t="t" r="r" b="b"/>
            <a:pathLst>
              <a:path w="2014220" h="1729739">
                <a:moveTo>
                  <a:pt x="0" y="1729739"/>
                </a:moveTo>
                <a:lnTo>
                  <a:pt x="2014220" y="1729739"/>
                </a:lnTo>
                <a:lnTo>
                  <a:pt x="2014220" y="0"/>
                </a:lnTo>
                <a:lnTo>
                  <a:pt x="0" y="0"/>
                </a:lnTo>
                <a:lnTo>
                  <a:pt x="0" y="17297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3567436" y="4648647"/>
            <a:ext cx="2103035" cy="1810761"/>
          </a:xfrm>
          <a:custGeom>
            <a:avLst/>
            <a:gdLst/>
            <a:ahLst/>
            <a:cxnLst/>
            <a:rect l="l" t="t" r="r" b="b"/>
            <a:pathLst>
              <a:path w="1798320" h="1643379">
                <a:moveTo>
                  <a:pt x="0" y="1643380"/>
                </a:moveTo>
                <a:lnTo>
                  <a:pt x="1798319" y="1643380"/>
                </a:lnTo>
                <a:lnTo>
                  <a:pt x="1798319" y="0"/>
                </a:lnTo>
                <a:lnTo>
                  <a:pt x="0" y="0"/>
                </a:lnTo>
                <a:lnTo>
                  <a:pt x="0" y="16433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 txBox="1"/>
          <p:nvPr/>
        </p:nvSpPr>
        <p:spPr>
          <a:xfrm>
            <a:off x="3669619" y="4692727"/>
            <a:ext cx="107305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No</a:t>
            </a:r>
            <a:r>
              <a:rPr sz="2300" spc="6" dirty="0">
                <a:latin typeface="Arial"/>
                <a:cs typeface="Arial"/>
              </a:rPr>
              <a:t>m</a:t>
            </a:r>
            <a:r>
              <a:rPr sz="2300" dirty="0">
                <a:latin typeface="Arial"/>
                <a:cs typeface="Arial"/>
              </a:rPr>
              <a:t>e:</a:t>
            </a:r>
            <a:r>
              <a:rPr sz="2300" spc="-6" dirty="0">
                <a:latin typeface="Arial"/>
                <a:cs typeface="Arial"/>
              </a:rPr>
              <a:t>_</a:t>
            </a:r>
            <a:endParaRPr sz="230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5334819" y="5628193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2640676" y="5199991"/>
            <a:ext cx="2358489" cy="6796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05850">
              <a:lnSpc>
                <a:spcPts val="2252"/>
              </a:lnSpc>
            </a:pPr>
            <a:r>
              <a:rPr sz="1900" spc="-11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1102161">
              <a:spcBef>
                <a:spcPts val="1237"/>
              </a:spcBef>
              <a:tabLst>
                <a:tab pos="1616312" algn="l"/>
                <a:tab pos="2129013" algn="l"/>
              </a:tabLst>
            </a:pPr>
            <a:r>
              <a:rPr sz="1500" dirty="0">
                <a:latin typeface="Arial"/>
                <a:cs typeface="Arial"/>
              </a:rPr>
              <a:t>1	2	3</a:t>
            </a:r>
            <a:endParaRPr sz="1500">
              <a:latin typeface="Arial"/>
              <a:cs typeface="Arial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3568922" y="5125825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4999164" y="5562424"/>
            <a:ext cx="663882" cy="0"/>
          </a:xfrm>
          <a:custGeom>
            <a:avLst/>
            <a:gdLst/>
            <a:ahLst/>
            <a:cxnLst/>
            <a:rect l="l" t="t" r="r" b="b"/>
            <a:pathLst>
              <a:path w="567689">
                <a:moveTo>
                  <a:pt x="0" y="0"/>
                </a:moveTo>
                <a:lnTo>
                  <a:pt x="56768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4999164" y="5931851"/>
            <a:ext cx="663882" cy="0"/>
          </a:xfrm>
          <a:custGeom>
            <a:avLst/>
            <a:gdLst/>
            <a:ahLst/>
            <a:cxnLst/>
            <a:rect l="l" t="t" r="r" b="b"/>
            <a:pathLst>
              <a:path w="567689">
                <a:moveTo>
                  <a:pt x="0" y="0"/>
                </a:moveTo>
                <a:lnTo>
                  <a:pt x="56768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4999164" y="6435618"/>
            <a:ext cx="663882" cy="0"/>
          </a:xfrm>
          <a:custGeom>
            <a:avLst/>
            <a:gdLst/>
            <a:ahLst/>
            <a:cxnLst/>
            <a:rect l="l" t="t" r="r" b="b"/>
            <a:pathLst>
              <a:path w="567689">
                <a:moveTo>
                  <a:pt x="0" y="0"/>
                </a:moveTo>
                <a:lnTo>
                  <a:pt x="567689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3568922" y="5125825"/>
            <a:ext cx="0" cy="74166"/>
          </a:xfrm>
          <a:custGeom>
            <a:avLst/>
            <a:gdLst/>
            <a:ahLst/>
            <a:cxnLst/>
            <a:rect l="l" t="t" r="r" b="b"/>
            <a:pathLst>
              <a:path h="67310">
                <a:moveTo>
                  <a:pt x="0" y="0"/>
                </a:moveTo>
                <a:lnTo>
                  <a:pt x="0" y="67309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5671956" y="5125825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099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5146199" y="5562424"/>
            <a:ext cx="0" cy="864799"/>
          </a:xfrm>
          <a:custGeom>
            <a:avLst/>
            <a:gdLst/>
            <a:ahLst/>
            <a:cxnLst/>
            <a:rect l="l" t="t" r="r" b="b"/>
            <a:pathLst>
              <a:path h="784860">
                <a:moveTo>
                  <a:pt x="0" y="0"/>
                </a:moveTo>
                <a:lnTo>
                  <a:pt x="0" y="78486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2640676" y="5199991"/>
            <a:ext cx="2358489" cy="1903119"/>
          </a:xfrm>
          <a:custGeom>
            <a:avLst/>
            <a:gdLst/>
            <a:ahLst/>
            <a:cxnLst/>
            <a:rect l="l" t="t" r="r" b="b"/>
            <a:pathLst>
              <a:path w="2016760" h="1727200">
                <a:moveTo>
                  <a:pt x="0" y="1727199"/>
                </a:moveTo>
                <a:lnTo>
                  <a:pt x="2016760" y="1727199"/>
                </a:lnTo>
                <a:lnTo>
                  <a:pt x="2016760" y="0"/>
                </a:lnTo>
                <a:lnTo>
                  <a:pt x="0" y="0"/>
                </a:lnTo>
                <a:lnTo>
                  <a:pt x="0" y="17271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 txBox="1"/>
          <p:nvPr/>
        </p:nvSpPr>
        <p:spPr>
          <a:xfrm>
            <a:off x="552863" y="1200644"/>
            <a:ext cx="4244686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642"/>
              <a:buChar char="•"/>
              <a:tabLst>
                <a:tab pos="535150" algn="l"/>
                <a:tab pos="535874" algn="l"/>
              </a:tabLst>
            </a:pPr>
            <a:r>
              <a:rPr sz="3200" dirty="0">
                <a:latin typeface="Arial"/>
                <a:cs typeface="Arial"/>
              </a:rPr>
              <a:t>Esquematica</a:t>
            </a:r>
            <a:r>
              <a:rPr sz="3200" spc="11" dirty="0">
                <a:latin typeface="Arial"/>
                <a:cs typeface="Arial"/>
              </a:rPr>
              <a:t>m</a:t>
            </a:r>
            <a:r>
              <a:rPr sz="3200" dirty="0">
                <a:latin typeface="Arial"/>
                <a:cs typeface="Arial"/>
              </a:rPr>
              <a:t>ente:</a:t>
            </a:r>
            <a:endParaRPr sz="3200">
              <a:latin typeface="Arial"/>
              <a:cs typeface="Arial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2798105" y="5199992"/>
            <a:ext cx="2106006" cy="1807961"/>
          </a:xfrm>
          <a:custGeom>
            <a:avLst/>
            <a:gdLst/>
            <a:ahLst/>
            <a:cxnLst/>
            <a:rect l="l" t="t" r="r" b="b"/>
            <a:pathLst>
              <a:path w="1800860" h="1640839">
                <a:moveTo>
                  <a:pt x="0" y="1640839"/>
                </a:moveTo>
                <a:lnTo>
                  <a:pt x="1800860" y="1640839"/>
                </a:lnTo>
                <a:lnTo>
                  <a:pt x="1800860" y="0"/>
                </a:lnTo>
                <a:lnTo>
                  <a:pt x="0" y="0"/>
                </a:lnTo>
                <a:lnTo>
                  <a:pt x="0" y="16408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2901031" y="5243790"/>
            <a:ext cx="908196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Arial"/>
                <a:cs typeface="Arial"/>
              </a:rPr>
              <a:t>No</a:t>
            </a:r>
            <a:r>
              <a:rPr sz="2300" spc="11" dirty="0">
                <a:latin typeface="Arial"/>
                <a:cs typeface="Arial"/>
              </a:rPr>
              <a:t>m</a:t>
            </a:r>
            <a:r>
              <a:rPr sz="2300" dirty="0">
                <a:latin typeface="Arial"/>
                <a:cs typeface="Arial"/>
              </a:rPr>
              <a:t>e:</a:t>
            </a:r>
            <a:endParaRPr sz="2300">
              <a:latin typeface="Arial"/>
              <a:cs typeface="Aria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4566231" y="6179538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spc="-6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4040471" y="6179538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spc="-6" dirty="0">
                <a:latin typeface="Arial"/>
                <a:cs typeface="Arial"/>
              </a:rPr>
              <a:t>3</a:t>
            </a:r>
            <a:endParaRPr sz="1500">
              <a:latin typeface="Arial"/>
              <a:cs typeface="Arial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2889148" y="5741961"/>
            <a:ext cx="763390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900" spc="-11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110071">
              <a:spcBef>
                <a:spcPts val="1237"/>
              </a:spcBef>
              <a:tabLst>
                <a:tab pos="624221" algn="l"/>
              </a:tabLst>
            </a:pPr>
            <a:r>
              <a:rPr sz="1500" spc="-6" dirty="0">
                <a:latin typeface="Arial"/>
                <a:cs typeface="Arial"/>
              </a:rPr>
              <a:t>1	2</a:t>
            </a:r>
            <a:endParaRPr sz="1500">
              <a:latin typeface="Arial"/>
              <a:cs typeface="Arial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2799592" y="5677170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2799592" y="6113767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2799592" y="6483196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2799592" y="6986963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2799592" y="5677171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4905596" y="5677171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3325349" y="6113767"/>
            <a:ext cx="0" cy="864799"/>
          </a:xfrm>
          <a:custGeom>
            <a:avLst/>
            <a:gdLst/>
            <a:ahLst/>
            <a:cxnLst/>
            <a:rect l="l" t="t" r="r" b="b"/>
            <a:pathLst>
              <a:path h="784860">
                <a:moveTo>
                  <a:pt x="0" y="0"/>
                </a:moveTo>
                <a:lnTo>
                  <a:pt x="0" y="78486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3851108" y="6113767"/>
            <a:ext cx="0" cy="864799"/>
          </a:xfrm>
          <a:custGeom>
            <a:avLst/>
            <a:gdLst/>
            <a:ahLst/>
            <a:cxnLst/>
            <a:rect l="l" t="t" r="r" b="b"/>
            <a:pathLst>
              <a:path h="784860">
                <a:moveTo>
                  <a:pt x="0" y="0"/>
                </a:moveTo>
                <a:lnTo>
                  <a:pt x="0" y="78486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4376868" y="6113767"/>
            <a:ext cx="0" cy="864799"/>
          </a:xfrm>
          <a:custGeom>
            <a:avLst/>
            <a:gdLst/>
            <a:ahLst/>
            <a:cxnLst/>
            <a:rect l="l" t="t" r="r" b="b"/>
            <a:pathLst>
              <a:path h="784860">
                <a:moveTo>
                  <a:pt x="0" y="0"/>
                </a:moveTo>
                <a:lnTo>
                  <a:pt x="0" y="78486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 txBox="1"/>
          <p:nvPr/>
        </p:nvSpPr>
        <p:spPr>
          <a:xfrm>
            <a:off x="4195377" y="7046086"/>
            <a:ext cx="228720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dirty="0">
                <a:solidFill>
                  <a:srgbClr val="FF0000"/>
                </a:solidFill>
                <a:latin typeface="Arial"/>
                <a:cs typeface="Arial"/>
              </a:rPr>
              <a:t>0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5221944" y="6517831"/>
            <a:ext cx="227977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solidFill>
                  <a:srgbClr val="FF0000"/>
                </a:solidFill>
                <a:latin typeface="Arial"/>
                <a:cs typeface="Arial"/>
              </a:rPr>
              <a:t>1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5957560" y="5962988"/>
            <a:ext cx="228720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dirty="0">
                <a:solidFill>
                  <a:srgbClr val="FF0000"/>
                </a:solidFill>
                <a:latin typeface="Arial"/>
                <a:cs typeface="Arial"/>
              </a:rPr>
              <a:t>2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6652186" y="5408495"/>
            <a:ext cx="227977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solidFill>
                  <a:srgbClr val="FF0000"/>
                </a:solidFill>
                <a:latin typeface="Arial"/>
                <a:cs typeface="Arial"/>
              </a:rPr>
              <a:t>3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7409635" y="4851833"/>
            <a:ext cx="227977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solidFill>
                  <a:srgbClr val="FF0000"/>
                </a:solidFill>
                <a:latin typeface="Arial"/>
                <a:cs typeface="Arial"/>
              </a:rPr>
              <a:t>4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8061635" y="4376053"/>
            <a:ext cx="227977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solidFill>
                  <a:srgbClr val="FF0000"/>
                </a:solidFill>
                <a:latin typeface="Arial"/>
                <a:cs typeface="Arial"/>
              </a:rPr>
              <a:t>5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8819084" y="3819531"/>
            <a:ext cx="227977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solidFill>
                  <a:srgbClr val="FF0000"/>
                </a:solidFill>
                <a:latin typeface="Arial"/>
                <a:cs typeface="Arial"/>
              </a:rPr>
              <a:t>6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9641882" y="3184224"/>
            <a:ext cx="228720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dirty="0">
                <a:solidFill>
                  <a:srgbClr val="FF0000"/>
                </a:solidFill>
                <a:latin typeface="Arial"/>
                <a:cs typeface="Arial"/>
              </a:rPr>
              <a:t>7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8" name="object 108"/>
          <p:cNvSpPr/>
          <p:nvPr/>
        </p:nvSpPr>
        <p:spPr>
          <a:xfrm>
            <a:off x="7286810" y="5122047"/>
            <a:ext cx="2069321" cy="16059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6004343" y="3923782"/>
            <a:ext cx="4131067" cy="3198918"/>
          </a:xfrm>
          <a:custGeom>
            <a:avLst/>
            <a:gdLst/>
            <a:ahLst/>
            <a:cxnLst/>
            <a:rect l="l" t="t" r="r" b="b"/>
            <a:pathLst>
              <a:path w="3532504" h="2903220">
                <a:moveTo>
                  <a:pt x="3469234" y="43485"/>
                </a:moveTo>
                <a:lnTo>
                  <a:pt x="0" y="2893237"/>
                </a:lnTo>
                <a:lnTo>
                  <a:pt x="8128" y="2903042"/>
                </a:lnTo>
                <a:lnTo>
                  <a:pt x="3477253" y="53250"/>
                </a:lnTo>
                <a:lnTo>
                  <a:pt x="3469234" y="43485"/>
                </a:lnTo>
                <a:close/>
              </a:path>
              <a:path w="3532504" h="2903220">
                <a:moveTo>
                  <a:pt x="3516343" y="35433"/>
                </a:moveTo>
                <a:lnTo>
                  <a:pt x="3479038" y="35433"/>
                </a:lnTo>
                <a:lnTo>
                  <a:pt x="3487039" y="45212"/>
                </a:lnTo>
                <a:lnTo>
                  <a:pt x="3477253" y="53250"/>
                </a:lnTo>
                <a:lnTo>
                  <a:pt x="3497453" y="77851"/>
                </a:lnTo>
                <a:lnTo>
                  <a:pt x="3516343" y="35433"/>
                </a:lnTo>
                <a:close/>
              </a:path>
              <a:path w="3532504" h="2903220">
                <a:moveTo>
                  <a:pt x="3479038" y="35433"/>
                </a:moveTo>
                <a:lnTo>
                  <a:pt x="3469234" y="43485"/>
                </a:lnTo>
                <a:lnTo>
                  <a:pt x="3477253" y="53250"/>
                </a:lnTo>
                <a:lnTo>
                  <a:pt x="3487039" y="45212"/>
                </a:lnTo>
                <a:lnTo>
                  <a:pt x="3479038" y="35433"/>
                </a:lnTo>
                <a:close/>
              </a:path>
              <a:path w="3532504" h="2903220">
                <a:moveTo>
                  <a:pt x="3532124" y="0"/>
                </a:moveTo>
                <a:lnTo>
                  <a:pt x="3449066" y="18923"/>
                </a:lnTo>
                <a:lnTo>
                  <a:pt x="3469234" y="43485"/>
                </a:lnTo>
                <a:lnTo>
                  <a:pt x="3479038" y="35433"/>
                </a:lnTo>
                <a:lnTo>
                  <a:pt x="3516343" y="35433"/>
                </a:lnTo>
                <a:lnTo>
                  <a:pt x="3532124" y="0"/>
                </a:ln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 txBox="1"/>
          <p:nvPr/>
        </p:nvSpPr>
        <p:spPr>
          <a:xfrm>
            <a:off x="1978278" y="2051450"/>
            <a:ext cx="2946626" cy="740409"/>
          </a:xfrm>
          <a:prstGeom prst="rect">
            <a:avLst/>
          </a:prstGeom>
          <a:ln w="10160">
            <a:solidFill>
              <a:srgbClr val="000000"/>
            </a:solidFill>
          </a:ln>
        </p:spPr>
        <p:txBody>
          <a:bodyPr vert="horz" wrap="square" lIns="0" tIns="39828" rIns="0" bIns="0" rtlCol="0">
            <a:spAutoFit/>
          </a:bodyPr>
          <a:lstStyle/>
          <a:p>
            <a:pPr marL="107899">
              <a:lnSpc>
                <a:spcPts val="2737"/>
              </a:lnSpc>
              <a:spcBef>
                <a:spcPts val="314"/>
              </a:spcBef>
            </a:pPr>
            <a:r>
              <a:rPr sz="2300" dirty="0">
                <a:latin typeface="Arial"/>
                <a:cs typeface="Arial"/>
              </a:rPr>
              <a:t>Cadastro de</a:t>
            </a:r>
            <a:r>
              <a:rPr sz="2300" spc="-12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notas</a:t>
            </a:r>
            <a:endParaRPr sz="2300">
              <a:latin typeface="Arial"/>
              <a:cs typeface="Arial"/>
            </a:endParaRPr>
          </a:p>
          <a:p>
            <a:pPr marL="487356"/>
            <a:r>
              <a:rPr sz="2300" dirty="0">
                <a:latin typeface="Arial"/>
                <a:cs typeface="Arial"/>
              </a:rPr>
              <a:t>escolares</a:t>
            </a:r>
            <a:endParaRPr sz="2300">
              <a:latin typeface="Arial"/>
              <a:cs typeface="Arial"/>
            </a:endParaRPr>
          </a:p>
        </p:txBody>
      </p:sp>
      <p:sp>
        <p:nvSpPr>
          <p:cNvPr id="111" name="object 1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112" name="object 112"/>
          <p:cNvSpPr/>
          <p:nvPr/>
        </p:nvSpPr>
        <p:spPr>
          <a:xfrm>
            <a:off x="7594808" y="2796943"/>
            <a:ext cx="831709" cy="0"/>
          </a:xfrm>
          <a:custGeom>
            <a:avLst/>
            <a:gdLst/>
            <a:ahLst/>
            <a:cxnLst/>
            <a:rect l="l" t="t" r="r" b="b"/>
            <a:pathLst>
              <a:path w="711200">
                <a:moveTo>
                  <a:pt x="0" y="0"/>
                </a:moveTo>
                <a:lnTo>
                  <a:pt x="711071" y="0"/>
                </a:lnTo>
              </a:path>
            </a:pathLst>
          </a:custGeom>
          <a:ln w="160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6824024" y="3351728"/>
            <a:ext cx="829481" cy="0"/>
          </a:xfrm>
          <a:custGeom>
            <a:avLst/>
            <a:gdLst/>
            <a:ahLst/>
            <a:cxnLst/>
            <a:rect l="l" t="t" r="r" b="b"/>
            <a:pathLst>
              <a:path w="709295">
                <a:moveTo>
                  <a:pt x="0" y="0"/>
                </a:moveTo>
                <a:lnTo>
                  <a:pt x="709168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6162071" y="3904891"/>
            <a:ext cx="830966" cy="0"/>
          </a:xfrm>
          <a:custGeom>
            <a:avLst/>
            <a:gdLst/>
            <a:ahLst/>
            <a:cxnLst/>
            <a:rect l="l" t="t" r="r" b="b"/>
            <a:pathLst>
              <a:path w="710564">
                <a:moveTo>
                  <a:pt x="0" y="0"/>
                </a:moveTo>
                <a:lnTo>
                  <a:pt x="710184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5225565" y="4463011"/>
            <a:ext cx="995823" cy="0"/>
          </a:xfrm>
          <a:custGeom>
            <a:avLst/>
            <a:gdLst/>
            <a:ahLst/>
            <a:cxnLst/>
            <a:rect l="l" t="t" r="r" b="b"/>
            <a:pathLst>
              <a:path w="851535">
                <a:moveTo>
                  <a:pt x="0" y="0"/>
                </a:moveTo>
                <a:lnTo>
                  <a:pt x="851455" y="0"/>
                </a:lnTo>
              </a:path>
            </a:pathLst>
          </a:custGeom>
          <a:ln w="160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4729157" y="5019475"/>
            <a:ext cx="829481" cy="0"/>
          </a:xfrm>
          <a:custGeom>
            <a:avLst/>
            <a:gdLst/>
            <a:ahLst/>
            <a:cxnLst/>
            <a:rect l="l" t="t" r="r" b="b"/>
            <a:pathLst>
              <a:path w="709295">
                <a:moveTo>
                  <a:pt x="0" y="0"/>
                </a:moveTo>
                <a:lnTo>
                  <a:pt x="709168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3793837" y="5570598"/>
            <a:ext cx="995823" cy="0"/>
          </a:xfrm>
          <a:custGeom>
            <a:avLst/>
            <a:gdLst/>
            <a:ahLst/>
            <a:cxnLst/>
            <a:rect l="l" t="t" r="r" b="b"/>
            <a:pathLst>
              <a:path w="851535">
                <a:moveTo>
                  <a:pt x="0" y="0"/>
                </a:moveTo>
                <a:lnTo>
                  <a:pt x="851455" y="0"/>
                </a:lnTo>
              </a:path>
            </a:pathLst>
          </a:custGeom>
          <a:ln w="160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51324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08048" y="3338854"/>
            <a:ext cx="4544695" cy="2594398"/>
          </a:xfrm>
          <a:custGeom>
            <a:avLst/>
            <a:gdLst/>
            <a:ahLst/>
            <a:cxnLst/>
            <a:rect l="l" t="t" r="r" b="b"/>
            <a:pathLst>
              <a:path w="3886200" h="2354579">
                <a:moveTo>
                  <a:pt x="0" y="0"/>
                </a:moveTo>
                <a:lnTo>
                  <a:pt x="3886200" y="2354198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52864" y="1200643"/>
            <a:ext cx="8905968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Visão esquemática </a:t>
            </a:r>
            <a:r>
              <a:rPr sz="3400" dirty="0">
                <a:latin typeface="Arial"/>
                <a:cs typeface="Arial"/>
              </a:rPr>
              <a:t>do vetor de</a:t>
            </a:r>
            <a:r>
              <a:rPr sz="3400" spc="-11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estruturas:</a:t>
            </a:r>
            <a:endParaRPr sz="3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2483" y="3543158"/>
            <a:ext cx="2694143" cy="775241"/>
          </a:xfrm>
          <a:prstGeom prst="rect">
            <a:avLst/>
          </a:prstGeom>
          <a:ln w="10160">
            <a:solidFill>
              <a:srgbClr val="000000"/>
            </a:solidFill>
          </a:ln>
        </p:spPr>
        <p:txBody>
          <a:bodyPr vert="horz" wrap="square" lIns="0" tIns="41277" rIns="0" bIns="0" rtlCol="0">
            <a:spAutoFit/>
          </a:bodyPr>
          <a:lstStyle/>
          <a:p>
            <a:pPr marL="488080" marR="131072" indent="-379457">
              <a:spcBef>
                <a:spcPts val="325"/>
              </a:spcBef>
            </a:pPr>
            <a:r>
              <a:rPr sz="2300" dirty="0">
                <a:latin typeface="Arial"/>
                <a:cs typeface="Arial"/>
              </a:rPr>
              <a:t>Cadastro de</a:t>
            </a:r>
            <a:r>
              <a:rPr sz="2300" spc="-12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notas  escolares</a:t>
            </a:r>
            <a:endParaRPr sz="23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729879" y="3727872"/>
          <a:ext cx="2916920" cy="223616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4082"/>
                <a:gridCol w="727745"/>
                <a:gridCol w="727744"/>
                <a:gridCol w="717349"/>
              </a:tblGrid>
              <a:tr h="591926">
                <a:tc gridSpan="4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005"/>
                        </a:spcBef>
                        <a:tabLst>
                          <a:tab pos="1766570" algn="l"/>
                        </a:tabLst>
                      </a:pPr>
                      <a:r>
                        <a:rPr sz="2200" dirty="0">
                          <a:latin typeface="Arial"/>
                          <a:cs typeface="Arial"/>
                        </a:rPr>
                        <a:t>Nome:_</a:t>
                      </a:r>
                      <a:r>
                        <a:rPr sz="2200" u="heavy" dirty="0">
                          <a:latin typeface="Arial"/>
                          <a:cs typeface="Arial"/>
                        </a:rPr>
                        <a:t> 	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  <a:lnB w="27939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582129">
                <a:tc gridSpan="4"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900" spc="-10" dirty="0">
                          <a:latin typeface="Arial"/>
                          <a:cs typeface="Arial"/>
                        </a:rPr>
                        <a:t>notas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27939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58987"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</a:tr>
              <a:tr h="603120"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3421887" y="1970287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421887" y="1970287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421887" y="2655970"/>
            <a:ext cx="686160" cy="671689"/>
          </a:xfrm>
          <a:custGeom>
            <a:avLst/>
            <a:gdLst/>
            <a:ahLst/>
            <a:cxnLst/>
            <a:rect l="l" t="t" r="r" b="b"/>
            <a:pathLst>
              <a:path w="586739" h="609600">
                <a:moveTo>
                  <a:pt x="0" y="609600"/>
                </a:moveTo>
                <a:lnTo>
                  <a:pt x="586740" y="609600"/>
                </a:lnTo>
                <a:lnTo>
                  <a:pt x="58674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3193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421887" y="2655970"/>
            <a:ext cx="686160" cy="671689"/>
          </a:xfrm>
          <a:custGeom>
            <a:avLst/>
            <a:gdLst/>
            <a:ahLst/>
            <a:cxnLst/>
            <a:rect l="l" t="t" r="r" b="b"/>
            <a:pathLst>
              <a:path w="586739" h="609600">
                <a:moveTo>
                  <a:pt x="0" y="609600"/>
                </a:moveTo>
                <a:lnTo>
                  <a:pt x="586740" y="609600"/>
                </a:lnTo>
                <a:lnTo>
                  <a:pt x="58674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421887" y="3338853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421887" y="3338853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421887" y="4027333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421887" y="4027333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421887" y="4710218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421887" y="4710218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421887" y="5395901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421887" y="5395901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421887" y="6081583"/>
            <a:ext cx="686160" cy="671689"/>
          </a:xfrm>
          <a:custGeom>
            <a:avLst/>
            <a:gdLst/>
            <a:ahLst/>
            <a:cxnLst/>
            <a:rect l="l" t="t" r="r" b="b"/>
            <a:pathLst>
              <a:path w="586739" h="609600">
                <a:moveTo>
                  <a:pt x="0" y="609599"/>
                </a:moveTo>
                <a:lnTo>
                  <a:pt x="586740" y="609599"/>
                </a:lnTo>
                <a:lnTo>
                  <a:pt x="586740" y="0"/>
                </a:lnTo>
                <a:lnTo>
                  <a:pt x="0" y="0"/>
                </a:lnTo>
                <a:lnTo>
                  <a:pt x="0" y="609599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421887" y="6081583"/>
            <a:ext cx="686160" cy="671689"/>
          </a:xfrm>
          <a:custGeom>
            <a:avLst/>
            <a:gdLst/>
            <a:ahLst/>
            <a:cxnLst/>
            <a:rect l="l" t="t" r="r" b="b"/>
            <a:pathLst>
              <a:path w="586739" h="609600">
                <a:moveTo>
                  <a:pt x="0" y="609599"/>
                </a:moveTo>
                <a:lnTo>
                  <a:pt x="586740" y="609599"/>
                </a:lnTo>
                <a:lnTo>
                  <a:pt x="586740" y="0"/>
                </a:lnTo>
                <a:lnTo>
                  <a:pt x="0" y="0"/>
                </a:lnTo>
                <a:lnTo>
                  <a:pt x="0" y="60959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421887" y="6750472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40">
                <a:moveTo>
                  <a:pt x="0" y="612140"/>
                </a:moveTo>
                <a:lnTo>
                  <a:pt x="586740" y="612140"/>
                </a:lnTo>
                <a:lnTo>
                  <a:pt x="586740" y="0"/>
                </a:lnTo>
                <a:lnTo>
                  <a:pt x="0" y="0"/>
                </a:lnTo>
                <a:lnTo>
                  <a:pt x="0" y="612140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421887" y="6750472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40">
                <a:moveTo>
                  <a:pt x="0" y="612140"/>
                </a:moveTo>
                <a:lnTo>
                  <a:pt x="586740" y="612140"/>
                </a:lnTo>
                <a:lnTo>
                  <a:pt x="586740" y="0"/>
                </a:lnTo>
                <a:lnTo>
                  <a:pt x="0" y="0"/>
                </a:lnTo>
                <a:lnTo>
                  <a:pt x="0" y="612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027569" y="2186766"/>
            <a:ext cx="195303" cy="9643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0</a:t>
            </a:r>
            <a:endParaRPr sz="2300">
              <a:latin typeface="Arial"/>
              <a:cs typeface="Arial"/>
            </a:endParaRPr>
          </a:p>
          <a:p>
            <a:pPr marL="14483">
              <a:spcBef>
                <a:spcPts val="2040"/>
              </a:spcBef>
            </a:pPr>
            <a:r>
              <a:rPr sz="2300" spc="-6" dirty="0">
                <a:latin typeface="Arial"/>
                <a:cs typeface="Arial"/>
              </a:rPr>
              <a:t>1</a:t>
            </a:r>
            <a:endParaRPr sz="23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027569" y="3508175"/>
            <a:ext cx="19530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2</a:t>
            </a:r>
            <a:endParaRPr sz="23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027569" y="4094224"/>
            <a:ext cx="19530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3</a:t>
            </a:r>
            <a:endParaRPr sz="23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027569" y="4830982"/>
            <a:ext cx="195303" cy="23801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4</a:t>
            </a:r>
            <a:endParaRPr sz="2300">
              <a:latin typeface="Arial"/>
              <a:cs typeface="Arial"/>
            </a:endParaRPr>
          </a:p>
          <a:p>
            <a:pPr>
              <a:spcBef>
                <a:spcPts val="17"/>
              </a:spcBef>
            </a:pPr>
            <a:endParaRPr>
              <a:latin typeface="Times New Roman"/>
              <a:cs typeface="Times New Roman"/>
            </a:endParaRPr>
          </a:p>
          <a:p>
            <a:pPr marL="14483">
              <a:spcBef>
                <a:spcPts val="6"/>
              </a:spcBef>
            </a:pPr>
            <a:r>
              <a:rPr sz="2300" spc="-6" dirty="0">
                <a:latin typeface="Arial"/>
                <a:cs typeface="Arial"/>
              </a:rPr>
              <a:t>5</a:t>
            </a:r>
            <a:endParaRPr sz="2300">
              <a:latin typeface="Arial"/>
              <a:cs typeface="Arial"/>
            </a:endParaRPr>
          </a:p>
          <a:p>
            <a:pPr>
              <a:spcBef>
                <a:spcPts val="34"/>
              </a:spcBef>
            </a:pPr>
            <a:endParaRPr sz="2800">
              <a:latin typeface="Times New Roman"/>
              <a:cs typeface="Times New Roman"/>
            </a:endParaRPr>
          </a:p>
          <a:p>
            <a:pPr marL="14483"/>
            <a:r>
              <a:rPr sz="2300" dirty="0">
                <a:latin typeface="Arial"/>
                <a:cs typeface="Arial"/>
              </a:rPr>
              <a:t>6</a:t>
            </a:r>
            <a:endParaRPr sz="2300">
              <a:latin typeface="Arial"/>
              <a:cs typeface="Arial"/>
            </a:endParaRPr>
          </a:p>
          <a:p>
            <a:pPr marL="14483">
              <a:spcBef>
                <a:spcPts val="2040"/>
              </a:spcBef>
            </a:pPr>
            <a:r>
              <a:rPr sz="2300" spc="-6" dirty="0">
                <a:latin typeface="Arial"/>
                <a:cs typeface="Arial"/>
              </a:rPr>
              <a:t>7</a:t>
            </a:r>
            <a:endParaRPr sz="2300">
              <a:latin typeface="Arial"/>
              <a:cs typeface="Arial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27" name="object 27"/>
          <p:cNvSpPr/>
          <p:nvPr/>
        </p:nvSpPr>
        <p:spPr>
          <a:xfrm>
            <a:off x="4108048" y="2655970"/>
            <a:ext cx="4529843" cy="1083098"/>
          </a:xfrm>
          <a:custGeom>
            <a:avLst/>
            <a:gdLst/>
            <a:ahLst/>
            <a:cxnLst/>
            <a:rect l="l" t="t" r="r" b="b"/>
            <a:pathLst>
              <a:path w="3873500" h="982979">
                <a:moveTo>
                  <a:pt x="0" y="0"/>
                </a:moveTo>
                <a:lnTo>
                  <a:pt x="3873500" y="982726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421887" y="2661566"/>
            <a:ext cx="2315418" cy="1074003"/>
          </a:xfrm>
          <a:custGeom>
            <a:avLst/>
            <a:gdLst/>
            <a:ahLst/>
            <a:cxnLst/>
            <a:rect l="l" t="t" r="r" b="b"/>
            <a:pathLst>
              <a:path w="1979929" h="974725">
                <a:moveTo>
                  <a:pt x="0" y="0"/>
                </a:moveTo>
                <a:lnTo>
                  <a:pt x="1979548" y="974725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421887" y="3324861"/>
            <a:ext cx="2311705" cy="2646874"/>
          </a:xfrm>
          <a:custGeom>
            <a:avLst/>
            <a:gdLst/>
            <a:ahLst/>
            <a:cxnLst/>
            <a:rect l="l" t="t" r="r" b="b"/>
            <a:pathLst>
              <a:path w="1976754" h="2402204">
                <a:moveTo>
                  <a:pt x="0" y="0"/>
                </a:moveTo>
                <a:lnTo>
                  <a:pt x="1976373" y="2401951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25042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7464" y="1704829"/>
            <a:ext cx="9565394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Definição da </a:t>
            </a:r>
            <a:r>
              <a:rPr sz="3400" dirty="0">
                <a:latin typeface="Arial"/>
                <a:cs typeface="Arial"/>
              </a:rPr>
              <a:t>estrutura </a:t>
            </a:r>
            <a:r>
              <a:rPr sz="3400" spc="-6" dirty="0">
                <a:latin typeface="Arial"/>
                <a:cs typeface="Arial"/>
              </a:rPr>
              <a:t>e do </a:t>
            </a:r>
            <a:r>
              <a:rPr sz="3400" dirty="0">
                <a:latin typeface="Arial"/>
                <a:cs typeface="Arial"/>
              </a:rPr>
              <a:t>vetor </a:t>
            </a:r>
            <a:r>
              <a:rPr sz="3400" spc="-6" dirty="0">
                <a:latin typeface="Arial"/>
                <a:cs typeface="Arial"/>
              </a:rPr>
              <a:t>de 8</a:t>
            </a:r>
            <a:r>
              <a:rPr sz="3400" spc="-86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alunos.</a:t>
            </a:r>
            <a:endParaRPr sz="3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/>
          <p:nvPr/>
        </p:nvSpPr>
        <p:spPr>
          <a:xfrm>
            <a:off x="2382251" y="2700749"/>
            <a:ext cx="5489279" cy="4172867"/>
          </a:xfrm>
          <a:custGeom>
            <a:avLst/>
            <a:gdLst/>
            <a:ahLst/>
            <a:cxnLst/>
            <a:rect l="l" t="t" r="r" b="b"/>
            <a:pathLst>
              <a:path w="4693920" h="3787140">
                <a:moveTo>
                  <a:pt x="0" y="3787140"/>
                </a:moveTo>
                <a:lnTo>
                  <a:pt x="4693920" y="3787140"/>
                </a:lnTo>
                <a:lnTo>
                  <a:pt x="4693920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82251" y="2700749"/>
            <a:ext cx="5489279" cy="4172867"/>
          </a:xfrm>
          <a:custGeom>
            <a:avLst/>
            <a:gdLst/>
            <a:ahLst/>
            <a:cxnLst/>
            <a:rect l="l" t="t" r="r" b="b"/>
            <a:pathLst>
              <a:path w="4693920" h="3787140">
                <a:moveTo>
                  <a:pt x="0" y="3787140"/>
                </a:moveTo>
                <a:lnTo>
                  <a:pt x="4693920" y="3787140"/>
                </a:lnTo>
                <a:lnTo>
                  <a:pt x="4693920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202804" y="2733913"/>
            <a:ext cx="1280980" cy="4254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str</a:t>
            </a:r>
            <a:r>
              <a:rPr sz="2700" b="1" spc="-23" dirty="0">
                <a:solidFill>
                  <a:srgbClr val="00009F"/>
                </a:solidFill>
                <a:latin typeface="Courier New"/>
                <a:cs typeface="Courier New"/>
              </a:rPr>
              <a:t>u</a:t>
            </a:r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ct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91414" y="2733913"/>
            <a:ext cx="1497076" cy="16619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endParaRPr sz="2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700">
              <a:latin typeface="Courier New"/>
              <a:cs typeface="Courier New"/>
            </a:endParaRPr>
          </a:p>
          <a:p>
            <a:pPr marL="417113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char  float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91414" y="3540360"/>
            <a:ext cx="3630558" cy="1246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59894"/>
            <a:r>
              <a:rPr sz="2700" spc="-11" dirty="0">
                <a:latin typeface="Courier New"/>
                <a:cs typeface="Courier New"/>
              </a:rPr>
              <a:t>nome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40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  <a:p>
            <a:pPr marL="1668451"/>
            <a:r>
              <a:rPr sz="2700" spc="-6" dirty="0">
                <a:latin typeface="Courier New"/>
                <a:cs typeface="Courier New"/>
              </a:rPr>
              <a:t>not</a:t>
            </a:r>
            <a:r>
              <a:rPr sz="2700" spc="-23" dirty="0">
                <a:latin typeface="Courier New"/>
                <a:cs typeface="Courier New"/>
              </a:rPr>
              <a:t>a</a:t>
            </a:r>
            <a:r>
              <a:rPr sz="2700" dirty="0">
                <a:latin typeface="Courier New"/>
                <a:cs typeface="Courier New"/>
              </a:rPr>
              <a:t>s</a:t>
            </a:r>
            <a:r>
              <a:rPr sz="2700" spc="-29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19150" y="4346666"/>
            <a:ext cx="1283951" cy="4254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700" spc="-6" dirty="0">
                <a:latin typeface="Courier New"/>
                <a:cs typeface="Courier New"/>
              </a:rPr>
              <a:t>Alun</a:t>
            </a:r>
            <a:r>
              <a:rPr sz="2700" dirty="0">
                <a:latin typeface="Courier New"/>
                <a:cs typeface="Courier New"/>
              </a:rPr>
              <a:t>o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91414" y="5152833"/>
            <a:ext cx="5132089" cy="16748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7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main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 sz="2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700">
              <a:latin typeface="Courier New"/>
              <a:cs typeface="Courier New"/>
            </a:endParaRPr>
          </a:p>
          <a:p>
            <a:pPr marL="624945">
              <a:spcBef>
                <a:spcPts val="68"/>
              </a:spcBef>
            </a:pPr>
            <a:r>
              <a:rPr sz="2700" spc="-6" dirty="0">
                <a:latin typeface="Courier New"/>
                <a:cs typeface="Courier New"/>
              </a:rPr>
              <a:t>Aluno</a:t>
            </a:r>
            <a:r>
              <a:rPr sz="2700" spc="-80" dirty="0"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notasAlunos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  <a:p>
            <a:pPr marL="576425"/>
            <a:r>
              <a:rPr sz="2700" spc="-6" dirty="0">
                <a:latin typeface="Courier New"/>
                <a:cs typeface="Courier New"/>
              </a:rPr>
              <a:t>...</a:t>
            </a:r>
            <a:endParaRPr sz="27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275364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Leitura de </a:t>
            </a:r>
            <a:r>
              <a:rPr spc="-6" dirty="0"/>
              <a:t>vetor </a:t>
            </a:r>
            <a:r>
              <a:rPr dirty="0"/>
              <a:t>de</a:t>
            </a:r>
            <a:r>
              <a:rPr spc="-51" dirty="0"/>
              <a:t> </a:t>
            </a:r>
            <a:r>
              <a:rPr dirty="0"/>
              <a:t>estruturas</a:t>
            </a:r>
          </a:p>
        </p:txBody>
      </p:sp>
      <p:sp>
        <p:nvSpPr>
          <p:cNvPr id="3" name="object 3"/>
          <p:cNvSpPr/>
          <p:nvPr/>
        </p:nvSpPr>
        <p:spPr>
          <a:xfrm>
            <a:off x="1948574" y="1949450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48574" y="1933741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685435" y="1292281"/>
            <a:ext cx="9322561" cy="18928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dirty="0"/>
              <a:t>Procedimento para ler os dados dos</a:t>
            </a:r>
            <a:r>
              <a:rPr spc="-97" dirty="0"/>
              <a:t> </a:t>
            </a:r>
            <a:r>
              <a:rPr dirty="0"/>
              <a:t>alunos:</a:t>
            </a:r>
          </a:p>
          <a:p>
            <a:pPr>
              <a:spcBef>
                <a:spcPts val="17"/>
              </a:spcBef>
            </a:pPr>
            <a:endParaRPr sz="3000" dirty="0">
              <a:latin typeface="Times New Roman"/>
              <a:cs typeface="Times New Roman"/>
            </a:endParaRPr>
          </a:p>
          <a:p>
            <a:pPr marL="1302029"/>
            <a:r>
              <a:rPr sz="2300" b="1" spc="-6" dirty="0" smtClean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2300" spc="-6" dirty="0">
                <a:latin typeface="Courier New"/>
                <a:cs typeface="Courier New"/>
              </a:rPr>
              <a:t>le_vetor_alunos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29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300" dirty="0">
              <a:latin typeface="Courier New"/>
              <a:cs typeface="Courier New"/>
            </a:endParaRPr>
          </a:p>
          <a:p>
            <a:pPr marL="1302029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 dirty="0">
              <a:latin typeface="Courier New"/>
              <a:cs typeface="Courier New"/>
            </a:endParaRPr>
          </a:p>
          <a:p>
            <a:pPr marL="164962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 dirty="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57319" y="3318142"/>
            <a:ext cx="1426529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57319" y="4326515"/>
            <a:ext cx="1782976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13441" y="3318142"/>
            <a:ext cx="3565952" cy="1769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latin typeface="Courier New"/>
                <a:cs typeface="Courier New"/>
              </a:rPr>
              <a:t>i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56994" y="4998065"/>
            <a:ext cx="5882855" cy="14157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2782"/>
            <a:r>
              <a:rPr sz="2300" spc="-6" dirty="0">
                <a:latin typeface="Courier New"/>
                <a:cs typeface="Courier New"/>
              </a:rPr>
              <a:t>scanf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,&amp;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notas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300">
              <a:latin typeface="Courier New"/>
              <a:cs typeface="Courier New"/>
            </a:endParaRPr>
          </a:p>
          <a:p>
            <a:pPr marL="695188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46"/>
              </a:spcBef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082019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Leitura de </a:t>
            </a:r>
            <a:r>
              <a:rPr spc="-6" dirty="0"/>
              <a:t>vetor </a:t>
            </a:r>
            <a:r>
              <a:rPr dirty="0"/>
              <a:t>de</a:t>
            </a:r>
            <a:r>
              <a:rPr spc="-51" dirty="0"/>
              <a:t> </a:t>
            </a:r>
            <a:r>
              <a:rPr dirty="0"/>
              <a:t>estruturas</a:t>
            </a:r>
          </a:p>
        </p:txBody>
      </p:sp>
      <p:sp>
        <p:nvSpPr>
          <p:cNvPr id="3" name="object 3"/>
          <p:cNvSpPr/>
          <p:nvPr/>
        </p:nvSpPr>
        <p:spPr>
          <a:xfrm>
            <a:off x="1948574" y="2025650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48574" y="2025650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685435" y="1292281"/>
            <a:ext cx="9322561" cy="15388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dirty="0"/>
              <a:t>Procedimento para ler os dados dos</a:t>
            </a:r>
            <a:r>
              <a:rPr spc="-97" dirty="0"/>
              <a:t> </a:t>
            </a:r>
            <a:r>
              <a:rPr dirty="0"/>
              <a:t>alunos:</a:t>
            </a:r>
          </a:p>
          <a:p>
            <a:pPr>
              <a:spcBef>
                <a:spcPts val="17"/>
              </a:spcBef>
            </a:pPr>
            <a:endParaRPr sz="3000">
              <a:latin typeface="Times New Roman"/>
              <a:cs typeface="Times New Roman"/>
            </a:endParaRPr>
          </a:p>
          <a:p>
            <a:pPr marL="1302029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2300" spc="-6" dirty="0">
                <a:latin typeface="Courier New"/>
                <a:cs typeface="Courier New"/>
              </a:rPr>
              <a:t>le_vetor_alunos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29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300">
              <a:latin typeface="Courier New"/>
              <a:cs typeface="Courier New"/>
            </a:endParaRPr>
          </a:p>
          <a:p>
            <a:pPr marL="1302029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98590" y="2982298"/>
            <a:ext cx="5200408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42467" y="4326516"/>
            <a:ext cx="181268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55036" y="3990251"/>
            <a:ext cx="3239209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11482" y="4998065"/>
            <a:ext cx="4843219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scanf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,&amp;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notas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55036" y="5334330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98590" y="5670174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42143" y="6011616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749168" y="2660168"/>
            <a:ext cx="3763483" cy="3897195"/>
          </a:xfrm>
          <a:custGeom>
            <a:avLst/>
            <a:gdLst/>
            <a:ahLst/>
            <a:cxnLst/>
            <a:rect l="l" t="t" r="r" b="b"/>
            <a:pathLst>
              <a:path w="3218179" h="3536950">
                <a:moveTo>
                  <a:pt x="0" y="0"/>
                </a:moveTo>
                <a:lnTo>
                  <a:pt x="1010538" y="1561845"/>
                </a:lnTo>
                <a:lnTo>
                  <a:pt x="1010538" y="3169030"/>
                </a:lnTo>
                <a:lnTo>
                  <a:pt x="1013405" y="3215185"/>
                </a:lnTo>
                <a:lnTo>
                  <a:pt x="1021775" y="3259627"/>
                </a:lnTo>
                <a:lnTo>
                  <a:pt x="1035303" y="3302013"/>
                </a:lnTo>
                <a:lnTo>
                  <a:pt x="1053645" y="3341998"/>
                </a:lnTo>
                <a:lnTo>
                  <a:pt x="1076456" y="3379238"/>
                </a:lnTo>
                <a:lnTo>
                  <a:pt x="1103392" y="3413387"/>
                </a:lnTo>
                <a:lnTo>
                  <a:pt x="1134106" y="3444101"/>
                </a:lnTo>
                <a:lnTo>
                  <a:pt x="1168256" y="3471035"/>
                </a:lnTo>
                <a:lnTo>
                  <a:pt x="1205495" y="3493845"/>
                </a:lnTo>
                <a:lnTo>
                  <a:pt x="1245480" y="3512186"/>
                </a:lnTo>
                <a:lnTo>
                  <a:pt x="1287865" y="3525714"/>
                </a:lnTo>
                <a:lnTo>
                  <a:pt x="1332306" y="3534083"/>
                </a:lnTo>
                <a:lnTo>
                  <a:pt x="1378458" y="3536950"/>
                </a:lnTo>
                <a:lnTo>
                  <a:pt x="2849880" y="3536950"/>
                </a:lnTo>
                <a:lnTo>
                  <a:pt x="2896031" y="3534083"/>
                </a:lnTo>
                <a:lnTo>
                  <a:pt x="2940472" y="3525714"/>
                </a:lnTo>
                <a:lnTo>
                  <a:pt x="2982857" y="3512186"/>
                </a:lnTo>
                <a:lnTo>
                  <a:pt x="3022842" y="3493845"/>
                </a:lnTo>
                <a:lnTo>
                  <a:pt x="3060081" y="3471035"/>
                </a:lnTo>
                <a:lnTo>
                  <a:pt x="3094231" y="3444101"/>
                </a:lnTo>
                <a:lnTo>
                  <a:pt x="3124945" y="3413387"/>
                </a:lnTo>
                <a:lnTo>
                  <a:pt x="3151881" y="3379238"/>
                </a:lnTo>
                <a:lnTo>
                  <a:pt x="3174692" y="3341998"/>
                </a:lnTo>
                <a:lnTo>
                  <a:pt x="3193034" y="3302013"/>
                </a:lnTo>
                <a:lnTo>
                  <a:pt x="3206562" y="3259627"/>
                </a:lnTo>
                <a:lnTo>
                  <a:pt x="3214932" y="3215185"/>
                </a:lnTo>
                <a:lnTo>
                  <a:pt x="3217798" y="3169030"/>
                </a:lnTo>
                <a:lnTo>
                  <a:pt x="3217798" y="715390"/>
                </a:lnTo>
                <a:lnTo>
                  <a:pt x="1010538" y="715390"/>
                </a:lnTo>
                <a:lnTo>
                  <a:pt x="0" y="0"/>
                </a:lnTo>
                <a:close/>
              </a:path>
              <a:path w="3218179" h="3536950">
                <a:moveTo>
                  <a:pt x="2849880" y="151129"/>
                </a:moveTo>
                <a:lnTo>
                  <a:pt x="1378458" y="151129"/>
                </a:lnTo>
                <a:lnTo>
                  <a:pt x="1332306" y="153996"/>
                </a:lnTo>
                <a:lnTo>
                  <a:pt x="1287865" y="162366"/>
                </a:lnTo>
                <a:lnTo>
                  <a:pt x="1245480" y="175894"/>
                </a:lnTo>
                <a:lnTo>
                  <a:pt x="1205495" y="194236"/>
                </a:lnTo>
                <a:lnTo>
                  <a:pt x="1168256" y="217047"/>
                </a:lnTo>
                <a:lnTo>
                  <a:pt x="1134106" y="243983"/>
                </a:lnTo>
                <a:lnTo>
                  <a:pt x="1103392" y="274697"/>
                </a:lnTo>
                <a:lnTo>
                  <a:pt x="1076456" y="308847"/>
                </a:lnTo>
                <a:lnTo>
                  <a:pt x="1053645" y="346086"/>
                </a:lnTo>
                <a:lnTo>
                  <a:pt x="1035303" y="386071"/>
                </a:lnTo>
                <a:lnTo>
                  <a:pt x="1021775" y="428456"/>
                </a:lnTo>
                <a:lnTo>
                  <a:pt x="1013405" y="472897"/>
                </a:lnTo>
                <a:lnTo>
                  <a:pt x="1010538" y="519049"/>
                </a:lnTo>
                <a:lnTo>
                  <a:pt x="1010538" y="715390"/>
                </a:lnTo>
                <a:lnTo>
                  <a:pt x="3217798" y="715390"/>
                </a:lnTo>
                <a:lnTo>
                  <a:pt x="3217798" y="519049"/>
                </a:lnTo>
                <a:lnTo>
                  <a:pt x="3214932" y="472897"/>
                </a:lnTo>
                <a:lnTo>
                  <a:pt x="3206562" y="428456"/>
                </a:lnTo>
                <a:lnTo>
                  <a:pt x="3193034" y="386071"/>
                </a:lnTo>
                <a:lnTo>
                  <a:pt x="3174692" y="346086"/>
                </a:lnTo>
                <a:lnTo>
                  <a:pt x="3151881" y="308847"/>
                </a:lnTo>
                <a:lnTo>
                  <a:pt x="3124945" y="274697"/>
                </a:lnTo>
                <a:lnTo>
                  <a:pt x="3094231" y="243983"/>
                </a:lnTo>
                <a:lnTo>
                  <a:pt x="3060081" y="217047"/>
                </a:lnTo>
                <a:lnTo>
                  <a:pt x="3022842" y="194236"/>
                </a:lnTo>
                <a:lnTo>
                  <a:pt x="2982857" y="175894"/>
                </a:lnTo>
                <a:lnTo>
                  <a:pt x="2940472" y="162366"/>
                </a:lnTo>
                <a:lnTo>
                  <a:pt x="2896031" y="153996"/>
                </a:lnTo>
                <a:lnTo>
                  <a:pt x="2849880" y="151129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749168" y="2660168"/>
            <a:ext cx="3763483" cy="3897195"/>
          </a:xfrm>
          <a:custGeom>
            <a:avLst/>
            <a:gdLst/>
            <a:ahLst/>
            <a:cxnLst/>
            <a:rect l="l" t="t" r="r" b="b"/>
            <a:pathLst>
              <a:path w="3218179" h="3536950">
                <a:moveTo>
                  <a:pt x="1010538" y="519049"/>
                </a:moveTo>
                <a:lnTo>
                  <a:pt x="1013405" y="472897"/>
                </a:lnTo>
                <a:lnTo>
                  <a:pt x="1021775" y="428456"/>
                </a:lnTo>
                <a:lnTo>
                  <a:pt x="1035303" y="386071"/>
                </a:lnTo>
                <a:lnTo>
                  <a:pt x="1053645" y="346086"/>
                </a:lnTo>
                <a:lnTo>
                  <a:pt x="1076456" y="308847"/>
                </a:lnTo>
                <a:lnTo>
                  <a:pt x="1103392" y="274697"/>
                </a:lnTo>
                <a:lnTo>
                  <a:pt x="1134106" y="243983"/>
                </a:lnTo>
                <a:lnTo>
                  <a:pt x="1168256" y="217047"/>
                </a:lnTo>
                <a:lnTo>
                  <a:pt x="1205495" y="194236"/>
                </a:lnTo>
                <a:lnTo>
                  <a:pt x="1245480" y="175894"/>
                </a:lnTo>
                <a:lnTo>
                  <a:pt x="1287865" y="162366"/>
                </a:lnTo>
                <a:lnTo>
                  <a:pt x="1332306" y="153996"/>
                </a:lnTo>
                <a:lnTo>
                  <a:pt x="1378458" y="151129"/>
                </a:lnTo>
                <a:lnTo>
                  <a:pt x="1930272" y="151129"/>
                </a:lnTo>
                <a:lnTo>
                  <a:pt x="2849880" y="151129"/>
                </a:lnTo>
                <a:lnTo>
                  <a:pt x="2896031" y="153996"/>
                </a:lnTo>
                <a:lnTo>
                  <a:pt x="2940472" y="162366"/>
                </a:lnTo>
                <a:lnTo>
                  <a:pt x="2982857" y="175894"/>
                </a:lnTo>
                <a:lnTo>
                  <a:pt x="3022842" y="194236"/>
                </a:lnTo>
                <a:lnTo>
                  <a:pt x="3060081" y="217047"/>
                </a:lnTo>
                <a:lnTo>
                  <a:pt x="3094231" y="243983"/>
                </a:lnTo>
                <a:lnTo>
                  <a:pt x="3124945" y="274697"/>
                </a:lnTo>
                <a:lnTo>
                  <a:pt x="3151881" y="308847"/>
                </a:lnTo>
                <a:lnTo>
                  <a:pt x="3174692" y="346086"/>
                </a:lnTo>
                <a:lnTo>
                  <a:pt x="3193034" y="386071"/>
                </a:lnTo>
                <a:lnTo>
                  <a:pt x="3206562" y="428456"/>
                </a:lnTo>
                <a:lnTo>
                  <a:pt x="3214932" y="472897"/>
                </a:lnTo>
                <a:lnTo>
                  <a:pt x="3217798" y="519049"/>
                </a:lnTo>
                <a:lnTo>
                  <a:pt x="3217798" y="715390"/>
                </a:lnTo>
                <a:lnTo>
                  <a:pt x="3217798" y="1561845"/>
                </a:lnTo>
                <a:lnTo>
                  <a:pt x="3217798" y="3169030"/>
                </a:lnTo>
                <a:lnTo>
                  <a:pt x="3214932" y="3215185"/>
                </a:lnTo>
                <a:lnTo>
                  <a:pt x="3206562" y="3259627"/>
                </a:lnTo>
                <a:lnTo>
                  <a:pt x="3193034" y="3302013"/>
                </a:lnTo>
                <a:lnTo>
                  <a:pt x="3174692" y="3341998"/>
                </a:lnTo>
                <a:lnTo>
                  <a:pt x="3151881" y="3379238"/>
                </a:lnTo>
                <a:lnTo>
                  <a:pt x="3124945" y="3413387"/>
                </a:lnTo>
                <a:lnTo>
                  <a:pt x="3094231" y="3444101"/>
                </a:lnTo>
                <a:lnTo>
                  <a:pt x="3060081" y="3471035"/>
                </a:lnTo>
                <a:lnTo>
                  <a:pt x="3022842" y="3493845"/>
                </a:lnTo>
                <a:lnTo>
                  <a:pt x="2982857" y="3512186"/>
                </a:lnTo>
                <a:lnTo>
                  <a:pt x="2940472" y="3525714"/>
                </a:lnTo>
                <a:lnTo>
                  <a:pt x="2896031" y="3534083"/>
                </a:lnTo>
                <a:lnTo>
                  <a:pt x="2849880" y="3536950"/>
                </a:lnTo>
                <a:lnTo>
                  <a:pt x="1930272" y="3536950"/>
                </a:lnTo>
                <a:lnTo>
                  <a:pt x="1378458" y="3536950"/>
                </a:lnTo>
                <a:lnTo>
                  <a:pt x="1332306" y="3534083"/>
                </a:lnTo>
                <a:lnTo>
                  <a:pt x="1287865" y="3525714"/>
                </a:lnTo>
                <a:lnTo>
                  <a:pt x="1245480" y="3512186"/>
                </a:lnTo>
                <a:lnTo>
                  <a:pt x="1205495" y="3493845"/>
                </a:lnTo>
                <a:lnTo>
                  <a:pt x="1168256" y="3471035"/>
                </a:lnTo>
                <a:lnTo>
                  <a:pt x="1134106" y="3444101"/>
                </a:lnTo>
                <a:lnTo>
                  <a:pt x="1103392" y="3413387"/>
                </a:lnTo>
                <a:lnTo>
                  <a:pt x="1076456" y="3379238"/>
                </a:lnTo>
                <a:lnTo>
                  <a:pt x="1053645" y="3341998"/>
                </a:lnTo>
                <a:lnTo>
                  <a:pt x="1035303" y="3302013"/>
                </a:lnTo>
                <a:lnTo>
                  <a:pt x="1021775" y="3259627"/>
                </a:lnTo>
                <a:lnTo>
                  <a:pt x="1013405" y="3215185"/>
                </a:lnTo>
                <a:lnTo>
                  <a:pt x="1010538" y="3169030"/>
                </a:lnTo>
                <a:lnTo>
                  <a:pt x="1010538" y="1561845"/>
                </a:lnTo>
                <a:lnTo>
                  <a:pt x="0" y="0"/>
                </a:lnTo>
                <a:lnTo>
                  <a:pt x="1010538" y="715390"/>
                </a:lnTo>
                <a:lnTo>
                  <a:pt x="1010538" y="51904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065348" y="3069479"/>
            <a:ext cx="2314676" cy="10105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9038" marR="126727" algn="ctr"/>
            <a:r>
              <a:rPr spc="-6" dirty="0">
                <a:latin typeface="Arial"/>
                <a:cs typeface="Arial"/>
              </a:rPr>
              <a:t>Assim como</a:t>
            </a:r>
            <a:r>
              <a:rPr spc="-51" dirty="0">
                <a:latin typeface="Arial"/>
                <a:cs typeface="Arial"/>
              </a:rPr>
              <a:t> </a:t>
            </a:r>
            <a:r>
              <a:rPr spc="-6" dirty="0">
                <a:latin typeface="Arial"/>
                <a:cs typeface="Arial"/>
              </a:rPr>
              <a:t>ocorre  com tipos</a:t>
            </a:r>
            <a:r>
              <a:rPr spc="-57" dirty="0">
                <a:latin typeface="Arial"/>
                <a:cs typeface="Arial"/>
              </a:rPr>
              <a:t> </a:t>
            </a:r>
            <a:r>
              <a:rPr spc="-6" dirty="0">
                <a:latin typeface="Arial"/>
                <a:cs typeface="Arial"/>
              </a:rPr>
              <a:t>básicos:</a:t>
            </a:r>
            <a:endParaRPr>
              <a:latin typeface="Arial"/>
              <a:cs typeface="Arial"/>
            </a:endParaRPr>
          </a:p>
          <a:p>
            <a:pPr algn="ctr">
              <a:spcBef>
                <a:spcPts val="1368"/>
              </a:spcBef>
            </a:pPr>
            <a:r>
              <a:rPr dirty="0">
                <a:latin typeface="Arial"/>
                <a:cs typeface="Arial"/>
              </a:rPr>
              <a:t>- </a:t>
            </a:r>
            <a:r>
              <a:rPr spc="-11" dirty="0">
                <a:latin typeface="Arial"/>
                <a:cs typeface="Arial"/>
              </a:rPr>
              <a:t>Alterações </a:t>
            </a:r>
            <a:r>
              <a:rPr spc="-6" dirty="0">
                <a:latin typeface="Arial"/>
                <a:cs typeface="Arial"/>
              </a:rPr>
              <a:t>feitas</a:t>
            </a:r>
            <a:r>
              <a:rPr spc="-74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em</a:t>
            </a:r>
            <a:endParaRPr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508382" y="4043846"/>
            <a:ext cx="1430242" cy="5492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Arial"/>
                <a:cs typeface="Arial"/>
              </a:rPr>
              <a:t>uma</a:t>
            </a:r>
            <a:r>
              <a:rPr spc="-86" dirty="0">
                <a:latin typeface="Arial"/>
                <a:cs typeface="Arial"/>
              </a:rPr>
              <a:t> </a:t>
            </a:r>
            <a:r>
              <a:rPr b="1" spc="-17" dirty="0">
                <a:solidFill>
                  <a:srgbClr val="00664D"/>
                </a:solidFill>
                <a:latin typeface="Arial"/>
                <a:cs typeface="Arial"/>
              </a:rPr>
              <a:t>variável</a:t>
            </a:r>
            <a:endParaRPr>
              <a:latin typeface="Arial"/>
              <a:cs typeface="Arial"/>
            </a:endParaRPr>
          </a:p>
          <a:p>
            <a:pPr marL="60829"/>
            <a:r>
              <a:rPr spc="-11" dirty="0">
                <a:latin typeface="Arial"/>
                <a:cs typeface="Arial"/>
              </a:rPr>
              <a:t>passada</a:t>
            </a:r>
            <a:r>
              <a:rPr spc="-51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por</a:t>
            </a:r>
            <a:endParaRPr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065347" y="4581057"/>
            <a:ext cx="2315418" cy="946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 indent="2172" algn="ctr"/>
            <a:r>
              <a:rPr spc="-6" dirty="0">
                <a:latin typeface="Arial"/>
                <a:cs typeface="Arial"/>
              </a:rPr>
              <a:t>parâmetro </a:t>
            </a:r>
            <a:r>
              <a:rPr b="1" spc="-6" dirty="0">
                <a:solidFill>
                  <a:srgbClr val="00664D"/>
                </a:solidFill>
                <a:latin typeface="Arial"/>
                <a:cs typeface="Arial"/>
              </a:rPr>
              <a:t>não têm  efeito </a:t>
            </a:r>
            <a:r>
              <a:rPr dirty="0">
                <a:latin typeface="Arial"/>
                <a:cs typeface="Arial"/>
              </a:rPr>
              <a:t>fora </a:t>
            </a:r>
            <a:r>
              <a:rPr spc="-11" dirty="0">
                <a:latin typeface="Arial"/>
                <a:cs typeface="Arial"/>
              </a:rPr>
              <a:t>da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6" dirty="0">
                <a:latin typeface="Arial"/>
                <a:cs typeface="Arial"/>
              </a:rPr>
              <a:t>função;</a:t>
            </a:r>
            <a:endParaRPr>
              <a:latin typeface="Arial"/>
              <a:cs typeface="Arial"/>
            </a:endParaRPr>
          </a:p>
          <a:p>
            <a:pPr algn="ctr">
              <a:spcBef>
                <a:spcPts val="912"/>
              </a:spcBef>
            </a:pPr>
            <a:r>
              <a:rPr dirty="0">
                <a:latin typeface="Arial"/>
                <a:cs typeface="Arial"/>
              </a:rPr>
              <a:t>- </a:t>
            </a:r>
            <a:r>
              <a:rPr spc="-11" dirty="0">
                <a:latin typeface="Arial"/>
                <a:cs typeface="Arial"/>
              </a:rPr>
              <a:t>Alterações </a:t>
            </a:r>
            <a:r>
              <a:rPr spc="-6" dirty="0">
                <a:latin typeface="Arial"/>
                <a:cs typeface="Arial"/>
              </a:rPr>
              <a:t>feitas</a:t>
            </a:r>
            <a:r>
              <a:rPr spc="-68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em</a:t>
            </a:r>
            <a:endParaRPr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285156" y="5499453"/>
            <a:ext cx="1878771" cy="83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 indent="-4345" algn="ctr"/>
            <a:r>
              <a:rPr spc="-11" dirty="0">
                <a:latin typeface="Arial"/>
                <a:cs typeface="Arial"/>
              </a:rPr>
              <a:t>um </a:t>
            </a:r>
            <a:r>
              <a:rPr b="1" spc="-11" dirty="0">
                <a:solidFill>
                  <a:srgbClr val="00664D"/>
                </a:solidFill>
                <a:latin typeface="Arial"/>
                <a:cs typeface="Arial"/>
              </a:rPr>
              <a:t>vetor são  </a:t>
            </a:r>
            <a:r>
              <a:rPr b="1" spc="-6" dirty="0">
                <a:solidFill>
                  <a:srgbClr val="00664D"/>
                </a:solidFill>
                <a:latin typeface="Arial"/>
                <a:cs typeface="Arial"/>
              </a:rPr>
              <a:t>mantidas </a:t>
            </a:r>
            <a:r>
              <a:rPr dirty="0">
                <a:latin typeface="Arial"/>
                <a:cs typeface="Arial"/>
              </a:rPr>
              <a:t>fora</a:t>
            </a:r>
            <a:r>
              <a:rPr spc="-63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da  </a:t>
            </a:r>
            <a:r>
              <a:rPr spc="-6" dirty="0">
                <a:latin typeface="Arial"/>
                <a:cs typeface="Arial"/>
              </a:rPr>
              <a:t>função.</a:t>
            </a:r>
            <a:endParaRPr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96532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Leitura de </a:t>
            </a:r>
            <a:r>
              <a:rPr spc="-6" dirty="0"/>
              <a:t>vetor </a:t>
            </a:r>
            <a:r>
              <a:rPr dirty="0"/>
              <a:t>de</a:t>
            </a:r>
            <a:r>
              <a:rPr spc="-51" dirty="0"/>
              <a:t> </a:t>
            </a:r>
            <a:r>
              <a:rPr dirty="0"/>
              <a:t>estruturas</a:t>
            </a:r>
          </a:p>
        </p:txBody>
      </p:sp>
      <p:sp>
        <p:nvSpPr>
          <p:cNvPr id="3" name="object 3"/>
          <p:cNvSpPr/>
          <p:nvPr/>
        </p:nvSpPr>
        <p:spPr>
          <a:xfrm>
            <a:off x="1948574" y="1933741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48574" y="1933741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685435" y="1292281"/>
            <a:ext cx="9322561" cy="18928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dirty="0"/>
              <a:t>Procedimento para ler os dados dos</a:t>
            </a:r>
            <a:r>
              <a:rPr spc="-97" dirty="0"/>
              <a:t> </a:t>
            </a:r>
            <a:r>
              <a:rPr dirty="0"/>
              <a:t>alunos:</a:t>
            </a:r>
          </a:p>
          <a:p>
            <a:pPr>
              <a:spcBef>
                <a:spcPts val="17"/>
              </a:spcBef>
            </a:pPr>
            <a:endParaRPr sz="3000">
              <a:latin typeface="Times New Roman"/>
              <a:cs typeface="Times New Roman"/>
            </a:endParaRPr>
          </a:p>
          <a:p>
            <a:pPr marL="1302029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2300" spc="-6" dirty="0">
                <a:latin typeface="Courier New"/>
                <a:cs typeface="Courier New"/>
              </a:rPr>
              <a:t>le_vetor_alunos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29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300">
              <a:latin typeface="Courier New"/>
              <a:cs typeface="Courier New"/>
            </a:endParaRPr>
          </a:p>
          <a:p>
            <a:pPr marL="1302029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164962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98590" y="3318142"/>
            <a:ext cx="5200408" cy="7045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42467" y="4326516"/>
            <a:ext cx="181268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55036" y="3990251"/>
            <a:ext cx="3239209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42142" y="4998064"/>
            <a:ext cx="5912559" cy="14157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57265"/>
            <a:r>
              <a:rPr sz="2300" spc="-6" dirty="0">
                <a:latin typeface="Courier New"/>
                <a:cs typeface="Courier New"/>
              </a:rPr>
              <a:t>scanf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,&amp;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notas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300">
              <a:latin typeface="Courier New"/>
              <a:cs typeface="Courier New"/>
            </a:endParaRPr>
          </a:p>
          <a:p>
            <a:pPr marL="709671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 marL="14483">
              <a:spcBef>
                <a:spcPts val="46"/>
              </a:spcBef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07927" y="3137346"/>
            <a:ext cx="1991646" cy="822819"/>
          </a:xfrm>
          <a:custGeom>
            <a:avLst/>
            <a:gdLst/>
            <a:ahLst/>
            <a:cxnLst/>
            <a:rect l="l" t="t" r="r" b="b"/>
            <a:pathLst>
              <a:path w="1703070" h="746760">
                <a:moveTo>
                  <a:pt x="1244600" y="0"/>
                </a:moveTo>
                <a:lnTo>
                  <a:pt x="124460" y="0"/>
                </a:lnTo>
                <a:lnTo>
                  <a:pt x="76016" y="9784"/>
                </a:lnTo>
                <a:lnTo>
                  <a:pt x="36455" y="36464"/>
                </a:lnTo>
                <a:lnTo>
                  <a:pt x="9781" y="76027"/>
                </a:lnTo>
                <a:lnTo>
                  <a:pt x="0" y="124460"/>
                </a:lnTo>
                <a:lnTo>
                  <a:pt x="0" y="622300"/>
                </a:lnTo>
                <a:lnTo>
                  <a:pt x="9781" y="670732"/>
                </a:lnTo>
                <a:lnTo>
                  <a:pt x="36455" y="710295"/>
                </a:lnTo>
                <a:lnTo>
                  <a:pt x="76016" y="736975"/>
                </a:lnTo>
                <a:lnTo>
                  <a:pt x="124460" y="746760"/>
                </a:lnTo>
                <a:lnTo>
                  <a:pt x="1244600" y="746760"/>
                </a:lnTo>
                <a:lnTo>
                  <a:pt x="1293032" y="736975"/>
                </a:lnTo>
                <a:lnTo>
                  <a:pt x="1332595" y="710295"/>
                </a:lnTo>
                <a:lnTo>
                  <a:pt x="1359275" y="670732"/>
                </a:lnTo>
                <a:lnTo>
                  <a:pt x="1369060" y="622300"/>
                </a:lnTo>
                <a:lnTo>
                  <a:pt x="1369060" y="311150"/>
                </a:lnTo>
                <a:lnTo>
                  <a:pt x="1702943" y="276733"/>
                </a:lnTo>
                <a:lnTo>
                  <a:pt x="1369060" y="124460"/>
                </a:lnTo>
                <a:lnTo>
                  <a:pt x="1359275" y="76027"/>
                </a:lnTo>
                <a:lnTo>
                  <a:pt x="1332595" y="36464"/>
                </a:lnTo>
                <a:lnTo>
                  <a:pt x="1293032" y="9784"/>
                </a:lnTo>
                <a:lnTo>
                  <a:pt x="1244600" y="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07927" y="3137346"/>
            <a:ext cx="1991646" cy="822819"/>
          </a:xfrm>
          <a:custGeom>
            <a:avLst/>
            <a:gdLst/>
            <a:ahLst/>
            <a:cxnLst/>
            <a:rect l="l" t="t" r="r" b="b"/>
            <a:pathLst>
              <a:path w="1703070" h="746760">
                <a:moveTo>
                  <a:pt x="0" y="124460"/>
                </a:moveTo>
                <a:lnTo>
                  <a:pt x="9781" y="76027"/>
                </a:lnTo>
                <a:lnTo>
                  <a:pt x="36455" y="36464"/>
                </a:lnTo>
                <a:lnTo>
                  <a:pt x="76016" y="9784"/>
                </a:lnTo>
                <a:lnTo>
                  <a:pt x="124460" y="0"/>
                </a:lnTo>
                <a:lnTo>
                  <a:pt x="798614" y="0"/>
                </a:lnTo>
                <a:lnTo>
                  <a:pt x="1140841" y="0"/>
                </a:lnTo>
                <a:lnTo>
                  <a:pt x="1244600" y="0"/>
                </a:lnTo>
                <a:lnTo>
                  <a:pt x="1293032" y="9784"/>
                </a:lnTo>
                <a:lnTo>
                  <a:pt x="1332595" y="36464"/>
                </a:lnTo>
                <a:lnTo>
                  <a:pt x="1359275" y="76027"/>
                </a:lnTo>
                <a:lnTo>
                  <a:pt x="1369060" y="124460"/>
                </a:lnTo>
                <a:lnTo>
                  <a:pt x="1702943" y="276733"/>
                </a:lnTo>
                <a:lnTo>
                  <a:pt x="1369060" y="311150"/>
                </a:lnTo>
                <a:lnTo>
                  <a:pt x="1369060" y="622300"/>
                </a:lnTo>
                <a:lnTo>
                  <a:pt x="1359275" y="670732"/>
                </a:lnTo>
                <a:lnTo>
                  <a:pt x="1332595" y="710295"/>
                </a:lnTo>
                <a:lnTo>
                  <a:pt x="1293032" y="736975"/>
                </a:lnTo>
                <a:lnTo>
                  <a:pt x="1244600" y="746760"/>
                </a:lnTo>
                <a:lnTo>
                  <a:pt x="1140841" y="746760"/>
                </a:lnTo>
                <a:lnTo>
                  <a:pt x="798614" y="746760"/>
                </a:lnTo>
                <a:lnTo>
                  <a:pt x="124460" y="746760"/>
                </a:lnTo>
                <a:lnTo>
                  <a:pt x="76016" y="736975"/>
                </a:lnTo>
                <a:lnTo>
                  <a:pt x="36455" y="710295"/>
                </a:lnTo>
                <a:lnTo>
                  <a:pt x="9781" y="670732"/>
                </a:lnTo>
                <a:lnTo>
                  <a:pt x="0" y="622300"/>
                </a:lnTo>
                <a:lnTo>
                  <a:pt x="0" y="311150"/>
                </a:lnTo>
                <a:lnTo>
                  <a:pt x="0" y="1244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62880" y="3275183"/>
            <a:ext cx="1491135" cy="5499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9242"/>
            <a:r>
              <a:rPr spc="-11" dirty="0">
                <a:latin typeface="Arial"/>
                <a:cs typeface="Arial"/>
              </a:rPr>
              <a:t>Laço para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6" dirty="0">
                <a:latin typeface="Arial"/>
                <a:cs typeface="Arial"/>
              </a:rPr>
              <a:t>ler</a:t>
            </a:r>
            <a:endParaRPr>
              <a:latin typeface="Arial"/>
              <a:cs typeface="Arial"/>
            </a:endParaRPr>
          </a:p>
          <a:p>
            <a:pPr marL="14483"/>
            <a:r>
              <a:rPr spc="-11" dirty="0">
                <a:latin typeface="Arial"/>
                <a:cs typeface="Arial"/>
              </a:rPr>
              <a:t>os </a:t>
            </a:r>
            <a:r>
              <a:rPr spc="-6" dirty="0">
                <a:latin typeface="Arial"/>
                <a:cs typeface="Arial"/>
              </a:rPr>
              <a:t>oito</a:t>
            </a:r>
            <a:r>
              <a:rPr spc="-51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alunos</a:t>
            </a:r>
            <a:endParaRPr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32247" y="3303870"/>
            <a:ext cx="5557598" cy="397416"/>
          </a:xfrm>
          <a:custGeom>
            <a:avLst/>
            <a:gdLst/>
            <a:ahLst/>
            <a:cxnLst/>
            <a:rect l="l" t="t" r="r" b="b"/>
            <a:pathLst>
              <a:path w="4752340" h="360679">
                <a:moveTo>
                  <a:pt x="0" y="60070"/>
                </a:moveTo>
                <a:lnTo>
                  <a:pt x="4724" y="36701"/>
                </a:lnTo>
                <a:lnTo>
                  <a:pt x="17605" y="17605"/>
                </a:lnTo>
                <a:lnTo>
                  <a:pt x="36701" y="4724"/>
                </a:lnTo>
                <a:lnTo>
                  <a:pt x="60070" y="0"/>
                </a:lnTo>
                <a:lnTo>
                  <a:pt x="4692269" y="0"/>
                </a:lnTo>
                <a:lnTo>
                  <a:pt x="4715638" y="4724"/>
                </a:lnTo>
                <a:lnTo>
                  <a:pt x="4734734" y="17605"/>
                </a:lnTo>
                <a:lnTo>
                  <a:pt x="4747615" y="36701"/>
                </a:lnTo>
                <a:lnTo>
                  <a:pt x="4752340" y="60070"/>
                </a:lnTo>
                <a:lnTo>
                  <a:pt x="4752340" y="300608"/>
                </a:lnTo>
                <a:lnTo>
                  <a:pt x="4747615" y="323978"/>
                </a:lnTo>
                <a:lnTo>
                  <a:pt x="4734734" y="343074"/>
                </a:lnTo>
                <a:lnTo>
                  <a:pt x="4715638" y="355955"/>
                </a:lnTo>
                <a:lnTo>
                  <a:pt x="4692269" y="360679"/>
                </a:lnTo>
                <a:lnTo>
                  <a:pt x="60070" y="360679"/>
                </a:lnTo>
                <a:lnTo>
                  <a:pt x="36701" y="355955"/>
                </a:lnTo>
                <a:lnTo>
                  <a:pt x="17605" y="343074"/>
                </a:lnTo>
                <a:lnTo>
                  <a:pt x="4724" y="323978"/>
                </a:lnTo>
                <a:lnTo>
                  <a:pt x="0" y="300608"/>
                </a:lnTo>
                <a:lnTo>
                  <a:pt x="0" y="60070"/>
                </a:lnTo>
                <a:close/>
              </a:path>
            </a:pathLst>
          </a:custGeom>
          <a:ln w="381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228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1804" y="1486811"/>
            <a:ext cx="7413348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sz="2700" dirty="0">
                <a:latin typeface="Arial"/>
                <a:cs typeface="Arial"/>
              </a:rPr>
              <a:t>Procedimento para ler os dados dos</a:t>
            </a:r>
            <a:r>
              <a:rPr sz="2700" spc="-97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alunos: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Leitura de </a:t>
            </a:r>
            <a:r>
              <a:rPr spc="-6" dirty="0"/>
              <a:t>vetor </a:t>
            </a:r>
            <a:r>
              <a:rPr dirty="0"/>
              <a:t>de</a:t>
            </a:r>
            <a:r>
              <a:rPr spc="-51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855213" y="2310331"/>
            <a:ext cx="92156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42142" y="2310330"/>
            <a:ext cx="4666481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void</a:t>
            </a:r>
            <a:r>
              <a:rPr sz="2300" b="1" spc="-4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le_vetor_alunos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42467" y="3318143"/>
            <a:ext cx="145623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98589" y="3318142"/>
            <a:ext cx="3595656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latin typeface="Courier New"/>
                <a:cs typeface="Courier New"/>
              </a:rPr>
              <a:t>i</a:t>
            </a: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 dirty="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 dirty="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55036" y="4326516"/>
            <a:ext cx="5200408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2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55036" y="4662220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55036" y="5334330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42143" y="5670174"/>
            <a:ext cx="565115" cy="710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2077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 marL="14483">
              <a:spcBef>
                <a:spcPts val="46"/>
              </a:spcBef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10897" y="3778250"/>
            <a:ext cx="2463195" cy="901183"/>
          </a:xfrm>
          <a:custGeom>
            <a:avLst/>
            <a:gdLst/>
            <a:ahLst/>
            <a:cxnLst/>
            <a:rect l="l" t="t" r="r" b="b"/>
            <a:pathLst>
              <a:path w="2106295" h="817879">
                <a:moveTo>
                  <a:pt x="1446148" y="0"/>
                </a:moveTo>
                <a:lnTo>
                  <a:pt x="136321" y="0"/>
                </a:lnTo>
                <a:lnTo>
                  <a:pt x="93234" y="6954"/>
                </a:lnTo>
                <a:lnTo>
                  <a:pt x="55813" y="26314"/>
                </a:lnTo>
                <a:lnTo>
                  <a:pt x="26303" y="55824"/>
                </a:lnTo>
                <a:lnTo>
                  <a:pt x="6950" y="93228"/>
                </a:lnTo>
                <a:lnTo>
                  <a:pt x="0" y="136271"/>
                </a:lnTo>
                <a:lnTo>
                  <a:pt x="0" y="681608"/>
                </a:lnTo>
                <a:lnTo>
                  <a:pt x="6950" y="724651"/>
                </a:lnTo>
                <a:lnTo>
                  <a:pt x="26303" y="762055"/>
                </a:lnTo>
                <a:lnTo>
                  <a:pt x="55813" y="791565"/>
                </a:lnTo>
                <a:lnTo>
                  <a:pt x="93234" y="810925"/>
                </a:lnTo>
                <a:lnTo>
                  <a:pt x="136321" y="817880"/>
                </a:lnTo>
                <a:lnTo>
                  <a:pt x="1446148" y="817880"/>
                </a:lnTo>
                <a:lnTo>
                  <a:pt x="1489191" y="810925"/>
                </a:lnTo>
                <a:lnTo>
                  <a:pt x="1526595" y="791565"/>
                </a:lnTo>
                <a:lnTo>
                  <a:pt x="1556105" y="762055"/>
                </a:lnTo>
                <a:lnTo>
                  <a:pt x="1575465" y="724651"/>
                </a:lnTo>
                <a:lnTo>
                  <a:pt x="1582420" y="681608"/>
                </a:lnTo>
                <a:lnTo>
                  <a:pt x="1582420" y="340741"/>
                </a:lnTo>
                <a:lnTo>
                  <a:pt x="2023088" y="340741"/>
                </a:lnTo>
                <a:lnTo>
                  <a:pt x="1582420" y="136271"/>
                </a:lnTo>
                <a:lnTo>
                  <a:pt x="1575465" y="93228"/>
                </a:lnTo>
                <a:lnTo>
                  <a:pt x="1556105" y="55824"/>
                </a:lnTo>
                <a:lnTo>
                  <a:pt x="1526595" y="26314"/>
                </a:lnTo>
                <a:lnTo>
                  <a:pt x="1489191" y="6954"/>
                </a:lnTo>
                <a:lnTo>
                  <a:pt x="1446148" y="0"/>
                </a:lnTo>
                <a:close/>
              </a:path>
              <a:path w="2106295" h="817879">
                <a:moveTo>
                  <a:pt x="2023088" y="340741"/>
                </a:moveTo>
                <a:lnTo>
                  <a:pt x="1582420" y="340741"/>
                </a:lnTo>
                <a:lnTo>
                  <a:pt x="2106295" y="379349"/>
                </a:lnTo>
                <a:lnTo>
                  <a:pt x="2023088" y="340741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10897" y="3778250"/>
            <a:ext cx="2463195" cy="901183"/>
          </a:xfrm>
          <a:custGeom>
            <a:avLst/>
            <a:gdLst/>
            <a:ahLst/>
            <a:cxnLst/>
            <a:rect l="l" t="t" r="r" b="b"/>
            <a:pathLst>
              <a:path w="2106295" h="817879">
                <a:moveTo>
                  <a:pt x="0" y="136271"/>
                </a:moveTo>
                <a:lnTo>
                  <a:pt x="6950" y="93228"/>
                </a:lnTo>
                <a:lnTo>
                  <a:pt x="26303" y="55824"/>
                </a:lnTo>
                <a:lnTo>
                  <a:pt x="55813" y="26314"/>
                </a:lnTo>
                <a:lnTo>
                  <a:pt x="93234" y="6954"/>
                </a:lnTo>
                <a:lnTo>
                  <a:pt x="136321" y="0"/>
                </a:lnTo>
                <a:lnTo>
                  <a:pt x="923074" y="0"/>
                </a:lnTo>
                <a:lnTo>
                  <a:pt x="1318641" y="0"/>
                </a:lnTo>
                <a:lnTo>
                  <a:pt x="1446148" y="0"/>
                </a:lnTo>
                <a:lnTo>
                  <a:pt x="1489191" y="6954"/>
                </a:lnTo>
                <a:lnTo>
                  <a:pt x="1526595" y="26314"/>
                </a:lnTo>
                <a:lnTo>
                  <a:pt x="1556105" y="55824"/>
                </a:lnTo>
                <a:lnTo>
                  <a:pt x="1575465" y="93228"/>
                </a:lnTo>
                <a:lnTo>
                  <a:pt x="1582420" y="136271"/>
                </a:lnTo>
                <a:lnTo>
                  <a:pt x="2106295" y="379349"/>
                </a:lnTo>
                <a:lnTo>
                  <a:pt x="1582420" y="340741"/>
                </a:lnTo>
                <a:lnTo>
                  <a:pt x="1582420" y="681608"/>
                </a:lnTo>
                <a:lnTo>
                  <a:pt x="1575465" y="724651"/>
                </a:lnTo>
                <a:lnTo>
                  <a:pt x="1556105" y="762055"/>
                </a:lnTo>
                <a:lnTo>
                  <a:pt x="1526595" y="791565"/>
                </a:lnTo>
                <a:lnTo>
                  <a:pt x="1489191" y="810925"/>
                </a:lnTo>
                <a:lnTo>
                  <a:pt x="1446148" y="817880"/>
                </a:lnTo>
                <a:lnTo>
                  <a:pt x="1318641" y="817880"/>
                </a:lnTo>
                <a:lnTo>
                  <a:pt x="923074" y="817880"/>
                </a:lnTo>
                <a:lnTo>
                  <a:pt x="136321" y="817880"/>
                </a:lnTo>
                <a:lnTo>
                  <a:pt x="93234" y="810925"/>
                </a:lnTo>
                <a:lnTo>
                  <a:pt x="55813" y="791565"/>
                </a:lnTo>
                <a:lnTo>
                  <a:pt x="26303" y="762055"/>
                </a:lnTo>
                <a:lnTo>
                  <a:pt x="6950" y="724651"/>
                </a:lnTo>
                <a:lnTo>
                  <a:pt x="0" y="681608"/>
                </a:lnTo>
                <a:lnTo>
                  <a:pt x="0" y="340741"/>
                </a:lnTo>
                <a:lnTo>
                  <a:pt x="0" y="136271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41473" y="3821909"/>
            <a:ext cx="1388657" cy="280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Arial"/>
                <a:cs typeface="Arial"/>
              </a:rPr>
              <a:t>gets é</a:t>
            </a:r>
            <a:r>
              <a:rPr spc="-46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usado</a:t>
            </a:r>
            <a:endParaRPr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9984" y="4090726"/>
            <a:ext cx="1693864" cy="280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Arial"/>
                <a:cs typeface="Arial"/>
              </a:rPr>
              <a:t>para ler o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nome</a:t>
            </a:r>
            <a:endParaRPr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6125" y="4359261"/>
            <a:ext cx="1519354" cy="280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11" dirty="0">
                <a:latin typeface="Arial"/>
                <a:cs typeface="Arial"/>
              </a:rPr>
              <a:t>de cada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aluno</a:t>
            </a:r>
            <a:endParaRPr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111482" y="4998065"/>
            <a:ext cx="4843219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lang="pt-BR" sz="2300" spc="-6" dirty="0">
                <a:latin typeface="Courier New"/>
                <a:cs typeface="Courier New"/>
              </a:rPr>
              <a:t>S</a:t>
            </a:r>
            <a:r>
              <a:rPr sz="2300" spc="-6" dirty="0" err="1">
                <a:latin typeface="Courier New"/>
                <a:cs typeface="Courier New"/>
              </a:rPr>
              <a:t>canf</a:t>
            </a:r>
            <a:r>
              <a:rPr lang="pt-BR" sz="2300" spc="-6" dirty="0">
                <a:latin typeface="Courier New"/>
                <a:cs typeface="Courier New"/>
              </a:rPr>
              <a:t> </a:t>
            </a:r>
            <a:r>
              <a:rPr sz="2300" spc="-86" dirty="0" smtClean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86" dirty="0" smtClean="0">
                <a:solidFill>
                  <a:srgbClr val="0000FF"/>
                </a:solidFill>
                <a:latin typeface="Courier New"/>
                <a:cs typeface="Courier New"/>
              </a:rPr>
              <a:t>"%</a:t>
            </a:r>
            <a:r>
              <a:rPr sz="2300" spc="-86" dirty="0">
                <a:solidFill>
                  <a:srgbClr val="0000FF"/>
                </a:solidFill>
                <a:latin typeface="Courier New"/>
                <a:cs typeface="Courier New"/>
              </a:rPr>
              <a:t>f"</a:t>
            </a:r>
            <a:r>
              <a:rPr sz="2300" spc="-86" dirty="0">
                <a:solidFill>
                  <a:srgbClr val="FF0000"/>
                </a:solidFill>
                <a:latin typeface="Courier New"/>
                <a:cs typeface="Courier New"/>
              </a:rPr>
              <a:t>,&amp;</a:t>
            </a:r>
            <a:r>
              <a:rPr sz="2300" spc="-86" dirty="0">
                <a:latin typeface="Courier New"/>
                <a:cs typeface="Courier New"/>
              </a:rPr>
              <a:t>A</a:t>
            </a:r>
            <a:r>
              <a:rPr sz="2300" spc="-8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86" dirty="0">
                <a:latin typeface="Courier New"/>
                <a:cs typeface="Courier New"/>
              </a:rPr>
              <a:t>i</a:t>
            </a:r>
            <a:r>
              <a:rPr sz="2300" spc="-8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86" dirty="0">
                <a:latin typeface="Courier New"/>
                <a:cs typeface="Courier New"/>
              </a:rPr>
              <a:t>notas</a:t>
            </a:r>
            <a:r>
              <a:rPr sz="2300" spc="-8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86" dirty="0">
                <a:latin typeface="Courier New"/>
                <a:cs typeface="Courier New"/>
              </a:rPr>
              <a:t>j</a:t>
            </a:r>
            <a:r>
              <a:rPr sz="2300" spc="-8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3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567131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1804" y="1486811"/>
            <a:ext cx="7413348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sz="2700" dirty="0">
                <a:latin typeface="Arial"/>
                <a:cs typeface="Arial"/>
              </a:rPr>
              <a:t>Procedimento para ler os dados dos</a:t>
            </a:r>
            <a:r>
              <a:rPr sz="2700" spc="-97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alunos: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Leitura de </a:t>
            </a:r>
            <a:r>
              <a:rPr spc="-6" dirty="0"/>
              <a:t>vetor </a:t>
            </a:r>
            <a:r>
              <a:rPr dirty="0"/>
              <a:t>de</a:t>
            </a:r>
            <a:r>
              <a:rPr spc="-51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855213" y="2310331"/>
            <a:ext cx="92156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42142" y="2310330"/>
            <a:ext cx="4666481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void</a:t>
            </a:r>
            <a:r>
              <a:rPr sz="2300" b="1" spc="-4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le_vetor_alunos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42467" y="3318143"/>
            <a:ext cx="145623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98589" y="3318142"/>
            <a:ext cx="3595656" cy="14157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latin typeface="Courier New"/>
                <a:cs typeface="Courier New"/>
              </a:rPr>
              <a:t>i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42467" y="4326516"/>
            <a:ext cx="181268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55036" y="4662220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11482" y="4998065"/>
            <a:ext cx="4843219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scanf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,&amp;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notas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55036" y="5334330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98590" y="5670174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42143" y="6011616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27727" y="4529563"/>
            <a:ext cx="2343637" cy="1311892"/>
          </a:xfrm>
          <a:custGeom>
            <a:avLst/>
            <a:gdLst/>
            <a:ahLst/>
            <a:cxnLst/>
            <a:rect l="l" t="t" r="r" b="b"/>
            <a:pathLst>
              <a:path w="2004060" h="1190625">
                <a:moveTo>
                  <a:pt x="1871980" y="397637"/>
                </a:moveTo>
                <a:lnTo>
                  <a:pt x="132080" y="397637"/>
                </a:lnTo>
                <a:lnTo>
                  <a:pt x="90331" y="404375"/>
                </a:lnTo>
                <a:lnTo>
                  <a:pt x="54073" y="423134"/>
                </a:lnTo>
                <a:lnTo>
                  <a:pt x="25482" y="451732"/>
                </a:lnTo>
                <a:lnTo>
                  <a:pt x="6733" y="487987"/>
                </a:lnTo>
                <a:lnTo>
                  <a:pt x="0" y="529717"/>
                </a:lnTo>
                <a:lnTo>
                  <a:pt x="0" y="1058037"/>
                </a:lnTo>
                <a:lnTo>
                  <a:pt x="6733" y="1099766"/>
                </a:lnTo>
                <a:lnTo>
                  <a:pt x="25482" y="1136021"/>
                </a:lnTo>
                <a:lnTo>
                  <a:pt x="54073" y="1164619"/>
                </a:lnTo>
                <a:lnTo>
                  <a:pt x="90331" y="1183378"/>
                </a:lnTo>
                <a:lnTo>
                  <a:pt x="132080" y="1190117"/>
                </a:lnTo>
                <a:lnTo>
                  <a:pt x="1871980" y="1190117"/>
                </a:lnTo>
                <a:lnTo>
                  <a:pt x="1913709" y="1183378"/>
                </a:lnTo>
                <a:lnTo>
                  <a:pt x="1949964" y="1164619"/>
                </a:lnTo>
                <a:lnTo>
                  <a:pt x="1978562" y="1136021"/>
                </a:lnTo>
                <a:lnTo>
                  <a:pt x="1997321" y="1099766"/>
                </a:lnTo>
                <a:lnTo>
                  <a:pt x="2004060" y="1058037"/>
                </a:lnTo>
                <a:lnTo>
                  <a:pt x="2004060" y="529717"/>
                </a:lnTo>
                <a:lnTo>
                  <a:pt x="1997321" y="487987"/>
                </a:lnTo>
                <a:lnTo>
                  <a:pt x="1978562" y="451732"/>
                </a:lnTo>
                <a:lnTo>
                  <a:pt x="1949964" y="423134"/>
                </a:lnTo>
                <a:lnTo>
                  <a:pt x="1913709" y="404375"/>
                </a:lnTo>
                <a:lnTo>
                  <a:pt x="1871980" y="397637"/>
                </a:lnTo>
                <a:close/>
              </a:path>
              <a:path w="2004060" h="1190625">
                <a:moveTo>
                  <a:pt x="1979295" y="0"/>
                </a:moveTo>
                <a:lnTo>
                  <a:pt x="1169035" y="397637"/>
                </a:lnTo>
                <a:lnTo>
                  <a:pt x="1670050" y="397637"/>
                </a:lnTo>
                <a:lnTo>
                  <a:pt x="1979295" y="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27727" y="4529563"/>
            <a:ext cx="2343637" cy="1311892"/>
          </a:xfrm>
          <a:custGeom>
            <a:avLst/>
            <a:gdLst/>
            <a:ahLst/>
            <a:cxnLst/>
            <a:rect l="l" t="t" r="r" b="b"/>
            <a:pathLst>
              <a:path w="2004060" h="1190625">
                <a:moveTo>
                  <a:pt x="0" y="529717"/>
                </a:moveTo>
                <a:lnTo>
                  <a:pt x="6733" y="487987"/>
                </a:lnTo>
                <a:lnTo>
                  <a:pt x="25482" y="451732"/>
                </a:lnTo>
                <a:lnTo>
                  <a:pt x="54073" y="423134"/>
                </a:lnTo>
                <a:lnTo>
                  <a:pt x="90331" y="404375"/>
                </a:lnTo>
                <a:lnTo>
                  <a:pt x="132080" y="397637"/>
                </a:lnTo>
                <a:lnTo>
                  <a:pt x="1169035" y="397637"/>
                </a:lnTo>
                <a:lnTo>
                  <a:pt x="1979295" y="0"/>
                </a:lnTo>
                <a:lnTo>
                  <a:pt x="1670050" y="397637"/>
                </a:lnTo>
                <a:lnTo>
                  <a:pt x="1871980" y="397637"/>
                </a:lnTo>
                <a:lnTo>
                  <a:pt x="1913709" y="404375"/>
                </a:lnTo>
                <a:lnTo>
                  <a:pt x="1949964" y="423134"/>
                </a:lnTo>
                <a:lnTo>
                  <a:pt x="1978562" y="451732"/>
                </a:lnTo>
                <a:lnTo>
                  <a:pt x="1997321" y="487987"/>
                </a:lnTo>
                <a:lnTo>
                  <a:pt x="2004060" y="529717"/>
                </a:lnTo>
                <a:lnTo>
                  <a:pt x="2004060" y="727837"/>
                </a:lnTo>
                <a:lnTo>
                  <a:pt x="2004060" y="1058037"/>
                </a:lnTo>
                <a:lnTo>
                  <a:pt x="1997321" y="1099766"/>
                </a:lnTo>
                <a:lnTo>
                  <a:pt x="1978562" y="1136021"/>
                </a:lnTo>
                <a:lnTo>
                  <a:pt x="1949964" y="1164619"/>
                </a:lnTo>
                <a:lnTo>
                  <a:pt x="1913709" y="1183378"/>
                </a:lnTo>
                <a:lnTo>
                  <a:pt x="1871980" y="1190117"/>
                </a:lnTo>
                <a:lnTo>
                  <a:pt x="1670050" y="1190117"/>
                </a:lnTo>
                <a:lnTo>
                  <a:pt x="1169035" y="1190117"/>
                </a:lnTo>
                <a:lnTo>
                  <a:pt x="132080" y="1190117"/>
                </a:lnTo>
                <a:lnTo>
                  <a:pt x="90331" y="1183378"/>
                </a:lnTo>
                <a:lnTo>
                  <a:pt x="54073" y="1164619"/>
                </a:lnTo>
                <a:lnTo>
                  <a:pt x="25482" y="1136021"/>
                </a:lnTo>
                <a:lnTo>
                  <a:pt x="6733" y="1099766"/>
                </a:lnTo>
                <a:lnTo>
                  <a:pt x="0" y="1058037"/>
                </a:lnTo>
                <a:lnTo>
                  <a:pt x="0" y="727837"/>
                </a:lnTo>
                <a:lnTo>
                  <a:pt x="0" y="529717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86763" y="4998204"/>
            <a:ext cx="2221108" cy="83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759" marR="5793" indent="-1448" algn="ctr"/>
            <a:r>
              <a:rPr spc="-6" dirty="0">
                <a:latin typeface="Arial"/>
                <a:cs typeface="Arial"/>
              </a:rPr>
              <a:t>Para </a:t>
            </a:r>
            <a:r>
              <a:rPr spc="-11" dirty="0">
                <a:latin typeface="Arial"/>
                <a:cs typeface="Arial"/>
              </a:rPr>
              <a:t>cada aluno, um  </a:t>
            </a:r>
            <a:r>
              <a:rPr spc="-6" dirty="0">
                <a:latin typeface="Arial"/>
                <a:cs typeface="Arial"/>
              </a:rPr>
              <a:t>laço para ler </a:t>
            </a:r>
            <a:r>
              <a:rPr spc="-11" dirty="0">
                <a:latin typeface="Arial"/>
                <a:cs typeface="Arial"/>
              </a:rPr>
              <a:t>as suas  quatro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notas</a:t>
            </a:r>
            <a:endParaRPr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484730" y="4333793"/>
            <a:ext cx="5557598" cy="397416"/>
          </a:xfrm>
          <a:custGeom>
            <a:avLst/>
            <a:gdLst/>
            <a:ahLst/>
            <a:cxnLst/>
            <a:rect l="l" t="t" r="r" b="b"/>
            <a:pathLst>
              <a:path w="4752340" h="360679">
                <a:moveTo>
                  <a:pt x="0" y="60071"/>
                </a:moveTo>
                <a:lnTo>
                  <a:pt x="4724" y="36701"/>
                </a:lnTo>
                <a:lnTo>
                  <a:pt x="17605" y="17605"/>
                </a:lnTo>
                <a:lnTo>
                  <a:pt x="36701" y="4724"/>
                </a:lnTo>
                <a:lnTo>
                  <a:pt x="60070" y="0"/>
                </a:lnTo>
                <a:lnTo>
                  <a:pt x="4692269" y="0"/>
                </a:lnTo>
                <a:lnTo>
                  <a:pt x="4715638" y="4724"/>
                </a:lnTo>
                <a:lnTo>
                  <a:pt x="4734734" y="17605"/>
                </a:lnTo>
                <a:lnTo>
                  <a:pt x="4747615" y="36701"/>
                </a:lnTo>
                <a:lnTo>
                  <a:pt x="4752340" y="60071"/>
                </a:lnTo>
                <a:lnTo>
                  <a:pt x="4752340" y="300609"/>
                </a:lnTo>
                <a:lnTo>
                  <a:pt x="4747615" y="323978"/>
                </a:lnTo>
                <a:lnTo>
                  <a:pt x="4734734" y="343074"/>
                </a:lnTo>
                <a:lnTo>
                  <a:pt x="4715638" y="355955"/>
                </a:lnTo>
                <a:lnTo>
                  <a:pt x="4692269" y="360680"/>
                </a:lnTo>
                <a:lnTo>
                  <a:pt x="60070" y="360680"/>
                </a:lnTo>
                <a:lnTo>
                  <a:pt x="36701" y="355955"/>
                </a:lnTo>
                <a:lnTo>
                  <a:pt x="17605" y="343074"/>
                </a:lnTo>
                <a:lnTo>
                  <a:pt x="4724" y="323978"/>
                </a:lnTo>
                <a:lnTo>
                  <a:pt x="0" y="300609"/>
                </a:lnTo>
                <a:lnTo>
                  <a:pt x="0" y="60071"/>
                </a:lnTo>
                <a:close/>
              </a:path>
            </a:pathLst>
          </a:custGeom>
          <a:ln w="381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7436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Leitura de </a:t>
            </a:r>
            <a:r>
              <a:rPr spc="-6" dirty="0"/>
              <a:t>vetor </a:t>
            </a:r>
            <a:r>
              <a:rPr dirty="0"/>
              <a:t>de</a:t>
            </a:r>
            <a:r>
              <a:rPr spc="-51" dirty="0"/>
              <a:t> </a:t>
            </a:r>
            <a:r>
              <a:rPr dirty="0"/>
              <a:t>estruturas</a:t>
            </a:r>
          </a:p>
        </p:txBody>
      </p:sp>
      <p:sp>
        <p:nvSpPr>
          <p:cNvPr id="3" name="object 3"/>
          <p:cNvSpPr/>
          <p:nvPr/>
        </p:nvSpPr>
        <p:spPr>
          <a:xfrm>
            <a:off x="1948574" y="2025650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48574" y="2025650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685435" y="1292281"/>
            <a:ext cx="9322561" cy="18928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dirty="0"/>
              <a:t>Procedimento para ler os dados dos</a:t>
            </a:r>
            <a:r>
              <a:rPr spc="-97" dirty="0"/>
              <a:t> </a:t>
            </a:r>
            <a:r>
              <a:rPr dirty="0"/>
              <a:t>alunos:</a:t>
            </a:r>
          </a:p>
          <a:p>
            <a:pPr>
              <a:spcBef>
                <a:spcPts val="17"/>
              </a:spcBef>
            </a:pPr>
            <a:endParaRPr sz="3000">
              <a:latin typeface="Times New Roman"/>
              <a:cs typeface="Times New Roman"/>
            </a:endParaRPr>
          </a:p>
          <a:p>
            <a:pPr marL="1302029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2300" spc="-6" dirty="0">
                <a:latin typeface="Courier New"/>
                <a:cs typeface="Courier New"/>
              </a:rPr>
              <a:t>le_vetor_alunos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29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300">
              <a:latin typeface="Courier New"/>
              <a:cs typeface="Courier New"/>
            </a:endParaRPr>
          </a:p>
          <a:p>
            <a:pPr marL="1302029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164962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57319" y="3318142"/>
            <a:ext cx="1426529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57319" y="4326515"/>
            <a:ext cx="1782976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13441" y="3318142"/>
            <a:ext cx="3565952" cy="1769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latin typeface="Courier New"/>
                <a:cs typeface="Courier New"/>
              </a:rPr>
              <a:t>i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69888" y="4998065"/>
            <a:ext cx="5169962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7594"/>
            <a:r>
              <a:rPr sz="2300" spc="-6" dirty="0">
                <a:latin typeface="Courier New"/>
                <a:cs typeface="Courier New"/>
              </a:rPr>
              <a:t>scanf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,&amp;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notas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13442" y="5670174"/>
            <a:ext cx="178966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56995" y="6011616"/>
            <a:ext cx="178966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356632" y="5352521"/>
            <a:ext cx="1601040" cy="1073303"/>
          </a:xfrm>
          <a:custGeom>
            <a:avLst/>
            <a:gdLst/>
            <a:ahLst/>
            <a:cxnLst/>
            <a:rect l="l" t="t" r="r" b="b"/>
            <a:pathLst>
              <a:path w="1369059" h="974089">
                <a:moveTo>
                  <a:pt x="1244600" y="227330"/>
                </a:moveTo>
                <a:lnTo>
                  <a:pt x="124460" y="227330"/>
                </a:lnTo>
                <a:lnTo>
                  <a:pt x="76027" y="237114"/>
                </a:lnTo>
                <a:lnTo>
                  <a:pt x="36464" y="263794"/>
                </a:lnTo>
                <a:lnTo>
                  <a:pt x="9784" y="303357"/>
                </a:lnTo>
                <a:lnTo>
                  <a:pt x="0" y="351789"/>
                </a:lnTo>
                <a:lnTo>
                  <a:pt x="0" y="849630"/>
                </a:lnTo>
                <a:lnTo>
                  <a:pt x="9784" y="898073"/>
                </a:lnTo>
                <a:lnTo>
                  <a:pt x="36464" y="937634"/>
                </a:lnTo>
                <a:lnTo>
                  <a:pt x="76027" y="964308"/>
                </a:lnTo>
                <a:lnTo>
                  <a:pt x="124460" y="974090"/>
                </a:lnTo>
                <a:lnTo>
                  <a:pt x="1244600" y="974090"/>
                </a:lnTo>
                <a:lnTo>
                  <a:pt x="1293032" y="964308"/>
                </a:lnTo>
                <a:lnTo>
                  <a:pt x="1332595" y="937634"/>
                </a:lnTo>
                <a:lnTo>
                  <a:pt x="1359275" y="898073"/>
                </a:lnTo>
                <a:lnTo>
                  <a:pt x="1369059" y="849630"/>
                </a:lnTo>
                <a:lnTo>
                  <a:pt x="1369059" y="351789"/>
                </a:lnTo>
                <a:lnTo>
                  <a:pt x="1359275" y="303357"/>
                </a:lnTo>
                <a:lnTo>
                  <a:pt x="1332595" y="263794"/>
                </a:lnTo>
                <a:lnTo>
                  <a:pt x="1293032" y="237114"/>
                </a:lnTo>
                <a:lnTo>
                  <a:pt x="1244600" y="227330"/>
                </a:lnTo>
                <a:close/>
              </a:path>
              <a:path w="1369059" h="974089">
                <a:moveTo>
                  <a:pt x="830072" y="0"/>
                </a:moveTo>
                <a:lnTo>
                  <a:pt x="798576" y="227330"/>
                </a:lnTo>
                <a:lnTo>
                  <a:pt x="1140841" y="227330"/>
                </a:lnTo>
                <a:lnTo>
                  <a:pt x="830072" y="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356632" y="5352521"/>
            <a:ext cx="1601040" cy="1073303"/>
          </a:xfrm>
          <a:custGeom>
            <a:avLst/>
            <a:gdLst/>
            <a:ahLst/>
            <a:cxnLst/>
            <a:rect l="l" t="t" r="r" b="b"/>
            <a:pathLst>
              <a:path w="1369059" h="974089">
                <a:moveTo>
                  <a:pt x="0" y="351789"/>
                </a:moveTo>
                <a:lnTo>
                  <a:pt x="9784" y="303357"/>
                </a:lnTo>
                <a:lnTo>
                  <a:pt x="36464" y="263794"/>
                </a:lnTo>
                <a:lnTo>
                  <a:pt x="76027" y="237114"/>
                </a:lnTo>
                <a:lnTo>
                  <a:pt x="124460" y="227330"/>
                </a:lnTo>
                <a:lnTo>
                  <a:pt x="798576" y="227330"/>
                </a:lnTo>
                <a:lnTo>
                  <a:pt x="830072" y="0"/>
                </a:lnTo>
                <a:lnTo>
                  <a:pt x="1140841" y="227330"/>
                </a:lnTo>
                <a:lnTo>
                  <a:pt x="1244600" y="227330"/>
                </a:lnTo>
                <a:lnTo>
                  <a:pt x="1293032" y="237114"/>
                </a:lnTo>
                <a:lnTo>
                  <a:pt x="1332595" y="263794"/>
                </a:lnTo>
                <a:lnTo>
                  <a:pt x="1359275" y="303357"/>
                </a:lnTo>
                <a:lnTo>
                  <a:pt x="1369059" y="351789"/>
                </a:lnTo>
                <a:lnTo>
                  <a:pt x="1369059" y="538480"/>
                </a:lnTo>
                <a:lnTo>
                  <a:pt x="1369059" y="849630"/>
                </a:lnTo>
                <a:lnTo>
                  <a:pt x="1359275" y="898073"/>
                </a:lnTo>
                <a:lnTo>
                  <a:pt x="1332595" y="937634"/>
                </a:lnTo>
                <a:lnTo>
                  <a:pt x="1293032" y="964308"/>
                </a:lnTo>
                <a:lnTo>
                  <a:pt x="1244600" y="974090"/>
                </a:lnTo>
                <a:lnTo>
                  <a:pt x="1140841" y="974090"/>
                </a:lnTo>
                <a:lnTo>
                  <a:pt x="798576" y="974090"/>
                </a:lnTo>
                <a:lnTo>
                  <a:pt x="124460" y="974090"/>
                </a:lnTo>
                <a:lnTo>
                  <a:pt x="76027" y="964308"/>
                </a:lnTo>
                <a:lnTo>
                  <a:pt x="36464" y="937634"/>
                </a:lnTo>
                <a:lnTo>
                  <a:pt x="9784" y="898073"/>
                </a:lnTo>
                <a:lnTo>
                  <a:pt x="0" y="849630"/>
                </a:lnTo>
                <a:lnTo>
                  <a:pt x="0" y="538480"/>
                </a:lnTo>
                <a:lnTo>
                  <a:pt x="0" y="35178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407128" y="5741961"/>
            <a:ext cx="1503017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indent="205660"/>
            <a:r>
              <a:rPr spc="-6" dirty="0">
                <a:latin typeface="Arial"/>
                <a:cs typeface="Arial"/>
              </a:rPr>
              <a:t>Índice j </a:t>
            </a:r>
            <a:r>
              <a:rPr spc="-11" dirty="0">
                <a:latin typeface="Arial"/>
                <a:cs typeface="Arial"/>
              </a:rPr>
              <a:t>do  </a:t>
            </a:r>
            <a:r>
              <a:rPr spc="-6" dirty="0">
                <a:latin typeface="Arial"/>
                <a:cs typeface="Arial"/>
              </a:rPr>
              <a:t>vetor </a:t>
            </a:r>
            <a:r>
              <a:rPr spc="-11" dirty="0">
                <a:latin typeface="Arial"/>
                <a:cs typeface="Arial"/>
              </a:rPr>
              <a:t>de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notas</a:t>
            </a:r>
            <a:endParaRPr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419939" y="5328172"/>
            <a:ext cx="1705003" cy="1097792"/>
          </a:xfrm>
          <a:custGeom>
            <a:avLst/>
            <a:gdLst/>
            <a:ahLst/>
            <a:cxnLst/>
            <a:rect l="l" t="t" r="r" b="b"/>
            <a:pathLst>
              <a:path w="1457960" h="996314">
                <a:moveTo>
                  <a:pt x="1333500" y="249428"/>
                </a:moveTo>
                <a:lnTo>
                  <a:pt x="124459" y="249428"/>
                </a:lnTo>
                <a:lnTo>
                  <a:pt x="76027" y="259212"/>
                </a:lnTo>
                <a:lnTo>
                  <a:pt x="36464" y="285892"/>
                </a:lnTo>
                <a:lnTo>
                  <a:pt x="9784" y="325455"/>
                </a:lnTo>
                <a:lnTo>
                  <a:pt x="0" y="373888"/>
                </a:lnTo>
                <a:lnTo>
                  <a:pt x="0" y="871728"/>
                </a:lnTo>
                <a:lnTo>
                  <a:pt x="9784" y="920171"/>
                </a:lnTo>
                <a:lnTo>
                  <a:pt x="36464" y="959732"/>
                </a:lnTo>
                <a:lnTo>
                  <a:pt x="76027" y="986406"/>
                </a:lnTo>
                <a:lnTo>
                  <a:pt x="124459" y="996188"/>
                </a:lnTo>
                <a:lnTo>
                  <a:pt x="1333500" y="996188"/>
                </a:lnTo>
                <a:lnTo>
                  <a:pt x="1381932" y="986406"/>
                </a:lnTo>
                <a:lnTo>
                  <a:pt x="1421495" y="959732"/>
                </a:lnTo>
                <a:lnTo>
                  <a:pt x="1448175" y="920171"/>
                </a:lnTo>
                <a:lnTo>
                  <a:pt x="1457959" y="871728"/>
                </a:lnTo>
                <a:lnTo>
                  <a:pt x="1457959" y="373888"/>
                </a:lnTo>
                <a:lnTo>
                  <a:pt x="1448175" y="325455"/>
                </a:lnTo>
                <a:lnTo>
                  <a:pt x="1421495" y="285892"/>
                </a:lnTo>
                <a:lnTo>
                  <a:pt x="1381932" y="259212"/>
                </a:lnTo>
                <a:lnTo>
                  <a:pt x="1333500" y="249428"/>
                </a:lnTo>
                <a:close/>
              </a:path>
              <a:path w="1457960" h="996314">
                <a:moveTo>
                  <a:pt x="1095375" y="0"/>
                </a:moveTo>
                <a:lnTo>
                  <a:pt x="850518" y="249428"/>
                </a:lnTo>
                <a:lnTo>
                  <a:pt x="1215008" y="249428"/>
                </a:lnTo>
                <a:lnTo>
                  <a:pt x="1095375" y="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419939" y="5328172"/>
            <a:ext cx="1705003" cy="1097792"/>
          </a:xfrm>
          <a:custGeom>
            <a:avLst/>
            <a:gdLst/>
            <a:ahLst/>
            <a:cxnLst/>
            <a:rect l="l" t="t" r="r" b="b"/>
            <a:pathLst>
              <a:path w="1457960" h="996314">
                <a:moveTo>
                  <a:pt x="0" y="373888"/>
                </a:moveTo>
                <a:lnTo>
                  <a:pt x="9784" y="325455"/>
                </a:lnTo>
                <a:lnTo>
                  <a:pt x="36464" y="285892"/>
                </a:lnTo>
                <a:lnTo>
                  <a:pt x="76027" y="259212"/>
                </a:lnTo>
                <a:lnTo>
                  <a:pt x="124459" y="249428"/>
                </a:lnTo>
                <a:lnTo>
                  <a:pt x="850518" y="249428"/>
                </a:lnTo>
                <a:lnTo>
                  <a:pt x="1095375" y="0"/>
                </a:lnTo>
                <a:lnTo>
                  <a:pt x="1215008" y="249428"/>
                </a:lnTo>
                <a:lnTo>
                  <a:pt x="1333500" y="249428"/>
                </a:lnTo>
                <a:lnTo>
                  <a:pt x="1381932" y="259212"/>
                </a:lnTo>
                <a:lnTo>
                  <a:pt x="1421495" y="285892"/>
                </a:lnTo>
                <a:lnTo>
                  <a:pt x="1448175" y="325455"/>
                </a:lnTo>
                <a:lnTo>
                  <a:pt x="1457959" y="373888"/>
                </a:lnTo>
                <a:lnTo>
                  <a:pt x="1457959" y="560578"/>
                </a:lnTo>
                <a:lnTo>
                  <a:pt x="1457959" y="871728"/>
                </a:lnTo>
                <a:lnTo>
                  <a:pt x="1448175" y="920171"/>
                </a:lnTo>
                <a:lnTo>
                  <a:pt x="1421495" y="959732"/>
                </a:lnTo>
                <a:lnTo>
                  <a:pt x="1381932" y="986406"/>
                </a:lnTo>
                <a:lnTo>
                  <a:pt x="1333500" y="996188"/>
                </a:lnTo>
                <a:lnTo>
                  <a:pt x="1215008" y="996188"/>
                </a:lnTo>
                <a:lnTo>
                  <a:pt x="850518" y="996188"/>
                </a:lnTo>
                <a:lnTo>
                  <a:pt x="124459" y="996188"/>
                </a:lnTo>
                <a:lnTo>
                  <a:pt x="76027" y="986406"/>
                </a:lnTo>
                <a:lnTo>
                  <a:pt x="36464" y="959732"/>
                </a:lnTo>
                <a:lnTo>
                  <a:pt x="9784" y="920171"/>
                </a:lnTo>
                <a:lnTo>
                  <a:pt x="0" y="871728"/>
                </a:lnTo>
                <a:lnTo>
                  <a:pt x="0" y="560578"/>
                </a:lnTo>
                <a:lnTo>
                  <a:pt x="0" y="373888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731829" y="5607203"/>
            <a:ext cx="1082707" cy="83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pc="-6" dirty="0">
                <a:latin typeface="Arial"/>
                <a:cs typeface="Arial"/>
              </a:rPr>
              <a:t>Índice</a:t>
            </a:r>
            <a:r>
              <a:rPr spc="-29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</a:t>
            </a:r>
            <a:r>
              <a:rPr spc="-51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do </a:t>
            </a:r>
            <a:r>
              <a:rPr dirty="0">
                <a:latin typeface="Arial"/>
                <a:cs typeface="Arial"/>
              </a:rPr>
              <a:t> </a:t>
            </a:r>
            <a:r>
              <a:rPr spc="-6" dirty="0">
                <a:latin typeface="Arial"/>
                <a:cs typeface="Arial"/>
              </a:rPr>
              <a:t>vetor </a:t>
            </a:r>
            <a:r>
              <a:rPr spc="-11" dirty="0">
                <a:latin typeface="Arial"/>
                <a:cs typeface="Arial"/>
              </a:rPr>
              <a:t>de  alunos</a:t>
            </a:r>
            <a:endParaRPr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11472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Impressão </a:t>
            </a:r>
            <a:r>
              <a:rPr dirty="0"/>
              <a:t>de </a:t>
            </a:r>
            <a:r>
              <a:rPr spc="-6" dirty="0"/>
              <a:t>vetor </a:t>
            </a:r>
            <a:r>
              <a:rPr dirty="0"/>
              <a:t>de</a:t>
            </a:r>
            <a:r>
              <a:rPr spc="17" dirty="0"/>
              <a:t> </a:t>
            </a:r>
            <a:r>
              <a:rPr spc="-6" dirty="0"/>
              <a:t>estruturas</a:t>
            </a:r>
          </a:p>
        </p:txBody>
      </p:sp>
      <p:sp>
        <p:nvSpPr>
          <p:cNvPr id="3" name="object 3"/>
          <p:cNvSpPr/>
          <p:nvPr/>
        </p:nvSpPr>
        <p:spPr>
          <a:xfrm>
            <a:off x="1304001" y="2462859"/>
            <a:ext cx="6876450" cy="4172867"/>
          </a:xfrm>
          <a:custGeom>
            <a:avLst/>
            <a:gdLst/>
            <a:ahLst/>
            <a:cxnLst/>
            <a:rect l="l" t="t" r="r" b="b"/>
            <a:pathLst>
              <a:path w="5880100" h="3787140">
                <a:moveTo>
                  <a:pt x="0" y="3787140"/>
                </a:moveTo>
                <a:lnTo>
                  <a:pt x="5880099" y="3787140"/>
                </a:lnTo>
                <a:lnTo>
                  <a:pt x="5880099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304001" y="2462859"/>
            <a:ext cx="6876450" cy="4172867"/>
          </a:xfrm>
          <a:custGeom>
            <a:avLst/>
            <a:gdLst/>
            <a:ahLst/>
            <a:cxnLst/>
            <a:rect l="l" t="t" r="r" b="b"/>
            <a:pathLst>
              <a:path w="5880100" h="3787140">
                <a:moveTo>
                  <a:pt x="0" y="3787140"/>
                </a:moveTo>
                <a:lnTo>
                  <a:pt x="5880099" y="3787140"/>
                </a:lnTo>
                <a:lnTo>
                  <a:pt x="5880099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05346" y="1283906"/>
            <a:ext cx="8183421" cy="19851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sz="2700" dirty="0">
                <a:latin typeface="Arial"/>
                <a:cs typeface="Arial"/>
              </a:rPr>
              <a:t>O processo de </a:t>
            </a:r>
            <a:r>
              <a:rPr sz="2700" spc="-6" dirty="0">
                <a:latin typeface="Arial"/>
                <a:cs typeface="Arial"/>
              </a:rPr>
              <a:t>escrita </a:t>
            </a:r>
            <a:r>
              <a:rPr sz="2700" dirty="0">
                <a:latin typeface="Arial"/>
                <a:cs typeface="Arial"/>
              </a:rPr>
              <a:t>de um </a:t>
            </a:r>
            <a:r>
              <a:rPr sz="2700" spc="-6" dirty="0">
                <a:latin typeface="Arial"/>
                <a:cs typeface="Arial"/>
              </a:rPr>
              <a:t>vetor </a:t>
            </a:r>
            <a:r>
              <a:rPr sz="2700" dirty="0">
                <a:latin typeface="Arial"/>
                <a:cs typeface="Arial"/>
              </a:rPr>
              <a:t>de estrutura</a:t>
            </a:r>
            <a:r>
              <a:rPr sz="2700" spc="-46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é</a:t>
            </a:r>
            <a:endParaRPr sz="2700">
              <a:latin typeface="Arial"/>
              <a:cs typeface="Arial"/>
            </a:endParaRPr>
          </a:p>
          <a:p>
            <a:pPr marL="404802"/>
            <a:r>
              <a:rPr sz="2700" dirty="0">
                <a:latin typeface="Arial"/>
                <a:cs typeface="Arial"/>
              </a:rPr>
              <a:t>similar aos modos </a:t>
            </a:r>
            <a:r>
              <a:rPr sz="2700" spc="-6" dirty="0">
                <a:latin typeface="Arial"/>
                <a:cs typeface="Arial"/>
              </a:rPr>
              <a:t>de </a:t>
            </a:r>
            <a:r>
              <a:rPr sz="2700" dirty="0">
                <a:latin typeface="Arial"/>
                <a:cs typeface="Arial"/>
              </a:rPr>
              <a:t>escrita anteriores </a:t>
            </a:r>
            <a:r>
              <a:rPr sz="2700" spc="-6" dirty="0">
                <a:latin typeface="Arial"/>
                <a:cs typeface="Arial"/>
              </a:rPr>
              <a:t>já</a:t>
            </a:r>
            <a:r>
              <a:rPr sz="2700" spc="-68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vistos.</a:t>
            </a:r>
            <a:endParaRPr sz="2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 marL="591634">
              <a:spcBef>
                <a:spcPts val="6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2300" spc="-6" dirty="0">
                <a:latin typeface="Courier New"/>
                <a:cs typeface="Courier New"/>
              </a:rPr>
              <a:t>imprime_vetor_alunos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86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300">
              <a:latin typeface="Courier New"/>
              <a:cs typeface="Courier New"/>
            </a:endParaRPr>
          </a:p>
          <a:p>
            <a:pPr marL="591634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73618" y="3509154"/>
            <a:ext cx="3565952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68866" y="3173031"/>
            <a:ext cx="1426529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120" dirty="0"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12419" y="4180844"/>
            <a:ext cx="6240787" cy="24776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95188"/>
            <a:r>
              <a:rPr sz="2300" spc="-6" dirty="0">
                <a:latin typeface="Courier New"/>
                <a:cs typeface="Courier New"/>
              </a:rPr>
              <a:t>puts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695188">
              <a:tabLst>
                <a:tab pos="1390376" algn="l"/>
              </a:tabLst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	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  <a:p>
            <a:pPr marL="695188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1042782"/>
            <a:r>
              <a:rPr sz="2300" spc="-6" dirty="0">
                <a:latin typeface="Courier New"/>
                <a:cs typeface="Courier New"/>
              </a:rPr>
              <a:t>printf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 %f"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notas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300">
              <a:latin typeface="Courier New"/>
              <a:cs typeface="Courier New"/>
            </a:endParaRPr>
          </a:p>
          <a:p>
            <a:pPr marL="695188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46"/>
              </a:spcBef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93400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904" y="1710007"/>
            <a:ext cx="5037780" cy="5088043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49967" rIns="0" bIns="0" rtlCol="0">
            <a:spAutoFit/>
          </a:bodyPr>
          <a:lstStyle/>
          <a:p>
            <a:pPr marL="97761">
              <a:spcBef>
                <a:spcPts val="393"/>
              </a:spcBef>
            </a:pPr>
            <a:r>
              <a:rPr sz="1600" spc="-6" dirty="0">
                <a:solidFill>
                  <a:srgbClr val="009F00"/>
                </a:solidFill>
                <a:latin typeface="Courier New"/>
                <a:cs typeface="Courier New"/>
              </a:rPr>
              <a:t>#include</a:t>
            </a:r>
            <a:r>
              <a:rPr sz="1600" spc="-108" dirty="0">
                <a:solidFill>
                  <a:srgbClr val="009F00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solidFill>
                  <a:srgbClr val="009F00"/>
                </a:solidFill>
                <a:latin typeface="Courier New"/>
                <a:cs typeface="Courier New"/>
              </a:rPr>
              <a:t>&lt;stdio.h&gt;</a:t>
            </a:r>
            <a:endParaRPr sz="1600">
              <a:latin typeface="Courier New"/>
              <a:cs typeface="Courier New"/>
            </a:endParaRPr>
          </a:p>
          <a:p>
            <a:pPr>
              <a:spcBef>
                <a:spcPts val="11"/>
              </a:spcBef>
            </a:pPr>
            <a:endParaRPr sz="1700">
              <a:latin typeface="Times New Roman"/>
              <a:cs typeface="Times New Roman"/>
            </a:endParaRPr>
          </a:p>
          <a:p>
            <a:pPr marL="97761">
              <a:spcBef>
                <a:spcPts val="6"/>
              </a:spcBef>
            </a:pPr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1600" b="1" spc="-9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b="1" spc="-1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1600">
              <a:latin typeface="Courier New"/>
              <a:cs typeface="Courier New"/>
            </a:endParaRPr>
          </a:p>
          <a:p>
            <a:pPr marL="97761">
              <a:lnSpc>
                <a:spcPts val="1916"/>
              </a:lnSpc>
            </a:pP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1600"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nome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solidFill>
                  <a:srgbClr val="EF00EF"/>
                </a:solidFill>
                <a:latin typeface="Courier New"/>
                <a:cs typeface="Courier New"/>
              </a:rPr>
              <a:t>40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float</a:t>
            </a:r>
            <a:r>
              <a:rPr sz="1600" b="1" spc="-5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notas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1600">
              <a:latin typeface="Courier New"/>
              <a:cs typeface="Courier New"/>
            </a:endParaRPr>
          </a:p>
          <a:p>
            <a:pPr marL="97761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16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latin typeface="Courier New"/>
                <a:cs typeface="Courier New"/>
              </a:rPr>
              <a:t>Aluno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  <a:p>
            <a:pPr>
              <a:spcBef>
                <a:spcPts val="11"/>
              </a:spcBef>
            </a:pPr>
            <a:endParaRPr sz="1700">
              <a:latin typeface="Times New Roman"/>
              <a:cs typeface="Times New Roman"/>
            </a:endParaRPr>
          </a:p>
          <a:p>
            <a:pPr marL="97761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1600" spc="-11" dirty="0">
                <a:latin typeface="Courier New"/>
                <a:cs typeface="Courier New"/>
              </a:rPr>
              <a:t>leVetorAlunos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latin typeface="Courier New"/>
                <a:cs typeface="Courier New"/>
              </a:rPr>
              <a:t>Aluno </a:t>
            </a:r>
            <a:r>
              <a:rPr sz="1600" spc="-6" dirty="0">
                <a:latin typeface="Courier New"/>
                <a:cs typeface="Courier New"/>
              </a:rPr>
              <a:t>a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[], </a:t>
            </a:r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1600" b="1" spc="-1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n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1600">
              <a:latin typeface="Courier New"/>
              <a:cs typeface="Courier New"/>
            </a:endParaRPr>
          </a:p>
          <a:p>
            <a:pPr marL="97761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1600" spc="-6" dirty="0">
                <a:latin typeface="Courier New"/>
                <a:cs typeface="Courier New"/>
              </a:rPr>
              <a:t>i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1600" spc="-97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latin typeface="Courier New"/>
                <a:cs typeface="Courier New"/>
              </a:rPr>
              <a:t>j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for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( </a:t>
            </a:r>
            <a:r>
              <a:rPr sz="1600" dirty="0">
                <a:latin typeface="Courier New"/>
                <a:cs typeface="Courier New"/>
              </a:rPr>
              <a:t>i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1600" spc="-17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1600" spc="-17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1600" dirty="0">
                <a:latin typeface="Courier New"/>
                <a:cs typeface="Courier New"/>
              </a:rPr>
              <a:t>i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1600" spc="-6" dirty="0">
                <a:latin typeface="Courier New"/>
                <a:cs typeface="Courier New"/>
              </a:rPr>
              <a:t>n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16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i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++)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585116" marR="181039"/>
            <a:r>
              <a:rPr sz="1600" spc="-11" dirty="0">
                <a:latin typeface="Courier New"/>
                <a:cs typeface="Courier New"/>
              </a:rPr>
              <a:t>printf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"Informe </a:t>
            </a:r>
            <a:r>
              <a:rPr sz="1600" dirty="0">
                <a:solidFill>
                  <a:srgbClr val="0000FF"/>
                </a:solidFill>
                <a:latin typeface="Courier New"/>
                <a:cs typeface="Courier New"/>
              </a:rPr>
              <a:t>o 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nome </a:t>
            </a:r>
            <a:r>
              <a:rPr sz="1600" spc="-6" dirty="0">
                <a:solidFill>
                  <a:srgbClr val="0000FF"/>
                </a:solidFill>
                <a:latin typeface="Courier New"/>
                <a:cs typeface="Courier New"/>
              </a:rPr>
              <a:t>do 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aluno"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1600" spc="-11" dirty="0">
                <a:latin typeface="Courier New"/>
                <a:cs typeface="Courier New"/>
              </a:rPr>
              <a:t>gets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latin typeface="Courier New"/>
                <a:cs typeface="Courier New"/>
              </a:rPr>
              <a:t>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latin typeface="Courier New"/>
                <a:cs typeface="Courier New"/>
              </a:rPr>
              <a:t>i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1600" spc="-11" dirty="0">
                <a:latin typeface="Courier New"/>
                <a:cs typeface="Courier New"/>
              </a:rPr>
              <a:t>nome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 marL="585116"/>
            <a:r>
              <a:rPr sz="1600" spc="-11" dirty="0">
                <a:latin typeface="Courier New"/>
                <a:cs typeface="Courier New"/>
              </a:rPr>
              <a:t>printf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"Informe </a:t>
            </a:r>
            <a:r>
              <a:rPr sz="1600" spc="-6" dirty="0">
                <a:solidFill>
                  <a:srgbClr val="0000FF"/>
                </a:solidFill>
                <a:latin typeface="Courier New"/>
                <a:cs typeface="Courier New"/>
              </a:rPr>
              <a:t>as </a:t>
            </a:r>
            <a:r>
              <a:rPr sz="1600" dirty="0">
                <a:solidFill>
                  <a:srgbClr val="0000FF"/>
                </a:solidFill>
                <a:latin typeface="Courier New"/>
                <a:cs typeface="Courier New"/>
              </a:rPr>
              <a:t>4 </a:t>
            </a:r>
            <a:r>
              <a:rPr sz="1600" spc="-6" dirty="0">
                <a:solidFill>
                  <a:srgbClr val="0000FF"/>
                </a:solidFill>
                <a:latin typeface="Courier New"/>
                <a:cs typeface="Courier New"/>
              </a:rPr>
              <a:t>notas</a:t>
            </a:r>
            <a:r>
              <a:rPr sz="1600" spc="-74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solidFill>
                  <a:srgbClr val="0000FF"/>
                </a:solidFill>
                <a:latin typeface="Courier New"/>
                <a:cs typeface="Courier New"/>
              </a:rPr>
              <a:t>"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 marL="828432" marR="302696" indent="-243316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for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( </a:t>
            </a:r>
            <a:r>
              <a:rPr sz="1600" dirty="0">
                <a:latin typeface="Courier New"/>
                <a:cs typeface="Courier New"/>
              </a:rPr>
              <a:t>j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16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1600" dirty="0">
                <a:latin typeface="Courier New"/>
                <a:cs typeface="Courier New"/>
              </a:rPr>
              <a:t>j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16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1600" spc="-11" dirty="0">
                <a:latin typeface="Courier New"/>
                <a:cs typeface="Courier New"/>
              </a:rPr>
              <a:t>j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++)  </a:t>
            </a:r>
            <a:r>
              <a:rPr sz="1600" spc="-11" dirty="0">
                <a:latin typeface="Courier New"/>
                <a:cs typeface="Courier New"/>
              </a:rPr>
              <a:t>scanf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"%f%*c"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&amp;</a:t>
            </a:r>
            <a:r>
              <a:rPr sz="1600" spc="-11" dirty="0">
                <a:latin typeface="Courier New"/>
                <a:cs typeface="Courier New"/>
              </a:rPr>
              <a:t>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latin typeface="Courier New"/>
                <a:cs typeface="Courier New"/>
              </a:rPr>
              <a:t>i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1600" spc="-11" dirty="0">
                <a:latin typeface="Courier New"/>
                <a:cs typeface="Courier New"/>
              </a:rPr>
              <a:t>notas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latin typeface="Courier New"/>
                <a:cs typeface="Courier New"/>
              </a:rPr>
              <a:t>j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97761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6" dirty="0"/>
              <a:t>Programa</a:t>
            </a:r>
            <a:r>
              <a:rPr spc="-51" dirty="0"/>
              <a:t> </a:t>
            </a:r>
            <a:r>
              <a:rPr dirty="0"/>
              <a:t>completo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224913" y="1589663"/>
            <a:ext cx="5361552" cy="5323134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22449" rIns="0" bIns="0" rtlCol="0">
            <a:spAutoFit/>
          </a:bodyPr>
          <a:lstStyle/>
          <a:p>
            <a:pPr marL="99209">
              <a:spcBef>
                <a:spcPts val="177"/>
              </a:spcBef>
            </a:pPr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1600" spc="-11" dirty="0">
                <a:latin typeface="Courier New"/>
                <a:cs typeface="Courier New"/>
              </a:rPr>
              <a:t>imprimeVetorAlunos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latin typeface="Courier New"/>
                <a:cs typeface="Courier New"/>
              </a:rPr>
              <a:t>Aluno </a:t>
            </a:r>
            <a:r>
              <a:rPr sz="1600" spc="-6" dirty="0">
                <a:latin typeface="Courier New"/>
                <a:cs typeface="Courier New"/>
              </a:rPr>
              <a:t>a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[], </a:t>
            </a:r>
            <a:r>
              <a:rPr sz="1600" b="1" spc="-11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1600" b="1" spc="2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latin typeface="Courier New"/>
                <a:cs typeface="Courier New"/>
              </a:rPr>
              <a:t>n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1600">
              <a:latin typeface="Courier New"/>
              <a:cs typeface="Courier New"/>
            </a:endParaRPr>
          </a:p>
          <a:p>
            <a:pPr marL="99209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342525" marR="2074701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1600" spc="-6" dirty="0">
                <a:latin typeface="Courier New"/>
                <a:cs typeface="Courier New"/>
              </a:rPr>
              <a:t>i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1600" dirty="0">
                <a:latin typeface="Courier New"/>
                <a:cs typeface="Courier New"/>
              </a:rPr>
              <a:t>j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1600" spc="-11" dirty="0">
                <a:latin typeface="Courier New"/>
                <a:cs typeface="Courier New"/>
              </a:rPr>
              <a:t>printf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"\nAlunos:"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for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( </a:t>
            </a:r>
            <a:r>
              <a:rPr sz="1600" dirty="0">
                <a:latin typeface="Courier New"/>
                <a:cs typeface="Courier New"/>
              </a:rPr>
              <a:t>i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1600" spc="-11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1600" dirty="0">
                <a:latin typeface="Courier New"/>
                <a:cs typeface="Courier New"/>
              </a:rPr>
              <a:t>i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1600" spc="-6" dirty="0">
                <a:latin typeface="Courier New"/>
                <a:cs typeface="Courier New"/>
              </a:rPr>
              <a:t>n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1600" spc="-1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i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++)</a:t>
            </a:r>
            <a:endParaRPr sz="1600">
              <a:latin typeface="Courier New"/>
              <a:cs typeface="Courier New"/>
            </a:endParaRPr>
          </a:p>
          <a:p>
            <a:pPr marL="342525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585116"/>
            <a:r>
              <a:rPr sz="1600" spc="-6" dirty="0">
                <a:latin typeface="Courier New"/>
                <a:cs typeface="Courier New"/>
              </a:rPr>
              <a:t>printf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6" dirty="0">
                <a:solidFill>
                  <a:srgbClr val="0000FF"/>
                </a:solidFill>
                <a:latin typeface="Courier New"/>
                <a:cs typeface="Courier New"/>
              </a:rPr>
              <a:t>"\n%20s 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"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1600" spc="-5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latin typeface="Courier New"/>
                <a:cs typeface="Courier New"/>
              </a:rPr>
              <a:t>i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1600" spc="-11" dirty="0">
                <a:latin typeface="Courier New"/>
                <a:cs typeface="Courier New"/>
              </a:rPr>
              <a:t>nome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 marL="829156" marR="617703" indent="-244040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for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( </a:t>
            </a:r>
            <a:r>
              <a:rPr sz="1600" dirty="0">
                <a:latin typeface="Courier New"/>
                <a:cs typeface="Courier New"/>
              </a:rPr>
              <a:t>j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16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1600" dirty="0">
                <a:latin typeface="Courier New"/>
                <a:cs typeface="Courier New"/>
              </a:rPr>
              <a:t>j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16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1600" spc="-11" dirty="0">
                <a:latin typeface="Courier New"/>
                <a:cs typeface="Courier New"/>
              </a:rPr>
              <a:t>j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++)  </a:t>
            </a:r>
            <a:r>
              <a:rPr sz="1600" spc="-11" dirty="0">
                <a:latin typeface="Courier New"/>
                <a:cs typeface="Courier New"/>
              </a:rPr>
              <a:t>printf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"%.2f "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1600" spc="1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latin typeface="Courier New"/>
                <a:cs typeface="Courier New"/>
              </a:rPr>
              <a:t>i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1600" spc="-11" dirty="0">
                <a:latin typeface="Courier New"/>
                <a:cs typeface="Courier New"/>
              </a:rPr>
              <a:t>notas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latin typeface="Courier New"/>
                <a:cs typeface="Courier New"/>
              </a:rPr>
              <a:t>j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1600">
              <a:latin typeface="Courier New"/>
              <a:cs typeface="Courier New"/>
            </a:endParaRPr>
          </a:p>
          <a:p>
            <a:pPr marL="342525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99209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>
              <a:spcBef>
                <a:spcPts val="11"/>
              </a:spcBef>
            </a:pPr>
            <a:endParaRPr sz="1700">
              <a:latin typeface="Times New Roman"/>
              <a:cs typeface="Times New Roman"/>
            </a:endParaRPr>
          </a:p>
          <a:p>
            <a:pPr marL="99209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16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latin typeface="Courier New"/>
                <a:cs typeface="Courier New"/>
              </a:rPr>
              <a:t>main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 sz="1600">
              <a:latin typeface="Courier New"/>
              <a:cs typeface="Courier New"/>
            </a:endParaRPr>
          </a:p>
          <a:p>
            <a:pPr marL="99209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342525"/>
            <a:r>
              <a:rPr sz="1600" spc="-6" dirty="0">
                <a:latin typeface="Courier New"/>
                <a:cs typeface="Courier New"/>
              </a:rPr>
              <a:t>Aluno</a:t>
            </a:r>
            <a:r>
              <a:rPr sz="1600" spc="-57" dirty="0"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turma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solidFill>
                  <a:srgbClr val="EF00EF"/>
                </a:solidFill>
                <a:latin typeface="Courier New"/>
                <a:cs typeface="Courier New"/>
              </a:rPr>
              <a:t>35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1600">
              <a:latin typeface="Courier New"/>
              <a:cs typeface="Courier New"/>
            </a:endParaRPr>
          </a:p>
          <a:p>
            <a:pPr>
              <a:spcBef>
                <a:spcPts val="11"/>
              </a:spcBef>
            </a:pPr>
            <a:endParaRPr sz="1700">
              <a:latin typeface="Times New Roman"/>
              <a:cs typeface="Times New Roman"/>
            </a:endParaRPr>
          </a:p>
          <a:p>
            <a:pPr marL="342525"/>
            <a:r>
              <a:rPr sz="1600" spc="-11" dirty="0">
                <a:latin typeface="Courier New"/>
                <a:cs typeface="Courier New"/>
              </a:rPr>
              <a:t>leVetorAlunos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latin typeface="Courier New"/>
                <a:cs typeface="Courier New"/>
              </a:rPr>
              <a:t>turma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1600" spc="-17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solidFill>
                  <a:srgbClr val="EF00EF"/>
                </a:solidFill>
                <a:latin typeface="Courier New"/>
                <a:cs typeface="Courier New"/>
              </a:rPr>
              <a:t>35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 marL="342525"/>
            <a:r>
              <a:rPr sz="1600" spc="-11" dirty="0">
                <a:latin typeface="Courier New"/>
                <a:cs typeface="Courier New"/>
              </a:rPr>
              <a:t>imprimeVetorAlunos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latin typeface="Courier New"/>
                <a:cs typeface="Courier New"/>
              </a:rPr>
              <a:t>turma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1600" spc="1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solidFill>
                  <a:srgbClr val="EF00EF"/>
                </a:solidFill>
                <a:latin typeface="Courier New"/>
                <a:cs typeface="Courier New"/>
              </a:rPr>
              <a:t>35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>
              <a:spcBef>
                <a:spcPts val="17"/>
              </a:spcBef>
            </a:pPr>
            <a:endParaRPr sz="1700">
              <a:latin typeface="Times New Roman"/>
              <a:cs typeface="Times New Roman"/>
            </a:endParaRPr>
          </a:p>
          <a:p>
            <a:pPr marL="342525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return</a:t>
            </a:r>
            <a:r>
              <a:rPr sz="16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  <a:p>
            <a:pPr marL="99209">
              <a:spcBef>
                <a:spcPts val="23"/>
              </a:spcBef>
            </a:pP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585418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89251" y="996337"/>
            <a:ext cx="6020978" cy="68018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spcBef>
                <a:spcPts val="17"/>
              </a:spcBef>
            </a:pPr>
            <a:endParaRPr sz="1300" dirty="0">
              <a:latin typeface="Times New Roman"/>
              <a:cs typeface="Times New Roman"/>
            </a:endParaRPr>
          </a:p>
          <a:p>
            <a:pPr marR="10862" algn="r"/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89251" y="996337"/>
            <a:ext cx="6020978" cy="6512584"/>
          </a:xfrm>
          <a:custGeom>
            <a:avLst/>
            <a:gdLst/>
            <a:ahLst/>
            <a:cxnLst/>
            <a:rect l="l" t="t" r="r" b="b"/>
            <a:pathLst>
              <a:path w="5148580" h="5910580">
                <a:moveTo>
                  <a:pt x="0" y="5910580"/>
                </a:moveTo>
                <a:lnTo>
                  <a:pt x="5148580" y="5910580"/>
                </a:lnTo>
                <a:lnTo>
                  <a:pt x="5148580" y="0"/>
                </a:lnTo>
                <a:lnTo>
                  <a:pt x="0" y="0"/>
                </a:lnTo>
                <a:lnTo>
                  <a:pt x="0" y="591058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89251" y="996337"/>
            <a:ext cx="6020978" cy="6512584"/>
          </a:xfrm>
          <a:custGeom>
            <a:avLst/>
            <a:gdLst/>
            <a:ahLst/>
            <a:cxnLst/>
            <a:rect l="l" t="t" r="r" b="b"/>
            <a:pathLst>
              <a:path w="5148580" h="5910580">
                <a:moveTo>
                  <a:pt x="0" y="5910580"/>
                </a:moveTo>
                <a:lnTo>
                  <a:pt x="5148580" y="5910580"/>
                </a:lnTo>
                <a:lnTo>
                  <a:pt x="5148580" y="0"/>
                </a:lnTo>
                <a:lnTo>
                  <a:pt x="0" y="0"/>
                </a:lnTo>
                <a:lnTo>
                  <a:pt x="0" y="59105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682817" y="1047415"/>
            <a:ext cx="5781862" cy="4201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2100" spc="-11" dirty="0">
                <a:latin typeface="Courier New"/>
                <a:cs typeface="Courier New"/>
              </a:rPr>
              <a:t>leProdutos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latin typeface="Courier New"/>
                <a:cs typeface="Courier New"/>
              </a:rPr>
              <a:t>Produto</a:t>
            </a:r>
            <a:r>
              <a:rPr sz="2100" spc="-68" dirty="0"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p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latin typeface="Courier New"/>
                <a:cs typeface="Courier New"/>
              </a:rPr>
              <a:t>TAM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100">
              <a:latin typeface="Courier New"/>
              <a:cs typeface="Courier New"/>
            </a:endParaRPr>
          </a:p>
          <a:p>
            <a:pPr marL="1448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100">
              <a:latin typeface="Courier New"/>
              <a:cs typeface="Courier New"/>
            </a:endParaRPr>
          </a:p>
          <a:p>
            <a:pPr marL="326593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100" b="1" spc="-13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6" dirty="0">
                <a:latin typeface="Courier New"/>
                <a:cs typeface="Courier New"/>
              </a:rPr>
              <a:t>i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 marL="326593"/>
            <a:r>
              <a:rPr sz="2100" spc="-11" dirty="0">
                <a:latin typeface="Courier New"/>
                <a:cs typeface="Courier New"/>
              </a:rPr>
              <a:t>printf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"Produtos</a:t>
            </a:r>
            <a:r>
              <a:rPr sz="2100" spc="-57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armazenados:\n"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100">
              <a:latin typeface="Courier New"/>
              <a:cs typeface="Courier New"/>
            </a:endParaRPr>
          </a:p>
          <a:p>
            <a:pPr marL="326593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for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( </a:t>
            </a:r>
            <a:r>
              <a:rPr sz="2100" dirty="0">
                <a:latin typeface="Courier New"/>
                <a:cs typeface="Courier New"/>
              </a:rPr>
              <a:t>i </a:t>
            </a:r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1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100" dirty="0">
                <a:latin typeface="Courier New"/>
                <a:cs typeface="Courier New"/>
              </a:rPr>
              <a:t>i </a:t>
            </a:r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100" spc="-11" dirty="0">
                <a:latin typeface="Courier New"/>
                <a:cs typeface="Courier New"/>
              </a:rPr>
              <a:t>TAM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100" spc="-17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i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++)</a:t>
            </a:r>
            <a:endParaRPr sz="2100">
              <a:latin typeface="Courier New"/>
              <a:cs typeface="Courier New"/>
            </a:endParaRPr>
          </a:p>
          <a:p>
            <a:pPr marL="32659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100">
              <a:latin typeface="Courier New"/>
              <a:cs typeface="Courier New"/>
            </a:endParaRPr>
          </a:p>
          <a:p>
            <a:pPr marL="639428">
              <a:tabLst>
                <a:tab pos="3754014" algn="l"/>
              </a:tabLst>
            </a:pPr>
            <a:r>
              <a:rPr sz="2100" spc="-11" dirty="0">
                <a:latin typeface="Courier New"/>
                <a:cs typeface="Courier New"/>
              </a:rPr>
              <a:t>printf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"Produto </a:t>
            </a:r>
            <a:r>
              <a:rPr sz="2100" spc="-6" dirty="0">
                <a:solidFill>
                  <a:srgbClr val="0000FF"/>
                </a:solidFill>
                <a:latin typeface="Courier New"/>
                <a:cs typeface="Courier New"/>
              </a:rPr>
              <a:t>%d:	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"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1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100" spc="-23" dirty="0">
                <a:latin typeface="Courier New"/>
                <a:cs typeface="Courier New"/>
              </a:rPr>
              <a:t>i</a:t>
            </a:r>
            <a:r>
              <a:rPr sz="2100" spc="-23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100">
              <a:latin typeface="Courier New"/>
              <a:cs typeface="Courier New"/>
            </a:endParaRPr>
          </a:p>
          <a:p>
            <a:pPr marL="639428" marR="472148"/>
            <a:r>
              <a:rPr sz="2100" spc="-11" dirty="0">
                <a:latin typeface="Courier New"/>
                <a:cs typeface="Courier New"/>
              </a:rPr>
              <a:t>printf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"Codigo: </a:t>
            </a:r>
            <a:r>
              <a:rPr sz="2100" spc="-6" dirty="0">
                <a:solidFill>
                  <a:srgbClr val="0000FF"/>
                </a:solidFill>
                <a:latin typeface="Courier New"/>
                <a:cs typeface="Courier New"/>
              </a:rPr>
              <a:t>"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100" spc="-11" dirty="0">
                <a:latin typeface="Courier New"/>
                <a:cs typeface="Courier New"/>
              </a:rPr>
              <a:t>scanf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"%d%*c"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, &amp;</a:t>
            </a:r>
            <a:r>
              <a:rPr sz="2100" spc="-11" dirty="0">
                <a:latin typeface="Courier New"/>
                <a:cs typeface="Courier New"/>
              </a:rPr>
              <a:t>p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latin typeface="Courier New"/>
                <a:cs typeface="Courier New"/>
              </a:rPr>
              <a:t>i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100" spc="-11" dirty="0">
                <a:latin typeface="Courier New"/>
                <a:cs typeface="Courier New"/>
              </a:rPr>
              <a:t>codigo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100" spc="-11" dirty="0">
                <a:latin typeface="Courier New"/>
                <a:cs typeface="Courier New"/>
              </a:rPr>
              <a:t>printf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"Descricao: "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100" spc="-11" dirty="0">
                <a:latin typeface="Courier New"/>
                <a:cs typeface="Courier New"/>
              </a:rPr>
              <a:t>gets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latin typeface="Courier New"/>
                <a:cs typeface="Courier New"/>
              </a:rPr>
              <a:t>p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latin typeface="Courier New"/>
                <a:cs typeface="Courier New"/>
              </a:rPr>
              <a:t>i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100" spc="-11" dirty="0">
                <a:latin typeface="Courier New"/>
                <a:cs typeface="Courier New"/>
              </a:rPr>
              <a:t>descricao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100">
              <a:latin typeface="Courier New"/>
              <a:cs typeface="Courier New"/>
            </a:endParaRPr>
          </a:p>
          <a:p>
            <a:pPr marL="32659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100">
              <a:latin typeface="Courier New"/>
              <a:cs typeface="Courier New"/>
            </a:endParaRPr>
          </a:p>
          <a:p>
            <a:pPr marL="1448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14842" y="5280733"/>
            <a:ext cx="1150283" cy="3330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spc="-11" dirty="0">
                <a:latin typeface="Courier New"/>
                <a:cs typeface="Courier New"/>
              </a:rPr>
              <a:t>p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latin typeface="Courier New"/>
                <a:cs typeface="Courier New"/>
              </a:rPr>
              <a:t>TAM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82817" y="5280734"/>
            <a:ext cx="4504595" cy="1615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void</a:t>
            </a:r>
            <a:r>
              <a:rPr sz="2100"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imprimeProdutos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latin typeface="Courier New"/>
                <a:cs typeface="Courier New"/>
              </a:rPr>
              <a:t>Produto</a:t>
            </a:r>
            <a:endParaRPr sz="2100">
              <a:latin typeface="Courier New"/>
              <a:cs typeface="Courier New"/>
            </a:endParaRPr>
          </a:p>
          <a:p>
            <a:pPr marL="1448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100">
              <a:latin typeface="Courier New"/>
              <a:cs typeface="Courier New"/>
            </a:endParaRPr>
          </a:p>
          <a:p>
            <a:pPr marL="326593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100" b="1" spc="-13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6" dirty="0">
                <a:latin typeface="Courier New"/>
                <a:cs typeface="Courier New"/>
              </a:rPr>
              <a:t>i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 marL="639428" marR="161486" indent="-312835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for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( </a:t>
            </a:r>
            <a:r>
              <a:rPr sz="2100" dirty="0">
                <a:latin typeface="Courier New"/>
                <a:cs typeface="Courier New"/>
              </a:rPr>
              <a:t>i </a:t>
            </a:r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1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100" dirty="0">
                <a:latin typeface="Courier New"/>
                <a:cs typeface="Courier New"/>
              </a:rPr>
              <a:t>i </a:t>
            </a:r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100" spc="-11" dirty="0">
                <a:latin typeface="Courier New"/>
                <a:cs typeface="Courier New"/>
              </a:rPr>
              <a:t>TAM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100" spc="-18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i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++)  </a:t>
            </a:r>
            <a:r>
              <a:rPr sz="2100" spc="-11" dirty="0">
                <a:latin typeface="Courier New"/>
                <a:cs typeface="Courier New"/>
              </a:rPr>
              <a:t>printf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"%3d </a:t>
            </a:r>
            <a:r>
              <a:rPr sz="2100" dirty="0">
                <a:solidFill>
                  <a:srgbClr val="0000FF"/>
                </a:solidFill>
                <a:latin typeface="Courier New"/>
                <a:cs typeface="Courier New"/>
              </a:rPr>
              <a:t>-</a:t>
            </a:r>
            <a:r>
              <a:rPr sz="2100" spc="-97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%s\n"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42253" y="6792453"/>
            <a:ext cx="4662024" cy="3330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spc="-11" dirty="0">
                <a:latin typeface="Courier New"/>
                <a:cs typeface="Courier New"/>
              </a:rPr>
              <a:t>p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latin typeface="Courier New"/>
                <a:cs typeface="Courier New"/>
              </a:rPr>
              <a:t>i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100" spc="-11" dirty="0">
                <a:latin typeface="Courier New"/>
                <a:cs typeface="Courier New"/>
              </a:rPr>
              <a:t>codigo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100" spc="-7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p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latin typeface="Courier New"/>
                <a:cs typeface="Courier New"/>
              </a:rPr>
              <a:t>i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100" spc="-11" dirty="0">
                <a:latin typeface="Courier New"/>
                <a:cs typeface="Courier New"/>
              </a:rPr>
              <a:t>descricao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82818" y="7100660"/>
            <a:ext cx="190847" cy="3330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103" dirty="0"/>
              <a:t> </a:t>
            </a:r>
            <a:r>
              <a:rPr spc="-6" dirty="0"/>
              <a:t>2</a:t>
            </a:r>
          </a:p>
        </p:txBody>
      </p:sp>
      <p:sp>
        <p:nvSpPr>
          <p:cNvPr id="11" name="object 11"/>
          <p:cNvSpPr/>
          <p:nvPr/>
        </p:nvSpPr>
        <p:spPr>
          <a:xfrm>
            <a:off x="41584" y="1001935"/>
            <a:ext cx="4547665" cy="4984491"/>
          </a:xfrm>
          <a:custGeom>
            <a:avLst/>
            <a:gdLst/>
            <a:ahLst/>
            <a:cxnLst/>
            <a:rect l="l" t="t" r="r" b="b"/>
            <a:pathLst>
              <a:path w="3888740" h="4523740">
                <a:moveTo>
                  <a:pt x="0" y="4523740"/>
                </a:moveTo>
                <a:lnTo>
                  <a:pt x="3888740" y="4523740"/>
                </a:lnTo>
                <a:lnTo>
                  <a:pt x="3888740" y="0"/>
                </a:lnTo>
                <a:lnTo>
                  <a:pt x="0" y="0"/>
                </a:lnTo>
                <a:lnTo>
                  <a:pt x="0" y="452374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1584" y="1001935"/>
            <a:ext cx="4547665" cy="4984491"/>
          </a:xfrm>
          <a:custGeom>
            <a:avLst/>
            <a:gdLst/>
            <a:ahLst/>
            <a:cxnLst/>
            <a:rect l="l" t="t" r="r" b="b"/>
            <a:pathLst>
              <a:path w="3888740" h="4523740">
                <a:moveTo>
                  <a:pt x="0" y="4523740"/>
                </a:moveTo>
                <a:lnTo>
                  <a:pt x="3888740" y="4523740"/>
                </a:lnTo>
                <a:lnTo>
                  <a:pt x="3888740" y="0"/>
                </a:lnTo>
                <a:lnTo>
                  <a:pt x="0" y="0"/>
                </a:lnTo>
                <a:lnTo>
                  <a:pt x="0" y="45237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32924" y="1044616"/>
            <a:ext cx="4344194" cy="51706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spc="-11" dirty="0">
                <a:solidFill>
                  <a:srgbClr val="009F00"/>
                </a:solidFill>
                <a:latin typeface="Courier New"/>
                <a:cs typeface="Courier New"/>
              </a:rPr>
              <a:t>#include</a:t>
            </a:r>
            <a:r>
              <a:rPr sz="2100" spc="-57" dirty="0">
                <a:solidFill>
                  <a:srgbClr val="009F00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solidFill>
                  <a:srgbClr val="009F00"/>
                </a:solidFill>
                <a:latin typeface="Courier New"/>
                <a:cs typeface="Courier New"/>
              </a:rPr>
              <a:t>&lt;stdio.h&gt;</a:t>
            </a:r>
            <a:endParaRPr sz="2100">
              <a:latin typeface="Courier New"/>
              <a:cs typeface="Courier New"/>
            </a:endParaRPr>
          </a:p>
          <a:p>
            <a:pPr marL="14483"/>
            <a:r>
              <a:rPr sz="2100" spc="-11" dirty="0">
                <a:solidFill>
                  <a:srgbClr val="009F00"/>
                </a:solidFill>
                <a:latin typeface="Courier New"/>
                <a:cs typeface="Courier New"/>
              </a:rPr>
              <a:t>#define TAM</a:t>
            </a:r>
            <a:r>
              <a:rPr sz="2100" spc="-80" dirty="0">
                <a:solidFill>
                  <a:srgbClr val="009F00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009F00"/>
                </a:solidFill>
                <a:latin typeface="Courier New"/>
                <a:cs typeface="Courier New"/>
              </a:rPr>
              <a:t>4</a:t>
            </a:r>
            <a:endParaRPr sz="2100">
              <a:latin typeface="Courier New"/>
              <a:cs typeface="Courier New"/>
            </a:endParaRPr>
          </a:p>
          <a:p>
            <a:pPr>
              <a:spcBef>
                <a:spcPts val="34"/>
              </a:spcBef>
            </a:pPr>
            <a:endParaRPr sz="2100">
              <a:latin typeface="Times New Roman"/>
              <a:cs typeface="Times New Roman"/>
            </a:endParaRPr>
          </a:p>
          <a:p>
            <a:pPr marL="14483"/>
            <a:r>
              <a:rPr sz="2100" b="1" spc="-11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2100" b="1" spc="-6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b="1" spc="-1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100">
              <a:latin typeface="Courier New"/>
              <a:cs typeface="Courier New"/>
            </a:endParaRPr>
          </a:p>
          <a:p>
            <a:pPr marL="1448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100">
              <a:latin typeface="Courier New"/>
              <a:cs typeface="Courier New"/>
            </a:endParaRPr>
          </a:p>
          <a:p>
            <a:pPr marL="327318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1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codigo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 marL="327318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100" b="1" spc="-12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descricao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solidFill>
                  <a:srgbClr val="EF00EF"/>
                </a:solidFill>
                <a:latin typeface="Courier New"/>
                <a:cs typeface="Courier New"/>
              </a:rPr>
              <a:t>120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100">
              <a:latin typeface="Courier New"/>
              <a:cs typeface="Courier New"/>
            </a:endParaRPr>
          </a:p>
          <a:p>
            <a:pPr marL="1448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100" spc="-8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Produto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>
              <a:spcBef>
                <a:spcPts val="34"/>
              </a:spcBef>
            </a:pPr>
            <a:endParaRPr sz="2100">
              <a:latin typeface="Times New Roman"/>
              <a:cs typeface="Times New Roman"/>
            </a:endParaRPr>
          </a:p>
          <a:p>
            <a:pPr marL="14483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100" b="1" spc="-86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main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 sz="2100">
              <a:latin typeface="Courier New"/>
              <a:cs typeface="Courier New"/>
            </a:endParaRPr>
          </a:p>
          <a:p>
            <a:pPr marL="1448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100">
              <a:latin typeface="Courier New"/>
              <a:cs typeface="Courier New"/>
            </a:endParaRPr>
          </a:p>
          <a:p>
            <a:pPr marL="327318" marR="5793"/>
            <a:r>
              <a:rPr sz="2100" spc="-11" dirty="0">
                <a:latin typeface="Courier New"/>
                <a:cs typeface="Courier New"/>
              </a:rPr>
              <a:t>Produto estoque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latin typeface="Courier New"/>
                <a:cs typeface="Courier New"/>
              </a:rPr>
              <a:t>TAM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100" spc="-11" dirty="0">
                <a:latin typeface="Courier New"/>
                <a:cs typeface="Courier New"/>
              </a:rPr>
              <a:t>leProdutos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latin typeface="Courier New"/>
                <a:cs typeface="Courier New"/>
              </a:rPr>
              <a:t>estoque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100" spc="-11" dirty="0">
                <a:latin typeface="Courier New"/>
                <a:cs typeface="Courier New"/>
              </a:rPr>
              <a:t>imprimeProdutos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latin typeface="Courier New"/>
                <a:cs typeface="Courier New"/>
              </a:rPr>
              <a:t>estoque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100" b="1" spc="-11" dirty="0">
                <a:solidFill>
                  <a:srgbClr val="00009F"/>
                </a:solidFill>
                <a:latin typeface="Courier New"/>
                <a:cs typeface="Courier New"/>
              </a:rPr>
              <a:t>return</a:t>
            </a:r>
            <a:r>
              <a:rPr sz="2100" b="1" spc="-86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7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100" spc="-17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 marL="14483">
              <a:spcBef>
                <a:spcPts val="46"/>
              </a:spcBef>
            </a:pPr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1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882478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2291" y="1282505"/>
            <a:ext cx="9729509" cy="52168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0633" indent="-556150">
              <a:lnSpc>
                <a:spcPts val="2714"/>
              </a:lnSpc>
              <a:buClr>
                <a:srgbClr val="C5000A"/>
              </a:buClr>
              <a:buAutoNum type="arabicParenR" startAt="5"/>
              <a:tabLst>
                <a:tab pos="564116" algn="l"/>
                <a:tab pos="564840" algn="l"/>
                <a:tab pos="5159597" algn="l"/>
              </a:tabLst>
            </a:pPr>
            <a:r>
              <a:rPr sz="2500" spc="-6" dirty="0">
                <a:solidFill>
                  <a:srgbClr val="C00000"/>
                </a:solidFill>
                <a:latin typeface="Arial"/>
                <a:cs typeface="Arial"/>
              </a:rPr>
              <a:t>a) </a:t>
            </a:r>
            <a:r>
              <a:rPr sz="2500" spc="-11" dirty="0">
                <a:latin typeface="Arial"/>
                <a:cs typeface="Arial"/>
              </a:rPr>
              <a:t>Crie </a:t>
            </a:r>
            <a:r>
              <a:rPr sz="2500" dirty="0">
                <a:latin typeface="Arial"/>
                <a:cs typeface="Arial"/>
              </a:rPr>
              <a:t>uma</a:t>
            </a:r>
            <a:r>
              <a:rPr sz="2500" spc="74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estrutura</a:t>
            </a:r>
            <a:r>
              <a:rPr sz="2500" spc="11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chamada	</a:t>
            </a:r>
            <a:r>
              <a:rPr sz="2500" spc="-6" dirty="0">
                <a:latin typeface="Courier New"/>
                <a:cs typeface="Courier New"/>
              </a:rPr>
              <a:t>ponto</a:t>
            </a:r>
            <a:r>
              <a:rPr sz="2500" spc="-764" dirty="0">
                <a:latin typeface="Courier New"/>
                <a:cs typeface="Courier New"/>
              </a:rPr>
              <a:t> </a:t>
            </a:r>
            <a:r>
              <a:rPr sz="2500" spc="-6" dirty="0">
                <a:latin typeface="Arial"/>
                <a:cs typeface="Arial"/>
              </a:rPr>
              <a:t>contendo apenas as</a:t>
            </a:r>
            <a:endParaRPr sz="2500">
              <a:latin typeface="Arial"/>
              <a:cs typeface="Arial"/>
            </a:endParaRPr>
          </a:p>
          <a:p>
            <a:pPr marL="570633">
              <a:lnSpc>
                <a:spcPts val="2714"/>
              </a:lnSpc>
            </a:pPr>
            <a:r>
              <a:rPr sz="2500" spc="-6" dirty="0">
                <a:latin typeface="Arial"/>
                <a:cs typeface="Arial"/>
              </a:rPr>
              <a:t>coordenadas</a:t>
            </a:r>
            <a:r>
              <a:rPr sz="2500" spc="46" dirty="0">
                <a:latin typeface="Arial"/>
                <a:cs typeface="Arial"/>
              </a:rPr>
              <a:t> </a:t>
            </a:r>
            <a:r>
              <a:rPr sz="2500" dirty="0">
                <a:latin typeface="Courier New"/>
                <a:cs typeface="Courier New"/>
              </a:rPr>
              <a:t>x</a:t>
            </a:r>
            <a:r>
              <a:rPr sz="2500" spc="-832" dirty="0">
                <a:latin typeface="Courier New"/>
                <a:cs typeface="Courier New"/>
              </a:rPr>
              <a:t> </a:t>
            </a:r>
            <a:r>
              <a:rPr sz="2500" dirty="0">
                <a:latin typeface="Arial"/>
                <a:cs typeface="Arial"/>
              </a:rPr>
              <a:t>e</a:t>
            </a:r>
            <a:r>
              <a:rPr sz="2500" spc="-6" dirty="0">
                <a:latin typeface="Arial"/>
                <a:cs typeface="Arial"/>
              </a:rPr>
              <a:t> </a:t>
            </a:r>
            <a:r>
              <a:rPr sz="2500" dirty="0">
                <a:latin typeface="Courier New"/>
                <a:cs typeface="Courier New"/>
              </a:rPr>
              <a:t>y</a:t>
            </a:r>
            <a:r>
              <a:rPr sz="2500" spc="-810" dirty="0">
                <a:latin typeface="Courier New"/>
                <a:cs typeface="Courier New"/>
              </a:rPr>
              <a:t> </a:t>
            </a:r>
            <a:r>
              <a:rPr sz="2500" spc="-6" dirty="0">
                <a:latin typeface="Arial"/>
                <a:cs typeface="Arial"/>
              </a:rPr>
              <a:t>(inteiros)</a:t>
            </a:r>
            <a:r>
              <a:rPr sz="2500" spc="34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do</a:t>
            </a:r>
            <a:r>
              <a:rPr sz="2500" spc="-6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ponto.</a:t>
            </a:r>
            <a:endParaRPr sz="2500">
              <a:latin typeface="Arial"/>
              <a:cs typeface="Arial"/>
            </a:endParaRPr>
          </a:p>
          <a:p>
            <a:pPr marL="570633" lvl="1">
              <a:lnSpc>
                <a:spcPts val="2714"/>
              </a:lnSpc>
              <a:spcBef>
                <a:spcPts val="1825"/>
              </a:spcBef>
              <a:buClr>
                <a:srgbClr val="C00000"/>
              </a:buClr>
              <a:buAutoNum type="alphaLcParenR" startAt="2"/>
              <a:tabLst>
                <a:tab pos="945021" algn="l"/>
              </a:tabLst>
            </a:pPr>
            <a:r>
              <a:rPr sz="2500" spc="-6" dirty="0">
                <a:latin typeface="Arial"/>
                <a:cs typeface="Arial"/>
              </a:rPr>
              <a:t>Faça </a:t>
            </a:r>
            <a:r>
              <a:rPr sz="2500" dirty="0">
                <a:latin typeface="Arial"/>
                <a:cs typeface="Arial"/>
              </a:rPr>
              <a:t>uma </a:t>
            </a:r>
            <a:r>
              <a:rPr sz="2500" spc="-6" dirty="0">
                <a:latin typeface="Arial"/>
                <a:cs typeface="Arial"/>
              </a:rPr>
              <a:t>função que receba </a:t>
            </a:r>
            <a:r>
              <a:rPr sz="2500" spc="-11" dirty="0">
                <a:latin typeface="Arial"/>
                <a:cs typeface="Arial"/>
              </a:rPr>
              <a:t>dois </a:t>
            </a:r>
            <a:r>
              <a:rPr sz="2500" spc="-6" dirty="0">
                <a:latin typeface="Arial"/>
                <a:cs typeface="Arial"/>
              </a:rPr>
              <a:t>pontos por </a:t>
            </a:r>
            <a:r>
              <a:rPr sz="2500" dirty="0">
                <a:latin typeface="Arial"/>
                <a:cs typeface="Arial"/>
              </a:rPr>
              <a:t>parâmetro</a:t>
            </a:r>
            <a:r>
              <a:rPr sz="2500" spc="148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e</a:t>
            </a:r>
            <a:endParaRPr sz="2500">
              <a:latin typeface="Arial"/>
              <a:cs typeface="Arial"/>
            </a:endParaRPr>
          </a:p>
          <a:p>
            <a:pPr marL="570633">
              <a:lnSpc>
                <a:spcPts val="2714"/>
              </a:lnSpc>
            </a:pPr>
            <a:r>
              <a:rPr sz="2500" dirty="0">
                <a:latin typeface="Arial"/>
                <a:cs typeface="Arial"/>
              </a:rPr>
              <a:t>retorne a </a:t>
            </a:r>
            <a:r>
              <a:rPr sz="2500" spc="-6" dirty="0">
                <a:latin typeface="Arial"/>
                <a:cs typeface="Arial"/>
              </a:rPr>
              <a:t>distância entre eles.</a:t>
            </a:r>
            <a:endParaRPr sz="2500">
              <a:latin typeface="Arial"/>
              <a:cs typeface="Arial"/>
            </a:endParaRPr>
          </a:p>
          <a:p>
            <a:pPr>
              <a:spcBef>
                <a:spcPts val="40"/>
              </a:spcBef>
            </a:pPr>
            <a:endParaRPr sz="2100">
              <a:latin typeface="Times New Roman"/>
              <a:cs typeface="Times New Roman"/>
            </a:endParaRPr>
          </a:p>
          <a:p>
            <a:pPr marL="570633" marR="158590" lvl="1">
              <a:lnSpc>
                <a:spcPct val="80100"/>
              </a:lnSpc>
              <a:buClr>
                <a:srgbClr val="C00000"/>
              </a:buClr>
              <a:buAutoNum type="alphaLcParenR" startAt="3"/>
              <a:tabLst>
                <a:tab pos="927641" algn="l"/>
              </a:tabLst>
            </a:pPr>
            <a:r>
              <a:rPr sz="2500" spc="-6" dirty="0">
                <a:latin typeface="Arial"/>
                <a:cs typeface="Arial"/>
              </a:rPr>
              <a:t>Faça um </a:t>
            </a:r>
            <a:r>
              <a:rPr sz="2500" dirty="0">
                <a:latin typeface="Arial"/>
                <a:cs typeface="Arial"/>
              </a:rPr>
              <a:t>programa </a:t>
            </a:r>
            <a:r>
              <a:rPr sz="2500" spc="-6" dirty="0">
                <a:latin typeface="Arial"/>
                <a:cs typeface="Arial"/>
              </a:rPr>
              <a:t>que declare 2 </a:t>
            </a:r>
            <a:r>
              <a:rPr sz="2500" dirty="0">
                <a:latin typeface="Arial"/>
                <a:cs typeface="Arial"/>
              </a:rPr>
              <a:t>pontos, </a:t>
            </a:r>
            <a:r>
              <a:rPr sz="2500" spc="-11" dirty="0">
                <a:latin typeface="Arial"/>
                <a:cs typeface="Arial"/>
              </a:rPr>
              <a:t>leia </a:t>
            </a:r>
            <a:r>
              <a:rPr sz="2500" spc="-6" dirty="0">
                <a:latin typeface="Arial"/>
                <a:cs typeface="Arial"/>
              </a:rPr>
              <a:t>as  coordenadas</a:t>
            </a:r>
            <a:r>
              <a:rPr sz="2500" spc="46" dirty="0">
                <a:latin typeface="Arial"/>
                <a:cs typeface="Arial"/>
              </a:rPr>
              <a:t> </a:t>
            </a:r>
            <a:r>
              <a:rPr sz="2500" dirty="0">
                <a:latin typeface="Courier New"/>
                <a:cs typeface="Courier New"/>
              </a:rPr>
              <a:t>x</a:t>
            </a:r>
            <a:r>
              <a:rPr sz="2500" spc="-832" dirty="0">
                <a:latin typeface="Courier New"/>
                <a:cs typeface="Courier New"/>
              </a:rPr>
              <a:t> </a:t>
            </a:r>
            <a:r>
              <a:rPr sz="2500" dirty="0">
                <a:latin typeface="Arial"/>
                <a:cs typeface="Arial"/>
              </a:rPr>
              <a:t>e</a:t>
            </a:r>
            <a:r>
              <a:rPr sz="2500" spc="-6" dirty="0">
                <a:latin typeface="Arial"/>
                <a:cs typeface="Arial"/>
              </a:rPr>
              <a:t> </a:t>
            </a:r>
            <a:r>
              <a:rPr sz="2500" dirty="0">
                <a:latin typeface="Courier New"/>
                <a:cs typeface="Courier New"/>
              </a:rPr>
              <a:t>y</a:t>
            </a:r>
            <a:r>
              <a:rPr sz="2500" spc="-810" dirty="0">
                <a:latin typeface="Courier New"/>
                <a:cs typeface="Courier New"/>
              </a:rPr>
              <a:t> </a:t>
            </a:r>
            <a:r>
              <a:rPr sz="2500" dirty="0">
                <a:latin typeface="Arial"/>
                <a:cs typeface="Arial"/>
              </a:rPr>
              <a:t>de</a:t>
            </a:r>
            <a:r>
              <a:rPr sz="2500" spc="-6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cada</a:t>
            </a:r>
            <a:r>
              <a:rPr sz="2500" spc="17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um</a:t>
            </a:r>
            <a:r>
              <a:rPr sz="2500" spc="-6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e</a:t>
            </a:r>
            <a:r>
              <a:rPr sz="2500" spc="-6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chame</a:t>
            </a:r>
            <a:r>
              <a:rPr sz="2500" spc="23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a</a:t>
            </a:r>
            <a:r>
              <a:rPr sz="2500" spc="-17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função</a:t>
            </a:r>
            <a:r>
              <a:rPr sz="2500" spc="17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criada</a:t>
            </a:r>
            <a:r>
              <a:rPr sz="2500" spc="-6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para  </a:t>
            </a:r>
            <a:r>
              <a:rPr sz="2500" spc="-6" dirty="0">
                <a:latin typeface="Arial"/>
                <a:cs typeface="Arial"/>
              </a:rPr>
              <a:t>calcular a distância </a:t>
            </a:r>
            <a:r>
              <a:rPr sz="2500" dirty="0">
                <a:latin typeface="Arial"/>
                <a:cs typeface="Arial"/>
              </a:rPr>
              <a:t>entre </a:t>
            </a:r>
            <a:r>
              <a:rPr sz="2500" spc="-6" dirty="0">
                <a:latin typeface="Arial"/>
                <a:cs typeface="Arial"/>
              </a:rPr>
              <a:t>eles. Apresente no final a distância  </a:t>
            </a:r>
            <a:r>
              <a:rPr sz="2500" dirty="0">
                <a:latin typeface="Arial"/>
                <a:cs typeface="Arial"/>
              </a:rPr>
              <a:t>entre </a:t>
            </a:r>
            <a:r>
              <a:rPr sz="2500" spc="-6" dirty="0">
                <a:latin typeface="Arial"/>
                <a:cs typeface="Arial"/>
              </a:rPr>
              <a:t>os </a:t>
            </a:r>
            <a:r>
              <a:rPr sz="2500" spc="-11" dirty="0">
                <a:latin typeface="Arial"/>
                <a:cs typeface="Arial"/>
              </a:rPr>
              <a:t>dois</a:t>
            </a:r>
            <a:r>
              <a:rPr sz="2500" spc="-29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pontos.</a:t>
            </a:r>
            <a:endParaRPr sz="2500">
              <a:latin typeface="Arial"/>
              <a:cs typeface="Arial"/>
            </a:endParaRPr>
          </a:p>
          <a:p>
            <a:pPr lvl="1">
              <a:spcBef>
                <a:spcPts val="6"/>
              </a:spcBef>
              <a:buClr>
                <a:srgbClr val="C00000"/>
              </a:buClr>
              <a:buFont typeface="Arial"/>
              <a:buAutoNum type="alphaLcParenR" startAt="3"/>
            </a:pPr>
            <a:endParaRPr sz="3300">
              <a:latin typeface="Times New Roman"/>
              <a:cs typeface="Times New Roman"/>
            </a:endParaRPr>
          </a:p>
          <a:p>
            <a:pPr marL="570633" marR="5793" indent="-556150">
              <a:lnSpc>
                <a:spcPct val="80300"/>
              </a:lnSpc>
              <a:buClr>
                <a:srgbClr val="C5000A"/>
              </a:buClr>
              <a:buAutoNum type="arabicParenR" startAt="6"/>
              <a:tabLst>
                <a:tab pos="569909" algn="l"/>
                <a:tab pos="570633" algn="l"/>
              </a:tabLst>
            </a:pPr>
            <a:r>
              <a:rPr sz="2500" spc="-6" dirty="0">
                <a:latin typeface="Arial"/>
                <a:cs typeface="Arial"/>
              </a:rPr>
              <a:t>Utilizando a </a:t>
            </a:r>
            <a:r>
              <a:rPr sz="2500" dirty="0">
                <a:latin typeface="Arial"/>
                <a:cs typeface="Arial"/>
              </a:rPr>
              <a:t>estrutura </a:t>
            </a:r>
            <a:r>
              <a:rPr sz="2500" spc="-6" dirty="0">
                <a:latin typeface="Courier New"/>
                <a:cs typeface="Courier New"/>
              </a:rPr>
              <a:t>ponto</a:t>
            </a:r>
            <a:r>
              <a:rPr sz="2500" spc="-667" dirty="0">
                <a:latin typeface="Courier New"/>
                <a:cs typeface="Courier New"/>
              </a:rPr>
              <a:t> </a:t>
            </a:r>
            <a:r>
              <a:rPr sz="2500" spc="-6" dirty="0">
                <a:latin typeface="Arial"/>
                <a:cs typeface="Arial"/>
              </a:rPr>
              <a:t>definida no exercício </a:t>
            </a:r>
            <a:r>
              <a:rPr sz="2500" dirty="0">
                <a:latin typeface="Arial"/>
                <a:cs typeface="Arial"/>
              </a:rPr>
              <a:t>5, faça uma  </a:t>
            </a:r>
            <a:r>
              <a:rPr sz="2500" spc="-6" dirty="0">
                <a:latin typeface="Arial"/>
                <a:cs typeface="Arial"/>
              </a:rPr>
              <a:t>função que receba </a:t>
            </a:r>
            <a:r>
              <a:rPr sz="2500" dirty="0">
                <a:latin typeface="Arial"/>
                <a:cs typeface="Arial"/>
              </a:rPr>
              <a:t>2 </a:t>
            </a:r>
            <a:r>
              <a:rPr sz="2500" spc="-6" dirty="0">
                <a:latin typeface="Arial"/>
                <a:cs typeface="Arial"/>
              </a:rPr>
              <a:t>pontos </a:t>
            </a:r>
            <a:r>
              <a:rPr sz="2500" dirty="0">
                <a:latin typeface="Arial"/>
                <a:cs typeface="Arial"/>
              </a:rPr>
              <a:t>e retorne o </a:t>
            </a:r>
            <a:r>
              <a:rPr sz="2500" spc="-6" dirty="0">
                <a:latin typeface="Arial"/>
                <a:cs typeface="Arial"/>
              </a:rPr>
              <a:t>ponto mais próximo </a:t>
            </a:r>
            <a:r>
              <a:rPr sz="2500" dirty="0">
                <a:latin typeface="Arial"/>
                <a:cs typeface="Arial"/>
              </a:rPr>
              <a:t>da  </a:t>
            </a:r>
            <a:r>
              <a:rPr sz="2500" spc="-6" dirty="0">
                <a:latin typeface="Arial"/>
                <a:cs typeface="Arial"/>
              </a:rPr>
              <a:t>origem. Em seguida, modifique o </a:t>
            </a:r>
            <a:r>
              <a:rPr sz="2500" dirty="0">
                <a:latin typeface="Arial"/>
                <a:cs typeface="Arial"/>
              </a:rPr>
              <a:t>programa </a:t>
            </a:r>
            <a:r>
              <a:rPr sz="2500" spc="-6" dirty="0">
                <a:latin typeface="Arial"/>
                <a:cs typeface="Arial"/>
              </a:rPr>
              <a:t>principal para ler 4  pontos e imprimir apenas as coordenadas do ponto mais  próximo </a:t>
            </a:r>
            <a:r>
              <a:rPr sz="2500" dirty="0">
                <a:latin typeface="Arial"/>
                <a:cs typeface="Arial"/>
              </a:rPr>
              <a:t>da</a:t>
            </a:r>
            <a:r>
              <a:rPr sz="2500" spc="-29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origem.</a:t>
            </a:r>
            <a:endParaRPr sz="2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6" dirty="0"/>
              <a:t>Exercíc</a:t>
            </a:r>
            <a:r>
              <a:rPr dirty="0"/>
              <a:t>ios</a:t>
            </a:r>
          </a:p>
        </p:txBody>
      </p:sp>
    </p:spTree>
    <p:extLst>
      <p:ext uri="{BB962C8B-B14F-4D97-AF65-F5344CB8AC3E}">
        <p14:creationId xmlns:p14="http://schemas.microsoft.com/office/powerpoint/2010/main" val="499486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5262" y="1483245"/>
            <a:ext cx="9671586" cy="4526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67737" indent="-553254" algn="just">
              <a:lnSpc>
                <a:spcPts val="2144"/>
              </a:lnSpc>
              <a:buClr>
                <a:srgbClr val="C5000A"/>
              </a:buClr>
              <a:buAutoNum type="arabicParenR" startAt="7"/>
              <a:tabLst>
                <a:tab pos="567737" algn="l"/>
              </a:tabLst>
            </a:pPr>
            <a:r>
              <a:rPr sz="2500" spc="-6" dirty="0">
                <a:latin typeface="Arial"/>
                <a:cs typeface="Arial"/>
              </a:rPr>
              <a:t>Utilizando </a:t>
            </a:r>
            <a:r>
              <a:rPr sz="2500" dirty="0">
                <a:latin typeface="Arial"/>
                <a:cs typeface="Arial"/>
              </a:rPr>
              <a:t>a  estrutura </a:t>
            </a:r>
            <a:r>
              <a:rPr sz="2500" spc="-6" dirty="0">
                <a:latin typeface="Courier New"/>
                <a:cs typeface="Courier New"/>
              </a:rPr>
              <a:t>medidas </a:t>
            </a:r>
            <a:r>
              <a:rPr sz="2500" dirty="0">
                <a:latin typeface="Arial"/>
                <a:cs typeface="Arial"/>
              </a:rPr>
              <a:t>definida  </a:t>
            </a:r>
            <a:r>
              <a:rPr sz="2500" spc="-6" dirty="0">
                <a:latin typeface="Arial"/>
                <a:cs typeface="Arial"/>
              </a:rPr>
              <a:t>no exercício  2,</a:t>
            </a:r>
            <a:r>
              <a:rPr sz="2500" spc="-16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faça</a:t>
            </a:r>
            <a:endParaRPr sz="2500">
              <a:latin typeface="Arial"/>
              <a:cs typeface="Arial"/>
            </a:endParaRPr>
          </a:p>
          <a:p>
            <a:pPr marL="567737" marR="10862">
              <a:lnSpc>
                <a:spcPts val="2418"/>
              </a:lnSpc>
              <a:spcBef>
                <a:spcPts val="290"/>
              </a:spcBef>
              <a:tabLst>
                <a:tab pos="1184716" algn="l"/>
                <a:tab pos="2722819" algn="l"/>
                <a:tab pos="3430317" algn="l"/>
                <a:tab pos="4099436" algn="l"/>
                <a:tab pos="4449926" algn="l"/>
                <a:tab pos="5423189" algn="l"/>
                <a:tab pos="5773680" algn="l"/>
                <a:tab pos="6124895" algn="l"/>
                <a:tab pos="6990983" algn="l"/>
                <a:tab pos="7518167" algn="l"/>
                <a:tab pos="7868656" algn="l"/>
                <a:tab pos="9233687" algn="l"/>
              </a:tabLst>
            </a:pPr>
            <a:r>
              <a:rPr sz="2500" spc="-11" dirty="0">
                <a:latin typeface="Arial"/>
                <a:cs typeface="Arial"/>
              </a:rPr>
              <a:t>u</a:t>
            </a:r>
            <a:r>
              <a:rPr sz="2500" spc="-6" dirty="0">
                <a:latin typeface="Arial"/>
                <a:cs typeface="Arial"/>
              </a:rPr>
              <a:t>m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-6" dirty="0">
                <a:latin typeface="Arial"/>
                <a:cs typeface="Arial"/>
              </a:rPr>
              <a:t>progra</a:t>
            </a:r>
            <a:r>
              <a:rPr sz="2500" dirty="0">
                <a:latin typeface="Arial"/>
                <a:cs typeface="Arial"/>
              </a:rPr>
              <a:t>m</a:t>
            </a:r>
            <a:r>
              <a:rPr sz="2500" spc="-6" dirty="0">
                <a:latin typeface="Arial"/>
                <a:cs typeface="Arial"/>
              </a:rPr>
              <a:t>a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-6" dirty="0">
                <a:latin typeface="Arial"/>
                <a:cs typeface="Arial"/>
              </a:rPr>
              <a:t>q</a:t>
            </a:r>
            <a:r>
              <a:rPr sz="2500" dirty="0">
                <a:latin typeface="Arial"/>
                <a:cs typeface="Arial"/>
              </a:rPr>
              <a:t>u</a:t>
            </a:r>
            <a:r>
              <a:rPr sz="2500" spc="-6" dirty="0">
                <a:latin typeface="Arial"/>
                <a:cs typeface="Arial"/>
              </a:rPr>
              <a:t>e</a:t>
            </a:r>
            <a:r>
              <a:rPr sz="2500" dirty="0">
                <a:latin typeface="Arial"/>
                <a:cs typeface="Arial"/>
              </a:rPr>
              <a:t>	l</a:t>
            </a:r>
            <a:r>
              <a:rPr sz="2500" spc="-6" dirty="0">
                <a:latin typeface="Arial"/>
                <a:cs typeface="Arial"/>
              </a:rPr>
              <a:t>e</a:t>
            </a:r>
            <a:r>
              <a:rPr sz="2500" spc="-23" dirty="0">
                <a:latin typeface="Arial"/>
                <a:cs typeface="Arial"/>
              </a:rPr>
              <a:t>i</a:t>
            </a:r>
            <a:r>
              <a:rPr sz="2500" spc="-6" dirty="0">
                <a:latin typeface="Arial"/>
                <a:cs typeface="Arial"/>
              </a:rPr>
              <a:t>a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-6" dirty="0">
                <a:latin typeface="Arial"/>
                <a:cs typeface="Arial"/>
              </a:rPr>
              <a:t>a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6" dirty="0">
                <a:latin typeface="Arial"/>
                <a:cs typeface="Arial"/>
              </a:rPr>
              <a:t>a</a:t>
            </a:r>
            <a:r>
              <a:rPr sz="2500" spc="-17" dirty="0">
                <a:latin typeface="Arial"/>
                <a:cs typeface="Arial"/>
              </a:rPr>
              <a:t>l</a:t>
            </a:r>
            <a:r>
              <a:rPr sz="2500" spc="6" dirty="0">
                <a:latin typeface="Arial"/>
                <a:cs typeface="Arial"/>
              </a:rPr>
              <a:t>t</a:t>
            </a:r>
            <a:r>
              <a:rPr sz="2500" spc="-6" dirty="0">
                <a:latin typeface="Arial"/>
                <a:cs typeface="Arial"/>
              </a:rPr>
              <a:t>ura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-6" dirty="0">
                <a:latin typeface="Arial"/>
                <a:cs typeface="Arial"/>
              </a:rPr>
              <a:t>e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-6" dirty="0">
                <a:latin typeface="Arial"/>
                <a:cs typeface="Arial"/>
              </a:rPr>
              <a:t>o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6" dirty="0">
                <a:latin typeface="Arial"/>
                <a:cs typeface="Arial"/>
              </a:rPr>
              <a:t>p</a:t>
            </a:r>
            <a:r>
              <a:rPr sz="2500" spc="-6" dirty="0">
                <a:latin typeface="Arial"/>
                <a:cs typeface="Arial"/>
              </a:rPr>
              <a:t>eso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-11" dirty="0">
                <a:latin typeface="Arial"/>
                <a:cs typeface="Arial"/>
              </a:rPr>
              <a:t>d</a:t>
            </a:r>
            <a:r>
              <a:rPr sz="2500" spc="-6" dirty="0">
                <a:latin typeface="Arial"/>
                <a:cs typeface="Arial"/>
              </a:rPr>
              <a:t>e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-6" dirty="0">
                <a:latin typeface="Arial"/>
                <a:cs typeface="Arial"/>
              </a:rPr>
              <a:t>6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6" dirty="0">
                <a:latin typeface="Arial"/>
                <a:cs typeface="Arial"/>
              </a:rPr>
              <a:t>p</a:t>
            </a:r>
            <a:r>
              <a:rPr sz="2500" spc="-6" dirty="0">
                <a:latin typeface="Arial"/>
                <a:cs typeface="Arial"/>
              </a:rPr>
              <a:t>esso</a:t>
            </a:r>
            <a:r>
              <a:rPr sz="2500" spc="-17" dirty="0">
                <a:latin typeface="Arial"/>
                <a:cs typeface="Arial"/>
              </a:rPr>
              <a:t>a</a:t>
            </a:r>
            <a:r>
              <a:rPr sz="2500" dirty="0">
                <a:latin typeface="Arial"/>
                <a:cs typeface="Arial"/>
              </a:rPr>
              <a:t>s	</a:t>
            </a:r>
            <a:r>
              <a:rPr sz="2500" spc="-6" dirty="0">
                <a:latin typeface="Arial"/>
                <a:cs typeface="Arial"/>
              </a:rPr>
              <a:t>e  imprima a média da altura e a média do peso do</a:t>
            </a:r>
            <a:r>
              <a:rPr sz="2500" spc="188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grupo.</a:t>
            </a:r>
            <a:endParaRPr sz="2500">
              <a:latin typeface="Arial"/>
              <a:cs typeface="Arial"/>
            </a:endParaRPr>
          </a:p>
          <a:p>
            <a:pPr marL="567737" marR="7242" indent="-553254" algn="just">
              <a:lnSpc>
                <a:spcPct val="80100"/>
              </a:lnSpc>
              <a:spcBef>
                <a:spcPts val="2058"/>
              </a:spcBef>
              <a:buClr>
                <a:srgbClr val="C00000"/>
              </a:buClr>
              <a:buAutoNum type="arabicParenR" startAt="8"/>
              <a:tabLst>
                <a:tab pos="567737" algn="l"/>
              </a:tabLst>
            </a:pPr>
            <a:r>
              <a:rPr sz="2500" spc="-6" dirty="0">
                <a:latin typeface="Arial"/>
                <a:cs typeface="Arial"/>
              </a:rPr>
              <a:t>Faça um </a:t>
            </a:r>
            <a:r>
              <a:rPr sz="2500" dirty="0">
                <a:latin typeface="Arial"/>
                <a:cs typeface="Arial"/>
              </a:rPr>
              <a:t>programa </a:t>
            </a:r>
            <a:r>
              <a:rPr sz="2500" spc="-6" dirty="0">
                <a:latin typeface="Arial"/>
                <a:cs typeface="Arial"/>
              </a:rPr>
              <a:t>que receba </a:t>
            </a:r>
            <a:r>
              <a:rPr sz="2500" dirty="0">
                <a:latin typeface="Arial"/>
                <a:cs typeface="Arial"/>
              </a:rPr>
              <a:t>três </a:t>
            </a:r>
            <a:r>
              <a:rPr sz="2500" spc="-11" dirty="0">
                <a:latin typeface="Arial"/>
                <a:cs typeface="Arial"/>
              </a:rPr>
              <a:t>nomes </a:t>
            </a:r>
            <a:r>
              <a:rPr sz="2500" dirty="0">
                <a:latin typeface="Arial"/>
                <a:cs typeface="Arial"/>
              </a:rPr>
              <a:t>(de </a:t>
            </a:r>
            <a:r>
              <a:rPr sz="2500" spc="-6" dirty="0">
                <a:latin typeface="Arial"/>
                <a:cs typeface="Arial"/>
              </a:rPr>
              <a:t>no máximo  100 </a:t>
            </a:r>
            <a:r>
              <a:rPr sz="2500" dirty="0">
                <a:latin typeface="Arial"/>
                <a:cs typeface="Arial"/>
              </a:rPr>
              <a:t>caracteres cada) </a:t>
            </a:r>
            <a:r>
              <a:rPr sz="2500" spc="-6" dirty="0">
                <a:latin typeface="Arial"/>
                <a:cs typeface="Arial"/>
              </a:rPr>
              <a:t>e as idades das </a:t>
            </a:r>
            <a:r>
              <a:rPr sz="2500" dirty="0">
                <a:latin typeface="Arial"/>
                <a:cs typeface="Arial"/>
              </a:rPr>
              <a:t>respectivas pessoas </a:t>
            </a:r>
            <a:r>
              <a:rPr sz="2500" spc="11" dirty="0">
                <a:latin typeface="Arial"/>
                <a:cs typeface="Arial"/>
              </a:rPr>
              <a:t>em  </a:t>
            </a:r>
            <a:r>
              <a:rPr sz="2500" spc="-6" dirty="0">
                <a:latin typeface="Arial"/>
                <a:cs typeface="Arial"/>
              </a:rPr>
              <a:t>um </a:t>
            </a:r>
            <a:r>
              <a:rPr sz="2500" dirty="0">
                <a:latin typeface="Arial"/>
                <a:cs typeface="Arial"/>
              </a:rPr>
              <a:t>vetor </a:t>
            </a:r>
            <a:r>
              <a:rPr sz="2500" spc="-6" dirty="0">
                <a:latin typeface="Arial"/>
                <a:cs typeface="Arial"/>
              </a:rPr>
              <a:t>de </a:t>
            </a:r>
            <a:r>
              <a:rPr sz="2500" dirty="0">
                <a:latin typeface="Arial"/>
                <a:cs typeface="Arial"/>
              </a:rPr>
              <a:t>estruturas. </a:t>
            </a:r>
            <a:r>
              <a:rPr sz="2500" spc="-6" dirty="0">
                <a:latin typeface="Arial"/>
                <a:cs typeface="Arial"/>
              </a:rPr>
              <a:t>Após </a:t>
            </a:r>
            <a:r>
              <a:rPr sz="2500" dirty="0">
                <a:latin typeface="Arial"/>
                <a:cs typeface="Arial"/>
              </a:rPr>
              <a:t>o recebimento, </a:t>
            </a:r>
            <a:r>
              <a:rPr sz="2500" spc="-6" dirty="0">
                <a:latin typeface="Arial"/>
                <a:cs typeface="Arial"/>
              </a:rPr>
              <a:t>listar os </a:t>
            </a:r>
            <a:r>
              <a:rPr sz="2500" dirty="0">
                <a:latin typeface="Arial"/>
                <a:cs typeface="Arial"/>
              </a:rPr>
              <a:t>três  </a:t>
            </a:r>
            <a:r>
              <a:rPr sz="2500" spc="-6" dirty="0">
                <a:latin typeface="Arial"/>
                <a:cs typeface="Arial"/>
              </a:rPr>
              <a:t>nomes </a:t>
            </a:r>
            <a:r>
              <a:rPr sz="2500" dirty="0">
                <a:latin typeface="Arial"/>
                <a:cs typeface="Arial"/>
              </a:rPr>
              <a:t>armazenados </a:t>
            </a:r>
            <a:r>
              <a:rPr sz="2500" spc="-6" dirty="0">
                <a:latin typeface="Arial"/>
                <a:cs typeface="Arial"/>
              </a:rPr>
              <a:t>neste </a:t>
            </a:r>
            <a:r>
              <a:rPr sz="2500" dirty="0">
                <a:latin typeface="Arial"/>
                <a:cs typeface="Arial"/>
              </a:rPr>
              <a:t>vetor </a:t>
            </a:r>
            <a:r>
              <a:rPr sz="2500" spc="-6" dirty="0">
                <a:latin typeface="Arial"/>
                <a:cs typeface="Arial"/>
              </a:rPr>
              <a:t>por ordem crescente </a:t>
            </a:r>
            <a:r>
              <a:rPr sz="2500" spc="11" dirty="0">
                <a:latin typeface="Arial"/>
                <a:cs typeface="Arial"/>
              </a:rPr>
              <a:t>de  </a:t>
            </a:r>
            <a:r>
              <a:rPr sz="2500" spc="-6" dirty="0">
                <a:latin typeface="Arial"/>
                <a:cs typeface="Arial"/>
              </a:rPr>
              <a:t>idades.</a:t>
            </a:r>
            <a:endParaRPr sz="2500">
              <a:latin typeface="Arial"/>
              <a:cs typeface="Arial"/>
            </a:endParaRPr>
          </a:p>
          <a:p>
            <a:pPr marL="567737" marR="5793" indent="-553254" algn="just">
              <a:lnSpc>
                <a:spcPct val="80100"/>
              </a:lnSpc>
              <a:spcBef>
                <a:spcPts val="2036"/>
              </a:spcBef>
              <a:buClr>
                <a:srgbClr val="C5000A"/>
              </a:buClr>
              <a:buAutoNum type="arabicParenR" startAt="8"/>
              <a:tabLst>
                <a:tab pos="567737" algn="l"/>
              </a:tabLst>
            </a:pPr>
            <a:r>
              <a:rPr sz="2500" spc="-6" dirty="0">
                <a:latin typeface="Arial"/>
                <a:cs typeface="Arial"/>
              </a:rPr>
              <a:t>Faça um </a:t>
            </a:r>
            <a:r>
              <a:rPr sz="2500" dirty="0">
                <a:latin typeface="Arial"/>
                <a:cs typeface="Arial"/>
              </a:rPr>
              <a:t>programa </a:t>
            </a:r>
            <a:r>
              <a:rPr sz="2500" spc="-6" dirty="0">
                <a:latin typeface="Arial"/>
                <a:cs typeface="Arial"/>
              </a:rPr>
              <a:t>que </a:t>
            </a:r>
            <a:r>
              <a:rPr sz="2500" dirty="0">
                <a:latin typeface="Arial"/>
                <a:cs typeface="Arial"/>
              </a:rPr>
              <a:t>armazene informações </a:t>
            </a:r>
            <a:r>
              <a:rPr sz="2500" spc="-6" dirty="0">
                <a:latin typeface="Arial"/>
                <a:cs typeface="Arial"/>
              </a:rPr>
              <a:t>de  </a:t>
            </a:r>
            <a:r>
              <a:rPr sz="2500" dirty="0">
                <a:latin typeface="Arial"/>
                <a:cs typeface="Arial"/>
              </a:rPr>
              <a:t>restaurantes. </a:t>
            </a:r>
            <a:r>
              <a:rPr sz="2500" spc="-6" dirty="0">
                <a:latin typeface="Arial"/>
                <a:cs typeface="Arial"/>
              </a:rPr>
              <a:t>Cada </a:t>
            </a:r>
            <a:r>
              <a:rPr sz="2500" dirty="0">
                <a:latin typeface="Arial"/>
                <a:cs typeface="Arial"/>
              </a:rPr>
              <a:t>restaurante </a:t>
            </a:r>
            <a:r>
              <a:rPr sz="2500" spc="-6" dirty="0">
                <a:latin typeface="Arial"/>
                <a:cs typeface="Arial"/>
              </a:rPr>
              <a:t>é identificado </a:t>
            </a:r>
            <a:r>
              <a:rPr sz="2500" spc="-11" dirty="0">
                <a:latin typeface="Arial"/>
                <a:cs typeface="Arial"/>
              </a:rPr>
              <a:t>pelo </a:t>
            </a:r>
            <a:r>
              <a:rPr sz="2500" spc="-6" dirty="0">
                <a:latin typeface="Arial"/>
                <a:cs typeface="Arial"/>
              </a:rPr>
              <a:t>nome, o  tipo de </a:t>
            </a:r>
            <a:r>
              <a:rPr sz="2500" dirty="0">
                <a:latin typeface="Arial"/>
                <a:cs typeface="Arial"/>
              </a:rPr>
              <a:t>comida </a:t>
            </a:r>
            <a:r>
              <a:rPr sz="2500" spc="-6" dirty="0">
                <a:latin typeface="Arial"/>
                <a:cs typeface="Arial"/>
              </a:rPr>
              <a:t>(brasileira, chinesa, francesa, italiana,  japonesa, </a:t>
            </a:r>
            <a:r>
              <a:rPr sz="2500" dirty="0">
                <a:latin typeface="Arial"/>
                <a:cs typeface="Arial"/>
              </a:rPr>
              <a:t>etc.) e </a:t>
            </a:r>
            <a:r>
              <a:rPr sz="2500" spc="-11" dirty="0">
                <a:latin typeface="Arial"/>
                <a:cs typeface="Arial"/>
              </a:rPr>
              <a:t>uma </a:t>
            </a:r>
            <a:r>
              <a:rPr sz="2500" spc="-6" dirty="0">
                <a:latin typeface="Arial"/>
                <a:cs typeface="Arial"/>
              </a:rPr>
              <a:t>nota para </a:t>
            </a:r>
            <a:r>
              <a:rPr sz="2500" dirty="0">
                <a:latin typeface="Arial"/>
                <a:cs typeface="Arial"/>
              </a:rPr>
              <a:t>a </a:t>
            </a:r>
            <a:r>
              <a:rPr sz="2500" spc="-6" dirty="0">
                <a:latin typeface="Arial"/>
                <a:cs typeface="Arial"/>
              </a:rPr>
              <a:t>cozinha </a:t>
            </a:r>
            <a:r>
              <a:rPr sz="2500" dirty="0">
                <a:latin typeface="Arial"/>
                <a:cs typeface="Arial"/>
              </a:rPr>
              <a:t>(entre 0 e 5). O  programa deverá ler </a:t>
            </a:r>
            <a:r>
              <a:rPr sz="2500" spc="-6" dirty="0">
                <a:latin typeface="Arial"/>
                <a:cs typeface="Arial"/>
              </a:rPr>
              <a:t>todas as informações e imprimir a </a:t>
            </a:r>
            <a:r>
              <a:rPr sz="2500" spc="-11" dirty="0">
                <a:latin typeface="Arial"/>
                <a:cs typeface="Arial"/>
              </a:rPr>
              <a:t>lista  </a:t>
            </a:r>
            <a:r>
              <a:rPr sz="2500" spc="-6" dirty="0">
                <a:latin typeface="Arial"/>
                <a:cs typeface="Arial"/>
              </a:rPr>
              <a:t>de todos os </a:t>
            </a:r>
            <a:r>
              <a:rPr sz="2500" dirty="0">
                <a:latin typeface="Arial"/>
                <a:cs typeface="Arial"/>
              </a:rPr>
              <a:t>restaurantes </a:t>
            </a:r>
            <a:r>
              <a:rPr sz="2500" spc="-6" dirty="0">
                <a:latin typeface="Arial"/>
                <a:cs typeface="Arial"/>
              </a:rPr>
              <a:t>e, ao final, o tipo de cozinha </a:t>
            </a:r>
            <a:r>
              <a:rPr sz="2500" spc="11" dirty="0">
                <a:latin typeface="Arial"/>
                <a:cs typeface="Arial"/>
              </a:rPr>
              <a:t>do  </a:t>
            </a:r>
            <a:r>
              <a:rPr sz="2500" dirty="0">
                <a:latin typeface="Arial"/>
                <a:cs typeface="Arial"/>
              </a:rPr>
              <a:t>restaurante com </a:t>
            </a:r>
            <a:r>
              <a:rPr sz="2500" spc="-6" dirty="0">
                <a:latin typeface="Arial"/>
                <a:cs typeface="Arial"/>
              </a:rPr>
              <a:t>maior</a:t>
            </a:r>
            <a:r>
              <a:rPr sz="2500" spc="-29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nota.</a:t>
            </a:r>
            <a:endParaRPr sz="2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6" dirty="0"/>
              <a:t>Exercíc</a:t>
            </a:r>
            <a:r>
              <a:rPr dirty="0"/>
              <a:t>ios</a:t>
            </a:r>
          </a:p>
        </p:txBody>
      </p:sp>
    </p:spTree>
    <p:extLst>
      <p:ext uri="{BB962C8B-B14F-4D97-AF65-F5344CB8AC3E}">
        <p14:creationId xmlns:p14="http://schemas.microsoft.com/office/powerpoint/2010/main" val="155954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4744" y="1125779"/>
            <a:ext cx="9580246" cy="62889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4287" marR="5793" indent="-509804" algn="just">
              <a:lnSpc>
                <a:spcPct val="80000"/>
              </a:lnSpc>
              <a:buClr>
                <a:srgbClr val="C00000"/>
              </a:buClr>
              <a:buAutoNum type="arabicParenR" startAt="10"/>
              <a:tabLst>
                <a:tab pos="625669" algn="l"/>
              </a:tabLst>
            </a:pPr>
            <a:r>
              <a:rPr sz="2500" dirty="0">
                <a:latin typeface="Arial"/>
                <a:cs typeface="Arial"/>
              </a:rPr>
              <a:t>Faça </a:t>
            </a:r>
            <a:r>
              <a:rPr sz="2500" spc="-6" dirty="0">
                <a:latin typeface="Arial"/>
                <a:cs typeface="Arial"/>
              </a:rPr>
              <a:t>um </a:t>
            </a:r>
            <a:r>
              <a:rPr sz="2500" dirty="0">
                <a:latin typeface="Arial"/>
                <a:cs typeface="Arial"/>
              </a:rPr>
              <a:t>programa </a:t>
            </a:r>
            <a:r>
              <a:rPr sz="2500" spc="-6" dirty="0">
                <a:latin typeface="Arial"/>
                <a:cs typeface="Arial"/>
              </a:rPr>
              <a:t>que </a:t>
            </a:r>
            <a:r>
              <a:rPr sz="2500" dirty="0">
                <a:latin typeface="Arial"/>
                <a:cs typeface="Arial"/>
              </a:rPr>
              <a:t>permita </a:t>
            </a:r>
            <a:r>
              <a:rPr sz="2500" spc="-6" dirty="0">
                <a:latin typeface="Arial"/>
                <a:cs typeface="Arial"/>
              </a:rPr>
              <a:t>o </a:t>
            </a:r>
            <a:r>
              <a:rPr sz="2500" dirty="0">
                <a:latin typeface="Arial"/>
                <a:cs typeface="Arial"/>
              </a:rPr>
              <a:t>cadastro </a:t>
            </a:r>
            <a:r>
              <a:rPr sz="2500" spc="-6" dirty="0">
                <a:latin typeface="Arial"/>
                <a:cs typeface="Arial"/>
              </a:rPr>
              <a:t>de </a:t>
            </a:r>
            <a:r>
              <a:rPr sz="2500" dirty="0">
                <a:latin typeface="Arial"/>
                <a:cs typeface="Arial"/>
              </a:rPr>
              <a:t>veículos. A  estrutura veículos </a:t>
            </a:r>
            <a:r>
              <a:rPr sz="2500" spc="-6" dirty="0">
                <a:latin typeface="Arial"/>
                <a:cs typeface="Arial"/>
              </a:rPr>
              <a:t>deverá </a:t>
            </a:r>
            <a:r>
              <a:rPr sz="2500" dirty="0">
                <a:latin typeface="Arial"/>
                <a:cs typeface="Arial"/>
              </a:rPr>
              <a:t>conter </a:t>
            </a:r>
            <a:r>
              <a:rPr sz="2500" spc="-6" dirty="0">
                <a:latin typeface="Arial"/>
                <a:cs typeface="Arial"/>
              </a:rPr>
              <a:t>os campos placa, </a:t>
            </a:r>
            <a:r>
              <a:rPr sz="2500" dirty="0">
                <a:latin typeface="Arial"/>
                <a:cs typeface="Arial"/>
              </a:rPr>
              <a:t>marca,  </a:t>
            </a:r>
            <a:r>
              <a:rPr sz="2500" spc="-6" dirty="0">
                <a:latin typeface="Arial"/>
                <a:cs typeface="Arial"/>
              </a:rPr>
              <a:t>modelo e </a:t>
            </a:r>
            <a:r>
              <a:rPr sz="2500" spc="-11" dirty="0">
                <a:latin typeface="Arial"/>
                <a:cs typeface="Arial"/>
              </a:rPr>
              <a:t>ano. </a:t>
            </a:r>
            <a:r>
              <a:rPr sz="2500" spc="-6" dirty="0">
                <a:latin typeface="Arial"/>
                <a:cs typeface="Arial"/>
              </a:rPr>
              <a:t>Faça um menu </a:t>
            </a:r>
            <a:r>
              <a:rPr sz="2500" dirty="0">
                <a:latin typeface="Arial"/>
                <a:cs typeface="Arial"/>
              </a:rPr>
              <a:t>com </a:t>
            </a:r>
            <a:r>
              <a:rPr sz="2500" spc="-6" dirty="0">
                <a:latin typeface="Arial"/>
                <a:cs typeface="Arial"/>
              </a:rPr>
              <a:t>as seguintes</a:t>
            </a:r>
            <a:r>
              <a:rPr sz="2500" spc="200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opções:</a:t>
            </a:r>
            <a:endParaRPr sz="2500">
              <a:latin typeface="Arial"/>
              <a:cs typeface="Arial"/>
            </a:endParaRPr>
          </a:p>
          <a:p>
            <a:pPr marL="1048575">
              <a:spcBef>
                <a:spcPts val="616"/>
              </a:spcBef>
            </a:pPr>
            <a:r>
              <a:rPr sz="2100" spc="-6" dirty="0">
                <a:latin typeface="Courier New"/>
                <a:cs typeface="Courier New"/>
              </a:rPr>
              <a:t>Menu:</a:t>
            </a:r>
            <a:endParaRPr sz="2100">
              <a:latin typeface="Courier New"/>
              <a:cs typeface="Courier New"/>
            </a:endParaRPr>
          </a:p>
          <a:p>
            <a:pPr marL="1697417" lvl="1" indent="-648842">
              <a:spcBef>
                <a:spcPts val="798"/>
              </a:spcBef>
              <a:buAutoNum type="arabicPlain"/>
              <a:tabLst>
                <a:tab pos="1362134" algn="l"/>
              </a:tabLst>
            </a:pPr>
            <a:r>
              <a:rPr sz="2100" dirty="0">
                <a:latin typeface="Courier New"/>
                <a:cs typeface="Courier New"/>
              </a:rPr>
              <a:t>- </a:t>
            </a:r>
            <a:r>
              <a:rPr sz="2100" spc="-11" dirty="0">
                <a:latin typeface="Courier New"/>
                <a:cs typeface="Courier New"/>
              </a:rPr>
              <a:t>Ler </a:t>
            </a:r>
            <a:r>
              <a:rPr sz="2100" spc="-6" dirty="0">
                <a:latin typeface="Courier New"/>
                <a:cs typeface="Courier New"/>
              </a:rPr>
              <a:t>as </a:t>
            </a:r>
            <a:r>
              <a:rPr sz="2100" spc="-11" dirty="0">
                <a:latin typeface="Courier New"/>
                <a:cs typeface="Courier New"/>
              </a:rPr>
              <a:t>informações </a:t>
            </a:r>
            <a:r>
              <a:rPr sz="2100" spc="-6" dirty="0">
                <a:latin typeface="Courier New"/>
                <a:cs typeface="Courier New"/>
              </a:rPr>
              <a:t>de um</a:t>
            </a:r>
            <a:r>
              <a:rPr sz="2100" spc="-114" dirty="0"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veículo</a:t>
            </a:r>
            <a:endParaRPr sz="2100">
              <a:latin typeface="Courier New"/>
              <a:cs typeface="Courier New"/>
            </a:endParaRPr>
          </a:p>
          <a:p>
            <a:pPr marL="1697417" marR="498218" lvl="1" indent="-648842">
              <a:spcBef>
                <a:spcPts val="798"/>
              </a:spcBef>
              <a:buAutoNum type="arabicPlain"/>
              <a:tabLst>
                <a:tab pos="1362134" algn="l"/>
              </a:tabLst>
            </a:pPr>
            <a:r>
              <a:rPr sz="2100" dirty="0">
                <a:latin typeface="Courier New"/>
                <a:cs typeface="Courier New"/>
              </a:rPr>
              <a:t>- </a:t>
            </a:r>
            <a:r>
              <a:rPr sz="2100" spc="-11" dirty="0">
                <a:latin typeface="Courier New"/>
                <a:cs typeface="Courier New"/>
              </a:rPr>
              <a:t>Verificar </a:t>
            </a:r>
            <a:r>
              <a:rPr sz="2100" spc="-6" dirty="0">
                <a:latin typeface="Courier New"/>
                <a:cs typeface="Courier New"/>
              </a:rPr>
              <a:t>se </a:t>
            </a:r>
            <a:r>
              <a:rPr sz="2100" spc="-17" dirty="0">
                <a:latin typeface="Courier New"/>
                <a:cs typeface="Courier New"/>
              </a:rPr>
              <a:t>uma </a:t>
            </a:r>
            <a:r>
              <a:rPr sz="2100" spc="-11" dirty="0">
                <a:latin typeface="Courier New"/>
                <a:cs typeface="Courier New"/>
              </a:rPr>
              <a:t>placa está no formato correto  (AAADDDD)</a:t>
            </a:r>
            <a:endParaRPr sz="2100">
              <a:latin typeface="Courier New"/>
              <a:cs typeface="Courier New"/>
            </a:endParaRPr>
          </a:p>
          <a:p>
            <a:pPr marL="1361410" lvl="1" indent="-312835">
              <a:spcBef>
                <a:spcPts val="798"/>
              </a:spcBef>
              <a:buAutoNum type="arabicPlain"/>
              <a:tabLst>
                <a:tab pos="1362134" algn="l"/>
              </a:tabLst>
            </a:pPr>
            <a:r>
              <a:rPr sz="2100" dirty="0">
                <a:latin typeface="Courier New"/>
                <a:cs typeface="Courier New"/>
              </a:rPr>
              <a:t>- </a:t>
            </a:r>
            <a:r>
              <a:rPr sz="2100" spc="-11" dirty="0">
                <a:latin typeface="Courier New"/>
                <a:cs typeface="Courier New"/>
              </a:rPr>
              <a:t>Imprimir por</a:t>
            </a:r>
            <a:r>
              <a:rPr sz="2100" spc="-91" dirty="0">
                <a:latin typeface="Courier New"/>
                <a:cs typeface="Courier New"/>
              </a:rPr>
              <a:t> </a:t>
            </a:r>
            <a:r>
              <a:rPr sz="2100" spc="-17" dirty="0">
                <a:latin typeface="Courier New"/>
                <a:cs typeface="Courier New"/>
              </a:rPr>
              <a:t>ano</a:t>
            </a:r>
            <a:endParaRPr sz="2100">
              <a:latin typeface="Courier New"/>
              <a:cs typeface="Courier New"/>
            </a:endParaRPr>
          </a:p>
          <a:p>
            <a:pPr marL="1361410" lvl="1" indent="-312835">
              <a:spcBef>
                <a:spcPts val="798"/>
              </a:spcBef>
              <a:buAutoNum type="arabicPlain"/>
              <a:tabLst>
                <a:tab pos="1362134" algn="l"/>
              </a:tabLst>
            </a:pPr>
            <a:r>
              <a:rPr sz="2100" dirty="0">
                <a:latin typeface="Courier New"/>
                <a:cs typeface="Courier New"/>
              </a:rPr>
              <a:t>- </a:t>
            </a:r>
            <a:r>
              <a:rPr sz="2100" spc="-11" dirty="0">
                <a:latin typeface="Courier New"/>
                <a:cs typeface="Courier New"/>
              </a:rPr>
              <a:t>Pesquisar veículo </a:t>
            </a:r>
            <a:r>
              <a:rPr sz="2100" spc="-6" dirty="0">
                <a:latin typeface="Courier New"/>
                <a:cs typeface="Courier New"/>
              </a:rPr>
              <a:t>por</a:t>
            </a:r>
            <a:r>
              <a:rPr sz="2100" spc="-103" dirty="0"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placa</a:t>
            </a:r>
            <a:endParaRPr sz="2100">
              <a:latin typeface="Courier New"/>
              <a:cs typeface="Courier New"/>
            </a:endParaRPr>
          </a:p>
          <a:p>
            <a:pPr marL="1361410" lvl="1" indent="-312835">
              <a:spcBef>
                <a:spcPts val="844"/>
              </a:spcBef>
              <a:buAutoNum type="arabicPlain"/>
              <a:tabLst>
                <a:tab pos="1362134" algn="l"/>
              </a:tabLst>
            </a:pPr>
            <a:r>
              <a:rPr sz="2100" dirty="0">
                <a:latin typeface="Courier New"/>
                <a:cs typeface="Courier New"/>
              </a:rPr>
              <a:t>- </a:t>
            </a:r>
            <a:r>
              <a:rPr sz="2100" spc="-6" dirty="0">
                <a:latin typeface="Courier New"/>
                <a:cs typeface="Courier New"/>
              </a:rPr>
              <a:t>Imprimir todos os veículos</a:t>
            </a:r>
            <a:r>
              <a:rPr sz="2100" spc="-268" dirty="0">
                <a:latin typeface="Courier New"/>
                <a:cs typeface="Courier New"/>
              </a:rPr>
              <a:t> </a:t>
            </a:r>
            <a:r>
              <a:rPr sz="2100" spc="-6" dirty="0">
                <a:latin typeface="Courier New"/>
                <a:cs typeface="Courier New"/>
              </a:rPr>
              <a:t>cadastrados</a:t>
            </a:r>
            <a:endParaRPr sz="2100">
              <a:latin typeface="Courier New"/>
              <a:cs typeface="Courier New"/>
            </a:endParaRPr>
          </a:p>
          <a:p>
            <a:pPr marL="523563">
              <a:spcBef>
                <a:spcPts val="205"/>
              </a:spcBef>
            </a:pPr>
            <a:r>
              <a:rPr sz="2500" dirty="0">
                <a:latin typeface="Arial"/>
                <a:cs typeface="Arial"/>
              </a:rPr>
              <a:t>O programa </a:t>
            </a:r>
            <a:r>
              <a:rPr sz="2500" spc="-6" dirty="0">
                <a:latin typeface="Arial"/>
                <a:cs typeface="Arial"/>
              </a:rPr>
              <a:t>deverá </a:t>
            </a:r>
            <a:r>
              <a:rPr sz="2500" dirty="0">
                <a:latin typeface="Arial"/>
                <a:cs typeface="Arial"/>
              </a:rPr>
              <a:t>ter </a:t>
            </a:r>
            <a:r>
              <a:rPr sz="2500" spc="-6" dirty="0">
                <a:latin typeface="Arial"/>
                <a:cs typeface="Arial"/>
              </a:rPr>
              <a:t>as seguintes</a:t>
            </a:r>
            <a:r>
              <a:rPr sz="2500" spc="17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características:</a:t>
            </a:r>
            <a:endParaRPr sz="2500">
              <a:latin typeface="Arial"/>
              <a:cs typeface="Arial"/>
            </a:endParaRPr>
          </a:p>
          <a:p>
            <a:pPr marL="1697417" indent="-648842">
              <a:lnSpc>
                <a:spcPts val="2714"/>
              </a:lnSpc>
              <a:spcBef>
                <a:spcPts val="91"/>
              </a:spcBef>
              <a:buClr>
                <a:srgbClr val="808080"/>
              </a:buClr>
              <a:buSzPct val="70454"/>
              <a:buFont typeface="Wingdings"/>
              <a:buChar char=""/>
              <a:tabLst>
                <a:tab pos="1697417" algn="l"/>
                <a:tab pos="1698141" algn="l"/>
              </a:tabLst>
            </a:pPr>
            <a:r>
              <a:rPr sz="2500" spc="-11" dirty="0">
                <a:latin typeface="Arial"/>
                <a:cs typeface="Arial"/>
              </a:rPr>
              <a:t>No </a:t>
            </a:r>
            <a:r>
              <a:rPr sz="2500" spc="-6" dirty="0">
                <a:latin typeface="Arial"/>
                <a:cs typeface="Arial"/>
              </a:rPr>
              <a:t>primeiro item, peça inicialmente </a:t>
            </a:r>
            <a:r>
              <a:rPr sz="2500" dirty="0">
                <a:latin typeface="Arial"/>
                <a:cs typeface="Arial"/>
              </a:rPr>
              <a:t>o </a:t>
            </a:r>
            <a:r>
              <a:rPr sz="2500" spc="-6" dirty="0">
                <a:latin typeface="Arial"/>
                <a:cs typeface="Arial"/>
              </a:rPr>
              <a:t>índice </a:t>
            </a:r>
            <a:r>
              <a:rPr sz="2500" dirty="0">
                <a:latin typeface="Arial"/>
                <a:cs typeface="Arial"/>
              </a:rPr>
              <a:t>do</a:t>
            </a:r>
            <a:r>
              <a:rPr sz="2500" spc="143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vetor</a:t>
            </a:r>
            <a:endParaRPr sz="2500">
              <a:latin typeface="Arial"/>
              <a:cs typeface="Arial"/>
            </a:endParaRPr>
          </a:p>
          <a:p>
            <a:pPr marL="1697417">
              <a:lnSpc>
                <a:spcPts val="2714"/>
              </a:lnSpc>
            </a:pPr>
            <a:r>
              <a:rPr sz="2500" spc="-6" dirty="0">
                <a:latin typeface="Arial"/>
                <a:cs typeface="Arial"/>
              </a:rPr>
              <a:t>que deseja</a:t>
            </a:r>
            <a:r>
              <a:rPr sz="2500" spc="-29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alterar.</a:t>
            </a:r>
            <a:endParaRPr sz="2500">
              <a:latin typeface="Arial"/>
              <a:cs typeface="Arial"/>
            </a:endParaRPr>
          </a:p>
          <a:p>
            <a:pPr marL="1697417" indent="-648842">
              <a:lnSpc>
                <a:spcPts val="2714"/>
              </a:lnSpc>
              <a:spcBef>
                <a:spcPts val="68"/>
              </a:spcBef>
              <a:buClr>
                <a:srgbClr val="808080"/>
              </a:buClr>
              <a:buSzPct val="68181"/>
              <a:buFont typeface="Wingdings"/>
              <a:buChar char=""/>
              <a:tabLst>
                <a:tab pos="1697417" algn="l"/>
                <a:tab pos="1698141" algn="l"/>
              </a:tabLst>
            </a:pPr>
            <a:r>
              <a:rPr sz="2500" spc="-11" dirty="0">
                <a:latin typeface="Arial"/>
                <a:cs typeface="Arial"/>
              </a:rPr>
              <a:t>No </a:t>
            </a:r>
            <a:r>
              <a:rPr sz="2500" spc="-6" dirty="0">
                <a:latin typeface="Arial"/>
                <a:cs typeface="Arial"/>
              </a:rPr>
              <a:t>terceiro </a:t>
            </a:r>
            <a:r>
              <a:rPr sz="2500" dirty="0">
                <a:latin typeface="Arial"/>
                <a:cs typeface="Arial"/>
              </a:rPr>
              <a:t>item, </a:t>
            </a:r>
            <a:r>
              <a:rPr sz="2500" spc="-6" dirty="0">
                <a:latin typeface="Arial"/>
                <a:cs typeface="Arial"/>
              </a:rPr>
              <a:t>peça o ano mínimo e </a:t>
            </a:r>
            <a:r>
              <a:rPr sz="2500" spc="-11" dirty="0">
                <a:latin typeface="Arial"/>
                <a:cs typeface="Arial"/>
              </a:rPr>
              <a:t>máximo</a:t>
            </a:r>
            <a:r>
              <a:rPr sz="2500" spc="130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e</a:t>
            </a:r>
            <a:endParaRPr sz="2500">
              <a:latin typeface="Arial"/>
              <a:cs typeface="Arial"/>
            </a:endParaRPr>
          </a:p>
          <a:p>
            <a:pPr marL="1697417">
              <a:lnSpc>
                <a:spcPts val="2714"/>
              </a:lnSpc>
            </a:pPr>
            <a:r>
              <a:rPr sz="2500" spc="-6" dirty="0">
                <a:latin typeface="Arial"/>
                <a:cs typeface="Arial"/>
              </a:rPr>
              <a:t>imprima </a:t>
            </a:r>
            <a:r>
              <a:rPr sz="2500" dirty="0">
                <a:latin typeface="Arial"/>
                <a:cs typeface="Arial"/>
              </a:rPr>
              <a:t>os </a:t>
            </a:r>
            <a:r>
              <a:rPr sz="2500" spc="-6" dirty="0">
                <a:latin typeface="Arial"/>
                <a:cs typeface="Arial"/>
              </a:rPr>
              <a:t>veículos que </a:t>
            </a:r>
            <a:r>
              <a:rPr sz="2500" dirty="0">
                <a:latin typeface="Arial"/>
                <a:cs typeface="Arial"/>
              </a:rPr>
              <a:t>estão </a:t>
            </a:r>
            <a:r>
              <a:rPr sz="2500" spc="-6" dirty="0">
                <a:latin typeface="Arial"/>
                <a:cs typeface="Arial"/>
              </a:rPr>
              <a:t>nesse</a:t>
            </a:r>
            <a:r>
              <a:rPr sz="2500" spc="103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intervalo.</a:t>
            </a:r>
            <a:endParaRPr sz="2500">
              <a:latin typeface="Arial"/>
              <a:cs typeface="Arial"/>
            </a:endParaRPr>
          </a:p>
          <a:p>
            <a:pPr marL="1697417" marR="101382" indent="-648842">
              <a:lnSpc>
                <a:spcPts val="2418"/>
              </a:lnSpc>
              <a:spcBef>
                <a:spcPts val="644"/>
              </a:spcBef>
              <a:buClr>
                <a:srgbClr val="808080"/>
              </a:buClr>
              <a:buSzPct val="70454"/>
              <a:buFont typeface="Wingdings"/>
              <a:buChar char=""/>
              <a:tabLst>
                <a:tab pos="1697417" algn="l"/>
                <a:tab pos="1698141" algn="l"/>
              </a:tabLst>
            </a:pPr>
            <a:r>
              <a:rPr sz="2500" spc="-6" dirty="0">
                <a:latin typeface="Arial"/>
                <a:cs typeface="Arial"/>
              </a:rPr>
              <a:t>Faça funções para realizar as operações de cada um  dos itens do</a:t>
            </a:r>
            <a:r>
              <a:rPr sz="2500" spc="-23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menu.</a:t>
            </a:r>
            <a:endParaRPr sz="2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6" dirty="0"/>
              <a:t>Exercíc</a:t>
            </a:r>
            <a:r>
              <a:rPr dirty="0"/>
              <a:t>ios</a:t>
            </a:r>
          </a:p>
        </p:txBody>
      </p:sp>
    </p:spTree>
    <p:extLst>
      <p:ext uri="{BB962C8B-B14F-4D97-AF65-F5344CB8AC3E}">
        <p14:creationId xmlns:p14="http://schemas.microsoft.com/office/powerpoint/2010/main" val="2725450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4060" y="505035"/>
            <a:ext cx="750824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pt-BR" dirty="0" smtClean="0"/>
              <a:t>Recursividade - </a:t>
            </a:r>
            <a:r>
              <a:rPr dirty="0" err="1" smtClean="0"/>
              <a:t>D</a:t>
            </a:r>
            <a:r>
              <a:rPr spc="-10" dirty="0" err="1" smtClean="0"/>
              <a:t>efi</a:t>
            </a:r>
            <a:r>
              <a:rPr spc="5" dirty="0" err="1" smtClean="0"/>
              <a:t>n</a:t>
            </a:r>
            <a:r>
              <a:rPr dirty="0" err="1" smtClean="0"/>
              <a:t>i</a:t>
            </a:r>
            <a:r>
              <a:rPr spc="-10" dirty="0" err="1" smtClean="0"/>
              <a:t>ç</a:t>
            </a:r>
            <a:r>
              <a:rPr spc="0" dirty="0" err="1" smtClean="0"/>
              <a:t>ã</a:t>
            </a:r>
            <a:r>
              <a:rPr spc="-5" dirty="0" err="1" smtClean="0"/>
              <a:t>o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894079" y="1950096"/>
            <a:ext cx="8859520" cy="46243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ts val="3560"/>
              </a:lnSpc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dirty="0">
                <a:latin typeface="Arial"/>
                <a:cs typeface="Arial"/>
              </a:rPr>
              <a:t>U</a:t>
            </a:r>
            <a:r>
              <a:rPr sz="3300" spc="-5" dirty="0">
                <a:latin typeface="Arial"/>
                <a:cs typeface="Arial"/>
              </a:rPr>
              <a:t>ma </a:t>
            </a:r>
            <a:r>
              <a:rPr sz="3300" spc="-10" dirty="0">
                <a:latin typeface="Arial"/>
                <a:cs typeface="Arial"/>
              </a:rPr>
              <a:t>f</a:t>
            </a:r>
            <a:r>
              <a:rPr sz="3300" spc="0" dirty="0">
                <a:latin typeface="Arial"/>
                <a:cs typeface="Arial"/>
              </a:rPr>
              <a:t>u</a:t>
            </a:r>
            <a:r>
              <a:rPr sz="3300" spc="-5" dirty="0">
                <a:latin typeface="Arial"/>
                <a:cs typeface="Arial"/>
              </a:rPr>
              <a:t>n</a:t>
            </a:r>
            <a:r>
              <a:rPr sz="3300" dirty="0">
                <a:latin typeface="Arial"/>
                <a:cs typeface="Arial"/>
              </a:rPr>
              <a:t>ç</a:t>
            </a:r>
            <a:r>
              <a:rPr sz="3300" spc="-5" dirty="0">
                <a:latin typeface="Arial"/>
                <a:cs typeface="Arial"/>
              </a:rPr>
              <a:t>ão é di</a:t>
            </a:r>
            <a:r>
              <a:rPr sz="3300" spc="-10" dirty="0">
                <a:latin typeface="Arial"/>
                <a:cs typeface="Arial"/>
              </a:rPr>
              <a:t>t</a:t>
            </a:r>
            <a:r>
              <a:rPr sz="3300" spc="-5" dirty="0">
                <a:latin typeface="Arial"/>
                <a:cs typeface="Arial"/>
              </a:rPr>
              <a:t>a </a:t>
            </a:r>
            <a:r>
              <a:rPr sz="3300" dirty="0">
                <a:solidFill>
                  <a:srgbClr val="320065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srgbClr val="320065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srgbClr val="320065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srgbClr val="320065"/>
                </a:solidFill>
                <a:latin typeface="Arial"/>
                <a:cs typeface="Arial"/>
              </a:rPr>
              <a:t>u</a:t>
            </a:r>
            <a:r>
              <a:rPr sz="3300" dirty="0">
                <a:solidFill>
                  <a:srgbClr val="320065"/>
                </a:solidFill>
                <a:latin typeface="Arial"/>
                <a:cs typeface="Arial"/>
              </a:rPr>
              <a:t>rs</a:t>
            </a:r>
            <a:r>
              <a:rPr sz="3300" spc="-5" dirty="0">
                <a:solidFill>
                  <a:srgbClr val="320065"/>
                </a:solidFill>
                <a:latin typeface="Arial"/>
                <a:cs typeface="Arial"/>
              </a:rPr>
              <a:t>i</a:t>
            </a:r>
            <a:r>
              <a:rPr sz="3300" spc="-10" dirty="0">
                <a:solidFill>
                  <a:srgbClr val="320065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srgbClr val="320065"/>
                </a:solidFill>
                <a:latin typeface="Arial"/>
                <a:cs typeface="Arial"/>
              </a:rPr>
              <a:t>a </a:t>
            </a:r>
            <a:r>
              <a:rPr sz="3300" spc="-5" dirty="0">
                <a:latin typeface="Arial"/>
                <a:cs typeface="Arial"/>
              </a:rPr>
              <a:t>quan</a:t>
            </a:r>
            <a:r>
              <a:rPr sz="3300" spc="-20" dirty="0">
                <a:latin typeface="Arial"/>
                <a:cs typeface="Arial"/>
              </a:rPr>
              <a:t>d</a:t>
            </a:r>
            <a:r>
              <a:rPr sz="3300" spc="-5" dirty="0">
                <a:latin typeface="Arial"/>
                <a:cs typeface="Arial"/>
              </a:rPr>
              <a:t>o </a:t>
            </a:r>
            <a:r>
              <a:rPr sz="3300" dirty="0">
                <a:latin typeface="Arial"/>
                <a:cs typeface="Arial"/>
              </a:rPr>
              <a:t>c</a:t>
            </a:r>
            <a:r>
              <a:rPr sz="3300" spc="-5" dirty="0">
                <a:latin typeface="Arial"/>
                <a:cs typeface="Arial"/>
              </a:rPr>
              <a:t>hama a </a:t>
            </a:r>
            <a:r>
              <a:rPr sz="3300" dirty="0">
                <a:latin typeface="Arial"/>
                <a:cs typeface="Arial"/>
              </a:rPr>
              <a:t>si</a:t>
            </a:r>
            <a:r>
              <a:rPr sz="3300" spc="-1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p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óp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15" dirty="0">
                <a:latin typeface="Arial"/>
                <a:cs typeface="Arial"/>
              </a:rPr>
              <a:t>i</a:t>
            </a:r>
            <a:r>
              <a:rPr sz="3300" spc="-5" dirty="0">
                <a:latin typeface="Arial"/>
                <a:cs typeface="Arial"/>
              </a:rPr>
              <a:t>a,</a:t>
            </a:r>
            <a:r>
              <a:rPr sz="3300" spc="-1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di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e</a:t>
            </a:r>
            <a:r>
              <a:rPr sz="3300" spc="-10" dirty="0">
                <a:latin typeface="Arial"/>
                <a:cs typeface="Arial"/>
              </a:rPr>
              <a:t>t</a:t>
            </a:r>
            <a:r>
              <a:rPr sz="3300" spc="-5" dirty="0">
                <a:latin typeface="Arial"/>
                <a:cs typeface="Arial"/>
              </a:rPr>
              <a:t>a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ou indi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e</a:t>
            </a:r>
            <a:r>
              <a:rPr sz="3300" spc="-10" dirty="0">
                <a:latin typeface="Arial"/>
                <a:cs typeface="Arial"/>
              </a:rPr>
              <a:t>t</a:t>
            </a:r>
            <a:r>
              <a:rPr sz="3300" spc="-5" dirty="0">
                <a:latin typeface="Arial"/>
                <a:cs typeface="Arial"/>
              </a:rPr>
              <a:t>amen</a:t>
            </a:r>
            <a:r>
              <a:rPr sz="3300" dirty="0">
                <a:latin typeface="Arial"/>
                <a:cs typeface="Arial"/>
              </a:rPr>
              <a:t>t</a:t>
            </a:r>
            <a:r>
              <a:rPr sz="3300" spc="-5" dirty="0">
                <a:latin typeface="Arial"/>
                <a:cs typeface="Arial"/>
              </a:rPr>
              <a:t>e.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"/>
              </a:spcBef>
              <a:buClr>
                <a:srgbClr val="852A33"/>
              </a:buClr>
              <a:buFont typeface="Wingdings"/>
              <a:buChar char=""/>
            </a:pPr>
            <a:endParaRPr sz="4500">
              <a:latin typeface="Times New Roman"/>
              <a:cs typeface="Times New Roman"/>
            </a:endParaRPr>
          </a:p>
          <a:p>
            <a:pPr marL="390525" marR="426084" indent="-377825">
              <a:lnSpc>
                <a:spcPts val="3560"/>
              </a:lnSpc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spc="-10" dirty="0">
                <a:latin typeface="Arial"/>
                <a:cs typeface="Arial"/>
              </a:rPr>
              <a:t>P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opó</a:t>
            </a:r>
            <a:r>
              <a:rPr sz="3300" dirty="0">
                <a:latin typeface="Arial"/>
                <a:cs typeface="Arial"/>
              </a:rPr>
              <a:t>s</a:t>
            </a:r>
            <a:r>
              <a:rPr sz="3300" spc="-5" dirty="0">
                <a:latin typeface="Arial"/>
                <a:cs typeface="Arial"/>
              </a:rPr>
              <a:t>i</a:t>
            </a:r>
            <a:r>
              <a:rPr sz="3300" spc="-10" dirty="0">
                <a:latin typeface="Arial"/>
                <a:cs typeface="Arial"/>
              </a:rPr>
              <a:t>t</a:t>
            </a:r>
            <a:r>
              <a:rPr sz="3300" spc="-5" dirty="0">
                <a:latin typeface="Arial"/>
                <a:cs typeface="Arial"/>
              </a:rPr>
              <a:t>o:</a:t>
            </a:r>
            <a:r>
              <a:rPr sz="3300" spc="-1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e</a:t>
            </a:r>
            <a:r>
              <a:rPr sz="3300" dirty="0">
                <a:latin typeface="Arial"/>
                <a:cs typeface="Arial"/>
              </a:rPr>
              <a:t>x</a:t>
            </a:r>
            <a:r>
              <a:rPr sz="3300" spc="-5" dirty="0">
                <a:latin typeface="Arial"/>
                <a:cs typeface="Arial"/>
              </a:rPr>
              <a:t>p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e</a:t>
            </a:r>
            <a:r>
              <a:rPr sz="3300" dirty="0">
                <a:latin typeface="Arial"/>
                <a:cs typeface="Arial"/>
              </a:rPr>
              <a:t>ss</a:t>
            </a:r>
            <a:r>
              <a:rPr sz="3300" spc="-5" dirty="0">
                <a:latin typeface="Arial"/>
                <a:cs typeface="Arial"/>
              </a:rPr>
              <a:t>ar</a:t>
            </a:r>
            <a:r>
              <a:rPr sz="3300" dirty="0">
                <a:latin typeface="Arial"/>
                <a:cs typeface="Arial"/>
              </a:rPr>
              <a:t> s</a:t>
            </a:r>
            <a:r>
              <a:rPr sz="3300" spc="-20" dirty="0">
                <a:latin typeface="Arial"/>
                <a:cs typeface="Arial"/>
              </a:rPr>
              <a:t>u</a:t>
            </a:r>
            <a:r>
              <a:rPr sz="3300" spc="-5" dirty="0">
                <a:latin typeface="Arial"/>
                <a:cs typeface="Arial"/>
              </a:rPr>
              <a:t>a </a:t>
            </a:r>
            <a:r>
              <a:rPr sz="3300" spc="-10" dirty="0">
                <a:latin typeface="Arial"/>
                <a:cs typeface="Arial"/>
              </a:rPr>
              <a:t>f</a:t>
            </a:r>
            <a:r>
              <a:rPr sz="3300" spc="-5" dirty="0">
                <a:latin typeface="Arial"/>
                <a:cs typeface="Arial"/>
              </a:rPr>
              <a:t>un</a:t>
            </a:r>
            <a:r>
              <a:rPr sz="3300" dirty="0">
                <a:latin typeface="Arial"/>
                <a:cs typeface="Arial"/>
              </a:rPr>
              <a:t>c</a:t>
            </a:r>
            <a:r>
              <a:rPr sz="3300" spc="-5" dirty="0">
                <a:latin typeface="Arial"/>
                <a:cs typeface="Arial"/>
              </a:rPr>
              <a:t>ionali</a:t>
            </a:r>
            <a:r>
              <a:rPr sz="3300" spc="-20" dirty="0">
                <a:latin typeface="Arial"/>
                <a:cs typeface="Arial"/>
              </a:rPr>
              <a:t>d</a:t>
            </a:r>
            <a:r>
              <a:rPr sz="3300" spc="-5" dirty="0">
                <a:latin typeface="Arial"/>
                <a:cs typeface="Arial"/>
              </a:rPr>
              <a:t>a</a:t>
            </a:r>
            <a:r>
              <a:rPr sz="3300" spc="-20" dirty="0">
                <a:latin typeface="Arial"/>
                <a:cs typeface="Arial"/>
              </a:rPr>
              <a:t>d</a:t>
            </a:r>
            <a:r>
              <a:rPr sz="3300" spc="-5" dirty="0">
                <a:latin typeface="Arial"/>
                <a:cs typeface="Arial"/>
              </a:rPr>
              <a:t>e ou o</a:t>
            </a:r>
            <a:r>
              <a:rPr sz="3300" spc="-10" dirty="0">
                <a:latin typeface="Arial"/>
                <a:cs typeface="Arial"/>
              </a:rPr>
              <a:t>b</a:t>
            </a:r>
            <a:r>
              <a:rPr sz="3300" dirty="0">
                <a:latin typeface="Arial"/>
                <a:cs typeface="Arial"/>
              </a:rPr>
              <a:t>j</a:t>
            </a:r>
            <a:r>
              <a:rPr sz="3300" spc="-5" dirty="0">
                <a:latin typeface="Arial"/>
                <a:cs typeface="Arial"/>
              </a:rPr>
              <a:t>e</a:t>
            </a:r>
            <a:r>
              <a:rPr sz="3300" spc="-10" dirty="0">
                <a:latin typeface="Arial"/>
                <a:cs typeface="Arial"/>
              </a:rPr>
              <a:t>t</a:t>
            </a:r>
            <a:r>
              <a:rPr sz="3300" spc="-5" dirty="0">
                <a:latin typeface="Arial"/>
                <a:cs typeface="Arial"/>
              </a:rPr>
              <a:t>i</a:t>
            </a:r>
            <a:r>
              <a:rPr sz="3300" dirty="0">
                <a:latin typeface="Arial"/>
                <a:cs typeface="Arial"/>
              </a:rPr>
              <a:t>v</a:t>
            </a:r>
            <a:r>
              <a:rPr sz="3300" spc="-5" dirty="0">
                <a:latin typeface="Arial"/>
                <a:cs typeface="Arial"/>
              </a:rPr>
              <a:t>o</a:t>
            </a:r>
            <a:r>
              <a:rPr sz="3300" spc="-2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de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manei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a mais</a:t>
            </a:r>
            <a:r>
              <a:rPr sz="3300" dirty="0">
                <a:latin typeface="Arial"/>
                <a:cs typeface="Arial"/>
              </a:rPr>
              <a:t> c</a:t>
            </a:r>
            <a:r>
              <a:rPr sz="3300" spc="-5" dirty="0">
                <a:latin typeface="Arial"/>
                <a:cs typeface="Arial"/>
              </a:rPr>
              <a:t>la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a e </a:t>
            </a:r>
            <a:r>
              <a:rPr sz="3300" dirty="0">
                <a:latin typeface="Arial"/>
                <a:cs typeface="Arial"/>
              </a:rPr>
              <a:t>c</a:t>
            </a:r>
            <a:r>
              <a:rPr sz="3300" spc="-5" dirty="0">
                <a:latin typeface="Arial"/>
                <a:cs typeface="Arial"/>
              </a:rPr>
              <a:t>on</a:t>
            </a:r>
            <a:r>
              <a:rPr sz="3300" dirty="0">
                <a:latin typeface="Arial"/>
                <a:cs typeface="Arial"/>
              </a:rPr>
              <a:t>c</a:t>
            </a:r>
            <a:r>
              <a:rPr sz="3300" spc="-5" dirty="0">
                <a:latin typeface="Arial"/>
                <a:cs typeface="Arial"/>
              </a:rPr>
              <a:t>i</a:t>
            </a:r>
            <a:r>
              <a:rPr sz="3300" spc="-10" dirty="0">
                <a:latin typeface="Arial"/>
                <a:cs typeface="Arial"/>
              </a:rPr>
              <a:t>s</a:t>
            </a:r>
            <a:r>
              <a:rPr sz="3300" spc="-5" dirty="0">
                <a:latin typeface="Arial"/>
                <a:cs typeface="Arial"/>
              </a:rPr>
              <a:t>a.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852A33"/>
              </a:buClr>
              <a:buFont typeface="Wingdings"/>
              <a:buChar char=""/>
            </a:pPr>
            <a:endParaRPr sz="4450">
              <a:latin typeface="Times New Roman"/>
              <a:cs typeface="Times New Roman"/>
            </a:endParaRPr>
          </a:p>
          <a:p>
            <a:pPr marL="390525" marR="1050925" indent="-377825">
              <a:lnSpc>
                <a:spcPts val="3579"/>
              </a:lnSpc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spc="-5" dirty="0">
                <a:latin typeface="Arial"/>
                <a:cs typeface="Arial"/>
              </a:rPr>
              <a:t>Lin</a:t>
            </a:r>
            <a:r>
              <a:rPr sz="3300" spc="-20" dirty="0">
                <a:latin typeface="Arial"/>
                <a:cs typeface="Arial"/>
              </a:rPr>
              <a:t>g</a:t>
            </a:r>
            <a:r>
              <a:rPr sz="3300" spc="-5" dirty="0">
                <a:latin typeface="Arial"/>
                <a:cs typeface="Arial"/>
              </a:rPr>
              <a:t>ua</a:t>
            </a:r>
            <a:r>
              <a:rPr sz="3300" spc="-20" dirty="0">
                <a:latin typeface="Arial"/>
                <a:cs typeface="Arial"/>
              </a:rPr>
              <a:t>g</a:t>
            </a:r>
            <a:r>
              <a:rPr sz="3300" spc="-5" dirty="0">
                <a:latin typeface="Arial"/>
                <a:cs typeface="Arial"/>
              </a:rPr>
              <a:t>ens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que</a:t>
            </a:r>
            <a:r>
              <a:rPr sz="3300" spc="-2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pe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mi</a:t>
            </a:r>
            <a:r>
              <a:rPr sz="3300" spc="-10" dirty="0">
                <a:latin typeface="Arial"/>
                <a:cs typeface="Arial"/>
              </a:rPr>
              <a:t>t</a:t>
            </a:r>
            <a:r>
              <a:rPr sz="3300" spc="0" dirty="0">
                <a:latin typeface="Arial"/>
                <a:cs typeface="Arial"/>
              </a:rPr>
              <a:t>e</a:t>
            </a:r>
            <a:r>
              <a:rPr sz="3300" spc="-5" dirty="0">
                <a:latin typeface="Arial"/>
                <a:cs typeface="Arial"/>
              </a:rPr>
              <a:t>m </a:t>
            </a:r>
            <a:r>
              <a:rPr sz="3300" spc="0" dirty="0">
                <a:latin typeface="Arial"/>
                <a:cs typeface="Arial"/>
              </a:rPr>
              <a:t>u</a:t>
            </a:r>
            <a:r>
              <a:rPr sz="3300" spc="-5" dirty="0">
                <a:latin typeface="Arial"/>
                <a:cs typeface="Arial"/>
              </a:rPr>
              <a:t>ma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dirty="0">
                <a:latin typeface="Arial"/>
                <a:cs typeface="Arial"/>
              </a:rPr>
              <a:t>f</a:t>
            </a:r>
            <a:r>
              <a:rPr sz="3300" spc="-5" dirty="0">
                <a:latin typeface="Arial"/>
                <a:cs typeface="Arial"/>
              </a:rPr>
              <a:t>un</a:t>
            </a:r>
            <a:r>
              <a:rPr sz="3300" dirty="0">
                <a:latin typeface="Arial"/>
                <a:cs typeface="Arial"/>
              </a:rPr>
              <a:t>ç</a:t>
            </a:r>
            <a:r>
              <a:rPr sz="3300" spc="-20" dirty="0">
                <a:latin typeface="Arial"/>
                <a:cs typeface="Arial"/>
              </a:rPr>
              <a:t>ã</a:t>
            </a:r>
            <a:r>
              <a:rPr sz="3300" spc="-5" dirty="0">
                <a:latin typeface="Arial"/>
                <a:cs typeface="Arial"/>
              </a:rPr>
              <a:t>o </a:t>
            </a:r>
            <a:r>
              <a:rPr sz="3300" dirty="0">
                <a:latin typeface="Arial"/>
                <a:cs typeface="Arial"/>
              </a:rPr>
              <a:t>c</a:t>
            </a:r>
            <a:r>
              <a:rPr sz="3300" spc="-5" dirty="0">
                <a:latin typeface="Arial"/>
                <a:cs typeface="Arial"/>
              </a:rPr>
              <a:t>hamar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a </a:t>
            </a:r>
            <a:r>
              <a:rPr sz="3300" dirty="0">
                <a:latin typeface="Arial"/>
                <a:cs typeface="Arial"/>
              </a:rPr>
              <a:t>si</a:t>
            </a:r>
            <a:r>
              <a:rPr sz="3300" spc="-1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p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óp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ia </a:t>
            </a:r>
            <a:r>
              <a:rPr sz="3300" dirty="0">
                <a:latin typeface="Arial"/>
                <a:cs typeface="Arial"/>
              </a:rPr>
              <a:t>s</a:t>
            </a:r>
            <a:r>
              <a:rPr sz="3300" spc="-5" dirty="0">
                <a:latin typeface="Arial"/>
                <a:cs typeface="Arial"/>
              </a:rPr>
              <a:t>ão</a:t>
            </a:r>
            <a:r>
              <a:rPr sz="3300" spc="-2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di</a:t>
            </a:r>
            <a:r>
              <a:rPr sz="3300" spc="-10" dirty="0">
                <a:latin typeface="Arial"/>
                <a:cs typeface="Arial"/>
              </a:rPr>
              <a:t>t</a:t>
            </a:r>
            <a:r>
              <a:rPr sz="3300" spc="-5" dirty="0">
                <a:latin typeface="Arial"/>
                <a:cs typeface="Arial"/>
              </a:rPr>
              <a:t>as</a:t>
            </a:r>
            <a:r>
              <a:rPr sz="3300" dirty="0">
                <a:latin typeface="Arial"/>
                <a:cs typeface="Arial"/>
              </a:rPr>
              <a:t> r</a:t>
            </a:r>
            <a:r>
              <a:rPr sz="3300" spc="0" dirty="0">
                <a:latin typeface="Arial"/>
                <a:cs typeface="Arial"/>
              </a:rPr>
              <a:t>e</a:t>
            </a:r>
            <a:r>
              <a:rPr sz="3300" dirty="0">
                <a:latin typeface="Arial"/>
                <a:cs typeface="Arial"/>
              </a:rPr>
              <a:t>c</a:t>
            </a:r>
            <a:r>
              <a:rPr sz="3300" spc="-5" dirty="0">
                <a:latin typeface="Arial"/>
                <a:cs typeface="Arial"/>
              </a:rPr>
              <a:t>u</a:t>
            </a:r>
            <a:r>
              <a:rPr sz="3300" dirty="0">
                <a:latin typeface="Arial"/>
                <a:cs typeface="Arial"/>
              </a:rPr>
              <a:t>rs</a:t>
            </a:r>
            <a:r>
              <a:rPr sz="3300" spc="-15" dirty="0">
                <a:latin typeface="Arial"/>
                <a:cs typeface="Arial"/>
              </a:rPr>
              <a:t>i</a:t>
            </a:r>
            <a:r>
              <a:rPr sz="3300" dirty="0">
                <a:latin typeface="Arial"/>
                <a:cs typeface="Arial"/>
              </a:rPr>
              <a:t>v</a:t>
            </a:r>
            <a:r>
              <a:rPr sz="3300" spc="-5" dirty="0">
                <a:latin typeface="Arial"/>
                <a:cs typeface="Arial"/>
              </a:rPr>
              <a:t>as</a:t>
            </a:r>
            <a:endParaRPr sz="3300">
              <a:latin typeface="Arial"/>
              <a:cs typeface="Arial"/>
            </a:endParaRPr>
          </a:p>
          <a:p>
            <a:pPr marL="774065" lvl="1" indent="-382270">
              <a:lnSpc>
                <a:spcPct val="100000"/>
              </a:lnSpc>
              <a:spcBef>
                <a:spcPts val="309"/>
              </a:spcBef>
              <a:buClr>
                <a:srgbClr val="7F7F7F"/>
              </a:buClr>
              <a:buSzPct val="68421"/>
              <a:buFont typeface="Wingdings"/>
              <a:buChar char=""/>
              <a:tabLst>
                <a:tab pos="774700" algn="l"/>
              </a:tabLst>
            </a:pPr>
            <a:r>
              <a:rPr sz="2850" spc="10" dirty="0">
                <a:latin typeface="Arial"/>
                <a:cs typeface="Arial"/>
              </a:rPr>
              <a:t>A</a:t>
            </a:r>
            <a:r>
              <a:rPr sz="2850" spc="-5" dirty="0">
                <a:latin typeface="Arial"/>
                <a:cs typeface="Arial"/>
              </a:rPr>
              <a:t> li</a:t>
            </a:r>
            <a:r>
              <a:rPr sz="2850" spc="5" dirty="0">
                <a:latin typeface="Arial"/>
                <a:cs typeface="Arial"/>
              </a:rPr>
              <a:t>ngua</a:t>
            </a:r>
            <a:r>
              <a:rPr sz="2850" spc="15" dirty="0">
                <a:latin typeface="Arial"/>
                <a:cs typeface="Arial"/>
              </a:rPr>
              <a:t>g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10" dirty="0">
                <a:latin typeface="Arial"/>
                <a:cs typeface="Arial"/>
              </a:rPr>
              <a:t>m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 é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5" dirty="0">
                <a:latin typeface="Arial"/>
                <a:cs typeface="Arial"/>
              </a:rPr>
              <a:t>u</a:t>
            </a:r>
            <a:r>
              <a:rPr sz="2850" spc="10" dirty="0">
                <a:latin typeface="Arial"/>
                <a:cs typeface="Arial"/>
              </a:rPr>
              <a:t>m</a:t>
            </a:r>
            <a:r>
              <a:rPr sz="2850" spc="5" dirty="0">
                <a:latin typeface="Arial"/>
                <a:cs typeface="Arial"/>
              </a:rPr>
              <a:t>a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-5" dirty="0">
                <a:latin typeface="Arial"/>
                <a:cs typeface="Arial"/>
              </a:rPr>
              <a:t>li</a:t>
            </a:r>
            <a:r>
              <a:rPr sz="2850" spc="5" dirty="0">
                <a:latin typeface="Arial"/>
                <a:cs typeface="Arial"/>
              </a:rPr>
              <a:t>nguage</a:t>
            </a:r>
            <a:r>
              <a:rPr sz="2850" spc="10" dirty="0">
                <a:latin typeface="Arial"/>
                <a:cs typeface="Arial"/>
              </a:rPr>
              <a:t>m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r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-5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u</a:t>
            </a:r>
            <a:r>
              <a:rPr sz="2850" spc="10" dirty="0">
                <a:latin typeface="Arial"/>
                <a:cs typeface="Arial"/>
              </a:rPr>
              <a:t>r</a:t>
            </a:r>
            <a:r>
              <a:rPr sz="2850" spc="-5" dirty="0">
                <a:latin typeface="Arial"/>
                <a:cs typeface="Arial"/>
              </a:rPr>
              <a:t>si</a:t>
            </a:r>
            <a:r>
              <a:rPr sz="2850" spc="10" dirty="0">
                <a:latin typeface="Arial"/>
                <a:cs typeface="Arial"/>
              </a:rPr>
              <a:t>v</a:t>
            </a:r>
            <a:r>
              <a:rPr sz="2850" spc="5" dirty="0">
                <a:latin typeface="Arial"/>
                <a:cs typeface="Arial"/>
              </a:rPr>
              <a:t>a</a:t>
            </a:r>
            <a:r>
              <a:rPr sz="2850" dirty="0">
                <a:latin typeface="Arial"/>
                <a:cs typeface="Arial"/>
              </a:rPr>
              <a:t>.</a:t>
            </a:r>
            <a:endParaRPr sz="28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11922253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4566" y="2074705"/>
            <a:ext cx="7235190" cy="15234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50" b="1" spc="15" dirty="0">
                <a:latin typeface="Arial"/>
                <a:cs typeface="Arial"/>
              </a:rPr>
              <a:t>C</a:t>
            </a:r>
            <a:r>
              <a:rPr sz="2850" b="1" spc="5" dirty="0">
                <a:latin typeface="Arial"/>
                <a:cs typeface="Arial"/>
              </a:rPr>
              <a:t>á</a:t>
            </a:r>
            <a:r>
              <a:rPr sz="2850" b="1" spc="-5" dirty="0">
                <a:latin typeface="Arial"/>
                <a:cs typeface="Arial"/>
              </a:rPr>
              <a:t>l</a:t>
            </a:r>
            <a:r>
              <a:rPr sz="2850" b="1" spc="5" dirty="0">
                <a:latin typeface="Arial"/>
                <a:cs typeface="Arial"/>
              </a:rPr>
              <a:t>cu</a:t>
            </a:r>
            <a:r>
              <a:rPr sz="2850" b="1" spc="-5" dirty="0">
                <a:latin typeface="Arial"/>
                <a:cs typeface="Arial"/>
              </a:rPr>
              <a:t>l</a:t>
            </a:r>
            <a:r>
              <a:rPr sz="2850" b="1" spc="5" dirty="0">
                <a:latin typeface="Arial"/>
                <a:cs typeface="Arial"/>
              </a:rPr>
              <a:t>o</a:t>
            </a:r>
            <a:r>
              <a:rPr sz="2850" b="1" spc="10" dirty="0">
                <a:latin typeface="Arial"/>
                <a:cs typeface="Arial"/>
              </a:rPr>
              <a:t> </a:t>
            </a:r>
            <a:r>
              <a:rPr sz="2850" b="1" spc="5" dirty="0">
                <a:latin typeface="Arial"/>
                <a:cs typeface="Arial"/>
              </a:rPr>
              <a:t>do</a:t>
            </a:r>
            <a:r>
              <a:rPr sz="2850" b="1" dirty="0">
                <a:latin typeface="Arial"/>
                <a:cs typeface="Arial"/>
              </a:rPr>
              <a:t> </a:t>
            </a:r>
            <a:r>
              <a:rPr sz="2850" b="1" spc="5" dirty="0">
                <a:latin typeface="Arial"/>
                <a:cs typeface="Arial"/>
              </a:rPr>
              <a:t>va</a:t>
            </a:r>
            <a:r>
              <a:rPr sz="2850" b="1" spc="-5" dirty="0">
                <a:latin typeface="Arial"/>
                <a:cs typeface="Arial"/>
              </a:rPr>
              <a:t>l</a:t>
            </a:r>
            <a:r>
              <a:rPr sz="2850" b="1" spc="5" dirty="0">
                <a:latin typeface="Arial"/>
                <a:cs typeface="Arial"/>
              </a:rPr>
              <a:t>or</a:t>
            </a:r>
            <a:r>
              <a:rPr sz="2850" b="1" spc="10" dirty="0">
                <a:latin typeface="Arial"/>
                <a:cs typeface="Arial"/>
              </a:rPr>
              <a:t> </a:t>
            </a:r>
            <a:r>
              <a:rPr sz="2850" b="1" spc="5" dirty="0">
                <a:latin typeface="Arial"/>
                <a:cs typeface="Arial"/>
              </a:rPr>
              <a:t>de</a:t>
            </a:r>
            <a:r>
              <a:rPr sz="2850" b="1" dirty="0">
                <a:latin typeface="Arial"/>
                <a:cs typeface="Arial"/>
              </a:rPr>
              <a:t> 2</a:t>
            </a:r>
            <a:r>
              <a:rPr sz="2775" b="1" spc="15" baseline="27027" dirty="0">
                <a:latin typeface="Arial"/>
                <a:cs typeface="Arial"/>
              </a:rPr>
              <a:t>n</a:t>
            </a:r>
            <a:r>
              <a:rPr sz="2775" b="1" baseline="27027" dirty="0">
                <a:latin typeface="Arial"/>
                <a:cs typeface="Arial"/>
              </a:rPr>
              <a:t> </a:t>
            </a:r>
            <a:r>
              <a:rPr sz="2775" b="1" spc="-359" baseline="27027" dirty="0">
                <a:latin typeface="Arial"/>
                <a:cs typeface="Arial"/>
              </a:rPr>
              <a:t> </a:t>
            </a:r>
            <a:r>
              <a:rPr sz="2850" b="1" spc="5" dirty="0">
                <a:latin typeface="Arial"/>
                <a:cs typeface="Arial"/>
              </a:rPr>
              <a:t>pa</a:t>
            </a:r>
            <a:r>
              <a:rPr sz="2850" b="1" spc="15" dirty="0">
                <a:latin typeface="Arial"/>
                <a:cs typeface="Arial"/>
              </a:rPr>
              <a:t>r</a:t>
            </a:r>
            <a:r>
              <a:rPr sz="2850" b="1" spc="5" dirty="0">
                <a:latin typeface="Arial"/>
                <a:cs typeface="Arial"/>
              </a:rPr>
              <a:t>a</a:t>
            </a:r>
            <a:r>
              <a:rPr sz="2850" b="1" dirty="0">
                <a:latin typeface="Arial"/>
                <a:cs typeface="Arial"/>
              </a:rPr>
              <a:t> </a:t>
            </a:r>
            <a:r>
              <a:rPr sz="2850" b="1" spc="5" dirty="0">
                <a:latin typeface="Arial"/>
                <a:cs typeface="Arial"/>
              </a:rPr>
              <a:t>u</a:t>
            </a:r>
            <a:r>
              <a:rPr sz="2850" b="1" spc="15" dirty="0">
                <a:latin typeface="Arial"/>
                <a:cs typeface="Arial"/>
              </a:rPr>
              <a:t>m</a:t>
            </a:r>
            <a:r>
              <a:rPr sz="2850" b="1" spc="5" dirty="0">
                <a:latin typeface="Arial"/>
                <a:cs typeface="Arial"/>
              </a:rPr>
              <a:t> nú</a:t>
            </a:r>
            <a:r>
              <a:rPr sz="2850" b="1" spc="20" dirty="0">
                <a:latin typeface="Arial"/>
                <a:cs typeface="Arial"/>
              </a:rPr>
              <a:t>m</a:t>
            </a:r>
            <a:r>
              <a:rPr sz="2850" b="1" spc="5" dirty="0">
                <a:latin typeface="Arial"/>
                <a:cs typeface="Arial"/>
              </a:rPr>
              <a:t>ero</a:t>
            </a:r>
            <a:r>
              <a:rPr sz="2850" b="1" dirty="0">
                <a:latin typeface="Arial"/>
                <a:cs typeface="Arial"/>
              </a:rPr>
              <a:t> </a:t>
            </a:r>
            <a:r>
              <a:rPr sz="2850" b="1" spc="5" dirty="0">
                <a:latin typeface="Arial"/>
                <a:cs typeface="Arial"/>
              </a:rPr>
              <a:t>n:</a:t>
            </a:r>
            <a:endParaRPr sz="2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"/>
              </a:spcBef>
            </a:pPr>
            <a:endParaRPr sz="4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50" spc="5" dirty="0">
                <a:latin typeface="Arial"/>
                <a:cs typeface="Arial"/>
              </a:rPr>
              <a:t>Ap</a:t>
            </a:r>
            <a:r>
              <a:rPr sz="2850" spc="10" dirty="0">
                <a:latin typeface="Arial"/>
                <a:cs typeface="Arial"/>
              </a:rPr>
              <a:t>r</a:t>
            </a:r>
            <a:r>
              <a:rPr sz="2850" spc="5" dirty="0">
                <a:latin typeface="Arial"/>
                <a:cs typeface="Arial"/>
              </a:rPr>
              <a:t>ende</a:t>
            </a:r>
            <a:r>
              <a:rPr sz="2850" spc="10" dirty="0">
                <a:latin typeface="Arial"/>
                <a:cs typeface="Arial"/>
              </a:rPr>
              <a:t>m</a:t>
            </a:r>
            <a:r>
              <a:rPr sz="2850" spc="5" dirty="0">
                <a:latin typeface="Arial"/>
                <a:cs typeface="Arial"/>
              </a:rPr>
              <a:t>os que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2</a:t>
            </a:r>
            <a:r>
              <a:rPr sz="2775" spc="15" baseline="27027" dirty="0">
                <a:latin typeface="Arial"/>
                <a:cs typeface="Arial"/>
              </a:rPr>
              <a:t>n</a:t>
            </a:r>
            <a:r>
              <a:rPr sz="2775" baseline="27027" dirty="0">
                <a:latin typeface="Arial"/>
                <a:cs typeface="Arial"/>
              </a:rPr>
              <a:t> </a:t>
            </a:r>
            <a:r>
              <a:rPr sz="2775" spc="-352" baseline="27027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= 2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*</a:t>
            </a:r>
            <a:r>
              <a:rPr sz="2850" spc="1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2</a:t>
            </a:r>
            <a:r>
              <a:rPr sz="2850" spc="1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*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2</a:t>
            </a:r>
            <a:r>
              <a:rPr sz="2850" spc="1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*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5" dirty="0">
                <a:latin typeface="Arial"/>
                <a:cs typeface="Arial"/>
              </a:rPr>
              <a:t>…</a:t>
            </a:r>
            <a:r>
              <a:rPr sz="2850" spc="1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*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2</a:t>
            </a:r>
            <a:r>
              <a:rPr sz="2850" dirty="0">
                <a:latin typeface="Arial"/>
                <a:cs typeface="Arial"/>
              </a:rPr>
              <a:t>.</a:t>
            </a:r>
            <a:endParaRPr sz="28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13575383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500" y="1832085"/>
            <a:ext cx="5833745" cy="4078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-10" dirty="0">
                <a:latin typeface="Arial"/>
                <a:cs typeface="Arial"/>
              </a:rPr>
              <a:t>I</a:t>
            </a:r>
            <a:r>
              <a:rPr sz="2650" spc="-15" dirty="0">
                <a:latin typeface="Arial"/>
                <a:cs typeface="Arial"/>
              </a:rPr>
              <a:t>m</a:t>
            </a:r>
            <a:r>
              <a:rPr sz="2650" spc="-5" dirty="0">
                <a:latin typeface="Arial"/>
                <a:cs typeface="Arial"/>
              </a:rPr>
              <a:t>ple</a:t>
            </a:r>
            <a:r>
              <a:rPr sz="2650" dirty="0">
                <a:latin typeface="Arial"/>
                <a:cs typeface="Arial"/>
              </a:rPr>
              <a:t>m</a:t>
            </a:r>
            <a:r>
              <a:rPr sz="2650" spc="-5" dirty="0">
                <a:latin typeface="Arial"/>
                <a:cs typeface="Arial"/>
              </a:rPr>
              <a:t>en</a:t>
            </a:r>
            <a:r>
              <a:rPr sz="2650" spc="-10" dirty="0">
                <a:latin typeface="Arial"/>
                <a:cs typeface="Arial"/>
              </a:rPr>
              <a:t>t</a:t>
            </a:r>
            <a:r>
              <a:rPr sz="2650" spc="-15" dirty="0">
                <a:latin typeface="Arial"/>
                <a:cs typeface="Arial"/>
              </a:rPr>
              <a:t>a</a:t>
            </a:r>
            <a:r>
              <a:rPr sz="2650" dirty="0">
                <a:latin typeface="Arial"/>
                <a:cs typeface="Arial"/>
              </a:rPr>
              <a:t>ç</a:t>
            </a:r>
            <a:r>
              <a:rPr sz="2650" spc="-15" dirty="0">
                <a:latin typeface="Arial"/>
                <a:cs typeface="Arial"/>
              </a:rPr>
              <a:t>ã</a:t>
            </a:r>
            <a:r>
              <a:rPr sz="2650" spc="-10" dirty="0">
                <a:latin typeface="Arial"/>
                <a:cs typeface="Arial"/>
              </a:rPr>
              <a:t>o</a:t>
            </a:r>
            <a:r>
              <a:rPr sz="2650" spc="5" dirty="0">
                <a:latin typeface="Arial"/>
                <a:cs typeface="Arial"/>
              </a:rPr>
              <a:t> </a:t>
            </a:r>
            <a:r>
              <a:rPr sz="2650" spc="-5" dirty="0">
                <a:solidFill>
                  <a:srgbClr val="320065"/>
                </a:solidFill>
                <a:latin typeface="Arial"/>
                <a:cs typeface="Arial"/>
              </a:rPr>
              <a:t>i</a:t>
            </a:r>
            <a:r>
              <a:rPr sz="2650" spc="-10" dirty="0">
                <a:solidFill>
                  <a:srgbClr val="320065"/>
                </a:solidFill>
                <a:latin typeface="Arial"/>
                <a:cs typeface="Arial"/>
              </a:rPr>
              <a:t>t</a:t>
            </a:r>
            <a:r>
              <a:rPr sz="2650" spc="-5" dirty="0">
                <a:solidFill>
                  <a:srgbClr val="320065"/>
                </a:solidFill>
                <a:latin typeface="Arial"/>
                <a:cs typeface="Arial"/>
              </a:rPr>
              <a:t>e</a:t>
            </a:r>
            <a:r>
              <a:rPr sz="2650" dirty="0">
                <a:solidFill>
                  <a:srgbClr val="320065"/>
                </a:solidFill>
                <a:latin typeface="Arial"/>
                <a:cs typeface="Arial"/>
              </a:rPr>
              <a:t>r</a:t>
            </a:r>
            <a:r>
              <a:rPr sz="2650" spc="-15" dirty="0">
                <a:solidFill>
                  <a:srgbClr val="320065"/>
                </a:solidFill>
                <a:latin typeface="Arial"/>
                <a:cs typeface="Arial"/>
              </a:rPr>
              <a:t>a</a:t>
            </a:r>
            <a:r>
              <a:rPr sz="2650" spc="-10" dirty="0">
                <a:solidFill>
                  <a:srgbClr val="320065"/>
                </a:solidFill>
                <a:latin typeface="Arial"/>
                <a:cs typeface="Arial"/>
              </a:rPr>
              <a:t>t</a:t>
            </a:r>
            <a:r>
              <a:rPr sz="2650" spc="-5" dirty="0">
                <a:solidFill>
                  <a:srgbClr val="320065"/>
                </a:solidFill>
                <a:latin typeface="Arial"/>
                <a:cs typeface="Arial"/>
              </a:rPr>
              <a:t>i</a:t>
            </a:r>
            <a:r>
              <a:rPr sz="2650" dirty="0">
                <a:solidFill>
                  <a:srgbClr val="320065"/>
                </a:solidFill>
                <a:latin typeface="Arial"/>
                <a:cs typeface="Arial"/>
              </a:rPr>
              <a:t>v</a:t>
            </a:r>
            <a:r>
              <a:rPr sz="2650" spc="-10" dirty="0">
                <a:solidFill>
                  <a:srgbClr val="320065"/>
                </a:solidFill>
                <a:latin typeface="Arial"/>
                <a:cs typeface="Arial"/>
              </a:rPr>
              <a:t>a </a:t>
            </a:r>
            <a:r>
              <a:rPr sz="2650" dirty="0">
                <a:latin typeface="Arial"/>
                <a:cs typeface="Arial"/>
              </a:rPr>
              <a:t>m</a:t>
            </a:r>
            <a:r>
              <a:rPr sz="2650" spc="-15" dirty="0">
                <a:latin typeface="Arial"/>
                <a:cs typeface="Arial"/>
              </a:rPr>
              <a:t>u</a:t>
            </a:r>
            <a:r>
              <a:rPr sz="2650" spc="-5" dirty="0">
                <a:latin typeface="Arial"/>
                <a:cs typeface="Arial"/>
              </a:rPr>
              <a:t>i</a:t>
            </a:r>
            <a:r>
              <a:rPr sz="2650" spc="0" dirty="0">
                <a:latin typeface="Arial"/>
                <a:cs typeface="Arial"/>
              </a:rPr>
              <a:t>t</a:t>
            </a:r>
            <a:r>
              <a:rPr sz="2650" spc="-10" dirty="0">
                <a:latin typeface="Arial"/>
                <a:cs typeface="Arial"/>
              </a:rPr>
              <a:t>o s</a:t>
            </a:r>
            <a:r>
              <a:rPr sz="2650" spc="0" dirty="0">
                <a:latin typeface="Arial"/>
                <a:cs typeface="Arial"/>
              </a:rPr>
              <a:t>i</a:t>
            </a:r>
            <a:r>
              <a:rPr sz="2650" dirty="0">
                <a:latin typeface="Arial"/>
                <a:cs typeface="Arial"/>
              </a:rPr>
              <a:t>m</a:t>
            </a:r>
            <a:r>
              <a:rPr sz="2650" spc="-15" dirty="0">
                <a:latin typeface="Arial"/>
                <a:cs typeface="Arial"/>
              </a:rPr>
              <a:t>p</a:t>
            </a:r>
            <a:r>
              <a:rPr sz="2650" spc="0" dirty="0">
                <a:latin typeface="Arial"/>
                <a:cs typeface="Arial"/>
              </a:rPr>
              <a:t>l</a:t>
            </a:r>
            <a:r>
              <a:rPr sz="2650" spc="-15" dirty="0">
                <a:latin typeface="Arial"/>
                <a:cs typeface="Arial"/>
              </a:rPr>
              <a:t>e</a:t>
            </a:r>
            <a:r>
              <a:rPr sz="2650" spc="-10" dirty="0">
                <a:latin typeface="Arial"/>
                <a:cs typeface="Arial"/>
              </a:rPr>
              <a:t>s</a:t>
            </a:r>
            <a:r>
              <a:rPr sz="2650" spc="-5" dirty="0">
                <a:latin typeface="Arial"/>
                <a:cs typeface="Arial"/>
              </a:rPr>
              <a:t>:</a:t>
            </a:r>
            <a:endParaRPr sz="26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111" y="2743941"/>
            <a:ext cx="4204970" cy="3091122"/>
          </a:xfrm>
          <a:custGeom>
            <a:avLst/>
            <a:gdLst/>
            <a:ahLst/>
            <a:cxnLst/>
            <a:rect l="l" t="t" r="r" b="b"/>
            <a:pathLst>
              <a:path w="4204970" h="3093720">
                <a:moveTo>
                  <a:pt x="0" y="0"/>
                </a:moveTo>
                <a:lnTo>
                  <a:pt x="0" y="3093719"/>
                </a:lnTo>
                <a:lnTo>
                  <a:pt x="4204715" y="3093719"/>
                </a:lnTo>
                <a:lnTo>
                  <a:pt x="4204715" y="0"/>
                </a:lnTo>
                <a:lnTo>
                  <a:pt x="0" y="0"/>
                </a:lnTo>
                <a:close/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01267" y="2776171"/>
            <a:ext cx="2557780" cy="6560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dirty="0">
                <a:latin typeface="Courier New"/>
                <a:cs typeface="Courier New"/>
              </a:rPr>
              <a:t>in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P</a:t>
            </a:r>
            <a:r>
              <a:rPr sz="1750" spc="10" dirty="0">
                <a:latin typeface="Courier New"/>
                <a:cs typeface="Courier New"/>
              </a:rPr>
              <a:t>o</a:t>
            </a:r>
            <a:r>
              <a:rPr sz="1750" dirty="0">
                <a:latin typeface="Courier New"/>
                <a:cs typeface="Courier New"/>
              </a:rPr>
              <a:t>te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c</a:t>
            </a:r>
            <a:r>
              <a:rPr sz="1750" spc="10" dirty="0">
                <a:latin typeface="Courier New"/>
                <a:cs typeface="Courier New"/>
              </a:rPr>
              <a:t>i</a:t>
            </a:r>
            <a:r>
              <a:rPr sz="1750" dirty="0">
                <a:latin typeface="Courier New"/>
                <a:cs typeface="Courier New"/>
              </a:rPr>
              <a:t>a(i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r>
              <a:rPr sz="1750" spc="5" dirty="0">
                <a:latin typeface="Courier New"/>
                <a:cs typeface="Courier New"/>
              </a:rPr>
              <a:t>{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69492" y="3417960"/>
            <a:ext cx="1481455" cy="1136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40300"/>
              </a:lnSpc>
            </a:pPr>
            <a:r>
              <a:rPr sz="1750" dirty="0">
                <a:latin typeface="Courier New"/>
                <a:cs typeface="Courier New"/>
              </a:rPr>
              <a:t>i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Po</a:t>
            </a:r>
            <a:r>
              <a:rPr sz="1750" spc="10" dirty="0">
                <a:latin typeface="Courier New"/>
                <a:cs typeface="Courier New"/>
              </a:rPr>
              <a:t>t</a:t>
            </a:r>
            <a:r>
              <a:rPr sz="1750" spc="5" dirty="0">
                <a:latin typeface="Courier New"/>
                <a:cs typeface="Courier New"/>
              </a:rPr>
              <a:t>,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i</a:t>
            </a:r>
            <a:r>
              <a:rPr sz="1750" spc="5" dirty="0">
                <a:latin typeface="Courier New"/>
                <a:cs typeface="Courier New"/>
              </a:rPr>
              <a:t>; </a:t>
            </a:r>
            <a:r>
              <a:rPr sz="1750" dirty="0">
                <a:latin typeface="Courier New"/>
                <a:cs typeface="Courier New"/>
              </a:rPr>
              <a:t>P</a:t>
            </a:r>
            <a:r>
              <a:rPr sz="1750" spc="10" dirty="0">
                <a:latin typeface="Courier New"/>
                <a:cs typeface="Courier New"/>
              </a:rPr>
              <a:t>o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=</a:t>
            </a:r>
            <a:r>
              <a:rPr sz="1750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1</a:t>
            </a:r>
            <a:r>
              <a:rPr sz="1750" spc="5" dirty="0">
                <a:latin typeface="Courier New"/>
                <a:cs typeface="Courier New"/>
              </a:rPr>
              <a:t>; </a:t>
            </a:r>
            <a:r>
              <a:rPr sz="1750" dirty="0">
                <a:latin typeface="Courier New"/>
                <a:cs typeface="Courier New"/>
              </a:rPr>
              <a:t>f</a:t>
            </a:r>
            <a:r>
              <a:rPr sz="1750" spc="10" dirty="0">
                <a:latin typeface="Courier New"/>
                <a:cs typeface="Courier New"/>
              </a:rPr>
              <a:t>o</a:t>
            </a:r>
            <a:r>
              <a:rPr sz="1750" spc="5" dirty="0">
                <a:latin typeface="Courier New"/>
                <a:cs typeface="Courier New"/>
              </a:rPr>
              <a:t>r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63485" y="4273005"/>
            <a:ext cx="53721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dirty="0">
                <a:latin typeface="Courier New"/>
                <a:cs typeface="Courier New"/>
              </a:rPr>
              <a:t>i++</a:t>
            </a:r>
            <a:r>
              <a:rPr sz="1750" spc="5" dirty="0"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08900" y="4273005"/>
            <a:ext cx="2019300" cy="6560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dirty="0">
                <a:latin typeface="Courier New"/>
                <a:cs typeface="Courier New"/>
              </a:rPr>
              <a:t>(</a:t>
            </a:r>
            <a:r>
              <a:rPr sz="1750" spc="5" dirty="0">
                <a:latin typeface="Courier New"/>
                <a:cs typeface="Courier New"/>
              </a:rPr>
              <a:t>i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=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1</a:t>
            </a:r>
            <a:r>
              <a:rPr sz="1750" spc="5" dirty="0">
                <a:latin typeface="Courier New"/>
                <a:cs typeface="Courier New"/>
              </a:rPr>
              <a:t>;</a:t>
            </a:r>
            <a:r>
              <a:rPr sz="1750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i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&lt;</a:t>
            </a:r>
            <a:r>
              <a:rPr sz="1750" spc="5" dirty="0">
                <a:latin typeface="Courier New"/>
                <a:cs typeface="Courier New"/>
              </a:rPr>
              <a:t>=</a:t>
            </a:r>
            <a:r>
              <a:rPr sz="1750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;</a:t>
            </a:r>
            <a:endParaRPr sz="1750">
              <a:latin typeface="Courier New"/>
              <a:cs typeface="Courier New"/>
            </a:endParaRPr>
          </a:p>
          <a:p>
            <a:pPr marL="403860">
              <a:lnSpc>
                <a:spcPct val="100000"/>
              </a:lnSpc>
              <a:spcBef>
                <a:spcPts val="850"/>
              </a:spcBef>
            </a:pPr>
            <a:r>
              <a:rPr sz="1750" spc="5" dirty="0">
                <a:latin typeface="Courier New"/>
                <a:cs typeface="Courier New"/>
              </a:rPr>
              <a:t>=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Po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*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2</a:t>
            </a:r>
            <a:r>
              <a:rPr sz="1750" spc="5" dirty="0">
                <a:latin typeface="Courier New"/>
                <a:cs typeface="Courier New"/>
              </a:rPr>
              <a:t>;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69492" y="4541003"/>
            <a:ext cx="808355" cy="761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indent="403860">
              <a:lnSpc>
                <a:spcPct val="140000"/>
              </a:lnSpc>
            </a:pPr>
            <a:r>
              <a:rPr sz="1750" spc="10" dirty="0">
                <a:latin typeface="Courier New"/>
                <a:cs typeface="Courier New"/>
              </a:rPr>
              <a:t>P</a:t>
            </a:r>
            <a:r>
              <a:rPr sz="1750" dirty="0">
                <a:latin typeface="Courier New"/>
                <a:cs typeface="Courier New"/>
              </a:rPr>
              <a:t>o</a:t>
            </a:r>
            <a:r>
              <a:rPr sz="1750" spc="5" dirty="0">
                <a:latin typeface="Courier New"/>
                <a:cs typeface="Courier New"/>
              </a:rPr>
              <a:t>t </a:t>
            </a:r>
            <a:r>
              <a:rPr sz="1750" dirty="0">
                <a:latin typeface="Courier New"/>
                <a:cs typeface="Courier New"/>
              </a:rPr>
              <a:t>r</a:t>
            </a:r>
            <a:r>
              <a:rPr sz="1750" spc="10" dirty="0">
                <a:latin typeface="Courier New"/>
                <a:cs typeface="Courier New"/>
              </a:rPr>
              <a:t>e</a:t>
            </a:r>
            <a:r>
              <a:rPr sz="1750" dirty="0">
                <a:latin typeface="Courier New"/>
                <a:cs typeface="Courier New"/>
              </a:rPr>
              <a:t>t</a:t>
            </a:r>
            <a:r>
              <a:rPr sz="1750" spc="10" dirty="0">
                <a:latin typeface="Courier New"/>
                <a:cs typeface="Courier New"/>
              </a:rPr>
              <a:t>u</a:t>
            </a:r>
            <a:r>
              <a:rPr sz="1750" dirty="0">
                <a:latin typeface="Courier New"/>
                <a:cs typeface="Courier New"/>
              </a:rPr>
              <a:t>r</a:t>
            </a:r>
            <a:r>
              <a:rPr sz="1750" spc="5" dirty="0">
                <a:latin typeface="Courier New"/>
                <a:cs typeface="Courier New"/>
              </a:rPr>
              <a:t>n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12716" y="5020661"/>
            <a:ext cx="80645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dirty="0">
                <a:latin typeface="Courier New"/>
                <a:cs typeface="Courier New"/>
              </a:rPr>
              <a:t>(</a:t>
            </a:r>
            <a:r>
              <a:rPr sz="1750" spc="10" dirty="0">
                <a:latin typeface="Courier New"/>
                <a:cs typeface="Courier New"/>
              </a:rPr>
              <a:t>P</a:t>
            </a:r>
            <a:r>
              <a:rPr sz="1750" dirty="0">
                <a:latin typeface="Courier New"/>
                <a:cs typeface="Courier New"/>
              </a:rPr>
              <a:t>ot)</a:t>
            </a:r>
            <a:r>
              <a:rPr sz="1750" spc="5" dirty="0">
                <a:latin typeface="Courier New"/>
                <a:cs typeface="Courier New"/>
              </a:rPr>
              <a:t>;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01267" y="5395249"/>
            <a:ext cx="13462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spc="5" dirty="0">
                <a:latin typeface="Courier New"/>
                <a:cs typeface="Courier New"/>
              </a:rPr>
              <a:t>}</a:t>
            </a:r>
            <a:endParaRPr sz="175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528321191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1324" y="2074705"/>
            <a:ext cx="6882765" cy="4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50" spc="15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a</a:t>
            </a:r>
            <a:r>
              <a:rPr sz="2850" spc="-15" dirty="0">
                <a:latin typeface="Arial"/>
                <a:cs typeface="Arial"/>
              </a:rPr>
              <a:t>l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u</a:t>
            </a:r>
            <a:r>
              <a:rPr sz="2850" spc="-5" dirty="0">
                <a:latin typeface="Arial"/>
                <a:cs typeface="Arial"/>
              </a:rPr>
              <a:t>l</a:t>
            </a:r>
            <a:r>
              <a:rPr sz="2850" spc="5" dirty="0">
                <a:latin typeface="Arial"/>
                <a:cs typeface="Arial"/>
              </a:rPr>
              <a:t>ar</a:t>
            </a:r>
            <a:r>
              <a:rPr sz="2850" spc="-1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v</a:t>
            </a:r>
            <a:r>
              <a:rPr sz="2850" spc="5" dirty="0">
                <a:latin typeface="Arial"/>
                <a:cs typeface="Arial"/>
              </a:rPr>
              <a:t>a</a:t>
            </a:r>
            <a:r>
              <a:rPr sz="2850" spc="-5" dirty="0">
                <a:latin typeface="Arial"/>
                <a:cs typeface="Arial"/>
              </a:rPr>
              <a:t>l</a:t>
            </a:r>
            <a:r>
              <a:rPr sz="2850" spc="5" dirty="0">
                <a:latin typeface="Arial"/>
                <a:cs typeface="Arial"/>
              </a:rPr>
              <a:t>or de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2</a:t>
            </a:r>
            <a:r>
              <a:rPr sz="2775" spc="15" baseline="27027" dirty="0">
                <a:latin typeface="Arial"/>
                <a:cs typeface="Arial"/>
              </a:rPr>
              <a:t>n</a:t>
            </a:r>
            <a:r>
              <a:rPr sz="2775" baseline="27027" dirty="0">
                <a:latin typeface="Arial"/>
                <a:cs typeface="Arial"/>
              </a:rPr>
              <a:t> </a:t>
            </a:r>
            <a:r>
              <a:rPr sz="2775" spc="-337" baseline="27027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o</a:t>
            </a:r>
            <a:r>
              <a:rPr sz="2850" spc="10" dirty="0">
                <a:latin typeface="Arial"/>
                <a:cs typeface="Arial"/>
              </a:rPr>
              <a:t>m</a:t>
            </a:r>
            <a:r>
              <a:rPr sz="2850" spc="5" dirty="0">
                <a:latin typeface="Arial"/>
                <a:cs typeface="Arial"/>
              </a:rPr>
              <a:t>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s</a:t>
            </a:r>
            <a:r>
              <a:rPr sz="2850" spc="5" dirty="0">
                <a:latin typeface="Arial"/>
                <a:cs typeface="Arial"/>
              </a:rPr>
              <a:t>endo</a:t>
            </a:r>
            <a:r>
              <a:rPr sz="2850" spc="1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2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*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20" dirty="0">
                <a:latin typeface="Arial"/>
                <a:cs typeface="Arial"/>
              </a:rPr>
              <a:t>2</a:t>
            </a:r>
            <a:r>
              <a:rPr sz="2775" spc="15" baseline="27027" dirty="0">
                <a:latin typeface="Arial"/>
                <a:cs typeface="Arial"/>
              </a:rPr>
              <a:t>n</a:t>
            </a:r>
            <a:r>
              <a:rPr sz="2775" spc="7" baseline="27027" dirty="0">
                <a:latin typeface="Arial"/>
                <a:cs typeface="Arial"/>
              </a:rPr>
              <a:t>-</a:t>
            </a:r>
            <a:r>
              <a:rPr sz="2775" spc="15" baseline="27027" dirty="0">
                <a:latin typeface="Arial"/>
                <a:cs typeface="Arial"/>
              </a:rPr>
              <a:t>1</a:t>
            </a:r>
            <a:r>
              <a:rPr sz="2850" dirty="0">
                <a:latin typeface="Arial"/>
                <a:cs typeface="Arial"/>
              </a:rPr>
              <a:t>:</a:t>
            </a:r>
            <a:endParaRPr sz="28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1324" y="4171491"/>
            <a:ext cx="3442335" cy="1492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22630">
              <a:lnSpc>
                <a:spcPts val="3340"/>
              </a:lnSpc>
            </a:pPr>
            <a:r>
              <a:rPr sz="2850" spc="5" dirty="0">
                <a:latin typeface="Arial"/>
                <a:cs typeface="Arial"/>
              </a:rPr>
              <a:t>2</a:t>
            </a:r>
            <a:r>
              <a:rPr sz="2850" dirty="0">
                <a:latin typeface="Arial"/>
                <a:cs typeface="Arial"/>
              </a:rPr>
              <a:t>,</a:t>
            </a:r>
            <a:r>
              <a:rPr sz="2850" spc="5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s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n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= 1</a:t>
            </a:r>
            <a:endParaRPr sz="2850">
              <a:latin typeface="Arial"/>
              <a:cs typeface="Arial"/>
            </a:endParaRPr>
          </a:p>
          <a:p>
            <a:pPr marL="12700">
              <a:lnSpc>
                <a:spcPts val="3340"/>
              </a:lnSpc>
            </a:pPr>
            <a:r>
              <a:rPr sz="4275" spc="7" baseline="-17543" dirty="0">
                <a:latin typeface="Arial"/>
                <a:cs typeface="Arial"/>
              </a:rPr>
              <a:t>2</a:t>
            </a:r>
            <a:r>
              <a:rPr sz="1850" spc="10" dirty="0">
                <a:latin typeface="Arial"/>
                <a:cs typeface="Arial"/>
              </a:rPr>
              <a:t>n</a:t>
            </a:r>
            <a:endParaRPr sz="1850">
              <a:latin typeface="Arial"/>
              <a:cs typeface="Arial"/>
            </a:endParaRPr>
          </a:p>
          <a:p>
            <a:pPr marL="822960">
              <a:lnSpc>
                <a:spcPct val="100000"/>
              </a:lnSpc>
              <a:spcBef>
                <a:spcPts val="1580"/>
              </a:spcBef>
            </a:pPr>
            <a:r>
              <a:rPr sz="2850" spc="5" dirty="0">
                <a:latin typeface="Arial"/>
                <a:cs typeface="Arial"/>
              </a:rPr>
              <a:t>2 *</a:t>
            </a:r>
            <a:r>
              <a:rPr sz="2850" spc="2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2</a:t>
            </a:r>
            <a:r>
              <a:rPr sz="2775" spc="15" baseline="27027" dirty="0">
                <a:latin typeface="Arial"/>
                <a:cs typeface="Arial"/>
              </a:rPr>
              <a:t>n</a:t>
            </a:r>
            <a:r>
              <a:rPr sz="2775" spc="7" baseline="27027" dirty="0">
                <a:latin typeface="Arial"/>
                <a:cs typeface="Arial"/>
              </a:rPr>
              <a:t>-</a:t>
            </a:r>
            <a:r>
              <a:rPr sz="2775" spc="15" baseline="27027" dirty="0">
                <a:latin typeface="Arial"/>
                <a:cs typeface="Arial"/>
              </a:rPr>
              <a:t>1</a:t>
            </a:r>
            <a:r>
              <a:rPr sz="2850" dirty="0">
                <a:latin typeface="Arial"/>
                <a:cs typeface="Arial"/>
              </a:rPr>
              <a:t>,</a:t>
            </a:r>
            <a:r>
              <a:rPr sz="2850" spc="-5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s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n</a:t>
            </a:r>
            <a:r>
              <a:rPr sz="2850" spc="25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&gt; 1</a:t>
            </a:r>
            <a:endParaRPr sz="28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89887" y="4061094"/>
            <a:ext cx="117475" cy="1773969"/>
          </a:xfrm>
          <a:custGeom>
            <a:avLst/>
            <a:gdLst/>
            <a:ahLst/>
            <a:cxnLst/>
            <a:rect l="l" t="t" r="r" b="b"/>
            <a:pathLst>
              <a:path w="117475" h="1775460">
                <a:moveTo>
                  <a:pt x="117347" y="0"/>
                </a:moveTo>
                <a:lnTo>
                  <a:pt x="85114" y="24416"/>
                </a:lnTo>
                <a:lnTo>
                  <a:pt x="69616" y="60899"/>
                </a:lnTo>
                <a:lnTo>
                  <a:pt x="61020" y="101437"/>
                </a:lnTo>
                <a:lnTo>
                  <a:pt x="58002" y="139798"/>
                </a:lnTo>
                <a:lnTo>
                  <a:pt x="57911" y="147827"/>
                </a:lnTo>
                <a:lnTo>
                  <a:pt x="57911" y="740663"/>
                </a:lnTo>
                <a:lnTo>
                  <a:pt x="57826" y="748693"/>
                </a:lnTo>
                <a:lnTo>
                  <a:pt x="54961" y="787054"/>
                </a:lnTo>
                <a:lnTo>
                  <a:pt x="46744" y="827592"/>
                </a:lnTo>
                <a:lnTo>
                  <a:pt x="31769" y="864075"/>
                </a:lnTo>
                <a:lnTo>
                  <a:pt x="0" y="888491"/>
                </a:lnTo>
                <a:lnTo>
                  <a:pt x="3179" y="888708"/>
                </a:lnTo>
                <a:lnTo>
                  <a:pt x="34210" y="916826"/>
                </a:lnTo>
                <a:lnTo>
                  <a:pt x="48439" y="954959"/>
                </a:lnTo>
                <a:lnTo>
                  <a:pt x="55844" y="996794"/>
                </a:lnTo>
                <a:lnTo>
                  <a:pt x="57911" y="1036319"/>
                </a:lnTo>
                <a:lnTo>
                  <a:pt x="57911" y="1627631"/>
                </a:lnTo>
                <a:lnTo>
                  <a:pt x="58002" y="1635803"/>
                </a:lnTo>
                <a:lnTo>
                  <a:pt x="61020" y="1674607"/>
                </a:lnTo>
                <a:lnTo>
                  <a:pt x="69616" y="1715219"/>
                </a:lnTo>
                <a:lnTo>
                  <a:pt x="85114" y="1751432"/>
                </a:lnTo>
                <a:lnTo>
                  <a:pt x="114163" y="1775243"/>
                </a:lnTo>
                <a:lnTo>
                  <a:pt x="117347" y="1775459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3859213174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4080" y="1931326"/>
            <a:ext cx="8485505" cy="27699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ct val="100200"/>
              </a:lnSpc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spc="-10" dirty="0">
                <a:latin typeface="Arial"/>
                <a:cs typeface="Arial"/>
              </a:rPr>
              <a:t>S</a:t>
            </a:r>
            <a:r>
              <a:rPr sz="3300" spc="-5" dirty="0">
                <a:latin typeface="Arial"/>
                <a:cs typeface="Arial"/>
              </a:rPr>
              <a:t>igni</a:t>
            </a:r>
            <a:r>
              <a:rPr sz="3300" spc="-10" dirty="0">
                <a:latin typeface="Arial"/>
                <a:cs typeface="Arial"/>
              </a:rPr>
              <a:t>f</a:t>
            </a:r>
            <a:r>
              <a:rPr sz="3300" spc="-5" dirty="0">
                <a:latin typeface="Arial"/>
                <a:cs typeface="Arial"/>
              </a:rPr>
              <a:t>i</a:t>
            </a:r>
            <a:r>
              <a:rPr sz="3300" dirty="0">
                <a:latin typeface="Arial"/>
                <a:cs typeface="Arial"/>
              </a:rPr>
              <a:t>c</a:t>
            </a:r>
            <a:r>
              <a:rPr sz="3300" spc="-5" dirty="0">
                <a:latin typeface="Arial"/>
                <a:cs typeface="Arial"/>
              </a:rPr>
              <a:t>a que,</a:t>
            </a:r>
            <a:r>
              <a:rPr sz="3300" spc="-10" dirty="0">
                <a:latin typeface="Arial"/>
                <a:cs typeface="Arial"/>
              </a:rPr>
              <a:t> </a:t>
            </a:r>
            <a:r>
              <a:rPr sz="3300" spc="0" dirty="0">
                <a:latin typeface="Arial"/>
                <a:cs typeface="Arial"/>
              </a:rPr>
              <a:t>p</a:t>
            </a:r>
            <a:r>
              <a:rPr sz="3300" spc="-5" dirty="0">
                <a:latin typeface="Arial"/>
                <a:cs typeface="Arial"/>
              </a:rPr>
              <a:t>a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a </a:t>
            </a:r>
            <a:r>
              <a:rPr sz="3300" dirty="0">
                <a:latin typeface="Arial"/>
                <a:cs typeface="Arial"/>
              </a:rPr>
              <a:t>c</a:t>
            </a:r>
            <a:r>
              <a:rPr sz="3300" spc="-5" dirty="0">
                <a:latin typeface="Arial"/>
                <a:cs typeface="Arial"/>
              </a:rPr>
              <a:t>ál</a:t>
            </a:r>
            <a:r>
              <a:rPr sz="3300" spc="-10" dirty="0">
                <a:latin typeface="Arial"/>
                <a:cs typeface="Arial"/>
              </a:rPr>
              <a:t>c</a:t>
            </a:r>
            <a:r>
              <a:rPr sz="3300" spc="-5" dirty="0">
                <a:latin typeface="Arial"/>
                <a:cs typeface="Arial"/>
              </a:rPr>
              <a:t>ulo do </a:t>
            </a:r>
            <a:r>
              <a:rPr sz="3300" dirty="0">
                <a:latin typeface="Arial"/>
                <a:cs typeface="Arial"/>
              </a:rPr>
              <a:t>v</a:t>
            </a:r>
            <a:r>
              <a:rPr sz="3300" spc="-5" dirty="0">
                <a:latin typeface="Arial"/>
                <a:cs typeface="Arial"/>
              </a:rPr>
              <a:t>alor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de </a:t>
            </a:r>
            <a:r>
              <a:rPr sz="3300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n </a:t>
            </a:r>
            <a:r>
              <a:rPr sz="3300" spc="-5" dirty="0">
                <a:latin typeface="Arial"/>
                <a:cs typeface="Arial"/>
              </a:rPr>
              <a:t>pa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a um de</a:t>
            </a:r>
            <a:r>
              <a:rPr sz="3300" spc="-10" dirty="0">
                <a:latin typeface="Arial"/>
                <a:cs typeface="Arial"/>
              </a:rPr>
              <a:t>t</a:t>
            </a:r>
            <a:r>
              <a:rPr sz="3300" spc="-5" dirty="0">
                <a:latin typeface="Arial"/>
                <a:cs typeface="Arial"/>
              </a:rPr>
              <a:t>e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m</a:t>
            </a:r>
            <a:r>
              <a:rPr sz="3300" spc="10" dirty="0">
                <a:latin typeface="Arial"/>
                <a:cs typeface="Arial"/>
              </a:rPr>
              <a:t>i</a:t>
            </a:r>
            <a:r>
              <a:rPr sz="3300" spc="-5" dirty="0">
                <a:latin typeface="Arial"/>
                <a:cs typeface="Arial"/>
              </a:rPr>
              <a:t>nado n,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há ne</a:t>
            </a:r>
            <a:r>
              <a:rPr sz="3300" dirty="0">
                <a:latin typeface="Arial"/>
                <a:cs typeface="Arial"/>
              </a:rPr>
              <a:t>c</a:t>
            </a:r>
            <a:r>
              <a:rPr sz="3300" spc="-20" dirty="0">
                <a:latin typeface="Arial"/>
                <a:cs typeface="Arial"/>
              </a:rPr>
              <a:t>e</a:t>
            </a:r>
            <a:r>
              <a:rPr sz="3300" dirty="0">
                <a:latin typeface="Arial"/>
                <a:cs typeface="Arial"/>
              </a:rPr>
              <a:t>ss</a:t>
            </a:r>
            <a:r>
              <a:rPr sz="3300" spc="-5" dirty="0">
                <a:latin typeface="Arial"/>
                <a:cs typeface="Arial"/>
              </a:rPr>
              <a:t>i</a:t>
            </a:r>
            <a:r>
              <a:rPr sz="3300" spc="-20" dirty="0">
                <a:latin typeface="Arial"/>
                <a:cs typeface="Arial"/>
              </a:rPr>
              <a:t>d</a:t>
            </a:r>
            <a:r>
              <a:rPr sz="3300" spc="-5" dirty="0">
                <a:latin typeface="Arial"/>
                <a:cs typeface="Arial"/>
              </a:rPr>
              <a:t>ade</a:t>
            </a:r>
            <a:r>
              <a:rPr sz="3300" spc="-2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de que </a:t>
            </a:r>
            <a:r>
              <a:rPr sz="3300" dirty="0">
                <a:latin typeface="Arial"/>
                <a:cs typeface="Arial"/>
              </a:rPr>
              <a:t>s</a:t>
            </a:r>
            <a:r>
              <a:rPr sz="3300" spc="-5" dirty="0">
                <a:latin typeface="Arial"/>
                <a:cs typeface="Arial"/>
              </a:rPr>
              <a:t>e </a:t>
            </a:r>
            <a:r>
              <a:rPr sz="3300" dirty="0">
                <a:solidFill>
                  <a:srgbClr val="320065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srgbClr val="320065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srgbClr val="320065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srgbClr val="320065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srgbClr val="320065"/>
                </a:solidFill>
                <a:latin typeface="Arial"/>
                <a:cs typeface="Arial"/>
              </a:rPr>
              <a:t>r</a:t>
            </a:r>
            <a:r>
              <a:rPr sz="3300" spc="-15" dirty="0">
                <a:solidFill>
                  <a:srgbClr val="320065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srgbClr val="320065"/>
                </a:solidFill>
                <a:latin typeface="Arial"/>
                <a:cs typeface="Arial"/>
              </a:rPr>
              <a:t>a </a:t>
            </a:r>
            <a:r>
              <a:rPr sz="3300" spc="-5" dirty="0">
                <a:latin typeface="Arial"/>
                <a:cs typeface="Arial"/>
              </a:rPr>
              <a:t>aos</a:t>
            </a:r>
            <a:r>
              <a:rPr sz="3300" dirty="0">
                <a:latin typeface="Arial"/>
                <a:cs typeface="Arial"/>
              </a:rPr>
              <a:t> c</a:t>
            </a:r>
            <a:r>
              <a:rPr sz="3300" spc="-5" dirty="0">
                <a:latin typeface="Arial"/>
                <a:cs typeface="Arial"/>
              </a:rPr>
              <a:t>ál</a:t>
            </a:r>
            <a:r>
              <a:rPr sz="3300" dirty="0">
                <a:latin typeface="Arial"/>
                <a:cs typeface="Arial"/>
              </a:rPr>
              <a:t>c</a:t>
            </a:r>
            <a:r>
              <a:rPr sz="3300" spc="-20" dirty="0">
                <a:latin typeface="Arial"/>
                <a:cs typeface="Arial"/>
              </a:rPr>
              <a:t>u</a:t>
            </a:r>
            <a:r>
              <a:rPr sz="3300" spc="-5" dirty="0">
                <a:latin typeface="Arial"/>
                <a:cs typeface="Arial"/>
              </a:rPr>
              <a:t>los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an</a:t>
            </a:r>
            <a:r>
              <a:rPr sz="3300" spc="-10" dirty="0">
                <a:latin typeface="Arial"/>
                <a:cs typeface="Arial"/>
              </a:rPr>
              <a:t>t</a:t>
            </a:r>
            <a:r>
              <a:rPr sz="3300" spc="-5" dirty="0">
                <a:latin typeface="Arial"/>
                <a:cs typeface="Arial"/>
              </a:rPr>
              <a:t>e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io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20" dirty="0">
                <a:latin typeface="Arial"/>
                <a:cs typeface="Arial"/>
              </a:rPr>
              <a:t>e</a:t>
            </a:r>
            <a:r>
              <a:rPr sz="3300" dirty="0">
                <a:latin typeface="Arial"/>
                <a:cs typeface="Arial"/>
              </a:rPr>
              <a:t>s</a:t>
            </a:r>
            <a:r>
              <a:rPr sz="3300" spc="-5" dirty="0">
                <a:latin typeface="Arial"/>
                <a:cs typeface="Arial"/>
              </a:rPr>
              <a:t>.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8"/>
              </a:spcBef>
            </a:pPr>
            <a:endParaRPr sz="4800">
              <a:latin typeface="Times New Roman"/>
              <a:cs typeface="Times New Roman"/>
            </a:endParaRPr>
          </a:p>
          <a:p>
            <a:pPr marL="362585">
              <a:lnSpc>
                <a:spcPct val="100000"/>
              </a:lnSpc>
            </a:pPr>
            <a:r>
              <a:rPr sz="3300" spc="-10" dirty="0">
                <a:latin typeface="Arial"/>
                <a:cs typeface="Arial"/>
              </a:rPr>
              <a:t>P</a:t>
            </a:r>
            <a:r>
              <a:rPr sz="3300" spc="-5" dirty="0">
                <a:latin typeface="Arial"/>
                <a:cs typeface="Arial"/>
              </a:rPr>
              <a:t>or</a:t>
            </a:r>
            <a:r>
              <a:rPr sz="3300" spc="1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e</a:t>
            </a:r>
            <a:r>
              <a:rPr sz="3300" dirty="0">
                <a:latin typeface="Arial"/>
                <a:cs typeface="Arial"/>
              </a:rPr>
              <a:t>x</a:t>
            </a:r>
            <a:r>
              <a:rPr sz="3300" spc="-5" dirty="0">
                <a:latin typeface="Arial"/>
                <a:cs typeface="Arial"/>
              </a:rPr>
              <a:t>emplo:</a:t>
            </a:r>
            <a:r>
              <a:rPr sz="3300" spc="-1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Quan</a:t>
            </a:r>
            <a:r>
              <a:rPr sz="3300" spc="-10" dirty="0">
                <a:latin typeface="Arial"/>
                <a:cs typeface="Arial"/>
              </a:rPr>
              <a:t>t</a:t>
            </a:r>
            <a:r>
              <a:rPr sz="3300" spc="-5" dirty="0">
                <a:latin typeface="Arial"/>
                <a:cs typeface="Arial"/>
              </a:rPr>
              <a:t>o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é o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-7" baseline="25252" dirty="0">
                <a:latin typeface="Arial"/>
                <a:cs typeface="Arial"/>
              </a:rPr>
              <a:t>4</a:t>
            </a:r>
            <a:r>
              <a:rPr sz="3300" spc="-5" dirty="0">
                <a:latin typeface="Arial"/>
                <a:cs typeface="Arial"/>
              </a:rPr>
              <a:t>?</a:t>
            </a:r>
            <a:endParaRPr sz="33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62870295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2" y="1944513"/>
            <a:ext cx="774700" cy="18851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5"/>
              </a:spcBef>
            </a:pP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3300" spc="442" baseline="25252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endParaRPr sz="33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=</a:t>
            </a:r>
            <a:r>
              <a:rPr sz="1950" spc="-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n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&gt;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60516578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2" y="1944513"/>
            <a:ext cx="1911350" cy="18851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5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*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endParaRPr sz="3300" baseline="25252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4" name="object 4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=</a:t>
            </a:r>
            <a:r>
              <a:rPr sz="1950" spc="-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n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&gt;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5754209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2" y="1944514"/>
            <a:ext cx="1911350" cy="24955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5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r>
              <a:rPr sz="3300" spc="442" baseline="25252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endParaRPr sz="33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4" name="object 4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=</a:t>
            </a:r>
            <a:r>
              <a:rPr sz="1950" spc="-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n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&gt;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4771414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2" y="1944514"/>
            <a:ext cx="1911350" cy="24955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5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*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endParaRPr sz="3300" baseline="25252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4" name="object 4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=</a:t>
            </a:r>
            <a:r>
              <a:rPr sz="1950" spc="-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n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&gt;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94563022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2" y="1944513"/>
            <a:ext cx="1911350" cy="31059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5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spc="442" baseline="25252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endParaRPr sz="33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4" name="object 4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=</a:t>
            </a:r>
            <a:r>
              <a:rPr sz="1950" spc="-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n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&gt;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42403936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2" y="1944513"/>
            <a:ext cx="1911350" cy="31059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5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*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3300" baseline="25252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4" name="object 4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=</a:t>
            </a:r>
            <a:r>
              <a:rPr sz="1950" spc="-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n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&gt;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77369073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2" y="1944514"/>
            <a:ext cx="1911350" cy="37164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5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1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r>
              <a:rPr sz="3300" spc="442" baseline="25252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endParaRPr sz="33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4" name="object 4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n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&gt;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674943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2" y="1944514"/>
            <a:ext cx="1911350" cy="37164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5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1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1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endParaRPr sz="33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4" name="object 4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n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&gt;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96663045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3" y="1944513"/>
            <a:ext cx="414655" cy="507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48202" y="3279938"/>
            <a:ext cx="3962400" cy="23246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659999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659999"/>
                </a:solidFill>
                <a:latin typeface="Arial"/>
                <a:cs typeface="Arial"/>
              </a:rPr>
              <a:t>1</a:t>
            </a:r>
            <a:r>
              <a:rPr sz="3300" spc="442" baseline="25252" dirty="0">
                <a:solidFill>
                  <a:srgbClr val="659999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r>
              <a:rPr sz="330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*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 =</a:t>
            </a:r>
            <a:r>
              <a:rPr sz="330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solidFill>
                  <a:srgbClr val="659999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659999"/>
                </a:solidFill>
                <a:latin typeface="Arial"/>
                <a:cs typeface="Arial"/>
              </a:rPr>
              <a:t>1</a:t>
            </a:r>
            <a:r>
              <a:rPr sz="3300" spc="442" baseline="25252" dirty="0">
                <a:solidFill>
                  <a:srgbClr val="659999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659999"/>
                </a:solidFill>
                <a:latin typeface="Arial"/>
                <a:cs typeface="Arial"/>
              </a:rPr>
              <a:t>=</a:t>
            </a:r>
            <a:r>
              <a:rPr sz="3300" dirty="0">
                <a:solidFill>
                  <a:srgbClr val="659999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659999"/>
                </a:solidFill>
                <a:latin typeface="Arial"/>
                <a:cs typeface="Arial"/>
              </a:rPr>
              <a:t>2</a:t>
            </a:r>
            <a:endParaRPr sz="3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5" name="object 5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=</a:t>
            </a:r>
            <a:r>
              <a:rPr sz="1950" spc="-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&gt;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80032825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3" y="1944513"/>
            <a:ext cx="414655" cy="507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48202" y="3279938"/>
            <a:ext cx="3962400" cy="23246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659999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659999"/>
                </a:solidFill>
                <a:latin typeface="Arial"/>
                <a:cs typeface="Arial"/>
              </a:rPr>
              <a:t>2</a:t>
            </a:r>
            <a:r>
              <a:rPr sz="3300" spc="442" baseline="25252" dirty="0">
                <a:solidFill>
                  <a:srgbClr val="659999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r>
              <a:rPr sz="330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*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4 =</a:t>
            </a:r>
            <a:r>
              <a:rPr sz="330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8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solidFill>
                  <a:srgbClr val="659999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659999"/>
                </a:solidFill>
                <a:latin typeface="Arial"/>
                <a:cs typeface="Arial"/>
              </a:rPr>
              <a:t>2</a:t>
            </a:r>
            <a:r>
              <a:rPr sz="3300" spc="442" baseline="25252" dirty="0">
                <a:solidFill>
                  <a:srgbClr val="659999"/>
                </a:solidFill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1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 = </a:t>
            </a:r>
            <a:r>
              <a:rPr sz="3300" spc="-5" dirty="0">
                <a:solidFill>
                  <a:srgbClr val="659999"/>
                </a:solidFill>
                <a:latin typeface="Arial"/>
                <a:cs typeface="Arial"/>
              </a:rPr>
              <a:t>4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1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endParaRPr sz="3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5" name="object 5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=</a:t>
            </a:r>
            <a:r>
              <a:rPr sz="1950" spc="-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&gt;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4448387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3" y="1944513"/>
            <a:ext cx="414655" cy="507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48203" y="3279938"/>
            <a:ext cx="4195445" cy="23246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659999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659999"/>
                </a:solidFill>
                <a:latin typeface="Arial"/>
                <a:cs typeface="Arial"/>
              </a:rPr>
              <a:t>3</a:t>
            </a:r>
            <a:r>
              <a:rPr sz="3300" spc="442" baseline="25252" dirty="0">
                <a:solidFill>
                  <a:srgbClr val="659999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r>
              <a:rPr sz="330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*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8 =</a:t>
            </a:r>
            <a:r>
              <a:rPr sz="330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16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solidFill>
                  <a:srgbClr val="659999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659999"/>
                </a:solidFill>
                <a:latin typeface="Arial"/>
                <a:cs typeface="Arial"/>
              </a:rPr>
              <a:t>3</a:t>
            </a:r>
            <a:r>
              <a:rPr sz="3300" spc="442" baseline="25252" dirty="0">
                <a:solidFill>
                  <a:srgbClr val="659999"/>
                </a:solidFill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4 = </a:t>
            </a:r>
            <a:r>
              <a:rPr sz="3300" spc="-5" dirty="0">
                <a:solidFill>
                  <a:srgbClr val="659999"/>
                </a:solidFill>
                <a:latin typeface="Arial"/>
                <a:cs typeface="Arial"/>
              </a:rPr>
              <a:t>8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1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 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4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1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endParaRPr sz="3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5" name="object 5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=</a:t>
            </a:r>
            <a:r>
              <a:rPr sz="1950" spc="-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&gt;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11604984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3" y="1944513"/>
            <a:ext cx="414655" cy="507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48203" y="3279938"/>
            <a:ext cx="5163185" cy="3585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8 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16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4 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8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1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 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4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1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8"/>
              </a:spcBef>
            </a:pPr>
            <a:endParaRPr sz="4800">
              <a:latin typeface="Times New Roman"/>
              <a:cs typeface="Times New Roman"/>
            </a:endParaRPr>
          </a:p>
          <a:p>
            <a:pPr marL="1996439">
              <a:lnSpc>
                <a:spcPct val="100000"/>
              </a:lnSpc>
            </a:pPr>
            <a:r>
              <a:rPr sz="3300" spc="-10" dirty="0">
                <a:solidFill>
                  <a:srgbClr val="FF3200"/>
                </a:solidFill>
                <a:latin typeface="Arial"/>
                <a:cs typeface="Arial"/>
              </a:rPr>
              <a:t>P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3300" spc="-10" dirty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an</a:t>
            </a:r>
            <a:r>
              <a:rPr sz="3300" dirty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o,</a:t>
            </a:r>
            <a:r>
              <a:rPr sz="3300" spc="-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FF3200"/>
                </a:solidFill>
                <a:latin typeface="Arial"/>
                <a:cs typeface="Arial"/>
              </a:rPr>
              <a:t>4 </a:t>
            </a:r>
            <a:r>
              <a:rPr sz="3300" spc="-457" baseline="25252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r>
              <a:rPr sz="3300" spc="2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16</a:t>
            </a:r>
            <a:endParaRPr sz="3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5" name="object 5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=</a:t>
            </a:r>
            <a:r>
              <a:rPr sz="1950" spc="-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&gt;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76894097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4080" y="1948573"/>
            <a:ext cx="8625205" cy="4873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ts val="3800"/>
              </a:lnSpc>
              <a:buClr>
                <a:srgbClr val="852A33"/>
              </a:buClr>
              <a:buSzPct val="68571"/>
              <a:buFont typeface="Wingdings"/>
              <a:buChar char=""/>
              <a:tabLst>
                <a:tab pos="391160" algn="l"/>
              </a:tabLst>
            </a:pPr>
            <a:r>
              <a:rPr sz="3500" spc="10" dirty="0">
                <a:latin typeface="Arial"/>
                <a:cs typeface="Arial"/>
              </a:rPr>
              <a:t>C</a:t>
            </a:r>
            <a:r>
              <a:rPr sz="3500" dirty="0">
                <a:latin typeface="Arial"/>
                <a:cs typeface="Arial"/>
              </a:rPr>
              <a:t>on</a:t>
            </a:r>
            <a:r>
              <a:rPr sz="3500" spc="15" dirty="0">
                <a:latin typeface="Arial"/>
                <a:cs typeface="Arial"/>
              </a:rPr>
              <a:t>d</a:t>
            </a:r>
            <a:r>
              <a:rPr sz="3500" dirty="0">
                <a:latin typeface="Arial"/>
                <a:cs typeface="Arial"/>
              </a:rPr>
              <a:t>i</a:t>
            </a:r>
            <a:r>
              <a:rPr sz="3500" spc="-5" dirty="0">
                <a:latin typeface="Arial"/>
                <a:cs typeface="Arial"/>
              </a:rPr>
              <a:t>ç</a:t>
            </a:r>
            <a:r>
              <a:rPr sz="3500" spc="5" dirty="0">
                <a:latin typeface="Arial"/>
                <a:cs typeface="Arial"/>
              </a:rPr>
              <a:t>ã</a:t>
            </a:r>
            <a:r>
              <a:rPr sz="3500" spc="15" dirty="0">
                <a:latin typeface="Arial"/>
                <a:cs typeface="Arial"/>
              </a:rPr>
              <a:t>o</a:t>
            </a:r>
            <a:r>
              <a:rPr sz="3500" spc="-10" dirty="0">
                <a:latin typeface="Arial"/>
                <a:cs typeface="Arial"/>
              </a:rPr>
              <a:t> </a:t>
            </a:r>
            <a:r>
              <a:rPr sz="3500" spc="5" dirty="0">
                <a:latin typeface="Arial"/>
                <a:cs typeface="Arial"/>
              </a:rPr>
              <a:t>qu</a:t>
            </a:r>
            <a:r>
              <a:rPr sz="3500" spc="15" dirty="0">
                <a:latin typeface="Arial"/>
                <a:cs typeface="Arial"/>
              </a:rPr>
              <a:t>e</a:t>
            </a:r>
            <a:r>
              <a:rPr sz="3500" spc="5" dirty="0">
                <a:latin typeface="Arial"/>
                <a:cs typeface="Arial"/>
              </a:rPr>
              <a:t> de</a:t>
            </a:r>
            <a:r>
              <a:rPr sz="3500" spc="10" dirty="0">
                <a:latin typeface="Arial"/>
                <a:cs typeface="Arial"/>
              </a:rPr>
              <a:t>f</a:t>
            </a:r>
            <a:r>
              <a:rPr sz="3500" dirty="0">
                <a:latin typeface="Arial"/>
                <a:cs typeface="Arial"/>
              </a:rPr>
              <a:t>i</a:t>
            </a:r>
            <a:r>
              <a:rPr sz="3500" spc="5" dirty="0">
                <a:latin typeface="Arial"/>
                <a:cs typeface="Arial"/>
              </a:rPr>
              <a:t>n</a:t>
            </a:r>
            <a:r>
              <a:rPr sz="3500" spc="15" dirty="0">
                <a:latin typeface="Arial"/>
                <a:cs typeface="Arial"/>
              </a:rPr>
              <a:t>e</a:t>
            </a:r>
            <a:r>
              <a:rPr sz="3500" spc="-10" dirty="0">
                <a:latin typeface="Arial"/>
                <a:cs typeface="Arial"/>
              </a:rPr>
              <a:t> </a:t>
            </a:r>
            <a:r>
              <a:rPr sz="3500" spc="5" dirty="0">
                <a:latin typeface="Arial"/>
                <a:cs typeface="Arial"/>
              </a:rPr>
              <a:t>pa</a:t>
            </a:r>
            <a:r>
              <a:rPr sz="3500" spc="-10" dirty="0">
                <a:latin typeface="Arial"/>
                <a:cs typeface="Arial"/>
              </a:rPr>
              <a:t>r</a:t>
            </a:r>
            <a:r>
              <a:rPr sz="3500" spc="5" dirty="0">
                <a:latin typeface="Arial"/>
                <a:cs typeface="Arial"/>
              </a:rPr>
              <a:t>ad</a:t>
            </a:r>
            <a:r>
              <a:rPr sz="3500" spc="15" dirty="0">
                <a:latin typeface="Arial"/>
                <a:cs typeface="Arial"/>
              </a:rPr>
              <a:t>a</a:t>
            </a:r>
            <a:r>
              <a:rPr sz="3500" spc="5" dirty="0">
                <a:latin typeface="Arial"/>
                <a:cs typeface="Arial"/>
              </a:rPr>
              <a:t> d</a:t>
            </a:r>
            <a:r>
              <a:rPr sz="3500" spc="15" dirty="0">
                <a:latin typeface="Arial"/>
                <a:cs typeface="Arial"/>
              </a:rPr>
              <a:t>a</a:t>
            </a:r>
            <a:r>
              <a:rPr sz="3500" spc="5" dirty="0">
                <a:latin typeface="Arial"/>
                <a:cs typeface="Arial"/>
              </a:rPr>
              <a:t> </a:t>
            </a:r>
            <a:r>
              <a:rPr sz="3500" spc="-10" dirty="0">
                <a:latin typeface="Arial"/>
                <a:cs typeface="Arial"/>
              </a:rPr>
              <a:t>r</a:t>
            </a:r>
            <a:r>
              <a:rPr sz="3500" spc="20" dirty="0">
                <a:latin typeface="Arial"/>
                <a:cs typeface="Arial"/>
              </a:rPr>
              <a:t>e</a:t>
            </a:r>
            <a:r>
              <a:rPr sz="3500" spc="-5" dirty="0">
                <a:latin typeface="Arial"/>
                <a:cs typeface="Arial"/>
              </a:rPr>
              <a:t>c</a:t>
            </a:r>
            <a:r>
              <a:rPr sz="3500" spc="5" dirty="0">
                <a:latin typeface="Arial"/>
                <a:cs typeface="Arial"/>
              </a:rPr>
              <a:t>ur</a:t>
            </a:r>
            <a:r>
              <a:rPr sz="3500" spc="-5" dirty="0">
                <a:latin typeface="Arial"/>
                <a:cs typeface="Arial"/>
              </a:rPr>
              <a:t>s</a:t>
            </a:r>
            <a:r>
              <a:rPr sz="3500" spc="5" dirty="0">
                <a:latin typeface="Arial"/>
                <a:cs typeface="Arial"/>
              </a:rPr>
              <a:t>ã</a:t>
            </a:r>
            <a:r>
              <a:rPr sz="3500" spc="20" dirty="0">
                <a:latin typeface="Arial"/>
                <a:cs typeface="Arial"/>
              </a:rPr>
              <a:t>o</a:t>
            </a:r>
            <a:r>
              <a:rPr sz="3500" spc="5" dirty="0">
                <a:latin typeface="Arial"/>
                <a:cs typeface="Arial"/>
              </a:rPr>
              <a:t>: </a:t>
            </a:r>
            <a:r>
              <a:rPr sz="3500" spc="10" dirty="0">
                <a:latin typeface="Arial"/>
                <a:cs typeface="Arial"/>
              </a:rPr>
              <a:t>c</a:t>
            </a:r>
            <a:r>
              <a:rPr sz="3500" spc="5" dirty="0">
                <a:latin typeface="Arial"/>
                <a:cs typeface="Arial"/>
              </a:rPr>
              <a:t>ha</a:t>
            </a:r>
            <a:r>
              <a:rPr sz="3500" spc="10" dirty="0">
                <a:latin typeface="Arial"/>
                <a:cs typeface="Arial"/>
              </a:rPr>
              <a:t>m</a:t>
            </a:r>
            <a:r>
              <a:rPr sz="3500" spc="5" dirty="0">
                <a:latin typeface="Arial"/>
                <a:cs typeface="Arial"/>
              </a:rPr>
              <a:t>ad</a:t>
            </a:r>
            <a:r>
              <a:rPr sz="3500" spc="15" dirty="0">
                <a:latin typeface="Arial"/>
                <a:cs typeface="Arial"/>
              </a:rPr>
              <a:t>a</a:t>
            </a:r>
            <a:r>
              <a:rPr sz="3500" spc="-5" dirty="0">
                <a:latin typeface="Arial"/>
                <a:cs typeface="Arial"/>
              </a:rPr>
              <a:t> 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b</a:t>
            </a:r>
            <a:r>
              <a:rPr sz="3500" spc="20" dirty="0">
                <a:solidFill>
                  <a:srgbClr val="320065"/>
                </a:solidFill>
                <a:latin typeface="Arial"/>
                <a:cs typeface="Arial"/>
              </a:rPr>
              <a:t>a</a:t>
            </a:r>
            <a:r>
              <a:rPr sz="3500" spc="-5" dirty="0">
                <a:solidFill>
                  <a:srgbClr val="320065"/>
                </a:solidFill>
                <a:latin typeface="Arial"/>
                <a:cs typeface="Arial"/>
              </a:rPr>
              <a:t>s</a:t>
            </a:r>
            <a:r>
              <a:rPr sz="3500" spc="15" dirty="0">
                <a:solidFill>
                  <a:srgbClr val="320065"/>
                </a:solidFill>
                <a:latin typeface="Arial"/>
                <a:cs typeface="Arial"/>
              </a:rPr>
              <a:t>e</a:t>
            </a:r>
            <a:r>
              <a:rPr sz="3500" spc="-10" dirty="0">
                <a:solidFill>
                  <a:srgbClr val="320065"/>
                </a:solidFill>
                <a:latin typeface="Arial"/>
                <a:cs typeface="Arial"/>
              </a:rPr>
              <a:t> 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d</a:t>
            </a:r>
            <a:r>
              <a:rPr sz="3500" spc="15" dirty="0">
                <a:solidFill>
                  <a:srgbClr val="320065"/>
                </a:solidFill>
                <a:latin typeface="Arial"/>
                <a:cs typeface="Arial"/>
              </a:rPr>
              <a:t>a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 </a:t>
            </a:r>
            <a:r>
              <a:rPr sz="3500" spc="-10" dirty="0">
                <a:solidFill>
                  <a:srgbClr val="320065"/>
                </a:solidFill>
                <a:latin typeface="Arial"/>
                <a:cs typeface="Arial"/>
              </a:rPr>
              <a:t>r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e</a:t>
            </a:r>
            <a:r>
              <a:rPr sz="3500" spc="10" dirty="0">
                <a:solidFill>
                  <a:srgbClr val="320065"/>
                </a:solidFill>
                <a:latin typeface="Arial"/>
                <a:cs typeface="Arial"/>
              </a:rPr>
              <a:t>c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ur</a:t>
            </a:r>
            <a:r>
              <a:rPr sz="3500" spc="-5" dirty="0">
                <a:solidFill>
                  <a:srgbClr val="320065"/>
                </a:solidFill>
                <a:latin typeface="Arial"/>
                <a:cs typeface="Arial"/>
              </a:rPr>
              <a:t>s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ã</a:t>
            </a:r>
            <a:r>
              <a:rPr sz="3500" spc="15" dirty="0">
                <a:solidFill>
                  <a:srgbClr val="320065"/>
                </a:solidFill>
                <a:latin typeface="Arial"/>
                <a:cs typeface="Arial"/>
              </a:rPr>
              <a:t>o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 </a:t>
            </a:r>
            <a:r>
              <a:rPr sz="3500" spc="5" dirty="0">
                <a:latin typeface="Arial"/>
                <a:cs typeface="Arial"/>
              </a:rPr>
              <a:t>o</a:t>
            </a:r>
            <a:r>
              <a:rPr sz="3500" spc="15" dirty="0">
                <a:latin typeface="Arial"/>
                <a:cs typeface="Arial"/>
              </a:rPr>
              <a:t>u</a:t>
            </a:r>
            <a:r>
              <a:rPr sz="3500" spc="-10" dirty="0">
                <a:latin typeface="Arial"/>
                <a:cs typeface="Arial"/>
              </a:rPr>
              <a:t> </a:t>
            </a:r>
            <a:r>
              <a:rPr sz="3500" spc="5" dirty="0">
                <a:latin typeface="Arial"/>
                <a:cs typeface="Arial"/>
              </a:rPr>
              <a:t>d</a:t>
            </a:r>
            <a:r>
              <a:rPr sz="3500" spc="15" dirty="0">
                <a:latin typeface="Arial"/>
                <a:cs typeface="Arial"/>
              </a:rPr>
              <a:t>e </a:t>
            </a:r>
            <a:r>
              <a:rPr sz="3500" spc="-5" dirty="0">
                <a:solidFill>
                  <a:srgbClr val="320065"/>
                </a:solidFill>
                <a:latin typeface="Arial"/>
                <a:cs typeface="Arial"/>
              </a:rPr>
              <a:t>c</a:t>
            </a:r>
            <a:r>
              <a:rPr sz="3500" spc="20" dirty="0">
                <a:solidFill>
                  <a:srgbClr val="320065"/>
                </a:solidFill>
                <a:latin typeface="Arial"/>
                <a:cs typeface="Arial"/>
              </a:rPr>
              <a:t>a</a:t>
            </a:r>
            <a:r>
              <a:rPr sz="3500" spc="-5" dirty="0">
                <a:solidFill>
                  <a:srgbClr val="320065"/>
                </a:solidFill>
                <a:latin typeface="Arial"/>
                <a:cs typeface="Arial"/>
              </a:rPr>
              <a:t>s</a:t>
            </a:r>
            <a:r>
              <a:rPr sz="3500" spc="15" dirty="0">
                <a:solidFill>
                  <a:srgbClr val="320065"/>
                </a:solidFill>
                <a:latin typeface="Arial"/>
                <a:cs typeface="Arial"/>
              </a:rPr>
              <a:t>o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 b</a:t>
            </a:r>
            <a:r>
              <a:rPr sz="3500" spc="20" dirty="0">
                <a:solidFill>
                  <a:srgbClr val="320065"/>
                </a:solidFill>
                <a:latin typeface="Arial"/>
                <a:cs typeface="Arial"/>
              </a:rPr>
              <a:t>a</a:t>
            </a:r>
            <a:r>
              <a:rPr sz="3500" spc="-5" dirty="0">
                <a:solidFill>
                  <a:srgbClr val="320065"/>
                </a:solidFill>
                <a:latin typeface="Arial"/>
                <a:cs typeface="Arial"/>
              </a:rPr>
              <a:t>s</a:t>
            </a:r>
            <a:r>
              <a:rPr sz="3500" spc="15" dirty="0">
                <a:solidFill>
                  <a:srgbClr val="320065"/>
                </a:solidFill>
                <a:latin typeface="Arial"/>
                <a:cs typeface="Arial"/>
              </a:rPr>
              <a:t>e</a:t>
            </a:r>
            <a:endParaRPr sz="3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"/>
              </a:spcBef>
              <a:buClr>
                <a:srgbClr val="852A33"/>
              </a:buClr>
              <a:buFont typeface="Wingdings"/>
              <a:buChar char=""/>
            </a:pPr>
            <a:endParaRPr sz="4750">
              <a:latin typeface="Times New Roman"/>
              <a:cs typeface="Times New Roman"/>
            </a:endParaRPr>
          </a:p>
          <a:p>
            <a:pPr marL="390525" marR="575310" indent="-377825">
              <a:lnSpc>
                <a:spcPts val="3800"/>
              </a:lnSpc>
              <a:buClr>
                <a:srgbClr val="852A33"/>
              </a:buClr>
              <a:buSzPct val="68571"/>
              <a:buFont typeface="Wingdings"/>
              <a:buChar char=""/>
              <a:tabLst>
                <a:tab pos="391160" algn="l"/>
              </a:tabLst>
            </a:pP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Tod</a:t>
            </a:r>
            <a:r>
              <a:rPr sz="3500" spc="15" dirty="0">
                <a:solidFill>
                  <a:srgbClr val="320065"/>
                </a:solidFill>
                <a:latin typeface="Arial"/>
                <a:cs typeface="Arial"/>
              </a:rPr>
              <a:t>o</a:t>
            </a:r>
            <a:r>
              <a:rPr sz="3500" spc="-10" dirty="0">
                <a:solidFill>
                  <a:srgbClr val="320065"/>
                </a:solidFill>
                <a:latin typeface="Arial"/>
                <a:cs typeface="Arial"/>
              </a:rPr>
              <a:t> </a:t>
            </a:r>
            <a:r>
              <a:rPr sz="3500" spc="20" dirty="0">
                <a:latin typeface="Arial"/>
                <a:cs typeface="Arial"/>
              </a:rPr>
              <a:t>p</a:t>
            </a:r>
            <a:r>
              <a:rPr sz="3500" spc="-10" dirty="0">
                <a:latin typeface="Arial"/>
                <a:cs typeface="Arial"/>
              </a:rPr>
              <a:t>r</a:t>
            </a:r>
            <a:r>
              <a:rPr sz="3500" spc="5" dirty="0">
                <a:latin typeface="Arial"/>
                <a:cs typeface="Arial"/>
              </a:rPr>
              <a:t>og</a:t>
            </a:r>
            <a:r>
              <a:rPr sz="3500" spc="-10" dirty="0">
                <a:latin typeface="Arial"/>
                <a:cs typeface="Arial"/>
              </a:rPr>
              <a:t>r</a:t>
            </a:r>
            <a:r>
              <a:rPr sz="3500" spc="20" dirty="0">
                <a:latin typeface="Arial"/>
                <a:cs typeface="Arial"/>
              </a:rPr>
              <a:t>a</a:t>
            </a:r>
            <a:r>
              <a:rPr sz="3500" spc="10" dirty="0">
                <a:latin typeface="Arial"/>
                <a:cs typeface="Arial"/>
              </a:rPr>
              <a:t>m</a:t>
            </a:r>
            <a:r>
              <a:rPr sz="3500" spc="15" dirty="0">
                <a:latin typeface="Arial"/>
                <a:cs typeface="Arial"/>
              </a:rPr>
              <a:t>a</a:t>
            </a:r>
            <a:r>
              <a:rPr sz="3500" spc="5" dirty="0">
                <a:latin typeface="Arial"/>
                <a:cs typeface="Arial"/>
              </a:rPr>
              <a:t> </a:t>
            </a:r>
            <a:r>
              <a:rPr sz="3500" spc="-10" dirty="0">
                <a:latin typeface="Arial"/>
                <a:cs typeface="Arial"/>
              </a:rPr>
              <a:t>r</a:t>
            </a:r>
            <a:r>
              <a:rPr sz="3500" spc="20" dirty="0">
                <a:latin typeface="Arial"/>
                <a:cs typeface="Arial"/>
              </a:rPr>
              <a:t>e</a:t>
            </a:r>
            <a:r>
              <a:rPr sz="3500" spc="-5" dirty="0">
                <a:latin typeface="Arial"/>
                <a:cs typeface="Arial"/>
              </a:rPr>
              <a:t>c</a:t>
            </a:r>
            <a:r>
              <a:rPr sz="3500" spc="5" dirty="0">
                <a:latin typeface="Arial"/>
                <a:cs typeface="Arial"/>
              </a:rPr>
              <a:t>u</a:t>
            </a:r>
            <a:r>
              <a:rPr sz="3500" spc="10" dirty="0">
                <a:latin typeface="Arial"/>
                <a:cs typeface="Arial"/>
              </a:rPr>
              <a:t>rs</a:t>
            </a:r>
            <a:r>
              <a:rPr sz="3500" dirty="0">
                <a:latin typeface="Arial"/>
                <a:cs typeface="Arial"/>
              </a:rPr>
              <a:t>i</a:t>
            </a:r>
            <a:r>
              <a:rPr sz="3500" spc="10" dirty="0">
                <a:latin typeface="Arial"/>
                <a:cs typeface="Arial"/>
              </a:rPr>
              <a:t>v</a:t>
            </a:r>
            <a:r>
              <a:rPr sz="3500" spc="15" dirty="0">
                <a:latin typeface="Arial"/>
                <a:cs typeface="Arial"/>
              </a:rPr>
              <a:t>o</a:t>
            </a:r>
            <a:r>
              <a:rPr sz="3500" spc="-10" dirty="0">
                <a:latin typeface="Arial"/>
                <a:cs typeface="Arial"/>
              </a:rPr>
              <a:t> </a:t>
            </a:r>
            <a:r>
              <a:rPr sz="3500" spc="5" dirty="0">
                <a:latin typeface="Arial"/>
                <a:cs typeface="Arial"/>
              </a:rPr>
              <a:t>d</a:t>
            </a:r>
            <a:r>
              <a:rPr sz="3500" spc="20" dirty="0">
                <a:latin typeface="Arial"/>
                <a:cs typeface="Arial"/>
              </a:rPr>
              <a:t>e</a:t>
            </a:r>
            <a:r>
              <a:rPr sz="3500" spc="-5" dirty="0">
                <a:latin typeface="Arial"/>
                <a:cs typeface="Arial"/>
              </a:rPr>
              <a:t>v</a:t>
            </a:r>
            <a:r>
              <a:rPr sz="3500" spc="15" dirty="0">
                <a:latin typeface="Arial"/>
                <a:cs typeface="Arial"/>
              </a:rPr>
              <a:t>e</a:t>
            </a:r>
            <a:r>
              <a:rPr sz="3500" spc="-10" dirty="0">
                <a:latin typeface="Arial"/>
                <a:cs typeface="Arial"/>
              </a:rPr>
              <a:t> </a:t>
            </a:r>
            <a:r>
              <a:rPr sz="3500" spc="5" dirty="0">
                <a:latin typeface="Arial"/>
                <a:cs typeface="Arial"/>
              </a:rPr>
              <a:t>p</a:t>
            </a:r>
            <a:r>
              <a:rPr sz="3500" spc="20" dirty="0">
                <a:latin typeface="Arial"/>
                <a:cs typeface="Arial"/>
              </a:rPr>
              <a:t>o</a:t>
            </a:r>
            <a:r>
              <a:rPr sz="3500" spc="10" dirty="0">
                <a:latin typeface="Arial"/>
                <a:cs typeface="Arial"/>
              </a:rPr>
              <a:t>s</a:t>
            </a:r>
            <a:r>
              <a:rPr sz="3500" spc="-5" dirty="0">
                <a:latin typeface="Arial"/>
                <a:cs typeface="Arial"/>
              </a:rPr>
              <a:t>s</a:t>
            </a:r>
            <a:r>
              <a:rPr sz="3500" spc="20" dirty="0">
                <a:latin typeface="Arial"/>
                <a:cs typeface="Arial"/>
              </a:rPr>
              <a:t>u</a:t>
            </a:r>
            <a:r>
              <a:rPr sz="3500" dirty="0">
                <a:latin typeface="Arial"/>
                <a:cs typeface="Arial"/>
              </a:rPr>
              <a:t>i</a:t>
            </a:r>
            <a:r>
              <a:rPr sz="3500" spc="5" dirty="0">
                <a:latin typeface="Arial"/>
                <a:cs typeface="Arial"/>
              </a:rPr>
              <a:t>r u</a:t>
            </a:r>
            <a:r>
              <a:rPr sz="3500" spc="10" dirty="0">
                <a:latin typeface="Arial"/>
                <a:cs typeface="Arial"/>
              </a:rPr>
              <a:t>m</a:t>
            </a:r>
            <a:r>
              <a:rPr sz="3500" spc="15" dirty="0">
                <a:latin typeface="Arial"/>
                <a:cs typeface="Arial"/>
              </a:rPr>
              <a:t>a </a:t>
            </a:r>
            <a:r>
              <a:rPr sz="3500" spc="-5" dirty="0">
                <a:solidFill>
                  <a:srgbClr val="320065"/>
                </a:solidFill>
                <a:latin typeface="Arial"/>
                <a:cs typeface="Arial"/>
              </a:rPr>
              <a:t>c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on</a:t>
            </a:r>
            <a:r>
              <a:rPr sz="3500" spc="20" dirty="0">
                <a:solidFill>
                  <a:srgbClr val="320065"/>
                </a:solidFill>
                <a:latin typeface="Arial"/>
                <a:cs typeface="Arial"/>
              </a:rPr>
              <a:t>d</a:t>
            </a:r>
            <a:r>
              <a:rPr sz="3500" dirty="0">
                <a:solidFill>
                  <a:srgbClr val="320065"/>
                </a:solidFill>
                <a:latin typeface="Arial"/>
                <a:cs typeface="Arial"/>
              </a:rPr>
              <a:t>i</a:t>
            </a:r>
            <a:r>
              <a:rPr sz="3500" spc="-5" dirty="0">
                <a:solidFill>
                  <a:srgbClr val="320065"/>
                </a:solidFill>
                <a:latin typeface="Arial"/>
                <a:cs typeface="Arial"/>
              </a:rPr>
              <a:t>ç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ã</a:t>
            </a:r>
            <a:r>
              <a:rPr sz="3500" spc="15" dirty="0">
                <a:solidFill>
                  <a:srgbClr val="320065"/>
                </a:solidFill>
                <a:latin typeface="Arial"/>
                <a:cs typeface="Arial"/>
              </a:rPr>
              <a:t>o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 d</a:t>
            </a:r>
            <a:r>
              <a:rPr sz="3500" spc="15" dirty="0">
                <a:solidFill>
                  <a:srgbClr val="320065"/>
                </a:solidFill>
                <a:latin typeface="Arial"/>
                <a:cs typeface="Arial"/>
              </a:rPr>
              <a:t>e</a:t>
            </a:r>
            <a:r>
              <a:rPr sz="3500" spc="-10" dirty="0">
                <a:solidFill>
                  <a:srgbClr val="320065"/>
                </a:solidFill>
                <a:latin typeface="Arial"/>
                <a:cs typeface="Arial"/>
              </a:rPr>
              <a:t> 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p</a:t>
            </a:r>
            <a:r>
              <a:rPr sz="3500" spc="20" dirty="0">
                <a:solidFill>
                  <a:srgbClr val="320065"/>
                </a:solidFill>
                <a:latin typeface="Arial"/>
                <a:cs typeface="Arial"/>
              </a:rPr>
              <a:t>a</a:t>
            </a:r>
            <a:r>
              <a:rPr sz="3500" spc="-10" dirty="0">
                <a:solidFill>
                  <a:srgbClr val="320065"/>
                </a:solidFill>
                <a:latin typeface="Arial"/>
                <a:cs typeface="Arial"/>
              </a:rPr>
              <a:t>r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ad</a:t>
            </a:r>
            <a:r>
              <a:rPr sz="3500" spc="15" dirty="0">
                <a:solidFill>
                  <a:srgbClr val="320065"/>
                </a:solidFill>
                <a:latin typeface="Arial"/>
                <a:cs typeface="Arial"/>
              </a:rPr>
              <a:t>a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 !</a:t>
            </a:r>
            <a:endParaRPr sz="3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3"/>
              </a:spcBef>
              <a:buClr>
                <a:srgbClr val="852A33"/>
              </a:buClr>
              <a:buFont typeface="Wingdings"/>
              <a:buChar char=""/>
            </a:pPr>
            <a:endParaRPr sz="4750">
              <a:latin typeface="Times New Roman"/>
              <a:cs typeface="Times New Roman"/>
            </a:endParaRPr>
          </a:p>
          <a:p>
            <a:pPr marL="390525" marR="302260" indent="-377825">
              <a:lnSpc>
                <a:spcPts val="3790"/>
              </a:lnSpc>
              <a:buClr>
                <a:srgbClr val="852A33"/>
              </a:buClr>
              <a:buSzPct val="68571"/>
              <a:buFont typeface="Wingdings"/>
              <a:buChar char=""/>
              <a:tabLst>
                <a:tab pos="391160" algn="l"/>
              </a:tabLst>
            </a:pPr>
            <a:r>
              <a:rPr sz="3500" spc="10" dirty="0">
                <a:latin typeface="Arial"/>
                <a:cs typeface="Arial"/>
              </a:rPr>
              <a:t>C</a:t>
            </a:r>
            <a:r>
              <a:rPr sz="3500" dirty="0">
                <a:latin typeface="Arial"/>
                <a:cs typeface="Arial"/>
              </a:rPr>
              <a:t>on</a:t>
            </a:r>
            <a:r>
              <a:rPr sz="3500" spc="15" dirty="0">
                <a:latin typeface="Arial"/>
                <a:cs typeface="Arial"/>
              </a:rPr>
              <a:t>d</a:t>
            </a:r>
            <a:r>
              <a:rPr sz="3500" dirty="0">
                <a:latin typeface="Arial"/>
                <a:cs typeface="Arial"/>
              </a:rPr>
              <a:t>i</a:t>
            </a:r>
            <a:r>
              <a:rPr sz="3500" spc="-5" dirty="0">
                <a:latin typeface="Arial"/>
                <a:cs typeface="Arial"/>
              </a:rPr>
              <a:t>ç</a:t>
            </a:r>
            <a:r>
              <a:rPr sz="3500" spc="5" dirty="0">
                <a:latin typeface="Arial"/>
                <a:cs typeface="Arial"/>
              </a:rPr>
              <a:t>ã</a:t>
            </a:r>
            <a:r>
              <a:rPr sz="3500" spc="15" dirty="0">
                <a:latin typeface="Arial"/>
                <a:cs typeface="Arial"/>
              </a:rPr>
              <a:t>o</a:t>
            </a:r>
            <a:r>
              <a:rPr sz="3500" spc="-10" dirty="0">
                <a:latin typeface="Arial"/>
                <a:cs typeface="Arial"/>
              </a:rPr>
              <a:t> </a:t>
            </a:r>
            <a:r>
              <a:rPr sz="3500" spc="5" dirty="0">
                <a:latin typeface="Arial"/>
                <a:cs typeface="Arial"/>
              </a:rPr>
              <a:t>qu</a:t>
            </a:r>
            <a:r>
              <a:rPr sz="3500" spc="15" dirty="0">
                <a:latin typeface="Arial"/>
                <a:cs typeface="Arial"/>
              </a:rPr>
              <a:t>e</a:t>
            </a:r>
            <a:r>
              <a:rPr sz="3500" spc="5" dirty="0">
                <a:latin typeface="Arial"/>
                <a:cs typeface="Arial"/>
              </a:rPr>
              <a:t> de</a:t>
            </a:r>
            <a:r>
              <a:rPr sz="3500" spc="10" dirty="0">
                <a:latin typeface="Arial"/>
                <a:cs typeface="Arial"/>
              </a:rPr>
              <a:t>f</a:t>
            </a:r>
            <a:r>
              <a:rPr sz="3500" dirty="0">
                <a:latin typeface="Arial"/>
                <a:cs typeface="Arial"/>
              </a:rPr>
              <a:t>i</a:t>
            </a:r>
            <a:r>
              <a:rPr sz="3500" spc="5" dirty="0">
                <a:latin typeface="Arial"/>
                <a:cs typeface="Arial"/>
              </a:rPr>
              <a:t>n</a:t>
            </a:r>
            <a:r>
              <a:rPr sz="3500" spc="15" dirty="0">
                <a:latin typeface="Arial"/>
                <a:cs typeface="Arial"/>
              </a:rPr>
              <a:t>e</a:t>
            </a:r>
            <a:r>
              <a:rPr sz="3500" spc="5" dirty="0">
                <a:latin typeface="Arial"/>
                <a:cs typeface="Arial"/>
              </a:rPr>
              <a:t> </a:t>
            </a:r>
            <a:r>
              <a:rPr sz="3500" spc="-10" dirty="0">
                <a:latin typeface="Arial"/>
                <a:cs typeface="Arial"/>
              </a:rPr>
              <a:t>r</a:t>
            </a:r>
            <a:r>
              <a:rPr sz="3500" spc="20" dirty="0">
                <a:latin typeface="Arial"/>
                <a:cs typeface="Arial"/>
              </a:rPr>
              <a:t>e</a:t>
            </a:r>
            <a:r>
              <a:rPr sz="3500" spc="-5" dirty="0">
                <a:latin typeface="Arial"/>
                <a:cs typeface="Arial"/>
              </a:rPr>
              <a:t>c</a:t>
            </a:r>
            <a:r>
              <a:rPr sz="3500" spc="5" dirty="0">
                <a:latin typeface="Arial"/>
                <a:cs typeface="Arial"/>
              </a:rPr>
              <a:t>ur</a:t>
            </a:r>
            <a:r>
              <a:rPr sz="3500" spc="-5" dirty="0">
                <a:latin typeface="Arial"/>
                <a:cs typeface="Arial"/>
              </a:rPr>
              <a:t>s</a:t>
            </a:r>
            <a:r>
              <a:rPr sz="3500" spc="5" dirty="0">
                <a:latin typeface="Arial"/>
                <a:cs typeface="Arial"/>
              </a:rPr>
              <a:t>ã</a:t>
            </a:r>
            <a:r>
              <a:rPr sz="3500" spc="15" dirty="0">
                <a:latin typeface="Arial"/>
                <a:cs typeface="Arial"/>
              </a:rPr>
              <a:t>o</a:t>
            </a:r>
            <a:r>
              <a:rPr sz="3500" spc="5" dirty="0">
                <a:latin typeface="Arial"/>
                <a:cs typeface="Arial"/>
              </a:rPr>
              <a:t> </a:t>
            </a:r>
            <a:r>
              <a:rPr sz="3500" spc="-5" dirty="0">
                <a:latin typeface="Arial"/>
                <a:cs typeface="Arial"/>
              </a:rPr>
              <a:t>c</a:t>
            </a:r>
            <a:r>
              <a:rPr sz="3500" spc="5" dirty="0">
                <a:latin typeface="Arial"/>
                <a:cs typeface="Arial"/>
              </a:rPr>
              <a:t>h</a:t>
            </a:r>
            <a:r>
              <a:rPr sz="3500" spc="20" dirty="0">
                <a:latin typeface="Arial"/>
                <a:cs typeface="Arial"/>
              </a:rPr>
              <a:t>a</a:t>
            </a:r>
            <a:r>
              <a:rPr sz="3500" spc="10" dirty="0">
                <a:latin typeface="Arial"/>
                <a:cs typeface="Arial"/>
              </a:rPr>
              <a:t>m</a:t>
            </a:r>
            <a:r>
              <a:rPr sz="3500" spc="5" dirty="0">
                <a:latin typeface="Arial"/>
                <a:cs typeface="Arial"/>
              </a:rPr>
              <a:t>ad</a:t>
            </a:r>
            <a:r>
              <a:rPr sz="3500" spc="15" dirty="0">
                <a:latin typeface="Arial"/>
                <a:cs typeface="Arial"/>
              </a:rPr>
              <a:t>a</a:t>
            </a:r>
            <a:r>
              <a:rPr sz="3500" spc="5" dirty="0">
                <a:latin typeface="Arial"/>
                <a:cs typeface="Arial"/>
              </a:rPr>
              <a:t> 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p</a:t>
            </a:r>
            <a:r>
              <a:rPr sz="3500" spc="20" dirty="0">
                <a:solidFill>
                  <a:srgbClr val="320065"/>
                </a:solidFill>
                <a:latin typeface="Arial"/>
                <a:cs typeface="Arial"/>
              </a:rPr>
              <a:t>a</a:t>
            </a:r>
            <a:r>
              <a:rPr sz="3500" spc="10" dirty="0">
                <a:solidFill>
                  <a:srgbClr val="320065"/>
                </a:solidFill>
                <a:latin typeface="Arial"/>
                <a:cs typeface="Arial"/>
              </a:rPr>
              <a:t>s</a:t>
            </a:r>
            <a:r>
              <a:rPr sz="3500" spc="-5" dirty="0">
                <a:solidFill>
                  <a:srgbClr val="320065"/>
                </a:solidFill>
                <a:latin typeface="Arial"/>
                <a:cs typeface="Arial"/>
              </a:rPr>
              <a:t>s</a:t>
            </a:r>
            <a:r>
              <a:rPr sz="3500" spc="15" dirty="0">
                <a:solidFill>
                  <a:srgbClr val="320065"/>
                </a:solidFill>
                <a:latin typeface="Arial"/>
                <a:cs typeface="Arial"/>
              </a:rPr>
              <a:t>o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 </a:t>
            </a:r>
            <a:r>
              <a:rPr sz="3500" spc="-10" dirty="0">
                <a:solidFill>
                  <a:srgbClr val="320065"/>
                </a:solidFill>
                <a:latin typeface="Arial"/>
                <a:cs typeface="Arial"/>
              </a:rPr>
              <a:t>r</a:t>
            </a:r>
            <a:r>
              <a:rPr sz="3500" spc="20" dirty="0">
                <a:solidFill>
                  <a:srgbClr val="320065"/>
                </a:solidFill>
                <a:latin typeface="Arial"/>
                <a:cs typeface="Arial"/>
              </a:rPr>
              <a:t>e</a:t>
            </a:r>
            <a:r>
              <a:rPr sz="3500" spc="-5" dirty="0">
                <a:solidFill>
                  <a:srgbClr val="320065"/>
                </a:solidFill>
                <a:latin typeface="Arial"/>
                <a:cs typeface="Arial"/>
              </a:rPr>
              <a:t>c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u</a:t>
            </a:r>
            <a:r>
              <a:rPr sz="3500" spc="10" dirty="0">
                <a:solidFill>
                  <a:srgbClr val="320065"/>
                </a:solidFill>
                <a:latin typeface="Arial"/>
                <a:cs typeface="Arial"/>
              </a:rPr>
              <a:t>rs</a:t>
            </a:r>
            <a:r>
              <a:rPr sz="3500" dirty="0">
                <a:solidFill>
                  <a:srgbClr val="320065"/>
                </a:solidFill>
                <a:latin typeface="Arial"/>
                <a:cs typeface="Arial"/>
              </a:rPr>
              <a:t>i</a:t>
            </a:r>
            <a:r>
              <a:rPr sz="3500" spc="10" dirty="0">
                <a:solidFill>
                  <a:srgbClr val="320065"/>
                </a:solidFill>
                <a:latin typeface="Arial"/>
                <a:cs typeface="Arial"/>
              </a:rPr>
              <a:t>vo</a:t>
            </a:r>
            <a:r>
              <a:rPr sz="3500" spc="5" dirty="0">
                <a:latin typeface="Arial"/>
                <a:cs typeface="Arial"/>
              </a:rPr>
              <a:t>.</a:t>
            </a:r>
            <a:endParaRPr sz="3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2904532112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17396" y="3631686"/>
            <a:ext cx="1473835" cy="3756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5" dirty="0">
                <a:latin typeface="Arial"/>
                <a:cs typeface="Arial"/>
              </a:rPr>
              <a:t>2,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10" dirty="0">
                <a:latin typeface="Arial"/>
                <a:cs typeface="Arial"/>
              </a:rPr>
              <a:t>se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spc="10" dirty="0">
                <a:latin typeface="Arial"/>
                <a:cs typeface="Arial"/>
              </a:rPr>
              <a:t>n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10" dirty="0">
                <a:latin typeface="Arial"/>
                <a:cs typeface="Arial"/>
              </a:rPr>
              <a:t>=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10" dirty="0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93993" y="3631686"/>
            <a:ext cx="2438400" cy="3756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15" dirty="0">
                <a:latin typeface="Arial"/>
                <a:cs typeface="Arial"/>
              </a:rPr>
              <a:t>B</a:t>
            </a:r>
            <a:r>
              <a:rPr sz="2400" spc="5" dirty="0">
                <a:latin typeface="Arial"/>
                <a:cs typeface="Arial"/>
              </a:rPr>
              <a:t>a</a:t>
            </a:r>
            <a:r>
              <a:rPr sz="2400" spc="10" dirty="0">
                <a:latin typeface="Arial"/>
                <a:cs typeface="Arial"/>
              </a:rPr>
              <a:t>se </a:t>
            </a:r>
            <a:r>
              <a:rPr sz="2400" spc="5" dirty="0">
                <a:latin typeface="Arial"/>
                <a:cs typeface="Arial"/>
              </a:rPr>
              <a:t>d</a:t>
            </a:r>
            <a:r>
              <a:rPr sz="2400" spc="10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 r</a:t>
            </a:r>
            <a:r>
              <a:rPr sz="2400" spc="5" dirty="0">
                <a:latin typeface="Arial"/>
                <a:cs typeface="Arial"/>
              </a:rPr>
              <a:t>e</a:t>
            </a:r>
            <a:r>
              <a:rPr sz="2400" spc="20" dirty="0">
                <a:latin typeface="Arial"/>
                <a:cs typeface="Arial"/>
              </a:rPr>
              <a:t>c</a:t>
            </a:r>
            <a:r>
              <a:rPr sz="2400" spc="15" dirty="0">
                <a:latin typeface="Arial"/>
                <a:cs typeface="Arial"/>
              </a:rPr>
              <a:t>u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spc="10" dirty="0">
                <a:latin typeface="Arial"/>
                <a:cs typeface="Arial"/>
              </a:rPr>
              <a:t>s</a:t>
            </a:r>
            <a:r>
              <a:rPr sz="2400" spc="5" dirty="0">
                <a:latin typeface="Arial"/>
                <a:cs typeface="Arial"/>
              </a:rPr>
              <a:t>ã</a:t>
            </a:r>
            <a:r>
              <a:rPr sz="2400" spc="10" dirty="0">
                <a:latin typeface="Arial"/>
                <a:cs typeface="Arial"/>
              </a:rPr>
              <a:t>o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6255" y="3939276"/>
            <a:ext cx="313055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7" baseline="-17361" dirty="0">
                <a:latin typeface="Arial"/>
                <a:cs typeface="Arial"/>
              </a:rPr>
              <a:t>2</a:t>
            </a:r>
            <a:r>
              <a:rPr sz="1650" dirty="0">
                <a:latin typeface="Arial"/>
                <a:cs typeface="Arial"/>
              </a:rPr>
              <a:t>n</a:t>
            </a:r>
            <a:endParaRPr sz="16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17395" y="4848339"/>
            <a:ext cx="2239010" cy="3756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10" dirty="0">
                <a:latin typeface="Arial"/>
                <a:cs typeface="Arial"/>
              </a:rPr>
              <a:t>2 </a:t>
            </a:r>
            <a:r>
              <a:rPr sz="2400" spc="5" dirty="0">
                <a:latin typeface="Arial"/>
                <a:cs typeface="Arial"/>
              </a:rPr>
              <a:t>*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5" dirty="0">
                <a:latin typeface="Arial"/>
                <a:cs typeface="Arial"/>
              </a:rPr>
              <a:t>2</a:t>
            </a:r>
            <a:r>
              <a:rPr sz="2475" baseline="25252" dirty="0">
                <a:latin typeface="Arial"/>
                <a:cs typeface="Arial"/>
              </a:rPr>
              <a:t>n-1</a:t>
            </a:r>
            <a:r>
              <a:rPr sz="2400" spc="5" dirty="0">
                <a:latin typeface="Arial"/>
                <a:cs typeface="Arial"/>
              </a:rPr>
              <a:t>,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10" dirty="0">
                <a:latin typeface="Arial"/>
                <a:cs typeface="Arial"/>
              </a:rPr>
              <a:t>se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10" dirty="0">
                <a:latin typeface="Arial"/>
                <a:cs typeface="Arial"/>
              </a:rPr>
              <a:t>n &gt;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10" dirty="0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7479" y="4848339"/>
            <a:ext cx="2217420" cy="3756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15" dirty="0">
                <a:latin typeface="Arial"/>
                <a:cs typeface="Arial"/>
              </a:rPr>
              <a:t>P</a:t>
            </a:r>
            <a:r>
              <a:rPr sz="2400" spc="5" dirty="0">
                <a:latin typeface="Arial"/>
                <a:cs typeface="Arial"/>
              </a:rPr>
              <a:t>a</a:t>
            </a:r>
            <a:r>
              <a:rPr sz="2400" spc="10" dirty="0">
                <a:latin typeface="Arial"/>
                <a:cs typeface="Arial"/>
              </a:rPr>
              <a:t>sso r</a:t>
            </a:r>
            <a:r>
              <a:rPr sz="2400" spc="5" dirty="0">
                <a:latin typeface="Arial"/>
                <a:cs typeface="Arial"/>
              </a:rPr>
              <a:t>e</a:t>
            </a:r>
            <a:r>
              <a:rPr sz="2400" spc="10" dirty="0">
                <a:latin typeface="Arial"/>
                <a:cs typeface="Arial"/>
              </a:rPr>
              <a:t>c</a:t>
            </a:r>
            <a:r>
              <a:rPr sz="2400" spc="15" dirty="0">
                <a:latin typeface="Arial"/>
                <a:cs typeface="Arial"/>
              </a:rPr>
              <a:t>u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spc="10" dirty="0">
                <a:latin typeface="Arial"/>
                <a:cs typeface="Arial"/>
              </a:rPr>
              <a:t>s</a:t>
            </a:r>
            <a:r>
              <a:rPr sz="2400" spc="5" dirty="0">
                <a:latin typeface="Arial"/>
                <a:cs typeface="Arial"/>
              </a:rPr>
              <a:t>i</a:t>
            </a:r>
            <a:r>
              <a:rPr sz="2400" spc="10" dirty="0">
                <a:latin typeface="Arial"/>
                <a:cs typeface="Arial"/>
              </a:rPr>
              <a:t>vo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213103" y="3458097"/>
            <a:ext cx="318770" cy="1982709"/>
          </a:xfrm>
          <a:custGeom>
            <a:avLst/>
            <a:gdLst/>
            <a:ahLst/>
            <a:cxnLst/>
            <a:rect l="l" t="t" r="r" b="b"/>
            <a:pathLst>
              <a:path w="318769" h="1984375">
                <a:moveTo>
                  <a:pt x="318515" y="0"/>
                </a:moveTo>
                <a:lnTo>
                  <a:pt x="279521" y="4983"/>
                </a:lnTo>
                <a:lnTo>
                  <a:pt x="244015" y="19118"/>
                </a:lnTo>
                <a:lnTo>
                  <a:pt x="209197" y="44907"/>
                </a:lnTo>
                <a:lnTo>
                  <a:pt x="185075" y="74528"/>
                </a:lnTo>
                <a:lnTo>
                  <a:pt x="168087" y="109452"/>
                </a:lnTo>
                <a:lnTo>
                  <a:pt x="159394" y="148455"/>
                </a:lnTo>
                <a:lnTo>
                  <a:pt x="158495" y="166115"/>
                </a:lnTo>
                <a:lnTo>
                  <a:pt x="158495" y="827531"/>
                </a:lnTo>
                <a:lnTo>
                  <a:pt x="158397" y="833468"/>
                </a:lnTo>
                <a:lnTo>
                  <a:pt x="152407" y="873291"/>
                </a:lnTo>
                <a:lnTo>
                  <a:pt x="137929" y="909247"/>
                </a:lnTo>
                <a:lnTo>
                  <a:pt x="112394" y="944117"/>
                </a:lnTo>
                <a:lnTo>
                  <a:pt x="78839" y="970690"/>
                </a:lnTo>
                <a:lnTo>
                  <a:pt x="38899" y="987235"/>
                </a:lnTo>
                <a:lnTo>
                  <a:pt x="0" y="992123"/>
                </a:lnTo>
                <a:lnTo>
                  <a:pt x="5738" y="992229"/>
                </a:lnTo>
                <a:lnTo>
                  <a:pt x="44185" y="998595"/>
                </a:lnTo>
                <a:lnTo>
                  <a:pt x="83417" y="1016790"/>
                </a:lnTo>
                <a:lnTo>
                  <a:pt x="116058" y="1044882"/>
                </a:lnTo>
                <a:lnTo>
                  <a:pt x="137929" y="1076143"/>
                </a:lnTo>
                <a:lnTo>
                  <a:pt x="152407" y="1112357"/>
                </a:lnTo>
                <a:lnTo>
                  <a:pt x="158397" y="1152300"/>
                </a:lnTo>
                <a:lnTo>
                  <a:pt x="158495" y="1158239"/>
                </a:lnTo>
                <a:lnTo>
                  <a:pt x="158495" y="1818131"/>
                </a:lnTo>
                <a:lnTo>
                  <a:pt x="158596" y="1824071"/>
                </a:lnTo>
                <a:lnTo>
                  <a:pt x="164706" y="1864014"/>
                </a:lnTo>
                <a:lnTo>
                  <a:pt x="179442" y="1900228"/>
                </a:lnTo>
                <a:lnTo>
                  <a:pt x="201645" y="1931489"/>
                </a:lnTo>
                <a:lnTo>
                  <a:pt x="234674" y="1959581"/>
                </a:lnTo>
                <a:lnTo>
                  <a:pt x="274208" y="1977776"/>
                </a:lnTo>
                <a:lnTo>
                  <a:pt x="312775" y="1984142"/>
                </a:lnTo>
                <a:lnTo>
                  <a:pt x="318515" y="1984247"/>
                </a:lnTo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704588" y="3695642"/>
            <a:ext cx="713740" cy="397811"/>
          </a:xfrm>
          <a:custGeom>
            <a:avLst/>
            <a:gdLst/>
            <a:ahLst/>
            <a:cxnLst/>
            <a:rect l="l" t="t" r="r" b="b"/>
            <a:pathLst>
              <a:path w="713739" h="398145">
                <a:moveTo>
                  <a:pt x="178307" y="397763"/>
                </a:moveTo>
                <a:lnTo>
                  <a:pt x="178307" y="0"/>
                </a:lnTo>
                <a:lnTo>
                  <a:pt x="0" y="199643"/>
                </a:lnTo>
                <a:lnTo>
                  <a:pt x="178307" y="397763"/>
                </a:lnTo>
                <a:close/>
              </a:path>
              <a:path w="713739" h="398145">
                <a:moveTo>
                  <a:pt x="713231" y="298703"/>
                </a:moveTo>
                <a:lnTo>
                  <a:pt x="713231" y="100583"/>
                </a:lnTo>
                <a:lnTo>
                  <a:pt x="178307" y="100583"/>
                </a:lnTo>
                <a:lnTo>
                  <a:pt x="178307" y="298703"/>
                </a:lnTo>
                <a:lnTo>
                  <a:pt x="713231" y="298703"/>
                </a:lnTo>
                <a:close/>
              </a:path>
            </a:pathLst>
          </a:custGeom>
          <a:solidFill>
            <a:srgbClr val="E6E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704588" y="3695642"/>
            <a:ext cx="713740" cy="397811"/>
          </a:xfrm>
          <a:custGeom>
            <a:avLst/>
            <a:gdLst/>
            <a:ahLst/>
            <a:cxnLst/>
            <a:rect l="l" t="t" r="r" b="b"/>
            <a:pathLst>
              <a:path w="713739" h="398145">
                <a:moveTo>
                  <a:pt x="178307" y="0"/>
                </a:moveTo>
                <a:lnTo>
                  <a:pt x="178307" y="100583"/>
                </a:lnTo>
                <a:lnTo>
                  <a:pt x="713231" y="100583"/>
                </a:lnTo>
                <a:lnTo>
                  <a:pt x="713231" y="298703"/>
                </a:lnTo>
                <a:lnTo>
                  <a:pt x="178307" y="298703"/>
                </a:lnTo>
                <a:lnTo>
                  <a:pt x="178307" y="397763"/>
                </a:lnTo>
                <a:lnTo>
                  <a:pt x="0" y="199643"/>
                </a:lnTo>
                <a:lnTo>
                  <a:pt x="178307" y="0"/>
                </a:lnTo>
                <a:close/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11" name="object 11"/>
          <p:cNvSpPr/>
          <p:nvPr/>
        </p:nvSpPr>
        <p:spPr>
          <a:xfrm>
            <a:off x="4704588" y="4805706"/>
            <a:ext cx="713740" cy="397811"/>
          </a:xfrm>
          <a:custGeom>
            <a:avLst/>
            <a:gdLst/>
            <a:ahLst/>
            <a:cxnLst/>
            <a:rect l="l" t="t" r="r" b="b"/>
            <a:pathLst>
              <a:path w="713739" h="398145">
                <a:moveTo>
                  <a:pt x="178307" y="397763"/>
                </a:moveTo>
                <a:lnTo>
                  <a:pt x="178307" y="0"/>
                </a:lnTo>
                <a:lnTo>
                  <a:pt x="0" y="199643"/>
                </a:lnTo>
                <a:lnTo>
                  <a:pt x="178307" y="397763"/>
                </a:lnTo>
                <a:close/>
              </a:path>
              <a:path w="713739" h="398145">
                <a:moveTo>
                  <a:pt x="713231" y="298703"/>
                </a:moveTo>
                <a:lnTo>
                  <a:pt x="713231" y="99059"/>
                </a:lnTo>
                <a:lnTo>
                  <a:pt x="178307" y="99059"/>
                </a:lnTo>
                <a:lnTo>
                  <a:pt x="178307" y="298703"/>
                </a:lnTo>
                <a:lnTo>
                  <a:pt x="713231" y="298703"/>
                </a:lnTo>
                <a:close/>
              </a:path>
            </a:pathLst>
          </a:custGeom>
          <a:solidFill>
            <a:srgbClr val="E6E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704588" y="4805706"/>
            <a:ext cx="713740" cy="397811"/>
          </a:xfrm>
          <a:custGeom>
            <a:avLst/>
            <a:gdLst/>
            <a:ahLst/>
            <a:cxnLst/>
            <a:rect l="l" t="t" r="r" b="b"/>
            <a:pathLst>
              <a:path w="713739" h="398145">
                <a:moveTo>
                  <a:pt x="178307" y="0"/>
                </a:moveTo>
                <a:lnTo>
                  <a:pt x="178307" y="99059"/>
                </a:lnTo>
                <a:lnTo>
                  <a:pt x="713231" y="99059"/>
                </a:lnTo>
                <a:lnTo>
                  <a:pt x="713231" y="298703"/>
                </a:lnTo>
                <a:lnTo>
                  <a:pt x="178307" y="298703"/>
                </a:lnTo>
                <a:lnTo>
                  <a:pt x="178307" y="397763"/>
                </a:lnTo>
                <a:lnTo>
                  <a:pt x="0" y="199643"/>
                </a:lnTo>
                <a:lnTo>
                  <a:pt x="178307" y="0"/>
                </a:lnTo>
                <a:close/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07764609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7615" y="2060241"/>
            <a:ext cx="9067800" cy="5404388"/>
          </a:xfrm>
          <a:custGeom>
            <a:avLst/>
            <a:gdLst/>
            <a:ahLst/>
            <a:cxnLst/>
            <a:rect l="l" t="t" r="r" b="b"/>
            <a:pathLst>
              <a:path w="9067800" h="5408930">
                <a:moveTo>
                  <a:pt x="0" y="0"/>
                </a:moveTo>
                <a:lnTo>
                  <a:pt x="0" y="5408675"/>
                </a:lnTo>
                <a:lnTo>
                  <a:pt x="9067799" y="5408675"/>
                </a:lnTo>
                <a:lnTo>
                  <a:pt x="9067799" y="0"/>
                </a:lnTo>
                <a:lnTo>
                  <a:pt x="0" y="0"/>
                </a:lnTo>
                <a:close/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30071" y="2109728"/>
            <a:ext cx="4578350" cy="967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50" spc="-5" dirty="0">
                <a:latin typeface="Arial"/>
                <a:cs typeface="Arial"/>
              </a:rPr>
              <a:t>i</a:t>
            </a:r>
            <a:r>
              <a:rPr sz="2850" spc="5" dirty="0">
                <a:latin typeface="Arial"/>
                <a:cs typeface="Arial"/>
              </a:rPr>
              <a:t>n</a:t>
            </a:r>
            <a:r>
              <a:rPr sz="2850" dirty="0">
                <a:latin typeface="Arial"/>
                <a:cs typeface="Arial"/>
              </a:rPr>
              <a:t>t</a:t>
            </a:r>
            <a:r>
              <a:rPr sz="2850" spc="5" dirty="0">
                <a:latin typeface="Arial"/>
                <a:cs typeface="Arial"/>
              </a:rPr>
              <a:t> Po</a:t>
            </a:r>
            <a:r>
              <a:rPr sz="2850" spc="-5" dirty="0">
                <a:latin typeface="Arial"/>
                <a:cs typeface="Arial"/>
              </a:rPr>
              <a:t>t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15" dirty="0">
                <a:latin typeface="Arial"/>
                <a:cs typeface="Arial"/>
              </a:rPr>
              <a:t>n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-5" dirty="0">
                <a:latin typeface="Arial"/>
                <a:cs typeface="Arial"/>
              </a:rPr>
              <a:t>i</a:t>
            </a:r>
            <a:r>
              <a:rPr sz="2850" spc="-10" dirty="0">
                <a:latin typeface="Arial"/>
                <a:cs typeface="Arial"/>
              </a:rPr>
              <a:t>a</a:t>
            </a:r>
            <a:r>
              <a:rPr sz="2850" spc="15" dirty="0">
                <a:latin typeface="Arial"/>
                <a:cs typeface="Arial"/>
              </a:rPr>
              <a:t>R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-10" dirty="0">
                <a:latin typeface="Arial"/>
                <a:cs typeface="Arial"/>
              </a:rPr>
              <a:t>u</a:t>
            </a:r>
            <a:r>
              <a:rPr sz="2850" spc="-5" dirty="0">
                <a:latin typeface="Arial"/>
                <a:cs typeface="Arial"/>
              </a:rPr>
              <a:t>r</a:t>
            </a:r>
            <a:r>
              <a:rPr sz="2850" spc="10" dirty="0">
                <a:latin typeface="Arial"/>
                <a:cs typeface="Arial"/>
              </a:rPr>
              <a:t>s</a:t>
            </a:r>
            <a:r>
              <a:rPr sz="2850" spc="-15" dirty="0">
                <a:latin typeface="Arial"/>
                <a:cs typeface="Arial"/>
              </a:rPr>
              <a:t>i</a:t>
            </a:r>
            <a:r>
              <a:rPr sz="2850" spc="10" dirty="0">
                <a:latin typeface="Arial"/>
                <a:cs typeface="Arial"/>
              </a:rPr>
              <a:t>v</a:t>
            </a:r>
            <a:r>
              <a:rPr sz="2850" spc="5" dirty="0">
                <a:latin typeface="Arial"/>
                <a:cs typeface="Arial"/>
              </a:rPr>
              <a:t>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(</a:t>
            </a:r>
            <a:r>
              <a:rPr sz="2850" spc="-5" dirty="0">
                <a:latin typeface="Arial"/>
                <a:cs typeface="Arial"/>
              </a:rPr>
              <a:t>i</a:t>
            </a:r>
            <a:r>
              <a:rPr sz="2850" spc="5" dirty="0">
                <a:latin typeface="Arial"/>
                <a:cs typeface="Arial"/>
              </a:rPr>
              <a:t>n</a:t>
            </a:r>
            <a:r>
              <a:rPr sz="2850" dirty="0">
                <a:latin typeface="Arial"/>
                <a:cs typeface="Arial"/>
              </a:rPr>
              <a:t>t</a:t>
            </a:r>
            <a:r>
              <a:rPr sz="2850" spc="-5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n)</a:t>
            </a:r>
            <a:endParaRPr sz="2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850" spc="5" dirty="0">
                <a:latin typeface="Arial"/>
                <a:cs typeface="Arial"/>
              </a:rPr>
              <a:t>{</a:t>
            </a:r>
            <a:endParaRPr sz="28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30338" y="3158882"/>
            <a:ext cx="2880995" cy="443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50" spc="5" dirty="0">
                <a:latin typeface="Arial"/>
                <a:cs typeface="Arial"/>
              </a:rPr>
              <a:t>Ba</a:t>
            </a:r>
            <a:r>
              <a:rPr sz="2850" spc="10" dirty="0">
                <a:latin typeface="Arial"/>
                <a:cs typeface="Arial"/>
              </a:rPr>
              <a:t>s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da</a:t>
            </a:r>
            <a:r>
              <a:rPr sz="2850" spc="10" dirty="0">
                <a:latin typeface="Arial"/>
                <a:cs typeface="Arial"/>
              </a:rPr>
              <a:t> r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-10" dirty="0">
                <a:latin typeface="Arial"/>
                <a:cs typeface="Arial"/>
              </a:rPr>
              <a:t>u</a:t>
            </a:r>
            <a:r>
              <a:rPr sz="2850" spc="-5" dirty="0">
                <a:latin typeface="Arial"/>
                <a:cs typeface="Arial"/>
              </a:rPr>
              <a:t>r</a:t>
            </a:r>
            <a:r>
              <a:rPr sz="2850" spc="10" dirty="0">
                <a:latin typeface="Arial"/>
                <a:cs typeface="Arial"/>
              </a:rPr>
              <a:t>s</a:t>
            </a:r>
            <a:r>
              <a:rPr sz="2850" spc="5" dirty="0">
                <a:latin typeface="Arial"/>
                <a:cs typeface="Arial"/>
              </a:rPr>
              <a:t>ão</a:t>
            </a:r>
            <a:endParaRPr sz="28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33930" y="3069049"/>
            <a:ext cx="2133600" cy="15810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0065" marR="5080" indent="-405765">
              <a:lnSpc>
                <a:spcPct val="120700"/>
              </a:lnSpc>
              <a:tabLst>
                <a:tab pos="498475" algn="l"/>
              </a:tabLst>
            </a:pPr>
            <a:r>
              <a:rPr sz="2850" spc="-5" dirty="0">
                <a:latin typeface="Arial"/>
                <a:cs typeface="Arial"/>
              </a:rPr>
              <a:t>i</a:t>
            </a:r>
            <a:r>
              <a:rPr sz="2850" dirty="0">
                <a:latin typeface="Arial"/>
                <a:cs typeface="Arial"/>
              </a:rPr>
              <a:t>f	</a:t>
            </a:r>
            <a:r>
              <a:rPr sz="2850" spc="10" dirty="0">
                <a:latin typeface="Arial"/>
                <a:cs typeface="Arial"/>
              </a:rPr>
              <a:t>(</a:t>
            </a:r>
            <a:r>
              <a:rPr sz="2850" spc="5" dirty="0">
                <a:latin typeface="Arial"/>
                <a:cs typeface="Arial"/>
              </a:rPr>
              <a:t>n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=</a:t>
            </a:r>
            <a:r>
              <a:rPr sz="2850" spc="5" dirty="0">
                <a:latin typeface="Arial"/>
                <a:cs typeface="Arial"/>
              </a:rPr>
              <a:t>= 1)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r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-5" dirty="0">
                <a:latin typeface="Arial"/>
                <a:cs typeface="Arial"/>
              </a:rPr>
              <a:t>t</a:t>
            </a:r>
            <a:r>
              <a:rPr sz="2850" spc="15" dirty="0">
                <a:latin typeface="Arial"/>
                <a:cs typeface="Arial"/>
              </a:rPr>
              <a:t>u</a:t>
            </a:r>
            <a:r>
              <a:rPr sz="2850" spc="10" dirty="0">
                <a:latin typeface="Arial"/>
                <a:cs typeface="Arial"/>
              </a:rPr>
              <a:t>r</a:t>
            </a:r>
            <a:r>
              <a:rPr sz="2850" spc="5" dirty="0">
                <a:latin typeface="Arial"/>
                <a:cs typeface="Arial"/>
              </a:rPr>
              <a:t>n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(</a:t>
            </a:r>
            <a:r>
              <a:rPr sz="2850" spc="-10" dirty="0">
                <a:latin typeface="Arial"/>
                <a:cs typeface="Arial"/>
              </a:rPr>
              <a:t>2</a:t>
            </a:r>
            <a:r>
              <a:rPr sz="2850" spc="10" dirty="0">
                <a:latin typeface="Arial"/>
                <a:cs typeface="Arial"/>
              </a:rPr>
              <a:t>)</a:t>
            </a:r>
            <a:r>
              <a:rPr sz="2850" dirty="0">
                <a:latin typeface="Arial"/>
                <a:cs typeface="Arial"/>
              </a:rPr>
              <a:t>;</a:t>
            </a:r>
            <a:endParaRPr sz="2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850" spc="5" dirty="0">
                <a:latin typeface="Arial"/>
                <a:cs typeface="Arial"/>
              </a:rPr>
              <a:t>e</a:t>
            </a:r>
            <a:r>
              <a:rPr sz="2850" spc="-5" dirty="0">
                <a:latin typeface="Arial"/>
                <a:cs typeface="Arial"/>
              </a:rPr>
              <a:t>l</a:t>
            </a:r>
            <a:r>
              <a:rPr sz="2850" spc="10" dirty="0">
                <a:latin typeface="Arial"/>
                <a:cs typeface="Arial"/>
              </a:rPr>
              <a:t>s</a:t>
            </a:r>
            <a:r>
              <a:rPr sz="2850" spc="5" dirty="0">
                <a:latin typeface="Arial"/>
                <a:cs typeface="Arial"/>
              </a:rPr>
              <a:t>e</a:t>
            </a:r>
            <a:endParaRPr sz="28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0070" y="4731851"/>
            <a:ext cx="6990080" cy="967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23925">
              <a:lnSpc>
                <a:spcPct val="100000"/>
              </a:lnSpc>
            </a:pPr>
            <a:r>
              <a:rPr sz="2850" spc="10" dirty="0">
                <a:latin typeface="Arial"/>
                <a:cs typeface="Arial"/>
              </a:rPr>
              <a:t>r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-5" dirty="0">
                <a:latin typeface="Arial"/>
                <a:cs typeface="Arial"/>
              </a:rPr>
              <a:t>t</a:t>
            </a:r>
            <a:r>
              <a:rPr sz="2850" spc="15" dirty="0">
                <a:latin typeface="Arial"/>
                <a:cs typeface="Arial"/>
              </a:rPr>
              <a:t>u</a:t>
            </a:r>
            <a:r>
              <a:rPr sz="2850" spc="10" dirty="0">
                <a:latin typeface="Arial"/>
                <a:cs typeface="Arial"/>
              </a:rPr>
              <a:t>r</a:t>
            </a:r>
            <a:r>
              <a:rPr sz="2850" spc="5" dirty="0">
                <a:latin typeface="Arial"/>
                <a:cs typeface="Arial"/>
              </a:rPr>
              <a:t>n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(</a:t>
            </a:r>
            <a:r>
              <a:rPr sz="2850" spc="5" dirty="0">
                <a:latin typeface="Arial"/>
                <a:cs typeface="Arial"/>
              </a:rPr>
              <a:t>2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*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P</a:t>
            </a:r>
            <a:r>
              <a:rPr sz="2850" spc="15" dirty="0">
                <a:latin typeface="Arial"/>
                <a:cs typeface="Arial"/>
              </a:rPr>
              <a:t>o</a:t>
            </a:r>
            <a:r>
              <a:rPr sz="2850" spc="-5" dirty="0">
                <a:latin typeface="Arial"/>
                <a:cs typeface="Arial"/>
              </a:rPr>
              <a:t>t</a:t>
            </a:r>
            <a:r>
              <a:rPr sz="2850" spc="5" dirty="0">
                <a:latin typeface="Arial"/>
                <a:cs typeface="Arial"/>
              </a:rPr>
              <a:t>en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-5" dirty="0">
                <a:latin typeface="Arial"/>
                <a:cs typeface="Arial"/>
              </a:rPr>
              <a:t>i</a:t>
            </a:r>
            <a:r>
              <a:rPr sz="2850" spc="5" dirty="0">
                <a:latin typeface="Arial"/>
                <a:cs typeface="Arial"/>
              </a:rPr>
              <a:t>a</a:t>
            </a:r>
            <a:r>
              <a:rPr sz="2850" spc="15" dirty="0">
                <a:latin typeface="Arial"/>
                <a:cs typeface="Arial"/>
              </a:rPr>
              <a:t>R</a:t>
            </a:r>
            <a:r>
              <a:rPr sz="2850" spc="-10" dirty="0">
                <a:latin typeface="Arial"/>
                <a:cs typeface="Arial"/>
              </a:rPr>
              <a:t>e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u</a:t>
            </a:r>
            <a:r>
              <a:rPr sz="2850" spc="-5" dirty="0">
                <a:latin typeface="Arial"/>
                <a:cs typeface="Arial"/>
              </a:rPr>
              <a:t>r</a:t>
            </a:r>
            <a:r>
              <a:rPr sz="2850" spc="10" dirty="0">
                <a:latin typeface="Arial"/>
                <a:cs typeface="Arial"/>
              </a:rPr>
              <a:t>s</a:t>
            </a:r>
            <a:r>
              <a:rPr sz="2850" spc="-15" dirty="0">
                <a:latin typeface="Arial"/>
                <a:cs typeface="Arial"/>
              </a:rPr>
              <a:t>i</a:t>
            </a:r>
            <a:r>
              <a:rPr sz="2850" spc="10" dirty="0">
                <a:latin typeface="Arial"/>
                <a:cs typeface="Arial"/>
              </a:rPr>
              <a:t>v</a:t>
            </a:r>
            <a:r>
              <a:rPr sz="2850" spc="5" dirty="0">
                <a:latin typeface="Arial"/>
                <a:cs typeface="Arial"/>
              </a:rPr>
              <a:t>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-5" dirty="0">
                <a:latin typeface="Arial"/>
                <a:cs typeface="Arial"/>
              </a:rPr>
              <a:t>(</a:t>
            </a:r>
            <a:r>
              <a:rPr sz="2850" spc="5" dirty="0">
                <a:latin typeface="Arial"/>
                <a:cs typeface="Arial"/>
              </a:rPr>
              <a:t>n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- 1</a:t>
            </a:r>
            <a:r>
              <a:rPr sz="2850" spc="10" dirty="0">
                <a:latin typeface="Arial"/>
                <a:cs typeface="Arial"/>
              </a:rPr>
              <a:t>))</a:t>
            </a:r>
            <a:r>
              <a:rPr sz="2850" dirty="0">
                <a:latin typeface="Arial"/>
                <a:cs typeface="Arial"/>
              </a:rPr>
              <a:t>;</a:t>
            </a:r>
            <a:endParaRPr sz="2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850" spc="5" dirty="0">
                <a:latin typeface="Arial"/>
                <a:cs typeface="Arial"/>
              </a:rPr>
              <a:t>}</a:t>
            </a:r>
            <a:endParaRPr sz="28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86759" y="6827115"/>
            <a:ext cx="2614295" cy="443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50" spc="5" dirty="0">
                <a:latin typeface="Arial"/>
                <a:cs typeface="Arial"/>
              </a:rPr>
              <a:t>Pa</a:t>
            </a:r>
            <a:r>
              <a:rPr sz="2850" spc="-5" dirty="0">
                <a:latin typeface="Arial"/>
                <a:cs typeface="Arial"/>
              </a:rPr>
              <a:t>s</a:t>
            </a:r>
            <a:r>
              <a:rPr sz="2850" spc="10" dirty="0">
                <a:latin typeface="Arial"/>
                <a:cs typeface="Arial"/>
              </a:rPr>
              <a:t>s</a:t>
            </a:r>
            <a:r>
              <a:rPr sz="2850" spc="5" dirty="0">
                <a:latin typeface="Arial"/>
                <a:cs typeface="Arial"/>
              </a:rPr>
              <a:t>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r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-10" dirty="0">
                <a:latin typeface="Arial"/>
                <a:cs typeface="Arial"/>
              </a:rPr>
              <a:t>u</a:t>
            </a:r>
            <a:r>
              <a:rPr sz="2850" spc="-5" dirty="0">
                <a:latin typeface="Arial"/>
                <a:cs typeface="Arial"/>
              </a:rPr>
              <a:t>rsi</a:t>
            </a:r>
            <a:r>
              <a:rPr sz="2850" spc="10" dirty="0">
                <a:latin typeface="Arial"/>
                <a:cs typeface="Arial"/>
              </a:rPr>
              <a:t>v</a:t>
            </a:r>
            <a:r>
              <a:rPr sz="2850" spc="5" dirty="0">
                <a:latin typeface="Arial"/>
                <a:cs typeface="Arial"/>
              </a:rPr>
              <a:t>o</a:t>
            </a:r>
            <a:endParaRPr sz="28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514345" y="3219030"/>
            <a:ext cx="1428115" cy="397811"/>
          </a:xfrm>
          <a:custGeom>
            <a:avLst/>
            <a:gdLst/>
            <a:ahLst/>
            <a:cxnLst/>
            <a:rect l="l" t="t" r="r" b="b"/>
            <a:pathLst>
              <a:path w="1428114" h="398145">
                <a:moveTo>
                  <a:pt x="358139" y="397763"/>
                </a:moveTo>
                <a:lnTo>
                  <a:pt x="358139" y="0"/>
                </a:lnTo>
                <a:lnTo>
                  <a:pt x="0" y="198119"/>
                </a:lnTo>
                <a:lnTo>
                  <a:pt x="358139" y="397763"/>
                </a:lnTo>
                <a:close/>
              </a:path>
              <a:path w="1428114" h="398145">
                <a:moveTo>
                  <a:pt x="1427987" y="298703"/>
                </a:moveTo>
                <a:lnTo>
                  <a:pt x="1427987" y="99059"/>
                </a:lnTo>
                <a:lnTo>
                  <a:pt x="358139" y="99059"/>
                </a:lnTo>
                <a:lnTo>
                  <a:pt x="358139" y="298703"/>
                </a:lnTo>
                <a:lnTo>
                  <a:pt x="1427987" y="298703"/>
                </a:lnTo>
                <a:close/>
              </a:path>
            </a:pathLst>
          </a:custGeom>
          <a:solidFill>
            <a:srgbClr val="E6E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14345" y="3219030"/>
            <a:ext cx="1428115" cy="397811"/>
          </a:xfrm>
          <a:custGeom>
            <a:avLst/>
            <a:gdLst/>
            <a:ahLst/>
            <a:cxnLst/>
            <a:rect l="l" t="t" r="r" b="b"/>
            <a:pathLst>
              <a:path w="1428114" h="398145">
                <a:moveTo>
                  <a:pt x="358139" y="0"/>
                </a:moveTo>
                <a:lnTo>
                  <a:pt x="358139" y="99059"/>
                </a:lnTo>
                <a:lnTo>
                  <a:pt x="1427987" y="99059"/>
                </a:lnTo>
                <a:lnTo>
                  <a:pt x="1427987" y="298703"/>
                </a:lnTo>
                <a:lnTo>
                  <a:pt x="358139" y="298703"/>
                </a:lnTo>
                <a:lnTo>
                  <a:pt x="358139" y="397763"/>
                </a:lnTo>
                <a:lnTo>
                  <a:pt x="0" y="198119"/>
                </a:lnTo>
                <a:lnTo>
                  <a:pt x="358139" y="0"/>
                </a:lnTo>
                <a:close/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29100" y="5282317"/>
            <a:ext cx="396240" cy="1425647"/>
          </a:xfrm>
          <a:custGeom>
            <a:avLst/>
            <a:gdLst/>
            <a:ahLst/>
            <a:cxnLst/>
            <a:rect l="l" t="t" r="r" b="b"/>
            <a:pathLst>
              <a:path w="396239" h="1426845">
                <a:moveTo>
                  <a:pt x="396239" y="356615"/>
                </a:moveTo>
                <a:lnTo>
                  <a:pt x="198119" y="0"/>
                </a:lnTo>
                <a:lnTo>
                  <a:pt x="0" y="356615"/>
                </a:lnTo>
                <a:lnTo>
                  <a:pt x="99059" y="356615"/>
                </a:lnTo>
                <a:lnTo>
                  <a:pt x="99059" y="1426463"/>
                </a:lnTo>
                <a:lnTo>
                  <a:pt x="297179" y="1426463"/>
                </a:lnTo>
                <a:lnTo>
                  <a:pt x="297179" y="356615"/>
                </a:lnTo>
                <a:lnTo>
                  <a:pt x="396239" y="356615"/>
                </a:lnTo>
                <a:close/>
              </a:path>
            </a:pathLst>
          </a:custGeom>
          <a:solidFill>
            <a:srgbClr val="E6E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29100" y="5282317"/>
            <a:ext cx="396240" cy="1425647"/>
          </a:xfrm>
          <a:custGeom>
            <a:avLst/>
            <a:gdLst/>
            <a:ahLst/>
            <a:cxnLst/>
            <a:rect l="l" t="t" r="r" b="b"/>
            <a:pathLst>
              <a:path w="396239" h="1426845">
                <a:moveTo>
                  <a:pt x="396239" y="356615"/>
                </a:moveTo>
                <a:lnTo>
                  <a:pt x="297179" y="356615"/>
                </a:lnTo>
                <a:lnTo>
                  <a:pt x="297179" y="1426463"/>
                </a:lnTo>
                <a:lnTo>
                  <a:pt x="99059" y="1426463"/>
                </a:lnTo>
                <a:lnTo>
                  <a:pt x="99059" y="356615"/>
                </a:lnTo>
                <a:lnTo>
                  <a:pt x="0" y="356615"/>
                </a:lnTo>
                <a:lnTo>
                  <a:pt x="198119" y="0"/>
                </a:lnTo>
                <a:lnTo>
                  <a:pt x="396239" y="356615"/>
                </a:lnTo>
                <a:close/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1478280498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2700" y="2071668"/>
            <a:ext cx="8209915" cy="3517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287655">
              <a:lnSpc>
                <a:spcPct val="100699"/>
              </a:lnSpc>
            </a:pPr>
            <a:r>
              <a:rPr sz="2850" spc="10" dirty="0">
                <a:latin typeface="Arial"/>
                <a:cs typeface="Arial"/>
              </a:rPr>
              <a:t>M</a:t>
            </a:r>
            <a:r>
              <a:rPr sz="2850" spc="5" dirty="0">
                <a:latin typeface="Arial"/>
                <a:cs typeface="Arial"/>
              </a:rPr>
              <a:t>as 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que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a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on</a:t>
            </a:r>
            <a:r>
              <a:rPr sz="2850" spc="-5" dirty="0">
                <a:latin typeface="Arial"/>
                <a:cs typeface="Arial"/>
              </a:rPr>
              <a:t>t</a:t>
            </a:r>
            <a:r>
              <a:rPr sz="2850" spc="15" dirty="0">
                <a:latin typeface="Arial"/>
                <a:cs typeface="Arial"/>
              </a:rPr>
              <a:t>e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du</a:t>
            </a:r>
            <a:r>
              <a:rPr sz="2850" spc="10" dirty="0">
                <a:latin typeface="Arial"/>
                <a:cs typeface="Arial"/>
              </a:rPr>
              <a:t>r</a:t>
            </a:r>
            <a:r>
              <a:rPr sz="2850" spc="5" dirty="0">
                <a:latin typeface="Arial"/>
                <a:cs typeface="Arial"/>
              </a:rPr>
              <a:t>an</a:t>
            </a:r>
            <a:r>
              <a:rPr sz="2850" spc="-5" dirty="0">
                <a:latin typeface="Arial"/>
                <a:cs typeface="Arial"/>
              </a:rPr>
              <a:t>t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a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10" dirty="0">
                <a:latin typeface="Arial"/>
                <a:cs typeface="Arial"/>
              </a:rPr>
              <a:t>x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u</a:t>
            </a:r>
            <a:r>
              <a:rPr sz="2850" spc="10" dirty="0">
                <a:latin typeface="Arial"/>
                <a:cs typeface="Arial"/>
              </a:rPr>
              <a:t>ç</a:t>
            </a:r>
            <a:r>
              <a:rPr sz="2850" spc="5" dirty="0">
                <a:latin typeface="Arial"/>
                <a:cs typeface="Arial"/>
              </a:rPr>
              <a:t>ão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de</a:t>
            </a:r>
            <a:r>
              <a:rPr sz="2850" spc="1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u</a:t>
            </a:r>
            <a:r>
              <a:rPr sz="2850" spc="10" dirty="0">
                <a:latin typeface="Arial"/>
                <a:cs typeface="Arial"/>
              </a:rPr>
              <a:t>m</a:t>
            </a:r>
            <a:r>
              <a:rPr sz="2850" spc="5" dirty="0">
                <a:latin typeface="Arial"/>
                <a:cs typeface="Arial"/>
              </a:rPr>
              <a:t>a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-5" dirty="0">
                <a:latin typeface="Arial"/>
                <a:cs typeface="Arial"/>
              </a:rPr>
              <a:t>f</a:t>
            </a:r>
            <a:r>
              <a:rPr sz="2850" spc="5" dirty="0">
                <a:latin typeface="Arial"/>
                <a:cs typeface="Arial"/>
              </a:rPr>
              <a:t>un</a:t>
            </a:r>
            <a:r>
              <a:rPr sz="2850" spc="10" dirty="0">
                <a:latin typeface="Arial"/>
                <a:cs typeface="Arial"/>
              </a:rPr>
              <a:t>ç</a:t>
            </a:r>
            <a:r>
              <a:rPr sz="2850" spc="5" dirty="0">
                <a:latin typeface="Arial"/>
                <a:cs typeface="Arial"/>
              </a:rPr>
              <a:t>ão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r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u</a:t>
            </a:r>
            <a:r>
              <a:rPr sz="2850" spc="-5" dirty="0">
                <a:latin typeface="Arial"/>
                <a:cs typeface="Arial"/>
              </a:rPr>
              <a:t>r</a:t>
            </a:r>
            <a:r>
              <a:rPr sz="2850" spc="10" dirty="0">
                <a:latin typeface="Arial"/>
                <a:cs typeface="Arial"/>
              </a:rPr>
              <a:t>s</a:t>
            </a:r>
            <a:r>
              <a:rPr sz="2850" spc="-15" dirty="0">
                <a:latin typeface="Arial"/>
                <a:cs typeface="Arial"/>
              </a:rPr>
              <a:t>i</a:t>
            </a:r>
            <a:r>
              <a:rPr sz="2850" spc="10" dirty="0">
                <a:latin typeface="Arial"/>
                <a:cs typeface="Arial"/>
              </a:rPr>
              <a:t>v</a:t>
            </a:r>
            <a:r>
              <a:rPr sz="2850" spc="5" dirty="0">
                <a:latin typeface="Arial"/>
                <a:cs typeface="Arial"/>
              </a:rPr>
              <a:t>a?</a:t>
            </a:r>
            <a:endParaRPr sz="28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800" dirty="0">
              <a:latin typeface="Times New Roman"/>
              <a:cs typeface="Times New Roman"/>
            </a:endParaRPr>
          </a:p>
          <a:p>
            <a:pPr marL="12700" marR="5080">
              <a:lnSpc>
                <a:spcPct val="100400"/>
              </a:lnSpc>
              <a:spcBef>
                <a:spcPts val="1615"/>
              </a:spcBef>
            </a:pPr>
            <a:r>
              <a:rPr sz="2850" spc="5" dirty="0">
                <a:latin typeface="Arial"/>
                <a:cs typeface="Arial"/>
              </a:rPr>
              <a:t>Suponha</a:t>
            </a:r>
            <a:r>
              <a:rPr sz="2850" spc="1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que</a:t>
            </a:r>
            <a:r>
              <a:rPr sz="2850" spc="10" dirty="0">
                <a:latin typeface="Arial"/>
                <a:cs typeface="Arial"/>
              </a:rPr>
              <a:t> </a:t>
            </a:r>
            <a:r>
              <a:rPr sz="2850" spc="-5" dirty="0">
                <a:latin typeface="Arial"/>
                <a:cs typeface="Arial"/>
              </a:rPr>
              <a:t>f</a:t>
            </a:r>
            <a:r>
              <a:rPr sz="2850" spc="5" dirty="0">
                <a:latin typeface="Arial"/>
                <a:cs typeface="Arial"/>
              </a:rPr>
              <a:t>un</a:t>
            </a:r>
            <a:r>
              <a:rPr sz="2850" spc="20" dirty="0">
                <a:latin typeface="Arial"/>
                <a:cs typeface="Arial"/>
              </a:rPr>
              <a:t>ç</a:t>
            </a:r>
            <a:r>
              <a:rPr sz="2850" spc="5" dirty="0">
                <a:latin typeface="Arial"/>
                <a:cs typeface="Arial"/>
              </a:rPr>
              <a:t>ão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ha</a:t>
            </a:r>
            <a:r>
              <a:rPr sz="2850" spc="10" dirty="0">
                <a:latin typeface="Arial"/>
                <a:cs typeface="Arial"/>
              </a:rPr>
              <a:t>m</a:t>
            </a:r>
            <a:r>
              <a:rPr sz="2850" spc="5" dirty="0">
                <a:latin typeface="Arial"/>
                <a:cs typeface="Arial"/>
              </a:rPr>
              <a:t>ada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10" dirty="0">
                <a:latin typeface="Arial"/>
                <a:cs typeface="Arial"/>
              </a:rPr>
              <a:t>m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5" dirty="0">
                <a:latin typeface="Arial"/>
                <a:cs typeface="Arial"/>
              </a:rPr>
              <a:t>a</a:t>
            </a:r>
            <a:r>
              <a:rPr sz="2850" spc="-5" dirty="0">
                <a:latin typeface="Arial"/>
                <a:cs typeface="Arial"/>
              </a:rPr>
              <a:t>l</a:t>
            </a:r>
            <a:r>
              <a:rPr sz="2850" spc="5" dirty="0">
                <a:latin typeface="Arial"/>
                <a:cs typeface="Arial"/>
              </a:rPr>
              <a:t>gu</a:t>
            </a:r>
            <a:r>
              <a:rPr sz="2850" spc="10" dirty="0">
                <a:latin typeface="Arial"/>
                <a:cs typeface="Arial"/>
              </a:rPr>
              <a:t>m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pon</a:t>
            </a:r>
            <a:r>
              <a:rPr sz="2850" spc="-5" dirty="0">
                <a:latin typeface="Arial"/>
                <a:cs typeface="Arial"/>
              </a:rPr>
              <a:t>t</a:t>
            </a:r>
            <a:r>
              <a:rPr sz="2850" spc="5" dirty="0">
                <a:latin typeface="Arial"/>
                <a:cs typeface="Arial"/>
              </a:rPr>
              <a:t>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do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ód</a:t>
            </a:r>
            <a:r>
              <a:rPr sz="2850" spc="-5" dirty="0">
                <a:latin typeface="Arial"/>
                <a:cs typeface="Arial"/>
              </a:rPr>
              <a:t>i</a:t>
            </a:r>
            <a:r>
              <a:rPr sz="2850" spc="5" dirty="0">
                <a:latin typeface="Arial"/>
                <a:cs typeface="Arial"/>
              </a:rPr>
              <a:t>go</a:t>
            </a:r>
            <a:r>
              <a:rPr sz="2850" dirty="0">
                <a:latin typeface="Arial"/>
                <a:cs typeface="Arial"/>
              </a:rPr>
              <a:t>:</a:t>
            </a:r>
          </a:p>
          <a:p>
            <a:pPr>
              <a:lnSpc>
                <a:spcPct val="100000"/>
              </a:lnSpc>
            </a:pPr>
            <a:endParaRPr sz="2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89"/>
              </a:spcBef>
            </a:pPr>
            <a:r>
              <a:rPr sz="2850" spc="5" dirty="0" err="1" smtClean="0">
                <a:solidFill>
                  <a:srgbClr val="FF3200"/>
                </a:solidFill>
                <a:latin typeface="Arial"/>
                <a:cs typeface="Arial"/>
              </a:rPr>
              <a:t>Fa</a:t>
            </a:r>
            <a:r>
              <a:rPr sz="2850" spc="-5" dirty="0" err="1" smtClean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sz="2850" spc="5" dirty="0" err="1" smtClean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2850" spc="10" dirty="0" err="1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850" spc="-5" dirty="0" err="1" smtClean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2850" spc="5" dirty="0" err="1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2850" spc="-15" dirty="0" err="1" smtClean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2850" spc="15" dirty="0" err="1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850" spc="5" dirty="0" err="1" smtClean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2850" spc="10" dirty="0" err="1" smtClean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2850" spc="-10" dirty="0" err="1" smtClean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2850" spc="10" dirty="0" err="1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850" spc="-5" dirty="0" err="1" smtClean="0">
                <a:solidFill>
                  <a:srgbClr val="FF3200"/>
                </a:solidFill>
                <a:latin typeface="Arial"/>
                <a:cs typeface="Arial"/>
              </a:rPr>
              <a:t>si</a:t>
            </a:r>
            <a:r>
              <a:rPr sz="2850" spc="10" dirty="0" err="1" smtClean="0">
                <a:solidFill>
                  <a:srgbClr val="FF3200"/>
                </a:solidFill>
                <a:latin typeface="Arial"/>
                <a:cs typeface="Arial"/>
              </a:rPr>
              <a:t>v</a:t>
            </a:r>
            <a:r>
              <a:rPr sz="2850" spc="5" dirty="0" err="1" smtClean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2850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2850" spc="-10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2850" spc="1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r>
              <a:rPr sz="2850" dirty="0">
                <a:solidFill>
                  <a:srgbClr val="FF3200"/>
                </a:solidFill>
                <a:latin typeface="Arial"/>
                <a:cs typeface="Arial"/>
              </a:rPr>
              <a:t>;</a:t>
            </a:r>
            <a:endParaRPr sz="28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914095"/>
          </a:xfrm>
          <a:prstGeom prst="rect">
            <a:avLst/>
          </a:prstGeom>
        </p:spPr>
        <p:txBody>
          <a:bodyPr vert="horz" wrap="square" lIns="0" tIns="31851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i</a:t>
            </a:r>
            <a:r>
              <a:rPr spc="-15" dirty="0"/>
              <a:t>m</a:t>
            </a:r>
            <a:r>
              <a:rPr dirty="0"/>
              <a:t>ul</a:t>
            </a:r>
            <a:r>
              <a:rPr spc="-10" dirty="0"/>
              <a:t>a</a:t>
            </a:r>
            <a:r>
              <a:rPr dirty="0"/>
              <a:t>nd</a:t>
            </a:r>
            <a:r>
              <a:rPr spc="-5" dirty="0"/>
              <a:t>o</a:t>
            </a:r>
            <a:r>
              <a:rPr spc="20" dirty="0"/>
              <a:t> 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</a:t>
            </a:r>
          </a:p>
        </p:txBody>
      </p:sp>
    </p:spTree>
    <p:extLst>
      <p:ext uri="{BB962C8B-B14F-4D97-AF65-F5344CB8AC3E}">
        <p14:creationId xmlns:p14="http://schemas.microsoft.com/office/powerpoint/2010/main" val="3062943556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6111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04588" y="3756552"/>
            <a:ext cx="5316220" cy="3436907"/>
          </a:xfrm>
          <a:prstGeom prst="rect">
            <a:avLst/>
          </a:prstGeom>
          <a:ln w="10495">
            <a:solidFill>
              <a:srgbClr val="D8D8EC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370"/>
              </a:spcBef>
            </a:pPr>
            <a:r>
              <a:rPr sz="1950" u="sng" spc="5" dirty="0" err="1" smtClean="0">
                <a:latin typeface="Arial"/>
                <a:cs typeface="Arial"/>
              </a:rPr>
              <a:t>i</a:t>
            </a:r>
            <a:r>
              <a:rPr sz="1950" u="sng" spc="15" dirty="0" err="1" smtClean="0">
                <a:latin typeface="Arial"/>
                <a:cs typeface="Arial"/>
              </a:rPr>
              <a:t>n</a:t>
            </a:r>
            <a:r>
              <a:rPr sz="1950" u="sng" spc="5" dirty="0" err="1" smtClean="0">
                <a:latin typeface="Arial"/>
                <a:cs typeface="Arial"/>
              </a:rPr>
              <a:t>t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F</a:t>
            </a:r>
            <a:r>
              <a:rPr sz="1950" spc="5" dirty="0">
                <a:latin typeface="Arial"/>
                <a:cs typeface="Arial"/>
              </a:rPr>
              <a:t>at</a:t>
            </a:r>
            <a:r>
              <a:rPr sz="1950" spc="15" dirty="0">
                <a:latin typeface="Arial"/>
                <a:cs typeface="Arial"/>
              </a:rPr>
              <a:t>o</a:t>
            </a:r>
            <a:r>
              <a:rPr sz="1950" spc="5" dirty="0">
                <a:latin typeface="Arial"/>
                <a:cs typeface="Arial"/>
              </a:rPr>
              <a:t>rial</a:t>
            </a:r>
            <a:r>
              <a:rPr sz="1950" spc="15" dirty="0">
                <a:latin typeface="Arial"/>
                <a:cs typeface="Arial"/>
              </a:rPr>
              <a:t>Recu</a:t>
            </a:r>
            <a:r>
              <a:rPr sz="1950" spc="5" dirty="0">
                <a:latin typeface="Arial"/>
                <a:cs typeface="Arial"/>
              </a:rPr>
              <a:t>r</a:t>
            </a:r>
            <a:r>
              <a:rPr sz="1950" spc="15" dirty="0">
                <a:latin typeface="Arial"/>
                <a:cs typeface="Arial"/>
              </a:rPr>
              <a:t>s</a:t>
            </a:r>
            <a:r>
              <a:rPr sz="1950" spc="-5" dirty="0">
                <a:latin typeface="Arial"/>
                <a:cs typeface="Arial"/>
              </a:rPr>
              <a:t>i</a:t>
            </a:r>
            <a:r>
              <a:rPr sz="1950" spc="15" dirty="0">
                <a:latin typeface="Arial"/>
                <a:cs typeface="Arial"/>
              </a:rPr>
              <a:t>vo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u="sng" spc="5" dirty="0" err="1" smtClean="0">
                <a:latin typeface="Arial"/>
                <a:cs typeface="Arial"/>
              </a:rPr>
              <a:t>int</a:t>
            </a:r>
            <a:r>
              <a:rPr sz="1950" spc="15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  <a:tabLst>
                <a:tab pos="648335" algn="l"/>
              </a:tabLst>
            </a:pPr>
            <a:r>
              <a:rPr lang="pt-BR" sz="1950" u="sng" spc="15" dirty="0" err="1" smtClean="0">
                <a:latin typeface="Arial"/>
                <a:cs typeface="Arial"/>
              </a:rPr>
              <a:t>if</a:t>
            </a:r>
            <a:r>
              <a:rPr sz="1950" dirty="0">
                <a:latin typeface="Arial"/>
                <a:cs typeface="Arial"/>
              </a:rPr>
              <a:t>	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 smtClean="0">
                <a:latin typeface="Arial"/>
                <a:cs typeface="Arial"/>
              </a:rPr>
              <a:t>=</a:t>
            </a:r>
            <a:r>
              <a:rPr lang="pt-BR" sz="1950" spc="15" dirty="0" smtClean="0">
                <a:latin typeface="Arial"/>
                <a:cs typeface="Arial"/>
              </a:rPr>
              <a:t>=</a:t>
            </a:r>
            <a:r>
              <a:rPr sz="1950" spc="5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latin typeface="Arial"/>
                <a:cs typeface="Arial"/>
              </a:rPr>
              <a:t>r</a:t>
            </a:r>
            <a:r>
              <a:rPr sz="1950" u="sng" spc="15" dirty="0" smtClean="0">
                <a:latin typeface="Arial"/>
                <a:cs typeface="Arial"/>
              </a:rPr>
              <a:t>e</a:t>
            </a:r>
            <a:r>
              <a:rPr sz="1950" u="sng" spc="5" dirty="0" smtClean="0">
                <a:latin typeface="Arial"/>
                <a:cs typeface="Arial"/>
              </a:rPr>
              <a:t>t</a:t>
            </a:r>
            <a:r>
              <a:rPr lang="pt-BR" sz="1950" u="sng" spc="5" dirty="0" smtClean="0">
                <a:latin typeface="Arial"/>
                <a:cs typeface="Arial"/>
              </a:rPr>
              <a:t>u</a:t>
            </a:r>
            <a:r>
              <a:rPr sz="1950" u="sng" spc="5" dirty="0" err="1" smtClean="0">
                <a:latin typeface="Arial"/>
                <a:cs typeface="Arial"/>
              </a:rPr>
              <a:t>r</a:t>
            </a:r>
            <a:r>
              <a:rPr sz="1950" u="sng" spc="15" dirty="0" err="1" smtClean="0">
                <a:latin typeface="Arial"/>
                <a:cs typeface="Arial"/>
              </a:rPr>
              <a:t>n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1;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35"/>
              </a:spcBef>
            </a:pPr>
            <a:r>
              <a:rPr lang="pt-BR" sz="1950" u="sng" spc="15" dirty="0" err="1" smtClean="0">
                <a:latin typeface="Arial"/>
                <a:cs typeface="Arial"/>
              </a:rPr>
              <a:t>else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latin typeface="Arial"/>
                <a:cs typeface="Arial"/>
              </a:rPr>
              <a:t>r</a:t>
            </a:r>
            <a:r>
              <a:rPr sz="1950" u="sng" spc="15" dirty="0" smtClean="0">
                <a:latin typeface="Arial"/>
                <a:cs typeface="Arial"/>
              </a:rPr>
              <a:t>e</a:t>
            </a:r>
            <a:r>
              <a:rPr sz="1950" u="sng" spc="5" dirty="0" smtClean="0">
                <a:latin typeface="Arial"/>
                <a:cs typeface="Arial"/>
              </a:rPr>
              <a:t>t</a:t>
            </a:r>
            <a:r>
              <a:rPr lang="pt-BR" sz="1950" u="sng" spc="5" dirty="0" err="1" smtClean="0">
                <a:latin typeface="Arial"/>
                <a:cs typeface="Arial"/>
              </a:rPr>
              <a:t>urn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0" dirty="0">
                <a:latin typeface="Arial"/>
                <a:cs typeface="Arial"/>
              </a:rPr>
              <a:t>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Fa</a:t>
            </a:r>
            <a:r>
              <a:rPr sz="1950" spc="5" dirty="0">
                <a:latin typeface="Arial"/>
                <a:cs typeface="Arial"/>
              </a:rPr>
              <a:t>t</a:t>
            </a:r>
            <a:r>
              <a:rPr sz="1950" spc="15" dirty="0">
                <a:latin typeface="Arial"/>
                <a:cs typeface="Arial"/>
              </a:rPr>
              <a:t>o</a:t>
            </a:r>
            <a:r>
              <a:rPr sz="1950" spc="5" dirty="0">
                <a:latin typeface="Arial"/>
                <a:cs typeface="Arial"/>
              </a:rPr>
              <a:t>ri</a:t>
            </a:r>
            <a:r>
              <a:rPr sz="1950" spc="15" dirty="0">
                <a:latin typeface="Arial"/>
                <a:cs typeface="Arial"/>
              </a:rPr>
              <a:t>a</a:t>
            </a:r>
            <a:r>
              <a:rPr sz="1950" spc="5" dirty="0">
                <a:latin typeface="Arial"/>
                <a:cs typeface="Arial"/>
              </a:rPr>
              <a:t>l</a:t>
            </a:r>
            <a:r>
              <a:rPr sz="1950" spc="15" dirty="0">
                <a:latin typeface="Arial"/>
                <a:cs typeface="Arial"/>
              </a:rPr>
              <a:t>Re</a:t>
            </a:r>
            <a:r>
              <a:rPr sz="1950" dirty="0">
                <a:latin typeface="Arial"/>
                <a:cs typeface="Arial"/>
              </a:rPr>
              <a:t>c</a:t>
            </a:r>
            <a:r>
              <a:rPr sz="1950" spc="15" dirty="0">
                <a:latin typeface="Arial"/>
                <a:cs typeface="Arial"/>
              </a:rPr>
              <a:t>u</a:t>
            </a:r>
            <a:r>
              <a:rPr sz="1950" spc="5" dirty="0">
                <a:latin typeface="Arial"/>
                <a:cs typeface="Arial"/>
              </a:rPr>
              <a:t>r</a:t>
            </a:r>
            <a:r>
              <a:rPr sz="1950" spc="15" dirty="0">
                <a:latin typeface="Arial"/>
                <a:cs typeface="Arial"/>
              </a:rPr>
              <a:t>s</a:t>
            </a:r>
            <a:r>
              <a:rPr sz="1950" spc="5" dirty="0">
                <a:latin typeface="Arial"/>
                <a:cs typeface="Arial"/>
              </a:rPr>
              <a:t>i</a:t>
            </a:r>
            <a:r>
              <a:rPr sz="1950" spc="15" dirty="0">
                <a:latin typeface="Arial"/>
                <a:cs typeface="Arial"/>
              </a:rPr>
              <a:t>vo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-10" dirty="0">
                <a:latin typeface="Arial"/>
                <a:cs typeface="Arial"/>
              </a:rPr>
              <a:t>(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-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r>
              <a:rPr sz="1950" spc="-10" dirty="0">
                <a:latin typeface="Arial"/>
                <a:cs typeface="Arial"/>
              </a:rPr>
              <a:t>)</a:t>
            </a:r>
            <a:r>
              <a:rPr sz="1950" spc="5" dirty="0">
                <a:latin typeface="Arial"/>
                <a:cs typeface="Arial"/>
              </a:rPr>
              <a:t>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5498" y="5010508"/>
            <a:ext cx="2999740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 err="1" smtClean="0">
                <a:solidFill>
                  <a:srgbClr val="FF3200"/>
                </a:solidFill>
                <a:latin typeface="Arial"/>
                <a:cs typeface="Arial"/>
              </a:rPr>
              <a:t>Fa</a:t>
            </a:r>
            <a:r>
              <a:rPr sz="1950" spc="5" dirty="0" err="1" smtClean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sz="1950" spc="15" dirty="0" err="1" smtClean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1950" spc="5" dirty="0" err="1" smtClean="0">
                <a:solidFill>
                  <a:srgbClr val="FF3200"/>
                </a:solidFill>
                <a:latin typeface="Arial"/>
                <a:cs typeface="Arial"/>
              </a:rPr>
              <a:t>ri</a:t>
            </a:r>
            <a:r>
              <a:rPr sz="1950" spc="15" dirty="0" err="1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950" spc="-5" dirty="0" err="1" smtClean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950" spc="15" dirty="0" err="1" smtClean="0">
                <a:solidFill>
                  <a:srgbClr val="FF3200"/>
                </a:solidFill>
                <a:latin typeface="Arial"/>
                <a:cs typeface="Arial"/>
              </a:rPr>
              <a:t>Recu</a:t>
            </a:r>
            <a:r>
              <a:rPr sz="1950" spc="5" dirty="0" err="1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spc="15" dirty="0" err="1" smtClean="0">
                <a:solidFill>
                  <a:srgbClr val="FF3200"/>
                </a:solidFill>
                <a:latin typeface="Arial"/>
                <a:cs typeface="Arial"/>
              </a:rPr>
              <a:t>s</a:t>
            </a:r>
            <a:r>
              <a:rPr sz="1950" spc="5" dirty="0" err="1" smtClean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1950" dirty="0" err="1" smtClean="0">
                <a:solidFill>
                  <a:srgbClr val="FF3200"/>
                </a:solidFill>
                <a:latin typeface="Arial"/>
                <a:cs typeface="Arial"/>
              </a:rPr>
              <a:t>v</a:t>
            </a:r>
            <a:r>
              <a:rPr sz="1950" spc="15" dirty="0" err="1" smtClean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1950" spc="10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;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87195" y="2664761"/>
            <a:ext cx="1231900" cy="2305652"/>
          </a:xfrm>
          <a:custGeom>
            <a:avLst/>
            <a:gdLst/>
            <a:ahLst/>
            <a:cxnLst/>
            <a:rect l="l" t="t" r="r" b="b"/>
            <a:pathLst>
              <a:path w="1231900" h="2307590">
                <a:moveTo>
                  <a:pt x="138683" y="48767"/>
                </a:moveTo>
                <a:lnTo>
                  <a:pt x="25907" y="0"/>
                </a:lnTo>
                <a:lnTo>
                  <a:pt x="0" y="120395"/>
                </a:lnTo>
                <a:lnTo>
                  <a:pt x="48767" y="95208"/>
                </a:lnTo>
                <a:lnTo>
                  <a:pt x="48767" y="77723"/>
                </a:lnTo>
                <a:lnTo>
                  <a:pt x="76199" y="62483"/>
                </a:lnTo>
                <a:lnTo>
                  <a:pt x="83780" y="77124"/>
                </a:lnTo>
                <a:lnTo>
                  <a:pt x="138683" y="48767"/>
                </a:lnTo>
                <a:close/>
              </a:path>
              <a:path w="1231900" h="2307590">
                <a:moveTo>
                  <a:pt x="83780" y="77124"/>
                </a:moveTo>
                <a:lnTo>
                  <a:pt x="76199" y="62483"/>
                </a:lnTo>
                <a:lnTo>
                  <a:pt x="48767" y="77723"/>
                </a:lnTo>
                <a:lnTo>
                  <a:pt x="55906" y="91520"/>
                </a:lnTo>
                <a:lnTo>
                  <a:pt x="83780" y="77124"/>
                </a:lnTo>
                <a:close/>
              </a:path>
              <a:path w="1231900" h="2307590">
                <a:moveTo>
                  <a:pt x="55906" y="91520"/>
                </a:moveTo>
                <a:lnTo>
                  <a:pt x="48767" y="77723"/>
                </a:lnTo>
                <a:lnTo>
                  <a:pt x="48767" y="95208"/>
                </a:lnTo>
                <a:lnTo>
                  <a:pt x="55906" y="91520"/>
                </a:lnTo>
                <a:close/>
              </a:path>
              <a:path w="1231900" h="2307590">
                <a:moveTo>
                  <a:pt x="1231391" y="2293619"/>
                </a:moveTo>
                <a:lnTo>
                  <a:pt x="83780" y="77124"/>
                </a:lnTo>
                <a:lnTo>
                  <a:pt x="55906" y="91520"/>
                </a:lnTo>
                <a:lnTo>
                  <a:pt x="1202435" y="2307335"/>
                </a:lnTo>
                <a:lnTo>
                  <a:pt x="1231391" y="2293619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936496" y="3506062"/>
            <a:ext cx="1657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914095"/>
          </a:xfrm>
          <a:prstGeom prst="rect">
            <a:avLst/>
          </a:prstGeom>
        </p:spPr>
        <p:txBody>
          <a:bodyPr vert="horz" wrap="square" lIns="0" tIns="31851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i</a:t>
            </a:r>
            <a:r>
              <a:rPr spc="-15" dirty="0"/>
              <a:t>m</a:t>
            </a:r>
            <a:r>
              <a:rPr dirty="0"/>
              <a:t>ul</a:t>
            </a:r>
            <a:r>
              <a:rPr spc="-10" dirty="0"/>
              <a:t>a</a:t>
            </a:r>
            <a:r>
              <a:rPr dirty="0"/>
              <a:t>nd</a:t>
            </a:r>
            <a:r>
              <a:rPr spc="-5" dirty="0"/>
              <a:t>o</a:t>
            </a:r>
            <a:r>
              <a:rPr spc="20" dirty="0"/>
              <a:t> 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</a:t>
            </a:r>
          </a:p>
        </p:txBody>
      </p:sp>
    </p:spTree>
    <p:extLst>
      <p:ext uri="{BB962C8B-B14F-4D97-AF65-F5344CB8AC3E}">
        <p14:creationId xmlns:p14="http://schemas.microsoft.com/office/powerpoint/2010/main" val="741658265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04588" y="3756552"/>
            <a:ext cx="5316220" cy="3436907"/>
          </a:xfrm>
          <a:prstGeom prst="rect">
            <a:avLst/>
          </a:prstGeom>
          <a:ln w="10495">
            <a:solidFill>
              <a:srgbClr val="D8D8EC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370"/>
              </a:spcBef>
            </a:pPr>
            <a:r>
              <a:rPr sz="1950" u="sng" spc="5" dirty="0" err="1" smtClean="0">
                <a:latin typeface="Arial"/>
                <a:cs typeface="Arial"/>
              </a:rPr>
              <a:t>i</a:t>
            </a:r>
            <a:r>
              <a:rPr sz="1950" u="sng" spc="15" dirty="0" err="1" smtClean="0">
                <a:latin typeface="Arial"/>
                <a:cs typeface="Arial"/>
              </a:rPr>
              <a:t>n</a:t>
            </a:r>
            <a:r>
              <a:rPr sz="1950" u="sng" spc="5" dirty="0" err="1" smtClean="0">
                <a:latin typeface="Arial"/>
                <a:cs typeface="Arial"/>
              </a:rPr>
              <a:t>t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15" dirty="0" err="1" smtClean="0">
                <a:latin typeface="Arial"/>
                <a:cs typeface="Arial"/>
              </a:rPr>
              <a:t>F</a:t>
            </a:r>
            <a:r>
              <a:rPr sz="1950" spc="5" dirty="0" err="1" smtClean="0">
                <a:latin typeface="Arial"/>
                <a:cs typeface="Arial"/>
              </a:rPr>
              <a:t>at</a:t>
            </a:r>
            <a:r>
              <a:rPr sz="1950" spc="15" dirty="0" err="1" smtClean="0">
                <a:latin typeface="Arial"/>
                <a:cs typeface="Arial"/>
              </a:rPr>
              <a:t>o</a:t>
            </a:r>
            <a:r>
              <a:rPr sz="1950" spc="5" dirty="0" err="1" smtClean="0">
                <a:latin typeface="Arial"/>
                <a:cs typeface="Arial"/>
              </a:rPr>
              <a:t>rial</a:t>
            </a:r>
            <a:r>
              <a:rPr sz="1950" spc="15" dirty="0" err="1" smtClean="0">
                <a:latin typeface="Arial"/>
                <a:cs typeface="Arial"/>
              </a:rPr>
              <a:t>Recu</a:t>
            </a:r>
            <a:r>
              <a:rPr sz="1950" spc="5" dirty="0" err="1" smtClean="0">
                <a:latin typeface="Arial"/>
                <a:cs typeface="Arial"/>
              </a:rPr>
              <a:t>r</a:t>
            </a:r>
            <a:r>
              <a:rPr sz="1950" spc="15" dirty="0" err="1" smtClean="0">
                <a:latin typeface="Arial"/>
                <a:cs typeface="Arial"/>
              </a:rPr>
              <a:t>s</a:t>
            </a:r>
            <a:r>
              <a:rPr sz="1950" spc="-5" dirty="0" err="1" smtClean="0">
                <a:latin typeface="Arial"/>
                <a:cs typeface="Arial"/>
              </a:rPr>
              <a:t>i</a:t>
            </a:r>
            <a:r>
              <a:rPr sz="1950" spc="15" dirty="0" err="1" smtClean="0">
                <a:latin typeface="Arial"/>
                <a:cs typeface="Arial"/>
              </a:rPr>
              <a:t>vo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  <a:tabLst>
                <a:tab pos="648335" algn="l"/>
              </a:tabLst>
            </a:pPr>
            <a:r>
              <a:rPr lang="pt-BR" sz="1950" u="sng" spc="15" dirty="0" err="1" smtClean="0">
                <a:latin typeface="Arial"/>
                <a:cs typeface="Arial"/>
              </a:rPr>
              <a:t>if</a:t>
            </a:r>
            <a:r>
              <a:rPr sz="1950" dirty="0">
                <a:latin typeface="Arial"/>
                <a:cs typeface="Arial"/>
              </a:rPr>
              <a:t>	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 smtClean="0">
                <a:latin typeface="Arial"/>
                <a:cs typeface="Arial"/>
              </a:rPr>
              <a:t>=</a:t>
            </a:r>
            <a:r>
              <a:rPr lang="pt-BR" sz="1950" spc="15" dirty="0" smtClean="0">
                <a:latin typeface="Arial"/>
                <a:cs typeface="Arial"/>
              </a:rPr>
              <a:t>=</a:t>
            </a:r>
            <a:r>
              <a:rPr sz="1950" spc="5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latin typeface="Arial"/>
                <a:cs typeface="Arial"/>
              </a:rPr>
              <a:t>r</a:t>
            </a:r>
            <a:r>
              <a:rPr sz="1950" u="sng" spc="15" dirty="0" smtClean="0">
                <a:latin typeface="Arial"/>
                <a:cs typeface="Arial"/>
              </a:rPr>
              <a:t>e</a:t>
            </a:r>
            <a:r>
              <a:rPr sz="1950" u="sng" spc="5" dirty="0" smtClean="0"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latin typeface="Arial"/>
                <a:cs typeface="Arial"/>
              </a:rPr>
              <a:t>urn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1;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35"/>
              </a:spcBef>
            </a:pP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else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u="sng" spc="15" dirty="0" smtClean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*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Fa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ri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Re</a:t>
            </a:r>
            <a:r>
              <a:rPr sz="195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s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vo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-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71133" y="3264203"/>
            <a:ext cx="2622550" cy="345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Fator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220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2200" spc="1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ur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si</a:t>
            </a:r>
            <a:r>
              <a:rPr sz="2200" spc="-15" dirty="0">
                <a:solidFill>
                  <a:srgbClr val="FF3200"/>
                </a:solidFill>
                <a:latin typeface="Arial"/>
                <a:cs typeface="Arial"/>
              </a:rPr>
              <a:t>v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 (4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6111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914095"/>
          </a:xfrm>
          <a:prstGeom prst="rect">
            <a:avLst/>
          </a:prstGeom>
        </p:spPr>
        <p:txBody>
          <a:bodyPr vert="horz" wrap="square" lIns="0" tIns="31851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i</a:t>
            </a:r>
            <a:r>
              <a:rPr spc="-15" dirty="0"/>
              <a:t>m</a:t>
            </a:r>
            <a:r>
              <a:rPr dirty="0"/>
              <a:t>ul</a:t>
            </a:r>
            <a:r>
              <a:rPr spc="-10" dirty="0"/>
              <a:t>a</a:t>
            </a:r>
            <a:r>
              <a:rPr dirty="0"/>
              <a:t>nd</a:t>
            </a:r>
            <a:r>
              <a:rPr spc="-5" dirty="0"/>
              <a:t>o</a:t>
            </a:r>
            <a:r>
              <a:rPr spc="20" dirty="0"/>
              <a:t> 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</a:t>
            </a:r>
          </a:p>
        </p:txBody>
      </p:sp>
    </p:spTree>
    <p:extLst>
      <p:ext uri="{BB962C8B-B14F-4D97-AF65-F5344CB8AC3E}">
        <p14:creationId xmlns:p14="http://schemas.microsoft.com/office/powerpoint/2010/main" val="1591943544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04588" y="3756552"/>
            <a:ext cx="5316220" cy="3436907"/>
          </a:xfrm>
          <a:prstGeom prst="rect">
            <a:avLst/>
          </a:prstGeom>
          <a:ln w="10495">
            <a:solidFill>
              <a:srgbClr val="D8D8EC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370"/>
              </a:spcBef>
            </a:pPr>
            <a:r>
              <a:rPr sz="1950" u="sng" spc="5" dirty="0" err="1" smtClean="0">
                <a:latin typeface="Arial"/>
                <a:cs typeface="Arial"/>
              </a:rPr>
              <a:t>i</a:t>
            </a:r>
            <a:r>
              <a:rPr sz="1950" u="sng" spc="15" dirty="0" err="1" smtClean="0">
                <a:latin typeface="Arial"/>
                <a:cs typeface="Arial"/>
              </a:rPr>
              <a:t>n</a:t>
            </a:r>
            <a:r>
              <a:rPr sz="1950" u="sng" spc="5" dirty="0" err="1" smtClean="0">
                <a:latin typeface="Arial"/>
                <a:cs typeface="Arial"/>
              </a:rPr>
              <a:t>t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F</a:t>
            </a:r>
            <a:r>
              <a:rPr sz="1950" spc="5" dirty="0">
                <a:latin typeface="Arial"/>
                <a:cs typeface="Arial"/>
              </a:rPr>
              <a:t>at</a:t>
            </a:r>
            <a:r>
              <a:rPr sz="1950" spc="15" dirty="0">
                <a:latin typeface="Arial"/>
                <a:cs typeface="Arial"/>
              </a:rPr>
              <a:t>o</a:t>
            </a:r>
            <a:r>
              <a:rPr sz="1950" spc="5" dirty="0">
                <a:latin typeface="Arial"/>
                <a:cs typeface="Arial"/>
              </a:rPr>
              <a:t>rial</a:t>
            </a:r>
            <a:r>
              <a:rPr sz="1950" spc="15" dirty="0">
                <a:latin typeface="Arial"/>
                <a:cs typeface="Arial"/>
              </a:rPr>
              <a:t>Recu</a:t>
            </a:r>
            <a:r>
              <a:rPr sz="1950" spc="5" dirty="0">
                <a:latin typeface="Arial"/>
                <a:cs typeface="Arial"/>
              </a:rPr>
              <a:t>r</a:t>
            </a:r>
            <a:r>
              <a:rPr sz="1950" spc="15" dirty="0">
                <a:latin typeface="Arial"/>
                <a:cs typeface="Arial"/>
              </a:rPr>
              <a:t>s</a:t>
            </a:r>
            <a:r>
              <a:rPr sz="1950" spc="-5" dirty="0">
                <a:latin typeface="Arial"/>
                <a:cs typeface="Arial"/>
              </a:rPr>
              <a:t>i</a:t>
            </a:r>
            <a:r>
              <a:rPr sz="1950" spc="15" dirty="0">
                <a:latin typeface="Arial"/>
                <a:cs typeface="Arial"/>
              </a:rPr>
              <a:t>vo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  <a:tabLst>
                <a:tab pos="648335" algn="l"/>
              </a:tabLst>
            </a:pPr>
            <a:r>
              <a:rPr lang="pt-BR" sz="1950" u="sng" spc="15" dirty="0" err="1" smtClean="0">
                <a:latin typeface="Arial"/>
                <a:cs typeface="Arial"/>
              </a:rPr>
              <a:t>if</a:t>
            </a:r>
            <a:r>
              <a:rPr sz="1950" dirty="0">
                <a:latin typeface="Arial"/>
                <a:cs typeface="Arial"/>
              </a:rPr>
              <a:t>	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 smtClean="0">
                <a:latin typeface="Arial"/>
                <a:cs typeface="Arial"/>
              </a:rPr>
              <a:t>=</a:t>
            </a:r>
            <a:r>
              <a:rPr lang="pt-BR" sz="1950" spc="15" dirty="0" smtClean="0">
                <a:latin typeface="Arial"/>
                <a:cs typeface="Arial"/>
              </a:rPr>
              <a:t>=</a:t>
            </a:r>
            <a:r>
              <a:rPr sz="1950" spc="5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latin typeface="Arial"/>
                <a:cs typeface="Arial"/>
              </a:rPr>
              <a:t>r</a:t>
            </a:r>
            <a:r>
              <a:rPr sz="1950" u="sng" spc="15" dirty="0" smtClean="0">
                <a:latin typeface="Arial"/>
                <a:cs typeface="Arial"/>
              </a:rPr>
              <a:t>e</a:t>
            </a:r>
            <a:r>
              <a:rPr sz="1950" u="sng" spc="5" dirty="0" smtClean="0"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latin typeface="Arial"/>
                <a:cs typeface="Arial"/>
              </a:rPr>
              <a:t>urn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1;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35"/>
              </a:spcBef>
            </a:pP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else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u="sng" spc="15" dirty="0" smtClean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r>
              <a:rPr sz="195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*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Fa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ri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Re</a:t>
            </a:r>
            <a:r>
              <a:rPr sz="195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s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vo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-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71133" y="3264203"/>
            <a:ext cx="2622550" cy="345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Fator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220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2200" spc="1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ur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si</a:t>
            </a:r>
            <a:r>
              <a:rPr sz="2200" spc="-15" dirty="0">
                <a:solidFill>
                  <a:srgbClr val="FF3200"/>
                </a:solidFill>
                <a:latin typeface="Arial"/>
                <a:cs typeface="Arial"/>
              </a:rPr>
              <a:t>v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 (3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6111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04872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09344" y="2270375"/>
            <a:ext cx="795655" cy="157348"/>
          </a:xfrm>
          <a:custGeom>
            <a:avLst/>
            <a:gdLst/>
            <a:ahLst/>
            <a:cxnLst/>
            <a:rect l="l" t="t" r="r" b="b"/>
            <a:pathLst>
              <a:path w="79565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5655" h="157480">
                <a:moveTo>
                  <a:pt x="795527" y="79247"/>
                </a:moveTo>
                <a:lnTo>
                  <a:pt x="701039" y="0"/>
                </a:lnTo>
                <a:lnTo>
                  <a:pt x="701039" y="62483"/>
                </a:lnTo>
                <a:lnTo>
                  <a:pt x="716279" y="62483"/>
                </a:lnTo>
                <a:lnTo>
                  <a:pt x="716279" y="144435"/>
                </a:lnTo>
                <a:lnTo>
                  <a:pt x="795527" y="79247"/>
                </a:lnTo>
                <a:close/>
              </a:path>
              <a:path w="795655" h="157480">
                <a:moveTo>
                  <a:pt x="716279" y="144435"/>
                </a:moveTo>
                <a:lnTo>
                  <a:pt x="716279" y="94487"/>
                </a:lnTo>
                <a:lnTo>
                  <a:pt x="701039" y="94487"/>
                </a:lnTo>
                <a:lnTo>
                  <a:pt x="701039" y="156971"/>
                </a:lnTo>
                <a:lnTo>
                  <a:pt x="716279" y="144435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914095"/>
          </a:xfrm>
          <a:prstGeom prst="rect">
            <a:avLst/>
          </a:prstGeom>
        </p:spPr>
        <p:txBody>
          <a:bodyPr vert="horz" wrap="square" lIns="0" tIns="31851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i</a:t>
            </a:r>
            <a:r>
              <a:rPr spc="-15" dirty="0"/>
              <a:t>m</a:t>
            </a:r>
            <a:r>
              <a:rPr dirty="0"/>
              <a:t>ul</a:t>
            </a:r>
            <a:r>
              <a:rPr spc="-10" dirty="0"/>
              <a:t>a</a:t>
            </a:r>
            <a:r>
              <a:rPr dirty="0"/>
              <a:t>nd</a:t>
            </a:r>
            <a:r>
              <a:rPr spc="-5" dirty="0"/>
              <a:t>o</a:t>
            </a:r>
            <a:r>
              <a:rPr spc="20" dirty="0"/>
              <a:t> 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</a:t>
            </a:r>
          </a:p>
        </p:txBody>
      </p:sp>
    </p:spTree>
    <p:extLst>
      <p:ext uri="{BB962C8B-B14F-4D97-AF65-F5344CB8AC3E}">
        <p14:creationId xmlns:p14="http://schemas.microsoft.com/office/powerpoint/2010/main" val="3332056347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04588" y="3756552"/>
            <a:ext cx="5316220" cy="3436907"/>
          </a:xfrm>
          <a:prstGeom prst="rect">
            <a:avLst/>
          </a:prstGeom>
          <a:ln w="10495">
            <a:solidFill>
              <a:srgbClr val="D8D8EC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370"/>
              </a:spcBef>
            </a:pPr>
            <a:r>
              <a:rPr sz="1950" u="sng" spc="5" dirty="0" err="1" smtClean="0">
                <a:latin typeface="Arial"/>
                <a:cs typeface="Arial"/>
              </a:rPr>
              <a:t>i</a:t>
            </a:r>
            <a:r>
              <a:rPr sz="1950" u="sng" spc="15" dirty="0" err="1" smtClean="0">
                <a:latin typeface="Arial"/>
                <a:cs typeface="Arial"/>
              </a:rPr>
              <a:t>n</a:t>
            </a:r>
            <a:r>
              <a:rPr sz="1950" u="sng" spc="5" dirty="0" err="1" smtClean="0">
                <a:latin typeface="Arial"/>
                <a:cs typeface="Arial"/>
              </a:rPr>
              <a:t>t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F</a:t>
            </a:r>
            <a:r>
              <a:rPr sz="1950" spc="5" dirty="0">
                <a:latin typeface="Arial"/>
                <a:cs typeface="Arial"/>
              </a:rPr>
              <a:t>at</a:t>
            </a:r>
            <a:r>
              <a:rPr sz="1950" spc="15" dirty="0">
                <a:latin typeface="Arial"/>
                <a:cs typeface="Arial"/>
              </a:rPr>
              <a:t>o</a:t>
            </a:r>
            <a:r>
              <a:rPr sz="1950" spc="5" dirty="0">
                <a:latin typeface="Arial"/>
                <a:cs typeface="Arial"/>
              </a:rPr>
              <a:t>rial</a:t>
            </a:r>
            <a:r>
              <a:rPr sz="1950" spc="15" dirty="0">
                <a:latin typeface="Arial"/>
                <a:cs typeface="Arial"/>
              </a:rPr>
              <a:t>Recu</a:t>
            </a:r>
            <a:r>
              <a:rPr sz="1950" spc="5" dirty="0">
                <a:latin typeface="Arial"/>
                <a:cs typeface="Arial"/>
              </a:rPr>
              <a:t>r</a:t>
            </a:r>
            <a:r>
              <a:rPr sz="1950" spc="15" dirty="0">
                <a:latin typeface="Arial"/>
                <a:cs typeface="Arial"/>
              </a:rPr>
              <a:t>s</a:t>
            </a:r>
            <a:r>
              <a:rPr sz="1950" spc="-5" dirty="0">
                <a:latin typeface="Arial"/>
                <a:cs typeface="Arial"/>
              </a:rPr>
              <a:t>i</a:t>
            </a:r>
            <a:r>
              <a:rPr sz="1950" spc="15" dirty="0">
                <a:latin typeface="Arial"/>
                <a:cs typeface="Arial"/>
              </a:rPr>
              <a:t>vo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  <a:tabLst>
                <a:tab pos="648335" algn="l"/>
              </a:tabLst>
            </a:pPr>
            <a:r>
              <a:rPr lang="pt-BR" sz="1950" u="sng" spc="15" dirty="0" err="1" smtClean="0">
                <a:latin typeface="Arial"/>
                <a:cs typeface="Arial"/>
              </a:rPr>
              <a:t>if</a:t>
            </a:r>
            <a:r>
              <a:rPr sz="1950" dirty="0">
                <a:latin typeface="Arial"/>
                <a:cs typeface="Arial"/>
              </a:rPr>
              <a:t>	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lang="pt-BR" sz="1950" spc="10" dirty="0" smtClean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r>
              <a:rPr sz="1950" spc="15" dirty="0" smtClean="0">
                <a:latin typeface="Arial"/>
                <a:cs typeface="Arial"/>
              </a:rPr>
              <a:t>=</a:t>
            </a:r>
            <a:r>
              <a:rPr sz="1950" spc="5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latin typeface="Arial"/>
                <a:cs typeface="Arial"/>
              </a:rPr>
              <a:t>r</a:t>
            </a:r>
            <a:r>
              <a:rPr sz="1950" u="sng" spc="15" dirty="0" smtClean="0">
                <a:latin typeface="Arial"/>
                <a:cs typeface="Arial"/>
              </a:rPr>
              <a:t>e</a:t>
            </a:r>
            <a:r>
              <a:rPr sz="1950" u="sng" spc="5" dirty="0" smtClean="0"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latin typeface="Arial"/>
                <a:cs typeface="Arial"/>
              </a:rPr>
              <a:t>urn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1;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35"/>
              </a:spcBef>
            </a:pP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else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u="sng" spc="15" dirty="0" smtClean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195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*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Fa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ri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Re</a:t>
            </a:r>
            <a:r>
              <a:rPr sz="195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s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vo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-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71133" y="3264203"/>
            <a:ext cx="2622550" cy="345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Fator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220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2200" spc="1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ur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si</a:t>
            </a:r>
            <a:r>
              <a:rPr sz="2200" spc="-15" dirty="0">
                <a:solidFill>
                  <a:srgbClr val="FF3200"/>
                </a:solidFill>
                <a:latin typeface="Arial"/>
                <a:cs typeface="Arial"/>
              </a:rPr>
              <a:t>v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 (2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6111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04872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3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09344" y="2270375"/>
            <a:ext cx="795655" cy="157348"/>
          </a:xfrm>
          <a:custGeom>
            <a:avLst/>
            <a:gdLst/>
            <a:ahLst/>
            <a:cxnLst/>
            <a:rect l="l" t="t" r="r" b="b"/>
            <a:pathLst>
              <a:path w="79565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5655" h="157480">
                <a:moveTo>
                  <a:pt x="795527" y="79247"/>
                </a:moveTo>
                <a:lnTo>
                  <a:pt x="701039" y="0"/>
                </a:lnTo>
                <a:lnTo>
                  <a:pt x="701039" y="62483"/>
                </a:lnTo>
                <a:lnTo>
                  <a:pt x="716279" y="62483"/>
                </a:lnTo>
                <a:lnTo>
                  <a:pt x="716279" y="144435"/>
                </a:lnTo>
                <a:lnTo>
                  <a:pt x="795527" y="79247"/>
                </a:lnTo>
                <a:close/>
              </a:path>
              <a:path w="795655" h="157480">
                <a:moveTo>
                  <a:pt x="716279" y="144435"/>
                </a:moveTo>
                <a:lnTo>
                  <a:pt x="716279" y="94487"/>
                </a:lnTo>
                <a:lnTo>
                  <a:pt x="701039" y="94487"/>
                </a:lnTo>
                <a:lnTo>
                  <a:pt x="701039" y="156971"/>
                </a:lnTo>
                <a:lnTo>
                  <a:pt x="716279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12107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18104" y="2270375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4755" y="94487"/>
                </a:moveTo>
                <a:lnTo>
                  <a:pt x="714755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4755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4755" y="62483"/>
                </a:lnTo>
                <a:lnTo>
                  <a:pt x="714755" y="144435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4755" y="144435"/>
                </a:moveTo>
                <a:lnTo>
                  <a:pt x="714755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4755" y="144435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914095"/>
          </a:xfrm>
          <a:prstGeom prst="rect">
            <a:avLst/>
          </a:prstGeom>
        </p:spPr>
        <p:txBody>
          <a:bodyPr vert="horz" wrap="square" lIns="0" tIns="31851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i</a:t>
            </a:r>
            <a:r>
              <a:rPr spc="-15" dirty="0"/>
              <a:t>m</a:t>
            </a:r>
            <a:r>
              <a:rPr dirty="0"/>
              <a:t>ul</a:t>
            </a:r>
            <a:r>
              <a:rPr spc="-10" dirty="0"/>
              <a:t>a</a:t>
            </a:r>
            <a:r>
              <a:rPr dirty="0"/>
              <a:t>nd</a:t>
            </a:r>
            <a:r>
              <a:rPr spc="-5" dirty="0"/>
              <a:t>o</a:t>
            </a:r>
            <a:r>
              <a:rPr spc="20" dirty="0"/>
              <a:t> 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</a:t>
            </a:r>
          </a:p>
        </p:txBody>
      </p:sp>
    </p:spTree>
    <p:extLst>
      <p:ext uri="{BB962C8B-B14F-4D97-AF65-F5344CB8AC3E}">
        <p14:creationId xmlns:p14="http://schemas.microsoft.com/office/powerpoint/2010/main" val="1594740517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04588" y="3756552"/>
            <a:ext cx="5316220" cy="2748188"/>
          </a:xfrm>
          <a:prstGeom prst="rect">
            <a:avLst/>
          </a:prstGeom>
          <a:ln w="10495">
            <a:solidFill>
              <a:srgbClr val="D8D8EC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370"/>
              </a:spcBef>
            </a:pPr>
            <a:r>
              <a:rPr sz="1950" u="sng" spc="5" dirty="0" err="1" smtClean="0">
                <a:latin typeface="Arial"/>
                <a:cs typeface="Arial"/>
              </a:rPr>
              <a:t>i</a:t>
            </a:r>
            <a:r>
              <a:rPr sz="1950" u="sng" spc="15" dirty="0" err="1" smtClean="0">
                <a:latin typeface="Arial"/>
                <a:cs typeface="Arial"/>
              </a:rPr>
              <a:t>n</a:t>
            </a:r>
            <a:r>
              <a:rPr sz="1950" u="sng" spc="5" dirty="0" err="1" smtClean="0">
                <a:latin typeface="Arial"/>
                <a:cs typeface="Arial"/>
              </a:rPr>
              <a:t>t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F</a:t>
            </a:r>
            <a:r>
              <a:rPr sz="1950" spc="5" dirty="0">
                <a:latin typeface="Arial"/>
                <a:cs typeface="Arial"/>
              </a:rPr>
              <a:t>at</a:t>
            </a:r>
            <a:r>
              <a:rPr sz="1950" spc="15" dirty="0">
                <a:latin typeface="Arial"/>
                <a:cs typeface="Arial"/>
              </a:rPr>
              <a:t>o</a:t>
            </a:r>
            <a:r>
              <a:rPr sz="1950" spc="5" dirty="0">
                <a:latin typeface="Arial"/>
                <a:cs typeface="Arial"/>
              </a:rPr>
              <a:t>rial</a:t>
            </a:r>
            <a:r>
              <a:rPr sz="1950" spc="15" dirty="0">
                <a:latin typeface="Arial"/>
                <a:cs typeface="Arial"/>
              </a:rPr>
              <a:t>Recu</a:t>
            </a:r>
            <a:r>
              <a:rPr sz="1950" spc="5" dirty="0">
                <a:latin typeface="Arial"/>
                <a:cs typeface="Arial"/>
              </a:rPr>
              <a:t>r</a:t>
            </a:r>
            <a:r>
              <a:rPr sz="1950" spc="15" dirty="0">
                <a:latin typeface="Arial"/>
                <a:cs typeface="Arial"/>
              </a:rPr>
              <a:t>s</a:t>
            </a:r>
            <a:r>
              <a:rPr sz="1950" spc="-5" dirty="0">
                <a:latin typeface="Arial"/>
                <a:cs typeface="Arial"/>
              </a:rPr>
              <a:t>i</a:t>
            </a:r>
            <a:r>
              <a:rPr sz="1950" spc="15" dirty="0">
                <a:latin typeface="Arial"/>
                <a:cs typeface="Arial"/>
              </a:rPr>
              <a:t>vo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  <a:tabLst>
                <a:tab pos="648335" algn="l"/>
              </a:tabLst>
            </a:pPr>
            <a:r>
              <a:rPr lang="pt-BR" sz="1950" u="sng" spc="15" dirty="0" err="1" smtClean="0">
                <a:latin typeface="Arial"/>
                <a:cs typeface="Arial"/>
              </a:rPr>
              <a:t>if</a:t>
            </a:r>
            <a:r>
              <a:rPr sz="1950" dirty="0">
                <a:latin typeface="Arial"/>
                <a:cs typeface="Arial"/>
              </a:rPr>
              <a:t>	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 smtClean="0">
                <a:latin typeface="Arial"/>
                <a:cs typeface="Arial"/>
              </a:rPr>
              <a:t>=</a:t>
            </a:r>
            <a:r>
              <a:rPr lang="pt-BR" sz="1950" spc="15" dirty="0" smtClean="0">
                <a:latin typeface="Arial"/>
                <a:cs typeface="Arial"/>
              </a:rPr>
              <a:t>=</a:t>
            </a:r>
            <a:r>
              <a:rPr sz="1950" spc="5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u="sng" spc="15" dirty="0" smtClean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1;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35"/>
              </a:spcBef>
            </a:pPr>
            <a:r>
              <a:rPr lang="pt-BR" sz="1950" u="sng" spc="15" dirty="0" err="1" smtClean="0">
                <a:latin typeface="Arial"/>
                <a:cs typeface="Arial"/>
              </a:rPr>
              <a:t>else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latin typeface="Arial"/>
                <a:cs typeface="Arial"/>
              </a:rPr>
              <a:t>r</a:t>
            </a:r>
            <a:r>
              <a:rPr sz="1950" u="sng" spc="15" dirty="0" smtClean="0">
                <a:latin typeface="Arial"/>
                <a:cs typeface="Arial"/>
              </a:rPr>
              <a:t>e</a:t>
            </a:r>
            <a:r>
              <a:rPr sz="1950" u="sng" spc="5" dirty="0" smtClean="0"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latin typeface="Arial"/>
                <a:cs typeface="Arial"/>
              </a:rPr>
              <a:t>urn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0" dirty="0">
                <a:latin typeface="Arial"/>
                <a:cs typeface="Arial"/>
              </a:rPr>
              <a:t>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Fa</a:t>
            </a:r>
            <a:r>
              <a:rPr sz="1950" spc="5" dirty="0">
                <a:latin typeface="Arial"/>
                <a:cs typeface="Arial"/>
              </a:rPr>
              <a:t>t</a:t>
            </a:r>
            <a:r>
              <a:rPr sz="1950" spc="15" dirty="0">
                <a:latin typeface="Arial"/>
                <a:cs typeface="Arial"/>
              </a:rPr>
              <a:t>o</a:t>
            </a:r>
            <a:r>
              <a:rPr sz="1950" spc="5" dirty="0">
                <a:latin typeface="Arial"/>
                <a:cs typeface="Arial"/>
              </a:rPr>
              <a:t>ri</a:t>
            </a:r>
            <a:r>
              <a:rPr sz="1950" spc="15" dirty="0">
                <a:latin typeface="Arial"/>
                <a:cs typeface="Arial"/>
              </a:rPr>
              <a:t>a</a:t>
            </a:r>
            <a:r>
              <a:rPr sz="1950" spc="5" dirty="0">
                <a:latin typeface="Arial"/>
                <a:cs typeface="Arial"/>
              </a:rPr>
              <a:t>l</a:t>
            </a:r>
            <a:r>
              <a:rPr sz="1950" spc="15" dirty="0">
                <a:latin typeface="Arial"/>
                <a:cs typeface="Arial"/>
              </a:rPr>
              <a:t>Re</a:t>
            </a:r>
            <a:r>
              <a:rPr sz="1950" dirty="0">
                <a:latin typeface="Arial"/>
                <a:cs typeface="Arial"/>
              </a:rPr>
              <a:t>c</a:t>
            </a:r>
            <a:r>
              <a:rPr sz="1950" spc="15" dirty="0">
                <a:latin typeface="Arial"/>
                <a:cs typeface="Arial"/>
              </a:rPr>
              <a:t>u</a:t>
            </a:r>
            <a:r>
              <a:rPr sz="1950" spc="5" dirty="0">
                <a:latin typeface="Arial"/>
                <a:cs typeface="Arial"/>
              </a:rPr>
              <a:t>r</a:t>
            </a:r>
            <a:r>
              <a:rPr sz="1950" spc="15" dirty="0">
                <a:latin typeface="Arial"/>
                <a:cs typeface="Arial"/>
              </a:rPr>
              <a:t>s</a:t>
            </a:r>
            <a:r>
              <a:rPr sz="1950" spc="5" dirty="0">
                <a:latin typeface="Arial"/>
                <a:cs typeface="Arial"/>
              </a:rPr>
              <a:t>i</a:t>
            </a:r>
            <a:r>
              <a:rPr sz="1950" spc="15" dirty="0">
                <a:latin typeface="Arial"/>
                <a:cs typeface="Arial"/>
              </a:rPr>
              <a:t>vo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-10" dirty="0">
                <a:latin typeface="Arial"/>
                <a:cs typeface="Arial"/>
              </a:rPr>
              <a:t>(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-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r>
              <a:rPr sz="1950" spc="-10" dirty="0">
                <a:latin typeface="Arial"/>
                <a:cs typeface="Arial"/>
              </a:rPr>
              <a:t>)</a:t>
            </a:r>
            <a:r>
              <a:rPr sz="1950" spc="5" dirty="0">
                <a:latin typeface="Arial"/>
                <a:cs typeface="Arial"/>
              </a:rPr>
              <a:t>;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71133" y="3264203"/>
            <a:ext cx="2622550" cy="345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Fator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220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2200" spc="1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ur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si</a:t>
            </a:r>
            <a:r>
              <a:rPr sz="2200" spc="-15" dirty="0">
                <a:solidFill>
                  <a:srgbClr val="FF3200"/>
                </a:solidFill>
                <a:latin typeface="Arial"/>
                <a:cs typeface="Arial"/>
              </a:rPr>
              <a:t>v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 (1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6111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04872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3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09344" y="2270375"/>
            <a:ext cx="795655" cy="157348"/>
          </a:xfrm>
          <a:custGeom>
            <a:avLst/>
            <a:gdLst/>
            <a:ahLst/>
            <a:cxnLst/>
            <a:rect l="l" t="t" r="r" b="b"/>
            <a:pathLst>
              <a:path w="79565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5655" h="157480">
                <a:moveTo>
                  <a:pt x="795527" y="79247"/>
                </a:moveTo>
                <a:lnTo>
                  <a:pt x="701039" y="0"/>
                </a:lnTo>
                <a:lnTo>
                  <a:pt x="701039" y="62483"/>
                </a:lnTo>
                <a:lnTo>
                  <a:pt x="716279" y="62483"/>
                </a:lnTo>
                <a:lnTo>
                  <a:pt x="716279" y="144435"/>
                </a:lnTo>
                <a:lnTo>
                  <a:pt x="795527" y="79247"/>
                </a:lnTo>
                <a:close/>
              </a:path>
              <a:path w="795655" h="157480">
                <a:moveTo>
                  <a:pt x="716279" y="144435"/>
                </a:moveTo>
                <a:lnTo>
                  <a:pt x="716279" y="94487"/>
                </a:lnTo>
                <a:lnTo>
                  <a:pt x="701039" y="94487"/>
                </a:lnTo>
                <a:lnTo>
                  <a:pt x="701039" y="156971"/>
                </a:lnTo>
                <a:lnTo>
                  <a:pt x="716279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12107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18104" y="2270375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4755" y="94487"/>
                </a:moveTo>
                <a:lnTo>
                  <a:pt x="714755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4755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4755" y="62483"/>
                </a:lnTo>
                <a:lnTo>
                  <a:pt x="714755" y="144435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4755" y="144435"/>
                </a:moveTo>
                <a:lnTo>
                  <a:pt x="714755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4755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419344" y="2110489"/>
            <a:ext cx="71501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625340" y="2271898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6279" y="62483"/>
                </a:lnTo>
                <a:lnTo>
                  <a:pt x="716279" y="143182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6279" y="143182"/>
                </a:moveTo>
                <a:lnTo>
                  <a:pt x="716279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6279" y="143182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914095"/>
          </a:xfrm>
          <a:prstGeom prst="rect">
            <a:avLst/>
          </a:prstGeom>
        </p:spPr>
        <p:txBody>
          <a:bodyPr vert="horz" wrap="square" lIns="0" tIns="31851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i</a:t>
            </a:r>
            <a:r>
              <a:rPr spc="-15" dirty="0"/>
              <a:t>m</a:t>
            </a:r>
            <a:r>
              <a:rPr dirty="0"/>
              <a:t>ul</a:t>
            </a:r>
            <a:r>
              <a:rPr spc="-10" dirty="0"/>
              <a:t>a</a:t>
            </a:r>
            <a:r>
              <a:rPr dirty="0"/>
              <a:t>nd</a:t>
            </a:r>
            <a:r>
              <a:rPr spc="-5" dirty="0"/>
              <a:t>o</a:t>
            </a:r>
            <a:r>
              <a:rPr spc="20" dirty="0"/>
              <a:t> 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938775" y="6561345"/>
            <a:ext cx="10985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5"/>
              </a:lnSpc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98567" y="6862844"/>
            <a:ext cx="10985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5"/>
              </a:lnSpc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04358902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04588" y="3756552"/>
            <a:ext cx="5316220" cy="2748188"/>
          </a:xfrm>
          <a:prstGeom prst="rect">
            <a:avLst/>
          </a:prstGeom>
          <a:ln w="10495">
            <a:solidFill>
              <a:srgbClr val="D8D8EC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370"/>
              </a:spcBef>
            </a:pPr>
            <a:r>
              <a:rPr sz="1950" u="sng" spc="5" dirty="0" err="1" smtClean="0">
                <a:latin typeface="Arial"/>
                <a:cs typeface="Arial"/>
              </a:rPr>
              <a:t>i</a:t>
            </a:r>
            <a:r>
              <a:rPr sz="1950" u="sng" spc="15" dirty="0" err="1" smtClean="0">
                <a:latin typeface="Arial"/>
                <a:cs typeface="Arial"/>
              </a:rPr>
              <a:t>n</a:t>
            </a:r>
            <a:r>
              <a:rPr sz="1950" u="sng" spc="5" dirty="0" err="1" smtClean="0">
                <a:latin typeface="Arial"/>
                <a:cs typeface="Arial"/>
              </a:rPr>
              <a:t>t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F</a:t>
            </a:r>
            <a:r>
              <a:rPr sz="1950" spc="5" dirty="0">
                <a:latin typeface="Arial"/>
                <a:cs typeface="Arial"/>
              </a:rPr>
              <a:t>at</a:t>
            </a:r>
            <a:r>
              <a:rPr sz="1950" spc="15" dirty="0">
                <a:latin typeface="Arial"/>
                <a:cs typeface="Arial"/>
              </a:rPr>
              <a:t>o</a:t>
            </a:r>
            <a:r>
              <a:rPr sz="1950" spc="5" dirty="0">
                <a:latin typeface="Arial"/>
                <a:cs typeface="Arial"/>
              </a:rPr>
              <a:t>rial</a:t>
            </a:r>
            <a:r>
              <a:rPr sz="1950" spc="15" dirty="0">
                <a:latin typeface="Arial"/>
                <a:cs typeface="Arial"/>
              </a:rPr>
              <a:t>Recu</a:t>
            </a:r>
            <a:r>
              <a:rPr sz="1950" spc="5" dirty="0">
                <a:latin typeface="Arial"/>
                <a:cs typeface="Arial"/>
              </a:rPr>
              <a:t>r</a:t>
            </a:r>
            <a:r>
              <a:rPr sz="1950" spc="15" dirty="0">
                <a:latin typeface="Arial"/>
                <a:cs typeface="Arial"/>
              </a:rPr>
              <a:t>s</a:t>
            </a:r>
            <a:r>
              <a:rPr sz="1950" spc="-5" dirty="0">
                <a:latin typeface="Arial"/>
                <a:cs typeface="Arial"/>
              </a:rPr>
              <a:t>i</a:t>
            </a:r>
            <a:r>
              <a:rPr sz="1950" spc="15" dirty="0">
                <a:latin typeface="Arial"/>
                <a:cs typeface="Arial"/>
              </a:rPr>
              <a:t>vo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  <a:tabLst>
                <a:tab pos="648335" algn="l"/>
              </a:tabLst>
            </a:pPr>
            <a:r>
              <a:rPr lang="pt-BR" sz="1950" u="sng" spc="15" dirty="0" err="1" smtClean="0">
                <a:latin typeface="Arial"/>
                <a:cs typeface="Arial"/>
              </a:rPr>
              <a:t>if</a:t>
            </a:r>
            <a:r>
              <a:rPr sz="1950" dirty="0">
                <a:latin typeface="Arial"/>
                <a:cs typeface="Arial"/>
              </a:rPr>
              <a:t>	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 smtClean="0">
                <a:latin typeface="Arial"/>
                <a:cs typeface="Arial"/>
              </a:rPr>
              <a:t>=</a:t>
            </a:r>
            <a:r>
              <a:rPr lang="pt-BR" sz="1950" spc="15" dirty="0" smtClean="0">
                <a:latin typeface="Arial"/>
                <a:cs typeface="Arial"/>
              </a:rPr>
              <a:t>=</a:t>
            </a:r>
            <a:r>
              <a:rPr sz="1950" spc="5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latin typeface="Arial"/>
                <a:cs typeface="Arial"/>
              </a:rPr>
              <a:t>r</a:t>
            </a:r>
            <a:r>
              <a:rPr sz="1950" u="sng" spc="15" dirty="0" smtClean="0">
                <a:latin typeface="Arial"/>
                <a:cs typeface="Arial"/>
              </a:rPr>
              <a:t>e</a:t>
            </a:r>
            <a:r>
              <a:rPr sz="1950" u="sng" spc="5" dirty="0" smtClean="0"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latin typeface="Arial"/>
                <a:cs typeface="Arial"/>
              </a:rPr>
              <a:t>urn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1;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35"/>
              </a:spcBef>
            </a:pPr>
            <a:r>
              <a:rPr lang="pt-BR" sz="1950" u="sng" spc="15" dirty="0" err="1" smtClean="0">
                <a:latin typeface="Arial"/>
                <a:cs typeface="Arial"/>
              </a:rPr>
              <a:t>else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 //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 smtClean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15" dirty="0" smtClean="0">
                <a:solidFill>
                  <a:srgbClr val="D8D8EC"/>
                </a:solidFill>
                <a:latin typeface="Arial"/>
                <a:cs typeface="Arial"/>
              </a:rPr>
              <a:t>e</a:t>
            </a:r>
            <a:r>
              <a:rPr sz="1950" spc="5" dirty="0" smtClean="0">
                <a:solidFill>
                  <a:srgbClr val="D8D8EC"/>
                </a:solidFill>
                <a:latin typeface="Arial"/>
                <a:cs typeface="Arial"/>
              </a:rPr>
              <a:t>t</a:t>
            </a:r>
            <a:r>
              <a:rPr lang="pt-BR" sz="1950" spc="15" dirty="0" err="1" smtClean="0">
                <a:solidFill>
                  <a:srgbClr val="D8D8EC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D8D8EC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2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*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Fa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t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o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ri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a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l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e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cu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s</a:t>
            </a:r>
            <a:r>
              <a:rPr sz="1950" spc="-5" dirty="0">
                <a:solidFill>
                  <a:srgbClr val="D8D8EC"/>
                </a:solidFill>
                <a:latin typeface="Arial"/>
                <a:cs typeface="Arial"/>
              </a:rPr>
              <a:t>i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vo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2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-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1</a:t>
            </a:r>
            <a:r>
              <a:rPr sz="1950" spc="-10" dirty="0">
                <a:solidFill>
                  <a:srgbClr val="D8D8EC"/>
                </a:solidFill>
                <a:latin typeface="Arial"/>
                <a:cs typeface="Arial"/>
              </a:rPr>
              <a:t>)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);</a:t>
            </a:r>
            <a:endParaRPr sz="1950" dirty="0">
              <a:latin typeface="Arial"/>
              <a:cs typeface="Arial"/>
            </a:endParaRPr>
          </a:p>
          <a:p>
            <a:pPr marL="591820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u="sng" spc="15" dirty="0" smtClean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*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));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71133" y="3264203"/>
            <a:ext cx="2622550" cy="345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Fator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220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2200" spc="1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ur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si</a:t>
            </a:r>
            <a:r>
              <a:rPr sz="2200" spc="-15" dirty="0">
                <a:solidFill>
                  <a:srgbClr val="FF3200"/>
                </a:solidFill>
                <a:latin typeface="Arial"/>
                <a:cs typeface="Arial"/>
              </a:rPr>
              <a:t>v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 (2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6111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04872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3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09344" y="2270375"/>
            <a:ext cx="795655" cy="157348"/>
          </a:xfrm>
          <a:custGeom>
            <a:avLst/>
            <a:gdLst/>
            <a:ahLst/>
            <a:cxnLst/>
            <a:rect l="l" t="t" r="r" b="b"/>
            <a:pathLst>
              <a:path w="79565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5655" h="157480">
                <a:moveTo>
                  <a:pt x="795527" y="79247"/>
                </a:moveTo>
                <a:lnTo>
                  <a:pt x="701039" y="0"/>
                </a:lnTo>
                <a:lnTo>
                  <a:pt x="701039" y="62483"/>
                </a:lnTo>
                <a:lnTo>
                  <a:pt x="716279" y="62483"/>
                </a:lnTo>
                <a:lnTo>
                  <a:pt x="716279" y="144435"/>
                </a:lnTo>
                <a:lnTo>
                  <a:pt x="795527" y="79247"/>
                </a:lnTo>
                <a:close/>
              </a:path>
              <a:path w="795655" h="157480">
                <a:moveTo>
                  <a:pt x="716279" y="144435"/>
                </a:moveTo>
                <a:lnTo>
                  <a:pt x="716279" y="94487"/>
                </a:lnTo>
                <a:lnTo>
                  <a:pt x="701039" y="94487"/>
                </a:lnTo>
                <a:lnTo>
                  <a:pt x="701039" y="156971"/>
                </a:lnTo>
                <a:lnTo>
                  <a:pt x="716279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12107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18104" y="2270375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4755" y="94487"/>
                </a:moveTo>
                <a:lnTo>
                  <a:pt x="714755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4755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4755" y="62483"/>
                </a:lnTo>
                <a:lnTo>
                  <a:pt x="714755" y="144435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4755" y="144435"/>
                </a:moveTo>
                <a:lnTo>
                  <a:pt x="714755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4755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419344" y="2110489"/>
            <a:ext cx="71501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625340" y="2271898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6279" y="62483"/>
                </a:lnTo>
                <a:lnTo>
                  <a:pt x="716279" y="143182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6279" y="143182"/>
                </a:moveTo>
                <a:lnTo>
                  <a:pt x="716279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6279" y="1431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21480" y="2663238"/>
            <a:ext cx="1571625" cy="269648"/>
          </a:xfrm>
          <a:custGeom>
            <a:avLst/>
            <a:gdLst/>
            <a:ahLst/>
            <a:cxnLst/>
            <a:rect l="l" t="t" r="r" b="b"/>
            <a:pathLst>
              <a:path w="1571625" h="269875">
                <a:moveTo>
                  <a:pt x="94487" y="94487"/>
                </a:moveTo>
                <a:lnTo>
                  <a:pt x="47243" y="0"/>
                </a:lnTo>
                <a:lnTo>
                  <a:pt x="0" y="94487"/>
                </a:lnTo>
                <a:lnTo>
                  <a:pt x="32003" y="94487"/>
                </a:lnTo>
                <a:lnTo>
                  <a:pt x="32003" y="79247"/>
                </a:lnTo>
                <a:lnTo>
                  <a:pt x="62483" y="79247"/>
                </a:lnTo>
                <a:lnTo>
                  <a:pt x="62483" y="94487"/>
                </a:lnTo>
                <a:lnTo>
                  <a:pt x="94487" y="94487"/>
                </a:lnTo>
                <a:close/>
              </a:path>
              <a:path w="1571625" h="269875">
                <a:moveTo>
                  <a:pt x="62483" y="94487"/>
                </a:moveTo>
                <a:lnTo>
                  <a:pt x="62483" y="79247"/>
                </a:lnTo>
                <a:lnTo>
                  <a:pt x="32003" y="79247"/>
                </a:lnTo>
                <a:lnTo>
                  <a:pt x="32003" y="94487"/>
                </a:lnTo>
                <a:lnTo>
                  <a:pt x="62483" y="94487"/>
                </a:lnTo>
                <a:close/>
              </a:path>
              <a:path w="1571625" h="269875">
                <a:moveTo>
                  <a:pt x="62483" y="237743"/>
                </a:moveTo>
                <a:lnTo>
                  <a:pt x="62483" y="94487"/>
                </a:lnTo>
                <a:lnTo>
                  <a:pt x="32003" y="94487"/>
                </a:lnTo>
                <a:lnTo>
                  <a:pt x="32003" y="269747"/>
                </a:lnTo>
                <a:lnTo>
                  <a:pt x="47243" y="269747"/>
                </a:lnTo>
                <a:lnTo>
                  <a:pt x="47243" y="237743"/>
                </a:lnTo>
                <a:lnTo>
                  <a:pt x="62483" y="237743"/>
                </a:lnTo>
                <a:close/>
              </a:path>
              <a:path w="1571625" h="269875">
                <a:moveTo>
                  <a:pt x="1554479" y="237743"/>
                </a:moveTo>
                <a:lnTo>
                  <a:pt x="47243" y="237743"/>
                </a:lnTo>
                <a:lnTo>
                  <a:pt x="62483" y="254507"/>
                </a:lnTo>
                <a:lnTo>
                  <a:pt x="62483" y="269747"/>
                </a:lnTo>
                <a:lnTo>
                  <a:pt x="1539239" y="269747"/>
                </a:lnTo>
                <a:lnTo>
                  <a:pt x="1539239" y="254507"/>
                </a:lnTo>
                <a:lnTo>
                  <a:pt x="1554479" y="237743"/>
                </a:lnTo>
                <a:close/>
              </a:path>
              <a:path w="1571625" h="269875">
                <a:moveTo>
                  <a:pt x="62483" y="269747"/>
                </a:moveTo>
                <a:lnTo>
                  <a:pt x="62483" y="254507"/>
                </a:lnTo>
                <a:lnTo>
                  <a:pt x="47243" y="237743"/>
                </a:lnTo>
                <a:lnTo>
                  <a:pt x="47243" y="269747"/>
                </a:lnTo>
                <a:lnTo>
                  <a:pt x="62483" y="269747"/>
                </a:lnTo>
                <a:close/>
              </a:path>
              <a:path w="1571625" h="269875">
                <a:moveTo>
                  <a:pt x="1571243" y="269747"/>
                </a:moveTo>
                <a:lnTo>
                  <a:pt x="1571243" y="1523"/>
                </a:lnTo>
                <a:lnTo>
                  <a:pt x="1539239" y="1523"/>
                </a:lnTo>
                <a:lnTo>
                  <a:pt x="1539239" y="237743"/>
                </a:lnTo>
                <a:lnTo>
                  <a:pt x="1554479" y="237743"/>
                </a:lnTo>
                <a:lnTo>
                  <a:pt x="1554479" y="269747"/>
                </a:lnTo>
                <a:lnTo>
                  <a:pt x="1571243" y="269747"/>
                </a:lnTo>
                <a:close/>
              </a:path>
              <a:path w="1571625" h="269875">
                <a:moveTo>
                  <a:pt x="1554479" y="269747"/>
                </a:moveTo>
                <a:lnTo>
                  <a:pt x="1554479" y="237743"/>
                </a:lnTo>
                <a:lnTo>
                  <a:pt x="1539239" y="254507"/>
                </a:lnTo>
                <a:lnTo>
                  <a:pt x="1539239" y="269747"/>
                </a:lnTo>
                <a:lnTo>
                  <a:pt x="1554479" y="269747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929631" y="2554362"/>
            <a:ext cx="1657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38775" y="6561345"/>
            <a:ext cx="10985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5"/>
              </a:lnSpc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98567" y="6862844"/>
            <a:ext cx="10985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5"/>
              </a:lnSpc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914095"/>
          </a:xfrm>
          <a:prstGeom prst="rect">
            <a:avLst/>
          </a:prstGeom>
        </p:spPr>
        <p:txBody>
          <a:bodyPr vert="horz" wrap="square" lIns="0" tIns="31851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i</a:t>
            </a:r>
            <a:r>
              <a:rPr spc="-15" dirty="0"/>
              <a:t>m</a:t>
            </a:r>
            <a:r>
              <a:rPr dirty="0"/>
              <a:t>ul</a:t>
            </a:r>
            <a:r>
              <a:rPr spc="-10" dirty="0"/>
              <a:t>a</a:t>
            </a:r>
            <a:r>
              <a:rPr dirty="0"/>
              <a:t>nd</a:t>
            </a:r>
            <a:r>
              <a:rPr spc="-5" dirty="0"/>
              <a:t>o</a:t>
            </a:r>
            <a:r>
              <a:rPr spc="20" dirty="0"/>
              <a:t> 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</a:t>
            </a:r>
          </a:p>
        </p:txBody>
      </p:sp>
    </p:spTree>
    <p:extLst>
      <p:ext uri="{BB962C8B-B14F-4D97-AF65-F5344CB8AC3E}">
        <p14:creationId xmlns:p14="http://schemas.microsoft.com/office/powerpoint/2010/main" val="2973761358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04588" y="3756552"/>
            <a:ext cx="5316220" cy="3436907"/>
          </a:xfrm>
          <a:prstGeom prst="rect">
            <a:avLst/>
          </a:prstGeom>
          <a:ln w="10495">
            <a:solidFill>
              <a:srgbClr val="D8D8EC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370"/>
              </a:spcBef>
            </a:pPr>
            <a:r>
              <a:rPr sz="1950" u="sng" spc="5" dirty="0" err="1" smtClean="0">
                <a:latin typeface="Arial"/>
                <a:cs typeface="Arial"/>
              </a:rPr>
              <a:t>i</a:t>
            </a:r>
            <a:r>
              <a:rPr sz="1950" u="sng" spc="15" dirty="0" err="1" smtClean="0">
                <a:latin typeface="Arial"/>
                <a:cs typeface="Arial"/>
              </a:rPr>
              <a:t>n</a:t>
            </a:r>
            <a:r>
              <a:rPr sz="1950" u="sng" spc="5" dirty="0" err="1" smtClean="0">
                <a:latin typeface="Arial"/>
                <a:cs typeface="Arial"/>
              </a:rPr>
              <a:t>t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F</a:t>
            </a:r>
            <a:r>
              <a:rPr sz="1950" spc="5" dirty="0">
                <a:latin typeface="Arial"/>
                <a:cs typeface="Arial"/>
              </a:rPr>
              <a:t>at</a:t>
            </a:r>
            <a:r>
              <a:rPr sz="1950" spc="15" dirty="0">
                <a:latin typeface="Arial"/>
                <a:cs typeface="Arial"/>
              </a:rPr>
              <a:t>o</a:t>
            </a:r>
            <a:r>
              <a:rPr sz="1950" spc="5" dirty="0">
                <a:latin typeface="Arial"/>
                <a:cs typeface="Arial"/>
              </a:rPr>
              <a:t>rial</a:t>
            </a:r>
            <a:r>
              <a:rPr sz="1950" spc="15" dirty="0">
                <a:latin typeface="Arial"/>
                <a:cs typeface="Arial"/>
              </a:rPr>
              <a:t>Recu</a:t>
            </a:r>
            <a:r>
              <a:rPr sz="1950" spc="5" dirty="0">
                <a:latin typeface="Arial"/>
                <a:cs typeface="Arial"/>
              </a:rPr>
              <a:t>r</a:t>
            </a:r>
            <a:r>
              <a:rPr sz="1950" spc="15" dirty="0">
                <a:latin typeface="Arial"/>
                <a:cs typeface="Arial"/>
              </a:rPr>
              <a:t>s</a:t>
            </a:r>
            <a:r>
              <a:rPr sz="1950" spc="-5" dirty="0">
                <a:latin typeface="Arial"/>
                <a:cs typeface="Arial"/>
              </a:rPr>
              <a:t>i</a:t>
            </a:r>
            <a:r>
              <a:rPr sz="1950" spc="15" dirty="0">
                <a:latin typeface="Arial"/>
                <a:cs typeface="Arial"/>
              </a:rPr>
              <a:t>vo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  <a:tabLst>
                <a:tab pos="648335" algn="l"/>
              </a:tabLst>
            </a:pPr>
            <a:r>
              <a:rPr lang="pt-BR" sz="1950" u="sng" spc="15" dirty="0" err="1" smtClean="0">
                <a:latin typeface="Arial"/>
                <a:cs typeface="Arial"/>
              </a:rPr>
              <a:t>if</a:t>
            </a:r>
            <a:r>
              <a:rPr sz="1950" dirty="0">
                <a:latin typeface="Arial"/>
                <a:cs typeface="Arial"/>
              </a:rPr>
              <a:t>	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lang="pt-BR" sz="1950" spc="10" dirty="0" smtClean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r>
              <a:rPr sz="1950" spc="15" dirty="0" smtClean="0">
                <a:latin typeface="Arial"/>
                <a:cs typeface="Arial"/>
              </a:rPr>
              <a:t>=</a:t>
            </a:r>
            <a:r>
              <a:rPr sz="1950" spc="5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latin typeface="Arial"/>
                <a:cs typeface="Arial"/>
              </a:rPr>
              <a:t>r</a:t>
            </a:r>
            <a:r>
              <a:rPr sz="1950" u="sng" spc="15" dirty="0" smtClean="0">
                <a:latin typeface="Arial"/>
                <a:cs typeface="Arial"/>
              </a:rPr>
              <a:t>e</a:t>
            </a:r>
            <a:r>
              <a:rPr sz="1950" u="sng" spc="5" dirty="0" smtClean="0"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latin typeface="Arial"/>
                <a:cs typeface="Arial"/>
              </a:rPr>
              <a:t>urn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1;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35"/>
              </a:spcBef>
            </a:pPr>
            <a:r>
              <a:rPr lang="pt-BR" sz="1950" u="sng" spc="15" dirty="0" err="1" smtClean="0">
                <a:latin typeface="Arial"/>
                <a:cs typeface="Arial"/>
              </a:rPr>
              <a:t>else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 //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 smtClean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15" dirty="0" smtClean="0">
                <a:solidFill>
                  <a:srgbClr val="D8D8EC"/>
                </a:solidFill>
                <a:latin typeface="Arial"/>
                <a:cs typeface="Arial"/>
              </a:rPr>
              <a:t>e</a:t>
            </a:r>
            <a:r>
              <a:rPr sz="1950" spc="5" dirty="0" smtClean="0">
                <a:solidFill>
                  <a:srgbClr val="D8D8EC"/>
                </a:solidFill>
                <a:latin typeface="Arial"/>
                <a:cs typeface="Arial"/>
              </a:rPr>
              <a:t>t</a:t>
            </a:r>
            <a:r>
              <a:rPr lang="pt-BR" sz="1950" spc="15" dirty="0" err="1" smtClean="0">
                <a:solidFill>
                  <a:srgbClr val="D8D8EC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D8D8EC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3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*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Fa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t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o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ri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a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l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e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cu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s</a:t>
            </a:r>
            <a:r>
              <a:rPr sz="1950" spc="-5" dirty="0">
                <a:solidFill>
                  <a:srgbClr val="D8D8EC"/>
                </a:solidFill>
                <a:latin typeface="Arial"/>
                <a:cs typeface="Arial"/>
              </a:rPr>
              <a:t>i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vo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3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-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1</a:t>
            </a:r>
            <a:r>
              <a:rPr sz="1950" spc="-10" dirty="0">
                <a:solidFill>
                  <a:srgbClr val="D8D8EC"/>
                </a:solidFill>
                <a:latin typeface="Arial"/>
                <a:cs typeface="Arial"/>
              </a:rPr>
              <a:t>)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);</a:t>
            </a:r>
            <a:endParaRPr sz="1950" dirty="0">
              <a:latin typeface="Arial"/>
              <a:cs typeface="Arial"/>
            </a:endParaRPr>
          </a:p>
          <a:p>
            <a:pPr marL="591820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u="sng" spc="15" dirty="0" smtClean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*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));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71133" y="3264203"/>
            <a:ext cx="2622550" cy="345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Fator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220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2200" spc="1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ur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si</a:t>
            </a:r>
            <a:r>
              <a:rPr sz="2200" spc="-15" dirty="0">
                <a:solidFill>
                  <a:srgbClr val="FF3200"/>
                </a:solidFill>
                <a:latin typeface="Arial"/>
                <a:cs typeface="Arial"/>
              </a:rPr>
              <a:t>v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 (3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6111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04872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09344" y="2270375"/>
            <a:ext cx="795655" cy="157348"/>
          </a:xfrm>
          <a:custGeom>
            <a:avLst/>
            <a:gdLst/>
            <a:ahLst/>
            <a:cxnLst/>
            <a:rect l="l" t="t" r="r" b="b"/>
            <a:pathLst>
              <a:path w="79565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5655" h="157480">
                <a:moveTo>
                  <a:pt x="795527" y="79247"/>
                </a:moveTo>
                <a:lnTo>
                  <a:pt x="701039" y="0"/>
                </a:lnTo>
                <a:lnTo>
                  <a:pt x="701039" y="62483"/>
                </a:lnTo>
                <a:lnTo>
                  <a:pt x="716279" y="62483"/>
                </a:lnTo>
                <a:lnTo>
                  <a:pt x="716279" y="144435"/>
                </a:lnTo>
                <a:lnTo>
                  <a:pt x="795527" y="79247"/>
                </a:lnTo>
                <a:close/>
              </a:path>
              <a:path w="795655" h="157480">
                <a:moveTo>
                  <a:pt x="716279" y="144435"/>
                </a:moveTo>
                <a:lnTo>
                  <a:pt x="716279" y="94487"/>
                </a:lnTo>
                <a:lnTo>
                  <a:pt x="701039" y="94487"/>
                </a:lnTo>
                <a:lnTo>
                  <a:pt x="701039" y="156971"/>
                </a:lnTo>
                <a:lnTo>
                  <a:pt x="716279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12107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18104" y="2270375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4755" y="94487"/>
                </a:moveTo>
                <a:lnTo>
                  <a:pt x="714755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4755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4755" y="62483"/>
                </a:lnTo>
                <a:lnTo>
                  <a:pt x="714755" y="144435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4755" y="144435"/>
                </a:moveTo>
                <a:lnTo>
                  <a:pt x="714755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4755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419344" y="2110489"/>
            <a:ext cx="71501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625340" y="2271898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6279" y="62483"/>
                </a:lnTo>
                <a:lnTo>
                  <a:pt x="716279" y="143182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6279" y="143182"/>
                </a:moveTo>
                <a:lnTo>
                  <a:pt x="716279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6279" y="1431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21480" y="2663238"/>
            <a:ext cx="1571625" cy="269648"/>
          </a:xfrm>
          <a:custGeom>
            <a:avLst/>
            <a:gdLst/>
            <a:ahLst/>
            <a:cxnLst/>
            <a:rect l="l" t="t" r="r" b="b"/>
            <a:pathLst>
              <a:path w="1571625" h="269875">
                <a:moveTo>
                  <a:pt x="94487" y="94487"/>
                </a:moveTo>
                <a:lnTo>
                  <a:pt x="47243" y="0"/>
                </a:lnTo>
                <a:lnTo>
                  <a:pt x="0" y="94487"/>
                </a:lnTo>
                <a:lnTo>
                  <a:pt x="32003" y="94487"/>
                </a:lnTo>
                <a:lnTo>
                  <a:pt x="32003" y="79247"/>
                </a:lnTo>
                <a:lnTo>
                  <a:pt x="62483" y="79247"/>
                </a:lnTo>
                <a:lnTo>
                  <a:pt x="62483" y="94487"/>
                </a:lnTo>
                <a:lnTo>
                  <a:pt x="94487" y="94487"/>
                </a:lnTo>
                <a:close/>
              </a:path>
              <a:path w="1571625" h="269875">
                <a:moveTo>
                  <a:pt x="62483" y="94487"/>
                </a:moveTo>
                <a:lnTo>
                  <a:pt x="62483" y="79247"/>
                </a:lnTo>
                <a:lnTo>
                  <a:pt x="32003" y="79247"/>
                </a:lnTo>
                <a:lnTo>
                  <a:pt x="32003" y="94487"/>
                </a:lnTo>
                <a:lnTo>
                  <a:pt x="62483" y="94487"/>
                </a:lnTo>
                <a:close/>
              </a:path>
              <a:path w="1571625" h="269875">
                <a:moveTo>
                  <a:pt x="62483" y="237743"/>
                </a:moveTo>
                <a:lnTo>
                  <a:pt x="62483" y="94487"/>
                </a:lnTo>
                <a:lnTo>
                  <a:pt x="32003" y="94487"/>
                </a:lnTo>
                <a:lnTo>
                  <a:pt x="32003" y="269747"/>
                </a:lnTo>
                <a:lnTo>
                  <a:pt x="47243" y="269747"/>
                </a:lnTo>
                <a:lnTo>
                  <a:pt x="47243" y="237743"/>
                </a:lnTo>
                <a:lnTo>
                  <a:pt x="62483" y="237743"/>
                </a:lnTo>
                <a:close/>
              </a:path>
              <a:path w="1571625" h="269875">
                <a:moveTo>
                  <a:pt x="1554479" y="237743"/>
                </a:moveTo>
                <a:lnTo>
                  <a:pt x="47243" y="237743"/>
                </a:lnTo>
                <a:lnTo>
                  <a:pt x="62483" y="254507"/>
                </a:lnTo>
                <a:lnTo>
                  <a:pt x="62483" y="269747"/>
                </a:lnTo>
                <a:lnTo>
                  <a:pt x="1539239" y="269747"/>
                </a:lnTo>
                <a:lnTo>
                  <a:pt x="1539239" y="254507"/>
                </a:lnTo>
                <a:lnTo>
                  <a:pt x="1554479" y="237743"/>
                </a:lnTo>
                <a:close/>
              </a:path>
              <a:path w="1571625" h="269875">
                <a:moveTo>
                  <a:pt x="62483" y="269747"/>
                </a:moveTo>
                <a:lnTo>
                  <a:pt x="62483" y="254507"/>
                </a:lnTo>
                <a:lnTo>
                  <a:pt x="47243" y="237743"/>
                </a:lnTo>
                <a:lnTo>
                  <a:pt x="47243" y="269747"/>
                </a:lnTo>
                <a:lnTo>
                  <a:pt x="62483" y="269747"/>
                </a:lnTo>
                <a:close/>
              </a:path>
              <a:path w="1571625" h="269875">
                <a:moveTo>
                  <a:pt x="1571243" y="269747"/>
                </a:moveTo>
                <a:lnTo>
                  <a:pt x="1571243" y="1523"/>
                </a:lnTo>
                <a:lnTo>
                  <a:pt x="1539239" y="1523"/>
                </a:lnTo>
                <a:lnTo>
                  <a:pt x="1539239" y="237743"/>
                </a:lnTo>
                <a:lnTo>
                  <a:pt x="1554479" y="237743"/>
                </a:lnTo>
                <a:lnTo>
                  <a:pt x="1554479" y="269747"/>
                </a:lnTo>
                <a:lnTo>
                  <a:pt x="1571243" y="269747"/>
                </a:lnTo>
                <a:close/>
              </a:path>
              <a:path w="1571625" h="269875">
                <a:moveTo>
                  <a:pt x="1554479" y="269747"/>
                </a:moveTo>
                <a:lnTo>
                  <a:pt x="1554479" y="237743"/>
                </a:lnTo>
                <a:lnTo>
                  <a:pt x="1539239" y="254507"/>
                </a:lnTo>
                <a:lnTo>
                  <a:pt x="1539239" y="269747"/>
                </a:lnTo>
                <a:lnTo>
                  <a:pt x="1554479" y="2697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929631" y="2554362"/>
            <a:ext cx="1657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595372" y="2664761"/>
            <a:ext cx="1569720" cy="269648"/>
          </a:xfrm>
          <a:custGeom>
            <a:avLst/>
            <a:gdLst/>
            <a:ahLst/>
            <a:cxnLst/>
            <a:rect l="l" t="t" r="r" b="b"/>
            <a:pathLst>
              <a:path w="1569720" h="269875">
                <a:moveTo>
                  <a:pt x="94487" y="94487"/>
                </a:moveTo>
                <a:lnTo>
                  <a:pt x="47243" y="0"/>
                </a:lnTo>
                <a:lnTo>
                  <a:pt x="0" y="94487"/>
                </a:lnTo>
                <a:lnTo>
                  <a:pt x="30479" y="94487"/>
                </a:lnTo>
                <a:lnTo>
                  <a:pt x="30479" y="79247"/>
                </a:lnTo>
                <a:lnTo>
                  <a:pt x="62483" y="79247"/>
                </a:lnTo>
                <a:lnTo>
                  <a:pt x="62483" y="94487"/>
                </a:lnTo>
                <a:lnTo>
                  <a:pt x="94487" y="94487"/>
                </a:lnTo>
                <a:close/>
              </a:path>
              <a:path w="1569720" h="269875">
                <a:moveTo>
                  <a:pt x="62483" y="94487"/>
                </a:moveTo>
                <a:lnTo>
                  <a:pt x="62483" y="79247"/>
                </a:lnTo>
                <a:lnTo>
                  <a:pt x="30479" y="79247"/>
                </a:lnTo>
                <a:lnTo>
                  <a:pt x="30479" y="94487"/>
                </a:lnTo>
                <a:lnTo>
                  <a:pt x="62483" y="94487"/>
                </a:lnTo>
                <a:close/>
              </a:path>
              <a:path w="1569720" h="269875">
                <a:moveTo>
                  <a:pt x="62483" y="237743"/>
                </a:moveTo>
                <a:lnTo>
                  <a:pt x="62483" y="94487"/>
                </a:lnTo>
                <a:lnTo>
                  <a:pt x="30479" y="94487"/>
                </a:lnTo>
                <a:lnTo>
                  <a:pt x="30479" y="269747"/>
                </a:lnTo>
                <a:lnTo>
                  <a:pt x="47243" y="269747"/>
                </a:lnTo>
                <a:lnTo>
                  <a:pt x="47243" y="237743"/>
                </a:lnTo>
                <a:lnTo>
                  <a:pt x="62483" y="237743"/>
                </a:lnTo>
                <a:close/>
              </a:path>
              <a:path w="1569720" h="269875">
                <a:moveTo>
                  <a:pt x="1554479" y="237743"/>
                </a:moveTo>
                <a:lnTo>
                  <a:pt x="47243" y="237743"/>
                </a:lnTo>
                <a:lnTo>
                  <a:pt x="62483" y="254507"/>
                </a:lnTo>
                <a:lnTo>
                  <a:pt x="62483" y="269747"/>
                </a:lnTo>
                <a:lnTo>
                  <a:pt x="1539239" y="269747"/>
                </a:lnTo>
                <a:lnTo>
                  <a:pt x="1539239" y="254507"/>
                </a:lnTo>
                <a:lnTo>
                  <a:pt x="1554479" y="237743"/>
                </a:lnTo>
                <a:close/>
              </a:path>
              <a:path w="1569720" h="269875">
                <a:moveTo>
                  <a:pt x="62483" y="269747"/>
                </a:moveTo>
                <a:lnTo>
                  <a:pt x="62483" y="254507"/>
                </a:lnTo>
                <a:lnTo>
                  <a:pt x="47243" y="237743"/>
                </a:lnTo>
                <a:lnTo>
                  <a:pt x="47243" y="269747"/>
                </a:lnTo>
                <a:lnTo>
                  <a:pt x="62483" y="269747"/>
                </a:lnTo>
                <a:close/>
              </a:path>
              <a:path w="1569720" h="269875">
                <a:moveTo>
                  <a:pt x="1569719" y="269747"/>
                </a:moveTo>
                <a:lnTo>
                  <a:pt x="1569719" y="1523"/>
                </a:lnTo>
                <a:lnTo>
                  <a:pt x="1539239" y="1523"/>
                </a:lnTo>
                <a:lnTo>
                  <a:pt x="1539239" y="237743"/>
                </a:lnTo>
                <a:lnTo>
                  <a:pt x="1554479" y="237743"/>
                </a:lnTo>
                <a:lnTo>
                  <a:pt x="1554479" y="269747"/>
                </a:lnTo>
                <a:lnTo>
                  <a:pt x="1569719" y="269747"/>
                </a:lnTo>
                <a:close/>
              </a:path>
              <a:path w="1569720" h="269875">
                <a:moveTo>
                  <a:pt x="1554479" y="269747"/>
                </a:moveTo>
                <a:lnTo>
                  <a:pt x="1554479" y="237743"/>
                </a:lnTo>
                <a:lnTo>
                  <a:pt x="1539239" y="254507"/>
                </a:lnTo>
                <a:lnTo>
                  <a:pt x="1539239" y="269747"/>
                </a:lnTo>
                <a:lnTo>
                  <a:pt x="1554479" y="269747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340098" y="2554362"/>
            <a:ext cx="1657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914095"/>
          </a:xfrm>
          <a:prstGeom prst="rect">
            <a:avLst/>
          </a:prstGeom>
        </p:spPr>
        <p:txBody>
          <a:bodyPr vert="horz" wrap="square" lIns="0" tIns="31851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i</a:t>
            </a:r>
            <a:r>
              <a:rPr spc="-15" dirty="0"/>
              <a:t>m</a:t>
            </a:r>
            <a:r>
              <a:rPr dirty="0"/>
              <a:t>ul</a:t>
            </a:r>
            <a:r>
              <a:rPr spc="-10" dirty="0"/>
              <a:t>a</a:t>
            </a:r>
            <a:r>
              <a:rPr dirty="0"/>
              <a:t>nd</a:t>
            </a:r>
            <a:r>
              <a:rPr spc="-5" dirty="0"/>
              <a:t>o</a:t>
            </a:r>
            <a:r>
              <a:rPr spc="20" dirty="0"/>
              <a:t> 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</a:t>
            </a:r>
          </a:p>
        </p:txBody>
      </p:sp>
    </p:spTree>
    <p:extLst>
      <p:ext uri="{BB962C8B-B14F-4D97-AF65-F5344CB8AC3E}">
        <p14:creationId xmlns:p14="http://schemas.microsoft.com/office/powerpoint/2010/main" val="3493729018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04588" y="3756552"/>
            <a:ext cx="5316220" cy="3436907"/>
          </a:xfrm>
          <a:prstGeom prst="rect">
            <a:avLst/>
          </a:prstGeom>
          <a:ln w="10495">
            <a:solidFill>
              <a:srgbClr val="D8D8EC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370"/>
              </a:spcBef>
            </a:pPr>
            <a:r>
              <a:rPr sz="1950" u="sng" spc="5" dirty="0" err="1" smtClean="0">
                <a:latin typeface="Arial"/>
                <a:cs typeface="Arial"/>
              </a:rPr>
              <a:t>i</a:t>
            </a:r>
            <a:r>
              <a:rPr sz="1950" u="sng" spc="15" dirty="0" err="1" smtClean="0">
                <a:latin typeface="Arial"/>
                <a:cs typeface="Arial"/>
              </a:rPr>
              <a:t>n</a:t>
            </a:r>
            <a:r>
              <a:rPr sz="1950" u="sng" spc="5" dirty="0" err="1" smtClean="0">
                <a:latin typeface="Arial"/>
                <a:cs typeface="Arial"/>
              </a:rPr>
              <a:t>t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F</a:t>
            </a:r>
            <a:r>
              <a:rPr sz="1950" spc="5" dirty="0">
                <a:latin typeface="Arial"/>
                <a:cs typeface="Arial"/>
              </a:rPr>
              <a:t>at</a:t>
            </a:r>
            <a:r>
              <a:rPr sz="1950" spc="15" dirty="0">
                <a:latin typeface="Arial"/>
                <a:cs typeface="Arial"/>
              </a:rPr>
              <a:t>o</a:t>
            </a:r>
            <a:r>
              <a:rPr sz="1950" spc="5" dirty="0">
                <a:latin typeface="Arial"/>
                <a:cs typeface="Arial"/>
              </a:rPr>
              <a:t>rial</a:t>
            </a:r>
            <a:r>
              <a:rPr sz="1950" spc="15" dirty="0">
                <a:latin typeface="Arial"/>
                <a:cs typeface="Arial"/>
              </a:rPr>
              <a:t>Recu</a:t>
            </a:r>
            <a:r>
              <a:rPr sz="1950" spc="5" dirty="0">
                <a:latin typeface="Arial"/>
                <a:cs typeface="Arial"/>
              </a:rPr>
              <a:t>r</a:t>
            </a:r>
            <a:r>
              <a:rPr sz="1950" spc="15" dirty="0">
                <a:latin typeface="Arial"/>
                <a:cs typeface="Arial"/>
              </a:rPr>
              <a:t>s</a:t>
            </a:r>
            <a:r>
              <a:rPr sz="1950" spc="-5" dirty="0">
                <a:latin typeface="Arial"/>
                <a:cs typeface="Arial"/>
              </a:rPr>
              <a:t>i</a:t>
            </a:r>
            <a:r>
              <a:rPr sz="1950" spc="15" dirty="0">
                <a:latin typeface="Arial"/>
                <a:cs typeface="Arial"/>
              </a:rPr>
              <a:t>vo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  <a:tabLst>
                <a:tab pos="648335" algn="l"/>
              </a:tabLst>
            </a:pPr>
            <a:r>
              <a:rPr lang="pt-BR" sz="1950" u="sng" spc="15" dirty="0" err="1" smtClean="0">
                <a:latin typeface="Arial"/>
                <a:cs typeface="Arial"/>
              </a:rPr>
              <a:t>if</a:t>
            </a:r>
            <a:r>
              <a:rPr sz="1950" dirty="0">
                <a:latin typeface="Arial"/>
                <a:cs typeface="Arial"/>
              </a:rPr>
              <a:t>	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lang="pt-BR" sz="1950" spc="10" dirty="0" smtClean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r>
              <a:rPr sz="1950" spc="15" dirty="0" smtClean="0">
                <a:latin typeface="Arial"/>
                <a:cs typeface="Arial"/>
              </a:rPr>
              <a:t>=</a:t>
            </a:r>
            <a:r>
              <a:rPr sz="1950" spc="5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latin typeface="Arial"/>
                <a:cs typeface="Arial"/>
              </a:rPr>
              <a:t>r</a:t>
            </a:r>
            <a:r>
              <a:rPr sz="1950" u="sng" spc="15" dirty="0" smtClean="0">
                <a:latin typeface="Arial"/>
                <a:cs typeface="Arial"/>
              </a:rPr>
              <a:t>e</a:t>
            </a:r>
            <a:r>
              <a:rPr sz="1950" u="sng" spc="5" dirty="0" smtClean="0"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latin typeface="Arial"/>
                <a:cs typeface="Arial"/>
              </a:rPr>
              <a:t>urn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1;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35"/>
              </a:spcBef>
            </a:pPr>
            <a:r>
              <a:rPr lang="pt-BR" sz="1950" u="sng" spc="15" dirty="0" err="1" smtClean="0">
                <a:latin typeface="Arial"/>
                <a:cs typeface="Arial"/>
              </a:rPr>
              <a:t>else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 //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e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t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o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ne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D8D8EC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4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*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Fa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t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o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ri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a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l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e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cu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s</a:t>
            </a:r>
            <a:r>
              <a:rPr sz="1950" spc="-5" dirty="0">
                <a:solidFill>
                  <a:srgbClr val="D8D8EC"/>
                </a:solidFill>
                <a:latin typeface="Arial"/>
                <a:cs typeface="Arial"/>
              </a:rPr>
              <a:t>i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vo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4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-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1</a:t>
            </a:r>
            <a:r>
              <a:rPr sz="1950" spc="-10" dirty="0">
                <a:solidFill>
                  <a:srgbClr val="D8D8EC"/>
                </a:solidFill>
                <a:latin typeface="Arial"/>
                <a:cs typeface="Arial"/>
              </a:rPr>
              <a:t>)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);</a:t>
            </a:r>
            <a:endParaRPr sz="1950" dirty="0">
              <a:latin typeface="Arial"/>
              <a:cs typeface="Arial"/>
            </a:endParaRPr>
          </a:p>
          <a:p>
            <a:pPr marL="591820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u="sng" spc="15" dirty="0" smtClean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*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6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));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71133" y="3264203"/>
            <a:ext cx="2622550" cy="345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Fator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220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2200" spc="1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ur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si</a:t>
            </a:r>
            <a:r>
              <a:rPr sz="2200" spc="-15" dirty="0">
                <a:solidFill>
                  <a:srgbClr val="FF3200"/>
                </a:solidFill>
                <a:latin typeface="Arial"/>
                <a:cs typeface="Arial"/>
              </a:rPr>
              <a:t>v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 (4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6111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04872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3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09344" y="2270375"/>
            <a:ext cx="795655" cy="157348"/>
          </a:xfrm>
          <a:custGeom>
            <a:avLst/>
            <a:gdLst/>
            <a:ahLst/>
            <a:cxnLst/>
            <a:rect l="l" t="t" r="r" b="b"/>
            <a:pathLst>
              <a:path w="79565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5655" h="157480">
                <a:moveTo>
                  <a:pt x="795527" y="79247"/>
                </a:moveTo>
                <a:lnTo>
                  <a:pt x="701039" y="0"/>
                </a:lnTo>
                <a:lnTo>
                  <a:pt x="701039" y="62483"/>
                </a:lnTo>
                <a:lnTo>
                  <a:pt x="716279" y="62483"/>
                </a:lnTo>
                <a:lnTo>
                  <a:pt x="716279" y="144435"/>
                </a:lnTo>
                <a:lnTo>
                  <a:pt x="795527" y="79247"/>
                </a:lnTo>
                <a:close/>
              </a:path>
              <a:path w="795655" h="157480">
                <a:moveTo>
                  <a:pt x="716279" y="144435"/>
                </a:moveTo>
                <a:lnTo>
                  <a:pt x="716279" y="94487"/>
                </a:lnTo>
                <a:lnTo>
                  <a:pt x="701039" y="94487"/>
                </a:lnTo>
                <a:lnTo>
                  <a:pt x="701039" y="156971"/>
                </a:lnTo>
                <a:lnTo>
                  <a:pt x="716279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12107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18104" y="2270375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4755" y="94487"/>
                </a:moveTo>
                <a:lnTo>
                  <a:pt x="714755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4755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4755" y="62483"/>
                </a:lnTo>
                <a:lnTo>
                  <a:pt x="714755" y="144435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4755" y="144435"/>
                </a:moveTo>
                <a:lnTo>
                  <a:pt x="714755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4755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419344" y="2110489"/>
            <a:ext cx="71501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625340" y="2271898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6279" y="62483"/>
                </a:lnTo>
                <a:lnTo>
                  <a:pt x="716279" y="143182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6279" y="143182"/>
                </a:moveTo>
                <a:lnTo>
                  <a:pt x="716279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6279" y="1431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21480" y="2663238"/>
            <a:ext cx="1571625" cy="269648"/>
          </a:xfrm>
          <a:custGeom>
            <a:avLst/>
            <a:gdLst/>
            <a:ahLst/>
            <a:cxnLst/>
            <a:rect l="l" t="t" r="r" b="b"/>
            <a:pathLst>
              <a:path w="1571625" h="269875">
                <a:moveTo>
                  <a:pt x="94487" y="94487"/>
                </a:moveTo>
                <a:lnTo>
                  <a:pt x="47243" y="0"/>
                </a:lnTo>
                <a:lnTo>
                  <a:pt x="0" y="94487"/>
                </a:lnTo>
                <a:lnTo>
                  <a:pt x="32003" y="94487"/>
                </a:lnTo>
                <a:lnTo>
                  <a:pt x="32003" y="79247"/>
                </a:lnTo>
                <a:lnTo>
                  <a:pt x="62483" y="79247"/>
                </a:lnTo>
                <a:lnTo>
                  <a:pt x="62483" y="94487"/>
                </a:lnTo>
                <a:lnTo>
                  <a:pt x="94487" y="94487"/>
                </a:lnTo>
                <a:close/>
              </a:path>
              <a:path w="1571625" h="269875">
                <a:moveTo>
                  <a:pt x="62483" y="94487"/>
                </a:moveTo>
                <a:lnTo>
                  <a:pt x="62483" y="79247"/>
                </a:lnTo>
                <a:lnTo>
                  <a:pt x="32003" y="79247"/>
                </a:lnTo>
                <a:lnTo>
                  <a:pt x="32003" y="94487"/>
                </a:lnTo>
                <a:lnTo>
                  <a:pt x="62483" y="94487"/>
                </a:lnTo>
                <a:close/>
              </a:path>
              <a:path w="1571625" h="269875">
                <a:moveTo>
                  <a:pt x="62483" y="237743"/>
                </a:moveTo>
                <a:lnTo>
                  <a:pt x="62483" y="94487"/>
                </a:lnTo>
                <a:lnTo>
                  <a:pt x="32003" y="94487"/>
                </a:lnTo>
                <a:lnTo>
                  <a:pt x="32003" y="269747"/>
                </a:lnTo>
                <a:lnTo>
                  <a:pt x="47243" y="269747"/>
                </a:lnTo>
                <a:lnTo>
                  <a:pt x="47243" y="237743"/>
                </a:lnTo>
                <a:lnTo>
                  <a:pt x="62483" y="237743"/>
                </a:lnTo>
                <a:close/>
              </a:path>
              <a:path w="1571625" h="269875">
                <a:moveTo>
                  <a:pt x="1554479" y="237743"/>
                </a:moveTo>
                <a:lnTo>
                  <a:pt x="47243" y="237743"/>
                </a:lnTo>
                <a:lnTo>
                  <a:pt x="62483" y="254507"/>
                </a:lnTo>
                <a:lnTo>
                  <a:pt x="62483" y="269747"/>
                </a:lnTo>
                <a:lnTo>
                  <a:pt x="1539239" y="269747"/>
                </a:lnTo>
                <a:lnTo>
                  <a:pt x="1539239" y="254507"/>
                </a:lnTo>
                <a:lnTo>
                  <a:pt x="1554479" y="237743"/>
                </a:lnTo>
                <a:close/>
              </a:path>
              <a:path w="1571625" h="269875">
                <a:moveTo>
                  <a:pt x="62483" y="269747"/>
                </a:moveTo>
                <a:lnTo>
                  <a:pt x="62483" y="254507"/>
                </a:lnTo>
                <a:lnTo>
                  <a:pt x="47243" y="237743"/>
                </a:lnTo>
                <a:lnTo>
                  <a:pt x="47243" y="269747"/>
                </a:lnTo>
                <a:lnTo>
                  <a:pt x="62483" y="269747"/>
                </a:lnTo>
                <a:close/>
              </a:path>
              <a:path w="1571625" h="269875">
                <a:moveTo>
                  <a:pt x="1571243" y="269747"/>
                </a:moveTo>
                <a:lnTo>
                  <a:pt x="1571243" y="1523"/>
                </a:lnTo>
                <a:lnTo>
                  <a:pt x="1539239" y="1523"/>
                </a:lnTo>
                <a:lnTo>
                  <a:pt x="1539239" y="237743"/>
                </a:lnTo>
                <a:lnTo>
                  <a:pt x="1554479" y="237743"/>
                </a:lnTo>
                <a:lnTo>
                  <a:pt x="1554479" y="269747"/>
                </a:lnTo>
                <a:lnTo>
                  <a:pt x="1571243" y="269747"/>
                </a:lnTo>
                <a:close/>
              </a:path>
              <a:path w="1571625" h="269875">
                <a:moveTo>
                  <a:pt x="1554479" y="269747"/>
                </a:moveTo>
                <a:lnTo>
                  <a:pt x="1554479" y="237743"/>
                </a:lnTo>
                <a:lnTo>
                  <a:pt x="1539239" y="254507"/>
                </a:lnTo>
                <a:lnTo>
                  <a:pt x="1539239" y="269747"/>
                </a:lnTo>
                <a:lnTo>
                  <a:pt x="1554479" y="2697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929631" y="2554362"/>
            <a:ext cx="1657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595372" y="2664761"/>
            <a:ext cx="1569720" cy="269648"/>
          </a:xfrm>
          <a:custGeom>
            <a:avLst/>
            <a:gdLst/>
            <a:ahLst/>
            <a:cxnLst/>
            <a:rect l="l" t="t" r="r" b="b"/>
            <a:pathLst>
              <a:path w="1569720" h="269875">
                <a:moveTo>
                  <a:pt x="94487" y="94487"/>
                </a:moveTo>
                <a:lnTo>
                  <a:pt x="47243" y="0"/>
                </a:lnTo>
                <a:lnTo>
                  <a:pt x="0" y="94487"/>
                </a:lnTo>
                <a:lnTo>
                  <a:pt x="30479" y="94487"/>
                </a:lnTo>
                <a:lnTo>
                  <a:pt x="30479" y="79247"/>
                </a:lnTo>
                <a:lnTo>
                  <a:pt x="62483" y="79247"/>
                </a:lnTo>
                <a:lnTo>
                  <a:pt x="62483" y="94487"/>
                </a:lnTo>
                <a:lnTo>
                  <a:pt x="94487" y="94487"/>
                </a:lnTo>
                <a:close/>
              </a:path>
              <a:path w="1569720" h="269875">
                <a:moveTo>
                  <a:pt x="62483" y="94487"/>
                </a:moveTo>
                <a:lnTo>
                  <a:pt x="62483" y="79247"/>
                </a:lnTo>
                <a:lnTo>
                  <a:pt x="30479" y="79247"/>
                </a:lnTo>
                <a:lnTo>
                  <a:pt x="30479" y="94487"/>
                </a:lnTo>
                <a:lnTo>
                  <a:pt x="62483" y="94487"/>
                </a:lnTo>
                <a:close/>
              </a:path>
              <a:path w="1569720" h="269875">
                <a:moveTo>
                  <a:pt x="62483" y="237743"/>
                </a:moveTo>
                <a:lnTo>
                  <a:pt x="62483" y="94487"/>
                </a:lnTo>
                <a:lnTo>
                  <a:pt x="30479" y="94487"/>
                </a:lnTo>
                <a:lnTo>
                  <a:pt x="30479" y="269747"/>
                </a:lnTo>
                <a:lnTo>
                  <a:pt x="47243" y="269747"/>
                </a:lnTo>
                <a:lnTo>
                  <a:pt x="47243" y="237743"/>
                </a:lnTo>
                <a:lnTo>
                  <a:pt x="62483" y="237743"/>
                </a:lnTo>
                <a:close/>
              </a:path>
              <a:path w="1569720" h="269875">
                <a:moveTo>
                  <a:pt x="1554479" y="237743"/>
                </a:moveTo>
                <a:lnTo>
                  <a:pt x="47243" y="237743"/>
                </a:lnTo>
                <a:lnTo>
                  <a:pt x="62483" y="254507"/>
                </a:lnTo>
                <a:lnTo>
                  <a:pt x="62483" y="269747"/>
                </a:lnTo>
                <a:lnTo>
                  <a:pt x="1539239" y="269747"/>
                </a:lnTo>
                <a:lnTo>
                  <a:pt x="1539239" y="254507"/>
                </a:lnTo>
                <a:lnTo>
                  <a:pt x="1554479" y="237743"/>
                </a:lnTo>
                <a:close/>
              </a:path>
              <a:path w="1569720" h="269875">
                <a:moveTo>
                  <a:pt x="62483" y="269747"/>
                </a:moveTo>
                <a:lnTo>
                  <a:pt x="62483" y="254507"/>
                </a:lnTo>
                <a:lnTo>
                  <a:pt x="47243" y="237743"/>
                </a:lnTo>
                <a:lnTo>
                  <a:pt x="47243" y="269747"/>
                </a:lnTo>
                <a:lnTo>
                  <a:pt x="62483" y="269747"/>
                </a:lnTo>
                <a:close/>
              </a:path>
              <a:path w="1569720" h="269875">
                <a:moveTo>
                  <a:pt x="1569719" y="269747"/>
                </a:moveTo>
                <a:lnTo>
                  <a:pt x="1569719" y="1523"/>
                </a:lnTo>
                <a:lnTo>
                  <a:pt x="1539239" y="1523"/>
                </a:lnTo>
                <a:lnTo>
                  <a:pt x="1539239" y="237743"/>
                </a:lnTo>
                <a:lnTo>
                  <a:pt x="1554479" y="237743"/>
                </a:lnTo>
                <a:lnTo>
                  <a:pt x="1554479" y="269747"/>
                </a:lnTo>
                <a:lnTo>
                  <a:pt x="1569719" y="269747"/>
                </a:lnTo>
                <a:close/>
              </a:path>
              <a:path w="1569720" h="269875">
                <a:moveTo>
                  <a:pt x="1554479" y="269747"/>
                </a:moveTo>
                <a:lnTo>
                  <a:pt x="1554479" y="237743"/>
                </a:lnTo>
                <a:lnTo>
                  <a:pt x="1539239" y="254507"/>
                </a:lnTo>
                <a:lnTo>
                  <a:pt x="1539239" y="269747"/>
                </a:lnTo>
                <a:lnTo>
                  <a:pt x="1554479" y="2697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340098" y="2554362"/>
            <a:ext cx="1657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07363" y="2664761"/>
            <a:ext cx="1569720" cy="269648"/>
          </a:xfrm>
          <a:custGeom>
            <a:avLst/>
            <a:gdLst/>
            <a:ahLst/>
            <a:cxnLst/>
            <a:rect l="l" t="t" r="r" b="b"/>
            <a:pathLst>
              <a:path w="1569720" h="269875">
                <a:moveTo>
                  <a:pt x="92963" y="94487"/>
                </a:moveTo>
                <a:lnTo>
                  <a:pt x="47243" y="0"/>
                </a:lnTo>
                <a:lnTo>
                  <a:pt x="0" y="94487"/>
                </a:lnTo>
                <a:lnTo>
                  <a:pt x="30479" y="94487"/>
                </a:lnTo>
                <a:lnTo>
                  <a:pt x="30479" y="79247"/>
                </a:lnTo>
                <a:lnTo>
                  <a:pt x="62483" y="79247"/>
                </a:lnTo>
                <a:lnTo>
                  <a:pt x="62483" y="94487"/>
                </a:lnTo>
                <a:lnTo>
                  <a:pt x="92963" y="94487"/>
                </a:lnTo>
                <a:close/>
              </a:path>
              <a:path w="1569720" h="269875">
                <a:moveTo>
                  <a:pt x="62483" y="94487"/>
                </a:moveTo>
                <a:lnTo>
                  <a:pt x="62483" y="79247"/>
                </a:lnTo>
                <a:lnTo>
                  <a:pt x="30479" y="79247"/>
                </a:lnTo>
                <a:lnTo>
                  <a:pt x="30479" y="94487"/>
                </a:lnTo>
                <a:lnTo>
                  <a:pt x="62483" y="94487"/>
                </a:lnTo>
                <a:close/>
              </a:path>
              <a:path w="1569720" h="269875">
                <a:moveTo>
                  <a:pt x="62483" y="237743"/>
                </a:moveTo>
                <a:lnTo>
                  <a:pt x="62483" y="94487"/>
                </a:lnTo>
                <a:lnTo>
                  <a:pt x="30479" y="94487"/>
                </a:lnTo>
                <a:lnTo>
                  <a:pt x="30479" y="269747"/>
                </a:lnTo>
                <a:lnTo>
                  <a:pt x="47243" y="269747"/>
                </a:lnTo>
                <a:lnTo>
                  <a:pt x="47243" y="237743"/>
                </a:lnTo>
                <a:lnTo>
                  <a:pt x="62483" y="237743"/>
                </a:lnTo>
                <a:close/>
              </a:path>
              <a:path w="1569720" h="269875">
                <a:moveTo>
                  <a:pt x="1554479" y="237743"/>
                </a:moveTo>
                <a:lnTo>
                  <a:pt x="47243" y="237743"/>
                </a:lnTo>
                <a:lnTo>
                  <a:pt x="62483" y="254507"/>
                </a:lnTo>
                <a:lnTo>
                  <a:pt x="62483" y="269747"/>
                </a:lnTo>
                <a:lnTo>
                  <a:pt x="1539239" y="269747"/>
                </a:lnTo>
                <a:lnTo>
                  <a:pt x="1539239" y="254507"/>
                </a:lnTo>
                <a:lnTo>
                  <a:pt x="1554479" y="237743"/>
                </a:lnTo>
                <a:close/>
              </a:path>
              <a:path w="1569720" h="269875">
                <a:moveTo>
                  <a:pt x="62483" y="269747"/>
                </a:moveTo>
                <a:lnTo>
                  <a:pt x="62483" y="254507"/>
                </a:lnTo>
                <a:lnTo>
                  <a:pt x="47243" y="237743"/>
                </a:lnTo>
                <a:lnTo>
                  <a:pt x="47243" y="269747"/>
                </a:lnTo>
                <a:lnTo>
                  <a:pt x="62483" y="269747"/>
                </a:lnTo>
                <a:close/>
              </a:path>
              <a:path w="1569720" h="269875">
                <a:moveTo>
                  <a:pt x="1569719" y="269747"/>
                </a:moveTo>
                <a:lnTo>
                  <a:pt x="1569719" y="1523"/>
                </a:lnTo>
                <a:lnTo>
                  <a:pt x="1539239" y="1523"/>
                </a:lnTo>
                <a:lnTo>
                  <a:pt x="1539239" y="237743"/>
                </a:lnTo>
                <a:lnTo>
                  <a:pt x="1554479" y="237743"/>
                </a:lnTo>
                <a:lnTo>
                  <a:pt x="1554479" y="269747"/>
                </a:lnTo>
                <a:lnTo>
                  <a:pt x="1569719" y="269747"/>
                </a:lnTo>
                <a:close/>
              </a:path>
              <a:path w="1569720" h="269875">
                <a:moveTo>
                  <a:pt x="1554479" y="269747"/>
                </a:moveTo>
                <a:lnTo>
                  <a:pt x="1554479" y="237743"/>
                </a:lnTo>
                <a:lnTo>
                  <a:pt x="1539239" y="254507"/>
                </a:lnTo>
                <a:lnTo>
                  <a:pt x="1539239" y="269747"/>
                </a:lnTo>
                <a:lnTo>
                  <a:pt x="1554479" y="269747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752092" y="2554362"/>
            <a:ext cx="1657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6</a:t>
            </a:r>
            <a:endParaRPr sz="195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914095"/>
          </a:xfrm>
          <a:prstGeom prst="rect">
            <a:avLst/>
          </a:prstGeom>
        </p:spPr>
        <p:txBody>
          <a:bodyPr vert="horz" wrap="square" lIns="0" tIns="31851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i</a:t>
            </a:r>
            <a:r>
              <a:rPr spc="-15" dirty="0"/>
              <a:t>m</a:t>
            </a:r>
            <a:r>
              <a:rPr dirty="0"/>
              <a:t>ul</a:t>
            </a:r>
            <a:r>
              <a:rPr spc="-10" dirty="0"/>
              <a:t>a</a:t>
            </a:r>
            <a:r>
              <a:rPr dirty="0"/>
              <a:t>nd</a:t>
            </a:r>
            <a:r>
              <a:rPr spc="-5" dirty="0"/>
              <a:t>o</a:t>
            </a:r>
            <a:r>
              <a:rPr spc="20" dirty="0"/>
              <a:t> 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</a:t>
            </a:r>
          </a:p>
        </p:txBody>
      </p:sp>
    </p:spTree>
    <p:extLst>
      <p:ext uri="{BB962C8B-B14F-4D97-AF65-F5344CB8AC3E}">
        <p14:creationId xmlns:p14="http://schemas.microsoft.com/office/powerpoint/2010/main" val="966217672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04588" y="3756552"/>
            <a:ext cx="5316220" cy="3436907"/>
          </a:xfrm>
          <a:prstGeom prst="rect">
            <a:avLst/>
          </a:prstGeom>
          <a:ln w="10495">
            <a:solidFill>
              <a:srgbClr val="D8D8EC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370"/>
              </a:spcBef>
            </a:pPr>
            <a:r>
              <a:rPr sz="1950" u="sng" spc="5" dirty="0" err="1" smtClean="0">
                <a:latin typeface="Arial"/>
                <a:cs typeface="Arial"/>
              </a:rPr>
              <a:t>i</a:t>
            </a:r>
            <a:r>
              <a:rPr sz="1950" u="sng" spc="15" dirty="0" err="1" smtClean="0">
                <a:latin typeface="Arial"/>
                <a:cs typeface="Arial"/>
              </a:rPr>
              <a:t>n</a:t>
            </a:r>
            <a:r>
              <a:rPr sz="1950" u="sng" spc="5" dirty="0" err="1" smtClean="0">
                <a:latin typeface="Arial"/>
                <a:cs typeface="Arial"/>
              </a:rPr>
              <a:t>t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F</a:t>
            </a:r>
            <a:r>
              <a:rPr sz="1950" spc="5" dirty="0">
                <a:latin typeface="Arial"/>
                <a:cs typeface="Arial"/>
              </a:rPr>
              <a:t>at</a:t>
            </a:r>
            <a:r>
              <a:rPr sz="1950" spc="15" dirty="0">
                <a:latin typeface="Arial"/>
                <a:cs typeface="Arial"/>
              </a:rPr>
              <a:t>o</a:t>
            </a:r>
            <a:r>
              <a:rPr sz="1950" spc="5" dirty="0">
                <a:latin typeface="Arial"/>
                <a:cs typeface="Arial"/>
              </a:rPr>
              <a:t>rial</a:t>
            </a:r>
            <a:r>
              <a:rPr sz="1950" spc="15" dirty="0">
                <a:latin typeface="Arial"/>
                <a:cs typeface="Arial"/>
              </a:rPr>
              <a:t>Recu</a:t>
            </a:r>
            <a:r>
              <a:rPr sz="1950" spc="5" dirty="0">
                <a:latin typeface="Arial"/>
                <a:cs typeface="Arial"/>
              </a:rPr>
              <a:t>r</a:t>
            </a:r>
            <a:r>
              <a:rPr sz="1950" spc="15" dirty="0">
                <a:latin typeface="Arial"/>
                <a:cs typeface="Arial"/>
              </a:rPr>
              <a:t>s</a:t>
            </a:r>
            <a:r>
              <a:rPr sz="1950" spc="-5" dirty="0">
                <a:latin typeface="Arial"/>
                <a:cs typeface="Arial"/>
              </a:rPr>
              <a:t>i</a:t>
            </a:r>
            <a:r>
              <a:rPr sz="1950" spc="15" dirty="0">
                <a:latin typeface="Arial"/>
                <a:cs typeface="Arial"/>
              </a:rPr>
              <a:t>vo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  <a:tabLst>
                <a:tab pos="648335" algn="l"/>
              </a:tabLst>
            </a:pPr>
            <a:r>
              <a:rPr lang="pt-BR" sz="1950" u="sng" spc="15" dirty="0" err="1" smtClean="0">
                <a:latin typeface="Arial"/>
                <a:cs typeface="Arial"/>
              </a:rPr>
              <a:t>if</a:t>
            </a:r>
            <a:r>
              <a:rPr sz="1950" dirty="0">
                <a:latin typeface="Arial"/>
                <a:cs typeface="Arial"/>
              </a:rPr>
              <a:t>	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lang="pt-BR" sz="1950" spc="10" dirty="0" smtClean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r>
              <a:rPr sz="1950" spc="15" dirty="0" smtClean="0">
                <a:latin typeface="Arial"/>
                <a:cs typeface="Arial"/>
              </a:rPr>
              <a:t>=</a:t>
            </a:r>
            <a:r>
              <a:rPr sz="1950" spc="5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latin typeface="Arial"/>
                <a:cs typeface="Arial"/>
              </a:rPr>
              <a:t>r</a:t>
            </a:r>
            <a:r>
              <a:rPr sz="1950" u="sng" spc="15" dirty="0" smtClean="0">
                <a:latin typeface="Arial"/>
                <a:cs typeface="Arial"/>
              </a:rPr>
              <a:t>e</a:t>
            </a:r>
            <a:r>
              <a:rPr sz="1950" u="sng" spc="5" dirty="0" smtClean="0"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latin typeface="Arial"/>
                <a:cs typeface="Arial"/>
              </a:rPr>
              <a:t>urn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1;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35"/>
              </a:spcBef>
            </a:pPr>
            <a:r>
              <a:rPr lang="pt-BR" sz="1950" u="sng" spc="15" dirty="0" err="1" smtClean="0">
                <a:latin typeface="Arial"/>
                <a:cs typeface="Arial"/>
              </a:rPr>
              <a:t>else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 //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 smtClean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15" dirty="0" smtClean="0">
                <a:solidFill>
                  <a:srgbClr val="D8D8EC"/>
                </a:solidFill>
                <a:latin typeface="Arial"/>
                <a:cs typeface="Arial"/>
              </a:rPr>
              <a:t>e</a:t>
            </a:r>
            <a:r>
              <a:rPr sz="1950" spc="5" dirty="0" smtClean="0">
                <a:solidFill>
                  <a:srgbClr val="D8D8EC"/>
                </a:solidFill>
                <a:latin typeface="Arial"/>
                <a:cs typeface="Arial"/>
              </a:rPr>
              <a:t>t</a:t>
            </a:r>
            <a:r>
              <a:rPr lang="pt-BR" sz="1950" spc="15" dirty="0" err="1" smtClean="0">
                <a:solidFill>
                  <a:srgbClr val="D8D8EC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D8D8EC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4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*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Fa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t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o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ri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a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l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e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cu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s</a:t>
            </a:r>
            <a:r>
              <a:rPr sz="1950" spc="-5" dirty="0">
                <a:solidFill>
                  <a:srgbClr val="D8D8EC"/>
                </a:solidFill>
                <a:latin typeface="Arial"/>
                <a:cs typeface="Arial"/>
              </a:rPr>
              <a:t>i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vo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4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-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1</a:t>
            </a:r>
            <a:r>
              <a:rPr sz="1950" spc="-10" dirty="0">
                <a:solidFill>
                  <a:srgbClr val="D8D8EC"/>
                </a:solidFill>
                <a:latin typeface="Arial"/>
                <a:cs typeface="Arial"/>
              </a:rPr>
              <a:t>)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);</a:t>
            </a:r>
            <a:endParaRPr sz="1950" dirty="0">
              <a:latin typeface="Arial"/>
              <a:cs typeface="Arial"/>
            </a:endParaRPr>
          </a:p>
          <a:p>
            <a:pPr marL="591820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u="sng" spc="15" dirty="0" smtClean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*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6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));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71133" y="3264203"/>
            <a:ext cx="2622550" cy="345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Fator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220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2200" spc="1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ur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si</a:t>
            </a:r>
            <a:r>
              <a:rPr sz="2200" spc="-15" dirty="0">
                <a:solidFill>
                  <a:srgbClr val="FF3200"/>
                </a:solidFill>
                <a:latin typeface="Arial"/>
                <a:cs typeface="Arial"/>
              </a:rPr>
              <a:t>v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 (4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6111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04872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3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09344" y="2270375"/>
            <a:ext cx="795655" cy="157348"/>
          </a:xfrm>
          <a:custGeom>
            <a:avLst/>
            <a:gdLst/>
            <a:ahLst/>
            <a:cxnLst/>
            <a:rect l="l" t="t" r="r" b="b"/>
            <a:pathLst>
              <a:path w="79565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5655" h="157480">
                <a:moveTo>
                  <a:pt x="795527" y="79247"/>
                </a:moveTo>
                <a:lnTo>
                  <a:pt x="701039" y="0"/>
                </a:lnTo>
                <a:lnTo>
                  <a:pt x="701039" y="62483"/>
                </a:lnTo>
                <a:lnTo>
                  <a:pt x="716279" y="62483"/>
                </a:lnTo>
                <a:lnTo>
                  <a:pt x="716279" y="144435"/>
                </a:lnTo>
                <a:lnTo>
                  <a:pt x="795527" y="79247"/>
                </a:lnTo>
                <a:close/>
              </a:path>
              <a:path w="795655" h="157480">
                <a:moveTo>
                  <a:pt x="716279" y="144435"/>
                </a:moveTo>
                <a:lnTo>
                  <a:pt x="716279" y="94487"/>
                </a:lnTo>
                <a:lnTo>
                  <a:pt x="701039" y="94487"/>
                </a:lnTo>
                <a:lnTo>
                  <a:pt x="701039" y="156971"/>
                </a:lnTo>
                <a:lnTo>
                  <a:pt x="716279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12107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18104" y="2270375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4755" y="94487"/>
                </a:moveTo>
                <a:lnTo>
                  <a:pt x="714755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4755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4755" y="62483"/>
                </a:lnTo>
                <a:lnTo>
                  <a:pt x="714755" y="144435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4755" y="144435"/>
                </a:moveTo>
                <a:lnTo>
                  <a:pt x="714755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4755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419344" y="2110489"/>
            <a:ext cx="71501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625340" y="2271898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6279" y="62483"/>
                </a:lnTo>
                <a:lnTo>
                  <a:pt x="716279" y="143182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6279" y="143182"/>
                </a:moveTo>
                <a:lnTo>
                  <a:pt x="716279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6279" y="1431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21480" y="2663238"/>
            <a:ext cx="1571625" cy="269648"/>
          </a:xfrm>
          <a:custGeom>
            <a:avLst/>
            <a:gdLst/>
            <a:ahLst/>
            <a:cxnLst/>
            <a:rect l="l" t="t" r="r" b="b"/>
            <a:pathLst>
              <a:path w="1571625" h="269875">
                <a:moveTo>
                  <a:pt x="94487" y="94487"/>
                </a:moveTo>
                <a:lnTo>
                  <a:pt x="47243" y="0"/>
                </a:lnTo>
                <a:lnTo>
                  <a:pt x="0" y="94487"/>
                </a:lnTo>
                <a:lnTo>
                  <a:pt x="32003" y="94487"/>
                </a:lnTo>
                <a:lnTo>
                  <a:pt x="32003" y="79247"/>
                </a:lnTo>
                <a:lnTo>
                  <a:pt x="62483" y="79247"/>
                </a:lnTo>
                <a:lnTo>
                  <a:pt x="62483" y="94487"/>
                </a:lnTo>
                <a:lnTo>
                  <a:pt x="94487" y="94487"/>
                </a:lnTo>
                <a:close/>
              </a:path>
              <a:path w="1571625" h="269875">
                <a:moveTo>
                  <a:pt x="62483" y="94487"/>
                </a:moveTo>
                <a:lnTo>
                  <a:pt x="62483" y="79247"/>
                </a:lnTo>
                <a:lnTo>
                  <a:pt x="32003" y="79247"/>
                </a:lnTo>
                <a:lnTo>
                  <a:pt x="32003" y="94487"/>
                </a:lnTo>
                <a:lnTo>
                  <a:pt x="62483" y="94487"/>
                </a:lnTo>
                <a:close/>
              </a:path>
              <a:path w="1571625" h="269875">
                <a:moveTo>
                  <a:pt x="62483" y="237743"/>
                </a:moveTo>
                <a:lnTo>
                  <a:pt x="62483" y="94487"/>
                </a:lnTo>
                <a:lnTo>
                  <a:pt x="32003" y="94487"/>
                </a:lnTo>
                <a:lnTo>
                  <a:pt x="32003" y="269747"/>
                </a:lnTo>
                <a:lnTo>
                  <a:pt x="47243" y="269747"/>
                </a:lnTo>
                <a:lnTo>
                  <a:pt x="47243" y="237743"/>
                </a:lnTo>
                <a:lnTo>
                  <a:pt x="62483" y="237743"/>
                </a:lnTo>
                <a:close/>
              </a:path>
              <a:path w="1571625" h="269875">
                <a:moveTo>
                  <a:pt x="1554479" y="237743"/>
                </a:moveTo>
                <a:lnTo>
                  <a:pt x="47243" y="237743"/>
                </a:lnTo>
                <a:lnTo>
                  <a:pt x="62483" y="254507"/>
                </a:lnTo>
                <a:lnTo>
                  <a:pt x="62483" y="269747"/>
                </a:lnTo>
                <a:lnTo>
                  <a:pt x="1539239" y="269747"/>
                </a:lnTo>
                <a:lnTo>
                  <a:pt x="1539239" y="254507"/>
                </a:lnTo>
                <a:lnTo>
                  <a:pt x="1554479" y="237743"/>
                </a:lnTo>
                <a:close/>
              </a:path>
              <a:path w="1571625" h="269875">
                <a:moveTo>
                  <a:pt x="62483" y="269747"/>
                </a:moveTo>
                <a:lnTo>
                  <a:pt x="62483" y="254507"/>
                </a:lnTo>
                <a:lnTo>
                  <a:pt x="47243" y="237743"/>
                </a:lnTo>
                <a:lnTo>
                  <a:pt x="47243" y="269747"/>
                </a:lnTo>
                <a:lnTo>
                  <a:pt x="62483" y="269747"/>
                </a:lnTo>
                <a:close/>
              </a:path>
              <a:path w="1571625" h="269875">
                <a:moveTo>
                  <a:pt x="1571243" y="269747"/>
                </a:moveTo>
                <a:lnTo>
                  <a:pt x="1571243" y="1523"/>
                </a:lnTo>
                <a:lnTo>
                  <a:pt x="1539239" y="1523"/>
                </a:lnTo>
                <a:lnTo>
                  <a:pt x="1539239" y="237743"/>
                </a:lnTo>
                <a:lnTo>
                  <a:pt x="1554479" y="237743"/>
                </a:lnTo>
                <a:lnTo>
                  <a:pt x="1554479" y="269747"/>
                </a:lnTo>
                <a:lnTo>
                  <a:pt x="1571243" y="269747"/>
                </a:lnTo>
                <a:close/>
              </a:path>
              <a:path w="1571625" h="269875">
                <a:moveTo>
                  <a:pt x="1554479" y="269747"/>
                </a:moveTo>
                <a:lnTo>
                  <a:pt x="1554479" y="237743"/>
                </a:lnTo>
                <a:lnTo>
                  <a:pt x="1539239" y="254507"/>
                </a:lnTo>
                <a:lnTo>
                  <a:pt x="1539239" y="269747"/>
                </a:lnTo>
                <a:lnTo>
                  <a:pt x="1554479" y="2697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929631" y="2554362"/>
            <a:ext cx="1657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595372" y="2664761"/>
            <a:ext cx="1569720" cy="269648"/>
          </a:xfrm>
          <a:custGeom>
            <a:avLst/>
            <a:gdLst/>
            <a:ahLst/>
            <a:cxnLst/>
            <a:rect l="l" t="t" r="r" b="b"/>
            <a:pathLst>
              <a:path w="1569720" h="269875">
                <a:moveTo>
                  <a:pt x="94487" y="94487"/>
                </a:moveTo>
                <a:lnTo>
                  <a:pt x="47243" y="0"/>
                </a:lnTo>
                <a:lnTo>
                  <a:pt x="0" y="94487"/>
                </a:lnTo>
                <a:lnTo>
                  <a:pt x="30479" y="94487"/>
                </a:lnTo>
                <a:lnTo>
                  <a:pt x="30479" y="79247"/>
                </a:lnTo>
                <a:lnTo>
                  <a:pt x="62483" y="79247"/>
                </a:lnTo>
                <a:lnTo>
                  <a:pt x="62483" y="94487"/>
                </a:lnTo>
                <a:lnTo>
                  <a:pt x="94487" y="94487"/>
                </a:lnTo>
                <a:close/>
              </a:path>
              <a:path w="1569720" h="269875">
                <a:moveTo>
                  <a:pt x="62483" y="94487"/>
                </a:moveTo>
                <a:lnTo>
                  <a:pt x="62483" y="79247"/>
                </a:lnTo>
                <a:lnTo>
                  <a:pt x="30479" y="79247"/>
                </a:lnTo>
                <a:lnTo>
                  <a:pt x="30479" y="94487"/>
                </a:lnTo>
                <a:lnTo>
                  <a:pt x="62483" y="94487"/>
                </a:lnTo>
                <a:close/>
              </a:path>
              <a:path w="1569720" h="269875">
                <a:moveTo>
                  <a:pt x="62483" y="237743"/>
                </a:moveTo>
                <a:lnTo>
                  <a:pt x="62483" y="94487"/>
                </a:lnTo>
                <a:lnTo>
                  <a:pt x="30479" y="94487"/>
                </a:lnTo>
                <a:lnTo>
                  <a:pt x="30479" y="269747"/>
                </a:lnTo>
                <a:lnTo>
                  <a:pt x="47243" y="269747"/>
                </a:lnTo>
                <a:lnTo>
                  <a:pt x="47243" y="237743"/>
                </a:lnTo>
                <a:lnTo>
                  <a:pt x="62483" y="237743"/>
                </a:lnTo>
                <a:close/>
              </a:path>
              <a:path w="1569720" h="269875">
                <a:moveTo>
                  <a:pt x="1554479" y="237743"/>
                </a:moveTo>
                <a:lnTo>
                  <a:pt x="47243" y="237743"/>
                </a:lnTo>
                <a:lnTo>
                  <a:pt x="62483" y="254507"/>
                </a:lnTo>
                <a:lnTo>
                  <a:pt x="62483" y="269747"/>
                </a:lnTo>
                <a:lnTo>
                  <a:pt x="1539239" y="269747"/>
                </a:lnTo>
                <a:lnTo>
                  <a:pt x="1539239" y="254507"/>
                </a:lnTo>
                <a:lnTo>
                  <a:pt x="1554479" y="237743"/>
                </a:lnTo>
                <a:close/>
              </a:path>
              <a:path w="1569720" h="269875">
                <a:moveTo>
                  <a:pt x="62483" y="269747"/>
                </a:moveTo>
                <a:lnTo>
                  <a:pt x="62483" y="254507"/>
                </a:lnTo>
                <a:lnTo>
                  <a:pt x="47243" y="237743"/>
                </a:lnTo>
                <a:lnTo>
                  <a:pt x="47243" y="269747"/>
                </a:lnTo>
                <a:lnTo>
                  <a:pt x="62483" y="269747"/>
                </a:lnTo>
                <a:close/>
              </a:path>
              <a:path w="1569720" h="269875">
                <a:moveTo>
                  <a:pt x="1569719" y="269747"/>
                </a:moveTo>
                <a:lnTo>
                  <a:pt x="1569719" y="1523"/>
                </a:lnTo>
                <a:lnTo>
                  <a:pt x="1539239" y="1523"/>
                </a:lnTo>
                <a:lnTo>
                  <a:pt x="1539239" y="237743"/>
                </a:lnTo>
                <a:lnTo>
                  <a:pt x="1554479" y="237743"/>
                </a:lnTo>
                <a:lnTo>
                  <a:pt x="1554479" y="269747"/>
                </a:lnTo>
                <a:lnTo>
                  <a:pt x="1569719" y="269747"/>
                </a:lnTo>
                <a:close/>
              </a:path>
              <a:path w="1569720" h="269875">
                <a:moveTo>
                  <a:pt x="1554479" y="269747"/>
                </a:moveTo>
                <a:lnTo>
                  <a:pt x="1554479" y="237743"/>
                </a:lnTo>
                <a:lnTo>
                  <a:pt x="1539239" y="254507"/>
                </a:lnTo>
                <a:lnTo>
                  <a:pt x="1539239" y="269747"/>
                </a:lnTo>
                <a:lnTo>
                  <a:pt x="1554479" y="2697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340098" y="2554362"/>
            <a:ext cx="1657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08887" y="2664761"/>
            <a:ext cx="1569720" cy="269648"/>
          </a:xfrm>
          <a:custGeom>
            <a:avLst/>
            <a:gdLst/>
            <a:ahLst/>
            <a:cxnLst/>
            <a:rect l="l" t="t" r="r" b="b"/>
            <a:pathLst>
              <a:path w="1569720" h="269875">
                <a:moveTo>
                  <a:pt x="94487" y="94487"/>
                </a:moveTo>
                <a:lnTo>
                  <a:pt x="47243" y="0"/>
                </a:lnTo>
                <a:lnTo>
                  <a:pt x="0" y="94487"/>
                </a:lnTo>
                <a:lnTo>
                  <a:pt x="30479" y="94487"/>
                </a:lnTo>
                <a:lnTo>
                  <a:pt x="30479" y="79247"/>
                </a:lnTo>
                <a:lnTo>
                  <a:pt x="62483" y="79247"/>
                </a:lnTo>
                <a:lnTo>
                  <a:pt x="62483" y="94487"/>
                </a:lnTo>
                <a:lnTo>
                  <a:pt x="94487" y="94487"/>
                </a:lnTo>
                <a:close/>
              </a:path>
              <a:path w="1569720" h="269875">
                <a:moveTo>
                  <a:pt x="62483" y="94487"/>
                </a:moveTo>
                <a:lnTo>
                  <a:pt x="62483" y="79247"/>
                </a:lnTo>
                <a:lnTo>
                  <a:pt x="30479" y="79247"/>
                </a:lnTo>
                <a:lnTo>
                  <a:pt x="30479" y="94487"/>
                </a:lnTo>
                <a:lnTo>
                  <a:pt x="62483" y="94487"/>
                </a:lnTo>
                <a:close/>
              </a:path>
              <a:path w="1569720" h="269875">
                <a:moveTo>
                  <a:pt x="62483" y="237743"/>
                </a:moveTo>
                <a:lnTo>
                  <a:pt x="62483" y="94487"/>
                </a:lnTo>
                <a:lnTo>
                  <a:pt x="30479" y="94487"/>
                </a:lnTo>
                <a:lnTo>
                  <a:pt x="30479" y="269747"/>
                </a:lnTo>
                <a:lnTo>
                  <a:pt x="47243" y="269747"/>
                </a:lnTo>
                <a:lnTo>
                  <a:pt x="47243" y="237743"/>
                </a:lnTo>
                <a:lnTo>
                  <a:pt x="62483" y="237743"/>
                </a:lnTo>
                <a:close/>
              </a:path>
              <a:path w="1569720" h="269875">
                <a:moveTo>
                  <a:pt x="1554479" y="237743"/>
                </a:moveTo>
                <a:lnTo>
                  <a:pt x="47243" y="237743"/>
                </a:lnTo>
                <a:lnTo>
                  <a:pt x="62483" y="254507"/>
                </a:lnTo>
                <a:lnTo>
                  <a:pt x="62483" y="269747"/>
                </a:lnTo>
                <a:lnTo>
                  <a:pt x="1539239" y="269747"/>
                </a:lnTo>
                <a:lnTo>
                  <a:pt x="1539239" y="254507"/>
                </a:lnTo>
                <a:lnTo>
                  <a:pt x="1554479" y="237743"/>
                </a:lnTo>
                <a:close/>
              </a:path>
              <a:path w="1569720" h="269875">
                <a:moveTo>
                  <a:pt x="62483" y="269747"/>
                </a:moveTo>
                <a:lnTo>
                  <a:pt x="62483" y="254507"/>
                </a:lnTo>
                <a:lnTo>
                  <a:pt x="47243" y="237743"/>
                </a:lnTo>
                <a:lnTo>
                  <a:pt x="47243" y="269747"/>
                </a:lnTo>
                <a:lnTo>
                  <a:pt x="62483" y="269747"/>
                </a:lnTo>
                <a:close/>
              </a:path>
              <a:path w="1569720" h="269875">
                <a:moveTo>
                  <a:pt x="1569719" y="269747"/>
                </a:moveTo>
                <a:lnTo>
                  <a:pt x="1569719" y="1523"/>
                </a:lnTo>
                <a:lnTo>
                  <a:pt x="1539239" y="1523"/>
                </a:lnTo>
                <a:lnTo>
                  <a:pt x="1539239" y="237743"/>
                </a:lnTo>
                <a:lnTo>
                  <a:pt x="1554479" y="237743"/>
                </a:lnTo>
                <a:lnTo>
                  <a:pt x="1554479" y="269747"/>
                </a:lnTo>
                <a:lnTo>
                  <a:pt x="1569719" y="269747"/>
                </a:lnTo>
                <a:close/>
              </a:path>
              <a:path w="1569720" h="269875">
                <a:moveTo>
                  <a:pt x="1554479" y="269747"/>
                </a:moveTo>
                <a:lnTo>
                  <a:pt x="1554479" y="237743"/>
                </a:lnTo>
                <a:lnTo>
                  <a:pt x="1539239" y="254507"/>
                </a:lnTo>
                <a:lnTo>
                  <a:pt x="1539239" y="269747"/>
                </a:lnTo>
                <a:lnTo>
                  <a:pt x="1554479" y="2697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752092" y="2554362"/>
            <a:ext cx="1657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latin typeface="Arial"/>
                <a:cs typeface="Arial"/>
              </a:rPr>
              <a:t>6</a:t>
            </a:r>
            <a:endParaRPr sz="195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96111" y="2664760"/>
            <a:ext cx="158750" cy="2457925"/>
          </a:xfrm>
          <a:custGeom>
            <a:avLst/>
            <a:gdLst/>
            <a:ahLst/>
            <a:cxnLst/>
            <a:rect l="l" t="t" r="r" b="b"/>
            <a:pathLst>
              <a:path w="158750" h="2459990">
                <a:moveTo>
                  <a:pt x="158495" y="2365247"/>
                </a:moveTo>
                <a:lnTo>
                  <a:pt x="0" y="2365247"/>
                </a:lnTo>
                <a:lnTo>
                  <a:pt x="64007" y="2441565"/>
                </a:lnTo>
                <a:lnTo>
                  <a:pt x="64007" y="2380487"/>
                </a:lnTo>
                <a:lnTo>
                  <a:pt x="94487" y="2380487"/>
                </a:lnTo>
                <a:lnTo>
                  <a:pt x="94487" y="2441565"/>
                </a:lnTo>
                <a:lnTo>
                  <a:pt x="158495" y="2365247"/>
                </a:lnTo>
                <a:close/>
              </a:path>
              <a:path w="158750" h="2459990">
                <a:moveTo>
                  <a:pt x="94487" y="2365247"/>
                </a:moveTo>
                <a:lnTo>
                  <a:pt x="94487" y="0"/>
                </a:lnTo>
                <a:lnTo>
                  <a:pt x="64007" y="0"/>
                </a:lnTo>
                <a:lnTo>
                  <a:pt x="64007" y="2365247"/>
                </a:lnTo>
                <a:lnTo>
                  <a:pt x="94487" y="2365247"/>
                </a:lnTo>
                <a:close/>
              </a:path>
              <a:path w="158750" h="2459990">
                <a:moveTo>
                  <a:pt x="94487" y="2441565"/>
                </a:moveTo>
                <a:lnTo>
                  <a:pt x="94487" y="2380487"/>
                </a:lnTo>
                <a:lnTo>
                  <a:pt x="64007" y="2380487"/>
                </a:lnTo>
                <a:lnTo>
                  <a:pt x="64007" y="2441565"/>
                </a:lnTo>
                <a:lnTo>
                  <a:pt x="79247" y="2459735"/>
                </a:lnTo>
                <a:lnTo>
                  <a:pt x="94487" y="2441565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37107" y="5322666"/>
            <a:ext cx="944244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70" dirty="0" smtClean="0">
                <a:solidFill>
                  <a:srgbClr val="FF3200"/>
                </a:solidFill>
                <a:latin typeface="Times New Roman"/>
                <a:cs typeface="Times New Roman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24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;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81760" y="3664425"/>
            <a:ext cx="3054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24</a:t>
            </a:r>
            <a:endParaRPr sz="195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914095"/>
          </a:xfrm>
          <a:prstGeom prst="rect">
            <a:avLst/>
          </a:prstGeom>
        </p:spPr>
        <p:txBody>
          <a:bodyPr vert="horz" wrap="square" lIns="0" tIns="31851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i</a:t>
            </a:r>
            <a:r>
              <a:rPr spc="-15" dirty="0"/>
              <a:t>m</a:t>
            </a:r>
            <a:r>
              <a:rPr dirty="0"/>
              <a:t>ul</a:t>
            </a:r>
            <a:r>
              <a:rPr spc="-10" dirty="0"/>
              <a:t>a</a:t>
            </a:r>
            <a:r>
              <a:rPr dirty="0"/>
              <a:t>nd</a:t>
            </a:r>
            <a:r>
              <a:rPr spc="-5" dirty="0"/>
              <a:t>o</a:t>
            </a:r>
            <a:r>
              <a:rPr spc="20" dirty="0"/>
              <a:t> 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</a:t>
            </a:r>
          </a:p>
        </p:txBody>
      </p:sp>
    </p:spTree>
    <p:extLst>
      <p:ext uri="{BB962C8B-B14F-4D97-AF65-F5344CB8AC3E}">
        <p14:creationId xmlns:p14="http://schemas.microsoft.com/office/powerpoint/2010/main" val="3471426148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802005" y="882650"/>
            <a:ext cx="908939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r</a:t>
            </a:r>
            <a:r>
              <a:rPr spc="0" dirty="0"/>
              <a:t>c</a:t>
            </a:r>
            <a:r>
              <a:rPr dirty="0"/>
              <a:t>í</a:t>
            </a:r>
            <a:r>
              <a:rPr spc="-10" dirty="0"/>
              <a:t>c</a:t>
            </a:r>
            <a:r>
              <a:rPr dirty="0"/>
              <a:t>i</a:t>
            </a:r>
            <a:r>
              <a:rPr spc="-5" dirty="0"/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0843" y="2307648"/>
            <a:ext cx="8321040" cy="1418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405" marR="5080" indent="-53340">
              <a:lnSpc>
                <a:spcPct val="101099"/>
              </a:lnSpc>
            </a:pPr>
            <a:r>
              <a:rPr sz="3050" spc="15" dirty="0">
                <a:latin typeface="Arial"/>
                <a:cs typeface="Arial"/>
              </a:rPr>
              <a:t>Escre</a:t>
            </a:r>
            <a:r>
              <a:rPr sz="3050" spc="20" dirty="0">
                <a:latin typeface="Arial"/>
                <a:cs typeface="Arial"/>
              </a:rPr>
              <a:t>v</a:t>
            </a:r>
            <a:r>
              <a:rPr sz="3050" spc="15" dirty="0">
                <a:latin typeface="Arial"/>
                <a:cs typeface="Arial"/>
              </a:rPr>
              <a:t>a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spc="25" dirty="0">
                <a:latin typeface="Arial"/>
                <a:cs typeface="Arial"/>
              </a:rPr>
              <a:t>um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spc="20" dirty="0">
                <a:latin typeface="Arial"/>
                <a:cs typeface="Arial"/>
              </a:rPr>
              <a:t>c</a:t>
            </a:r>
            <a:r>
              <a:rPr sz="3050" spc="25" dirty="0">
                <a:latin typeface="Arial"/>
                <a:cs typeface="Arial"/>
              </a:rPr>
              <a:t>ó</a:t>
            </a:r>
            <a:r>
              <a:rPr sz="3050" spc="15" dirty="0">
                <a:latin typeface="Arial"/>
                <a:cs typeface="Arial"/>
              </a:rPr>
              <a:t>d</a:t>
            </a:r>
            <a:r>
              <a:rPr sz="3050" dirty="0">
                <a:latin typeface="Arial"/>
                <a:cs typeface="Arial"/>
              </a:rPr>
              <a:t>i</a:t>
            </a:r>
            <a:r>
              <a:rPr sz="3050" spc="25" dirty="0">
                <a:latin typeface="Arial"/>
                <a:cs typeface="Arial"/>
              </a:rPr>
              <a:t>g</a:t>
            </a:r>
            <a:r>
              <a:rPr sz="3050" spc="15" dirty="0">
                <a:latin typeface="Arial"/>
                <a:cs typeface="Arial"/>
              </a:rPr>
              <a:t>o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spc="15" dirty="0">
                <a:latin typeface="Arial"/>
                <a:cs typeface="Arial"/>
              </a:rPr>
              <a:t>re</a:t>
            </a:r>
            <a:r>
              <a:rPr sz="3050" spc="25" dirty="0">
                <a:latin typeface="Arial"/>
                <a:cs typeface="Arial"/>
              </a:rPr>
              <a:t>c</a:t>
            </a:r>
            <a:r>
              <a:rPr sz="3050" spc="15" dirty="0">
                <a:latin typeface="Arial"/>
                <a:cs typeface="Arial"/>
              </a:rPr>
              <a:t>urs</a:t>
            </a:r>
            <a:r>
              <a:rPr sz="3050" dirty="0">
                <a:latin typeface="Arial"/>
                <a:cs typeface="Arial"/>
              </a:rPr>
              <a:t>i</a:t>
            </a:r>
            <a:r>
              <a:rPr sz="3050" spc="20" dirty="0">
                <a:latin typeface="Arial"/>
                <a:cs typeface="Arial"/>
              </a:rPr>
              <a:t>v</a:t>
            </a:r>
            <a:r>
              <a:rPr sz="3050" spc="15" dirty="0">
                <a:latin typeface="Arial"/>
                <a:cs typeface="Arial"/>
              </a:rPr>
              <a:t>o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spc="25" dirty="0">
                <a:latin typeface="Arial"/>
                <a:cs typeface="Arial"/>
              </a:rPr>
              <a:t>p</a:t>
            </a:r>
            <a:r>
              <a:rPr sz="3050" spc="15" dirty="0">
                <a:latin typeface="Arial"/>
                <a:cs typeface="Arial"/>
              </a:rPr>
              <a:t>ara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spc="20" dirty="0">
                <a:latin typeface="Arial"/>
                <a:cs typeface="Arial"/>
              </a:rPr>
              <a:t>c</a:t>
            </a:r>
            <a:r>
              <a:rPr sz="3050" spc="15" dirty="0">
                <a:latin typeface="Arial"/>
                <a:cs typeface="Arial"/>
              </a:rPr>
              <a:t>a</a:t>
            </a:r>
            <a:r>
              <a:rPr sz="3050" dirty="0">
                <a:latin typeface="Arial"/>
                <a:cs typeface="Arial"/>
              </a:rPr>
              <a:t>l</a:t>
            </a:r>
            <a:r>
              <a:rPr sz="3050" spc="25" dirty="0">
                <a:latin typeface="Arial"/>
                <a:cs typeface="Arial"/>
              </a:rPr>
              <a:t>c</a:t>
            </a:r>
            <a:r>
              <a:rPr sz="3050" spc="15" dirty="0">
                <a:latin typeface="Arial"/>
                <a:cs typeface="Arial"/>
              </a:rPr>
              <a:t>u</a:t>
            </a:r>
            <a:r>
              <a:rPr sz="3050" dirty="0">
                <a:latin typeface="Arial"/>
                <a:cs typeface="Arial"/>
              </a:rPr>
              <a:t>l</a:t>
            </a:r>
            <a:r>
              <a:rPr sz="3050" spc="15" dirty="0">
                <a:latin typeface="Arial"/>
                <a:cs typeface="Arial"/>
              </a:rPr>
              <a:t>a</a:t>
            </a:r>
            <a:r>
              <a:rPr sz="3050" spc="10" dirty="0">
                <a:latin typeface="Arial"/>
                <a:cs typeface="Arial"/>
              </a:rPr>
              <a:t>r</a:t>
            </a:r>
            <a:r>
              <a:rPr sz="3050" spc="20" dirty="0">
                <a:latin typeface="Arial"/>
                <a:cs typeface="Arial"/>
              </a:rPr>
              <a:t> </a:t>
            </a:r>
            <a:r>
              <a:rPr sz="3050" spc="15" dirty="0">
                <a:latin typeface="Arial"/>
                <a:cs typeface="Arial"/>
              </a:rPr>
              <a:t>o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spc="25" dirty="0">
                <a:latin typeface="Arial"/>
                <a:cs typeface="Arial"/>
              </a:rPr>
              <a:t>m</a:t>
            </a:r>
            <a:r>
              <a:rPr sz="3050" spc="15" dirty="0">
                <a:latin typeface="Arial"/>
                <a:cs typeface="Arial"/>
              </a:rPr>
              <a:t>á</a:t>
            </a:r>
            <a:r>
              <a:rPr sz="3050" spc="20" dirty="0">
                <a:latin typeface="Arial"/>
                <a:cs typeface="Arial"/>
              </a:rPr>
              <a:t>x</a:t>
            </a:r>
            <a:r>
              <a:rPr sz="3050" spc="15" dirty="0">
                <a:latin typeface="Arial"/>
                <a:cs typeface="Arial"/>
              </a:rPr>
              <a:t>i</a:t>
            </a:r>
            <a:r>
              <a:rPr sz="3050" spc="25" dirty="0">
                <a:latin typeface="Arial"/>
                <a:cs typeface="Arial"/>
              </a:rPr>
              <a:t>m</a:t>
            </a:r>
            <a:r>
              <a:rPr sz="3050" spc="15" dirty="0">
                <a:latin typeface="Arial"/>
                <a:cs typeface="Arial"/>
              </a:rPr>
              <a:t>o d</a:t>
            </a:r>
            <a:r>
              <a:rPr sz="3050" dirty="0">
                <a:latin typeface="Arial"/>
                <a:cs typeface="Arial"/>
              </a:rPr>
              <a:t>i</a:t>
            </a:r>
            <a:r>
              <a:rPr sz="3050" spc="20" dirty="0">
                <a:latin typeface="Arial"/>
                <a:cs typeface="Arial"/>
              </a:rPr>
              <a:t>v</a:t>
            </a:r>
            <a:r>
              <a:rPr sz="3050" dirty="0">
                <a:latin typeface="Arial"/>
                <a:cs typeface="Arial"/>
              </a:rPr>
              <a:t>i</a:t>
            </a:r>
            <a:r>
              <a:rPr sz="3050" spc="20" dirty="0">
                <a:latin typeface="Arial"/>
                <a:cs typeface="Arial"/>
              </a:rPr>
              <a:t>s</a:t>
            </a:r>
            <a:r>
              <a:rPr sz="3050" spc="15" dirty="0">
                <a:latin typeface="Arial"/>
                <a:cs typeface="Arial"/>
              </a:rPr>
              <a:t>o</a:t>
            </a:r>
            <a:r>
              <a:rPr sz="3050" spc="10" dirty="0">
                <a:latin typeface="Arial"/>
                <a:cs typeface="Arial"/>
              </a:rPr>
              <a:t>r </a:t>
            </a:r>
            <a:r>
              <a:rPr sz="3050" spc="20" dirty="0">
                <a:latin typeface="Arial"/>
                <a:cs typeface="Arial"/>
              </a:rPr>
              <a:t>c</a:t>
            </a:r>
            <a:r>
              <a:rPr sz="3050" spc="15" dirty="0">
                <a:latin typeface="Arial"/>
                <a:cs typeface="Arial"/>
              </a:rPr>
              <a:t>o</a:t>
            </a:r>
            <a:r>
              <a:rPr sz="3050" spc="25" dirty="0">
                <a:latin typeface="Arial"/>
                <a:cs typeface="Arial"/>
              </a:rPr>
              <a:t>mum</a:t>
            </a:r>
            <a:r>
              <a:rPr sz="3050" spc="5" dirty="0">
                <a:latin typeface="Arial"/>
                <a:cs typeface="Arial"/>
              </a:rPr>
              <a:t>,</a:t>
            </a:r>
            <a:r>
              <a:rPr sz="3050" spc="10" dirty="0">
                <a:latin typeface="Arial"/>
                <a:cs typeface="Arial"/>
              </a:rPr>
              <a:t> </a:t>
            </a:r>
            <a:r>
              <a:rPr sz="3050" spc="25" dirty="0">
                <a:latin typeface="Arial"/>
                <a:cs typeface="Arial"/>
              </a:rPr>
              <a:t>MDC</a:t>
            </a:r>
            <a:r>
              <a:rPr sz="3050" spc="5" dirty="0">
                <a:latin typeface="Arial"/>
                <a:cs typeface="Arial"/>
              </a:rPr>
              <a:t>,</a:t>
            </a:r>
            <a:r>
              <a:rPr sz="3050" dirty="0">
                <a:latin typeface="Arial"/>
                <a:cs typeface="Arial"/>
              </a:rPr>
              <a:t> </a:t>
            </a:r>
            <a:r>
              <a:rPr sz="3050" spc="25" dirty="0">
                <a:latin typeface="Arial"/>
                <a:cs typeface="Arial"/>
              </a:rPr>
              <a:t>d</a:t>
            </a:r>
            <a:r>
              <a:rPr sz="3050" spc="15" dirty="0">
                <a:latin typeface="Arial"/>
                <a:cs typeface="Arial"/>
              </a:rPr>
              <a:t>e do</a:t>
            </a:r>
            <a:r>
              <a:rPr sz="3050" dirty="0">
                <a:latin typeface="Arial"/>
                <a:cs typeface="Arial"/>
              </a:rPr>
              <a:t>i</a:t>
            </a:r>
            <a:r>
              <a:rPr sz="3050" spc="15" dirty="0">
                <a:latin typeface="Arial"/>
                <a:cs typeface="Arial"/>
              </a:rPr>
              <a:t>s</a:t>
            </a:r>
            <a:r>
              <a:rPr sz="3050" spc="20" dirty="0">
                <a:latin typeface="Arial"/>
                <a:cs typeface="Arial"/>
              </a:rPr>
              <a:t> </a:t>
            </a:r>
            <a:r>
              <a:rPr sz="3050" spc="15" dirty="0">
                <a:latin typeface="Arial"/>
                <a:cs typeface="Arial"/>
              </a:rPr>
              <a:t>n</a:t>
            </a:r>
            <a:r>
              <a:rPr sz="3050" spc="25" dirty="0">
                <a:latin typeface="Arial"/>
                <a:cs typeface="Arial"/>
              </a:rPr>
              <a:t>úm</a:t>
            </a:r>
            <a:r>
              <a:rPr sz="3050" spc="15" dirty="0">
                <a:latin typeface="Arial"/>
                <a:cs typeface="Arial"/>
              </a:rPr>
              <a:t>e</a:t>
            </a:r>
            <a:r>
              <a:rPr sz="3050" spc="25" dirty="0">
                <a:latin typeface="Arial"/>
                <a:cs typeface="Arial"/>
              </a:rPr>
              <a:t>r</a:t>
            </a:r>
            <a:r>
              <a:rPr sz="3050" spc="15" dirty="0">
                <a:latin typeface="Arial"/>
                <a:cs typeface="Arial"/>
              </a:rPr>
              <a:t>os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dirty="0">
                <a:latin typeface="Arial"/>
                <a:cs typeface="Arial"/>
              </a:rPr>
              <a:t>i</a:t>
            </a:r>
            <a:r>
              <a:rPr sz="3050" spc="15" dirty="0">
                <a:latin typeface="Arial"/>
                <a:cs typeface="Arial"/>
              </a:rPr>
              <a:t>n</a:t>
            </a:r>
            <a:r>
              <a:rPr sz="3050" dirty="0">
                <a:latin typeface="Arial"/>
                <a:cs typeface="Arial"/>
              </a:rPr>
              <a:t>t</a:t>
            </a:r>
            <a:r>
              <a:rPr sz="3050" spc="25" dirty="0">
                <a:latin typeface="Arial"/>
                <a:cs typeface="Arial"/>
              </a:rPr>
              <a:t>e</a:t>
            </a:r>
            <a:r>
              <a:rPr sz="3050" dirty="0">
                <a:latin typeface="Arial"/>
                <a:cs typeface="Arial"/>
              </a:rPr>
              <a:t>i</a:t>
            </a:r>
            <a:r>
              <a:rPr sz="3050" spc="15" dirty="0">
                <a:latin typeface="Arial"/>
                <a:cs typeface="Arial"/>
              </a:rPr>
              <a:t>ros</a:t>
            </a:r>
            <a:r>
              <a:rPr sz="3050" spc="20" dirty="0">
                <a:latin typeface="Arial"/>
                <a:cs typeface="Arial"/>
              </a:rPr>
              <a:t> </a:t>
            </a:r>
            <a:r>
              <a:rPr sz="3050" spc="15" dirty="0">
                <a:latin typeface="Arial"/>
                <a:cs typeface="Arial"/>
              </a:rPr>
              <a:t>po</a:t>
            </a:r>
            <a:r>
              <a:rPr sz="3050" spc="20" dirty="0">
                <a:latin typeface="Arial"/>
                <a:cs typeface="Arial"/>
              </a:rPr>
              <a:t>s</a:t>
            </a:r>
            <a:r>
              <a:rPr sz="3050" dirty="0">
                <a:latin typeface="Arial"/>
                <a:cs typeface="Arial"/>
              </a:rPr>
              <a:t>iti</a:t>
            </a:r>
            <a:r>
              <a:rPr sz="3050" spc="20" dirty="0">
                <a:latin typeface="Arial"/>
                <a:cs typeface="Arial"/>
              </a:rPr>
              <a:t>v</a:t>
            </a:r>
            <a:r>
              <a:rPr sz="3050" spc="15" dirty="0">
                <a:latin typeface="Arial"/>
                <a:cs typeface="Arial"/>
              </a:rPr>
              <a:t>os</a:t>
            </a:r>
            <a:r>
              <a:rPr sz="3050" spc="20" dirty="0">
                <a:latin typeface="Arial"/>
                <a:cs typeface="Arial"/>
              </a:rPr>
              <a:t> N</a:t>
            </a:r>
            <a:r>
              <a:rPr sz="3050" spc="10" dirty="0">
                <a:latin typeface="Arial"/>
                <a:cs typeface="Arial"/>
              </a:rPr>
              <a:t> </a:t>
            </a:r>
            <a:r>
              <a:rPr sz="3050" spc="15" dirty="0">
                <a:latin typeface="Arial"/>
                <a:cs typeface="Arial"/>
              </a:rPr>
              <a:t>e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spc="25" dirty="0">
                <a:latin typeface="Arial"/>
                <a:cs typeface="Arial"/>
              </a:rPr>
              <a:t>M</a:t>
            </a:r>
            <a:r>
              <a:rPr sz="3050" spc="15" dirty="0">
                <a:latin typeface="Arial"/>
                <a:cs typeface="Arial"/>
              </a:rPr>
              <a:t> </a:t>
            </a:r>
            <a:r>
              <a:rPr sz="3050" spc="25" dirty="0">
                <a:latin typeface="Arial"/>
                <a:cs typeface="Arial"/>
              </a:rPr>
              <a:t>d</a:t>
            </a:r>
            <a:r>
              <a:rPr sz="3050" spc="15" dirty="0">
                <a:latin typeface="Arial"/>
                <a:cs typeface="Arial"/>
              </a:rPr>
              <a:t>a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spc="20" dirty="0">
                <a:latin typeface="Arial"/>
                <a:cs typeface="Arial"/>
              </a:rPr>
              <a:t>s</a:t>
            </a:r>
            <a:r>
              <a:rPr sz="3050" spc="15" dirty="0">
                <a:latin typeface="Arial"/>
                <a:cs typeface="Arial"/>
              </a:rPr>
              <a:t>eg</a:t>
            </a:r>
            <a:r>
              <a:rPr sz="3050" spc="25" dirty="0">
                <a:latin typeface="Arial"/>
                <a:cs typeface="Arial"/>
              </a:rPr>
              <a:t>u</a:t>
            </a:r>
            <a:r>
              <a:rPr sz="3050" dirty="0">
                <a:latin typeface="Arial"/>
                <a:cs typeface="Arial"/>
              </a:rPr>
              <a:t>i</a:t>
            </a:r>
            <a:r>
              <a:rPr sz="3050" spc="25" dirty="0">
                <a:latin typeface="Arial"/>
                <a:cs typeface="Arial"/>
              </a:rPr>
              <a:t>n</a:t>
            </a:r>
            <a:r>
              <a:rPr sz="3050" dirty="0">
                <a:latin typeface="Arial"/>
                <a:cs typeface="Arial"/>
              </a:rPr>
              <a:t>t</a:t>
            </a:r>
            <a:r>
              <a:rPr sz="3050" spc="15" dirty="0">
                <a:latin typeface="Arial"/>
                <a:cs typeface="Arial"/>
              </a:rPr>
              <a:t>e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spc="35" dirty="0">
                <a:latin typeface="Arial"/>
                <a:cs typeface="Arial"/>
              </a:rPr>
              <a:t>m</a:t>
            </a:r>
            <a:r>
              <a:rPr sz="3050" spc="15" dirty="0">
                <a:latin typeface="Arial"/>
                <a:cs typeface="Arial"/>
              </a:rPr>
              <a:t>a</a:t>
            </a:r>
            <a:r>
              <a:rPr sz="3050" spc="25" dirty="0">
                <a:latin typeface="Arial"/>
                <a:cs typeface="Arial"/>
              </a:rPr>
              <a:t>n</a:t>
            </a:r>
            <a:r>
              <a:rPr sz="3050" spc="15" dirty="0">
                <a:latin typeface="Arial"/>
                <a:cs typeface="Arial"/>
              </a:rPr>
              <a:t>eira</a:t>
            </a:r>
            <a:r>
              <a:rPr sz="3050" spc="5" dirty="0">
                <a:latin typeface="Arial"/>
                <a:cs typeface="Arial"/>
              </a:rPr>
              <a:t>:</a:t>
            </a:r>
            <a:endParaRPr sz="3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56132" y="4228594"/>
            <a:ext cx="8567928" cy="15288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15303018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1098761"/>
          </a:xfrm>
          <a:prstGeom prst="rect">
            <a:avLst/>
          </a:prstGeom>
        </p:spPr>
        <p:txBody>
          <a:bodyPr vert="horz" wrap="square" lIns="0" tIns="50139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r</a:t>
            </a:r>
            <a:r>
              <a:rPr spc="0" dirty="0"/>
              <a:t>c</a:t>
            </a:r>
            <a:r>
              <a:rPr dirty="0"/>
              <a:t>í</a:t>
            </a:r>
            <a:r>
              <a:rPr spc="-10" dirty="0"/>
              <a:t>c</a:t>
            </a:r>
            <a:r>
              <a:rPr dirty="0"/>
              <a:t>i</a:t>
            </a:r>
            <a:r>
              <a:rPr spc="-5" dirty="0"/>
              <a:t>o</a:t>
            </a:r>
          </a:p>
        </p:txBody>
      </p:sp>
      <p:sp>
        <p:nvSpPr>
          <p:cNvPr id="3" name="object 3"/>
          <p:cNvSpPr/>
          <p:nvPr/>
        </p:nvSpPr>
        <p:spPr>
          <a:xfrm>
            <a:off x="579119" y="4108300"/>
            <a:ext cx="5236464" cy="9349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974079" y="2189671"/>
            <a:ext cx="4203700" cy="4598616"/>
          </a:xfrm>
          <a:custGeom>
            <a:avLst/>
            <a:gdLst/>
            <a:ahLst/>
            <a:cxnLst/>
            <a:rect l="l" t="t" r="r" b="b"/>
            <a:pathLst>
              <a:path w="4203700" h="4602480">
                <a:moveTo>
                  <a:pt x="0" y="0"/>
                </a:moveTo>
                <a:lnTo>
                  <a:pt x="0" y="4602479"/>
                </a:lnTo>
                <a:lnTo>
                  <a:pt x="4203191" y="4602479"/>
                </a:lnTo>
                <a:lnTo>
                  <a:pt x="4203191" y="0"/>
                </a:lnTo>
                <a:lnTo>
                  <a:pt x="0" y="0"/>
                </a:lnTo>
                <a:close/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079234" y="2223423"/>
            <a:ext cx="2961005" cy="654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in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t</a:t>
            </a:r>
            <a:r>
              <a:rPr sz="1750" spc="15" dirty="0">
                <a:solidFill>
                  <a:srgbClr val="FF3200"/>
                </a:solidFill>
                <a:latin typeface="Courier New"/>
                <a:cs typeface="Courier New"/>
              </a:rPr>
              <a:t> 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M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D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C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 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(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i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n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t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 n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,</a:t>
            </a:r>
            <a:r>
              <a:rPr sz="1750" spc="15" dirty="0">
                <a:solidFill>
                  <a:srgbClr val="FF3200"/>
                </a:solidFill>
                <a:latin typeface="Courier New"/>
                <a:cs typeface="Courier New"/>
              </a:rPr>
              <a:t> 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i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n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t</a:t>
            </a:r>
            <a:r>
              <a:rPr sz="1750" spc="15" dirty="0">
                <a:solidFill>
                  <a:srgbClr val="FF3200"/>
                </a:solidFill>
                <a:latin typeface="Courier New"/>
                <a:cs typeface="Courier New"/>
              </a:rPr>
              <a:t> 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m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r>
              <a:rPr sz="1750" spc="5" dirty="0">
                <a:latin typeface="Courier New"/>
                <a:cs typeface="Courier New"/>
              </a:rPr>
              <a:t>{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79233" y="6336291"/>
            <a:ext cx="13462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spc="5" dirty="0">
                <a:latin typeface="Courier New"/>
                <a:cs typeface="Courier New"/>
              </a:rPr>
              <a:t>}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58368" y="4409797"/>
            <a:ext cx="951230" cy="317233"/>
          </a:xfrm>
          <a:custGeom>
            <a:avLst/>
            <a:gdLst/>
            <a:ahLst/>
            <a:cxnLst/>
            <a:rect l="l" t="t" r="r" b="b"/>
            <a:pathLst>
              <a:path w="951230" h="317500">
                <a:moveTo>
                  <a:pt x="0" y="0"/>
                </a:moveTo>
                <a:lnTo>
                  <a:pt x="0" y="316991"/>
                </a:lnTo>
                <a:lnTo>
                  <a:pt x="950975" y="316991"/>
                </a:lnTo>
                <a:lnTo>
                  <a:pt x="950975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FF32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41887256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1098761"/>
          </a:xfrm>
          <a:prstGeom prst="rect">
            <a:avLst/>
          </a:prstGeom>
        </p:spPr>
        <p:txBody>
          <a:bodyPr vert="horz" wrap="square" lIns="0" tIns="50139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r</a:t>
            </a:r>
            <a:r>
              <a:rPr spc="0" dirty="0"/>
              <a:t>c</a:t>
            </a:r>
            <a:r>
              <a:rPr dirty="0"/>
              <a:t>í</a:t>
            </a:r>
            <a:r>
              <a:rPr spc="-10" dirty="0"/>
              <a:t>c</a:t>
            </a:r>
            <a:r>
              <a:rPr dirty="0"/>
              <a:t>i</a:t>
            </a:r>
            <a:r>
              <a:rPr spc="-5" dirty="0"/>
              <a:t>o</a:t>
            </a:r>
          </a:p>
        </p:txBody>
      </p:sp>
      <p:sp>
        <p:nvSpPr>
          <p:cNvPr id="3" name="object 3"/>
          <p:cNvSpPr/>
          <p:nvPr/>
        </p:nvSpPr>
        <p:spPr>
          <a:xfrm>
            <a:off x="579119" y="4108300"/>
            <a:ext cx="5236464" cy="9349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974079" y="2189671"/>
            <a:ext cx="4203700" cy="4598616"/>
          </a:xfrm>
          <a:custGeom>
            <a:avLst/>
            <a:gdLst/>
            <a:ahLst/>
            <a:cxnLst/>
            <a:rect l="l" t="t" r="r" b="b"/>
            <a:pathLst>
              <a:path w="4203700" h="4602480">
                <a:moveTo>
                  <a:pt x="0" y="0"/>
                </a:moveTo>
                <a:lnTo>
                  <a:pt x="0" y="4602479"/>
                </a:lnTo>
                <a:lnTo>
                  <a:pt x="4203191" y="4602479"/>
                </a:lnTo>
                <a:lnTo>
                  <a:pt x="4203191" y="0"/>
                </a:lnTo>
                <a:lnTo>
                  <a:pt x="0" y="0"/>
                </a:lnTo>
                <a:close/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079234" y="2223423"/>
            <a:ext cx="3904615" cy="14021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dirty="0">
                <a:latin typeface="Courier New"/>
                <a:cs typeface="Courier New"/>
              </a:rPr>
              <a:t>in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10" dirty="0">
                <a:latin typeface="Courier New"/>
                <a:cs typeface="Courier New"/>
              </a:rPr>
              <a:t>D</a:t>
            </a:r>
            <a:r>
              <a:rPr sz="1750" spc="5" dirty="0">
                <a:latin typeface="Courier New"/>
                <a:cs typeface="Courier New"/>
              </a:rPr>
              <a:t>C</a:t>
            </a:r>
            <a:r>
              <a:rPr sz="1750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(</a:t>
            </a:r>
            <a:r>
              <a:rPr sz="1750" dirty="0">
                <a:latin typeface="Courier New"/>
                <a:cs typeface="Courier New"/>
              </a:rPr>
              <a:t>i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dirty="0">
                <a:latin typeface="Courier New"/>
                <a:cs typeface="Courier New"/>
              </a:rPr>
              <a:t> n</a:t>
            </a:r>
            <a:r>
              <a:rPr sz="1750" spc="5" dirty="0">
                <a:latin typeface="Courier New"/>
                <a:cs typeface="Courier New"/>
              </a:rPr>
              <a:t>,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i</a:t>
            </a:r>
            <a:r>
              <a:rPr sz="175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5" dirty="0"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r>
              <a:rPr sz="1750" spc="5" dirty="0">
                <a:latin typeface="Courier New"/>
                <a:cs typeface="Courier New"/>
              </a:rPr>
              <a:t>{</a:t>
            </a:r>
            <a:endParaRPr sz="1750">
              <a:latin typeface="Courier New"/>
              <a:cs typeface="Courier New"/>
            </a:endParaRPr>
          </a:p>
          <a:p>
            <a:pPr marL="401955" indent="-134620">
              <a:lnSpc>
                <a:spcPct val="140000"/>
              </a:lnSpc>
              <a:spcBef>
                <a:spcPts val="10"/>
              </a:spcBef>
            </a:pP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i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f</a:t>
            </a:r>
            <a:r>
              <a:rPr sz="1750" spc="15" dirty="0">
                <a:solidFill>
                  <a:srgbClr val="FF3200"/>
                </a:solidFill>
                <a:latin typeface="Courier New"/>
                <a:cs typeface="Courier New"/>
              </a:rPr>
              <a:t> 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(</a:t>
            </a:r>
            <a:r>
              <a:rPr sz="1750" spc="15" dirty="0">
                <a:solidFill>
                  <a:srgbClr val="FF3200"/>
                </a:solidFill>
                <a:latin typeface="Courier New"/>
                <a:cs typeface="Courier New"/>
              </a:rPr>
              <a:t> 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(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n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&gt;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=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m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)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 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&amp;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&amp;</a:t>
            </a:r>
            <a:r>
              <a:rPr sz="1750" spc="15" dirty="0">
                <a:solidFill>
                  <a:srgbClr val="FF3200"/>
                </a:solidFill>
                <a:latin typeface="Courier New"/>
                <a:cs typeface="Courier New"/>
              </a:rPr>
              <a:t> 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((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n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%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m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)==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0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)</a:t>
            </a:r>
            <a:r>
              <a:rPr sz="1750" spc="15" dirty="0">
                <a:solidFill>
                  <a:srgbClr val="FF3200"/>
                </a:solidFill>
                <a:latin typeface="Courier New"/>
                <a:cs typeface="Courier New"/>
              </a:rPr>
              <a:t> 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) 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r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e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t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ur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n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(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m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)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;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79233" y="6336291"/>
            <a:ext cx="13462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spc="5" dirty="0">
                <a:latin typeface="Courier New"/>
                <a:cs typeface="Courier New"/>
              </a:rPr>
              <a:t>}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926336" y="4091550"/>
            <a:ext cx="3889375" cy="317233"/>
          </a:xfrm>
          <a:custGeom>
            <a:avLst/>
            <a:gdLst/>
            <a:ahLst/>
            <a:cxnLst/>
            <a:rect l="l" t="t" r="r" b="b"/>
            <a:pathLst>
              <a:path w="3889375" h="317500">
                <a:moveTo>
                  <a:pt x="0" y="0"/>
                </a:moveTo>
                <a:lnTo>
                  <a:pt x="0" y="316991"/>
                </a:lnTo>
                <a:lnTo>
                  <a:pt x="3889247" y="316991"/>
                </a:lnTo>
                <a:lnTo>
                  <a:pt x="3889247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FF32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34688692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1098761"/>
          </a:xfrm>
          <a:prstGeom prst="rect">
            <a:avLst/>
          </a:prstGeom>
        </p:spPr>
        <p:txBody>
          <a:bodyPr vert="horz" wrap="square" lIns="0" tIns="50139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r</a:t>
            </a:r>
            <a:r>
              <a:rPr spc="0" dirty="0"/>
              <a:t>c</a:t>
            </a:r>
            <a:r>
              <a:rPr dirty="0"/>
              <a:t>í</a:t>
            </a:r>
            <a:r>
              <a:rPr spc="-10" dirty="0"/>
              <a:t>c</a:t>
            </a:r>
            <a:r>
              <a:rPr dirty="0"/>
              <a:t>i</a:t>
            </a:r>
            <a:r>
              <a:rPr spc="-5" dirty="0"/>
              <a:t>o</a:t>
            </a:r>
          </a:p>
        </p:txBody>
      </p:sp>
      <p:sp>
        <p:nvSpPr>
          <p:cNvPr id="3" name="object 3"/>
          <p:cNvSpPr/>
          <p:nvPr/>
        </p:nvSpPr>
        <p:spPr>
          <a:xfrm>
            <a:off x="579119" y="4108300"/>
            <a:ext cx="5236464" cy="9349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974079" y="2189671"/>
            <a:ext cx="4203700" cy="4598616"/>
          </a:xfrm>
          <a:custGeom>
            <a:avLst/>
            <a:gdLst/>
            <a:ahLst/>
            <a:cxnLst/>
            <a:rect l="l" t="t" r="r" b="b"/>
            <a:pathLst>
              <a:path w="4203700" h="4602480">
                <a:moveTo>
                  <a:pt x="0" y="0"/>
                </a:moveTo>
                <a:lnTo>
                  <a:pt x="0" y="4602479"/>
                </a:lnTo>
                <a:lnTo>
                  <a:pt x="4203191" y="4602479"/>
                </a:lnTo>
                <a:lnTo>
                  <a:pt x="4203191" y="0"/>
                </a:lnTo>
                <a:lnTo>
                  <a:pt x="0" y="0"/>
                </a:lnTo>
                <a:close/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079234" y="2223423"/>
            <a:ext cx="2961005" cy="654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dirty="0">
                <a:latin typeface="Courier New"/>
                <a:cs typeface="Courier New"/>
              </a:rPr>
              <a:t>in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10" dirty="0">
                <a:latin typeface="Courier New"/>
                <a:cs typeface="Courier New"/>
              </a:rPr>
              <a:t>D</a:t>
            </a:r>
            <a:r>
              <a:rPr sz="1750" spc="5" dirty="0">
                <a:latin typeface="Courier New"/>
                <a:cs typeface="Courier New"/>
              </a:rPr>
              <a:t>C</a:t>
            </a:r>
            <a:r>
              <a:rPr sz="1750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(</a:t>
            </a:r>
            <a:r>
              <a:rPr sz="1750" dirty="0">
                <a:latin typeface="Courier New"/>
                <a:cs typeface="Courier New"/>
              </a:rPr>
              <a:t>i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dirty="0">
                <a:latin typeface="Courier New"/>
                <a:cs typeface="Courier New"/>
              </a:rPr>
              <a:t> n</a:t>
            </a:r>
            <a:r>
              <a:rPr sz="1750" spc="5" dirty="0">
                <a:latin typeface="Courier New"/>
                <a:cs typeface="Courier New"/>
              </a:rPr>
              <a:t>,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i</a:t>
            </a:r>
            <a:r>
              <a:rPr sz="175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5" dirty="0"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r>
              <a:rPr sz="1750" spc="5" dirty="0">
                <a:latin typeface="Courier New"/>
                <a:cs typeface="Courier New"/>
              </a:rPr>
              <a:t>{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62659" y="2971079"/>
            <a:ext cx="2021205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spc="10" dirty="0">
                <a:latin typeface="Courier New"/>
                <a:cs typeface="Courier New"/>
              </a:rPr>
              <a:t>&amp;</a:t>
            </a:r>
            <a:r>
              <a:rPr sz="1750" spc="5" dirty="0">
                <a:latin typeface="Courier New"/>
                <a:cs typeface="Courier New"/>
              </a:rPr>
              <a:t>&amp;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((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%</a:t>
            </a:r>
            <a:r>
              <a:rPr sz="1750" spc="10" dirty="0">
                <a:latin typeface="Courier New"/>
                <a:cs typeface="Courier New"/>
              </a:rPr>
              <a:t>m</a:t>
            </a:r>
            <a:r>
              <a:rPr sz="1750" dirty="0">
                <a:latin typeface="Courier New"/>
                <a:cs typeface="Courier New"/>
              </a:rPr>
              <a:t>)==</a:t>
            </a:r>
            <a:r>
              <a:rPr sz="1750" spc="10" dirty="0">
                <a:latin typeface="Courier New"/>
                <a:cs typeface="Courier New"/>
              </a:rPr>
              <a:t>0</a:t>
            </a:r>
            <a:r>
              <a:rPr sz="1750" spc="5" dirty="0">
                <a:latin typeface="Courier New"/>
                <a:cs typeface="Courier New"/>
              </a:rPr>
              <a:t>)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47458" y="2864489"/>
            <a:ext cx="1481455" cy="1510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3985" indent="-134620">
              <a:lnSpc>
                <a:spcPct val="140000"/>
              </a:lnSpc>
            </a:pPr>
            <a:r>
              <a:rPr sz="1750" dirty="0">
                <a:latin typeface="Courier New"/>
                <a:cs typeface="Courier New"/>
              </a:rPr>
              <a:t>i</a:t>
            </a:r>
            <a:r>
              <a:rPr sz="1750" spc="5" dirty="0">
                <a:latin typeface="Courier New"/>
                <a:cs typeface="Courier New"/>
              </a:rPr>
              <a:t>f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(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(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&gt;</a:t>
            </a:r>
            <a:r>
              <a:rPr sz="1750" spc="10" dirty="0">
                <a:latin typeface="Courier New"/>
                <a:cs typeface="Courier New"/>
              </a:rPr>
              <a:t>=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5" dirty="0">
                <a:latin typeface="Courier New"/>
                <a:cs typeface="Courier New"/>
              </a:rPr>
              <a:t>) </a:t>
            </a:r>
            <a:r>
              <a:rPr sz="1750" spc="10" dirty="0">
                <a:latin typeface="Courier New"/>
                <a:cs typeface="Courier New"/>
              </a:rPr>
              <a:t>r</a:t>
            </a:r>
            <a:r>
              <a:rPr sz="1750" dirty="0">
                <a:latin typeface="Courier New"/>
                <a:cs typeface="Courier New"/>
              </a:rPr>
              <a:t>e</a:t>
            </a:r>
            <a:r>
              <a:rPr sz="1750" spc="10" dirty="0">
                <a:latin typeface="Courier New"/>
                <a:cs typeface="Courier New"/>
              </a:rPr>
              <a:t>t</a:t>
            </a:r>
            <a:r>
              <a:rPr sz="1750" dirty="0">
                <a:latin typeface="Courier New"/>
                <a:cs typeface="Courier New"/>
              </a:rPr>
              <a:t>ur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(</a:t>
            </a:r>
            <a:r>
              <a:rPr sz="1750" spc="10" dirty="0">
                <a:latin typeface="Courier New"/>
                <a:cs typeface="Courier New"/>
              </a:rPr>
              <a:t>m</a:t>
            </a:r>
            <a:r>
              <a:rPr sz="1750" dirty="0">
                <a:latin typeface="Courier New"/>
                <a:cs typeface="Courier New"/>
              </a:rPr>
              <a:t>)</a:t>
            </a:r>
            <a:r>
              <a:rPr sz="1750" spc="5" dirty="0">
                <a:latin typeface="Courier New"/>
                <a:cs typeface="Courier New"/>
              </a:rPr>
              <a:t>;</a:t>
            </a:r>
            <a:endParaRPr sz="1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e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l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s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e</a:t>
            </a:r>
            <a:endParaRPr sz="1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{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79233" y="5963224"/>
            <a:ext cx="402590" cy="654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7970">
              <a:lnSpc>
                <a:spcPct val="100000"/>
              </a:lnSpc>
            </a:pP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}</a:t>
            </a:r>
            <a:endParaRPr sz="1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r>
              <a:rPr sz="1750" spc="5" dirty="0">
                <a:latin typeface="Courier New"/>
                <a:cs typeface="Courier New"/>
              </a:rPr>
              <a:t>}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26335" y="4409797"/>
            <a:ext cx="3810000" cy="713141"/>
          </a:xfrm>
          <a:custGeom>
            <a:avLst/>
            <a:gdLst/>
            <a:ahLst/>
            <a:cxnLst/>
            <a:rect l="l" t="t" r="r" b="b"/>
            <a:pathLst>
              <a:path w="3810000" h="713739">
                <a:moveTo>
                  <a:pt x="0" y="0"/>
                </a:moveTo>
                <a:lnTo>
                  <a:pt x="0" y="713231"/>
                </a:lnTo>
                <a:lnTo>
                  <a:pt x="3809999" y="713231"/>
                </a:lnTo>
                <a:lnTo>
                  <a:pt x="3809999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FF32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4215881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1098761"/>
          </a:xfrm>
          <a:prstGeom prst="rect">
            <a:avLst/>
          </a:prstGeom>
        </p:spPr>
        <p:txBody>
          <a:bodyPr vert="horz" wrap="square" lIns="0" tIns="50139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r</a:t>
            </a:r>
            <a:r>
              <a:rPr spc="0" dirty="0"/>
              <a:t>c</a:t>
            </a:r>
            <a:r>
              <a:rPr dirty="0"/>
              <a:t>í</a:t>
            </a:r>
            <a:r>
              <a:rPr spc="-10" dirty="0"/>
              <a:t>c</a:t>
            </a:r>
            <a:r>
              <a:rPr dirty="0"/>
              <a:t>i</a:t>
            </a:r>
            <a:r>
              <a:rPr spc="-5" dirty="0"/>
              <a:t>o</a:t>
            </a:r>
          </a:p>
        </p:txBody>
      </p:sp>
      <p:sp>
        <p:nvSpPr>
          <p:cNvPr id="3" name="object 3"/>
          <p:cNvSpPr/>
          <p:nvPr/>
        </p:nvSpPr>
        <p:spPr>
          <a:xfrm>
            <a:off x="579119" y="4108300"/>
            <a:ext cx="5236464" cy="9349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974079" y="2189671"/>
            <a:ext cx="4203700" cy="4598616"/>
          </a:xfrm>
          <a:prstGeom prst="rect">
            <a:avLst/>
          </a:prstGeom>
          <a:ln w="10313">
            <a:solidFill>
              <a:srgbClr val="000000"/>
            </a:solidFill>
          </a:ln>
        </p:spPr>
        <p:txBody>
          <a:bodyPr vert="horz" wrap="square" lIns="0" tIns="28575" rIns="0" bIns="0" rtlCol="0">
            <a:spAutoFit/>
          </a:bodyPr>
          <a:lstStyle/>
          <a:p>
            <a:pPr marL="99695">
              <a:lnSpc>
                <a:spcPct val="100000"/>
              </a:lnSpc>
              <a:spcBef>
                <a:spcPts val="225"/>
              </a:spcBef>
            </a:pPr>
            <a:r>
              <a:rPr sz="1750" dirty="0">
                <a:latin typeface="Courier New"/>
                <a:cs typeface="Courier New"/>
              </a:rPr>
              <a:t>in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10" dirty="0">
                <a:latin typeface="Courier New"/>
                <a:cs typeface="Courier New"/>
              </a:rPr>
              <a:t>D</a:t>
            </a:r>
            <a:r>
              <a:rPr sz="1750" spc="5" dirty="0">
                <a:latin typeface="Courier New"/>
                <a:cs typeface="Courier New"/>
              </a:rPr>
              <a:t>C</a:t>
            </a:r>
            <a:r>
              <a:rPr sz="1750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(</a:t>
            </a:r>
            <a:r>
              <a:rPr sz="1750" dirty="0">
                <a:latin typeface="Courier New"/>
                <a:cs typeface="Courier New"/>
              </a:rPr>
              <a:t>i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dirty="0">
                <a:latin typeface="Courier New"/>
                <a:cs typeface="Courier New"/>
              </a:rPr>
              <a:t> n</a:t>
            </a:r>
            <a:r>
              <a:rPr sz="1750" spc="5" dirty="0">
                <a:latin typeface="Courier New"/>
                <a:cs typeface="Courier New"/>
              </a:rPr>
              <a:t>,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i</a:t>
            </a:r>
            <a:r>
              <a:rPr sz="175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5" dirty="0"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  <a:p>
            <a:pPr marL="99695">
              <a:lnSpc>
                <a:spcPct val="100000"/>
              </a:lnSpc>
              <a:spcBef>
                <a:spcPts val="840"/>
              </a:spcBef>
            </a:pPr>
            <a:r>
              <a:rPr sz="1750" spc="5" dirty="0">
                <a:latin typeface="Courier New"/>
                <a:cs typeface="Courier New"/>
              </a:rPr>
              <a:t>{</a:t>
            </a:r>
            <a:endParaRPr sz="1750">
              <a:latin typeface="Courier New"/>
              <a:cs typeface="Courier New"/>
            </a:endParaRPr>
          </a:p>
          <a:p>
            <a:pPr marL="502284" marR="180975" indent="-134620">
              <a:lnSpc>
                <a:spcPct val="140000"/>
              </a:lnSpc>
              <a:spcBef>
                <a:spcPts val="10"/>
              </a:spcBef>
            </a:pPr>
            <a:r>
              <a:rPr sz="1750" dirty="0">
                <a:latin typeface="Courier New"/>
                <a:cs typeface="Courier New"/>
              </a:rPr>
              <a:t>i</a:t>
            </a:r>
            <a:r>
              <a:rPr sz="1750" spc="5" dirty="0">
                <a:latin typeface="Courier New"/>
                <a:cs typeface="Courier New"/>
              </a:rPr>
              <a:t>f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(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(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&gt;</a:t>
            </a:r>
            <a:r>
              <a:rPr sz="1750" spc="10" dirty="0">
                <a:latin typeface="Courier New"/>
                <a:cs typeface="Courier New"/>
              </a:rPr>
              <a:t>=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5" dirty="0">
                <a:latin typeface="Courier New"/>
                <a:cs typeface="Courier New"/>
              </a:rPr>
              <a:t>)</a:t>
            </a:r>
            <a:r>
              <a:rPr sz="1750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&amp;</a:t>
            </a:r>
            <a:r>
              <a:rPr sz="1750" spc="5" dirty="0">
                <a:latin typeface="Courier New"/>
                <a:cs typeface="Courier New"/>
              </a:rPr>
              <a:t>&amp;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((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%</a:t>
            </a:r>
            <a:r>
              <a:rPr sz="1750" spc="10" dirty="0">
                <a:latin typeface="Courier New"/>
                <a:cs typeface="Courier New"/>
              </a:rPr>
              <a:t>m</a:t>
            </a:r>
            <a:r>
              <a:rPr sz="1750" dirty="0">
                <a:latin typeface="Courier New"/>
                <a:cs typeface="Courier New"/>
              </a:rPr>
              <a:t>)==</a:t>
            </a:r>
            <a:r>
              <a:rPr sz="1750" spc="10" dirty="0">
                <a:latin typeface="Courier New"/>
                <a:cs typeface="Courier New"/>
              </a:rPr>
              <a:t>0</a:t>
            </a:r>
            <a:r>
              <a:rPr sz="1750" spc="5" dirty="0">
                <a:latin typeface="Courier New"/>
                <a:cs typeface="Courier New"/>
              </a:rPr>
              <a:t>)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) </a:t>
            </a:r>
            <a:r>
              <a:rPr sz="1750" spc="10" dirty="0">
                <a:latin typeface="Courier New"/>
                <a:cs typeface="Courier New"/>
              </a:rPr>
              <a:t>r</a:t>
            </a:r>
            <a:r>
              <a:rPr sz="1750" dirty="0">
                <a:latin typeface="Courier New"/>
                <a:cs typeface="Courier New"/>
              </a:rPr>
              <a:t>e</a:t>
            </a:r>
            <a:r>
              <a:rPr sz="1750" spc="10" dirty="0">
                <a:latin typeface="Courier New"/>
                <a:cs typeface="Courier New"/>
              </a:rPr>
              <a:t>t</a:t>
            </a:r>
            <a:r>
              <a:rPr sz="1750" dirty="0">
                <a:latin typeface="Courier New"/>
                <a:cs typeface="Courier New"/>
              </a:rPr>
              <a:t>ur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(</a:t>
            </a:r>
            <a:r>
              <a:rPr sz="1750" spc="10" dirty="0">
                <a:latin typeface="Courier New"/>
                <a:cs typeface="Courier New"/>
              </a:rPr>
              <a:t>m</a:t>
            </a:r>
            <a:r>
              <a:rPr sz="1750" dirty="0">
                <a:latin typeface="Courier New"/>
                <a:cs typeface="Courier New"/>
              </a:rPr>
              <a:t>)</a:t>
            </a:r>
            <a:r>
              <a:rPr sz="1750" spc="5" dirty="0">
                <a:latin typeface="Courier New"/>
                <a:cs typeface="Courier New"/>
              </a:rPr>
              <a:t>;</a:t>
            </a:r>
            <a:endParaRPr sz="1750">
              <a:latin typeface="Courier New"/>
              <a:cs typeface="Courier New"/>
            </a:endParaRPr>
          </a:p>
          <a:p>
            <a:pPr marL="367665">
              <a:lnSpc>
                <a:spcPct val="100000"/>
              </a:lnSpc>
              <a:spcBef>
                <a:spcPts val="850"/>
              </a:spcBef>
            </a:pPr>
            <a:r>
              <a:rPr sz="1750" dirty="0">
                <a:latin typeface="Courier New"/>
                <a:cs typeface="Courier New"/>
              </a:rPr>
              <a:t>e</a:t>
            </a:r>
            <a:r>
              <a:rPr sz="1750" spc="10" dirty="0">
                <a:latin typeface="Courier New"/>
                <a:cs typeface="Courier New"/>
              </a:rPr>
              <a:t>l</a:t>
            </a:r>
            <a:r>
              <a:rPr sz="1750" dirty="0">
                <a:latin typeface="Courier New"/>
                <a:cs typeface="Courier New"/>
              </a:rPr>
              <a:t>s</a:t>
            </a:r>
            <a:r>
              <a:rPr sz="1750" spc="5" dirty="0">
                <a:latin typeface="Courier New"/>
                <a:cs typeface="Courier New"/>
              </a:rPr>
              <a:t>e</a:t>
            </a:r>
            <a:endParaRPr sz="1750">
              <a:latin typeface="Courier New"/>
              <a:cs typeface="Courier New"/>
            </a:endParaRPr>
          </a:p>
          <a:p>
            <a:pPr marL="367665">
              <a:lnSpc>
                <a:spcPct val="100000"/>
              </a:lnSpc>
              <a:spcBef>
                <a:spcPts val="850"/>
              </a:spcBef>
            </a:pPr>
            <a:r>
              <a:rPr sz="1750" spc="5" dirty="0">
                <a:latin typeface="Courier New"/>
                <a:cs typeface="Courier New"/>
              </a:rPr>
              <a:t>{</a:t>
            </a:r>
            <a:endParaRPr sz="1750">
              <a:latin typeface="Courier New"/>
              <a:cs typeface="Courier New"/>
            </a:endParaRPr>
          </a:p>
          <a:p>
            <a:pPr marL="637540">
              <a:lnSpc>
                <a:spcPct val="100000"/>
              </a:lnSpc>
              <a:spcBef>
                <a:spcPts val="840"/>
              </a:spcBef>
            </a:pP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i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f</a:t>
            </a:r>
            <a:r>
              <a:rPr sz="1750" spc="15" dirty="0">
                <a:solidFill>
                  <a:srgbClr val="FF3200"/>
                </a:solidFill>
                <a:latin typeface="Courier New"/>
                <a:cs typeface="Courier New"/>
              </a:rPr>
              <a:t> 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(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n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&lt;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m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  <a:p>
            <a:pPr marL="907415">
              <a:lnSpc>
                <a:spcPct val="100000"/>
              </a:lnSpc>
              <a:spcBef>
                <a:spcPts val="850"/>
              </a:spcBef>
            </a:pP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re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t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u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r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n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 (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M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D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C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(m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,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n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)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)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;</a:t>
            </a:r>
            <a:endParaRPr sz="1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450">
              <a:latin typeface="Times New Roman"/>
              <a:cs typeface="Times New Roman"/>
            </a:endParaRPr>
          </a:p>
          <a:p>
            <a:pPr marL="99695">
              <a:lnSpc>
                <a:spcPct val="100000"/>
              </a:lnSpc>
            </a:pPr>
            <a:r>
              <a:rPr sz="1750" spc="5" dirty="0">
                <a:latin typeface="Courier New"/>
                <a:cs typeface="Courier New"/>
              </a:rPr>
              <a:t>}</a:t>
            </a:r>
            <a:endParaRPr sz="1750">
              <a:latin typeface="Courier New"/>
              <a:cs typeface="Courier New"/>
            </a:endParaRPr>
          </a:p>
          <a:p>
            <a:pPr marL="99695">
              <a:lnSpc>
                <a:spcPct val="100000"/>
              </a:lnSpc>
              <a:spcBef>
                <a:spcPts val="840"/>
              </a:spcBef>
            </a:pPr>
            <a:r>
              <a:rPr sz="1750" spc="5" dirty="0">
                <a:latin typeface="Courier New"/>
                <a:cs typeface="Courier New"/>
              </a:rPr>
              <a:t>}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26335" y="4409797"/>
            <a:ext cx="3810000" cy="317233"/>
          </a:xfrm>
          <a:custGeom>
            <a:avLst/>
            <a:gdLst/>
            <a:ahLst/>
            <a:cxnLst/>
            <a:rect l="l" t="t" r="r" b="b"/>
            <a:pathLst>
              <a:path w="3810000" h="317500">
                <a:moveTo>
                  <a:pt x="0" y="0"/>
                </a:moveTo>
                <a:lnTo>
                  <a:pt x="0" y="316991"/>
                </a:lnTo>
                <a:lnTo>
                  <a:pt x="3809999" y="316991"/>
                </a:lnTo>
                <a:lnTo>
                  <a:pt x="3809999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FF32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20680557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1098761"/>
          </a:xfrm>
          <a:prstGeom prst="rect">
            <a:avLst/>
          </a:prstGeom>
        </p:spPr>
        <p:txBody>
          <a:bodyPr vert="horz" wrap="square" lIns="0" tIns="50139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r</a:t>
            </a:r>
            <a:r>
              <a:rPr spc="0" dirty="0"/>
              <a:t>c</a:t>
            </a:r>
            <a:r>
              <a:rPr dirty="0"/>
              <a:t>í</a:t>
            </a:r>
            <a:r>
              <a:rPr spc="-10" dirty="0"/>
              <a:t>c</a:t>
            </a:r>
            <a:r>
              <a:rPr dirty="0"/>
              <a:t>i</a:t>
            </a:r>
            <a:r>
              <a:rPr spc="-5" dirty="0"/>
              <a:t>o</a:t>
            </a:r>
          </a:p>
        </p:txBody>
      </p:sp>
      <p:sp>
        <p:nvSpPr>
          <p:cNvPr id="3" name="object 3"/>
          <p:cNvSpPr/>
          <p:nvPr/>
        </p:nvSpPr>
        <p:spPr>
          <a:xfrm>
            <a:off x="579119" y="4108300"/>
            <a:ext cx="5236464" cy="9349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974079" y="2189671"/>
            <a:ext cx="4203700" cy="4598616"/>
          </a:xfrm>
          <a:prstGeom prst="rect">
            <a:avLst/>
          </a:prstGeom>
          <a:ln w="10313">
            <a:solidFill>
              <a:srgbClr val="000000"/>
            </a:solidFill>
          </a:ln>
        </p:spPr>
        <p:txBody>
          <a:bodyPr vert="horz" wrap="square" lIns="0" tIns="28575" rIns="0" bIns="0" rtlCol="0">
            <a:spAutoFit/>
          </a:bodyPr>
          <a:lstStyle/>
          <a:p>
            <a:pPr marL="99695">
              <a:lnSpc>
                <a:spcPct val="100000"/>
              </a:lnSpc>
              <a:spcBef>
                <a:spcPts val="225"/>
              </a:spcBef>
            </a:pPr>
            <a:r>
              <a:rPr sz="1750" dirty="0">
                <a:latin typeface="Courier New"/>
                <a:cs typeface="Courier New"/>
              </a:rPr>
              <a:t>in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10" dirty="0">
                <a:latin typeface="Courier New"/>
                <a:cs typeface="Courier New"/>
              </a:rPr>
              <a:t>D</a:t>
            </a:r>
            <a:r>
              <a:rPr sz="1750" spc="5" dirty="0">
                <a:latin typeface="Courier New"/>
                <a:cs typeface="Courier New"/>
              </a:rPr>
              <a:t>C</a:t>
            </a:r>
            <a:r>
              <a:rPr sz="1750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(</a:t>
            </a:r>
            <a:r>
              <a:rPr sz="1750" dirty="0">
                <a:latin typeface="Courier New"/>
                <a:cs typeface="Courier New"/>
              </a:rPr>
              <a:t>i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dirty="0">
                <a:latin typeface="Courier New"/>
                <a:cs typeface="Courier New"/>
              </a:rPr>
              <a:t> n</a:t>
            </a:r>
            <a:r>
              <a:rPr sz="1750" spc="5" dirty="0">
                <a:latin typeface="Courier New"/>
                <a:cs typeface="Courier New"/>
              </a:rPr>
              <a:t>,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i</a:t>
            </a:r>
            <a:r>
              <a:rPr sz="175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5" dirty="0"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  <a:p>
            <a:pPr marL="99695">
              <a:lnSpc>
                <a:spcPct val="100000"/>
              </a:lnSpc>
              <a:spcBef>
                <a:spcPts val="840"/>
              </a:spcBef>
            </a:pPr>
            <a:r>
              <a:rPr sz="1750" spc="5" dirty="0">
                <a:latin typeface="Courier New"/>
                <a:cs typeface="Courier New"/>
              </a:rPr>
              <a:t>{</a:t>
            </a:r>
            <a:endParaRPr sz="1750">
              <a:latin typeface="Courier New"/>
              <a:cs typeface="Courier New"/>
            </a:endParaRPr>
          </a:p>
          <a:p>
            <a:pPr marL="502284" marR="180975" indent="-134620">
              <a:lnSpc>
                <a:spcPct val="140000"/>
              </a:lnSpc>
              <a:spcBef>
                <a:spcPts val="10"/>
              </a:spcBef>
            </a:pPr>
            <a:r>
              <a:rPr sz="1750" dirty="0">
                <a:latin typeface="Courier New"/>
                <a:cs typeface="Courier New"/>
              </a:rPr>
              <a:t>i</a:t>
            </a:r>
            <a:r>
              <a:rPr sz="1750" spc="5" dirty="0">
                <a:latin typeface="Courier New"/>
                <a:cs typeface="Courier New"/>
              </a:rPr>
              <a:t>f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(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(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&gt;</a:t>
            </a:r>
            <a:r>
              <a:rPr sz="1750" spc="10" dirty="0">
                <a:latin typeface="Courier New"/>
                <a:cs typeface="Courier New"/>
              </a:rPr>
              <a:t>=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5" dirty="0">
                <a:latin typeface="Courier New"/>
                <a:cs typeface="Courier New"/>
              </a:rPr>
              <a:t>)</a:t>
            </a:r>
            <a:r>
              <a:rPr sz="1750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&amp;</a:t>
            </a:r>
            <a:r>
              <a:rPr sz="1750" spc="5" dirty="0">
                <a:latin typeface="Courier New"/>
                <a:cs typeface="Courier New"/>
              </a:rPr>
              <a:t>&amp;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((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%</a:t>
            </a:r>
            <a:r>
              <a:rPr sz="1750" spc="10" dirty="0">
                <a:latin typeface="Courier New"/>
                <a:cs typeface="Courier New"/>
              </a:rPr>
              <a:t>m</a:t>
            </a:r>
            <a:r>
              <a:rPr sz="1750" dirty="0">
                <a:latin typeface="Courier New"/>
                <a:cs typeface="Courier New"/>
              </a:rPr>
              <a:t>)==</a:t>
            </a:r>
            <a:r>
              <a:rPr sz="1750" spc="10" dirty="0">
                <a:latin typeface="Courier New"/>
                <a:cs typeface="Courier New"/>
              </a:rPr>
              <a:t>0</a:t>
            </a:r>
            <a:r>
              <a:rPr sz="1750" spc="5" dirty="0">
                <a:latin typeface="Courier New"/>
                <a:cs typeface="Courier New"/>
              </a:rPr>
              <a:t>)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) </a:t>
            </a:r>
            <a:r>
              <a:rPr sz="1750" spc="10" dirty="0">
                <a:latin typeface="Courier New"/>
                <a:cs typeface="Courier New"/>
              </a:rPr>
              <a:t>r</a:t>
            </a:r>
            <a:r>
              <a:rPr sz="1750" dirty="0">
                <a:latin typeface="Courier New"/>
                <a:cs typeface="Courier New"/>
              </a:rPr>
              <a:t>e</a:t>
            </a:r>
            <a:r>
              <a:rPr sz="1750" spc="10" dirty="0">
                <a:latin typeface="Courier New"/>
                <a:cs typeface="Courier New"/>
              </a:rPr>
              <a:t>t</a:t>
            </a:r>
            <a:r>
              <a:rPr sz="1750" dirty="0">
                <a:latin typeface="Courier New"/>
                <a:cs typeface="Courier New"/>
              </a:rPr>
              <a:t>ur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(</a:t>
            </a:r>
            <a:r>
              <a:rPr sz="1750" spc="10" dirty="0">
                <a:latin typeface="Courier New"/>
                <a:cs typeface="Courier New"/>
              </a:rPr>
              <a:t>m</a:t>
            </a:r>
            <a:r>
              <a:rPr sz="1750" dirty="0">
                <a:latin typeface="Courier New"/>
                <a:cs typeface="Courier New"/>
              </a:rPr>
              <a:t>)</a:t>
            </a:r>
            <a:r>
              <a:rPr sz="1750" spc="5" dirty="0">
                <a:latin typeface="Courier New"/>
                <a:cs typeface="Courier New"/>
              </a:rPr>
              <a:t>;</a:t>
            </a:r>
            <a:endParaRPr sz="1750">
              <a:latin typeface="Courier New"/>
              <a:cs typeface="Courier New"/>
            </a:endParaRPr>
          </a:p>
          <a:p>
            <a:pPr marL="367665">
              <a:lnSpc>
                <a:spcPct val="100000"/>
              </a:lnSpc>
              <a:spcBef>
                <a:spcPts val="850"/>
              </a:spcBef>
            </a:pPr>
            <a:r>
              <a:rPr sz="1750" dirty="0">
                <a:latin typeface="Courier New"/>
                <a:cs typeface="Courier New"/>
              </a:rPr>
              <a:t>e</a:t>
            </a:r>
            <a:r>
              <a:rPr sz="1750" spc="10" dirty="0">
                <a:latin typeface="Courier New"/>
                <a:cs typeface="Courier New"/>
              </a:rPr>
              <a:t>l</a:t>
            </a:r>
            <a:r>
              <a:rPr sz="1750" dirty="0">
                <a:latin typeface="Courier New"/>
                <a:cs typeface="Courier New"/>
              </a:rPr>
              <a:t>s</a:t>
            </a:r>
            <a:r>
              <a:rPr sz="1750" spc="5" dirty="0">
                <a:latin typeface="Courier New"/>
                <a:cs typeface="Courier New"/>
              </a:rPr>
              <a:t>e</a:t>
            </a:r>
            <a:endParaRPr sz="1750">
              <a:latin typeface="Courier New"/>
              <a:cs typeface="Courier New"/>
            </a:endParaRPr>
          </a:p>
          <a:p>
            <a:pPr marL="367665">
              <a:lnSpc>
                <a:spcPct val="100000"/>
              </a:lnSpc>
              <a:spcBef>
                <a:spcPts val="850"/>
              </a:spcBef>
            </a:pPr>
            <a:r>
              <a:rPr sz="1750" spc="5" dirty="0">
                <a:latin typeface="Courier New"/>
                <a:cs typeface="Courier New"/>
              </a:rPr>
              <a:t>{</a:t>
            </a:r>
            <a:endParaRPr sz="1750">
              <a:latin typeface="Courier New"/>
              <a:cs typeface="Courier New"/>
            </a:endParaRPr>
          </a:p>
          <a:p>
            <a:pPr marL="637540">
              <a:lnSpc>
                <a:spcPct val="100000"/>
              </a:lnSpc>
              <a:spcBef>
                <a:spcPts val="840"/>
              </a:spcBef>
            </a:pPr>
            <a:r>
              <a:rPr sz="1750" dirty="0">
                <a:latin typeface="Courier New"/>
                <a:cs typeface="Courier New"/>
              </a:rPr>
              <a:t>i</a:t>
            </a:r>
            <a:r>
              <a:rPr sz="1750" spc="5" dirty="0">
                <a:latin typeface="Courier New"/>
                <a:cs typeface="Courier New"/>
              </a:rPr>
              <a:t>f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(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&lt;</a:t>
            </a:r>
            <a:r>
              <a:rPr sz="1750" spc="10" dirty="0">
                <a:latin typeface="Courier New"/>
                <a:cs typeface="Courier New"/>
              </a:rPr>
              <a:t>m</a:t>
            </a:r>
            <a:r>
              <a:rPr sz="1750" spc="5" dirty="0"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  <a:p>
            <a:pPr marL="637540" marR="854075" indent="269240">
              <a:lnSpc>
                <a:spcPct val="140600"/>
              </a:lnSpc>
            </a:pPr>
            <a:r>
              <a:rPr sz="1750" dirty="0">
                <a:latin typeface="Courier New"/>
                <a:cs typeface="Courier New"/>
              </a:rPr>
              <a:t>re</a:t>
            </a:r>
            <a:r>
              <a:rPr sz="1750" spc="10" dirty="0">
                <a:latin typeface="Courier New"/>
                <a:cs typeface="Courier New"/>
              </a:rPr>
              <a:t>t</a:t>
            </a:r>
            <a:r>
              <a:rPr sz="1750" dirty="0">
                <a:latin typeface="Courier New"/>
                <a:cs typeface="Courier New"/>
              </a:rPr>
              <a:t>u</a:t>
            </a:r>
            <a:r>
              <a:rPr sz="1750" spc="10" dirty="0">
                <a:latin typeface="Courier New"/>
                <a:cs typeface="Courier New"/>
              </a:rPr>
              <a:t>r</a:t>
            </a:r>
            <a:r>
              <a:rPr sz="1750" spc="5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 (</a:t>
            </a:r>
            <a:r>
              <a:rPr sz="1750" spc="10" dirty="0">
                <a:latin typeface="Courier New"/>
                <a:cs typeface="Courier New"/>
              </a:rPr>
              <a:t>M</a:t>
            </a:r>
            <a:r>
              <a:rPr sz="1750" dirty="0">
                <a:latin typeface="Courier New"/>
                <a:cs typeface="Courier New"/>
              </a:rPr>
              <a:t>D</a:t>
            </a:r>
            <a:r>
              <a:rPr sz="1750" spc="10" dirty="0">
                <a:latin typeface="Courier New"/>
                <a:cs typeface="Courier New"/>
              </a:rPr>
              <a:t>C</a:t>
            </a:r>
            <a:r>
              <a:rPr sz="1750" dirty="0">
                <a:latin typeface="Courier New"/>
                <a:cs typeface="Courier New"/>
              </a:rPr>
              <a:t>(m</a:t>
            </a:r>
            <a:r>
              <a:rPr sz="1750" spc="10" dirty="0">
                <a:latin typeface="Courier New"/>
                <a:cs typeface="Courier New"/>
              </a:rPr>
              <a:t>,</a:t>
            </a:r>
            <a:r>
              <a:rPr sz="1750" dirty="0">
                <a:latin typeface="Courier New"/>
                <a:cs typeface="Courier New"/>
              </a:rPr>
              <a:t>n</a:t>
            </a:r>
            <a:r>
              <a:rPr sz="1750" spc="10" dirty="0">
                <a:latin typeface="Courier New"/>
                <a:cs typeface="Courier New"/>
              </a:rPr>
              <a:t>)</a:t>
            </a:r>
            <a:r>
              <a:rPr sz="1750" dirty="0">
                <a:latin typeface="Courier New"/>
                <a:cs typeface="Courier New"/>
              </a:rPr>
              <a:t>)</a:t>
            </a:r>
            <a:r>
              <a:rPr sz="1750" spc="5" dirty="0">
                <a:latin typeface="Courier New"/>
                <a:cs typeface="Courier New"/>
              </a:rPr>
              <a:t>; 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e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l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s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e</a:t>
            </a:r>
            <a:endParaRPr sz="1750">
              <a:latin typeface="Courier New"/>
              <a:cs typeface="Courier New"/>
            </a:endParaRPr>
          </a:p>
          <a:p>
            <a:pPr marL="907415">
              <a:lnSpc>
                <a:spcPct val="100000"/>
              </a:lnSpc>
              <a:spcBef>
                <a:spcPts val="840"/>
              </a:spcBef>
            </a:pP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re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t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u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r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n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 (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M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D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C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(m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,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n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%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m))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;</a:t>
            </a:r>
            <a:endParaRPr sz="1750">
              <a:latin typeface="Courier New"/>
              <a:cs typeface="Courier New"/>
            </a:endParaRPr>
          </a:p>
          <a:p>
            <a:pPr marL="367665">
              <a:lnSpc>
                <a:spcPct val="100000"/>
              </a:lnSpc>
              <a:spcBef>
                <a:spcPts val="850"/>
              </a:spcBef>
            </a:pPr>
            <a:r>
              <a:rPr sz="1750" spc="5" dirty="0">
                <a:latin typeface="Courier New"/>
                <a:cs typeface="Courier New"/>
              </a:rPr>
              <a:t>}</a:t>
            </a:r>
            <a:endParaRPr sz="1750">
              <a:latin typeface="Courier New"/>
              <a:cs typeface="Courier New"/>
            </a:endParaRPr>
          </a:p>
          <a:p>
            <a:pPr marL="99695">
              <a:lnSpc>
                <a:spcPct val="100000"/>
              </a:lnSpc>
              <a:spcBef>
                <a:spcPts val="840"/>
              </a:spcBef>
            </a:pPr>
            <a:r>
              <a:rPr sz="1750" spc="5" dirty="0">
                <a:latin typeface="Courier New"/>
                <a:cs typeface="Courier New"/>
              </a:rPr>
              <a:t>}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26335" y="4728047"/>
            <a:ext cx="3810000" cy="315330"/>
          </a:xfrm>
          <a:custGeom>
            <a:avLst/>
            <a:gdLst/>
            <a:ahLst/>
            <a:cxnLst/>
            <a:rect l="l" t="t" r="r" b="b"/>
            <a:pathLst>
              <a:path w="3810000" h="315595">
                <a:moveTo>
                  <a:pt x="0" y="0"/>
                </a:moveTo>
                <a:lnTo>
                  <a:pt x="0" y="315467"/>
                </a:lnTo>
                <a:lnTo>
                  <a:pt x="3809999" y="315467"/>
                </a:lnTo>
                <a:lnTo>
                  <a:pt x="3809999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FF32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79766584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5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r</a:t>
            </a:r>
            <a:r>
              <a:rPr spc="0" dirty="0"/>
              <a:t>c</a:t>
            </a:r>
            <a:r>
              <a:rPr dirty="0"/>
              <a:t>í</a:t>
            </a:r>
            <a:r>
              <a:rPr spc="-10" dirty="0"/>
              <a:t>c</a:t>
            </a:r>
            <a:r>
              <a:rPr dirty="0"/>
              <a:t>io</a:t>
            </a:r>
            <a:r>
              <a:rPr spc="-5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6251" y="1501807"/>
            <a:ext cx="7468870" cy="9352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1985" marR="5080" indent="-629920">
              <a:lnSpc>
                <a:spcPct val="92000"/>
              </a:lnSpc>
              <a:tabLst>
                <a:tab pos="641985" algn="l"/>
              </a:tabLst>
            </a:pPr>
            <a:r>
              <a:rPr sz="2200" spc="-5" dirty="0">
                <a:solidFill>
                  <a:srgbClr val="852A33"/>
                </a:solidFill>
                <a:latin typeface="Arial"/>
                <a:cs typeface="Arial"/>
              </a:rPr>
              <a:t>1</a:t>
            </a:r>
            <a:r>
              <a:rPr sz="2200" dirty="0">
                <a:solidFill>
                  <a:srgbClr val="852A33"/>
                </a:solidFill>
                <a:latin typeface="Arial"/>
                <a:cs typeface="Arial"/>
              </a:rPr>
              <a:t>)	</a:t>
            </a:r>
            <a:r>
              <a:rPr sz="2200" dirty="0">
                <a:latin typeface="Arial"/>
                <a:cs typeface="Arial"/>
              </a:rPr>
              <a:t>Esc</a:t>
            </a:r>
            <a:r>
              <a:rPr sz="2200" spc="-5" dirty="0">
                <a:latin typeface="Arial"/>
                <a:cs typeface="Arial"/>
              </a:rPr>
              <a:t>re</a:t>
            </a:r>
            <a:r>
              <a:rPr sz="2200" spc="-15" dirty="0">
                <a:latin typeface="Arial"/>
                <a:cs typeface="Arial"/>
              </a:rPr>
              <a:t>v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-5" dirty="0">
                <a:latin typeface="Arial"/>
                <a:cs typeface="Arial"/>
              </a:rPr>
              <a:t> u</a:t>
            </a:r>
            <a:r>
              <a:rPr sz="2200" dirty="0">
                <a:latin typeface="Arial"/>
                <a:cs typeface="Arial"/>
              </a:rPr>
              <a:t>ma</a:t>
            </a:r>
            <a:r>
              <a:rPr sz="2200" spc="-5" dirty="0">
                <a:latin typeface="Arial"/>
                <a:cs typeface="Arial"/>
              </a:rPr>
              <a:t> fun</a:t>
            </a:r>
            <a:r>
              <a:rPr sz="2200" dirty="0">
                <a:latin typeface="Arial"/>
                <a:cs typeface="Arial"/>
              </a:rPr>
              <a:t>ç</a:t>
            </a:r>
            <a:r>
              <a:rPr sz="2200" spc="-5" dirty="0">
                <a:latin typeface="Arial"/>
                <a:cs typeface="Arial"/>
              </a:rPr>
              <a:t>ã</a:t>
            </a:r>
            <a:r>
              <a:rPr sz="2200" dirty="0">
                <a:latin typeface="Arial"/>
                <a:cs typeface="Arial"/>
              </a:rPr>
              <a:t>o</a:t>
            </a:r>
            <a:r>
              <a:rPr sz="2200" spc="-5" dirty="0">
                <a:latin typeface="Arial"/>
                <a:cs typeface="Arial"/>
              </a:rPr>
              <a:t> re</a:t>
            </a:r>
            <a:r>
              <a:rPr sz="2200" spc="-15" dirty="0">
                <a:latin typeface="Arial"/>
                <a:cs typeface="Arial"/>
              </a:rPr>
              <a:t>c</a:t>
            </a:r>
            <a:r>
              <a:rPr sz="2200" spc="-5" dirty="0">
                <a:latin typeface="Arial"/>
                <a:cs typeface="Arial"/>
              </a:rPr>
              <a:t>ur</a:t>
            </a:r>
            <a:r>
              <a:rPr sz="2200" dirty="0">
                <a:latin typeface="Arial"/>
                <a:cs typeface="Arial"/>
              </a:rPr>
              <a:t>si</a:t>
            </a:r>
            <a:r>
              <a:rPr sz="2200" spc="-15" dirty="0">
                <a:latin typeface="Arial"/>
                <a:cs typeface="Arial"/>
              </a:rPr>
              <a:t>v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150" dirty="0">
                <a:latin typeface="Arial"/>
                <a:cs typeface="Arial"/>
              </a:rPr>
              <a:t> </a:t>
            </a:r>
            <a:r>
              <a:rPr sz="2200" spc="5" dirty="0">
                <a:latin typeface="Arial"/>
                <a:cs typeface="Arial"/>
              </a:rPr>
              <a:t>p</a:t>
            </a:r>
            <a:r>
              <a:rPr sz="2200" spc="-5" dirty="0">
                <a:latin typeface="Arial"/>
                <a:cs typeface="Arial"/>
              </a:rPr>
              <a:t>ar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c</a:t>
            </a:r>
            <a:r>
              <a:rPr sz="2200" spc="-5" dirty="0">
                <a:latin typeface="Arial"/>
                <a:cs typeface="Arial"/>
              </a:rPr>
              <a:t>a</a:t>
            </a:r>
            <a:r>
              <a:rPr sz="2200" dirty="0">
                <a:latin typeface="Arial"/>
                <a:cs typeface="Arial"/>
              </a:rPr>
              <a:t>lc</a:t>
            </a:r>
            <a:r>
              <a:rPr sz="2200" spc="-5" dirty="0">
                <a:latin typeface="Arial"/>
                <a:cs typeface="Arial"/>
              </a:rPr>
              <a:t>u</a:t>
            </a:r>
            <a:r>
              <a:rPr sz="2200" dirty="0">
                <a:latin typeface="Arial"/>
                <a:cs typeface="Arial"/>
              </a:rPr>
              <a:t>l</a:t>
            </a:r>
            <a:r>
              <a:rPr sz="2200" spc="-5" dirty="0">
                <a:latin typeface="Arial"/>
                <a:cs typeface="Arial"/>
              </a:rPr>
              <a:t>a</a:t>
            </a:r>
            <a:r>
              <a:rPr sz="2200" dirty="0">
                <a:latin typeface="Arial"/>
                <a:cs typeface="Arial"/>
              </a:rPr>
              <a:t>r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o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spc="5" dirty="0">
                <a:latin typeface="Arial"/>
                <a:cs typeface="Arial"/>
              </a:rPr>
              <a:t>N</a:t>
            </a:r>
            <a:r>
              <a:rPr sz="2200" spc="-5" dirty="0">
                <a:latin typeface="Arial"/>
                <a:cs typeface="Arial"/>
              </a:rPr>
              <a:t>-é</a:t>
            </a:r>
            <a:r>
              <a:rPr sz="2200" dirty="0">
                <a:latin typeface="Arial"/>
                <a:cs typeface="Arial"/>
              </a:rPr>
              <a:t>simo </a:t>
            </a:r>
            <a:r>
              <a:rPr sz="2200" spc="-5" dirty="0">
                <a:latin typeface="Arial"/>
                <a:cs typeface="Arial"/>
              </a:rPr>
              <a:t>nú</a:t>
            </a:r>
            <a:r>
              <a:rPr sz="2200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er</a:t>
            </a:r>
            <a:r>
              <a:rPr sz="2200" dirty="0">
                <a:latin typeface="Arial"/>
                <a:cs typeface="Arial"/>
              </a:rPr>
              <a:t>o</a:t>
            </a:r>
            <a:r>
              <a:rPr sz="2200" spc="-5" dirty="0">
                <a:latin typeface="Arial"/>
                <a:cs typeface="Arial"/>
              </a:rPr>
              <a:t> d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spc="-15" dirty="0">
                <a:latin typeface="Arial"/>
                <a:cs typeface="Arial"/>
              </a:rPr>
              <a:t>s</a:t>
            </a:r>
            <a:r>
              <a:rPr sz="2200" spc="-5" dirty="0">
                <a:latin typeface="Arial"/>
                <a:cs typeface="Arial"/>
              </a:rPr>
              <a:t>equên</a:t>
            </a:r>
            <a:r>
              <a:rPr sz="2200" dirty="0">
                <a:latin typeface="Arial"/>
                <a:cs typeface="Arial"/>
              </a:rPr>
              <a:t>cia</a:t>
            </a:r>
            <a:r>
              <a:rPr sz="2200" spc="-5" dirty="0">
                <a:latin typeface="Arial"/>
                <a:cs typeface="Arial"/>
              </a:rPr>
              <a:t> d</a:t>
            </a:r>
            <a:r>
              <a:rPr sz="2200" dirty="0">
                <a:latin typeface="Arial"/>
                <a:cs typeface="Arial"/>
              </a:rPr>
              <a:t>e</a:t>
            </a:r>
            <a:r>
              <a:rPr sz="2200" spc="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F</a:t>
            </a:r>
            <a:r>
              <a:rPr sz="2200" dirty="0">
                <a:latin typeface="Arial"/>
                <a:cs typeface="Arial"/>
              </a:rPr>
              <a:t>i</a:t>
            </a:r>
            <a:r>
              <a:rPr sz="2200" spc="-5" dirty="0">
                <a:latin typeface="Arial"/>
                <a:cs typeface="Arial"/>
              </a:rPr>
              <a:t>bona</a:t>
            </a:r>
            <a:r>
              <a:rPr sz="2200" dirty="0">
                <a:latin typeface="Arial"/>
                <a:cs typeface="Arial"/>
              </a:rPr>
              <a:t>cci.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</a:t>
            </a:r>
            <a:r>
              <a:rPr sz="2200" spc="-5" dirty="0">
                <a:latin typeface="Arial"/>
                <a:cs typeface="Arial"/>
              </a:rPr>
              <a:t>equên</a:t>
            </a:r>
            <a:r>
              <a:rPr sz="2200" dirty="0">
                <a:latin typeface="Arial"/>
                <a:cs typeface="Arial"/>
              </a:rPr>
              <a:t>cia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é </a:t>
            </a:r>
            <a:r>
              <a:rPr sz="2200" spc="-5" dirty="0">
                <a:latin typeface="Arial"/>
                <a:cs typeface="Arial"/>
              </a:rPr>
              <a:t>dad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-5" dirty="0">
                <a:latin typeface="Arial"/>
                <a:cs typeface="Arial"/>
              </a:rPr>
              <a:t> por</a:t>
            </a:r>
            <a:r>
              <a:rPr sz="2200" dirty="0">
                <a:latin typeface="Arial"/>
                <a:cs typeface="Arial"/>
              </a:rPr>
              <a:t>: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6252" y="3673815"/>
            <a:ext cx="8392795" cy="2900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1985" marR="5080" indent="-629285">
              <a:lnSpc>
                <a:spcPts val="2390"/>
              </a:lnSpc>
              <a:buClr>
                <a:srgbClr val="852A33"/>
              </a:buClr>
              <a:buAutoNum type="arabicParenR" startAt="2"/>
              <a:tabLst>
                <a:tab pos="642620" algn="l"/>
              </a:tabLst>
            </a:pPr>
            <a:r>
              <a:rPr sz="2200" dirty="0">
                <a:latin typeface="Arial"/>
                <a:cs typeface="Arial"/>
              </a:rPr>
              <a:t>S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ja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</a:t>
            </a:r>
            <a:r>
              <a:rPr sz="2200" spc="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u</a:t>
            </a:r>
            <a:r>
              <a:rPr sz="2200" spc="5" dirty="0">
                <a:latin typeface="Arial"/>
                <a:cs typeface="Arial"/>
              </a:rPr>
              <a:t>m</a:t>
            </a:r>
            <a:r>
              <a:rPr sz="2200" spc="-15" dirty="0">
                <a:latin typeface="Arial"/>
                <a:cs typeface="Arial"/>
              </a:rPr>
              <a:t> v</a:t>
            </a:r>
            <a:r>
              <a:rPr sz="2200" spc="-5" dirty="0">
                <a:latin typeface="Arial"/>
                <a:cs typeface="Arial"/>
              </a:rPr>
              <a:t>eto</a:t>
            </a:r>
            <a:r>
              <a:rPr sz="2200" dirty="0">
                <a:latin typeface="Arial"/>
                <a:cs typeface="Arial"/>
              </a:rPr>
              <a:t>r</a:t>
            </a:r>
            <a:r>
              <a:rPr sz="2200" spc="-5" dirty="0">
                <a:latin typeface="Arial"/>
                <a:cs typeface="Arial"/>
              </a:rPr>
              <a:t> d</a:t>
            </a:r>
            <a:r>
              <a:rPr sz="2200" dirty="0">
                <a:latin typeface="Arial"/>
                <a:cs typeface="Arial"/>
              </a:rPr>
              <a:t>e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i</a:t>
            </a:r>
            <a:r>
              <a:rPr sz="2200" spc="-5" dirty="0">
                <a:latin typeface="Arial"/>
                <a:cs typeface="Arial"/>
              </a:rPr>
              <a:t>nte</a:t>
            </a:r>
            <a:r>
              <a:rPr sz="2200" dirty="0">
                <a:latin typeface="Arial"/>
                <a:cs typeface="Arial"/>
              </a:rPr>
              <a:t>i</a:t>
            </a:r>
            <a:r>
              <a:rPr sz="2200" spc="-15" dirty="0">
                <a:latin typeface="Arial"/>
                <a:cs typeface="Arial"/>
              </a:rPr>
              <a:t>r</a:t>
            </a:r>
            <a:r>
              <a:rPr sz="2200" spc="-5" dirty="0">
                <a:latin typeface="Arial"/>
                <a:cs typeface="Arial"/>
              </a:rPr>
              <a:t>o</a:t>
            </a:r>
            <a:r>
              <a:rPr sz="2200" dirty="0">
                <a:latin typeface="Arial"/>
                <a:cs typeface="Arial"/>
              </a:rPr>
              <a:t>s. </a:t>
            </a:r>
            <a:r>
              <a:rPr sz="2200" spc="5" dirty="0">
                <a:latin typeface="Arial"/>
                <a:cs typeface="Arial"/>
              </a:rPr>
              <a:t>D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sc</a:t>
            </a:r>
            <a:r>
              <a:rPr sz="2200" spc="-5" dirty="0">
                <a:latin typeface="Arial"/>
                <a:cs typeface="Arial"/>
              </a:rPr>
              <a:t>re</a:t>
            </a:r>
            <a:r>
              <a:rPr sz="2200" spc="-15" dirty="0">
                <a:latin typeface="Arial"/>
                <a:cs typeface="Arial"/>
              </a:rPr>
              <a:t>v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-5" dirty="0">
                <a:latin typeface="Arial"/>
                <a:cs typeface="Arial"/>
              </a:rPr>
              <a:t> fun</a:t>
            </a:r>
            <a:r>
              <a:rPr sz="2200" dirty="0">
                <a:latin typeface="Arial"/>
                <a:cs typeface="Arial"/>
              </a:rPr>
              <a:t>ç</a:t>
            </a:r>
            <a:r>
              <a:rPr sz="2200" spc="-5" dirty="0">
                <a:latin typeface="Arial"/>
                <a:cs typeface="Arial"/>
              </a:rPr>
              <a:t>õe</a:t>
            </a:r>
            <a:r>
              <a:rPr sz="2200" dirty="0">
                <a:latin typeface="Arial"/>
                <a:cs typeface="Arial"/>
              </a:rPr>
              <a:t>s </a:t>
            </a:r>
            <a:r>
              <a:rPr sz="2200" spc="-5" dirty="0">
                <a:latin typeface="Arial"/>
                <a:cs typeface="Arial"/>
              </a:rPr>
              <a:t>r</a:t>
            </a:r>
            <a:r>
              <a:rPr sz="2200" spc="-20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c</a:t>
            </a:r>
            <a:r>
              <a:rPr sz="2200" spc="-5" dirty="0">
                <a:latin typeface="Arial"/>
                <a:cs typeface="Arial"/>
              </a:rPr>
              <a:t>u</a:t>
            </a:r>
            <a:r>
              <a:rPr sz="2200" dirty="0">
                <a:latin typeface="Arial"/>
                <a:cs typeface="Arial"/>
              </a:rPr>
              <a:t>rsi</a:t>
            </a:r>
            <a:r>
              <a:rPr sz="2200" spc="-15" dirty="0">
                <a:latin typeface="Arial"/>
                <a:cs typeface="Arial"/>
              </a:rPr>
              <a:t>v</a:t>
            </a:r>
            <a:r>
              <a:rPr sz="2200" spc="-5" dirty="0">
                <a:latin typeface="Arial"/>
                <a:cs typeface="Arial"/>
              </a:rPr>
              <a:t>a</a:t>
            </a:r>
            <a:r>
              <a:rPr sz="2200" dirty="0">
                <a:latin typeface="Arial"/>
                <a:cs typeface="Arial"/>
              </a:rPr>
              <a:t>s </a:t>
            </a:r>
            <a:r>
              <a:rPr sz="2200" spc="-5" dirty="0">
                <a:latin typeface="Arial"/>
                <a:cs typeface="Arial"/>
              </a:rPr>
              <a:t>par</a:t>
            </a:r>
            <a:r>
              <a:rPr sz="2200" dirty="0">
                <a:latin typeface="Arial"/>
                <a:cs typeface="Arial"/>
              </a:rPr>
              <a:t>a c</a:t>
            </a:r>
            <a:r>
              <a:rPr sz="2200" spc="-5" dirty="0">
                <a:latin typeface="Arial"/>
                <a:cs typeface="Arial"/>
              </a:rPr>
              <a:t>a</a:t>
            </a:r>
            <a:r>
              <a:rPr sz="2200" dirty="0">
                <a:latin typeface="Arial"/>
                <a:cs typeface="Arial"/>
              </a:rPr>
              <a:t>lc</a:t>
            </a:r>
            <a:r>
              <a:rPr sz="2200" spc="-5" dirty="0">
                <a:latin typeface="Arial"/>
                <a:cs typeface="Arial"/>
              </a:rPr>
              <a:t>u</a:t>
            </a:r>
            <a:r>
              <a:rPr sz="2200" dirty="0">
                <a:latin typeface="Arial"/>
                <a:cs typeface="Arial"/>
              </a:rPr>
              <a:t>l</a:t>
            </a:r>
            <a:r>
              <a:rPr sz="2200" spc="-5" dirty="0">
                <a:latin typeface="Arial"/>
                <a:cs typeface="Arial"/>
              </a:rPr>
              <a:t>ar</a:t>
            </a:r>
            <a:r>
              <a:rPr sz="2200" dirty="0">
                <a:latin typeface="Arial"/>
                <a:cs typeface="Arial"/>
              </a:rPr>
              <a:t>:</a:t>
            </a:r>
            <a:endParaRPr sz="2200">
              <a:latin typeface="Arial"/>
              <a:cs typeface="Arial"/>
            </a:endParaRPr>
          </a:p>
          <a:p>
            <a:pPr marL="1280160" lvl="1" indent="-504190">
              <a:lnSpc>
                <a:spcPct val="100000"/>
              </a:lnSpc>
              <a:spcBef>
                <a:spcPts val="355"/>
              </a:spcBef>
              <a:buAutoNum type="alphaLcParenR"/>
              <a:tabLst>
                <a:tab pos="1280795" algn="l"/>
              </a:tabLst>
            </a:pPr>
            <a:r>
              <a:rPr sz="2200" dirty="0">
                <a:latin typeface="Arial"/>
                <a:cs typeface="Arial"/>
              </a:rPr>
              <a:t>o</a:t>
            </a:r>
            <a:r>
              <a:rPr sz="2200" spc="-5" dirty="0">
                <a:latin typeface="Arial"/>
                <a:cs typeface="Arial"/>
              </a:rPr>
              <a:t> e</a:t>
            </a:r>
            <a:r>
              <a:rPr sz="2200" dirty="0">
                <a:latin typeface="Arial"/>
                <a:cs typeface="Arial"/>
              </a:rPr>
              <a:t>l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ent</a:t>
            </a:r>
            <a:r>
              <a:rPr sz="2200" dirty="0">
                <a:latin typeface="Arial"/>
                <a:cs typeface="Arial"/>
              </a:rPr>
              <a:t>o</a:t>
            </a:r>
            <a:r>
              <a:rPr sz="2200" spc="-1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á</a:t>
            </a:r>
            <a:r>
              <a:rPr sz="2200" spc="-15" dirty="0">
                <a:latin typeface="Arial"/>
                <a:cs typeface="Arial"/>
              </a:rPr>
              <a:t>x</a:t>
            </a:r>
            <a:r>
              <a:rPr sz="2200" dirty="0">
                <a:latin typeface="Arial"/>
                <a:cs typeface="Arial"/>
              </a:rPr>
              <a:t>imo</a:t>
            </a:r>
            <a:r>
              <a:rPr sz="2200" spc="-5" dirty="0">
                <a:latin typeface="Arial"/>
                <a:cs typeface="Arial"/>
              </a:rPr>
              <a:t> d</a:t>
            </a:r>
            <a:r>
              <a:rPr sz="2200" dirty="0">
                <a:latin typeface="Arial"/>
                <a:cs typeface="Arial"/>
              </a:rPr>
              <a:t>e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S;</a:t>
            </a:r>
            <a:endParaRPr sz="2200">
              <a:latin typeface="Arial"/>
              <a:cs typeface="Arial"/>
            </a:endParaRPr>
          </a:p>
          <a:p>
            <a:pPr marL="1280160" lvl="1" indent="-504190">
              <a:lnSpc>
                <a:spcPct val="100000"/>
              </a:lnSpc>
              <a:spcBef>
                <a:spcPts val="405"/>
              </a:spcBef>
              <a:buAutoNum type="alphaLcParenR"/>
              <a:tabLst>
                <a:tab pos="1280795" algn="l"/>
              </a:tabLst>
            </a:pPr>
            <a:r>
              <a:rPr sz="2200" dirty="0">
                <a:latin typeface="Arial"/>
                <a:cs typeface="Arial"/>
              </a:rPr>
              <a:t>a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</a:t>
            </a:r>
            <a:r>
              <a:rPr sz="2200" spc="-5" dirty="0">
                <a:latin typeface="Arial"/>
                <a:cs typeface="Arial"/>
              </a:rPr>
              <a:t>o</a:t>
            </a:r>
            <a:r>
              <a:rPr sz="2200" dirty="0">
                <a:latin typeface="Arial"/>
                <a:cs typeface="Arial"/>
              </a:rPr>
              <a:t>ma</a:t>
            </a:r>
            <a:r>
              <a:rPr sz="2200" spc="-5" dirty="0">
                <a:latin typeface="Arial"/>
                <a:cs typeface="Arial"/>
              </a:rPr>
              <a:t> do</a:t>
            </a:r>
            <a:r>
              <a:rPr sz="2200" dirty="0">
                <a:latin typeface="Arial"/>
                <a:cs typeface="Arial"/>
              </a:rPr>
              <a:t>s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l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ento</a:t>
            </a:r>
            <a:r>
              <a:rPr sz="2200" dirty="0">
                <a:latin typeface="Arial"/>
                <a:cs typeface="Arial"/>
              </a:rPr>
              <a:t>s </a:t>
            </a:r>
            <a:r>
              <a:rPr sz="2200" spc="-5" dirty="0">
                <a:latin typeface="Arial"/>
                <a:cs typeface="Arial"/>
              </a:rPr>
              <a:t>d</a:t>
            </a:r>
            <a:r>
              <a:rPr sz="2200" dirty="0">
                <a:latin typeface="Arial"/>
                <a:cs typeface="Arial"/>
              </a:rPr>
              <a:t>e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S;</a:t>
            </a:r>
            <a:endParaRPr sz="2200">
              <a:latin typeface="Arial"/>
              <a:cs typeface="Arial"/>
            </a:endParaRPr>
          </a:p>
          <a:p>
            <a:pPr marL="1280160" lvl="1" indent="-504190">
              <a:lnSpc>
                <a:spcPct val="100000"/>
              </a:lnSpc>
              <a:spcBef>
                <a:spcPts val="405"/>
              </a:spcBef>
              <a:buAutoNum type="alphaLcParenR"/>
              <a:tabLst>
                <a:tab pos="1280795" algn="l"/>
              </a:tabLst>
            </a:pPr>
            <a:r>
              <a:rPr sz="2200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éd</a:t>
            </a:r>
            <a:r>
              <a:rPr sz="2200" dirty="0">
                <a:latin typeface="Arial"/>
                <a:cs typeface="Arial"/>
              </a:rPr>
              <a:t>ia</a:t>
            </a:r>
            <a:r>
              <a:rPr sz="2200" spc="-5" dirty="0">
                <a:latin typeface="Arial"/>
                <a:cs typeface="Arial"/>
              </a:rPr>
              <a:t> ar</a:t>
            </a:r>
            <a:r>
              <a:rPr sz="2200" dirty="0">
                <a:latin typeface="Arial"/>
                <a:cs typeface="Arial"/>
              </a:rPr>
              <a:t>i</a:t>
            </a:r>
            <a:r>
              <a:rPr sz="2200" spc="-5" dirty="0">
                <a:latin typeface="Arial"/>
                <a:cs typeface="Arial"/>
              </a:rPr>
              <a:t>t</a:t>
            </a:r>
            <a:r>
              <a:rPr sz="2200" spc="-10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ét</a:t>
            </a:r>
            <a:r>
              <a:rPr sz="2200" dirty="0">
                <a:latin typeface="Arial"/>
                <a:cs typeface="Arial"/>
              </a:rPr>
              <a:t>ica</a:t>
            </a:r>
            <a:r>
              <a:rPr sz="2200" spc="-5" dirty="0">
                <a:latin typeface="Arial"/>
                <a:cs typeface="Arial"/>
              </a:rPr>
              <a:t> do</a:t>
            </a:r>
            <a:r>
              <a:rPr sz="2200" dirty="0">
                <a:latin typeface="Arial"/>
                <a:cs typeface="Arial"/>
              </a:rPr>
              <a:t>s 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spc="-15" dirty="0">
                <a:latin typeface="Arial"/>
                <a:cs typeface="Arial"/>
              </a:rPr>
              <a:t>l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ento</a:t>
            </a:r>
            <a:r>
              <a:rPr sz="2200" dirty="0">
                <a:latin typeface="Arial"/>
                <a:cs typeface="Arial"/>
              </a:rPr>
              <a:t>s </a:t>
            </a:r>
            <a:r>
              <a:rPr sz="2200" spc="-5" dirty="0">
                <a:latin typeface="Arial"/>
                <a:cs typeface="Arial"/>
              </a:rPr>
              <a:t>d</a:t>
            </a:r>
            <a:r>
              <a:rPr sz="2200" dirty="0">
                <a:latin typeface="Arial"/>
                <a:cs typeface="Arial"/>
              </a:rPr>
              <a:t>e</a:t>
            </a:r>
            <a:r>
              <a:rPr sz="2200" spc="-1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S.</a:t>
            </a:r>
            <a:endParaRPr sz="22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"/>
              </a:spcBef>
              <a:buFont typeface="Arial"/>
              <a:buAutoNum type="alphaLcParenR"/>
            </a:pPr>
            <a:endParaRPr sz="3250">
              <a:latin typeface="Times New Roman"/>
              <a:cs typeface="Times New Roman"/>
            </a:endParaRPr>
          </a:p>
          <a:p>
            <a:pPr marL="641985" marR="318770" indent="-629285">
              <a:lnSpc>
                <a:spcPts val="2380"/>
              </a:lnSpc>
              <a:buClr>
                <a:srgbClr val="852A33"/>
              </a:buClr>
              <a:buAutoNum type="arabicParenR" startAt="2"/>
              <a:tabLst>
                <a:tab pos="642620" algn="l"/>
              </a:tabLst>
            </a:pPr>
            <a:r>
              <a:rPr sz="2200" dirty="0">
                <a:latin typeface="Arial"/>
                <a:cs typeface="Arial"/>
              </a:rPr>
              <a:t>Esc</a:t>
            </a:r>
            <a:r>
              <a:rPr sz="2200" spc="-5" dirty="0">
                <a:latin typeface="Arial"/>
                <a:cs typeface="Arial"/>
              </a:rPr>
              <a:t>re</a:t>
            </a:r>
            <a:r>
              <a:rPr sz="2200" spc="-15" dirty="0">
                <a:latin typeface="Arial"/>
                <a:cs typeface="Arial"/>
              </a:rPr>
              <a:t>v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-5" dirty="0">
                <a:latin typeface="Arial"/>
                <a:cs typeface="Arial"/>
              </a:rPr>
              <a:t> u</a:t>
            </a:r>
            <a:r>
              <a:rPr sz="2200" spc="5" dirty="0">
                <a:latin typeface="Arial"/>
                <a:cs typeface="Arial"/>
              </a:rPr>
              <a:t>m</a:t>
            </a:r>
            <a:r>
              <a:rPr sz="2200" spc="-1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pro</a:t>
            </a:r>
            <a:r>
              <a:rPr sz="2200" dirty="0">
                <a:latin typeface="Arial"/>
                <a:cs typeface="Arial"/>
              </a:rPr>
              <a:t>c</a:t>
            </a:r>
            <a:r>
              <a:rPr sz="2200" spc="-5" dirty="0">
                <a:latin typeface="Arial"/>
                <a:cs typeface="Arial"/>
              </a:rPr>
              <a:t>ed</a:t>
            </a:r>
            <a:r>
              <a:rPr sz="2200" dirty="0">
                <a:latin typeface="Arial"/>
                <a:cs typeface="Arial"/>
              </a:rPr>
              <a:t>im</a:t>
            </a:r>
            <a:r>
              <a:rPr sz="2200" spc="-5" dirty="0">
                <a:latin typeface="Arial"/>
                <a:cs typeface="Arial"/>
              </a:rPr>
              <a:t>ent</a:t>
            </a:r>
            <a:r>
              <a:rPr sz="2200" dirty="0">
                <a:latin typeface="Arial"/>
                <a:cs typeface="Arial"/>
              </a:rPr>
              <a:t>o</a:t>
            </a:r>
            <a:r>
              <a:rPr sz="2200" spc="-5" dirty="0">
                <a:latin typeface="Arial"/>
                <a:cs typeface="Arial"/>
              </a:rPr>
              <a:t> re</a:t>
            </a:r>
            <a:r>
              <a:rPr sz="2200" dirty="0">
                <a:latin typeface="Arial"/>
                <a:cs typeface="Arial"/>
              </a:rPr>
              <a:t>c</a:t>
            </a:r>
            <a:r>
              <a:rPr sz="2200" spc="-5" dirty="0">
                <a:latin typeface="Arial"/>
                <a:cs typeface="Arial"/>
              </a:rPr>
              <a:t>ur</a:t>
            </a:r>
            <a:r>
              <a:rPr sz="2200" dirty="0">
                <a:latin typeface="Arial"/>
                <a:cs typeface="Arial"/>
              </a:rPr>
              <a:t>si</a:t>
            </a:r>
            <a:r>
              <a:rPr sz="2200" spc="-15" dirty="0">
                <a:latin typeface="Arial"/>
                <a:cs typeface="Arial"/>
              </a:rPr>
              <a:t>v</a:t>
            </a:r>
            <a:r>
              <a:rPr sz="2200" dirty="0">
                <a:latin typeface="Arial"/>
                <a:cs typeface="Arial"/>
              </a:rPr>
              <a:t>o</a:t>
            </a:r>
            <a:r>
              <a:rPr sz="2200" spc="-5" dirty="0">
                <a:latin typeface="Arial"/>
                <a:cs typeface="Arial"/>
              </a:rPr>
              <a:t> qu</a:t>
            </a:r>
            <a:r>
              <a:rPr sz="2200" dirty="0">
                <a:latin typeface="Arial"/>
                <a:cs typeface="Arial"/>
              </a:rPr>
              <a:t>e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im</a:t>
            </a:r>
            <a:r>
              <a:rPr sz="2200" spc="-5" dirty="0">
                <a:latin typeface="Arial"/>
                <a:cs typeface="Arial"/>
              </a:rPr>
              <a:t>pr</a:t>
            </a:r>
            <a:r>
              <a:rPr sz="2200" dirty="0">
                <a:latin typeface="Arial"/>
                <a:cs typeface="Arial"/>
              </a:rPr>
              <a:t>ima</a:t>
            </a:r>
            <a:r>
              <a:rPr sz="2200" spc="-5" dirty="0">
                <a:latin typeface="Arial"/>
                <a:cs typeface="Arial"/>
              </a:rPr>
              <a:t> n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-5" dirty="0">
                <a:latin typeface="Arial"/>
                <a:cs typeface="Arial"/>
              </a:rPr>
              <a:t> t</a:t>
            </a:r>
            <a:r>
              <a:rPr sz="2200" dirty="0">
                <a:latin typeface="Arial"/>
                <a:cs typeface="Arial"/>
              </a:rPr>
              <a:t>ela</a:t>
            </a:r>
            <a:r>
              <a:rPr sz="2200" spc="-5" dirty="0">
                <a:latin typeface="Arial"/>
                <a:cs typeface="Arial"/>
              </a:rPr>
              <a:t> o</a:t>
            </a:r>
            <a:r>
              <a:rPr sz="2200" dirty="0">
                <a:latin typeface="Arial"/>
                <a:cs typeface="Arial"/>
              </a:rPr>
              <a:t>s </a:t>
            </a:r>
            <a:r>
              <a:rPr sz="2200" spc="-5" dirty="0">
                <a:latin typeface="Arial"/>
                <a:cs typeface="Arial"/>
              </a:rPr>
              <a:t>nú</a:t>
            </a:r>
            <a:r>
              <a:rPr sz="2200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ero</a:t>
            </a:r>
            <a:r>
              <a:rPr sz="2200" dirty="0">
                <a:latin typeface="Arial"/>
                <a:cs typeface="Arial"/>
              </a:rPr>
              <a:t>s </a:t>
            </a:r>
            <a:r>
              <a:rPr sz="2200" spc="-15" dirty="0">
                <a:latin typeface="Arial"/>
                <a:cs typeface="Arial"/>
              </a:rPr>
              <a:t>í</a:t>
            </a:r>
            <a:r>
              <a:rPr sz="2200" spc="-10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pare</a:t>
            </a:r>
            <a:r>
              <a:rPr sz="2200" dirty="0">
                <a:latin typeface="Arial"/>
                <a:cs typeface="Arial"/>
              </a:rPr>
              <a:t>s </a:t>
            </a:r>
            <a:r>
              <a:rPr sz="2200" spc="-5" dirty="0">
                <a:latin typeface="Arial"/>
                <a:cs typeface="Arial"/>
              </a:rPr>
              <a:t>d</a:t>
            </a:r>
            <a:r>
              <a:rPr sz="2200" dirty="0">
                <a:latin typeface="Arial"/>
                <a:cs typeface="Arial"/>
              </a:rPr>
              <a:t>e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1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à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u</a:t>
            </a:r>
            <a:r>
              <a:rPr sz="2200" spc="5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 nú</a:t>
            </a:r>
            <a:r>
              <a:rPr sz="2200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er</a:t>
            </a:r>
            <a:r>
              <a:rPr sz="2200" dirty="0">
                <a:latin typeface="Arial"/>
                <a:cs typeface="Arial"/>
              </a:rPr>
              <a:t>o</a:t>
            </a:r>
            <a:r>
              <a:rPr sz="2200" spc="-1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forne</a:t>
            </a:r>
            <a:r>
              <a:rPr sz="2200" dirty="0">
                <a:latin typeface="Arial"/>
                <a:cs typeface="Arial"/>
              </a:rPr>
              <a:t>ci</a:t>
            </a:r>
            <a:r>
              <a:rPr sz="2200" spc="-5" dirty="0">
                <a:latin typeface="Arial"/>
                <a:cs typeface="Arial"/>
              </a:rPr>
              <a:t>d</a:t>
            </a:r>
            <a:r>
              <a:rPr sz="2200" dirty="0">
                <a:latin typeface="Arial"/>
                <a:cs typeface="Arial"/>
              </a:rPr>
              <a:t>o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spc="-20" dirty="0">
                <a:latin typeface="Arial"/>
                <a:cs typeface="Arial"/>
              </a:rPr>
              <a:t>p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lo</a:t>
            </a:r>
            <a:r>
              <a:rPr sz="2200" spc="-5" dirty="0">
                <a:latin typeface="Arial"/>
                <a:cs typeface="Arial"/>
              </a:rPr>
              <a:t> u</a:t>
            </a:r>
            <a:r>
              <a:rPr sz="2200" dirty="0">
                <a:latin typeface="Arial"/>
                <a:cs typeface="Arial"/>
              </a:rPr>
              <a:t>s</a:t>
            </a:r>
            <a:r>
              <a:rPr sz="2200" spc="-5" dirty="0">
                <a:latin typeface="Arial"/>
                <a:cs typeface="Arial"/>
              </a:rPr>
              <a:t>u</a:t>
            </a:r>
            <a:r>
              <a:rPr sz="2200" dirty="0">
                <a:latin typeface="Arial"/>
                <a:cs typeface="Arial"/>
              </a:rPr>
              <a:t>á</a:t>
            </a:r>
            <a:r>
              <a:rPr sz="2200" spc="-5" dirty="0">
                <a:latin typeface="Arial"/>
                <a:cs typeface="Arial"/>
              </a:rPr>
              <a:t>r</a:t>
            </a:r>
            <a:r>
              <a:rPr sz="2200" dirty="0">
                <a:latin typeface="Arial"/>
                <a:cs typeface="Arial"/>
              </a:rPr>
              <a:t>i</a:t>
            </a:r>
            <a:r>
              <a:rPr sz="2200" spc="-5" dirty="0">
                <a:latin typeface="Arial"/>
                <a:cs typeface="Arial"/>
              </a:rPr>
              <a:t>o</a:t>
            </a:r>
            <a:r>
              <a:rPr sz="2200" dirty="0">
                <a:latin typeface="Arial"/>
                <a:cs typeface="Arial"/>
              </a:rPr>
              <a:t>.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50847" y="2506398"/>
            <a:ext cx="5236464" cy="9623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18566215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672491"/>
          </a:xfrm>
          <a:prstGeom prst="rect">
            <a:avLst/>
          </a:prstGeom>
        </p:spPr>
        <p:txBody>
          <a:bodyPr vert="horz" wrap="square" lIns="0" tIns="79247" rIns="0" bIns="0" rtlCol="0">
            <a:spAutoFit/>
          </a:bodyPr>
          <a:lstStyle/>
          <a:p>
            <a:pPr marL="10795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r</a:t>
            </a:r>
            <a:r>
              <a:rPr spc="0" dirty="0"/>
              <a:t>c</a:t>
            </a:r>
            <a:r>
              <a:rPr dirty="0"/>
              <a:t>í</a:t>
            </a:r>
            <a:r>
              <a:rPr spc="-10" dirty="0"/>
              <a:t>c</a:t>
            </a:r>
            <a:r>
              <a:rPr dirty="0"/>
              <a:t>io</a:t>
            </a:r>
            <a:r>
              <a:rPr spc="-5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6252" y="1470876"/>
            <a:ext cx="9130665" cy="5131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1985" marR="303530" indent="-629285" algn="just">
              <a:lnSpc>
                <a:spcPct val="91300"/>
              </a:lnSpc>
              <a:buClr>
                <a:srgbClr val="852A33"/>
              </a:buClr>
              <a:buAutoNum type="arabicParenR" startAt="4"/>
              <a:tabLst>
                <a:tab pos="642620" algn="l"/>
              </a:tabLst>
            </a:pPr>
            <a:r>
              <a:rPr sz="2600" spc="20" dirty="0">
                <a:latin typeface="Arial"/>
                <a:cs typeface="Arial"/>
              </a:rPr>
              <a:t>Esc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25" dirty="0">
                <a:latin typeface="Arial"/>
                <a:cs typeface="Arial"/>
              </a:rPr>
              <a:t>e</a:t>
            </a:r>
            <a:r>
              <a:rPr sz="2600" spc="15" dirty="0">
                <a:latin typeface="Arial"/>
                <a:cs typeface="Arial"/>
              </a:rPr>
              <a:t>v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u</a:t>
            </a:r>
            <a:r>
              <a:rPr sz="2600" spc="30" dirty="0">
                <a:latin typeface="Arial"/>
                <a:cs typeface="Arial"/>
              </a:rPr>
              <a:t>m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p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25" dirty="0">
                <a:latin typeface="Arial"/>
                <a:cs typeface="Arial"/>
              </a:rPr>
              <a:t>o</a:t>
            </a:r>
            <a:r>
              <a:rPr sz="2600" spc="15" dirty="0">
                <a:latin typeface="Arial"/>
                <a:cs typeface="Arial"/>
              </a:rPr>
              <a:t>c</a:t>
            </a:r>
            <a:r>
              <a:rPr sz="2600" spc="25" dirty="0">
                <a:latin typeface="Arial"/>
                <a:cs typeface="Arial"/>
              </a:rPr>
              <a:t>ed</a:t>
            </a:r>
            <a:r>
              <a:rPr sz="2600" spc="15" dirty="0">
                <a:latin typeface="Arial"/>
                <a:cs typeface="Arial"/>
              </a:rPr>
              <a:t>i</a:t>
            </a:r>
            <a:r>
              <a:rPr sz="2600" spc="25" dirty="0">
                <a:latin typeface="Arial"/>
                <a:cs typeface="Arial"/>
              </a:rPr>
              <a:t>me</a:t>
            </a:r>
            <a:r>
              <a:rPr sz="2600" spc="15" dirty="0">
                <a:latin typeface="Arial"/>
                <a:cs typeface="Arial"/>
              </a:rPr>
              <a:t>n</a:t>
            </a:r>
            <a:r>
              <a:rPr sz="2600" spc="20" dirty="0">
                <a:latin typeface="Arial"/>
                <a:cs typeface="Arial"/>
              </a:rPr>
              <a:t>to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re</a:t>
            </a:r>
            <a:r>
              <a:rPr sz="2600" spc="25" dirty="0">
                <a:latin typeface="Arial"/>
                <a:cs typeface="Arial"/>
              </a:rPr>
              <a:t>c</a:t>
            </a:r>
            <a:r>
              <a:rPr sz="2600" spc="15" dirty="0">
                <a:latin typeface="Arial"/>
                <a:cs typeface="Arial"/>
              </a:rPr>
              <a:t>u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25" dirty="0">
                <a:latin typeface="Arial"/>
                <a:cs typeface="Arial"/>
              </a:rPr>
              <a:t>s</a:t>
            </a:r>
            <a:r>
              <a:rPr sz="2600" spc="5" dirty="0">
                <a:latin typeface="Arial"/>
                <a:cs typeface="Arial"/>
              </a:rPr>
              <a:t>i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15" dirty="0">
                <a:latin typeface="Arial"/>
                <a:cs typeface="Arial"/>
              </a:rPr>
              <a:t>o</a:t>
            </a:r>
            <a:r>
              <a:rPr sz="2600" spc="10" dirty="0">
                <a:latin typeface="Arial"/>
                <a:cs typeface="Arial"/>
              </a:rPr>
              <a:t>,</a:t>
            </a:r>
            <a:r>
              <a:rPr sz="2600" spc="5" dirty="0">
                <a:latin typeface="Arial"/>
                <a:cs typeface="Arial"/>
              </a:rPr>
              <a:t> I</a:t>
            </a:r>
            <a:r>
              <a:rPr sz="2600" spc="40" dirty="0">
                <a:latin typeface="Arial"/>
                <a:cs typeface="Arial"/>
              </a:rPr>
              <a:t>m</a:t>
            </a:r>
            <a:r>
              <a:rPr sz="2600" spc="15" dirty="0">
                <a:latin typeface="Arial"/>
                <a:cs typeface="Arial"/>
              </a:rPr>
              <a:t>pr</a:t>
            </a:r>
            <a:r>
              <a:rPr sz="2600" spc="5" dirty="0">
                <a:latin typeface="Arial"/>
                <a:cs typeface="Arial"/>
              </a:rPr>
              <a:t>i</a:t>
            </a:r>
            <a:r>
              <a:rPr sz="2600" spc="40" dirty="0">
                <a:latin typeface="Arial"/>
                <a:cs typeface="Arial"/>
              </a:rPr>
              <a:t>m</a:t>
            </a:r>
            <a:r>
              <a:rPr sz="2600" spc="15" dirty="0">
                <a:latin typeface="Arial"/>
                <a:cs typeface="Arial"/>
              </a:rPr>
              <a:t>e</a:t>
            </a:r>
            <a:r>
              <a:rPr sz="2600" spc="40" dirty="0">
                <a:latin typeface="Arial"/>
                <a:cs typeface="Arial"/>
              </a:rPr>
              <a:t>S</a:t>
            </a:r>
            <a:r>
              <a:rPr sz="2600" spc="15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15" dirty="0">
                <a:latin typeface="Arial"/>
                <a:cs typeface="Arial"/>
              </a:rPr>
              <a:t>i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 (i</a:t>
            </a:r>
            <a:r>
              <a:rPr sz="2600" spc="10" dirty="0">
                <a:latin typeface="Arial"/>
                <a:cs typeface="Arial"/>
              </a:rPr>
              <a:t>,</a:t>
            </a:r>
            <a:r>
              <a:rPr sz="2600" spc="25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j</a:t>
            </a:r>
            <a:r>
              <a:rPr sz="2600" spc="10" dirty="0">
                <a:latin typeface="Arial"/>
                <a:cs typeface="Arial"/>
              </a:rPr>
              <a:t>, </a:t>
            </a:r>
            <a:r>
              <a:rPr sz="2600" spc="15" dirty="0">
                <a:latin typeface="Arial"/>
                <a:cs typeface="Arial"/>
              </a:rPr>
              <a:t>k</a:t>
            </a:r>
            <a:r>
              <a:rPr sz="2600" spc="5" dirty="0">
                <a:latin typeface="Arial"/>
                <a:cs typeface="Arial"/>
              </a:rPr>
              <a:t>)</a:t>
            </a:r>
            <a:r>
              <a:rPr sz="2600" spc="10" dirty="0">
                <a:latin typeface="Arial"/>
                <a:cs typeface="Arial"/>
              </a:rPr>
              <a:t>,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qu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 i</a:t>
            </a:r>
            <a:r>
              <a:rPr sz="2600" spc="25" dirty="0">
                <a:latin typeface="Arial"/>
                <a:cs typeface="Arial"/>
              </a:rPr>
              <a:t>mp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15" dirty="0">
                <a:latin typeface="Arial"/>
                <a:cs typeface="Arial"/>
              </a:rPr>
              <a:t>i</a:t>
            </a:r>
            <a:r>
              <a:rPr sz="2600" spc="40" dirty="0">
                <a:latin typeface="Arial"/>
                <a:cs typeface="Arial"/>
              </a:rPr>
              <a:t>m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n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t</a:t>
            </a:r>
            <a:r>
              <a:rPr sz="2600" spc="25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l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sé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15" dirty="0">
                <a:latin typeface="Arial"/>
                <a:cs typeface="Arial"/>
              </a:rPr>
              <a:t>i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d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15" dirty="0">
                <a:latin typeface="Arial"/>
                <a:cs typeface="Arial"/>
              </a:rPr>
              <a:t>al</a:t>
            </a:r>
            <a:r>
              <a:rPr sz="2600" spc="25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15" dirty="0">
                <a:latin typeface="Arial"/>
                <a:cs typeface="Arial"/>
              </a:rPr>
              <a:t>es</a:t>
            </a:r>
            <a:r>
              <a:rPr sz="2600" spc="20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d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in</a:t>
            </a:r>
            <a:r>
              <a:rPr sz="2600" spc="20" dirty="0">
                <a:latin typeface="Arial"/>
                <a:cs typeface="Arial"/>
              </a:rPr>
              <a:t>te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25" dirty="0">
                <a:latin typeface="Arial"/>
                <a:cs typeface="Arial"/>
              </a:rPr>
              <a:t>va</a:t>
            </a:r>
            <a:r>
              <a:rPr sz="2600" spc="5" dirty="0">
                <a:latin typeface="Arial"/>
                <a:cs typeface="Arial"/>
              </a:rPr>
              <a:t>l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[i,</a:t>
            </a:r>
            <a:r>
              <a:rPr sz="2600" spc="-5" dirty="0">
                <a:latin typeface="Arial"/>
                <a:cs typeface="Arial"/>
              </a:rPr>
              <a:t>j</a:t>
            </a:r>
            <a:r>
              <a:rPr sz="2600" spc="5" dirty="0">
                <a:latin typeface="Arial"/>
                <a:cs typeface="Arial"/>
              </a:rPr>
              <a:t>]</a:t>
            </a:r>
            <a:r>
              <a:rPr sz="2600" spc="10" dirty="0">
                <a:latin typeface="Arial"/>
                <a:cs typeface="Arial"/>
              </a:rPr>
              <a:t>,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c</a:t>
            </a:r>
            <a:r>
              <a:rPr sz="2600" spc="15" dirty="0">
                <a:latin typeface="Arial"/>
                <a:cs typeface="Arial"/>
              </a:rPr>
              <a:t>o</a:t>
            </a:r>
            <a:r>
              <a:rPr sz="2600" spc="30" dirty="0">
                <a:latin typeface="Arial"/>
                <a:cs typeface="Arial"/>
              </a:rPr>
              <a:t>m</a:t>
            </a:r>
            <a:r>
              <a:rPr sz="2600" spc="15" dirty="0">
                <a:latin typeface="Arial"/>
                <a:cs typeface="Arial"/>
              </a:rPr>
              <a:t> incr</a:t>
            </a:r>
            <a:r>
              <a:rPr sz="2600" spc="25" dirty="0">
                <a:latin typeface="Arial"/>
                <a:cs typeface="Arial"/>
              </a:rPr>
              <a:t>e</a:t>
            </a:r>
            <a:r>
              <a:rPr sz="2600" spc="40" dirty="0">
                <a:latin typeface="Arial"/>
                <a:cs typeface="Arial"/>
              </a:rPr>
              <a:t>m</a:t>
            </a:r>
            <a:r>
              <a:rPr sz="2600" spc="15" dirty="0">
                <a:latin typeface="Arial"/>
                <a:cs typeface="Arial"/>
              </a:rPr>
              <a:t>en</a:t>
            </a:r>
            <a:r>
              <a:rPr sz="2600" spc="20" dirty="0">
                <a:latin typeface="Arial"/>
                <a:cs typeface="Arial"/>
              </a:rPr>
              <a:t>to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k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(i</a:t>
            </a:r>
            <a:r>
              <a:rPr sz="2600" spc="10" dirty="0">
                <a:latin typeface="Arial"/>
                <a:cs typeface="Arial"/>
              </a:rPr>
              <a:t>,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j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k</a:t>
            </a:r>
            <a:r>
              <a:rPr sz="2600" spc="20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s</a:t>
            </a:r>
            <a:r>
              <a:rPr sz="2600" spc="25" dirty="0">
                <a:latin typeface="Arial"/>
                <a:cs typeface="Arial"/>
              </a:rPr>
              <a:t>ã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in</a:t>
            </a:r>
            <a:r>
              <a:rPr sz="2600" spc="5" dirty="0">
                <a:latin typeface="Arial"/>
                <a:cs typeface="Arial"/>
              </a:rPr>
              <a:t>t</a:t>
            </a:r>
            <a:r>
              <a:rPr sz="2600" spc="15" dirty="0">
                <a:latin typeface="Arial"/>
                <a:cs typeface="Arial"/>
              </a:rPr>
              <a:t>eiros</a:t>
            </a:r>
            <a:r>
              <a:rPr sz="2600" spc="5" dirty="0">
                <a:latin typeface="Arial"/>
                <a:cs typeface="Arial"/>
              </a:rPr>
              <a:t>)</a:t>
            </a:r>
            <a:r>
              <a:rPr sz="2600" spc="10" dirty="0">
                <a:latin typeface="Arial"/>
                <a:cs typeface="Arial"/>
              </a:rPr>
              <a:t>.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1"/>
              </a:spcBef>
              <a:buClr>
                <a:srgbClr val="852A33"/>
              </a:buClr>
              <a:buFont typeface="Arial"/>
              <a:buAutoNum type="arabicParenR" startAt="4"/>
            </a:pPr>
            <a:endParaRPr sz="3550">
              <a:latin typeface="Times New Roman"/>
              <a:cs typeface="Times New Roman"/>
            </a:endParaRPr>
          </a:p>
          <a:p>
            <a:pPr marL="641985" marR="5080" indent="-629285" algn="just">
              <a:lnSpc>
                <a:spcPct val="91300"/>
              </a:lnSpc>
              <a:buClr>
                <a:srgbClr val="852A33"/>
              </a:buClr>
              <a:buAutoNum type="arabicParenR" startAt="4"/>
              <a:tabLst>
                <a:tab pos="642620" algn="l"/>
              </a:tabLst>
            </a:pPr>
            <a:r>
              <a:rPr sz="2600" spc="20" dirty="0">
                <a:latin typeface="Arial"/>
                <a:cs typeface="Arial"/>
              </a:rPr>
              <a:t>Esc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25" dirty="0">
                <a:latin typeface="Arial"/>
                <a:cs typeface="Arial"/>
              </a:rPr>
              <a:t>e</a:t>
            </a:r>
            <a:r>
              <a:rPr sz="2600" spc="15" dirty="0">
                <a:latin typeface="Arial"/>
                <a:cs typeface="Arial"/>
              </a:rPr>
              <a:t>v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um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f</a:t>
            </a:r>
            <a:r>
              <a:rPr sz="2600" spc="25" dirty="0">
                <a:latin typeface="Arial"/>
                <a:cs typeface="Arial"/>
              </a:rPr>
              <a:t>u</a:t>
            </a:r>
            <a:r>
              <a:rPr sz="2600" spc="15" dirty="0">
                <a:latin typeface="Arial"/>
                <a:cs typeface="Arial"/>
              </a:rPr>
              <a:t>n</a:t>
            </a:r>
            <a:r>
              <a:rPr sz="2600" spc="25" dirty="0">
                <a:latin typeface="Arial"/>
                <a:cs typeface="Arial"/>
              </a:rPr>
              <a:t>çã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re</a:t>
            </a:r>
            <a:r>
              <a:rPr sz="2600" spc="25" dirty="0">
                <a:latin typeface="Arial"/>
                <a:cs typeface="Arial"/>
              </a:rPr>
              <a:t>c</a:t>
            </a:r>
            <a:r>
              <a:rPr sz="2600" spc="15" dirty="0">
                <a:latin typeface="Arial"/>
                <a:cs typeface="Arial"/>
              </a:rPr>
              <a:t>u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25" dirty="0">
                <a:latin typeface="Arial"/>
                <a:cs typeface="Arial"/>
              </a:rPr>
              <a:t>s</a:t>
            </a:r>
            <a:r>
              <a:rPr sz="2600" spc="5" dirty="0">
                <a:latin typeface="Arial"/>
                <a:cs typeface="Arial"/>
              </a:rPr>
              <a:t>i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in</a:t>
            </a:r>
            <a:r>
              <a:rPr sz="2600" spc="10" dirty="0">
                <a:latin typeface="Arial"/>
                <a:cs typeface="Arial"/>
              </a:rPr>
              <a:t>t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So</a:t>
            </a:r>
            <a:r>
              <a:rPr sz="2600" spc="40" dirty="0">
                <a:latin typeface="Arial"/>
                <a:cs typeface="Arial"/>
              </a:rPr>
              <a:t>m</a:t>
            </a:r>
            <a:r>
              <a:rPr sz="2600" spc="15" dirty="0">
                <a:latin typeface="Arial"/>
                <a:cs typeface="Arial"/>
              </a:rPr>
              <a:t>a</a:t>
            </a:r>
            <a:r>
              <a:rPr sz="2600" spc="25" dirty="0">
                <a:latin typeface="Arial"/>
                <a:cs typeface="Arial"/>
              </a:rPr>
              <a:t>Se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15" dirty="0">
                <a:latin typeface="Arial"/>
                <a:cs typeface="Arial"/>
              </a:rPr>
              <a:t>i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(</a:t>
            </a:r>
            <a:r>
              <a:rPr sz="2600" spc="5" dirty="0">
                <a:latin typeface="Arial"/>
                <a:cs typeface="Arial"/>
              </a:rPr>
              <a:t>i</a:t>
            </a:r>
            <a:r>
              <a:rPr sz="2600" spc="10" dirty="0">
                <a:latin typeface="Arial"/>
                <a:cs typeface="Arial"/>
              </a:rPr>
              <a:t>,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j</a:t>
            </a:r>
            <a:r>
              <a:rPr sz="2600" spc="10" dirty="0">
                <a:latin typeface="Arial"/>
                <a:cs typeface="Arial"/>
              </a:rPr>
              <a:t>,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k</a:t>
            </a:r>
            <a:r>
              <a:rPr sz="2600" spc="5" dirty="0">
                <a:latin typeface="Arial"/>
                <a:cs typeface="Arial"/>
              </a:rPr>
              <a:t>)</a:t>
            </a:r>
            <a:r>
              <a:rPr sz="2600" spc="10" dirty="0">
                <a:latin typeface="Arial"/>
                <a:cs typeface="Arial"/>
              </a:rPr>
              <a:t>, </a:t>
            </a:r>
            <a:r>
              <a:rPr sz="2600" spc="15" dirty="0">
                <a:latin typeface="Arial"/>
                <a:cs typeface="Arial"/>
              </a:rPr>
              <a:t>q</a:t>
            </a:r>
            <a:r>
              <a:rPr sz="2600" spc="25" dirty="0">
                <a:latin typeface="Arial"/>
                <a:cs typeface="Arial"/>
              </a:rPr>
              <a:t>u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d</a:t>
            </a:r>
            <a:r>
              <a:rPr sz="2600" spc="15" dirty="0">
                <a:latin typeface="Arial"/>
                <a:cs typeface="Arial"/>
              </a:rPr>
              <a:t>e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15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l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15" dirty="0">
                <a:latin typeface="Arial"/>
                <a:cs typeface="Arial"/>
              </a:rPr>
              <a:t> s</a:t>
            </a:r>
            <a:r>
              <a:rPr sz="2600" spc="25" dirty="0">
                <a:latin typeface="Arial"/>
                <a:cs typeface="Arial"/>
              </a:rPr>
              <a:t>om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d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s</a:t>
            </a:r>
            <a:r>
              <a:rPr sz="2600" spc="15" dirty="0">
                <a:latin typeface="Arial"/>
                <a:cs typeface="Arial"/>
              </a:rPr>
              <a:t>ér</a:t>
            </a:r>
            <a:r>
              <a:rPr sz="2600" spc="5" dirty="0">
                <a:latin typeface="Arial"/>
                <a:cs typeface="Arial"/>
              </a:rPr>
              <a:t>i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d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15" dirty="0">
                <a:latin typeface="Arial"/>
                <a:cs typeface="Arial"/>
              </a:rPr>
              <a:t>alores</a:t>
            </a:r>
            <a:r>
              <a:rPr sz="2600" spc="20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d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i</a:t>
            </a:r>
            <a:r>
              <a:rPr sz="2600" spc="25" dirty="0">
                <a:latin typeface="Arial"/>
                <a:cs typeface="Arial"/>
              </a:rPr>
              <a:t>n</a:t>
            </a:r>
            <a:r>
              <a:rPr sz="2600" spc="5" dirty="0">
                <a:latin typeface="Arial"/>
                <a:cs typeface="Arial"/>
              </a:rPr>
              <a:t>t</a:t>
            </a:r>
            <a:r>
              <a:rPr sz="2600" spc="15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15" dirty="0">
                <a:latin typeface="Arial"/>
                <a:cs typeface="Arial"/>
              </a:rPr>
              <a:t>al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 [i</a:t>
            </a:r>
            <a:r>
              <a:rPr sz="2600" spc="25" dirty="0">
                <a:latin typeface="Arial"/>
                <a:cs typeface="Arial"/>
              </a:rPr>
              <a:t>,</a:t>
            </a:r>
            <a:r>
              <a:rPr sz="2600" spc="-5" dirty="0">
                <a:latin typeface="Arial"/>
                <a:cs typeface="Arial"/>
              </a:rPr>
              <a:t>j</a:t>
            </a:r>
            <a:r>
              <a:rPr sz="2600" spc="20" dirty="0">
                <a:latin typeface="Arial"/>
                <a:cs typeface="Arial"/>
              </a:rPr>
              <a:t>]</a:t>
            </a:r>
            <a:r>
              <a:rPr sz="2600" spc="10" dirty="0">
                <a:latin typeface="Arial"/>
                <a:cs typeface="Arial"/>
              </a:rPr>
              <a:t>,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co</a:t>
            </a:r>
            <a:r>
              <a:rPr sz="2600" spc="30" dirty="0">
                <a:latin typeface="Arial"/>
                <a:cs typeface="Arial"/>
              </a:rPr>
              <a:t>m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i</a:t>
            </a:r>
            <a:r>
              <a:rPr sz="2600" spc="15" dirty="0">
                <a:latin typeface="Arial"/>
                <a:cs typeface="Arial"/>
              </a:rPr>
              <a:t>n</a:t>
            </a:r>
            <a:r>
              <a:rPr sz="2600" spc="25" dirty="0">
                <a:latin typeface="Arial"/>
                <a:cs typeface="Arial"/>
              </a:rPr>
              <a:t>c</a:t>
            </a:r>
            <a:r>
              <a:rPr sz="2600" spc="15" dirty="0">
                <a:latin typeface="Arial"/>
                <a:cs typeface="Arial"/>
              </a:rPr>
              <a:t>re</a:t>
            </a:r>
            <a:r>
              <a:rPr sz="2600" spc="40" dirty="0">
                <a:latin typeface="Arial"/>
                <a:cs typeface="Arial"/>
              </a:rPr>
              <a:t>m</a:t>
            </a:r>
            <a:r>
              <a:rPr sz="2600" spc="25" dirty="0">
                <a:latin typeface="Arial"/>
                <a:cs typeface="Arial"/>
              </a:rPr>
              <a:t>e</a:t>
            </a:r>
            <a:r>
              <a:rPr sz="2600" spc="15" dirty="0">
                <a:latin typeface="Arial"/>
                <a:cs typeface="Arial"/>
              </a:rPr>
              <a:t>n</a:t>
            </a:r>
            <a:r>
              <a:rPr sz="2600" spc="20" dirty="0">
                <a:latin typeface="Arial"/>
                <a:cs typeface="Arial"/>
              </a:rPr>
              <a:t>to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k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(i</a:t>
            </a:r>
            <a:r>
              <a:rPr sz="2600" spc="10" dirty="0">
                <a:latin typeface="Arial"/>
                <a:cs typeface="Arial"/>
              </a:rPr>
              <a:t>,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j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k</a:t>
            </a:r>
            <a:r>
              <a:rPr sz="2600" spc="20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s</a:t>
            </a:r>
            <a:r>
              <a:rPr sz="2600" spc="25" dirty="0">
                <a:latin typeface="Arial"/>
                <a:cs typeface="Arial"/>
              </a:rPr>
              <a:t>ã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in</a:t>
            </a:r>
            <a:r>
              <a:rPr sz="2600" spc="5" dirty="0">
                <a:latin typeface="Arial"/>
                <a:cs typeface="Arial"/>
              </a:rPr>
              <a:t>t</a:t>
            </a:r>
            <a:r>
              <a:rPr sz="2600" spc="15" dirty="0">
                <a:latin typeface="Arial"/>
                <a:cs typeface="Arial"/>
              </a:rPr>
              <a:t>eiros</a:t>
            </a:r>
            <a:r>
              <a:rPr sz="2600" spc="5" dirty="0">
                <a:latin typeface="Arial"/>
                <a:cs typeface="Arial"/>
              </a:rPr>
              <a:t>)</a:t>
            </a:r>
            <a:r>
              <a:rPr sz="2600" spc="10" dirty="0">
                <a:latin typeface="Arial"/>
                <a:cs typeface="Arial"/>
              </a:rPr>
              <a:t>.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8"/>
              </a:spcBef>
              <a:buClr>
                <a:srgbClr val="852A33"/>
              </a:buClr>
              <a:buFont typeface="Arial"/>
              <a:buAutoNum type="arabicParenR" startAt="4"/>
            </a:pPr>
            <a:endParaRPr sz="3600">
              <a:latin typeface="Times New Roman"/>
              <a:cs typeface="Times New Roman"/>
            </a:endParaRPr>
          </a:p>
          <a:p>
            <a:pPr marL="641985" marR="243840" indent="-629285">
              <a:lnSpc>
                <a:spcPts val="2860"/>
              </a:lnSpc>
              <a:buClr>
                <a:srgbClr val="852A33"/>
              </a:buClr>
              <a:buAutoNum type="arabicParenR" startAt="4"/>
              <a:tabLst>
                <a:tab pos="642620" algn="l"/>
              </a:tabLst>
            </a:pPr>
            <a:r>
              <a:rPr sz="2600" spc="15" dirty="0">
                <a:latin typeface="Arial"/>
                <a:cs typeface="Arial"/>
              </a:rPr>
              <a:t>Fa</a:t>
            </a:r>
            <a:r>
              <a:rPr sz="2600" spc="25" dirty="0">
                <a:latin typeface="Arial"/>
                <a:cs typeface="Arial"/>
              </a:rPr>
              <a:t>ç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15" dirty="0">
                <a:latin typeface="Arial"/>
                <a:cs typeface="Arial"/>
              </a:rPr>
              <a:t> u</a:t>
            </a:r>
            <a:r>
              <a:rPr sz="2600" spc="40" dirty="0">
                <a:latin typeface="Arial"/>
                <a:cs typeface="Arial"/>
              </a:rPr>
              <a:t>m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f</a:t>
            </a:r>
            <a:r>
              <a:rPr sz="2600" spc="15" dirty="0">
                <a:latin typeface="Arial"/>
                <a:cs typeface="Arial"/>
              </a:rPr>
              <a:t>un</a:t>
            </a:r>
            <a:r>
              <a:rPr sz="2600" spc="25" dirty="0">
                <a:latin typeface="Arial"/>
                <a:cs typeface="Arial"/>
              </a:rPr>
              <a:t>çã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r</a:t>
            </a:r>
            <a:r>
              <a:rPr sz="2600" spc="25" dirty="0">
                <a:latin typeface="Arial"/>
                <a:cs typeface="Arial"/>
              </a:rPr>
              <a:t>e</a:t>
            </a:r>
            <a:r>
              <a:rPr sz="2600" spc="15" dirty="0">
                <a:latin typeface="Arial"/>
                <a:cs typeface="Arial"/>
              </a:rPr>
              <a:t>curs</a:t>
            </a:r>
            <a:r>
              <a:rPr sz="2600" spc="5" dirty="0">
                <a:latin typeface="Arial"/>
                <a:cs typeface="Arial"/>
              </a:rPr>
              <a:t>i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qu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c</a:t>
            </a:r>
            <a:r>
              <a:rPr sz="2600" spc="15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l</a:t>
            </a:r>
            <a:r>
              <a:rPr sz="2600" spc="25" dirty="0">
                <a:latin typeface="Arial"/>
                <a:cs typeface="Arial"/>
              </a:rPr>
              <a:t>c</a:t>
            </a:r>
            <a:r>
              <a:rPr sz="2600" spc="15" dirty="0">
                <a:latin typeface="Arial"/>
                <a:cs typeface="Arial"/>
              </a:rPr>
              <a:t>ul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15" dirty="0">
                <a:latin typeface="Arial"/>
                <a:cs typeface="Arial"/>
              </a:rPr>
              <a:t>alo</a:t>
            </a:r>
            <a:r>
              <a:rPr sz="2600" spc="10" dirty="0">
                <a:latin typeface="Arial"/>
                <a:cs typeface="Arial"/>
              </a:rPr>
              <a:t>r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d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15" dirty="0">
                <a:latin typeface="Arial"/>
                <a:cs typeface="Arial"/>
              </a:rPr>
              <a:t> s</a:t>
            </a:r>
            <a:r>
              <a:rPr sz="2600" spc="20" dirty="0">
                <a:latin typeface="Arial"/>
                <a:cs typeface="Arial"/>
              </a:rPr>
              <a:t>é</a:t>
            </a:r>
            <a:r>
              <a:rPr sz="2600" spc="15" dirty="0">
                <a:latin typeface="Arial"/>
                <a:cs typeface="Arial"/>
              </a:rPr>
              <a:t>r</a:t>
            </a:r>
            <a:r>
              <a:rPr sz="2600" spc="5" dirty="0">
                <a:latin typeface="Arial"/>
                <a:cs typeface="Arial"/>
              </a:rPr>
              <a:t>i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S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de</a:t>
            </a:r>
            <a:r>
              <a:rPr sz="2600" spc="25" dirty="0">
                <a:latin typeface="Arial"/>
                <a:cs typeface="Arial"/>
              </a:rPr>
              <a:t>s</a:t>
            </a:r>
            <a:r>
              <a:rPr sz="2600" spc="15" dirty="0">
                <a:latin typeface="Arial"/>
                <a:cs typeface="Arial"/>
              </a:rPr>
              <a:t>c</a:t>
            </a:r>
            <a:r>
              <a:rPr sz="2600" spc="5" dirty="0">
                <a:latin typeface="Arial"/>
                <a:cs typeface="Arial"/>
              </a:rPr>
              <a:t>ri</a:t>
            </a:r>
            <a:r>
              <a:rPr sz="2600" spc="20" dirty="0">
                <a:latin typeface="Arial"/>
                <a:cs typeface="Arial"/>
              </a:rPr>
              <a:t>ta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s</a:t>
            </a:r>
            <a:r>
              <a:rPr sz="2600" spc="25" dirty="0">
                <a:latin typeface="Arial"/>
                <a:cs typeface="Arial"/>
              </a:rPr>
              <a:t>eg</a:t>
            </a:r>
            <a:r>
              <a:rPr sz="2600" spc="15" dirty="0">
                <a:latin typeface="Arial"/>
                <a:cs typeface="Arial"/>
              </a:rPr>
              <a:t>ui</a:t>
            </a:r>
            <a:r>
              <a:rPr sz="2600" spc="10" dirty="0">
                <a:latin typeface="Arial"/>
                <a:cs typeface="Arial"/>
              </a:rPr>
              <a:t>r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p</a:t>
            </a:r>
            <a:r>
              <a:rPr sz="2600" spc="15" dirty="0">
                <a:latin typeface="Arial"/>
                <a:cs typeface="Arial"/>
              </a:rPr>
              <a:t>ar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u</a:t>
            </a:r>
            <a:r>
              <a:rPr sz="2600" spc="30" dirty="0">
                <a:latin typeface="Arial"/>
                <a:cs typeface="Arial"/>
              </a:rPr>
              <a:t>m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15" dirty="0">
                <a:latin typeface="Arial"/>
                <a:cs typeface="Arial"/>
              </a:rPr>
              <a:t>alo</a:t>
            </a:r>
            <a:r>
              <a:rPr sz="2600" spc="10" dirty="0">
                <a:latin typeface="Arial"/>
                <a:cs typeface="Arial"/>
              </a:rPr>
              <a:t>r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n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&gt;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0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s</a:t>
            </a:r>
            <a:r>
              <a:rPr sz="2600" spc="15" dirty="0">
                <a:latin typeface="Arial"/>
                <a:cs typeface="Arial"/>
              </a:rPr>
              <a:t>e</a:t>
            </a:r>
            <a:r>
              <a:rPr sz="2600" spc="10" dirty="0">
                <a:latin typeface="Arial"/>
                <a:cs typeface="Arial"/>
              </a:rPr>
              <a:t>r</a:t>
            </a:r>
            <a:r>
              <a:rPr sz="2600" spc="5" dirty="0">
                <a:latin typeface="Arial"/>
                <a:cs typeface="Arial"/>
              </a:rPr>
              <a:t> f</a:t>
            </a:r>
            <a:r>
              <a:rPr sz="2600" spc="25" dirty="0">
                <a:latin typeface="Arial"/>
                <a:cs typeface="Arial"/>
              </a:rPr>
              <a:t>o</a:t>
            </a:r>
            <a:r>
              <a:rPr sz="2600" spc="15" dirty="0">
                <a:latin typeface="Arial"/>
                <a:cs typeface="Arial"/>
              </a:rPr>
              <a:t>r</a:t>
            </a:r>
            <a:r>
              <a:rPr sz="2600" spc="25" dirty="0">
                <a:latin typeface="Arial"/>
                <a:cs typeface="Arial"/>
              </a:rPr>
              <a:t>n</a:t>
            </a:r>
            <a:r>
              <a:rPr sz="2600" spc="15" dirty="0">
                <a:latin typeface="Arial"/>
                <a:cs typeface="Arial"/>
              </a:rPr>
              <a:t>eci</a:t>
            </a:r>
            <a:r>
              <a:rPr sz="2600" spc="25" dirty="0">
                <a:latin typeface="Arial"/>
                <a:cs typeface="Arial"/>
              </a:rPr>
              <a:t>d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c</a:t>
            </a:r>
            <a:r>
              <a:rPr sz="2600" spc="25" dirty="0">
                <a:latin typeface="Arial"/>
                <a:cs typeface="Arial"/>
              </a:rPr>
              <a:t>om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p</a:t>
            </a:r>
            <a:r>
              <a:rPr sz="2600" spc="15" dirty="0">
                <a:latin typeface="Arial"/>
                <a:cs typeface="Arial"/>
              </a:rPr>
              <a:t>arâ</a:t>
            </a:r>
            <a:r>
              <a:rPr sz="2600" spc="40" dirty="0">
                <a:latin typeface="Arial"/>
                <a:cs typeface="Arial"/>
              </a:rPr>
              <a:t>m</a:t>
            </a:r>
            <a:r>
              <a:rPr sz="2600" spc="15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t</a:t>
            </a:r>
            <a:r>
              <a:rPr sz="2600" spc="15" dirty="0">
                <a:latin typeface="Arial"/>
                <a:cs typeface="Arial"/>
              </a:rPr>
              <a:t>r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pa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40" dirty="0">
                <a:latin typeface="Arial"/>
                <a:cs typeface="Arial"/>
              </a:rPr>
              <a:t>m</a:t>
            </a:r>
            <a:r>
              <a:rPr sz="2600" spc="15" dirty="0">
                <a:latin typeface="Arial"/>
                <a:cs typeface="Arial"/>
              </a:rPr>
              <a:t>e</a:t>
            </a:r>
            <a:r>
              <a:rPr sz="2600" spc="25" dirty="0">
                <a:latin typeface="Arial"/>
                <a:cs typeface="Arial"/>
              </a:rPr>
              <a:t>sm</a:t>
            </a:r>
            <a:r>
              <a:rPr sz="2600" spc="15" dirty="0">
                <a:latin typeface="Arial"/>
                <a:cs typeface="Arial"/>
              </a:rPr>
              <a:t>a</a:t>
            </a:r>
            <a:r>
              <a:rPr sz="2600" spc="10" dirty="0">
                <a:latin typeface="Arial"/>
                <a:cs typeface="Arial"/>
              </a:rPr>
              <a:t>:</a:t>
            </a:r>
            <a:endParaRPr sz="2600">
              <a:latin typeface="Arial"/>
              <a:cs typeface="Arial"/>
            </a:endParaRPr>
          </a:p>
          <a:p>
            <a:pPr marL="641985">
              <a:lnSpc>
                <a:spcPts val="2660"/>
              </a:lnSpc>
            </a:pPr>
            <a:r>
              <a:rPr sz="2600" spc="25" dirty="0">
                <a:latin typeface="Arial"/>
                <a:cs typeface="Arial"/>
              </a:rPr>
              <a:t>S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=</a:t>
            </a:r>
            <a:r>
              <a:rPr sz="2600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1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+</a:t>
            </a:r>
            <a:r>
              <a:rPr sz="2600" spc="15" dirty="0">
                <a:latin typeface="Arial"/>
                <a:cs typeface="Arial"/>
              </a:rPr>
              <a:t> 1</a:t>
            </a:r>
            <a:r>
              <a:rPr sz="2600" spc="20" dirty="0">
                <a:latin typeface="Arial"/>
                <a:cs typeface="Arial"/>
              </a:rPr>
              <a:t>/</a:t>
            </a:r>
            <a:r>
              <a:rPr sz="2600" spc="15" dirty="0">
                <a:latin typeface="Arial"/>
                <a:cs typeface="Arial"/>
              </a:rPr>
              <a:t>2</a:t>
            </a:r>
            <a:r>
              <a:rPr sz="2600" spc="10" dirty="0">
                <a:latin typeface="Arial"/>
                <a:cs typeface="Arial"/>
              </a:rPr>
              <a:t>!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+</a:t>
            </a:r>
            <a:r>
              <a:rPr sz="2600" spc="15" dirty="0">
                <a:latin typeface="Arial"/>
                <a:cs typeface="Arial"/>
              </a:rPr>
              <a:t> 1</a:t>
            </a:r>
            <a:r>
              <a:rPr sz="2600" spc="5" dirty="0">
                <a:latin typeface="Arial"/>
                <a:cs typeface="Arial"/>
              </a:rPr>
              <a:t>/</a:t>
            </a:r>
            <a:r>
              <a:rPr sz="2600" spc="15" dirty="0">
                <a:latin typeface="Arial"/>
                <a:cs typeface="Arial"/>
              </a:rPr>
              <a:t>3</a:t>
            </a:r>
            <a:r>
              <a:rPr sz="2600" spc="10" dirty="0">
                <a:latin typeface="Arial"/>
                <a:cs typeface="Arial"/>
              </a:rPr>
              <a:t>!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+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..</a:t>
            </a:r>
            <a:r>
              <a:rPr sz="2600" spc="10" dirty="0">
                <a:latin typeface="Arial"/>
                <a:cs typeface="Arial"/>
              </a:rPr>
              <a:t>.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1</a:t>
            </a:r>
            <a:r>
              <a:rPr sz="2600" spc="5" dirty="0">
                <a:latin typeface="Arial"/>
                <a:cs typeface="Arial"/>
              </a:rPr>
              <a:t>/</a:t>
            </a:r>
            <a:r>
              <a:rPr sz="2600" spc="15" dirty="0">
                <a:latin typeface="Arial"/>
                <a:cs typeface="Arial"/>
              </a:rPr>
              <a:t>n</a:t>
            </a:r>
            <a:r>
              <a:rPr sz="2600" spc="10" dirty="0">
                <a:latin typeface="Arial"/>
                <a:cs typeface="Arial"/>
              </a:rPr>
              <a:t>!</a:t>
            </a:r>
            <a:endParaRPr sz="2600">
              <a:latin typeface="Arial"/>
              <a:cs typeface="Arial"/>
            </a:endParaRPr>
          </a:p>
          <a:p>
            <a:pPr marL="641985">
              <a:lnSpc>
                <a:spcPts val="2990"/>
              </a:lnSpc>
            </a:pPr>
            <a:r>
              <a:rPr sz="2600" spc="25" dirty="0">
                <a:latin typeface="Arial"/>
                <a:cs typeface="Arial"/>
              </a:rPr>
              <a:t>OBS</a:t>
            </a:r>
            <a:r>
              <a:rPr sz="2600" spc="10" dirty="0">
                <a:latin typeface="Arial"/>
                <a:cs typeface="Arial"/>
              </a:rPr>
              <a:t>: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A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f</a:t>
            </a:r>
            <a:r>
              <a:rPr sz="2600" spc="15" dirty="0">
                <a:latin typeface="Arial"/>
                <a:cs typeface="Arial"/>
              </a:rPr>
              <a:t>un</a:t>
            </a:r>
            <a:r>
              <a:rPr sz="2600" spc="25" dirty="0">
                <a:latin typeface="Arial"/>
                <a:cs typeface="Arial"/>
              </a:rPr>
              <a:t>çã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 f</a:t>
            </a:r>
            <a:r>
              <a:rPr sz="2600" spc="15" dirty="0">
                <a:latin typeface="Arial"/>
                <a:cs typeface="Arial"/>
              </a:rPr>
              <a:t>a</a:t>
            </a:r>
            <a:r>
              <a:rPr sz="2600" spc="20" dirty="0">
                <a:latin typeface="Arial"/>
                <a:cs typeface="Arial"/>
              </a:rPr>
              <a:t>t</a:t>
            </a:r>
            <a:r>
              <a:rPr sz="2600" spc="15" dirty="0">
                <a:latin typeface="Arial"/>
                <a:cs typeface="Arial"/>
              </a:rPr>
              <a:t>or</a:t>
            </a:r>
            <a:r>
              <a:rPr sz="2600" spc="5" dirty="0">
                <a:latin typeface="Arial"/>
                <a:cs typeface="Arial"/>
              </a:rPr>
              <a:t>i</a:t>
            </a:r>
            <a:r>
              <a:rPr sz="2600" spc="15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l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t</a:t>
            </a:r>
            <a:r>
              <a:rPr sz="2600" spc="25" dirty="0">
                <a:latin typeface="Arial"/>
                <a:cs typeface="Arial"/>
              </a:rPr>
              <a:t>ambé</a:t>
            </a:r>
            <a:r>
              <a:rPr sz="2600" spc="30" dirty="0">
                <a:latin typeface="Arial"/>
                <a:cs typeface="Arial"/>
              </a:rPr>
              <a:t>m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d</a:t>
            </a:r>
            <a:r>
              <a:rPr sz="2600" spc="15" dirty="0">
                <a:latin typeface="Arial"/>
                <a:cs typeface="Arial"/>
              </a:rPr>
              <a:t>e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se</a:t>
            </a:r>
            <a:r>
              <a:rPr sz="2600" spc="10" dirty="0">
                <a:latin typeface="Arial"/>
                <a:cs typeface="Arial"/>
              </a:rPr>
              <a:t>r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rec</a:t>
            </a:r>
            <a:r>
              <a:rPr sz="2600" spc="25" dirty="0">
                <a:latin typeface="Arial"/>
                <a:cs typeface="Arial"/>
              </a:rPr>
              <a:t>u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15" dirty="0">
                <a:latin typeface="Arial"/>
                <a:cs typeface="Arial"/>
              </a:rPr>
              <a:t>si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15" dirty="0">
                <a:latin typeface="Arial"/>
                <a:cs typeface="Arial"/>
              </a:rPr>
              <a:t>a</a:t>
            </a:r>
            <a:r>
              <a:rPr sz="2600" spc="10" dirty="0">
                <a:latin typeface="Arial"/>
                <a:cs typeface="Arial"/>
              </a:rPr>
              <a:t>.</a:t>
            </a:r>
            <a:endParaRPr sz="2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2714771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23349" y="1035050"/>
            <a:ext cx="9006962" cy="59636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 smtClean="0"/>
              <a:t>O </a:t>
            </a:r>
            <a:r>
              <a:rPr lang="pt-BR" sz="3200" i="1" dirty="0" err="1"/>
              <a:t>debugger</a:t>
            </a:r>
            <a:r>
              <a:rPr lang="pt-BR" sz="3200" i="1" dirty="0"/>
              <a:t> </a:t>
            </a:r>
            <a:r>
              <a:rPr lang="pt-BR" sz="3200" dirty="0"/>
              <a:t>ou depurador é uma funcionalidade do </a:t>
            </a:r>
            <a:r>
              <a:rPr lang="pt-BR" sz="3200" dirty="0" err="1"/>
              <a:t>Code</a:t>
            </a:r>
            <a:r>
              <a:rPr lang="pt-BR" sz="3200" dirty="0"/>
              <a:t>::</a:t>
            </a:r>
            <a:r>
              <a:rPr lang="pt-BR" sz="3200" dirty="0" err="1"/>
              <a:t>Blocks</a:t>
            </a:r>
            <a:r>
              <a:rPr lang="pt-BR" sz="3200" dirty="0"/>
              <a:t> e de outras </a:t>
            </a:r>
            <a:r>
              <a:rPr lang="pt-BR" sz="3200" dirty="0" err="1"/>
              <a:t>IDEs</a:t>
            </a:r>
            <a:r>
              <a:rPr lang="pt-BR" sz="3200" dirty="0"/>
              <a:t> que permite a </a:t>
            </a:r>
            <a:r>
              <a:rPr lang="pt-BR" sz="3200" dirty="0" smtClean="0"/>
              <a:t>verificação </a:t>
            </a:r>
            <a:r>
              <a:rPr lang="pt-BR" sz="3200" dirty="0"/>
              <a:t>passo-a-passo da execução de um algoritmo. </a:t>
            </a:r>
          </a:p>
          <a:p>
            <a:pPr>
              <a:spcBef>
                <a:spcPts val="11"/>
              </a:spcBef>
            </a:pPr>
            <a:endParaRPr sz="4300" dirty="0">
              <a:latin typeface="Times New Roman"/>
              <a:cs typeface="Times New Roman"/>
            </a:endParaRPr>
          </a:p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Impressões, leituras de </a:t>
            </a:r>
            <a:r>
              <a:rPr sz="3200" dirty="0">
                <a:latin typeface="Arial"/>
                <a:cs typeface="Arial"/>
              </a:rPr>
              <a:t>dados, variáveis,  vetores, strings </a:t>
            </a:r>
            <a:r>
              <a:rPr sz="3200" spc="-6" dirty="0">
                <a:latin typeface="Arial"/>
                <a:cs typeface="Arial"/>
              </a:rPr>
              <a:t>etc. </a:t>
            </a:r>
            <a:r>
              <a:rPr sz="3200" dirty="0">
                <a:latin typeface="Arial"/>
                <a:cs typeface="Arial"/>
              </a:rPr>
              <a:t>podem </a:t>
            </a:r>
            <a:r>
              <a:rPr sz="3200" spc="-6" dirty="0">
                <a:latin typeface="Arial"/>
                <a:cs typeface="Arial"/>
              </a:rPr>
              <a:t>ter </a:t>
            </a:r>
            <a:r>
              <a:rPr sz="3200" dirty="0">
                <a:latin typeface="Arial"/>
                <a:cs typeface="Arial"/>
              </a:rPr>
              <a:t>seus valores  verificados </a:t>
            </a:r>
            <a:r>
              <a:rPr sz="3200" spc="-6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cada </a:t>
            </a:r>
            <a:r>
              <a:rPr sz="3200" spc="-6" dirty="0">
                <a:latin typeface="Arial"/>
                <a:cs typeface="Arial"/>
              </a:rPr>
              <a:t>execução de </a:t>
            </a:r>
            <a:r>
              <a:rPr sz="3200" dirty="0">
                <a:latin typeface="Arial"/>
                <a:cs typeface="Arial"/>
              </a:rPr>
              <a:t>uma </a:t>
            </a:r>
            <a:r>
              <a:rPr sz="3200" spc="-6" dirty="0">
                <a:latin typeface="Arial"/>
                <a:cs typeface="Arial"/>
              </a:rPr>
              <a:t>nova  </a:t>
            </a:r>
            <a:r>
              <a:rPr sz="3200" dirty="0">
                <a:latin typeface="Arial"/>
                <a:cs typeface="Arial"/>
              </a:rPr>
              <a:t>instrução.</a:t>
            </a:r>
          </a:p>
          <a:p>
            <a:pPr>
              <a:spcBef>
                <a:spcPts val="40"/>
              </a:spcBef>
              <a:buClr>
                <a:srgbClr val="852B34"/>
              </a:buClr>
              <a:buFont typeface="Arial"/>
              <a:buChar char="•"/>
            </a:pPr>
            <a:endParaRPr sz="4300" dirty="0">
              <a:latin typeface="Times New Roman"/>
              <a:cs typeface="Times New Roman"/>
            </a:endParaRPr>
          </a:p>
          <a:p>
            <a:pPr marL="405526" marR="7966" indent="-391043" algn="just">
              <a:lnSpc>
                <a:spcPts val="3455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Assim, </a:t>
            </a:r>
            <a:r>
              <a:rPr sz="3200" dirty="0">
                <a:latin typeface="Arial"/>
                <a:cs typeface="Arial"/>
              </a:rPr>
              <a:t>possíveis </a:t>
            </a:r>
            <a:r>
              <a:rPr sz="3200" spc="-6" dirty="0">
                <a:latin typeface="Arial"/>
                <a:cs typeface="Arial"/>
              </a:rPr>
              <a:t>falhas no </a:t>
            </a:r>
            <a:r>
              <a:rPr sz="3200" dirty="0">
                <a:latin typeface="Arial"/>
                <a:cs typeface="Arial"/>
              </a:rPr>
              <a:t>algoritmo podem  ser detectadas</a:t>
            </a:r>
            <a:r>
              <a:rPr sz="3200" spc="-7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facilmente.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Debugger</a:t>
            </a:r>
            <a:r>
              <a:rPr spc="-51" dirty="0"/>
              <a:t> </a:t>
            </a:r>
            <a:r>
              <a:rPr spc="-6" dirty="0"/>
              <a:t>(Depurador)</a:t>
            </a:r>
          </a:p>
        </p:txBody>
      </p:sp>
    </p:spTree>
    <p:extLst>
      <p:ext uri="{BB962C8B-B14F-4D97-AF65-F5344CB8AC3E}">
        <p14:creationId xmlns:p14="http://schemas.microsoft.com/office/powerpoint/2010/main" val="3294580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232969"/>
            <a:ext cx="9009190" cy="5536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O </a:t>
            </a:r>
            <a:r>
              <a:rPr sz="3200" i="1" dirty="0">
                <a:latin typeface="Arial"/>
                <a:cs typeface="Arial"/>
              </a:rPr>
              <a:t>debugger </a:t>
            </a:r>
            <a:r>
              <a:rPr sz="3200" dirty="0">
                <a:latin typeface="Arial"/>
                <a:cs typeface="Arial"/>
              </a:rPr>
              <a:t>também </a:t>
            </a:r>
            <a:r>
              <a:rPr sz="3200" spc="-6" dirty="0">
                <a:latin typeface="Arial"/>
                <a:cs typeface="Arial"/>
              </a:rPr>
              <a:t>serve como </a:t>
            </a:r>
            <a:r>
              <a:rPr sz="3200" dirty="0">
                <a:latin typeface="Arial"/>
                <a:cs typeface="Arial"/>
              </a:rPr>
              <a:t>uma  importante ferramenta </a:t>
            </a:r>
            <a:r>
              <a:rPr sz="3200" spc="-6" dirty="0">
                <a:latin typeface="Arial"/>
                <a:cs typeface="Arial"/>
              </a:rPr>
              <a:t>para o </a:t>
            </a:r>
            <a:r>
              <a:rPr sz="3200" dirty="0">
                <a:latin typeface="Arial"/>
                <a:cs typeface="Arial"/>
              </a:rPr>
              <a:t>aprendizado </a:t>
            </a:r>
            <a:r>
              <a:rPr sz="3200" spc="-6" dirty="0">
                <a:latin typeface="Arial"/>
                <a:cs typeface="Arial"/>
              </a:rPr>
              <a:t>de  </a:t>
            </a:r>
            <a:r>
              <a:rPr sz="3200" dirty="0">
                <a:latin typeface="Arial"/>
                <a:cs typeface="Arial"/>
              </a:rPr>
              <a:t>algoritmos, </a:t>
            </a:r>
            <a:r>
              <a:rPr sz="3200" spc="-6" dirty="0">
                <a:latin typeface="Arial"/>
                <a:cs typeface="Arial"/>
              </a:rPr>
              <a:t>permitindo </a:t>
            </a:r>
            <a:r>
              <a:rPr sz="3200" dirty="0">
                <a:latin typeface="Arial"/>
                <a:cs typeface="Arial"/>
              </a:rPr>
              <a:t>que </a:t>
            </a:r>
            <a:r>
              <a:rPr sz="3200" spc="-6" dirty="0">
                <a:latin typeface="Arial"/>
                <a:cs typeface="Arial"/>
              </a:rPr>
              <a:t>seja feito um </a:t>
            </a:r>
            <a:r>
              <a:rPr sz="3200" dirty="0">
                <a:latin typeface="Arial"/>
                <a:cs typeface="Arial"/>
              </a:rPr>
              <a:t>“teste  </a:t>
            </a:r>
            <a:r>
              <a:rPr sz="3200" spc="-6" dirty="0">
                <a:latin typeface="Arial"/>
                <a:cs typeface="Arial"/>
              </a:rPr>
              <a:t>de </a:t>
            </a:r>
            <a:r>
              <a:rPr sz="3200" dirty="0">
                <a:latin typeface="Arial"/>
                <a:cs typeface="Arial"/>
              </a:rPr>
              <a:t>mesa” </a:t>
            </a:r>
            <a:r>
              <a:rPr sz="3200" spc="-6" dirty="0">
                <a:latin typeface="Arial"/>
                <a:cs typeface="Arial"/>
              </a:rPr>
              <a:t>durante a execução do </a:t>
            </a:r>
            <a:r>
              <a:rPr sz="3200" dirty="0">
                <a:latin typeface="Arial"/>
                <a:cs typeface="Arial"/>
              </a:rPr>
              <a:t>próprio  algoritmo.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852B34"/>
              </a:buClr>
              <a:buFont typeface="Arial"/>
              <a:buChar char="•"/>
            </a:pPr>
            <a:endParaRPr sz="4300">
              <a:latin typeface="Times New Roman"/>
              <a:cs typeface="Times New Roman"/>
            </a:endParaRPr>
          </a:p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Através </a:t>
            </a:r>
            <a:r>
              <a:rPr sz="3200" spc="-11" dirty="0">
                <a:latin typeface="Arial"/>
                <a:cs typeface="Arial"/>
              </a:rPr>
              <a:t>do </a:t>
            </a:r>
            <a:r>
              <a:rPr sz="3200" spc="-6" dirty="0">
                <a:latin typeface="Arial"/>
                <a:cs typeface="Arial"/>
              </a:rPr>
              <a:t>processo de </a:t>
            </a:r>
            <a:r>
              <a:rPr sz="3200" i="1" dirty="0">
                <a:latin typeface="Arial"/>
                <a:cs typeface="Arial"/>
              </a:rPr>
              <a:t>debugging</a:t>
            </a:r>
            <a:r>
              <a:rPr sz="3200" dirty="0">
                <a:latin typeface="Arial"/>
                <a:cs typeface="Arial"/>
              </a:rPr>
              <a:t>, </a:t>
            </a:r>
            <a:r>
              <a:rPr sz="3200" spc="-6" dirty="0">
                <a:latin typeface="Arial"/>
                <a:cs typeface="Arial"/>
              </a:rPr>
              <a:t>o fluxo </a:t>
            </a:r>
            <a:r>
              <a:rPr sz="3200" dirty="0">
                <a:latin typeface="Arial"/>
                <a:cs typeface="Arial"/>
              </a:rPr>
              <a:t>de  </a:t>
            </a:r>
            <a:r>
              <a:rPr sz="3200" spc="-6" dirty="0">
                <a:latin typeface="Arial"/>
                <a:cs typeface="Arial"/>
              </a:rPr>
              <a:t>execução de um </a:t>
            </a:r>
            <a:r>
              <a:rPr sz="3200" dirty="0">
                <a:latin typeface="Arial"/>
                <a:cs typeface="Arial"/>
              </a:rPr>
              <a:t>código pode </a:t>
            </a:r>
            <a:r>
              <a:rPr sz="3200" spc="-6" dirty="0">
                <a:latin typeface="Arial"/>
                <a:cs typeface="Arial"/>
              </a:rPr>
              <a:t>ser </a:t>
            </a:r>
            <a:r>
              <a:rPr sz="3200" dirty="0">
                <a:latin typeface="Arial"/>
                <a:cs typeface="Arial"/>
              </a:rPr>
              <a:t>verificado  continuamente, por </a:t>
            </a:r>
            <a:r>
              <a:rPr sz="3200" spc="-6" dirty="0">
                <a:latin typeface="Arial"/>
                <a:cs typeface="Arial"/>
              </a:rPr>
              <a:t>meio da </a:t>
            </a:r>
            <a:r>
              <a:rPr sz="3200" dirty="0">
                <a:latin typeface="Arial"/>
                <a:cs typeface="Arial"/>
              </a:rPr>
              <a:t>checagem do  </a:t>
            </a:r>
            <a:r>
              <a:rPr sz="3200" spc="-6" dirty="0">
                <a:latin typeface="Arial"/>
                <a:cs typeface="Arial"/>
              </a:rPr>
              <a:t>resultado de </a:t>
            </a:r>
            <a:r>
              <a:rPr sz="3200" dirty="0">
                <a:latin typeface="Arial"/>
                <a:cs typeface="Arial"/>
              </a:rPr>
              <a:t>cada </a:t>
            </a:r>
            <a:r>
              <a:rPr sz="3200" spc="-6" dirty="0">
                <a:latin typeface="Arial"/>
                <a:cs typeface="Arial"/>
              </a:rPr>
              <a:t>teste condicional, de </a:t>
            </a:r>
            <a:r>
              <a:rPr sz="3200" dirty="0">
                <a:latin typeface="Arial"/>
                <a:cs typeface="Arial"/>
              </a:rPr>
              <a:t>cada  repetição, </a:t>
            </a:r>
            <a:r>
              <a:rPr sz="3200" spc="-6" dirty="0">
                <a:latin typeface="Arial"/>
                <a:cs typeface="Arial"/>
              </a:rPr>
              <a:t>de cada </a:t>
            </a:r>
            <a:r>
              <a:rPr sz="3200" dirty="0">
                <a:latin typeface="Arial"/>
                <a:cs typeface="Arial"/>
              </a:rPr>
              <a:t>operação </a:t>
            </a:r>
            <a:r>
              <a:rPr sz="3200" spc="-6" dirty="0">
                <a:latin typeface="Arial"/>
                <a:cs typeface="Arial"/>
              </a:rPr>
              <a:t>lógica e  matemática</a:t>
            </a:r>
            <a:r>
              <a:rPr sz="3200" spc="-2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etc..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Debugger</a:t>
            </a:r>
            <a:r>
              <a:rPr spc="-51" dirty="0"/>
              <a:t> </a:t>
            </a:r>
            <a:r>
              <a:rPr spc="-6" dirty="0"/>
              <a:t>(Depurador)</a:t>
            </a:r>
          </a:p>
        </p:txBody>
      </p:sp>
    </p:spTree>
    <p:extLst>
      <p:ext uri="{BB962C8B-B14F-4D97-AF65-F5344CB8AC3E}">
        <p14:creationId xmlns:p14="http://schemas.microsoft.com/office/powerpoint/2010/main" val="2772768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232969"/>
            <a:ext cx="9010675" cy="2304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8690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O algoritmo </a:t>
            </a:r>
            <a:r>
              <a:rPr sz="3200" dirty="0">
                <a:latin typeface="Arial"/>
                <a:cs typeface="Arial"/>
              </a:rPr>
              <a:t>abaixo </a:t>
            </a:r>
            <a:r>
              <a:rPr sz="3200" spc="-6" dirty="0">
                <a:latin typeface="Arial"/>
                <a:cs typeface="Arial"/>
              </a:rPr>
              <a:t>será utilizado </a:t>
            </a:r>
            <a:r>
              <a:rPr sz="3200" dirty="0">
                <a:latin typeface="Arial"/>
                <a:cs typeface="Arial"/>
              </a:rPr>
              <a:t>para </a:t>
            </a:r>
            <a:r>
              <a:rPr sz="3200" spc="-6" dirty="0">
                <a:latin typeface="Arial"/>
                <a:cs typeface="Arial"/>
              </a:rPr>
              <a:t>a  </a:t>
            </a:r>
            <a:r>
              <a:rPr sz="3200" dirty="0">
                <a:latin typeface="Arial"/>
                <a:cs typeface="Arial"/>
              </a:rPr>
              <a:t>explicação </a:t>
            </a:r>
            <a:r>
              <a:rPr sz="3200" spc="-6" dirty="0">
                <a:latin typeface="Arial"/>
                <a:cs typeface="Arial"/>
              </a:rPr>
              <a:t>do </a:t>
            </a:r>
            <a:r>
              <a:rPr sz="3200" dirty="0">
                <a:latin typeface="Arial"/>
                <a:cs typeface="Arial"/>
              </a:rPr>
              <a:t>funcionamento </a:t>
            </a:r>
            <a:r>
              <a:rPr sz="3200" spc="-6" dirty="0">
                <a:latin typeface="Arial"/>
                <a:cs typeface="Arial"/>
              </a:rPr>
              <a:t>do </a:t>
            </a:r>
            <a:r>
              <a:rPr sz="3200" i="1" spc="-6" dirty="0">
                <a:latin typeface="Arial"/>
                <a:cs typeface="Arial"/>
              </a:rPr>
              <a:t>debugger </a:t>
            </a:r>
            <a:r>
              <a:rPr sz="3200" spc="-6" dirty="0">
                <a:latin typeface="Arial"/>
                <a:cs typeface="Arial"/>
              </a:rPr>
              <a:t>do  </a:t>
            </a:r>
            <a:r>
              <a:rPr sz="3200" dirty="0">
                <a:latin typeface="Arial"/>
                <a:cs typeface="Arial"/>
              </a:rPr>
              <a:t>Code::Blocks.</a:t>
            </a:r>
            <a:endParaRPr sz="3200">
              <a:latin typeface="Arial"/>
              <a:cs typeface="Arial"/>
            </a:endParaRPr>
          </a:p>
          <a:p>
            <a:pPr marL="405526" indent="-391043">
              <a:lnSpc>
                <a:spcPts val="3638"/>
              </a:lnSpc>
              <a:spcBef>
                <a:spcPts val="382"/>
              </a:spcBef>
              <a:buClr>
                <a:srgbClr val="852B34"/>
              </a:buClr>
              <a:buSzPct val="69642"/>
              <a:buChar char="•"/>
              <a:tabLst>
                <a:tab pos="404802" algn="l"/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O </a:t>
            </a:r>
            <a:r>
              <a:rPr sz="3200" dirty="0">
                <a:latin typeface="Arial"/>
                <a:cs typeface="Arial"/>
              </a:rPr>
              <a:t>algoritmo inverte </a:t>
            </a:r>
            <a:r>
              <a:rPr sz="3200" spc="-6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ordem dos elementos</a:t>
            </a:r>
            <a:r>
              <a:rPr sz="3200" spc="29" dirty="0">
                <a:latin typeface="Arial"/>
                <a:cs typeface="Arial"/>
              </a:rPr>
              <a:t> </a:t>
            </a:r>
            <a:r>
              <a:rPr sz="3200" spc="11" dirty="0">
                <a:latin typeface="Arial"/>
                <a:cs typeface="Arial"/>
              </a:rPr>
              <a:t>de</a:t>
            </a:r>
            <a:endParaRPr sz="3200">
              <a:latin typeface="Arial"/>
              <a:cs typeface="Arial"/>
            </a:endParaRPr>
          </a:p>
          <a:p>
            <a:pPr marL="404802">
              <a:lnSpc>
                <a:spcPts val="3638"/>
              </a:lnSpc>
            </a:pPr>
            <a:r>
              <a:rPr sz="3200" spc="-6" dirty="0">
                <a:latin typeface="Arial"/>
                <a:cs typeface="Arial"/>
              </a:rPr>
              <a:t>um </a:t>
            </a:r>
            <a:r>
              <a:rPr sz="3200" dirty="0">
                <a:latin typeface="Arial"/>
                <a:cs typeface="Arial"/>
              </a:rPr>
              <a:t>vetor </a:t>
            </a:r>
            <a:r>
              <a:rPr sz="3200" spc="-6" dirty="0">
                <a:latin typeface="Arial"/>
                <a:cs typeface="Arial"/>
              </a:rPr>
              <a:t>de</a:t>
            </a:r>
            <a:r>
              <a:rPr sz="3200" spc="-6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inteiros.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4" name="object 4"/>
          <p:cNvSpPr/>
          <p:nvPr/>
        </p:nvSpPr>
        <p:spPr>
          <a:xfrm>
            <a:off x="2483543" y="3554101"/>
            <a:ext cx="6059742" cy="37413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45817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240806"/>
            <a:ext cx="9009190" cy="23529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 algn="just">
              <a:lnSpc>
                <a:spcPts val="2954"/>
              </a:lnSpc>
              <a:buClr>
                <a:srgbClr val="852B34"/>
              </a:buClr>
              <a:buSzPct val="68750"/>
              <a:buChar char="•"/>
              <a:tabLst>
                <a:tab pos="405526" algn="l"/>
              </a:tabLst>
            </a:pPr>
            <a:r>
              <a:rPr sz="2700" spc="-6" dirty="0">
                <a:latin typeface="Arial"/>
                <a:cs typeface="Arial"/>
              </a:rPr>
              <a:t>Antes de dar início ao </a:t>
            </a:r>
            <a:r>
              <a:rPr sz="2700" i="1" dirty="0">
                <a:latin typeface="Arial"/>
                <a:cs typeface="Arial"/>
              </a:rPr>
              <a:t>debugging, </a:t>
            </a:r>
            <a:r>
              <a:rPr sz="2700" spc="-6" dirty="0">
                <a:latin typeface="Arial"/>
                <a:cs typeface="Arial"/>
              </a:rPr>
              <a:t>é necessário  colocar  </a:t>
            </a:r>
            <a:r>
              <a:rPr sz="2700" i="1" spc="-6" dirty="0">
                <a:latin typeface="Arial"/>
                <a:cs typeface="Arial"/>
              </a:rPr>
              <a:t>breakpoints  </a:t>
            </a:r>
            <a:r>
              <a:rPr sz="2700" spc="-6" dirty="0">
                <a:latin typeface="Arial"/>
                <a:cs typeface="Arial"/>
              </a:rPr>
              <a:t>(pontos  de  parada)  nas </a:t>
            </a:r>
            <a:r>
              <a:rPr sz="2700" spc="718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linhas</a:t>
            </a:r>
            <a:endParaRPr sz="2700">
              <a:latin typeface="Arial"/>
              <a:cs typeface="Arial"/>
            </a:endParaRPr>
          </a:p>
          <a:p>
            <a:pPr marL="404802">
              <a:lnSpc>
                <a:spcPts val="2914"/>
              </a:lnSpc>
            </a:pPr>
            <a:r>
              <a:rPr sz="2700" spc="-6" dirty="0">
                <a:latin typeface="Arial"/>
                <a:cs typeface="Arial"/>
              </a:rPr>
              <a:t>cujas execuções devem ser</a:t>
            </a:r>
            <a:r>
              <a:rPr sz="2700" spc="91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verificadas.</a:t>
            </a:r>
            <a:endParaRPr sz="2700">
              <a:latin typeface="Arial"/>
              <a:cs typeface="Arial"/>
            </a:endParaRPr>
          </a:p>
          <a:p>
            <a:pPr marL="405526" marR="5793" indent="-391043" algn="just">
              <a:lnSpc>
                <a:spcPct val="90000"/>
              </a:lnSpc>
              <a:spcBef>
                <a:spcPts val="656"/>
              </a:spcBef>
              <a:buClr>
                <a:srgbClr val="852B34"/>
              </a:buClr>
              <a:buSzPct val="68750"/>
              <a:buChar char="•"/>
              <a:tabLst>
                <a:tab pos="405526" algn="l"/>
              </a:tabLst>
            </a:pPr>
            <a:r>
              <a:rPr sz="2700" spc="-6" dirty="0">
                <a:latin typeface="Arial"/>
                <a:cs typeface="Arial"/>
              </a:rPr>
              <a:t>Basta clicar ao lado direito do número de cada </a:t>
            </a:r>
            <a:r>
              <a:rPr sz="2700" dirty="0">
                <a:latin typeface="Arial"/>
                <a:cs typeface="Arial"/>
              </a:rPr>
              <a:t>linha  desejada. Os </a:t>
            </a:r>
            <a:r>
              <a:rPr sz="2700" spc="-6" dirty="0">
                <a:latin typeface="Arial"/>
                <a:cs typeface="Arial"/>
              </a:rPr>
              <a:t>hexágonos em vermelho indicam a  criação de um</a:t>
            </a:r>
            <a:r>
              <a:rPr sz="2700" spc="11" dirty="0">
                <a:latin typeface="Arial"/>
                <a:cs typeface="Arial"/>
              </a:rPr>
              <a:t> </a:t>
            </a:r>
            <a:r>
              <a:rPr sz="2700" i="1" spc="-6" dirty="0">
                <a:latin typeface="Arial"/>
                <a:cs typeface="Arial"/>
              </a:rPr>
              <a:t>breakpoint</a:t>
            </a:r>
            <a:r>
              <a:rPr sz="2700" spc="-6" dirty="0">
                <a:latin typeface="Arial"/>
                <a:cs typeface="Arial"/>
              </a:rPr>
              <a:t>.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4" name="object 4"/>
          <p:cNvSpPr/>
          <p:nvPr/>
        </p:nvSpPr>
        <p:spPr>
          <a:xfrm>
            <a:off x="1306540" y="3615239"/>
            <a:ext cx="8168272" cy="37046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26392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194907"/>
            <a:ext cx="9010675" cy="1827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sz="2700" dirty="0">
                <a:latin typeface="Arial"/>
                <a:cs typeface="Arial"/>
              </a:rPr>
              <a:t>Outras formas </a:t>
            </a:r>
            <a:r>
              <a:rPr sz="2700" spc="-6" dirty="0">
                <a:latin typeface="Arial"/>
                <a:cs typeface="Arial"/>
              </a:rPr>
              <a:t>de se adicionar um</a:t>
            </a:r>
            <a:r>
              <a:rPr sz="2700" spc="17" dirty="0">
                <a:latin typeface="Arial"/>
                <a:cs typeface="Arial"/>
              </a:rPr>
              <a:t> </a:t>
            </a:r>
            <a:r>
              <a:rPr sz="2700" i="1" spc="-6" dirty="0">
                <a:latin typeface="Arial"/>
                <a:cs typeface="Arial"/>
              </a:rPr>
              <a:t>breakpoint</a:t>
            </a:r>
            <a:r>
              <a:rPr sz="2700" spc="-6" dirty="0">
                <a:latin typeface="Arial"/>
                <a:cs typeface="Arial"/>
              </a:rPr>
              <a:t>:</a:t>
            </a:r>
            <a:endParaRPr sz="2700">
              <a:latin typeface="Arial"/>
              <a:cs typeface="Arial"/>
            </a:endParaRPr>
          </a:p>
          <a:p>
            <a:pPr marL="803811" marR="5793" lvl="1" indent="-396836" algn="just">
              <a:lnSpc>
                <a:spcPct val="90100"/>
              </a:lnSpc>
              <a:spcBef>
                <a:spcPts val="547"/>
              </a:spcBef>
              <a:buClr>
                <a:srgbClr val="808080"/>
              </a:buClr>
              <a:buSzPct val="70000"/>
              <a:buFont typeface="Courier New"/>
              <a:buChar char="o"/>
              <a:tabLst>
                <a:tab pos="804535" algn="l"/>
              </a:tabLst>
            </a:pPr>
            <a:r>
              <a:rPr sz="2300" dirty="0">
                <a:latin typeface="Arial"/>
                <a:cs typeface="Arial"/>
              </a:rPr>
              <a:t>Clicar com o botão </a:t>
            </a:r>
            <a:r>
              <a:rPr sz="2300" spc="-6" dirty="0">
                <a:latin typeface="Arial"/>
                <a:cs typeface="Arial"/>
              </a:rPr>
              <a:t>esquerdo </a:t>
            </a:r>
            <a:r>
              <a:rPr sz="2300" dirty="0">
                <a:latin typeface="Arial"/>
                <a:cs typeface="Arial"/>
              </a:rPr>
              <a:t>do mouse ao </a:t>
            </a:r>
            <a:r>
              <a:rPr sz="2300" spc="-6" dirty="0">
                <a:latin typeface="Arial"/>
                <a:cs typeface="Arial"/>
              </a:rPr>
              <a:t>lado </a:t>
            </a:r>
            <a:r>
              <a:rPr sz="2300" dirty="0">
                <a:latin typeface="Arial"/>
                <a:cs typeface="Arial"/>
              </a:rPr>
              <a:t>direito do  número de cada linha desejada e </a:t>
            </a:r>
            <a:r>
              <a:rPr sz="2300" spc="-6" dirty="0">
                <a:latin typeface="Arial"/>
                <a:cs typeface="Arial"/>
              </a:rPr>
              <a:t>escolher </a:t>
            </a:r>
            <a:r>
              <a:rPr sz="2300" dirty="0">
                <a:latin typeface="Arial"/>
                <a:cs typeface="Arial"/>
              </a:rPr>
              <a:t>a opção </a:t>
            </a:r>
            <a:r>
              <a:rPr sz="2300" i="1" dirty="0">
                <a:latin typeface="Arial"/>
                <a:cs typeface="Arial"/>
              </a:rPr>
              <a:t>Add  breakpoint</a:t>
            </a:r>
            <a:r>
              <a:rPr sz="2300" dirty="0">
                <a:latin typeface="Arial"/>
                <a:cs typeface="Arial"/>
              </a:rPr>
              <a:t>;</a:t>
            </a:r>
            <a:endParaRPr sz="2300">
              <a:latin typeface="Arial"/>
              <a:cs typeface="Arial"/>
            </a:endParaRPr>
          </a:p>
          <a:p>
            <a:pPr marL="803811" lvl="1" indent="-396836">
              <a:spcBef>
                <a:spcPts val="274"/>
              </a:spcBef>
              <a:buClr>
                <a:srgbClr val="808080"/>
              </a:buClr>
              <a:buSzPct val="70000"/>
              <a:buFont typeface="Courier New"/>
              <a:buChar char="o"/>
              <a:tabLst>
                <a:tab pos="803811" algn="l"/>
                <a:tab pos="804535" algn="l"/>
                <a:tab pos="3087793" algn="l"/>
              </a:tabLst>
            </a:pPr>
            <a:r>
              <a:rPr sz="2300" dirty="0">
                <a:latin typeface="Arial"/>
                <a:cs typeface="Arial"/>
              </a:rPr>
              <a:t>Colocar</a:t>
            </a:r>
            <a:r>
              <a:rPr sz="2300" spc="-11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o</a:t>
            </a:r>
            <a:r>
              <a:rPr sz="2300" spc="-6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cursor	na linha desejada e pressionar a tecla</a:t>
            </a:r>
            <a:r>
              <a:rPr sz="2300" spc="-171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F5.</a:t>
            </a:r>
            <a:endParaRPr sz="23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4" name="object 4"/>
          <p:cNvSpPr/>
          <p:nvPr/>
        </p:nvSpPr>
        <p:spPr>
          <a:xfrm>
            <a:off x="1245974" y="3143461"/>
            <a:ext cx="8260652" cy="39770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22561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9" y="1232969"/>
            <a:ext cx="9009932" cy="1329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dirty="0">
                <a:latin typeface="Arial"/>
                <a:cs typeface="Arial"/>
              </a:rPr>
              <a:t>Com </a:t>
            </a:r>
            <a:r>
              <a:rPr sz="3200" spc="-6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adição dos </a:t>
            </a:r>
            <a:r>
              <a:rPr sz="3200" i="1" dirty="0">
                <a:latin typeface="Arial"/>
                <a:cs typeface="Arial"/>
              </a:rPr>
              <a:t>breakpoints</a:t>
            </a:r>
            <a:r>
              <a:rPr sz="3200" dirty="0">
                <a:latin typeface="Arial"/>
                <a:cs typeface="Arial"/>
              </a:rPr>
              <a:t>, nas </a:t>
            </a:r>
            <a:r>
              <a:rPr sz="3200" spc="-6" dirty="0">
                <a:latin typeface="Arial"/>
                <a:cs typeface="Arial"/>
              </a:rPr>
              <a:t>linhas </a:t>
            </a:r>
            <a:r>
              <a:rPr sz="3200" dirty="0">
                <a:latin typeface="Arial"/>
                <a:cs typeface="Arial"/>
              </a:rPr>
              <a:t>5,  </a:t>
            </a:r>
            <a:r>
              <a:rPr sz="3200" spc="-6" dirty="0">
                <a:latin typeface="Arial"/>
                <a:cs typeface="Arial"/>
              </a:rPr>
              <a:t>6, 8, 9, </a:t>
            </a:r>
            <a:r>
              <a:rPr sz="3200" spc="-11" dirty="0">
                <a:latin typeface="Arial"/>
                <a:cs typeface="Arial"/>
              </a:rPr>
              <a:t>10 </a:t>
            </a:r>
            <a:r>
              <a:rPr sz="3200" spc="-6" dirty="0">
                <a:latin typeface="Arial"/>
                <a:cs typeface="Arial"/>
              </a:rPr>
              <a:t>e 13 do </a:t>
            </a:r>
            <a:r>
              <a:rPr sz="3200" dirty="0">
                <a:latin typeface="Arial"/>
                <a:cs typeface="Arial"/>
              </a:rPr>
              <a:t>algoritmo abaixo, </a:t>
            </a:r>
            <a:r>
              <a:rPr sz="3200" spc="-6" dirty="0">
                <a:latin typeface="Arial"/>
                <a:cs typeface="Arial"/>
              </a:rPr>
              <a:t>ocorrerá  o </a:t>
            </a:r>
            <a:r>
              <a:rPr sz="3200" dirty="0">
                <a:latin typeface="Arial"/>
                <a:cs typeface="Arial"/>
              </a:rPr>
              <a:t>passo-a-passo </a:t>
            </a:r>
            <a:r>
              <a:rPr sz="3200" spc="-6" dirty="0">
                <a:latin typeface="Arial"/>
                <a:cs typeface="Arial"/>
              </a:rPr>
              <a:t>da </a:t>
            </a:r>
            <a:r>
              <a:rPr sz="3200" dirty="0">
                <a:latin typeface="Arial"/>
                <a:cs typeface="Arial"/>
              </a:rPr>
              <a:t>execução.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588524" y="349250"/>
            <a:ext cx="908939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4" name="object 4"/>
          <p:cNvSpPr/>
          <p:nvPr/>
        </p:nvSpPr>
        <p:spPr>
          <a:xfrm>
            <a:off x="588524" y="2826145"/>
            <a:ext cx="9558116" cy="43350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1646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9" y="1185951"/>
            <a:ext cx="9006962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lnSpc>
                <a:spcPts val="3638"/>
              </a:lnSpc>
              <a:buClr>
                <a:srgbClr val="852B34"/>
              </a:buClr>
              <a:buSzPct val="69642"/>
              <a:buChar char="•"/>
              <a:tabLst>
                <a:tab pos="404802" algn="l"/>
                <a:tab pos="405526" algn="l"/>
                <a:tab pos="3723600" algn="l"/>
              </a:tabLst>
            </a:pPr>
            <a:r>
              <a:rPr sz="3200" spc="-11" dirty="0">
                <a:latin typeface="Arial"/>
                <a:cs typeface="Arial"/>
              </a:rPr>
              <a:t>No</a:t>
            </a:r>
            <a:r>
              <a:rPr sz="3200" spc="5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menu</a:t>
            </a:r>
            <a:r>
              <a:rPr sz="3200" spc="57" dirty="0"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Debug</a:t>
            </a:r>
            <a:r>
              <a:rPr sz="3200" dirty="0">
                <a:latin typeface="Arial"/>
                <a:cs typeface="Arial"/>
              </a:rPr>
              <a:t>,	</a:t>
            </a:r>
            <a:r>
              <a:rPr sz="3200" spc="-6" dirty="0">
                <a:latin typeface="Arial"/>
                <a:cs typeface="Arial"/>
              </a:rPr>
              <a:t>acesse </a:t>
            </a:r>
            <a:r>
              <a:rPr sz="3200" i="1" spc="-6" dirty="0">
                <a:latin typeface="Arial"/>
                <a:cs typeface="Arial"/>
              </a:rPr>
              <a:t>Debugging</a:t>
            </a:r>
            <a:r>
              <a:rPr sz="3200" i="1" spc="130" dirty="0">
                <a:latin typeface="Arial"/>
                <a:cs typeface="Arial"/>
              </a:rPr>
              <a:t> </a:t>
            </a:r>
            <a:r>
              <a:rPr sz="3200" i="1" spc="-6" dirty="0">
                <a:latin typeface="Arial"/>
                <a:cs typeface="Arial"/>
              </a:rPr>
              <a:t>windows</a:t>
            </a:r>
            <a:endParaRPr sz="3200">
              <a:latin typeface="Arial"/>
              <a:cs typeface="Arial"/>
            </a:endParaRPr>
          </a:p>
          <a:p>
            <a:pPr marL="404802">
              <a:lnSpc>
                <a:spcPts val="3638"/>
              </a:lnSpc>
            </a:pPr>
            <a:r>
              <a:rPr sz="3200" spc="-6" dirty="0">
                <a:latin typeface="Arial"/>
                <a:cs typeface="Arial"/>
              </a:rPr>
              <a:t>e clique em</a:t>
            </a:r>
            <a:r>
              <a:rPr sz="3200" spc="-29" dirty="0"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Watches</a:t>
            </a:r>
            <a:r>
              <a:rPr sz="3200" dirty="0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4" name="object 4"/>
          <p:cNvSpPr/>
          <p:nvPr/>
        </p:nvSpPr>
        <p:spPr>
          <a:xfrm>
            <a:off x="546759" y="2270714"/>
            <a:ext cx="9686140" cy="49948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80193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185951"/>
            <a:ext cx="4059036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9642"/>
              <a:buChar char="•"/>
              <a:tabLst>
                <a:tab pos="404802" algn="l"/>
                <a:tab pos="405526" algn="l"/>
                <a:tab pos="977608" algn="l"/>
                <a:tab pos="2365811" algn="l"/>
              </a:tabLst>
            </a:pPr>
            <a:r>
              <a:rPr sz="3200" spc="-6" dirty="0">
                <a:latin typeface="Arial"/>
                <a:cs typeface="Arial"/>
              </a:rPr>
              <a:t>A	janela	</a:t>
            </a:r>
            <a:r>
              <a:rPr sz="3200" i="1" spc="-6" dirty="0">
                <a:latin typeface="Arial"/>
                <a:cs typeface="Arial"/>
              </a:rPr>
              <a:t>Watches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63771" y="1185951"/>
            <a:ext cx="2957022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1105782" algn="l"/>
              </a:tabLst>
            </a:pPr>
            <a:r>
              <a:rPr sz="3200" spc="-6" dirty="0">
                <a:latin typeface="Arial"/>
                <a:cs typeface="Arial"/>
              </a:rPr>
              <a:t>s</a:t>
            </a:r>
            <a:r>
              <a:rPr sz="3200" dirty="0">
                <a:latin typeface="Arial"/>
                <a:cs typeface="Arial"/>
              </a:rPr>
              <a:t>e</a:t>
            </a:r>
            <a:r>
              <a:rPr sz="3200" spc="-6" dirty="0">
                <a:latin typeface="Arial"/>
                <a:cs typeface="Arial"/>
              </a:rPr>
              <a:t>rá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a</a:t>
            </a:r>
            <a:r>
              <a:rPr sz="3200" dirty="0">
                <a:latin typeface="Arial"/>
                <a:cs typeface="Arial"/>
              </a:rPr>
              <a:t>c</a:t>
            </a:r>
            <a:r>
              <a:rPr sz="3200" spc="-6" dirty="0">
                <a:latin typeface="Arial"/>
                <a:cs typeface="Arial"/>
              </a:rPr>
              <a:t>i</a:t>
            </a:r>
            <a:r>
              <a:rPr sz="3200" dirty="0">
                <a:latin typeface="Arial"/>
                <a:cs typeface="Arial"/>
              </a:rPr>
              <a:t>o</a:t>
            </a:r>
            <a:r>
              <a:rPr sz="3200" spc="-6" dirty="0">
                <a:latin typeface="Arial"/>
                <a:cs typeface="Arial"/>
              </a:rPr>
              <a:t>n</a:t>
            </a:r>
            <a:r>
              <a:rPr sz="3200" dirty="0">
                <a:latin typeface="Arial"/>
                <a:cs typeface="Arial"/>
              </a:rPr>
              <a:t>a</a:t>
            </a:r>
            <a:r>
              <a:rPr sz="3200" spc="-6" dirty="0">
                <a:latin typeface="Arial"/>
                <a:cs typeface="Arial"/>
              </a:rPr>
              <a:t>d</a:t>
            </a:r>
            <a:r>
              <a:rPr sz="3200" spc="11" dirty="0">
                <a:latin typeface="Arial"/>
                <a:cs typeface="Arial"/>
              </a:rPr>
              <a:t>a</a:t>
            </a:r>
            <a:r>
              <a:rPr sz="3200" spc="-6" dirty="0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02831" y="1185951"/>
            <a:ext cx="1426529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1150681" algn="l"/>
              </a:tabLst>
            </a:pPr>
            <a:r>
              <a:rPr sz="3200" spc="-6" dirty="0">
                <a:latin typeface="Arial"/>
                <a:cs typeface="Arial"/>
              </a:rPr>
              <a:t>Nela	é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4351" y="1656132"/>
            <a:ext cx="8606702" cy="1329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 algn="just">
              <a:lnSpc>
                <a:spcPct val="90000"/>
              </a:lnSpc>
            </a:pPr>
            <a:r>
              <a:rPr sz="3200" dirty="0">
                <a:latin typeface="Arial"/>
                <a:cs typeface="Arial"/>
              </a:rPr>
              <a:t>possível acompanhar </a:t>
            </a:r>
            <a:r>
              <a:rPr sz="3200" spc="-6" dirty="0">
                <a:latin typeface="Arial"/>
                <a:cs typeface="Arial"/>
              </a:rPr>
              <a:t>o </a:t>
            </a:r>
            <a:r>
              <a:rPr sz="3200" dirty="0">
                <a:latin typeface="Arial"/>
                <a:cs typeface="Arial"/>
              </a:rPr>
              <a:t>conteúdo das  variáveis, vetores, strings </a:t>
            </a:r>
            <a:r>
              <a:rPr sz="3200" spc="-6" dirty="0">
                <a:latin typeface="Arial"/>
                <a:cs typeface="Arial"/>
              </a:rPr>
              <a:t>etc., a cada </a:t>
            </a:r>
            <a:r>
              <a:rPr sz="3200" dirty="0">
                <a:latin typeface="Arial"/>
                <a:cs typeface="Arial"/>
              </a:rPr>
              <a:t>passo  </a:t>
            </a:r>
            <a:r>
              <a:rPr sz="3200" spc="-6" dirty="0">
                <a:latin typeface="Arial"/>
                <a:cs typeface="Arial"/>
              </a:rPr>
              <a:t>da </a:t>
            </a:r>
            <a:r>
              <a:rPr sz="3200" dirty="0">
                <a:latin typeface="Arial"/>
                <a:cs typeface="Arial"/>
              </a:rPr>
              <a:t>execução </a:t>
            </a:r>
            <a:r>
              <a:rPr sz="3200" spc="-6" dirty="0">
                <a:latin typeface="Arial"/>
                <a:cs typeface="Arial"/>
              </a:rPr>
              <a:t>do</a:t>
            </a:r>
            <a:r>
              <a:rPr sz="3200" spc="-29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algoritmo.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751175" y="6566766"/>
            <a:ext cx="5849438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400" spc="-6" dirty="0">
                <a:latin typeface="Arial"/>
                <a:cs typeface="Arial"/>
              </a:rPr>
              <a:t>Inicialmente,</a:t>
            </a:r>
            <a:r>
              <a:rPr sz="1400" spc="-29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as </a:t>
            </a:r>
            <a:r>
              <a:rPr sz="1400" spc="-6" dirty="0">
                <a:latin typeface="Arial"/>
                <a:cs typeface="Arial"/>
              </a:rPr>
              <a:t>variáveis</a:t>
            </a:r>
            <a:r>
              <a:rPr sz="1400" spc="6" dirty="0">
                <a:latin typeface="Arial"/>
                <a:cs typeface="Arial"/>
              </a:rPr>
              <a:t> </a:t>
            </a:r>
            <a:r>
              <a:rPr sz="1400" dirty="0">
                <a:latin typeface="Courier New"/>
                <a:cs typeface="Courier New"/>
              </a:rPr>
              <a:t>i</a:t>
            </a:r>
            <a:r>
              <a:rPr sz="1400" spc="-439" dirty="0">
                <a:latin typeface="Courier New"/>
                <a:cs typeface="Courier New"/>
              </a:rPr>
              <a:t> </a:t>
            </a:r>
            <a:r>
              <a:rPr sz="1400" spc="-6" dirty="0">
                <a:latin typeface="Arial"/>
                <a:cs typeface="Arial"/>
              </a:rPr>
              <a:t>e </a:t>
            </a:r>
            <a:r>
              <a:rPr sz="1400" spc="23" dirty="0">
                <a:latin typeface="Arial"/>
                <a:cs typeface="Arial"/>
              </a:rPr>
              <a:t> </a:t>
            </a:r>
            <a:r>
              <a:rPr sz="1400" spc="-6" dirty="0">
                <a:latin typeface="Courier New"/>
                <a:cs typeface="Courier New"/>
              </a:rPr>
              <a:t>aux</a:t>
            </a:r>
            <a:r>
              <a:rPr sz="1400" spc="-428" dirty="0">
                <a:latin typeface="Courier New"/>
                <a:cs typeface="Courier New"/>
              </a:rPr>
              <a:t> </a:t>
            </a:r>
            <a:r>
              <a:rPr sz="1400" spc="-6" dirty="0">
                <a:latin typeface="Arial"/>
                <a:cs typeface="Arial"/>
              </a:rPr>
              <a:t>e</a:t>
            </a:r>
            <a:r>
              <a:rPr sz="1400" spc="-11" dirty="0">
                <a:latin typeface="Arial"/>
                <a:cs typeface="Arial"/>
              </a:rPr>
              <a:t> </a:t>
            </a:r>
            <a:r>
              <a:rPr sz="1400" spc="-6" dirty="0">
                <a:latin typeface="Arial"/>
                <a:cs typeface="Arial"/>
              </a:rPr>
              <a:t>o</a:t>
            </a:r>
            <a:r>
              <a:rPr sz="1400" spc="6" dirty="0">
                <a:latin typeface="Arial"/>
                <a:cs typeface="Arial"/>
              </a:rPr>
              <a:t> </a:t>
            </a:r>
            <a:r>
              <a:rPr sz="1400" spc="-6" dirty="0">
                <a:latin typeface="Arial"/>
                <a:cs typeface="Arial"/>
              </a:rPr>
              <a:t>vetor</a:t>
            </a:r>
            <a:r>
              <a:rPr sz="1400" dirty="0">
                <a:latin typeface="Arial"/>
                <a:cs typeface="Arial"/>
              </a:rPr>
              <a:t> </a:t>
            </a:r>
            <a:r>
              <a:rPr sz="1400" spc="-6" dirty="0">
                <a:latin typeface="Courier New"/>
                <a:cs typeface="Courier New"/>
              </a:rPr>
              <a:t>vet</a:t>
            </a:r>
            <a:r>
              <a:rPr sz="1400" spc="-428" dirty="0">
                <a:latin typeface="Courier New"/>
                <a:cs typeface="Courier New"/>
              </a:rPr>
              <a:t> </a:t>
            </a:r>
            <a:r>
              <a:rPr sz="1400" dirty="0">
                <a:latin typeface="Arial"/>
                <a:cs typeface="Arial"/>
              </a:rPr>
              <a:t>contém</a:t>
            </a:r>
            <a:r>
              <a:rPr sz="1400" spc="-34" dirty="0">
                <a:latin typeface="Arial"/>
                <a:cs typeface="Arial"/>
              </a:rPr>
              <a:t> </a:t>
            </a:r>
            <a:r>
              <a:rPr sz="1400" spc="-11" dirty="0">
                <a:latin typeface="Arial"/>
                <a:cs typeface="Arial"/>
              </a:rPr>
              <a:t>lixo</a:t>
            </a:r>
            <a:r>
              <a:rPr sz="1400" dirty="0">
                <a:latin typeface="Arial"/>
                <a:cs typeface="Arial"/>
              </a:rPr>
              <a:t> de</a:t>
            </a:r>
            <a:r>
              <a:rPr sz="1400" spc="-11" dirty="0">
                <a:latin typeface="Arial"/>
                <a:cs typeface="Arial"/>
              </a:rPr>
              <a:t> </a:t>
            </a:r>
            <a:r>
              <a:rPr sz="1400" spc="-6" dirty="0">
                <a:latin typeface="Arial"/>
                <a:cs typeface="Arial"/>
              </a:rPr>
              <a:t>memória.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494067" y="3021577"/>
            <a:ext cx="4210526" cy="34542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13383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9" y="1232969"/>
            <a:ext cx="9006962" cy="1329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Para </a:t>
            </a:r>
            <a:r>
              <a:rPr sz="3200" dirty="0">
                <a:latin typeface="Arial"/>
                <a:cs typeface="Arial"/>
              </a:rPr>
              <a:t>dar </a:t>
            </a:r>
            <a:r>
              <a:rPr sz="3200" spc="-6" dirty="0">
                <a:latin typeface="Arial"/>
                <a:cs typeface="Arial"/>
              </a:rPr>
              <a:t>início ao </a:t>
            </a:r>
            <a:r>
              <a:rPr sz="3200" i="1" dirty="0">
                <a:latin typeface="Arial"/>
                <a:cs typeface="Arial"/>
              </a:rPr>
              <a:t>debugging</a:t>
            </a:r>
            <a:r>
              <a:rPr sz="3200" dirty="0">
                <a:latin typeface="Arial"/>
                <a:cs typeface="Arial"/>
              </a:rPr>
              <a:t>, acesse </a:t>
            </a:r>
            <a:r>
              <a:rPr sz="3200" spc="-6" dirty="0">
                <a:latin typeface="Arial"/>
                <a:cs typeface="Arial"/>
              </a:rPr>
              <a:t>o menu  </a:t>
            </a:r>
            <a:r>
              <a:rPr sz="3200" i="1" dirty="0">
                <a:latin typeface="Arial"/>
                <a:cs typeface="Arial"/>
              </a:rPr>
              <a:t>Debug </a:t>
            </a:r>
            <a:r>
              <a:rPr sz="3200" spc="-6" dirty="0">
                <a:latin typeface="Arial"/>
                <a:cs typeface="Arial"/>
              </a:rPr>
              <a:t>e, em </a:t>
            </a:r>
            <a:r>
              <a:rPr sz="3200" dirty="0">
                <a:latin typeface="Arial"/>
                <a:cs typeface="Arial"/>
              </a:rPr>
              <a:t>seguida, escolha </a:t>
            </a:r>
            <a:r>
              <a:rPr sz="3200" spc="-6" dirty="0">
                <a:latin typeface="Arial"/>
                <a:cs typeface="Arial"/>
              </a:rPr>
              <a:t>a opção  </a:t>
            </a:r>
            <a:r>
              <a:rPr sz="3200" i="1" spc="-6" dirty="0">
                <a:latin typeface="Arial"/>
                <a:cs typeface="Arial"/>
              </a:rPr>
              <a:t>Start/Continue </a:t>
            </a:r>
            <a:r>
              <a:rPr sz="3200" spc="-6" dirty="0">
                <a:latin typeface="Arial"/>
                <a:cs typeface="Arial"/>
              </a:rPr>
              <a:t>ou </a:t>
            </a:r>
            <a:r>
              <a:rPr sz="3200" dirty="0">
                <a:latin typeface="Arial"/>
                <a:cs typeface="Arial"/>
              </a:rPr>
              <a:t>pressione </a:t>
            </a:r>
            <a:r>
              <a:rPr sz="3200" spc="-6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tecla</a:t>
            </a:r>
            <a:r>
              <a:rPr sz="3200" spc="68" dirty="0">
                <a:latin typeface="Arial"/>
                <a:cs typeface="Arial"/>
              </a:rPr>
              <a:t> </a:t>
            </a:r>
            <a:r>
              <a:rPr sz="3200" i="1" spc="-6" dirty="0">
                <a:latin typeface="Arial"/>
                <a:cs typeface="Arial"/>
              </a:rPr>
              <a:t>F8.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619754" y="196850"/>
            <a:ext cx="908939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4" name="object 4"/>
          <p:cNvSpPr/>
          <p:nvPr/>
        </p:nvSpPr>
        <p:spPr>
          <a:xfrm>
            <a:off x="1557226" y="2598806"/>
            <a:ext cx="7747961" cy="46175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26181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46700" y="3193805"/>
            <a:ext cx="6736693" cy="42316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23349" y="1232969"/>
            <a:ext cx="9005477" cy="17727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O algoritmo será </a:t>
            </a:r>
            <a:r>
              <a:rPr sz="3200" dirty="0">
                <a:latin typeface="Arial"/>
                <a:cs typeface="Arial"/>
              </a:rPr>
              <a:t>executado normalmente até  </a:t>
            </a:r>
            <a:r>
              <a:rPr sz="3200" spc="-6" dirty="0">
                <a:latin typeface="Arial"/>
                <a:cs typeface="Arial"/>
              </a:rPr>
              <a:t>que </a:t>
            </a:r>
            <a:r>
              <a:rPr sz="3200" dirty="0">
                <a:latin typeface="Arial"/>
                <a:cs typeface="Arial"/>
              </a:rPr>
              <a:t>seja encontrado </a:t>
            </a:r>
            <a:r>
              <a:rPr sz="3200" spc="-6" dirty="0">
                <a:latin typeface="Arial"/>
                <a:cs typeface="Arial"/>
              </a:rPr>
              <a:t>um </a:t>
            </a:r>
            <a:r>
              <a:rPr sz="3200" i="1" dirty="0">
                <a:latin typeface="Arial"/>
                <a:cs typeface="Arial"/>
              </a:rPr>
              <a:t>breakpoint</a:t>
            </a:r>
            <a:r>
              <a:rPr sz="3200" dirty="0">
                <a:latin typeface="Arial"/>
                <a:cs typeface="Arial"/>
              </a:rPr>
              <a:t>. </a:t>
            </a:r>
            <a:r>
              <a:rPr sz="3200" spc="-6" dirty="0">
                <a:latin typeface="Arial"/>
                <a:cs typeface="Arial"/>
              </a:rPr>
              <a:t>A seta  em </a:t>
            </a:r>
            <a:r>
              <a:rPr sz="3200" dirty="0">
                <a:latin typeface="Arial"/>
                <a:cs typeface="Arial"/>
              </a:rPr>
              <a:t>amarelo indica </a:t>
            </a:r>
            <a:r>
              <a:rPr sz="3200" b="1" spc="-6" dirty="0">
                <a:latin typeface="Arial"/>
                <a:cs typeface="Arial"/>
              </a:rPr>
              <a:t>a linha </a:t>
            </a:r>
            <a:r>
              <a:rPr sz="3200" b="1" dirty="0">
                <a:latin typeface="Arial"/>
                <a:cs typeface="Arial"/>
              </a:rPr>
              <a:t>que </a:t>
            </a:r>
            <a:r>
              <a:rPr sz="3200" b="1" spc="-6" dirty="0">
                <a:latin typeface="Arial"/>
                <a:cs typeface="Arial"/>
              </a:rPr>
              <a:t>será  executada </a:t>
            </a:r>
            <a:r>
              <a:rPr sz="3200" spc="-6" dirty="0">
                <a:latin typeface="Arial"/>
                <a:cs typeface="Arial"/>
              </a:rPr>
              <a:t>(linha</a:t>
            </a:r>
            <a:r>
              <a:rPr sz="3200" spc="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5).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5" name="object 5"/>
          <p:cNvSpPr/>
          <p:nvPr/>
        </p:nvSpPr>
        <p:spPr>
          <a:xfrm>
            <a:off x="2434529" y="4768990"/>
            <a:ext cx="2304428" cy="2837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83543" y="4841758"/>
            <a:ext cx="2105263" cy="94456"/>
          </a:xfrm>
          <a:custGeom>
            <a:avLst/>
            <a:gdLst/>
            <a:ahLst/>
            <a:cxnLst/>
            <a:rect l="l" t="t" r="r" b="b"/>
            <a:pathLst>
              <a:path w="1800225" h="85725">
                <a:moveTo>
                  <a:pt x="1714500" y="0"/>
                </a:moveTo>
                <a:lnTo>
                  <a:pt x="1714500" y="85725"/>
                </a:lnTo>
                <a:lnTo>
                  <a:pt x="1771734" y="57150"/>
                </a:lnTo>
                <a:lnTo>
                  <a:pt x="1728851" y="57150"/>
                </a:lnTo>
                <a:lnTo>
                  <a:pt x="1728851" y="28575"/>
                </a:lnTo>
                <a:lnTo>
                  <a:pt x="1771565" y="28575"/>
                </a:lnTo>
                <a:lnTo>
                  <a:pt x="1714500" y="0"/>
                </a:lnTo>
                <a:close/>
              </a:path>
              <a:path w="1800225" h="85725">
                <a:moveTo>
                  <a:pt x="1714500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1714500" y="57150"/>
                </a:lnTo>
                <a:lnTo>
                  <a:pt x="1714500" y="28575"/>
                </a:lnTo>
                <a:close/>
              </a:path>
              <a:path w="1800225" h="85725">
                <a:moveTo>
                  <a:pt x="1771565" y="28575"/>
                </a:moveTo>
                <a:lnTo>
                  <a:pt x="1728851" y="28575"/>
                </a:lnTo>
                <a:lnTo>
                  <a:pt x="1728851" y="57150"/>
                </a:lnTo>
                <a:lnTo>
                  <a:pt x="1771734" y="57150"/>
                </a:lnTo>
                <a:lnTo>
                  <a:pt x="1800225" y="42925"/>
                </a:lnTo>
                <a:lnTo>
                  <a:pt x="1771565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399332" y="4301019"/>
            <a:ext cx="2105263" cy="474029"/>
          </a:xfrm>
          <a:prstGeom prst="rect">
            <a:avLst/>
          </a:prstGeom>
          <a:solidFill>
            <a:srgbClr val="DDDDDD"/>
          </a:solidFill>
          <a:ln w="9525">
            <a:solidFill>
              <a:srgbClr val="000000"/>
            </a:solidFill>
          </a:ln>
        </p:spPr>
        <p:txBody>
          <a:bodyPr vert="horz" wrap="square" lIns="0" tIns="42725" rIns="0" bIns="0" rtlCol="0">
            <a:spAutoFit/>
          </a:bodyPr>
          <a:lstStyle/>
          <a:p>
            <a:pPr marL="204211" marR="169452" indent="-28242">
              <a:spcBef>
                <a:spcPts val="336"/>
              </a:spcBef>
            </a:pPr>
            <a:r>
              <a:rPr sz="1400" b="1" spc="-6" dirty="0">
                <a:latin typeface="Arial"/>
                <a:cs typeface="Arial"/>
              </a:rPr>
              <a:t>Execução parada </a:t>
            </a:r>
            <a:r>
              <a:rPr sz="1400" b="1" dirty="0">
                <a:latin typeface="Arial"/>
                <a:cs typeface="Arial"/>
              </a:rPr>
              <a:t>no  primeiro</a:t>
            </a:r>
            <a:r>
              <a:rPr sz="1400" b="1" spc="-13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breakpoint</a:t>
            </a:r>
            <a:endParaRPr sz="1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9758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232969"/>
            <a:ext cx="9007704" cy="17727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O </a:t>
            </a:r>
            <a:r>
              <a:rPr sz="3200" dirty="0">
                <a:latin typeface="Arial"/>
                <a:cs typeface="Arial"/>
              </a:rPr>
              <a:t>controle </a:t>
            </a:r>
            <a:r>
              <a:rPr sz="3200" spc="-6" dirty="0">
                <a:latin typeface="Arial"/>
                <a:cs typeface="Arial"/>
              </a:rPr>
              <a:t>do fluxo de </a:t>
            </a:r>
            <a:r>
              <a:rPr sz="3200" dirty="0">
                <a:latin typeface="Arial"/>
                <a:cs typeface="Arial"/>
              </a:rPr>
              <a:t>execução pode ser  feito </a:t>
            </a:r>
            <a:r>
              <a:rPr sz="3200" spc="-6" dirty="0">
                <a:latin typeface="Arial"/>
                <a:cs typeface="Arial"/>
              </a:rPr>
              <a:t>através de alguns </a:t>
            </a:r>
            <a:r>
              <a:rPr sz="3200" dirty="0">
                <a:latin typeface="Arial"/>
                <a:cs typeface="Arial"/>
              </a:rPr>
              <a:t>comandos dispostos  </a:t>
            </a:r>
            <a:r>
              <a:rPr sz="3200" spc="-6" dirty="0">
                <a:latin typeface="Arial"/>
                <a:cs typeface="Arial"/>
              </a:rPr>
              <a:t>no menu </a:t>
            </a:r>
            <a:r>
              <a:rPr sz="3200" i="1" dirty="0">
                <a:latin typeface="Arial"/>
                <a:cs typeface="Arial"/>
              </a:rPr>
              <a:t>Debug</a:t>
            </a:r>
            <a:r>
              <a:rPr sz="3200" dirty="0">
                <a:latin typeface="Arial"/>
                <a:cs typeface="Arial"/>
              </a:rPr>
              <a:t>, destacado abaixo, que </a:t>
            </a:r>
            <a:r>
              <a:rPr sz="3200" spc="-6" dirty="0">
                <a:latin typeface="Arial"/>
                <a:cs typeface="Arial"/>
              </a:rPr>
              <a:t>é  </a:t>
            </a:r>
            <a:r>
              <a:rPr sz="3200" dirty="0">
                <a:latin typeface="Arial"/>
                <a:cs typeface="Arial"/>
              </a:rPr>
              <a:t>exibido </a:t>
            </a:r>
            <a:r>
              <a:rPr sz="3200" spc="-6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partir </a:t>
            </a:r>
            <a:r>
              <a:rPr sz="3200" spc="-6" dirty="0">
                <a:latin typeface="Arial"/>
                <a:cs typeface="Arial"/>
              </a:rPr>
              <a:t>do início do</a:t>
            </a:r>
            <a:r>
              <a:rPr sz="3200" spc="23" dirty="0"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debugging</a:t>
            </a:r>
            <a:r>
              <a:rPr sz="3200" dirty="0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Controle </a:t>
            </a:r>
            <a:r>
              <a:rPr spc="-11" dirty="0"/>
              <a:t>da</a:t>
            </a:r>
            <a:r>
              <a:rPr dirty="0"/>
              <a:t> </a:t>
            </a:r>
            <a:r>
              <a:rPr spc="-6" dirty="0"/>
              <a:t>execução</a:t>
            </a:r>
          </a:p>
        </p:txBody>
      </p:sp>
      <p:sp>
        <p:nvSpPr>
          <p:cNvPr id="4" name="object 4"/>
          <p:cNvSpPr/>
          <p:nvPr/>
        </p:nvSpPr>
        <p:spPr>
          <a:xfrm>
            <a:off x="7963017" y="3304709"/>
            <a:ext cx="1885603" cy="2837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113914" y="3377057"/>
            <a:ext cx="1684211" cy="94456"/>
          </a:xfrm>
          <a:custGeom>
            <a:avLst/>
            <a:gdLst/>
            <a:ahLst/>
            <a:cxnLst/>
            <a:rect l="l" t="t" r="r" b="b"/>
            <a:pathLst>
              <a:path w="1440179" h="85725">
                <a:moveTo>
                  <a:pt x="85725" y="0"/>
                </a:moveTo>
                <a:lnTo>
                  <a:pt x="0" y="42925"/>
                </a:lnTo>
                <a:lnTo>
                  <a:pt x="85851" y="85725"/>
                </a:lnTo>
                <a:lnTo>
                  <a:pt x="85809" y="57150"/>
                </a:lnTo>
                <a:lnTo>
                  <a:pt x="71500" y="57150"/>
                </a:lnTo>
                <a:lnTo>
                  <a:pt x="71500" y="28575"/>
                </a:lnTo>
                <a:lnTo>
                  <a:pt x="85767" y="28552"/>
                </a:lnTo>
                <a:lnTo>
                  <a:pt x="85725" y="0"/>
                </a:lnTo>
                <a:close/>
              </a:path>
              <a:path w="1440179" h="85725">
                <a:moveTo>
                  <a:pt x="85767" y="28552"/>
                </a:moveTo>
                <a:lnTo>
                  <a:pt x="71500" y="28575"/>
                </a:lnTo>
                <a:lnTo>
                  <a:pt x="71500" y="57150"/>
                </a:lnTo>
                <a:lnTo>
                  <a:pt x="85809" y="57127"/>
                </a:lnTo>
                <a:lnTo>
                  <a:pt x="85767" y="28552"/>
                </a:lnTo>
                <a:close/>
              </a:path>
              <a:path w="1440179" h="85725">
                <a:moveTo>
                  <a:pt x="85809" y="57127"/>
                </a:moveTo>
                <a:lnTo>
                  <a:pt x="71500" y="57150"/>
                </a:lnTo>
                <a:lnTo>
                  <a:pt x="85809" y="57150"/>
                </a:lnTo>
                <a:close/>
              </a:path>
              <a:path w="1440179" h="85725">
                <a:moveTo>
                  <a:pt x="1440179" y="26416"/>
                </a:moveTo>
                <a:lnTo>
                  <a:pt x="85767" y="28552"/>
                </a:lnTo>
                <a:lnTo>
                  <a:pt x="85809" y="57127"/>
                </a:lnTo>
                <a:lnTo>
                  <a:pt x="1440179" y="54991"/>
                </a:lnTo>
                <a:lnTo>
                  <a:pt x="1440179" y="2641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041437" y="2984902"/>
            <a:ext cx="1937435" cy="287170"/>
          </a:xfrm>
          <a:prstGeom prst="rect">
            <a:avLst/>
          </a:prstGeom>
          <a:solidFill>
            <a:srgbClr val="DDDDDD"/>
          </a:solidFill>
          <a:ln w="9525">
            <a:solidFill>
              <a:srgbClr val="000000"/>
            </a:solidFill>
          </a:ln>
        </p:spPr>
        <p:txBody>
          <a:bodyPr vert="horz" wrap="square" lIns="0" tIns="40553" rIns="0" bIns="0" rtlCol="0">
            <a:spAutoFit/>
          </a:bodyPr>
          <a:lstStyle/>
          <a:p>
            <a:pPr marL="179590">
              <a:spcBef>
                <a:spcPts val="319"/>
              </a:spcBef>
            </a:pPr>
            <a:r>
              <a:rPr sz="1600" dirty="0">
                <a:latin typeface="Arial"/>
                <a:cs typeface="Arial"/>
              </a:rPr>
              <a:t>Atalhos do</a:t>
            </a:r>
            <a:r>
              <a:rPr sz="1600" spc="-130" dirty="0">
                <a:latin typeface="Arial"/>
                <a:cs typeface="Arial"/>
              </a:rPr>
              <a:t> </a:t>
            </a:r>
            <a:r>
              <a:rPr sz="1600" spc="-6" dirty="0">
                <a:latin typeface="Arial"/>
                <a:cs typeface="Arial"/>
              </a:rPr>
              <a:t>menu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146699" y="3064188"/>
            <a:ext cx="5859835" cy="43270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74306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77359" y="1344778"/>
            <a:ext cx="2250812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735740" algn="l"/>
              </a:tabLst>
            </a:pPr>
            <a:r>
              <a:rPr sz="3200" spc="-6" dirty="0">
                <a:latin typeface="Arial"/>
                <a:cs typeface="Arial"/>
              </a:rPr>
              <a:t>a	p</a:t>
            </a:r>
            <a:r>
              <a:rPr sz="3200" dirty="0">
                <a:latin typeface="Arial"/>
                <a:cs typeface="Arial"/>
              </a:rPr>
              <a:t>r</a:t>
            </a:r>
            <a:r>
              <a:rPr sz="3200" spc="-6" dirty="0">
                <a:latin typeface="Arial"/>
                <a:cs typeface="Arial"/>
              </a:rPr>
              <a:t>ó</a:t>
            </a:r>
            <a:r>
              <a:rPr sz="3200" dirty="0">
                <a:latin typeface="Arial"/>
                <a:cs typeface="Arial"/>
              </a:rPr>
              <a:t>x</a:t>
            </a:r>
            <a:r>
              <a:rPr sz="3200" spc="-6" dirty="0">
                <a:latin typeface="Arial"/>
                <a:cs typeface="Arial"/>
              </a:rPr>
              <a:t>i</a:t>
            </a:r>
            <a:r>
              <a:rPr sz="3200" dirty="0">
                <a:latin typeface="Arial"/>
                <a:cs typeface="Arial"/>
              </a:rPr>
              <a:t>m</a:t>
            </a:r>
            <a:r>
              <a:rPr sz="3200" spc="-6" dirty="0">
                <a:latin typeface="Arial"/>
                <a:cs typeface="Arial"/>
              </a:rPr>
              <a:t>a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3348" y="1344778"/>
            <a:ext cx="6273461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151">
              <a:lnSpc>
                <a:spcPts val="3638"/>
              </a:lnSpc>
              <a:tabLst>
                <a:tab pos="1952319" algn="l"/>
                <a:tab pos="4544066" algn="l"/>
              </a:tabLst>
            </a:pPr>
            <a:r>
              <a:rPr sz="3200" b="1" i="1" spc="-6" dirty="0">
                <a:latin typeface="Arial"/>
                <a:cs typeface="Arial"/>
              </a:rPr>
              <a:t>Next	ins</a:t>
            </a:r>
            <a:r>
              <a:rPr sz="3200" b="1" i="1" dirty="0">
                <a:latin typeface="Arial"/>
                <a:cs typeface="Arial"/>
              </a:rPr>
              <a:t>t</a:t>
            </a:r>
            <a:r>
              <a:rPr sz="3200" b="1" i="1" spc="-6" dirty="0">
                <a:latin typeface="Arial"/>
                <a:cs typeface="Arial"/>
              </a:rPr>
              <a:t>r</a:t>
            </a:r>
            <a:r>
              <a:rPr sz="3200" b="1" i="1" dirty="0">
                <a:latin typeface="Arial"/>
                <a:cs typeface="Arial"/>
              </a:rPr>
              <a:t>u</a:t>
            </a:r>
            <a:r>
              <a:rPr sz="3200" b="1" i="1" spc="-6" dirty="0">
                <a:latin typeface="Arial"/>
                <a:cs typeface="Arial"/>
              </a:rPr>
              <a:t>c</a:t>
            </a:r>
            <a:r>
              <a:rPr sz="3200" b="1" i="1" dirty="0">
                <a:latin typeface="Arial"/>
                <a:cs typeface="Arial"/>
              </a:rPr>
              <a:t>t</a:t>
            </a:r>
            <a:r>
              <a:rPr sz="3200" b="1" i="1" spc="-6" dirty="0">
                <a:latin typeface="Arial"/>
                <a:cs typeface="Arial"/>
              </a:rPr>
              <a:t>ion</a:t>
            </a:r>
            <a:r>
              <a:rPr sz="3200" b="1" i="1" dirty="0">
                <a:latin typeface="Arial"/>
                <a:cs typeface="Arial"/>
              </a:rPr>
              <a:t>	</a:t>
            </a:r>
            <a:r>
              <a:rPr sz="3200" b="1" dirty="0">
                <a:latin typeface="Arial"/>
                <a:cs typeface="Arial"/>
              </a:rPr>
              <a:t>(</a:t>
            </a:r>
            <a:r>
              <a:rPr sz="3200" b="1" spc="-6" dirty="0">
                <a:latin typeface="Arial"/>
                <a:cs typeface="Arial"/>
              </a:rPr>
              <a:t>Al</a:t>
            </a:r>
            <a:r>
              <a:rPr sz="3200" b="1" dirty="0">
                <a:latin typeface="Arial"/>
                <a:cs typeface="Arial"/>
              </a:rPr>
              <a:t>t-</a:t>
            </a:r>
            <a:r>
              <a:rPr sz="3200" b="1" spc="-11" dirty="0">
                <a:latin typeface="Arial"/>
                <a:cs typeface="Arial"/>
              </a:rPr>
              <a:t>F</a:t>
            </a:r>
            <a:r>
              <a:rPr sz="3200" b="1" spc="6" dirty="0">
                <a:latin typeface="Arial"/>
                <a:cs typeface="Arial"/>
              </a:rPr>
              <a:t>7</a:t>
            </a:r>
            <a:r>
              <a:rPr sz="3200" b="1" dirty="0">
                <a:latin typeface="Arial"/>
                <a:cs typeface="Arial"/>
              </a:rPr>
              <a:t>)</a:t>
            </a:r>
            <a:r>
              <a:rPr sz="3200" b="1" spc="-6" dirty="0">
                <a:latin typeface="Arial"/>
                <a:cs typeface="Arial"/>
              </a:rPr>
              <a:t>:</a:t>
            </a:r>
            <a:endParaRPr sz="3200">
              <a:latin typeface="Arial"/>
              <a:cs typeface="Arial"/>
            </a:endParaRPr>
          </a:p>
          <a:p>
            <a:pPr marL="14483">
              <a:lnSpc>
                <a:spcPts val="3638"/>
              </a:lnSpc>
            </a:pPr>
            <a:r>
              <a:rPr sz="3200" dirty="0">
                <a:latin typeface="Arial"/>
                <a:cs typeface="Arial"/>
              </a:rPr>
              <a:t>instrução </a:t>
            </a:r>
            <a:r>
              <a:rPr sz="3200" spc="-6" dirty="0">
                <a:latin typeface="Arial"/>
                <a:cs typeface="Arial"/>
              </a:rPr>
              <a:t>é</a:t>
            </a:r>
            <a:r>
              <a:rPr sz="3200" spc="-7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executada.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3349" y="2856497"/>
            <a:ext cx="9006962" cy="24057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 indent="562668">
              <a:lnSpc>
                <a:spcPts val="3444"/>
              </a:lnSpc>
            </a:pPr>
            <a:r>
              <a:rPr sz="3200" b="1" i="1" spc="-6" dirty="0">
                <a:latin typeface="Arial"/>
                <a:cs typeface="Arial"/>
              </a:rPr>
              <a:t>Next line </a:t>
            </a:r>
            <a:r>
              <a:rPr sz="3200" b="1" dirty="0">
                <a:latin typeface="Arial"/>
                <a:cs typeface="Arial"/>
              </a:rPr>
              <a:t>(F7): </a:t>
            </a:r>
            <a:r>
              <a:rPr sz="3200" spc="-6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execução </a:t>
            </a:r>
            <a:r>
              <a:rPr sz="3200" spc="-6" dirty="0">
                <a:latin typeface="Arial"/>
                <a:cs typeface="Arial"/>
              </a:rPr>
              <a:t>é </a:t>
            </a:r>
            <a:r>
              <a:rPr sz="3200" dirty="0">
                <a:latin typeface="Arial"/>
                <a:cs typeface="Arial"/>
              </a:rPr>
              <a:t>desviada para  </a:t>
            </a:r>
            <a:r>
              <a:rPr sz="3200" spc="-6" dirty="0">
                <a:latin typeface="Arial"/>
                <a:cs typeface="Arial"/>
              </a:rPr>
              <a:t>a próxima</a:t>
            </a:r>
            <a:r>
              <a:rPr sz="3200" spc="-3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linha.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4300">
              <a:latin typeface="Times New Roman"/>
              <a:cs typeface="Times New Roman"/>
            </a:endParaRPr>
          </a:p>
          <a:p>
            <a:pPr marL="14483" marR="8690" indent="562668">
              <a:lnSpc>
                <a:spcPts val="3444"/>
              </a:lnSpc>
              <a:spcBef>
                <a:spcPts val="6"/>
              </a:spcBef>
            </a:pPr>
            <a:r>
              <a:rPr sz="3200" b="1" i="1" spc="-6" dirty="0">
                <a:latin typeface="Arial"/>
                <a:cs typeface="Arial"/>
              </a:rPr>
              <a:t>Run </a:t>
            </a:r>
            <a:r>
              <a:rPr sz="3200" b="1" i="1" spc="6" dirty="0">
                <a:latin typeface="Arial"/>
                <a:cs typeface="Arial"/>
              </a:rPr>
              <a:t>to </a:t>
            </a:r>
            <a:r>
              <a:rPr sz="3200" b="1" i="1" dirty="0">
                <a:latin typeface="Arial"/>
                <a:cs typeface="Arial"/>
              </a:rPr>
              <a:t>cursor </a:t>
            </a:r>
            <a:r>
              <a:rPr sz="3200" b="1" dirty="0">
                <a:latin typeface="Arial"/>
                <a:cs typeface="Arial"/>
              </a:rPr>
              <a:t>(F4): </a:t>
            </a:r>
            <a:r>
              <a:rPr sz="3200" spc="-6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execução </a:t>
            </a:r>
            <a:r>
              <a:rPr sz="3200" spc="-6" dirty="0">
                <a:latin typeface="Arial"/>
                <a:cs typeface="Arial"/>
              </a:rPr>
              <a:t>é desviada  </a:t>
            </a:r>
            <a:r>
              <a:rPr sz="3200" dirty="0">
                <a:latin typeface="Arial"/>
                <a:cs typeface="Arial"/>
              </a:rPr>
              <a:t>para </a:t>
            </a:r>
            <a:r>
              <a:rPr sz="3200" spc="-6" dirty="0">
                <a:latin typeface="Arial"/>
                <a:cs typeface="Arial"/>
              </a:rPr>
              <a:t>a linha na </a:t>
            </a:r>
            <a:r>
              <a:rPr sz="3200" dirty="0">
                <a:latin typeface="Arial"/>
                <a:cs typeface="Arial"/>
              </a:rPr>
              <a:t>qual se encontra </a:t>
            </a:r>
            <a:r>
              <a:rPr sz="3200" spc="-6" dirty="0">
                <a:latin typeface="Arial"/>
                <a:cs typeface="Arial"/>
              </a:rPr>
              <a:t>o</a:t>
            </a:r>
            <a:r>
              <a:rPr sz="3200" spc="3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cursor.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00792" y="5718592"/>
            <a:ext cx="4359788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3357178" algn="l"/>
              </a:tabLst>
            </a:pPr>
            <a:r>
              <a:rPr sz="3200" b="1" i="1" spc="-6" dirty="0">
                <a:latin typeface="Arial"/>
                <a:cs typeface="Arial"/>
              </a:rPr>
              <a:t>Sta</a:t>
            </a:r>
            <a:r>
              <a:rPr sz="3200" b="1" i="1" dirty="0">
                <a:latin typeface="Arial"/>
                <a:cs typeface="Arial"/>
              </a:rPr>
              <a:t>r</a:t>
            </a:r>
            <a:r>
              <a:rPr sz="3200" b="1" i="1" spc="-6" dirty="0">
                <a:latin typeface="Arial"/>
                <a:cs typeface="Arial"/>
              </a:rPr>
              <a:t>t/Cont</a:t>
            </a:r>
            <a:r>
              <a:rPr sz="3200" b="1" i="1" spc="6" dirty="0">
                <a:latin typeface="Arial"/>
                <a:cs typeface="Arial"/>
              </a:rPr>
              <a:t>i</a:t>
            </a:r>
            <a:r>
              <a:rPr sz="3200" b="1" i="1" spc="-6" dirty="0">
                <a:latin typeface="Arial"/>
                <a:cs typeface="Arial"/>
              </a:rPr>
              <a:t>n</a:t>
            </a:r>
            <a:r>
              <a:rPr sz="3200" b="1" i="1" spc="-17" dirty="0">
                <a:latin typeface="Arial"/>
                <a:cs typeface="Arial"/>
              </a:rPr>
              <a:t>u</a:t>
            </a:r>
            <a:r>
              <a:rPr sz="3200" b="1" i="1" spc="-6" dirty="0">
                <a:latin typeface="Arial"/>
                <a:cs typeface="Arial"/>
              </a:rPr>
              <a:t>e</a:t>
            </a:r>
            <a:r>
              <a:rPr sz="3200" b="1" i="1" dirty="0">
                <a:latin typeface="Arial"/>
                <a:cs typeface="Arial"/>
              </a:rPr>
              <a:t>	</a:t>
            </a:r>
            <a:r>
              <a:rPr sz="3200" b="1" dirty="0">
                <a:latin typeface="Arial"/>
                <a:cs typeface="Arial"/>
              </a:rPr>
              <a:t>(</a:t>
            </a:r>
            <a:r>
              <a:rPr sz="3200" b="1" spc="-11" dirty="0">
                <a:latin typeface="Arial"/>
                <a:cs typeface="Arial"/>
              </a:rPr>
              <a:t>F</a:t>
            </a:r>
            <a:r>
              <a:rPr sz="3200" b="1" dirty="0">
                <a:latin typeface="Arial"/>
                <a:cs typeface="Arial"/>
              </a:rPr>
              <a:t>8)</a:t>
            </a:r>
            <a:r>
              <a:rPr sz="3200" b="1" spc="-6" dirty="0">
                <a:latin typeface="Arial"/>
                <a:cs typeface="Arial"/>
              </a:rPr>
              <a:t>: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3349" y="6141700"/>
            <a:ext cx="6271234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2188393" algn="l"/>
                <a:tab pos="2688060" algn="l"/>
                <a:tab pos="4336958" algn="l"/>
                <a:tab pos="5785266" algn="l"/>
              </a:tabLst>
            </a:pPr>
            <a:r>
              <a:rPr sz="3200" i="1" spc="-6" dirty="0">
                <a:latin typeface="Arial"/>
                <a:cs typeface="Arial"/>
              </a:rPr>
              <a:t>d</a:t>
            </a:r>
            <a:r>
              <a:rPr sz="3200" i="1" dirty="0">
                <a:latin typeface="Arial"/>
                <a:cs typeface="Arial"/>
              </a:rPr>
              <a:t>e</a:t>
            </a:r>
            <a:r>
              <a:rPr sz="3200" i="1" spc="-6" dirty="0">
                <a:latin typeface="Arial"/>
                <a:cs typeface="Arial"/>
              </a:rPr>
              <a:t>b</a:t>
            </a:r>
            <a:r>
              <a:rPr sz="3200" i="1" dirty="0">
                <a:latin typeface="Arial"/>
                <a:cs typeface="Arial"/>
              </a:rPr>
              <a:t>u</a:t>
            </a:r>
            <a:r>
              <a:rPr sz="3200" i="1" spc="-6" dirty="0">
                <a:latin typeface="Arial"/>
                <a:cs typeface="Arial"/>
              </a:rPr>
              <a:t>g</a:t>
            </a:r>
            <a:r>
              <a:rPr sz="3200" i="1" dirty="0">
                <a:latin typeface="Arial"/>
                <a:cs typeface="Arial"/>
              </a:rPr>
              <a:t>gin</a:t>
            </a:r>
            <a:r>
              <a:rPr sz="3200" i="1" spc="-6" dirty="0">
                <a:latin typeface="Arial"/>
                <a:cs typeface="Arial"/>
              </a:rPr>
              <a:t>g</a:t>
            </a:r>
            <a:r>
              <a:rPr sz="3200" i="1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é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i</a:t>
            </a:r>
            <a:r>
              <a:rPr sz="3200" dirty="0">
                <a:latin typeface="Arial"/>
                <a:cs typeface="Arial"/>
              </a:rPr>
              <a:t>n</a:t>
            </a:r>
            <a:r>
              <a:rPr sz="3200" spc="-6" dirty="0">
                <a:latin typeface="Arial"/>
                <a:cs typeface="Arial"/>
              </a:rPr>
              <a:t>i</a:t>
            </a:r>
            <a:r>
              <a:rPr sz="3200" dirty="0">
                <a:latin typeface="Arial"/>
                <a:cs typeface="Arial"/>
              </a:rPr>
              <a:t>c</a:t>
            </a:r>
            <a:r>
              <a:rPr sz="3200" spc="-17" dirty="0">
                <a:latin typeface="Arial"/>
                <a:cs typeface="Arial"/>
              </a:rPr>
              <a:t>i</a:t>
            </a:r>
            <a:r>
              <a:rPr sz="3200" spc="-6" dirty="0">
                <a:latin typeface="Arial"/>
                <a:cs typeface="Arial"/>
              </a:rPr>
              <a:t>a</a:t>
            </a:r>
            <a:r>
              <a:rPr sz="3200" dirty="0">
                <a:latin typeface="Arial"/>
                <a:cs typeface="Arial"/>
              </a:rPr>
              <a:t>d</a:t>
            </a:r>
            <a:r>
              <a:rPr sz="3200" spc="-6" dirty="0">
                <a:latin typeface="Arial"/>
                <a:cs typeface="Arial"/>
              </a:rPr>
              <a:t>o</a:t>
            </a:r>
            <a:r>
              <a:rPr sz="3200" dirty="0">
                <a:latin typeface="Arial"/>
                <a:cs typeface="Arial"/>
              </a:rPr>
              <a:t>	(</a:t>
            </a:r>
            <a:r>
              <a:rPr sz="3200" i="1" spc="-6" dirty="0">
                <a:latin typeface="Arial"/>
                <a:cs typeface="Arial"/>
              </a:rPr>
              <a:t>s</a:t>
            </a:r>
            <a:r>
              <a:rPr sz="3200" i="1" dirty="0">
                <a:latin typeface="Arial"/>
                <a:cs typeface="Arial"/>
              </a:rPr>
              <a:t>t</a:t>
            </a:r>
            <a:r>
              <a:rPr sz="3200" i="1" spc="-6" dirty="0">
                <a:latin typeface="Arial"/>
                <a:cs typeface="Arial"/>
              </a:rPr>
              <a:t>a</a:t>
            </a:r>
            <a:r>
              <a:rPr sz="3200" i="1" dirty="0">
                <a:latin typeface="Arial"/>
                <a:cs typeface="Arial"/>
              </a:rPr>
              <a:t>rt</a:t>
            </a:r>
            <a:r>
              <a:rPr sz="3200" dirty="0">
                <a:latin typeface="Arial"/>
                <a:cs typeface="Arial"/>
              </a:rPr>
              <a:t>)</a:t>
            </a:r>
            <a:r>
              <a:rPr sz="3200" spc="-6" dirty="0">
                <a:latin typeface="Arial"/>
                <a:cs typeface="Arial"/>
              </a:rPr>
              <a:t>.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O</a:t>
            </a:r>
            <a:endParaRPr sz="3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94151" y="5718592"/>
            <a:ext cx="3537733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3638"/>
              </a:lnSpc>
              <a:tabLst>
                <a:tab pos="787155" algn="l"/>
                <a:tab pos="2982790" algn="l"/>
              </a:tabLst>
            </a:pPr>
            <a:r>
              <a:rPr sz="3200" spc="-6" dirty="0">
                <a:latin typeface="Arial"/>
                <a:cs typeface="Arial"/>
              </a:rPr>
              <a:t>o	pro</a:t>
            </a:r>
            <a:r>
              <a:rPr sz="3200" dirty="0">
                <a:latin typeface="Arial"/>
                <a:cs typeface="Arial"/>
              </a:rPr>
              <a:t>c</a:t>
            </a:r>
            <a:r>
              <a:rPr sz="3200" spc="-6" dirty="0">
                <a:latin typeface="Arial"/>
                <a:cs typeface="Arial"/>
              </a:rPr>
              <a:t>e</a:t>
            </a:r>
            <a:r>
              <a:rPr sz="3200" dirty="0">
                <a:latin typeface="Arial"/>
                <a:cs typeface="Arial"/>
              </a:rPr>
              <a:t>s</a:t>
            </a:r>
            <a:r>
              <a:rPr sz="3200" spc="-6" dirty="0">
                <a:latin typeface="Arial"/>
                <a:cs typeface="Arial"/>
              </a:rPr>
              <a:t>so</a:t>
            </a:r>
            <a:r>
              <a:rPr sz="3200" dirty="0">
                <a:latin typeface="Arial"/>
                <a:cs typeface="Arial"/>
              </a:rPr>
              <a:t>	de</a:t>
            </a:r>
            <a:endParaRPr sz="3200">
              <a:latin typeface="Arial"/>
              <a:cs typeface="Arial"/>
            </a:endParaRPr>
          </a:p>
          <a:p>
            <a:pPr marL="1036264">
              <a:lnSpc>
                <a:spcPts val="3638"/>
              </a:lnSpc>
              <a:tabLst>
                <a:tab pos="3208726" algn="l"/>
              </a:tabLst>
            </a:pPr>
            <a:r>
              <a:rPr sz="3200" i="1" spc="-6" dirty="0">
                <a:latin typeface="Arial"/>
                <a:cs typeface="Arial"/>
              </a:rPr>
              <a:t>d</a:t>
            </a:r>
            <a:r>
              <a:rPr sz="3200" i="1" dirty="0">
                <a:latin typeface="Arial"/>
                <a:cs typeface="Arial"/>
              </a:rPr>
              <a:t>e</a:t>
            </a:r>
            <a:r>
              <a:rPr sz="3200" i="1" spc="-6" dirty="0">
                <a:latin typeface="Arial"/>
                <a:cs typeface="Arial"/>
              </a:rPr>
              <a:t>b</a:t>
            </a:r>
            <a:r>
              <a:rPr sz="3200" i="1" dirty="0">
                <a:latin typeface="Arial"/>
                <a:cs typeface="Arial"/>
              </a:rPr>
              <a:t>u</a:t>
            </a:r>
            <a:r>
              <a:rPr sz="3200" i="1" spc="-6" dirty="0">
                <a:latin typeface="Arial"/>
                <a:cs typeface="Arial"/>
              </a:rPr>
              <a:t>g</a:t>
            </a:r>
            <a:r>
              <a:rPr sz="3200" i="1" dirty="0">
                <a:latin typeface="Arial"/>
                <a:cs typeface="Arial"/>
              </a:rPr>
              <a:t>g</a:t>
            </a:r>
            <a:r>
              <a:rPr sz="3200" i="1" spc="-6" dirty="0">
                <a:latin typeface="Arial"/>
                <a:cs typeface="Arial"/>
              </a:rPr>
              <a:t>i</a:t>
            </a:r>
            <a:r>
              <a:rPr sz="3200" i="1" dirty="0">
                <a:latin typeface="Arial"/>
                <a:cs typeface="Arial"/>
              </a:rPr>
              <a:t>n</a:t>
            </a:r>
            <a:r>
              <a:rPr sz="3200" i="1" spc="-6" dirty="0">
                <a:latin typeface="Arial"/>
                <a:cs typeface="Arial"/>
              </a:rPr>
              <a:t>g</a:t>
            </a:r>
            <a:r>
              <a:rPr sz="3200" i="1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é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3349" y="6565200"/>
            <a:ext cx="6889074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3200" dirty="0">
                <a:latin typeface="Arial"/>
                <a:cs typeface="Arial"/>
              </a:rPr>
              <a:t>executado </a:t>
            </a:r>
            <a:r>
              <a:rPr sz="3200" spc="-6" dirty="0">
                <a:latin typeface="Arial"/>
                <a:cs typeface="Arial"/>
              </a:rPr>
              <a:t>passo-a-passo</a:t>
            </a:r>
            <a:r>
              <a:rPr sz="3200" spc="6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(</a:t>
            </a:r>
            <a:r>
              <a:rPr sz="3200" i="1" dirty="0">
                <a:latin typeface="Arial"/>
                <a:cs typeface="Arial"/>
              </a:rPr>
              <a:t>continue</a:t>
            </a:r>
            <a:r>
              <a:rPr sz="3200" dirty="0">
                <a:latin typeface="Arial"/>
                <a:cs typeface="Arial"/>
              </a:rPr>
              <a:t>).</a:t>
            </a:r>
            <a:endParaRPr sz="32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Controle da</a:t>
            </a:r>
            <a:r>
              <a:rPr spc="-29" dirty="0"/>
              <a:t> </a:t>
            </a:r>
            <a:r>
              <a:rPr spc="-6" dirty="0"/>
              <a:t>execução</a:t>
            </a:r>
          </a:p>
        </p:txBody>
      </p:sp>
      <p:sp>
        <p:nvSpPr>
          <p:cNvPr id="10" name="object 10"/>
          <p:cNvSpPr/>
          <p:nvPr/>
        </p:nvSpPr>
        <p:spPr>
          <a:xfrm>
            <a:off x="588330" y="1345336"/>
            <a:ext cx="590543" cy="4763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29056" y="2826131"/>
            <a:ext cx="607177" cy="4759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80575" y="4333695"/>
            <a:ext cx="406052" cy="3467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87064" y="5761803"/>
            <a:ext cx="349169" cy="36693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51393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454346"/>
            <a:ext cx="9008446" cy="4931562"/>
          </a:xfrm>
          <a:prstGeom prst="rect">
            <a:avLst/>
          </a:prstGeom>
        </p:spPr>
        <p:txBody>
          <a:bodyPr vert="horz" wrap="square" lIns="0" tIns="54312" rIns="0" bIns="0" rtlCol="0">
            <a:spAutoFit/>
          </a:bodyPr>
          <a:lstStyle/>
          <a:p>
            <a:pPr marL="14483" marR="6517" indent="562668" algn="just">
              <a:lnSpc>
                <a:spcPts val="3455"/>
              </a:lnSpc>
              <a:spcBef>
                <a:spcPts val="428"/>
              </a:spcBef>
            </a:pPr>
            <a:r>
              <a:rPr sz="3200" b="1" i="1" spc="-6" dirty="0">
                <a:latin typeface="Arial"/>
                <a:cs typeface="Arial"/>
              </a:rPr>
              <a:t>Step into </a:t>
            </a:r>
            <a:r>
              <a:rPr sz="3200" b="1" dirty="0">
                <a:latin typeface="Arial"/>
                <a:cs typeface="Arial"/>
              </a:rPr>
              <a:t>(Shitf-F7): </a:t>
            </a:r>
            <a:r>
              <a:rPr sz="3200" dirty="0">
                <a:latin typeface="Arial"/>
                <a:cs typeface="Arial"/>
              </a:rPr>
              <a:t>se </a:t>
            </a:r>
            <a:r>
              <a:rPr sz="3200" spc="-6" dirty="0">
                <a:latin typeface="Arial"/>
                <a:cs typeface="Arial"/>
              </a:rPr>
              <a:t>a instrução a </a:t>
            </a:r>
            <a:r>
              <a:rPr sz="3200" dirty="0">
                <a:latin typeface="Arial"/>
                <a:cs typeface="Arial"/>
              </a:rPr>
              <a:t>ser  executada </a:t>
            </a:r>
            <a:r>
              <a:rPr sz="3200" spc="-6" dirty="0">
                <a:latin typeface="Arial"/>
                <a:cs typeface="Arial"/>
              </a:rPr>
              <a:t>for uma </a:t>
            </a:r>
            <a:r>
              <a:rPr sz="3200" dirty="0">
                <a:latin typeface="Arial"/>
                <a:cs typeface="Arial"/>
              </a:rPr>
              <a:t>chamada de função, </a:t>
            </a:r>
            <a:r>
              <a:rPr sz="3200" spc="-6" dirty="0">
                <a:latin typeface="Arial"/>
                <a:cs typeface="Arial"/>
              </a:rPr>
              <a:t>a  execução é </a:t>
            </a:r>
            <a:r>
              <a:rPr sz="3200" dirty="0">
                <a:latin typeface="Arial"/>
                <a:cs typeface="Arial"/>
              </a:rPr>
              <a:t>desviada </a:t>
            </a:r>
            <a:r>
              <a:rPr sz="3200" spc="-6" dirty="0">
                <a:latin typeface="Arial"/>
                <a:cs typeface="Arial"/>
              </a:rPr>
              <a:t>para a</a:t>
            </a:r>
            <a:r>
              <a:rPr sz="3200" spc="2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função.</a:t>
            </a:r>
            <a:endParaRPr sz="3200">
              <a:latin typeface="Arial"/>
              <a:cs typeface="Arial"/>
            </a:endParaRPr>
          </a:p>
          <a:p>
            <a:pPr>
              <a:spcBef>
                <a:spcPts val="6"/>
              </a:spcBef>
            </a:pPr>
            <a:endParaRPr sz="4300">
              <a:latin typeface="Times New Roman"/>
              <a:cs typeface="Times New Roman"/>
            </a:endParaRPr>
          </a:p>
          <a:p>
            <a:pPr marL="14483" marR="6517" indent="562668" algn="just">
              <a:lnSpc>
                <a:spcPct val="90000"/>
              </a:lnSpc>
              <a:spcBef>
                <a:spcPts val="6"/>
              </a:spcBef>
            </a:pPr>
            <a:r>
              <a:rPr sz="3200" b="1" i="1" spc="-6" dirty="0">
                <a:latin typeface="Arial"/>
                <a:cs typeface="Arial"/>
              </a:rPr>
              <a:t>Step out </a:t>
            </a:r>
            <a:r>
              <a:rPr sz="3200" b="1" dirty="0">
                <a:latin typeface="Arial"/>
                <a:cs typeface="Arial"/>
              </a:rPr>
              <a:t>(Ctrl-F7): </a:t>
            </a:r>
            <a:r>
              <a:rPr sz="3200" spc="-6" dirty="0">
                <a:latin typeface="Arial"/>
                <a:cs typeface="Arial"/>
              </a:rPr>
              <a:t>a função em </a:t>
            </a:r>
            <a:r>
              <a:rPr sz="3200" dirty="0">
                <a:latin typeface="Arial"/>
                <a:cs typeface="Arial"/>
              </a:rPr>
              <a:t>execução </a:t>
            </a:r>
            <a:r>
              <a:rPr sz="3200" spc="-6" dirty="0">
                <a:latin typeface="Arial"/>
                <a:cs typeface="Arial"/>
              </a:rPr>
              <a:t>é  </a:t>
            </a:r>
            <a:r>
              <a:rPr sz="3200" dirty="0">
                <a:latin typeface="Arial"/>
                <a:cs typeface="Arial"/>
              </a:rPr>
              <a:t>interrompida. </a:t>
            </a:r>
            <a:r>
              <a:rPr sz="3200" spc="-6" dirty="0">
                <a:latin typeface="Arial"/>
                <a:cs typeface="Arial"/>
              </a:rPr>
              <a:t>O fluxo </a:t>
            </a:r>
            <a:r>
              <a:rPr sz="3200" dirty="0">
                <a:latin typeface="Arial"/>
                <a:cs typeface="Arial"/>
              </a:rPr>
              <a:t>retorna </a:t>
            </a:r>
            <a:r>
              <a:rPr sz="3200" spc="-6" dirty="0">
                <a:latin typeface="Arial"/>
                <a:cs typeface="Arial"/>
              </a:rPr>
              <a:t>para a </a:t>
            </a:r>
            <a:r>
              <a:rPr sz="3200" dirty="0">
                <a:latin typeface="Arial"/>
                <a:cs typeface="Arial"/>
              </a:rPr>
              <a:t>instrução  </a:t>
            </a:r>
            <a:r>
              <a:rPr sz="3200" spc="-6" dirty="0">
                <a:latin typeface="Arial"/>
                <a:cs typeface="Arial"/>
              </a:rPr>
              <a:t>seguinte à chamada da</a:t>
            </a:r>
            <a:r>
              <a:rPr sz="3200" spc="68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função.</a:t>
            </a:r>
            <a:endParaRPr sz="3200">
              <a:latin typeface="Arial"/>
              <a:cs typeface="Arial"/>
            </a:endParaRPr>
          </a:p>
          <a:p>
            <a:pPr>
              <a:spcBef>
                <a:spcPts val="6"/>
              </a:spcBef>
            </a:pPr>
            <a:endParaRPr sz="4000">
              <a:latin typeface="Times New Roman"/>
              <a:cs typeface="Times New Roman"/>
            </a:endParaRPr>
          </a:p>
          <a:p>
            <a:pPr marL="577151">
              <a:lnSpc>
                <a:spcPts val="3638"/>
              </a:lnSpc>
              <a:spcBef>
                <a:spcPts val="6"/>
              </a:spcBef>
              <a:tabLst>
                <a:tab pos="1698865" algn="l"/>
                <a:tab pos="3772118" algn="l"/>
                <a:tab pos="5910545" algn="l"/>
                <a:tab pos="6447143" algn="l"/>
                <a:tab pos="8317632" algn="l"/>
              </a:tabLst>
            </a:pPr>
            <a:r>
              <a:rPr sz="3200" b="1" i="1" spc="-6" dirty="0">
                <a:latin typeface="Arial"/>
                <a:cs typeface="Arial"/>
              </a:rPr>
              <a:t>Stop	d</a:t>
            </a:r>
            <a:r>
              <a:rPr sz="3200" b="1" i="1" dirty="0">
                <a:latin typeface="Arial"/>
                <a:cs typeface="Arial"/>
              </a:rPr>
              <a:t>e</a:t>
            </a:r>
            <a:r>
              <a:rPr sz="3200" b="1" i="1" spc="-6" dirty="0">
                <a:latin typeface="Arial"/>
                <a:cs typeface="Arial"/>
              </a:rPr>
              <a:t>bugg</a:t>
            </a:r>
            <a:r>
              <a:rPr sz="3200" b="1" i="1" dirty="0">
                <a:latin typeface="Arial"/>
                <a:cs typeface="Arial"/>
              </a:rPr>
              <a:t>e</a:t>
            </a:r>
            <a:r>
              <a:rPr sz="3200" b="1" i="1" spc="-6" dirty="0">
                <a:latin typeface="Arial"/>
                <a:cs typeface="Arial"/>
              </a:rPr>
              <a:t>r</a:t>
            </a:r>
            <a:r>
              <a:rPr sz="3200" b="1" i="1" dirty="0">
                <a:latin typeface="Arial"/>
                <a:cs typeface="Arial"/>
              </a:rPr>
              <a:t>	</a:t>
            </a:r>
            <a:r>
              <a:rPr sz="3200" b="1" spc="-6" dirty="0">
                <a:latin typeface="Arial"/>
                <a:cs typeface="Arial"/>
              </a:rPr>
              <a:t>(Shif</a:t>
            </a:r>
            <a:r>
              <a:rPr sz="3200" b="1" dirty="0">
                <a:latin typeface="Arial"/>
                <a:cs typeface="Arial"/>
              </a:rPr>
              <a:t>t</a:t>
            </a:r>
            <a:r>
              <a:rPr sz="3200" b="1" spc="-6" dirty="0">
                <a:latin typeface="Arial"/>
                <a:cs typeface="Arial"/>
              </a:rPr>
              <a:t>-</a:t>
            </a:r>
            <a:r>
              <a:rPr sz="3200" b="1" spc="-17" dirty="0">
                <a:latin typeface="Arial"/>
                <a:cs typeface="Arial"/>
              </a:rPr>
              <a:t>F</a:t>
            </a:r>
            <a:r>
              <a:rPr sz="3200" b="1" spc="-6" dirty="0">
                <a:latin typeface="Arial"/>
                <a:cs typeface="Arial"/>
              </a:rPr>
              <a:t>8):</a:t>
            </a:r>
            <a:r>
              <a:rPr sz="3200" b="1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O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processo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de</a:t>
            </a:r>
            <a:endParaRPr sz="3200">
              <a:latin typeface="Arial"/>
              <a:cs typeface="Arial"/>
            </a:endParaRPr>
          </a:p>
          <a:p>
            <a:pPr marL="14483">
              <a:lnSpc>
                <a:spcPts val="3638"/>
              </a:lnSpc>
            </a:pPr>
            <a:r>
              <a:rPr sz="3200" i="1" spc="-6" dirty="0">
                <a:latin typeface="Arial"/>
                <a:cs typeface="Arial"/>
              </a:rPr>
              <a:t>debugging </a:t>
            </a:r>
            <a:r>
              <a:rPr sz="3200" spc="-6" dirty="0">
                <a:latin typeface="Arial"/>
                <a:cs typeface="Arial"/>
              </a:rPr>
              <a:t>é </a:t>
            </a:r>
            <a:r>
              <a:rPr sz="3200" dirty="0">
                <a:latin typeface="Arial"/>
                <a:cs typeface="Arial"/>
              </a:rPr>
              <a:t>finalizado.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Controle da</a:t>
            </a:r>
            <a:r>
              <a:rPr spc="-29" dirty="0"/>
              <a:t> </a:t>
            </a:r>
            <a:r>
              <a:rPr spc="-6" dirty="0"/>
              <a:t>execução</a:t>
            </a:r>
          </a:p>
        </p:txBody>
      </p:sp>
      <p:sp>
        <p:nvSpPr>
          <p:cNvPr id="4" name="object 4"/>
          <p:cNvSpPr/>
          <p:nvPr/>
        </p:nvSpPr>
        <p:spPr>
          <a:xfrm>
            <a:off x="715179" y="1556611"/>
            <a:ext cx="479227" cy="4091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15180" y="3394171"/>
            <a:ext cx="491316" cy="4007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81316" y="5285814"/>
            <a:ext cx="413091" cy="4271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03195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232969"/>
            <a:ext cx="9008446" cy="1329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A seguir, o algoritmo </a:t>
            </a:r>
            <a:r>
              <a:rPr sz="3200" dirty="0">
                <a:latin typeface="Arial"/>
                <a:cs typeface="Arial"/>
              </a:rPr>
              <a:t>descrito anteriormente  </a:t>
            </a:r>
            <a:r>
              <a:rPr sz="3200" spc="-6" dirty="0">
                <a:latin typeface="Arial"/>
                <a:cs typeface="Arial"/>
              </a:rPr>
              <a:t>será </a:t>
            </a:r>
            <a:r>
              <a:rPr sz="3200" dirty="0">
                <a:latin typeface="Arial"/>
                <a:cs typeface="Arial"/>
              </a:rPr>
              <a:t>executado </a:t>
            </a:r>
            <a:r>
              <a:rPr sz="3200" spc="-6" dirty="0">
                <a:latin typeface="Arial"/>
                <a:cs typeface="Arial"/>
              </a:rPr>
              <a:t>passo-a-passo por meio do  comando </a:t>
            </a:r>
            <a:r>
              <a:rPr sz="3200" i="1" spc="-6" dirty="0">
                <a:latin typeface="Arial"/>
                <a:cs typeface="Arial"/>
              </a:rPr>
              <a:t>Next line </a:t>
            </a:r>
            <a:r>
              <a:rPr sz="3200" spc="-6" dirty="0">
                <a:latin typeface="Arial"/>
                <a:cs typeface="Arial"/>
              </a:rPr>
              <a:t>(F7)     </a:t>
            </a:r>
            <a:r>
              <a:rPr sz="3200" spc="86" dirty="0">
                <a:latin typeface="Arial"/>
                <a:cs typeface="Arial"/>
              </a:rPr>
              <a:t> </a:t>
            </a:r>
            <a:r>
              <a:rPr sz="3200" spc="-6" dirty="0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682876" y="196850"/>
            <a:ext cx="908939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473075" y="2667500"/>
            <a:ext cx="7832173" cy="471217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497447" y="2032698"/>
            <a:ext cx="607177" cy="4759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62822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240806"/>
            <a:ext cx="9008446" cy="20133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7242" indent="-391043" algn="just">
              <a:lnSpc>
                <a:spcPts val="2954"/>
              </a:lnSpc>
              <a:buClr>
                <a:srgbClr val="852B34"/>
              </a:buClr>
              <a:buSzPct val="68750"/>
              <a:buChar char="•"/>
              <a:tabLst>
                <a:tab pos="405526" algn="l"/>
              </a:tabLst>
            </a:pPr>
            <a:r>
              <a:rPr sz="2700" spc="-6" dirty="0">
                <a:latin typeface="Arial"/>
                <a:cs typeface="Arial"/>
              </a:rPr>
              <a:t>As linhas em destaque indicam as instruções </a:t>
            </a:r>
            <a:r>
              <a:rPr sz="2700" spc="-11" dirty="0">
                <a:latin typeface="Arial"/>
                <a:cs typeface="Arial"/>
              </a:rPr>
              <a:t>que  </a:t>
            </a:r>
            <a:r>
              <a:rPr sz="2700" spc="-6" dirty="0">
                <a:latin typeface="Arial"/>
                <a:cs typeface="Arial"/>
              </a:rPr>
              <a:t>serão executadas na</a:t>
            </a:r>
            <a:r>
              <a:rPr sz="2700" spc="34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sequência.</a:t>
            </a:r>
            <a:endParaRPr sz="2700">
              <a:latin typeface="Arial"/>
              <a:cs typeface="Arial"/>
            </a:endParaRPr>
          </a:p>
          <a:p>
            <a:pPr marL="405526" marR="5793" indent="-391043" algn="just">
              <a:lnSpc>
                <a:spcPts val="2954"/>
              </a:lnSpc>
              <a:spcBef>
                <a:spcPts val="661"/>
              </a:spcBef>
              <a:buClr>
                <a:srgbClr val="852B34"/>
              </a:buClr>
              <a:buSzPct val="68750"/>
              <a:buChar char="•"/>
              <a:tabLst>
                <a:tab pos="405526" algn="l"/>
              </a:tabLst>
            </a:pPr>
            <a:r>
              <a:rPr sz="2700" spc="-6" dirty="0">
                <a:latin typeface="Arial"/>
                <a:cs typeface="Arial"/>
              </a:rPr>
              <a:t>Assim, em </a:t>
            </a:r>
            <a:r>
              <a:rPr sz="2700" i="1" spc="-6" dirty="0">
                <a:latin typeface="Arial"/>
                <a:cs typeface="Arial"/>
              </a:rPr>
              <a:t>Watches </a:t>
            </a:r>
            <a:r>
              <a:rPr sz="2700" spc="-6" dirty="0">
                <a:latin typeface="Arial"/>
                <a:cs typeface="Arial"/>
              </a:rPr>
              <a:t>e na tela de </a:t>
            </a:r>
            <a:r>
              <a:rPr sz="2700" dirty="0">
                <a:latin typeface="Arial"/>
                <a:cs typeface="Arial"/>
              </a:rPr>
              <a:t>impressão </a:t>
            </a:r>
            <a:r>
              <a:rPr sz="2700" spc="-11" dirty="0">
                <a:latin typeface="Arial"/>
                <a:cs typeface="Arial"/>
              </a:rPr>
              <a:t>os  </a:t>
            </a:r>
            <a:r>
              <a:rPr sz="2700" spc="-6" dirty="0">
                <a:latin typeface="Arial"/>
                <a:cs typeface="Arial"/>
              </a:rPr>
              <a:t>conteúdos </a:t>
            </a:r>
            <a:r>
              <a:rPr sz="2700" dirty="0">
                <a:latin typeface="Arial"/>
                <a:cs typeface="Arial"/>
              </a:rPr>
              <a:t>exibidos </a:t>
            </a:r>
            <a:r>
              <a:rPr sz="2700" spc="-6" dirty="0">
                <a:latin typeface="Arial"/>
                <a:cs typeface="Arial"/>
              </a:rPr>
              <a:t>se referem à última execução </a:t>
            </a:r>
            <a:r>
              <a:rPr sz="2700" dirty="0">
                <a:latin typeface="Arial"/>
                <a:cs typeface="Arial"/>
              </a:rPr>
              <a:t>do  </a:t>
            </a:r>
            <a:r>
              <a:rPr sz="2700" spc="-6" dirty="0">
                <a:latin typeface="Arial"/>
                <a:cs typeface="Arial"/>
              </a:rPr>
              <a:t>algoritmo realizada pelo</a:t>
            </a:r>
            <a:r>
              <a:rPr sz="2700" spc="68" dirty="0">
                <a:latin typeface="Arial"/>
                <a:cs typeface="Arial"/>
              </a:rPr>
              <a:t> </a:t>
            </a:r>
            <a:r>
              <a:rPr sz="2700" i="1" spc="-6" dirty="0">
                <a:latin typeface="Arial"/>
                <a:cs typeface="Arial"/>
              </a:rPr>
              <a:t>debugger</a:t>
            </a:r>
            <a:r>
              <a:rPr sz="2700" spc="-6" dirty="0">
                <a:latin typeface="Arial"/>
                <a:cs typeface="Arial"/>
              </a:rPr>
              <a:t>.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2461265" y="3302135"/>
            <a:ext cx="6283262" cy="40465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12587" y="5007439"/>
            <a:ext cx="1295684" cy="2837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662490" y="5079788"/>
            <a:ext cx="1095331" cy="94456"/>
          </a:xfrm>
          <a:custGeom>
            <a:avLst/>
            <a:gdLst/>
            <a:ahLst/>
            <a:cxnLst/>
            <a:rect l="l" t="t" r="r" b="b"/>
            <a:pathLst>
              <a:path w="936625" h="85725">
                <a:moveTo>
                  <a:pt x="850392" y="0"/>
                </a:moveTo>
                <a:lnTo>
                  <a:pt x="850392" y="85725"/>
                </a:lnTo>
                <a:lnTo>
                  <a:pt x="907626" y="57150"/>
                </a:lnTo>
                <a:lnTo>
                  <a:pt x="864743" y="57150"/>
                </a:lnTo>
                <a:lnTo>
                  <a:pt x="864743" y="28575"/>
                </a:lnTo>
                <a:lnTo>
                  <a:pt x="907457" y="28575"/>
                </a:lnTo>
                <a:lnTo>
                  <a:pt x="850392" y="0"/>
                </a:lnTo>
                <a:close/>
              </a:path>
              <a:path w="936625" h="85725">
                <a:moveTo>
                  <a:pt x="850392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850392" y="57150"/>
                </a:lnTo>
                <a:lnTo>
                  <a:pt x="850392" y="28575"/>
                </a:lnTo>
                <a:close/>
              </a:path>
              <a:path w="936625" h="85725">
                <a:moveTo>
                  <a:pt x="907457" y="28575"/>
                </a:moveTo>
                <a:lnTo>
                  <a:pt x="864743" y="28575"/>
                </a:lnTo>
                <a:lnTo>
                  <a:pt x="864743" y="57150"/>
                </a:lnTo>
                <a:lnTo>
                  <a:pt x="907626" y="57150"/>
                </a:lnTo>
                <a:lnTo>
                  <a:pt x="936117" y="42925"/>
                </a:lnTo>
                <a:lnTo>
                  <a:pt x="907457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146699" y="4918190"/>
            <a:ext cx="2189918" cy="537779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8" rIns="0" bIns="0" rtlCol="0">
            <a:spAutoFit/>
          </a:bodyPr>
          <a:lstStyle/>
          <a:p>
            <a:pPr marL="304145" marR="296903" indent="95588">
              <a:spcBef>
                <a:spcPts val="354"/>
              </a:spcBef>
            </a:pPr>
            <a:r>
              <a:rPr sz="1600" b="1" dirty="0">
                <a:latin typeface="Arial"/>
                <a:cs typeface="Arial"/>
              </a:rPr>
              <a:t>Próxima </a:t>
            </a:r>
            <a:r>
              <a:rPr sz="1600" b="1" spc="-6" dirty="0">
                <a:latin typeface="Arial"/>
                <a:cs typeface="Arial"/>
              </a:rPr>
              <a:t>linha  </a:t>
            </a:r>
            <a:r>
              <a:rPr sz="1600" b="1" dirty="0">
                <a:latin typeface="Arial"/>
                <a:cs typeface="Arial"/>
              </a:rPr>
              <a:t>a ser</a:t>
            </a:r>
            <a:r>
              <a:rPr sz="1600" b="1" spc="-86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executada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701531" y="5020873"/>
            <a:ext cx="4099135" cy="26363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757225" y="5047743"/>
            <a:ext cx="3987747" cy="158826"/>
          </a:xfrm>
          <a:custGeom>
            <a:avLst/>
            <a:gdLst/>
            <a:ahLst/>
            <a:cxnLst/>
            <a:rect l="l" t="t" r="r" b="b"/>
            <a:pathLst>
              <a:path w="3409950" h="144145">
                <a:moveTo>
                  <a:pt x="0" y="144017"/>
                </a:moveTo>
                <a:lnTo>
                  <a:pt x="3409568" y="144017"/>
                </a:lnTo>
                <a:lnTo>
                  <a:pt x="3409568" y="0"/>
                </a:lnTo>
                <a:lnTo>
                  <a:pt x="0" y="0"/>
                </a:lnTo>
                <a:lnTo>
                  <a:pt x="0" y="14401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72339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240806"/>
            <a:ext cx="9008446" cy="20133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7242" indent="-391043" algn="just">
              <a:lnSpc>
                <a:spcPts val="2954"/>
              </a:lnSpc>
              <a:buClr>
                <a:srgbClr val="852B34"/>
              </a:buClr>
              <a:buSzPct val="68750"/>
              <a:buChar char="•"/>
              <a:tabLst>
                <a:tab pos="405526" algn="l"/>
              </a:tabLst>
            </a:pPr>
            <a:r>
              <a:rPr sz="2700" spc="-6" dirty="0">
                <a:latin typeface="Arial"/>
                <a:cs typeface="Arial"/>
              </a:rPr>
              <a:t>As linhas em destaque indicam as instruções </a:t>
            </a:r>
            <a:r>
              <a:rPr sz="2700" spc="-11" dirty="0">
                <a:latin typeface="Arial"/>
                <a:cs typeface="Arial"/>
              </a:rPr>
              <a:t>que  </a:t>
            </a:r>
            <a:r>
              <a:rPr sz="2700" spc="-6" dirty="0">
                <a:latin typeface="Arial"/>
                <a:cs typeface="Arial"/>
              </a:rPr>
              <a:t>serão executadas na</a:t>
            </a:r>
            <a:r>
              <a:rPr sz="2700" spc="34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sequência.</a:t>
            </a:r>
            <a:endParaRPr sz="2700">
              <a:latin typeface="Arial"/>
              <a:cs typeface="Arial"/>
            </a:endParaRPr>
          </a:p>
          <a:p>
            <a:pPr marL="405526" marR="5793" indent="-391043" algn="just">
              <a:lnSpc>
                <a:spcPts val="2954"/>
              </a:lnSpc>
              <a:spcBef>
                <a:spcPts val="661"/>
              </a:spcBef>
              <a:buClr>
                <a:srgbClr val="852B34"/>
              </a:buClr>
              <a:buSzPct val="68750"/>
              <a:buChar char="•"/>
              <a:tabLst>
                <a:tab pos="405526" algn="l"/>
              </a:tabLst>
            </a:pPr>
            <a:r>
              <a:rPr sz="2700" spc="-6" dirty="0">
                <a:latin typeface="Arial"/>
                <a:cs typeface="Arial"/>
              </a:rPr>
              <a:t>Assim, em </a:t>
            </a:r>
            <a:r>
              <a:rPr sz="2700" i="1" spc="-6" dirty="0">
                <a:latin typeface="Arial"/>
                <a:cs typeface="Arial"/>
              </a:rPr>
              <a:t>Watches </a:t>
            </a:r>
            <a:r>
              <a:rPr sz="2700" spc="-6" dirty="0">
                <a:latin typeface="Arial"/>
                <a:cs typeface="Arial"/>
              </a:rPr>
              <a:t>e na tela de </a:t>
            </a:r>
            <a:r>
              <a:rPr sz="2700" dirty="0">
                <a:latin typeface="Arial"/>
                <a:cs typeface="Arial"/>
              </a:rPr>
              <a:t>impressão </a:t>
            </a:r>
            <a:r>
              <a:rPr sz="2700" spc="-11" dirty="0">
                <a:latin typeface="Arial"/>
                <a:cs typeface="Arial"/>
              </a:rPr>
              <a:t>os  </a:t>
            </a:r>
            <a:r>
              <a:rPr sz="2700" spc="-6" dirty="0">
                <a:latin typeface="Arial"/>
                <a:cs typeface="Arial"/>
              </a:rPr>
              <a:t>conteúdos </a:t>
            </a:r>
            <a:r>
              <a:rPr sz="2700" dirty="0">
                <a:latin typeface="Arial"/>
                <a:cs typeface="Arial"/>
              </a:rPr>
              <a:t>exibidos </a:t>
            </a:r>
            <a:r>
              <a:rPr sz="2700" spc="-6" dirty="0">
                <a:latin typeface="Arial"/>
                <a:cs typeface="Arial"/>
              </a:rPr>
              <a:t>se referem à última execução </a:t>
            </a:r>
            <a:r>
              <a:rPr sz="2700" dirty="0">
                <a:latin typeface="Arial"/>
                <a:cs typeface="Arial"/>
              </a:rPr>
              <a:t>do  </a:t>
            </a:r>
            <a:r>
              <a:rPr sz="2700" spc="-6" dirty="0">
                <a:latin typeface="Arial"/>
                <a:cs typeface="Arial"/>
              </a:rPr>
              <a:t>algoritmo realizada pelo</a:t>
            </a:r>
            <a:r>
              <a:rPr sz="2700" spc="68" dirty="0">
                <a:latin typeface="Arial"/>
                <a:cs typeface="Arial"/>
              </a:rPr>
              <a:t> </a:t>
            </a:r>
            <a:r>
              <a:rPr sz="2700" i="1" spc="-6" dirty="0">
                <a:latin typeface="Arial"/>
                <a:cs typeface="Arial"/>
              </a:rPr>
              <a:t>debugger</a:t>
            </a:r>
            <a:r>
              <a:rPr sz="2700" spc="-6" dirty="0">
                <a:latin typeface="Arial"/>
                <a:cs typeface="Arial"/>
              </a:rPr>
              <a:t>.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2461265" y="3302135"/>
            <a:ext cx="6283262" cy="40465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343469" y="4382771"/>
            <a:ext cx="1620049" cy="6901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494960" y="4408377"/>
            <a:ext cx="1419846" cy="512163"/>
          </a:xfrm>
          <a:custGeom>
            <a:avLst/>
            <a:gdLst/>
            <a:ahLst/>
            <a:cxnLst/>
            <a:rect l="l" t="t" r="r" b="b"/>
            <a:pathLst>
              <a:path w="1214120" h="464820">
                <a:moveTo>
                  <a:pt x="65786" y="384175"/>
                </a:moveTo>
                <a:lnTo>
                  <a:pt x="0" y="453771"/>
                </a:lnTo>
                <a:lnTo>
                  <a:pt x="95123" y="464693"/>
                </a:lnTo>
                <a:lnTo>
                  <a:pt x="87117" y="442722"/>
                </a:lnTo>
                <a:lnTo>
                  <a:pt x="72009" y="442722"/>
                </a:lnTo>
                <a:lnTo>
                  <a:pt x="62230" y="415925"/>
                </a:lnTo>
                <a:lnTo>
                  <a:pt x="75581" y="411060"/>
                </a:lnTo>
                <a:lnTo>
                  <a:pt x="65786" y="384175"/>
                </a:lnTo>
                <a:close/>
              </a:path>
              <a:path w="1214120" h="464820">
                <a:moveTo>
                  <a:pt x="75581" y="411060"/>
                </a:moveTo>
                <a:lnTo>
                  <a:pt x="62230" y="415925"/>
                </a:lnTo>
                <a:lnTo>
                  <a:pt x="72009" y="442722"/>
                </a:lnTo>
                <a:lnTo>
                  <a:pt x="85347" y="437863"/>
                </a:lnTo>
                <a:lnTo>
                  <a:pt x="75581" y="411060"/>
                </a:lnTo>
                <a:close/>
              </a:path>
              <a:path w="1214120" h="464820">
                <a:moveTo>
                  <a:pt x="85347" y="437863"/>
                </a:moveTo>
                <a:lnTo>
                  <a:pt x="72009" y="442722"/>
                </a:lnTo>
                <a:lnTo>
                  <a:pt x="87117" y="442722"/>
                </a:lnTo>
                <a:lnTo>
                  <a:pt x="85347" y="437863"/>
                </a:lnTo>
                <a:close/>
              </a:path>
              <a:path w="1214120" h="464820">
                <a:moveTo>
                  <a:pt x="1203833" y="0"/>
                </a:moveTo>
                <a:lnTo>
                  <a:pt x="75581" y="411060"/>
                </a:lnTo>
                <a:lnTo>
                  <a:pt x="85347" y="437863"/>
                </a:lnTo>
                <a:lnTo>
                  <a:pt x="1213612" y="26924"/>
                </a:lnTo>
                <a:lnTo>
                  <a:pt x="120383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937083" y="3875323"/>
            <a:ext cx="2189918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8" rIns="0" bIns="0" rtlCol="0">
            <a:spAutoFit/>
          </a:bodyPr>
          <a:lstStyle/>
          <a:p>
            <a:pPr marL="157141" marR="147726" indent="79657" algn="just">
              <a:spcBef>
                <a:spcPts val="354"/>
              </a:spcBef>
            </a:pPr>
            <a:r>
              <a:rPr sz="1600" b="1" spc="-17" dirty="0">
                <a:latin typeface="Arial"/>
                <a:cs typeface="Arial"/>
              </a:rPr>
              <a:t>Vetor </a:t>
            </a:r>
            <a:r>
              <a:rPr sz="1600" b="1" spc="-6" dirty="0">
                <a:latin typeface="Arial"/>
                <a:cs typeface="Arial"/>
              </a:rPr>
              <a:t>inicializado  pela </a:t>
            </a:r>
            <a:r>
              <a:rPr sz="1600" b="1" dirty="0">
                <a:latin typeface="Arial"/>
                <a:cs typeface="Arial"/>
              </a:rPr>
              <a:t>última </a:t>
            </a:r>
            <a:r>
              <a:rPr sz="1600" b="1" spc="-6" dirty="0">
                <a:latin typeface="Arial"/>
                <a:cs typeface="Arial"/>
              </a:rPr>
              <a:t>linha  executada (linha</a:t>
            </a:r>
            <a:r>
              <a:rPr sz="1600" b="1" spc="-1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5)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75744" y="4552371"/>
            <a:ext cx="283374" cy="7556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325646" y="4590992"/>
            <a:ext cx="169312" cy="635306"/>
          </a:xfrm>
          <a:custGeom>
            <a:avLst/>
            <a:gdLst/>
            <a:ahLst/>
            <a:cxnLst/>
            <a:rect l="l" t="t" r="r" b="b"/>
            <a:pathLst>
              <a:path w="144780" h="576579">
                <a:moveTo>
                  <a:pt x="0" y="0"/>
                </a:moveTo>
                <a:lnTo>
                  <a:pt x="28188" y="938"/>
                </a:lnTo>
                <a:lnTo>
                  <a:pt x="51196" y="3508"/>
                </a:lnTo>
                <a:lnTo>
                  <a:pt x="66704" y="7340"/>
                </a:lnTo>
                <a:lnTo>
                  <a:pt x="72390" y="12064"/>
                </a:lnTo>
                <a:lnTo>
                  <a:pt x="72390" y="275970"/>
                </a:lnTo>
                <a:lnTo>
                  <a:pt x="78075" y="280642"/>
                </a:lnTo>
                <a:lnTo>
                  <a:pt x="93583" y="284479"/>
                </a:lnTo>
                <a:lnTo>
                  <a:pt x="116591" y="287079"/>
                </a:lnTo>
                <a:lnTo>
                  <a:pt x="144780" y="288035"/>
                </a:lnTo>
                <a:lnTo>
                  <a:pt x="116591" y="288974"/>
                </a:lnTo>
                <a:lnTo>
                  <a:pt x="93583" y="291544"/>
                </a:lnTo>
                <a:lnTo>
                  <a:pt x="78075" y="295376"/>
                </a:lnTo>
                <a:lnTo>
                  <a:pt x="72390" y="300100"/>
                </a:lnTo>
                <a:lnTo>
                  <a:pt x="72390" y="564006"/>
                </a:lnTo>
                <a:lnTo>
                  <a:pt x="66704" y="568678"/>
                </a:lnTo>
                <a:lnTo>
                  <a:pt x="51196" y="572515"/>
                </a:lnTo>
                <a:lnTo>
                  <a:pt x="28188" y="575115"/>
                </a:lnTo>
                <a:lnTo>
                  <a:pt x="0" y="576071"/>
                </a:lnTo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701531" y="5020873"/>
            <a:ext cx="4099135" cy="26363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757225" y="5047743"/>
            <a:ext cx="3987747" cy="158826"/>
          </a:xfrm>
          <a:custGeom>
            <a:avLst/>
            <a:gdLst/>
            <a:ahLst/>
            <a:cxnLst/>
            <a:rect l="l" t="t" r="r" b="b"/>
            <a:pathLst>
              <a:path w="3409950" h="144145">
                <a:moveTo>
                  <a:pt x="0" y="144017"/>
                </a:moveTo>
                <a:lnTo>
                  <a:pt x="3409568" y="144017"/>
                </a:lnTo>
                <a:lnTo>
                  <a:pt x="3409568" y="0"/>
                </a:lnTo>
                <a:lnTo>
                  <a:pt x="0" y="0"/>
                </a:lnTo>
                <a:lnTo>
                  <a:pt x="0" y="14401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41864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7678" y="1080608"/>
            <a:ext cx="9725647" cy="62602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661040" y="3523007"/>
            <a:ext cx="2573545" cy="2837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11836" y="3595495"/>
            <a:ext cx="2371854" cy="94456"/>
          </a:xfrm>
          <a:custGeom>
            <a:avLst/>
            <a:gdLst/>
            <a:ahLst/>
            <a:cxnLst/>
            <a:rect l="l" t="t" r="r" b="b"/>
            <a:pathLst>
              <a:path w="2028189" h="85725">
                <a:moveTo>
                  <a:pt x="1942338" y="0"/>
                </a:moveTo>
                <a:lnTo>
                  <a:pt x="1942338" y="85725"/>
                </a:lnTo>
                <a:lnTo>
                  <a:pt x="1999572" y="57150"/>
                </a:lnTo>
                <a:lnTo>
                  <a:pt x="1956689" y="57150"/>
                </a:lnTo>
                <a:lnTo>
                  <a:pt x="1956689" y="28575"/>
                </a:lnTo>
                <a:lnTo>
                  <a:pt x="1999403" y="28575"/>
                </a:lnTo>
                <a:lnTo>
                  <a:pt x="1942338" y="0"/>
                </a:lnTo>
                <a:close/>
              </a:path>
              <a:path w="2028189" h="85725">
                <a:moveTo>
                  <a:pt x="1942338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1942338" y="57150"/>
                </a:lnTo>
                <a:lnTo>
                  <a:pt x="1942338" y="28575"/>
                </a:lnTo>
                <a:close/>
              </a:path>
              <a:path w="2028189" h="85725">
                <a:moveTo>
                  <a:pt x="1999403" y="28575"/>
                </a:moveTo>
                <a:lnTo>
                  <a:pt x="1956689" y="28575"/>
                </a:lnTo>
                <a:lnTo>
                  <a:pt x="1956689" y="57150"/>
                </a:lnTo>
                <a:lnTo>
                  <a:pt x="1999572" y="57150"/>
                </a:lnTo>
                <a:lnTo>
                  <a:pt x="2028063" y="42925"/>
                </a:lnTo>
                <a:lnTo>
                  <a:pt x="1999403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793223" y="3201661"/>
            <a:ext cx="2209227" cy="29155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6" rIns="0" bIns="0" rtlCol="0">
            <a:spAutoFit/>
          </a:bodyPr>
          <a:lstStyle/>
          <a:p>
            <a:pPr marL="175969">
              <a:spcBef>
                <a:spcPts val="352"/>
              </a:spcBef>
            </a:pPr>
            <a:r>
              <a:rPr sz="1600" b="1" dirty="0">
                <a:latin typeface="Arial"/>
                <a:cs typeface="Arial"/>
              </a:rPr>
              <a:t>Início </a:t>
            </a:r>
            <a:r>
              <a:rPr sz="1600" b="1" spc="-6" dirty="0">
                <a:latin typeface="Arial"/>
                <a:cs typeface="Arial"/>
              </a:rPr>
              <a:t>da</a:t>
            </a:r>
            <a:r>
              <a:rPr sz="1600" b="1" spc="-171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execução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027847" y="3512932"/>
            <a:ext cx="6241381" cy="34256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083543" y="3540221"/>
            <a:ext cx="6130140" cy="238589"/>
          </a:xfrm>
          <a:custGeom>
            <a:avLst/>
            <a:gdLst/>
            <a:ahLst/>
            <a:cxnLst/>
            <a:rect l="l" t="t" r="r" b="b"/>
            <a:pathLst>
              <a:path w="5241925" h="216535">
                <a:moveTo>
                  <a:pt x="0" y="216026"/>
                </a:moveTo>
                <a:lnTo>
                  <a:pt x="5241544" y="216026"/>
                </a:lnTo>
                <a:lnTo>
                  <a:pt x="5241544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9387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7678" y="1080608"/>
            <a:ext cx="9725647" cy="62602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6188806" y="4809698"/>
            <a:ext cx="1852780" cy="407211"/>
          </a:xfrm>
          <a:custGeom>
            <a:avLst/>
            <a:gdLst/>
            <a:ahLst/>
            <a:cxnLst/>
            <a:rect l="l" t="t" r="r" b="b"/>
            <a:pathLst>
              <a:path w="1584325" h="369570">
                <a:moveTo>
                  <a:pt x="0" y="369328"/>
                </a:moveTo>
                <a:lnTo>
                  <a:pt x="1584197" y="369328"/>
                </a:lnTo>
                <a:lnTo>
                  <a:pt x="1584197" y="0"/>
                </a:lnTo>
                <a:lnTo>
                  <a:pt x="0" y="0"/>
                </a:lnTo>
                <a:lnTo>
                  <a:pt x="0" y="369328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188806" y="4809698"/>
            <a:ext cx="1852780" cy="407211"/>
          </a:xfrm>
          <a:custGeom>
            <a:avLst/>
            <a:gdLst/>
            <a:ahLst/>
            <a:cxnLst/>
            <a:rect l="l" t="t" r="r" b="b"/>
            <a:pathLst>
              <a:path w="1584325" h="369570">
                <a:moveTo>
                  <a:pt x="0" y="369328"/>
                </a:moveTo>
                <a:lnTo>
                  <a:pt x="1584197" y="369328"/>
                </a:lnTo>
                <a:lnTo>
                  <a:pt x="1584197" y="0"/>
                </a:lnTo>
                <a:lnTo>
                  <a:pt x="0" y="0"/>
                </a:lnTo>
                <a:lnTo>
                  <a:pt x="0" y="369328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328859" y="4854631"/>
            <a:ext cx="1573564" cy="323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b="1" spc="-6" dirty="0">
                <a:latin typeface="Arial"/>
                <a:cs typeface="Arial"/>
              </a:rPr>
              <a:t>Breakpoints</a:t>
            </a:r>
            <a:endParaRPr sz="21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448453" y="3826948"/>
            <a:ext cx="2721470" cy="106462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588806" y="3926441"/>
            <a:ext cx="2531514" cy="896983"/>
          </a:xfrm>
          <a:custGeom>
            <a:avLst/>
            <a:gdLst/>
            <a:ahLst/>
            <a:cxnLst/>
            <a:rect l="l" t="t" r="r" b="b"/>
            <a:pathLst>
              <a:path w="2164715" h="814070">
                <a:moveTo>
                  <a:pt x="75954" y="23811"/>
                </a:moveTo>
                <a:lnTo>
                  <a:pt x="67177" y="47682"/>
                </a:lnTo>
                <a:lnTo>
                  <a:pt x="2155825" y="813562"/>
                </a:lnTo>
                <a:lnTo>
                  <a:pt x="2164588" y="789686"/>
                </a:lnTo>
                <a:lnTo>
                  <a:pt x="75954" y="23811"/>
                </a:lnTo>
                <a:close/>
              </a:path>
              <a:path w="2164715" h="814070">
                <a:moveTo>
                  <a:pt x="84708" y="0"/>
                </a:moveTo>
                <a:lnTo>
                  <a:pt x="0" y="9525"/>
                </a:lnTo>
                <a:lnTo>
                  <a:pt x="58419" y="71501"/>
                </a:lnTo>
                <a:lnTo>
                  <a:pt x="67177" y="47682"/>
                </a:lnTo>
                <a:lnTo>
                  <a:pt x="55244" y="43307"/>
                </a:lnTo>
                <a:lnTo>
                  <a:pt x="64007" y="19431"/>
                </a:lnTo>
                <a:lnTo>
                  <a:pt x="77564" y="19431"/>
                </a:lnTo>
                <a:lnTo>
                  <a:pt x="84708" y="0"/>
                </a:lnTo>
                <a:close/>
              </a:path>
              <a:path w="2164715" h="814070">
                <a:moveTo>
                  <a:pt x="64007" y="19431"/>
                </a:moveTo>
                <a:lnTo>
                  <a:pt x="55244" y="43307"/>
                </a:lnTo>
                <a:lnTo>
                  <a:pt x="67177" y="47682"/>
                </a:lnTo>
                <a:lnTo>
                  <a:pt x="75954" y="23811"/>
                </a:lnTo>
                <a:lnTo>
                  <a:pt x="64007" y="19431"/>
                </a:lnTo>
                <a:close/>
              </a:path>
              <a:path w="2164715" h="814070">
                <a:moveTo>
                  <a:pt x="77564" y="19431"/>
                </a:moveTo>
                <a:lnTo>
                  <a:pt x="64007" y="19431"/>
                </a:lnTo>
                <a:lnTo>
                  <a:pt x="75954" y="23811"/>
                </a:lnTo>
                <a:lnTo>
                  <a:pt x="77564" y="1943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448454" y="4263544"/>
            <a:ext cx="1796490" cy="8312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588806" y="4367516"/>
            <a:ext cx="1606238" cy="659095"/>
          </a:xfrm>
          <a:custGeom>
            <a:avLst/>
            <a:gdLst/>
            <a:ahLst/>
            <a:cxnLst/>
            <a:rect l="l" t="t" r="r" b="b"/>
            <a:pathLst>
              <a:path w="1373504" h="598170">
                <a:moveTo>
                  <a:pt x="75126" y="23403"/>
                </a:moveTo>
                <a:lnTo>
                  <a:pt x="65184" y="46756"/>
                </a:lnTo>
                <a:lnTo>
                  <a:pt x="1363217" y="597661"/>
                </a:lnTo>
                <a:lnTo>
                  <a:pt x="1373123" y="574294"/>
                </a:lnTo>
                <a:lnTo>
                  <a:pt x="75126" y="23403"/>
                </a:lnTo>
                <a:close/>
              </a:path>
              <a:path w="1373504" h="598170">
                <a:moveTo>
                  <a:pt x="85089" y="0"/>
                </a:moveTo>
                <a:lnTo>
                  <a:pt x="0" y="5206"/>
                </a:lnTo>
                <a:lnTo>
                  <a:pt x="55244" y="70103"/>
                </a:lnTo>
                <a:lnTo>
                  <a:pt x="65184" y="46756"/>
                </a:lnTo>
                <a:lnTo>
                  <a:pt x="53466" y="41782"/>
                </a:lnTo>
                <a:lnTo>
                  <a:pt x="63372" y="18414"/>
                </a:lnTo>
                <a:lnTo>
                  <a:pt x="77250" y="18414"/>
                </a:lnTo>
                <a:lnTo>
                  <a:pt x="85089" y="0"/>
                </a:lnTo>
                <a:close/>
              </a:path>
              <a:path w="1373504" h="598170">
                <a:moveTo>
                  <a:pt x="63372" y="18414"/>
                </a:moveTo>
                <a:lnTo>
                  <a:pt x="53466" y="41782"/>
                </a:lnTo>
                <a:lnTo>
                  <a:pt x="65184" y="46756"/>
                </a:lnTo>
                <a:lnTo>
                  <a:pt x="75126" y="23403"/>
                </a:lnTo>
                <a:lnTo>
                  <a:pt x="63372" y="18414"/>
                </a:lnTo>
                <a:close/>
              </a:path>
              <a:path w="1373504" h="598170">
                <a:moveTo>
                  <a:pt x="77250" y="18414"/>
                </a:moveTo>
                <a:lnTo>
                  <a:pt x="63372" y="18414"/>
                </a:lnTo>
                <a:lnTo>
                  <a:pt x="75126" y="23403"/>
                </a:lnTo>
                <a:lnTo>
                  <a:pt x="77250" y="1841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448454" y="4543976"/>
            <a:ext cx="1709161" cy="55246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588805" y="4633393"/>
            <a:ext cx="1519354" cy="393918"/>
          </a:xfrm>
          <a:custGeom>
            <a:avLst/>
            <a:gdLst/>
            <a:ahLst/>
            <a:cxnLst/>
            <a:rect l="l" t="t" r="r" b="b"/>
            <a:pathLst>
              <a:path w="1299210" h="357504">
                <a:moveTo>
                  <a:pt x="77018" y="24579"/>
                </a:moveTo>
                <a:lnTo>
                  <a:pt x="70843" y="49197"/>
                </a:lnTo>
                <a:lnTo>
                  <a:pt x="1293114" y="356996"/>
                </a:lnTo>
                <a:lnTo>
                  <a:pt x="1299209" y="332358"/>
                </a:lnTo>
                <a:lnTo>
                  <a:pt x="77018" y="24579"/>
                </a:lnTo>
                <a:close/>
              </a:path>
              <a:path w="1299210" h="357504">
                <a:moveTo>
                  <a:pt x="83184" y="0"/>
                </a:moveTo>
                <a:lnTo>
                  <a:pt x="0" y="18287"/>
                </a:lnTo>
                <a:lnTo>
                  <a:pt x="64642" y="73913"/>
                </a:lnTo>
                <a:lnTo>
                  <a:pt x="70843" y="49197"/>
                </a:lnTo>
                <a:lnTo>
                  <a:pt x="58546" y="46100"/>
                </a:lnTo>
                <a:lnTo>
                  <a:pt x="64642" y="21462"/>
                </a:lnTo>
                <a:lnTo>
                  <a:pt x="77800" y="21462"/>
                </a:lnTo>
                <a:lnTo>
                  <a:pt x="83184" y="0"/>
                </a:lnTo>
                <a:close/>
              </a:path>
              <a:path w="1299210" h="357504">
                <a:moveTo>
                  <a:pt x="64642" y="21462"/>
                </a:moveTo>
                <a:lnTo>
                  <a:pt x="58546" y="46100"/>
                </a:lnTo>
                <a:lnTo>
                  <a:pt x="70843" y="49197"/>
                </a:lnTo>
                <a:lnTo>
                  <a:pt x="77018" y="24579"/>
                </a:lnTo>
                <a:lnTo>
                  <a:pt x="64642" y="21462"/>
                </a:lnTo>
                <a:close/>
              </a:path>
              <a:path w="1299210" h="357504">
                <a:moveTo>
                  <a:pt x="77800" y="21462"/>
                </a:moveTo>
                <a:lnTo>
                  <a:pt x="64642" y="21462"/>
                </a:lnTo>
                <a:lnTo>
                  <a:pt x="77018" y="24579"/>
                </a:lnTo>
                <a:lnTo>
                  <a:pt x="77800" y="2146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48453" y="4779065"/>
            <a:ext cx="1791145" cy="31737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588806" y="4854072"/>
            <a:ext cx="1601782" cy="173520"/>
          </a:xfrm>
          <a:custGeom>
            <a:avLst/>
            <a:gdLst/>
            <a:ahLst/>
            <a:cxnLst/>
            <a:rect l="l" t="t" r="r" b="b"/>
            <a:pathLst>
              <a:path w="1369695" h="157479">
                <a:moveTo>
                  <a:pt x="77005" y="25295"/>
                </a:moveTo>
                <a:lnTo>
                  <a:pt x="74881" y="50698"/>
                </a:lnTo>
                <a:lnTo>
                  <a:pt x="1367154" y="157099"/>
                </a:lnTo>
                <a:lnTo>
                  <a:pt x="1369186" y="131699"/>
                </a:lnTo>
                <a:lnTo>
                  <a:pt x="77005" y="25295"/>
                </a:lnTo>
                <a:close/>
              </a:path>
              <a:path w="1369695" h="157479">
                <a:moveTo>
                  <a:pt x="79120" y="0"/>
                </a:moveTo>
                <a:lnTo>
                  <a:pt x="0" y="31750"/>
                </a:lnTo>
                <a:lnTo>
                  <a:pt x="72770" y="75946"/>
                </a:lnTo>
                <a:lnTo>
                  <a:pt x="74881" y="50698"/>
                </a:lnTo>
                <a:lnTo>
                  <a:pt x="62229" y="49656"/>
                </a:lnTo>
                <a:lnTo>
                  <a:pt x="64388" y="24256"/>
                </a:lnTo>
                <a:lnTo>
                  <a:pt x="77092" y="24256"/>
                </a:lnTo>
                <a:lnTo>
                  <a:pt x="79120" y="0"/>
                </a:lnTo>
                <a:close/>
              </a:path>
              <a:path w="1369695" h="157479">
                <a:moveTo>
                  <a:pt x="64388" y="24256"/>
                </a:moveTo>
                <a:lnTo>
                  <a:pt x="62229" y="49656"/>
                </a:lnTo>
                <a:lnTo>
                  <a:pt x="74881" y="50698"/>
                </a:lnTo>
                <a:lnTo>
                  <a:pt x="77005" y="25295"/>
                </a:lnTo>
                <a:lnTo>
                  <a:pt x="64388" y="24256"/>
                </a:lnTo>
                <a:close/>
              </a:path>
              <a:path w="1369695" h="157479">
                <a:moveTo>
                  <a:pt x="77092" y="24256"/>
                </a:moveTo>
                <a:lnTo>
                  <a:pt x="64388" y="24256"/>
                </a:lnTo>
                <a:lnTo>
                  <a:pt x="77005" y="25295"/>
                </a:lnTo>
                <a:lnTo>
                  <a:pt x="77092" y="2425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534000" y="5177041"/>
            <a:ext cx="2548594" cy="57933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673016" y="5202790"/>
            <a:ext cx="2360715" cy="427502"/>
          </a:xfrm>
          <a:custGeom>
            <a:avLst/>
            <a:gdLst/>
            <a:ahLst/>
            <a:cxnLst/>
            <a:rect l="l" t="t" r="r" b="b"/>
            <a:pathLst>
              <a:path w="2018664" h="387985">
                <a:moveTo>
                  <a:pt x="68580" y="312673"/>
                </a:moveTo>
                <a:lnTo>
                  <a:pt x="0" y="363346"/>
                </a:lnTo>
                <a:lnTo>
                  <a:pt x="81661" y="387857"/>
                </a:lnTo>
                <a:lnTo>
                  <a:pt x="77683" y="364997"/>
                </a:lnTo>
                <a:lnTo>
                  <a:pt x="64770" y="364997"/>
                </a:lnTo>
                <a:lnTo>
                  <a:pt x="60325" y="339978"/>
                </a:lnTo>
                <a:lnTo>
                  <a:pt x="72948" y="337782"/>
                </a:lnTo>
                <a:lnTo>
                  <a:pt x="68580" y="312673"/>
                </a:lnTo>
                <a:close/>
              </a:path>
              <a:path w="2018664" h="387985">
                <a:moveTo>
                  <a:pt x="72948" y="337782"/>
                </a:moveTo>
                <a:lnTo>
                  <a:pt x="60325" y="339978"/>
                </a:lnTo>
                <a:lnTo>
                  <a:pt x="64770" y="364997"/>
                </a:lnTo>
                <a:lnTo>
                  <a:pt x="77304" y="362817"/>
                </a:lnTo>
                <a:lnTo>
                  <a:pt x="72948" y="337782"/>
                </a:lnTo>
                <a:close/>
              </a:path>
              <a:path w="2018664" h="387985">
                <a:moveTo>
                  <a:pt x="77304" y="362817"/>
                </a:moveTo>
                <a:lnTo>
                  <a:pt x="64770" y="364997"/>
                </a:lnTo>
                <a:lnTo>
                  <a:pt x="77683" y="364997"/>
                </a:lnTo>
                <a:lnTo>
                  <a:pt x="77304" y="362817"/>
                </a:lnTo>
                <a:close/>
              </a:path>
              <a:path w="2018664" h="387985">
                <a:moveTo>
                  <a:pt x="2014093" y="0"/>
                </a:moveTo>
                <a:lnTo>
                  <a:pt x="72948" y="337782"/>
                </a:lnTo>
                <a:lnTo>
                  <a:pt x="77304" y="362817"/>
                </a:lnTo>
                <a:lnTo>
                  <a:pt x="2018411" y="25145"/>
                </a:lnTo>
                <a:lnTo>
                  <a:pt x="201409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48453" y="3549874"/>
            <a:ext cx="2639488" cy="134169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588805" y="3659305"/>
            <a:ext cx="2449086" cy="1162861"/>
          </a:xfrm>
          <a:custGeom>
            <a:avLst/>
            <a:gdLst/>
            <a:ahLst/>
            <a:cxnLst/>
            <a:rect l="l" t="t" r="r" b="b"/>
            <a:pathLst>
              <a:path w="2094229" h="1055370">
                <a:moveTo>
                  <a:pt x="73863" y="22707"/>
                </a:moveTo>
                <a:lnTo>
                  <a:pt x="62509" y="45414"/>
                </a:lnTo>
                <a:lnTo>
                  <a:pt x="2082545" y="1055370"/>
                </a:lnTo>
                <a:lnTo>
                  <a:pt x="2093976" y="1032637"/>
                </a:lnTo>
                <a:lnTo>
                  <a:pt x="73863" y="22707"/>
                </a:lnTo>
                <a:close/>
              </a:path>
              <a:path w="2094229" h="1055370">
                <a:moveTo>
                  <a:pt x="85216" y="0"/>
                </a:moveTo>
                <a:lnTo>
                  <a:pt x="0" y="0"/>
                </a:lnTo>
                <a:lnTo>
                  <a:pt x="51180" y="68072"/>
                </a:lnTo>
                <a:lnTo>
                  <a:pt x="62509" y="45414"/>
                </a:lnTo>
                <a:lnTo>
                  <a:pt x="51180" y="39750"/>
                </a:lnTo>
                <a:lnTo>
                  <a:pt x="62483" y="17017"/>
                </a:lnTo>
                <a:lnTo>
                  <a:pt x="76707" y="17017"/>
                </a:lnTo>
                <a:lnTo>
                  <a:pt x="85216" y="0"/>
                </a:lnTo>
                <a:close/>
              </a:path>
              <a:path w="2094229" h="1055370">
                <a:moveTo>
                  <a:pt x="62483" y="17017"/>
                </a:moveTo>
                <a:lnTo>
                  <a:pt x="51180" y="39750"/>
                </a:lnTo>
                <a:lnTo>
                  <a:pt x="62509" y="45414"/>
                </a:lnTo>
                <a:lnTo>
                  <a:pt x="73863" y="22707"/>
                </a:lnTo>
                <a:lnTo>
                  <a:pt x="62483" y="17017"/>
                </a:lnTo>
                <a:close/>
              </a:path>
              <a:path w="2094229" h="1055370">
                <a:moveTo>
                  <a:pt x="76707" y="17017"/>
                </a:moveTo>
                <a:lnTo>
                  <a:pt x="62483" y="17017"/>
                </a:lnTo>
                <a:lnTo>
                  <a:pt x="73863" y="22707"/>
                </a:lnTo>
                <a:lnTo>
                  <a:pt x="76707" y="1701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027847" y="3512932"/>
            <a:ext cx="6241381" cy="34256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083543" y="3540221"/>
            <a:ext cx="6130140" cy="238589"/>
          </a:xfrm>
          <a:custGeom>
            <a:avLst/>
            <a:gdLst/>
            <a:ahLst/>
            <a:cxnLst/>
            <a:rect l="l" t="t" r="r" b="b"/>
            <a:pathLst>
              <a:path w="5241925" h="216535">
                <a:moveTo>
                  <a:pt x="0" y="216026"/>
                </a:moveTo>
                <a:lnTo>
                  <a:pt x="5241544" y="216026"/>
                </a:lnTo>
                <a:lnTo>
                  <a:pt x="5241544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71056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7678" y="1080608"/>
            <a:ext cx="9725647" cy="62602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826790" y="2465099"/>
            <a:ext cx="1889166" cy="6045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78278" y="2490846"/>
            <a:ext cx="1688666" cy="437997"/>
          </a:xfrm>
          <a:custGeom>
            <a:avLst/>
            <a:gdLst/>
            <a:ahLst/>
            <a:cxnLst/>
            <a:rect l="l" t="t" r="r" b="b"/>
            <a:pathLst>
              <a:path w="1443989" h="397510">
                <a:moveTo>
                  <a:pt x="72771" y="313816"/>
                </a:moveTo>
                <a:lnTo>
                  <a:pt x="0" y="376300"/>
                </a:lnTo>
                <a:lnTo>
                  <a:pt x="93599" y="397001"/>
                </a:lnTo>
                <a:lnTo>
                  <a:pt x="87525" y="372745"/>
                </a:lnTo>
                <a:lnTo>
                  <a:pt x="72771" y="372745"/>
                </a:lnTo>
                <a:lnTo>
                  <a:pt x="65786" y="345059"/>
                </a:lnTo>
                <a:lnTo>
                  <a:pt x="79715" y="341553"/>
                </a:lnTo>
                <a:lnTo>
                  <a:pt x="72771" y="313816"/>
                </a:lnTo>
                <a:close/>
              </a:path>
              <a:path w="1443989" h="397510">
                <a:moveTo>
                  <a:pt x="79715" y="341553"/>
                </a:moveTo>
                <a:lnTo>
                  <a:pt x="65786" y="345059"/>
                </a:lnTo>
                <a:lnTo>
                  <a:pt x="72771" y="372745"/>
                </a:lnTo>
                <a:lnTo>
                  <a:pt x="86650" y="369251"/>
                </a:lnTo>
                <a:lnTo>
                  <a:pt x="79715" y="341553"/>
                </a:lnTo>
                <a:close/>
              </a:path>
              <a:path w="1443989" h="397510">
                <a:moveTo>
                  <a:pt x="86650" y="369251"/>
                </a:moveTo>
                <a:lnTo>
                  <a:pt x="72771" y="372745"/>
                </a:lnTo>
                <a:lnTo>
                  <a:pt x="87525" y="372745"/>
                </a:lnTo>
                <a:lnTo>
                  <a:pt x="86650" y="369251"/>
                </a:lnTo>
                <a:close/>
              </a:path>
              <a:path w="1443989" h="397510">
                <a:moveTo>
                  <a:pt x="1436751" y="0"/>
                </a:moveTo>
                <a:lnTo>
                  <a:pt x="79715" y="341553"/>
                </a:lnTo>
                <a:lnTo>
                  <a:pt x="86650" y="369251"/>
                </a:lnTo>
                <a:lnTo>
                  <a:pt x="1443736" y="27686"/>
                </a:lnTo>
                <a:lnTo>
                  <a:pt x="143675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662490" y="2336442"/>
            <a:ext cx="4968718" cy="29082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340352">
              <a:spcBef>
                <a:spcPts val="348"/>
              </a:spcBef>
            </a:pPr>
            <a:r>
              <a:rPr sz="1600" b="1" spc="-11" dirty="0">
                <a:latin typeface="Arial"/>
                <a:cs typeface="Arial"/>
              </a:rPr>
              <a:t>Variáveis </a:t>
            </a:r>
            <a:r>
              <a:rPr sz="1600" b="1" dirty="0">
                <a:latin typeface="Arial"/>
                <a:cs typeface="Arial"/>
              </a:rPr>
              <a:t>e </a:t>
            </a:r>
            <a:r>
              <a:rPr sz="1600" b="1" spc="-6" dirty="0">
                <a:latin typeface="Arial"/>
                <a:cs typeface="Arial"/>
              </a:rPr>
              <a:t>vetor contendo </a:t>
            </a:r>
            <a:r>
              <a:rPr sz="1600" b="1" dirty="0">
                <a:latin typeface="Arial"/>
                <a:cs typeface="Arial"/>
              </a:rPr>
              <a:t>lixo </a:t>
            </a:r>
            <a:r>
              <a:rPr sz="1600" b="1" spc="-6" dirty="0">
                <a:latin typeface="Arial"/>
                <a:cs typeface="Arial"/>
              </a:rPr>
              <a:t>de</a:t>
            </a:r>
            <a:r>
              <a:rPr sz="1600" b="1" spc="-177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memória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027847" y="3512932"/>
            <a:ext cx="6241381" cy="34256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083543" y="3540221"/>
            <a:ext cx="6130140" cy="238589"/>
          </a:xfrm>
          <a:custGeom>
            <a:avLst/>
            <a:gdLst/>
            <a:ahLst/>
            <a:cxnLst/>
            <a:rect l="l" t="t" r="r" b="b"/>
            <a:pathLst>
              <a:path w="5241925" h="216535">
                <a:moveTo>
                  <a:pt x="0" y="216026"/>
                </a:moveTo>
                <a:lnTo>
                  <a:pt x="5241544" y="216026"/>
                </a:lnTo>
                <a:lnTo>
                  <a:pt x="5241544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5271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7678" y="1080608"/>
            <a:ext cx="9720895" cy="62602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912336" y="3024278"/>
            <a:ext cx="1532719" cy="68008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063677" y="3049467"/>
            <a:ext cx="1332219" cy="501668"/>
          </a:xfrm>
          <a:custGeom>
            <a:avLst/>
            <a:gdLst/>
            <a:ahLst/>
            <a:cxnLst/>
            <a:rect l="l" t="t" r="r" b="b"/>
            <a:pathLst>
              <a:path w="1139189" h="455294">
                <a:moveTo>
                  <a:pt x="64897" y="374776"/>
                </a:moveTo>
                <a:lnTo>
                  <a:pt x="0" y="445388"/>
                </a:lnTo>
                <a:lnTo>
                  <a:pt x="95377" y="454913"/>
                </a:lnTo>
                <a:lnTo>
                  <a:pt x="87165" y="433324"/>
                </a:lnTo>
                <a:lnTo>
                  <a:pt x="71882" y="433324"/>
                </a:lnTo>
                <a:lnTo>
                  <a:pt x="61722" y="406653"/>
                </a:lnTo>
                <a:lnTo>
                  <a:pt x="75084" y="401560"/>
                </a:lnTo>
                <a:lnTo>
                  <a:pt x="64897" y="374776"/>
                </a:lnTo>
                <a:close/>
              </a:path>
              <a:path w="1139189" h="455294">
                <a:moveTo>
                  <a:pt x="75084" y="401560"/>
                </a:moveTo>
                <a:lnTo>
                  <a:pt x="61722" y="406653"/>
                </a:lnTo>
                <a:lnTo>
                  <a:pt x="71882" y="433324"/>
                </a:lnTo>
                <a:lnTo>
                  <a:pt x="85230" y="428236"/>
                </a:lnTo>
                <a:lnTo>
                  <a:pt x="75084" y="401560"/>
                </a:lnTo>
                <a:close/>
              </a:path>
              <a:path w="1139189" h="455294">
                <a:moveTo>
                  <a:pt x="85230" y="428236"/>
                </a:moveTo>
                <a:lnTo>
                  <a:pt x="71882" y="433324"/>
                </a:lnTo>
                <a:lnTo>
                  <a:pt x="87165" y="433324"/>
                </a:lnTo>
                <a:lnTo>
                  <a:pt x="85230" y="428236"/>
                </a:lnTo>
                <a:close/>
              </a:path>
              <a:path w="1139189" h="455294">
                <a:moveTo>
                  <a:pt x="1128522" y="0"/>
                </a:moveTo>
                <a:lnTo>
                  <a:pt x="75084" y="401560"/>
                </a:lnTo>
                <a:lnTo>
                  <a:pt x="85230" y="428236"/>
                </a:lnTo>
                <a:lnTo>
                  <a:pt x="1138809" y="26669"/>
                </a:lnTo>
                <a:lnTo>
                  <a:pt x="112852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294773" y="2725042"/>
            <a:ext cx="2189918" cy="29082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236074">
              <a:spcBef>
                <a:spcPts val="348"/>
              </a:spcBef>
            </a:pPr>
            <a:r>
              <a:rPr sz="1600" b="1" spc="-17" dirty="0">
                <a:latin typeface="Arial"/>
                <a:cs typeface="Arial"/>
              </a:rPr>
              <a:t>Vetor</a:t>
            </a:r>
            <a:r>
              <a:rPr sz="1600" b="1" spc="-103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inicializado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780451" y="3025959"/>
            <a:ext cx="285156" cy="11133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30947" y="3064161"/>
            <a:ext cx="169312" cy="992140"/>
          </a:xfrm>
          <a:custGeom>
            <a:avLst/>
            <a:gdLst/>
            <a:ahLst/>
            <a:cxnLst/>
            <a:rect l="l" t="t" r="r" b="b"/>
            <a:pathLst>
              <a:path w="144780" h="900429">
                <a:moveTo>
                  <a:pt x="0" y="0"/>
                </a:moveTo>
                <a:lnTo>
                  <a:pt x="28188" y="956"/>
                </a:lnTo>
                <a:lnTo>
                  <a:pt x="51196" y="3555"/>
                </a:lnTo>
                <a:lnTo>
                  <a:pt x="66704" y="7393"/>
                </a:lnTo>
                <a:lnTo>
                  <a:pt x="72389" y="12064"/>
                </a:lnTo>
                <a:lnTo>
                  <a:pt x="72389" y="438022"/>
                </a:lnTo>
                <a:lnTo>
                  <a:pt x="78075" y="442694"/>
                </a:lnTo>
                <a:lnTo>
                  <a:pt x="93583" y="446531"/>
                </a:lnTo>
                <a:lnTo>
                  <a:pt x="116591" y="449131"/>
                </a:lnTo>
                <a:lnTo>
                  <a:pt x="144780" y="450088"/>
                </a:lnTo>
                <a:lnTo>
                  <a:pt x="116591" y="451026"/>
                </a:lnTo>
                <a:lnTo>
                  <a:pt x="93583" y="453596"/>
                </a:lnTo>
                <a:lnTo>
                  <a:pt x="78075" y="457428"/>
                </a:lnTo>
                <a:lnTo>
                  <a:pt x="72389" y="462152"/>
                </a:lnTo>
                <a:lnTo>
                  <a:pt x="72389" y="888110"/>
                </a:lnTo>
                <a:lnTo>
                  <a:pt x="66704" y="892762"/>
                </a:lnTo>
                <a:lnTo>
                  <a:pt x="51196" y="896556"/>
                </a:lnTo>
                <a:lnTo>
                  <a:pt x="28188" y="899112"/>
                </a:lnTo>
                <a:lnTo>
                  <a:pt x="0" y="900048"/>
                </a:lnTo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027847" y="3751382"/>
            <a:ext cx="6241381" cy="34256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083543" y="3778251"/>
            <a:ext cx="6130140" cy="238589"/>
          </a:xfrm>
          <a:custGeom>
            <a:avLst/>
            <a:gdLst/>
            <a:ahLst/>
            <a:cxnLst/>
            <a:rect l="l" t="t" r="r" b="b"/>
            <a:pathLst>
              <a:path w="5241925" h="216535">
                <a:moveTo>
                  <a:pt x="0" y="216026"/>
                </a:moveTo>
                <a:lnTo>
                  <a:pt x="5241544" y="216026"/>
                </a:lnTo>
                <a:lnTo>
                  <a:pt x="5241544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71239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7679" y="1084945"/>
            <a:ext cx="9734113" cy="62559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75103" y="2673320"/>
            <a:ext cx="684378" cy="2837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25405" y="2745248"/>
            <a:ext cx="484173" cy="94456"/>
          </a:xfrm>
          <a:custGeom>
            <a:avLst/>
            <a:gdLst/>
            <a:ahLst/>
            <a:cxnLst/>
            <a:rect l="l" t="t" r="r" b="b"/>
            <a:pathLst>
              <a:path w="414019" h="85725">
                <a:moveTo>
                  <a:pt x="85725" y="0"/>
                </a:moveTo>
                <a:lnTo>
                  <a:pt x="0" y="42925"/>
                </a:lnTo>
                <a:lnTo>
                  <a:pt x="85725" y="85725"/>
                </a:lnTo>
                <a:lnTo>
                  <a:pt x="85725" y="57150"/>
                </a:lnTo>
                <a:lnTo>
                  <a:pt x="71501" y="57150"/>
                </a:lnTo>
                <a:lnTo>
                  <a:pt x="71501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414019" h="85725">
                <a:moveTo>
                  <a:pt x="85725" y="28575"/>
                </a:moveTo>
                <a:lnTo>
                  <a:pt x="71501" y="28575"/>
                </a:lnTo>
                <a:lnTo>
                  <a:pt x="71501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414019" h="85725">
                <a:moveTo>
                  <a:pt x="413766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413766" y="57150"/>
                </a:lnTo>
                <a:lnTo>
                  <a:pt x="413766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561366" y="2623029"/>
            <a:ext cx="2189918" cy="29082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112968">
              <a:spcBef>
                <a:spcPts val="348"/>
              </a:spcBef>
            </a:pPr>
            <a:r>
              <a:rPr sz="1600" b="1" spc="-11" dirty="0">
                <a:latin typeface="Arial"/>
                <a:cs typeface="Arial"/>
              </a:rPr>
              <a:t>Variável</a:t>
            </a:r>
            <a:r>
              <a:rPr sz="1600" b="1" spc="-114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inicializada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027847" y="4226603"/>
            <a:ext cx="6241381" cy="3425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083543" y="4254309"/>
            <a:ext cx="6130140" cy="238589"/>
          </a:xfrm>
          <a:custGeom>
            <a:avLst/>
            <a:gdLst/>
            <a:ahLst/>
            <a:cxnLst/>
            <a:rect l="l" t="t" r="r" b="b"/>
            <a:pathLst>
              <a:path w="5241925" h="216535">
                <a:moveTo>
                  <a:pt x="0" y="216027"/>
                </a:moveTo>
                <a:lnTo>
                  <a:pt x="5241544" y="216027"/>
                </a:lnTo>
                <a:lnTo>
                  <a:pt x="5241544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56618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7679" y="1084945"/>
            <a:ext cx="9734113" cy="62559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30547" y="3373557"/>
            <a:ext cx="898246" cy="8060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81445" y="3397765"/>
            <a:ext cx="698041" cy="618514"/>
          </a:xfrm>
          <a:custGeom>
            <a:avLst/>
            <a:gdLst/>
            <a:ahLst/>
            <a:cxnLst/>
            <a:rect l="l" t="t" r="r" b="b"/>
            <a:pathLst>
              <a:path w="596900" h="561339">
                <a:moveTo>
                  <a:pt x="33146" y="471424"/>
                </a:moveTo>
                <a:lnTo>
                  <a:pt x="0" y="561339"/>
                </a:lnTo>
                <a:lnTo>
                  <a:pt x="91820" y="533907"/>
                </a:lnTo>
                <a:lnTo>
                  <a:pt x="81445" y="522859"/>
                </a:lnTo>
                <a:lnTo>
                  <a:pt x="61849" y="522859"/>
                </a:lnTo>
                <a:lnTo>
                  <a:pt x="42290" y="502030"/>
                </a:lnTo>
                <a:lnTo>
                  <a:pt x="52706" y="492253"/>
                </a:lnTo>
                <a:lnTo>
                  <a:pt x="33146" y="471424"/>
                </a:lnTo>
                <a:close/>
              </a:path>
              <a:path w="596900" h="561339">
                <a:moveTo>
                  <a:pt x="52706" y="492253"/>
                </a:moveTo>
                <a:lnTo>
                  <a:pt x="42290" y="502030"/>
                </a:lnTo>
                <a:lnTo>
                  <a:pt x="61849" y="522859"/>
                </a:lnTo>
                <a:lnTo>
                  <a:pt x="72264" y="513081"/>
                </a:lnTo>
                <a:lnTo>
                  <a:pt x="52706" y="492253"/>
                </a:lnTo>
                <a:close/>
              </a:path>
              <a:path w="596900" h="561339">
                <a:moveTo>
                  <a:pt x="72264" y="513081"/>
                </a:moveTo>
                <a:lnTo>
                  <a:pt x="61849" y="522859"/>
                </a:lnTo>
                <a:lnTo>
                  <a:pt x="81445" y="522859"/>
                </a:lnTo>
                <a:lnTo>
                  <a:pt x="72264" y="513081"/>
                </a:lnTo>
                <a:close/>
              </a:path>
              <a:path w="596900" h="561339">
                <a:moveTo>
                  <a:pt x="577088" y="0"/>
                </a:moveTo>
                <a:lnTo>
                  <a:pt x="52706" y="492253"/>
                </a:lnTo>
                <a:lnTo>
                  <a:pt x="72264" y="513081"/>
                </a:lnTo>
                <a:lnTo>
                  <a:pt x="596645" y="20827"/>
                </a:lnTo>
                <a:lnTo>
                  <a:pt x="57708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30548" y="3029316"/>
            <a:ext cx="891115" cy="36774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81445" y="3126432"/>
            <a:ext cx="690615" cy="202206"/>
          </a:xfrm>
          <a:custGeom>
            <a:avLst/>
            <a:gdLst/>
            <a:ahLst/>
            <a:cxnLst/>
            <a:rect l="l" t="t" r="r" b="b"/>
            <a:pathLst>
              <a:path w="590550" h="183514">
                <a:moveTo>
                  <a:pt x="86583" y="27637"/>
                </a:moveTo>
                <a:lnTo>
                  <a:pt x="79551" y="55342"/>
                </a:lnTo>
                <a:lnTo>
                  <a:pt x="583438" y="183261"/>
                </a:lnTo>
                <a:lnTo>
                  <a:pt x="590422" y="155575"/>
                </a:lnTo>
                <a:lnTo>
                  <a:pt x="86583" y="27637"/>
                </a:lnTo>
                <a:close/>
              </a:path>
              <a:path w="590550" h="183514">
                <a:moveTo>
                  <a:pt x="93599" y="0"/>
                </a:moveTo>
                <a:lnTo>
                  <a:pt x="0" y="20446"/>
                </a:lnTo>
                <a:lnTo>
                  <a:pt x="72516" y="83057"/>
                </a:lnTo>
                <a:lnTo>
                  <a:pt x="79551" y="55342"/>
                </a:lnTo>
                <a:lnTo>
                  <a:pt x="65658" y="51815"/>
                </a:lnTo>
                <a:lnTo>
                  <a:pt x="72770" y="24129"/>
                </a:lnTo>
                <a:lnTo>
                  <a:pt x="87474" y="24129"/>
                </a:lnTo>
                <a:lnTo>
                  <a:pt x="93599" y="0"/>
                </a:lnTo>
                <a:close/>
              </a:path>
              <a:path w="590550" h="183514">
                <a:moveTo>
                  <a:pt x="72770" y="24129"/>
                </a:moveTo>
                <a:lnTo>
                  <a:pt x="65658" y="51815"/>
                </a:lnTo>
                <a:lnTo>
                  <a:pt x="79551" y="55342"/>
                </a:lnTo>
                <a:lnTo>
                  <a:pt x="86583" y="27637"/>
                </a:lnTo>
                <a:lnTo>
                  <a:pt x="72770" y="24129"/>
                </a:lnTo>
                <a:close/>
              </a:path>
              <a:path w="590550" h="183514">
                <a:moveTo>
                  <a:pt x="87474" y="24129"/>
                </a:moveTo>
                <a:lnTo>
                  <a:pt x="72770" y="24129"/>
                </a:lnTo>
                <a:lnTo>
                  <a:pt x="86583" y="27637"/>
                </a:lnTo>
                <a:lnTo>
                  <a:pt x="87474" y="2412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567752" y="3002266"/>
            <a:ext cx="2442401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6" rIns="0" bIns="0" rtlCol="0">
            <a:spAutoFit/>
          </a:bodyPr>
          <a:lstStyle/>
          <a:p>
            <a:pPr marL="184659" marR="174521" algn="ctr">
              <a:spcBef>
                <a:spcPts val="352"/>
              </a:spcBef>
            </a:pPr>
            <a:r>
              <a:rPr sz="1600" b="1" dirty="0">
                <a:latin typeface="Arial"/>
                <a:cs typeface="Arial"/>
              </a:rPr>
              <a:t>Início </a:t>
            </a:r>
            <a:r>
              <a:rPr sz="1600" b="1" spc="-6" dirty="0">
                <a:latin typeface="Arial"/>
                <a:cs typeface="Arial"/>
              </a:rPr>
              <a:t>da inversão</a:t>
            </a:r>
            <a:r>
              <a:rPr sz="1600" b="1" spc="-160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do  </a:t>
            </a:r>
            <a:r>
              <a:rPr sz="1600" b="1" dirty="0">
                <a:latin typeface="Arial"/>
                <a:cs typeface="Arial"/>
              </a:rPr>
              <a:t>primeiro elemento  </a:t>
            </a:r>
            <a:r>
              <a:rPr sz="1600" b="1" spc="-6" dirty="0">
                <a:latin typeface="Arial"/>
                <a:cs typeface="Arial"/>
              </a:rPr>
              <a:t>com </a:t>
            </a:r>
            <a:r>
              <a:rPr sz="1600" b="1" dirty="0">
                <a:latin typeface="Arial"/>
                <a:cs typeface="Arial"/>
              </a:rPr>
              <a:t>o</a:t>
            </a:r>
            <a:r>
              <a:rPr sz="1600" b="1" spc="-114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último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60318" y="4473448"/>
            <a:ext cx="6341186" cy="3425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15120" y="4499897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13657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4307" y="1093524"/>
            <a:ext cx="9718221" cy="62709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02032" y="3529726"/>
            <a:ext cx="1345586" cy="6213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52036" y="3554493"/>
            <a:ext cx="1146570" cy="442895"/>
          </a:xfrm>
          <a:custGeom>
            <a:avLst/>
            <a:gdLst/>
            <a:ahLst/>
            <a:cxnLst/>
            <a:rect l="l" t="t" r="r" b="b"/>
            <a:pathLst>
              <a:path w="980439" h="401954">
                <a:moveTo>
                  <a:pt x="64389" y="321818"/>
                </a:moveTo>
                <a:lnTo>
                  <a:pt x="0" y="392811"/>
                </a:lnTo>
                <a:lnTo>
                  <a:pt x="95503" y="401700"/>
                </a:lnTo>
                <a:lnTo>
                  <a:pt x="87144" y="380238"/>
                </a:lnTo>
                <a:lnTo>
                  <a:pt x="71754" y="380238"/>
                </a:lnTo>
                <a:lnTo>
                  <a:pt x="61340" y="353568"/>
                </a:lnTo>
                <a:lnTo>
                  <a:pt x="74726" y="348358"/>
                </a:lnTo>
                <a:lnTo>
                  <a:pt x="64389" y="321818"/>
                </a:lnTo>
                <a:close/>
              </a:path>
              <a:path w="980439" h="401954">
                <a:moveTo>
                  <a:pt x="74726" y="348358"/>
                </a:moveTo>
                <a:lnTo>
                  <a:pt x="61340" y="353568"/>
                </a:lnTo>
                <a:lnTo>
                  <a:pt x="71754" y="380238"/>
                </a:lnTo>
                <a:lnTo>
                  <a:pt x="85117" y="375036"/>
                </a:lnTo>
                <a:lnTo>
                  <a:pt x="74726" y="348358"/>
                </a:lnTo>
                <a:close/>
              </a:path>
              <a:path w="980439" h="401954">
                <a:moveTo>
                  <a:pt x="85117" y="375036"/>
                </a:moveTo>
                <a:lnTo>
                  <a:pt x="71754" y="380238"/>
                </a:lnTo>
                <a:lnTo>
                  <a:pt x="87144" y="380238"/>
                </a:lnTo>
                <a:lnTo>
                  <a:pt x="85117" y="375036"/>
                </a:lnTo>
                <a:close/>
              </a:path>
              <a:path w="980439" h="401954">
                <a:moveTo>
                  <a:pt x="969772" y="0"/>
                </a:moveTo>
                <a:lnTo>
                  <a:pt x="74726" y="348358"/>
                </a:lnTo>
                <a:lnTo>
                  <a:pt x="85117" y="375036"/>
                </a:lnTo>
                <a:lnTo>
                  <a:pt x="980059" y="26670"/>
                </a:lnTo>
                <a:lnTo>
                  <a:pt x="9697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30547" y="3051146"/>
            <a:ext cx="1343804" cy="39293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81444" y="3140705"/>
            <a:ext cx="1143600" cy="235091"/>
          </a:xfrm>
          <a:custGeom>
            <a:avLst/>
            <a:gdLst/>
            <a:ahLst/>
            <a:cxnLst/>
            <a:rect l="l" t="t" r="r" b="b"/>
            <a:pathLst>
              <a:path w="977900" h="213360">
                <a:moveTo>
                  <a:pt x="86870" y="28138"/>
                </a:moveTo>
                <a:lnTo>
                  <a:pt x="81910" y="56328"/>
                </a:lnTo>
                <a:lnTo>
                  <a:pt x="972438" y="213106"/>
                </a:lnTo>
                <a:lnTo>
                  <a:pt x="977391" y="185038"/>
                </a:lnTo>
                <a:lnTo>
                  <a:pt x="86870" y="28138"/>
                </a:lnTo>
                <a:close/>
              </a:path>
              <a:path w="977900" h="213360">
                <a:moveTo>
                  <a:pt x="91820" y="0"/>
                </a:moveTo>
                <a:lnTo>
                  <a:pt x="0" y="27432"/>
                </a:lnTo>
                <a:lnTo>
                  <a:pt x="76962" y="84454"/>
                </a:lnTo>
                <a:lnTo>
                  <a:pt x="81910" y="56328"/>
                </a:lnTo>
                <a:lnTo>
                  <a:pt x="67818" y="53848"/>
                </a:lnTo>
                <a:lnTo>
                  <a:pt x="72770" y="25653"/>
                </a:lnTo>
                <a:lnTo>
                  <a:pt x="87307" y="25653"/>
                </a:lnTo>
                <a:lnTo>
                  <a:pt x="91820" y="0"/>
                </a:lnTo>
                <a:close/>
              </a:path>
              <a:path w="977900" h="213360">
                <a:moveTo>
                  <a:pt x="72770" y="25653"/>
                </a:moveTo>
                <a:lnTo>
                  <a:pt x="67818" y="53848"/>
                </a:lnTo>
                <a:lnTo>
                  <a:pt x="81910" y="56328"/>
                </a:lnTo>
                <a:lnTo>
                  <a:pt x="86870" y="28138"/>
                </a:lnTo>
                <a:lnTo>
                  <a:pt x="72770" y="25653"/>
                </a:lnTo>
                <a:close/>
              </a:path>
              <a:path w="977900" h="213360">
                <a:moveTo>
                  <a:pt x="87307" y="25653"/>
                </a:moveTo>
                <a:lnTo>
                  <a:pt x="72770" y="25653"/>
                </a:lnTo>
                <a:lnTo>
                  <a:pt x="86870" y="28138"/>
                </a:lnTo>
                <a:lnTo>
                  <a:pt x="87307" y="2565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992221" y="3265472"/>
            <a:ext cx="2189918" cy="29155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6" rIns="0" bIns="0" rtlCol="0">
            <a:spAutoFit/>
          </a:bodyPr>
          <a:lstStyle/>
          <a:p>
            <a:pPr marL="366422">
              <a:spcBef>
                <a:spcPts val="352"/>
              </a:spcBef>
            </a:pPr>
            <a:r>
              <a:rPr sz="1600" b="1" spc="-6" dirty="0">
                <a:latin typeface="Arial"/>
                <a:cs typeface="Arial"/>
              </a:rPr>
              <a:t>Continuação...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60318" y="4782426"/>
            <a:ext cx="6341186" cy="3425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15120" y="4809712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59020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4307" y="1093524"/>
            <a:ext cx="9728321" cy="62709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646782" y="3321502"/>
            <a:ext cx="1432916" cy="873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97086" y="3346409"/>
            <a:ext cx="1233454" cy="684283"/>
          </a:xfrm>
          <a:custGeom>
            <a:avLst/>
            <a:gdLst/>
            <a:ahLst/>
            <a:cxnLst/>
            <a:rect l="l" t="t" r="r" b="b"/>
            <a:pathLst>
              <a:path w="1054735" h="621029">
                <a:moveTo>
                  <a:pt x="52578" y="540385"/>
                </a:moveTo>
                <a:lnTo>
                  <a:pt x="0" y="620522"/>
                </a:lnTo>
                <a:lnTo>
                  <a:pt x="95631" y="614553"/>
                </a:lnTo>
                <a:lnTo>
                  <a:pt x="85457" y="597027"/>
                </a:lnTo>
                <a:lnTo>
                  <a:pt x="68961" y="597027"/>
                </a:lnTo>
                <a:lnTo>
                  <a:pt x="54609" y="572262"/>
                </a:lnTo>
                <a:lnTo>
                  <a:pt x="66928" y="565107"/>
                </a:lnTo>
                <a:lnTo>
                  <a:pt x="52578" y="540385"/>
                </a:lnTo>
                <a:close/>
              </a:path>
              <a:path w="1054735" h="621029">
                <a:moveTo>
                  <a:pt x="66928" y="565107"/>
                </a:moveTo>
                <a:lnTo>
                  <a:pt x="54609" y="572262"/>
                </a:lnTo>
                <a:lnTo>
                  <a:pt x="68961" y="597027"/>
                </a:lnTo>
                <a:lnTo>
                  <a:pt x="81298" y="589861"/>
                </a:lnTo>
                <a:lnTo>
                  <a:pt x="66928" y="565107"/>
                </a:lnTo>
                <a:close/>
              </a:path>
              <a:path w="1054735" h="621029">
                <a:moveTo>
                  <a:pt x="81298" y="589861"/>
                </a:moveTo>
                <a:lnTo>
                  <a:pt x="68961" y="597027"/>
                </a:lnTo>
                <a:lnTo>
                  <a:pt x="85457" y="597027"/>
                </a:lnTo>
                <a:lnTo>
                  <a:pt x="81298" y="589861"/>
                </a:lnTo>
                <a:close/>
              </a:path>
              <a:path w="1054735" h="621029">
                <a:moveTo>
                  <a:pt x="1039876" y="0"/>
                </a:moveTo>
                <a:lnTo>
                  <a:pt x="66928" y="565107"/>
                </a:lnTo>
                <a:lnTo>
                  <a:pt x="81298" y="589861"/>
                </a:lnTo>
                <a:lnTo>
                  <a:pt x="1054227" y="24764"/>
                </a:lnTo>
                <a:lnTo>
                  <a:pt x="103987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30547" y="3052826"/>
            <a:ext cx="1343804" cy="39125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81444" y="3142103"/>
            <a:ext cx="1143600" cy="233692"/>
          </a:xfrm>
          <a:custGeom>
            <a:avLst/>
            <a:gdLst/>
            <a:ahLst/>
            <a:cxnLst/>
            <a:rect l="l" t="t" r="r" b="b"/>
            <a:pathLst>
              <a:path w="977900" h="212089">
                <a:moveTo>
                  <a:pt x="86893" y="28247"/>
                </a:moveTo>
                <a:lnTo>
                  <a:pt x="81999" y="56302"/>
                </a:lnTo>
                <a:lnTo>
                  <a:pt x="972438" y="211836"/>
                </a:lnTo>
                <a:lnTo>
                  <a:pt x="977391" y="183768"/>
                </a:lnTo>
                <a:lnTo>
                  <a:pt x="86893" y="28247"/>
                </a:lnTo>
                <a:close/>
              </a:path>
              <a:path w="977900" h="212089">
                <a:moveTo>
                  <a:pt x="91820" y="0"/>
                </a:moveTo>
                <a:lnTo>
                  <a:pt x="0" y="27558"/>
                </a:lnTo>
                <a:lnTo>
                  <a:pt x="77088" y="84454"/>
                </a:lnTo>
                <a:lnTo>
                  <a:pt x="81999" y="56302"/>
                </a:lnTo>
                <a:lnTo>
                  <a:pt x="67944" y="53847"/>
                </a:lnTo>
                <a:lnTo>
                  <a:pt x="72770" y="25780"/>
                </a:lnTo>
                <a:lnTo>
                  <a:pt x="87323" y="25780"/>
                </a:lnTo>
                <a:lnTo>
                  <a:pt x="91820" y="0"/>
                </a:lnTo>
                <a:close/>
              </a:path>
              <a:path w="977900" h="212089">
                <a:moveTo>
                  <a:pt x="72770" y="25780"/>
                </a:moveTo>
                <a:lnTo>
                  <a:pt x="67944" y="53847"/>
                </a:lnTo>
                <a:lnTo>
                  <a:pt x="81999" y="56302"/>
                </a:lnTo>
                <a:lnTo>
                  <a:pt x="86893" y="28247"/>
                </a:lnTo>
                <a:lnTo>
                  <a:pt x="72770" y="25780"/>
                </a:lnTo>
                <a:close/>
              </a:path>
              <a:path w="977900" h="212089">
                <a:moveTo>
                  <a:pt x="87323" y="25780"/>
                </a:moveTo>
                <a:lnTo>
                  <a:pt x="72770" y="25780"/>
                </a:lnTo>
                <a:lnTo>
                  <a:pt x="86893" y="28247"/>
                </a:lnTo>
                <a:lnTo>
                  <a:pt x="87323" y="2578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023113" y="3151704"/>
            <a:ext cx="2189918" cy="29155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6" rIns="0" bIns="0" rtlCol="0">
            <a:spAutoFit/>
          </a:bodyPr>
          <a:lstStyle/>
          <a:p>
            <a:pPr marL="294007">
              <a:spcBef>
                <a:spcPts val="352"/>
              </a:spcBef>
            </a:pPr>
            <a:r>
              <a:rPr sz="1600" b="1" spc="-6" dirty="0">
                <a:latin typeface="Arial"/>
                <a:cs typeface="Arial"/>
              </a:rPr>
              <a:t>Fim da</a:t>
            </a:r>
            <a:r>
              <a:rPr sz="1600" b="1" spc="-91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inversão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60318" y="3751382"/>
            <a:ext cx="6341186" cy="34256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15120" y="3778251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08213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4307" y="1093426"/>
            <a:ext cx="9728321" cy="62174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41241" y="2698510"/>
            <a:ext cx="1056863" cy="2837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92583" y="2770717"/>
            <a:ext cx="856957" cy="94456"/>
          </a:xfrm>
          <a:custGeom>
            <a:avLst/>
            <a:gdLst/>
            <a:ahLst/>
            <a:cxnLst/>
            <a:rect l="l" t="t" r="r" b="b"/>
            <a:pathLst>
              <a:path w="732789" h="85725">
                <a:moveTo>
                  <a:pt x="85725" y="0"/>
                </a:moveTo>
                <a:lnTo>
                  <a:pt x="0" y="42925"/>
                </a:lnTo>
                <a:lnTo>
                  <a:pt x="85725" y="85725"/>
                </a:lnTo>
                <a:lnTo>
                  <a:pt x="85725" y="57150"/>
                </a:lnTo>
                <a:lnTo>
                  <a:pt x="71500" y="57150"/>
                </a:lnTo>
                <a:lnTo>
                  <a:pt x="71500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732789" h="85725">
                <a:moveTo>
                  <a:pt x="85725" y="28575"/>
                </a:moveTo>
                <a:lnTo>
                  <a:pt x="71500" y="28575"/>
                </a:lnTo>
                <a:lnTo>
                  <a:pt x="71500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732789" h="85725">
                <a:moveTo>
                  <a:pt x="732282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732282" y="57150"/>
                </a:lnTo>
                <a:lnTo>
                  <a:pt x="732282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320319" y="2367800"/>
            <a:ext cx="2599833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169452" marR="160762" algn="ctr">
              <a:spcBef>
                <a:spcPts val="348"/>
              </a:spcBef>
            </a:pPr>
            <a:r>
              <a:rPr sz="1600" b="1" dirty="0">
                <a:latin typeface="Arial"/>
                <a:cs typeface="Arial"/>
              </a:rPr>
              <a:t>Incremento </a:t>
            </a:r>
            <a:r>
              <a:rPr sz="1600" b="1" spc="-6" dirty="0">
                <a:latin typeface="Arial"/>
                <a:cs typeface="Arial"/>
              </a:rPr>
              <a:t>da</a:t>
            </a:r>
            <a:r>
              <a:rPr sz="1600" b="1" spc="-148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variável  </a:t>
            </a:r>
            <a:r>
              <a:rPr sz="1600" b="1" dirty="0">
                <a:latin typeface="Arial"/>
                <a:cs typeface="Arial"/>
              </a:rPr>
              <a:t>e teste </a:t>
            </a:r>
            <a:r>
              <a:rPr sz="1600" b="1" spc="-6" dirty="0">
                <a:latin typeface="Arial"/>
                <a:cs typeface="Arial"/>
              </a:rPr>
              <a:t>da condição  </a:t>
            </a:r>
            <a:r>
              <a:rPr sz="1600" b="1" u="sng" spc="-6" dirty="0">
                <a:latin typeface="Arial"/>
                <a:cs typeface="Arial"/>
              </a:rPr>
              <a:t>verdadeiro</a:t>
            </a:r>
            <a:r>
              <a:rPr sz="1600" b="1" spc="-6" dirty="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860318" y="4226603"/>
            <a:ext cx="6341186" cy="3425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15120" y="4254309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41229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688" y="1093775"/>
            <a:ext cx="9702923" cy="62293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30547" y="3276161"/>
            <a:ext cx="898246" cy="7455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81741" y="3301070"/>
            <a:ext cx="697299" cy="556941"/>
          </a:xfrm>
          <a:custGeom>
            <a:avLst/>
            <a:gdLst/>
            <a:ahLst/>
            <a:cxnLst/>
            <a:rect l="l" t="t" r="r" b="b"/>
            <a:pathLst>
              <a:path w="596264" h="505460">
                <a:moveTo>
                  <a:pt x="37972" y="417068"/>
                </a:moveTo>
                <a:lnTo>
                  <a:pt x="0" y="505079"/>
                </a:lnTo>
                <a:lnTo>
                  <a:pt x="93217" y="482600"/>
                </a:lnTo>
                <a:lnTo>
                  <a:pt x="82618" y="470027"/>
                </a:lnTo>
                <a:lnTo>
                  <a:pt x="63880" y="470027"/>
                </a:lnTo>
                <a:lnTo>
                  <a:pt x="45465" y="448183"/>
                </a:lnTo>
                <a:lnTo>
                  <a:pt x="56422" y="438952"/>
                </a:lnTo>
                <a:lnTo>
                  <a:pt x="37972" y="417068"/>
                </a:lnTo>
                <a:close/>
              </a:path>
              <a:path w="596264" h="505460">
                <a:moveTo>
                  <a:pt x="56422" y="438952"/>
                </a:moveTo>
                <a:lnTo>
                  <a:pt x="45465" y="448183"/>
                </a:lnTo>
                <a:lnTo>
                  <a:pt x="63880" y="470027"/>
                </a:lnTo>
                <a:lnTo>
                  <a:pt x="74837" y="460796"/>
                </a:lnTo>
                <a:lnTo>
                  <a:pt x="56422" y="438952"/>
                </a:lnTo>
                <a:close/>
              </a:path>
              <a:path w="596264" h="505460">
                <a:moveTo>
                  <a:pt x="74837" y="460796"/>
                </a:moveTo>
                <a:lnTo>
                  <a:pt x="63880" y="470027"/>
                </a:lnTo>
                <a:lnTo>
                  <a:pt x="82618" y="470027"/>
                </a:lnTo>
                <a:lnTo>
                  <a:pt x="74837" y="460796"/>
                </a:lnTo>
                <a:close/>
              </a:path>
              <a:path w="596264" h="505460">
                <a:moveTo>
                  <a:pt x="577468" y="0"/>
                </a:moveTo>
                <a:lnTo>
                  <a:pt x="56422" y="438952"/>
                </a:lnTo>
                <a:lnTo>
                  <a:pt x="74837" y="460796"/>
                </a:lnTo>
                <a:lnTo>
                  <a:pt x="595884" y="21844"/>
                </a:lnTo>
                <a:lnTo>
                  <a:pt x="57746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30548" y="3193881"/>
            <a:ext cx="889334" cy="28378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81740" y="3252234"/>
            <a:ext cx="687645" cy="101453"/>
          </a:xfrm>
          <a:custGeom>
            <a:avLst/>
            <a:gdLst/>
            <a:ahLst/>
            <a:cxnLst/>
            <a:rect l="l" t="t" r="r" b="b"/>
            <a:pathLst>
              <a:path w="588010" h="92075">
                <a:moveTo>
                  <a:pt x="82549" y="6476"/>
                </a:moveTo>
                <a:lnTo>
                  <a:pt x="0" y="55244"/>
                </a:lnTo>
                <a:lnTo>
                  <a:pt x="88518" y="91947"/>
                </a:lnTo>
                <a:lnTo>
                  <a:pt x="86603" y="64515"/>
                </a:lnTo>
                <a:lnTo>
                  <a:pt x="72262" y="64515"/>
                </a:lnTo>
                <a:lnTo>
                  <a:pt x="70358" y="35940"/>
                </a:lnTo>
                <a:lnTo>
                  <a:pt x="84538" y="34952"/>
                </a:lnTo>
                <a:lnTo>
                  <a:pt x="82549" y="6476"/>
                </a:lnTo>
                <a:close/>
              </a:path>
              <a:path w="588010" h="92075">
                <a:moveTo>
                  <a:pt x="84538" y="34952"/>
                </a:moveTo>
                <a:lnTo>
                  <a:pt x="70358" y="35940"/>
                </a:lnTo>
                <a:lnTo>
                  <a:pt x="72262" y="64515"/>
                </a:lnTo>
                <a:lnTo>
                  <a:pt x="86533" y="63521"/>
                </a:lnTo>
                <a:lnTo>
                  <a:pt x="84538" y="34952"/>
                </a:lnTo>
                <a:close/>
              </a:path>
              <a:path w="588010" h="92075">
                <a:moveTo>
                  <a:pt x="86533" y="63521"/>
                </a:moveTo>
                <a:lnTo>
                  <a:pt x="72262" y="64515"/>
                </a:lnTo>
                <a:lnTo>
                  <a:pt x="86603" y="64515"/>
                </a:lnTo>
                <a:lnTo>
                  <a:pt x="86533" y="63521"/>
                </a:lnTo>
                <a:close/>
              </a:path>
              <a:path w="588010" h="92075">
                <a:moveTo>
                  <a:pt x="585978" y="0"/>
                </a:moveTo>
                <a:lnTo>
                  <a:pt x="84538" y="34952"/>
                </a:lnTo>
                <a:lnTo>
                  <a:pt x="86533" y="63521"/>
                </a:lnTo>
                <a:lnTo>
                  <a:pt x="588010" y="28575"/>
                </a:lnTo>
                <a:lnTo>
                  <a:pt x="5859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567752" y="2906131"/>
            <a:ext cx="2442401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184659" marR="174521" algn="ctr">
              <a:spcBef>
                <a:spcPts val="348"/>
              </a:spcBef>
            </a:pPr>
            <a:r>
              <a:rPr sz="1600" b="1" dirty="0">
                <a:latin typeface="Arial"/>
                <a:cs typeface="Arial"/>
              </a:rPr>
              <a:t>Início </a:t>
            </a:r>
            <a:r>
              <a:rPr sz="1600" b="1" spc="-6" dirty="0">
                <a:latin typeface="Arial"/>
                <a:cs typeface="Arial"/>
              </a:rPr>
              <a:t>da inversão</a:t>
            </a:r>
            <a:r>
              <a:rPr sz="1600" b="1" spc="-160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do  segundo </a:t>
            </a:r>
            <a:r>
              <a:rPr sz="1600" b="1" dirty="0">
                <a:latin typeface="Arial"/>
                <a:cs typeface="Arial"/>
              </a:rPr>
              <a:t>elemento  </a:t>
            </a:r>
            <a:r>
              <a:rPr sz="1600" b="1" spc="-6" dirty="0">
                <a:latin typeface="Arial"/>
                <a:cs typeface="Arial"/>
              </a:rPr>
              <a:t>com </a:t>
            </a:r>
            <a:r>
              <a:rPr sz="1600" b="1" dirty="0">
                <a:latin typeface="Arial"/>
                <a:cs typeface="Arial"/>
              </a:rPr>
              <a:t>o</a:t>
            </a:r>
            <a:r>
              <a:rPr sz="1600" b="1" spc="-80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penúltimo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60318" y="4465051"/>
            <a:ext cx="6341186" cy="3425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15120" y="4492339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64211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703" y="1093804"/>
            <a:ext cx="9702923" cy="62322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43024" y="3319823"/>
            <a:ext cx="1334893" cy="6229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94067" y="3345431"/>
            <a:ext cx="1133945" cy="442195"/>
          </a:xfrm>
          <a:custGeom>
            <a:avLst/>
            <a:gdLst/>
            <a:ahLst/>
            <a:cxnLst/>
            <a:rect l="l" t="t" r="r" b="b"/>
            <a:pathLst>
              <a:path w="969644" h="401320">
                <a:moveTo>
                  <a:pt x="64135" y="321563"/>
                </a:moveTo>
                <a:lnTo>
                  <a:pt x="0" y="392811"/>
                </a:lnTo>
                <a:lnTo>
                  <a:pt x="95504" y="401320"/>
                </a:lnTo>
                <a:lnTo>
                  <a:pt x="87112" y="379984"/>
                </a:lnTo>
                <a:lnTo>
                  <a:pt x="71755" y="379984"/>
                </a:lnTo>
                <a:lnTo>
                  <a:pt x="61341" y="353313"/>
                </a:lnTo>
                <a:lnTo>
                  <a:pt x="74573" y="348104"/>
                </a:lnTo>
                <a:lnTo>
                  <a:pt x="64135" y="321563"/>
                </a:lnTo>
                <a:close/>
              </a:path>
              <a:path w="969644" h="401320">
                <a:moveTo>
                  <a:pt x="74573" y="348104"/>
                </a:moveTo>
                <a:lnTo>
                  <a:pt x="61341" y="353313"/>
                </a:lnTo>
                <a:lnTo>
                  <a:pt x="71755" y="379984"/>
                </a:lnTo>
                <a:lnTo>
                  <a:pt x="85052" y="374747"/>
                </a:lnTo>
                <a:lnTo>
                  <a:pt x="74573" y="348104"/>
                </a:lnTo>
                <a:close/>
              </a:path>
              <a:path w="969644" h="401320">
                <a:moveTo>
                  <a:pt x="85052" y="374747"/>
                </a:moveTo>
                <a:lnTo>
                  <a:pt x="71755" y="379984"/>
                </a:lnTo>
                <a:lnTo>
                  <a:pt x="87112" y="379984"/>
                </a:lnTo>
                <a:lnTo>
                  <a:pt x="85052" y="374747"/>
                </a:lnTo>
                <a:close/>
              </a:path>
              <a:path w="969644" h="401320">
                <a:moveTo>
                  <a:pt x="958850" y="0"/>
                </a:moveTo>
                <a:lnTo>
                  <a:pt x="74573" y="348104"/>
                </a:lnTo>
                <a:lnTo>
                  <a:pt x="85052" y="374747"/>
                </a:lnTo>
                <a:lnTo>
                  <a:pt x="969391" y="26543"/>
                </a:lnTo>
                <a:lnTo>
                  <a:pt x="95885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43024" y="3145182"/>
            <a:ext cx="1329546" cy="29890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94068" y="3226765"/>
            <a:ext cx="1129490" cy="149031"/>
          </a:xfrm>
          <a:custGeom>
            <a:avLst/>
            <a:gdLst/>
            <a:ahLst/>
            <a:cxnLst/>
            <a:rect l="l" t="t" r="r" b="b"/>
            <a:pathLst>
              <a:path w="965835" h="135255">
                <a:moveTo>
                  <a:pt x="86745" y="28444"/>
                </a:moveTo>
                <a:lnTo>
                  <a:pt x="84208" y="56895"/>
                </a:lnTo>
                <a:lnTo>
                  <a:pt x="962787" y="135255"/>
                </a:lnTo>
                <a:lnTo>
                  <a:pt x="965326" y="106680"/>
                </a:lnTo>
                <a:lnTo>
                  <a:pt x="86745" y="28444"/>
                </a:lnTo>
                <a:close/>
              </a:path>
              <a:path w="965835" h="135255">
                <a:moveTo>
                  <a:pt x="89281" y="0"/>
                </a:moveTo>
                <a:lnTo>
                  <a:pt x="0" y="35179"/>
                </a:lnTo>
                <a:lnTo>
                  <a:pt x="81661" y="85471"/>
                </a:lnTo>
                <a:lnTo>
                  <a:pt x="84208" y="56895"/>
                </a:lnTo>
                <a:lnTo>
                  <a:pt x="69976" y="55626"/>
                </a:lnTo>
                <a:lnTo>
                  <a:pt x="72517" y="27178"/>
                </a:lnTo>
                <a:lnTo>
                  <a:pt x="86857" y="27178"/>
                </a:lnTo>
                <a:lnTo>
                  <a:pt x="89281" y="0"/>
                </a:lnTo>
                <a:close/>
              </a:path>
              <a:path w="965835" h="135255">
                <a:moveTo>
                  <a:pt x="72517" y="27178"/>
                </a:moveTo>
                <a:lnTo>
                  <a:pt x="69976" y="55626"/>
                </a:lnTo>
                <a:lnTo>
                  <a:pt x="84208" y="56895"/>
                </a:lnTo>
                <a:lnTo>
                  <a:pt x="86745" y="28444"/>
                </a:lnTo>
                <a:lnTo>
                  <a:pt x="72517" y="27178"/>
                </a:lnTo>
                <a:close/>
              </a:path>
              <a:path w="965835" h="135255">
                <a:moveTo>
                  <a:pt x="86857" y="27178"/>
                </a:moveTo>
                <a:lnTo>
                  <a:pt x="72517" y="27178"/>
                </a:lnTo>
                <a:lnTo>
                  <a:pt x="86745" y="28444"/>
                </a:lnTo>
                <a:lnTo>
                  <a:pt x="86857" y="2717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008707" y="3170876"/>
            <a:ext cx="2189918" cy="29155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6" rIns="0" bIns="0" rtlCol="0">
            <a:spAutoFit/>
          </a:bodyPr>
          <a:lstStyle/>
          <a:p>
            <a:pPr marL="367146">
              <a:spcBef>
                <a:spcPts val="352"/>
              </a:spcBef>
            </a:pPr>
            <a:r>
              <a:rPr sz="1600" b="1" spc="-6" dirty="0">
                <a:latin typeface="Arial"/>
                <a:cs typeface="Arial"/>
              </a:rPr>
              <a:t>Continuação...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60318" y="4782426"/>
            <a:ext cx="6341186" cy="3425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15120" y="4809712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64463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704" y="1093804"/>
            <a:ext cx="9698171" cy="62322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30548" y="3321502"/>
            <a:ext cx="1347368" cy="7002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81445" y="3345710"/>
            <a:ext cx="1147313" cy="515661"/>
          </a:xfrm>
          <a:custGeom>
            <a:avLst/>
            <a:gdLst/>
            <a:ahLst/>
            <a:cxnLst/>
            <a:rect l="l" t="t" r="r" b="b"/>
            <a:pathLst>
              <a:path w="981075" h="467995">
                <a:moveTo>
                  <a:pt x="59689" y="389636"/>
                </a:moveTo>
                <a:lnTo>
                  <a:pt x="0" y="464566"/>
                </a:lnTo>
                <a:lnTo>
                  <a:pt x="95757" y="467487"/>
                </a:lnTo>
                <a:lnTo>
                  <a:pt x="86520" y="447548"/>
                </a:lnTo>
                <a:lnTo>
                  <a:pt x="70738" y="447548"/>
                </a:lnTo>
                <a:lnTo>
                  <a:pt x="58800" y="421513"/>
                </a:lnTo>
                <a:lnTo>
                  <a:pt x="71692" y="415542"/>
                </a:lnTo>
                <a:lnTo>
                  <a:pt x="59689" y="389636"/>
                </a:lnTo>
                <a:close/>
              </a:path>
              <a:path w="981075" h="467995">
                <a:moveTo>
                  <a:pt x="71692" y="415542"/>
                </a:moveTo>
                <a:lnTo>
                  <a:pt x="58800" y="421513"/>
                </a:lnTo>
                <a:lnTo>
                  <a:pt x="70738" y="447548"/>
                </a:lnTo>
                <a:lnTo>
                  <a:pt x="83732" y="441530"/>
                </a:lnTo>
                <a:lnTo>
                  <a:pt x="71692" y="415542"/>
                </a:lnTo>
                <a:close/>
              </a:path>
              <a:path w="981075" h="467995">
                <a:moveTo>
                  <a:pt x="83732" y="441530"/>
                </a:moveTo>
                <a:lnTo>
                  <a:pt x="70738" y="447548"/>
                </a:lnTo>
                <a:lnTo>
                  <a:pt x="86520" y="447548"/>
                </a:lnTo>
                <a:lnTo>
                  <a:pt x="83732" y="441530"/>
                </a:lnTo>
                <a:close/>
              </a:path>
              <a:path w="981075" h="467995">
                <a:moveTo>
                  <a:pt x="968882" y="0"/>
                </a:moveTo>
                <a:lnTo>
                  <a:pt x="71692" y="415542"/>
                </a:lnTo>
                <a:lnTo>
                  <a:pt x="83732" y="441530"/>
                </a:lnTo>
                <a:lnTo>
                  <a:pt x="980947" y="26035"/>
                </a:lnTo>
                <a:lnTo>
                  <a:pt x="96888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30547" y="3200598"/>
            <a:ext cx="1342022" cy="2854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81444" y="3277423"/>
            <a:ext cx="1140629" cy="98654"/>
          </a:xfrm>
          <a:custGeom>
            <a:avLst/>
            <a:gdLst/>
            <a:ahLst/>
            <a:cxnLst/>
            <a:rect l="l" t="t" r="r" b="b"/>
            <a:pathLst>
              <a:path w="975360" h="89535">
                <a:moveTo>
                  <a:pt x="86190" y="28583"/>
                </a:moveTo>
                <a:lnTo>
                  <a:pt x="85132" y="57157"/>
                </a:lnTo>
                <a:lnTo>
                  <a:pt x="974344" y="89281"/>
                </a:lnTo>
                <a:lnTo>
                  <a:pt x="975359" y="60706"/>
                </a:lnTo>
                <a:lnTo>
                  <a:pt x="86190" y="28583"/>
                </a:lnTo>
                <a:close/>
              </a:path>
              <a:path w="975360" h="89535">
                <a:moveTo>
                  <a:pt x="87249" y="0"/>
                </a:moveTo>
                <a:lnTo>
                  <a:pt x="0" y="39750"/>
                </a:lnTo>
                <a:lnTo>
                  <a:pt x="84074" y="85725"/>
                </a:lnTo>
                <a:lnTo>
                  <a:pt x="85132" y="57157"/>
                </a:lnTo>
                <a:lnTo>
                  <a:pt x="70865" y="56642"/>
                </a:lnTo>
                <a:lnTo>
                  <a:pt x="71881" y="28067"/>
                </a:lnTo>
                <a:lnTo>
                  <a:pt x="86209" y="28067"/>
                </a:lnTo>
                <a:lnTo>
                  <a:pt x="87249" y="0"/>
                </a:lnTo>
                <a:close/>
              </a:path>
              <a:path w="975360" h="89535">
                <a:moveTo>
                  <a:pt x="71881" y="28067"/>
                </a:moveTo>
                <a:lnTo>
                  <a:pt x="70865" y="56642"/>
                </a:lnTo>
                <a:lnTo>
                  <a:pt x="85132" y="57157"/>
                </a:lnTo>
                <a:lnTo>
                  <a:pt x="86190" y="28583"/>
                </a:lnTo>
                <a:lnTo>
                  <a:pt x="71881" y="28067"/>
                </a:lnTo>
                <a:close/>
              </a:path>
              <a:path w="975360" h="89535">
                <a:moveTo>
                  <a:pt x="86209" y="28067"/>
                </a:moveTo>
                <a:lnTo>
                  <a:pt x="71881" y="28067"/>
                </a:lnTo>
                <a:lnTo>
                  <a:pt x="86190" y="28583"/>
                </a:lnTo>
                <a:lnTo>
                  <a:pt x="86209" y="2806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023113" y="3151704"/>
            <a:ext cx="2189918" cy="29155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6" rIns="0" bIns="0" rtlCol="0">
            <a:spAutoFit/>
          </a:bodyPr>
          <a:lstStyle/>
          <a:p>
            <a:pPr marL="294007">
              <a:spcBef>
                <a:spcPts val="352"/>
              </a:spcBef>
            </a:pPr>
            <a:r>
              <a:rPr sz="1600" b="1" spc="-6" dirty="0">
                <a:latin typeface="Arial"/>
                <a:cs typeface="Arial"/>
              </a:rPr>
              <a:t>Fim da</a:t>
            </a:r>
            <a:r>
              <a:rPr sz="1600" b="1" spc="-91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inversão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60318" y="3751382"/>
            <a:ext cx="6341186" cy="34256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15120" y="3778251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84951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704" y="1093804"/>
            <a:ext cx="9698171" cy="62322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09704" y="1093804"/>
            <a:ext cx="9722825" cy="62322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5" name="object 5"/>
          <p:cNvSpPr/>
          <p:nvPr/>
        </p:nvSpPr>
        <p:spPr>
          <a:xfrm>
            <a:off x="3860318" y="4226603"/>
            <a:ext cx="6341186" cy="3425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915120" y="4254309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41241" y="2698510"/>
            <a:ext cx="1056863" cy="28378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92583" y="2770717"/>
            <a:ext cx="856957" cy="94456"/>
          </a:xfrm>
          <a:custGeom>
            <a:avLst/>
            <a:gdLst/>
            <a:ahLst/>
            <a:cxnLst/>
            <a:rect l="l" t="t" r="r" b="b"/>
            <a:pathLst>
              <a:path w="732789" h="85725">
                <a:moveTo>
                  <a:pt x="85725" y="0"/>
                </a:moveTo>
                <a:lnTo>
                  <a:pt x="0" y="42925"/>
                </a:lnTo>
                <a:lnTo>
                  <a:pt x="85725" y="85725"/>
                </a:lnTo>
                <a:lnTo>
                  <a:pt x="85725" y="57150"/>
                </a:lnTo>
                <a:lnTo>
                  <a:pt x="71500" y="57150"/>
                </a:lnTo>
                <a:lnTo>
                  <a:pt x="71500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732789" h="85725">
                <a:moveTo>
                  <a:pt x="85725" y="28575"/>
                </a:moveTo>
                <a:lnTo>
                  <a:pt x="71500" y="28575"/>
                </a:lnTo>
                <a:lnTo>
                  <a:pt x="71500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732789" h="85725">
                <a:moveTo>
                  <a:pt x="732282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732282" y="57150"/>
                </a:lnTo>
                <a:lnTo>
                  <a:pt x="732282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320319" y="2367800"/>
            <a:ext cx="2599833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169452" marR="160762" algn="ctr">
              <a:spcBef>
                <a:spcPts val="348"/>
              </a:spcBef>
            </a:pPr>
            <a:r>
              <a:rPr sz="1600" b="1" dirty="0">
                <a:latin typeface="Arial"/>
                <a:cs typeface="Arial"/>
              </a:rPr>
              <a:t>Incremento </a:t>
            </a:r>
            <a:r>
              <a:rPr sz="1600" b="1" spc="-6" dirty="0">
                <a:latin typeface="Arial"/>
                <a:cs typeface="Arial"/>
              </a:rPr>
              <a:t>da</a:t>
            </a:r>
            <a:r>
              <a:rPr sz="1600" b="1" spc="-148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variável  </a:t>
            </a:r>
            <a:r>
              <a:rPr sz="1600" b="1" dirty="0">
                <a:latin typeface="Arial"/>
                <a:cs typeface="Arial"/>
              </a:rPr>
              <a:t>e teste </a:t>
            </a:r>
            <a:r>
              <a:rPr sz="1600" b="1" spc="-6" dirty="0">
                <a:latin typeface="Arial"/>
                <a:cs typeface="Arial"/>
              </a:rPr>
              <a:t>da condição  </a:t>
            </a:r>
            <a:r>
              <a:rPr sz="1600" b="1" u="sng" spc="-6" dirty="0">
                <a:latin typeface="Arial"/>
                <a:cs typeface="Arial"/>
              </a:rPr>
              <a:t>verdadeiro</a:t>
            </a:r>
            <a:r>
              <a:rPr sz="1600" b="1" spc="-6" dirty="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92007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704" y="1093804"/>
            <a:ext cx="9732776" cy="62322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4465051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4492339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30547" y="3475989"/>
            <a:ext cx="1015873" cy="30729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81741" y="3500898"/>
            <a:ext cx="814629" cy="153229"/>
          </a:xfrm>
          <a:custGeom>
            <a:avLst/>
            <a:gdLst/>
            <a:ahLst/>
            <a:cxnLst/>
            <a:rect l="l" t="t" r="r" b="b"/>
            <a:pathLst>
              <a:path w="696594" h="139064">
                <a:moveTo>
                  <a:pt x="79247" y="53721"/>
                </a:moveTo>
                <a:lnTo>
                  <a:pt x="0" y="107696"/>
                </a:lnTo>
                <a:lnTo>
                  <a:pt x="90678" y="138684"/>
                </a:lnTo>
                <a:lnTo>
                  <a:pt x="87124" y="112267"/>
                </a:lnTo>
                <a:lnTo>
                  <a:pt x="72771" y="112267"/>
                </a:lnTo>
                <a:lnTo>
                  <a:pt x="68960" y="83947"/>
                </a:lnTo>
                <a:lnTo>
                  <a:pt x="83059" y="82049"/>
                </a:lnTo>
                <a:lnTo>
                  <a:pt x="79247" y="53721"/>
                </a:lnTo>
                <a:close/>
              </a:path>
              <a:path w="696594" h="139064">
                <a:moveTo>
                  <a:pt x="83059" y="82049"/>
                </a:moveTo>
                <a:lnTo>
                  <a:pt x="68960" y="83947"/>
                </a:lnTo>
                <a:lnTo>
                  <a:pt x="72771" y="112267"/>
                </a:lnTo>
                <a:lnTo>
                  <a:pt x="86869" y="110370"/>
                </a:lnTo>
                <a:lnTo>
                  <a:pt x="83059" y="82049"/>
                </a:lnTo>
                <a:close/>
              </a:path>
              <a:path w="696594" h="139064">
                <a:moveTo>
                  <a:pt x="86869" y="110370"/>
                </a:moveTo>
                <a:lnTo>
                  <a:pt x="72771" y="112267"/>
                </a:lnTo>
                <a:lnTo>
                  <a:pt x="87124" y="112267"/>
                </a:lnTo>
                <a:lnTo>
                  <a:pt x="86869" y="110370"/>
                </a:lnTo>
                <a:close/>
              </a:path>
              <a:path w="696594" h="139064">
                <a:moveTo>
                  <a:pt x="692785" y="0"/>
                </a:moveTo>
                <a:lnTo>
                  <a:pt x="83059" y="82049"/>
                </a:lnTo>
                <a:lnTo>
                  <a:pt x="86869" y="110370"/>
                </a:lnTo>
                <a:lnTo>
                  <a:pt x="696595" y="28321"/>
                </a:lnTo>
                <a:lnTo>
                  <a:pt x="69278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30547" y="3341652"/>
            <a:ext cx="1014091" cy="28378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81740" y="3420576"/>
            <a:ext cx="813887" cy="111948"/>
          </a:xfrm>
          <a:custGeom>
            <a:avLst/>
            <a:gdLst/>
            <a:ahLst/>
            <a:cxnLst/>
            <a:rect l="l" t="t" r="r" b="b"/>
            <a:pathLst>
              <a:path w="695960" h="101600">
                <a:moveTo>
                  <a:pt x="86567" y="28590"/>
                </a:moveTo>
                <a:lnTo>
                  <a:pt x="84498" y="57044"/>
                </a:lnTo>
                <a:lnTo>
                  <a:pt x="693673" y="101346"/>
                </a:lnTo>
                <a:lnTo>
                  <a:pt x="695705" y="72898"/>
                </a:lnTo>
                <a:lnTo>
                  <a:pt x="86567" y="28590"/>
                </a:lnTo>
                <a:close/>
              </a:path>
              <a:path w="695960" h="101600">
                <a:moveTo>
                  <a:pt x="88646" y="0"/>
                </a:moveTo>
                <a:lnTo>
                  <a:pt x="0" y="36575"/>
                </a:lnTo>
                <a:lnTo>
                  <a:pt x="82422" y="85598"/>
                </a:lnTo>
                <a:lnTo>
                  <a:pt x="84498" y="57044"/>
                </a:lnTo>
                <a:lnTo>
                  <a:pt x="70230" y="56007"/>
                </a:lnTo>
                <a:lnTo>
                  <a:pt x="72390" y="27559"/>
                </a:lnTo>
                <a:lnTo>
                  <a:pt x="86642" y="27559"/>
                </a:lnTo>
                <a:lnTo>
                  <a:pt x="88646" y="0"/>
                </a:lnTo>
                <a:close/>
              </a:path>
              <a:path w="695960" h="101600">
                <a:moveTo>
                  <a:pt x="72390" y="27559"/>
                </a:moveTo>
                <a:lnTo>
                  <a:pt x="70230" y="56007"/>
                </a:lnTo>
                <a:lnTo>
                  <a:pt x="84498" y="57044"/>
                </a:lnTo>
                <a:lnTo>
                  <a:pt x="86567" y="28590"/>
                </a:lnTo>
                <a:lnTo>
                  <a:pt x="72390" y="27559"/>
                </a:lnTo>
                <a:close/>
              </a:path>
              <a:path w="695960" h="101600">
                <a:moveTo>
                  <a:pt x="86642" y="27559"/>
                </a:moveTo>
                <a:lnTo>
                  <a:pt x="72390" y="27559"/>
                </a:lnTo>
                <a:lnTo>
                  <a:pt x="86567" y="28590"/>
                </a:lnTo>
                <a:lnTo>
                  <a:pt x="86642" y="2755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694142" y="3109597"/>
            <a:ext cx="2442401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109347" marR="101382" indent="724" algn="ctr">
              <a:spcBef>
                <a:spcPts val="348"/>
              </a:spcBef>
            </a:pPr>
            <a:r>
              <a:rPr sz="1600" b="1" dirty="0">
                <a:latin typeface="Arial"/>
                <a:cs typeface="Arial"/>
              </a:rPr>
              <a:t>Início </a:t>
            </a:r>
            <a:r>
              <a:rPr sz="1600" b="1" spc="-6" dirty="0">
                <a:latin typeface="Arial"/>
                <a:cs typeface="Arial"/>
              </a:rPr>
              <a:t>da inversão do  </a:t>
            </a:r>
            <a:r>
              <a:rPr sz="1600" b="1" dirty="0">
                <a:latin typeface="Arial"/>
                <a:cs typeface="Arial"/>
              </a:rPr>
              <a:t>terceiro elemento</a:t>
            </a:r>
            <a:r>
              <a:rPr sz="1600" b="1" spc="-171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com  </a:t>
            </a:r>
            <a:r>
              <a:rPr sz="1600" b="1" dirty="0">
                <a:latin typeface="Arial"/>
                <a:cs typeface="Arial"/>
              </a:rPr>
              <a:t>o</a:t>
            </a:r>
            <a:r>
              <a:rPr sz="1600" b="1" spc="-80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antepenúltimo</a:t>
            </a:r>
            <a:endParaRPr sz="1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30511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704" y="1116402"/>
            <a:ext cx="9732776" cy="62511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09704" y="1116458"/>
            <a:ext cx="9732776" cy="62728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5" name="object 5"/>
          <p:cNvSpPr/>
          <p:nvPr/>
        </p:nvSpPr>
        <p:spPr>
          <a:xfrm>
            <a:off x="3860318" y="4782426"/>
            <a:ext cx="6341186" cy="3425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915120" y="4809712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30548" y="3475990"/>
            <a:ext cx="1017655" cy="37446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81741" y="3501178"/>
            <a:ext cx="816114" cy="210602"/>
          </a:xfrm>
          <a:custGeom>
            <a:avLst/>
            <a:gdLst/>
            <a:ahLst/>
            <a:cxnLst/>
            <a:rect l="l" t="t" r="r" b="b"/>
            <a:pathLst>
              <a:path w="697864" h="191135">
                <a:moveTo>
                  <a:pt x="74422" y="107442"/>
                </a:moveTo>
                <a:lnTo>
                  <a:pt x="0" y="167894"/>
                </a:lnTo>
                <a:lnTo>
                  <a:pt x="93090" y="191135"/>
                </a:lnTo>
                <a:lnTo>
                  <a:pt x="87566" y="166370"/>
                </a:lnTo>
                <a:lnTo>
                  <a:pt x="72897" y="166370"/>
                </a:lnTo>
                <a:lnTo>
                  <a:pt x="66674" y="138430"/>
                </a:lnTo>
                <a:lnTo>
                  <a:pt x="80644" y="135335"/>
                </a:lnTo>
                <a:lnTo>
                  <a:pt x="74422" y="107442"/>
                </a:lnTo>
                <a:close/>
              </a:path>
              <a:path w="697864" h="191135">
                <a:moveTo>
                  <a:pt x="80644" y="135335"/>
                </a:moveTo>
                <a:lnTo>
                  <a:pt x="66674" y="138430"/>
                </a:lnTo>
                <a:lnTo>
                  <a:pt x="72897" y="166370"/>
                </a:lnTo>
                <a:lnTo>
                  <a:pt x="86876" y="163273"/>
                </a:lnTo>
                <a:lnTo>
                  <a:pt x="80644" y="135335"/>
                </a:lnTo>
                <a:close/>
              </a:path>
              <a:path w="697864" h="191135">
                <a:moveTo>
                  <a:pt x="86876" y="163273"/>
                </a:moveTo>
                <a:lnTo>
                  <a:pt x="72897" y="166370"/>
                </a:lnTo>
                <a:lnTo>
                  <a:pt x="87566" y="166370"/>
                </a:lnTo>
                <a:lnTo>
                  <a:pt x="86876" y="163273"/>
                </a:lnTo>
                <a:close/>
              </a:path>
              <a:path w="697864" h="191135">
                <a:moveTo>
                  <a:pt x="691515" y="0"/>
                </a:moveTo>
                <a:lnTo>
                  <a:pt x="80644" y="135335"/>
                </a:lnTo>
                <a:lnTo>
                  <a:pt x="86876" y="163273"/>
                </a:lnTo>
                <a:lnTo>
                  <a:pt x="697737" y="27939"/>
                </a:lnTo>
                <a:lnTo>
                  <a:pt x="6915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30547" y="3397065"/>
            <a:ext cx="1014091" cy="28378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81740" y="3469273"/>
            <a:ext cx="812401" cy="94456"/>
          </a:xfrm>
          <a:custGeom>
            <a:avLst/>
            <a:gdLst/>
            <a:ahLst/>
            <a:cxnLst/>
            <a:rect l="l" t="t" r="r" b="b"/>
            <a:pathLst>
              <a:path w="694689" h="85725">
                <a:moveTo>
                  <a:pt x="85724" y="0"/>
                </a:moveTo>
                <a:lnTo>
                  <a:pt x="0" y="42925"/>
                </a:lnTo>
                <a:lnTo>
                  <a:pt x="85724" y="85725"/>
                </a:lnTo>
                <a:lnTo>
                  <a:pt x="85724" y="57150"/>
                </a:lnTo>
                <a:lnTo>
                  <a:pt x="71501" y="57150"/>
                </a:lnTo>
                <a:lnTo>
                  <a:pt x="71501" y="28575"/>
                </a:lnTo>
                <a:lnTo>
                  <a:pt x="85724" y="28575"/>
                </a:lnTo>
                <a:lnTo>
                  <a:pt x="85724" y="0"/>
                </a:lnTo>
                <a:close/>
              </a:path>
              <a:path w="694689" h="85725">
                <a:moveTo>
                  <a:pt x="85724" y="28575"/>
                </a:moveTo>
                <a:lnTo>
                  <a:pt x="71501" y="28575"/>
                </a:lnTo>
                <a:lnTo>
                  <a:pt x="71501" y="57150"/>
                </a:lnTo>
                <a:lnTo>
                  <a:pt x="85724" y="57150"/>
                </a:lnTo>
                <a:lnTo>
                  <a:pt x="85724" y="28575"/>
                </a:lnTo>
                <a:close/>
              </a:path>
              <a:path w="694689" h="85725">
                <a:moveTo>
                  <a:pt x="694690" y="28575"/>
                </a:moveTo>
                <a:lnTo>
                  <a:pt x="85724" y="28575"/>
                </a:lnTo>
                <a:lnTo>
                  <a:pt x="85724" y="57150"/>
                </a:lnTo>
                <a:lnTo>
                  <a:pt x="694690" y="57150"/>
                </a:lnTo>
                <a:lnTo>
                  <a:pt x="694690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688349" y="3347054"/>
            <a:ext cx="2189918" cy="29082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367146">
              <a:spcBef>
                <a:spcPts val="348"/>
              </a:spcBef>
            </a:pPr>
            <a:r>
              <a:rPr sz="1600" b="1" spc="-6" dirty="0">
                <a:latin typeface="Arial"/>
                <a:cs typeface="Arial"/>
              </a:rPr>
              <a:t>Continuação...</a:t>
            </a:r>
            <a:endParaRPr sz="1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49599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704" y="1116402"/>
            <a:ext cx="9747330" cy="62511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3751382"/>
            <a:ext cx="6341186" cy="34256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3778251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30547" y="3511253"/>
            <a:ext cx="1015873" cy="30729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81741" y="3535462"/>
            <a:ext cx="814629" cy="153229"/>
          </a:xfrm>
          <a:custGeom>
            <a:avLst/>
            <a:gdLst/>
            <a:ahLst/>
            <a:cxnLst/>
            <a:rect l="l" t="t" r="r" b="b"/>
            <a:pathLst>
              <a:path w="696594" h="139064">
                <a:moveTo>
                  <a:pt x="79247" y="53721"/>
                </a:moveTo>
                <a:lnTo>
                  <a:pt x="0" y="107696"/>
                </a:lnTo>
                <a:lnTo>
                  <a:pt x="90678" y="138684"/>
                </a:lnTo>
                <a:lnTo>
                  <a:pt x="87124" y="112268"/>
                </a:lnTo>
                <a:lnTo>
                  <a:pt x="72771" y="112268"/>
                </a:lnTo>
                <a:lnTo>
                  <a:pt x="68960" y="83947"/>
                </a:lnTo>
                <a:lnTo>
                  <a:pt x="83059" y="82049"/>
                </a:lnTo>
                <a:lnTo>
                  <a:pt x="79247" y="53721"/>
                </a:lnTo>
                <a:close/>
              </a:path>
              <a:path w="696594" h="139064">
                <a:moveTo>
                  <a:pt x="83059" y="82049"/>
                </a:moveTo>
                <a:lnTo>
                  <a:pt x="68960" y="83947"/>
                </a:lnTo>
                <a:lnTo>
                  <a:pt x="72771" y="112268"/>
                </a:lnTo>
                <a:lnTo>
                  <a:pt x="86869" y="110370"/>
                </a:lnTo>
                <a:lnTo>
                  <a:pt x="83059" y="82049"/>
                </a:lnTo>
                <a:close/>
              </a:path>
              <a:path w="696594" h="139064">
                <a:moveTo>
                  <a:pt x="86869" y="110370"/>
                </a:moveTo>
                <a:lnTo>
                  <a:pt x="72771" y="112268"/>
                </a:lnTo>
                <a:lnTo>
                  <a:pt x="87124" y="112268"/>
                </a:lnTo>
                <a:lnTo>
                  <a:pt x="86869" y="110370"/>
                </a:lnTo>
                <a:close/>
              </a:path>
              <a:path w="696594" h="139064">
                <a:moveTo>
                  <a:pt x="692785" y="0"/>
                </a:moveTo>
                <a:lnTo>
                  <a:pt x="83059" y="82049"/>
                </a:lnTo>
                <a:lnTo>
                  <a:pt x="86869" y="110370"/>
                </a:lnTo>
                <a:lnTo>
                  <a:pt x="696595" y="28321"/>
                </a:lnTo>
                <a:lnTo>
                  <a:pt x="69278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30547" y="3375236"/>
            <a:ext cx="1014091" cy="28378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81740" y="3455140"/>
            <a:ext cx="813887" cy="111948"/>
          </a:xfrm>
          <a:custGeom>
            <a:avLst/>
            <a:gdLst/>
            <a:ahLst/>
            <a:cxnLst/>
            <a:rect l="l" t="t" r="r" b="b"/>
            <a:pathLst>
              <a:path w="695960" h="101600">
                <a:moveTo>
                  <a:pt x="86567" y="28590"/>
                </a:moveTo>
                <a:lnTo>
                  <a:pt x="84498" y="57044"/>
                </a:lnTo>
                <a:lnTo>
                  <a:pt x="693673" y="101345"/>
                </a:lnTo>
                <a:lnTo>
                  <a:pt x="695705" y="72897"/>
                </a:lnTo>
                <a:lnTo>
                  <a:pt x="86567" y="28590"/>
                </a:lnTo>
                <a:close/>
              </a:path>
              <a:path w="695960" h="101600">
                <a:moveTo>
                  <a:pt x="88646" y="0"/>
                </a:moveTo>
                <a:lnTo>
                  <a:pt x="0" y="36575"/>
                </a:lnTo>
                <a:lnTo>
                  <a:pt x="82422" y="85597"/>
                </a:lnTo>
                <a:lnTo>
                  <a:pt x="84498" y="57044"/>
                </a:lnTo>
                <a:lnTo>
                  <a:pt x="70230" y="56006"/>
                </a:lnTo>
                <a:lnTo>
                  <a:pt x="72390" y="27558"/>
                </a:lnTo>
                <a:lnTo>
                  <a:pt x="86642" y="27558"/>
                </a:lnTo>
                <a:lnTo>
                  <a:pt x="88646" y="0"/>
                </a:lnTo>
                <a:close/>
              </a:path>
              <a:path w="695960" h="101600">
                <a:moveTo>
                  <a:pt x="72390" y="27558"/>
                </a:moveTo>
                <a:lnTo>
                  <a:pt x="70230" y="56006"/>
                </a:lnTo>
                <a:lnTo>
                  <a:pt x="84498" y="57044"/>
                </a:lnTo>
                <a:lnTo>
                  <a:pt x="86567" y="28590"/>
                </a:lnTo>
                <a:lnTo>
                  <a:pt x="72390" y="27558"/>
                </a:lnTo>
                <a:close/>
              </a:path>
              <a:path w="695960" h="101600">
                <a:moveTo>
                  <a:pt x="86642" y="27558"/>
                </a:moveTo>
                <a:lnTo>
                  <a:pt x="72390" y="27558"/>
                </a:lnTo>
                <a:lnTo>
                  <a:pt x="86567" y="28590"/>
                </a:lnTo>
                <a:lnTo>
                  <a:pt x="86642" y="2755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663696" y="3381478"/>
            <a:ext cx="2189918" cy="29082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294007">
              <a:spcBef>
                <a:spcPts val="348"/>
              </a:spcBef>
            </a:pPr>
            <a:r>
              <a:rPr sz="1600" b="1" spc="-6" dirty="0">
                <a:latin typeface="Arial"/>
                <a:cs typeface="Arial"/>
              </a:rPr>
              <a:t>Fim da</a:t>
            </a:r>
            <a:r>
              <a:rPr sz="1600" b="1" spc="-91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inversão</a:t>
            </a:r>
            <a:endParaRPr sz="1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44881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704" y="1121216"/>
            <a:ext cx="9747330" cy="62699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41241" y="2698510"/>
            <a:ext cx="1056863" cy="2837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92583" y="2770717"/>
            <a:ext cx="856957" cy="94456"/>
          </a:xfrm>
          <a:custGeom>
            <a:avLst/>
            <a:gdLst/>
            <a:ahLst/>
            <a:cxnLst/>
            <a:rect l="l" t="t" r="r" b="b"/>
            <a:pathLst>
              <a:path w="732789" h="85725">
                <a:moveTo>
                  <a:pt x="85725" y="0"/>
                </a:moveTo>
                <a:lnTo>
                  <a:pt x="0" y="42925"/>
                </a:lnTo>
                <a:lnTo>
                  <a:pt x="85725" y="85725"/>
                </a:lnTo>
                <a:lnTo>
                  <a:pt x="85725" y="57150"/>
                </a:lnTo>
                <a:lnTo>
                  <a:pt x="71500" y="57150"/>
                </a:lnTo>
                <a:lnTo>
                  <a:pt x="71500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732789" h="85725">
                <a:moveTo>
                  <a:pt x="85725" y="28575"/>
                </a:moveTo>
                <a:lnTo>
                  <a:pt x="71500" y="28575"/>
                </a:lnTo>
                <a:lnTo>
                  <a:pt x="71500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732789" h="85725">
                <a:moveTo>
                  <a:pt x="732282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732282" y="57150"/>
                </a:lnTo>
                <a:lnTo>
                  <a:pt x="732282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320319" y="2367800"/>
            <a:ext cx="2599833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169452" marR="160762" algn="ctr">
              <a:spcBef>
                <a:spcPts val="348"/>
              </a:spcBef>
            </a:pPr>
            <a:r>
              <a:rPr sz="1600" b="1" dirty="0">
                <a:latin typeface="Arial"/>
                <a:cs typeface="Arial"/>
              </a:rPr>
              <a:t>Incremento </a:t>
            </a:r>
            <a:r>
              <a:rPr sz="1600" b="1" spc="-6" dirty="0">
                <a:latin typeface="Arial"/>
                <a:cs typeface="Arial"/>
              </a:rPr>
              <a:t>da</a:t>
            </a:r>
            <a:r>
              <a:rPr sz="1600" b="1" spc="-148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variável  </a:t>
            </a:r>
            <a:r>
              <a:rPr sz="1600" b="1" dirty="0">
                <a:latin typeface="Arial"/>
                <a:cs typeface="Arial"/>
              </a:rPr>
              <a:t>e teste </a:t>
            </a:r>
            <a:r>
              <a:rPr sz="1600" b="1" spc="-6" dirty="0">
                <a:latin typeface="Arial"/>
                <a:cs typeface="Arial"/>
              </a:rPr>
              <a:t>da condição  </a:t>
            </a:r>
            <a:r>
              <a:rPr sz="1600" b="1" u="sng" dirty="0">
                <a:latin typeface="Arial"/>
                <a:cs typeface="Arial"/>
              </a:rPr>
              <a:t>falso</a:t>
            </a:r>
            <a:r>
              <a:rPr sz="1600" b="1" dirty="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860318" y="5324813"/>
            <a:ext cx="6341186" cy="3425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15120" y="5351262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36077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372" y="1121216"/>
            <a:ext cx="9776738" cy="62699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576697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603146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64022" y="5563262"/>
            <a:ext cx="1933722" cy="3224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13627" y="5588031"/>
            <a:ext cx="1733222" cy="174919"/>
          </a:xfrm>
          <a:custGeom>
            <a:avLst/>
            <a:gdLst/>
            <a:ahLst/>
            <a:cxnLst/>
            <a:rect l="l" t="t" r="r" b="b"/>
            <a:pathLst>
              <a:path w="1482089" h="158750">
                <a:moveTo>
                  <a:pt x="1399539" y="72770"/>
                </a:moveTo>
                <a:lnTo>
                  <a:pt x="1397470" y="101200"/>
                </a:lnTo>
                <a:lnTo>
                  <a:pt x="1411732" y="102234"/>
                </a:lnTo>
                <a:lnTo>
                  <a:pt x="1409700" y="130809"/>
                </a:lnTo>
                <a:lnTo>
                  <a:pt x="1395314" y="130809"/>
                </a:lnTo>
                <a:lnTo>
                  <a:pt x="1393316" y="158241"/>
                </a:lnTo>
                <a:lnTo>
                  <a:pt x="1459801" y="130809"/>
                </a:lnTo>
                <a:lnTo>
                  <a:pt x="1409700" y="130809"/>
                </a:lnTo>
                <a:lnTo>
                  <a:pt x="1395389" y="129772"/>
                </a:lnTo>
                <a:lnTo>
                  <a:pt x="1462316" y="129772"/>
                </a:lnTo>
                <a:lnTo>
                  <a:pt x="1481963" y="121665"/>
                </a:lnTo>
                <a:lnTo>
                  <a:pt x="1399539" y="72770"/>
                </a:lnTo>
                <a:close/>
              </a:path>
              <a:path w="1482089" h="158750">
                <a:moveTo>
                  <a:pt x="1397470" y="101200"/>
                </a:moveTo>
                <a:lnTo>
                  <a:pt x="1395389" y="129772"/>
                </a:lnTo>
                <a:lnTo>
                  <a:pt x="1409700" y="130809"/>
                </a:lnTo>
                <a:lnTo>
                  <a:pt x="1411732" y="102234"/>
                </a:lnTo>
                <a:lnTo>
                  <a:pt x="1397470" y="101200"/>
                </a:lnTo>
                <a:close/>
              </a:path>
              <a:path w="1482089" h="158750">
                <a:moveTo>
                  <a:pt x="2158" y="0"/>
                </a:moveTo>
                <a:lnTo>
                  <a:pt x="0" y="28574"/>
                </a:lnTo>
                <a:lnTo>
                  <a:pt x="1395389" y="129772"/>
                </a:lnTo>
                <a:lnTo>
                  <a:pt x="1397470" y="101200"/>
                </a:lnTo>
                <a:lnTo>
                  <a:pt x="215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15180" y="5027199"/>
            <a:ext cx="2599833" cy="537779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8" rIns="0" bIns="0" rtlCol="0">
            <a:spAutoFit/>
          </a:bodyPr>
          <a:lstStyle/>
          <a:p>
            <a:pPr marL="339628" marR="330214" indent="156417">
              <a:spcBef>
                <a:spcPts val="354"/>
              </a:spcBef>
            </a:pPr>
            <a:r>
              <a:rPr sz="1600" b="1" dirty="0">
                <a:latin typeface="Arial"/>
                <a:cs typeface="Arial"/>
              </a:rPr>
              <a:t>Impressões </a:t>
            </a:r>
            <a:r>
              <a:rPr sz="1600" b="1" spc="-6" dirty="0">
                <a:latin typeface="Arial"/>
                <a:cs typeface="Arial"/>
              </a:rPr>
              <a:t>dos  elementos do</a:t>
            </a:r>
            <a:r>
              <a:rPr sz="1600" b="1" spc="-108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vetor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775103" y="2673320"/>
            <a:ext cx="684378" cy="28378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25405" y="2745248"/>
            <a:ext cx="484173" cy="94456"/>
          </a:xfrm>
          <a:custGeom>
            <a:avLst/>
            <a:gdLst/>
            <a:ahLst/>
            <a:cxnLst/>
            <a:rect l="l" t="t" r="r" b="b"/>
            <a:pathLst>
              <a:path w="414019" h="85725">
                <a:moveTo>
                  <a:pt x="85725" y="0"/>
                </a:moveTo>
                <a:lnTo>
                  <a:pt x="0" y="42925"/>
                </a:lnTo>
                <a:lnTo>
                  <a:pt x="85725" y="85725"/>
                </a:lnTo>
                <a:lnTo>
                  <a:pt x="85725" y="57150"/>
                </a:lnTo>
                <a:lnTo>
                  <a:pt x="71501" y="57150"/>
                </a:lnTo>
                <a:lnTo>
                  <a:pt x="71501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414019" h="85725">
                <a:moveTo>
                  <a:pt x="85725" y="28575"/>
                </a:moveTo>
                <a:lnTo>
                  <a:pt x="71501" y="28575"/>
                </a:lnTo>
                <a:lnTo>
                  <a:pt x="71501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414019" h="85725">
                <a:moveTo>
                  <a:pt x="413766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413766" y="57150"/>
                </a:lnTo>
                <a:lnTo>
                  <a:pt x="413766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561366" y="2622973"/>
            <a:ext cx="2189918" cy="537047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530081" marR="104278" indent="-417113">
              <a:spcBef>
                <a:spcPts val="348"/>
              </a:spcBef>
            </a:pPr>
            <a:r>
              <a:rPr sz="1600" b="1" spc="-11" dirty="0">
                <a:latin typeface="Arial"/>
                <a:cs typeface="Arial"/>
              </a:rPr>
              <a:t>Variável </a:t>
            </a:r>
            <a:r>
              <a:rPr sz="1600" b="1" spc="-6" dirty="0">
                <a:latin typeface="Arial"/>
                <a:cs typeface="Arial"/>
              </a:rPr>
              <a:t>inicializada  novamente</a:t>
            </a:r>
            <a:endParaRPr sz="1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2406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372" y="1121237"/>
            <a:ext cx="9776738" cy="62982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74575" y="5338248"/>
            <a:ext cx="6342968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29824" y="5365115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03230" y="6194650"/>
            <a:ext cx="3516346" cy="92189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52687" y="6220329"/>
            <a:ext cx="3316439" cy="757049"/>
          </a:xfrm>
          <a:custGeom>
            <a:avLst/>
            <a:gdLst/>
            <a:ahLst/>
            <a:cxnLst/>
            <a:rect l="l" t="t" r="r" b="b"/>
            <a:pathLst>
              <a:path w="2835910" h="687070">
                <a:moveTo>
                  <a:pt x="2748829" y="658727"/>
                </a:moveTo>
                <a:lnTo>
                  <a:pt x="2742437" y="686574"/>
                </a:lnTo>
                <a:lnTo>
                  <a:pt x="2835529" y="663981"/>
                </a:lnTo>
                <a:lnTo>
                  <a:pt x="2833034" y="661924"/>
                </a:lnTo>
                <a:lnTo>
                  <a:pt x="2762758" y="661924"/>
                </a:lnTo>
                <a:lnTo>
                  <a:pt x="2748829" y="658727"/>
                </a:lnTo>
                <a:close/>
              </a:path>
              <a:path w="2835910" h="687070">
                <a:moveTo>
                  <a:pt x="2755219" y="630885"/>
                </a:moveTo>
                <a:lnTo>
                  <a:pt x="2748829" y="658727"/>
                </a:lnTo>
                <a:lnTo>
                  <a:pt x="2762758" y="661924"/>
                </a:lnTo>
                <a:lnTo>
                  <a:pt x="2769108" y="634072"/>
                </a:lnTo>
                <a:lnTo>
                  <a:pt x="2755219" y="630885"/>
                </a:lnTo>
                <a:close/>
              </a:path>
              <a:path w="2835910" h="687070">
                <a:moveTo>
                  <a:pt x="2761615" y="603021"/>
                </a:moveTo>
                <a:lnTo>
                  <a:pt x="2755219" y="630885"/>
                </a:lnTo>
                <a:lnTo>
                  <a:pt x="2769108" y="634072"/>
                </a:lnTo>
                <a:lnTo>
                  <a:pt x="2762758" y="661924"/>
                </a:lnTo>
                <a:lnTo>
                  <a:pt x="2833034" y="661924"/>
                </a:lnTo>
                <a:lnTo>
                  <a:pt x="2761615" y="603021"/>
                </a:lnTo>
                <a:close/>
              </a:path>
              <a:path w="2835910" h="687070">
                <a:moveTo>
                  <a:pt x="6476" y="0"/>
                </a:moveTo>
                <a:lnTo>
                  <a:pt x="0" y="27851"/>
                </a:lnTo>
                <a:lnTo>
                  <a:pt x="2748829" y="658727"/>
                </a:lnTo>
                <a:lnTo>
                  <a:pt x="2755219" y="630885"/>
                </a:lnTo>
                <a:lnTo>
                  <a:pt x="647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56752" y="5659174"/>
            <a:ext cx="2599833" cy="538510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5622" rIns="0" bIns="0" rtlCol="0">
            <a:spAutoFit/>
          </a:bodyPr>
          <a:lstStyle/>
          <a:p>
            <a:pPr marL="339628" marR="330214" indent="156417">
              <a:spcBef>
                <a:spcPts val="359"/>
              </a:spcBef>
            </a:pPr>
            <a:r>
              <a:rPr sz="1600" b="1" dirty="0">
                <a:latin typeface="Arial"/>
                <a:cs typeface="Arial"/>
              </a:rPr>
              <a:t>Impressões </a:t>
            </a:r>
            <a:r>
              <a:rPr sz="1600" b="1" spc="-6" dirty="0">
                <a:latin typeface="Arial"/>
                <a:cs typeface="Arial"/>
              </a:rPr>
              <a:t>dos  elementos do</a:t>
            </a:r>
            <a:r>
              <a:rPr sz="1600" b="1" spc="-108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vetor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851963" y="6235680"/>
            <a:ext cx="2105263" cy="52583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04026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372" y="1121169"/>
            <a:ext cx="9776738" cy="63359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576697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603146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851963" y="6235680"/>
            <a:ext cx="2105263" cy="5258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27135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372" y="1121239"/>
            <a:ext cx="9791293" cy="62982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9372" y="1136422"/>
            <a:ext cx="9767677" cy="63207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5" name="object 5"/>
          <p:cNvSpPr/>
          <p:nvPr/>
        </p:nvSpPr>
        <p:spPr>
          <a:xfrm>
            <a:off x="3860318" y="5338248"/>
            <a:ext cx="6341186" cy="3425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915120" y="5365115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357226" y="6235680"/>
            <a:ext cx="1599999" cy="52583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6000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8951" y="1136462"/>
            <a:ext cx="9758173" cy="63303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576697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603146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08308" y="1136442"/>
            <a:ext cx="9787283" cy="2069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08308" y="1136442"/>
            <a:ext cx="9787283" cy="37485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104594" y="6621047"/>
            <a:ext cx="1161644" cy="52583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357226" y="6235680"/>
            <a:ext cx="1599999" cy="52583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35728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8308" y="1136462"/>
            <a:ext cx="9787283" cy="63303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338248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365115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862488" y="6235680"/>
            <a:ext cx="1094722" cy="5258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10880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8308" y="1138561"/>
            <a:ext cx="9798570" cy="63282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576697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603146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862488" y="6235680"/>
            <a:ext cx="1094722" cy="5258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67177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8308" y="1140966"/>
            <a:ext cx="9798570" cy="63501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338248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365115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99330" y="6235680"/>
            <a:ext cx="757880" cy="5258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51019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8308" y="1141006"/>
            <a:ext cx="9798570" cy="63376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576697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603146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99330" y="6235680"/>
            <a:ext cx="757880" cy="5258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80432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8308" y="1140950"/>
            <a:ext cx="9798570" cy="63471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338248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365115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578205" y="6235680"/>
            <a:ext cx="378947" cy="5258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87861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8308" y="1141004"/>
            <a:ext cx="9798570" cy="63376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576697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603146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578205" y="6235680"/>
            <a:ext cx="378947" cy="5258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09685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23204" y="1141045"/>
            <a:ext cx="9783718" cy="63309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338248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365115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66339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23204" y="1140986"/>
            <a:ext cx="9783718" cy="63215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813468"/>
            <a:ext cx="6341186" cy="34256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841175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41241" y="2698510"/>
            <a:ext cx="1056863" cy="28378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92583" y="2770717"/>
            <a:ext cx="856957" cy="94456"/>
          </a:xfrm>
          <a:custGeom>
            <a:avLst/>
            <a:gdLst/>
            <a:ahLst/>
            <a:cxnLst/>
            <a:rect l="l" t="t" r="r" b="b"/>
            <a:pathLst>
              <a:path w="732789" h="85725">
                <a:moveTo>
                  <a:pt x="85725" y="0"/>
                </a:moveTo>
                <a:lnTo>
                  <a:pt x="0" y="42925"/>
                </a:lnTo>
                <a:lnTo>
                  <a:pt x="85725" y="85725"/>
                </a:lnTo>
                <a:lnTo>
                  <a:pt x="85725" y="57150"/>
                </a:lnTo>
                <a:lnTo>
                  <a:pt x="71500" y="57150"/>
                </a:lnTo>
                <a:lnTo>
                  <a:pt x="71500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732789" h="85725">
                <a:moveTo>
                  <a:pt x="85725" y="28575"/>
                </a:moveTo>
                <a:lnTo>
                  <a:pt x="71500" y="28575"/>
                </a:lnTo>
                <a:lnTo>
                  <a:pt x="71500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732789" h="85725">
                <a:moveTo>
                  <a:pt x="732282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732282" y="57150"/>
                </a:lnTo>
                <a:lnTo>
                  <a:pt x="732282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20319" y="2367800"/>
            <a:ext cx="2599833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169452" marR="160762" algn="ctr">
              <a:spcBef>
                <a:spcPts val="348"/>
              </a:spcBef>
            </a:pPr>
            <a:r>
              <a:rPr sz="1600" b="1" dirty="0">
                <a:latin typeface="Arial"/>
                <a:cs typeface="Arial"/>
              </a:rPr>
              <a:t>Incremento </a:t>
            </a:r>
            <a:r>
              <a:rPr sz="1600" b="1" spc="-6" dirty="0">
                <a:latin typeface="Arial"/>
                <a:cs typeface="Arial"/>
              </a:rPr>
              <a:t>da</a:t>
            </a:r>
            <a:r>
              <a:rPr sz="1600" b="1" spc="-148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variável  </a:t>
            </a:r>
            <a:r>
              <a:rPr sz="1600" b="1" dirty="0">
                <a:latin typeface="Arial"/>
                <a:cs typeface="Arial"/>
              </a:rPr>
              <a:t>e teste </a:t>
            </a:r>
            <a:r>
              <a:rPr sz="1600" b="1" spc="-6" dirty="0">
                <a:latin typeface="Arial"/>
                <a:cs typeface="Arial"/>
              </a:rPr>
              <a:t>da condição  </a:t>
            </a:r>
            <a:r>
              <a:rPr sz="1600" b="1" u="sng" dirty="0">
                <a:latin typeface="Arial"/>
                <a:cs typeface="Arial"/>
              </a:rPr>
              <a:t>falso</a:t>
            </a:r>
            <a:r>
              <a:rPr sz="1600" b="1" dirty="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44072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23204" y="1141040"/>
            <a:ext cx="9783718" cy="63969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2512948" y="5828579"/>
            <a:ext cx="1552324" cy="55078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63446" y="5853908"/>
            <a:ext cx="1352270" cy="382023"/>
          </a:xfrm>
          <a:custGeom>
            <a:avLst/>
            <a:gdLst/>
            <a:ahLst/>
            <a:cxnLst/>
            <a:rect l="l" t="t" r="r" b="b"/>
            <a:pathLst>
              <a:path w="1156335" h="346710">
                <a:moveTo>
                  <a:pt x="1069341" y="318560"/>
                </a:moveTo>
                <a:lnTo>
                  <a:pt x="1061846" y="346151"/>
                </a:lnTo>
                <a:lnTo>
                  <a:pt x="1155827" y="327291"/>
                </a:lnTo>
                <a:lnTo>
                  <a:pt x="1150270" y="322326"/>
                </a:lnTo>
                <a:lnTo>
                  <a:pt x="1083183" y="322326"/>
                </a:lnTo>
                <a:lnTo>
                  <a:pt x="1069341" y="318560"/>
                </a:lnTo>
                <a:close/>
              </a:path>
              <a:path w="1156335" h="346710">
                <a:moveTo>
                  <a:pt x="1076831" y="290987"/>
                </a:moveTo>
                <a:lnTo>
                  <a:pt x="1069341" y="318560"/>
                </a:lnTo>
                <a:lnTo>
                  <a:pt x="1083183" y="322326"/>
                </a:lnTo>
                <a:lnTo>
                  <a:pt x="1090676" y="294754"/>
                </a:lnTo>
                <a:lnTo>
                  <a:pt x="1076831" y="290987"/>
                </a:lnTo>
                <a:close/>
              </a:path>
              <a:path w="1156335" h="346710">
                <a:moveTo>
                  <a:pt x="1084326" y="263398"/>
                </a:moveTo>
                <a:lnTo>
                  <a:pt x="1076831" y="290987"/>
                </a:lnTo>
                <a:lnTo>
                  <a:pt x="1090676" y="294754"/>
                </a:lnTo>
                <a:lnTo>
                  <a:pt x="1083183" y="322326"/>
                </a:lnTo>
                <a:lnTo>
                  <a:pt x="1150270" y="322326"/>
                </a:lnTo>
                <a:lnTo>
                  <a:pt x="1084326" y="263398"/>
                </a:lnTo>
                <a:close/>
              </a:path>
              <a:path w="1156335" h="346710">
                <a:moveTo>
                  <a:pt x="7493" y="0"/>
                </a:moveTo>
                <a:lnTo>
                  <a:pt x="0" y="27686"/>
                </a:lnTo>
                <a:lnTo>
                  <a:pt x="1069341" y="318560"/>
                </a:lnTo>
                <a:lnTo>
                  <a:pt x="1076831" y="290987"/>
                </a:lnTo>
                <a:lnTo>
                  <a:pt x="749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57226" y="5654711"/>
            <a:ext cx="1010675" cy="39781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3449" rIns="0" bIns="0" rtlCol="0">
            <a:spAutoFit/>
          </a:bodyPr>
          <a:lstStyle/>
          <a:p>
            <a:pPr marL="241867">
              <a:spcBef>
                <a:spcPts val="342"/>
              </a:spcBef>
            </a:pPr>
            <a:r>
              <a:rPr sz="2300" b="1" dirty="0">
                <a:latin typeface="Arial"/>
                <a:cs typeface="Arial"/>
              </a:rPr>
              <a:t>FIM</a:t>
            </a:r>
            <a:endParaRPr sz="23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93390" y="6333558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860318" y="6068708"/>
            <a:ext cx="6341186" cy="34256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915120" y="6095521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14007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079500" y="1339850"/>
            <a:ext cx="8686800" cy="39934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endParaRPr lang="pt-BR" b="0" dirty="0"/>
          </a:p>
          <a:p>
            <a:endParaRPr lang="pt-BR" b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3500" dirty="0">
                <a:solidFill>
                  <a:schemeClr val="tx1"/>
                </a:solidFill>
                <a:latin typeface="Arial"/>
                <a:cs typeface="Arial"/>
              </a:rPr>
              <a:t>Para maiores informações sobre o </a:t>
            </a:r>
            <a:r>
              <a:rPr lang="pt-BR" sz="3500" dirty="0" err="1">
                <a:solidFill>
                  <a:schemeClr val="tx1"/>
                </a:solidFill>
                <a:latin typeface="Arial"/>
                <a:cs typeface="Arial"/>
              </a:rPr>
              <a:t>debugger</a:t>
            </a:r>
            <a:r>
              <a:rPr lang="pt-BR" sz="3500" dirty="0">
                <a:solidFill>
                  <a:schemeClr val="tx1"/>
                </a:solidFill>
                <a:latin typeface="Arial"/>
                <a:cs typeface="Arial"/>
              </a:rPr>
              <a:t> do </a:t>
            </a:r>
            <a:r>
              <a:rPr lang="pt-BR" sz="3500" dirty="0" err="1">
                <a:solidFill>
                  <a:schemeClr val="tx1"/>
                </a:solidFill>
                <a:latin typeface="Arial"/>
                <a:cs typeface="Arial"/>
              </a:rPr>
              <a:t>Code</a:t>
            </a:r>
            <a:r>
              <a:rPr lang="pt-BR" sz="3500" dirty="0">
                <a:solidFill>
                  <a:schemeClr val="tx1"/>
                </a:solidFill>
                <a:latin typeface="Arial"/>
                <a:cs typeface="Arial"/>
              </a:rPr>
              <a:t>::</a:t>
            </a:r>
            <a:r>
              <a:rPr lang="pt-BR" sz="3500" dirty="0" err="1">
                <a:solidFill>
                  <a:schemeClr val="tx1"/>
                </a:solidFill>
                <a:latin typeface="Arial"/>
                <a:cs typeface="Arial"/>
              </a:rPr>
              <a:t>Blocks</a:t>
            </a:r>
            <a:r>
              <a:rPr lang="pt-BR" sz="3500" dirty="0">
                <a:solidFill>
                  <a:schemeClr val="tx1"/>
                </a:solidFill>
                <a:latin typeface="Arial"/>
                <a:cs typeface="Arial"/>
              </a:rPr>
              <a:t>, acesse o endereço abaixo: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b="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3200" u="sng" dirty="0">
              <a:solidFill>
                <a:schemeClr val="accent1"/>
              </a:solidFill>
              <a:latin typeface="Arial"/>
              <a:cs typeface="Arial"/>
            </a:endParaRPr>
          </a:p>
          <a:p>
            <a:r>
              <a:rPr lang="pt-BR" sz="3200" u="sng" dirty="0">
                <a:solidFill>
                  <a:schemeClr val="accent1"/>
                </a:solidFill>
                <a:latin typeface="Arial"/>
                <a:cs typeface="Arial"/>
              </a:rPr>
              <a:t>http://wiki.codeblocks.org/index.php/Debugging_with_Code::Blocks 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Dica</a:t>
            </a:r>
          </a:p>
        </p:txBody>
      </p:sp>
    </p:spTree>
    <p:extLst>
      <p:ext uri="{BB962C8B-B14F-4D97-AF65-F5344CB8AC3E}">
        <p14:creationId xmlns:p14="http://schemas.microsoft.com/office/powerpoint/2010/main" val="2853786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 txBox="1">
            <a:spLocks noGrp="1"/>
          </p:cNvSpPr>
          <p:nvPr>
            <p:ph type="title"/>
          </p:nvPr>
        </p:nvSpPr>
        <p:spPr>
          <a:xfrm>
            <a:off x="1707413" y="2615806"/>
            <a:ext cx="7278573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5" dirty="0"/>
              <a:t>E</a:t>
            </a:r>
            <a:r>
              <a:rPr spc="10" dirty="0"/>
              <a:t>st</a:t>
            </a:r>
            <a:r>
              <a:rPr spc="70" dirty="0"/>
              <a:t>r</a:t>
            </a:r>
            <a:r>
              <a:rPr spc="15" dirty="0"/>
              <a:t>utu</a:t>
            </a:r>
            <a:r>
              <a:rPr spc="-35" dirty="0"/>
              <a:t>r</a:t>
            </a:r>
            <a:r>
              <a:rPr spc="15" dirty="0"/>
              <a:t>as</a:t>
            </a:r>
            <a:r>
              <a:rPr spc="5" dirty="0"/>
              <a:t> </a:t>
            </a:r>
            <a:r>
              <a:rPr spc="15" dirty="0"/>
              <a:t>de</a:t>
            </a:r>
            <a:r>
              <a:rPr spc="5" dirty="0"/>
              <a:t> </a:t>
            </a:r>
            <a:r>
              <a:rPr spc="15" dirty="0"/>
              <a:t>Dados</a:t>
            </a:r>
            <a:r>
              <a:rPr spc="5" dirty="0"/>
              <a:t> </a:t>
            </a:r>
            <a:r>
              <a:rPr spc="15" dirty="0" err="1" smtClean="0"/>
              <a:t>Básicas</a:t>
            </a:r>
            <a:endParaRPr sz="5325" baseline="24256" dirty="0">
              <a:latin typeface="Lucida Sans Unicode"/>
              <a:cs typeface="Lucida Sans Unicode"/>
            </a:endParaRPr>
          </a:p>
        </p:txBody>
      </p:sp>
      <p:sp>
        <p:nvSpPr>
          <p:cNvPr id="9" name="object 3"/>
          <p:cNvSpPr/>
          <p:nvPr/>
        </p:nvSpPr>
        <p:spPr>
          <a:xfrm>
            <a:off x="915669" y="3526802"/>
            <a:ext cx="8863330" cy="285115"/>
          </a:xfrm>
          <a:custGeom>
            <a:avLst/>
            <a:gdLst/>
            <a:ahLst/>
            <a:cxnLst/>
            <a:rect l="l" t="t" r="r" b="b"/>
            <a:pathLst>
              <a:path w="8863330" h="285114">
                <a:moveTo>
                  <a:pt x="8863052" y="284607"/>
                </a:moveTo>
                <a:lnTo>
                  <a:pt x="8863052" y="0"/>
                </a:lnTo>
                <a:lnTo>
                  <a:pt x="0" y="0"/>
                </a:lnTo>
                <a:lnTo>
                  <a:pt x="0" y="284607"/>
                </a:lnTo>
                <a:lnTo>
                  <a:pt x="8863052" y="2846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79754026"/>
      </p:ext>
    </p:extLst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22756" y="126061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0056" y="855737"/>
            <a:ext cx="8557260" cy="645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Tipos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strat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(</a:t>
            </a: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AD)</a:t>
            </a:r>
            <a:endParaRPr sz="24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114935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lo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ic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panhad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definida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obr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o 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odel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852169" marR="5080" indent="-262890">
              <a:lnSpc>
                <a:spcPct val="116300"/>
              </a:lnSpc>
              <a:spcBef>
                <a:spcPts val="540"/>
              </a:spcBef>
              <a:tabLst>
                <a:tab pos="852169" algn="l"/>
              </a:tabLst>
            </a:pPr>
            <a:r>
              <a:rPr sz="2050" b="1" spc="5" dirty="0">
                <a:solidFill>
                  <a:prstClr val="black"/>
                </a:solidFill>
                <a:latin typeface="Times New Roman"/>
                <a:cs typeface="Times New Roman"/>
              </a:rPr>
              <a:t>–	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-6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plo:</a:t>
            </a:r>
            <a:r>
              <a:rPr sz="2050" spc="1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onjun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eiro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panhad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,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ub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e </a:t>
            </a:r>
            <a:r>
              <a:rPr sz="2050" spc="-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ul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indent="-262255"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Ds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ilizado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ba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pa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proje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algo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235585" indent="-262255" algn="just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algo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linguage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pro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gr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6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xi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repre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dado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adore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upo</a:t>
            </a:r>
            <a:r>
              <a:rPr sz="2050" spc="8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ado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20701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repre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ico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rá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ab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dado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é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rea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liz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edian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dado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3937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9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si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Ds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gene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liz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-5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pro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gene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liz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-5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64452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en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la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dado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050" spc="1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defin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fic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lo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liz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pro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gr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9994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737600" cy="3977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ADs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(1)</a:t>
            </a:r>
            <a:endParaRPr sz="245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7"/>
              </a:spcBef>
            </a:pPr>
            <a:endParaRPr sz="2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484505" marR="445770" indent="-262255">
              <a:lnSpc>
                <a:spcPct val="1123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si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in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eiro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050" spc="1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9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oder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definir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a,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eguin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s: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852169" lvl="1" indent="-330835">
              <a:spcBef>
                <a:spcPts val="1205"/>
              </a:spcBef>
              <a:buFontTx/>
              <a:buAutoNum type="arabicPeriod"/>
              <a:tabLst>
                <a:tab pos="852805" algn="l"/>
              </a:tabLst>
            </a:pPr>
            <a:r>
              <a:rPr sz="1850" spc="-5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li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-3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zia;</a:t>
            </a:r>
            <a:endParaRPr sz="1850">
              <a:solidFill>
                <a:prstClr val="black"/>
              </a:solidFill>
              <a:latin typeface="Arial"/>
              <a:cs typeface="Arial"/>
            </a:endParaRPr>
          </a:p>
          <a:p>
            <a:pPr marL="852169" marR="5080" lvl="1" indent="-330835">
              <a:lnSpc>
                <a:spcPct val="124500"/>
              </a:lnSpc>
              <a:spcBef>
                <a:spcPts val="700"/>
              </a:spcBef>
              <a:buFontTx/>
              <a:buAutoNum type="arabicPeriod"/>
              <a:tabLst>
                <a:tab pos="852805" algn="l"/>
              </a:tabLst>
            </a:pP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ob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enha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18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imei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elemen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a;</a:t>
            </a:r>
            <a:r>
              <a:rPr sz="1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1850" spc="-3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-3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zia,</a:t>
            </a:r>
            <a:r>
              <a:rPr sz="18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5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ulo;</a:t>
            </a:r>
            <a:endParaRPr sz="1850">
              <a:solidFill>
                <a:prstClr val="black"/>
              </a:solidFill>
              <a:latin typeface="Arial"/>
              <a:cs typeface="Arial"/>
            </a:endParaRPr>
          </a:p>
          <a:p>
            <a:pPr marL="852169" lvl="1" indent="-330835">
              <a:spcBef>
                <a:spcPts val="1245"/>
              </a:spcBef>
              <a:buFontTx/>
              <a:buAutoNum type="arabicPeriod"/>
              <a:tabLst>
                <a:tab pos="852805" algn="l"/>
              </a:tabLst>
            </a:pP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ins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1850" spc="-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20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elemen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na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li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a.</a:t>
            </a:r>
            <a:endParaRPr sz="18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4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Há v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op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dado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pe</a:t>
            </a:r>
            <a:r>
              <a:rPr sz="2050" spc="5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mi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eficien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(po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6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-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anjo).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46037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609330" cy="4206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ADs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(2)</a:t>
            </a:r>
            <a:endParaRPr sz="245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7"/>
              </a:spcBef>
            </a:pPr>
            <a:endParaRPr sz="2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484505" marR="20256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ab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dado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é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pro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linguage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pro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gr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olhida.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480059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ualque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al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fica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re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à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pa</a:t>
            </a:r>
            <a:r>
              <a:rPr sz="2050" spc="8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en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ulada,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au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ou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050" spc="8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ódig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73215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onjun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050" spc="-6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eren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defin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di</a:t>
            </a:r>
            <a:r>
              <a:rPr sz="2050" spc="-6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eren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smo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qu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smo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lo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ic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olh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adequad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depend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spc="-6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8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a 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ere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rea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liz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obr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odel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39159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87666" y="862711"/>
            <a:ext cx="6852920" cy="50099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údo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apí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ulo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508634" lvl="1" indent="-495934">
              <a:lnSpc>
                <a:spcPct val="100000"/>
              </a:lnSpc>
              <a:buAutoNum type="arabicPeriod"/>
              <a:tabLst>
                <a:tab pos="509270" algn="l"/>
              </a:tabLst>
            </a:pPr>
            <a:r>
              <a:rPr sz="2050" dirty="0">
                <a:latin typeface="Arial"/>
                <a:cs typeface="Arial"/>
              </a:rPr>
              <a:t>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Lineare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 dirty="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dirty="0" err="1">
                <a:latin typeface="Arial"/>
                <a:cs typeface="Arial"/>
              </a:rPr>
              <a:t>L</a:t>
            </a:r>
            <a:r>
              <a:rPr sz="2050" spc="5" dirty="0" err="1">
                <a:latin typeface="Arial"/>
                <a:cs typeface="Arial"/>
              </a:rPr>
              <a:t>is</a:t>
            </a:r>
            <a:r>
              <a:rPr sz="2050" spc="-5" dirty="0" err="1">
                <a:latin typeface="Arial"/>
                <a:cs typeface="Arial"/>
              </a:rPr>
              <a:t>t</a:t>
            </a:r>
            <a:r>
              <a:rPr sz="2050" dirty="0" err="1">
                <a:latin typeface="Arial"/>
                <a:cs typeface="Arial"/>
              </a:rPr>
              <a:t>a</a:t>
            </a:r>
            <a:r>
              <a:rPr sz="2050" spc="5" dirty="0" err="1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lang="pt-BR" sz="2050" dirty="0" smtClean="0">
                <a:latin typeface="Arial"/>
                <a:cs typeface="Arial"/>
              </a:rPr>
              <a:t>com alocação estática</a:t>
            </a:r>
            <a:endParaRPr sz="2050" dirty="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dirty="0" err="1">
                <a:latin typeface="Arial"/>
                <a:cs typeface="Arial"/>
              </a:rPr>
              <a:t>L</a:t>
            </a:r>
            <a:r>
              <a:rPr sz="2050" spc="5" dirty="0" err="1">
                <a:latin typeface="Arial"/>
                <a:cs typeface="Arial"/>
              </a:rPr>
              <a:t>is</a:t>
            </a:r>
            <a:r>
              <a:rPr sz="2050" spc="-5" dirty="0" err="1">
                <a:latin typeface="Arial"/>
                <a:cs typeface="Arial"/>
              </a:rPr>
              <a:t>t</a:t>
            </a:r>
            <a:r>
              <a:rPr sz="2050" dirty="0" err="1">
                <a:latin typeface="Arial"/>
                <a:cs typeface="Arial"/>
              </a:rPr>
              <a:t>a</a:t>
            </a:r>
            <a:r>
              <a:rPr sz="2050" spc="5" dirty="0" err="1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lang="pt-BR" sz="2050" dirty="0">
                <a:latin typeface="Arial"/>
                <a:cs typeface="Arial"/>
              </a:rPr>
              <a:t>com alocação </a:t>
            </a:r>
            <a:r>
              <a:rPr lang="pt-BR" sz="2050" dirty="0" smtClean="0">
                <a:latin typeface="Arial"/>
                <a:cs typeface="Arial"/>
              </a:rPr>
              <a:t>dinâmica</a:t>
            </a:r>
            <a:endParaRPr sz="2050" dirty="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spcBef>
                <a:spcPts val="49"/>
              </a:spcBef>
              <a:buFont typeface="Arial"/>
              <a:buAutoNum type="arabicPeriod"/>
            </a:pPr>
            <a:endParaRPr sz="1600" dirty="0">
              <a:latin typeface="Times New Roman"/>
              <a:cs typeface="Times New Roman"/>
            </a:endParaRPr>
          </a:p>
          <a:p>
            <a:pPr marL="508634" lvl="1" indent="-495934">
              <a:lnSpc>
                <a:spcPct val="100000"/>
              </a:lnSpc>
              <a:buAutoNum type="arabicPeriod"/>
              <a:tabLst>
                <a:tab pos="509270" algn="l"/>
              </a:tabLst>
            </a:pP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 dirty="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 err="1">
                <a:latin typeface="Arial"/>
                <a:cs typeface="Arial"/>
              </a:rPr>
              <a:t>Pil</a:t>
            </a:r>
            <a:r>
              <a:rPr sz="2050" dirty="0" err="1">
                <a:latin typeface="Arial"/>
                <a:cs typeface="Arial"/>
              </a:rPr>
              <a:t>ha</a:t>
            </a:r>
            <a:r>
              <a:rPr sz="2050" spc="5" dirty="0" err="1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lang="pt-BR" sz="2050" dirty="0">
                <a:latin typeface="Arial"/>
                <a:cs typeface="Arial"/>
              </a:rPr>
              <a:t>com alocação estática </a:t>
            </a:r>
            <a:r>
              <a:rPr sz="2050" spc="-5" dirty="0" err="1" smtClean="0">
                <a:latin typeface="Arial"/>
                <a:cs typeface="Arial"/>
              </a:rPr>
              <a:t>I</a:t>
            </a:r>
            <a:r>
              <a:rPr sz="2050" spc="10" dirty="0" err="1" smtClean="0">
                <a:latin typeface="Arial"/>
                <a:cs typeface="Arial"/>
              </a:rPr>
              <a:t>m</a:t>
            </a:r>
            <a:r>
              <a:rPr sz="2050" dirty="0" err="1" smtClean="0">
                <a:latin typeface="Arial"/>
                <a:cs typeface="Arial"/>
              </a:rPr>
              <a:t>ple</a:t>
            </a:r>
            <a:r>
              <a:rPr sz="2050" spc="10" dirty="0" err="1" smtClean="0">
                <a:latin typeface="Arial"/>
                <a:cs typeface="Arial"/>
              </a:rPr>
              <a:t>m</a:t>
            </a:r>
            <a:r>
              <a:rPr sz="2050" dirty="0" err="1" smtClean="0">
                <a:latin typeface="Arial"/>
                <a:cs typeface="Arial"/>
              </a:rPr>
              <a:t>en</a:t>
            </a:r>
            <a:r>
              <a:rPr sz="2050" spc="-5" dirty="0" err="1" smtClean="0">
                <a:latin typeface="Arial"/>
                <a:cs typeface="Arial"/>
              </a:rPr>
              <a:t>t</a:t>
            </a:r>
            <a:r>
              <a:rPr sz="2050" dirty="0" err="1" smtClean="0">
                <a:latin typeface="Arial"/>
                <a:cs typeface="Arial"/>
              </a:rPr>
              <a:t>a</a:t>
            </a:r>
            <a:r>
              <a:rPr sz="2050" spc="5" dirty="0" err="1" smtClean="0">
                <a:latin typeface="Arial"/>
                <a:cs typeface="Arial"/>
              </a:rPr>
              <a:t>ç</a:t>
            </a:r>
            <a:r>
              <a:rPr sz="2050" dirty="0" err="1" smtClean="0">
                <a:latin typeface="Arial"/>
                <a:cs typeface="Arial"/>
              </a:rPr>
              <a:t>ã</a:t>
            </a:r>
            <a:r>
              <a:rPr sz="2050" spc="5" dirty="0" err="1" smtClean="0">
                <a:latin typeface="Arial"/>
                <a:cs typeface="Arial"/>
              </a:rPr>
              <a:t>o</a:t>
            </a:r>
            <a:r>
              <a:rPr sz="2050" spc="5" dirty="0" smtClean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 err="1">
                <a:latin typeface="Arial"/>
                <a:cs typeface="Arial"/>
              </a:rPr>
              <a:t>Pil</a:t>
            </a:r>
            <a:r>
              <a:rPr sz="2050" dirty="0" err="1">
                <a:latin typeface="Arial"/>
                <a:cs typeface="Arial"/>
              </a:rPr>
              <a:t>ha</a:t>
            </a:r>
            <a:r>
              <a:rPr sz="2050" spc="5" dirty="0" err="1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lang="pt-BR" sz="2050" dirty="0">
                <a:latin typeface="Arial"/>
                <a:cs typeface="Arial"/>
              </a:rPr>
              <a:t>com alocação dinâmica</a:t>
            </a:r>
            <a:endParaRPr sz="2050" dirty="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spcBef>
                <a:spcPts val="50"/>
              </a:spcBef>
              <a:buFont typeface="Arial"/>
              <a:buAutoNum type="arabicPeriod"/>
            </a:pPr>
            <a:endParaRPr sz="1600" dirty="0">
              <a:latin typeface="Times New Roman"/>
              <a:cs typeface="Times New Roman"/>
            </a:endParaRPr>
          </a:p>
          <a:p>
            <a:pPr marL="508634" lvl="1" indent="-495934">
              <a:lnSpc>
                <a:spcPct val="100000"/>
              </a:lnSpc>
              <a:buAutoNum type="arabicPeriod"/>
              <a:tabLst>
                <a:tab pos="509270" algn="l"/>
              </a:tabLst>
            </a:pPr>
            <a:r>
              <a:rPr sz="2050" dirty="0">
                <a:latin typeface="Arial"/>
                <a:cs typeface="Arial"/>
              </a:rPr>
              <a:t>Fila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 dirty="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dirty="0" err="1">
                <a:latin typeface="Arial"/>
                <a:cs typeface="Arial"/>
              </a:rPr>
              <a:t>Fila</a:t>
            </a:r>
            <a:r>
              <a:rPr sz="2050" spc="5" dirty="0" err="1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lang="pt-BR" sz="2050" dirty="0">
                <a:latin typeface="Arial"/>
                <a:cs typeface="Arial"/>
              </a:rPr>
              <a:t>com alocação estática</a:t>
            </a:r>
            <a:endParaRPr sz="2050" dirty="0" smtClean="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sz="2050" spc="-5" dirty="0" err="1" smtClean="0">
                <a:latin typeface="Arial"/>
                <a:cs typeface="Arial"/>
              </a:rPr>
              <a:t>I</a:t>
            </a:r>
            <a:r>
              <a:rPr sz="2050" spc="10" dirty="0" err="1" smtClean="0">
                <a:latin typeface="Arial"/>
                <a:cs typeface="Arial"/>
              </a:rPr>
              <a:t>m</a:t>
            </a:r>
            <a:r>
              <a:rPr sz="2050" dirty="0" err="1" smtClean="0">
                <a:latin typeface="Arial"/>
                <a:cs typeface="Arial"/>
              </a:rPr>
              <a:t>ple</a:t>
            </a:r>
            <a:r>
              <a:rPr sz="2050" spc="10" dirty="0" err="1" smtClean="0">
                <a:latin typeface="Arial"/>
                <a:cs typeface="Arial"/>
              </a:rPr>
              <a:t>m</a:t>
            </a:r>
            <a:r>
              <a:rPr sz="2050" dirty="0" err="1" smtClean="0">
                <a:latin typeface="Arial"/>
                <a:cs typeface="Arial"/>
              </a:rPr>
              <a:t>en</a:t>
            </a:r>
            <a:r>
              <a:rPr sz="2050" spc="-5" dirty="0" err="1" smtClean="0">
                <a:latin typeface="Arial"/>
                <a:cs typeface="Arial"/>
              </a:rPr>
              <a:t>t</a:t>
            </a:r>
            <a:r>
              <a:rPr sz="2050" dirty="0" err="1" smtClean="0">
                <a:latin typeface="Arial"/>
                <a:cs typeface="Arial"/>
              </a:rPr>
              <a:t>a</a:t>
            </a:r>
            <a:r>
              <a:rPr sz="2050" spc="5" dirty="0" err="1" smtClean="0">
                <a:latin typeface="Arial"/>
                <a:cs typeface="Arial"/>
              </a:rPr>
              <a:t>ç</a:t>
            </a:r>
            <a:r>
              <a:rPr sz="2050" dirty="0" err="1" smtClean="0">
                <a:latin typeface="Arial"/>
                <a:cs typeface="Arial"/>
              </a:rPr>
              <a:t>ã</a:t>
            </a:r>
            <a:r>
              <a:rPr sz="2050" spc="5" dirty="0" err="1" smtClean="0">
                <a:latin typeface="Arial"/>
                <a:cs typeface="Arial"/>
              </a:rPr>
              <a:t>o</a:t>
            </a:r>
            <a:r>
              <a:rPr sz="2050" spc="5" dirty="0" smtClean="0">
                <a:latin typeface="Arial"/>
                <a:cs typeface="Arial"/>
              </a:rPr>
              <a:t> </a:t>
            </a:r>
            <a:r>
              <a:rPr sz="2050" dirty="0" smtClean="0">
                <a:latin typeface="Arial"/>
                <a:cs typeface="Arial"/>
              </a:rPr>
              <a:t>d</a:t>
            </a:r>
            <a:r>
              <a:rPr sz="2050" spc="5" dirty="0" smtClean="0">
                <a:latin typeface="Arial"/>
                <a:cs typeface="Arial"/>
              </a:rPr>
              <a:t>e</a:t>
            </a:r>
            <a:r>
              <a:rPr sz="2050" dirty="0" smtClean="0">
                <a:latin typeface="Arial"/>
                <a:cs typeface="Arial"/>
              </a:rPr>
              <a:t> </a:t>
            </a:r>
            <a:r>
              <a:rPr sz="2050" dirty="0" err="1" smtClean="0">
                <a:latin typeface="Arial"/>
                <a:cs typeface="Arial"/>
              </a:rPr>
              <a:t>Fila</a:t>
            </a:r>
            <a:r>
              <a:rPr sz="2050" spc="5" dirty="0" err="1" smtClean="0">
                <a:latin typeface="Arial"/>
                <a:cs typeface="Arial"/>
              </a:rPr>
              <a:t>s</a:t>
            </a:r>
            <a:r>
              <a:rPr sz="2050" dirty="0" smtClean="0">
                <a:latin typeface="Arial"/>
                <a:cs typeface="Arial"/>
              </a:rPr>
              <a:t> </a:t>
            </a:r>
            <a:r>
              <a:rPr lang="pt-BR" sz="2050" dirty="0">
                <a:latin typeface="Arial"/>
                <a:cs typeface="Arial"/>
              </a:rPr>
              <a:t>com alocação dinâmica</a:t>
            </a:r>
            <a:endParaRPr sz="205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04580" cy="6163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Lineare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484505" marR="81661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liga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definida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4876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imi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uir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anda.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5" dirty="0">
                <a:latin typeface="Arial"/>
                <a:cs typeface="Arial"/>
              </a:rPr>
              <a:t>It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22479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s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ún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a, 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dua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7399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dequada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pr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ia, pe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ind</a:t>
            </a:r>
            <a:r>
              <a:rPr sz="2050" spc="5" dirty="0">
                <a:latin typeface="Arial"/>
                <a:cs typeface="Arial"/>
              </a:rPr>
              <a:t>o 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anipula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5" dirty="0">
                <a:latin typeface="Arial"/>
                <a:cs typeface="Arial"/>
              </a:rPr>
              <a:t>s im</a:t>
            </a:r>
            <a:r>
              <a:rPr sz="2050" dirty="0">
                <a:latin typeface="Arial"/>
                <a:cs typeface="Arial"/>
              </a:rPr>
              <a:t>pr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bé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im</a:t>
            </a:r>
            <a:r>
              <a:rPr sz="2050" dirty="0">
                <a:latin typeface="Arial"/>
                <a:cs typeface="Arial"/>
              </a:rPr>
              <a:t>pr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el.</a:t>
            </a:r>
            <a:endParaRPr sz="2050">
              <a:latin typeface="Arial"/>
              <a:cs typeface="Arial"/>
            </a:endParaRPr>
          </a:p>
          <a:p>
            <a:pPr marL="484505" marR="29400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ú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anipula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sim</a:t>
            </a:r>
            <a:r>
              <a:rPr sz="2050" dirty="0">
                <a:latin typeface="Arial"/>
                <a:cs typeface="Arial"/>
              </a:rPr>
              <a:t>bó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a, gerên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ia,</a:t>
            </a:r>
            <a:r>
              <a:rPr sz="2050" spc="5" dirty="0">
                <a:latin typeface="Arial"/>
                <a:cs typeface="Arial"/>
              </a:rPr>
              <a:t> si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piladore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404" y="862711"/>
            <a:ext cx="8618855" cy="4589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efiniçã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Lineare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46545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spc="112" baseline="-12345" dirty="0">
                <a:latin typeface="Tahoma"/>
                <a:cs typeface="Tahoma"/>
              </a:rPr>
              <a:t>1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spc="112" baseline="-12345" dirty="0">
                <a:latin typeface="Tahoma"/>
                <a:cs typeface="Tahoma"/>
              </a:rPr>
              <a:t>2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72" baseline="-12345" dirty="0">
                <a:latin typeface="Verdana"/>
                <a:cs typeface="Verdana"/>
              </a:rPr>
              <a:t>n</a:t>
            </a:r>
            <a:r>
              <a:rPr sz="2050" dirty="0">
                <a:latin typeface="Arial"/>
                <a:cs typeface="Arial"/>
              </a:rPr>
              <a:t>,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qual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-95" dirty="0">
                <a:latin typeface="Verdana"/>
                <a:cs typeface="Verdana"/>
              </a:rPr>
              <a:t>n</a:t>
            </a:r>
            <a:r>
              <a:rPr sz="2050" i="1" spc="-150" dirty="0">
                <a:latin typeface="Verdana"/>
                <a:cs typeface="Verdana"/>
              </a:rPr>
              <a:t>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pal prop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iedad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al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40" dirty="0">
                <a:latin typeface="Arial"/>
                <a:cs typeface="Arial"/>
              </a:rPr>
              <a:t>n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ol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rela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8572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Ass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95" dirty="0">
                <a:latin typeface="Verdana"/>
                <a:cs typeface="Verdana"/>
              </a:rPr>
              <a:t>n</a:t>
            </a:r>
            <a:r>
              <a:rPr sz="2050" i="1" spc="-150" dirty="0">
                <a:latin typeface="Verdana"/>
                <a:cs typeface="Verdan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spc="-15" baseline="-12345" dirty="0">
                <a:latin typeface="Tahoma"/>
                <a:cs typeface="Tahoma"/>
              </a:rPr>
              <a:t>1</a:t>
            </a:r>
            <a:r>
              <a:rPr sz="2025" baseline="-12345" dirty="0">
                <a:latin typeface="Tahoma"/>
                <a:cs typeface="Tahoma"/>
              </a:rPr>
              <a:t> </a:t>
            </a:r>
            <a:r>
              <a:rPr sz="2025" spc="-277" baseline="-12345" dirty="0">
                <a:latin typeface="Tahoma"/>
                <a:cs typeface="Tahoma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44" baseline="-12345" dirty="0">
                <a:latin typeface="Verdana"/>
                <a:cs typeface="Verdana"/>
              </a:rPr>
              <a:t>n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dirty="0">
                <a:latin typeface="Arial"/>
                <a:cs typeface="Arial"/>
              </a:rPr>
              <a:t>pre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spc="225" baseline="-12345" dirty="0">
                <a:latin typeface="Tahoma"/>
                <a:cs typeface="Tahoma"/>
              </a:rPr>
              <a:t>+</a:t>
            </a:r>
            <a:r>
              <a:rPr sz="2025" spc="-15" baseline="-12345" dirty="0">
                <a:latin typeface="Tahoma"/>
                <a:cs typeface="Tahoma"/>
              </a:rPr>
              <a:t>1</a:t>
            </a:r>
            <a:r>
              <a:rPr sz="2025" baseline="-12345" dirty="0">
                <a:latin typeface="Tahoma"/>
                <a:cs typeface="Tahoma"/>
              </a:rPr>
              <a:t> </a:t>
            </a:r>
            <a:r>
              <a:rPr sz="2025" spc="-277" baseline="-12345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125" dirty="0">
                <a:latin typeface="Verdana"/>
                <a:cs typeface="Verdana"/>
              </a:rPr>
              <a:t>i</a:t>
            </a:r>
            <a:r>
              <a:rPr sz="2050" i="1" spc="-150" dirty="0">
                <a:latin typeface="Verdana"/>
                <a:cs typeface="Verdan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spc="-110" dirty="0">
                <a:latin typeface="Tahoma"/>
                <a:cs typeface="Tahoma"/>
              </a:rPr>
              <a:t>2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i="1" spc="-95" dirty="0">
                <a:latin typeface="Verdana"/>
                <a:cs typeface="Verdana"/>
              </a:rPr>
              <a:t>n</a:t>
            </a:r>
            <a:r>
              <a:rPr sz="2050" i="1" spc="-265" dirty="0">
                <a:latin typeface="Verdana"/>
                <a:cs typeface="Verdan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endParaRPr sz="2050">
              <a:latin typeface="Tahoma"/>
              <a:cs typeface="Tahoma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spc="517" baseline="-12345" dirty="0">
                <a:latin typeface="Arial"/>
                <a:cs typeface="Arial"/>
              </a:rPr>
              <a:t>−</a:t>
            </a:r>
            <a:r>
              <a:rPr sz="2025" spc="-15" baseline="-12345" dirty="0">
                <a:latin typeface="Tahoma"/>
                <a:cs typeface="Tahoma"/>
              </a:rPr>
              <a:t>1</a:t>
            </a:r>
            <a:r>
              <a:rPr sz="2025" baseline="-12345" dirty="0">
                <a:latin typeface="Tahoma"/>
                <a:cs typeface="Tahoma"/>
              </a:rPr>
              <a:t> </a:t>
            </a:r>
            <a:r>
              <a:rPr sz="2025" spc="-277" baseline="-12345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125" dirty="0">
                <a:latin typeface="Verdana"/>
                <a:cs typeface="Verdana"/>
              </a:rPr>
              <a:t>i</a:t>
            </a:r>
            <a:r>
              <a:rPr sz="2050" i="1" spc="-150" dirty="0">
                <a:latin typeface="Verdana"/>
                <a:cs typeface="Verdan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2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spc="-110" dirty="0">
                <a:latin typeface="Tahoma"/>
                <a:cs typeface="Tahoma"/>
              </a:rPr>
              <a:t>3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i="1" spc="-95" dirty="0">
                <a:latin typeface="Verdana"/>
                <a:cs typeface="Verdana"/>
              </a:rPr>
              <a:t>n</a:t>
            </a:r>
            <a:endParaRPr sz="2050">
              <a:latin typeface="Verdana"/>
              <a:cs typeface="Verdana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di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25" dirty="0">
                <a:latin typeface="Verdana"/>
                <a:cs typeface="Verdana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67"/>
            <a:ext cx="8737600" cy="645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AD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Lineare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a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definid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depend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é: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ir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edia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apó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852169" marR="249554" lvl="1" indent="-349885">
              <a:lnSpc>
                <a:spcPct val="116300"/>
              </a:lnSpc>
              <a:spcBef>
                <a:spcPts val="540"/>
              </a:spcBef>
              <a:buAutoNum type="arabicPeriod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-5" dirty="0">
                <a:latin typeface="Arial"/>
                <a:cs typeface="Arial"/>
              </a:rPr>
              <a:t>/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al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eúd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ponen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bina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lineare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ún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-10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óp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080" lvl="1" indent="-349885">
              <a:lnSpc>
                <a:spcPct val="116300"/>
              </a:lnSpc>
              <a:spcBef>
                <a:spcPts val="540"/>
              </a:spcBef>
              <a:buAutoNum type="arabicPeriod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algun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ponen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96265" lvl="1" indent="-349885">
              <a:lnSpc>
                <a:spcPct val="116300"/>
              </a:lnSpc>
              <a:spcBef>
                <a:spcPts val="540"/>
              </a:spcBef>
              <a:buAutoNum type="arabicPeriod"/>
              <a:tabLst>
                <a:tab pos="852805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orrên</a:t>
            </a:r>
            <a:r>
              <a:rPr sz="2050" spc="5" dirty="0">
                <a:latin typeface="Arial"/>
                <a:cs typeface="Arial"/>
              </a:rPr>
              <a:t>cia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ula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ponen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562340" cy="5957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Lineare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484505" marR="17145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lineare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ulare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6573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As </a:t>
            </a:r>
            <a:r>
              <a:rPr sz="2050" dirty="0">
                <a:latin typeface="Arial"/>
                <a:cs typeface="Arial"/>
              </a:rPr>
              <a:t>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 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anjo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F</a:t>
            </a:r>
            <a:r>
              <a:rPr sz="2050" spc="-225" dirty="0">
                <a:latin typeface="Arial"/>
                <a:cs typeface="Arial"/>
              </a:rPr>
              <a:t>L</a:t>
            </a: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10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ere(</a:t>
            </a:r>
            <a:r>
              <a:rPr sz="2050" spc="5" dirty="0">
                <a:latin typeface="Arial"/>
                <a:cs typeface="Arial"/>
              </a:rPr>
              <a:t>x, 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 x</a:t>
            </a:r>
            <a:r>
              <a:rPr sz="2050" dirty="0">
                <a:latin typeface="Arial"/>
                <a:cs typeface="Arial"/>
              </a:rPr>
              <a:t> apó</a:t>
            </a:r>
            <a:r>
              <a:rPr sz="2050" spc="5" dirty="0">
                <a:latin typeface="Arial"/>
                <a:cs typeface="Arial"/>
              </a:rPr>
              <a:t>s o</a:t>
            </a:r>
            <a:r>
              <a:rPr sz="2050" dirty="0">
                <a:latin typeface="Arial"/>
                <a:cs typeface="Arial"/>
              </a:rPr>
              <a:t> 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marR="5080" lvl="1" indent="-349885">
              <a:lnSpc>
                <a:spcPct val="116300"/>
              </a:lnSpc>
              <a:spcBef>
                <a:spcPts val="54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a(</a:t>
            </a:r>
            <a:r>
              <a:rPr sz="2050" spc="-7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a,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p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a,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ando-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sl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p+</a:t>
            </a:r>
            <a:r>
              <a:rPr sz="2050" spc="5" dirty="0">
                <a:latin typeface="Arial"/>
                <a:cs typeface="Arial"/>
              </a:rPr>
              <a:t>1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-5" dirty="0">
                <a:latin typeface="Arial"/>
                <a:cs typeface="Arial"/>
              </a:rPr>
              <a:t>t</a:t>
            </a:r>
            <a:r>
              <a:rPr sz="2050" i="1" spc="35" dirty="0">
                <a:latin typeface="Arial"/>
                <a:cs typeface="Arial"/>
              </a:rPr>
              <a:t>r</a:t>
            </a:r>
            <a:r>
              <a:rPr sz="2050" i="1" dirty="0">
                <a:latin typeface="Arial"/>
                <a:cs typeface="Arial"/>
              </a:rPr>
              <a:t>u</a:t>
            </a:r>
            <a:r>
              <a:rPr sz="2050" i="1" spc="5" dirty="0">
                <a:latin typeface="Arial"/>
                <a:cs typeface="Arial"/>
              </a:rPr>
              <a:t>e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a;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00"/>
              </a:spcBef>
            </a:pPr>
            <a:r>
              <a:rPr sz="2050" i="1" spc="-65" dirty="0">
                <a:latin typeface="Arial"/>
                <a:cs typeface="Arial"/>
              </a:rPr>
              <a:t>f</a:t>
            </a:r>
            <a:r>
              <a:rPr sz="2050" i="1" dirty="0">
                <a:latin typeface="Arial"/>
                <a:cs typeface="Arial"/>
              </a:rPr>
              <a:t>a</a:t>
            </a:r>
            <a:r>
              <a:rPr sz="2050" i="1" spc="5" dirty="0">
                <a:latin typeface="Arial"/>
                <a:cs typeface="Arial"/>
              </a:rPr>
              <a:t>ls</a:t>
            </a:r>
            <a:r>
              <a:rPr sz="2050" i="1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 startAt="5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e(L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orrên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8724900" cy="3770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 err="1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5" dirty="0">
                <a:solidFill>
                  <a:srgbClr val="007F7A"/>
                </a:solidFill>
                <a:latin typeface="Arial"/>
                <a:cs typeface="Arial"/>
              </a:rPr>
              <a:t>com alocação estática</a:t>
            </a:r>
            <a:endParaRPr sz="2450" b="1" spc="5" dirty="0">
              <a:solidFill>
                <a:srgbClr val="007F7A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21303" y="1392146"/>
            <a:ext cx="4481195" cy="2878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 algn="just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Os</a:t>
            </a:r>
            <a:r>
              <a:rPr sz="2050" spc="26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26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26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26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26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tí</a:t>
            </a:r>
            <a:r>
              <a:rPr sz="2050" dirty="0">
                <a:latin typeface="Arial"/>
                <a:cs typeface="Arial"/>
              </a:rPr>
              <a:t>gua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per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qual- 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dire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62482" y="1459166"/>
            <a:ext cx="490855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5" dirty="0">
                <a:latin typeface="Times New Roman"/>
                <a:cs typeface="Times New Roman"/>
              </a:rPr>
              <a:t>It</a:t>
            </a:r>
            <a:r>
              <a:rPr sz="1850" spc="15" dirty="0">
                <a:latin typeface="Times New Roman"/>
                <a:cs typeface="Times New Roman"/>
              </a:rPr>
              <a:t>e</a:t>
            </a:r>
            <a:r>
              <a:rPr sz="1850" spc="10" dirty="0">
                <a:latin typeface="Times New Roman"/>
                <a:cs typeface="Times New Roman"/>
              </a:rPr>
              <a:t>ns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01972" y="1770215"/>
            <a:ext cx="1296035" cy="605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15" dirty="0">
                <a:latin typeface="Times New Roman"/>
                <a:cs typeface="Times New Roman"/>
              </a:rPr>
              <a:t>P</a:t>
            </a:r>
            <a:r>
              <a:rPr sz="1850" spc="5" dirty="0">
                <a:latin typeface="Times New Roman"/>
                <a:cs typeface="Times New Roman"/>
              </a:rPr>
              <a:t>ri</a:t>
            </a:r>
            <a:r>
              <a:rPr sz="1850" spc="20" dirty="0">
                <a:latin typeface="Times New Roman"/>
                <a:cs typeface="Times New Roman"/>
              </a:rPr>
              <a:t>me</a:t>
            </a:r>
            <a:r>
              <a:rPr sz="1850" spc="5" dirty="0">
                <a:latin typeface="Times New Roman"/>
                <a:cs typeface="Times New Roman"/>
              </a:rPr>
              <a:t>ir</a:t>
            </a:r>
            <a:r>
              <a:rPr sz="1850" spc="15" dirty="0">
                <a:latin typeface="Times New Roman"/>
                <a:cs typeface="Times New Roman"/>
              </a:rPr>
              <a:t>o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spc="114" dirty="0">
                <a:latin typeface="Tahoma"/>
                <a:cs typeface="Tahoma"/>
              </a:rPr>
              <a:t>=</a:t>
            </a:r>
            <a:r>
              <a:rPr sz="1850" spc="-55" dirty="0">
                <a:latin typeface="Tahoma"/>
                <a:cs typeface="Tahoma"/>
              </a:rPr>
              <a:t> </a:t>
            </a:r>
            <a:r>
              <a:rPr sz="1850" spc="-70" dirty="0">
                <a:latin typeface="Tahoma"/>
                <a:cs typeface="Tahoma"/>
              </a:rPr>
              <a:t>1</a:t>
            </a:r>
            <a:endParaRPr sz="1850">
              <a:latin typeface="Tahoma"/>
              <a:cs typeface="Tahoma"/>
            </a:endParaRPr>
          </a:p>
          <a:p>
            <a:pPr marR="78740" algn="r">
              <a:lnSpc>
                <a:spcPct val="100000"/>
              </a:lnSpc>
              <a:spcBef>
                <a:spcPts val="225"/>
              </a:spcBef>
            </a:pPr>
            <a:r>
              <a:rPr sz="1850" spc="15" dirty="0">
                <a:latin typeface="Times New Roman"/>
                <a:cs typeface="Times New Roman"/>
              </a:rPr>
              <a:t>2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69445" y="2889859"/>
            <a:ext cx="1010285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5" dirty="0">
                <a:latin typeface="Times New Roman"/>
                <a:cs typeface="Times New Roman"/>
              </a:rPr>
              <a:t>Últi</a:t>
            </a:r>
            <a:r>
              <a:rPr sz="1850" spc="25" dirty="0">
                <a:latin typeface="Times New Roman"/>
                <a:cs typeface="Times New Roman"/>
              </a:rPr>
              <a:t>m</a:t>
            </a:r>
            <a:r>
              <a:rPr sz="1850" spc="10" dirty="0">
                <a:latin typeface="Times New Roman"/>
                <a:cs typeface="Times New Roman"/>
              </a:rPr>
              <a:t>o</a:t>
            </a:r>
            <a:r>
              <a:rPr sz="1850" spc="-10" dirty="0">
                <a:latin typeface="Lucida Sans Unicode"/>
                <a:cs typeface="Lucida Sans Unicode"/>
              </a:rPr>
              <a:t>−</a:t>
            </a:r>
            <a:r>
              <a:rPr sz="1850" spc="-70" dirty="0">
                <a:latin typeface="Tahoma"/>
                <a:cs typeface="Tahoma"/>
              </a:rPr>
              <a:t>1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93918" y="3698646"/>
            <a:ext cx="883919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20" dirty="0">
                <a:latin typeface="Times New Roman"/>
                <a:cs typeface="Times New Roman"/>
              </a:rPr>
              <a:t>Ma</a:t>
            </a:r>
            <a:r>
              <a:rPr sz="1850" spc="10" dirty="0">
                <a:latin typeface="Times New Roman"/>
                <a:cs typeface="Times New Roman"/>
              </a:rPr>
              <a:t>x</a:t>
            </a:r>
            <a:r>
              <a:rPr sz="1850" spc="-135" dirty="0">
                <a:latin typeface="Times New Roman"/>
                <a:cs typeface="Times New Roman"/>
              </a:rPr>
              <a:t>T</a:t>
            </a:r>
            <a:r>
              <a:rPr sz="1850" spc="20" dirty="0">
                <a:latin typeface="Times New Roman"/>
                <a:cs typeface="Times New Roman"/>
              </a:rPr>
              <a:t>am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454647" y="1468551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459042" y="1468488"/>
            <a:ext cx="0" cy="2628900"/>
          </a:xfrm>
          <a:custGeom>
            <a:avLst/>
            <a:gdLst/>
            <a:ahLst/>
            <a:cxnLst/>
            <a:rect l="l" t="t" r="r" b="b"/>
            <a:pathLst>
              <a:path h="2628900">
                <a:moveTo>
                  <a:pt x="0" y="2628328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213672" y="1468488"/>
            <a:ext cx="0" cy="2628900"/>
          </a:xfrm>
          <a:custGeom>
            <a:avLst/>
            <a:gdLst/>
            <a:ahLst/>
            <a:cxnLst/>
            <a:rect l="l" t="t" r="r" b="b"/>
            <a:pathLst>
              <a:path h="2628900">
                <a:moveTo>
                  <a:pt x="0" y="2628328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454647" y="4096753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221305" y="4318684"/>
            <a:ext cx="8414385" cy="16852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reque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sl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apó</a:t>
            </a:r>
            <a:r>
              <a:rPr sz="2050" spc="5" dirty="0">
                <a:latin typeface="Arial"/>
                <a:cs typeface="Arial"/>
              </a:rPr>
              <a:t>s o</a:t>
            </a:r>
            <a:r>
              <a:rPr sz="2050" dirty="0">
                <a:latin typeface="Arial"/>
                <a:cs typeface="Arial"/>
              </a:rPr>
              <a:t> 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42037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5" dirty="0">
                <a:latin typeface="Arial"/>
                <a:cs typeface="Arial"/>
              </a:rPr>
              <a:t>cio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reque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sl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preen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ço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ix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893197" y="1778590"/>
          <a:ext cx="1252943" cy="2248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2943"/>
              </a:tblGrid>
              <a:tr h="315455">
                <a:tc>
                  <a:txBody>
                    <a:bodyPr/>
                    <a:lstStyle/>
                    <a:p>
                      <a:pPr marR="3175" algn="ctr">
                        <a:lnSpc>
                          <a:spcPts val="1860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baseline="-12345" dirty="0">
                          <a:latin typeface="Tahoma"/>
                          <a:cs typeface="Tahoma"/>
                        </a:rPr>
                        <a:t>1</a:t>
                      </a:r>
                      <a:endParaRPr sz="2000" baseline="-12345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1010">
                <a:tc>
                  <a:txBody>
                    <a:bodyPr/>
                    <a:lstStyle/>
                    <a:p>
                      <a:pPr marR="3175" algn="ctr">
                        <a:lnSpc>
                          <a:spcPts val="1825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baseline="-12345" dirty="0">
                          <a:latin typeface="Tahoma"/>
                          <a:cs typeface="Tahoma"/>
                        </a:rPr>
                        <a:t>2</a:t>
                      </a:r>
                      <a:endParaRPr sz="2000" baseline="-12345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7662"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</a:pPr>
                      <a:r>
                        <a:rPr sz="1900" spc="-475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spc="-712" baseline="-21021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baseline="-42042" dirty="0">
                          <a:latin typeface="Times New Roman"/>
                          <a:cs typeface="Times New Roman"/>
                        </a:rPr>
                        <a:t>.</a:t>
                      </a:r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1010">
                <a:tc>
                  <a:txBody>
                    <a:bodyPr/>
                    <a:lstStyle/>
                    <a:p>
                      <a:pPr marR="3175" algn="ctr">
                        <a:lnSpc>
                          <a:spcPts val="1825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i="1" baseline="-12345" dirty="0">
                          <a:latin typeface="Verdana"/>
                          <a:cs typeface="Verdana"/>
                        </a:rPr>
                        <a:t>n</a:t>
                      </a:r>
                      <a:endParaRPr sz="2000" baseline="-12345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7662"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</a:pPr>
                      <a:r>
                        <a:rPr sz="1900" spc="-475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spc="-712" baseline="-21021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baseline="-42042" dirty="0">
                          <a:latin typeface="Times New Roman"/>
                          <a:cs typeface="Times New Roman"/>
                        </a:rPr>
                        <a:t>.</a:t>
                      </a:r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5480">
                <a:tc>
                  <a:txBody>
                    <a:bodyPr/>
                    <a:lstStyle/>
                    <a:p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35" y="862672"/>
            <a:ext cx="7383365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50" b="1" spc="5" dirty="0" err="1" smtClean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 err="1" smtClean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 err="1" smtClean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 smtClean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 smtClean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 err="1" smtClean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 err="1" smtClean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 smtClean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alocação </a:t>
            </a:r>
            <a:r>
              <a:rPr lang="pt-BR" sz="2450" b="1" spc="5" dirty="0">
                <a:solidFill>
                  <a:srgbClr val="007F7A"/>
                </a:solidFill>
                <a:latin typeface="Arial"/>
                <a:cs typeface="Arial"/>
              </a:rPr>
              <a:t>estática</a:t>
            </a:r>
          </a:p>
          <a:p>
            <a:pPr marL="12700">
              <a:lnSpc>
                <a:spcPct val="100000"/>
              </a:lnSpc>
            </a:pPr>
            <a:endParaRPr sz="2450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04203" y="1770749"/>
            <a:ext cx="2802255" cy="615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INICI</a:t>
            </a:r>
            <a:r>
              <a:rPr sz="1700" spc="-20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ARRAN</a:t>
            </a:r>
            <a:r>
              <a:rPr sz="1700" spc="5" dirty="0">
                <a:latin typeface="Arial"/>
                <a:cs typeface="Arial"/>
              </a:rPr>
              <a:t>J</a:t>
            </a:r>
            <a:r>
              <a:rPr sz="1700" spc="15" dirty="0">
                <a:latin typeface="Arial"/>
                <a:cs typeface="Arial"/>
              </a:rPr>
              <a:t>O</a:t>
            </a:r>
            <a:r>
              <a:rPr sz="1700" spc="17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100</a:t>
            </a:r>
            <a:r>
              <a:rPr sz="1700" spc="10" dirty="0">
                <a:latin typeface="Arial"/>
                <a:cs typeface="Arial"/>
              </a:rPr>
              <a:t>0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7897" y="2719721"/>
            <a:ext cx="3656965" cy="3461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870585">
              <a:lnSpc>
                <a:spcPct val="1332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20979">
              <a:lnSpc>
                <a:spcPct val="100000"/>
              </a:lnSpc>
              <a:spcBef>
                <a:spcPts val="675"/>
              </a:spcBef>
            </a:pP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5110">
              <a:lnSpc>
                <a:spcPct val="100000"/>
              </a:lnSpc>
              <a:spcBef>
                <a:spcPts val="67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200" dirty="0">
                <a:latin typeface="Lucida Sans Unicode"/>
                <a:cs typeface="Lucida Sans Unicode"/>
              </a:rPr>
              <a:t> </a:t>
            </a:r>
            <a:r>
              <a:rPr sz="1700" spc="-185" dirty="0">
                <a:latin typeface="Lucida Sans Unicode"/>
                <a:cs typeface="Lucida Sans Unicode"/>
              </a:rPr>
              <a:t>−−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45" dirty="0">
                <a:latin typeface="Arial"/>
                <a:cs typeface="Arial"/>
              </a:rPr>
              <a:t>s</a:t>
            </a:r>
            <a:r>
              <a:rPr sz="1700" spc="-185" dirty="0">
                <a:latin typeface="Lucida Sans Unicode"/>
                <a:cs typeface="Lucida Sans Unicode"/>
              </a:rPr>
              <a:t>−−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110" dirty="0">
                <a:latin typeface="Lucida Sans Unicode"/>
                <a:cs typeface="Lucida Sans Unicode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27329" marR="120014" indent="3175">
              <a:lnSpc>
                <a:spcPts val="2720"/>
              </a:lnSpc>
              <a:spcBef>
                <a:spcPts val="200"/>
              </a:spcBef>
            </a:pP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22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78536" y="1625204"/>
            <a:ext cx="4170679" cy="48849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 algn="just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6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6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6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35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rr</a:t>
            </a:r>
            <a:r>
              <a:rPr sz="2050" b="1" spc="-40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y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-2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3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</a:t>
            </a:r>
            <a:r>
              <a:rPr sz="2050" spc="5" dirty="0">
                <a:latin typeface="Arial"/>
                <a:cs typeface="Arial"/>
              </a:rPr>
              <a:t>r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Ú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spc="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- 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simo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spc="5" dirty="0">
                <a:latin typeface="Arial"/>
                <a:cs typeface="Arial"/>
              </a:rPr>
              <a:t>- r</a:t>
            </a:r>
            <a:r>
              <a:rPr sz="2050" b="1" spc="-40" dirty="0">
                <a:latin typeface="Arial"/>
                <a:cs typeface="Arial"/>
              </a:rPr>
              <a:t>a</a:t>
            </a:r>
            <a:r>
              <a:rPr sz="2050" b="1" dirty="0">
                <a:latin typeface="Arial"/>
                <a:cs typeface="Arial"/>
              </a:rPr>
              <a:t>y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≤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125" dirty="0">
                <a:latin typeface="Verdana"/>
                <a:cs typeface="Verdana"/>
              </a:rPr>
              <a:t>i</a:t>
            </a:r>
            <a:r>
              <a:rPr sz="2050" i="1" spc="-150" dirty="0">
                <a:latin typeface="Verdana"/>
                <a:cs typeface="Verdana"/>
              </a:rPr>
              <a:t> </a:t>
            </a:r>
            <a:r>
              <a:rPr sz="2050" i="1" spc="-105" dirty="0">
                <a:latin typeface="Verdana"/>
                <a:cs typeface="Verdana"/>
              </a:rPr>
              <a:t>&lt;</a:t>
            </a:r>
            <a:r>
              <a:rPr sz="2050" spc="5" dirty="0">
                <a:latin typeface="Arial"/>
                <a:cs typeface="Arial"/>
              </a:rPr>
              <a:t>Ú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spc="8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8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defin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8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8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- 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229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spc="229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229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2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62712"/>
            <a:ext cx="7705725" cy="1251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 err="1" smtClean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 err="1" smtClean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 err="1" smtClean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 smtClean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 err="1" smtClean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 err="1" smtClean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 err="1" smtClean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 err="1" smtClean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20" dirty="0" err="1" smtClean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 smtClean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alocação estática</a:t>
            </a:r>
            <a:endParaRPr sz="27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endParaRPr lang="pt-BR" sz="1700" b="1" spc="-25" dirty="0" smtClean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 smtClean="0">
                <a:latin typeface="Arial"/>
                <a:cs typeface="Arial"/>
              </a:rPr>
              <a:t>voi</a:t>
            </a:r>
            <a:r>
              <a:rPr sz="1700" b="1" spc="10" dirty="0" smtClean="0">
                <a:latin typeface="Arial"/>
                <a:cs typeface="Arial"/>
              </a:rPr>
              <a:t>d</a:t>
            </a:r>
            <a:r>
              <a:rPr sz="1700" b="1" dirty="0" smtClean="0">
                <a:latin typeface="Arial"/>
                <a:cs typeface="Arial"/>
              </a:rPr>
              <a:t> </a:t>
            </a:r>
            <a:r>
              <a:rPr sz="1700" b="1" spc="-190" dirty="0" smtClean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FLVazi</a:t>
            </a:r>
            <a:r>
              <a:rPr sz="1700" spc="9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  <a:tabLst>
                <a:tab pos="4092575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20" dirty="0">
                <a:latin typeface="Arial"/>
                <a:cs typeface="Arial"/>
              </a:rPr>
              <a:t>&gt;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INICI</a:t>
            </a:r>
            <a:r>
              <a:rPr sz="1700" spc="-20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ARRAN</a:t>
            </a:r>
            <a:r>
              <a:rPr sz="1700" spc="5" dirty="0">
                <a:latin typeface="Arial"/>
                <a:cs typeface="Arial"/>
              </a:rPr>
              <a:t>J</a:t>
            </a:r>
            <a:r>
              <a:rPr sz="1700" spc="15" dirty="0">
                <a:latin typeface="Arial"/>
                <a:cs typeface="Arial"/>
              </a:rPr>
              <a:t>O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20" dirty="0">
                <a:latin typeface="Arial"/>
                <a:cs typeface="Arial"/>
              </a:rPr>
              <a:t>&gt;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4949" y="2677452"/>
            <a:ext cx="4703445" cy="615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675"/>
              </a:spcBef>
              <a:tabLst>
                <a:tab pos="4617085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54229" y="3022410"/>
            <a:ext cx="117475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130" dirty="0">
                <a:latin typeface="Lucida Sans Unicode"/>
                <a:cs typeface="Lucida Sans Unicode"/>
              </a:rPr>
              <a:t> </a:t>
            </a:r>
            <a:r>
              <a:rPr sz="1700" i="1" spc="-5" dirty="0">
                <a:latin typeface="Arial"/>
                <a:cs typeface="Arial"/>
              </a:rPr>
              <a:t>Vazi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5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7218" y="3712477"/>
            <a:ext cx="5149215" cy="2340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59524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I</a:t>
            </a:r>
            <a:r>
              <a:rPr sz="1700" spc="50" dirty="0">
                <a:latin typeface="Arial"/>
                <a:cs typeface="Arial"/>
              </a:rPr>
              <a:t>n</a:t>
            </a:r>
            <a:r>
              <a:rPr sz="1700" spc="45" dirty="0">
                <a:latin typeface="Arial"/>
                <a:cs typeface="Arial"/>
              </a:rPr>
              <a:t>s</a:t>
            </a:r>
            <a:r>
              <a:rPr sz="1700" spc="5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r</a:t>
            </a:r>
            <a:r>
              <a:rPr sz="1700" spc="175" dirty="0">
                <a:latin typeface="Arial"/>
                <a:cs typeface="Arial"/>
              </a:rPr>
              <a:t>e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67359" marR="1553845" indent="-424180">
              <a:lnSpc>
                <a:spcPts val="2720"/>
              </a:lnSpc>
              <a:spcBef>
                <a:spcPts val="200"/>
              </a:spcBef>
              <a:tabLst>
                <a:tab pos="257810" algn="l"/>
                <a:tab pos="55943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45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 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chei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1140">
              <a:lnSpc>
                <a:spcPct val="100000"/>
              </a:lnSpc>
              <a:spcBef>
                <a:spcPts val="470"/>
              </a:spcBef>
              <a:tabLst>
                <a:tab pos="993140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5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0" dirty="0">
                <a:latin typeface="Lucida Sans Unicode"/>
                <a:cs typeface="Lucida Sans Unicode"/>
              </a:rPr>
              <a:t> </a:t>
            </a:r>
            <a:r>
              <a:rPr sz="1700" spc="114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993140">
              <a:lnSpc>
                <a:spcPct val="100000"/>
              </a:lnSpc>
              <a:spcBef>
                <a:spcPts val="675"/>
              </a:spcBef>
            </a:pP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45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R="3500120" algn="ctr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  <a:tabLst>
                <a:tab pos="352425" algn="l"/>
              </a:tabLst>
            </a:pPr>
            <a:r>
              <a:rPr sz="1700" spc="5" dirty="0">
                <a:latin typeface="Arial"/>
                <a:cs typeface="Arial"/>
              </a:rPr>
              <a:t>}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40" dirty="0">
                <a:latin typeface="Arial"/>
                <a:cs typeface="Arial"/>
              </a:rPr>
              <a:t>I</a:t>
            </a:r>
            <a:r>
              <a:rPr sz="1700" i="1" spc="50" dirty="0">
                <a:latin typeface="Arial"/>
                <a:cs typeface="Arial"/>
              </a:rPr>
              <a:t>n</a:t>
            </a:r>
            <a:r>
              <a:rPr sz="1700" i="1" spc="45" dirty="0">
                <a:latin typeface="Arial"/>
                <a:cs typeface="Arial"/>
              </a:rPr>
              <a:t>s</a:t>
            </a:r>
            <a:r>
              <a:rPr sz="1700" i="1" spc="50" dirty="0">
                <a:latin typeface="Arial"/>
                <a:cs typeface="Arial"/>
              </a:rPr>
              <a:t>e</a:t>
            </a:r>
            <a:r>
              <a:rPr sz="1700" i="1" spc="40" dirty="0">
                <a:latin typeface="Arial"/>
                <a:cs typeface="Arial"/>
              </a:rPr>
              <a:t>r</a:t>
            </a:r>
            <a:r>
              <a:rPr sz="1700" i="1" spc="10" dirty="0">
                <a:latin typeface="Arial"/>
                <a:cs typeface="Arial"/>
              </a:rPr>
              <a:t>e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50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51967"/>
            <a:ext cx="8530411" cy="61032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/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alocação </a:t>
            </a:r>
            <a:r>
              <a:rPr lang="pt-BR" sz="2450" b="1" spc="5" dirty="0">
                <a:solidFill>
                  <a:srgbClr val="007F7A"/>
                </a:solidFill>
                <a:latin typeface="Arial"/>
                <a:cs typeface="Arial"/>
              </a:rPr>
              <a:t>estática</a:t>
            </a:r>
          </a:p>
          <a:p>
            <a:pPr marL="16510">
              <a:lnSpc>
                <a:spcPct val="100000"/>
              </a:lnSpc>
            </a:pPr>
            <a:endParaRPr sz="24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3131185" algn="l"/>
              </a:tabLst>
            </a:pPr>
            <a:r>
              <a:rPr sz="1700" b="1" spc="-25" dirty="0" smtClean="0">
                <a:latin typeface="Arial"/>
                <a:cs typeface="Arial"/>
              </a:rPr>
              <a:t>voi</a:t>
            </a:r>
            <a:r>
              <a:rPr sz="1700" b="1" spc="10" dirty="0" smtClean="0">
                <a:latin typeface="Arial"/>
                <a:cs typeface="Arial"/>
              </a:rPr>
              <a:t>d</a:t>
            </a:r>
            <a:r>
              <a:rPr sz="1700" b="1" dirty="0" smtClean="0">
                <a:latin typeface="Arial"/>
                <a:cs typeface="Arial"/>
              </a:rPr>
              <a:t> </a:t>
            </a:r>
            <a:r>
              <a:rPr sz="1700" b="1" spc="-70" dirty="0" smtClean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Retir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114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5" dirty="0" err="1">
                <a:latin typeface="Arial"/>
                <a:cs typeface="Arial"/>
              </a:rPr>
              <a:t>TipoList</a:t>
            </a:r>
            <a:r>
              <a:rPr sz="1700" spc="10" dirty="0" err="1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300" dirty="0" smtClean="0">
                <a:latin typeface="Lucida Sans Unicode"/>
                <a:cs typeface="Lucida Sans Unicode"/>
              </a:rPr>
              <a:t>∗</a:t>
            </a:r>
            <a:r>
              <a:rPr lang="pt-BR" sz="1700" spc="-300" dirty="0" smtClean="0">
                <a:latin typeface="Lucida Sans Unicode"/>
                <a:cs typeface="Lucida Sans Unicode"/>
              </a:rPr>
              <a:t> </a:t>
            </a:r>
            <a:r>
              <a:rPr sz="1700" spc="85" dirty="0" err="1" smtClean="0">
                <a:latin typeface="Arial"/>
                <a:cs typeface="Arial"/>
              </a:rPr>
              <a:t>List</a:t>
            </a:r>
            <a:r>
              <a:rPr sz="1700" spc="10" dirty="0" err="1" smtClean="0">
                <a:latin typeface="Arial"/>
                <a:cs typeface="Arial"/>
              </a:rPr>
              <a:t>a</a:t>
            </a:r>
            <a:r>
              <a:rPr sz="1700" spc="-65" dirty="0" smtClean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 err="1">
                <a:latin typeface="Arial"/>
                <a:cs typeface="Arial"/>
              </a:rPr>
              <a:t>TipoIte</a:t>
            </a:r>
            <a:r>
              <a:rPr sz="1700" spc="15" dirty="0" err="1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 smtClean="0">
                <a:latin typeface="Lucida Sans Unicode"/>
                <a:cs typeface="Lucida Sans Unicode"/>
              </a:rPr>
              <a:t>∗</a:t>
            </a:r>
            <a:r>
              <a:rPr lang="pt-BR" sz="1700" spc="-375" dirty="0" smtClean="0">
                <a:latin typeface="Lucida Sans Unicode"/>
                <a:cs typeface="Lucida Sans Unicode"/>
              </a:rPr>
              <a:t> </a:t>
            </a:r>
            <a:r>
              <a:rPr sz="1700" spc="10" dirty="0" smtClean="0">
                <a:latin typeface="Arial"/>
                <a:cs typeface="Arial"/>
              </a:rPr>
              <a:t>Ite</a:t>
            </a:r>
            <a:r>
              <a:rPr sz="1700" spc="150" dirty="0" smtClean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4447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1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05"/>
              </a:spcBef>
              <a:tabLst>
                <a:tab pos="559435" algn="l"/>
                <a:tab pos="2192020" algn="l"/>
                <a:tab pos="247332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315" dirty="0" smtClean="0">
                <a:latin typeface="Lucida Sans Unicode"/>
                <a:cs typeface="Lucida Sans Unicode"/>
              </a:rPr>
              <a:t>∗</a:t>
            </a:r>
            <a:r>
              <a:rPr lang="pt-BR" sz="1700" spc="-315" dirty="0" smtClean="0">
                <a:latin typeface="Lucida Sans Unicode"/>
                <a:cs typeface="Lucida Sans Unicode"/>
              </a:rPr>
              <a:t> </a:t>
            </a:r>
            <a:r>
              <a:rPr sz="1700" spc="100" dirty="0" err="1" smtClean="0">
                <a:latin typeface="Arial"/>
                <a:cs typeface="Arial"/>
              </a:rPr>
              <a:t>List</a:t>
            </a:r>
            <a:r>
              <a:rPr sz="1700" spc="10" dirty="0" err="1" smtClean="0">
                <a:latin typeface="Arial"/>
                <a:cs typeface="Arial"/>
              </a:rPr>
              <a:t>a</a:t>
            </a:r>
            <a:r>
              <a:rPr sz="1700" spc="-80" dirty="0" smtClean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spc="150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7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05"/>
              </a:spcBef>
              <a:tabLst>
                <a:tab pos="467359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Posica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na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exist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R="5474970" algn="ctr">
              <a:lnSpc>
                <a:spcPct val="100000"/>
              </a:lnSpc>
              <a:spcBef>
                <a:spcPts val="605"/>
              </a:spcBef>
            </a:pP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243204" marR="3769360" indent="-13970">
              <a:lnSpc>
                <a:spcPct val="129700"/>
              </a:lnSpc>
            </a:pPr>
            <a:r>
              <a:rPr sz="1700" spc="-500" dirty="0" smtClean="0">
                <a:latin typeface="Lucida Sans Unicode"/>
                <a:cs typeface="Lucida Sans Unicode"/>
              </a:rPr>
              <a:t>∗</a:t>
            </a:r>
            <a:r>
              <a:rPr lang="pt-BR" sz="1700" spc="-500" dirty="0" smtClean="0">
                <a:latin typeface="Lucida Sans Unicode"/>
                <a:cs typeface="Lucida Sans Unicode"/>
              </a:rPr>
              <a:t>                          </a:t>
            </a:r>
            <a:r>
              <a:rPr sz="1700" spc="10" dirty="0" smtClean="0">
                <a:latin typeface="Arial"/>
                <a:cs typeface="Arial"/>
              </a:rPr>
              <a:t>Ite</a:t>
            </a:r>
            <a:r>
              <a:rPr sz="1700" spc="15" dirty="0" smtClean="0">
                <a:latin typeface="Arial"/>
                <a:cs typeface="Arial"/>
              </a:rPr>
              <a:t>m</a:t>
            </a:r>
            <a:r>
              <a:rPr sz="1700" dirty="0" smtClean="0">
                <a:latin typeface="Arial"/>
                <a:cs typeface="Arial"/>
              </a:rPr>
              <a:t> </a:t>
            </a:r>
            <a:r>
              <a:rPr sz="1700" spc="-180" dirty="0" smtClean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130" dirty="0">
                <a:latin typeface="Arial"/>
                <a:cs typeface="Arial"/>
              </a:rPr>
              <a:t>[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5" dirty="0">
                <a:latin typeface="Lucida Sans Unicode"/>
                <a:cs typeface="Lucida Sans Unicode"/>
              </a:rPr>
              <a:t> </a:t>
            </a:r>
            <a:r>
              <a:rPr sz="1700" spc="110" dirty="0">
                <a:latin typeface="Arial"/>
                <a:cs typeface="Arial"/>
              </a:rPr>
              <a:t>1]</a:t>
            </a:r>
            <a:r>
              <a:rPr sz="1700" spc="5" dirty="0">
                <a:latin typeface="Arial"/>
                <a:cs typeface="Arial"/>
              </a:rPr>
              <a:t>; </a:t>
            </a:r>
            <a:endParaRPr lang="pt-BR" sz="1700" spc="5" dirty="0" smtClean="0">
              <a:latin typeface="Arial"/>
              <a:cs typeface="Arial"/>
            </a:endParaRPr>
          </a:p>
          <a:p>
            <a:pPr marL="243204" marR="3769360" indent="-13970">
              <a:lnSpc>
                <a:spcPct val="129700"/>
              </a:lnSpc>
            </a:pPr>
            <a:r>
              <a:rPr sz="1700" spc="100" dirty="0" err="1" smtClean="0">
                <a:latin typeface="Arial"/>
                <a:cs typeface="Arial"/>
              </a:rPr>
              <a:t>List</a:t>
            </a:r>
            <a:r>
              <a:rPr sz="1700" spc="10" dirty="0" err="1" smtClean="0">
                <a:latin typeface="Arial"/>
                <a:cs typeface="Arial"/>
              </a:rPr>
              <a:t>a</a:t>
            </a:r>
            <a:r>
              <a:rPr sz="1700" spc="130" dirty="0" smtClean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25" dirty="0" smtClean="0">
                <a:latin typeface="Arial"/>
                <a:cs typeface="Arial"/>
              </a:rPr>
              <a:t>Ultim</a:t>
            </a:r>
            <a:r>
              <a:rPr sz="1700" spc="-75" dirty="0" smtClean="0">
                <a:latin typeface="Arial"/>
                <a:cs typeface="Arial"/>
              </a:rPr>
              <a:t>o</a:t>
            </a:r>
            <a:r>
              <a:rPr sz="1700" spc="-265" dirty="0">
                <a:latin typeface="Lucida Sans Unicode"/>
                <a:cs typeface="Lucida Sans Unicode"/>
              </a:rPr>
              <a:t>−</a:t>
            </a:r>
            <a:r>
              <a:rPr sz="1700" spc="-140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457200" marR="1965960" indent="-219710">
              <a:lnSpc>
                <a:spcPct val="129700"/>
              </a:lnSpc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(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9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-114" dirty="0">
                <a:latin typeface="Arial"/>
                <a:cs typeface="Arial"/>
              </a:rPr>
              <a:t>x</a:t>
            </a:r>
            <a:r>
              <a:rPr sz="1700" spc="-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) </a:t>
            </a:r>
            <a:endParaRPr lang="pt-BR" sz="1700" spc="5" dirty="0" smtClean="0">
              <a:latin typeface="Arial"/>
              <a:cs typeface="Arial"/>
            </a:endParaRPr>
          </a:p>
          <a:p>
            <a:pPr marL="457200" marR="1965960" indent="-219710">
              <a:lnSpc>
                <a:spcPct val="129700"/>
              </a:lnSpc>
            </a:pPr>
            <a:r>
              <a:rPr lang="pt-BR" sz="1700" spc="5">
                <a:latin typeface="Arial"/>
                <a:cs typeface="Arial"/>
              </a:rPr>
              <a:t>	</a:t>
            </a:r>
            <a:r>
              <a:rPr sz="1700" spc="100" smtClean="0">
                <a:latin typeface="Arial"/>
                <a:cs typeface="Arial"/>
              </a:rPr>
              <a:t>List</a:t>
            </a:r>
            <a:r>
              <a:rPr sz="1700" spc="10" smtClean="0">
                <a:latin typeface="Arial"/>
                <a:cs typeface="Arial"/>
              </a:rPr>
              <a:t>a</a:t>
            </a:r>
            <a:r>
              <a:rPr sz="1700" spc="130" dirty="0" smtClean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75" dirty="0">
                <a:latin typeface="Arial"/>
                <a:cs typeface="Arial"/>
              </a:rPr>
              <a:t>[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0" dirty="0">
                <a:latin typeface="Lucida Sans Unicode"/>
                <a:cs typeface="Lucida Sans Unicode"/>
              </a:rPr>
              <a:t> </a:t>
            </a:r>
            <a:r>
              <a:rPr sz="1700" spc="114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75" dirty="0">
                <a:latin typeface="Arial"/>
                <a:cs typeface="Arial"/>
              </a:rPr>
              <a:t>[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4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352425" algn="l"/>
                <a:tab pos="668020" algn="l"/>
                <a:tab pos="1423670" algn="l"/>
              </a:tabLst>
            </a:pPr>
            <a:r>
              <a:rPr sz="1700" spc="5" dirty="0">
                <a:latin typeface="Arial"/>
                <a:cs typeface="Arial"/>
              </a:rPr>
              <a:t>}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	</a:t>
            </a:r>
            <a:r>
              <a:rPr sz="1700" i="1" spc="70" dirty="0">
                <a:latin typeface="Arial"/>
                <a:cs typeface="Arial"/>
              </a:rPr>
              <a:t>Retir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	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Imprim</a:t>
            </a:r>
            <a:r>
              <a:rPr sz="1700" spc="10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4447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1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467359" marR="5080" indent="-229235">
              <a:lnSpc>
                <a:spcPct val="129700"/>
              </a:lnSpc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(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5" dirty="0">
                <a:latin typeface="Lucida Sans Unicode"/>
                <a:cs typeface="Lucida Sans Unicode"/>
              </a:rPr>
              <a:t> </a:t>
            </a:r>
            <a:r>
              <a:rPr sz="1700" spc="114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spc="105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8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90" dirty="0">
                <a:latin typeface="Lucida Sans Unicode"/>
                <a:cs typeface="Lucida Sans Unicode"/>
              </a:rPr>
              <a:t> </a:t>
            </a:r>
            <a:r>
              <a:rPr sz="1700" spc="125" dirty="0">
                <a:latin typeface="Arial"/>
                <a:cs typeface="Arial"/>
              </a:rPr>
              <a:t>2)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spc="145" dirty="0">
                <a:latin typeface="Arial"/>
                <a:cs typeface="Arial"/>
              </a:rPr>
              <a:t> </a:t>
            </a:r>
            <a:r>
              <a:rPr sz="1700" spc="-100" dirty="0" smtClean="0">
                <a:latin typeface="Arial"/>
                <a:cs typeface="Arial"/>
              </a:rPr>
              <a:t>Au</a:t>
            </a:r>
            <a:r>
              <a:rPr sz="1700" spc="-114" dirty="0" smtClean="0">
                <a:latin typeface="Arial"/>
                <a:cs typeface="Arial"/>
              </a:rPr>
              <a:t>x</a:t>
            </a:r>
            <a:r>
              <a:rPr lang="pt-BR" sz="1700" spc="-114" dirty="0" smtClean="0">
                <a:latin typeface="Arial"/>
                <a:cs typeface="Arial"/>
              </a:rPr>
              <a:t> </a:t>
            </a:r>
            <a:r>
              <a:rPr sz="1700" spc="-5" dirty="0" smtClean="0">
                <a:latin typeface="Arial"/>
                <a:cs typeface="Arial"/>
              </a:rPr>
              <a:t>++</a:t>
            </a:r>
            <a:r>
              <a:rPr sz="1700" spc="5" dirty="0" smtClean="0">
                <a:latin typeface="Arial"/>
                <a:cs typeface="Arial"/>
              </a:rPr>
              <a:t>)</a:t>
            </a:r>
            <a:endParaRPr lang="pt-BR" sz="1700" spc="5" dirty="0" smtClean="0">
              <a:latin typeface="Arial"/>
              <a:cs typeface="Arial"/>
            </a:endParaRPr>
          </a:p>
          <a:p>
            <a:pPr marL="467359" marR="5080" indent="-229235">
              <a:lnSpc>
                <a:spcPct val="129700"/>
              </a:lnSpc>
            </a:pPr>
            <a:r>
              <a:rPr sz="1700" spc="5" dirty="0" smtClean="0">
                <a:latin typeface="Arial"/>
                <a:cs typeface="Arial"/>
              </a:rPr>
              <a:t> 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5" dirty="0" smtClean="0">
                <a:latin typeface="Arial"/>
                <a:cs typeface="Arial"/>
              </a:rPr>
              <a:t>"</a:t>
            </a:r>
            <a:r>
              <a:rPr lang="pt-BR" sz="1700" spc="-225" dirty="0" smtClean="0">
                <a:latin typeface="Arial"/>
                <a:cs typeface="Arial"/>
              </a:rPr>
              <a:t>     </a:t>
            </a:r>
            <a:r>
              <a:rPr sz="1700" spc="-385" dirty="0" smtClean="0">
                <a:latin typeface="Arial"/>
                <a:cs typeface="Arial"/>
              </a:rPr>
              <a:t>%</a:t>
            </a:r>
            <a:r>
              <a:rPr lang="pt-BR" sz="1700" spc="-385" dirty="0" smtClean="0">
                <a:latin typeface="Arial"/>
                <a:cs typeface="Arial"/>
              </a:rPr>
              <a:t>         </a:t>
            </a:r>
            <a:r>
              <a:rPr sz="1700" spc="130" dirty="0" smtClean="0">
                <a:latin typeface="Arial"/>
                <a:cs typeface="Arial"/>
              </a:rPr>
              <a:t>d</a:t>
            </a:r>
            <a:r>
              <a:rPr lang="pt-BR" sz="1700" spc="130" dirty="0" smtClean="0">
                <a:latin typeface="Arial"/>
                <a:cs typeface="Arial"/>
              </a:rPr>
              <a:t>  </a:t>
            </a:r>
            <a:r>
              <a:rPr sz="1700" spc="130" dirty="0" smtClean="0">
                <a:latin typeface="Arial"/>
                <a:cs typeface="Arial"/>
              </a:rPr>
              <a:t>\</a:t>
            </a:r>
            <a:r>
              <a:rPr sz="1700" spc="65" dirty="0" smtClean="0">
                <a:latin typeface="Arial"/>
                <a:cs typeface="Arial"/>
              </a:rPr>
              <a:t>n</a:t>
            </a:r>
            <a:r>
              <a:rPr lang="pt-BR" sz="1700" spc="65" dirty="0" smtClean="0">
                <a:latin typeface="Arial"/>
                <a:cs typeface="Arial"/>
              </a:rPr>
              <a:t>  </a:t>
            </a:r>
            <a:r>
              <a:rPr sz="1700" spc="5" dirty="0" smtClean="0">
                <a:latin typeface="Arial"/>
                <a:cs typeface="Arial"/>
              </a:rPr>
              <a:t>"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75" dirty="0">
                <a:latin typeface="Arial"/>
                <a:cs typeface="Arial"/>
              </a:rPr>
              <a:t>[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4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9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352425" algn="l"/>
              </a:tabLst>
            </a:pPr>
            <a:r>
              <a:rPr sz="1700" spc="5" dirty="0">
                <a:latin typeface="Arial"/>
                <a:cs typeface="Arial"/>
              </a:rPr>
              <a:t>}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155" dirty="0">
                <a:latin typeface="Lucida Sans Unicode"/>
                <a:cs typeface="Lucida Sans Unicode"/>
              </a:rPr>
              <a:t> </a:t>
            </a:r>
            <a:r>
              <a:rPr sz="1700" i="1" spc="-30" dirty="0" err="1">
                <a:latin typeface="Arial"/>
                <a:cs typeface="Arial"/>
              </a:rPr>
              <a:t>Imprim</a:t>
            </a:r>
            <a:r>
              <a:rPr sz="1700" i="1" spc="10" dirty="0" err="1">
                <a:latin typeface="Arial"/>
                <a:cs typeface="Arial"/>
              </a:rPr>
              <a:t>e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30" dirty="0">
                <a:latin typeface="Arial"/>
                <a:cs typeface="Arial"/>
              </a:rPr>
              <a:t> </a:t>
            </a:r>
            <a:r>
              <a:rPr sz="1700" spc="-380" dirty="0" smtClean="0">
                <a:latin typeface="Lucida Sans Unicode"/>
                <a:cs typeface="Lucida Sans Unicode"/>
              </a:rPr>
              <a:t>∗</a:t>
            </a:r>
            <a:r>
              <a:rPr lang="pt-BR" sz="1700" spc="-380" dirty="0" smtClean="0">
                <a:latin typeface="Lucida Sans Unicode"/>
                <a:cs typeface="Lucida Sans Unicode"/>
              </a:rPr>
              <a:t>   </a:t>
            </a:r>
            <a:r>
              <a:rPr sz="1700" i="1" spc="5" dirty="0" smtClean="0">
                <a:latin typeface="Arial"/>
                <a:cs typeface="Arial"/>
              </a:rPr>
              <a:t>/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711"/>
            <a:ext cx="9516974" cy="44673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5" dirty="0">
                <a:solidFill>
                  <a:srgbClr val="007F7A"/>
                </a:solidFill>
                <a:latin typeface="Arial"/>
                <a:cs typeface="Arial"/>
              </a:rPr>
              <a:t>alocação estática </a:t>
            </a:r>
            <a:r>
              <a:rPr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- </a:t>
            </a:r>
            <a:r>
              <a:rPr sz="2450" b="1" spc="-13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40" dirty="0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es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40" dirty="0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ns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484505" marR="54292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</a:t>
            </a:r>
            <a:r>
              <a:rPr sz="2050" spc="5" dirty="0">
                <a:latin typeface="Arial"/>
                <a:cs typeface="Arial"/>
              </a:rPr>
              <a:t>m: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ono</a:t>
            </a:r>
            <a:r>
              <a:rPr sz="2050" spc="5" dirty="0">
                <a:latin typeface="Arial"/>
                <a:cs typeface="Arial"/>
              </a:rPr>
              <a:t>mia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(o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a).</a:t>
            </a: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 dirty="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 dirty="0">
              <a:latin typeface="Arial"/>
              <a:cs typeface="Arial"/>
            </a:endParaRPr>
          </a:p>
          <a:p>
            <a:pPr marL="852169" marR="54546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ir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a,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sl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o;</a:t>
            </a:r>
          </a:p>
          <a:p>
            <a:pPr marL="852169" marR="508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 o c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scim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a,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linguagen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al 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ica </a:t>
            </a:r>
            <a:r>
              <a:rPr sz="2050" dirty="0">
                <a:latin typeface="Arial"/>
                <a:cs typeface="Arial"/>
              </a:rPr>
              <a:t>porqu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5" dirty="0">
                <a:latin typeface="Arial"/>
                <a:cs typeface="Arial"/>
              </a:rPr>
              <a:t>sse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definid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48" y="862672"/>
            <a:ext cx="8698865" cy="3527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alocação dinâmica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adead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edian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ip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 dirty="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tí</a:t>
            </a:r>
            <a:r>
              <a:rPr sz="2050" dirty="0">
                <a:latin typeface="Arial"/>
                <a:cs typeface="Arial"/>
              </a:rPr>
              <a:t>gua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ia.</a:t>
            </a:r>
          </a:p>
          <a:p>
            <a:pPr marL="484505" marR="6032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ir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dirty="0">
                <a:latin typeface="Arial"/>
                <a:cs typeface="Arial"/>
              </a:rPr>
              <a:t>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sl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 dirty="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Há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cé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u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b="1" dirty="0">
                <a:latin typeface="Arial"/>
                <a:cs typeface="Arial"/>
              </a:rPr>
              <a:t>cabeç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sim</a:t>
            </a:r>
            <a:r>
              <a:rPr sz="2050" dirty="0">
                <a:latin typeface="Arial"/>
                <a:cs typeface="Arial"/>
              </a:rPr>
              <a:t>plifica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</a:p>
        </p:txBody>
      </p:sp>
      <p:sp>
        <p:nvSpPr>
          <p:cNvPr id="7" name="object 7"/>
          <p:cNvSpPr/>
          <p:nvPr/>
        </p:nvSpPr>
        <p:spPr>
          <a:xfrm>
            <a:off x="5243182" y="4848301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747740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20739" y="8294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65"/>
                </a:lnTo>
                <a:lnTo>
                  <a:pt x="20739" y="82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47740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43065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0" y="82943"/>
                </a:moveTo>
                <a:lnTo>
                  <a:pt x="103670" y="41465"/>
                </a:lnTo>
                <a:lnTo>
                  <a:pt x="20726" y="8290"/>
                </a:lnTo>
                <a:lnTo>
                  <a:pt x="20726" y="41465"/>
                </a:lnTo>
                <a:lnTo>
                  <a:pt x="0" y="82943"/>
                </a:lnTo>
                <a:close/>
              </a:path>
              <a:path w="104140" h="83185">
                <a:moveTo>
                  <a:pt x="0" y="0"/>
                </a:moveTo>
                <a:lnTo>
                  <a:pt x="20726" y="41465"/>
                </a:lnTo>
                <a:lnTo>
                  <a:pt x="20726" y="82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743065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0" y="82943"/>
                </a:moveTo>
                <a:lnTo>
                  <a:pt x="103670" y="41465"/>
                </a:lnTo>
                <a:lnTo>
                  <a:pt x="0" y="0"/>
                </a:lnTo>
                <a:lnTo>
                  <a:pt x="20726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482598" y="4848301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28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987184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0" y="82943"/>
                </a:moveTo>
                <a:lnTo>
                  <a:pt x="103670" y="41465"/>
                </a:lnTo>
                <a:lnTo>
                  <a:pt x="20739" y="8295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  <a:path w="104140" h="83185">
                <a:moveTo>
                  <a:pt x="0" y="0"/>
                </a:moveTo>
                <a:lnTo>
                  <a:pt x="20739" y="41465"/>
                </a:lnTo>
                <a:lnTo>
                  <a:pt x="20739" y="82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987184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0" y="82943"/>
                </a:moveTo>
                <a:lnTo>
                  <a:pt x="103670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874655" y="4723930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18" y="0"/>
                </a:lnTo>
                <a:lnTo>
                  <a:pt x="248818" y="248818"/>
                </a:ln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118772" y="4723930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18" y="0"/>
                </a:lnTo>
                <a:lnTo>
                  <a:pt x="248818" y="248818"/>
                </a:ln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358189" y="4723930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18" y="0"/>
                </a:lnTo>
                <a:lnTo>
                  <a:pt x="248818" y="248818"/>
                </a:ln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754947" y="4848301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259509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20739" y="8294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65"/>
                </a:lnTo>
                <a:lnTo>
                  <a:pt x="20739" y="82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259509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999064" y="4848301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503701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20739" y="8294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65"/>
                </a:lnTo>
                <a:lnTo>
                  <a:pt x="20739" y="82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503701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377008" y="4723928"/>
            <a:ext cx="497840" cy="248920"/>
          </a:xfrm>
          <a:custGeom>
            <a:avLst/>
            <a:gdLst/>
            <a:ahLst/>
            <a:cxnLst/>
            <a:rect l="l" t="t" r="r" b="b"/>
            <a:pathLst>
              <a:path w="497839" h="248920">
                <a:moveTo>
                  <a:pt x="497646" y="248820"/>
                </a:moveTo>
                <a:lnTo>
                  <a:pt x="497646" y="0"/>
                </a:lnTo>
                <a:lnTo>
                  <a:pt x="0" y="0"/>
                </a:lnTo>
                <a:lnTo>
                  <a:pt x="0" y="248820"/>
                </a:lnTo>
                <a:lnTo>
                  <a:pt x="497646" y="24882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563620" y="4723930"/>
            <a:ext cx="124460" cy="248920"/>
          </a:xfrm>
          <a:custGeom>
            <a:avLst/>
            <a:gdLst/>
            <a:ahLst/>
            <a:cxnLst/>
            <a:rect l="l" t="t" r="r" b="b"/>
            <a:pathLst>
              <a:path w="124460" h="248920">
                <a:moveTo>
                  <a:pt x="124409" y="0"/>
                </a:move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750246" y="4723930"/>
            <a:ext cx="124460" cy="248920"/>
          </a:xfrm>
          <a:custGeom>
            <a:avLst/>
            <a:gdLst/>
            <a:ahLst/>
            <a:cxnLst/>
            <a:rect l="l" t="t" r="r" b="b"/>
            <a:pathLst>
              <a:path w="124460" h="248920">
                <a:moveTo>
                  <a:pt x="124409" y="0"/>
                </a:move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377006" y="4723930"/>
            <a:ext cx="124460" cy="248920"/>
          </a:xfrm>
          <a:custGeom>
            <a:avLst/>
            <a:gdLst/>
            <a:ahLst/>
            <a:cxnLst/>
            <a:rect l="l" t="t" r="r" b="b"/>
            <a:pathLst>
              <a:path w="124460" h="248920">
                <a:moveTo>
                  <a:pt x="124409" y="0"/>
                </a:move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621121" y="4723928"/>
            <a:ext cx="497840" cy="248920"/>
          </a:xfrm>
          <a:custGeom>
            <a:avLst/>
            <a:gdLst/>
            <a:ahLst/>
            <a:cxnLst/>
            <a:rect l="l" t="t" r="r" b="b"/>
            <a:pathLst>
              <a:path w="497839" h="248920">
                <a:moveTo>
                  <a:pt x="497652" y="248820"/>
                </a:moveTo>
                <a:lnTo>
                  <a:pt x="497652" y="0"/>
                </a:lnTo>
                <a:lnTo>
                  <a:pt x="0" y="0"/>
                </a:lnTo>
                <a:lnTo>
                  <a:pt x="0" y="248820"/>
                </a:lnTo>
                <a:lnTo>
                  <a:pt x="497652" y="24882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860542" y="4723928"/>
            <a:ext cx="497840" cy="248920"/>
          </a:xfrm>
          <a:custGeom>
            <a:avLst/>
            <a:gdLst/>
            <a:ahLst/>
            <a:cxnLst/>
            <a:rect l="l" t="t" r="r" b="b"/>
            <a:pathLst>
              <a:path w="497840" h="248920">
                <a:moveTo>
                  <a:pt x="497646" y="248820"/>
                </a:moveTo>
                <a:lnTo>
                  <a:pt x="497646" y="0"/>
                </a:lnTo>
                <a:lnTo>
                  <a:pt x="0" y="0"/>
                </a:lnTo>
                <a:lnTo>
                  <a:pt x="0" y="248820"/>
                </a:lnTo>
                <a:lnTo>
                  <a:pt x="497646" y="24882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5976963" y="4645101"/>
            <a:ext cx="931544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18210" algn="l"/>
              </a:tabLst>
            </a:pPr>
            <a:r>
              <a:rPr sz="1600" spc="5" dirty="0">
                <a:latin typeface="Times New Roman"/>
                <a:cs typeface="Times New Roman"/>
              </a:rPr>
              <a:t>... </a:t>
            </a:r>
            <a:r>
              <a:rPr sz="1600" spc="-70" dirty="0">
                <a:latin typeface="Times New Roman"/>
                <a:cs typeface="Times New Roman"/>
              </a:rPr>
              <a:t> </a:t>
            </a:r>
            <a:r>
              <a:rPr sz="1600" u="sng" spc="5" dirty="0">
                <a:latin typeface="Times New Roman"/>
                <a:cs typeface="Times New Roman"/>
              </a:rPr>
              <a:t> </a:t>
            </a:r>
            <a:r>
              <a:rPr sz="1600" u="sng" dirty="0">
                <a:latin typeface="Times New Roman"/>
                <a:cs typeface="Times New Roman"/>
              </a:rPr>
              <a:t>	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306815" y="4707345"/>
            <a:ext cx="440690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Lista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154166" y="4707345"/>
            <a:ext cx="24447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nil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777079" y="4668392"/>
            <a:ext cx="2448560" cy="299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251710" algn="l"/>
              </a:tabLst>
            </a:pPr>
            <a:r>
              <a:rPr sz="1950" i="1" dirty="0">
                <a:latin typeface="Times New Roman"/>
                <a:cs typeface="Times New Roman"/>
              </a:rPr>
              <a:t>x</a:t>
            </a:r>
            <a:r>
              <a:rPr sz="1725" spc="-7" baseline="-9661" dirty="0">
                <a:latin typeface="Times New Roman"/>
                <a:cs typeface="Times New Roman"/>
              </a:rPr>
              <a:t>1	</a:t>
            </a:r>
            <a:r>
              <a:rPr sz="1950" i="1" dirty="0">
                <a:latin typeface="Times New Roman"/>
                <a:cs typeface="Times New Roman"/>
              </a:rPr>
              <a:t>x</a:t>
            </a:r>
            <a:r>
              <a:rPr sz="1725" spc="-7" baseline="-9661" dirty="0">
                <a:latin typeface="Times New Roman"/>
                <a:cs typeface="Times New Roman"/>
              </a:rPr>
              <a:t>n</a:t>
            </a:r>
            <a:endParaRPr sz="1725" baseline="-9661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8373974" cy="3770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5" dirty="0">
                <a:solidFill>
                  <a:srgbClr val="007F7A"/>
                </a:solidFill>
                <a:latin typeface="Arial"/>
                <a:cs typeface="Arial"/>
              </a:rPr>
              <a:t>alocação dinâmica</a:t>
            </a:r>
            <a:endParaRPr sz="2450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07901" y="1770749"/>
            <a:ext cx="4398645" cy="3375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0979" marR="2468880" indent="-208915">
              <a:lnSpc>
                <a:spcPts val="2720"/>
              </a:lnSpc>
              <a:spcBef>
                <a:spcPts val="200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5110">
              <a:lnSpc>
                <a:spcPct val="100000"/>
              </a:lnSpc>
              <a:spcBef>
                <a:spcPts val="470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5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-405" dirty="0">
                <a:latin typeface="Lucida Sans Unicode"/>
                <a:cs typeface="Lucida Sans Unicode"/>
              </a:rPr>
              <a:t>∗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1508125" indent="-215265">
              <a:lnSpc>
                <a:spcPts val="2720"/>
              </a:lnSpc>
              <a:spcBef>
                <a:spcPts val="200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6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7915" y="5565852"/>
            <a:ext cx="3541395" cy="9601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27329">
              <a:lnSpc>
                <a:spcPct val="100000"/>
              </a:lnSpc>
              <a:spcBef>
                <a:spcPts val="675"/>
              </a:spcBef>
            </a:pP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22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02884" y="1720659"/>
            <a:ext cx="4046220" cy="31935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élula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spc="1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1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TipoL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 e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ima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62710"/>
            <a:ext cx="9444811" cy="6581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5" dirty="0">
                <a:solidFill>
                  <a:srgbClr val="007F7A"/>
                </a:solidFill>
                <a:latin typeface="Arial"/>
                <a:cs typeface="Arial"/>
              </a:rPr>
              <a:t>alocação dinâmica</a:t>
            </a:r>
            <a:endParaRPr sz="24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220"/>
              </a:spcBef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9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FLVazi</a:t>
            </a:r>
            <a:r>
              <a:rPr sz="1700" spc="9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241300" marR="190500" indent="-198120">
              <a:lnSpc>
                <a:spcPts val="2720"/>
              </a:lnSpc>
              <a:spcBef>
                <a:spcPts val="200"/>
              </a:spcBef>
              <a:tabLst>
                <a:tab pos="3776979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35" dirty="0">
                <a:latin typeface="Arial"/>
                <a:cs typeface="Arial"/>
              </a:rPr>
              <a:t> </a:t>
            </a:r>
            <a:endParaRPr lang="pt-BR" sz="1700" spc="35" dirty="0" smtClean="0">
              <a:latin typeface="Arial"/>
              <a:cs typeface="Arial"/>
            </a:endParaRPr>
          </a:p>
          <a:p>
            <a:pPr marL="241300" marR="190500" indent="-198120">
              <a:lnSpc>
                <a:spcPts val="2720"/>
              </a:lnSpc>
              <a:spcBef>
                <a:spcPts val="200"/>
              </a:spcBef>
              <a:tabLst>
                <a:tab pos="3776979" algn="l"/>
              </a:tabLst>
            </a:pPr>
            <a:r>
              <a:rPr lang="pt-BR" sz="1700" spc="35" dirty="0">
                <a:latin typeface="Arial"/>
                <a:cs typeface="Arial"/>
              </a:rPr>
              <a:t>	</a:t>
            </a:r>
            <a:r>
              <a:rPr sz="1700" spc="85" dirty="0" err="1" smtClean="0">
                <a:latin typeface="Arial"/>
                <a:cs typeface="Arial"/>
              </a:rPr>
              <a:t>List</a:t>
            </a:r>
            <a:r>
              <a:rPr sz="1700" spc="10" dirty="0" err="1" smtClean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20" dirty="0">
                <a:latin typeface="Arial"/>
                <a:cs typeface="Arial"/>
              </a:rPr>
              <a:t>&gt;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50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endParaRPr lang="pt-BR" sz="1700" spc="5" dirty="0" smtClean="0">
              <a:latin typeface="Arial"/>
              <a:cs typeface="Arial"/>
            </a:endParaRPr>
          </a:p>
          <a:p>
            <a:pPr marL="241300" marR="190500" indent="-198120">
              <a:lnSpc>
                <a:spcPts val="2720"/>
              </a:lnSpc>
              <a:spcBef>
                <a:spcPts val="200"/>
              </a:spcBef>
              <a:tabLst>
                <a:tab pos="3776979" algn="l"/>
              </a:tabLst>
            </a:pPr>
            <a:r>
              <a:rPr lang="pt-BR" sz="1700" spc="5" dirty="0">
                <a:latin typeface="Arial"/>
                <a:cs typeface="Arial"/>
              </a:rPr>
              <a:t>	</a:t>
            </a:r>
            <a:r>
              <a:rPr sz="1700" spc="85" dirty="0" err="1" smtClean="0">
                <a:latin typeface="Arial"/>
                <a:cs typeface="Arial"/>
              </a:rPr>
              <a:t>List</a:t>
            </a:r>
            <a:r>
              <a:rPr sz="1700" spc="10" dirty="0" err="1" smtClean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20" dirty="0">
                <a:latin typeface="Arial"/>
                <a:cs typeface="Arial"/>
              </a:rPr>
              <a:t>&gt;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endParaRPr lang="pt-BR" sz="1700" dirty="0" smtClean="0">
              <a:latin typeface="Arial"/>
              <a:cs typeface="Arial"/>
            </a:endParaRPr>
          </a:p>
          <a:p>
            <a:pPr marL="241300" marR="190500" indent="-198120">
              <a:lnSpc>
                <a:spcPts val="2720"/>
              </a:lnSpc>
              <a:spcBef>
                <a:spcPts val="200"/>
              </a:spcBef>
              <a:tabLst>
                <a:tab pos="3776979" algn="l"/>
              </a:tabLst>
            </a:pPr>
            <a:r>
              <a:rPr lang="pt-BR" sz="1700" spc="85" dirty="0">
                <a:latin typeface="Arial"/>
                <a:cs typeface="Arial"/>
              </a:rPr>
              <a:t>	</a:t>
            </a:r>
            <a:r>
              <a:rPr sz="1700" spc="85" dirty="0" err="1" smtClean="0">
                <a:latin typeface="Arial"/>
                <a:cs typeface="Arial"/>
              </a:rPr>
              <a:t>List</a:t>
            </a:r>
            <a:r>
              <a:rPr sz="1700" spc="10" dirty="0" err="1" smtClean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25" dirty="0">
                <a:latin typeface="Arial"/>
                <a:cs typeface="Arial"/>
              </a:rPr>
              <a:t>&gt;</a:t>
            </a:r>
            <a:r>
              <a:rPr sz="1700" spc="35" dirty="0">
                <a:latin typeface="Arial"/>
                <a:cs typeface="Arial"/>
              </a:rPr>
              <a:t>Primeir</a:t>
            </a:r>
            <a:r>
              <a:rPr sz="1700" spc="-90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90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 dirty="0">
              <a:latin typeface="Times New Roman"/>
              <a:cs typeface="Times New Roman"/>
            </a:endParaRPr>
          </a:p>
          <a:p>
            <a:pPr marL="29845">
              <a:lnSpc>
                <a:spcPct val="100000"/>
              </a:lnSpc>
              <a:spcBef>
                <a:spcPts val="143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  <a:tabLst>
                <a:tab pos="259524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I</a:t>
            </a:r>
            <a:r>
              <a:rPr sz="1700" spc="50" dirty="0">
                <a:latin typeface="Arial"/>
                <a:cs typeface="Arial"/>
              </a:rPr>
              <a:t>n</a:t>
            </a:r>
            <a:r>
              <a:rPr sz="1700" spc="45" dirty="0">
                <a:latin typeface="Arial"/>
                <a:cs typeface="Arial"/>
              </a:rPr>
              <a:t>s</a:t>
            </a:r>
            <a:r>
              <a:rPr sz="1700" spc="5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r</a:t>
            </a:r>
            <a:r>
              <a:rPr sz="1700" spc="175" dirty="0">
                <a:latin typeface="Arial"/>
                <a:cs typeface="Arial"/>
              </a:rPr>
              <a:t>e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241300" marR="5080" indent="-198120">
              <a:lnSpc>
                <a:spcPct val="133200"/>
              </a:lnSpc>
              <a:tabLst>
                <a:tab pos="4204970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35" dirty="0">
                <a:latin typeface="Arial"/>
                <a:cs typeface="Arial"/>
              </a:rPr>
              <a:t> </a:t>
            </a:r>
            <a:endParaRPr lang="pt-BR" sz="1700" spc="35" dirty="0" smtClean="0">
              <a:latin typeface="Arial"/>
              <a:cs typeface="Arial"/>
            </a:endParaRPr>
          </a:p>
          <a:p>
            <a:pPr marL="241300" marR="5080" indent="-198120">
              <a:lnSpc>
                <a:spcPct val="133200"/>
              </a:lnSpc>
              <a:tabLst>
                <a:tab pos="4204970" algn="l"/>
              </a:tabLst>
            </a:pPr>
            <a:r>
              <a:rPr lang="pt-BR" sz="1700" spc="35" dirty="0">
                <a:latin typeface="Arial"/>
                <a:cs typeface="Arial"/>
              </a:rPr>
              <a:t>	</a:t>
            </a:r>
            <a:r>
              <a:rPr sz="1700" spc="85" dirty="0" err="1" smtClean="0">
                <a:latin typeface="Arial"/>
                <a:cs typeface="Arial"/>
              </a:rPr>
              <a:t>List</a:t>
            </a:r>
            <a:r>
              <a:rPr sz="1700" spc="10" dirty="0" err="1" smtClean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5" dirty="0">
                <a:latin typeface="Arial"/>
                <a:cs typeface="Arial"/>
              </a:rPr>
              <a:t>&gt;</a:t>
            </a:r>
            <a:r>
              <a:rPr sz="1700" spc="25" dirty="0">
                <a:latin typeface="Arial"/>
                <a:cs typeface="Arial"/>
              </a:rPr>
              <a:t>Ultim</a:t>
            </a:r>
            <a:r>
              <a:rPr sz="1700" spc="-114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50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endParaRPr lang="pt-BR" sz="1700" spc="5" dirty="0" smtClean="0">
              <a:latin typeface="Arial"/>
              <a:cs typeface="Arial"/>
            </a:endParaRPr>
          </a:p>
          <a:p>
            <a:pPr marL="241300" marR="5080" indent="-198120">
              <a:lnSpc>
                <a:spcPct val="133200"/>
              </a:lnSpc>
              <a:tabLst>
                <a:tab pos="4204970" algn="l"/>
              </a:tabLst>
            </a:pPr>
            <a:r>
              <a:rPr lang="pt-BR" sz="1700" spc="5" dirty="0">
                <a:latin typeface="Arial"/>
                <a:cs typeface="Arial"/>
              </a:rPr>
              <a:t>	</a:t>
            </a:r>
            <a:r>
              <a:rPr sz="1700" spc="85" dirty="0" err="1" smtClean="0">
                <a:latin typeface="Arial"/>
                <a:cs typeface="Arial"/>
              </a:rPr>
              <a:t>List</a:t>
            </a:r>
            <a:r>
              <a:rPr sz="1700" spc="10" dirty="0" err="1" smtClean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5" dirty="0">
                <a:latin typeface="Arial"/>
                <a:cs typeface="Arial"/>
              </a:rPr>
              <a:t>&gt;</a:t>
            </a:r>
            <a:r>
              <a:rPr sz="1700" spc="25" dirty="0">
                <a:latin typeface="Arial"/>
                <a:cs typeface="Arial"/>
              </a:rPr>
              <a:t>Ultim</a:t>
            </a:r>
            <a:r>
              <a:rPr sz="1700" spc="-114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endParaRPr lang="pt-BR" sz="1700" dirty="0" smtClean="0">
              <a:latin typeface="Arial"/>
              <a:cs typeface="Arial"/>
            </a:endParaRPr>
          </a:p>
          <a:p>
            <a:pPr marL="241300" marR="5080" indent="-198120">
              <a:lnSpc>
                <a:spcPct val="133200"/>
              </a:lnSpc>
              <a:tabLst>
                <a:tab pos="4204970" algn="l"/>
              </a:tabLst>
            </a:pPr>
            <a:r>
              <a:rPr lang="pt-BR" sz="1700" spc="85" dirty="0">
                <a:latin typeface="Arial"/>
                <a:cs typeface="Arial"/>
              </a:rPr>
              <a:t>	</a:t>
            </a:r>
            <a:r>
              <a:rPr sz="1700" spc="85" dirty="0" err="1" smtClean="0">
                <a:latin typeface="Arial"/>
                <a:cs typeface="Arial"/>
              </a:rPr>
              <a:t>List</a:t>
            </a:r>
            <a:r>
              <a:rPr sz="1700" spc="10" dirty="0" err="1" smtClean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5" dirty="0">
                <a:latin typeface="Arial"/>
                <a:cs typeface="Arial"/>
              </a:rPr>
              <a:t>&gt;</a:t>
            </a:r>
            <a:r>
              <a:rPr sz="1700" spc="25" dirty="0">
                <a:latin typeface="Arial"/>
                <a:cs typeface="Arial"/>
              </a:rPr>
              <a:t>Ultim</a:t>
            </a:r>
            <a:r>
              <a:rPr sz="1700" spc="-114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endParaRPr lang="pt-BR" sz="1700" spc="5" dirty="0" smtClean="0">
              <a:latin typeface="Arial"/>
              <a:cs typeface="Arial"/>
            </a:endParaRPr>
          </a:p>
          <a:p>
            <a:pPr marL="241300" marR="5080" indent="-198120">
              <a:lnSpc>
                <a:spcPct val="133200"/>
              </a:lnSpc>
              <a:tabLst>
                <a:tab pos="4204970" algn="l"/>
              </a:tabLst>
            </a:pPr>
            <a:r>
              <a:rPr lang="pt-BR" sz="1700" spc="5" dirty="0">
                <a:latin typeface="Arial"/>
                <a:cs typeface="Arial"/>
              </a:rPr>
              <a:t>	</a:t>
            </a:r>
            <a:r>
              <a:rPr sz="1700" spc="85" dirty="0" err="1" smtClean="0">
                <a:latin typeface="Arial"/>
                <a:cs typeface="Arial"/>
              </a:rPr>
              <a:t>List</a:t>
            </a:r>
            <a:r>
              <a:rPr sz="1700" spc="10" dirty="0" err="1" smtClean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5" dirty="0">
                <a:latin typeface="Arial"/>
                <a:cs typeface="Arial"/>
              </a:rPr>
              <a:t>&gt;</a:t>
            </a:r>
            <a:r>
              <a:rPr sz="1700" spc="25" dirty="0">
                <a:latin typeface="Arial"/>
                <a:cs typeface="Arial"/>
              </a:rPr>
              <a:t>Ultim</a:t>
            </a:r>
            <a:r>
              <a:rPr sz="1700" spc="-114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90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0" y="851928"/>
            <a:ext cx="7692289" cy="63150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5" dirty="0">
                <a:solidFill>
                  <a:srgbClr val="007F7A"/>
                </a:solidFill>
                <a:latin typeface="Arial"/>
                <a:cs typeface="Arial"/>
              </a:rPr>
              <a:t>alocação dinâmica</a:t>
            </a:r>
            <a:endParaRPr sz="24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80"/>
              </a:spcBef>
              <a:tabLst>
                <a:tab pos="313118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Retir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114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300" dirty="0">
                <a:latin typeface="Lucida Sans Unicode"/>
                <a:cs typeface="Lucida Sans Unicode"/>
              </a:rPr>
              <a:t>∗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4574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590" dirty="0">
                <a:latin typeface="Lucida Sans Unicode"/>
                <a:cs typeface="Lucida Sans Unicode"/>
              </a:rPr>
              <a:t>∗</a:t>
            </a:r>
            <a:r>
              <a:rPr sz="1700" spc="-225" dirty="0">
                <a:latin typeface="Lucida Sans Unicode"/>
                <a:cs typeface="Lucida Sans Unicode"/>
              </a:rPr>
              <a:t>−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i="1" spc="15" dirty="0">
                <a:latin typeface="Arial"/>
                <a:cs typeface="Arial"/>
              </a:rPr>
              <a:t>O</a:t>
            </a:r>
            <a:r>
              <a:rPr sz="1700" i="1" spc="145" dirty="0">
                <a:latin typeface="Arial"/>
                <a:cs typeface="Arial"/>
              </a:rPr>
              <a:t> </a:t>
            </a:r>
            <a:r>
              <a:rPr sz="1700" i="1" spc="25" dirty="0">
                <a:latin typeface="Arial"/>
                <a:cs typeface="Arial"/>
              </a:rPr>
              <a:t>ite</a:t>
            </a:r>
            <a:r>
              <a:rPr sz="1700" i="1" spc="15" dirty="0">
                <a:latin typeface="Arial"/>
                <a:cs typeface="Arial"/>
              </a:rPr>
              <a:t>m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35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25" dirty="0">
                <a:latin typeface="Arial"/>
                <a:cs typeface="Arial"/>
              </a:rPr>
              <a:t> </a:t>
            </a:r>
            <a:r>
              <a:rPr sz="1700" i="1" spc="40" dirty="0">
                <a:latin typeface="Arial"/>
                <a:cs typeface="Arial"/>
              </a:rPr>
              <a:t>s</a:t>
            </a:r>
            <a:r>
              <a:rPr sz="1700" i="1" spc="45" dirty="0">
                <a:latin typeface="Arial"/>
                <a:cs typeface="Arial"/>
              </a:rPr>
              <a:t>e</a:t>
            </a:r>
            <a:r>
              <a:rPr sz="1700" i="1" spc="5" dirty="0">
                <a:latin typeface="Arial"/>
                <a:cs typeface="Arial"/>
              </a:rPr>
              <a:t>r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30" dirty="0">
                <a:latin typeface="Arial"/>
                <a:cs typeface="Arial"/>
              </a:rPr>
              <a:t> </a:t>
            </a:r>
            <a:r>
              <a:rPr sz="1700" i="1" spc="105" dirty="0">
                <a:latin typeface="Arial"/>
                <a:cs typeface="Arial"/>
              </a:rPr>
              <a:t>retirad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65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e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220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35" dirty="0">
                <a:latin typeface="Arial"/>
                <a:cs typeface="Arial"/>
              </a:rPr>
              <a:t> </a:t>
            </a:r>
            <a:r>
              <a:rPr sz="1700" i="1" spc="35" dirty="0">
                <a:latin typeface="Arial"/>
                <a:cs typeface="Arial"/>
              </a:rPr>
              <a:t>seguint</a:t>
            </a:r>
            <a:r>
              <a:rPr sz="1700" i="1" spc="10" dirty="0">
                <a:latin typeface="Arial"/>
                <a:cs typeface="Arial"/>
              </a:rPr>
              <a:t>e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70" dirty="0">
                <a:latin typeface="Arial"/>
                <a:cs typeface="Arial"/>
              </a:rPr>
              <a:t>a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229" dirty="0">
                <a:latin typeface="Arial"/>
                <a:cs typeface="Arial"/>
              </a:rPr>
              <a:t> </a:t>
            </a:r>
            <a:r>
              <a:rPr sz="1700" i="1" spc="-40" dirty="0">
                <a:latin typeface="Arial"/>
                <a:cs typeface="Arial"/>
              </a:rPr>
              <a:t>apontad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45" dirty="0">
                <a:latin typeface="Arial"/>
                <a:cs typeface="Arial"/>
              </a:rPr>
              <a:t> </a:t>
            </a:r>
            <a:r>
              <a:rPr sz="1700" i="1" spc="20" dirty="0">
                <a:latin typeface="Arial"/>
                <a:cs typeface="Arial"/>
              </a:rPr>
              <a:t>po</a:t>
            </a:r>
            <a:r>
              <a:rPr sz="1700" i="1" spc="5" dirty="0">
                <a:latin typeface="Arial"/>
                <a:cs typeface="Arial"/>
              </a:rPr>
              <a:t>r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0" dirty="0">
                <a:latin typeface="Arial"/>
                <a:cs typeface="Arial"/>
              </a:rPr>
              <a:t> </a:t>
            </a:r>
            <a:r>
              <a:rPr sz="1700" i="1" spc="114" dirty="0">
                <a:latin typeface="Arial"/>
                <a:cs typeface="Arial"/>
              </a:rPr>
              <a:t>p</a:t>
            </a:r>
            <a:r>
              <a:rPr sz="1700" spc="-225" dirty="0">
                <a:latin typeface="Lucida Sans Unicode"/>
                <a:cs typeface="Lucida Sans Unicode"/>
              </a:rPr>
              <a:t>−</a:t>
            </a:r>
            <a:r>
              <a:rPr sz="1700" spc="-5" dirty="0">
                <a:latin typeface="Lucida Sans Unicode"/>
                <a:cs typeface="Lucida Sans Unicode"/>
              </a:rPr>
              <a:t>−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 dirty="0">
              <a:latin typeface="Arial"/>
              <a:cs typeface="Arial"/>
            </a:endParaRPr>
          </a:p>
          <a:p>
            <a:pPr marL="227965">
              <a:lnSpc>
                <a:spcPct val="100000"/>
              </a:lnSpc>
              <a:spcBef>
                <a:spcPts val="605"/>
              </a:spcBef>
            </a:pP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05"/>
              </a:spcBef>
              <a:tabLst>
                <a:tab pos="559435" algn="l"/>
                <a:tab pos="2192020" algn="l"/>
                <a:tab pos="2473325" algn="l"/>
                <a:tab pos="3712845" algn="l"/>
                <a:tab pos="399859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spc="11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NULL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229" dirty="0">
                <a:latin typeface="Arial"/>
                <a:cs typeface="Arial"/>
              </a:rPr>
              <a:t>p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45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05"/>
              </a:spcBef>
              <a:tabLst>
                <a:tab pos="467359" algn="l"/>
                <a:tab pos="206438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vazi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o</a:t>
            </a:r>
            <a:r>
              <a:rPr sz="1700" spc="10" dirty="0">
                <a:latin typeface="Arial"/>
                <a:cs typeface="Arial"/>
              </a:rPr>
              <a:t>u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posica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na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exist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446405">
              <a:lnSpc>
                <a:spcPct val="100000"/>
              </a:lnSpc>
              <a:spcBef>
                <a:spcPts val="605"/>
              </a:spcBef>
            </a:pP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223520">
              <a:lnSpc>
                <a:spcPct val="100000"/>
              </a:lnSpc>
              <a:spcBef>
                <a:spcPts val="605"/>
              </a:spcBef>
              <a:tabLst>
                <a:tab pos="3654425" algn="l"/>
              </a:tabLst>
            </a:pPr>
            <a:r>
              <a:rPr sz="1700" spc="10" dirty="0">
                <a:latin typeface="Arial"/>
                <a:cs typeface="Arial"/>
              </a:rPr>
              <a:t>q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p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5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q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229" dirty="0">
                <a:latin typeface="Arial"/>
                <a:cs typeface="Arial"/>
              </a:rPr>
              <a:t>p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q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41300" marR="2346960" indent="15875">
              <a:lnSpc>
                <a:spcPct val="129700"/>
              </a:lnSpc>
              <a:tabLst>
                <a:tab pos="55943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p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NULL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; </a:t>
            </a:r>
            <a:endParaRPr lang="pt-BR" sz="1700" spc="5" smtClean="0">
              <a:latin typeface="Arial"/>
              <a:cs typeface="Arial"/>
            </a:endParaRPr>
          </a:p>
          <a:p>
            <a:pPr marL="241300" marR="2346960" indent="15875">
              <a:lnSpc>
                <a:spcPct val="129700"/>
              </a:lnSpc>
              <a:tabLst>
                <a:tab pos="559435" algn="l"/>
              </a:tabLst>
            </a:pPr>
            <a:r>
              <a:rPr sz="1700" spc="85" smtClean="0">
                <a:latin typeface="Arial"/>
                <a:cs typeface="Arial"/>
              </a:rPr>
              <a:t>fre</a:t>
            </a:r>
            <a:r>
              <a:rPr sz="1700" spc="10" smtClean="0">
                <a:latin typeface="Arial"/>
                <a:cs typeface="Arial"/>
              </a:rPr>
              <a:t>e</a:t>
            </a:r>
            <a:r>
              <a:rPr sz="1700" spc="-260" smtClean="0">
                <a:latin typeface="Arial"/>
                <a:cs typeface="Arial"/>
              </a:rPr>
              <a:t> </a:t>
            </a:r>
            <a:r>
              <a:rPr sz="1700" spc="80" dirty="0">
                <a:latin typeface="Arial"/>
                <a:cs typeface="Arial"/>
              </a:rPr>
              <a:t>(</a:t>
            </a:r>
            <a:r>
              <a:rPr sz="1700" spc="165" dirty="0">
                <a:latin typeface="Arial"/>
                <a:cs typeface="Arial"/>
              </a:rPr>
              <a:t>q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Imprim</a:t>
            </a:r>
            <a:r>
              <a:rPr sz="1700" spc="10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17170">
              <a:lnSpc>
                <a:spcPct val="100000"/>
              </a:lnSpc>
              <a:spcBef>
                <a:spcPts val="605"/>
              </a:spcBef>
            </a:pP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Primeir</a:t>
            </a:r>
            <a:r>
              <a:rPr sz="1700" spc="-90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29235">
              <a:lnSpc>
                <a:spcPct val="100000"/>
              </a:lnSpc>
              <a:spcBef>
                <a:spcPts val="605"/>
              </a:spcBef>
            </a:pP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(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190" dirty="0">
                <a:latin typeface="Arial"/>
                <a:cs typeface="Arial"/>
              </a:rPr>
              <a:t>!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45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605"/>
              </a:spcBef>
              <a:tabLst>
                <a:tab pos="68135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"</a:t>
            </a:r>
            <a:r>
              <a:rPr sz="1700" spc="-385" dirty="0">
                <a:latin typeface="Arial"/>
                <a:cs typeface="Arial"/>
              </a:rPr>
              <a:t>%</a:t>
            </a:r>
            <a:r>
              <a:rPr sz="1700" spc="130" dirty="0">
                <a:latin typeface="Arial"/>
                <a:cs typeface="Arial"/>
              </a:rPr>
              <a:t>d\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 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Au</a:t>
            </a:r>
            <a:r>
              <a:rPr sz="1700" spc="-330" dirty="0">
                <a:latin typeface="Arial"/>
                <a:cs typeface="Arial"/>
              </a:rPr>
              <a:t>x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2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0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Au</a:t>
            </a:r>
            <a:r>
              <a:rPr sz="1700" spc="-330" dirty="0">
                <a:latin typeface="Arial"/>
                <a:cs typeface="Arial"/>
              </a:rPr>
              <a:t>x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9682074" cy="36922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5" dirty="0">
                <a:solidFill>
                  <a:srgbClr val="007F7A"/>
                </a:solidFill>
                <a:latin typeface="Arial"/>
                <a:cs typeface="Arial"/>
              </a:rPr>
              <a:t>alocação dinâmica </a:t>
            </a:r>
            <a:r>
              <a:rPr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- </a:t>
            </a:r>
            <a:r>
              <a:rPr sz="2450" b="1" spc="-13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40" dirty="0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es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40" dirty="0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ns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 dirty="0">
              <a:latin typeface="Arial"/>
              <a:cs typeface="Arial"/>
            </a:endParaRPr>
          </a:p>
          <a:p>
            <a:pPr marL="852169" marR="508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ir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(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).</a:t>
            </a:r>
          </a:p>
          <a:p>
            <a:pPr marL="852169" marR="39687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scim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(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pre</a:t>
            </a:r>
            <a:r>
              <a:rPr sz="2050" spc="5" dirty="0">
                <a:latin typeface="Arial"/>
                <a:cs typeface="Arial"/>
              </a:rPr>
              <a:t>cisa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definid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Times New Roman"/>
                <a:cs typeface="Times New Roman"/>
              </a:rPr>
              <a:t>a</a:t>
            </a:r>
            <a:r>
              <a:rPr sz="2050" i="1" dirty="0">
                <a:latin typeface="Times New Roman"/>
                <a:cs typeface="Times New Roman"/>
              </a:rPr>
              <a:t> </a:t>
            </a:r>
            <a:r>
              <a:rPr sz="2050" i="1" spc="5" dirty="0">
                <a:latin typeface="Times New Roman"/>
                <a:cs typeface="Times New Roman"/>
              </a:rPr>
              <a:t>pr</a:t>
            </a:r>
            <a:r>
              <a:rPr sz="2050" i="1" spc="-5" dirty="0">
                <a:latin typeface="Times New Roman"/>
                <a:cs typeface="Times New Roman"/>
              </a:rPr>
              <a:t>i</a:t>
            </a:r>
            <a:r>
              <a:rPr sz="2050" i="1" spc="5" dirty="0">
                <a:latin typeface="Times New Roman"/>
                <a:cs typeface="Times New Roman"/>
              </a:rPr>
              <a:t>or</a:t>
            </a:r>
            <a:r>
              <a:rPr sz="2050" i="1" spc="-5" dirty="0">
                <a:latin typeface="Times New Roman"/>
                <a:cs typeface="Times New Roman"/>
              </a:rPr>
              <a:t>i</a:t>
            </a:r>
            <a:r>
              <a:rPr sz="2050" dirty="0">
                <a:latin typeface="Arial"/>
                <a:cs typeface="Arial"/>
              </a:rPr>
              <a:t>).</a:t>
            </a:r>
          </a:p>
          <a:p>
            <a:pPr marL="484505" marR="99314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</a:t>
            </a:r>
            <a:r>
              <a:rPr sz="2050" spc="5" dirty="0">
                <a:latin typeface="Arial"/>
                <a:cs typeface="Arial"/>
              </a:rPr>
              <a:t>m: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50048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12509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ge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apena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f</a:t>
            </a:r>
            <a:r>
              <a:rPr sz="2050" dirty="0">
                <a:latin typeface="Arial"/>
                <a:cs typeface="Arial"/>
              </a:rPr>
              <a:t>und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6908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ode</a:t>
            </a:r>
            <a:r>
              <a:rPr sz="2050" spc="5" dirty="0">
                <a:latin typeface="Arial"/>
                <a:cs typeface="Arial"/>
              </a:rPr>
              <a:t>lo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end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40" dirty="0">
                <a:latin typeface="Arial"/>
                <a:cs typeface="Arial"/>
              </a:rPr>
              <a:t>n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enien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upe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7241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age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reqüen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ô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qual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ep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lo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lei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/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pilha.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1168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08468" y="829411"/>
            <a:ext cx="8737600" cy="6176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8724265" algn="l"/>
              </a:tabLst>
            </a:pP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u="heavy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ri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Aplicaç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u="heavy" dirty="0">
                <a:solidFill>
                  <a:srgbClr val="007F7A"/>
                </a:solidFill>
                <a:latin typeface="Arial"/>
                <a:cs typeface="Arial"/>
              </a:rPr>
              <a:t>	</a:t>
            </a:r>
            <a:endParaRPr sz="2450">
              <a:latin typeface="Arial"/>
              <a:cs typeface="Arial"/>
            </a:endParaRPr>
          </a:p>
          <a:p>
            <a:pPr marL="484505" marR="5080" indent="-250825">
              <a:lnSpc>
                <a:spcPct val="120900"/>
              </a:lnSpc>
              <a:spcBef>
                <a:spcPts val="137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op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iedade:</a:t>
            </a:r>
            <a:r>
              <a:rPr sz="1850" spc="12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úl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imo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ins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ido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imei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pode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er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da</a:t>
            </a:r>
            <a:r>
              <a:rPr sz="1850" spc="5" dirty="0">
                <a:latin typeface="Arial"/>
                <a:cs typeface="Arial"/>
              </a:rPr>
              <a:t> li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0" dirty="0">
                <a:latin typeface="Arial"/>
                <a:cs typeface="Arial"/>
              </a:rPr>
              <a:t>a.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São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hamadas</a:t>
            </a:r>
            <a:r>
              <a:rPr sz="1850" spc="5" dirty="0">
                <a:latin typeface="Arial"/>
                <a:cs typeface="Arial"/>
              </a:rPr>
              <a:t> li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b="1" dirty="0">
                <a:latin typeface="Arial"/>
                <a:cs typeface="Arial"/>
              </a:rPr>
              <a:t>li</a:t>
            </a:r>
            <a:r>
              <a:rPr sz="1850" b="1" spc="-30" dirty="0">
                <a:latin typeface="Arial"/>
                <a:cs typeface="Arial"/>
              </a:rPr>
              <a:t>f</a:t>
            </a:r>
            <a:r>
              <a:rPr sz="1850" b="1" spc="20" dirty="0">
                <a:latin typeface="Arial"/>
                <a:cs typeface="Arial"/>
              </a:rPr>
              <a:t>o</a:t>
            </a:r>
            <a:r>
              <a:rPr sz="1850" b="1" spc="1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(“</a:t>
            </a:r>
            <a:r>
              <a:rPr sz="1850" spc="10" dirty="0">
                <a:latin typeface="Arial"/>
                <a:cs typeface="Arial"/>
              </a:rPr>
              <a:t>las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-</a:t>
            </a:r>
            <a:r>
              <a:rPr sz="1850" spc="10" dirty="0">
                <a:latin typeface="Arial"/>
                <a:cs typeface="Arial"/>
              </a:rPr>
              <a:t>in, </a:t>
            </a:r>
            <a:r>
              <a:rPr sz="1850" spc="5" dirty="0">
                <a:latin typeface="Arial"/>
                <a:cs typeface="Arial"/>
              </a:rPr>
              <a:t>f</a:t>
            </a:r>
            <a:r>
              <a:rPr sz="1850" dirty="0">
                <a:latin typeface="Arial"/>
                <a:cs typeface="Arial"/>
              </a:rPr>
              <a:t>i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-</a:t>
            </a:r>
            <a:r>
              <a:rPr sz="1850" spc="15" dirty="0">
                <a:latin typeface="Arial"/>
                <a:cs typeface="Arial"/>
              </a:rPr>
              <a:t>ou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”).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48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uma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dem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linear</a:t>
            </a:r>
            <a:r>
              <a:rPr sz="1850" spc="-1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pilha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,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“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menos</a:t>
            </a:r>
            <a:r>
              <a:rPr sz="1850" spc="-15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”.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48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ideal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aninhadas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dirty="0">
                <a:latin typeface="Arial"/>
                <a:cs typeface="Arial"/>
              </a:rPr>
              <a:t>f</a:t>
            </a:r>
            <a:r>
              <a:rPr sz="1850" spc="15" dirty="0">
                <a:latin typeface="Arial"/>
                <a:cs typeface="Arial"/>
              </a:rPr>
              <a:t>undidade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imp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v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í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0" dirty="0">
                <a:latin typeface="Arial"/>
                <a:cs typeface="Arial"/>
              </a:rPr>
              <a:t>el.</a:t>
            </a:r>
            <a:endParaRPr sz="1850">
              <a:latin typeface="Arial"/>
              <a:cs typeface="Arial"/>
            </a:endParaRPr>
          </a:p>
          <a:p>
            <a:pPr marL="484505" marR="282575" indent="-250825">
              <a:lnSpc>
                <a:spcPct val="120900"/>
              </a:lnSpc>
              <a:spcBef>
                <a:spcPts val="10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Uma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pilha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ém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eqüên</a:t>
            </a:r>
            <a:r>
              <a:rPr sz="1850" spc="10" dirty="0">
                <a:latin typeface="Arial"/>
                <a:cs typeface="Arial"/>
              </a:rPr>
              <a:t>cia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ob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iga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ões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adiada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dem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20" dirty="0">
                <a:latin typeface="Arial"/>
                <a:cs typeface="Arial"/>
              </a:rPr>
              <a:t>emo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ga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in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nas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ss</a:t>
            </a:r>
            <a:r>
              <a:rPr sz="1850" spc="15" dirty="0">
                <a:latin typeface="Arial"/>
                <a:cs typeface="Arial"/>
              </a:rPr>
              <a:t>adas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es das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na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48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10" dirty="0">
                <a:latin typeface="Arial"/>
                <a:cs typeface="Arial"/>
              </a:rPr>
              <a:t>Aplic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ões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aninhada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:</a:t>
            </a:r>
            <a:endParaRPr sz="1850">
              <a:latin typeface="Arial"/>
              <a:cs typeface="Arial"/>
            </a:endParaRPr>
          </a:p>
          <a:p>
            <a:pPr marL="852169" marR="102235" lvl="1" indent="-250825">
              <a:lnSpc>
                <a:spcPct val="120900"/>
              </a:lnSpc>
              <a:spcBef>
                <a:spcPts val="509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0" dirty="0">
                <a:latin typeface="Arial"/>
                <a:cs typeface="Arial"/>
              </a:rPr>
              <a:t>Quando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ss</a:t>
            </a:r>
            <a:r>
              <a:rPr sz="1850" spc="15" dirty="0">
                <a:latin typeface="Arial"/>
                <a:cs typeface="Arial"/>
              </a:rPr>
              <a:t>á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io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aminhar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onjun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dados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gua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dar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uma</a:t>
            </a:r>
            <a:r>
              <a:rPr sz="1850" spc="5" dirty="0">
                <a:latin typeface="Arial"/>
                <a:cs typeface="Arial"/>
              </a:rPr>
              <a:t> li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cois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-55" dirty="0">
                <a:latin typeface="Arial"/>
                <a:cs typeface="Arial"/>
              </a:rPr>
              <a:t>f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5" dirty="0">
                <a:latin typeface="Arial"/>
                <a:cs typeface="Arial"/>
              </a:rPr>
              <a:t>z</a:t>
            </a:r>
            <a:r>
              <a:rPr sz="1850" spc="15" dirty="0">
                <a:latin typeface="Arial"/>
                <a:cs typeface="Arial"/>
              </a:rPr>
              <a:t>er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po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io</a:t>
            </a:r>
            <a:r>
              <a:rPr sz="1850" spc="50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lvl="1" indent="-250825">
              <a:lnSpc>
                <a:spcPct val="100000"/>
              </a:lnSpc>
              <a:spcBef>
                <a:spcPts val="97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ole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eqüên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ias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hamadas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ubp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-5" dirty="0">
                <a:latin typeface="Arial"/>
                <a:cs typeface="Arial"/>
              </a:rPr>
              <a:t>g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ama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lvl="1" indent="-250825">
              <a:lnSpc>
                <a:spcPct val="100000"/>
              </a:lnSpc>
              <a:spcBef>
                <a:spcPts val="97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0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sin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45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ss</a:t>
            </a:r>
            <a:r>
              <a:rPr sz="1850" spc="15" dirty="0">
                <a:latin typeface="Arial"/>
                <a:cs typeface="Arial"/>
              </a:rPr>
              <a:t>ões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mé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marR="143510" indent="-250825">
              <a:lnSpc>
                <a:spcPct val="120900"/>
              </a:lnSpc>
              <a:spcBef>
                <a:spcPts val="10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pilhas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rr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na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z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(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omo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á</a:t>
            </a:r>
            <a:r>
              <a:rPr sz="1850" spc="65" dirty="0">
                <a:latin typeface="Arial"/>
                <a:cs typeface="Arial"/>
              </a:rPr>
              <a:t>r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).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Elas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ili</a:t>
            </a:r>
            <a:r>
              <a:rPr sz="1850" spc="10" dirty="0">
                <a:latin typeface="Arial"/>
                <a:cs typeface="Arial"/>
              </a:rPr>
              <a:t>z</a:t>
            </a:r>
            <a:r>
              <a:rPr sz="1850" spc="15" dirty="0">
                <a:latin typeface="Arial"/>
                <a:cs typeface="Arial"/>
              </a:rPr>
              <a:t>adas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implemen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b="1" spc="15" dirty="0">
                <a:latin typeface="Arial"/>
                <a:cs typeface="Arial"/>
              </a:rPr>
              <a:t>recu</a:t>
            </a:r>
            <a:r>
              <a:rPr sz="1850" b="1" spc="-20" dirty="0">
                <a:latin typeface="Arial"/>
                <a:cs typeface="Arial"/>
              </a:rPr>
              <a:t>r</a:t>
            </a:r>
            <a:r>
              <a:rPr sz="1850" b="1" spc="15" dirty="0">
                <a:latin typeface="Arial"/>
                <a:cs typeface="Arial"/>
              </a:rPr>
              <a:t>s</a:t>
            </a:r>
            <a:r>
              <a:rPr sz="1850" b="1" dirty="0">
                <a:latin typeface="Arial"/>
                <a:cs typeface="Arial"/>
              </a:rPr>
              <a:t>i</a:t>
            </a:r>
            <a:r>
              <a:rPr sz="1850" b="1" spc="15" dirty="0">
                <a:latin typeface="Arial"/>
                <a:cs typeface="Arial"/>
              </a:rPr>
              <a:t>v</a:t>
            </a:r>
            <a:r>
              <a:rPr sz="1850" b="1" dirty="0">
                <a:latin typeface="Arial"/>
                <a:cs typeface="Arial"/>
              </a:rPr>
              <a:t>i</a:t>
            </a:r>
            <a:r>
              <a:rPr sz="1850" b="1" spc="20" dirty="0">
                <a:latin typeface="Arial"/>
                <a:cs typeface="Arial"/>
              </a:rPr>
              <a:t>dade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74978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8024"/>
            <a:ext cx="8731250" cy="586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AD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"/>
              </a:spcBef>
            </a:pPr>
            <a:endParaRPr sz="22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F</a:t>
            </a:r>
            <a:r>
              <a:rPr sz="2050" spc="10" dirty="0">
                <a:latin typeface="Arial"/>
                <a:cs typeface="Arial"/>
              </a:rPr>
              <a:t>P</a:t>
            </a: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10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 a</a:t>
            </a:r>
            <a:r>
              <a:rPr sz="2050" dirty="0">
                <a:latin typeface="Arial"/>
                <a:cs typeface="Arial"/>
              </a:rPr>
              <a:t> 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marR="539750" lvl="1" indent="-349885">
              <a:lnSpc>
                <a:spcPct val="118200"/>
              </a:lnSpc>
              <a:spcBef>
                <a:spcPts val="630"/>
              </a:spcBef>
              <a:buAutoNum type="arabicPeriod"/>
              <a:tabLst>
                <a:tab pos="852805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-5" dirty="0">
                <a:latin typeface="Arial"/>
                <a:cs typeface="Arial"/>
              </a:rPr>
              <a:t>t</a:t>
            </a:r>
            <a:r>
              <a:rPr sz="2050" i="1" spc="35" dirty="0">
                <a:latin typeface="Arial"/>
                <a:cs typeface="Arial"/>
              </a:rPr>
              <a:t>r</a:t>
            </a:r>
            <a:r>
              <a:rPr sz="2050" i="1" dirty="0">
                <a:latin typeface="Arial"/>
                <a:cs typeface="Arial"/>
              </a:rPr>
              <a:t>u</a:t>
            </a:r>
            <a:r>
              <a:rPr sz="2050" i="1" spc="5" dirty="0">
                <a:latin typeface="Arial"/>
                <a:cs typeface="Arial"/>
              </a:rPr>
              <a:t>e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a;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-65" dirty="0">
                <a:latin typeface="Arial"/>
                <a:cs typeface="Arial"/>
              </a:rPr>
              <a:t>f</a:t>
            </a:r>
            <a:r>
              <a:rPr sz="2050" i="1" dirty="0">
                <a:latin typeface="Arial"/>
                <a:cs typeface="Arial"/>
              </a:rPr>
              <a:t>a</a:t>
            </a:r>
            <a:r>
              <a:rPr sz="2050" i="1" spc="5" dirty="0">
                <a:latin typeface="Arial"/>
                <a:cs typeface="Arial"/>
              </a:rPr>
              <a:t>ls</a:t>
            </a:r>
            <a:r>
              <a:rPr sz="2050" i="1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Em</a:t>
            </a:r>
            <a:r>
              <a:rPr sz="2050" dirty="0">
                <a:latin typeface="Arial"/>
                <a:cs typeface="Arial"/>
              </a:rPr>
              <a:t>pilha(</a:t>
            </a:r>
            <a:r>
              <a:rPr sz="2050" spc="5" dirty="0">
                <a:latin typeface="Arial"/>
                <a:cs typeface="Arial"/>
              </a:rPr>
              <a:t>x,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 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pilha.</a:t>
            </a:r>
            <a:endParaRPr sz="2050">
              <a:latin typeface="Arial"/>
              <a:cs typeface="Arial"/>
            </a:endParaRPr>
          </a:p>
          <a:p>
            <a:pPr marL="852169" marR="5080" lvl="1" indent="-349885">
              <a:lnSpc>
                <a:spcPct val="118200"/>
              </a:lnSpc>
              <a:spcBef>
                <a:spcPts val="63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pilha(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ha,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pilha,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ando-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pilha.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852805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anho(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pilha.</a:t>
            </a:r>
            <a:endParaRPr sz="2050">
              <a:latin typeface="Arial"/>
              <a:cs typeface="Arial"/>
            </a:endParaRPr>
          </a:p>
          <a:p>
            <a:pPr marL="484505" marR="110489" indent="-262255">
              <a:lnSpc>
                <a:spcPct val="118200"/>
              </a:lnSpc>
              <a:spcBef>
                <a:spcPts val="126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pilha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34645" indent="-262255">
              <a:lnSpc>
                <a:spcPct val="118200"/>
              </a:lnSpc>
              <a:spcBef>
                <a:spcPts val="126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As </a:t>
            </a:r>
            <a:r>
              <a:rPr sz="2050" dirty="0">
                <a:latin typeface="Arial"/>
                <a:cs typeface="Arial"/>
              </a:rPr>
              <a:t>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 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dirty="0">
                <a:latin typeface="Arial"/>
                <a:cs typeface="Arial"/>
              </a:rPr>
              <a:t>ar</a:t>
            </a:r>
            <a:r>
              <a:rPr sz="2050" i="1" spc="-20" dirty="0">
                <a:latin typeface="Arial"/>
                <a:cs typeface="Arial"/>
              </a:rPr>
              <a:t>r</a:t>
            </a:r>
            <a:r>
              <a:rPr sz="2050" i="1" dirty="0">
                <a:latin typeface="Arial"/>
                <a:cs typeface="Arial"/>
              </a:rPr>
              <a:t>anjo</a:t>
            </a:r>
            <a:r>
              <a:rPr sz="2050" i="1" spc="5" dirty="0">
                <a:latin typeface="Arial"/>
                <a:cs typeface="Arial"/>
              </a:rPr>
              <a:t>s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dirty="0">
                <a:latin typeface="Arial"/>
                <a:cs typeface="Arial"/>
              </a:rPr>
              <a:t>apon</a:t>
            </a:r>
            <a:r>
              <a:rPr sz="2050" i="1" spc="-5" dirty="0">
                <a:latin typeface="Arial"/>
                <a:cs typeface="Arial"/>
              </a:rPr>
              <a:t>t</a:t>
            </a:r>
            <a:r>
              <a:rPr sz="2050" i="1" dirty="0">
                <a:latin typeface="Arial"/>
                <a:cs typeface="Arial"/>
              </a:rPr>
              <a:t>adore</a:t>
            </a:r>
            <a:r>
              <a:rPr sz="2050" i="1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11353" y="862672"/>
            <a:ext cx="8689975" cy="5581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 err="1" smtClean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 err="1" smtClean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 err="1" smtClean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 err="1" smtClean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 smtClean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 err="1" smtClean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5" dirty="0" err="1" smtClean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 err="1" smtClean="0">
                <a:solidFill>
                  <a:srgbClr val="007F7A"/>
                </a:solidFill>
                <a:latin typeface="Arial"/>
                <a:cs typeface="Arial"/>
              </a:rPr>
              <a:t>eio</a:t>
            </a:r>
            <a:r>
              <a:rPr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 smtClean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20" dirty="0" smtClean="0">
                <a:solidFill>
                  <a:srgbClr val="007F7A"/>
                </a:solidFill>
                <a:latin typeface="Arial"/>
                <a:cs typeface="Arial"/>
              </a:rPr>
              <a:t>alocação estática</a:t>
            </a:r>
            <a:endParaRPr sz="2450" dirty="0" smtClean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484505" marR="96139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tí</a:t>
            </a:r>
            <a:r>
              <a:rPr sz="2050" dirty="0">
                <a:latin typeface="Arial"/>
                <a:cs typeface="Arial"/>
              </a:rPr>
              <a:t>gua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ia.</a:t>
            </a: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pilha,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 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top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pilha.</a:t>
            </a:r>
          </a:p>
          <a:p>
            <a:pPr>
              <a:lnSpc>
                <a:spcPct val="100000"/>
              </a:lnSpc>
              <a:spcBef>
                <a:spcPts val="41"/>
              </a:spcBef>
            </a:pPr>
            <a:endParaRPr sz="1850" dirty="0">
              <a:latin typeface="Times New Roman"/>
              <a:cs typeface="Times New Roman"/>
            </a:endParaRPr>
          </a:p>
          <a:p>
            <a:pPr marL="1323975" algn="ctr">
              <a:lnSpc>
                <a:spcPct val="100000"/>
              </a:lnSpc>
            </a:pPr>
            <a:r>
              <a:rPr sz="1850" spc="5" dirty="0">
                <a:latin typeface="Times New Roman"/>
                <a:cs typeface="Times New Roman"/>
              </a:rPr>
              <a:t>It</a:t>
            </a:r>
            <a:r>
              <a:rPr sz="1850" spc="15" dirty="0">
                <a:latin typeface="Times New Roman"/>
                <a:cs typeface="Times New Roman"/>
              </a:rPr>
              <a:t>e</a:t>
            </a:r>
            <a:r>
              <a:rPr sz="1850" spc="10" dirty="0">
                <a:latin typeface="Times New Roman"/>
                <a:cs typeface="Times New Roman"/>
              </a:rPr>
              <a:t>ns</a:t>
            </a:r>
            <a:endParaRPr sz="1850" dirty="0">
              <a:latin typeface="Times New Roman"/>
              <a:cs typeface="Times New Roman"/>
            </a:endParaRPr>
          </a:p>
          <a:p>
            <a:pPr marR="1384300" algn="ctr">
              <a:lnSpc>
                <a:spcPct val="100000"/>
              </a:lnSpc>
              <a:spcBef>
                <a:spcPts val="225"/>
              </a:spcBef>
            </a:pPr>
            <a:r>
              <a:rPr sz="1850" spc="15" dirty="0">
                <a:latin typeface="Times New Roman"/>
                <a:cs typeface="Times New Roman"/>
              </a:rPr>
              <a:t>P</a:t>
            </a:r>
            <a:r>
              <a:rPr sz="1850" spc="5" dirty="0">
                <a:latin typeface="Times New Roman"/>
                <a:cs typeface="Times New Roman"/>
              </a:rPr>
              <a:t>ri</a:t>
            </a:r>
            <a:r>
              <a:rPr sz="1850" spc="20" dirty="0">
                <a:latin typeface="Times New Roman"/>
                <a:cs typeface="Times New Roman"/>
              </a:rPr>
              <a:t>me</a:t>
            </a:r>
            <a:r>
              <a:rPr sz="1850" spc="5" dirty="0">
                <a:latin typeface="Times New Roman"/>
                <a:cs typeface="Times New Roman"/>
              </a:rPr>
              <a:t>ir</a:t>
            </a:r>
            <a:r>
              <a:rPr sz="1850" spc="15" dirty="0">
                <a:latin typeface="Times New Roman"/>
                <a:cs typeface="Times New Roman"/>
              </a:rPr>
              <a:t>o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spc="114" dirty="0">
                <a:latin typeface="Tahoma"/>
                <a:cs typeface="Tahoma"/>
              </a:rPr>
              <a:t>=</a:t>
            </a:r>
            <a:r>
              <a:rPr sz="1850" spc="-55" dirty="0">
                <a:latin typeface="Tahoma"/>
                <a:cs typeface="Tahoma"/>
              </a:rPr>
              <a:t> </a:t>
            </a:r>
            <a:r>
              <a:rPr sz="1850" spc="-70" dirty="0">
                <a:latin typeface="Tahoma"/>
                <a:cs typeface="Tahoma"/>
              </a:rPr>
              <a:t>1</a:t>
            </a:r>
            <a:endParaRPr sz="1850" dirty="0">
              <a:latin typeface="Tahoma"/>
              <a:cs typeface="Tahoma"/>
            </a:endParaRPr>
          </a:p>
          <a:p>
            <a:pPr marR="382270" algn="ctr">
              <a:lnSpc>
                <a:spcPct val="100000"/>
              </a:lnSpc>
              <a:spcBef>
                <a:spcPts val="229"/>
              </a:spcBef>
            </a:pPr>
            <a:r>
              <a:rPr sz="1850" spc="15" dirty="0">
                <a:latin typeface="Times New Roman"/>
                <a:cs typeface="Times New Roman"/>
              </a:rPr>
              <a:t>2</a:t>
            </a:r>
            <a:endParaRPr sz="1850" dirty="0">
              <a:latin typeface="Times New Roman"/>
              <a:cs typeface="Times New Roman"/>
            </a:endParaRPr>
          </a:p>
          <a:p>
            <a:pPr marL="3405504" marR="4416425" indent="372745">
              <a:lnSpc>
                <a:spcPct val="286800"/>
              </a:lnSpc>
            </a:pPr>
            <a:r>
              <a:rPr sz="1850" spc="-135" dirty="0">
                <a:latin typeface="Times New Roman"/>
                <a:cs typeface="Times New Roman"/>
              </a:rPr>
              <a:t>T</a:t>
            </a:r>
            <a:r>
              <a:rPr sz="1850" spc="10" dirty="0">
                <a:latin typeface="Times New Roman"/>
                <a:cs typeface="Times New Roman"/>
              </a:rPr>
              <a:t>op</a:t>
            </a:r>
            <a:r>
              <a:rPr sz="1850" spc="15" dirty="0">
                <a:latin typeface="Times New Roman"/>
                <a:cs typeface="Times New Roman"/>
              </a:rPr>
              <a:t>o Ma</a:t>
            </a:r>
            <a:r>
              <a:rPr sz="1850" spc="10" dirty="0">
                <a:latin typeface="Times New Roman"/>
                <a:cs typeface="Times New Roman"/>
              </a:rPr>
              <a:t>x</a:t>
            </a:r>
            <a:r>
              <a:rPr sz="1850" spc="-135" dirty="0">
                <a:latin typeface="Times New Roman"/>
                <a:cs typeface="Times New Roman"/>
              </a:rPr>
              <a:t>T</a:t>
            </a:r>
            <a:r>
              <a:rPr sz="1850" spc="20" dirty="0">
                <a:latin typeface="Times New Roman"/>
                <a:cs typeface="Times New Roman"/>
              </a:rPr>
              <a:t>am</a:t>
            </a:r>
            <a:endParaRPr sz="185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964965" y="3864038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969359" y="3863987"/>
            <a:ext cx="0" cy="2628900"/>
          </a:xfrm>
          <a:custGeom>
            <a:avLst/>
            <a:gdLst/>
            <a:ahLst/>
            <a:cxnLst/>
            <a:rect l="l" t="t" r="r" b="b"/>
            <a:pathLst>
              <a:path h="2628900">
                <a:moveTo>
                  <a:pt x="0" y="2628327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23989" y="3863987"/>
            <a:ext cx="0" cy="2628900"/>
          </a:xfrm>
          <a:custGeom>
            <a:avLst/>
            <a:gdLst/>
            <a:ahLst/>
            <a:cxnLst/>
            <a:rect l="l" t="t" r="r" b="b"/>
            <a:pathLst>
              <a:path h="2628900">
                <a:moveTo>
                  <a:pt x="0" y="2628327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964965" y="6492260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403551" y="4173963"/>
          <a:ext cx="1252829" cy="22482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2829"/>
              </a:tblGrid>
              <a:tr h="315468">
                <a:tc>
                  <a:txBody>
                    <a:bodyPr/>
                    <a:lstStyle/>
                    <a:p>
                      <a:pPr marR="3175" algn="ctr">
                        <a:lnSpc>
                          <a:spcPts val="1860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baseline="-12345" dirty="0">
                          <a:latin typeface="Tahoma"/>
                          <a:cs typeface="Tahoma"/>
                        </a:rPr>
                        <a:t>1</a:t>
                      </a:r>
                      <a:endParaRPr sz="2000" baseline="-12345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1010">
                <a:tc>
                  <a:txBody>
                    <a:bodyPr/>
                    <a:lstStyle/>
                    <a:p>
                      <a:pPr marR="3175" algn="ctr">
                        <a:lnSpc>
                          <a:spcPts val="1825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baseline="-12345" dirty="0">
                          <a:latin typeface="Tahoma"/>
                          <a:cs typeface="Tahoma"/>
                        </a:rPr>
                        <a:t>2</a:t>
                      </a:r>
                      <a:endParaRPr sz="2000" baseline="-12345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7662"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</a:pPr>
                      <a:r>
                        <a:rPr sz="1900" spc="-475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spc="-712" baseline="-21021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baseline="-42042" dirty="0">
                          <a:latin typeface="Times New Roman"/>
                          <a:cs typeface="Times New Roman"/>
                        </a:rPr>
                        <a:t>.</a:t>
                      </a:r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1010">
                <a:tc>
                  <a:txBody>
                    <a:bodyPr/>
                    <a:lstStyle/>
                    <a:p>
                      <a:pPr marR="3175" algn="ctr">
                        <a:lnSpc>
                          <a:spcPts val="1825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i="1" baseline="-12345" dirty="0">
                          <a:latin typeface="Verdana"/>
                          <a:cs typeface="Verdana"/>
                        </a:rPr>
                        <a:t>n</a:t>
                      </a:r>
                      <a:endParaRPr sz="2000" baseline="-12345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7662"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</a:pPr>
                      <a:r>
                        <a:rPr sz="1900" spc="-475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spc="-712" baseline="-21021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baseline="-42042" dirty="0">
                          <a:latin typeface="Times New Roman"/>
                          <a:cs typeface="Times New Roman"/>
                        </a:rPr>
                        <a:t>.</a:t>
                      </a:r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5474">
                <a:tc>
                  <a:txBody>
                    <a:bodyPr/>
                    <a:lstStyle/>
                    <a:p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4112" y="851928"/>
            <a:ext cx="8716010" cy="6273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ct val="100000"/>
              </a:lnSpc>
            </a:pP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20" dirty="0" smtClean="0">
                <a:solidFill>
                  <a:srgbClr val="007F7A"/>
                </a:solidFill>
                <a:latin typeface="Arial"/>
                <a:cs typeface="Arial"/>
              </a:rPr>
              <a:t>alocação estática</a:t>
            </a:r>
            <a:endParaRPr sz="2450" dirty="0">
              <a:latin typeface="Arial"/>
              <a:cs typeface="Arial"/>
            </a:endParaRPr>
          </a:p>
          <a:p>
            <a:pPr marL="49212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rr</a:t>
            </a:r>
            <a:r>
              <a:rPr sz="2050" b="1" spc="-40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y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pilha.</a:t>
            </a:r>
          </a:p>
          <a:p>
            <a:pPr marL="492125" marR="22796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smo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pilha.</a:t>
            </a:r>
          </a:p>
          <a:p>
            <a:pPr marL="49212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defin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pilha.</a:t>
            </a:r>
          </a:p>
          <a:p>
            <a:pPr marL="15875" marR="5925820" indent="-3810">
              <a:lnSpc>
                <a:spcPct val="129800"/>
              </a:lnSpc>
              <a:spcBef>
                <a:spcPts val="1825"/>
              </a:spcBef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100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 dirty="0">
              <a:latin typeface="Arial"/>
              <a:cs typeface="Arial"/>
            </a:endParaRPr>
          </a:p>
          <a:p>
            <a:pPr marL="224790">
              <a:lnSpc>
                <a:spcPct val="100000"/>
              </a:lnSpc>
              <a:spcBef>
                <a:spcPts val="605"/>
              </a:spcBef>
            </a:pP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48920">
              <a:lnSpc>
                <a:spcPct val="100000"/>
              </a:lnSpc>
              <a:spcBef>
                <a:spcPts val="60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200" dirty="0">
                <a:latin typeface="Lucida Sans Unicode"/>
                <a:cs typeface="Lucida Sans Unicode"/>
              </a:rPr>
              <a:t> </a:t>
            </a:r>
            <a:r>
              <a:rPr sz="1700" spc="-185" dirty="0">
                <a:latin typeface="Lucida Sans Unicode"/>
                <a:cs typeface="Lucida Sans Unicode"/>
              </a:rPr>
              <a:t>−−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45" dirty="0">
                <a:latin typeface="Arial"/>
                <a:cs typeface="Arial"/>
              </a:rPr>
              <a:t>s</a:t>
            </a:r>
            <a:r>
              <a:rPr sz="1700" spc="-185" dirty="0">
                <a:latin typeface="Lucida Sans Unicode"/>
                <a:cs typeface="Lucida Sans Unicode"/>
              </a:rPr>
              <a:t>−−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110" dirty="0">
                <a:latin typeface="Lucida Sans Unicode"/>
                <a:cs typeface="Lucida Sans Unicode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 dirty="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60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 dirty="0">
              <a:latin typeface="Arial"/>
              <a:cs typeface="Arial"/>
            </a:endParaRPr>
          </a:p>
          <a:p>
            <a:pPr marL="231140" marR="5881370" indent="3175">
              <a:lnSpc>
                <a:spcPct val="129700"/>
              </a:lnSpc>
            </a:pP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235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0" y="851928"/>
            <a:ext cx="8729015" cy="23980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20" dirty="0" smtClean="0">
                <a:solidFill>
                  <a:srgbClr val="007F7A"/>
                </a:solidFill>
                <a:latin typeface="Arial"/>
                <a:cs typeface="Arial"/>
              </a:rPr>
              <a:t>alocação estática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FPVazi</a:t>
            </a:r>
            <a:r>
              <a:rPr sz="1700" spc="6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 dirty="0">
              <a:latin typeface="Times New Roman"/>
              <a:cs typeface="Times New Roman"/>
            </a:endParaRPr>
          </a:p>
          <a:p>
            <a:pPr marL="29845">
              <a:lnSpc>
                <a:spcPct val="100000"/>
              </a:lnSpc>
              <a:spcBef>
                <a:spcPts val="129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.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165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160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7230" y="3618408"/>
            <a:ext cx="4514215" cy="606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700020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Empilh</a:t>
            </a:r>
            <a:r>
              <a:rPr sz="1700" spc="100" dirty="0">
                <a:latin typeface="Arial"/>
                <a:cs typeface="Arial"/>
              </a:rPr>
              <a:t>a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57810" algn="l"/>
                <a:tab pos="559435" algn="l"/>
                <a:tab pos="314579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5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MaxTa</a:t>
            </a:r>
            <a:r>
              <a:rPr sz="1700" spc="-1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30419" y="3954526"/>
            <a:ext cx="223647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10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chei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7302" y="4290721"/>
            <a:ext cx="6988175" cy="2623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1140">
              <a:lnSpc>
                <a:spcPct val="100000"/>
              </a:lnSpc>
              <a:tabLst>
                <a:tab pos="988060" algn="l"/>
                <a:tab pos="2701925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-20" dirty="0">
                <a:latin typeface="Arial"/>
                <a:cs typeface="Arial"/>
              </a:rPr>
              <a:t>o</a:t>
            </a:r>
            <a:r>
              <a:rPr sz="1700" spc="90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0" dirty="0">
                <a:latin typeface="Lucida Sans Unicode"/>
                <a:cs typeface="Lucida Sans Unicode"/>
              </a:rPr>
              <a:t> </a:t>
            </a:r>
            <a:r>
              <a:rPr sz="1700" spc="114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95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Desempilh</a:t>
            </a:r>
            <a:r>
              <a:rPr sz="1700" spc="8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25" dirty="0">
                <a:latin typeface="Lucida Sans Unicode"/>
                <a:cs typeface="Lucida Sans Unicode"/>
              </a:rPr>
              <a:t>∗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57810" algn="l"/>
                <a:tab pos="559435" algn="l"/>
                <a:tab pos="2288540" algn="l"/>
                <a:tab pos="377825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34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vazi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1140">
              <a:lnSpc>
                <a:spcPct val="100000"/>
              </a:lnSpc>
              <a:spcBef>
                <a:spcPts val="605"/>
              </a:spcBef>
              <a:tabLst>
                <a:tab pos="5165725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-29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210" dirty="0">
                <a:latin typeface="Lucida Sans Unicode"/>
                <a:cs typeface="Lucida Sans Unicode"/>
              </a:rPr>
              <a:t> </a:t>
            </a:r>
            <a:r>
              <a:rPr sz="1700" spc="140" dirty="0">
                <a:latin typeface="Arial"/>
                <a:cs typeface="Arial"/>
              </a:rPr>
              <a:t>1]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65" dirty="0">
                <a:latin typeface="Lucida Sans Unicode"/>
                <a:cs typeface="Lucida Sans Unicode"/>
              </a:rPr>
              <a:t>−</a:t>
            </a:r>
            <a:r>
              <a:rPr sz="1700" spc="25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spc="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60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-3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.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5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9288374" cy="3770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eio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15" dirty="0" smtClean="0">
                <a:solidFill>
                  <a:srgbClr val="007F7A"/>
                </a:solidFill>
                <a:latin typeface="Arial"/>
                <a:cs typeface="Arial"/>
              </a:rPr>
              <a:t>alocação dinâmica</a:t>
            </a:r>
            <a:endParaRPr sz="2450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21300" y="1828390"/>
            <a:ext cx="4294505" cy="47696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 algn="just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Há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6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acili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a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9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19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19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9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44" baseline="-12345" dirty="0">
                <a:latin typeface="Verdana"/>
                <a:cs typeface="Verdana"/>
              </a:rPr>
              <a:t>n</a:t>
            </a:r>
            <a:r>
              <a:rPr sz="2025" i="1" baseline="-12345" dirty="0">
                <a:latin typeface="Verdana"/>
                <a:cs typeface="Verdana"/>
              </a:rPr>
              <a:t> </a:t>
            </a:r>
            <a:r>
              <a:rPr sz="2025" i="1" spc="-157" baseline="-12345" dirty="0">
                <a:latin typeface="Verdana"/>
                <a:cs typeface="Verdana"/>
              </a:rPr>
              <a:t>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sli</a:t>
            </a:r>
            <a:r>
              <a:rPr sz="2050" dirty="0">
                <a:latin typeface="Arial"/>
                <a:cs typeface="Arial"/>
              </a:rPr>
              <a:t>ga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spc="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spc="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9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44" baseline="-12345" dirty="0">
                <a:latin typeface="Verdana"/>
                <a:cs typeface="Verdana"/>
              </a:rPr>
              <a:t>n</a:t>
            </a:r>
            <a:r>
              <a:rPr sz="2025" i="1" spc="82" baseline="-12345" dirty="0">
                <a:latin typeface="Verdana"/>
                <a:cs typeface="Verdan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ssa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m,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1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ia,</a:t>
            </a:r>
            <a:r>
              <a:rPr sz="2050" spc="-9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olo</a:t>
            </a:r>
            <a:r>
              <a:rPr sz="2050" spc="5" dirty="0">
                <a:latin typeface="Arial"/>
                <a:cs typeface="Arial"/>
              </a:rPr>
              <a:t>- c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iga.</a:t>
            </a:r>
            <a:endParaRPr sz="2050">
              <a:latin typeface="Arial"/>
              <a:cs typeface="Arial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3500" y="1828390"/>
            <a:ext cx="3561765" cy="4948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31" y="851928"/>
            <a:ext cx="8724895" cy="3770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15" dirty="0" smtClean="0">
                <a:solidFill>
                  <a:srgbClr val="007F7A"/>
                </a:solidFill>
                <a:latin typeface="Arial"/>
                <a:cs typeface="Arial"/>
              </a:rPr>
              <a:t>alocação dinâmica</a:t>
            </a:r>
            <a:endParaRPr sz="2450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21298" y="1619221"/>
            <a:ext cx="3548379" cy="47696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 algn="just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60" dirty="0">
                <a:latin typeface="Arial"/>
                <a:cs typeface="Arial"/>
              </a:rPr>
              <a:t>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5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8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lula.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Tipo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8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8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8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9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(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)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pilha.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00142" y="1738402"/>
            <a:ext cx="4398645" cy="4755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4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43840">
              <a:lnSpc>
                <a:spcPct val="100000"/>
              </a:lnSpc>
              <a:spcBef>
                <a:spcPts val="67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2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5110">
              <a:lnSpc>
                <a:spcPct val="100000"/>
              </a:lnSpc>
              <a:spcBef>
                <a:spcPts val="67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5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-405" dirty="0">
                <a:latin typeface="Lucida Sans Unicode"/>
                <a:cs typeface="Lucida Sans Unicode"/>
              </a:rPr>
              <a:t>∗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1508125" indent="-215265">
              <a:lnSpc>
                <a:spcPts val="2720"/>
              </a:lnSpc>
              <a:spcBef>
                <a:spcPts val="200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6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1397635" indent="-215265">
              <a:lnSpc>
                <a:spcPts val="2720"/>
              </a:lnSpc>
              <a:spcBef>
                <a:spcPts val="200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Fund</a:t>
            </a:r>
            <a:r>
              <a:rPr sz="1700" spc="6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2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51928"/>
            <a:ext cx="7997011" cy="64976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15" dirty="0" smtClean="0">
                <a:solidFill>
                  <a:srgbClr val="007F7A"/>
                </a:solidFill>
                <a:latin typeface="Arial"/>
                <a:cs typeface="Arial"/>
              </a:rPr>
              <a:t>alocação dinâmica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FPVazi</a:t>
            </a:r>
            <a:r>
              <a:rPr sz="1700" spc="6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238125" marR="570865" indent="-194945">
              <a:lnSpc>
                <a:spcPct val="129700"/>
              </a:lnSpc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50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70" dirty="0">
                <a:latin typeface="Arial"/>
                <a:cs typeface="Arial"/>
              </a:rPr>
              <a:t>&gt;</a:t>
            </a:r>
            <a:r>
              <a:rPr sz="1700" spc="-105" dirty="0">
                <a:latin typeface="Arial"/>
                <a:cs typeface="Arial"/>
              </a:rPr>
              <a:t>Fund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38125" marR="3993515">
              <a:lnSpc>
                <a:spcPct val="129700"/>
              </a:lnSpc>
            </a:pP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50" dirty="0">
                <a:latin typeface="Arial"/>
                <a:cs typeface="Arial"/>
              </a:rPr>
              <a:t>&gt;</a:t>
            </a:r>
            <a:r>
              <a:rPr sz="1700" spc="-85" dirty="0">
                <a:latin typeface="Arial"/>
                <a:cs typeface="Arial"/>
              </a:rPr>
              <a:t>Top</a:t>
            </a:r>
            <a:r>
              <a:rPr sz="1700" spc="-340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85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NUL</a:t>
            </a:r>
            <a:r>
              <a:rPr sz="1700" spc="-15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330" dirty="0">
                <a:latin typeface="Arial"/>
                <a:cs typeface="Arial"/>
              </a:rPr>
              <a:t>&gt;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0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60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.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5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.</a:t>
            </a:r>
            <a:r>
              <a:rPr sz="1700" spc="-105" dirty="0">
                <a:latin typeface="Arial"/>
                <a:cs typeface="Arial"/>
              </a:rPr>
              <a:t>Fund</a:t>
            </a:r>
            <a:r>
              <a:rPr sz="1700" spc="15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  <a:tabLst>
                <a:tab pos="2700020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Empilh</a:t>
            </a:r>
            <a:r>
              <a:rPr sz="1700" spc="100" dirty="0">
                <a:latin typeface="Arial"/>
                <a:cs typeface="Arial"/>
              </a:rPr>
              <a:t>a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38125" marR="1427480" indent="-20955">
              <a:lnSpc>
                <a:spcPts val="2650"/>
              </a:lnSpc>
              <a:spcBef>
                <a:spcPts val="185"/>
              </a:spcBef>
            </a:pP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50" dirty="0">
                <a:latin typeface="Arial"/>
                <a:cs typeface="Arial"/>
              </a:rPr>
              <a:t>&gt;</a:t>
            </a:r>
            <a:r>
              <a:rPr sz="1700" spc="-85" dirty="0">
                <a:latin typeface="Arial"/>
                <a:cs typeface="Arial"/>
              </a:rPr>
              <a:t>Top</a:t>
            </a:r>
            <a:r>
              <a:rPr sz="1700" spc="-340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19710">
              <a:lnSpc>
                <a:spcPct val="100000"/>
              </a:lnSpc>
              <a:spcBef>
                <a:spcPts val="415"/>
              </a:spcBef>
            </a:pPr>
            <a:r>
              <a:rPr sz="1700" spc="-80" dirty="0">
                <a:latin typeface="Arial"/>
                <a:cs typeface="Arial"/>
              </a:rPr>
              <a:t>Au</a:t>
            </a:r>
            <a:r>
              <a:rPr sz="1700" spc="-330" dirty="0">
                <a:latin typeface="Arial"/>
                <a:cs typeface="Arial"/>
              </a:rPr>
              <a:t>x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38125" marR="4743450">
              <a:lnSpc>
                <a:spcPts val="2650"/>
              </a:lnSpc>
              <a:spcBef>
                <a:spcPts val="185"/>
              </a:spcBef>
            </a:pP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330" dirty="0">
                <a:latin typeface="Arial"/>
                <a:cs typeface="Arial"/>
              </a:rPr>
              <a:t>&gt;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-155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41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62712"/>
            <a:ext cx="8971397" cy="14132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15" dirty="0" smtClean="0">
                <a:solidFill>
                  <a:srgbClr val="007F7A"/>
                </a:solidFill>
                <a:latin typeface="Arial"/>
                <a:cs typeface="Arial"/>
              </a:rPr>
              <a:t>alocação dinâmica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7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95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Desempilh</a:t>
            </a:r>
            <a:r>
              <a:rPr sz="1700" spc="8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25" dirty="0">
                <a:latin typeface="Lucida Sans Unicode"/>
                <a:cs typeface="Lucida Sans Unicode"/>
              </a:rPr>
              <a:t>∗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99894" y="2332380"/>
            <a:ext cx="512445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dirty="0">
                <a:latin typeface="Arial"/>
                <a:cs typeface="Arial"/>
              </a:rPr>
              <a:t>l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195" dirty="0">
                <a:latin typeface="Arial"/>
                <a:cs typeface="Arial"/>
              </a:rPr>
              <a:t>st</a:t>
            </a:r>
            <a:r>
              <a:rPr sz="1700" spc="10" dirty="0">
                <a:latin typeface="Arial"/>
                <a:cs typeface="Arial"/>
              </a:rPr>
              <a:t>a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22301" y="2332380"/>
            <a:ext cx="213233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35" dirty="0">
                <a:latin typeface="Arial"/>
                <a:cs typeface="Arial"/>
              </a:rPr>
              <a:t>vazi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18425" y="2246365"/>
            <a:ext cx="3660140" cy="1736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33655">
              <a:lnSpc>
                <a:spcPct val="133200"/>
              </a:lnSpc>
              <a:tabLst>
                <a:tab pos="348615" algn="l"/>
                <a:tab pos="229171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34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 q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6670">
              <a:lnSpc>
                <a:spcPct val="100000"/>
              </a:lnSpc>
              <a:spcBef>
                <a:spcPts val="675"/>
              </a:spcBef>
            </a:pP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q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8415">
              <a:lnSpc>
                <a:spcPct val="100000"/>
              </a:lnSpc>
              <a:spcBef>
                <a:spcPts val="675"/>
              </a:spcBef>
            </a:pPr>
            <a:r>
              <a:rPr sz="1700" spc="-500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q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85" dirty="0">
                <a:latin typeface="Arial"/>
                <a:cs typeface="Arial"/>
              </a:rPr>
              <a:t>&gt;</a:t>
            </a:r>
            <a:r>
              <a:rPr sz="1700" spc="-20" dirty="0">
                <a:latin typeface="Arial"/>
                <a:cs typeface="Arial"/>
              </a:rPr>
              <a:t>Pro</a:t>
            </a:r>
            <a:r>
              <a:rPr sz="1700" spc="-210" dirty="0">
                <a:latin typeface="Arial"/>
                <a:cs typeface="Arial"/>
              </a:rPr>
              <a:t>x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675"/>
              </a:spcBef>
              <a:tabLst>
                <a:tab pos="1097915" algn="l"/>
              </a:tabLst>
            </a:pPr>
            <a:r>
              <a:rPr sz="1700" spc="85" dirty="0">
                <a:latin typeface="Arial"/>
                <a:cs typeface="Arial"/>
              </a:rPr>
              <a:t>fre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80" dirty="0">
                <a:latin typeface="Arial"/>
                <a:cs typeface="Arial"/>
              </a:rPr>
              <a:t>(</a:t>
            </a:r>
            <a:r>
              <a:rPr sz="1700" spc="200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310" dirty="0">
                <a:latin typeface="Arial"/>
                <a:cs typeface="Arial"/>
              </a:rPr>
              <a:t>&gt;</a:t>
            </a:r>
            <a:r>
              <a:rPr sz="1700" spc="-145" dirty="0">
                <a:latin typeface="Arial"/>
                <a:cs typeface="Arial"/>
              </a:rPr>
              <a:t>Tamanh</a:t>
            </a:r>
            <a:r>
              <a:rPr sz="1700" spc="-420" dirty="0">
                <a:latin typeface="Arial"/>
                <a:cs typeface="Arial"/>
              </a:rPr>
              <a:t>o</a:t>
            </a:r>
            <a:r>
              <a:rPr sz="1700" spc="-265" dirty="0">
                <a:latin typeface="Lucida Sans Unicode"/>
                <a:cs typeface="Lucida Sans Unicode"/>
              </a:rPr>
              <a:t>−</a:t>
            </a:r>
            <a:r>
              <a:rPr sz="1700" spc="-140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24915" y="4057435"/>
            <a:ext cx="2994660" cy="1305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-3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.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9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670290" cy="6026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endParaRPr sz="2450">
              <a:latin typeface="Arial"/>
              <a:cs typeface="Arial"/>
            </a:endParaRPr>
          </a:p>
          <a:p>
            <a:pPr marL="484505" marR="265430" indent="-262255" algn="just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a,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ge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39941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ode</a:t>
            </a:r>
            <a:r>
              <a:rPr sz="2050" spc="5" dirty="0">
                <a:latin typeface="Arial"/>
                <a:cs typeface="Arial"/>
              </a:rPr>
              <a:t>lo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fila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5" dirty="0">
                <a:latin typeface="Arial"/>
                <a:cs typeface="Arial"/>
              </a:rPr>
              <a:t>cio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dirty="0">
                <a:latin typeface="Arial"/>
                <a:cs typeface="Arial"/>
              </a:rPr>
              <a:t>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</a:t>
            </a:r>
            <a:r>
              <a:rPr sz="2050" spc="5" dirty="0">
                <a:latin typeface="Arial"/>
                <a:cs typeface="Arial"/>
              </a:rPr>
              <a:t>o 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hega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 fim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fila.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f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spc="-40" dirty="0">
                <a:latin typeface="Arial"/>
                <a:cs typeface="Arial"/>
              </a:rPr>
              <a:t>f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(“fir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-in”,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“fir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-ou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”).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“orde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hegada”.</a:t>
            </a:r>
            <a:endParaRPr sz="2050">
              <a:latin typeface="Arial"/>
              <a:cs typeface="Arial"/>
            </a:endParaRPr>
          </a:p>
          <a:p>
            <a:pPr marL="484505" marR="37592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eja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“p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eiro-que-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hega,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eiro-a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endido”.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Sis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regula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qual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ebe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e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 a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404" y="862711"/>
            <a:ext cx="8451215" cy="36912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AD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FF</a:t>
            </a: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a(Fila).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10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a(</a:t>
            </a:r>
            <a:r>
              <a:rPr sz="2050" spc="5" dirty="0">
                <a:latin typeface="Arial"/>
                <a:cs typeface="Arial"/>
              </a:rPr>
              <a:t>x,</a:t>
            </a:r>
            <a:r>
              <a:rPr sz="2050" dirty="0">
                <a:latin typeface="Arial"/>
                <a:cs typeface="Arial"/>
              </a:rPr>
              <a:t> Fila).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final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fila.</a:t>
            </a:r>
            <a:endParaRPr sz="2050">
              <a:latin typeface="Arial"/>
              <a:cs typeface="Arial"/>
            </a:endParaRPr>
          </a:p>
          <a:p>
            <a:pPr marL="852169" marR="5080" lvl="1" indent="-349885">
              <a:lnSpc>
                <a:spcPct val="1197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a(Fila,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5" dirty="0">
                <a:latin typeface="Arial"/>
                <a:cs typeface="Arial"/>
              </a:rPr>
              <a:t>cio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fila,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ando-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fila.</a:t>
            </a:r>
            <a:endParaRPr sz="2050">
              <a:latin typeface="Arial"/>
              <a:cs typeface="Arial"/>
            </a:endParaRPr>
          </a:p>
          <a:p>
            <a:pPr marL="852169" marR="281940" lvl="1" indent="-349885">
              <a:lnSpc>
                <a:spcPct val="1197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a(Fila).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-5" dirty="0">
                <a:latin typeface="Arial"/>
                <a:cs typeface="Arial"/>
              </a:rPr>
              <a:t>t</a:t>
            </a:r>
            <a:r>
              <a:rPr sz="2050" i="1" spc="35" dirty="0">
                <a:latin typeface="Arial"/>
                <a:cs typeface="Arial"/>
              </a:rPr>
              <a:t>r</a:t>
            </a:r>
            <a:r>
              <a:rPr sz="2050" i="1" dirty="0">
                <a:latin typeface="Arial"/>
                <a:cs typeface="Arial"/>
              </a:rPr>
              <a:t>u</a:t>
            </a:r>
            <a:r>
              <a:rPr sz="2050" i="1" spc="5" dirty="0">
                <a:latin typeface="Arial"/>
                <a:cs typeface="Arial"/>
              </a:rPr>
              <a:t>e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fila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a;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-65" dirty="0">
                <a:latin typeface="Arial"/>
                <a:cs typeface="Arial"/>
              </a:rPr>
              <a:t>f</a:t>
            </a:r>
            <a:r>
              <a:rPr sz="2050" i="1" dirty="0">
                <a:latin typeface="Arial"/>
                <a:cs typeface="Arial"/>
              </a:rPr>
              <a:t>a</a:t>
            </a:r>
            <a:r>
              <a:rPr sz="2050" i="1" spc="5" dirty="0">
                <a:latin typeface="Arial"/>
                <a:cs typeface="Arial"/>
              </a:rPr>
              <a:t>ls</a:t>
            </a:r>
            <a:r>
              <a:rPr sz="2050" i="1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404" y="851928"/>
            <a:ext cx="8654415" cy="4572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15" dirty="0" smtClean="0">
                <a:solidFill>
                  <a:srgbClr val="007F7A"/>
                </a:solidFill>
                <a:latin typeface="Arial"/>
                <a:cs typeface="Arial"/>
              </a:rPr>
              <a:t>com alocação estática</a:t>
            </a:r>
            <a:endParaRPr sz="2450" dirty="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tí</a:t>
            </a:r>
            <a:r>
              <a:rPr sz="2050" dirty="0">
                <a:latin typeface="Arial"/>
                <a:cs typeface="Arial"/>
              </a:rPr>
              <a:t>gua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ia.</a:t>
            </a: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pandir-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air-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484505" marR="50609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fila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end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upand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ço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ço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484505" marR="21272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ai a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limi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ço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ela.</a:t>
            </a: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olu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ão: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agina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rr</a:t>
            </a:r>
            <a:r>
              <a:rPr sz="2050" b="1" spc="-40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y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ul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a.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577905" y="6789454"/>
            <a:ext cx="39433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0" dirty="0">
                <a:latin typeface="Times New Roman"/>
                <a:cs typeface="Times New Roman"/>
              </a:rPr>
              <a:t>T</a:t>
            </a:r>
            <a:r>
              <a:rPr sz="1600" spc="-65" dirty="0">
                <a:latin typeface="Times New Roman"/>
                <a:cs typeface="Times New Roman"/>
              </a:rPr>
              <a:t>r</a:t>
            </a:r>
            <a:r>
              <a:rPr sz="1600" spc="-465" dirty="0">
                <a:latin typeface="Times New Roman"/>
                <a:cs typeface="Times New Roman"/>
              </a:rPr>
              <a:t>´</a:t>
            </a:r>
            <a:r>
              <a:rPr sz="1600" spc="10" dirty="0">
                <a:latin typeface="Times New Roman"/>
                <a:cs typeface="Times New Roman"/>
              </a:rPr>
              <a:t>as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42992" y="5743356"/>
            <a:ext cx="1254485" cy="125448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941730" y="6042990"/>
            <a:ext cx="129539" cy="629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3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600" spc="15" dirty="0">
                <a:latin typeface="Times New Roman"/>
                <a:cs typeface="Times New Roman"/>
              </a:rPr>
              <a:t>4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55096" y="6789455"/>
            <a:ext cx="129539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5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08704" y="6976075"/>
            <a:ext cx="56451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47675" algn="l"/>
              </a:tabLst>
            </a:pPr>
            <a:r>
              <a:rPr sz="1600" spc="15" dirty="0">
                <a:latin typeface="Times New Roman"/>
                <a:cs typeface="Times New Roman"/>
              </a:rPr>
              <a:t>7	6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97668" y="6789455"/>
            <a:ext cx="129539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8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968238" y="5810745"/>
            <a:ext cx="483870" cy="0"/>
          </a:xfrm>
          <a:custGeom>
            <a:avLst/>
            <a:gdLst/>
            <a:ahLst/>
            <a:cxnLst/>
            <a:rect l="l" t="t" r="r" b="b"/>
            <a:pathLst>
              <a:path w="483870">
                <a:moveTo>
                  <a:pt x="483831" y="0"/>
                </a:moveTo>
                <a:lnTo>
                  <a:pt x="0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968246" y="5769306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41478"/>
                </a:moveTo>
                <a:lnTo>
                  <a:pt x="103682" y="82943"/>
                </a:lnTo>
                <a:lnTo>
                  <a:pt x="82943" y="41478"/>
                </a:lnTo>
                <a:lnTo>
                  <a:pt x="82943" y="8296"/>
                </a:lnTo>
                <a:lnTo>
                  <a:pt x="0" y="41478"/>
                </a:lnTo>
                <a:close/>
              </a:path>
              <a:path w="104139" h="83185">
                <a:moveTo>
                  <a:pt x="82943" y="8296"/>
                </a:moveTo>
                <a:lnTo>
                  <a:pt x="82943" y="41478"/>
                </a:lnTo>
                <a:lnTo>
                  <a:pt x="103682" y="0"/>
                </a:lnTo>
                <a:lnTo>
                  <a:pt x="82943" y="82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968246" y="5769306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103682" y="0"/>
                </a:moveTo>
                <a:lnTo>
                  <a:pt x="0" y="41478"/>
                </a:lnTo>
                <a:lnTo>
                  <a:pt x="103682" y="82943"/>
                </a:lnTo>
                <a:lnTo>
                  <a:pt x="82943" y="41478"/>
                </a:lnTo>
                <a:lnTo>
                  <a:pt x="103682" y="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088244" y="6930449"/>
            <a:ext cx="483870" cy="0"/>
          </a:xfrm>
          <a:custGeom>
            <a:avLst/>
            <a:gdLst/>
            <a:ahLst/>
            <a:cxnLst/>
            <a:rect l="l" t="t" r="r" b="b"/>
            <a:pathLst>
              <a:path w="483870">
                <a:moveTo>
                  <a:pt x="483819" y="0"/>
                </a:moveTo>
                <a:lnTo>
                  <a:pt x="0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68471" y="6889020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4">
                <a:moveTo>
                  <a:pt x="0" y="82941"/>
                </a:moveTo>
                <a:lnTo>
                  <a:pt x="103670" y="41468"/>
                </a:lnTo>
                <a:lnTo>
                  <a:pt x="20726" y="8290"/>
                </a:lnTo>
                <a:lnTo>
                  <a:pt x="20726" y="41468"/>
                </a:lnTo>
                <a:lnTo>
                  <a:pt x="0" y="82941"/>
                </a:lnTo>
                <a:close/>
              </a:path>
              <a:path w="104139" h="83184">
                <a:moveTo>
                  <a:pt x="0" y="0"/>
                </a:moveTo>
                <a:lnTo>
                  <a:pt x="20726" y="41468"/>
                </a:lnTo>
                <a:lnTo>
                  <a:pt x="20726" y="82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468471" y="6889020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4">
                <a:moveTo>
                  <a:pt x="0" y="82941"/>
                </a:moveTo>
                <a:lnTo>
                  <a:pt x="103670" y="41468"/>
                </a:lnTo>
                <a:lnTo>
                  <a:pt x="0" y="0"/>
                </a:lnTo>
                <a:lnTo>
                  <a:pt x="20726" y="41468"/>
                </a:lnTo>
                <a:lnTo>
                  <a:pt x="0" y="82941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946499" y="5483174"/>
            <a:ext cx="62674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09905" algn="l"/>
              </a:tabLst>
            </a:pPr>
            <a:r>
              <a:rPr sz="1600" spc="15" dirty="0">
                <a:latin typeface="Times New Roman"/>
                <a:cs typeface="Times New Roman"/>
              </a:rPr>
              <a:t>n	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755094" y="5669750"/>
            <a:ext cx="1363980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821055" algn="l"/>
              </a:tabLst>
            </a:pPr>
            <a:r>
              <a:rPr sz="1600" spc="15" dirty="0">
                <a:latin typeface="Times New Roman"/>
                <a:cs typeface="Times New Roman"/>
              </a:rPr>
              <a:t>2	</a:t>
            </a:r>
            <a:r>
              <a:rPr sz="1600" spc="10" dirty="0">
                <a:latin typeface="Times New Roman"/>
                <a:cs typeface="Times New Roman"/>
              </a:rPr>
              <a:t>Frente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53777" y="6209332"/>
            <a:ext cx="218008" cy="1809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sz="1600" dirty="0">
                <a:latin typeface="Times New Roman"/>
                <a:cs typeface="Times New Roman"/>
              </a:rPr>
              <a:t>...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8297774" cy="3770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15" dirty="0" smtClean="0">
                <a:solidFill>
                  <a:srgbClr val="007F7A"/>
                </a:solidFill>
                <a:latin typeface="Arial"/>
                <a:cs typeface="Arial"/>
              </a:rPr>
              <a:t>com alocação estática</a:t>
            </a:r>
            <a:endParaRPr sz="2450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577905" y="2776613"/>
            <a:ext cx="39433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0" dirty="0">
                <a:latin typeface="Times New Roman"/>
                <a:cs typeface="Times New Roman"/>
              </a:rPr>
              <a:t>T</a:t>
            </a:r>
            <a:r>
              <a:rPr sz="1600" spc="-65" dirty="0">
                <a:latin typeface="Times New Roman"/>
                <a:cs typeface="Times New Roman"/>
              </a:rPr>
              <a:t>r</a:t>
            </a:r>
            <a:r>
              <a:rPr sz="1600" spc="-465" dirty="0">
                <a:latin typeface="Times New Roman"/>
                <a:cs typeface="Times New Roman"/>
              </a:rPr>
              <a:t>´</a:t>
            </a:r>
            <a:r>
              <a:rPr sz="1600" spc="10" dirty="0">
                <a:latin typeface="Times New Roman"/>
                <a:cs typeface="Times New Roman"/>
              </a:rPr>
              <a:t>as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42992" y="1730551"/>
            <a:ext cx="1254485" cy="12544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563771" y="1656918"/>
            <a:ext cx="55562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Frente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41730" y="2030145"/>
            <a:ext cx="129539" cy="629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3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600" spc="15" dirty="0">
                <a:latin typeface="Times New Roman"/>
                <a:cs typeface="Times New Roman"/>
              </a:rPr>
              <a:t>4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55096" y="2776613"/>
            <a:ext cx="129539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5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08704" y="2963258"/>
            <a:ext cx="56451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47675" algn="l"/>
              </a:tabLst>
            </a:pPr>
            <a:r>
              <a:rPr sz="1600" spc="15" dirty="0">
                <a:latin typeface="Times New Roman"/>
                <a:cs typeface="Times New Roman"/>
              </a:rPr>
              <a:t>7	6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97668" y="2776613"/>
            <a:ext cx="129539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8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968238" y="1797900"/>
            <a:ext cx="483870" cy="0"/>
          </a:xfrm>
          <a:custGeom>
            <a:avLst/>
            <a:gdLst/>
            <a:ahLst/>
            <a:cxnLst/>
            <a:rect l="l" t="t" r="r" b="b"/>
            <a:pathLst>
              <a:path w="483870">
                <a:moveTo>
                  <a:pt x="483831" y="0"/>
                </a:moveTo>
                <a:lnTo>
                  <a:pt x="0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968246" y="17564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41465"/>
                </a:moveTo>
                <a:lnTo>
                  <a:pt x="103682" y="82931"/>
                </a:lnTo>
                <a:lnTo>
                  <a:pt x="82943" y="41465"/>
                </a:lnTo>
                <a:lnTo>
                  <a:pt x="82943" y="8294"/>
                </a:lnTo>
                <a:lnTo>
                  <a:pt x="0" y="41465"/>
                </a:lnTo>
                <a:close/>
              </a:path>
              <a:path w="104139" h="83185">
                <a:moveTo>
                  <a:pt x="82943" y="8294"/>
                </a:moveTo>
                <a:lnTo>
                  <a:pt x="82943" y="41465"/>
                </a:lnTo>
                <a:lnTo>
                  <a:pt x="103682" y="0"/>
                </a:lnTo>
                <a:lnTo>
                  <a:pt x="82943" y="82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968246" y="17564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103682" y="0"/>
                </a:moveTo>
                <a:lnTo>
                  <a:pt x="0" y="41465"/>
                </a:lnTo>
                <a:lnTo>
                  <a:pt x="103682" y="82931"/>
                </a:lnTo>
                <a:lnTo>
                  <a:pt x="82943" y="41465"/>
                </a:lnTo>
                <a:lnTo>
                  <a:pt x="103682" y="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088244" y="2917609"/>
            <a:ext cx="483870" cy="0"/>
          </a:xfrm>
          <a:custGeom>
            <a:avLst/>
            <a:gdLst/>
            <a:ahLst/>
            <a:cxnLst/>
            <a:rect l="l" t="t" r="r" b="b"/>
            <a:pathLst>
              <a:path w="483870">
                <a:moveTo>
                  <a:pt x="483819" y="0"/>
                </a:moveTo>
                <a:lnTo>
                  <a:pt x="0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468471" y="2876182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31"/>
                </a:moveTo>
                <a:lnTo>
                  <a:pt x="103670" y="41465"/>
                </a:lnTo>
                <a:lnTo>
                  <a:pt x="20726" y="8290"/>
                </a:lnTo>
                <a:lnTo>
                  <a:pt x="20726" y="41465"/>
                </a:lnTo>
                <a:lnTo>
                  <a:pt x="0" y="82931"/>
                </a:lnTo>
                <a:close/>
              </a:path>
              <a:path w="104139" h="83185">
                <a:moveTo>
                  <a:pt x="0" y="0"/>
                </a:moveTo>
                <a:lnTo>
                  <a:pt x="20726" y="41465"/>
                </a:lnTo>
                <a:lnTo>
                  <a:pt x="20726" y="82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468471" y="2876182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31"/>
                </a:moveTo>
                <a:lnTo>
                  <a:pt x="103670" y="41465"/>
                </a:lnTo>
                <a:lnTo>
                  <a:pt x="0" y="0"/>
                </a:lnTo>
                <a:lnTo>
                  <a:pt x="20726" y="41465"/>
                </a:lnTo>
                <a:lnTo>
                  <a:pt x="0" y="82931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946499" y="1470291"/>
            <a:ext cx="62674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09905" algn="l"/>
              </a:tabLst>
            </a:pPr>
            <a:r>
              <a:rPr sz="1600" spc="15" dirty="0">
                <a:latin typeface="Times New Roman"/>
                <a:cs typeface="Times New Roman"/>
              </a:rPr>
              <a:t>n	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755096" y="1656918"/>
            <a:ext cx="129539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2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53777" y="2196488"/>
            <a:ext cx="218008" cy="1809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sz="1600" dirty="0">
                <a:latin typeface="Times New Roman"/>
                <a:cs typeface="Times New Roman"/>
              </a:rPr>
              <a:t>...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21320" y="3397654"/>
            <a:ext cx="8354059" cy="2611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38481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fila se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tí</a:t>
            </a:r>
            <a:r>
              <a:rPr sz="2050" dirty="0">
                <a:latin typeface="Arial"/>
                <a:cs typeface="Arial"/>
              </a:rPr>
              <a:t>gua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ul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de</a:t>
            </a:r>
            <a:r>
              <a:rPr sz="2050" spc="5" dirty="0">
                <a:latin typeface="Arial"/>
                <a:cs typeface="Arial"/>
              </a:rPr>
              <a:t>limi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pelo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9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e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horá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24765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spc="-9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horá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4190" y="851928"/>
            <a:ext cx="8391525" cy="5773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ct val="100000"/>
              </a:lnSpc>
            </a:pP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20" dirty="0" smtClean="0">
                <a:solidFill>
                  <a:srgbClr val="007F7A"/>
                </a:solidFill>
                <a:latin typeface="Arial"/>
                <a:cs typeface="Arial"/>
              </a:rPr>
              <a:t>alocação estática</a:t>
            </a:r>
            <a:endParaRPr sz="2450" dirty="0">
              <a:latin typeface="Arial"/>
              <a:cs typeface="Arial"/>
            </a:endParaRPr>
          </a:p>
          <a:p>
            <a:pPr marL="49212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rr</a:t>
            </a:r>
            <a:r>
              <a:rPr sz="2050" b="1" spc="-40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y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definid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 dirty="0">
              <a:latin typeface="Arial"/>
              <a:cs typeface="Arial"/>
            </a:endParaRPr>
          </a:p>
          <a:p>
            <a:pPr marL="49212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Tipo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ê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fila.</a:t>
            </a:r>
          </a:p>
          <a:p>
            <a:pPr>
              <a:lnSpc>
                <a:spcPct val="100000"/>
              </a:lnSpc>
              <a:spcBef>
                <a:spcPts val="44"/>
              </a:spcBef>
            </a:pPr>
            <a:endParaRPr sz="1550" dirty="0">
              <a:latin typeface="Times New Roman"/>
              <a:cs typeface="Times New Roman"/>
            </a:endParaRPr>
          </a:p>
          <a:p>
            <a:pPr marL="15875" marR="5601335" indent="-3810">
              <a:lnSpc>
                <a:spcPct val="129700"/>
              </a:lnSpc>
              <a:tabLst>
                <a:tab pos="1988185" algn="l"/>
              </a:tabLst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85" dirty="0">
                <a:latin typeface="Arial"/>
                <a:cs typeface="Arial"/>
              </a:rPr>
              <a:t>100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 dirty="0">
              <a:latin typeface="Arial"/>
              <a:cs typeface="Arial"/>
            </a:endParaRPr>
          </a:p>
          <a:p>
            <a:pPr marL="224790">
              <a:lnSpc>
                <a:spcPct val="100000"/>
              </a:lnSpc>
              <a:spcBef>
                <a:spcPts val="605"/>
              </a:spcBef>
            </a:pP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48920">
              <a:lnSpc>
                <a:spcPct val="100000"/>
              </a:lnSpc>
              <a:spcBef>
                <a:spcPts val="60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5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 dirty="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60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 dirty="0">
              <a:latin typeface="Arial"/>
              <a:cs typeface="Arial"/>
            </a:endParaRPr>
          </a:p>
          <a:p>
            <a:pPr marL="231140" marR="5279390" indent="3175">
              <a:lnSpc>
                <a:spcPct val="129700"/>
              </a:lnSpc>
            </a:pP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-5" dirty="0" err="1">
                <a:latin typeface="Arial"/>
                <a:cs typeface="Arial"/>
              </a:rPr>
              <a:t>Tra</a:t>
            </a:r>
            <a:r>
              <a:rPr sz="1700" spc="175" dirty="0" err="1">
                <a:latin typeface="Arial"/>
                <a:cs typeface="Arial"/>
              </a:rPr>
              <a:t>s</a:t>
            </a:r>
            <a:r>
              <a:rPr sz="1700" spc="5" dirty="0" smtClean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223884" cy="56114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20" dirty="0" smtClean="0">
                <a:solidFill>
                  <a:srgbClr val="007F7A"/>
                </a:solidFill>
                <a:latin typeface="Arial"/>
                <a:cs typeface="Arial"/>
              </a:rPr>
              <a:t>alocação estática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484505" marR="16891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a,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9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sma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ul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srgbClr val="FF0000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 s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srgbClr val="FF0000"/>
                </a:solidFill>
                <a:latin typeface="Arial"/>
                <a:cs typeface="Arial"/>
              </a:rPr>
              <a:t>í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pa</a:t>
            </a:r>
            <a:r>
              <a:rPr sz="2050" spc="-20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is</a:t>
            </a:r>
            <a:r>
              <a:rPr sz="2050" spc="-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inguir 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dua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s si</a:t>
            </a:r>
            <a:r>
              <a:rPr sz="2050" spc="-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ua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é 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de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ix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u</a:t>
            </a:r>
            <a:r>
              <a:rPr sz="2050" spc="10" dirty="0">
                <a:solidFill>
                  <a:srgbClr val="FF0000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po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siç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50" spc="-50" dirty="0">
                <a:solidFill>
                  <a:srgbClr val="FF0000"/>
                </a:solidFill>
                <a:latin typeface="Arial"/>
                <a:cs typeface="Arial"/>
              </a:rPr>
              <a:t>v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zia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n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o </a:t>
            </a:r>
            <a:r>
              <a:rPr sz="2050" b="1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b="1" spc="5" dirty="0">
                <a:solidFill>
                  <a:srgbClr val="FF0000"/>
                </a:solidFill>
                <a:latin typeface="Arial"/>
                <a:cs typeface="Arial"/>
              </a:rPr>
              <a:t>rr</a:t>
            </a:r>
            <a:r>
              <a:rPr sz="2050" b="1" spc="-4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srgbClr val="FF0000"/>
                </a:solidFill>
                <a:latin typeface="Arial"/>
                <a:cs typeface="Arial"/>
              </a:rPr>
              <a:t>y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.</a:t>
            </a: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 dirty="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a fila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c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igual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9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>
              <a:lnSpc>
                <a:spcPct val="100000"/>
              </a:lnSpc>
              <a:spcBef>
                <a:spcPts val="52"/>
              </a:spcBef>
            </a:pPr>
            <a:endParaRPr sz="1950" dirty="0">
              <a:latin typeface="Times New Roman"/>
              <a:cs typeface="Times New Roman"/>
            </a:endParaRPr>
          </a:p>
          <a:p>
            <a:pPr marL="480695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0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FFVazi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05" dirty="0">
                <a:latin typeface="Lucida Sans Unicode"/>
                <a:cs typeface="Lucida Sans Unicode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711835" marR="4754245" indent="-200660">
              <a:lnSpc>
                <a:spcPct val="133100"/>
              </a:lnSpc>
              <a:tabLst>
                <a:tab pos="71183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50165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 dirty="0">
              <a:latin typeface="Times New Roman"/>
              <a:cs typeface="Times New Roman"/>
            </a:endParaRPr>
          </a:p>
          <a:p>
            <a:pPr marL="498475">
              <a:lnSpc>
                <a:spcPct val="100000"/>
              </a:lnSpc>
              <a:spcBef>
                <a:spcPts val="1435"/>
              </a:spcBef>
              <a:tabLst>
                <a:tab pos="2535555" algn="l"/>
              </a:tabLst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511809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7792084" cy="6254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20" dirty="0" smtClean="0">
                <a:solidFill>
                  <a:srgbClr val="007F7A"/>
                </a:solidFill>
                <a:latin typeface="Arial"/>
                <a:cs typeface="Arial"/>
              </a:rPr>
              <a:t>alocação estática</a:t>
            </a:r>
            <a:endParaRPr sz="2450" dirty="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iliza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odula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no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(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5" dirty="0">
                <a:latin typeface="Arial"/>
                <a:cs typeface="Arial"/>
              </a:rPr>
              <a:t>d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al).</a:t>
            </a:r>
          </a:p>
          <a:p>
            <a:pPr>
              <a:lnSpc>
                <a:spcPct val="100000"/>
              </a:lnSpc>
              <a:spcBef>
                <a:spcPts val="39"/>
              </a:spcBef>
            </a:pPr>
            <a:endParaRPr sz="1900" dirty="0">
              <a:latin typeface="Times New Roman"/>
              <a:cs typeface="Times New Roman"/>
            </a:endParaRPr>
          </a:p>
          <a:p>
            <a:pPr marL="480695">
              <a:lnSpc>
                <a:spcPct val="100000"/>
              </a:lnSpc>
              <a:tabLst>
                <a:tab pos="3385820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 </a:t>
            </a:r>
            <a:r>
              <a:rPr sz="1700" spc="140" dirty="0">
                <a:latin typeface="Arial"/>
                <a:cs typeface="Arial"/>
              </a:rPr>
              <a:t>Enfileir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05" dirty="0">
                <a:latin typeface="Lucida Sans Unicode"/>
                <a:cs typeface="Lucida Sans Unicode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721360" marR="2121535" indent="-210185">
              <a:lnSpc>
                <a:spcPct val="129700"/>
              </a:lnSpc>
              <a:tabLst>
                <a:tab pos="725805" algn="l"/>
                <a:tab pos="1028065" algn="l"/>
                <a:tab pos="2442845" algn="l"/>
                <a:tab pos="2955925" algn="l"/>
                <a:tab pos="3477260" algn="l"/>
                <a:tab pos="3808095" algn="l"/>
              </a:tabLst>
            </a:pPr>
            <a:r>
              <a:rPr sz="1700" spc="5" dirty="0">
                <a:latin typeface="Arial"/>
                <a:cs typeface="Arial"/>
              </a:rPr>
              <a:t>{	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 </a:t>
            </a:r>
            <a:r>
              <a:rPr sz="1700" spc="15" dirty="0">
                <a:latin typeface="Arial"/>
                <a:cs typeface="Arial"/>
              </a:rPr>
              <a:t>%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spc="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19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5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 </a:t>
            </a:r>
            <a:r>
              <a:rPr sz="1700" spc="180" dirty="0" err="1" smtClean="0">
                <a:latin typeface="Arial"/>
                <a:cs typeface="Arial"/>
              </a:rPr>
              <a:t>print</a:t>
            </a:r>
            <a:r>
              <a:rPr sz="1700" spc="5" dirty="0" err="1" smtClean="0">
                <a:latin typeface="Arial"/>
                <a:cs typeface="Arial"/>
              </a:rPr>
              <a:t>f</a:t>
            </a:r>
            <a:r>
              <a:rPr sz="1700" spc="-165" dirty="0" smtClean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5" dirty="0" err="1" smtClean="0">
                <a:latin typeface="Arial"/>
                <a:cs typeface="Arial"/>
              </a:rPr>
              <a:t>es</a:t>
            </a:r>
            <a:r>
              <a:rPr sz="1700" spc="5" dirty="0" err="1" smtClean="0">
                <a:latin typeface="Arial"/>
                <a:cs typeface="Arial"/>
              </a:rPr>
              <a:t>t</a:t>
            </a:r>
            <a:r>
              <a:rPr sz="1700" spc="10" dirty="0" err="1" smtClean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20" dirty="0">
                <a:latin typeface="Arial"/>
                <a:cs typeface="Arial"/>
              </a:rPr>
              <a:t>chei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461770" marR="2121535" indent="-762635">
              <a:lnSpc>
                <a:spcPct val="129700"/>
              </a:lnSpc>
              <a:tabLst>
                <a:tab pos="1461770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0" dirty="0">
                <a:latin typeface="Lucida Sans Unicode"/>
                <a:cs typeface="Lucida Sans Unicode"/>
              </a:rPr>
              <a:t> </a:t>
            </a:r>
            <a:r>
              <a:rPr sz="1700" spc="114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 </a:t>
            </a:r>
            <a:r>
              <a:rPr sz="1700" spc="15" dirty="0">
                <a:latin typeface="Arial"/>
                <a:cs typeface="Arial"/>
              </a:rPr>
              <a:t>%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25158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50165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480695">
              <a:lnSpc>
                <a:spcPct val="100000"/>
              </a:lnSpc>
              <a:spcBef>
                <a:spcPts val="605"/>
              </a:spcBef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5" dirty="0">
                <a:latin typeface="Arial"/>
                <a:cs typeface="Arial"/>
              </a:rPr>
              <a:t> </a:t>
            </a:r>
            <a:r>
              <a:rPr sz="1700" spc="80" dirty="0">
                <a:latin typeface="Arial"/>
                <a:cs typeface="Arial"/>
              </a:rPr>
              <a:t>Desenfileir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511809">
              <a:lnSpc>
                <a:spcPct val="100000"/>
              </a:lnSpc>
              <a:spcBef>
                <a:spcPts val="605"/>
              </a:spcBef>
              <a:tabLst>
                <a:tab pos="725805" algn="l"/>
                <a:tab pos="102806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295" dirty="0">
                <a:latin typeface="Lucida Sans Unicode"/>
                <a:cs typeface="Lucida Sans Unicode"/>
              </a:rPr>
              <a:t>∗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721360">
              <a:lnSpc>
                <a:spcPct val="100000"/>
              </a:lnSpc>
              <a:spcBef>
                <a:spcPts val="605"/>
              </a:spcBef>
              <a:tabLst>
                <a:tab pos="2121535" algn="l"/>
                <a:tab pos="2630170" algn="l"/>
              </a:tabLst>
            </a:pP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vazi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461770" marR="1692910" indent="-762635">
              <a:lnSpc>
                <a:spcPct val="129700"/>
              </a:lnSpc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-29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5" dirty="0">
                <a:latin typeface="Lucida Sans Unicode"/>
                <a:cs typeface="Lucida Sans Unicode"/>
              </a:rPr>
              <a:t> </a:t>
            </a:r>
            <a:r>
              <a:rPr sz="1700" spc="110" dirty="0">
                <a:latin typeface="Arial"/>
                <a:cs typeface="Arial"/>
              </a:rPr>
              <a:t>1]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%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25158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50165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7792084" cy="21821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20" dirty="0" smtClean="0">
                <a:solidFill>
                  <a:srgbClr val="007F7A"/>
                </a:solidFill>
                <a:latin typeface="Arial"/>
                <a:cs typeface="Arial"/>
              </a:rPr>
              <a:t>alocação estática</a:t>
            </a:r>
            <a:endParaRPr sz="2450" dirty="0">
              <a:latin typeface="Arial"/>
              <a:cs typeface="Arial"/>
            </a:endParaRPr>
          </a:p>
          <a:p>
            <a:pPr marL="480695">
              <a:lnSpc>
                <a:spcPct val="100000"/>
              </a:lnSpc>
              <a:tabLst>
                <a:tab pos="3385820" algn="l"/>
              </a:tabLst>
            </a:pPr>
            <a:endParaRPr lang="pt-BR" sz="1700" b="1" spc="-25" dirty="0" smtClean="0">
              <a:latin typeface="Arial"/>
              <a:cs typeface="Arial"/>
            </a:endParaRPr>
          </a:p>
          <a:p>
            <a:pPr marL="480695">
              <a:lnSpc>
                <a:spcPct val="100000"/>
              </a:lnSpc>
              <a:tabLst>
                <a:tab pos="3385820" algn="l"/>
              </a:tabLst>
            </a:pPr>
            <a:endParaRPr lang="pt-BR" sz="1700" b="1" spc="-25" dirty="0">
              <a:latin typeface="Arial"/>
              <a:cs typeface="Arial"/>
            </a:endParaRPr>
          </a:p>
          <a:p>
            <a:pPr marL="480695">
              <a:lnSpc>
                <a:spcPct val="100000"/>
              </a:lnSpc>
              <a:tabLst>
                <a:tab pos="3385820" algn="l"/>
              </a:tabLst>
            </a:pPr>
            <a:r>
              <a:rPr sz="1700" b="1" spc="-25" dirty="0" smtClean="0">
                <a:latin typeface="Arial"/>
                <a:cs typeface="Arial"/>
              </a:rPr>
              <a:t>voi</a:t>
            </a:r>
            <a:r>
              <a:rPr sz="1700" b="1" spc="10" dirty="0" smtClean="0">
                <a:latin typeface="Arial"/>
                <a:cs typeface="Arial"/>
              </a:rPr>
              <a:t>d</a:t>
            </a:r>
            <a:r>
              <a:rPr sz="1700" b="1" dirty="0" smtClean="0">
                <a:latin typeface="Arial"/>
                <a:cs typeface="Arial"/>
              </a:rPr>
              <a:t>  </a:t>
            </a:r>
            <a:r>
              <a:rPr lang="pt-BR" sz="1700" spc="140" dirty="0" smtClean="0">
                <a:latin typeface="Arial"/>
                <a:cs typeface="Arial"/>
              </a:rPr>
              <a:t>Imprime</a:t>
            </a:r>
            <a:r>
              <a:rPr sz="1700" spc="-204" dirty="0" smtClean="0">
                <a:latin typeface="Arial"/>
                <a:cs typeface="Arial"/>
              </a:rPr>
              <a:t> </a:t>
            </a:r>
            <a:r>
              <a:rPr sz="1700" spc="145" dirty="0" smtClean="0">
                <a:latin typeface="Arial"/>
                <a:cs typeface="Arial"/>
              </a:rPr>
              <a:t>(</a:t>
            </a:r>
            <a:r>
              <a:rPr sz="1700" spc="70" dirty="0" err="1" smtClean="0">
                <a:latin typeface="Arial"/>
                <a:cs typeface="Arial"/>
              </a:rPr>
              <a:t>TipoFil</a:t>
            </a:r>
            <a:r>
              <a:rPr sz="1700" spc="10" dirty="0" err="1" smtClean="0">
                <a:latin typeface="Arial"/>
                <a:cs typeface="Arial"/>
              </a:rPr>
              <a:t>a</a:t>
            </a:r>
            <a:r>
              <a:rPr sz="1700" dirty="0" smtClean="0">
                <a:latin typeface="Arial"/>
                <a:cs typeface="Arial"/>
              </a:rPr>
              <a:t> </a:t>
            </a:r>
            <a:r>
              <a:rPr sz="1700" spc="-165" dirty="0" smtClean="0">
                <a:latin typeface="Arial"/>
                <a:cs typeface="Arial"/>
              </a:rPr>
              <a:t> </a:t>
            </a:r>
            <a:r>
              <a:rPr sz="1700" spc="125" dirty="0" smtClean="0">
                <a:latin typeface="Arial"/>
                <a:cs typeface="Arial"/>
              </a:rPr>
              <a:t>Fil</a:t>
            </a:r>
            <a:r>
              <a:rPr sz="1700" spc="10" dirty="0" smtClean="0">
                <a:latin typeface="Arial"/>
                <a:cs typeface="Arial"/>
              </a:rPr>
              <a:t>a</a:t>
            </a:r>
            <a:r>
              <a:rPr sz="1700" spc="-225" dirty="0" smtClean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721360" marR="2121535" indent="-210185">
              <a:lnSpc>
                <a:spcPct val="129700"/>
              </a:lnSpc>
              <a:tabLst>
                <a:tab pos="725805" algn="l"/>
                <a:tab pos="1028065" algn="l"/>
                <a:tab pos="2442845" algn="l"/>
                <a:tab pos="2955925" algn="l"/>
                <a:tab pos="3477260" algn="l"/>
                <a:tab pos="3808095" algn="l"/>
              </a:tabLst>
            </a:pPr>
            <a:r>
              <a:rPr sz="1700" spc="5" dirty="0">
                <a:latin typeface="Arial"/>
                <a:cs typeface="Arial"/>
              </a:rPr>
              <a:t>{		</a:t>
            </a:r>
            <a:endParaRPr lang="pt-BR" sz="1700" spc="5" dirty="0" smtClean="0">
              <a:latin typeface="Arial"/>
              <a:cs typeface="Arial"/>
            </a:endParaRPr>
          </a:p>
          <a:p>
            <a:pPr marL="721360" marR="2121535" indent="-210185">
              <a:lnSpc>
                <a:spcPct val="129700"/>
              </a:lnSpc>
              <a:tabLst>
                <a:tab pos="725805" algn="l"/>
                <a:tab pos="1028065" algn="l"/>
                <a:tab pos="2442845" algn="l"/>
                <a:tab pos="2955925" algn="l"/>
                <a:tab pos="3477260" algn="l"/>
                <a:tab pos="3808095" algn="l"/>
              </a:tabLst>
            </a:pPr>
            <a:endParaRPr lang="pt-BR" sz="1700" spc="5" dirty="0">
              <a:latin typeface="Arial"/>
              <a:cs typeface="Arial"/>
            </a:endParaRPr>
          </a:p>
          <a:p>
            <a:pPr marL="721360" marR="2121535" indent="-210185">
              <a:lnSpc>
                <a:spcPct val="129700"/>
              </a:lnSpc>
              <a:tabLst>
                <a:tab pos="725805" algn="l"/>
                <a:tab pos="1028065" algn="l"/>
                <a:tab pos="2442845" algn="l"/>
                <a:tab pos="2955925" algn="l"/>
                <a:tab pos="3477260" algn="l"/>
                <a:tab pos="3808095" algn="l"/>
              </a:tabLst>
            </a:pPr>
            <a:r>
              <a:rPr sz="1700" spc="5" dirty="0" smtClean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31280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711"/>
            <a:ext cx="8737600" cy="4219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15" dirty="0" smtClean="0">
                <a:solidFill>
                  <a:srgbClr val="007F7A"/>
                </a:solidFill>
                <a:latin typeface="Arial"/>
                <a:cs typeface="Arial"/>
              </a:rPr>
              <a:t>com alocação dinâmica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484505" marR="7747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Há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acili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a fila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9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a.</a:t>
            </a:r>
          </a:p>
          <a:p>
            <a:pPr marL="484505" marR="15557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m,</a:t>
            </a:r>
            <a:r>
              <a:rPr sz="2050" dirty="0">
                <a:latin typeface="Arial"/>
                <a:cs typeface="Arial"/>
              </a:rPr>
              <a:t> 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a, ligá-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apó</a:t>
            </a:r>
            <a:r>
              <a:rPr sz="2050" spc="5" dirty="0">
                <a:latin typeface="Arial"/>
                <a:cs typeface="Arial"/>
              </a:rPr>
              <a:t>s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44" baseline="-12345" dirty="0">
                <a:latin typeface="Verdana"/>
                <a:cs typeface="Verdana"/>
              </a:rPr>
              <a:t>n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la 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 dirty="0">
              <a:latin typeface="Arial"/>
              <a:cs typeface="Arial"/>
            </a:endParaRPr>
          </a:p>
          <a:p>
            <a:pPr marL="484505" marR="7747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spc="112" baseline="-12345" dirty="0">
                <a:latin typeface="Tahoma"/>
                <a:cs typeface="Tahoma"/>
              </a:rPr>
              <a:t>1</a:t>
            </a:r>
            <a:r>
              <a:rPr sz="2050" dirty="0">
                <a:latin typeface="Arial"/>
                <a:cs typeface="Arial"/>
              </a:rPr>
              <a:t>, 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sli</a:t>
            </a:r>
            <a:r>
              <a:rPr sz="2050" dirty="0">
                <a:latin typeface="Arial"/>
                <a:cs typeface="Arial"/>
              </a:rPr>
              <a:t>ga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spc="-15" baseline="-12345" dirty="0">
                <a:latin typeface="Tahoma"/>
                <a:cs typeface="Tahoma"/>
              </a:rPr>
              <a:t>1</a:t>
            </a:r>
            <a:r>
              <a:rPr sz="2025" baseline="-12345" dirty="0">
                <a:latin typeface="Tahoma"/>
                <a:cs typeface="Tahoma"/>
              </a:rPr>
              <a:t> </a:t>
            </a:r>
            <a:r>
              <a:rPr sz="2025" spc="-277" baseline="-12345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ssa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1948" y="5683250"/>
            <a:ext cx="4514850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8602574" cy="3770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15" dirty="0" smtClean="0">
                <a:solidFill>
                  <a:srgbClr val="007F7A"/>
                </a:solidFill>
                <a:latin typeface="Arial"/>
                <a:cs typeface="Arial"/>
              </a:rPr>
              <a:t>alocação dinâmica</a:t>
            </a:r>
            <a:endParaRPr sz="2450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21295" y="1703271"/>
            <a:ext cx="3237230" cy="43913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 algn="just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 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élula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0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spc="10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élula.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TipoF</a:t>
            </a:r>
            <a:r>
              <a:rPr sz="2050" spc="5" dirty="0">
                <a:latin typeface="Arial"/>
                <a:cs typeface="Arial"/>
              </a:rPr>
              <a:t>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27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2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2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2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(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 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)</a:t>
            </a:r>
            <a:r>
              <a:rPr sz="2050" spc="28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fila.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14440" y="1803743"/>
            <a:ext cx="4398645" cy="4410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-405" dirty="0">
                <a:latin typeface="Lucida Sans Unicode"/>
                <a:cs typeface="Lucida Sans Unicode"/>
              </a:rPr>
              <a:t>∗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4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0979" marR="1722755" indent="-208915">
              <a:lnSpc>
                <a:spcPct val="1331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4475">
              <a:lnSpc>
                <a:spcPct val="100000"/>
              </a:lnSpc>
              <a:spcBef>
                <a:spcPts val="67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5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1508125" indent="-215265">
              <a:lnSpc>
                <a:spcPct val="1331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5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1290320" indent="-215265">
              <a:lnSpc>
                <a:spcPts val="2720"/>
              </a:lnSpc>
              <a:spcBef>
                <a:spcPts val="200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75" dirty="0">
                <a:latin typeface="Arial"/>
                <a:cs typeface="Arial"/>
              </a:rPr>
              <a:t>s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0" y="851928"/>
            <a:ext cx="8729015" cy="58056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15" dirty="0" smtClean="0">
                <a:solidFill>
                  <a:srgbClr val="007F7A"/>
                </a:solidFill>
                <a:latin typeface="Arial"/>
                <a:cs typeface="Arial"/>
              </a:rPr>
              <a:t>alocação dinâmica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0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FFVazi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05" dirty="0">
                <a:latin typeface="Lucida Sans Unicode"/>
                <a:cs typeface="Lucida Sans Unicode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243204" marR="433070" indent="-200660">
              <a:lnSpc>
                <a:spcPct val="129700"/>
              </a:lnSpc>
              <a:tabLst>
                <a:tab pos="243204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50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 smtClean="0">
                <a:latin typeface="Arial"/>
                <a:cs typeface="Arial"/>
              </a:rPr>
              <a:t>;</a:t>
            </a:r>
            <a:endParaRPr lang="pt-BR" sz="1700" spc="5" dirty="0" smtClean="0">
              <a:latin typeface="Arial"/>
              <a:cs typeface="Arial"/>
            </a:endParaRPr>
          </a:p>
          <a:p>
            <a:pPr marL="243204" marR="433070" indent="-200660">
              <a:lnSpc>
                <a:spcPct val="129700"/>
              </a:lnSpc>
              <a:tabLst>
                <a:tab pos="243204" algn="l"/>
              </a:tabLst>
            </a:pPr>
            <a:r>
              <a:rPr lang="pt-BR" sz="1700" spc="5" dirty="0">
                <a:latin typeface="Arial"/>
                <a:cs typeface="Arial"/>
              </a:rPr>
              <a:t>	</a:t>
            </a:r>
            <a:r>
              <a:rPr sz="1700" spc="5" dirty="0" smtClean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43204">
              <a:lnSpc>
                <a:spcPct val="100000"/>
              </a:lnSpc>
              <a:spcBef>
                <a:spcPts val="605"/>
              </a:spcBef>
            </a:pP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-135" dirty="0">
                <a:latin typeface="Arial"/>
                <a:cs typeface="Arial"/>
              </a:rPr>
              <a:t>e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90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 dirty="0">
              <a:latin typeface="Times New Roman"/>
              <a:cs typeface="Times New Roman"/>
            </a:endParaRPr>
          </a:p>
          <a:p>
            <a:pPr marL="29845">
              <a:lnSpc>
                <a:spcPct val="100000"/>
              </a:lnSpc>
              <a:spcBef>
                <a:spcPts val="1295"/>
              </a:spcBef>
              <a:tabLst>
                <a:tab pos="2066925" algn="l"/>
              </a:tabLst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  <a:tabLst>
                <a:tab pos="291782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 </a:t>
            </a:r>
            <a:r>
              <a:rPr sz="1700" spc="140" dirty="0">
                <a:latin typeface="Arial"/>
                <a:cs typeface="Arial"/>
              </a:rPr>
              <a:t>Enfileir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05" dirty="0">
                <a:latin typeface="Lucida Sans Unicode"/>
                <a:cs typeface="Lucida Sans Unicode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243204" marR="5080" indent="-200660">
              <a:lnSpc>
                <a:spcPct val="129700"/>
              </a:lnSpc>
              <a:tabLst>
                <a:tab pos="243204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-180" dirty="0">
                <a:latin typeface="Arial"/>
                <a:cs typeface="Arial"/>
              </a:rPr>
              <a:t>s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endParaRPr lang="pt-BR" sz="1700" spc="5" dirty="0" smtClean="0">
              <a:latin typeface="Arial"/>
              <a:cs typeface="Arial"/>
            </a:endParaRPr>
          </a:p>
          <a:p>
            <a:pPr marL="243204" marR="5080" indent="-200660">
              <a:lnSpc>
                <a:spcPct val="129700"/>
              </a:lnSpc>
              <a:tabLst>
                <a:tab pos="243204" algn="l"/>
              </a:tabLst>
            </a:pPr>
            <a:r>
              <a:rPr lang="pt-BR" sz="1700" spc="5" dirty="0">
                <a:latin typeface="Arial"/>
                <a:cs typeface="Arial"/>
              </a:rPr>
              <a:t>	</a:t>
            </a:r>
            <a:r>
              <a:rPr sz="1700" spc="105" dirty="0" smtClean="0">
                <a:latin typeface="Arial"/>
                <a:cs typeface="Arial"/>
              </a:rPr>
              <a:t>Fil</a:t>
            </a:r>
            <a:r>
              <a:rPr sz="1700" spc="45" dirty="0" smtClean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-180" dirty="0">
                <a:latin typeface="Arial"/>
                <a:cs typeface="Arial"/>
              </a:rPr>
              <a:t>s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43204" marR="3940175">
              <a:lnSpc>
                <a:spcPct val="129700"/>
              </a:lnSpc>
            </a:pP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-180" dirty="0">
                <a:latin typeface="Arial"/>
                <a:cs typeface="Arial"/>
              </a:rPr>
              <a:t>s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endParaRPr lang="pt-BR" sz="1700" spc="5" dirty="0" smtClean="0">
              <a:latin typeface="Arial"/>
              <a:cs typeface="Arial"/>
            </a:endParaRPr>
          </a:p>
          <a:p>
            <a:pPr marL="243204" marR="3940175">
              <a:lnSpc>
                <a:spcPct val="129700"/>
              </a:lnSpc>
            </a:pPr>
            <a:r>
              <a:rPr sz="1700" spc="105" dirty="0" smtClean="0">
                <a:latin typeface="Arial"/>
                <a:cs typeface="Arial"/>
              </a:rPr>
              <a:t>Fil</a:t>
            </a:r>
            <a:r>
              <a:rPr sz="1700" spc="45" dirty="0" smtClean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-180" dirty="0">
                <a:latin typeface="Arial"/>
                <a:cs typeface="Arial"/>
              </a:rPr>
              <a:t>s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90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62710"/>
            <a:ext cx="8728937" cy="31563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15" dirty="0" smtClean="0">
                <a:solidFill>
                  <a:srgbClr val="007F7A"/>
                </a:solidFill>
                <a:latin typeface="Arial"/>
                <a:cs typeface="Arial"/>
              </a:rPr>
              <a:t>alocação dinâmica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7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80" dirty="0">
                <a:latin typeface="Arial"/>
                <a:cs typeface="Arial"/>
              </a:rPr>
              <a:t>Desenfileir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23520" marR="5080" indent="33655">
              <a:lnSpc>
                <a:spcPts val="2720"/>
              </a:lnSpc>
              <a:spcBef>
                <a:spcPts val="200"/>
              </a:spcBef>
              <a:tabLst>
                <a:tab pos="559435" algn="l"/>
                <a:tab pos="2395855" algn="l"/>
                <a:tab pos="3796029" algn="l"/>
                <a:tab pos="430466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295" dirty="0">
                <a:latin typeface="Lucida Sans Unicode"/>
                <a:cs typeface="Lucida Sans Unicode"/>
              </a:rPr>
              <a:t>∗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vazi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 q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43204">
              <a:lnSpc>
                <a:spcPct val="100000"/>
              </a:lnSpc>
              <a:spcBef>
                <a:spcPts val="470"/>
              </a:spcBef>
            </a:pP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-135" dirty="0">
                <a:latin typeface="Arial"/>
                <a:cs typeface="Arial"/>
              </a:rPr>
              <a:t>e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41300" marR="3853179" indent="-12065">
              <a:lnSpc>
                <a:spcPct val="133100"/>
              </a:lnSpc>
            </a:pPr>
            <a:r>
              <a:rPr sz="1700" spc="-500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-135" dirty="0">
                <a:latin typeface="Arial"/>
                <a:cs typeface="Arial"/>
              </a:rPr>
              <a:t>e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85" dirty="0">
                <a:latin typeface="Arial"/>
                <a:cs typeface="Arial"/>
              </a:rPr>
              <a:t>fre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80" dirty="0">
                <a:latin typeface="Arial"/>
                <a:cs typeface="Arial"/>
              </a:rPr>
              <a:t>(</a:t>
            </a:r>
            <a:r>
              <a:rPr sz="1700" spc="165" dirty="0">
                <a:latin typeface="Arial"/>
                <a:cs typeface="Arial"/>
              </a:rPr>
              <a:t>q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 txBox="1">
            <a:spLocks noGrp="1"/>
          </p:cNvSpPr>
          <p:nvPr>
            <p:ph type="title"/>
          </p:nvPr>
        </p:nvSpPr>
        <p:spPr>
          <a:xfrm>
            <a:off x="1707413" y="2615806"/>
            <a:ext cx="7278573" cy="654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pt-BR" spc="15" dirty="0" smtClean="0"/>
              <a:t>Árvores de Pesquisa</a:t>
            </a:r>
            <a:endParaRPr sz="5325" baseline="24256" dirty="0">
              <a:latin typeface="Lucida Sans Unicode"/>
              <a:cs typeface="Lucida Sans Unicode"/>
            </a:endParaRPr>
          </a:p>
        </p:txBody>
      </p:sp>
      <p:sp>
        <p:nvSpPr>
          <p:cNvPr id="9" name="object 3"/>
          <p:cNvSpPr/>
          <p:nvPr/>
        </p:nvSpPr>
        <p:spPr>
          <a:xfrm>
            <a:off x="915669" y="3526802"/>
            <a:ext cx="8863330" cy="285115"/>
          </a:xfrm>
          <a:custGeom>
            <a:avLst/>
            <a:gdLst/>
            <a:ahLst/>
            <a:cxnLst/>
            <a:rect l="l" t="t" r="r" b="b"/>
            <a:pathLst>
              <a:path w="8863330" h="285114">
                <a:moveTo>
                  <a:pt x="8863052" y="284607"/>
                </a:moveTo>
                <a:lnTo>
                  <a:pt x="8863052" y="0"/>
                </a:lnTo>
                <a:lnTo>
                  <a:pt x="0" y="0"/>
                </a:lnTo>
                <a:lnTo>
                  <a:pt x="0" y="284607"/>
                </a:lnTo>
                <a:lnTo>
                  <a:pt x="8863052" y="2846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96240160"/>
      </p:ext>
    </p:extLst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485505" cy="4206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-6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6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esquis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9144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isa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ula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adequad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dirty="0">
                <a:latin typeface="Arial"/>
                <a:cs typeface="Arial"/>
              </a:rPr>
              <a:t>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algu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bina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de: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Ac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dire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equen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al 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-10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acilidad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e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xa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undá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9952191"/>
      </p:ext>
    </p:extLst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63891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4328"/>
            <a:ext cx="7586345" cy="10109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-6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Bin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ári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6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esquis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cea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3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qualque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enh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038178" y="2124252"/>
            <a:ext cx="379095" cy="351790"/>
          </a:xfrm>
          <a:custGeom>
            <a:avLst/>
            <a:gdLst/>
            <a:ahLst/>
            <a:cxnLst/>
            <a:rect l="l" t="t" r="r" b="b"/>
            <a:pathLst>
              <a:path w="379095" h="351789">
                <a:moveTo>
                  <a:pt x="378574" y="175768"/>
                </a:moveTo>
                <a:lnTo>
                  <a:pt x="373414" y="134842"/>
                </a:lnTo>
                <a:lnTo>
                  <a:pt x="358732" y="97346"/>
                </a:lnTo>
                <a:lnTo>
                  <a:pt x="335718" y="64387"/>
                </a:lnTo>
                <a:lnTo>
                  <a:pt x="305566" y="37071"/>
                </a:lnTo>
                <a:lnTo>
                  <a:pt x="269468" y="16507"/>
                </a:lnTo>
                <a:lnTo>
                  <a:pt x="228618" y="3801"/>
                </a:lnTo>
                <a:lnTo>
                  <a:pt x="189280" y="0"/>
                </a:lnTo>
                <a:lnTo>
                  <a:pt x="184238" y="61"/>
                </a:lnTo>
                <a:lnTo>
                  <a:pt x="145207" y="4790"/>
                </a:lnTo>
                <a:lnTo>
                  <a:pt x="104828" y="18424"/>
                </a:lnTo>
                <a:lnTo>
                  <a:pt x="69334" y="39793"/>
                </a:lnTo>
                <a:lnTo>
                  <a:pt x="39919" y="67790"/>
                </a:lnTo>
                <a:lnTo>
                  <a:pt x="17775" y="101309"/>
                </a:lnTo>
                <a:lnTo>
                  <a:pt x="4093" y="139240"/>
                </a:lnTo>
                <a:lnTo>
                  <a:pt x="0" y="175768"/>
                </a:lnTo>
                <a:lnTo>
                  <a:pt x="65" y="180450"/>
                </a:lnTo>
                <a:lnTo>
                  <a:pt x="6341" y="221049"/>
                </a:lnTo>
                <a:lnTo>
                  <a:pt x="22006" y="258095"/>
                </a:lnTo>
                <a:lnTo>
                  <a:pt x="45870" y="290482"/>
                </a:lnTo>
                <a:lnTo>
                  <a:pt x="76738" y="317103"/>
                </a:lnTo>
                <a:lnTo>
                  <a:pt x="113421" y="336848"/>
                </a:lnTo>
                <a:lnTo>
                  <a:pt x="149943" y="347734"/>
                </a:lnTo>
                <a:lnTo>
                  <a:pt x="189280" y="351536"/>
                </a:lnTo>
                <a:lnTo>
                  <a:pt x="194323" y="351474"/>
                </a:lnTo>
                <a:lnTo>
                  <a:pt x="233354" y="346745"/>
                </a:lnTo>
                <a:lnTo>
                  <a:pt x="273735" y="333111"/>
                </a:lnTo>
                <a:lnTo>
                  <a:pt x="309231" y="311742"/>
                </a:lnTo>
                <a:lnTo>
                  <a:pt x="338649" y="283745"/>
                </a:lnTo>
                <a:lnTo>
                  <a:pt x="360796" y="250226"/>
                </a:lnTo>
                <a:lnTo>
                  <a:pt x="374480" y="212295"/>
                </a:lnTo>
                <a:lnTo>
                  <a:pt x="378574" y="175768"/>
                </a:lnTo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875417" y="3057156"/>
            <a:ext cx="392430" cy="419734"/>
          </a:xfrm>
          <a:custGeom>
            <a:avLst/>
            <a:gdLst/>
            <a:ahLst/>
            <a:cxnLst/>
            <a:rect l="l" t="t" r="r" b="b"/>
            <a:pathLst>
              <a:path w="392429" h="419735">
                <a:moveTo>
                  <a:pt x="392099" y="0"/>
                </a:moveTo>
                <a:lnTo>
                  <a:pt x="0" y="419138"/>
                </a:lnTo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875417" y="3476294"/>
            <a:ext cx="824865" cy="0"/>
          </a:xfrm>
          <a:custGeom>
            <a:avLst/>
            <a:gdLst/>
            <a:ahLst/>
            <a:cxnLst/>
            <a:rect l="l" t="t" r="r" b="b"/>
            <a:pathLst>
              <a:path w="824864">
                <a:moveTo>
                  <a:pt x="0" y="0"/>
                </a:moveTo>
                <a:lnTo>
                  <a:pt x="824750" y="0"/>
                </a:lnTo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67517" y="3057156"/>
            <a:ext cx="419734" cy="405765"/>
          </a:xfrm>
          <a:custGeom>
            <a:avLst/>
            <a:gdLst/>
            <a:ahLst/>
            <a:cxnLst/>
            <a:rect l="l" t="t" r="r" b="b"/>
            <a:pathLst>
              <a:path w="419735" h="405764">
                <a:moveTo>
                  <a:pt x="0" y="0"/>
                </a:moveTo>
                <a:lnTo>
                  <a:pt x="419125" y="405612"/>
                </a:lnTo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916993" y="3057156"/>
            <a:ext cx="500380" cy="405765"/>
          </a:xfrm>
          <a:custGeom>
            <a:avLst/>
            <a:gdLst/>
            <a:ahLst/>
            <a:cxnLst/>
            <a:rect l="l" t="t" r="r" b="b"/>
            <a:pathLst>
              <a:path w="500379" h="405764">
                <a:moveTo>
                  <a:pt x="500265" y="0"/>
                </a:moveTo>
                <a:lnTo>
                  <a:pt x="0" y="405612"/>
                </a:lnTo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916993" y="3462769"/>
            <a:ext cx="960119" cy="0"/>
          </a:xfrm>
          <a:custGeom>
            <a:avLst/>
            <a:gdLst/>
            <a:ahLst/>
            <a:cxnLst/>
            <a:rect l="l" t="t" r="r" b="b"/>
            <a:pathLst>
              <a:path w="960120">
                <a:moveTo>
                  <a:pt x="0" y="0"/>
                </a:moveTo>
                <a:lnTo>
                  <a:pt x="959954" y="0"/>
                </a:lnTo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417259" y="3057156"/>
            <a:ext cx="473709" cy="405765"/>
          </a:xfrm>
          <a:custGeom>
            <a:avLst/>
            <a:gdLst/>
            <a:ahLst/>
            <a:cxnLst/>
            <a:rect l="l" t="t" r="r" b="b"/>
            <a:pathLst>
              <a:path w="473709" h="405764">
                <a:moveTo>
                  <a:pt x="0" y="0"/>
                </a:moveTo>
                <a:lnTo>
                  <a:pt x="473214" y="405612"/>
                </a:lnTo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187721" y="2146046"/>
            <a:ext cx="162560" cy="239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-10" dirty="0">
                <a:latin typeface="Arial"/>
                <a:cs typeface="Arial"/>
              </a:rPr>
              <a:t>R</a:t>
            </a:r>
            <a:endParaRPr sz="15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14253" y="3146564"/>
            <a:ext cx="151765" cy="239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-10" dirty="0">
                <a:latin typeface="Arial"/>
                <a:cs typeface="Arial"/>
              </a:rPr>
              <a:t>E</a:t>
            </a:r>
            <a:endParaRPr sz="15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77526" y="3146564"/>
            <a:ext cx="162560" cy="239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-10" dirty="0">
                <a:latin typeface="Arial"/>
                <a:cs typeface="Arial"/>
              </a:rPr>
              <a:t>D</a:t>
            </a:r>
            <a:endParaRPr sz="15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267517" y="2475788"/>
            <a:ext cx="906144" cy="581660"/>
          </a:xfrm>
          <a:custGeom>
            <a:avLst/>
            <a:gdLst/>
            <a:ahLst/>
            <a:cxnLst/>
            <a:rect l="l" t="t" r="r" b="b"/>
            <a:pathLst>
              <a:path w="906145" h="581660">
                <a:moveTo>
                  <a:pt x="905865" y="0"/>
                </a:moveTo>
                <a:lnTo>
                  <a:pt x="0" y="581367"/>
                </a:lnTo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267517" y="2975991"/>
            <a:ext cx="106045" cy="81280"/>
          </a:xfrm>
          <a:custGeom>
            <a:avLst/>
            <a:gdLst/>
            <a:ahLst/>
            <a:cxnLst/>
            <a:rect l="l" t="t" r="r" b="b"/>
            <a:pathLst>
              <a:path w="106045" h="81280">
                <a:moveTo>
                  <a:pt x="0" y="81165"/>
                </a:moveTo>
                <a:lnTo>
                  <a:pt x="105625" y="45504"/>
                </a:lnTo>
                <a:lnTo>
                  <a:pt x="76415" y="0"/>
                </a:lnTo>
                <a:lnTo>
                  <a:pt x="0" y="81165"/>
                </a:lnTo>
                <a:close/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268023" y="2475788"/>
            <a:ext cx="1136015" cy="554355"/>
          </a:xfrm>
          <a:custGeom>
            <a:avLst/>
            <a:gdLst/>
            <a:ahLst/>
            <a:cxnLst/>
            <a:rect l="l" t="t" r="r" b="b"/>
            <a:pathLst>
              <a:path w="1136014" h="554355">
                <a:moveTo>
                  <a:pt x="0" y="0"/>
                </a:moveTo>
                <a:lnTo>
                  <a:pt x="1135710" y="554329"/>
                </a:lnTo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294666" y="2958376"/>
            <a:ext cx="109220" cy="71755"/>
          </a:xfrm>
          <a:custGeom>
            <a:avLst/>
            <a:gdLst/>
            <a:ahLst/>
            <a:cxnLst/>
            <a:rect l="l" t="t" r="r" b="b"/>
            <a:pathLst>
              <a:path w="109220" h="71755">
                <a:moveTo>
                  <a:pt x="109067" y="71742"/>
                </a:moveTo>
                <a:lnTo>
                  <a:pt x="23723" y="0"/>
                </a:lnTo>
                <a:lnTo>
                  <a:pt x="0" y="48602"/>
                </a:lnTo>
                <a:lnTo>
                  <a:pt x="109067" y="71742"/>
                </a:lnTo>
                <a:close/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483613" y="3842067"/>
            <a:ext cx="3150235" cy="323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40" dirty="0">
                <a:latin typeface="Arial"/>
                <a:cs typeface="Arial"/>
              </a:rPr>
              <a:t>n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iant</a:t>
            </a:r>
            <a:r>
              <a:rPr sz="2050" spc="5" dirty="0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942551" y="4484992"/>
            <a:ext cx="368935" cy="394335"/>
          </a:xfrm>
          <a:custGeom>
            <a:avLst/>
            <a:gdLst/>
            <a:ahLst/>
            <a:cxnLst/>
            <a:rect l="l" t="t" r="r" b="b"/>
            <a:pathLst>
              <a:path w="368935" h="394335">
                <a:moveTo>
                  <a:pt x="368757" y="0"/>
                </a:moveTo>
                <a:lnTo>
                  <a:pt x="0" y="394195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917126" y="4891900"/>
            <a:ext cx="941069" cy="0"/>
          </a:xfrm>
          <a:custGeom>
            <a:avLst/>
            <a:gdLst/>
            <a:ahLst/>
            <a:cxnLst/>
            <a:rect l="l" t="t" r="r" b="b"/>
            <a:pathLst>
              <a:path w="941070">
                <a:moveTo>
                  <a:pt x="0" y="0"/>
                </a:moveTo>
                <a:lnTo>
                  <a:pt x="940968" y="0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336747" y="4472279"/>
            <a:ext cx="521970" cy="407034"/>
          </a:xfrm>
          <a:custGeom>
            <a:avLst/>
            <a:gdLst/>
            <a:ahLst/>
            <a:cxnLst/>
            <a:rect l="l" t="t" r="r" b="b"/>
            <a:pathLst>
              <a:path w="521970" h="407035">
                <a:moveTo>
                  <a:pt x="0" y="0"/>
                </a:moveTo>
                <a:lnTo>
                  <a:pt x="521347" y="406908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366729" y="4535855"/>
            <a:ext cx="203835" cy="165735"/>
          </a:xfrm>
          <a:custGeom>
            <a:avLst/>
            <a:gdLst/>
            <a:ahLst/>
            <a:cxnLst/>
            <a:rect l="l" t="t" r="r" b="b"/>
            <a:pathLst>
              <a:path w="203835" h="165735">
                <a:moveTo>
                  <a:pt x="203454" y="0"/>
                </a:moveTo>
                <a:lnTo>
                  <a:pt x="0" y="165303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366729" y="4701158"/>
            <a:ext cx="216535" cy="114935"/>
          </a:xfrm>
          <a:custGeom>
            <a:avLst/>
            <a:gdLst/>
            <a:ahLst/>
            <a:cxnLst/>
            <a:rect l="l" t="t" r="r" b="b"/>
            <a:pathLst>
              <a:path w="216535" h="114935">
                <a:moveTo>
                  <a:pt x="0" y="0"/>
                </a:moveTo>
                <a:lnTo>
                  <a:pt x="216166" y="114452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197803" y="4510430"/>
            <a:ext cx="229235" cy="191135"/>
          </a:xfrm>
          <a:custGeom>
            <a:avLst/>
            <a:gdLst/>
            <a:ahLst/>
            <a:cxnLst/>
            <a:rect l="l" t="t" r="r" b="b"/>
            <a:pathLst>
              <a:path w="229235" h="191135">
                <a:moveTo>
                  <a:pt x="228879" y="0"/>
                </a:moveTo>
                <a:lnTo>
                  <a:pt x="0" y="190728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197803" y="4701158"/>
            <a:ext cx="267335" cy="114935"/>
          </a:xfrm>
          <a:custGeom>
            <a:avLst/>
            <a:gdLst/>
            <a:ahLst/>
            <a:cxnLst/>
            <a:rect l="l" t="t" r="r" b="b"/>
            <a:pathLst>
              <a:path w="267335" h="114935">
                <a:moveTo>
                  <a:pt x="0" y="0"/>
                </a:moveTo>
                <a:lnTo>
                  <a:pt x="267030" y="114452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075195" y="4421416"/>
            <a:ext cx="356235" cy="356235"/>
          </a:xfrm>
          <a:custGeom>
            <a:avLst/>
            <a:gdLst/>
            <a:ahLst/>
            <a:cxnLst/>
            <a:rect l="l" t="t" r="r" b="b"/>
            <a:pathLst>
              <a:path w="356234" h="356235">
                <a:moveTo>
                  <a:pt x="356044" y="0"/>
                </a:moveTo>
                <a:lnTo>
                  <a:pt x="0" y="356044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075195" y="4777460"/>
            <a:ext cx="763270" cy="0"/>
          </a:xfrm>
          <a:custGeom>
            <a:avLst/>
            <a:gdLst/>
            <a:ahLst/>
            <a:cxnLst/>
            <a:rect l="l" t="t" r="r" b="b"/>
            <a:pathLst>
              <a:path w="763270">
                <a:moveTo>
                  <a:pt x="0" y="0"/>
                </a:moveTo>
                <a:lnTo>
                  <a:pt x="762952" y="0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431240" y="4408703"/>
            <a:ext cx="419734" cy="368935"/>
          </a:xfrm>
          <a:custGeom>
            <a:avLst/>
            <a:gdLst/>
            <a:ahLst/>
            <a:cxnLst/>
            <a:rect l="l" t="t" r="r" b="b"/>
            <a:pathLst>
              <a:path w="419734" h="368935">
                <a:moveTo>
                  <a:pt x="0" y="0"/>
                </a:moveTo>
                <a:lnTo>
                  <a:pt x="419620" y="368757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167820" y="4408703"/>
            <a:ext cx="407034" cy="432434"/>
          </a:xfrm>
          <a:custGeom>
            <a:avLst/>
            <a:gdLst/>
            <a:ahLst/>
            <a:cxnLst/>
            <a:rect l="l" t="t" r="r" b="b"/>
            <a:pathLst>
              <a:path w="407035" h="432435">
                <a:moveTo>
                  <a:pt x="406908" y="216166"/>
                </a:moveTo>
                <a:lnTo>
                  <a:pt x="403629" y="177308"/>
                </a:lnTo>
                <a:lnTo>
                  <a:pt x="392591" y="136355"/>
                </a:lnTo>
                <a:lnTo>
                  <a:pt x="374559" y="99165"/>
                </a:lnTo>
                <a:lnTo>
                  <a:pt x="350350" y="66605"/>
                </a:lnTo>
                <a:lnTo>
                  <a:pt x="320784" y="39545"/>
                </a:lnTo>
                <a:lnTo>
                  <a:pt x="286678" y="18854"/>
                </a:lnTo>
                <a:lnTo>
                  <a:pt x="248851" y="5401"/>
                </a:lnTo>
                <a:lnTo>
                  <a:pt x="208123" y="55"/>
                </a:lnTo>
                <a:lnTo>
                  <a:pt x="203454" y="0"/>
                </a:lnTo>
                <a:lnTo>
                  <a:pt x="198784" y="55"/>
                </a:lnTo>
                <a:lnTo>
                  <a:pt x="158056" y="5401"/>
                </a:lnTo>
                <a:lnTo>
                  <a:pt x="120229" y="18854"/>
                </a:lnTo>
                <a:lnTo>
                  <a:pt x="86123" y="39545"/>
                </a:lnTo>
                <a:lnTo>
                  <a:pt x="56557" y="66605"/>
                </a:lnTo>
                <a:lnTo>
                  <a:pt x="32348" y="99165"/>
                </a:lnTo>
                <a:lnTo>
                  <a:pt x="14316" y="136355"/>
                </a:lnTo>
                <a:lnTo>
                  <a:pt x="3278" y="177308"/>
                </a:lnTo>
                <a:lnTo>
                  <a:pt x="0" y="216166"/>
                </a:lnTo>
                <a:lnTo>
                  <a:pt x="52" y="221127"/>
                </a:lnTo>
                <a:lnTo>
                  <a:pt x="4133" y="259730"/>
                </a:lnTo>
                <a:lnTo>
                  <a:pt x="15989" y="300306"/>
                </a:lnTo>
                <a:lnTo>
                  <a:pt x="34748" y="337025"/>
                </a:lnTo>
                <a:lnTo>
                  <a:pt x="59593" y="369017"/>
                </a:lnTo>
                <a:lnTo>
                  <a:pt x="89704" y="395414"/>
                </a:lnTo>
                <a:lnTo>
                  <a:pt x="124263" y="415345"/>
                </a:lnTo>
                <a:lnTo>
                  <a:pt x="162453" y="427941"/>
                </a:lnTo>
                <a:lnTo>
                  <a:pt x="203454" y="432333"/>
                </a:lnTo>
                <a:lnTo>
                  <a:pt x="208123" y="432277"/>
                </a:lnTo>
                <a:lnTo>
                  <a:pt x="248851" y="426931"/>
                </a:lnTo>
                <a:lnTo>
                  <a:pt x="286678" y="413476"/>
                </a:lnTo>
                <a:lnTo>
                  <a:pt x="320784" y="392784"/>
                </a:lnTo>
                <a:lnTo>
                  <a:pt x="350350" y="365723"/>
                </a:lnTo>
                <a:lnTo>
                  <a:pt x="374559" y="333162"/>
                </a:lnTo>
                <a:lnTo>
                  <a:pt x="392591" y="295972"/>
                </a:lnTo>
                <a:lnTo>
                  <a:pt x="403629" y="255021"/>
                </a:lnTo>
                <a:lnTo>
                  <a:pt x="406908" y="216166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3260458" y="4570438"/>
            <a:ext cx="14414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latin typeface="Arial"/>
                <a:cs typeface="Arial"/>
              </a:rPr>
              <a:t>E</a:t>
            </a:r>
            <a:endParaRPr sz="14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320423" y="4494148"/>
            <a:ext cx="15430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latin typeface="Arial"/>
                <a:cs typeface="Arial"/>
              </a:rPr>
              <a:t>R</a:t>
            </a:r>
            <a:endParaRPr sz="14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393101" y="4481423"/>
            <a:ext cx="15430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latin typeface="Arial"/>
                <a:cs typeface="Arial"/>
              </a:rPr>
              <a:t>D</a:t>
            </a:r>
            <a:endParaRPr sz="14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500987" y="5174417"/>
            <a:ext cx="7595234" cy="154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2585" marR="5080" indent="-349885">
              <a:lnSpc>
                <a:spcPct val="117100"/>
              </a:lnSpc>
              <a:buAutoNum type="arabicPeriod"/>
              <a:tabLst>
                <a:tab pos="363220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à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querda.</a:t>
            </a:r>
            <a:endParaRPr sz="2050">
              <a:latin typeface="Arial"/>
              <a:cs typeface="Arial"/>
            </a:endParaRPr>
          </a:p>
          <a:p>
            <a:pPr marL="362585" marR="92075" indent="-349885">
              <a:lnSpc>
                <a:spcPct val="117000"/>
              </a:lnSpc>
              <a:spcBef>
                <a:spcPts val="575"/>
              </a:spcBef>
              <a:buAutoNum type="arabicPeriod"/>
              <a:tabLst>
                <a:tab pos="363220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ubá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à</a:t>
            </a:r>
            <a:r>
              <a:rPr sz="2050" dirty="0">
                <a:latin typeface="Arial"/>
                <a:cs typeface="Arial"/>
              </a:rPr>
              <a:t> 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24026320"/>
      </p:ext>
    </p:extLst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54557"/>
            <a:ext cx="758634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-6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Bin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ári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6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esquis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cea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64691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221295" y="4126217"/>
            <a:ext cx="8297545" cy="2610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  <a:tab pos="624840" algn="l"/>
              </a:tabLst>
            </a:pPr>
            <a:r>
              <a:rPr sz="2050" spc="10" dirty="0">
                <a:latin typeface="Arial"/>
                <a:cs typeface="Arial"/>
              </a:rPr>
              <a:t>O	</a:t>
            </a:r>
            <a:r>
              <a:rPr sz="2050" b="1" dirty="0">
                <a:latin typeface="Arial"/>
                <a:cs typeface="Arial"/>
              </a:rPr>
              <a:t>n</a:t>
            </a:r>
            <a:r>
              <a:rPr sz="2050" b="1" spc="-5" dirty="0">
                <a:latin typeface="Arial"/>
                <a:cs typeface="Arial"/>
              </a:rPr>
              <a:t>í</a:t>
            </a:r>
            <a:r>
              <a:rPr sz="2050" b="1" dirty="0">
                <a:latin typeface="Arial"/>
                <a:cs typeface="Arial"/>
              </a:rPr>
              <a:t>vel</a:t>
            </a:r>
            <a:r>
              <a:rPr sz="2050" b="1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iz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0.</a:t>
            </a:r>
            <a:endParaRPr sz="2050">
              <a:latin typeface="Arial"/>
              <a:cs typeface="Arial"/>
            </a:endParaRPr>
          </a:p>
          <a:p>
            <a:pPr marL="274955" marR="292735" indent="-262255">
              <a:lnSpc>
                <a:spcPct val="117100"/>
              </a:lnSpc>
              <a:spcBef>
                <a:spcPts val="116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Se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iz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>
              <a:lnSpc>
                <a:spcPct val="117100"/>
              </a:lnSpc>
              <a:spcBef>
                <a:spcPts val="116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tu</a:t>
            </a:r>
            <a:r>
              <a:rPr sz="2050" b="1" spc="5" dirty="0">
                <a:latin typeface="Arial"/>
                <a:cs typeface="Arial"/>
              </a:rPr>
              <a:t>ra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ó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long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ó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olha.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58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iz.</a:t>
            </a:r>
            <a:endParaRPr sz="2050">
              <a:latin typeface="Arial"/>
              <a:cs typeface="Arial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7166" y="1492250"/>
            <a:ext cx="5115534" cy="2557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90233769"/>
      </p:ext>
    </p:extLst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69320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897" y="832055"/>
            <a:ext cx="8568690" cy="4964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 marR="5080">
              <a:lnSpc>
                <a:spcPct val="1082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Tipo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strat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Dicion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ár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io usa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-6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Bin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ár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6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esquis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endParaRPr sz="2450" dirty="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1395"/>
              </a:spcBef>
            </a:pP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utu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dado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9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85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lon</a:t>
            </a:r>
            <a:r>
              <a:rPr sz="1700" b="1" spc="10" dirty="0">
                <a:latin typeface="Arial"/>
                <a:cs typeface="Arial"/>
              </a:rPr>
              <a:t>g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29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4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20979" marR="5464175" indent="-208915">
              <a:lnSpc>
                <a:spcPts val="2720"/>
              </a:lnSpc>
              <a:spcBef>
                <a:spcPts val="200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TipoRegistr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45110">
              <a:lnSpc>
                <a:spcPct val="100000"/>
              </a:lnSpc>
              <a:spcBef>
                <a:spcPts val="470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5" dirty="0">
                <a:latin typeface="Arial"/>
                <a:cs typeface="Arial"/>
              </a:rPr>
              <a:t> </a:t>
            </a:r>
            <a:r>
              <a:rPr sz="1700" spc="-155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 dirty="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TipoRegistr</a:t>
            </a:r>
            <a:r>
              <a:rPr sz="1700" spc="22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35" dirty="0">
                <a:latin typeface="Arial"/>
                <a:cs typeface="Arial"/>
              </a:rPr>
              <a:t> </a:t>
            </a:r>
            <a:r>
              <a:rPr sz="1700" spc="-60" dirty="0">
                <a:latin typeface="Arial"/>
                <a:cs typeface="Arial"/>
              </a:rPr>
              <a:t>TipoN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265" dirty="0">
                <a:latin typeface="Lucida Sans Unicode"/>
                <a:cs typeface="Lucida Sans Unicode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27329" marR="5888990" indent="-215265">
              <a:lnSpc>
                <a:spcPts val="2720"/>
              </a:lnSpc>
              <a:spcBef>
                <a:spcPts val="200"/>
              </a:spcBef>
              <a:tabLst>
                <a:tab pos="2276475" algn="l"/>
              </a:tabLst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35" dirty="0">
                <a:latin typeface="Arial"/>
                <a:cs typeface="Arial"/>
              </a:rPr>
              <a:t> </a:t>
            </a:r>
            <a:r>
              <a:rPr sz="1700" spc="-60" dirty="0">
                <a:latin typeface="Arial"/>
                <a:cs typeface="Arial"/>
              </a:rPr>
              <a:t>TipoN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35" dirty="0">
                <a:latin typeface="Arial"/>
                <a:cs typeface="Arial"/>
              </a:rPr>
              <a:t>TipoRegistr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-150" dirty="0">
                <a:latin typeface="Arial"/>
                <a:cs typeface="Arial"/>
              </a:rPr>
              <a:t>Re</a:t>
            </a:r>
            <a:r>
              <a:rPr sz="1700" spc="25" dirty="0">
                <a:latin typeface="Arial"/>
                <a:cs typeface="Arial"/>
              </a:rPr>
              <a:t>g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114" dirty="0">
                <a:latin typeface="Arial"/>
                <a:cs typeface="Arial"/>
              </a:rPr>
              <a:t> </a:t>
            </a:r>
            <a:r>
              <a:rPr sz="1700" spc="-60" dirty="0">
                <a:latin typeface="Arial"/>
                <a:cs typeface="Arial"/>
              </a:rPr>
              <a:t>TipoN</a:t>
            </a:r>
            <a:r>
              <a:rPr sz="1700" spc="114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14139923"/>
      </p:ext>
    </p:extLst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8541385" cy="6311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dim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6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esquisar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-6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Uma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Ch</a:t>
            </a:r>
            <a:r>
              <a:rPr sz="2450" b="1" spc="-2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i="1" spc="150" dirty="0">
                <a:solidFill>
                  <a:srgbClr val="007F7A"/>
                </a:solidFill>
                <a:latin typeface="Arial"/>
                <a:cs typeface="Arial"/>
              </a:rPr>
              <a:t>x</a:t>
            </a:r>
            <a:endParaRPr sz="2450" dirty="0">
              <a:latin typeface="Arial"/>
              <a:cs typeface="Arial"/>
            </a:endParaRPr>
          </a:p>
          <a:p>
            <a:pPr marL="488950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9584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pare-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iz.</a:t>
            </a:r>
            <a:endParaRPr sz="2050" dirty="0">
              <a:latin typeface="Arial"/>
              <a:cs typeface="Arial"/>
            </a:endParaRPr>
          </a:p>
          <a:p>
            <a:pPr marL="488950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9584" algn="l"/>
              </a:tabLst>
            </a:pPr>
            <a:r>
              <a:rPr sz="2050" spc="5" dirty="0">
                <a:latin typeface="Arial"/>
                <a:cs typeface="Arial"/>
              </a:rPr>
              <a:t>Se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vá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querda.</a:t>
            </a:r>
          </a:p>
          <a:p>
            <a:pPr marL="488950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9584" algn="l"/>
              </a:tabLst>
            </a:pPr>
            <a:r>
              <a:rPr sz="2050" spc="5" dirty="0">
                <a:latin typeface="Arial"/>
                <a:cs typeface="Arial"/>
              </a:rPr>
              <a:t>Se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vá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</a:p>
          <a:p>
            <a:pPr marL="488950" marR="26733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9584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epi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olh</a:t>
            </a:r>
            <a:r>
              <a:rPr sz="2050" spc="5" dirty="0">
                <a:latin typeface="Arial"/>
                <a:cs typeface="Arial"/>
              </a:rPr>
              <a:t>a é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ingid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488950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9584" algn="l"/>
              </a:tabLst>
            </a:pPr>
            <a:r>
              <a:rPr sz="2050" spc="5" dirty="0">
                <a:latin typeface="Arial"/>
                <a:cs typeface="Arial"/>
              </a:rPr>
              <a:t>Se a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isa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eúd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próp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io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>
              <a:lnSpc>
                <a:spcPct val="100000"/>
              </a:lnSpc>
              <a:spcBef>
                <a:spcPts val="12"/>
              </a:spcBef>
            </a:pPr>
            <a:endParaRPr sz="21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Pesquis</a:t>
            </a:r>
            <a:r>
              <a:rPr sz="1700" spc="10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TipoRegistr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-160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8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50"/>
              </a:spcBef>
              <a:tabLst>
                <a:tab pos="25781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-1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spc="11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45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50"/>
              </a:spcBef>
              <a:tabLst>
                <a:tab pos="467359" algn="l"/>
                <a:tab pos="194945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na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present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n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arvor</a:t>
            </a:r>
            <a:r>
              <a:rPr sz="1700" spc="215" dirty="0">
                <a:latin typeface="Arial"/>
                <a:cs typeface="Arial"/>
              </a:rPr>
              <a:t>e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50"/>
              </a:spcBef>
              <a:tabLst>
                <a:tab pos="55943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x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85" dirty="0">
                <a:latin typeface="Arial"/>
                <a:cs typeface="Arial"/>
              </a:rPr>
              <a:t>&gt;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(</a:t>
            </a:r>
            <a:r>
              <a:rPr sz="1700" spc="-210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215" dirty="0">
                <a:latin typeface="Arial"/>
                <a:cs typeface="Arial"/>
              </a:rPr>
              <a:t>&gt;</a:t>
            </a:r>
            <a:r>
              <a:rPr sz="1700" spc="-150" dirty="0">
                <a:latin typeface="Arial"/>
                <a:cs typeface="Arial"/>
              </a:rPr>
              <a:t>Re</a:t>
            </a:r>
            <a:r>
              <a:rPr sz="1700" spc="35" dirty="0">
                <a:latin typeface="Arial"/>
                <a:cs typeface="Arial"/>
              </a:rPr>
              <a:t>g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50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Pesquis</a:t>
            </a:r>
            <a:r>
              <a:rPr sz="1700" spc="10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(</a:t>
            </a:r>
            <a:r>
              <a:rPr sz="1700" spc="11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&amp;(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1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150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50"/>
              </a:spcBef>
              <a:tabLst>
                <a:tab pos="55943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x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85" dirty="0">
                <a:latin typeface="Arial"/>
                <a:cs typeface="Arial"/>
              </a:rPr>
              <a:t>&gt;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(</a:t>
            </a:r>
            <a:r>
              <a:rPr sz="1700" spc="-210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215" dirty="0">
                <a:latin typeface="Arial"/>
                <a:cs typeface="Arial"/>
              </a:rPr>
              <a:t>&gt;</a:t>
            </a:r>
            <a:r>
              <a:rPr sz="1700" spc="-150" dirty="0">
                <a:latin typeface="Arial"/>
                <a:cs typeface="Arial"/>
              </a:rPr>
              <a:t>Re</a:t>
            </a:r>
            <a:r>
              <a:rPr sz="1700" spc="35" dirty="0">
                <a:latin typeface="Arial"/>
                <a:cs typeface="Arial"/>
              </a:rPr>
              <a:t>g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9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Pesquis</a:t>
            </a:r>
            <a:r>
              <a:rPr sz="1700" spc="10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(</a:t>
            </a:r>
            <a:r>
              <a:rPr sz="1700" spc="11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&amp;(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25" dirty="0">
                <a:latin typeface="Arial"/>
                <a:cs typeface="Arial"/>
              </a:rPr>
              <a:t>&gt;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31140">
              <a:lnSpc>
                <a:spcPct val="100000"/>
              </a:lnSpc>
              <a:spcBef>
                <a:spcPts val="650"/>
              </a:spcBef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35" dirty="0">
                <a:latin typeface="Arial"/>
                <a:cs typeface="Arial"/>
              </a:rPr>
              <a:t> </a:t>
            </a:r>
            <a:r>
              <a:rPr sz="1700" spc="-16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0" dirty="0">
                <a:latin typeface="Arial"/>
                <a:cs typeface="Arial"/>
              </a:rPr>
              <a:t>(</a:t>
            </a:r>
            <a:r>
              <a:rPr sz="1700" spc="-195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215" dirty="0">
                <a:latin typeface="Arial"/>
                <a:cs typeface="Arial"/>
              </a:rPr>
              <a:t>&gt;</a:t>
            </a:r>
            <a:r>
              <a:rPr sz="1700" spc="-150" dirty="0">
                <a:latin typeface="Arial"/>
                <a:cs typeface="Arial"/>
              </a:rPr>
              <a:t>Re</a:t>
            </a:r>
            <a:r>
              <a:rPr sz="1700" spc="25" dirty="0">
                <a:latin typeface="Arial"/>
                <a:cs typeface="Arial"/>
              </a:rPr>
              <a:t>g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50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48632530"/>
      </p:ext>
    </p:extLst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8606790" cy="6110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dim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serir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-6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 dirty="0">
              <a:latin typeface="Arial"/>
              <a:cs typeface="Arial"/>
            </a:endParaRPr>
          </a:p>
          <a:p>
            <a:pPr marL="488950" marR="508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9584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ingir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isa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gn</a:t>
            </a:r>
            <a:r>
              <a:rPr sz="2050" spc="5" dirty="0">
                <a:latin typeface="Arial"/>
                <a:cs typeface="Arial"/>
              </a:rPr>
              <a:t>ifica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isa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488950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9584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ingid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1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I</a:t>
            </a:r>
            <a:r>
              <a:rPr sz="1700" spc="50" dirty="0">
                <a:latin typeface="Arial"/>
                <a:cs typeface="Arial"/>
              </a:rPr>
              <a:t>n</a:t>
            </a:r>
            <a:r>
              <a:rPr sz="1700" spc="45" dirty="0">
                <a:latin typeface="Arial"/>
                <a:cs typeface="Arial"/>
              </a:rPr>
              <a:t>s</a:t>
            </a:r>
            <a:r>
              <a:rPr sz="1700" spc="5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r</a:t>
            </a:r>
            <a:r>
              <a:rPr sz="1700" spc="17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TipoRegistr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8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5781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-1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spc="11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45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46405" marR="2559050" indent="-196850">
              <a:lnSpc>
                <a:spcPts val="2650"/>
              </a:lnSpc>
              <a:spcBef>
                <a:spcPts val="18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-1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10" dirty="0">
                <a:latin typeface="Arial"/>
                <a:cs typeface="Arial"/>
              </a:rPr>
              <a:t>r</a:t>
            </a:r>
            <a:r>
              <a:rPr sz="1700" spc="150" dirty="0">
                <a:latin typeface="Arial"/>
                <a:cs typeface="Arial"/>
              </a:rPr>
              <a:t>)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(</a:t>
            </a:r>
            <a:r>
              <a:rPr sz="1700" spc="-60" dirty="0">
                <a:latin typeface="Arial"/>
                <a:cs typeface="Arial"/>
              </a:rPr>
              <a:t>TipoN</a:t>
            </a:r>
            <a:r>
              <a:rPr sz="1700" spc="16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245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215" dirty="0">
                <a:latin typeface="Arial"/>
                <a:cs typeface="Arial"/>
              </a:rPr>
              <a:t>&gt;</a:t>
            </a:r>
            <a:r>
              <a:rPr sz="1700" spc="-150" dirty="0">
                <a:latin typeface="Arial"/>
                <a:cs typeface="Arial"/>
              </a:rPr>
              <a:t>Re</a:t>
            </a:r>
            <a:r>
              <a:rPr sz="1700" spc="10" dirty="0">
                <a:latin typeface="Arial"/>
                <a:cs typeface="Arial"/>
              </a:rPr>
              <a:t>g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9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130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1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10" dirty="0">
                <a:latin typeface="Arial"/>
                <a:cs typeface="Arial"/>
              </a:rPr>
              <a:t>q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200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130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25" dirty="0">
                <a:latin typeface="Arial"/>
                <a:cs typeface="Arial"/>
              </a:rPr>
              <a:t>&gt;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90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41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05"/>
              </a:spcBef>
              <a:tabLst>
                <a:tab pos="55943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(</a:t>
            </a:r>
            <a:r>
              <a:rPr sz="1700" spc="-210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215" dirty="0">
                <a:latin typeface="Arial"/>
                <a:cs typeface="Arial"/>
              </a:rPr>
              <a:t>&gt;</a:t>
            </a:r>
            <a:r>
              <a:rPr sz="1700" spc="-150" dirty="0">
                <a:latin typeface="Arial"/>
                <a:cs typeface="Arial"/>
              </a:rPr>
              <a:t>Re</a:t>
            </a:r>
            <a:r>
              <a:rPr sz="1700" spc="25" dirty="0">
                <a:latin typeface="Arial"/>
                <a:cs typeface="Arial"/>
              </a:rPr>
              <a:t>g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235585" marR="4756785" indent="21590">
              <a:lnSpc>
                <a:spcPct val="129700"/>
              </a:lnSpc>
              <a:tabLst>
                <a:tab pos="537845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I</a:t>
            </a:r>
            <a:r>
              <a:rPr sz="1700" spc="50" dirty="0">
                <a:latin typeface="Arial"/>
                <a:cs typeface="Arial"/>
              </a:rPr>
              <a:t>n</a:t>
            </a:r>
            <a:r>
              <a:rPr sz="1700" spc="45" dirty="0">
                <a:latin typeface="Arial"/>
                <a:cs typeface="Arial"/>
              </a:rPr>
              <a:t>s</a:t>
            </a:r>
            <a:r>
              <a:rPr sz="1700" spc="5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r</a:t>
            </a:r>
            <a:r>
              <a:rPr sz="1700" spc="175" dirty="0">
                <a:latin typeface="Arial"/>
                <a:cs typeface="Arial"/>
              </a:rPr>
              <a:t>e</a:t>
            </a:r>
            <a:r>
              <a:rPr sz="1700" spc="130" dirty="0">
                <a:latin typeface="Arial"/>
                <a:cs typeface="Arial"/>
              </a:rPr>
              <a:t>(</a:t>
            </a:r>
            <a:r>
              <a:rPr sz="1700" spc="11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&amp;(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1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150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 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(</a:t>
            </a:r>
            <a:r>
              <a:rPr sz="1700" spc="-210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215" dirty="0">
                <a:latin typeface="Arial"/>
                <a:cs typeface="Arial"/>
              </a:rPr>
              <a:t>&gt;</a:t>
            </a:r>
            <a:r>
              <a:rPr sz="1700" spc="-150" dirty="0">
                <a:latin typeface="Arial"/>
                <a:cs typeface="Arial"/>
              </a:rPr>
              <a:t>Re</a:t>
            </a:r>
            <a:r>
              <a:rPr sz="1700" spc="25" dirty="0">
                <a:latin typeface="Arial"/>
                <a:cs typeface="Arial"/>
              </a:rPr>
              <a:t>g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 </a:t>
            </a:r>
            <a:r>
              <a:rPr sz="1700" spc="40" dirty="0">
                <a:latin typeface="Arial"/>
                <a:cs typeface="Arial"/>
              </a:rPr>
              <a:t>I</a:t>
            </a:r>
            <a:r>
              <a:rPr sz="1700" spc="50" dirty="0">
                <a:latin typeface="Arial"/>
                <a:cs typeface="Arial"/>
              </a:rPr>
              <a:t>n</a:t>
            </a:r>
            <a:r>
              <a:rPr sz="1700" spc="45" dirty="0">
                <a:latin typeface="Arial"/>
                <a:cs typeface="Arial"/>
              </a:rPr>
              <a:t>s</a:t>
            </a:r>
            <a:r>
              <a:rPr sz="1700" spc="5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r</a:t>
            </a:r>
            <a:r>
              <a:rPr sz="1700" spc="175" dirty="0">
                <a:latin typeface="Arial"/>
                <a:cs typeface="Arial"/>
              </a:rPr>
              <a:t>e</a:t>
            </a:r>
            <a:r>
              <a:rPr sz="1700" spc="130" dirty="0">
                <a:latin typeface="Arial"/>
                <a:cs typeface="Arial"/>
              </a:rPr>
              <a:t>(</a:t>
            </a:r>
            <a:r>
              <a:rPr sz="1700" spc="11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&amp;(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25" dirty="0">
                <a:latin typeface="Arial"/>
                <a:cs typeface="Arial"/>
              </a:rPr>
              <a:t>&gt;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31140">
              <a:lnSpc>
                <a:spcPct val="100000"/>
              </a:lnSpc>
              <a:spcBef>
                <a:spcPts val="605"/>
              </a:spcBef>
              <a:tabLst>
                <a:tab pos="788670" algn="l"/>
                <a:tab pos="2182495" algn="l"/>
                <a:tab pos="2378075" algn="l"/>
                <a:tab pos="3669029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114" dirty="0">
                <a:latin typeface="Arial"/>
                <a:cs typeface="Arial"/>
              </a:rPr>
              <a:t>j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85" dirty="0">
                <a:latin typeface="Arial"/>
                <a:cs typeface="Arial"/>
              </a:rPr>
              <a:t>exist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n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arvor</a:t>
            </a:r>
            <a:r>
              <a:rPr sz="1700" spc="215" dirty="0">
                <a:latin typeface="Arial"/>
                <a:cs typeface="Arial"/>
              </a:rPr>
              <a:t>e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00745290"/>
      </p:ext>
    </p:extLst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0582" y="851928"/>
            <a:ext cx="7022465" cy="5963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6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dim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Inic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zar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-6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 dirty="0">
              <a:latin typeface="Times New Roman"/>
              <a:cs typeface="Times New Roman"/>
            </a:endParaRPr>
          </a:p>
          <a:p>
            <a:pPr marL="19050"/>
            <a:r>
              <a:rPr lang="pt-BR" sz="1700" spc="-100" dirty="0" smtClean="0">
                <a:latin typeface="Arial"/>
                <a:cs typeface="Arial"/>
              </a:rPr>
              <a:t>{</a:t>
            </a:r>
            <a:r>
              <a:rPr lang="pt-BR" sz="1700" spc="-120" dirty="0" smtClean="0">
                <a:latin typeface="Lucida Sans Unicode"/>
                <a:cs typeface="Lucida Sans Unicode"/>
              </a:rPr>
              <a:t>−</a:t>
            </a:r>
            <a:r>
              <a:rPr lang="pt-BR" sz="1700" spc="-15" dirty="0" smtClean="0">
                <a:latin typeface="Lucida Sans Unicode"/>
                <a:cs typeface="Lucida Sans Unicode"/>
              </a:rPr>
              <a:t>−</a:t>
            </a:r>
            <a:r>
              <a:rPr lang="pt-BR" sz="1700" spc="-165" dirty="0" smtClean="0">
                <a:latin typeface="Lucida Sans Unicode"/>
                <a:cs typeface="Lucida Sans Unicode"/>
              </a:rPr>
              <a:t> </a:t>
            </a:r>
            <a:r>
              <a:rPr lang="pt-BR" sz="1700" i="1" spc="10" dirty="0" smtClean="0">
                <a:latin typeface="Times New Roman"/>
                <a:cs typeface="Times New Roman"/>
              </a:rPr>
              <a:t>E</a:t>
            </a:r>
            <a:r>
              <a:rPr lang="pt-BR" sz="1700" i="1" spc="5" dirty="0" smtClean="0">
                <a:latin typeface="Times New Roman"/>
                <a:cs typeface="Times New Roman"/>
              </a:rPr>
              <a:t>nt</a:t>
            </a:r>
            <a:r>
              <a:rPr lang="pt-BR" sz="1700" i="1" spc="-25" dirty="0" smtClean="0">
                <a:latin typeface="Times New Roman"/>
                <a:cs typeface="Times New Roman"/>
              </a:rPr>
              <a:t>r</a:t>
            </a:r>
            <a:r>
              <a:rPr lang="pt-BR" sz="1700" i="1" spc="10" dirty="0" smtClean="0">
                <a:latin typeface="Times New Roman"/>
                <a:cs typeface="Times New Roman"/>
              </a:rPr>
              <a:t>a</a:t>
            </a:r>
            <a:r>
              <a:rPr lang="pt-BR" sz="1700" i="1" dirty="0" smtClean="0">
                <a:latin typeface="Times New Roman"/>
                <a:cs typeface="Times New Roman"/>
              </a:rPr>
              <a:t> </a:t>
            </a:r>
            <a:r>
              <a:rPr lang="pt-BR" sz="1700" i="1" spc="5" dirty="0" smtClean="0">
                <a:latin typeface="Times New Roman"/>
                <a:cs typeface="Times New Roman"/>
              </a:rPr>
              <a:t>aqui </a:t>
            </a:r>
            <a:r>
              <a:rPr lang="pt-BR" sz="1700" i="1" spc="10" dirty="0" smtClean="0">
                <a:latin typeface="Times New Roman"/>
                <a:cs typeface="Times New Roman"/>
              </a:rPr>
              <a:t>a</a:t>
            </a:r>
            <a:r>
              <a:rPr lang="pt-BR" sz="1700" i="1" dirty="0" smtClean="0">
                <a:latin typeface="Times New Roman"/>
                <a:cs typeface="Times New Roman"/>
              </a:rPr>
              <a:t> </a:t>
            </a:r>
            <a:r>
              <a:rPr lang="pt-BR" sz="1700" i="1" spc="5" dirty="0" smtClean="0">
                <a:latin typeface="Times New Roman"/>
                <a:cs typeface="Times New Roman"/>
              </a:rPr>
              <a:t>de</a:t>
            </a:r>
            <a:r>
              <a:rPr lang="pt-BR" sz="1700" i="1" spc="-45" dirty="0" smtClean="0">
                <a:latin typeface="Times New Roman"/>
                <a:cs typeface="Times New Roman"/>
              </a:rPr>
              <a:t>f</a:t>
            </a:r>
            <a:r>
              <a:rPr lang="pt-BR" sz="1700" i="1" spc="-50" dirty="0" smtClean="0">
                <a:latin typeface="Times New Roman"/>
                <a:cs typeface="Times New Roman"/>
              </a:rPr>
              <a:t>i</a:t>
            </a:r>
            <a:r>
              <a:rPr lang="pt-BR" sz="1700" i="1" spc="5" dirty="0" smtClean="0">
                <a:latin typeface="Times New Roman"/>
                <a:cs typeface="Times New Roman"/>
              </a:rPr>
              <a:t>niçã</a:t>
            </a:r>
            <a:r>
              <a:rPr lang="pt-BR" sz="1700" i="1" spc="10" dirty="0" smtClean="0">
                <a:latin typeface="Times New Roman"/>
                <a:cs typeface="Times New Roman"/>
              </a:rPr>
              <a:t>o</a:t>
            </a:r>
            <a:r>
              <a:rPr lang="pt-BR" sz="1700" i="1" spc="5" dirty="0" smtClean="0">
                <a:latin typeface="Times New Roman"/>
                <a:cs typeface="Times New Roman"/>
              </a:rPr>
              <a:t> dos tipos</a:t>
            </a:r>
            <a:r>
              <a:rPr lang="pt-BR" sz="1700" i="1" spc="-100" dirty="0" smtClean="0">
                <a:latin typeface="Times New Roman"/>
                <a:cs typeface="Times New Roman"/>
              </a:rPr>
              <a:t> </a:t>
            </a:r>
            <a:r>
              <a:rPr lang="pt-BR" sz="1700" spc="-120" dirty="0" smtClean="0">
                <a:latin typeface="Lucida Sans Unicode"/>
                <a:cs typeface="Lucida Sans Unicode"/>
              </a:rPr>
              <a:t>−</a:t>
            </a:r>
            <a:r>
              <a:rPr lang="pt-BR" sz="1700" spc="-65" dirty="0" smtClean="0">
                <a:latin typeface="Lucida Sans Unicode"/>
                <a:cs typeface="Lucida Sans Unicode"/>
              </a:rPr>
              <a:t>−</a:t>
            </a:r>
            <a:r>
              <a:rPr lang="pt-BR" sz="1700" spc="5" dirty="0" smtClean="0">
                <a:latin typeface="Arial"/>
                <a:cs typeface="Arial"/>
              </a:rPr>
              <a:t>}</a:t>
            </a:r>
            <a:endParaRPr lang="pt-BR" sz="1700" dirty="0" smtClean="0">
              <a:latin typeface="Arial"/>
              <a:cs typeface="Arial"/>
            </a:endParaRPr>
          </a:p>
          <a:p>
            <a:pPr marL="19050">
              <a:lnSpc>
                <a:spcPct val="100000"/>
              </a:lnSpc>
            </a:pPr>
            <a:endParaRPr lang="pt-BR" sz="1700" b="1" spc="-25" dirty="0" smtClean="0">
              <a:latin typeface="Arial"/>
              <a:cs typeface="Arial"/>
            </a:endParaRPr>
          </a:p>
          <a:p>
            <a:pPr marL="19050">
              <a:lnSpc>
                <a:spcPct val="100000"/>
              </a:lnSpc>
            </a:pPr>
            <a:r>
              <a:rPr sz="1700" b="1" spc="-25" dirty="0" smtClean="0">
                <a:latin typeface="Arial"/>
                <a:cs typeface="Arial"/>
              </a:rPr>
              <a:t>voi</a:t>
            </a:r>
            <a:r>
              <a:rPr sz="1700" b="1" spc="10" dirty="0" smtClean="0">
                <a:latin typeface="Arial"/>
                <a:cs typeface="Arial"/>
              </a:rPr>
              <a:t>d</a:t>
            </a:r>
            <a:r>
              <a:rPr sz="1700" b="1" dirty="0" smtClean="0">
                <a:latin typeface="Arial"/>
                <a:cs typeface="Arial"/>
              </a:rPr>
              <a:t> </a:t>
            </a:r>
            <a:r>
              <a:rPr sz="1700" b="1" spc="30" dirty="0" smtClean="0">
                <a:latin typeface="Arial"/>
                <a:cs typeface="Arial"/>
              </a:rPr>
              <a:t> </a:t>
            </a:r>
            <a:r>
              <a:rPr sz="1700" spc="170" dirty="0">
                <a:latin typeface="Arial"/>
                <a:cs typeface="Arial"/>
              </a:rPr>
              <a:t>Inicializ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114" dirty="0">
                <a:latin typeface="Arial"/>
                <a:cs typeface="Arial"/>
              </a:rPr>
              <a:t>(</a:t>
            </a:r>
            <a:r>
              <a:rPr sz="1700" spc="-15" dirty="0" err="1">
                <a:latin typeface="Arial"/>
                <a:cs typeface="Arial"/>
              </a:rPr>
              <a:t>TipoApontado</a:t>
            </a:r>
            <a:r>
              <a:rPr sz="1700" spc="5" dirty="0" err="1">
                <a:latin typeface="Arial"/>
                <a:cs typeface="Arial"/>
              </a:rPr>
              <a:t>r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-85" dirty="0" smtClean="0">
                <a:latin typeface="Lucida Sans Unicode"/>
                <a:cs typeface="Lucida Sans Unicode"/>
              </a:rPr>
              <a:t>∗</a:t>
            </a:r>
            <a:r>
              <a:rPr lang="pt-BR" sz="1700" spc="75" dirty="0" smtClean="0">
                <a:latin typeface="Arial"/>
                <a:cs typeface="Arial"/>
              </a:rPr>
              <a:t>raiz</a:t>
            </a:r>
            <a:r>
              <a:rPr sz="1700" spc="5" dirty="0" smtClean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12700" marR="4428490" indent="29845">
              <a:lnSpc>
                <a:spcPct val="129700"/>
              </a:lnSpc>
              <a:tabLst>
                <a:tab pos="570230" algn="l"/>
                <a:tab pos="794385" algn="l"/>
                <a:tab pos="1958975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315" dirty="0">
                <a:latin typeface="Lucida Sans Unicode"/>
                <a:cs typeface="Lucida Sans Unicode"/>
              </a:rPr>
              <a:t> </a:t>
            </a:r>
            <a:r>
              <a:rPr lang="pt-BR" sz="1700" spc="75" dirty="0" smtClean="0">
                <a:latin typeface="Arial"/>
                <a:cs typeface="Arial"/>
              </a:rPr>
              <a:t>raiz</a:t>
            </a:r>
            <a:r>
              <a:rPr sz="1700" dirty="0" smtClean="0">
                <a:latin typeface="Arial"/>
                <a:cs typeface="Arial"/>
              </a:rPr>
              <a:t> </a:t>
            </a:r>
            <a:r>
              <a:rPr sz="1700" spc="-114" dirty="0" smtClean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NULL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 smtClean="0">
                <a:latin typeface="Arial"/>
                <a:cs typeface="Arial"/>
              </a:rPr>
              <a:t>};</a:t>
            </a:r>
            <a:r>
              <a:rPr sz="1700" dirty="0">
                <a:latin typeface="Arial"/>
                <a:cs typeface="Arial"/>
              </a:rPr>
              <a:t>	</a:t>
            </a:r>
            <a:endParaRPr lang="pt-BR" sz="1700" dirty="0" smtClean="0">
              <a:latin typeface="Arial"/>
              <a:cs typeface="Arial"/>
            </a:endParaRPr>
          </a:p>
          <a:p>
            <a:pPr marL="12700" marR="4428490" indent="29845">
              <a:lnSpc>
                <a:spcPct val="129700"/>
              </a:lnSpc>
              <a:tabLst>
                <a:tab pos="570230" algn="l"/>
                <a:tab pos="794385" algn="l"/>
                <a:tab pos="1958975" algn="l"/>
              </a:tabLst>
            </a:pPr>
            <a:endParaRPr sz="1700" dirty="0">
              <a:latin typeface="Times New Roman"/>
              <a:cs typeface="Times New Roman"/>
            </a:endParaRPr>
          </a:p>
          <a:p>
            <a:pPr marL="16510">
              <a:lnSpc>
                <a:spcPct val="100000"/>
              </a:lnSpc>
              <a:spcBef>
                <a:spcPts val="605"/>
              </a:spcBef>
            </a:pPr>
            <a:r>
              <a:rPr sz="1700" spc="-100" dirty="0" smtClean="0">
                <a:latin typeface="Arial"/>
                <a:cs typeface="Arial"/>
              </a:rPr>
              <a:t>{</a:t>
            </a:r>
            <a:r>
              <a:rPr sz="1700" spc="-120" dirty="0">
                <a:latin typeface="Lucida Sans Unicode"/>
                <a:cs typeface="Lucida Sans Unicode"/>
              </a:rPr>
              <a:t>−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165" dirty="0">
                <a:latin typeface="Lucida Sans Unicode"/>
                <a:cs typeface="Lucida Sans Unicode"/>
              </a:rPr>
              <a:t> </a:t>
            </a:r>
            <a:r>
              <a:rPr sz="1700" i="1" spc="10" dirty="0">
                <a:latin typeface="Times New Roman"/>
                <a:cs typeface="Times New Roman"/>
              </a:rPr>
              <a:t>E</a:t>
            </a:r>
            <a:r>
              <a:rPr sz="1700" i="1" spc="5" dirty="0">
                <a:latin typeface="Times New Roman"/>
                <a:cs typeface="Times New Roman"/>
              </a:rPr>
              <a:t>nt</a:t>
            </a:r>
            <a:r>
              <a:rPr sz="1700" i="1" spc="-25" dirty="0">
                <a:latin typeface="Times New Roman"/>
                <a:cs typeface="Times New Roman"/>
              </a:rPr>
              <a:t>r</a:t>
            </a:r>
            <a:r>
              <a:rPr sz="1700" i="1" spc="5" dirty="0">
                <a:latin typeface="Times New Roman"/>
                <a:cs typeface="Times New Roman"/>
              </a:rPr>
              <a:t>a</a:t>
            </a:r>
            <a:r>
              <a:rPr sz="1700" i="1" spc="15" dirty="0">
                <a:latin typeface="Times New Roman"/>
                <a:cs typeface="Times New Roman"/>
              </a:rPr>
              <a:t>m</a:t>
            </a:r>
            <a:r>
              <a:rPr sz="1700" i="1" spc="5" dirty="0">
                <a:latin typeface="Times New Roman"/>
                <a:cs typeface="Times New Roman"/>
              </a:rPr>
              <a:t> aqui os p</a:t>
            </a:r>
            <a:r>
              <a:rPr sz="1700" i="1" spc="-75" dirty="0">
                <a:latin typeface="Times New Roman"/>
                <a:cs typeface="Times New Roman"/>
              </a:rPr>
              <a:t>r</a:t>
            </a:r>
            <a:r>
              <a:rPr sz="1700" i="1" spc="5" dirty="0">
                <a:latin typeface="Times New Roman"/>
                <a:cs typeface="Times New Roman"/>
              </a:rPr>
              <a:t>oced</a:t>
            </a:r>
            <a:r>
              <a:rPr sz="1700" i="1" spc="10" dirty="0">
                <a:latin typeface="Times New Roman"/>
                <a:cs typeface="Times New Roman"/>
              </a:rPr>
              <a:t>im</a:t>
            </a:r>
            <a:r>
              <a:rPr sz="1700" i="1" spc="5" dirty="0">
                <a:latin typeface="Times New Roman"/>
                <a:cs typeface="Times New Roman"/>
              </a:rPr>
              <a:t>entos Ins</a:t>
            </a:r>
            <a:r>
              <a:rPr sz="1700" i="1" dirty="0">
                <a:latin typeface="Times New Roman"/>
                <a:cs typeface="Times New Roman"/>
              </a:rPr>
              <a:t>e</a:t>
            </a:r>
            <a:r>
              <a:rPr sz="1700" i="1" spc="-60" dirty="0">
                <a:latin typeface="Times New Roman"/>
                <a:cs typeface="Times New Roman"/>
              </a:rPr>
              <a:t>r</a:t>
            </a:r>
            <a:r>
              <a:rPr sz="1700" i="1" spc="5" dirty="0">
                <a:latin typeface="Times New Roman"/>
                <a:cs typeface="Times New Roman"/>
              </a:rPr>
              <a:t>e e Ini</a:t>
            </a:r>
            <a:r>
              <a:rPr sz="1700" i="1" dirty="0">
                <a:latin typeface="Times New Roman"/>
                <a:cs typeface="Times New Roman"/>
              </a:rPr>
              <a:t>c</a:t>
            </a:r>
            <a:r>
              <a:rPr sz="1700" i="1" spc="5" dirty="0">
                <a:latin typeface="Times New Roman"/>
                <a:cs typeface="Times New Roman"/>
              </a:rPr>
              <a:t>ializa</a:t>
            </a:r>
            <a:r>
              <a:rPr sz="1700" i="1" spc="-100" dirty="0">
                <a:latin typeface="Times New Roman"/>
                <a:cs typeface="Times New Roman"/>
              </a:rPr>
              <a:t> </a:t>
            </a:r>
            <a:r>
              <a:rPr sz="1700" spc="-120" dirty="0">
                <a:latin typeface="Lucida Sans Unicode"/>
                <a:cs typeface="Lucida Sans Unicode"/>
              </a:rPr>
              <a:t>−</a:t>
            </a:r>
            <a:r>
              <a:rPr sz="1700" spc="-65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36830">
              <a:lnSpc>
                <a:spcPct val="100000"/>
              </a:lnSpc>
              <a:spcBef>
                <a:spcPts val="605"/>
              </a:spcBef>
            </a:pPr>
            <a:r>
              <a:rPr sz="1700" b="1" spc="110" dirty="0" err="1">
                <a:latin typeface="Arial"/>
                <a:cs typeface="Arial"/>
              </a:rPr>
              <a:t>in</a:t>
            </a:r>
            <a:r>
              <a:rPr sz="1700" b="1" spc="5" dirty="0" err="1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 smtClean="0">
                <a:latin typeface="Arial"/>
                <a:cs typeface="Arial"/>
              </a:rPr>
              <a:t>mai</a:t>
            </a:r>
            <a:r>
              <a:rPr sz="1700" spc="70" dirty="0" smtClean="0">
                <a:latin typeface="Arial"/>
                <a:cs typeface="Arial"/>
              </a:rPr>
              <a:t>n</a:t>
            </a:r>
            <a:r>
              <a:rPr lang="pt-BR" sz="1700" spc="70" dirty="0" smtClean="0">
                <a:latin typeface="Arial"/>
                <a:cs typeface="Arial"/>
              </a:rPr>
              <a:t>( </a:t>
            </a:r>
            <a:r>
              <a:rPr sz="1700" spc="5" dirty="0" smtClean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258445" marR="2300605" indent="-208915">
              <a:lnSpc>
                <a:spcPct val="129700"/>
              </a:lnSpc>
            </a:pPr>
            <a:r>
              <a:rPr sz="1700" spc="5" dirty="0">
                <a:latin typeface="Arial"/>
                <a:cs typeface="Arial"/>
              </a:rPr>
              <a:t>{  </a:t>
            </a:r>
            <a:r>
              <a:rPr sz="1700" spc="55" dirty="0" err="1" smtClean="0">
                <a:latin typeface="Arial"/>
                <a:cs typeface="Arial"/>
              </a:rPr>
              <a:t>Tipo</a:t>
            </a:r>
            <a:r>
              <a:rPr lang="pt-BR" sz="1700" spc="55" dirty="0" smtClean="0">
                <a:latin typeface="Arial"/>
                <a:cs typeface="Arial"/>
              </a:rPr>
              <a:t>Apontador</a:t>
            </a:r>
            <a:r>
              <a:rPr sz="1700" dirty="0" smtClean="0">
                <a:latin typeface="Arial"/>
                <a:cs typeface="Arial"/>
              </a:rPr>
              <a:t> </a:t>
            </a:r>
            <a:r>
              <a:rPr sz="1700" spc="15" dirty="0" smtClean="0">
                <a:latin typeface="Arial"/>
                <a:cs typeface="Arial"/>
              </a:rPr>
              <a:t> </a:t>
            </a:r>
            <a:r>
              <a:rPr lang="pt-BR" sz="1700" spc="15" dirty="0" smtClean="0">
                <a:latin typeface="Arial"/>
                <a:cs typeface="Arial"/>
              </a:rPr>
              <a:t>r</a:t>
            </a:r>
            <a:r>
              <a:rPr lang="pt-BR" sz="1700" spc="75" dirty="0" smtClean="0">
                <a:latin typeface="Arial"/>
                <a:cs typeface="Arial"/>
              </a:rPr>
              <a:t>aiz</a:t>
            </a:r>
            <a:r>
              <a:rPr sz="1700" spc="-160" dirty="0" smtClean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TipoRegistr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70" dirty="0" err="1">
                <a:latin typeface="Arial"/>
                <a:cs typeface="Arial"/>
              </a:rPr>
              <a:t>Inicializ</a:t>
            </a:r>
            <a:r>
              <a:rPr sz="1700" spc="165" dirty="0" err="1">
                <a:latin typeface="Arial"/>
                <a:cs typeface="Arial"/>
              </a:rPr>
              <a:t>a</a:t>
            </a:r>
            <a:r>
              <a:rPr sz="1700" spc="-10" dirty="0" smtClean="0">
                <a:latin typeface="Arial"/>
                <a:cs typeface="Arial"/>
              </a:rPr>
              <a:t>(</a:t>
            </a:r>
            <a:r>
              <a:rPr sz="1700" spc="70" dirty="0" smtClean="0">
                <a:latin typeface="Arial"/>
                <a:cs typeface="Arial"/>
              </a:rPr>
              <a:t>&amp;</a:t>
            </a:r>
            <a:r>
              <a:rPr lang="pt-BR" sz="1700" spc="75" dirty="0" smtClean="0">
                <a:latin typeface="Arial"/>
                <a:cs typeface="Arial"/>
              </a:rPr>
              <a:t>raiz</a:t>
            </a:r>
            <a:r>
              <a:rPr sz="1700" spc="5" dirty="0" smtClean="0">
                <a:latin typeface="Arial"/>
                <a:cs typeface="Arial"/>
              </a:rPr>
              <a:t>)</a:t>
            </a:r>
            <a:r>
              <a:rPr sz="1700" spc="-265" dirty="0" smtClean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R="3456940">
              <a:lnSpc>
                <a:spcPct val="100000"/>
              </a:lnSpc>
              <a:spcBef>
                <a:spcPts val="605"/>
              </a:spcBef>
            </a:pPr>
            <a:r>
              <a:rPr lang="pt-BR" sz="1700" spc="25" dirty="0">
                <a:latin typeface="Arial"/>
                <a:cs typeface="Arial"/>
              </a:rPr>
              <a:t> </a:t>
            </a:r>
            <a:r>
              <a:rPr lang="pt-BR" sz="1700" spc="25" dirty="0" smtClean="0">
                <a:latin typeface="Arial"/>
                <a:cs typeface="Arial"/>
              </a:rPr>
              <a:t>   </a:t>
            </a:r>
            <a:r>
              <a:rPr sz="1700" spc="25" dirty="0" err="1" smtClean="0">
                <a:latin typeface="Arial"/>
                <a:cs typeface="Arial"/>
              </a:rPr>
              <a:t>scan</a:t>
            </a:r>
            <a:r>
              <a:rPr sz="1700" spc="155" dirty="0" err="1" smtClean="0">
                <a:latin typeface="Arial"/>
                <a:cs typeface="Arial"/>
              </a:rPr>
              <a:t>f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"</a:t>
            </a:r>
            <a:r>
              <a:rPr sz="1700" spc="-385" dirty="0">
                <a:latin typeface="Arial"/>
                <a:cs typeface="Arial"/>
              </a:rPr>
              <a:t>%</a:t>
            </a:r>
            <a:r>
              <a:rPr sz="1700" spc="-40" dirty="0" smtClean="0">
                <a:latin typeface="Arial"/>
                <a:cs typeface="Arial"/>
              </a:rPr>
              <a:t>d</a:t>
            </a:r>
            <a:r>
              <a:rPr sz="1700" spc="-175" dirty="0" smtClean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&amp;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9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35585">
              <a:lnSpc>
                <a:spcPct val="100000"/>
              </a:lnSpc>
              <a:spcBef>
                <a:spcPts val="605"/>
              </a:spcBef>
            </a:pP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25" dirty="0">
                <a:latin typeface="Arial"/>
                <a:cs typeface="Arial"/>
              </a:rPr>
              <a:t>e</a:t>
            </a:r>
            <a:r>
              <a:rPr sz="1700" spc="130" dirty="0">
                <a:latin typeface="Arial"/>
                <a:cs typeface="Arial"/>
              </a:rPr>
              <a:t>(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110" dirty="0">
                <a:latin typeface="Arial"/>
                <a:cs typeface="Arial"/>
              </a:rPr>
              <a:t>0</a:t>
            </a:r>
            <a:r>
              <a:rPr sz="1700" spc="5" dirty="0" smtClean="0">
                <a:latin typeface="Arial"/>
                <a:cs typeface="Arial"/>
              </a:rPr>
              <a:t>)</a:t>
            </a:r>
            <a:r>
              <a:rPr lang="pt-BR" sz="1700" spc="5" smtClean="0">
                <a:latin typeface="Arial"/>
                <a:cs typeface="Arial"/>
              </a:rPr>
              <a:t> </a:t>
            </a:r>
            <a:r>
              <a:rPr sz="1700" spc="5" smtClean="0">
                <a:latin typeface="Arial"/>
                <a:cs typeface="Arial"/>
              </a:rPr>
              <a:t>{ </a:t>
            </a:r>
            <a:r>
              <a:rPr sz="1700" spc="-5" smtClean="0">
                <a:latin typeface="Arial"/>
                <a:cs typeface="Arial"/>
              </a:rPr>
              <a:t> </a:t>
            </a:r>
            <a:endParaRPr lang="pt-BR" sz="1700" spc="-5" dirty="0">
              <a:latin typeface="Arial"/>
              <a:cs typeface="Arial"/>
            </a:endParaRPr>
          </a:p>
          <a:p>
            <a:pPr marL="235585">
              <a:lnSpc>
                <a:spcPct val="100000"/>
              </a:lnSpc>
              <a:spcBef>
                <a:spcPts val="605"/>
              </a:spcBef>
            </a:pPr>
            <a:r>
              <a:rPr lang="pt-BR" sz="1700" spc="-5" dirty="0" smtClean="0">
                <a:latin typeface="Arial"/>
                <a:cs typeface="Arial"/>
              </a:rPr>
              <a:t>	</a:t>
            </a:r>
            <a:r>
              <a:rPr sz="1700" spc="40" dirty="0" err="1" smtClean="0">
                <a:latin typeface="Arial"/>
                <a:cs typeface="Arial"/>
              </a:rPr>
              <a:t>I</a:t>
            </a:r>
            <a:r>
              <a:rPr sz="1700" spc="50" dirty="0" err="1" smtClean="0">
                <a:latin typeface="Arial"/>
                <a:cs typeface="Arial"/>
              </a:rPr>
              <a:t>n</a:t>
            </a:r>
            <a:r>
              <a:rPr sz="1700" spc="45" dirty="0" err="1" smtClean="0">
                <a:latin typeface="Arial"/>
                <a:cs typeface="Arial"/>
              </a:rPr>
              <a:t>s</a:t>
            </a:r>
            <a:r>
              <a:rPr sz="1700" spc="50" dirty="0" err="1" smtClean="0">
                <a:latin typeface="Arial"/>
                <a:cs typeface="Arial"/>
              </a:rPr>
              <a:t>e</a:t>
            </a:r>
            <a:r>
              <a:rPr sz="1700" spc="40" dirty="0" err="1" smtClean="0">
                <a:latin typeface="Arial"/>
                <a:cs typeface="Arial"/>
              </a:rPr>
              <a:t>r</a:t>
            </a:r>
            <a:r>
              <a:rPr sz="1700" spc="175" dirty="0" err="1" smtClean="0">
                <a:latin typeface="Arial"/>
                <a:cs typeface="Arial"/>
              </a:rPr>
              <a:t>e</a:t>
            </a:r>
            <a:r>
              <a:rPr sz="1700" spc="130" dirty="0" smtClean="0">
                <a:latin typeface="Arial"/>
                <a:cs typeface="Arial"/>
              </a:rPr>
              <a:t>(</a:t>
            </a:r>
            <a:r>
              <a:rPr sz="1700" spc="15" dirty="0" smtClean="0">
                <a:latin typeface="Arial"/>
                <a:cs typeface="Arial"/>
              </a:rPr>
              <a:t>x</a:t>
            </a:r>
            <a:r>
              <a:rPr sz="1700" spc="25" dirty="0" smtClean="0">
                <a:latin typeface="Arial"/>
                <a:cs typeface="Arial"/>
              </a:rPr>
              <a:t>,</a:t>
            </a:r>
            <a:r>
              <a:rPr sz="1700" spc="100" dirty="0" smtClean="0">
                <a:latin typeface="Arial"/>
                <a:cs typeface="Arial"/>
              </a:rPr>
              <a:t>&amp;</a:t>
            </a:r>
            <a:r>
              <a:rPr lang="pt-BR" sz="1700" spc="75" dirty="0" smtClean="0">
                <a:latin typeface="Arial"/>
                <a:cs typeface="Arial"/>
              </a:rPr>
              <a:t>raiz</a:t>
            </a:r>
            <a:r>
              <a:rPr sz="1700" spc="5" dirty="0" smtClean="0">
                <a:latin typeface="Arial"/>
                <a:cs typeface="Arial"/>
              </a:rPr>
              <a:t>)</a:t>
            </a:r>
            <a:r>
              <a:rPr sz="1700" spc="-265" dirty="0" smtClean="0">
                <a:latin typeface="Arial"/>
                <a:cs typeface="Arial"/>
              </a:rPr>
              <a:t> </a:t>
            </a:r>
            <a:r>
              <a:rPr sz="1700" spc="5" dirty="0" smtClean="0">
                <a:latin typeface="Arial"/>
                <a:cs typeface="Arial"/>
              </a:rPr>
              <a:t>;</a:t>
            </a:r>
            <a:endParaRPr lang="pt-BR" sz="1700" dirty="0">
              <a:latin typeface="Arial"/>
              <a:cs typeface="Arial"/>
            </a:endParaRPr>
          </a:p>
          <a:p>
            <a:pPr marL="235585">
              <a:lnSpc>
                <a:spcPct val="100000"/>
              </a:lnSpc>
              <a:spcBef>
                <a:spcPts val="605"/>
              </a:spcBef>
            </a:pPr>
            <a:r>
              <a:rPr lang="pt-BR" sz="1700" spc="25" dirty="0">
                <a:latin typeface="Arial"/>
                <a:cs typeface="Arial"/>
              </a:rPr>
              <a:t>	</a:t>
            </a:r>
            <a:r>
              <a:rPr sz="1700" spc="25" dirty="0" err="1" smtClean="0">
                <a:latin typeface="Arial"/>
                <a:cs typeface="Arial"/>
              </a:rPr>
              <a:t>scan</a:t>
            </a:r>
            <a:r>
              <a:rPr sz="1700" spc="155" dirty="0" err="1" smtClean="0">
                <a:latin typeface="Arial"/>
                <a:cs typeface="Arial"/>
              </a:rPr>
              <a:t>f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"</a:t>
            </a:r>
            <a:r>
              <a:rPr sz="1700" spc="-390" dirty="0">
                <a:latin typeface="Arial"/>
                <a:cs typeface="Arial"/>
              </a:rPr>
              <a:t>%</a:t>
            </a:r>
            <a:r>
              <a:rPr sz="1700" spc="-40" dirty="0" smtClean="0">
                <a:latin typeface="Arial"/>
                <a:cs typeface="Arial"/>
              </a:rPr>
              <a:t>d</a:t>
            </a:r>
            <a:r>
              <a:rPr sz="1700" spc="5" dirty="0" smtClean="0">
                <a:latin typeface="Arial"/>
                <a:cs typeface="Arial"/>
              </a:rPr>
              <a:t>"</a:t>
            </a:r>
            <a:r>
              <a:rPr sz="1700" spc="-190" dirty="0" smtClean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&amp;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9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46863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4000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57462204"/>
      </p:ext>
    </p:extLst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20125" cy="39744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dim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etira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i="1" spc="150" dirty="0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sz="2450" i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-6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gun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080" lvl="1" indent="-349885">
              <a:lnSpc>
                <a:spcPct val="1197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ó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a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ui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40" dirty="0">
                <a:latin typeface="Lucida Sans Unicode"/>
                <a:cs typeface="Lucida Sans Unicode"/>
              </a:rPr>
              <a:t>⇒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é 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222885" lvl="1" indent="-349885">
              <a:lnSpc>
                <a:spcPct val="1197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 o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eiro: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755"/>
              </a:spcBef>
              <a:buFont typeface="Times New Roman"/>
              <a:buChar char="–"/>
              <a:tabLst>
                <a:tab pos="1115060" algn="l"/>
              </a:tabLst>
            </a:pP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lo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à </a:t>
            </a:r>
            <a:r>
              <a:rPr sz="2050" dirty="0">
                <a:latin typeface="Arial"/>
                <a:cs typeface="Arial"/>
              </a:rPr>
              <a:t>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querda;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484"/>
              </a:spcBef>
              <a:buFont typeface="Times New Roman"/>
              <a:buChar char="–"/>
              <a:tabLst>
                <a:tab pos="1115060" algn="l"/>
              </a:tabLst>
            </a:pP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à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ubá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46262279"/>
      </p:ext>
    </p:extLst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706056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etira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um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egi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-6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50516" y="1662374"/>
            <a:ext cx="3256472" cy="20148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199064" y="2601353"/>
            <a:ext cx="118745" cy="23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92344" y="2598864"/>
            <a:ext cx="118745" cy="23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4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90590" y="2601353"/>
            <a:ext cx="118745" cy="23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6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46955" y="2153462"/>
            <a:ext cx="118745" cy="23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3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38481" y="2153462"/>
            <a:ext cx="118745" cy="23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7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42711" y="1705584"/>
            <a:ext cx="118745" cy="23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5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75125" y="3049231"/>
            <a:ext cx="118745" cy="23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11326" y="4048325"/>
            <a:ext cx="8737600" cy="1132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9700"/>
              </a:lnSpc>
            </a:pPr>
            <a:r>
              <a:rPr sz="2050" b="1" dirty="0">
                <a:latin typeface="Arial"/>
                <a:cs typeface="Arial"/>
              </a:rPr>
              <a:t>Assi</a:t>
            </a:r>
            <a:r>
              <a:rPr sz="2050" b="1" spc="5" dirty="0">
                <a:latin typeface="Arial"/>
                <a:cs typeface="Arial"/>
              </a:rPr>
              <a:t>m:</a:t>
            </a:r>
            <a:r>
              <a:rPr sz="2050" b="1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reti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tr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5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tro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á-</a:t>
            </a:r>
            <a:r>
              <a:rPr sz="2050" spc="5" dirty="0">
                <a:latin typeface="Arial"/>
                <a:cs typeface="Arial"/>
              </a:rPr>
              <a:t>lo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4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6,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entã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reti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ebe</a:t>
            </a:r>
            <a:r>
              <a:rPr sz="2050" spc="5" dirty="0">
                <a:latin typeface="Arial"/>
                <a:cs typeface="Arial"/>
              </a:rPr>
              <a:t>u o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tr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5.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646032"/>
      </p:ext>
    </p:extLst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5791200" cy="1355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dim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etira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i="1" spc="150" dirty="0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sz="2450" i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-6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Retir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TipoRegistr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8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00237" y="2196797"/>
            <a:ext cx="4684395" cy="1032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" marR="5080" indent="-69850">
              <a:lnSpc>
                <a:spcPct val="129700"/>
              </a:lnSpc>
              <a:tabLst>
                <a:tab pos="208279" algn="l"/>
              </a:tabLst>
            </a:pPr>
            <a:r>
              <a:rPr sz="1700" spc="5" dirty="0">
                <a:latin typeface="Arial"/>
                <a:cs typeface="Arial"/>
              </a:rPr>
              <a:t>:		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na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n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arvor</a:t>
            </a:r>
            <a:r>
              <a:rPr sz="1700" spc="215" dirty="0">
                <a:latin typeface="Arial"/>
                <a:cs typeface="Arial"/>
              </a:rPr>
              <a:t>e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70" dirty="0">
                <a:latin typeface="Arial"/>
                <a:cs typeface="Arial"/>
              </a:rPr>
              <a:t>Retir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(</a:t>
            </a:r>
            <a:r>
              <a:rPr sz="1700" spc="11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&amp;(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1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150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81915">
              <a:lnSpc>
                <a:spcPct val="100000"/>
              </a:lnSpc>
              <a:spcBef>
                <a:spcPts val="605"/>
              </a:spcBef>
            </a:pPr>
            <a:r>
              <a:rPr sz="1700" spc="70" dirty="0">
                <a:latin typeface="Arial"/>
                <a:cs typeface="Arial"/>
              </a:rPr>
              <a:t>Retir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(</a:t>
            </a:r>
            <a:r>
              <a:rPr sz="1700" spc="11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&amp;(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25" dirty="0">
                <a:latin typeface="Arial"/>
                <a:cs typeface="Arial"/>
              </a:rPr>
              <a:t>&gt;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52486" y="2196797"/>
            <a:ext cx="3409315" cy="13603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9700"/>
              </a:lnSpc>
              <a:tabLst>
                <a:tab pos="305435" algn="l"/>
                <a:tab pos="2066289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-1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spc="11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NULL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b="1" spc="-40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(</a:t>
            </a:r>
            <a:r>
              <a:rPr sz="1700" spc="-210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215" dirty="0">
                <a:latin typeface="Arial"/>
                <a:cs typeface="Arial"/>
              </a:rPr>
              <a:t>&gt;</a:t>
            </a:r>
            <a:r>
              <a:rPr sz="1700" spc="-150" dirty="0" err="1">
                <a:latin typeface="Arial"/>
                <a:cs typeface="Arial"/>
              </a:rPr>
              <a:t>Re</a:t>
            </a:r>
            <a:r>
              <a:rPr sz="1700" spc="25" dirty="0" err="1">
                <a:latin typeface="Arial"/>
                <a:cs typeface="Arial"/>
              </a:rPr>
              <a:t>g</a:t>
            </a:r>
            <a:r>
              <a:rPr sz="1700" spc="60" dirty="0" err="1">
                <a:latin typeface="Arial"/>
                <a:cs typeface="Arial"/>
              </a:rPr>
              <a:t>.</a:t>
            </a:r>
            <a:r>
              <a:rPr sz="1700" spc="-120" dirty="0" err="1">
                <a:latin typeface="Arial"/>
                <a:cs typeface="Arial"/>
              </a:rPr>
              <a:t>Chav</a:t>
            </a:r>
            <a:r>
              <a:rPr sz="1700" spc="135" dirty="0" err="1">
                <a:latin typeface="Arial"/>
                <a:cs typeface="Arial"/>
              </a:rPr>
              <a:t>e</a:t>
            </a:r>
            <a:r>
              <a:rPr sz="1700" spc="5" dirty="0" smtClean="0">
                <a:latin typeface="Arial"/>
                <a:cs typeface="Arial"/>
              </a:rPr>
              <a:t>)</a:t>
            </a:r>
            <a:r>
              <a:rPr lang="pt-BR" sz="1700" spc="5" dirty="0" smtClean="0">
                <a:latin typeface="Arial"/>
                <a:cs typeface="Arial"/>
              </a:rPr>
              <a:t> {</a:t>
            </a:r>
            <a:r>
              <a:rPr sz="1700" dirty="0" smtClean="0">
                <a:latin typeface="Arial"/>
                <a:cs typeface="Arial"/>
              </a:rPr>
              <a:t> </a:t>
            </a:r>
            <a:r>
              <a:rPr sz="1700" spc="40" dirty="0" smtClean="0">
                <a:latin typeface="Arial"/>
                <a:cs typeface="Arial"/>
              </a:rPr>
              <a:t> </a:t>
            </a:r>
            <a:r>
              <a:rPr sz="1700" spc="5" dirty="0" smtClean="0">
                <a:latin typeface="Arial"/>
                <a:cs typeface="Arial"/>
              </a:rPr>
              <a:t> </a:t>
            </a:r>
            <a:r>
              <a:rPr sz="1700" b="1" spc="5" dirty="0" smtClean="0">
                <a:latin typeface="Arial"/>
                <a:cs typeface="Arial"/>
              </a:rPr>
              <a:t>i</a:t>
            </a:r>
            <a:r>
              <a:rPr sz="1700" b="1" spc="-265" dirty="0" smtClean="0">
                <a:latin typeface="Arial"/>
                <a:cs typeface="Arial"/>
              </a:rPr>
              <a:t> </a:t>
            </a:r>
            <a:r>
              <a:rPr sz="1700" b="1" spc="5" dirty="0" smtClean="0">
                <a:latin typeface="Arial"/>
                <a:cs typeface="Arial"/>
              </a:rPr>
              <a:t>f</a:t>
            </a:r>
            <a:r>
              <a:rPr lang="pt-BR" sz="1700" b="1" spc="5" dirty="0">
                <a:latin typeface="Arial"/>
                <a:cs typeface="Arial"/>
              </a:rPr>
              <a:t> </a:t>
            </a:r>
            <a:r>
              <a:rPr lang="pt-BR" sz="1700" b="1" spc="5" dirty="0" smtClean="0">
                <a:latin typeface="Arial"/>
                <a:cs typeface="Arial"/>
              </a:rPr>
              <a:t> </a:t>
            </a:r>
            <a:r>
              <a:rPr sz="1700" spc="5" dirty="0" smtClean="0">
                <a:latin typeface="Arial"/>
                <a:cs typeface="Arial"/>
              </a:rPr>
              <a:t>(</a:t>
            </a:r>
            <a:r>
              <a:rPr sz="1700" spc="-270" dirty="0" smtClean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(</a:t>
            </a:r>
            <a:r>
              <a:rPr sz="1700" spc="-210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215" dirty="0">
                <a:latin typeface="Arial"/>
                <a:cs typeface="Arial"/>
              </a:rPr>
              <a:t>&gt;</a:t>
            </a:r>
            <a:r>
              <a:rPr sz="1700" spc="-150" dirty="0">
                <a:latin typeface="Arial"/>
                <a:cs typeface="Arial"/>
              </a:rPr>
              <a:t>Re</a:t>
            </a:r>
            <a:r>
              <a:rPr sz="1700" spc="25" dirty="0">
                <a:latin typeface="Arial"/>
                <a:cs typeface="Arial"/>
              </a:rPr>
              <a:t>g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3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endParaRPr lang="pt-BR" sz="1700" spc="5" dirty="0" smtClean="0">
              <a:latin typeface="Arial"/>
              <a:cs typeface="Arial"/>
            </a:endParaRPr>
          </a:p>
          <a:p>
            <a:pPr marL="12700" marR="5080">
              <a:lnSpc>
                <a:spcPct val="129700"/>
              </a:lnSpc>
              <a:tabLst>
                <a:tab pos="305435" algn="l"/>
                <a:tab pos="2066289" algn="l"/>
              </a:tabLst>
            </a:pPr>
            <a:r>
              <a:rPr sz="1700" b="1" spc="5" dirty="0" smtClean="0">
                <a:latin typeface="Arial"/>
                <a:cs typeface="Arial"/>
              </a:rPr>
              <a:t>i</a:t>
            </a:r>
            <a:r>
              <a:rPr sz="1700" b="1" spc="-265" dirty="0" smtClean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(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-150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25" dirty="0">
                <a:latin typeface="Arial"/>
                <a:cs typeface="Arial"/>
              </a:rPr>
              <a:t>&gt;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45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8446" y="3541422"/>
            <a:ext cx="8555990" cy="38323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4340" marR="5361305" indent="-198120">
              <a:lnSpc>
                <a:spcPct val="129700"/>
              </a:lnSpc>
              <a:tabLst>
                <a:tab pos="1600835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14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-220" dirty="0">
                <a:latin typeface="Lucida Sans Unicode"/>
                <a:cs typeface="Lucida Sans Unicode"/>
              </a:rPr>
              <a:t>∗</a:t>
            </a:r>
            <a:r>
              <a:rPr sz="1700" spc="19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340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spc="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lang="pt-BR" sz="1700" spc="-195" dirty="0" smtClean="0">
                <a:latin typeface="Arial"/>
                <a:cs typeface="Arial"/>
              </a:rPr>
              <a:t>(</a:t>
            </a:r>
            <a:r>
              <a:rPr sz="1700" spc="-190" dirty="0" smtClean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1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85" dirty="0">
                <a:latin typeface="Arial"/>
                <a:cs typeface="Arial"/>
              </a:rPr>
              <a:t>fre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(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5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2669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195580" marR="1597025" indent="40640">
              <a:lnSpc>
                <a:spcPts val="2650"/>
              </a:lnSpc>
              <a:spcBef>
                <a:spcPts val="185"/>
              </a:spcBef>
              <a:tabLst>
                <a:tab pos="529590" algn="l"/>
                <a:tab pos="1386840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(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-150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1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10" dirty="0">
                <a:latin typeface="Arial"/>
                <a:cs typeface="Arial"/>
              </a:rPr>
              <a:t>q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190" dirty="0">
                <a:latin typeface="Arial"/>
                <a:cs typeface="Arial"/>
              </a:rPr>
              <a:t>!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NULL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Antecesso</a:t>
            </a:r>
            <a:r>
              <a:rPr sz="1700" spc="70" dirty="0">
                <a:latin typeface="Arial"/>
                <a:cs typeface="Arial"/>
              </a:rPr>
              <a:t>r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225" dirty="0">
                <a:latin typeface="Lucida Sans Unicode"/>
                <a:cs typeface="Lucida Sans Unicode"/>
              </a:rPr>
              <a:t>∗</a:t>
            </a:r>
            <a:r>
              <a:rPr sz="1700" spc="4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&amp;(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1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150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5" dirty="0" smtClean="0">
                <a:latin typeface="Arial"/>
                <a:cs typeface="Arial"/>
              </a:rPr>
              <a:t>;</a:t>
            </a:r>
            <a:r>
              <a:rPr lang="pt-BR" sz="1700" spc="5" dirty="0" smtClean="0">
                <a:latin typeface="Arial"/>
                <a:cs typeface="Arial"/>
              </a:rPr>
              <a:t>}</a:t>
            </a:r>
            <a:r>
              <a:rPr sz="1700" dirty="0" smtClean="0">
                <a:latin typeface="Arial"/>
                <a:cs typeface="Arial"/>
              </a:rPr>
              <a:t> </a:t>
            </a:r>
            <a:r>
              <a:rPr sz="1700" spc="-100" dirty="0" smtClean="0">
                <a:latin typeface="Arial"/>
                <a:cs typeface="Arial"/>
              </a:rPr>
              <a:t>Au</a:t>
            </a:r>
            <a:r>
              <a:rPr sz="1700" spc="10" dirty="0" smtClean="0">
                <a:latin typeface="Arial"/>
                <a:cs typeface="Arial"/>
              </a:rPr>
              <a:t>x</a:t>
            </a:r>
            <a:r>
              <a:rPr sz="1700" spc="114" dirty="0" smtClean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-220" dirty="0">
                <a:latin typeface="Lucida Sans Unicode"/>
                <a:cs typeface="Lucida Sans Unicode"/>
              </a:rPr>
              <a:t>∗</a:t>
            </a:r>
            <a:r>
              <a:rPr sz="1700" spc="19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340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spc="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0" dirty="0">
                <a:latin typeface="Arial"/>
                <a:cs typeface="Arial"/>
              </a:rPr>
              <a:t>(</a:t>
            </a:r>
            <a:r>
              <a:rPr sz="1700" spc="-195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25" dirty="0">
                <a:latin typeface="Arial"/>
                <a:cs typeface="Arial"/>
              </a:rPr>
              <a:t>&gt;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19710">
              <a:lnSpc>
                <a:spcPct val="100000"/>
              </a:lnSpc>
              <a:spcBef>
                <a:spcPts val="415"/>
              </a:spcBef>
            </a:pPr>
            <a:r>
              <a:rPr sz="1700" spc="85" dirty="0">
                <a:latin typeface="Arial"/>
                <a:cs typeface="Arial"/>
              </a:rPr>
              <a:t>fre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(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1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2"/>
              </a:spcBef>
            </a:pPr>
            <a:endParaRPr sz="2250" dirty="0">
              <a:latin typeface="Times New Roman"/>
              <a:cs typeface="Times New Roman"/>
            </a:endParaRPr>
          </a:p>
          <a:p>
            <a:pPr marL="467359" marR="5080" indent="-262255">
              <a:lnSpc>
                <a:spcPct val="116300"/>
              </a:lnSpc>
              <a:buFont typeface="Lucida Sans Unicode"/>
              <a:buChar char="•"/>
              <a:tabLst>
                <a:tab pos="467995" algn="l"/>
              </a:tabLst>
            </a:pPr>
            <a:r>
              <a:rPr sz="2050" b="1" spc="10" dirty="0">
                <a:latin typeface="Arial"/>
                <a:cs typeface="Arial"/>
              </a:rPr>
              <a:t>O</a:t>
            </a:r>
            <a:r>
              <a:rPr sz="2050" b="1" dirty="0">
                <a:latin typeface="Arial"/>
                <a:cs typeface="Arial"/>
              </a:rPr>
              <a:t>bs</a:t>
            </a:r>
            <a:r>
              <a:rPr sz="2050" b="1" spc="-5" dirty="0">
                <a:latin typeface="Arial"/>
                <a:cs typeface="Arial"/>
              </a:rPr>
              <a:t>.</a:t>
            </a:r>
            <a:r>
              <a:rPr sz="2050" b="1" spc="5" dirty="0">
                <a:latin typeface="Arial"/>
                <a:cs typeface="Arial"/>
              </a:rPr>
              <a:t>:</a:t>
            </a:r>
            <a:r>
              <a:rPr sz="2050" b="1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só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ó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ui </a:t>
            </a:r>
            <a:r>
              <a:rPr sz="2050" spc="5" dirty="0">
                <a:latin typeface="Arial"/>
                <a:cs typeface="Arial"/>
              </a:rPr>
              <a:t>2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olu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Wi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h, 1976,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70" dirty="0">
                <a:latin typeface="Arial"/>
                <a:cs typeface="Arial"/>
              </a:rPr>
              <a:t>p</a:t>
            </a:r>
            <a:r>
              <a:rPr sz="2050" spc="-5" dirty="0">
                <a:latin typeface="Arial"/>
                <a:cs typeface="Arial"/>
              </a:rPr>
              <a:t>.</a:t>
            </a:r>
            <a:r>
              <a:rPr sz="2050" dirty="0">
                <a:latin typeface="Arial"/>
                <a:cs typeface="Arial"/>
              </a:rPr>
              <a:t>211.</a:t>
            </a:r>
          </a:p>
        </p:txBody>
      </p:sp>
    </p:spTree>
    <p:extLst>
      <p:ext uri="{BB962C8B-B14F-4D97-AF65-F5344CB8AC3E}">
        <p14:creationId xmlns:p14="http://schemas.microsoft.com/office/powerpoint/2010/main" val="320401428"/>
      </p:ext>
    </p:extLst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62672"/>
            <a:ext cx="5791200" cy="42070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dim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etira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i="1" spc="150" dirty="0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sz="2450" i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-6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7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Antecesso</a:t>
            </a:r>
            <a:r>
              <a:rPr sz="1700" spc="125" dirty="0">
                <a:latin typeface="Arial"/>
                <a:cs typeface="Arial"/>
              </a:rPr>
              <a:t>r</a:t>
            </a:r>
            <a:r>
              <a:rPr sz="1700" spc="114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290" dirty="0">
                <a:latin typeface="Lucida Sans Unicode"/>
                <a:cs typeface="Lucida Sans Unicode"/>
              </a:rPr>
              <a:t> 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  <a:tabLst>
                <a:tab pos="257810" algn="l"/>
                <a:tab pos="55118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(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225" dirty="0">
                <a:latin typeface="Lucida Sans Unicode"/>
                <a:cs typeface="Lucida Sans Unicode"/>
              </a:rPr>
              <a:t> </a:t>
            </a:r>
            <a:r>
              <a:rPr sz="1700" spc="75" dirty="0">
                <a:latin typeface="Arial"/>
                <a:cs typeface="Arial"/>
              </a:rPr>
              <a:t>r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25" dirty="0">
                <a:latin typeface="Arial"/>
                <a:cs typeface="Arial"/>
              </a:rPr>
              <a:t>&gt;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spc="190" dirty="0">
                <a:latin typeface="Arial"/>
                <a:cs typeface="Arial"/>
              </a:rPr>
              <a:t>!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45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Antecesso</a:t>
            </a:r>
            <a:r>
              <a:rPr sz="1700" spc="125" dirty="0">
                <a:latin typeface="Arial"/>
                <a:cs typeface="Arial"/>
              </a:rPr>
              <a:t>r</a:t>
            </a:r>
            <a:r>
              <a:rPr sz="1700" spc="100" dirty="0">
                <a:latin typeface="Arial"/>
                <a:cs typeface="Arial"/>
              </a:rPr>
              <a:t>(</a:t>
            </a:r>
            <a:r>
              <a:rPr sz="1700" spc="4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&amp;(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290" dirty="0">
                <a:latin typeface="Lucida Sans Unicode"/>
                <a:cs typeface="Lucida Sans Unicode"/>
              </a:rPr>
              <a:t> </a:t>
            </a:r>
            <a:r>
              <a:rPr sz="1700" spc="75" dirty="0">
                <a:latin typeface="Arial"/>
                <a:cs typeface="Arial"/>
              </a:rPr>
              <a:t>r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25" dirty="0">
                <a:latin typeface="Arial"/>
                <a:cs typeface="Arial"/>
              </a:rPr>
              <a:t>&gt;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446405">
              <a:lnSpc>
                <a:spcPct val="100000"/>
              </a:lnSpc>
              <a:spcBef>
                <a:spcPts val="675"/>
              </a:spcBef>
            </a:pP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223520" marR="3539490" indent="1905">
              <a:lnSpc>
                <a:spcPct val="133100"/>
              </a:lnSpc>
            </a:pPr>
            <a:r>
              <a:rPr sz="1700" spc="-229" dirty="0">
                <a:latin typeface="Arial"/>
                <a:cs typeface="Arial"/>
              </a:rPr>
              <a:t>q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315" dirty="0">
                <a:latin typeface="Arial"/>
                <a:cs typeface="Arial"/>
              </a:rPr>
              <a:t>&gt;</a:t>
            </a:r>
            <a:r>
              <a:rPr sz="1700" spc="-150" dirty="0">
                <a:latin typeface="Arial"/>
                <a:cs typeface="Arial"/>
              </a:rPr>
              <a:t>Re</a:t>
            </a:r>
            <a:r>
              <a:rPr sz="1700" spc="10" dirty="0">
                <a:latin typeface="Arial"/>
                <a:cs typeface="Arial"/>
              </a:rPr>
              <a:t>g</a:t>
            </a:r>
            <a:r>
              <a:rPr sz="1700" spc="1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0" dirty="0">
                <a:latin typeface="Arial"/>
                <a:cs typeface="Arial"/>
              </a:rPr>
              <a:t>(</a:t>
            </a:r>
            <a:r>
              <a:rPr sz="1700" spc="-270" dirty="0" smtClean="0">
                <a:latin typeface="Lucida Sans Unicode"/>
                <a:cs typeface="Lucida Sans Unicode"/>
              </a:rPr>
              <a:t>∗</a:t>
            </a:r>
            <a:r>
              <a:rPr sz="1700" spc="75" dirty="0" smtClean="0">
                <a:latin typeface="Arial"/>
                <a:cs typeface="Arial"/>
              </a:rPr>
              <a:t>r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215" dirty="0">
                <a:latin typeface="Arial"/>
                <a:cs typeface="Arial"/>
              </a:rPr>
              <a:t>&gt;</a:t>
            </a:r>
            <a:r>
              <a:rPr sz="1700" spc="-150" dirty="0">
                <a:latin typeface="Arial"/>
                <a:cs typeface="Arial"/>
              </a:rPr>
              <a:t>Re</a:t>
            </a:r>
            <a:r>
              <a:rPr sz="1700" spc="35" dirty="0">
                <a:latin typeface="Arial"/>
                <a:cs typeface="Arial"/>
              </a:rPr>
              <a:t>g</a:t>
            </a:r>
            <a:r>
              <a:rPr sz="1700" spc="5" dirty="0">
                <a:latin typeface="Arial"/>
                <a:cs typeface="Arial"/>
              </a:rPr>
              <a:t>; q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295" dirty="0">
                <a:latin typeface="Lucida Sans Unicode"/>
                <a:cs typeface="Lucida Sans Unicode"/>
              </a:rPr>
              <a:t> 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41300" marR="3967479" indent="-12065">
              <a:lnSpc>
                <a:spcPts val="2720"/>
              </a:lnSpc>
              <a:spcBef>
                <a:spcPts val="200"/>
              </a:spcBef>
            </a:pPr>
            <a:r>
              <a:rPr sz="1700" spc="-145" dirty="0">
                <a:latin typeface="Lucida Sans Unicode"/>
                <a:cs typeface="Lucida Sans Unicode"/>
              </a:rPr>
              <a:t>∗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lang="pt-BR" sz="1700" spc="-195" dirty="0" smtClean="0">
                <a:latin typeface="Arial"/>
                <a:cs typeface="Arial"/>
              </a:rPr>
              <a:t>(</a:t>
            </a:r>
            <a:r>
              <a:rPr sz="1700" spc="-270" dirty="0" smtClean="0">
                <a:latin typeface="Lucida Sans Unicode"/>
                <a:cs typeface="Lucida Sans Unicode"/>
              </a:rPr>
              <a:t>∗</a:t>
            </a:r>
            <a:r>
              <a:rPr sz="1700" spc="75" dirty="0" smtClean="0">
                <a:latin typeface="Arial"/>
                <a:cs typeface="Arial"/>
              </a:rPr>
              <a:t>r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1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85" dirty="0">
                <a:latin typeface="Arial"/>
                <a:cs typeface="Arial"/>
              </a:rPr>
              <a:t>fre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80" dirty="0">
                <a:latin typeface="Arial"/>
                <a:cs typeface="Arial"/>
              </a:rPr>
              <a:t>(</a:t>
            </a:r>
            <a:r>
              <a:rPr sz="1700" spc="165" dirty="0">
                <a:latin typeface="Arial"/>
                <a:cs typeface="Arial"/>
              </a:rPr>
              <a:t>q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50620096"/>
      </p:ext>
    </p:extLst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51928"/>
            <a:ext cx="503745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etira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Nó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925480" y="1594771"/>
            <a:ext cx="3747382" cy="16331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115384" y="3620383"/>
            <a:ext cx="2519341" cy="172176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824068" y="5835886"/>
            <a:ext cx="1810383" cy="136728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115673" y="5886520"/>
            <a:ext cx="1835700" cy="143058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995251" y="6576497"/>
            <a:ext cx="785495" cy="63500"/>
          </a:xfrm>
          <a:custGeom>
            <a:avLst/>
            <a:gdLst/>
            <a:ahLst/>
            <a:cxnLst/>
            <a:rect l="l" t="t" r="r" b="b"/>
            <a:pathLst>
              <a:path w="785495" h="63500">
                <a:moveTo>
                  <a:pt x="784924" y="63301"/>
                </a:moveTo>
                <a:lnTo>
                  <a:pt x="784924" y="0"/>
                </a:lnTo>
                <a:lnTo>
                  <a:pt x="0" y="0"/>
                </a:lnTo>
                <a:lnTo>
                  <a:pt x="0" y="63301"/>
                </a:lnTo>
                <a:lnTo>
                  <a:pt x="784924" y="633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995251" y="6576497"/>
            <a:ext cx="785495" cy="63500"/>
          </a:xfrm>
          <a:custGeom>
            <a:avLst/>
            <a:gdLst/>
            <a:ahLst/>
            <a:cxnLst/>
            <a:rect l="l" t="t" r="r" b="b"/>
            <a:pathLst>
              <a:path w="785495" h="63500">
                <a:moveTo>
                  <a:pt x="784924" y="63301"/>
                </a:moveTo>
                <a:lnTo>
                  <a:pt x="784924" y="0"/>
                </a:lnTo>
                <a:lnTo>
                  <a:pt x="0" y="0"/>
                </a:lnTo>
                <a:lnTo>
                  <a:pt x="0" y="63301"/>
                </a:lnTo>
                <a:lnTo>
                  <a:pt x="784924" y="63301"/>
                </a:lnTo>
                <a:close/>
              </a:path>
            </a:pathLst>
          </a:custGeom>
          <a:ln w="126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691555" y="6513194"/>
            <a:ext cx="165100" cy="190500"/>
          </a:xfrm>
          <a:custGeom>
            <a:avLst/>
            <a:gdLst/>
            <a:ahLst/>
            <a:cxnLst/>
            <a:rect l="l" t="t" r="r" b="b"/>
            <a:pathLst>
              <a:path w="165100" h="190500">
                <a:moveTo>
                  <a:pt x="0" y="0"/>
                </a:moveTo>
                <a:lnTo>
                  <a:pt x="50647" y="189899"/>
                </a:lnTo>
                <a:lnTo>
                  <a:pt x="164592" y="101282"/>
                </a:lnTo>
                <a:lnTo>
                  <a:pt x="151930" y="8862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691555" y="6513194"/>
            <a:ext cx="165100" cy="190500"/>
          </a:xfrm>
          <a:custGeom>
            <a:avLst/>
            <a:gdLst/>
            <a:ahLst/>
            <a:cxnLst/>
            <a:rect l="l" t="t" r="r" b="b"/>
            <a:pathLst>
              <a:path w="165100" h="190500">
                <a:moveTo>
                  <a:pt x="0" y="0"/>
                </a:moveTo>
                <a:lnTo>
                  <a:pt x="151930" y="88621"/>
                </a:lnTo>
                <a:lnTo>
                  <a:pt x="164592" y="101282"/>
                </a:lnTo>
                <a:lnTo>
                  <a:pt x="50647" y="189899"/>
                </a:lnTo>
              </a:path>
            </a:pathLst>
          </a:custGeom>
          <a:ln w="126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159806" y="1645945"/>
            <a:ext cx="2705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Arial"/>
                <a:cs typeface="Arial"/>
              </a:rPr>
              <a:t>bye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10303" y="2127034"/>
            <a:ext cx="2794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Arial"/>
                <a:cs typeface="Arial"/>
              </a:rPr>
              <a:t>and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05324" y="2494165"/>
            <a:ext cx="19494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Arial"/>
                <a:cs typeface="Arial"/>
              </a:rPr>
              <a:t>be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261227" y="2115426"/>
            <a:ext cx="390525" cy="205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5" dirty="0">
                <a:latin typeface="Courier New"/>
                <a:cs typeface="Courier New"/>
              </a:rPr>
              <a:t>easy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98067" y="2481503"/>
            <a:ext cx="1524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Arial"/>
                <a:cs typeface="Arial"/>
              </a:rPr>
              <a:t>to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286250" y="4203268"/>
            <a:ext cx="2794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Arial"/>
                <a:cs typeface="Arial"/>
              </a:rPr>
              <a:t>and</a:t>
            </a:r>
            <a:endParaRPr sz="12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096634" y="4165295"/>
            <a:ext cx="1524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Arial"/>
                <a:cs typeface="Arial"/>
              </a:rPr>
              <a:t>to</a:t>
            </a:r>
            <a:endParaRPr sz="1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805311" y="4646371"/>
            <a:ext cx="19494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Arial"/>
                <a:cs typeface="Arial"/>
              </a:rPr>
              <a:t>be</a:t>
            </a:r>
            <a:endParaRPr sz="12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109008" y="6431433"/>
            <a:ext cx="1524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Arial"/>
                <a:cs typeface="Arial"/>
              </a:rPr>
              <a:t>to</a:t>
            </a:r>
            <a:endParaRPr sz="12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286112" y="5888113"/>
            <a:ext cx="208279" cy="205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5" dirty="0">
                <a:latin typeface="Courier New"/>
                <a:cs typeface="Courier New"/>
              </a:rPr>
              <a:t>be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880995" y="6483136"/>
            <a:ext cx="299085" cy="205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5" dirty="0">
                <a:latin typeface="Courier New"/>
                <a:cs typeface="Courier New"/>
              </a:rPr>
              <a:t>and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906882" y="5951410"/>
            <a:ext cx="208279" cy="205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5" dirty="0">
                <a:latin typeface="Courier New"/>
                <a:cs typeface="Courier New"/>
              </a:rPr>
              <a:t>be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185255" y="6609739"/>
            <a:ext cx="299085" cy="205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5" dirty="0">
                <a:latin typeface="Courier New"/>
                <a:cs typeface="Courier New"/>
              </a:rPr>
              <a:t>and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590523" y="6584418"/>
            <a:ext cx="208279" cy="205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5" dirty="0">
                <a:latin typeface="Courier New"/>
                <a:cs typeface="Courier New"/>
              </a:rPr>
              <a:t>to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261076" y="3659949"/>
            <a:ext cx="299085" cy="205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5" dirty="0">
                <a:latin typeface="Courier New"/>
                <a:cs typeface="Courier New"/>
              </a:rPr>
              <a:t>bye</a:t>
            </a:r>
            <a:endParaRPr sz="12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527242596"/>
      </p:ext>
    </p:extLst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522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minh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tral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9817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per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põe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la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ca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nha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ent</a:t>
            </a:r>
            <a:r>
              <a:rPr sz="2050" b="1" spc="5" dirty="0">
                <a:latin typeface="Arial"/>
                <a:cs typeface="Arial"/>
              </a:rPr>
              <a:t>o</a:t>
            </a:r>
            <a:r>
              <a:rPr sz="2050" b="1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ú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b="1" dirty="0">
                <a:latin typeface="Arial"/>
                <a:cs typeface="Arial"/>
              </a:rPr>
              <a:t>ca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nha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ent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cent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al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be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pre</a:t>
            </a:r>
            <a:r>
              <a:rPr sz="2050" spc="5" dirty="0">
                <a:latin typeface="Arial"/>
                <a:cs typeface="Arial"/>
              </a:rPr>
              <a:t>sso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al;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visi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iz;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al.</a:t>
            </a:r>
            <a:endParaRPr sz="2050">
              <a:latin typeface="Arial"/>
              <a:cs typeface="Arial"/>
            </a:endParaRPr>
          </a:p>
          <a:p>
            <a:pPr marL="484505" marR="14605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al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nó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visi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ordenada.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12415653"/>
      </p:ext>
    </p:extLst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347154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minh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tral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07211" y="1770710"/>
            <a:ext cx="3119755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Centra</a:t>
            </a:r>
            <a:r>
              <a:rPr sz="1700" spc="175" dirty="0">
                <a:latin typeface="Arial"/>
                <a:cs typeface="Arial"/>
              </a:rPr>
              <a:t>l</a:t>
            </a:r>
            <a:r>
              <a:rPr sz="1700" spc="114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38186" y="2029653"/>
            <a:ext cx="3400425" cy="140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5740" marR="727710" indent="-193675">
              <a:lnSpc>
                <a:spcPct val="133200"/>
              </a:lnSpc>
              <a:tabLst>
                <a:tab pos="226695" algn="l"/>
                <a:tab pos="528320" algn="l"/>
              </a:tabLst>
            </a:pPr>
            <a:r>
              <a:rPr sz="1700" spc="5" dirty="0">
                <a:latin typeface="Arial"/>
                <a:cs typeface="Arial"/>
              </a:rPr>
              <a:t>{	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spc="11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NULL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50" dirty="0">
                <a:latin typeface="Arial"/>
                <a:cs typeface="Arial"/>
              </a:rPr>
              <a:t>Centra</a:t>
            </a:r>
            <a:r>
              <a:rPr sz="1700" spc="175" dirty="0">
                <a:latin typeface="Arial"/>
                <a:cs typeface="Arial"/>
              </a:rPr>
              <a:t>l</a:t>
            </a:r>
            <a:r>
              <a:rPr sz="1700" spc="100" dirty="0">
                <a:latin typeface="Arial"/>
                <a:cs typeface="Arial"/>
              </a:rPr>
              <a:t>(</a:t>
            </a:r>
            <a:r>
              <a:rPr sz="1700" spc="-229" dirty="0">
                <a:latin typeface="Arial"/>
                <a:cs typeface="Arial"/>
              </a:rPr>
              <a:t>p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110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05740" marR="5080" indent="16510">
              <a:lnSpc>
                <a:spcPts val="2720"/>
              </a:lnSpc>
              <a:spcBef>
                <a:spcPts val="200"/>
              </a:spcBef>
            </a:pP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"%</a:t>
            </a:r>
            <a:r>
              <a:rPr sz="1700" spc="114" dirty="0">
                <a:latin typeface="Arial"/>
                <a:cs typeface="Arial"/>
              </a:rPr>
              <a:t>l</a:t>
            </a:r>
            <a:r>
              <a:rPr sz="1700" spc="10" dirty="0">
                <a:latin typeface="Arial"/>
                <a:cs typeface="Arial"/>
              </a:rPr>
              <a:t>d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 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spc="-235" dirty="0">
                <a:latin typeface="Arial"/>
                <a:cs typeface="Arial"/>
              </a:rPr>
              <a:t>p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315" dirty="0">
                <a:latin typeface="Arial"/>
                <a:cs typeface="Arial"/>
              </a:rPr>
              <a:t>&gt;</a:t>
            </a:r>
            <a:r>
              <a:rPr sz="1700" spc="-150" dirty="0">
                <a:latin typeface="Arial"/>
                <a:cs typeface="Arial"/>
              </a:rPr>
              <a:t>Re</a:t>
            </a:r>
            <a:r>
              <a:rPr sz="1700" spc="35" dirty="0">
                <a:latin typeface="Arial"/>
                <a:cs typeface="Arial"/>
              </a:rPr>
              <a:t>g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9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50" dirty="0">
                <a:latin typeface="Arial"/>
                <a:cs typeface="Arial"/>
              </a:rPr>
              <a:t>Centra</a:t>
            </a:r>
            <a:r>
              <a:rPr sz="1700" spc="175" dirty="0">
                <a:latin typeface="Arial"/>
                <a:cs typeface="Arial"/>
              </a:rPr>
              <a:t>l</a:t>
            </a:r>
            <a:r>
              <a:rPr sz="1700" spc="100" dirty="0">
                <a:latin typeface="Arial"/>
                <a:cs typeface="Arial"/>
              </a:rPr>
              <a:t>(</a:t>
            </a:r>
            <a:r>
              <a:rPr sz="1700" spc="-229" dirty="0">
                <a:latin typeface="Arial"/>
                <a:cs typeface="Arial"/>
              </a:rPr>
              <a:t>p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75" dirty="0">
                <a:latin typeface="Arial"/>
                <a:cs typeface="Arial"/>
              </a:rPr>
              <a:t>&gt;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8471" y="3495725"/>
            <a:ext cx="98425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51715" y="1636252"/>
            <a:ext cx="3797300" cy="1132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 algn="just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- mi</a:t>
            </a:r>
            <a:r>
              <a:rPr sz="2050" dirty="0">
                <a:latin typeface="Arial"/>
                <a:cs typeface="Arial"/>
              </a:rPr>
              <a:t>nha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1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al</a:t>
            </a:r>
            <a:r>
              <a:rPr sz="2050" spc="1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a,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5" dirty="0">
                <a:latin typeface="Arial"/>
                <a:cs typeface="Arial"/>
              </a:rPr>
              <a:t>m: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1, 2,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3, 4, 5,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6, 7.</a:t>
            </a:r>
            <a:endParaRPr sz="205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115835" y="3176163"/>
            <a:ext cx="3256477" cy="20148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564388" y="4115143"/>
            <a:ext cx="118745" cy="23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57668" y="4112653"/>
            <a:ext cx="118745" cy="23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4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355913" y="4115143"/>
            <a:ext cx="118745" cy="23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6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12266" y="3667264"/>
            <a:ext cx="118745" cy="23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3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803805" y="3667264"/>
            <a:ext cx="118745" cy="23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7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908035" y="3219373"/>
            <a:ext cx="118745" cy="23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5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40449" y="4563021"/>
            <a:ext cx="118745" cy="23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1</a:t>
            </a:r>
            <a:endParaRPr sz="145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71564921"/>
      </p:ext>
    </p:extLst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37600" cy="4297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-6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Bin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ári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6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esquis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om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cea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 dirty="0">
              <a:latin typeface="Arial"/>
              <a:cs typeface="Arial"/>
            </a:endParaRPr>
          </a:p>
          <a:p>
            <a:pPr marL="484505" marR="224154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balan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40" dirty="0">
                <a:latin typeface="Lucida Sans Unicode"/>
                <a:cs typeface="Lucida Sans Unicode"/>
              </a:rPr>
              <a:t>⇒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dirty="0">
                <a:latin typeface="Arial"/>
                <a:cs typeface="Arial"/>
              </a:rPr>
              <a:t>nó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apare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adja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484505" marR="1447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imiza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isa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uni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me</a:t>
            </a:r>
            <a:r>
              <a:rPr sz="2050" dirty="0">
                <a:latin typeface="Arial"/>
                <a:cs typeface="Arial"/>
              </a:rPr>
              <a:t> 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ond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igua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pr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a.</a:t>
            </a:r>
          </a:p>
          <a:p>
            <a:pPr marL="484505" marR="3175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balan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apó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ir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1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à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ob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à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iginal.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1445" y="5127383"/>
            <a:ext cx="6197055" cy="24068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98460826"/>
      </p:ext>
    </p:extLst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16645" cy="170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Uma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Fo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ma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est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ma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s</a:t>
            </a:r>
            <a:r>
              <a:rPr sz="2050" dirty="0">
                <a:latin typeface="Arial"/>
                <a:cs typeface="Arial"/>
              </a:rPr>
              <a:t>olu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ediá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ssa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  <a:p>
            <a:pPr marL="484505" marR="5080">
              <a:lnSpc>
                <a:spcPct val="116300"/>
              </a:lnSpc>
            </a:pPr>
            <a:r>
              <a:rPr sz="2050" dirty="0">
                <a:latin typeface="Arial"/>
                <a:cs typeface="Arial"/>
              </a:rPr>
              <a:t>“qua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e-balan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eada”,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tenta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ante</a:t>
            </a:r>
            <a:r>
              <a:rPr sz="2050" spc="5" dirty="0">
                <a:latin typeface="Arial"/>
                <a:cs typeface="Arial"/>
              </a:rPr>
              <a:t>r a</a:t>
            </a:r>
            <a:r>
              <a:rPr sz="2050" dirty="0">
                <a:latin typeface="Arial"/>
                <a:cs typeface="Arial"/>
              </a:rPr>
              <a:t> 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pleta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balan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eada.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21295" y="2735414"/>
            <a:ext cx="1417320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b="1" spc="10" dirty="0">
                <a:latin typeface="Arial"/>
                <a:cs typeface="Arial"/>
              </a:rPr>
              <a:t>O</a:t>
            </a:r>
            <a:r>
              <a:rPr sz="2050" b="1" dirty="0">
                <a:latin typeface="Arial"/>
                <a:cs typeface="Arial"/>
              </a:rPr>
              <a:t>b</a:t>
            </a:r>
            <a:r>
              <a:rPr sz="2050" b="1" spc="-5" dirty="0">
                <a:latin typeface="Arial"/>
                <a:cs typeface="Arial"/>
              </a:rPr>
              <a:t>j</a:t>
            </a:r>
            <a:r>
              <a:rPr sz="2050" b="1" dirty="0">
                <a:latin typeface="Arial"/>
                <a:cs typeface="Arial"/>
              </a:rPr>
              <a:t>et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spc="-60" dirty="0">
                <a:latin typeface="Arial"/>
                <a:cs typeface="Arial"/>
              </a:rPr>
              <a:t>v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93263" y="2735414"/>
            <a:ext cx="6337300" cy="323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obte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bon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te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a, pró</a:t>
            </a:r>
            <a:r>
              <a:rPr sz="2050" spc="5" dirty="0">
                <a:latin typeface="Arial"/>
                <a:cs typeface="Arial"/>
              </a:rPr>
              <a:t>xim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21295" y="3047850"/>
            <a:ext cx="8522335" cy="700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363855">
              <a:lnSpc>
                <a:spcPct val="116300"/>
              </a:lnSpc>
            </a:pPr>
            <a:r>
              <a:rPr sz="2050" dirty="0">
                <a:latin typeface="Arial"/>
                <a:cs typeface="Arial"/>
              </a:rPr>
              <a:t>te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ót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pleta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balan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eada,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paga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ir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reti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dirty="0" err="1">
                <a:latin typeface="Arial"/>
                <a:cs typeface="Arial"/>
              </a:rPr>
              <a:t>á</a:t>
            </a:r>
            <a:r>
              <a:rPr sz="2050" spc="65" dirty="0" err="1">
                <a:latin typeface="Arial"/>
                <a:cs typeface="Arial"/>
              </a:rPr>
              <a:t>r</a:t>
            </a:r>
            <a:r>
              <a:rPr sz="2050" spc="-50" dirty="0" err="1">
                <a:latin typeface="Arial"/>
                <a:cs typeface="Arial"/>
              </a:rPr>
              <a:t>v</a:t>
            </a:r>
            <a:r>
              <a:rPr sz="2050" dirty="0" err="1">
                <a:latin typeface="Arial"/>
                <a:cs typeface="Arial"/>
              </a:rPr>
              <a:t>or</a:t>
            </a:r>
            <a:r>
              <a:rPr sz="2050" spc="-30" dirty="0" err="1">
                <a:latin typeface="Arial"/>
                <a:cs typeface="Arial"/>
              </a:rPr>
              <a:t>e</a:t>
            </a:r>
            <a:r>
              <a:rPr sz="2050" dirty="0" smtClean="0">
                <a:latin typeface="Arial"/>
                <a:cs typeface="Arial"/>
              </a:rPr>
              <a:t>.</a:t>
            </a:r>
            <a:endParaRPr sz="205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87178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1422</TotalTime>
  <Words>14321</Words>
  <Application>Microsoft Office PowerPoint</Application>
  <PresentationFormat>Personalizar</PresentationFormat>
  <Paragraphs>3296</Paragraphs>
  <Slides>291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6</vt:i4>
      </vt:variant>
      <vt:variant>
        <vt:lpstr>Títulos de slides</vt:lpstr>
      </vt:variant>
      <vt:variant>
        <vt:i4>291</vt:i4>
      </vt:variant>
    </vt:vector>
  </HeadingPairs>
  <TitlesOfParts>
    <vt:vector size="297" baseType="lpstr">
      <vt:lpstr>Office Theme</vt:lpstr>
      <vt:lpstr>1_Office Theme</vt:lpstr>
      <vt:lpstr>2_Office Theme</vt:lpstr>
      <vt:lpstr>4_Office Theme</vt:lpstr>
      <vt:lpstr>5_Office Theme</vt:lpstr>
      <vt:lpstr>7_Office Theme</vt:lpstr>
      <vt:lpstr>Estruturas de Dados</vt:lpstr>
      <vt:lpstr>Apresentação da Disciplina</vt:lpstr>
      <vt:lpstr>Pré-requisitos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REVISÃO: Tipos de Subrotinas</vt:lpstr>
      <vt:lpstr>Parâmetros de uma subrotina em C Exemplo</vt:lpstr>
      <vt:lpstr>Definição</vt:lpstr>
      <vt:lpstr>Declaração</vt:lpstr>
      <vt:lpstr>Declaração</vt:lpstr>
      <vt:lpstr>Declaração</vt:lpstr>
      <vt:lpstr>Inicialização</vt:lpstr>
      <vt:lpstr>Inicialização</vt:lpstr>
      <vt:lpstr>Inicialização</vt:lpstr>
      <vt:lpstr>Inicialização</vt:lpstr>
      <vt:lpstr>Utilização</vt:lpstr>
      <vt:lpstr>Utilização</vt:lpstr>
      <vt:lpstr>Utilização</vt:lpstr>
      <vt:lpstr>Utilização</vt:lpstr>
      <vt:lpstr>Utilização</vt:lpstr>
      <vt:lpstr>Operações com ponteiros</vt:lpstr>
      <vt:lpstr>Operações com ponteiros</vt:lpstr>
      <vt:lpstr>Operações com ponteiros</vt:lpstr>
      <vt:lpstr>Operações com ponteiros</vt:lpstr>
      <vt:lpstr>Operações com ponteiros</vt:lpstr>
      <vt:lpstr>Operações com ponteiros</vt:lpstr>
      <vt:lpstr>Ponteiros Genéricos</vt:lpstr>
      <vt:lpstr>Ponteiros Genéricos</vt:lpstr>
      <vt:lpstr>Ponteiros Genéricos</vt:lpstr>
      <vt:lpstr>Ponteiros e Arrays</vt:lpstr>
      <vt:lpstr>Ponteiros e Arrays</vt:lpstr>
      <vt:lpstr>Ponteiros e Arrays</vt:lpstr>
      <vt:lpstr>Ponteiros e Arrays</vt:lpstr>
      <vt:lpstr>Ponteiros e Arrays</vt:lpstr>
      <vt:lpstr>Ponteiros e Arrays</vt:lpstr>
      <vt:lpstr>Ponteiros e Arrays</vt:lpstr>
      <vt:lpstr>Ponteiro para struct</vt:lpstr>
      <vt:lpstr>Ponteiro para ponteiro</vt:lpstr>
      <vt:lpstr>Ponteiro para ponteiro</vt:lpstr>
      <vt:lpstr>Ponteiro para ponteiro</vt:lpstr>
      <vt:lpstr>Ponteiro para ponteiro</vt:lpstr>
      <vt:lpstr>Ponteiro para ponteiro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Exercícios</vt:lpstr>
      <vt:lpstr>Exercícios</vt:lpstr>
      <vt:lpstr>Exercícios</vt:lpstr>
      <vt:lpstr>Exercícios</vt:lpstr>
      <vt:lpstr>Vetores</vt:lpstr>
      <vt:lpstr>Vetores: Declaração</vt:lpstr>
      <vt:lpstr>Vetores: Referência (Manipulação)</vt:lpstr>
      <vt:lpstr>Vetores: Inicialização</vt:lpstr>
      <vt:lpstr>Vetores: Inicialização</vt:lpstr>
      <vt:lpstr>Vetores: Exemplo</vt:lpstr>
      <vt:lpstr>Vetores e Subrotinas</vt:lpstr>
      <vt:lpstr>Exercícios</vt:lpstr>
      <vt:lpstr>Exercícios</vt:lpstr>
      <vt:lpstr>Exercícios</vt:lpstr>
      <vt:lpstr>Declaração de matrizes</vt:lpstr>
      <vt:lpstr>Declaração de matrizes</vt:lpstr>
      <vt:lpstr>Matrizes: inicialização</vt:lpstr>
      <vt:lpstr>Matrizes: inicialização</vt:lpstr>
      <vt:lpstr>Matrizes: exemplos</vt:lpstr>
      <vt:lpstr>Apresentação do PowerPoint</vt:lpstr>
      <vt:lpstr>Apresentação do PowerPoint</vt:lpstr>
      <vt:lpstr>Apresentação do PowerPoint</vt:lpstr>
      <vt:lpstr>Apresentação do PowerPoint</vt:lpstr>
      <vt:lpstr>Matrizes e subrotinas</vt:lpstr>
      <vt:lpstr>Exercícios</vt:lpstr>
      <vt:lpstr>Exercícios</vt:lpstr>
      <vt:lpstr>Exercícios</vt:lpstr>
      <vt:lpstr>Exercícios</vt:lpstr>
      <vt:lpstr>Estruturas heterogêneas</vt:lpstr>
      <vt:lpstr>Estruturas heterogêneas</vt:lpstr>
      <vt:lpstr>Variáveis compostas</vt:lpstr>
      <vt:lpstr>Definição de estrutura</vt:lpstr>
      <vt:lpstr>Estruturas - Definição</vt:lpstr>
      <vt:lpstr>Estruturas - Declaração</vt:lpstr>
      <vt:lpstr>Estruturas - Declaração</vt:lpstr>
      <vt:lpstr>Comando typedef</vt:lpstr>
      <vt:lpstr>Estruturas - Declaração</vt:lpstr>
      <vt:lpstr>Estruturas - Declaração</vt:lpstr>
      <vt:lpstr>Definição e Declaração</vt:lpstr>
      <vt:lpstr>Estruturas: Manipulação</vt:lpstr>
      <vt:lpstr>Estruturas: Manipulação</vt:lpstr>
      <vt:lpstr>Estruturas: Manipulação</vt:lpstr>
      <vt:lpstr>Exercícios</vt:lpstr>
      <vt:lpstr>Estruturas aninhadas</vt:lpstr>
      <vt:lpstr>Estruturas aninhadas</vt:lpstr>
      <vt:lpstr>Estruturas aninhadas</vt:lpstr>
      <vt:lpstr>Estruturas aninhadas</vt:lpstr>
      <vt:lpstr>Estruturas aninhadas</vt:lpstr>
      <vt:lpstr>Estruturas aninhadas</vt:lpstr>
      <vt:lpstr>Estruturas aninhadas</vt:lpstr>
      <vt:lpstr>Estruturas com vetor</vt:lpstr>
      <vt:lpstr>Exercício</vt:lpstr>
      <vt:lpstr>Atribuição de estruturas</vt:lpstr>
      <vt:lpstr>Exemplo completo</vt:lpstr>
      <vt:lpstr>Exemplo completo</vt:lpstr>
      <vt:lpstr>Exemplo completo</vt:lpstr>
      <vt:lpstr>Exemplo completo</vt:lpstr>
      <vt:lpstr>Exemplo completo</vt:lpstr>
      <vt:lpstr>Exemplo completo</vt:lpstr>
      <vt:lpstr>Exemplo completo</vt:lpstr>
      <vt:lpstr>Estruturas e funções</vt:lpstr>
      <vt:lpstr>Estruturas e funções</vt:lpstr>
      <vt:lpstr>Estruturas e funções</vt:lpstr>
      <vt:lpstr>Vetores de estruturas</vt:lpstr>
      <vt:lpstr>Vetores de estruturas</vt:lpstr>
      <vt:lpstr>Vetores de estruturas</vt:lpstr>
      <vt:lpstr>Vetores de estruturas</vt:lpstr>
      <vt:lpstr>Vetores de estruturas</vt:lpstr>
      <vt:lpstr>Vetores de estruturas</vt:lpstr>
      <vt:lpstr>Vetores de estruturas</vt:lpstr>
      <vt:lpstr>Inicialização de estruturas</vt:lpstr>
      <vt:lpstr>Inicialização de estruturas</vt:lpstr>
      <vt:lpstr>Vetores de estruturas</vt:lpstr>
      <vt:lpstr>Vetores de estruturas</vt:lpstr>
      <vt:lpstr>Vetores de estruturas</vt:lpstr>
      <vt:lpstr>Vetores de estruturas</vt:lpstr>
      <vt:lpstr>Leitura de vetor de estruturas</vt:lpstr>
      <vt:lpstr>Leitura de vetor de estruturas</vt:lpstr>
      <vt:lpstr>Leitura de vetor de estruturas</vt:lpstr>
      <vt:lpstr>Leitura de vetor de estruturas</vt:lpstr>
      <vt:lpstr>Leitura de vetor de estruturas</vt:lpstr>
      <vt:lpstr>Leitura de vetor de estruturas</vt:lpstr>
      <vt:lpstr>Impressão de vetor de estruturas</vt:lpstr>
      <vt:lpstr>Programa completo</vt:lpstr>
      <vt:lpstr>Exemplo 2</vt:lpstr>
      <vt:lpstr>Exercícios</vt:lpstr>
      <vt:lpstr>Exercícios</vt:lpstr>
      <vt:lpstr>Exercícios</vt:lpstr>
      <vt:lpstr>Recursividade - Definição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Simulando o algoritmo</vt:lpstr>
      <vt:lpstr>Simulando o algoritmo</vt:lpstr>
      <vt:lpstr>Simulando o algoritmo</vt:lpstr>
      <vt:lpstr>Simulando o algoritmo</vt:lpstr>
      <vt:lpstr>Simulando o algoritmo</vt:lpstr>
      <vt:lpstr>Simulando o algoritmo</vt:lpstr>
      <vt:lpstr>Simulando o algoritmo</vt:lpstr>
      <vt:lpstr>Simulando o algoritmo</vt:lpstr>
      <vt:lpstr>Simulando o algoritmo</vt:lpstr>
      <vt:lpstr>Simulando o algoritmo</vt:lpstr>
      <vt:lpstr>Exercício</vt:lpstr>
      <vt:lpstr>Exercício</vt:lpstr>
      <vt:lpstr>Exercício</vt:lpstr>
      <vt:lpstr>Exercício</vt:lpstr>
      <vt:lpstr>Exercício</vt:lpstr>
      <vt:lpstr>Exercício</vt:lpstr>
      <vt:lpstr>Exercícios</vt:lpstr>
      <vt:lpstr>Exercícios</vt:lpstr>
      <vt:lpstr>Debugger (Depurador)</vt:lpstr>
      <vt:lpstr>Debugger (Depurador)</vt:lpstr>
      <vt:lpstr>Como utilizar?</vt:lpstr>
      <vt:lpstr>Como utilizar?</vt:lpstr>
      <vt:lpstr>Como utilizar?</vt:lpstr>
      <vt:lpstr>Como utilizar?</vt:lpstr>
      <vt:lpstr>Como utilizar?</vt:lpstr>
      <vt:lpstr>Como utilizar?</vt:lpstr>
      <vt:lpstr>Como utilizar?</vt:lpstr>
      <vt:lpstr>Como utilizar?</vt:lpstr>
      <vt:lpstr>Controle da execução</vt:lpstr>
      <vt:lpstr>Controle da execução</vt:lpstr>
      <vt:lpstr>Controle da 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Dica</vt:lpstr>
      <vt:lpstr>Estruturas de Dados Básicas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Árvores de Pesquisa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transp-cap3.dvi</dc:title>
  <dc:creator>Samuel Basilio</dc:creator>
  <cp:lastModifiedBy>Samuel Basilio</cp:lastModifiedBy>
  <cp:revision>95</cp:revision>
  <dcterms:created xsi:type="dcterms:W3CDTF">2015-06-18T03:37:37Z</dcterms:created>
  <dcterms:modified xsi:type="dcterms:W3CDTF">2019-04-11T13:44:27Z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2010-09-16T00:00:00Z</vt:filetime>
  </property>
  <property fmtid="{D5CDD505-2E9C-101B-9397-08002B2CF9AE}" pid="3" name="Creator">
    <vt:lpwstr>dvips(k) 5.98 Copyright 2009 Radical Eye Software</vt:lpwstr>
  </property>
  <property fmtid="{D5CDD505-2E9C-101B-9397-08002B2CF9AE}" pid="4" name="LastSaved">
    <vt:filetime>2015-06-18T00:00:00Z</vt:filetime>
  </property>
</Properties>
</file>