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83" r:id="rId3"/>
    <p:sldId id="291" r:id="rId4"/>
    <p:sldId id="269" r:id="rId5"/>
    <p:sldId id="271" r:id="rId6"/>
    <p:sldId id="292" r:id="rId7"/>
    <p:sldId id="282" r:id="rId8"/>
    <p:sldId id="285" r:id="rId9"/>
    <p:sldId id="286" r:id="rId10"/>
    <p:sldId id="288" r:id="rId11"/>
    <p:sldId id="290" r:id="rId12"/>
    <p:sldId id="289" r:id="rId1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E7264-5FCF-4483-A65E-0B59C7372D0C}" type="datetimeFigureOut">
              <a:rPr lang="pt-BR" smtClean="0"/>
              <a:pPr/>
              <a:t>12/05/2015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C3025-4691-410D-B4BF-1738AC8FABC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2461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84EB981E-BAE2-4755-ABCA-DCC10C2E9580}" type="datetimeFigureOut">
              <a:rPr lang="pt-BR" smtClean="0"/>
              <a:pPr/>
              <a:t>12/05/2015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pt-BR"/>
          </a:p>
        </p:txBody>
      </p:sp>
      <p:sp>
        <p:nvSpPr>
          <p:cNvPr id="10" name="Retângulo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tângulo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tângulo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Conector reto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Conector reto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Conector reto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tângulo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4019EF2-3DA1-4643-93A8-660FB92A6ED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4EB981E-BAE2-4755-ABCA-DCC10C2E9580}" type="datetimeFigureOut">
              <a:rPr lang="pt-BR" smtClean="0"/>
              <a:pPr/>
              <a:t>12/05/2015</a:t>
            </a:fld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4019EF2-3DA1-4643-93A8-660FB92A6ED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84EB981E-BAE2-4755-ABCA-DCC10C2E9580}" type="datetimeFigureOut">
              <a:rPr lang="pt-BR" smtClean="0"/>
              <a:pPr/>
              <a:t>12/05/2015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pt-BR"/>
          </a:p>
        </p:txBody>
      </p:sp>
      <p:sp>
        <p:nvSpPr>
          <p:cNvPr id="9" name="Retângulo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Conector reto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Conector reto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tângulo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ector reto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4019EF2-3DA1-4643-93A8-660FB92A6ED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81E-BAE2-4755-ABCA-DCC10C2E9580}" type="datetimeFigureOut">
              <a:rPr lang="pt-BR" smtClean="0"/>
              <a:pPr/>
              <a:t>12/05/2015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9EF2-3DA1-4643-93A8-660FB92A6ED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81E-BAE2-4755-ABCA-DCC10C2E9580}" type="datetimeFigureOut">
              <a:rPr lang="pt-BR" smtClean="0"/>
              <a:pPr/>
              <a:t>12/05/2015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9EF2-3DA1-4643-93A8-660FB92A6ED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6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4EB981E-BAE2-4755-ABCA-DCC10C2E9580}" type="datetimeFigureOut">
              <a:rPr lang="pt-BR" smtClean="0"/>
              <a:pPr/>
              <a:t>12/05/2015</a:t>
            </a:fld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4019EF2-3DA1-4643-93A8-660FB92A6ED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81E-BAE2-4755-ABCA-DCC10C2E9580}" type="datetimeFigureOut">
              <a:rPr lang="pt-BR" smtClean="0"/>
              <a:pPr/>
              <a:t>12/05/2015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9EF2-3DA1-4643-93A8-660FB92A6ED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ço Reservado para Conteúdo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1" name="Espaço Reservado para Data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4EB981E-BAE2-4755-ABCA-DCC10C2E9580}" type="datetimeFigureOut">
              <a:rPr lang="pt-BR" smtClean="0"/>
              <a:pPr/>
              <a:t>12/05/2015</a:t>
            </a:fld>
            <a:endParaRPr lang="pt-BR"/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4019EF2-3DA1-4643-93A8-660FB92A6ED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E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tângulo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ector reto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Conector reto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ector reto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Espaço Reservado para Data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4EB981E-BAE2-4755-ABCA-DCC10C2E9580}" type="datetimeFigureOut">
              <a:rPr lang="pt-BR" smtClean="0"/>
              <a:pPr/>
              <a:t>12/05/2015</a:t>
            </a:fld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4019EF2-3DA1-4643-93A8-660FB92A6ED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1" name="Espaço Reservado para Rodapé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81E-BAE2-4755-ABCA-DCC10C2E9580}" type="datetimeFigureOut">
              <a:rPr lang="pt-BR" smtClean="0"/>
              <a:pPr/>
              <a:t>12/05/2015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9EF2-3DA1-4643-93A8-660FB92A6ED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81E-BAE2-4755-ABCA-DCC10C2E9580}" type="datetimeFigureOut">
              <a:rPr lang="pt-BR" smtClean="0"/>
              <a:pPr/>
              <a:t>12/05/2015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9EF2-3DA1-4643-93A8-660FB92A6ED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84EB981E-BAE2-4755-ABCA-DCC10C2E9580}" type="datetimeFigureOut">
              <a:rPr lang="pt-BR" smtClean="0"/>
              <a:pPr/>
              <a:t>12/05/2015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tângulo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E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4019EF2-3DA1-4643-93A8-660FB92A6ED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285984" y="2357430"/>
            <a:ext cx="6172200" cy="1875314"/>
          </a:xfrm>
        </p:spPr>
        <p:txBody>
          <a:bodyPr/>
          <a:lstStyle/>
          <a:p>
            <a:r>
              <a:rPr lang="pt-BR" dirty="0" smtClean="0"/>
              <a:t>Estrutura de Dados</a:t>
            </a:r>
            <a:br>
              <a:rPr lang="pt-BR" dirty="0" smtClean="0"/>
            </a:br>
            <a:r>
              <a:rPr lang="pt-BR" dirty="0" smtClean="0"/>
              <a:t>Escalonamento de processos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r>
              <a:rPr lang="pt-BR" dirty="0" smtClean="0"/>
              <a:t>Alice Costa</a:t>
            </a:r>
          </a:p>
          <a:p>
            <a:pPr algn="r"/>
            <a:r>
              <a:rPr lang="pt-BR" dirty="0" smtClean="0"/>
              <a:t>Jhonatan Antonaci</a:t>
            </a:r>
          </a:p>
          <a:p>
            <a:pPr algn="r"/>
            <a:r>
              <a:rPr lang="pt-BR" dirty="0" smtClean="0"/>
              <a:t>Bruna </a:t>
            </a:r>
            <a:r>
              <a:rPr lang="pt-BR" dirty="0" err="1" smtClean="0"/>
              <a:t>Kethelen</a:t>
            </a:r>
            <a:endParaRPr lang="pt-BR" dirty="0" smtClean="0"/>
          </a:p>
          <a:p>
            <a:pPr algn="r"/>
            <a:r>
              <a:rPr lang="pt-BR" dirty="0" smtClean="0"/>
              <a:t>Murilo Oliveira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78098"/>
          </a:xfrm>
        </p:spPr>
        <p:txBody>
          <a:bodyPr/>
          <a:lstStyle/>
          <a:p>
            <a:r>
              <a:rPr lang="pt-BR" b="1" dirty="0" smtClean="0"/>
              <a:t>Filas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27564" y="1052736"/>
            <a:ext cx="7467600" cy="5305800"/>
          </a:xfrm>
        </p:spPr>
        <p:txBody>
          <a:bodyPr/>
          <a:lstStyle/>
          <a:p>
            <a:r>
              <a:rPr lang="pt-BR" dirty="0"/>
              <a:t>São estruturas de dados do tipo FIFO (</a:t>
            </a:r>
            <a:r>
              <a:rPr lang="pt-BR" dirty="0" err="1"/>
              <a:t>first</a:t>
            </a:r>
            <a:r>
              <a:rPr lang="pt-BR" dirty="0"/>
              <a:t>-in </a:t>
            </a:r>
            <a:r>
              <a:rPr lang="pt-BR" dirty="0" err="1"/>
              <a:t>first</a:t>
            </a:r>
            <a:r>
              <a:rPr lang="pt-BR" dirty="0"/>
              <a:t>-out), onde o primeiro elemento a ser inserido, será o primeiro a ser retirado, ou seja, adiciona-se itens no fim e </a:t>
            </a:r>
            <a:r>
              <a:rPr lang="pt-BR" dirty="0" smtClean="0"/>
              <a:t>remove-se </a:t>
            </a:r>
            <a:r>
              <a:rPr lang="pt-BR" dirty="0"/>
              <a:t>do </a:t>
            </a:r>
            <a:r>
              <a:rPr lang="pt-BR" dirty="0" smtClean="0"/>
              <a:t>início.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r>
              <a:rPr lang="pt-BR" dirty="0"/>
              <a:t>A implementação de filas pode ser realizada através de vetor (alocação do espaço de memória para os elementos é contígua) ou através de listas encadeadas.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748" y="2564904"/>
            <a:ext cx="6042503" cy="206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6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7467600" cy="724942"/>
          </a:xfrm>
        </p:spPr>
        <p:txBody>
          <a:bodyPr/>
          <a:lstStyle/>
          <a:p>
            <a:r>
              <a:rPr lang="pt-BR" b="1" i="1" dirty="0" smtClean="0"/>
              <a:t>Escalonamento de processos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57200" y="1201614"/>
            <a:ext cx="7467600" cy="5272338"/>
          </a:xfrm>
        </p:spPr>
        <p:txBody>
          <a:bodyPr>
            <a:normAutofit lnSpcReduction="10000"/>
          </a:bodyPr>
          <a:lstStyle/>
          <a:p>
            <a:pPr fontAlgn="base"/>
            <a:r>
              <a:rPr lang="pt-BR" dirty="0"/>
              <a:t>Escalonamento de processos é o ato de realizar o chaveamento dos processos ativos, de acordo com </a:t>
            </a:r>
            <a:r>
              <a:rPr lang="pt-BR" dirty="0" smtClean="0"/>
              <a:t>regras, </a:t>
            </a:r>
            <a:r>
              <a:rPr lang="pt-BR" dirty="0"/>
              <a:t>de forma que todos os processos tenham chance </a:t>
            </a:r>
            <a:r>
              <a:rPr lang="pt-BR" dirty="0" smtClean="0"/>
              <a:t>de </a:t>
            </a:r>
            <a:r>
              <a:rPr lang="pt-BR" dirty="0"/>
              <a:t>utilizar a </a:t>
            </a:r>
            <a:r>
              <a:rPr lang="pt-BR" dirty="0" smtClean="0"/>
              <a:t>CPU , no qual o </a:t>
            </a:r>
            <a:r>
              <a:rPr lang="pt-BR" dirty="0" smtClean="0"/>
              <a:t>SO (Sistema Operacional) </a:t>
            </a:r>
            <a:r>
              <a:rPr lang="pt-BR" dirty="0" smtClean="0"/>
              <a:t>decide qual processo será </a:t>
            </a:r>
            <a:r>
              <a:rPr lang="pt-BR" dirty="0"/>
              <a:t>colocado em execução</a:t>
            </a:r>
            <a:r>
              <a:rPr lang="pt-BR" dirty="0" smtClean="0"/>
              <a:t>.</a:t>
            </a:r>
          </a:p>
          <a:p>
            <a:pPr fontAlgn="base"/>
            <a:r>
              <a:rPr lang="pt-BR" dirty="0"/>
              <a:t>Existem várias formas de implementar o escalonamento e estes devem seguir critérios como justiça (cada processo obter sua parte justa do tempo da </a:t>
            </a:r>
            <a:r>
              <a:rPr lang="pt-BR" dirty="0" smtClean="0"/>
              <a:t>CPU), </a:t>
            </a:r>
            <a:r>
              <a:rPr lang="pt-BR" dirty="0"/>
              <a:t>eficiência (garantir ocupação de 100% do tempo da </a:t>
            </a:r>
            <a:r>
              <a:rPr lang="pt-BR" dirty="0" smtClean="0"/>
              <a:t>CPU), </a:t>
            </a:r>
            <a:r>
              <a:rPr lang="pt-BR" dirty="0"/>
              <a:t>minimizar o tempo de resposta a comandos de usuários interativos, maximizar o número de serviços processados por </a:t>
            </a:r>
            <a:r>
              <a:rPr lang="pt-BR" dirty="0" smtClean="0"/>
              <a:t>hora , entre outros.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517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Conceitos :Processos e Preempção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Um </a:t>
            </a:r>
            <a:r>
              <a:rPr lang="pt-BR" b="1" dirty="0" smtClean="0"/>
              <a:t>processo</a:t>
            </a:r>
            <a:r>
              <a:rPr lang="pt-BR" dirty="0" smtClean="0"/>
              <a:t> pode ser definido como "um programa em execução". </a:t>
            </a:r>
          </a:p>
          <a:p>
            <a:r>
              <a:rPr lang="pt-BR" b="1" dirty="0"/>
              <a:t>Preempção</a:t>
            </a:r>
            <a:r>
              <a:rPr lang="pt-BR" dirty="0"/>
              <a:t>: ato de interromper a execução de um processo para executar um outro. </a:t>
            </a:r>
          </a:p>
          <a:p>
            <a:pPr marL="0" indent="0">
              <a:buNone/>
            </a:pPr>
            <a:r>
              <a:rPr lang="pt-BR" dirty="0"/>
              <a:t>– </a:t>
            </a:r>
            <a:r>
              <a:rPr lang="pt-BR" dirty="0" err="1"/>
              <a:t>Sis</a:t>
            </a:r>
            <a:r>
              <a:rPr lang="pt-BR" dirty="0"/>
              <a:t>. Op. modernos (Windows 95+, Linux</a:t>
            </a:r>
            <a:r>
              <a:rPr lang="pt-BR" dirty="0" smtClean="0"/>
              <a:t>).</a:t>
            </a:r>
            <a:endParaRPr lang="pt-BR" dirty="0"/>
          </a:p>
          <a:p>
            <a:r>
              <a:rPr lang="pt-BR" dirty="0"/>
              <a:t> </a:t>
            </a:r>
            <a:r>
              <a:rPr lang="pt-BR" b="1" dirty="0"/>
              <a:t>Não-preempção</a:t>
            </a:r>
            <a:r>
              <a:rPr lang="pt-BR" dirty="0"/>
              <a:t>: quando um processo executa</a:t>
            </a:r>
            <a:r>
              <a:rPr lang="pt-BR" dirty="0" smtClean="0"/>
              <a:t>, </a:t>
            </a:r>
            <a:r>
              <a:rPr lang="pt-BR" dirty="0"/>
              <a:t>não pode ser interrompido por um fator externo. </a:t>
            </a:r>
          </a:p>
          <a:p>
            <a:pPr marL="0" indent="0">
              <a:buNone/>
            </a:pPr>
            <a:r>
              <a:rPr lang="pt-BR" dirty="0"/>
              <a:t> – </a:t>
            </a:r>
            <a:r>
              <a:rPr lang="pt-BR" dirty="0" smtClean="0"/>
              <a:t>Deixando para a </a:t>
            </a:r>
            <a:r>
              <a:rPr lang="pt-BR" dirty="0"/>
              <a:t>CPU ou por vontade própria (</a:t>
            </a:r>
            <a:r>
              <a:rPr lang="pt-BR" dirty="0" err="1"/>
              <a:t>sleep</a:t>
            </a:r>
            <a:r>
              <a:rPr lang="pt-BR" dirty="0"/>
              <a:t>/</a:t>
            </a:r>
            <a:r>
              <a:rPr lang="pt-BR" dirty="0" err="1"/>
              <a:t>yield</a:t>
            </a:r>
            <a:r>
              <a:rPr lang="pt-BR" dirty="0"/>
              <a:t>), ou porque terminou. </a:t>
            </a:r>
          </a:p>
          <a:p>
            <a:pPr marL="0" indent="0">
              <a:buNone/>
            </a:pPr>
            <a:r>
              <a:rPr lang="pt-BR" dirty="0"/>
              <a:t>– Windows 3.1, Apple Mac. OS antigo .</a:t>
            </a:r>
          </a:p>
          <a:p>
            <a:pPr algn="just">
              <a:buNone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/>
            <a:r>
              <a:rPr lang="en-US" b="1" dirty="0" err="1" smtClean="0"/>
              <a:t>Escalonamento</a:t>
            </a:r>
            <a:r>
              <a:rPr lang="en-US" b="1" dirty="0" smtClean="0"/>
              <a:t> First-In-First-Out (FIFO)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-  Nesse escalonamento o processo que chegar primeiro (</a:t>
            </a:r>
            <a:r>
              <a:rPr lang="pt-BR" dirty="0" err="1"/>
              <a:t>first</a:t>
            </a:r>
            <a:r>
              <a:rPr lang="pt-BR" dirty="0"/>
              <a:t>-in) é o primeiro a ser selecionado para execução (</a:t>
            </a:r>
            <a:r>
              <a:rPr lang="pt-BR" dirty="0" err="1"/>
              <a:t>first</a:t>
            </a:r>
            <a:r>
              <a:rPr lang="pt-BR" dirty="0"/>
              <a:t>-out); </a:t>
            </a:r>
            <a:endParaRPr lang="pt-BR" dirty="0" smtClean="0"/>
          </a:p>
          <a:p>
            <a:r>
              <a:rPr lang="pt-BR" dirty="0" smtClean="0"/>
              <a:t>Com </a:t>
            </a:r>
            <a:r>
              <a:rPr lang="pt-BR" dirty="0"/>
              <a:t>esse algoritmo, a CPU é atribuída aos processos na ordem em que eles a requisitam. Basicamente há uma fila única de processos prontos;</a:t>
            </a:r>
          </a:p>
          <a:p>
            <a:r>
              <a:rPr lang="pt-BR" dirty="0"/>
              <a:t> - Quando o processo requisita a CPU ele é executado. Quando chega mais processos, estes são inseridos em uma fila.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4531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 FIFO: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02" y="1700808"/>
            <a:ext cx="7646435" cy="4824536"/>
          </a:xfrm>
        </p:spPr>
      </p:pic>
    </p:spTree>
    <p:extLst>
      <p:ext uri="{BB962C8B-B14F-4D97-AF65-F5344CB8AC3E}">
        <p14:creationId xmlns:p14="http://schemas.microsoft.com/office/powerpoint/2010/main" val="168463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Vantagens e desvantagens </a:t>
            </a:r>
            <a:r>
              <a:rPr lang="pt-BR" dirty="0" err="1" smtClean="0"/>
              <a:t>fifo</a:t>
            </a:r>
            <a:r>
              <a:rPr lang="pt-BR" dirty="0" smtClean="0"/>
              <a:t>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 </a:t>
            </a:r>
            <a:r>
              <a:rPr lang="pt-BR" dirty="0" smtClean="0"/>
              <a:t>VANTAGENS :</a:t>
            </a:r>
          </a:p>
          <a:p>
            <a:r>
              <a:rPr lang="pt-BR" dirty="0" smtClean="0"/>
              <a:t>Todos os processos tendem a </a:t>
            </a:r>
            <a:r>
              <a:rPr lang="pt-BR" dirty="0" smtClean="0"/>
              <a:t>ser atendidos.</a:t>
            </a:r>
            <a:endParaRPr lang="pt-BR" dirty="0" smtClean="0"/>
          </a:p>
          <a:p>
            <a:r>
              <a:rPr lang="pt-BR" dirty="0" smtClean="0"/>
              <a:t>Grande </a:t>
            </a:r>
            <a:r>
              <a:rPr lang="pt-BR" dirty="0"/>
              <a:t>vantagem desse algoritmo é que: é de fácil entendimento e de fácil </a:t>
            </a:r>
            <a:r>
              <a:rPr lang="pt-BR" dirty="0" smtClean="0"/>
              <a:t>implementação</a:t>
            </a:r>
          </a:p>
          <a:p>
            <a:pPr lvl="0"/>
            <a:r>
              <a:rPr lang="pt-BR" dirty="0"/>
              <a:t>Necessário apenas uma fila de processos prontos, esperando pelo uso do processador.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 DESVANTAGENS:</a:t>
            </a:r>
            <a:endParaRPr lang="pt-BR" dirty="0"/>
          </a:p>
          <a:p>
            <a:r>
              <a:rPr lang="pt-BR" dirty="0" smtClean="0"/>
              <a:t>Muito sensível a ordem de chegada</a:t>
            </a:r>
          </a:p>
          <a:p>
            <a:r>
              <a:rPr lang="pt-BR" dirty="0" smtClean="0"/>
              <a:t>Se processos maiores chegarem primeiro aumentarão o tempo médio de espera.</a:t>
            </a:r>
          </a:p>
          <a:p>
            <a:r>
              <a:rPr lang="pt-BR" dirty="0" smtClean="0"/>
              <a:t>Não garante um tempo de resposta rápido</a:t>
            </a:r>
          </a:p>
        </p:txBody>
      </p:sp>
    </p:spTree>
    <p:extLst>
      <p:ext uri="{BB962C8B-B14F-4D97-AF65-F5344CB8AC3E}">
        <p14:creationId xmlns:p14="http://schemas.microsoft.com/office/powerpoint/2010/main" val="3372683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404664"/>
            <a:ext cx="7467600" cy="706090"/>
          </a:xfrm>
        </p:spPr>
        <p:txBody>
          <a:bodyPr/>
          <a:lstStyle/>
          <a:p>
            <a:r>
              <a:rPr lang="pt-BR" dirty="0" smtClean="0"/>
              <a:t>SJF (</a:t>
            </a:r>
            <a:r>
              <a:rPr lang="pt-BR" dirty="0" err="1" smtClean="0"/>
              <a:t>Shortest</a:t>
            </a:r>
            <a:r>
              <a:rPr lang="pt-BR" dirty="0" smtClean="0"/>
              <a:t> </a:t>
            </a:r>
            <a:r>
              <a:rPr lang="pt-BR" dirty="0" err="1" smtClean="0"/>
              <a:t>job</a:t>
            </a:r>
            <a:r>
              <a:rPr lang="pt-BR" dirty="0" smtClean="0"/>
              <a:t> </a:t>
            </a:r>
            <a:r>
              <a:rPr lang="pt-BR" dirty="0" err="1" smtClean="0"/>
              <a:t>first</a:t>
            </a:r>
            <a:r>
              <a:rPr lang="pt-BR" dirty="0" smtClean="0"/>
              <a:t>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57200" y="1580800"/>
            <a:ext cx="7467600" cy="5277200"/>
          </a:xfrm>
        </p:spPr>
        <p:txBody>
          <a:bodyPr>
            <a:normAutofit/>
          </a:bodyPr>
          <a:lstStyle/>
          <a:p>
            <a:r>
              <a:rPr lang="pt-BR" dirty="0" smtClean="0"/>
              <a:t>É </a:t>
            </a:r>
            <a:r>
              <a:rPr lang="pt-BR" dirty="0"/>
              <a:t>um algoritmo de escalonamento que é um caso especial de algoritmo por prioridade que é definida em função do surto de CPU (uso da CPU) ele privilegia processos de tamanho menor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r>
              <a:rPr lang="pt-BR" dirty="0" smtClean="0"/>
              <a:t>O </a:t>
            </a:r>
            <a:r>
              <a:rPr lang="pt-BR" dirty="0"/>
              <a:t>Algoritmo </a:t>
            </a:r>
            <a:r>
              <a:rPr lang="pt-BR" dirty="0" smtClean="0"/>
              <a:t>necessita do </a:t>
            </a:r>
            <a:r>
              <a:rPr lang="pt-BR" dirty="0"/>
              <a:t>conhecimento prévio dos tempos de execução de todos os processos</a:t>
            </a:r>
            <a:r>
              <a:rPr lang="pt-BR" dirty="0" smtClean="0"/>
              <a:t>. </a:t>
            </a:r>
            <a:r>
              <a:rPr lang="pt-BR" dirty="0"/>
              <a:t>E com esse conhecimento o processo com o menor tempo de execução sai da fila de pronto e entra em execução na CPU. E </a:t>
            </a:r>
            <a:r>
              <a:rPr lang="pt-BR" dirty="0" smtClean="0"/>
              <a:t>atrás </a:t>
            </a:r>
            <a:r>
              <a:rPr lang="pt-BR" dirty="0"/>
              <a:t>do </a:t>
            </a:r>
            <a:r>
              <a:rPr lang="pt-BR" dirty="0" smtClean="0"/>
              <a:t>mesmo, </a:t>
            </a:r>
            <a:r>
              <a:rPr lang="pt-BR" dirty="0"/>
              <a:t>forma uma fila de processos por ordem crescente de tempo de execução</a:t>
            </a:r>
            <a:r>
              <a:rPr lang="pt-BR" dirty="0" smtClean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2049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079" y="188640"/>
            <a:ext cx="7467600" cy="1143000"/>
          </a:xfrm>
        </p:spPr>
        <p:txBody>
          <a:bodyPr/>
          <a:lstStyle/>
          <a:p>
            <a:r>
              <a:rPr lang="pt-BR" dirty="0" smtClean="0"/>
              <a:t>Considerações SJF 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67079" y="1556792"/>
            <a:ext cx="7467600" cy="5161784"/>
          </a:xfrm>
        </p:spPr>
        <p:txBody>
          <a:bodyPr>
            <a:normAutofit/>
          </a:bodyPr>
          <a:lstStyle/>
          <a:p>
            <a:r>
              <a:rPr lang="pt-BR" dirty="0"/>
              <a:t>Reduz o tempo médio de espera dos processos em relação ao </a:t>
            </a:r>
            <a:r>
              <a:rPr lang="pt-BR" dirty="0" smtClean="0"/>
              <a:t>FIFO;</a:t>
            </a:r>
            <a:endParaRPr lang="pt-BR" dirty="0" smtClean="0"/>
          </a:p>
          <a:p>
            <a:r>
              <a:rPr lang="pt-BR" dirty="0" smtClean="0"/>
              <a:t>Quando dois ou mais processos apresentarem o mesmo </a:t>
            </a:r>
            <a:r>
              <a:rPr lang="pt-BR" dirty="0" smtClean="0"/>
              <a:t>tempo </a:t>
            </a:r>
            <a:r>
              <a:rPr lang="pt-BR" dirty="0" smtClean="0"/>
              <a:t>de execução , a ordem será decidida de acordo com a prioridade definida , podendo ser por exemplo FIFO.</a:t>
            </a:r>
          </a:p>
          <a:p>
            <a:r>
              <a:rPr lang="pt-BR" dirty="0" smtClean="0"/>
              <a:t>Difícil </a:t>
            </a:r>
            <a:r>
              <a:rPr lang="pt-BR" dirty="0" smtClean="0"/>
              <a:t>determinar</a:t>
            </a:r>
            <a:r>
              <a:rPr lang="pt-BR" dirty="0"/>
              <a:t>, exatamente, quanto tempo de CPU o processo vai utilizar para terminar seu processamento</a:t>
            </a:r>
            <a:r>
              <a:rPr lang="pt-BR" dirty="0" smtClean="0"/>
              <a:t>.</a:t>
            </a:r>
            <a:endParaRPr lang="pt-BR" dirty="0"/>
          </a:p>
          <a:p>
            <a:r>
              <a:rPr lang="pt-BR" dirty="0" smtClean="0"/>
              <a:t>Apresenta uma grande variância no tempo de espera 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028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88140" y="332656"/>
            <a:ext cx="7467600" cy="796950"/>
          </a:xfrm>
        </p:spPr>
        <p:txBody>
          <a:bodyPr/>
          <a:lstStyle/>
          <a:p>
            <a:r>
              <a:rPr lang="pt-BR" dirty="0" smtClean="0"/>
              <a:t>SRT (Short </a:t>
            </a:r>
            <a:r>
              <a:rPr lang="pt-BR" dirty="0" err="1" smtClean="0"/>
              <a:t>Remaining</a:t>
            </a:r>
            <a:r>
              <a:rPr lang="pt-BR" dirty="0" smtClean="0"/>
              <a:t> Time)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57200" y="1340768"/>
            <a:ext cx="7467600" cy="5133184"/>
          </a:xfrm>
        </p:spPr>
        <p:txBody>
          <a:bodyPr>
            <a:normAutofit lnSpcReduction="10000"/>
          </a:bodyPr>
          <a:lstStyle/>
          <a:p>
            <a:r>
              <a:rPr lang="pt-BR" dirty="0"/>
              <a:t>É</a:t>
            </a:r>
            <a:r>
              <a:rPr lang="pt-BR" dirty="0" smtClean="0"/>
              <a:t> </a:t>
            </a:r>
            <a:r>
              <a:rPr lang="pt-BR" dirty="0"/>
              <a:t>a variante </a:t>
            </a:r>
            <a:r>
              <a:rPr lang="pt-BR" dirty="0" err="1"/>
              <a:t>preemptiva</a:t>
            </a:r>
            <a:r>
              <a:rPr lang="pt-BR" dirty="0"/>
              <a:t> do escalonamento SJF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r>
              <a:rPr lang="pt-BR" dirty="0" smtClean="0"/>
              <a:t>O processo com menor para ser completado também é escolhido.</a:t>
            </a:r>
          </a:p>
          <a:p>
            <a:endParaRPr lang="pt-BR" dirty="0" smtClean="0"/>
          </a:p>
          <a:p>
            <a:r>
              <a:rPr lang="pt-BR" dirty="0"/>
              <a:t>Na entrada de um novo processo, o algoritmo de escalonamento avalia seu tempo de execução incluindo o </a:t>
            </a:r>
            <a:r>
              <a:rPr lang="pt-BR" dirty="0" err="1"/>
              <a:t>job</a:t>
            </a:r>
            <a:r>
              <a:rPr lang="pt-BR" dirty="0"/>
              <a:t> em execução, caso a estimativa de seu tempo de execução seja menor que o processo corrente em execução, ocorre a substituição do processo em execução pelo processo recém chegado</a:t>
            </a:r>
            <a:r>
              <a:rPr lang="pt-BR" dirty="0" smtClean="0"/>
              <a:t>.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00695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5617" y="404664"/>
            <a:ext cx="7467600" cy="796950"/>
          </a:xfrm>
        </p:spPr>
        <p:txBody>
          <a:bodyPr/>
          <a:lstStyle/>
          <a:p>
            <a:r>
              <a:rPr lang="pt-BR" dirty="0" smtClean="0"/>
              <a:t>Exemplo SRT 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32240" y="6219087"/>
            <a:ext cx="1296144" cy="504056"/>
          </a:xfrm>
        </p:spPr>
        <p:txBody>
          <a:bodyPr/>
          <a:lstStyle/>
          <a:p>
            <a:r>
              <a:rPr lang="pt-BR" dirty="0"/>
              <a:t>14,25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40768"/>
            <a:ext cx="7571184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90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7467600" cy="864096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Considerações SRT :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57200" y="1052736"/>
            <a:ext cx="7467600" cy="5421216"/>
          </a:xfrm>
        </p:spPr>
        <p:txBody>
          <a:bodyPr/>
          <a:lstStyle/>
          <a:p>
            <a:r>
              <a:rPr lang="pt-BR" dirty="0"/>
              <a:t>Apresenta uma sobrecarga maior que o </a:t>
            </a:r>
            <a:r>
              <a:rPr lang="pt-BR" dirty="0" smtClean="0"/>
              <a:t>SJF.</a:t>
            </a:r>
          </a:p>
          <a:p>
            <a:endParaRPr lang="pt-BR" dirty="0"/>
          </a:p>
          <a:p>
            <a:pPr lvl="0"/>
            <a:r>
              <a:rPr lang="pt-BR" dirty="0"/>
              <a:t>Possibilidade potencial de processos grandes sendo adiados por um tempo indeterminado (</a:t>
            </a:r>
            <a:r>
              <a:rPr lang="pt-BR" dirty="0" err="1"/>
              <a:t>starvation</a:t>
            </a:r>
            <a:r>
              <a:rPr lang="pt-BR" dirty="0"/>
              <a:t>) devido ao excessivo favorecimento de processos de curta duração;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9446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lcão Envidraçado">
  <a:themeElements>
    <a:clrScheme name="Balcão Envidraçado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Balcão Envidraçado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Balcão Envidraçad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385</TotalTime>
  <Words>642</Words>
  <Application>Microsoft Office PowerPoint</Application>
  <PresentationFormat>Apresentação na tela (4:3)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Calibri</vt:lpstr>
      <vt:lpstr>Century Schoolbook</vt:lpstr>
      <vt:lpstr>Wingdings</vt:lpstr>
      <vt:lpstr>Wingdings 2</vt:lpstr>
      <vt:lpstr>Balcão Envidraçado</vt:lpstr>
      <vt:lpstr>Estrutura de Dados Escalonamento de processos</vt:lpstr>
      <vt:lpstr>Filas</vt:lpstr>
      <vt:lpstr>Escalonamento de processos</vt:lpstr>
      <vt:lpstr>Conceitos :Processos e Preempção</vt:lpstr>
      <vt:lpstr>Escalonamento First-In-First-Out (FIFO)</vt:lpstr>
      <vt:lpstr>Exemplo FIFO:</vt:lpstr>
      <vt:lpstr>Vantagens e desvantagens fifo:</vt:lpstr>
      <vt:lpstr>SJF (Shortest job first)</vt:lpstr>
      <vt:lpstr>Considerações SJF :</vt:lpstr>
      <vt:lpstr>SRT (Short Remaining Time)</vt:lpstr>
      <vt:lpstr>Exemplo SRT :</vt:lpstr>
      <vt:lpstr>          Considerações SRT :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Talles</dc:creator>
  <cp:lastModifiedBy>Alice Costa</cp:lastModifiedBy>
  <cp:revision>29</cp:revision>
  <dcterms:created xsi:type="dcterms:W3CDTF">2013-02-06T13:46:05Z</dcterms:created>
  <dcterms:modified xsi:type="dcterms:W3CDTF">2015-05-12T21:13:34Z</dcterms:modified>
</cp:coreProperties>
</file>