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65" r:id="rId10"/>
    <p:sldId id="267" r:id="rId11"/>
    <p:sldId id="270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41831" autoAdjust="0"/>
  </p:normalViewPr>
  <p:slideViewPr>
    <p:cSldViewPr snapToGrid="0">
      <p:cViewPr varScale="1">
        <p:scale>
          <a:sx n="31" d="100"/>
          <a:sy n="31" d="100"/>
        </p:scale>
        <p:origin x="2136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2E5667-77C4-4689-A9E8-0A97379A8879}" type="datetimeFigureOut">
              <a:rPr lang="pt-BR" smtClean="0"/>
              <a:t>12/05/2015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D5DB0-FB46-4DE8-9ED4-F95B712A2D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6958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 smtClean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(Com o intuito de armazenar elementos organizadamente, vetores podem ser criados. Porém, dependendo da quantidade de elementos e da flexibilidade que eles necessitem ter para ser inseridos ou retirados, esses vetores podem depender de muita memória, tornando essa estrutura inadequada.</a:t>
            </a:r>
          </a:p>
          <a:p>
            <a:r>
              <a:rPr lang="pt-BR" sz="1200" kern="1200" dirty="0" smtClean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Uma forma de melhorar essa estrutura então seria criar um vetor de ponteiros que então só gastaria memória com as células ocupadas, deixando as desocupadas receberem NULL. )</a:t>
            </a:r>
          </a:p>
          <a:p>
            <a:endParaRPr lang="pt-BR" sz="1200" kern="1200" dirty="0" smtClean="0">
              <a:solidFill>
                <a:srgbClr val="FF0000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 ainda assim, existe uma outra estrutura que é capaz de organizar esses elementos obedecendo uma função lógica para organiza-los. Assim é possível busca rápida e fácil gastando o mínimo de memória. Essa estrutura pode ser chamada de </a:t>
            </a:r>
            <a:r>
              <a:rPr lang="pt-BR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tabela </a:t>
            </a:r>
            <a:r>
              <a:rPr lang="pt-BR" sz="120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pt-BR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“</a:t>
            </a:r>
            <a:r>
              <a:rPr lang="pt-BR" sz="120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pt-BR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pt-BR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ou tabela de dispersão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será explorada nesse seminário.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D5DB0-FB46-4DE8-9ED4-F95B712A2D9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9499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(Nas tabelas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cada elemento é identificado por um valor (chave de pesquisa) que o identifique de forma eficiente, isso é, evitando gastar memória com valores muito grandes quando o que realmente importa ou faz sentido a uma associação efetiva é um valor muito menor. </a:t>
            </a:r>
          </a:p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Através de uma função de dispersão ou função de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Hashing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 gerado um índice para determinada chave e assim as informações são distribuídas pela tabela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Hashing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 ideal então seria que cada índice retornasse a uma única informação, então ela é de fundamental importância para a eficiência da tabela e de suas operações.)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D5DB0-FB46-4DE8-9ED4-F95B712A2D9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268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smtClean="0">
                <a:solidFill>
                  <a:schemeClr val="tx1"/>
                </a:solidFill>
              </a:rPr>
              <a:t>Dependendo dos valores podem haver dois ou mais elementos que através da função de dispersão se encaixem na mesma posição. Quando dois elementos são mapeados para o mesmo índice na tabela é dito que ocorreu uma </a:t>
            </a:r>
            <a:r>
              <a:rPr lang="pt-BR" i="1" dirty="0" smtClean="0">
                <a:solidFill>
                  <a:schemeClr val="tx1"/>
                </a:solidFill>
              </a:rPr>
              <a:t>colisão.</a:t>
            </a:r>
            <a:endParaRPr lang="pt-BR" dirty="0" smtClean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D5DB0-FB46-4DE8-9ED4-F95B712A2D9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751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Explicação primeira frase ( ou seja, passa-se o valor do elemento como parâmetro dessa função/chave de busca e ela retorna a posição/índice da tabela que o ponteiro do elemento se referenciará (no caso de inserção de valores) ou retornará o conteúdo daquela posição (no caso de busca).)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smtClean="0"/>
              <a:t>Explicação primeira propriedade(ou seja, ser de acesso rápido).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smtClean="0"/>
              <a:t>Explicação segunda</a:t>
            </a:r>
            <a:r>
              <a:rPr lang="pt-BR" baseline="0" dirty="0" smtClean="0"/>
              <a:t> propriedade(</a:t>
            </a:r>
            <a:r>
              <a:rPr lang="pt-BR" dirty="0" smtClean="0"/>
              <a:t>ou seja, utilizar a função de </a:t>
            </a:r>
            <a:r>
              <a:rPr lang="pt-BR" dirty="0" err="1" smtClean="0"/>
              <a:t>hash</a:t>
            </a:r>
            <a:r>
              <a:rPr lang="pt-BR" dirty="0" smtClean="0"/>
              <a:t> que resulte no mínimo de colisões possível para continuar garantindo o acesso rápido, evitando assim os tratamentos adicionais de colisão.)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D5DB0-FB46-4DE8-9ED4-F95B712A2D9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027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comum ocorrerem colisões </a:t>
            </a:r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 menos que se tratem de funções de </a:t>
            </a:r>
            <a:r>
              <a:rPr lang="pt-BR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Hashing</a:t>
            </a:r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criptografia, que são as que exigem ser perfeitas), 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isso acontece geralmente porque o número de chaves possíveis é muito maior do que o número de entradas possíveis da tabela e porque não é possível garantir que as funções de dispersão são eficientes o suficiente para o espalhamento das informações. 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 contar que o paradoxo do aniversário de </a:t>
            </a:r>
            <a:r>
              <a:rPr lang="pt-B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Fellen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já previa que num grupo de 23 pessoas juntas ao acaso já existe mais de 50% de chance de 2 dessas pessoas façam aniversário no mesmo dia, quem dirá em </a:t>
            </a:r>
            <a:r>
              <a:rPr lang="pt-B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arrays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volumosas como as que são frequentemente aplicadas na tabela </a:t>
            </a:r>
            <a:r>
              <a:rPr lang="pt-B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Através do cálculo do fator de carga α (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razão entre o número de elementos e o número de índices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as principais medidas para resolver o caso de colisão são pelo endereçamento aberto (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como, por exemplo, o </a:t>
            </a:r>
            <a:r>
              <a:rPr lang="pt-BR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uso da posição consecutiva livre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t-BR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uso de uma segunda função de dispersão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são métodos que os elementos ficarão referenciados em posições desocupadas, ou seja, não precisam de ponteiros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quando o resultado do fator de carga  é 0&lt;α&lt;1 ou pelo endereçamento encadeado (</a:t>
            </a:r>
            <a:r>
              <a:rPr lang="pt-BR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uso de listas encadeadas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método de criação de lista em uma posição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frequentemente usado quando α&gt;1.</a:t>
            </a:r>
          </a:p>
          <a:p>
            <a:r>
              <a:rPr lang="pt-BR" sz="1200" dirty="0" smtClean="0"/>
              <a:t>Seguindo o código abaixo, mostrar-se-ão tais métodos de tratamento de colisões.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D5DB0-FB46-4DE8-9ED4-F95B712A2D9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8832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Nessa estratégia, através de um incremento circular, procurar-se-á pela próxima posição livre para armazenar o ponteiro que referencia elemento que estava colidindo. 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Graças à política de não permitir que uma tabela tenha mais do que 75% dos índices ocupados justamente para não aumentar a chance de colisão na tabela, sempre ter-se-á alguma posição livre.</a:t>
            </a:r>
          </a:p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o elemento que estava colidindo for procurado através da função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ele será procurado a partir da ocorrência da colisão até que seja encontrado ou que uma posição vazia apareça.</a:t>
            </a:r>
          </a:p>
          <a:p>
            <a:endParaRPr lang="pt-B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Embora esse seja um método simples de tratar as colisões, desse modo ocorrerá a concentração de lugares ocupados na tabela enquanto o ideal seria dispersar.</a:t>
            </a:r>
          </a:p>
          <a:p>
            <a:endParaRPr lang="pt-B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D5DB0-FB46-4DE8-9ED4-F95B712A2D9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3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Método muito parecido com o anterior, porém possui uma segunda função de dispersão para evitar a concentração de lugares ocupados na tabela. Através dessa segunda função para trata a colisão, procura-se uma posição livre com incrementos circulares dados por essa nova função.</a:t>
            </a:r>
          </a:p>
          <a:p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Cuidados: a segunda função deve ser limitada a não retornar zero (incremento zero não resolveria nada) e de preferência não deve retorna um número divisor da dimensão da tabela também, porque isso limitaria a procura pela posição livre num conjunto restrito dos índices.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D5DB0-FB46-4DE8-9ED4-F95B712A2D95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5829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Diferente das estratégias anteriores em que o elemento que “chegasse primeiro” no índice correspondente ficava com o lugar e o que causasse a colisão teria que encontrar outra posição vazia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nessa estratégia cada elemento da tabela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representa um ponteiro para uma lista encadeada, ou seja, todos elementos da tabela formam uma lista adjunta aos respectivos índices e havendo mais de um elemento que corresponda a um índice, eles se juntarão à lista respectiva.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D5DB0-FB46-4DE8-9ED4-F95B712A2D95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722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especificação da tabela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pode-se fazer nela operações de criação, destruição, status, operações básicas e outras operações.</a:t>
            </a:r>
          </a:p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Operações de criação e destruição </a:t>
            </a:r>
            <a:r>
              <a:rPr lang="pt-BR" sz="1200" b="1" u="non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são as funções de criar uma tabela inicialmente vazia e a de destruir uma tabela.</a:t>
            </a:r>
          </a:p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Operações de status são funções 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verificar se a tabela está vazia, se está cheia e o fator de carga da tabela.</a:t>
            </a:r>
          </a:p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Operações básicas 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são as operações que já entraram em exemplos já visto, como as funções de inserção de itens, busca e remoção de itens.</a:t>
            </a:r>
          </a:p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Outras operações 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são as funções de limpeza (todos os itens são descartados) e do tamanho (para saber o número de elementos em uso).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D5DB0-FB46-4DE8-9ED4-F95B712A2D95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2744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Vantagens:</a:t>
            </a:r>
            <a:endParaRPr lang="pt-BR" sz="11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trabalharmos com problemas envolvendo </a:t>
            </a:r>
            <a:r>
              <a:rPr lang="pt-BR" sz="1200" i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</a:t>
            </a:r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1.000.000 de dados, podemos imaginar uma tabela de </a:t>
            </a:r>
            <a:r>
              <a:rPr lang="pt-BR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hashing</a:t>
            </a:r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2.000 entradas, onde temos uma divisão do espaço de busca da ordem de </a:t>
            </a:r>
            <a:r>
              <a:rPr lang="pt-BR" sz="1200" i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/2.000 de imediato;</a:t>
            </a:r>
            <a:endParaRPr lang="pt-BR" sz="1100" u="sng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Aplicação imediata a arquivos;</a:t>
            </a:r>
            <a:endParaRPr lang="pt-BR" sz="1100" u="sng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métodos de </a:t>
            </a:r>
            <a:r>
              <a:rPr lang="pt-BR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hashing</a:t>
            </a:r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tanto de endereçamento aberto como fechado, podem ser utilizados praticamente sem nenhuma alteração em um ambiente de dados persistentes utilizando arquivos em disco;</a:t>
            </a:r>
            <a:endParaRPr lang="pt-BR" sz="1100" u="sng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São melhores do que listas quando a quantidade de dados é maior e são estruturas mais simples do que árvores;</a:t>
            </a:r>
            <a:endParaRPr lang="pt-BR" sz="1100" u="sng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pt-BR" sz="11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Desvantagens</a:t>
            </a:r>
            <a:endParaRPr lang="pt-BR" sz="11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Dependência da escolha de função de </a:t>
            </a:r>
            <a:r>
              <a:rPr lang="pt-BR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hashing</a:t>
            </a:r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pt-BR" sz="1100" u="sng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Para que um tempo de acesso médio ideal seja mantido, é necessário que a função de </a:t>
            </a:r>
            <a:r>
              <a:rPr lang="pt-BR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hashing</a:t>
            </a:r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divida o universo dos dados de entrada em b conjuntos de tamanho aproximadamente igual.</a:t>
            </a:r>
            <a:endParaRPr lang="pt-BR" sz="1100" u="sng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 médio de acesso é ótimo somente em uma faixa;</a:t>
            </a:r>
            <a:endParaRPr lang="pt-BR" sz="1100" u="sng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 complexidade linear implica em um crescimento mais rápido em relação a n do que as árvores, por exemplo;</a:t>
            </a:r>
            <a:endParaRPr lang="pt-BR" sz="1100" u="sng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 uma faixa de valores de n, determinada por b, onde o </a:t>
            </a:r>
            <a:r>
              <a:rPr lang="pt-BR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hashing</a:t>
            </a:r>
            <a:r>
              <a:rPr lang="pt-B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será muito melhor do que uma árvore. Fora dessa faixa é pior;</a:t>
            </a:r>
            <a:endParaRPr lang="pt-BR" sz="1100" u="sng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D5DB0-FB46-4DE8-9ED4-F95B712A2D95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514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Busca de elementos em base de dados como estruturas de dados em memória, bancos de dados, mecanismos de busca na Internet;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verificação de integridade de dados grandes como no envio de dados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com resultado da função </a:t>
            </a:r>
            <a:r>
              <a:rPr lang="pt-BR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receptor calcula função </a:t>
            </a:r>
            <a:r>
              <a:rPr lang="pt-BR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pt-BR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sobre dados recebidos e obtém novo resultado. Se resultados iguais, dados são iguais, se diferentes, novo </a:t>
            </a:r>
            <a:r>
              <a:rPr lang="pt-BR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download 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Linux, por exemplo, é feito;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armazenamento de senhas com segurança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somente resultado função </a:t>
            </a:r>
            <a:r>
              <a:rPr lang="pt-BR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pt-BR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armazenado no servidor;</a:t>
            </a:r>
          </a:p>
          <a:p>
            <a:pPr lvl="0"/>
            <a:r>
              <a:rPr lang="pt-BR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Hashes</a:t>
            </a:r>
            <a:r>
              <a:rPr lang="pt-B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criptográficos.</a:t>
            </a:r>
          </a:p>
          <a:p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D5DB0-FB46-4DE8-9ED4-F95B712A2D95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1232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Percebeu-se a importância da tabela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quando se objetiva armazenar informações de modo que elas estejam disponíveis assim que precisarmos e de maneira a não desperdiçar memória.</a:t>
            </a:r>
          </a:p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Percebeu-se também que as limitações encontradas na tabela estão na impossibilidade de armazenar informação iguais (a função busca retorna a informação previamente armazenada ao invés de aceitar a inserção dela novamente), impossibilidade de recuperar os elementos em ordem, na necessidade de conhecer bem a chave a ser utilizada na função de dispersão e na possibilidade de necessitar redimensionar a tabela para assegurar o funcionamento ideal no caso de endereçamento aberto.</a:t>
            </a:r>
          </a:p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ideal e sonhado por todo programador é que sempre se consiga a tabela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sem colisões e com o mesmo número de chaves do que seu.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D5DB0-FB46-4DE8-9ED4-F95B712A2D95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8573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74055" y="647115"/>
            <a:ext cx="9718015" cy="3159596"/>
          </a:xfrm>
        </p:spPr>
        <p:txBody>
          <a:bodyPr/>
          <a:lstStyle/>
          <a:p>
            <a:r>
              <a:rPr lang="pt-BR" b="1" dirty="0"/>
              <a:t>Tabela </a:t>
            </a:r>
            <a:r>
              <a:rPr lang="pt-BR" b="1" i="1" dirty="0" err="1"/>
              <a:t>Hash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533062" y="3629466"/>
            <a:ext cx="5230421" cy="2246062"/>
          </a:xfrm>
        </p:spPr>
        <p:txBody>
          <a:bodyPr>
            <a:normAutofit/>
          </a:bodyPr>
          <a:lstStyle/>
          <a:p>
            <a:r>
              <a:rPr lang="pt-BR" dirty="0" smtClean="0"/>
              <a:t>Equipe: </a:t>
            </a:r>
          </a:p>
          <a:p>
            <a:r>
              <a:rPr lang="pt-BR" dirty="0" smtClean="0"/>
              <a:t>Agnes </a:t>
            </a:r>
            <a:r>
              <a:rPr lang="pt-BR" dirty="0"/>
              <a:t>Lopes </a:t>
            </a:r>
            <a:r>
              <a:rPr lang="pt-BR" dirty="0" err="1" smtClean="0"/>
              <a:t>Caon</a:t>
            </a:r>
            <a:endParaRPr lang="pt-BR" dirty="0" smtClean="0"/>
          </a:p>
          <a:p>
            <a:r>
              <a:rPr lang="pt-BR" dirty="0" smtClean="0"/>
              <a:t>Bárbara </a:t>
            </a:r>
            <a:r>
              <a:rPr lang="pt-BR" dirty="0"/>
              <a:t>C. Carvalho da </a:t>
            </a:r>
            <a:r>
              <a:rPr lang="pt-BR" dirty="0" smtClean="0"/>
              <a:t>Silva</a:t>
            </a:r>
          </a:p>
          <a:p>
            <a:r>
              <a:rPr lang="pt-BR" dirty="0" smtClean="0"/>
              <a:t> </a:t>
            </a:r>
            <a:r>
              <a:rPr lang="pt-BR" dirty="0" err="1"/>
              <a:t>Crislainde</a:t>
            </a:r>
            <a:r>
              <a:rPr lang="pt-BR" dirty="0"/>
              <a:t> Rocha Machado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7421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31914" y="2159541"/>
            <a:ext cx="10162193" cy="2023353"/>
          </a:xfrm>
        </p:spPr>
        <p:txBody>
          <a:bodyPr/>
          <a:lstStyle/>
          <a:p>
            <a:pPr lvl="0"/>
            <a:r>
              <a:rPr lang="pt-BR" dirty="0"/>
              <a:t>Introdução</a:t>
            </a:r>
            <a:r>
              <a:rPr lang="pt-BR" b="1" dirty="0"/>
              <a:t/>
            </a:r>
            <a:br>
              <a:rPr lang="pt-BR" b="1" dirty="0"/>
            </a:b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2431914" y="3501958"/>
            <a:ext cx="944234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 smtClean="0"/>
              <a:t>A  </a:t>
            </a:r>
            <a:r>
              <a:rPr lang="pt-BR" sz="2800" dirty="0"/>
              <a:t>estrutura </a:t>
            </a:r>
            <a:r>
              <a:rPr lang="pt-BR" sz="2800" dirty="0" smtClean="0"/>
              <a:t>chamada de </a:t>
            </a:r>
            <a:r>
              <a:rPr lang="pt-BR" sz="2800" i="1" dirty="0"/>
              <a:t>tabela </a:t>
            </a:r>
            <a:r>
              <a:rPr lang="pt-BR" sz="2800" i="1" dirty="0" err="1"/>
              <a:t>hash</a:t>
            </a:r>
            <a:r>
              <a:rPr lang="pt-BR" sz="2800" i="1" dirty="0"/>
              <a:t>, “</a:t>
            </a:r>
            <a:r>
              <a:rPr lang="pt-BR" sz="2800" i="1" dirty="0" err="1"/>
              <a:t>hash</a:t>
            </a:r>
            <a:r>
              <a:rPr lang="pt-BR" sz="2800" i="1" dirty="0"/>
              <a:t> </a:t>
            </a:r>
            <a:r>
              <a:rPr lang="pt-BR" sz="2800" i="1" dirty="0" err="1"/>
              <a:t>table</a:t>
            </a:r>
            <a:r>
              <a:rPr lang="pt-BR" sz="2800" i="1" dirty="0"/>
              <a:t>” ou tabela de dispersão</a:t>
            </a:r>
            <a:r>
              <a:rPr lang="pt-BR" sz="2800" dirty="0" smtClean="0"/>
              <a:t>, </a:t>
            </a:r>
            <a:r>
              <a:rPr lang="pt-BR" sz="2800" dirty="0"/>
              <a:t>é capaz de organizar </a:t>
            </a:r>
            <a:r>
              <a:rPr lang="pt-BR" sz="2800" dirty="0" smtClean="0"/>
              <a:t>elementos </a:t>
            </a:r>
            <a:r>
              <a:rPr lang="pt-BR" sz="2800" dirty="0"/>
              <a:t>obedecendo uma função </a:t>
            </a:r>
            <a:r>
              <a:rPr lang="pt-BR" sz="2800" dirty="0" smtClean="0"/>
              <a:t>lógica. </a:t>
            </a:r>
            <a:r>
              <a:rPr lang="pt-BR" sz="2800" dirty="0"/>
              <a:t>Assim é possível busca rápida e fácil gastando o mínimo de memória. </a:t>
            </a:r>
            <a:r>
              <a:rPr lang="pt-BR" sz="2800" dirty="0" smtClean="0"/>
              <a:t> </a:t>
            </a:r>
            <a:endParaRPr lang="pt-BR" sz="2800" dirty="0"/>
          </a:p>
          <a:p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479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1024647"/>
          </a:xfrm>
        </p:spPr>
        <p:txBody>
          <a:bodyPr/>
          <a:lstStyle/>
          <a:p>
            <a:pPr lvl="0"/>
            <a:r>
              <a:rPr lang="pt-BR" sz="3600" dirty="0"/>
              <a:t>A tabela </a:t>
            </a:r>
            <a:r>
              <a:rPr lang="pt-BR" sz="3600" dirty="0" err="1"/>
              <a:t>Hash</a:t>
            </a:r>
            <a:endParaRPr lang="pt-BR" sz="360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898701" y="1621103"/>
            <a:ext cx="8915399" cy="1555864"/>
          </a:xfrm>
        </p:spPr>
        <p:txBody>
          <a:bodyPr>
            <a:normAutofit fontScale="92500"/>
          </a:bodyPr>
          <a:lstStyle/>
          <a:p>
            <a:r>
              <a:rPr lang="pt-BR" dirty="0" err="1"/>
              <a:t>Hash</a:t>
            </a:r>
            <a:r>
              <a:rPr lang="pt-BR" dirty="0"/>
              <a:t> é uma estrutura de dados do tipo dicionário, ou seja, são estruturas que possibilitam as operações de inserir, pesquisar e remover, utilizando uma função sobre parte da informação (chave) para retornar o índice onde a informação deve ou deveria estar armazenada. Essa função de mapeamento a chave para um índice de um arranjo é chamada de Função </a:t>
            </a:r>
            <a:r>
              <a:rPr lang="pt-BR" dirty="0" err="1"/>
              <a:t>Hashing</a:t>
            </a:r>
            <a:r>
              <a:rPr lang="pt-BR" dirty="0"/>
              <a:t>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180" y="3772007"/>
            <a:ext cx="5675462" cy="1705303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5037834" y="3445951"/>
            <a:ext cx="2506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função </a:t>
            </a:r>
            <a:r>
              <a:rPr lang="pt-BR" sz="1200" dirty="0" err="1"/>
              <a:t>hashing</a:t>
            </a:r>
            <a:endParaRPr lang="pt-BR" sz="12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7822438" y="3445951"/>
            <a:ext cx="1277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Tabela</a:t>
            </a:r>
            <a:endParaRPr lang="pt-BR" sz="12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7160488" y="5477310"/>
            <a:ext cx="1290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chave</a:t>
            </a:r>
            <a:endParaRPr lang="pt-BR" sz="12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2898701" y="5934670"/>
            <a:ext cx="7656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evitar desperdício de memória com posições vazias em um vetor de estruturas, esse vetor deve ser de ponteiros.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0904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10839" y="2999117"/>
            <a:ext cx="8915399" cy="3410998"/>
          </a:xfrm>
        </p:spPr>
        <p:txBody>
          <a:bodyPr>
            <a:normAutofit/>
          </a:bodyPr>
          <a:lstStyle/>
          <a:p>
            <a:pPr algn="just"/>
            <a:r>
              <a:rPr lang="pt-BR" sz="4400" dirty="0" smtClean="0"/>
              <a:t>Colisão</a:t>
            </a:r>
            <a:endParaRPr lang="pt-BR" sz="44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621" y="1896608"/>
            <a:ext cx="3927405" cy="299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070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09796" y="1316183"/>
            <a:ext cx="8915400" cy="491836"/>
          </a:xfrm>
        </p:spPr>
        <p:txBody>
          <a:bodyPr>
            <a:normAutofit fontScale="90000"/>
          </a:bodyPr>
          <a:lstStyle/>
          <a:p>
            <a:r>
              <a:rPr lang="pt-BR" dirty="0"/>
              <a:t>Função de dispersão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2"/>
          </p:nvPr>
        </p:nvSpPr>
        <p:spPr>
          <a:xfrm>
            <a:off x="1891145" y="2546978"/>
            <a:ext cx="9551122" cy="4311022"/>
          </a:xfrm>
        </p:spPr>
        <p:txBody>
          <a:bodyPr>
            <a:normAutofit/>
          </a:bodyPr>
          <a:lstStyle/>
          <a:p>
            <a:pPr algn="just"/>
            <a:r>
              <a:rPr lang="pt-BR" sz="2000" dirty="0" smtClean="0"/>
              <a:t>	É </a:t>
            </a:r>
            <a:r>
              <a:rPr lang="pt-BR" sz="2000" dirty="0"/>
              <a:t>a função de dispersão que faz referência a um índice da tabela </a:t>
            </a:r>
            <a:r>
              <a:rPr lang="pt-BR" sz="2000" dirty="0" smtClean="0"/>
              <a:t>de acordo com </a:t>
            </a:r>
            <a:r>
              <a:rPr lang="pt-BR" sz="2000" dirty="0"/>
              <a:t>a chave inserida para </a:t>
            </a:r>
            <a:r>
              <a:rPr lang="pt-BR" sz="2000" dirty="0" smtClean="0"/>
              <a:t>busca.</a:t>
            </a:r>
            <a:r>
              <a:rPr lang="pt-BR" sz="2000" dirty="0"/>
              <a:t> </a:t>
            </a:r>
            <a:endParaRPr lang="pt-BR" sz="2000" dirty="0" smtClean="0"/>
          </a:p>
          <a:p>
            <a:pPr algn="just"/>
            <a:r>
              <a:rPr lang="pt-BR" sz="2000" dirty="0"/>
              <a:t>	</a:t>
            </a:r>
            <a:r>
              <a:rPr lang="pt-BR" sz="2000" dirty="0" smtClean="0"/>
              <a:t>Então</a:t>
            </a:r>
            <a:r>
              <a:rPr lang="pt-BR" sz="2000" dirty="0"/>
              <a:t>, para que a função </a:t>
            </a:r>
            <a:r>
              <a:rPr lang="pt-BR" sz="2000" dirty="0" err="1"/>
              <a:t>Hash</a:t>
            </a:r>
            <a:r>
              <a:rPr lang="pt-BR" sz="2000" dirty="0"/>
              <a:t> seja o mais eficiente possível ela </a:t>
            </a:r>
            <a:r>
              <a:rPr lang="pt-BR" sz="2000" dirty="0" smtClean="0"/>
              <a:t>deve ter </a:t>
            </a:r>
            <a:r>
              <a:rPr lang="pt-BR" sz="2000" dirty="0"/>
              <a:t>as seguintes propriedades: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pt-BR" sz="2000" dirty="0"/>
              <a:t>Ser eficientemente avaliada de modo que a avaliando já se pode determinar onde o elemento se </a:t>
            </a:r>
            <a:r>
              <a:rPr lang="pt-BR" sz="2000" dirty="0" smtClean="0"/>
              <a:t>encontra,.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pt-BR" sz="2000" dirty="0" smtClean="0"/>
              <a:t>Espalhar </a:t>
            </a:r>
            <a:r>
              <a:rPr lang="pt-BR" sz="2000" dirty="0"/>
              <a:t>bem a chave de </a:t>
            </a:r>
            <a:r>
              <a:rPr lang="pt-BR" sz="2000" dirty="0" smtClean="0"/>
              <a:t>busca</a:t>
            </a:r>
            <a:r>
              <a:rPr lang="pt-B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2759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1895807" y="1337243"/>
            <a:ext cx="7993063" cy="4608513"/>
            <a:chOff x="68" y="1298"/>
            <a:chExt cx="5035" cy="2903"/>
          </a:xfrm>
        </p:grpSpPr>
        <p:grpSp>
          <p:nvGrpSpPr>
            <p:cNvPr id="5" name="Group 44"/>
            <p:cNvGrpSpPr>
              <a:grpSpLocks/>
            </p:cNvGrpSpPr>
            <p:nvPr/>
          </p:nvGrpSpPr>
          <p:grpSpPr bwMode="auto">
            <a:xfrm>
              <a:off x="831" y="1298"/>
              <a:ext cx="4272" cy="2903"/>
              <a:chOff x="930" y="1298"/>
              <a:chExt cx="4272" cy="3504"/>
            </a:xfrm>
          </p:grpSpPr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2946" y="1298"/>
                <a:ext cx="1008" cy="1152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pt-BR" altLang="pt-BR" sz="2400" dirty="0">
                    <a:latin typeface="Verdana" panose="020B0604030504040204" pitchFamily="34" charset="0"/>
                  </a:rPr>
                  <a:t>Função de </a:t>
                </a:r>
              </a:p>
              <a:p>
                <a:pPr algn="ctr"/>
                <a:r>
                  <a:rPr lang="pt-BR" altLang="pt-BR" sz="2400" dirty="0" err="1">
                    <a:latin typeface="Verdana" panose="020B0604030504040204" pitchFamily="34" charset="0"/>
                  </a:rPr>
                  <a:t>Hashing</a:t>
                </a:r>
                <a:endParaRPr lang="pt-BR" altLang="pt-BR" sz="2400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9" name="Line 6"/>
              <p:cNvSpPr>
                <a:spLocks noChangeShapeType="1"/>
              </p:cNvSpPr>
              <p:nvPr/>
            </p:nvSpPr>
            <p:spPr bwMode="auto">
              <a:xfrm>
                <a:off x="2178" y="1634"/>
                <a:ext cx="67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" name="Line 7"/>
              <p:cNvSpPr>
                <a:spLocks noChangeShapeType="1"/>
              </p:cNvSpPr>
              <p:nvPr/>
            </p:nvSpPr>
            <p:spPr bwMode="auto">
              <a:xfrm>
                <a:off x="2178" y="1874"/>
                <a:ext cx="67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Line 8"/>
              <p:cNvSpPr>
                <a:spLocks noChangeShapeType="1"/>
              </p:cNvSpPr>
              <p:nvPr/>
            </p:nvSpPr>
            <p:spPr bwMode="auto">
              <a:xfrm>
                <a:off x="2178" y="2114"/>
                <a:ext cx="67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Line 9"/>
              <p:cNvSpPr>
                <a:spLocks noChangeShapeType="1"/>
              </p:cNvSpPr>
              <p:nvPr/>
            </p:nvSpPr>
            <p:spPr bwMode="auto">
              <a:xfrm>
                <a:off x="2178" y="1394"/>
                <a:ext cx="67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1026" y="1298"/>
                <a:ext cx="1124" cy="2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pt-BR" altLang="pt-BR" b="0">
                    <a:latin typeface="Arial" panose="020B0604020202020204" pitchFamily="34" charset="0"/>
                  </a:rPr>
                  <a:t>123.456.781-00</a:t>
                </a: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1026" y="1538"/>
                <a:ext cx="1124" cy="2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pt-BR" altLang="pt-BR" b="0" dirty="0">
                    <a:latin typeface="Arial" panose="020B0604020202020204" pitchFamily="34" charset="0"/>
                  </a:rPr>
                  <a:t>143.576.342-23</a:t>
                </a:r>
              </a:p>
            </p:txBody>
          </p: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1026" y="1778"/>
                <a:ext cx="1124" cy="2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pt-BR" altLang="pt-BR" b="0">
                    <a:latin typeface="Arial" panose="020B0604020202020204" pitchFamily="34" charset="0"/>
                  </a:rPr>
                  <a:t>345.365.768-93</a:t>
                </a:r>
              </a:p>
            </p:txBody>
          </p:sp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1026" y="2019"/>
                <a:ext cx="1124" cy="2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pt-BR" altLang="pt-BR" b="0">
                    <a:latin typeface="Arial" panose="020B0604020202020204" pitchFamily="34" charset="0"/>
                  </a:rPr>
                  <a:t>879.094.345-45</a:t>
                </a:r>
              </a:p>
            </p:txBody>
          </p:sp>
          <p:sp>
            <p:nvSpPr>
              <p:cNvPr id="17" name="Text Box 14"/>
              <p:cNvSpPr txBox="1">
                <a:spLocks noChangeArrowheads="1"/>
              </p:cNvSpPr>
              <p:nvPr/>
            </p:nvSpPr>
            <p:spPr bwMode="auto">
              <a:xfrm>
                <a:off x="4722" y="1298"/>
                <a:ext cx="276" cy="2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pt-BR" altLang="pt-BR">
                    <a:latin typeface="Arial" panose="020B0604020202020204" pitchFamily="34" charset="0"/>
                  </a:rPr>
                  <a:t>19</a:t>
                </a:r>
              </a:p>
            </p:txBody>
          </p:sp>
          <p:sp>
            <p:nvSpPr>
              <p:cNvPr id="18" name="Rectangle 15"/>
              <p:cNvSpPr>
                <a:spLocks noChangeArrowheads="1"/>
              </p:cNvSpPr>
              <p:nvPr/>
            </p:nvSpPr>
            <p:spPr bwMode="auto">
              <a:xfrm>
                <a:off x="930" y="2642"/>
                <a:ext cx="447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pt-BR" altLang="pt-BR" sz="2000" b="0"/>
                  <a:t>19</a:t>
                </a:r>
              </a:p>
            </p:txBody>
          </p:sp>
          <p:sp>
            <p:nvSpPr>
              <p:cNvPr id="19" name="Rectangle 16"/>
              <p:cNvSpPr>
                <a:spLocks noChangeArrowheads="1"/>
              </p:cNvSpPr>
              <p:nvPr/>
            </p:nvSpPr>
            <p:spPr bwMode="auto">
              <a:xfrm>
                <a:off x="1377" y="2642"/>
                <a:ext cx="3825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r>
                  <a:rPr lang="pt-BR" altLang="pt-BR"/>
                  <a:t>123.456.781-00; Fausto Silva; Av. Canal. Nº 45.</a:t>
                </a:r>
              </a:p>
            </p:txBody>
          </p:sp>
          <p:sp>
            <p:nvSpPr>
              <p:cNvPr id="20" name="Rectangle 17"/>
              <p:cNvSpPr>
                <a:spLocks noChangeArrowheads="1"/>
              </p:cNvSpPr>
              <p:nvPr/>
            </p:nvSpPr>
            <p:spPr bwMode="auto">
              <a:xfrm>
                <a:off x="930" y="3122"/>
                <a:ext cx="447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pt-BR" altLang="pt-BR" sz="2000" b="0"/>
                  <a:t>...</a:t>
                </a:r>
              </a:p>
            </p:txBody>
          </p:sp>
          <p:sp>
            <p:nvSpPr>
              <p:cNvPr id="21" name="Rectangle 18"/>
              <p:cNvSpPr>
                <a:spLocks noChangeArrowheads="1"/>
              </p:cNvSpPr>
              <p:nvPr/>
            </p:nvSpPr>
            <p:spPr bwMode="auto">
              <a:xfrm>
                <a:off x="1377" y="3122"/>
                <a:ext cx="3825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endParaRPr lang="pt-BR" altLang="pt-BR" sz="2000" b="0"/>
              </a:p>
            </p:txBody>
          </p:sp>
          <p:sp>
            <p:nvSpPr>
              <p:cNvPr id="22" name="Rectangle 19"/>
              <p:cNvSpPr>
                <a:spLocks noChangeArrowheads="1"/>
              </p:cNvSpPr>
              <p:nvPr/>
            </p:nvSpPr>
            <p:spPr bwMode="auto">
              <a:xfrm>
                <a:off x="930" y="3362"/>
                <a:ext cx="447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pt-BR" altLang="pt-BR" sz="2000" b="0"/>
                  <a:t>37</a:t>
                </a:r>
              </a:p>
            </p:txBody>
          </p:sp>
          <p:sp>
            <p:nvSpPr>
              <p:cNvPr id="23" name="Rectangle 20"/>
              <p:cNvSpPr>
                <a:spLocks noChangeArrowheads="1"/>
              </p:cNvSpPr>
              <p:nvPr/>
            </p:nvSpPr>
            <p:spPr bwMode="auto">
              <a:xfrm>
                <a:off x="1377" y="3362"/>
                <a:ext cx="3825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r>
                  <a:rPr lang="pt-BR" altLang="pt-BR">
                    <a:latin typeface="Arial" panose="020B0604020202020204" pitchFamily="34" charset="0"/>
                  </a:rPr>
                  <a:t>143.576.342-23; Carla Perez; Rua Celso Oliva. Nº 27.</a:t>
                </a:r>
                <a:endParaRPr lang="pt-BR" altLang="pt-BR" sz="2000"/>
              </a:p>
            </p:txBody>
          </p:sp>
          <p:sp>
            <p:nvSpPr>
              <p:cNvPr id="24" name="Rectangle 21"/>
              <p:cNvSpPr>
                <a:spLocks noChangeArrowheads="1"/>
              </p:cNvSpPr>
              <p:nvPr/>
            </p:nvSpPr>
            <p:spPr bwMode="auto">
              <a:xfrm>
                <a:off x="930" y="3602"/>
                <a:ext cx="447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pt-BR" altLang="pt-BR" sz="2000" b="0"/>
                  <a:t>...</a:t>
                </a:r>
              </a:p>
            </p:txBody>
          </p:sp>
          <p:sp>
            <p:nvSpPr>
              <p:cNvPr id="25" name="Rectangle 22"/>
              <p:cNvSpPr>
                <a:spLocks noChangeArrowheads="1"/>
              </p:cNvSpPr>
              <p:nvPr/>
            </p:nvSpPr>
            <p:spPr bwMode="auto">
              <a:xfrm>
                <a:off x="1377" y="3602"/>
                <a:ext cx="3825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endParaRPr lang="pt-BR" altLang="pt-BR" sz="2000" b="0"/>
              </a:p>
            </p:txBody>
          </p:sp>
          <p:sp>
            <p:nvSpPr>
              <p:cNvPr id="26" name="Rectangle 23"/>
              <p:cNvSpPr>
                <a:spLocks noChangeArrowheads="1"/>
              </p:cNvSpPr>
              <p:nvPr/>
            </p:nvSpPr>
            <p:spPr bwMode="auto">
              <a:xfrm>
                <a:off x="930" y="3842"/>
                <a:ext cx="447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pt-BR" altLang="pt-BR" sz="2000" b="0"/>
                  <a:t>50</a:t>
                </a:r>
              </a:p>
            </p:txBody>
          </p:sp>
          <p:sp>
            <p:nvSpPr>
              <p:cNvPr id="27" name="Rectangle 24"/>
              <p:cNvSpPr>
                <a:spLocks noChangeArrowheads="1"/>
              </p:cNvSpPr>
              <p:nvPr/>
            </p:nvSpPr>
            <p:spPr bwMode="auto">
              <a:xfrm>
                <a:off x="1377" y="3842"/>
                <a:ext cx="3825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r>
                  <a:rPr lang="pt-BR" altLang="pt-BR">
                    <a:latin typeface="Arial" panose="020B0604020202020204" pitchFamily="34" charset="0"/>
                  </a:rPr>
                  <a:t>345.365.768-93; Gugu Liberato; Av. Atlântica. S/N.</a:t>
                </a:r>
              </a:p>
            </p:txBody>
          </p:sp>
          <p:sp>
            <p:nvSpPr>
              <p:cNvPr id="28" name="Rectangle 25"/>
              <p:cNvSpPr>
                <a:spLocks noChangeArrowheads="1"/>
              </p:cNvSpPr>
              <p:nvPr/>
            </p:nvSpPr>
            <p:spPr bwMode="auto">
              <a:xfrm>
                <a:off x="930" y="4082"/>
                <a:ext cx="447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pt-BR" altLang="pt-BR" sz="2000" b="0"/>
                  <a:t>...</a:t>
                </a:r>
              </a:p>
            </p:txBody>
          </p:sp>
          <p:sp>
            <p:nvSpPr>
              <p:cNvPr id="29" name="Rectangle 26"/>
              <p:cNvSpPr>
                <a:spLocks noChangeArrowheads="1"/>
              </p:cNvSpPr>
              <p:nvPr/>
            </p:nvSpPr>
            <p:spPr bwMode="auto">
              <a:xfrm>
                <a:off x="1377" y="4082"/>
                <a:ext cx="3825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endParaRPr lang="pt-BR" altLang="pt-BR" sz="2000" b="0"/>
              </a:p>
            </p:txBody>
          </p:sp>
          <p:sp>
            <p:nvSpPr>
              <p:cNvPr id="30" name="Rectangle 27"/>
              <p:cNvSpPr>
                <a:spLocks noChangeArrowheads="1"/>
              </p:cNvSpPr>
              <p:nvPr/>
            </p:nvSpPr>
            <p:spPr bwMode="auto">
              <a:xfrm>
                <a:off x="930" y="4322"/>
                <a:ext cx="447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pt-BR" altLang="pt-BR" sz="2000" b="0"/>
                  <a:t>85</a:t>
                </a:r>
              </a:p>
            </p:txBody>
          </p:sp>
          <p:sp>
            <p:nvSpPr>
              <p:cNvPr id="31" name="Rectangle 28"/>
              <p:cNvSpPr>
                <a:spLocks noChangeArrowheads="1"/>
              </p:cNvSpPr>
              <p:nvPr/>
            </p:nvSpPr>
            <p:spPr bwMode="auto">
              <a:xfrm>
                <a:off x="1377" y="4322"/>
                <a:ext cx="3825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r>
                  <a:rPr lang="pt-BR" altLang="pt-BR">
                    <a:latin typeface="Arial" panose="020B0604020202020204" pitchFamily="34" charset="0"/>
                  </a:rPr>
                  <a:t>879.094.345-45 ; Hebe Camargo; Rua B. Nº 100.</a:t>
                </a:r>
              </a:p>
            </p:txBody>
          </p:sp>
          <p:sp>
            <p:nvSpPr>
              <p:cNvPr id="32" name="Rectangle 29"/>
              <p:cNvSpPr>
                <a:spLocks noChangeArrowheads="1"/>
              </p:cNvSpPr>
              <p:nvPr/>
            </p:nvSpPr>
            <p:spPr bwMode="auto">
              <a:xfrm>
                <a:off x="930" y="4562"/>
                <a:ext cx="447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pt-BR" altLang="pt-BR" sz="2000" b="0"/>
                  <a:t>...</a:t>
                </a:r>
              </a:p>
            </p:txBody>
          </p:sp>
          <p:sp>
            <p:nvSpPr>
              <p:cNvPr id="33" name="Rectangle 30"/>
              <p:cNvSpPr>
                <a:spLocks noChangeArrowheads="1"/>
              </p:cNvSpPr>
              <p:nvPr/>
            </p:nvSpPr>
            <p:spPr bwMode="auto">
              <a:xfrm>
                <a:off x="1377" y="4562"/>
                <a:ext cx="3825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endParaRPr lang="pt-BR" altLang="pt-BR" sz="2000" b="0"/>
              </a:p>
            </p:txBody>
          </p:sp>
          <p:sp>
            <p:nvSpPr>
              <p:cNvPr id="34" name="Text Box 31"/>
              <p:cNvSpPr txBox="1">
                <a:spLocks noChangeArrowheads="1"/>
              </p:cNvSpPr>
              <p:nvPr/>
            </p:nvSpPr>
            <p:spPr bwMode="auto">
              <a:xfrm>
                <a:off x="4722" y="1490"/>
                <a:ext cx="276" cy="2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pt-BR" altLang="pt-BR">
                    <a:latin typeface="Arial" panose="020B0604020202020204" pitchFamily="34" charset="0"/>
                  </a:rPr>
                  <a:t>37</a:t>
                </a:r>
              </a:p>
            </p:txBody>
          </p:sp>
          <p:sp>
            <p:nvSpPr>
              <p:cNvPr id="35" name="Text Box 32"/>
              <p:cNvSpPr txBox="1">
                <a:spLocks noChangeArrowheads="1"/>
              </p:cNvSpPr>
              <p:nvPr/>
            </p:nvSpPr>
            <p:spPr bwMode="auto">
              <a:xfrm>
                <a:off x="4722" y="1730"/>
                <a:ext cx="276" cy="2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pt-BR" altLang="pt-BR">
                    <a:latin typeface="Arial" panose="020B0604020202020204" pitchFamily="34" charset="0"/>
                  </a:rPr>
                  <a:t>50</a:t>
                </a:r>
              </a:p>
            </p:txBody>
          </p:sp>
          <p:sp>
            <p:nvSpPr>
              <p:cNvPr id="36" name="Text Box 33"/>
              <p:cNvSpPr txBox="1">
                <a:spLocks noChangeArrowheads="1"/>
              </p:cNvSpPr>
              <p:nvPr/>
            </p:nvSpPr>
            <p:spPr bwMode="auto">
              <a:xfrm>
                <a:off x="4722" y="1970"/>
                <a:ext cx="276" cy="2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pt-BR" altLang="pt-BR">
                    <a:latin typeface="Arial" panose="020B0604020202020204" pitchFamily="34" charset="0"/>
                  </a:rPr>
                  <a:t>85</a:t>
                </a:r>
              </a:p>
            </p:txBody>
          </p:sp>
          <p:sp>
            <p:nvSpPr>
              <p:cNvPr id="37" name="Line 34"/>
              <p:cNvSpPr>
                <a:spLocks noChangeShapeType="1"/>
              </p:cNvSpPr>
              <p:nvPr/>
            </p:nvSpPr>
            <p:spPr bwMode="auto">
              <a:xfrm>
                <a:off x="2178" y="2354"/>
                <a:ext cx="67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Rectangle 35"/>
              <p:cNvSpPr>
                <a:spLocks noChangeArrowheads="1"/>
              </p:cNvSpPr>
              <p:nvPr/>
            </p:nvSpPr>
            <p:spPr bwMode="auto">
              <a:xfrm>
                <a:off x="1026" y="2268"/>
                <a:ext cx="1124" cy="2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pt-BR" altLang="pt-BR">
                    <a:solidFill>
                      <a:schemeClr val="bg2"/>
                    </a:solidFill>
                    <a:latin typeface="Arial" panose="020B0604020202020204" pitchFamily="34" charset="0"/>
                  </a:rPr>
                  <a:t>999.999.999-99</a:t>
                </a:r>
              </a:p>
            </p:txBody>
          </p:sp>
          <p:sp>
            <p:nvSpPr>
              <p:cNvPr id="39" name="Text Box 36"/>
              <p:cNvSpPr txBox="1">
                <a:spLocks noChangeArrowheads="1"/>
              </p:cNvSpPr>
              <p:nvPr/>
            </p:nvSpPr>
            <p:spPr bwMode="auto">
              <a:xfrm>
                <a:off x="4722" y="2218"/>
                <a:ext cx="276" cy="2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pt-BR" altLang="pt-BR">
                    <a:solidFill>
                      <a:schemeClr val="bg2"/>
                    </a:solidFill>
                    <a:latin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40" name="Line 37"/>
              <p:cNvSpPr>
                <a:spLocks noChangeShapeType="1"/>
              </p:cNvSpPr>
              <p:nvPr/>
            </p:nvSpPr>
            <p:spPr bwMode="auto">
              <a:xfrm>
                <a:off x="4050" y="1634"/>
                <a:ext cx="67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Line 38"/>
              <p:cNvSpPr>
                <a:spLocks noChangeShapeType="1"/>
              </p:cNvSpPr>
              <p:nvPr/>
            </p:nvSpPr>
            <p:spPr bwMode="auto">
              <a:xfrm>
                <a:off x="4050" y="1874"/>
                <a:ext cx="67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Line 39"/>
              <p:cNvSpPr>
                <a:spLocks noChangeShapeType="1"/>
              </p:cNvSpPr>
              <p:nvPr/>
            </p:nvSpPr>
            <p:spPr bwMode="auto">
              <a:xfrm>
                <a:off x="4050" y="2114"/>
                <a:ext cx="67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Line 40"/>
              <p:cNvSpPr>
                <a:spLocks noChangeShapeType="1"/>
              </p:cNvSpPr>
              <p:nvPr/>
            </p:nvSpPr>
            <p:spPr bwMode="auto">
              <a:xfrm>
                <a:off x="4050" y="1394"/>
                <a:ext cx="67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Line 41"/>
              <p:cNvSpPr>
                <a:spLocks noChangeShapeType="1"/>
              </p:cNvSpPr>
              <p:nvPr/>
            </p:nvSpPr>
            <p:spPr bwMode="auto">
              <a:xfrm>
                <a:off x="4050" y="2354"/>
                <a:ext cx="67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Rectangle 42"/>
              <p:cNvSpPr>
                <a:spLocks noChangeArrowheads="1"/>
              </p:cNvSpPr>
              <p:nvPr/>
            </p:nvSpPr>
            <p:spPr bwMode="auto">
              <a:xfrm>
                <a:off x="930" y="2882"/>
                <a:ext cx="447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pt-BR" altLang="pt-BR" sz="2000" b="0">
                    <a:solidFill>
                      <a:schemeClr val="bg2"/>
                    </a:solidFill>
                  </a:rPr>
                  <a:t>20</a:t>
                </a:r>
              </a:p>
            </p:txBody>
          </p:sp>
          <p:sp>
            <p:nvSpPr>
              <p:cNvPr id="46" name="Rectangle 43"/>
              <p:cNvSpPr>
                <a:spLocks noChangeArrowheads="1"/>
              </p:cNvSpPr>
              <p:nvPr/>
            </p:nvSpPr>
            <p:spPr bwMode="auto">
              <a:xfrm>
                <a:off x="1377" y="2882"/>
                <a:ext cx="3825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endParaRPr lang="pt-BR" altLang="pt-BR" b="0"/>
              </a:p>
            </p:txBody>
          </p:sp>
        </p:grpSp>
        <p:sp>
          <p:nvSpPr>
            <p:cNvPr id="6" name="Text Box 45"/>
            <p:cNvSpPr txBox="1">
              <a:spLocks noChangeArrowheads="1"/>
            </p:cNvSpPr>
            <p:nvPr/>
          </p:nvSpPr>
          <p:spPr bwMode="auto">
            <a:xfrm>
              <a:off x="68" y="2300"/>
              <a:ext cx="657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dirty="0"/>
                <a:t>Tabela </a:t>
              </a:r>
              <a:r>
                <a:rPr lang="pt-BR" altLang="pt-BR" dirty="0" err="1"/>
                <a:t>Hash</a:t>
              </a:r>
              <a:endParaRPr lang="pt-BR" altLang="pt-BR" dirty="0"/>
            </a:p>
          </p:txBody>
        </p:sp>
        <p:sp>
          <p:nvSpPr>
            <p:cNvPr id="7" name="Line 46"/>
            <p:cNvSpPr>
              <a:spLocks noChangeShapeType="1"/>
            </p:cNvSpPr>
            <p:nvPr/>
          </p:nvSpPr>
          <p:spPr bwMode="auto">
            <a:xfrm>
              <a:off x="567" y="2704"/>
              <a:ext cx="181" cy="18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016242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95397" y="644892"/>
            <a:ext cx="8911687" cy="1280890"/>
          </a:xfrm>
        </p:spPr>
        <p:txBody>
          <a:bodyPr/>
          <a:lstStyle/>
          <a:p>
            <a:r>
              <a:rPr lang="pt-BR" dirty="0"/>
              <a:t>Formas de tratar as colisões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595397" y="1925782"/>
            <a:ext cx="1006320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 smtClean="0"/>
              <a:t>As colisões acontecem porque </a:t>
            </a:r>
            <a:r>
              <a:rPr lang="pt-BR" sz="2000" dirty="0"/>
              <a:t>o número de chaves possíveis é muito maior do que o número de entradas possíveis da tabela e porque não é possível garantir que as funções de dispersão são eficientes o suficiente para o espalhamento das informações. </a:t>
            </a:r>
            <a:endParaRPr lang="pt-BR" sz="2000" dirty="0" smtClean="0"/>
          </a:p>
          <a:p>
            <a:pPr algn="just"/>
            <a:r>
              <a:rPr lang="pt-BR" sz="2000" b="1" dirty="0" smtClean="0"/>
              <a:t>* Paradoxo do aniversário de </a:t>
            </a:r>
            <a:r>
              <a:rPr lang="pt-BR" sz="2000" b="1" dirty="0" err="1" smtClean="0"/>
              <a:t>Fellen</a:t>
            </a:r>
            <a:r>
              <a:rPr lang="pt-BR" sz="2000" b="1" dirty="0" smtClean="0"/>
              <a:t>;</a:t>
            </a:r>
            <a:endParaRPr lang="pt-BR" sz="2000" b="1" dirty="0" smtClean="0"/>
          </a:p>
          <a:p>
            <a:pPr algn="just"/>
            <a:r>
              <a:rPr lang="pt-BR" sz="2000" dirty="0" smtClean="0"/>
              <a:t>Através </a:t>
            </a:r>
            <a:r>
              <a:rPr lang="pt-BR" sz="2000" dirty="0"/>
              <a:t>do cálculo do fator de carga </a:t>
            </a:r>
            <a:r>
              <a:rPr lang="pt-BR" sz="2000" u="sng" dirty="0" smtClean="0"/>
              <a:t>α</a:t>
            </a:r>
            <a:r>
              <a:rPr lang="pt-BR" sz="2000" dirty="0" smtClean="0"/>
              <a:t>, as </a:t>
            </a:r>
            <a:r>
              <a:rPr lang="pt-BR" sz="2000" dirty="0"/>
              <a:t>principais medidas para resolver o caso de colisão são pelo </a:t>
            </a:r>
            <a:r>
              <a:rPr lang="pt-BR" sz="2000" u="sng" dirty="0"/>
              <a:t>endereçamento aberto </a:t>
            </a:r>
            <a:r>
              <a:rPr lang="pt-BR" sz="2000" dirty="0" smtClean="0"/>
              <a:t>quando </a:t>
            </a:r>
            <a:r>
              <a:rPr lang="pt-BR" sz="2000" dirty="0"/>
              <a:t>o resultado do fator de carga  é </a:t>
            </a:r>
            <a:r>
              <a:rPr lang="pt-BR" sz="2000" u="sng" dirty="0"/>
              <a:t>0&lt;α&lt;1</a:t>
            </a:r>
            <a:r>
              <a:rPr lang="pt-BR" sz="2000" dirty="0"/>
              <a:t> ou pelo </a:t>
            </a:r>
            <a:r>
              <a:rPr lang="pt-BR" sz="2000" u="sng" dirty="0"/>
              <a:t>endereçamento encadeado </a:t>
            </a:r>
            <a:r>
              <a:rPr lang="pt-BR" sz="2000" dirty="0" smtClean="0"/>
              <a:t>frequentemente </a:t>
            </a:r>
            <a:r>
              <a:rPr lang="pt-BR" sz="2000" dirty="0"/>
              <a:t>usado quando </a:t>
            </a:r>
            <a:r>
              <a:rPr lang="pt-BR" sz="2000" u="sng" dirty="0"/>
              <a:t>α&gt;1</a:t>
            </a:r>
            <a:r>
              <a:rPr lang="pt-BR" sz="2000" dirty="0"/>
              <a:t>.</a:t>
            </a:r>
          </a:p>
          <a:p>
            <a:pPr algn="just"/>
            <a:endParaRPr lang="pt-BR" sz="2000" dirty="0" smtClean="0"/>
          </a:p>
          <a:p>
            <a:pPr algn="just"/>
            <a:r>
              <a:rPr lang="pt-BR" sz="2000" dirty="0" smtClean="0"/>
              <a:t>Mostrar-se-ão </a:t>
            </a:r>
            <a:r>
              <a:rPr lang="pt-BR" sz="2000" dirty="0"/>
              <a:t>tais métodos de tratamento de colisões.</a:t>
            </a:r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1479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56498" y="-374961"/>
            <a:ext cx="8915399" cy="1468800"/>
          </a:xfrm>
        </p:spPr>
        <p:txBody>
          <a:bodyPr>
            <a:normAutofit/>
          </a:bodyPr>
          <a:lstStyle/>
          <a:p>
            <a:pPr lvl="2"/>
            <a:r>
              <a:rPr lang="pt-BR" sz="2800" b="1" dirty="0">
                <a:solidFill>
                  <a:schemeClr val="tx1"/>
                </a:solidFill>
              </a:rPr>
              <a:t>Uso da posição consecutiva livre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869545" y="1326486"/>
            <a:ext cx="8915399" cy="2455035"/>
          </a:xfrm>
        </p:spPr>
        <p:txBody>
          <a:bodyPr>
            <a:normAutofit/>
          </a:bodyPr>
          <a:lstStyle/>
          <a:p>
            <a:pPr algn="just"/>
            <a:r>
              <a:rPr lang="pt-BR" dirty="0" smtClean="0">
                <a:solidFill>
                  <a:schemeClr val="tx1"/>
                </a:solidFill>
              </a:rPr>
              <a:t>Procurar-se </a:t>
            </a:r>
            <a:r>
              <a:rPr lang="pt-BR" dirty="0">
                <a:solidFill>
                  <a:schemeClr val="tx1"/>
                </a:solidFill>
              </a:rPr>
              <a:t>pela próxima posição livre </a:t>
            </a:r>
            <a:r>
              <a:rPr lang="pt-BR" dirty="0" smtClean="0">
                <a:solidFill>
                  <a:schemeClr val="tx1"/>
                </a:solidFill>
              </a:rPr>
              <a:t>através de um incremento </a:t>
            </a:r>
            <a:r>
              <a:rPr lang="pt-BR" dirty="0" smtClean="0">
                <a:solidFill>
                  <a:schemeClr val="tx1"/>
                </a:solidFill>
              </a:rPr>
              <a:t>circular </a:t>
            </a:r>
            <a:r>
              <a:rPr lang="pt-BR" dirty="0" smtClean="0">
                <a:solidFill>
                  <a:schemeClr val="tx1"/>
                </a:solidFill>
              </a:rPr>
              <a:t>para </a:t>
            </a:r>
            <a:r>
              <a:rPr lang="pt-BR" dirty="0">
                <a:solidFill>
                  <a:schemeClr val="tx1"/>
                </a:solidFill>
              </a:rPr>
              <a:t>armazenar o ponteiro que referencia </a:t>
            </a:r>
            <a:r>
              <a:rPr lang="pt-BR" dirty="0" smtClean="0">
                <a:solidFill>
                  <a:schemeClr val="tx1"/>
                </a:solidFill>
              </a:rPr>
              <a:t>o elemento </a:t>
            </a:r>
            <a:r>
              <a:rPr lang="pt-BR" dirty="0">
                <a:solidFill>
                  <a:schemeClr val="tx1"/>
                </a:solidFill>
              </a:rPr>
              <a:t>que estava colidindo. Quando o elemento que estava colidindo for procurado através da função </a:t>
            </a:r>
            <a:r>
              <a:rPr lang="pt-BR" dirty="0" err="1">
                <a:solidFill>
                  <a:schemeClr val="tx1"/>
                </a:solidFill>
              </a:rPr>
              <a:t>hash</a:t>
            </a:r>
            <a:r>
              <a:rPr lang="pt-BR" dirty="0">
                <a:solidFill>
                  <a:schemeClr val="tx1"/>
                </a:solidFill>
              </a:rPr>
              <a:t>, ele será procurado a partir da ocorrência da colisão até que seja encontrado ou que uma posição vazia apareça.</a:t>
            </a:r>
          </a:p>
          <a:p>
            <a:endParaRPr lang="pt-BR" dirty="0"/>
          </a:p>
        </p:txBody>
      </p:sp>
      <p:pic>
        <p:nvPicPr>
          <p:cNvPr id="8" name="Imagem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934" y="3386667"/>
            <a:ext cx="5388031" cy="2468129"/>
          </a:xfrm>
          <a:prstGeom prst="rect">
            <a:avLst/>
          </a:prstGeom>
          <a:noFill/>
        </p:spPr>
      </p:pic>
      <p:pic>
        <p:nvPicPr>
          <p:cNvPr id="9" name="Picture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871" y="3461682"/>
            <a:ext cx="1047595" cy="2318097"/>
          </a:xfrm>
          <a:prstGeom prst="rect">
            <a:avLst/>
          </a:prstGeom>
          <a:noFill/>
          <a:ln>
            <a:noFill/>
          </a:ln>
          <a:effectLst/>
          <a:extLst/>
        </p:spPr>
      </p:pic>
    </p:spTree>
    <p:extLst>
      <p:ext uri="{BB962C8B-B14F-4D97-AF65-F5344CB8AC3E}">
        <p14:creationId xmlns:p14="http://schemas.microsoft.com/office/powerpoint/2010/main" val="43615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643467" y="-1391318"/>
            <a:ext cx="816835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 </a:t>
            </a:r>
            <a:endParaRPr lang="pt-BR" sz="1600" dirty="0"/>
          </a:p>
          <a:p>
            <a:pPr lvl="0"/>
            <a:r>
              <a:rPr lang="pt-BR" dirty="0"/>
              <a:t> </a:t>
            </a:r>
            <a:endParaRPr lang="pt-BR" sz="1400" dirty="0"/>
          </a:p>
          <a:p>
            <a:pPr lvl="1"/>
            <a:r>
              <a:rPr lang="pt-BR" dirty="0"/>
              <a:t> </a:t>
            </a:r>
            <a:endParaRPr lang="pt-BR" sz="1400" dirty="0"/>
          </a:p>
          <a:p>
            <a:pPr lvl="1"/>
            <a:r>
              <a:rPr lang="pt-BR" dirty="0"/>
              <a:t> </a:t>
            </a:r>
            <a:endParaRPr lang="pt-BR" sz="3200" dirty="0"/>
          </a:p>
          <a:p>
            <a:pPr lvl="2"/>
            <a:r>
              <a:rPr lang="pt-BR" sz="3200" dirty="0"/>
              <a:t> </a:t>
            </a:r>
          </a:p>
          <a:p>
            <a:pPr lvl="2"/>
            <a:r>
              <a:rPr lang="pt-BR" sz="3200" dirty="0"/>
              <a:t>Uso de uma segunda função </a:t>
            </a:r>
            <a:r>
              <a:rPr lang="pt-BR" sz="3200" dirty="0" err="1"/>
              <a:t>hash</a:t>
            </a:r>
            <a:endParaRPr lang="pt-BR" sz="3200" dirty="0"/>
          </a:p>
          <a:p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2377105" y="859119"/>
            <a:ext cx="865490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 smtClean="0"/>
              <a:t>Possui </a:t>
            </a:r>
            <a:r>
              <a:rPr lang="pt-BR" sz="2200" dirty="0"/>
              <a:t>uma segunda função de dispersão para evitar a concentração de lugares ocupados na tabela. Através dessa segunda função para trata a colisão, procura-se uma posição livre com incrementos circulares dados por essa nova função</a:t>
            </a:r>
            <a:r>
              <a:rPr lang="pt-BR" sz="2200" dirty="0" smtClean="0"/>
              <a:t>.</a:t>
            </a:r>
          </a:p>
          <a:p>
            <a:pPr algn="just"/>
            <a:r>
              <a:rPr lang="pt-BR" sz="2200" dirty="0" smtClean="0"/>
              <a:t>Limitada a não retornar zero (incremento nulo).</a:t>
            </a:r>
            <a:endParaRPr lang="pt-BR" sz="2200" dirty="0" smtClean="0"/>
          </a:p>
          <a:p>
            <a:pPr algn="just"/>
            <a:endParaRPr lang="pt-BR" sz="2200" dirty="0"/>
          </a:p>
          <a:p>
            <a:endParaRPr lang="pt-BR" dirty="0"/>
          </a:p>
        </p:txBody>
      </p:sp>
      <p:pic>
        <p:nvPicPr>
          <p:cNvPr id="5" name="Imagem 4"/>
          <p:cNvPicPr/>
          <p:nvPr/>
        </p:nvPicPr>
        <p:blipFill rotWithShape="1">
          <a:blip r:embed="rId3"/>
          <a:srcRect l="50976" t="37335" r="27857" b="42272"/>
          <a:stretch/>
        </p:blipFill>
        <p:spPr bwMode="auto">
          <a:xfrm>
            <a:off x="4226329" y="3048000"/>
            <a:ext cx="5227955" cy="24955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512856" y="5774267"/>
            <a:ext cx="73762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</a:t>
            </a:r>
            <a:r>
              <a:rPr lang="pt-BR" dirty="0" smtClean="0"/>
              <a:t>squematização </a:t>
            </a:r>
            <a:r>
              <a:rPr lang="pt-BR" dirty="0"/>
              <a:t>do funcionamento do endereçamento aberto pelo uso de uma segunda função </a:t>
            </a:r>
            <a:r>
              <a:rPr lang="pt-BR" dirty="0" err="1"/>
              <a:t>hash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3475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49216" y="-173060"/>
            <a:ext cx="8911687" cy="1280890"/>
          </a:xfrm>
        </p:spPr>
        <p:txBody>
          <a:bodyPr/>
          <a:lstStyle/>
          <a:p>
            <a:r>
              <a:rPr lang="pt-BR" dirty="0"/>
              <a:t> </a:t>
            </a:r>
            <a:br>
              <a:rPr lang="pt-BR" dirty="0"/>
            </a:br>
            <a:r>
              <a:rPr lang="pt-BR" dirty="0"/>
              <a:t>Uso de lista encadeada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649216" y="1306030"/>
            <a:ext cx="1010701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 smtClean="0"/>
              <a:t>Nessa </a:t>
            </a:r>
            <a:r>
              <a:rPr lang="pt-BR" sz="2000" dirty="0"/>
              <a:t>estratégia </a:t>
            </a:r>
            <a:r>
              <a:rPr lang="pt-BR" sz="2000" dirty="0" smtClean="0"/>
              <a:t>para tratar a colisão cada </a:t>
            </a:r>
            <a:r>
              <a:rPr lang="pt-BR" sz="2000" dirty="0"/>
              <a:t>elemento da tabela </a:t>
            </a:r>
            <a:r>
              <a:rPr lang="pt-BR" sz="2000" dirty="0" err="1"/>
              <a:t>Hash</a:t>
            </a:r>
            <a:r>
              <a:rPr lang="pt-BR" sz="2000" dirty="0"/>
              <a:t> representa um ponteiro para uma lista encadeada, ou seja, todos elementos da tabela formam uma lista adjunta aos respectivos índices e havendo mais de um elemento que corresponda a um índice, eles se juntarão à lista respectiva.</a:t>
            </a:r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649216" y="5842000"/>
            <a:ext cx="8911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</a:t>
            </a:r>
            <a:r>
              <a:rPr lang="pt-BR" dirty="0" smtClean="0"/>
              <a:t>squematização </a:t>
            </a:r>
            <a:r>
              <a:rPr lang="pt-BR" dirty="0"/>
              <a:t>do funcionamento do endereçamento fechado pelo uso de listas encadeadas.</a:t>
            </a:r>
          </a:p>
        </p:txBody>
      </p:sp>
      <p:pic>
        <p:nvPicPr>
          <p:cNvPr id="6" name="Imagem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334" y="2929467"/>
            <a:ext cx="5965718" cy="21314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5507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9644" y="523249"/>
            <a:ext cx="8915399" cy="1468800"/>
          </a:xfrm>
        </p:spPr>
        <p:txBody>
          <a:bodyPr>
            <a:normAutofit/>
          </a:bodyPr>
          <a:lstStyle/>
          <a:p>
            <a:pPr lvl="0"/>
            <a:r>
              <a:rPr lang="pt-BR" sz="3200" dirty="0"/>
              <a:t>Tipos de operações na tabela </a:t>
            </a:r>
            <a:r>
              <a:rPr lang="pt-BR" sz="3200" dirty="0" err="1"/>
              <a:t>Hash</a:t>
            </a:r>
            <a:endParaRPr lang="pt-BR" sz="320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054375" y="2544138"/>
            <a:ext cx="8915399" cy="3114789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tx1"/>
                </a:solidFill>
              </a:rPr>
              <a:t>Como especificação da tabela </a:t>
            </a:r>
            <a:r>
              <a:rPr lang="pt-BR" sz="2400" dirty="0" err="1">
                <a:solidFill>
                  <a:schemeClr val="tx1"/>
                </a:solidFill>
              </a:rPr>
              <a:t>Hash</a:t>
            </a:r>
            <a:r>
              <a:rPr lang="pt-BR" sz="2400" dirty="0">
                <a:solidFill>
                  <a:schemeClr val="tx1"/>
                </a:solidFill>
              </a:rPr>
              <a:t>, pode-se </a:t>
            </a:r>
            <a:r>
              <a:rPr lang="pt-BR" sz="2400" dirty="0" smtClean="0">
                <a:solidFill>
                  <a:schemeClr val="tx1"/>
                </a:solidFill>
              </a:rPr>
              <a:t>fazer: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Operações de criação e </a:t>
            </a:r>
            <a:r>
              <a:rPr lang="pt-BR" sz="2400" dirty="0" smtClean="0">
                <a:solidFill>
                  <a:schemeClr val="tx1"/>
                </a:solidFill>
              </a:rPr>
              <a:t>destruição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Operações de </a:t>
            </a:r>
            <a:r>
              <a:rPr lang="pt-BR" sz="2400" dirty="0" smtClean="0">
                <a:solidFill>
                  <a:schemeClr val="tx1"/>
                </a:solidFill>
              </a:rPr>
              <a:t>status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Operações </a:t>
            </a:r>
            <a:r>
              <a:rPr lang="pt-BR" sz="2400" dirty="0" smtClean="0">
                <a:solidFill>
                  <a:schemeClr val="tx1"/>
                </a:solidFill>
              </a:rPr>
              <a:t>básicas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Outras operações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61524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pt-BR" dirty="0"/>
              <a:t>Vantagens e desvantagens encontradas na utilização de tabelas </a:t>
            </a:r>
            <a:r>
              <a:rPr lang="pt-BR" dirty="0" err="1"/>
              <a:t>Hash</a:t>
            </a:r>
            <a:r>
              <a:rPr lang="pt-BR" b="1" dirty="0"/>
              <a:t/>
            </a:r>
            <a:br>
              <a:rPr lang="pt-BR" b="1" dirty="0"/>
            </a:b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2829463" y="1905000"/>
            <a:ext cx="681486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Vantagens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Podemos </a:t>
            </a:r>
            <a:r>
              <a:rPr lang="pt-BR" dirty="0"/>
              <a:t>adequar o tamanho da tabela de </a:t>
            </a:r>
            <a:r>
              <a:rPr lang="pt-BR" dirty="0" err="1"/>
              <a:t>hashing</a:t>
            </a:r>
            <a:r>
              <a:rPr lang="pt-BR" dirty="0"/>
              <a:t> ao </a:t>
            </a:r>
            <a:r>
              <a:rPr lang="pt-BR" i="1" dirty="0"/>
              <a:t>n </a:t>
            </a:r>
            <a:r>
              <a:rPr lang="pt-BR" dirty="0"/>
              <a:t>esperado em nossa </a:t>
            </a:r>
            <a:r>
              <a:rPr lang="pt-BR" dirty="0" smtClean="0"/>
              <a:t>aplicação;</a:t>
            </a:r>
            <a:endParaRPr lang="pt-B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Eficiência </a:t>
            </a:r>
            <a:r>
              <a:rPr lang="pt-BR" dirty="0"/>
              <a:t>para </a:t>
            </a:r>
            <a:r>
              <a:rPr lang="pt-BR" i="1" dirty="0"/>
              <a:t>n </a:t>
            </a:r>
            <a:r>
              <a:rPr lang="pt-BR" dirty="0"/>
              <a:t>grandes</a:t>
            </a:r>
            <a:r>
              <a:rPr lang="pt-BR" dirty="0" smtClean="0"/>
              <a:t>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Entre outros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Desvantagens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Não </a:t>
            </a:r>
            <a:r>
              <a:rPr lang="pt-BR" dirty="0"/>
              <a:t>permite recuperar/imprimir todos os elementos em ordem de chave (como a árvore permite) nem tampouco outras operações que exijam sequência dos </a:t>
            </a:r>
            <a:r>
              <a:rPr lang="pt-BR" dirty="0" smtClean="0"/>
              <a:t>dados;</a:t>
            </a:r>
            <a:endParaRPr lang="pt-B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Não </a:t>
            </a:r>
            <a:r>
              <a:rPr lang="pt-BR" dirty="0"/>
              <a:t>permite operações do tipo recuperar o elemento com a maior ou a menor </a:t>
            </a:r>
            <a:r>
              <a:rPr lang="pt-BR" dirty="0" smtClean="0"/>
              <a:t>chave.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Entre outros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6820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61405" y="0"/>
            <a:ext cx="8911687" cy="1280890"/>
          </a:xfrm>
        </p:spPr>
        <p:txBody>
          <a:bodyPr/>
          <a:lstStyle/>
          <a:p>
            <a:r>
              <a:rPr lang="pt-BR" dirty="0"/>
              <a:t> </a:t>
            </a:r>
            <a:br>
              <a:rPr lang="pt-BR" dirty="0"/>
            </a:br>
            <a:r>
              <a:rPr lang="pt-BR" dirty="0" smtClean="0"/>
              <a:t>Aplicações </a:t>
            </a:r>
            <a:r>
              <a:rPr lang="pt-BR" dirty="0"/>
              <a:t>das tabelas </a:t>
            </a:r>
            <a:r>
              <a:rPr lang="pt-BR" dirty="0" err="1"/>
              <a:t>Hash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5867400"/>
          </a:xfrm>
        </p:spPr>
        <p:txBody>
          <a:bodyPr/>
          <a:lstStyle/>
          <a:p>
            <a:pPr lvl="0"/>
            <a:r>
              <a:rPr lang="pt-BR" sz="2400" dirty="0">
                <a:solidFill>
                  <a:schemeClr val="tx1"/>
                </a:solidFill>
              </a:rPr>
              <a:t>Busca de elementos em base de dados como estruturas de dados em memória, bancos de dados, mecanismos de busca na Internet;</a:t>
            </a:r>
          </a:p>
          <a:p>
            <a:pPr lvl="0"/>
            <a:r>
              <a:rPr lang="pt-BR" sz="2400" dirty="0">
                <a:solidFill>
                  <a:schemeClr val="tx1"/>
                </a:solidFill>
              </a:rPr>
              <a:t>Na verificação de integridade de dados grandes como no envio de </a:t>
            </a:r>
            <a:r>
              <a:rPr lang="pt-BR" sz="2400" dirty="0" smtClean="0">
                <a:solidFill>
                  <a:schemeClr val="tx1"/>
                </a:solidFill>
              </a:rPr>
              <a:t>dados</a:t>
            </a:r>
          </a:p>
          <a:p>
            <a:pPr lvl="0"/>
            <a:r>
              <a:rPr lang="pt-BR" sz="2400" dirty="0" smtClean="0">
                <a:solidFill>
                  <a:schemeClr val="tx1"/>
                </a:solidFill>
              </a:rPr>
              <a:t>No armazenamento de senhas com segurança</a:t>
            </a:r>
          </a:p>
          <a:p>
            <a:pPr lvl="0"/>
            <a:r>
              <a:rPr lang="pt-BR" sz="2400" dirty="0" err="1" smtClean="0">
                <a:solidFill>
                  <a:schemeClr val="tx1"/>
                </a:solidFill>
              </a:rPr>
              <a:t>Hashes</a:t>
            </a:r>
            <a:r>
              <a:rPr lang="pt-BR" sz="2400" dirty="0" smtClean="0">
                <a:solidFill>
                  <a:schemeClr val="tx1"/>
                </a:solidFill>
              </a:rPr>
              <a:t> criptográficos.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6517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89212" y="2880360"/>
            <a:ext cx="8915399" cy="2262781"/>
          </a:xfrm>
        </p:spPr>
        <p:txBody>
          <a:bodyPr/>
          <a:lstStyle/>
          <a:p>
            <a:r>
              <a:rPr lang="pt-BR" dirty="0" smtClean="0"/>
              <a:t>Conclusão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5167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t-BR" dirty="0"/>
              <a:t>Bibliografia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592924" y="1905000"/>
            <a:ext cx="76026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CELES - RANGEL, W. e JL. </a:t>
            </a:r>
            <a:r>
              <a:rPr lang="pt-BR" b="1" dirty="0"/>
              <a:t>Tabelas de dispersão.</a:t>
            </a:r>
            <a:r>
              <a:rPr lang="pt-BR" dirty="0"/>
              <a:t> Estrutura de Dados, capitulo 17. – PUC – RJ.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COUTO e MENOTI, César F. M e David. </a:t>
            </a:r>
            <a:r>
              <a:rPr lang="pt-BR" b="1" dirty="0"/>
              <a:t>Função </a:t>
            </a:r>
            <a:r>
              <a:rPr lang="pt-BR" b="1" dirty="0" err="1"/>
              <a:t>Hash</a:t>
            </a:r>
            <a:r>
              <a:rPr lang="pt-BR" b="1" dirty="0"/>
              <a:t> Mínima e Perfeita</a:t>
            </a:r>
            <a:r>
              <a:rPr lang="pt-BR" dirty="0"/>
              <a:t>. Departamento de Ciência da Computação. Universidade Federal de Minas Gerais.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BUENO, Letícia R. </a:t>
            </a:r>
            <a:r>
              <a:rPr lang="pt-BR" b="1" dirty="0" err="1"/>
              <a:t>Hashing</a:t>
            </a:r>
            <a:r>
              <a:rPr lang="pt-BR" dirty="0"/>
              <a:t>. UFABC.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 err="1"/>
              <a:t>Hashing</a:t>
            </a:r>
            <a:r>
              <a:rPr lang="pt-BR" dirty="0"/>
              <a:t>. Estruturas de Dados – T.332, capítulo 9. UFSC. Disponível em &lt;http://www.inf.ufsc.br/~ine5384hp/Hashing/ &gt;. Acesso em quinta feira, 7 de maio de 2015.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JAQUES, </a:t>
            </a:r>
            <a:r>
              <a:rPr lang="pt-BR" dirty="0" err="1"/>
              <a:t>Patricia</a:t>
            </a:r>
            <a:r>
              <a:rPr lang="pt-BR" dirty="0"/>
              <a:t>. </a:t>
            </a:r>
            <a:r>
              <a:rPr lang="pt-BR" b="1" dirty="0"/>
              <a:t>Estruturas Avançadas de Dados II (</a:t>
            </a:r>
            <a:r>
              <a:rPr lang="pt-BR" b="1" dirty="0" err="1"/>
              <a:t>Hash</a:t>
            </a:r>
            <a:r>
              <a:rPr lang="pt-BR" dirty="0"/>
              <a:t>). UNISINOS.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Tabelas </a:t>
            </a:r>
            <a:r>
              <a:rPr lang="pt-BR" b="1" dirty="0" err="1"/>
              <a:t>Hash</a:t>
            </a:r>
            <a:r>
              <a:rPr lang="pt-BR" b="1" dirty="0"/>
              <a:t>.</a:t>
            </a:r>
            <a:r>
              <a:rPr lang="pt-BR" dirty="0"/>
              <a:t> USP. Disponível em: &lt; http://dcm.ffclrp.usp.br/~augusto/teaching/icii/Hash-Tables-Apresentacao.pdf &gt;. Acesso em 29 de abril de 2015.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0506448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504</TotalTime>
  <Words>2166</Words>
  <Application>Microsoft Office PowerPoint</Application>
  <PresentationFormat>Widescreen</PresentationFormat>
  <Paragraphs>155</Paragraphs>
  <Slides>15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Verdana</vt:lpstr>
      <vt:lpstr>Wingdings 3</vt:lpstr>
      <vt:lpstr>Cacho</vt:lpstr>
      <vt:lpstr>Tabela Hash </vt:lpstr>
      <vt:lpstr>Introdução </vt:lpstr>
      <vt:lpstr>A tabela Hash</vt:lpstr>
      <vt:lpstr> </vt:lpstr>
      <vt:lpstr>Função de dispersão</vt:lpstr>
      <vt:lpstr>Apresentação do PowerPoint</vt:lpstr>
      <vt:lpstr>Formas de tratar as colisões</vt:lpstr>
      <vt:lpstr>Uso da posição consecutiva livre</vt:lpstr>
      <vt:lpstr>Apresentação do PowerPoint</vt:lpstr>
      <vt:lpstr>  Uso de lista encadeada</vt:lpstr>
      <vt:lpstr>Tipos de operações na tabela Hash</vt:lpstr>
      <vt:lpstr>Vantagens e desvantagens encontradas na utilização de tabelas Hash </vt:lpstr>
      <vt:lpstr>  Aplicações das tabelas Hash</vt:lpstr>
      <vt:lpstr>Conclusão</vt:lpstr>
      <vt:lpstr>Bibliografia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Tabela Hash</dc:title>
  <dc:creator>Barbara Carvalho</dc:creator>
  <cp:lastModifiedBy>Cris Rocha</cp:lastModifiedBy>
  <cp:revision>28</cp:revision>
  <dcterms:created xsi:type="dcterms:W3CDTF">2015-05-09T17:09:35Z</dcterms:created>
  <dcterms:modified xsi:type="dcterms:W3CDTF">2015-05-12T20:04:38Z</dcterms:modified>
</cp:coreProperties>
</file>